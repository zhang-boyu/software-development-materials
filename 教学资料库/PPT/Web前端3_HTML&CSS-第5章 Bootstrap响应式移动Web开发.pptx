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7.xml" ContentType="application/vnd.openxmlformats-officedocument.presentationml.tags+xml"/>
  <Override PartName="/ppt/notesSlides/notesSlide21.xml" ContentType="application/vnd.openxmlformats-officedocument.presentationml.notesSlide+xml"/>
  <Override PartName="/ppt/tags/tag8.xml" ContentType="application/vnd.openxmlformats-officedocument.presentationml.tags+xml"/>
  <Override PartName="/ppt/notesSlides/notesSlide2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3.xml" ContentType="application/vnd.openxmlformats-officedocument.presentationml.notesSlide+xml"/>
  <Override PartName="/ppt/tags/tag11.xml" ContentType="application/vnd.openxmlformats-officedocument.presentationml.tags+xml"/>
  <Override PartName="/ppt/notesSlides/notesSlide2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77"/>
  </p:notesMasterIdLst>
  <p:handoutMasterIdLst>
    <p:handoutMasterId r:id="rId78"/>
  </p:handoutMasterIdLst>
  <p:sldIdLst>
    <p:sldId id="325" r:id="rId3"/>
    <p:sldId id="511" r:id="rId4"/>
    <p:sldId id="328" r:id="rId5"/>
    <p:sldId id="327" r:id="rId6"/>
    <p:sldId id="309" r:id="rId7"/>
    <p:sldId id="577" r:id="rId8"/>
    <p:sldId id="372" r:id="rId9"/>
    <p:sldId id="631" r:id="rId10"/>
    <p:sldId id="634" r:id="rId11"/>
    <p:sldId id="632" r:id="rId12"/>
    <p:sldId id="630" r:id="rId13"/>
    <p:sldId id="633" r:id="rId14"/>
    <p:sldId id="513" r:id="rId15"/>
    <p:sldId id="598" r:id="rId16"/>
    <p:sldId id="637" r:id="rId17"/>
    <p:sldId id="409" r:id="rId18"/>
    <p:sldId id="638" r:id="rId19"/>
    <p:sldId id="639" r:id="rId20"/>
    <p:sldId id="640" r:id="rId21"/>
    <p:sldId id="635" r:id="rId22"/>
    <p:sldId id="641" r:id="rId23"/>
    <p:sldId id="642" r:id="rId24"/>
    <p:sldId id="636" r:id="rId25"/>
    <p:sldId id="643" r:id="rId26"/>
    <p:sldId id="685" r:id="rId27"/>
    <p:sldId id="613" r:id="rId28"/>
    <p:sldId id="599" r:id="rId29"/>
    <p:sldId id="607" r:id="rId30"/>
    <p:sldId id="683" r:id="rId31"/>
    <p:sldId id="619" r:id="rId32"/>
    <p:sldId id="627" r:id="rId33"/>
    <p:sldId id="649" r:id="rId34"/>
    <p:sldId id="646" r:id="rId35"/>
    <p:sldId id="686" r:id="rId36"/>
    <p:sldId id="684" r:id="rId37"/>
    <p:sldId id="647" r:id="rId38"/>
    <p:sldId id="648" r:id="rId39"/>
    <p:sldId id="650" r:id="rId40"/>
    <p:sldId id="612" r:id="rId41"/>
    <p:sldId id="600" r:id="rId42"/>
    <p:sldId id="651" r:id="rId43"/>
    <p:sldId id="652" r:id="rId44"/>
    <p:sldId id="654" r:id="rId45"/>
    <p:sldId id="653" r:id="rId46"/>
    <p:sldId id="655" r:id="rId47"/>
    <p:sldId id="656" r:id="rId48"/>
    <p:sldId id="657" r:id="rId49"/>
    <p:sldId id="688" r:id="rId50"/>
    <p:sldId id="658" r:id="rId51"/>
    <p:sldId id="659" r:id="rId52"/>
    <p:sldId id="601" r:id="rId53"/>
    <p:sldId id="662" r:id="rId54"/>
    <p:sldId id="666" r:id="rId55"/>
    <p:sldId id="663" r:id="rId56"/>
    <p:sldId id="664" r:id="rId57"/>
    <p:sldId id="665" r:id="rId58"/>
    <p:sldId id="667" r:id="rId59"/>
    <p:sldId id="660" r:id="rId60"/>
    <p:sldId id="661" r:id="rId61"/>
    <p:sldId id="687" r:id="rId62"/>
    <p:sldId id="669" r:id="rId63"/>
    <p:sldId id="670" r:id="rId64"/>
    <p:sldId id="673" r:id="rId65"/>
    <p:sldId id="674" r:id="rId66"/>
    <p:sldId id="671" r:id="rId67"/>
    <p:sldId id="672" r:id="rId68"/>
    <p:sldId id="677" r:id="rId69"/>
    <p:sldId id="678" r:id="rId70"/>
    <p:sldId id="679" r:id="rId71"/>
    <p:sldId id="680" r:id="rId72"/>
    <p:sldId id="681" r:id="rId73"/>
    <p:sldId id="682" r:id="rId74"/>
    <p:sldId id="576" r:id="rId75"/>
    <p:sldId id="326" r:id="rId76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6">
          <p15:clr>
            <a:srgbClr val="A4A3A4"/>
          </p15:clr>
        </p15:guide>
        <p15:guide id="3" pos="65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EFA511"/>
    <a:srgbClr val="EBAD13"/>
    <a:srgbClr val="FFFFFF"/>
    <a:srgbClr val="BBBBBB"/>
    <a:srgbClr val="1369B3"/>
    <a:srgbClr val="FAFAFA"/>
    <a:srgbClr val="F2F2F2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6374" autoAdjust="0"/>
  </p:normalViewPr>
  <p:slideViewPr>
    <p:cSldViewPr>
      <p:cViewPr varScale="1">
        <p:scale>
          <a:sx n="66" d="100"/>
          <a:sy n="66" d="100"/>
        </p:scale>
        <p:origin x="366" y="78"/>
      </p:cViewPr>
      <p:guideLst>
        <p:guide orient="horz" pos="2160"/>
        <p:guide pos="256"/>
        <p:guide pos="65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6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0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9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比如说实现组件效果，我们需要去</a:t>
            </a:r>
            <a:r>
              <a:rPr lang="en-US" altLang="zh-CN" dirty="0" smtClean="0"/>
              <a:t>https://getbootstrap.com/docs/5.0/components/card/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，找到相关代码，应用到自己的网页中</a:t>
            </a:r>
            <a:endParaRPr lang="en-US" altLang="zh-CN" baseline="0" dirty="0" smtClean="0"/>
          </a:p>
          <a:p>
            <a:r>
              <a:rPr lang="en-US" altLang="zh-CN" dirty="0" smtClean="0">
                <a:effectLst/>
              </a:rPr>
              <a:t>&lt;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class="card"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style="width: 18rem;"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</a:t>
            </a:r>
            <a:r>
              <a:rPr lang="en-US" altLang="zh-CN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US" altLang="zh-CN" dirty="0" smtClean="0"/>
              <a:t> </a:t>
            </a:r>
            <a:r>
              <a:rPr lang="en-US" altLang="zh-CN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="..."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class="card-</a:t>
            </a:r>
            <a:r>
              <a:rPr lang="en-US" altLang="zh-CN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-top"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alt="..."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class="card-body"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h5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class="card-title"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Card title</a:t>
            </a:r>
            <a:r>
              <a:rPr lang="en-US" altLang="zh-CN" dirty="0" smtClean="0">
                <a:effectLst/>
              </a:rPr>
              <a:t>&lt;/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h5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class="card-text"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Some quick example text to build on the card title and make up the bulk of the card's content.</a:t>
            </a:r>
            <a:r>
              <a:rPr lang="en-US" altLang="zh-CN" dirty="0" smtClean="0">
                <a:effectLst/>
              </a:rPr>
              <a:t>&lt;/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altLang="zh-CN" dirty="0" smtClean="0"/>
              <a:t> </a:t>
            </a:r>
            <a:r>
              <a:rPr lang="en-US" altLang="zh-CN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="#"</a:t>
            </a:r>
            <a:r>
              <a:rPr lang="en-US" altLang="zh-CN" dirty="0" smtClean="0"/>
              <a:t> 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class="</a:t>
            </a:r>
            <a:r>
              <a:rPr lang="en-US" altLang="zh-CN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btn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btn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-primary"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Go somewhere</a:t>
            </a:r>
            <a:r>
              <a:rPr lang="en-US" altLang="zh-CN" dirty="0" smtClean="0">
                <a:effectLst/>
              </a:rPr>
              <a:t>&lt;/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&lt;/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</a:t>
            </a:r>
            <a:r>
              <a:rPr lang="en-US" altLang="zh-CN" dirty="0" smtClean="0">
                <a:effectLst/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smtClean="0">
                <a:effectLst/>
              </a:rPr>
              <a:t>&lt;/</a:t>
            </a:r>
            <a:r>
              <a:rPr lang="en-US" altLang="zh-CN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</a:t>
            </a:r>
            <a:r>
              <a:rPr lang="en-US" altLang="zh-CN" dirty="0" smtClean="0">
                <a:effectLst/>
              </a:rPr>
              <a:t>&gt;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93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429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5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6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99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132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919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95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299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559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974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51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50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1219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109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6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8710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117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974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30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0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932700-A96E-48CC-99B1-0D0AB6A05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926309-C010-4B32-8B30-A6D8032A6D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C59529-8D20-4D23-98BA-108ACEC1BA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getbootstrap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1321450" y="2565698"/>
            <a:ext cx="10030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5</a:t>
            </a:r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 </a:t>
            </a:r>
            <a:r>
              <a:rPr lang="en-US" altLang="zh-CN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Bootstrap</a:t>
            </a:r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响应式移动</a:t>
            </a:r>
            <a:r>
              <a:rPr lang="en-US" altLang="zh-CN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Web</a:t>
            </a:r>
            <a:r>
              <a:rPr lang="zh-CN" altLang="en-US" sz="4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开发</a:t>
            </a:r>
            <a:endParaRPr lang="en-US" altLang="zh-CN" sz="44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815308" y="1917626"/>
            <a:ext cx="10864562" cy="626323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了解</a:t>
              </a:r>
              <a:r>
                <a:rPr lang="en-US" altLang="zh-CN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的概念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的内容和特点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05973" y="2787718"/>
            <a:ext cx="10873210" cy="624397"/>
            <a:chOff x="978872" y="2570437"/>
            <a:chExt cx="6220785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6220785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的下载和使用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，能够动手完成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预编译文件的下载、引入和初始模板的创建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805972" y="3656074"/>
            <a:ext cx="10873209" cy="626325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布局容器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.container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类和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.container-ﬂuid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类完成对不同容器宽度的设置</a:t>
              </a: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05973" y="4537657"/>
            <a:ext cx="10873208" cy="624397"/>
            <a:chOff x="978872" y="2570437"/>
            <a:chExt cx="5437064" cy="514350"/>
          </a:xfrm>
        </p:grpSpPr>
        <p:sp>
          <p:nvSpPr>
            <p:cNvPr id="2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栅格系统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，能够利用栅格系统实现导航栏效果</a:t>
              </a:r>
              <a:endPara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05973" y="5406013"/>
            <a:ext cx="10873208" cy="626325"/>
            <a:chOff x="978872" y="3338787"/>
            <a:chExt cx="7984156" cy="515938"/>
          </a:xfrm>
        </p:grpSpPr>
        <p:sp>
          <p:nvSpPr>
            <p:cNvPr id="32" name="Pentagon 6"/>
            <p:cNvSpPr/>
            <p:nvPr/>
          </p:nvSpPr>
          <p:spPr bwMode="auto">
            <a:xfrm>
              <a:off x="978872" y="3338787"/>
              <a:ext cx="7984156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Bootstrap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响应式</a:t>
              </a:r>
              <a:r>
                <a:rPr lang="zh-CN" altLang="en-US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工具类</a:t>
              </a: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能够利用响应式工具类实现元素在不同屏幕设备上的显示和隐藏</a:t>
              </a:r>
            </a:p>
          </p:txBody>
        </p:sp>
        <p:sp>
          <p:nvSpPr>
            <p:cNvPr id="33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72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222499"/>
            <a:ext cx="10151132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在前面的章节中讲解了响应式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设计，相信会有一部分读者觉得实现响应式是个很复杂的过程，需要调整很多细节。本章将会使用一个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来让响应式变得容易实现，它就是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用户提供了一套响应式的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移动设备优先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的流式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于多种设备屏幕大小，提高前端开发的工作效率。本章将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响应式移动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Bootstrap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简介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Bootstrap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下载和使用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Bootstrap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布局容器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070870" y="4699302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070870" y="561970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976422" y="4677123"/>
            <a:ext cx="5142331" cy="613062"/>
            <a:chOff x="4315150" y="953426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Bootstrap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栅格系统</a:t>
              </a:r>
              <a:endParaRPr lang="zh-CN" altLang="en-GB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76422" y="5602874"/>
            <a:ext cx="5142331" cy="613062"/>
            <a:chOff x="4315150" y="1647579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41196" y="1730243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Bootstrap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响应式工具类</a:t>
              </a:r>
              <a:endParaRPr lang="zh-CN" altLang="en-GB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Bootstrap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简介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，能够说出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的基本内容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91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5015086" y="2421682"/>
            <a:ext cx="676875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Twitter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的设计师开发的一个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前端开源框架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上发布，一经推出，就非常受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是基于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等前端技术实现的框架。</a:t>
            </a:r>
          </a:p>
        </p:txBody>
      </p:sp>
      <p:sp>
        <p:nvSpPr>
          <p:cNvPr id="8" name="TextBox 76"/>
          <p:cNvSpPr txBox="1"/>
          <p:nvPr/>
        </p:nvSpPr>
        <p:spPr>
          <a:xfrm>
            <a:off x="1168672" y="1477940"/>
            <a:ext cx="30543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由来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16" y="2396188"/>
            <a:ext cx="4119677" cy="3012800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5015086" y="2953550"/>
            <a:ext cx="5688631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框架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就是一套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架构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，具有一套比较完整的解决方案，而且控制权在框架本身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1168672" y="1341562"/>
            <a:ext cx="30543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怎么理解框架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75" y="2136344"/>
            <a:ext cx="4248472" cy="3727284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283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181528" y="2030956"/>
            <a:ext cx="1022513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是一款用于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网页开发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框架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，它拥有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样式库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插件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，使用者需要按照框架的规范进行开发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1168672" y="1269554"/>
            <a:ext cx="384641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怎么理解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框架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06" y="3243672"/>
            <a:ext cx="3938967" cy="26795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254" y="2645344"/>
            <a:ext cx="2885714" cy="3876190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505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838622" y="981522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框架中提供的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内容如下。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190550" y="1531118"/>
            <a:ext cx="11665296" cy="4855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提供了一个带有栅格系统、链接样式、背景的基本结构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自带了全局的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设置、预定义的基本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元素样式、可扩展的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class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，以及一个先进的栅格系统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布局组件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含了十几个可重用的组件，用于创建图像、下拉菜单、导航、警告框、弹出框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图标库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拥有开源的图标库，图标文件的格式是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SVG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，能够轻松快捷地进行缩放，并可以通过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包含十几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个自定义的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jQuery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插件，可以直接包含所有的插件，也可以逐个包含这些插件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：开发人员可以定制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的组件、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jQuery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插件来得到一套自定义的版本，提高了开发的灵活性。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462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说出具体特点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的特点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843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82638" y="1714002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可以构建出非常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优雅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的前端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，而且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占用资源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非常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1054646" y="1158043"/>
            <a:ext cx="384641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特点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的特点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34566" y="2213931"/>
            <a:ext cx="11737304" cy="40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移动设备优先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：移动设备优先的样式贯穿于整个库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浏览器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支持度高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主流浏览器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（支持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IE 9+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Firefox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Chrome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Safari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成本低，容易上手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：只需使用者具备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的基础知识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响应式设计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框架为用户提供了一套响应式的移动设备优先的流式栅格系统，能够自适应于台式机、平板计算机和手机的屏幕大小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良好的代码规范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为开发人员创建接口提供了一个简洁统一的解决方案，减少了测试的工作量，使开发人员站在巨人的肩膀上，不重复造轮子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强大的组件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包含功能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强大的内置组件。</a:t>
            </a:r>
          </a:p>
        </p:txBody>
      </p:sp>
    </p:spTree>
    <p:extLst>
      <p:ext uri="{BB962C8B-B14F-4D97-AF65-F5344CB8AC3E}">
        <p14:creationId xmlns:p14="http://schemas.microsoft.com/office/powerpoint/2010/main" val="123958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Bootstrap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下载和使用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80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334566" y="1269554"/>
            <a:ext cx="10729191" cy="363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下载方式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种方式是下载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预编译文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种方式是下载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源文件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进行手动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种方式是使用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来引入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预编译文件使用起来比较简单，它不包含文档和最初的源代码文件，可以直接引入到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项目中。在这里我们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8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886" y="160147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预编译文件的下载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相应版本下载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656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76"/>
          <p:cNvSpPr txBox="1"/>
          <p:nvPr/>
        </p:nvSpPr>
        <p:spPr>
          <a:xfrm>
            <a:off x="1168672" y="1095921"/>
            <a:ext cx="492653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下载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预编译文件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1054646" y="1773073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浏览器，访问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的官方网站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，手动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bootstrap-4.6.0-dist.zip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884" y="4047987"/>
            <a:ext cx="5296112" cy="2118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142206" y="3173558"/>
            <a:ext cx="5353678" cy="2965450"/>
            <a:chOff x="1142206" y="3173558"/>
            <a:chExt cx="5353678" cy="2965450"/>
          </a:xfrm>
        </p:grpSpPr>
        <p:pic>
          <p:nvPicPr>
            <p:cNvPr id="2" name="图片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206" y="3173558"/>
              <a:ext cx="4953000" cy="2965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D2EC1B6-31C7-C44F-B34A-41EF56EEB99F}"/>
                </a:ext>
              </a:extLst>
            </p:cNvPr>
            <p:cNvSpPr/>
            <p:nvPr/>
          </p:nvSpPr>
          <p:spPr>
            <a:xfrm>
              <a:off x="3618706" y="5632163"/>
              <a:ext cx="2448272" cy="32031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 smtClean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单击按钮进入右图所示页面</a:t>
              </a:r>
              <a:endParaRPr kumimoji="1" lang="en-US" altLang="zh-CN" sz="1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线箭头连接符 5">
              <a:extLst>
                <a:ext uri="{FF2B5EF4-FFF2-40B4-BE49-F238E27FC236}">
                  <a16:creationId xmlns:a16="http://schemas.microsoft.com/office/drawing/2014/main" id="{2E3BF127-6136-1146-9EC0-EF4F5F33B748}"/>
                </a:ext>
              </a:extLst>
            </p:cNvPr>
            <p:cNvCxnSpPr/>
            <p:nvPr/>
          </p:nvCxnSpPr>
          <p:spPr>
            <a:xfrm>
              <a:off x="2494806" y="5992203"/>
              <a:ext cx="400107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1774726" y="2402833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4"/>
              </a:rPr>
              <a:t>http://getbootstrap.com/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3214886" y="2824433"/>
            <a:ext cx="379010" cy="301109"/>
          </a:xfrm>
          <a:prstGeom prst="downArrow">
            <a:avLst/>
          </a:prstGeom>
          <a:solidFill>
            <a:srgbClr val="92D05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41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895131" y="1398440"/>
            <a:ext cx="7560839" cy="584771"/>
          </a:xfrm>
          <a:prstGeom prst="rect">
            <a:avLst/>
          </a:prstGeom>
          <a:noFill/>
          <a:ln w="12700">
            <a:noFill/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下载成功后，解压缩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ZIP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，将看到下面的文件和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目录结构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30" y="2608571"/>
            <a:ext cx="1607703" cy="204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 bwMode="auto">
          <a:xfrm>
            <a:off x="6115711" y="2888570"/>
            <a:ext cx="4588007" cy="1448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6340154" y="2888570"/>
            <a:ext cx="3234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bootstrap-4.6.0-dist/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├──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└──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js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2EC1B6-31C7-C44F-B34A-41EF56EEB99F}"/>
              </a:ext>
            </a:extLst>
          </p:cNvPr>
          <p:cNvSpPr/>
          <p:nvPr/>
        </p:nvSpPr>
        <p:spPr>
          <a:xfrm>
            <a:off x="4511030" y="3717826"/>
            <a:ext cx="1157525" cy="32031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smtClean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解压缩文件</a:t>
            </a:r>
            <a:endParaRPr kumimoji="1" lang="en-US" altLang="zh-CN" sz="140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线箭头连接符 5">
            <a:extLst>
              <a:ext uri="{FF2B5EF4-FFF2-40B4-BE49-F238E27FC236}">
                <a16:creationId xmlns:a16="http://schemas.microsoft.com/office/drawing/2014/main" id="{2E3BF127-6136-1146-9EC0-EF4F5F33B748}"/>
              </a:ext>
            </a:extLst>
          </p:cNvPr>
          <p:cNvCxnSpPr/>
          <p:nvPr/>
        </p:nvCxnSpPr>
        <p:spPr>
          <a:xfrm flipV="1">
            <a:off x="4460690" y="4172919"/>
            <a:ext cx="1346484" cy="26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34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622598" y="909514"/>
            <a:ext cx="1171183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bootstrap-4.6.0-dist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文件中所有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8195" y="1557587"/>
            <a:ext cx="5481027" cy="5184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982638" y="1557586"/>
            <a:ext cx="5544616" cy="5219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bootstrap-4.6.0-dist/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├──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bootstrap.css.map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bootstrap.min.css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bootstrap.min.css.map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bootstrap-grid.css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grid.css.map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bootstrap-grid.min.css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grid.min.css.map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bootstrap-reboot.css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reboot.css.map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├── bootstrap-reboot.min.css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 └──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bootstrap-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reboot.min.css.map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383238" y="1557586"/>
            <a:ext cx="5192995" cy="4823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6607681" y="1675151"/>
            <a:ext cx="49685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bootstrap-4.6.0-dist/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├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──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├──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bootstrap.bundle.js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├──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bootstrap.bundle.js.map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├──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bootstrap.bundle.min.js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├──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bootstrap.bundle.min.js.map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├── bootstrap.js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├──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bootstrap.js.map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├──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bootstrap.min.js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│  └──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bootstrap.min.js.map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51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34566" y="1197546"/>
            <a:ext cx="11233248" cy="312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bootstrap-4.6.0-dist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目录结构中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针对文件名的相关说明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带有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的文件是编译后的压缩版本，可以用于生产环境，文件比较小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不带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的文件可以用于开发环境，源码比较清晰，容易阅读，便于代码调试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文件名带有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map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Source Map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文件，用于查询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精确的样式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另外，该目录结构中没有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文件，如果项目中需要使用的话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自行下载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840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886" y="160147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预编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译文件的引入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中正确引入编译好的核心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引入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085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引入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76"/>
          <p:cNvSpPr txBox="1"/>
          <p:nvPr/>
        </p:nvSpPr>
        <p:spPr>
          <a:xfrm>
            <a:off x="1168672" y="1208463"/>
            <a:ext cx="8742958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HTML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中引入预编译文件中的核心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CSS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JavaScript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5117" y="1845618"/>
            <a:ext cx="10538641" cy="430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在网页中引入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&lt;script&gt;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&lt;link&gt;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注意的是，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效果都是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的。如果想要使用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效果，必须将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jquery.min.js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文件放在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bootstrap.min.js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文件前面引入。</a:t>
            </a: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没有提供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jquery.min.js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文件，所以我们需要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手动下载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该文件或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进行引入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jquery.min.js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518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引入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预编译文件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76"/>
          <p:cNvSpPr txBox="1"/>
          <p:nvPr/>
        </p:nvSpPr>
        <p:spPr>
          <a:xfrm>
            <a:off x="1168672" y="1239937"/>
            <a:ext cx="564661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CDN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方式引入的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jquery.min.js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177322" y="2035052"/>
            <a:ext cx="10030452" cy="3266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401764" y="2101047"/>
            <a:ext cx="951797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&lt;!--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引入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 4.6.0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核心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文件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&lt;link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/bootstrap.min.css"&gt;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&lt;!--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jQuery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，务必在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bootstrap.min.js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之前引入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="https://cdn.staticfile.org/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jquery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/3.2.1/jquery.min.js"&gt;&lt;/script&gt;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&lt;!--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引入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Bootstrap 4.6.0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核心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文件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43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886" y="160147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初始模板的创建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独立完成模板文件代码编写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初始模板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721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6"/>
          <p:cNvSpPr txBox="1"/>
          <p:nvPr/>
        </p:nvSpPr>
        <p:spPr>
          <a:xfrm>
            <a:off x="1168672" y="1095921"/>
            <a:ext cx="2982318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的使用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初始模板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10630" y="1880427"/>
            <a:ext cx="10732384" cy="22159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bootstrap-4.6.0-dist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文件夹放到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）下载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jquery-3.5.1.slim.min.js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文件和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popper.min.js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chapter05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目录下创建一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在该文档中直接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编译好的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838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231692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框架创建初始模板，在页面中输出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 World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初始模板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790" y="2349674"/>
            <a:ext cx="6264696" cy="1814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98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Bootstrap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布局容器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905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679842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布局容器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.container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.container-ﬂuid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类完成对不同容器宽度的设置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88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 bwMode="auto">
          <a:xfrm rot="574600">
            <a:off x="694468" y="1887504"/>
            <a:ext cx="362543" cy="362530"/>
          </a:xfrm>
          <a:prstGeom prst="ellipse">
            <a:avLst/>
          </a:prstGeom>
          <a:solidFill>
            <a:srgbClr val="0567A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" name="椭圆 20"/>
          <p:cNvSpPr/>
          <p:nvPr/>
        </p:nvSpPr>
        <p:spPr bwMode="auto">
          <a:xfrm rot="574600">
            <a:off x="736480" y="4105498"/>
            <a:ext cx="362543" cy="362530"/>
          </a:xfrm>
          <a:prstGeom prst="ellipse">
            <a:avLst/>
          </a:prstGeom>
          <a:solidFill>
            <a:srgbClr val="0567A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1143691" y="1773610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用于固定宽度并支持响应式布局的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76"/>
          <p:cNvSpPr txBox="1"/>
          <p:nvPr/>
        </p:nvSpPr>
        <p:spPr>
          <a:xfrm>
            <a:off x="1168672" y="1095921"/>
            <a:ext cx="247826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布局容器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1115494" y="3997151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container-fluid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在不同设备下设置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，占据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全部视口的容器。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1177322" y="2458393"/>
            <a:ext cx="9040135" cy="14754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1401765" y="2524388"/>
            <a:ext cx="9145016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 class="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container"&gt;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…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9" name="TextBox 12"/>
          <p:cNvSpPr txBox="1"/>
          <p:nvPr/>
        </p:nvSpPr>
        <p:spPr>
          <a:xfrm>
            <a:off x="666118" y="1845618"/>
            <a:ext cx="316520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endParaRPr lang="zh-CN" altLang="en-US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TextBox 14"/>
          <p:cNvSpPr txBox="1"/>
          <p:nvPr/>
        </p:nvSpPr>
        <p:spPr>
          <a:xfrm>
            <a:off x="694606" y="406857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endParaRPr lang="zh-CN" altLang="en-US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190243" y="4690641"/>
            <a:ext cx="9040135" cy="14754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1414686" y="4756636"/>
            <a:ext cx="9145016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 class="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container-fluid"&gt;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…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9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.container-fluid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设置布局容器，效果如图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814" y="2142072"/>
            <a:ext cx="7603324" cy="1819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50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对比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.container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类和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.container-fluid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code\chapter05\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486694" y="2061642"/>
            <a:ext cx="9721080" cy="4527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702718" y="2061642"/>
            <a:ext cx="9721080" cy="4536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name="viewport" content="width=device-width, initial-scale=1.0,  shrink-to-fit=no"&gt;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/bootstrap.min.css"&gt;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布局容器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class="container-fluid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 text-light mb-1"&gt;.container-fluid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设置布局容器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-dark text-light"&gt;.container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设置布局容器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648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，演示两种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容器的对比效果。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4727054" y="4465188"/>
            <a:ext cx="296423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运行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文件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162" y="2358838"/>
            <a:ext cx="7346057" cy="175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777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319801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布局容器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的使用，</a:t>
            </a:r>
            <a:r>
              <a:rPr lang="zh-CN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合理利用响应式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完成页面的布局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912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1143691" y="1773610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.container-{breakpoint}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创建响应式布局容器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，目的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是在屏幕分辨率要求不同的情况下，容器宽度的显示规则更加灵活。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breakpoint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允许的取值有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2350791" y="3033851"/>
            <a:ext cx="5760640" cy="14754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2566814" y="3033851"/>
            <a:ext cx="56886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 class="container-{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sm|md|lg|xl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…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9" name="TextBox 76"/>
          <p:cNvSpPr txBox="1"/>
          <p:nvPr/>
        </p:nvSpPr>
        <p:spPr>
          <a:xfrm>
            <a:off x="1168672" y="1095921"/>
            <a:ext cx="247826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布局容器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22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2182"/>
              </p:ext>
            </p:extLst>
          </p:nvPr>
        </p:nvGraphicFramePr>
        <p:xfrm>
          <a:off x="694606" y="1125538"/>
          <a:ext cx="10873209" cy="484123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985776366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488031500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3758688017"/>
                    </a:ext>
                  </a:extLst>
                </a:gridCol>
              </a:tblGrid>
              <a:tr h="728053">
                <a:tc rowSpan="2"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布局容器宽度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1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26797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超小屏幕 </a:t>
                      </a:r>
                      <a:r>
                        <a:rPr lang="en-US" altLang="zh-CN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&lt;576</a:t>
                      </a:r>
                      <a:endParaRPr lang="zh-CN" altLang="zh-CN" sz="1600" b="1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小屏幕</a:t>
                      </a: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</a:t>
                      </a:r>
                      <a:r>
                        <a:rPr 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[576,</a:t>
                      </a:r>
                      <a:r>
                        <a:rPr lang="en-US" sz="1600" b="1" kern="100" baseline="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768</a:t>
                      </a:r>
                      <a:r>
                        <a:rPr lang="zh-CN" alt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中等屏幕</a:t>
                      </a: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∈[769,</a:t>
                      </a:r>
                      <a:r>
                        <a:rPr lang="en-US" altLang="zh-CN" sz="1600" b="1" kern="100" baseline="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992</a:t>
                      </a:r>
                      <a:r>
                        <a:rPr lang="zh-CN" alt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大屏幕</a:t>
                      </a: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∈[992,</a:t>
                      </a:r>
                      <a:r>
                        <a:rPr lang="en-US" altLang="zh-CN" sz="1600" b="1" kern="100" baseline="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1200</a:t>
                      </a:r>
                      <a:r>
                        <a:rPr lang="zh-CN" alt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超大屏幕</a:t>
                      </a: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1200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8593"/>
                  </a:ext>
                </a:extLst>
              </a:tr>
              <a:tr h="566846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container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720px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68555"/>
                  </a:ext>
                </a:extLst>
              </a:tr>
              <a:tr h="566846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.container</a:t>
                      </a:r>
                      <a:r>
                        <a:rPr lang="en-US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en-US" sz="1800" b="0" kern="1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sm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720px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846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.container-md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720px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89550"/>
                  </a:ext>
                </a:extLst>
              </a:tr>
              <a:tr h="566846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.container-</a:t>
                      </a:r>
                      <a:r>
                        <a:rPr kumimoji="0" lang="en-US" altLang="zh-CN" sz="1800" b="0" i="0" u="none" strike="noStrike" kern="1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233264"/>
                  </a:ext>
                </a:extLst>
              </a:tr>
              <a:tr h="566846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.container-xl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1140px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846">
                <a:tc>
                  <a:txBody>
                    <a:bodyPr/>
                    <a:lstStyle/>
                    <a:p>
                      <a:pPr marL="0" marR="0" lvl="0" indent="2667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.container-fluid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kumimoji="0" lang="zh-CN" altLang="zh-CN" sz="1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lang="zh-CN" alt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664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24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90550" y="1150459"/>
            <a:ext cx="1130525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609600" lvl="1" indent="0"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container-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设置在断点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的布局容器宽度，效果如图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6887294" y="5869359"/>
            <a:ext cx="446449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移动设备的屏幕宽度设置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576px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174" y="1917626"/>
            <a:ext cx="5544616" cy="389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1839950"/>
            <a:ext cx="4848138" cy="4045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1119927" y="5911638"/>
            <a:ext cx="438068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移动设备的屏幕宽度设置为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575px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4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container-</a:t>
            </a:r>
            <a:r>
              <a:rPr lang="en-US" altLang="zh-CN" sz="2000" b="1" kern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sm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布局容器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code\chapter05\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demo02.html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文件中，编写代码。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774726" y="2061642"/>
            <a:ext cx="9505056" cy="4464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918742" y="2061642"/>
            <a:ext cx="95050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name="viewport" content="width=device-width, initial-scale=1.0,  shrink-to-fit=no"&gt;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/bootstrap.min.css"&gt;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响应式布局容器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border mt-1"&gt;.container-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525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浏览器中打开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demo02.html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按“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启动开发者工具，进入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移动设备调试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模式，将移动设备的宽度设置为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575px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094" y="2421682"/>
            <a:ext cx="4848138" cy="4045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784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66614" y="1084250"/>
            <a:ext cx="1065718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移动设备的宽度设置为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（大于等于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会发现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布局容器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的最大宽度（即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max-width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值）为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540px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10" y="1845618"/>
            <a:ext cx="5544616" cy="389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24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Bootstrap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栅格系统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828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，能够说出栅格系统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定义列的类有哪些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40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982638" y="1773610"/>
            <a:ext cx="10602213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系统：基于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布局，可以适配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种屏幕宽度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，分别对应不同的屏幕大小，通过一系列的行（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）与列（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column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）的组合来创建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页面布局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者可以将内容放入创建好的布局中，让内容根据父元素盒子（布局容器）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宽度的大小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进行适当地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，从而达到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响应式页面布局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TextBox 76"/>
          <p:cNvSpPr txBox="1"/>
          <p:nvPr/>
        </p:nvSpPr>
        <p:spPr>
          <a:xfrm>
            <a:off x="1168672" y="1095921"/>
            <a:ext cx="2478262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栅格系统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833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982638" y="1773610"/>
            <a:ext cx="1060221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了定义列的类，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用于在不同宽度的屏幕中实现不同的排列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76"/>
          <p:cNvSpPr txBox="1"/>
          <p:nvPr/>
        </p:nvSpPr>
        <p:spPr>
          <a:xfrm>
            <a:off x="1143691" y="1125538"/>
            <a:ext cx="466348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Bootstrap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栅格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系统定义列的类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38379"/>
              </p:ext>
            </p:extLst>
          </p:nvPr>
        </p:nvGraphicFramePr>
        <p:xfrm>
          <a:off x="1143691" y="2781723"/>
          <a:ext cx="10441160" cy="166410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95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985776366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488031500"/>
                    </a:ext>
                  </a:extLst>
                </a:gridCol>
                <a:gridCol w="1745229">
                  <a:extLst>
                    <a:ext uri="{9D8B030D-6E8A-4147-A177-3AD203B41FA5}">
                      <a16:colId xmlns:a16="http://schemas.microsoft.com/office/drawing/2014/main" val="3758688017"/>
                    </a:ext>
                  </a:extLst>
                </a:gridCol>
              </a:tblGrid>
              <a:tr h="98648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屏幕类型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797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超小屏幕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r>
                        <a:rPr lang="zh-CN" alt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&lt;576</a:t>
                      </a:r>
                      <a:endParaRPr lang="zh-CN" altLang="zh-CN" sz="1600" b="0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</a:t>
                      </a:r>
                      <a:r>
                        <a:rPr 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</a:t>
                      </a:r>
                      <a:r>
                        <a:rPr 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[576,</a:t>
                      </a:r>
                      <a:r>
                        <a:rPr lang="en-US" sz="1600" b="0" kern="100" baseline="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768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中等</a:t>
                      </a:r>
                      <a:r>
                        <a:rPr 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∈[769,</a:t>
                      </a:r>
                      <a:r>
                        <a:rPr lang="en-US" altLang="zh-CN" sz="1600" b="0" kern="100" baseline="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992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</a:t>
                      </a:r>
                      <a:r>
                        <a:rPr 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∈[992,</a:t>
                      </a:r>
                      <a:r>
                        <a:rPr lang="en-US" altLang="zh-CN" sz="1600" b="0" kern="100" baseline="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1200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</a:t>
                      </a:r>
                      <a:r>
                        <a:rPr 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大屏幕</a:t>
                      </a:r>
                      <a:r>
                        <a:rPr lang="zh-CN" alt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sz="16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61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.col-*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.col-</a:t>
                      </a:r>
                      <a:r>
                        <a:rPr lang="en-US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sm</a:t>
                      </a: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-*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.col-md-*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.col-</a:t>
                      </a:r>
                      <a:r>
                        <a:rPr lang="en-US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</a:t>
                      </a: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-*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.col-xl-*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63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栅格系统的基本使用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，能够为不同屏幕设备设置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不同的列的宽度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082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76"/>
          <p:cNvSpPr txBox="1"/>
          <p:nvPr/>
        </p:nvSpPr>
        <p:spPr>
          <a:xfrm>
            <a:off x="1143691" y="1125538"/>
            <a:ext cx="3583363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栅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格系统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的基本使用方法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34566" y="1773610"/>
            <a:ext cx="11161240" cy="4624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为不同屏幕宽度定义了不同的类，使用非常方便，直接为元素添加类名即可，如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.col-*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.row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，列（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column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.col-*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*-*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类定义，内容应当放置于列内，列大于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时，将会另起一行排列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）必须包含在布局容器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.container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.container-ﬂuid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类中，方便为其赋予合适的排列（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alignment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）和内边距（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padding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通过行（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）可以创建水平方向的一组列（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column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），并且只有列（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column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）可以作为行（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）的直接子元素。例如，可以使用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.col-xs-4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元素创建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个等宽的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5140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76"/>
          <p:cNvSpPr txBox="1"/>
          <p:nvPr/>
        </p:nvSpPr>
        <p:spPr>
          <a:xfrm>
            <a:off x="1143691" y="1125538"/>
            <a:ext cx="3583363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设置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子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元素（列）的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宽度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6574" y="1845618"/>
            <a:ext cx="1015656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栅格的数量：设置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超小屏幕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下列的宽度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栅格的数量：设置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下列的宽度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.col-md-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栅格的数量：设置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中等屏幕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下列的宽度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栅格的数量：设置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下列的宽度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.col-xl-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栅格的数量：设置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超大屏幕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宽度。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636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694606" y="1269554"/>
            <a:ext cx="1060221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使用栅格系统实现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屏幕上显示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列，在小屏幕上显示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列布局效果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90" y="2586417"/>
            <a:ext cx="4475609" cy="1880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02" y="2586417"/>
            <a:ext cx="5082219" cy="1900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154738" y="4703743"/>
            <a:ext cx="447392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移动设备的屏幕宽度设置为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768px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6032121" y="4667700"/>
            <a:ext cx="460638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移动设备的屏幕宽度设置为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576px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90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小屏幕设备和中等屏幕设备设置列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C:\Bootstrap\chapter05\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中等屏幕上显示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列，在小屏幕上显示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列布局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566812" y="2476416"/>
            <a:ext cx="7848873" cy="3905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782837" y="2507577"/>
            <a:ext cx="763284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/bootstrap.min.css"&gt;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定义外部布局容器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class="row mt-2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在容器内部定义行（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&lt;div class="col-sm-4 col-md-6 border"&gt;1&lt;/div&gt;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&lt;div class="col-sm-4 col-md-6 border"&gt;2&lt;/div&gt;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&lt;div class="col-sm-4 col-md-6 border"&gt;3&lt;/div&gt;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&lt;/div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961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</a:t>
            </a: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小屏幕设备和中等屏幕设备设置列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C:\Bootstrap\chapter05\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中等屏幕上显示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列，在小屏幕上显示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列布局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782838" y="2637706"/>
            <a:ext cx="7056784" cy="2880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998862" y="2692440"/>
            <a:ext cx="66967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 class="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row-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在容器内部定义行（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&lt;div class="col-sm-4 col-md-6 border"&gt;4&lt;/div&gt;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&lt;div class="col-sm-4 col-md-6 border"&gt;5&lt;/div&gt;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&lt;div class="col-sm-4 col-md-6 border"&gt;6&lt;/div&gt;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562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8004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启动开发者工具，进入移动设备调试模式，将移动设备的宽度设置为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768px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，将被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中等屏幕设备大小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，说明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.col-md-6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生效。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918" y="3011652"/>
            <a:ext cx="7078482" cy="2938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81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设备调试模式，将移动设备的宽度设置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，将被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小屏幕设备大小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，说明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col-sm-4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设置生效，每行显示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333449"/>
            <a:ext cx="538356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86" y="2781722"/>
            <a:ext cx="6932619" cy="259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59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栅格系统实现导航栏效果，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能够完成具体效果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482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694606" y="1269554"/>
            <a:ext cx="1060221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栅格系统相关内容实现导航栏效果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822" y="2175224"/>
            <a:ext cx="7624331" cy="49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982" y="3717826"/>
            <a:ext cx="4104456" cy="1778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3637776" y="2860174"/>
            <a:ext cx="387450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屏幕设备上的运行结果</a:t>
            </a: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4583038" y="5590034"/>
            <a:ext cx="329843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屏幕设备上的运行结果</a:t>
            </a:r>
          </a:p>
        </p:txBody>
      </p:sp>
    </p:spTree>
    <p:extLst>
      <p:ext uri="{BB962C8B-B14F-4D97-AF65-F5344CB8AC3E}">
        <p14:creationId xmlns:p14="http://schemas.microsoft.com/office/powerpoint/2010/main" val="347082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694606" y="1269554"/>
            <a:ext cx="1060221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导航栏实现思路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87116" y="1989634"/>
            <a:ext cx="10948650" cy="312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定义导航栏页面结构，通过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栅格系统中的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.container-fluid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类设置导航栏的布局容器，在导航栏布局容器的每一行中设置不同的列数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中等屏幕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设备下，所有列元素成一行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小屏幕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设备下，每一列元素单独一行显示，即每列宽度为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%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-457200"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09600" lvl="1" indent="0">
              <a:lnSpc>
                <a:spcPct val="150000"/>
              </a:lnSpc>
              <a:buClr>
                <a:srgbClr val="0D0D0D"/>
              </a:buClr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在编写本案例时应先实现导航栏的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页面样式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57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实现导航栏效果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Bootstrap\chapter05\demo04.html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，首先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定义页面结构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846734" y="2148718"/>
            <a:ext cx="9217024" cy="4176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990750" y="2133650"/>
            <a:ext cx="9217024" cy="4191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/bootstrap.min.css"&gt;&lt;/head&gt;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class="container-fluid"&gt;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class="row"&gt;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&lt;li class="col-md-4 col-sm-12"&gt;LOGO&lt;/li&gt;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&lt;li class="col-md-2 col-sm-12"&gt;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首页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&lt;li class="col-md-2 col-sm-12"&gt;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新闻资讯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&lt;li class="col-md-2 col-sm-12"&gt;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关于我们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&lt;li class="col-md-2 col-sm-12"&gt;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客户服务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084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实现导航栏</a:t>
            </a: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demo04.html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定义页面样式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710830" y="2061642"/>
            <a:ext cx="7056784" cy="4625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37741" y="2078916"/>
            <a:ext cx="6696744" cy="448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&lt;style&gt;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*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{margin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0;padding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0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li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list-style: none;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text-align: center;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padding: 10px;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font-size: 20px;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li:hover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{color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#c2bfbf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.row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{margin-bottom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0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container-fluid{background-color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#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000;color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#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fff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133898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8004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浏览器中打开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demo04.html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按“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启动开发者工具，进入移动设备调试模式，将移动设备宽度设置为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768px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，将被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设备大小，说明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.col-md-*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类设置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生效。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34" y="3089771"/>
            <a:ext cx="6768752" cy="228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10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在移动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设备调试模式，将移动设备宽度设置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将被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设备大小，说明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.col-sm-12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类生效，导航栏中的标签会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纵向排列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333449"/>
            <a:ext cx="6679707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栅格系统实现导航栏效果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966" y="2691418"/>
            <a:ext cx="5616624" cy="333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418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788572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Bootstrap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响应式工具类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03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响应式工具类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，能够利用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响应式工具类实现元素在不同屏幕设备上的显示和隐藏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681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总结小人">
            <a:extLst>
              <a:ext uri="{FF2B5EF4-FFF2-40B4-BE49-F238E27FC236}">
                <a16:creationId xmlns:a16="http://schemas.microsoft.com/office/drawing/2014/main" id="{FF4AC2FB-B1F3-4D55-8A1D-FEE3E5A1E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705C999-35B9-4DD9-B118-DC6DA66D6D17}"/>
              </a:ext>
            </a:extLst>
          </p:cNvPr>
          <p:cNvGrpSpPr/>
          <p:nvPr/>
        </p:nvGrpSpPr>
        <p:grpSpPr bwMode="auto">
          <a:xfrm>
            <a:off x="5013514" y="1989634"/>
            <a:ext cx="5258156" cy="2952328"/>
            <a:chOff x="3403599" y="2421469"/>
            <a:chExt cx="5040490" cy="2726268"/>
          </a:xfrm>
        </p:grpSpPr>
        <p:sp>
          <p:nvSpPr>
            <p:cNvPr id="4" name="圆角矩形标注 11">
              <a:extLst>
                <a:ext uri="{FF2B5EF4-FFF2-40B4-BE49-F238E27FC236}">
                  <a16:creationId xmlns:a16="http://schemas.microsoft.com/office/drawing/2014/main" id="{BB606471-C07E-4BB9-87C6-5896C5940963}"/>
                </a:ext>
              </a:extLst>
            </p:cNvPr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5" name="矩形 5">
              <a:extLst>
                <a:ext uri="{FF2B5EF4-FFF2-40B4-BE49-F238E27FC236}">
                  <a16:creationId xmlns:a16="http://schemas.microsoft.com/office/drawing/2014/main" id="{E0AE0A7E-DDFD-4A47-94B5-E0F77F677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295" y="2749508"/>
              <a:ext cx="4439098" cy="42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17165D8-265A-4BEA-95DA-73DBCD31FA9D}"/>
              </a:ext>
            </a:extLst>
          </p:cNvPr>
          <p:cNvSpPr txBox="1"/>
          <p:nvPr/>
        </p:nvSpPr>
        <p:spPr>
          <a:xfrm>
            <a:off x="5447134" y="2235639"/>
            <a:ext cx="4580260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响应式工具类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，这些工具类可以将常见的重复属性值以单个类的形式表达出来，减少文件体积大小，更快捷地实现元素在不同屏幕设备上的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76"/>
          <p:cNvSpPr txBox="1"/>
          <p:nvPr/>
        </p:nvSpPr>
        <p:spPr>
          <a:xfrm>
            <a:off x="1143691" y="1341562"/>
            <a:ext cx="305432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响应式工具类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06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76"/>
          <p:cNvSpPr txBox="1"/>
          <p:nvPr/>
        </p:nvSpPr>
        <p:spPr>
          <a:xfrm>
            <a:off x="1143690" y="1341562"/>
            <a:ext cx="437545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元素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隐藏的响应式工具类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363440"/>
              </p:ext>
            </p:extLst>
          </p:nvPr>
        </p:nvGraphicFramePr>
        <p:xfrm>
          <a:off x="1107823" y="2133650"/>
          <a:ext cx="10676014" cy="424846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89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98577636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488031500"/>
                    </a:ext>
                  </a:extLst>
                </a:gridCol>
                <a:gridCol w="1656183">
                  <a:extLst>
                    <a:ext uri="{9D8B030D-6E8A-4147-A177-3AD203B41FA5}">
                      <a16:colId xmlns:a16="http://schemas.microsoft.com/office/drawing/2014/main" val="3758688017"/>
                    </a:ext>
                  </a:extLst>
                </a:gridCol>
              </a:tblGrid>
              <a:tr h="406969">
                <a:tc rowSpan="2"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不同屏幕宽度下的显示状态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5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26797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超小屏幕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r>
                        <a:rPr lang="zh-CN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&lt;576</a:t>
                      </a:r>
                      <a:endParaRPr lang="zh-CN" altLang="zh-CN" sz="1400" b="1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</a:t>
                      </a:r>
                      <a:r>
                        <a:rPr 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[576, 768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中等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∈[769, 992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∈[992,1200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超大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1200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736567"/>
                  </a:ext>
                </a:extLst>
              </a:tr>
              <a:tr h="561155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.d-none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68555"/>
                  </a:ext>
                </a:extLst>
              </a:tr>
              <a:tr h="561155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.d-none .d-</a:t>
                      </a:r>
                      <a:r>
                        <a:rPr lang="en-US" sz="12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sm</a:t>
                      </a: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-block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155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.d-block .d-sm-none .d-md-block</a:t>
                      </a:r>
                      <a:endParaRPr lang="zh-CN" sz="12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89550"/>
                  </a:ext>
                </a:extLst>
              </a:tr>
              <a:tr h="561155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.d-block .d-md-none .d-lg-block</a:t>
                      </a:r>
                      <a:endParaRPr lang="zh-CN" sz="12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233264"/>
                  </a:ext>
                </a:extLst>
              </a:tr>
              <a:tr h="561155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.d-block .d-</a:t>
                      </a:r>
                      <a:r>
                        <a:rPr lang="en-US" sz="12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</a:t>
                      </a: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-none .d-xl-block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155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.d-block .d-xl-none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664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62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76"/>
          <p:cNvSpPr txBox="1"/>
          <p:nvPr/>
        </p:nvSpPr>
        <p:spPr>
          <a:xfrm>
            <a:off x="1143690" y="1341562"/>
            <a:ext cx="437545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元素显示的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响应式工具类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37518"/>
              </p:ext>
            </p:extLst>
          </p:nvPr>
        </p:nvGraphicFramePr>
        <p:xfrm>
          <a:off x="1107824" y="2133650"/>
          <a:ext cx="10604005" cy="432048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03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048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553181">
                  <a:extLst>
                    <a:ext uri="{9D8B030D-6E8A-4147-A177-3AD203B41FA5}">
                      <a16:colId xmlns:a16="http://schemas.microsoft.com/office/drawing/2014/main" val="3177896770"/>
                    </a:ext>
                  </a:extLst>
                </a:gridCol>
                <a:gridCol w="1579952">
                  <a:extLst>
                    <a:ext uri="{9D8B030D-6E8A-4147-A177-3AD203B41FA5}">
                      <a16:colId xmlns:a16="http://schemas.microsoft.com/office/drawing/2014/main" val="985776366"/>
                    </a:ext>
                  </a:extLst>
                </a:gridCol>
                <a:gridCol w="1319705">
                  <a:extLst>
                    <a:ext uri="{9D8B030D-6E8A-4147-A177-3AD203B41FA5}">
                      <a16:colId xmlns:a16="http://schemas.microsoft.com/office/drawing/2014/main" val="2488031500"/>
                    </a:ext>
                  </a:extLst>
                </a:gridCol>
                <a:gridCol w="1584175">
                  <a:extLst>
                    <a:ext uri="{9D8B030D-6E8A-4147-A177-3AD203B41FA5}">
                      <a16:colId xmlns:a16="http://schemas.microsoft.com/office/drawing/2014/main" val="3758688017"/>
                    </a:ext>
                  </a:extLst>
                </a:gridCol>
              </a:tblGrid>
              <a:tr h="391974">
                <a:tc rowSpan="2"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不同屏幕宽度下的显示状态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6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26797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超小屏幕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r>
                        <a:rPr lang="zh-CN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&lt;576</a:t>
                      </a:r>
                      <a:endParaRPr lang="zh-CN" altLang="zh-CN" sz="1400" b="1" kern="1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</a:t>
                      </a:r>
                      <a:r>
                        <a:rPr 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[576, 768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中等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∈[769, 992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∈[992,1200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超大</a:t>
                      </a: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屏幕</a:t>
                      </a:r>
                      <a:r>
                        <a:rPr lang="zh-CN" alt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宽度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indent="26797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sz="1400" b="1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1200</a:t>
                      </a:r>
                      <a:endParaRPr lang="zh-CN" sz="14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608771"/>
                  </a:ext>
                </a:extLst>
              </a:tr>
              <a:tr h="540480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.d-block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68555"/>
                  </a:ext>
                </a:extLst>
              </a:tr>
              <a:tr h="540480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.d-block .d-</a:t>
                      </a:r>
                      <a:r>
                        <a:rPr lang="en-US" sz="12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sm</a:t>
                      </a: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-none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480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.d-none .d-sm-block .d-md-none</a:t>
                      </a:r>
                      <a:endParaRPr lang="zh-CN" sz="12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89550"/>
                  </a:ext>
                </a:extLst>
              </a:tr>
              <a:tr h="540480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.d-none .d-md-block .d-lg-none</a:t>
                      </a:r>
                      <a:endParaRPr lang="zh-CN" sz="12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233264"/>
                  </a:ext>
                </a:extLst>
              </a:tr>
              <a:tr h="540480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.d-none .d-</a:t>
                      </a:r>
                      <a:r>
                        <a:rPr lang="en-US" sz="12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</a:t>
                      </a: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-block .d-xl-none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480"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.d-none .d-xl-block</a:t>
                      </a:r>
                      <a:endParaRPr lang="zh-CN" sz="12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隐藏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4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405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22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867196" y="1184439"/>
            <a:ext cx="10700617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超小屏幕设备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小屏幕设备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中等屏幕设备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大屏幕设备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超大屏幕设备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的页面运行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结果，如图：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38" y="2755924"/>
            <a:ext cx="5339284" cy="161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94" y="2719198"/>
            <a:ext cx="4970697" cy="1656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2134766" y="4437906"/>
            <a:ext cx="3298439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超小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设备运行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结果</a:t>
            </a: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7423522" y="4509914"/>
            <a:ext cx="329843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设备运行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233818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1898221" y="2853555"/>
            <a:ext cx="329843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中等屏幕设备运行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结果</a:t>
            </a: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87" y="1701602"/>
            <a:ext cx="5193179" cy="115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7218295" y="2837301"/>
            <a:ext cx="329843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屏幕设备运行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结果</a:t>
            </a:r>
          </a:p>
        </p:txBody>
      </p:sp>
      <p:pic>
        <p:nvPicPr>
          <p:cNvPr id="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191" y="1866627"/>
            <a:ext cx="5832648" cy="821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4511030" y="5085978"/>
            <a:ext cx="3298439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超大屏幕设备运行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结果</a:t>
            </a:r>
          </a:p>
        </p:txBody>
      </p:sp>
      <p:pic>
        <p:nvPicPr>
          <p:cNvPr id="10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352" y="4077866"/>
            <a:ext cx="7769589" cy="76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82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使用响应式工具类在不同屏幕上自适应隐藏或显示元素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Bootstrap\chapter05\demo05.html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638822" y="2061642"/>
            <a:ext cx="7848872" cy="4392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721716" y="2133650"/>
            <a:ext cx="7765977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head&gt;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响应式工具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name="viewport" content="width=device-width, initial-scale=1.0"&gt;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="bootstrap-4.6.0-dist/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/bootstrap.min.css"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&lt;style&gt;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div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{border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1px solid black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&lt;/style&gt;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class="container" style="padding: 40px;"&gt;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class="row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 &lt;/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01</a:t>
            </a:r>
          </a:p>
        </p:txBody>
      </p:sp>
    </p:spTree>
    <p:extLst>
      <p:ext uri="{BB962C8B-B14F-4D97-AF65-F5344CB8AC3E}">
        <p14:creationId xmlns:p14="http://schemas.microsoft.com/office/powerpoint/2010/main" val="66196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722842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使用响应式工具类在不同屏幕上自适应隐藏或显示元素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demo05.html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文件的行内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编写列内容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350791" y="2133650"/>
            <a:ext cx="8280918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94806" y="2133650"/>
            <a:ext cx="813690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class="row"&gt;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class="col-6 col-sm-2"&gt;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class="d-none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-block"&gt;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超小屏幕设备隐藏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class="d-block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-none"&gt;✔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在超小屏幕设备上可见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class="col-6 col-sm-2"&gt;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class="d-block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-none d-md-block"&gt;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小屏幕设备隐藏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class="d-none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-block d-md-none"&gt;✔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在小屏幕设备上可见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&lt;!--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省略部分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列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内容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div&gt;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7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774726" y="938251"/>
            <a:ext cx="8352928" cy="5675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846734" y="981522"/>
            <a:ext cx="82809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class="row"&gt;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省略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部分列内容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class="col-6 col-sm-2"&gt;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&lt;span class="d-block d-md-none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-block"&gt;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中等屏幕设备隐藏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class="d-none d-md-block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-none"&gt;✔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在中等屏幕设备上可见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class="col-6 col-sm-3"&gt;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class="d-block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-none d-xl-block"&gt;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大屏幕设备隐藏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class="d-none d-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-block d-xl-none"&gt;✔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在大屏幕设备上可见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class="col-6 col-sm-3"&gt;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class="d-block d-xl-none"&gt;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超大屏幕设备隐藏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class="d-none d-xl-block"&gt;✔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在超大屏幕设备上可见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25661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93886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浏览器中打开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demo05.html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文件，按“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键启动开发者工具，进入移动设备调试模式，将移动设备的宽度设置为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575px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，测试响应式工具类在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超小屏幕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上的运行结果。</a:t>
            </a: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86" y="2565698"/>
            <a:ext cx="5788125" cy="318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238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938866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移动设备的宽度设置为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，测试响应式工具类在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上的运行结果。</a:t>
            </a:r>
          </a:p>
        </p:txBody>
      </p:sp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958" y="2257118"/>
            <a:ext cx="5428085" cy="32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486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05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938866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移动设备的宽度设置为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768px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，测试响应式工具类在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上的运行结果。</a:t>
            </a:r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2258774"/>
            <a:ext cx="6692290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945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06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938866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移动设备的宽度设置为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992px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，测试响应式工具类在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上的运行结果。</a:t>
            </a:r>
          </a:p>
        </p:txBody>
      </p:sp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980" y="2258774"/>
            <a:ext cx="8064984" cy="268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83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Bootstrap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响应式工具类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977A9EE-CCB8-E04F-9A2A-321C6C7617C3}"/>
              </a:ext>
            </a:extLst>
          </p:cNvPr>
          <p:cNvSpPr/>
          <p:nvPr/>
        </p:nvSpPr>
        <p:spPr>
          <a:xfrm>
            <a:off x="961390" y="1124105"/>
            <a:ext cx="1747943" cy="7732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93C9C-E844-214A-90AC-76ADC702D516}"/>
              </a:ext>
            </a:extLst>
          </p:cNvPr>
          <p:cNvSpPr txBox="1"/>
          <p:nvPr/>
        </p:nvSpPr>
        <p:spPr>
          <a:xfrm flipH="1">
            <a:off x="1050502" y="1259844"/>
            <a:ext cx="1624965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STEP  </a:t>
            </a:r>
            <a:r>
              <a:rPr lang="en-US" altLang="zh-CN" sz="2800" dirty="0" smtClean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rPr>
              <a:t>07</a:t>
            </a:r>
            <a:endParaRPr lang="en-US" altLang="zh-CN" sz="2800" dirty="0">
              <a:solidFill>
                <a:schemeClr val="bg1"/>
              </a:solidFill>
              <a:latin typeface="Impact" panose="020B080603090205020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BEAF0FBF-8370-1548-A5DC-85DA9EE176C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16980" y="1031179"/>
            <a:ext cx="8938866" cy="9694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测试网页程序</a:t>
            </a:r>
            <a:endParaRPr lang="en-US" altLang="zh-CN" sz="2000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移动设备的设置为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1200px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，测试响应式工具类在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超大屏幕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上的运行结果。</a:t>
            </a:r>
          </a:p>
        </p:txBody>
      </p:sp>
      <p:pic>
        <p:nvPicPr>
          <p:cNvPr id="921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766" y="2258774"/>
            <a:ext cx="9137463" cy="2572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16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2170424"/>
            <a:ext cx="9794240" cy="277153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58702" y="2760020"/>
            <a:ext cx="9001000" cy="2253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首先介绍了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，帮助读者对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有一个初步的认识；然后讲解了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的下载和使用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，读者应掌握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预编译文件的下载和引入，并能完成初始模板的创建；最后讲解了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的布局容器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响应式工具类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，读者可以根据实际需要灵活使用。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141371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5874</TotalTime>
  <Words>6592</Words>
  <Application>Microsoft Office PowerPoint</Application>
  <PresentationFormat>自定义</PresentationFormat>
  <Paragraphs>661</Paragraphs>
  <Slides>74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9" baseType="lpstr">
      <vt:lpstr>Source Han Sans K Bold</vt:lpstr>
      <vt:lpstr>思源黑体 CN Medium</vt:lpstr>
      <vt:lpstr>宋体</vt:lpstr>
      <vt:lpstr>微软雅黑</vt:lpstr>
      <vt:lpstr>字魂105号-简雅黑</vt:lpstr>
      <vt:lpstr>字魂58号-创中黑</vt:lpstr>
      <vt:lpstr>Arial</vt:lpstr>
      <vt:lpstr>Calibri</vt:lpstr>
      <vt:lpstr>Courier New</vt:lpstr>
      <vt:lpstr>Impact</vt:lpstr>
      <vt:lpstr>Times New Roman</vt:lpstr>
      <vt:lpstr>Verdana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Windows 用户</cp:lastModifiedBy>
  <cp:revision>2113</cp:revision>
  <dcterms:created xsi:type="dcterms:W3CDTF">2020-11-09T06:56:00Z</dcterms:created>
  <dcterms:modified xsi:type="dcterms:W3CDTF">2026-07-22T13:15:42Z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