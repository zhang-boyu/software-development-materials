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36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7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208"/>
  </p:notesMasterIdLst>
  <p:handoutMasterIdLst>
    <p:handoutMasterId r:id="rId209"/>
  </p:handoutMasterIdLst>
  <p:sldIdLst>
    <p:sldId id="325" r:id="rId3"/>
    <p:sldId id="511" r:id="rId4"/>
    <p:sldId id="886" r:id="rId5"/>
    <p:sldId id="328" r:id="rId6"/>
    <p:sldId id="887" r:id="rId7"/>
    <p:sldId id="888" r:id="rId8"/>
    <p:sldId id="309" r:id="rId9"/>
    <p:sldId id="577" r:id="rId10"/>
    <p:sldId id="1059" r:id="rId11"/>
    <p:sldId id="630" r:id="rId12"/>
    <p:sldId id="889" r:id="rId13"/>
    <p:sldId id="372" r:id="rId14"/>
    <p:sldId id="409" r:id="rId15"/>
    <p:sldId id="854" r:id="rId16"/>
    <p:sldId id="852" r:id="rId17"/>
    <p:sldId id="890" r:id="rId18"/>
    <p:sldId id="891" r:id="rId19"/>
    <p:sldId id="1058" r:id="rId20"/>
    <p:sldId id="1056" r:id="rId21"/>
    <p:sldId id="893" r:id="rId22"/>
    <p:sldId id="894" r:id="rId23"/>
    <p:sldId id="895" r:id="rId24"/>
    <p:sldId id="896" r:id="rId25"/>
    <p:sldId id="897" r:id="rId26"/>
    <p:sldId id="898" r:id="rId27"/>
    <p:sldId id="899" r:id="rId28"/>
    <p:sldId id="900" r:id="rId29"/>
    <p:sldId id="901" r:id="rId30"/>
    <p:sldId id="1062" r:id="rId31"/>
    <p:sldId id="902" r:id="rId32"/>
    <p:sldId id="903" r:id="rId33"/>
    <p:sldId id="904" r:id="rId34"/>
    <p:sldId id="905" r:id="rId35"/>
    <p:sldId id="906" r:id="rId36"/>
    <p:sldId id="907" r:id="rId37"/>
    <p:sldId id="908" r:id="rId38"/>
    <p:sldId id="909" r:id="rId39"/>
    <p:sldId id="910" r:id="rId40"/>
    <p:sldId id="911" r:id="rId41"/>
    <p:sldId id="1063" r:id="rId42"/>
    <p:sldId id="1064" r:id="rId43"/>
    <p:sldId id="913" r:id="rId44"/>
    <p:sldId id="914" r:id="rId45"/>
    <p:sldId id="915" r:id="rId46"/>
    <p:sldId id="916" r:id="rId47"/>
    <p:sldId id="917" r:id="rId48"/>
    <p:sldId id="918" r:id="rId49"/>
    <p:sldId id="919" r:id="rId50"/>
    <p:sldId id="920" r:id="rId51"/>
    <p:sldId id="513" r:id="rId52"/>
    <p:sldId id="598" r:id="rId53"/>
    <p:sldId id="1060" r:id="rId54"/>
    <p:sldId id="639" r:id="rId55"/>
    <p:sldId id="921" r:id="rId56"/>
    <p:sldId id="922" r:id="rId57"/>
    <p:sldId id="923" r:id="rId58"/>
    <p:sldId id="1065" r:id="rId59"/>
    <p:sldId id="924" r:id="rId60"/>
    <p:sldId id="925" r:id="rId61"/>
    <p:sldId id="926" r:id="rId62"/>
    <p:sldId id="1061" r:id="rId63"/>
    <p:sldId id="927" r:id="rId64"/>
    <p:sldId id="928" r:id="rId65"/>
    <p:sldId id="929" r:id="rId66"/>
    <p:sldId id="1066" r:id="rId67"/>
    <p:sldId id="930" r:id="rId68"/>
    <p:sldId id="931" r:id="rId69"/>
    <p:sldId id="932" r:id="rId70"/>
    <p:sldId id="933" r:id="rId71"/>
    <p:sldId id="934" r:id="rId72"/>
    <p:sldId id="1067" r:id="rId73"/>
    <p:sldId id="935" r:id="rId74"/>
    <p:sldId id="936" r:id="rId75"/>
    <p:sldId id="937" r:id="rId76"/>
    <p:sldId id="938" r:id="rId77"/>
    <p:sldId id="939" r:id="rId78"/>
    <p:sldId id="1068" r:id="rId79"/>
    <p:sldId id="940" r:id="rId80"/>
    <p:sldId id="941" r:id="rId81"/>
    <p:sldId id="942" r:id="rId82"/>
    <p:sldId id="1085" r:id="rId83"/>
    <p:sldId id="944" r:id="rId84"/>
    <p:sldId id="1069" r:id="rId85"/>
    <p:sldId id="1070" r:id="rId86"/>
    <p:sldId id="945" r:id="rId87"/>
    <p:sldId id="946" r:id="rId88"/>
    <p:sldId id="947" r:id="rId89"/>
    <p:sldId id="948" r:id="rId90"/>
    <p:sldId id="949" r:id="rId91"/>
    <p:sldId id="950" r:id="rId92"/>
    <p:sldId id="951" r:id="rId93"/>
    <p:sldId id="952" r:id="rId94"/>
    <p:sldId id="953" r:id="rId95"/>
    <p:sldId id="954" r:id="rId96"/>
    <p:sldId id="955" r:id="rId97"/>
    <p:sldId id="1072" r:id="rId98"/>
    <p:sldId id="957" r:id="rId99"/>
    <p:sldId id="958" r:id="rId100"/>
    <p:sldId id="959" r:id="rId101"/>
    <p:sldId id="961" r:id="rId102"/>
    <p:sldId id="962" r:id="rId103"/>
    <p:sldId id="963" r:id="rId104"/>
    <p:sldId id="964" r:id="rId105"/>
    <p:sldId id="965" r:id="rId106"/>
    <p:sldId id="966" r:id="rId107"/>
    <p:sldId id="967" r:id="rId108"/>
    <p:sldId id="968" r:id="rId109"/>
    <p:sldId id="969" r:id="rId110"/>
    <p:sldId id="970" r:id="rId111"/>
    <p:sldId id="971" r:id="rId112"/>
    <p:sldId id="972" r:id="rId113"/>
    <p:sldId id="973" r:id="rId114"/>
    <p:sldId id="1086" r:id="rId115"/>
    <p:sldId id="974" r:id="rId116"/>
    <p:sldId id="975" r:id="rId117"/>
    <p:sldId id="1073" r:id="rId118"/>
    <p:sldId id="976" r:id="rId119"/>
    <p:sldId id="977" r:id="rId120"/>
    <p:sldId id="978" r:id="rId121"/>
    <p:sldId id="979" r:id="rId122"/>
    <p:sldId id="980" r:id="rId123"/>
    <p:sldId id="981" r:id="rId124"/>
    <p:sldId id="982" r:id="rId125"/>
    <p:sldId id="983" r:id="rId126"/>
    <p:sldId id="985" r:id="rId127"/>
    <p:sldId id="1054" r:id="rId128"/>
    <p:sldId id="1074" r:id="rId129"/>
    <p:sldId id="1075" r:id="rId130"/>
    <p:sldId id="1076" r:id="rId131"/>
    <p:sldId id="986" r:id="rId132"/>
    <p:sldId id="987" r:id="rId133"/>
    <p:sldId id="988" r:id="rId134"/>
    <p:sldId id="990" r:id="rId135"/>
    <p:sldId id="991" r:id="rId136"/>
    <p:sldId id="989" r:id="rId137"/>
    <p:sldId id="992" r:id="rId138"/>
    <p:sldId id="994" r:id="rId139"/>
    <p:sldId id="993" r:id="rId140"/>
    <p:sldId id="995" r:id="rId141"/>
    <p:sldId id="996" r:id="rId142"/>
    <p:sldId id="997" r:id="rId143"/>
    <p:sldId id="1077" r:id="rId144"/>
    <p:sldId id="998" r:id="rId145"/>
    <p:sldId id="999" r:id="rId146"/>
    <p:sldId id="1078" r:id="rId147"/>
    <p:sldId id="1001" r:id="rId148"/>
    <p:sldId id="1000" r:id="rId149"/>
    <p:sldId id="1002" r:id="rId150"/>
    <p:sldId id="1003" r:id="rId151"/>
    <p:sldId id="1004" r:id="rId152"/>
    <p:sldId id="1005" r:id="rId153"/>
    <p:sldId id="1006" r:id="rId154"/>
    <p:sldId id="1007" r:id="rId155"/>
    <p:sldId id="1008" r:id="rId156"/>
    <p:sldId id="1009" r:id="rId157"/>
    <p:sldId id="1010" r:id="rId158"/>
    <p:sldId id="1011" r:id="rId159"/>
    <p:sldId id="1079" r:id="rId160"/>
    <p:sldId id="1012" r:id="rId161"/>
    <p:sldId id="1013" r:id="rId162"/>
    <p:sldId id="1014" r:id="rId163"/>
    <p:sldId id="1015" r:id="rId164"/>
    <p:sldId id="1080" r:id="rId165"/>
    <p:sldId id="1016" r:id="rId166"/>
    <p:sldId id="1017" r:id="rId167"/>
    <p:sldId id="1018" r:id="rId168"/>
    <p:sldId id="1019" r:id="rId169"/>
    <p:sldId id="1021" r:id="rId170"/>
    <p:sldId id="1022" r:id="rId171"/>
    <p:sldId id="1023" r:id="rId172"/>
    <p:sldId id="1024" r:id="rId173"/>
    <p:sldId id="1025" r:id="rId174"/>
    <p:sldId id="1026" r:id="rId175"/>
    <p:sldId id="1081" r:id="rId176"/>
    <p:sldId id="1027" r:id="rId177"/>
    <p:sldId id="1028" r:id="rId178"/>
    <p:sldId id="1029" r:id="rId179"/>
    <p:sldId id="1030" r:id="rId180"/>
    <p:sldId id="1031" r:id="rId181"/>
    <p:sldId id="1032" r:id="rId182"/>
    <p:sldId id="1033" r:id="rId183"/>
    <p:sldId id="1082" r:id="rId184"/>
    <p:sldId id="1034" r:id="rId185"/>
    <p:sldId id="1035" r:id="rId186"/>
    <p:sldId id="1036" r:id="rId187"/>
    <p:sldId id="1037" r:id="rId188"/>
    <p:sldId id="1038" r:id="rId189"/>
    <p:sldId id="1039" r:id="rId190"/>
    <p:sldId id="1083" r:id="rId191"/>
    <p:sldId id="1040" r:id="rId192"/>
    <p:sldId id="1041" r:id="rId193"/>
    <p:sldId id="1042" r:id="rId194"/>
    <p:sldId id="1043" r:id="rId195"/>
    <p:sldId id="1044" r:id="rId196"/>
    <p:sldId id="1084" r:id="rId197"/>
    <p:sldId id="1045" r:id="rId198"/>
    <p:sldId id="1046" r:id="rId199"/>
    <p:sldId id="1047" r:id="rId200"/>
    <p:sldId id="1048" r:id="rId201"/>
    <p:sldId id="1049" r:id="rId202"/>
    <p:sldId id="1050" r:id="rId203"/>
    <p:sldId id="1051" r:id="rId204"/>
    <p:sldId id="1052" r:id="rId205"/>
    <p:sldId id="1053" r:id="rId206"/>
    <p:sldId id="326" r:id="rId207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6">
          <p15:clr>
            <a:srgbClr val="A4A3A4"/>
          </p15:clr>
        </p15:guide>
        <p15:guide id="3" pos="65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595959"/>
    <a:srgbClr val="1369B3"/>
    <a:srgbClr val="1369B2"/>
    <a:srgbClr val="EBAD13"/>
    <a:srgbClr val="FFFFFF"/>
    <a:srgbClr val="BBBBBB"/>
    <a:srgbClr val="FAFAFA"/>
    <a:srgbClr val="006BBC"/>
    <a:srgbClr val="007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8" autoAdjust="0"/>
    <p:restoredTop sz="89369" autoAdjust="0"/>
  </p:normalViewPr>
  <p:slideViewPr>
    <p:cSldViewPr>
      <p:cViewPr varScale="1">
        <p:scale>
          <a:sx n="110" d="100"/>
          <a:sy n="110" d="100"/>
        </p:scale>
        <p:origin x="660" y="102"/>
      </p:cViewPr>
      <p:guideLst>
        <p:guide orient="horz" pos="2160"/>
        <p:guide pos="256"/>
        <p:guide pos="65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handoutMaster" Target="handoutMasters/handoutMaster1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presProps" Target="presProps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viewProps" Target="viewProp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theme" Target="theme/theme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6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626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172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787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96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821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620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007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5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36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368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377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69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565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188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434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7585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6743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1853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759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741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7656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419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6430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7908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3548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3852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851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864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4717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4771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9145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5761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0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8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9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0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3.emf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6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4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6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829373" y="2637706"/>
            <a:ext cx="6722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HTML5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新特性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4871070" y="3861842"/>
            <a:ext cx="5184576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《HTML5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198662" y="1989634"/>
            <a:ext cx="10009111" cy="685959"/>
            <a:chOff x="978872" y="2570437"/>
            <a:chExt cx="5604667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604667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localStorage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sessionStorage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的使用，能够实现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数据的设置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获取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删除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210001" y="2925738"/>
            <a:ext cx="9997771" cy="688077"/>
            <a:chOff x="978872" y="3338787"/>
            <a:chExt cx="5604863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604863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 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Storage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事件监听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监听数据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变化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209989" y="3854601"/>
            <a:ext cx="9997784" cy="685959"/>
            <a:chOff x="978872" y="2570437"/>
            <a:chExt cx="5598324" cy="514350"/>
          </a:xfrm>
        </p:grpSpPr>
        <p:sp>
          <p:nvSpPr>
            <p:cNvPr id="13" name="Pentagon 5"/>
            <p:cNvSpPr/>
            <p:nvPr/>
          </p:nvSpPr>
          <p:spPr bwMode="auto">
            <a:xfrm>
              <a:off x="978872" y="2570437"/>
              <a:ext cx="559832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&lt;video&gt;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&lt;audio&gt;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标签的使用，能够实现页面中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视频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音频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的处理</a:t>
              </a: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1328" y="4790705"/>
            <a:ext cx="9986444" cy="688077"/>
            <a:chOff x="978872" y="3338787"/>
            <a:chExt cx="5598513" cy="515938"/>
          </a:xfrm>
        </p:grpSpPr>
        <p:sp>
          <p:nvSpPr>
            <p:cNvPr id="17" name="Pentagon 6"/>
            <p:cNvSpPr/>
            <p:nvPr/>
          </p:nvSpPr>
          <p:spPr bwMode="auto">
            <a:xfrm>
              <a:off x="978872" y="3338787"/>
              <a:ext cx="5598513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地理定位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的使用，能够实现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Geolocation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地理定位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百度地图地理定位</a:t>
              </a: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721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342678" y="2061642"/>
            <a:ext cx="9721080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拖曳操作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拖曳事件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实现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源对象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目标对象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中的拖动效果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353961" y="3069754"/>
            <a:ext cx="9709797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文件操作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FileReader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读取文件内容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365300" y="4077866"/>
            <a:ext cx="9698457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Canvas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的使用，能够在画布中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绘制图形</a:t>
              </a: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93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1714674"/>
            <a:ext cx="10151132" cy="2977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移动互联网的快速发展，基于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越来越普遍，也变得越来越复杂。为了满足各种各样的需求，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提供了很多新的特性。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视频与音频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地理定位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拖曳操作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Canvas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，这些新特性增强了网页的功能。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本章将针对这些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新特性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进行详细讲解。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305133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386506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471453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282954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Web Storage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369680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视频与音频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449800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地理定位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71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299845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381218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46616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277666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>
                <a:buClrTx/>
                <a:buSzTx/>
                <a:buFontTx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拖曳操作</a:t>
              </a: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364392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文件操作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44451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Canvas</a:t>
              </a: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76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 Storage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Web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FA7AB6-8F1E-4534-A8CC-C77A00FED3FB}"/>
              </a:ext>
            </a:extLst>
          </p:cNvPr>
          <p:cNvSpPr txBox="1"/>
          <p:nvPr/>
        </p:nvSpPr>
        <p:spPr>
          <a:xfrm>
            <a:off x="1099190" y="1341562"/>
            <a:ext cx="9199987" cy="3131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为什么学习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 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之前，我们通常使用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进行数据存储，例如在本地设备上存储历史活动的信息，但这种方式的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缺点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是存储的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空间大小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4KB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左右，存储的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数据解析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起来比较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为此，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提出了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网络存储的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相关解决方案，即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存储）。</a:t>
            </a:r>
          </a:p>
        </p:txBody>
      </p:sp>
    </p:spTree>
    <p:extLst>
      <p:ext uri="{BB962C8B-B14F-4D97-AF65-F5344CB8AC3E}">
        <p14:creationId xmlns:p14="http://schemas.microsoft.com/office/powerpoint/2010/main" val="406917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Web Storage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的概念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能够说出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Web Storage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特点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 Storage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</a:p>
        </p:txBody>
      </p:sp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54646" y="1197546"/>
            <a:ext cx="10441160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的作用：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数据存储在本地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保存用户的偏好设置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复选框的选中状态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文本框默认填写的值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。用户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在浏览器中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刷新网页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时，网页通过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就可以知道用户之前所做的一些修改，而不需要将用户修改的内容存储在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4398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</a:p>
        </p:txBody>
      </p:sp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054646" y="1197546"/>
            <a:ext cx="10441160" cy="270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的区别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类似于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，但相比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减少网络流量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，因为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存储的数据不会发送给服务器，而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存储的数据会由浏览器通过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自动发送给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将数据存储在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间不必要地来回传递。</a:t>
            </a:r>
          </a:p>
        </p:txBody>
      </p:sp>
    </p:spTree>
    <p:extLst>
      <p:ext uri="{BB962C8B-B14F-4D97-AF65-F5344CB8AC3E}">
        <p14:creationId xmlns:p14="http://schemas.microsoft.com/office/powerpoint/2010/main" val="60523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</a:p>
        </p:txBody>
      </p:sp>
      <p:sp>
        <p:nvSpPr>
          <p:cNvPr id="7" name="TextBox 35">
            <a:extLst>
              <a:ext uri="{FF2B5EF4-FFF2-40B4-BE49-F238E27FC236}">
                <a16:creationId xmlns:a16="http://schemas.microsoft.com/office/drawing/2014/main" id="{C0963070-F402-4FD2-86EB-E3B9FA5CB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270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中包含两个关键的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接口提供的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：用于本地存储。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：用于区域存储。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的概念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59C9A5C9-BA33-4096-8778-A5FB016F1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14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读取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比较方便。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容量较大，可以存储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大约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5MB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只能存储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，如果要存储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，则可以使用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JSON.stringify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JSON.parse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方法分别进行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序列化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反序列化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7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本地数据可以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即时获得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。借助浏览器的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缓存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，整个页面和数据都可以保存在本地，从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本地读数据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通过网络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从服务器获得数据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快得多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立即显示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缓存的内容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7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临时存储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。很多时候数据只需要在用户浏览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期间使用，关闭页面后数据就可以丢弃，这种情况使用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非常方便。</a:t>
            </a:r>
          </a:p>
        </p:txBody>
      </p:sp>
    </p:spTree>
    <p:extLst>
      <p:ext uri="{BB962C8B-B14F-4D97-AF65-F5344CB8AC3E}">
        <p14:creationId xmlns:p14="http://schemas.microsoft.com/office/powerpoint/2010/main" val="201841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743737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4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localStorage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使用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localStorage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提供的属性和方法实现数据的设置、获取和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删除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DA623A-F92E-4B1A-8E24-D4DF8F48A24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978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的主要作用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本地存储，它可以将数据按照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键值对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的方式保存在浏览器中，直到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脚本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清除数据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，否则该数据会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一直存在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。也就是说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，使用了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本地存储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被持久化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2853730"/>
            <a:ext cx="10441160" cy="3262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的区别：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存储数据的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生命周期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不同。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永久性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存储，而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的生命周期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与会话保持一致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会话结束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数据消失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硬件方面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理解，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的数据是存储在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硬盘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中的，关闭浏览器时数据仍然在硬盘上，再次打开浏览器仍然可以获取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保存的数据。而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的数据保存在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中，当浏览器关闭后，内存将被自动清除。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1884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269554"/>
            <a:ext cx="10441160" cy="4601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的优势：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拓展了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Cookie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4KB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限制，并且可以将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第一次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请求的数据直接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存储到本地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，其容量相当于一个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5MB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有一些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局限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zh-CN" altLang="en-US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版本才支持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不同浏览器保存的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数据量大小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不统一。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目前所有的浏览器都会把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的值类型限定为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String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，对于比较常用的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对象类型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在浏览器的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隐私模式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不可读取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网络爬虫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抓取到。</a:t>
            </a:r>
          </a:p>
        </p:txBody>
      </p:sp>
    </p:spTree>
    <p:extLst>
      <p:ext uri="{BB962C8B-B14F-4D97-AF65-F5344CB8AC3E}">
        <p14:creationId xmlns:p14="http://schemas.microsoft.com/office/powerpoint/2010/main" val="236011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5527579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localStorage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对象提供的方法和属性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60849"/>
              </p:ext>
            </p:extLst>
          </p:nvPr>
        </p:nvGraphicFramePr>
        <p:xfrm>
          <a:off x="1126654" y="1989634"/>
          <a:ext cx="10009112" cy="427140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3650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方法</a:t>
                      </a:r>
                      <a:r>
                        <a:rPr lang="en-US" altLang="zh-CN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90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key(n)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该方法用于返回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对象中第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key</a:t>
                      </a:r>
                      <a:r>
                        <a:rPr lang="zh-CN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的名称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93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setItem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key,value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该方法接收键名和值作为参数，将会把键值对存储到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中，如果键名存在，则更新其对应的值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getItem(key)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该方法接收一个键名作为参数，返回键名对应的值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removeItem(key)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该方法删除键名为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key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的存储内容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63230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clear()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该方法清空所有存储内容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941889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length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该属性返回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对象中包含的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item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的数量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97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92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1">
            <a:extLst>
              <a:ext uri="{FF2B5EF4-FFF2-40B4-BE49-F238E27FC236}">
                <a16:creationId xmlns:a16="http://schemas.microsoft.com/office/drawing/2014/main" id="{B73BC60E-7B6F-4E7E-B95C-051737A62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50" y="1989634"/>
            <a:ext cx="8120103" cy="3097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988CEE0-A446-4AB2-AB5D-0B5897879F03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localStorage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对象的方法来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282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095E658B-8B96-4790-9692-A17FAF4E2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2043472"/>
            <a:ext cx="5224278" cy="2466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988CEE0-A446-4AB2-AB5D-0B5897879F03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localStorage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对象的方法来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70084186-D052-4516-8026-53CA16828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222" y="2043472"/>
            <a:ext cx="5224278" cy="2466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827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17371" y="2642240"/>
            <a:ext cx="5688632" cy="3906121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366490" y="2639984"/>
            <a:ext cx="4763449" cy="39083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&lt;input type="text" id="username"&gt;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setData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设置数据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获取数据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delData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删除数据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定义按钮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，定义用于输入数据的文本框和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按钮。</a:t>
            </a:r>
          </a:p>
        </p:txBody>
      </p:sp>
    </p:spTree>
    <p:extLst>
      <p:ext uri="{BB962C8B-B14F-4D97-AF65-F5344CB8AC3E}">
        <p14:creationId xmlns:p14="http://schemas.microsoft.com/office/powerpoint/2010/main" val="59065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2857766" y="2878791"/>
            <a:ext cx="6693823" cy="300351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878790"/>
            <a:ext cx="6491641" cy="300351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var username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('#username');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单击“设置数据”按钮，设置数据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setData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').onclick = function ()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username.value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获取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username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里面的值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localStorage.setItem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('username',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绑定单击事件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结束标签前添加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代码，分别获取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按钮的元素并绑定单击事件。</a:t>
            </a:r>
          </a:p>
        </p:txBody>
      </p:sp>
    </p:spTree>
    <p:extLst>
      <p:ext uri="{BB962C8B-B14F-4D97-AF65-F5344CB8AC3E}">
        <p14:creationId xmlns:p14="http://schemas.microsoft.com/office/powerpoint/2010/main" val="370430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2857766" y="2878790"/>
            <a:ext cx="6693823" cy="3046987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878790"/>
            <a:ext cx="6491640" cy="304698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单击“获取数据”按钮，获得数据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').onclick = function ()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alert(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localStorage.getItem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('username'));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单击“删除数据”按钮，删除数据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delData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').onclick = function ()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localStorage.removeItem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('username');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3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绑定单击事件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结束标签前添加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代码，分别获取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按钮的元素并绑定单击事件。</a:t>
            </a:r>
          </a:p>
        </p:txBody>
      </p:sp>
    </p:spTree>
    <p:extLst>
      <p:ext uri="{BB962C8B-B14F-4D97-AF65-F5344CB8AC3E}">
        <p14:creationId xmlns:p14="http://schemas.microsoft.com/office/powerpoint/2010/main" val="279516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80028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</a:t>
            </a: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</a:t>
            </a:r>
            <a:r>
              <a:rPr lang="en-US" altLang="zh-CN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demo01.html</a:t>
            </a:r>
            <a:endParaRPr lang="zh-CN" altLang="en-US" b="1" kern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CB2B18C9-826B-4D49-B9AB-6F4F75651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71" y="2493690"/>
            <a:ext cx="603529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243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设置数据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在文本框中输入“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”，然后单击“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2051" name="图片 1">
            <a:extLst>
              <a:ext uri="{FF2B5EF4-FFF2-40B4-BE49-F238E27FC236}">
                <a16:creationId xmlns:a16="http://schemas.microsoft.com/office/drawing/2014/main" id="{BBF36995-5965-4AEA-9A74-234A8320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633" y="2493690"/>
            <a:ext cx="679575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015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获取数据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查看数据是否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设置成功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。如果成功会显示在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警告框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中。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3074" name="图片 1">
            <a:extLst>
              <a:ext uri="{FF2B5EF4-FFF2-40B4-BE49-F238E27FC236}">
                <a16:creationId xmlns:a16="http://schemas.microsoft.com/office/drawing/2014/main" id="{A45F1C38-89F0-46EF-8DE1-82A091826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44" y="2493690"/>
            <a:ext cx="5181334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56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localStorage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06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删除后再次单击“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获取数据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”的按钮。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4098" name="图片 1">
            <a:extLst>
              <a:ext uri="{FF2B5EF4-FFF2-40B4-BE49-F238E27FC236}">
                <a16:creationId xmlns:a16="http://schemas.microsoft.com/office/drawing/2014/main" id="{9E9B149C-6F49-4152-A883-3A8D9DDE3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386" y="2421682"/>
            <a:ext cx="5333727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41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sessionStorage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使用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sessionStorage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提供的属性和方法实现数据的设置、获取和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删除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DA623A-F92E-4B1A-8E24-D4DF8F48A24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04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3715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的特点：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存储的数据只在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浏览器标签页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内有效，只要这个浏览器标签页没有关闭，即使刷新页面或进入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的另一页面，数据仍然存在。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浏览器标签页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关闭后，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中存储的数据将被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自动清除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如果打开了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不同的标签页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，即使是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的。所以如果想要让不同标签页下的网页不能互相访问数据，可以将数据保存在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7C03F4-8907-4780-87DE-E230C3C01FB9}"/>
              </a:ext>
            </a:extLst>
          </p:cNvPr>
          <p:cNvSpPr txBox="1"/>
          <p:nvPr/>
        </p:nvSpPr>
        <p:spPr>
          <a:xfrm>
            <a:off x="1152041" y="5189924"/>
            <a:ext cx="9920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也提供了一些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对象的方法和属性类似。</a:t>
            </a:r>
          </a:p>
        </p:txBody>
      </p:sp>
    </p:spTree>
    <p:extLst>
      <p:ext uri="{BB962C8B-B14F-4D97-AF65-F5344CB8AC3E}">
        <p14:creationId xmlns:p14="http://schemas.microsoft.com/office/powerpoint/2010/main" val="392429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0C1687-3FC3-4FAD-BBE5-42ED99C7E547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sessionStorage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对象的方法设置数据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27D9C16A-AED5-433E-988D-FF098CEB4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805" y="1989634"/>
            <a:ext cx="6603497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415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17371" y="2679316"/>
            <a:ext cx="5757719" cy="384682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219553" y="2679316"/>
            <a:ext cx="4907465" cy="384682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&lt;input type="text" id="username"&gt;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setData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设置数据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定义按钮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，定义一个文本框和一个“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”按钮，具体代码如下。</a:t>
            </a:r>
          </a:p>
        </p:txBody>
      </p:sp>
    </p:spTree>
    <p:extLst>
      <p:ext uri="{BB962C8B-B14F-4D97-AF65-F5344CB8AC3E}">
        <p14:creationId xmlns:p14="http://schemas.microsoft.com/office/powerpoint/2010/main" val="330367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2857767" y="2788213"/>
            <a:ext cx="6693823" cy="300351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781722"/>
            <a:ext cx="6779673" cy="300351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var username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('#username');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单击“设置数据”按钮，设置数据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setData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').onclick = function ()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username.value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      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获取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username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里面的值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sessionStorage.setItem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('username',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绑定单击事件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结束标签前添加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按钮的元素并绑定单击事件。</a:t>
            </a:r>
          </a:p>
        </p:txBody>
      </p:sp>
    </p:spTree>
    <p:extLst>
      <p:ext uri="{BB962C8B-B14F-4D97-AF65-F5344CB8AC3E}">
        <p14:creationId xmlns:p14="http://schemas.microsoft.com/office/powerpoint/2010/main" val="16647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demo01.html</a:t>
            </a:r>
            <a:endParaRPr lang="zh-CN" altLang="en-US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初始页面效果。</a:t>
            </a:r>
          </a:p>
        </p:txBody>
      </p:sp>
      <p:pic>
        <p:nvPicPr>
          <p:cNvPr id="5122" name="图片 1">
            <a:extLst>
              <a:ext uri="{FF2B5EF4-FFF2-40B4-BE49-F238E27FC236}">
                <a16:creationId xmlns:a16="http://schemas.microsoft.com/office/drawing/2014/main" id="{53C75FA7-B2CF-42D2-9E0D-AA3BF0610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493690"/>
            <a:ext cx="6332642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27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设置数据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在文本框中输入“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”，然后单击“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6146" name="图片 1">
            <a:extLst>
              <a:ext uri="{FF2B5EF4-FFF2-40B4-BE49-F238E27FC236}">
                <a16:creationId xmlns:a16="http://schemas.microsoft.com/office/drawing/2014/main" id="{8B0D9127-2251-4890-8787-4CBCE3276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806" y="2354670"/>
            <a:ext cx="7280779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15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sessionStorage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478435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打开新标签页，观察数据是否存在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在浏览器重新访问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文件，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数据是否存在。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DA68CC27-2E6B-4A23-8397-47A752494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934907"/>
            <a:ext cx="5904656" cy="251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459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Web Storage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事件监听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能够监听数据的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变化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DA623A-F92E-4B1A-8E24-D4DF8F48A24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280593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330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事件触发的条件：</a:t>
            </a:r>
            <a:endParaRPr lang="en-US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存储的数据发生变化时，会触发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事件。我们可以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该事件并指定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，当其他页面中的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中保存的数据发生改变时，就会执行事件处理函数。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677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00396-5193-4305-957B-F163591764A9}"/>
              </a:ext>
            </a:extLst>
          </p:cNvPr>
          <p:cNvSpPr txBox="1"/>
          <p:nvPr/>
        </p:nvSpPr>
        <p:spPr>
          <a:xfrm>
            <a:off x="2134766" y="2133650"/>
            <a:ext cx="7776864" cy="15261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window.addEventListener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事件名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,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事件处理函数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window.addEventListener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('storage', function (event)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45021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event.key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2860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632FB5-D9E7-427F-8153-7A2FC3AAE69A}"/>
              </a:ext>
            </a:extLst>
          </p:cNvPr>
          <p:cNvSpPr txBox="1"/>
          <p:nvPr/>
        </p:nvSpPr>
        <p:spPr>
          <a:xfrm>
            <a:off x="1143690" y="4029665"/>
            <a:ext cx="9560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上述代码中，事件处理函数接收一个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作为参数，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保存发生变化的数据的键名。</a:t>
            </a: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1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2719267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event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对象的属性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510009"/>
              </p:ext>
            </p:extLst>
          </p:nvPr>
        </p:nvGraphicFramePr>
        <p:xfrm>
          <a:off x="1126654" y="1989634"/>
          <a:ext cx="10009112" cy="360040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7915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55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event.key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获取在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sessionStorage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中被修改的数据键值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event.oldValue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获取在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sessionStorage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中被修改前的值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event.newValue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获取在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sessionStorage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中被修改后的值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event.url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获取在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sessionStorage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中值的页面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URL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地址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63230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event.storageArea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获取变动的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sessionStorage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对象或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localStorage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941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38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97546"/>
            <a:ext cx="10441160" cy="3447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并不在导致数据变化的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触发。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如果浏览器同时打开一个域名下面的多个页面，当其中的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一个页面改变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的数据时，其他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原始页面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不触发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事件。通过这种机制，可以实现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多个页面之间的通信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C805924F-D7EF-4DD1-A241-1FE66B99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3880575"/>
            <a:ext cx="10441160" cy="2377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无法在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不同标签页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的网页中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互相访问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数据，当使用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时，可以将页面放在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&lt;iframe&gt;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创建的框架中，此时在框架内通过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监听外层页面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sessionStorage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的数据变化。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76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E62EE2-FDD1-4EC3-BD1F-C92EBF9DBBCC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对页面中的数据进行监听，效果如图：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24BAB4EC-17B8-4FBA-B674-10E48DEEE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78" y="2085498"/>
            <a:ext cx="4536504" cy="134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909F601-61B7-44BD-BB25-86CC6876ADC8}"/>
              </a:ext>
            </a:extLst>
          </p:cNvPr>
          <p:cNvSpPr txBox="1"/>
          <p:nvPr/>
        </p:nvSpPr>
        <p:spPr>
          <a:xfrm>
            <a:off x="1630710" y="3460908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demo03-1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</a:t>
            </a: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98E06CD2-C649-4928-97E8-A5C2154EF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750" y="2085497"/>
            <a:ext cx="5337048" cy="2092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C052605-B5DF-4641-8A98-B882EF92718E}"/>
              </a:ext>
            </a:extLst>
          </p:cNvPr>
          <p:cNvSpPr txBox="1"/>
          <p:nvPr/>
        </p:nvSpPr>
        <p:spPr>
          <a:xfrm>
            <a:off x="8183438" y="4181812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</a:t>
            </a:r>
          </a:p>
        </p:txBody>
      </p:sp>
    </p:spTree>
    <p:extLst>
      <p:ext uri="{BB962C8B-B14F-4D97-AF65-F5344CB8AC3E}">
        <p14:creationId xmlns:p14="http://schemas.microsoft.com/office/powerpoint/2010/main" val="171564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E62EE2-FDD1-4EC3-BD1F-C92EBF9DBBCC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storage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对页面中的数据进行监听，效果如图：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09F601-61B7-44BD-BB25-86CC6876ADC8}"/>
              </a:ext>
            </a:extLst>
          </p:cNvPr>
          <p:cNvSpPr txBox="1"/>
          <p:nvPr/>
        </p:nvSpPr>
        <p:spPr>
          <a:xfrm>
            <a:off x="1774726" y="3533740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demo03-2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052605-B5DF-4641-8A98-B882EF92718E}"/>
              </a:ext>
            </a:extLst>
          </p:cNvPr>
          <p:cNvSpPr txBox="1"/>
          <p:nvPr/>
        </p:nvSpPr>
        <p:spPr>
          <a:xfrm>
            <a:off x="7319342" y="3533740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修改后与修改前的用户名</a:t>
            </a:r>
          </a:p>
        </p:txBody>
      </p:sp>
      <p:pic>
        <p:nvPicPr>
          <p:cNvPr id="11" name="图片 1">
            <a:extLst>
              <a:ext uri="{FF2B5EF4-FFF2-40B4-BE49-F238E27FC236}">
                <a16:creationId xmlns:a16="http://schemas.microsoft.com/office/drawing/2014/main" id="{0E33DDE6-D684-44F1-8A6B-D2F589844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69" y="2103453"/>
            <a:ext cx="4443205" cy="1398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>
            <a:extLst>
              <a:ext uri="{FF2B5EF4-FFF2-40B4-BE49-F238E27FC236}">
                <a16:creationId xmlns:a16="http://schemas.microsoft.com/office/drawing/2014/main" id="{FEAA1DB0-971F-4CF8-B01B-04FABCA70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22" y="2103453"/>
            <a:ext cx="4484628" cy="1398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913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878790"/>
            <a:ext cx="7139713" cy="3317447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&lt;label&gt;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用户名：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&lt;/label&gt; &lt;input type="text" id="username"&gt;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 id="save"&gt;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保存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定义页面结构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C:\code\chapter02\demo03-1.html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用来输入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，定义一个“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”按钮用来将文本框中的用户名保存在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CF5F6D-A26C-40D2-A53F-DD15B795CC53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360079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878790"/>
            <a:ext cx="7283729" cy="300351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username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('#username');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单击“保存”按钮，设置数据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('#save').onclick = function ()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username.value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获取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username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里面的值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localStorage.setItem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('username',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478435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获取元素并绑定事件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demo03-1.html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结束标签前添加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代码，获取“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”按钮的元素并绑定单击事件。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AB8537-DB0E-4482-870F-D14423B7A785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78932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</a:t>
            </a: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</a:t>
            </a:r>
            <a:r>
              <a:rPr lang="en-US" altLang="zh-CN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demo03-1.html</a:t>
            </a:r>
            <a:endParaRPr lang="zh-CN" altLang="en-US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demo03-1.html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0" name="图片 1">
            <a:extLst>
              <a:ext uri="{FF2B5EF4-FFF2-40B4-BE49-F238E27FC236}">
                <a16:creationId xmlns:a16="http://schemas.microsoft.com/office/drawing/2014/main" id="{1C968775-6F17-4E27-A52E-E91887038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621879"/>
            <a:ext cx="5399421" cy="1600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C57283C-D140-4EAB-B16F-0E24464460FC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162760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25654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设置数据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在文本框中输入“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user1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F46DE9B-417D-4EF2-A221-3B66EDEFA611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  <p:pic>
        <p:nvPicPr>
          <p:cNvPr id="2050" name="图片 1">
            <a:extLst>
              <a:ext uri="{FF2B5EF4-FFF2-40B4-BE49-F238E27FC236}">
                <a16:creationId xmlns:a16="http://schemas.microsoft.com/office/drawing/2014/main" id="{19E5903B-256A-4F21-B2A1-F49355119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411" y="2421682"/>
            <a:ext cx="6429654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786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2999793" y="2782106"/>
            <a:ext cx="6191757" cy="267765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212898" y="2782105"/>
            <a:ext cx="4896544" cy="267765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新的用户名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:&lt;/span&gt;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newval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"&gt;&lt;/span&gt;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旧的用户名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:&lt;/span&gt;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&lt;span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oldval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"&gt;&lt;/span&gt;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监听数据变化并显示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C:\code\chapter02\demo03-2.html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事件监听数据的变化，并定义两个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标签用来显示数据修改前和修改后的值。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C4D4CC0-A677-43F8-85DA-F0D14746E59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226149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01782" y="2709714"/>
            <a:ext cx="7701936" cy="309634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214886" y="2709714"/>
            <a:ext cx="7488832" cy="304698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newdata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newval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olddata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oldval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window.addEventListener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('storage', function (e)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newdata.innerHTML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e.newValue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设置元素的内容为修改后的值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olddata.innerHTML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e.oldValue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 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设置元素的内容为修改前的值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监听数据变化并显示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demo03-2.html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结束标签前添加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数据的监听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8CDF767-0F1E-4371-B1E7-EB101D8FF6E9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285436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</a:t>
            </a: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</a:t>
            </a:r>
            <a:r>
              <a:rPr lang="en-US" altLang="zh-CN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demo03-2.html</a:t>
            </a:r>
            <a:endParaRPr lang="zh-CN" altLang="en-US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demo03-2.html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初始页面效果。</a:t>
            </a: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43CA5C81-2D9C-4BBB-B44C-09E5327F0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081" y="2421682"/>
            <a:ext cx="594887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B5B73EC-462A-4794-BBA1-4A17EF265C14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234785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06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6646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切换到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demo03-1.html</a:t>
            </a:r>
            <a:r>
              <a:rPr lang="zh-CN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在文本框中输入“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”，单击“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切换到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demo03-2.html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图片 1">
            <a:extLst>
              <a:ext uri="{FF2B5EF4-FFF2-40B4-BE49-F238E27FC236}">
                <a16:creationId xmlns:a16="http://schemas.microsoft.com/office/drawing/2014/main" id="{DCBB752A-3095-4D0E-BBCD-27D107365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239" y="2853730"/>
            <a:ext cx="6466209" cy="201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402D7FE-582B-4523-A534-DDBE0B228D64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Web Storage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</a:p>
        </p:txBody>
      </p:sp>
    </p:spTree>
    <p:extLst>
      <p:ext uri="{BB962C8B-B14F-4D97-AF65-F5344CB8AC3E}">
        <p14:creationId xmlns:p14="http://schemas.microsoft.com/office/powerpoint/2010/main" val="238010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视频与音频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126801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&lt;video&gt;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标签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&lt;video&gt;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标签实现页面中视频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818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extBox 35">
            <a:extLst>
              <a:ext uri="{FF2B5EF4-FFF2-40B4-BE49-F238E27FC236}">
                <a16:creationId xmlns:a16="http://schemas.microsoft.com/office/drawing/2014/main" id="{189AEC0D-46D2-46A3-9284-F6C340436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为网页提供了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处理视频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的能力，那么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在网页中的应用有哪些呢？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FCDF793-C189-4153-88B4-F8363CE8E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64" y="1917626"/>
            <a:ext cx="5405774" cy="407165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10FAC0B-87F9-443F-8803-C6817FE75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254" y="1917626"/>
            <a:ext cx="4986327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45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&lt;video&gt;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标签的作用：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用于定义视频播放器，它不仅是一个播放视频的标签，还提供了控制栏，用来实现播放、暂停、进度和音量控制、全屏等功能。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A02236-C78C-4B67-B02D-723DDB1C070B}"/>
              </a:ext>
            </a:extLst>
          </p:cNvPr>
          <p:cNvSpPr txBox="1"/>
          <p:nvPr/>
        </p:nvSpPr>
        <p:spPr>
          <a:xfrm>
            <a:off x="1054646" y="2651273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&lt;video&gt;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基本语法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B313EA-3C8B-4DB9-A60D-C69CDC878A1C}"/>
              </a:ext>
            </a:extLst>
          </p:cNvPr>
          <p:cNvSpPr txBox="1"/>
          <p:nvPr/>
        </p:nvSpPr>
        <p:spPr>
          <a:xfrm>
            <a:off x="3718942" y="3487783"/>
            <a:ext cx="5400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&lt;video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视频文件路径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controls&gt;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浏览器不支持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video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&lt;/video&gt;</a:t>
            </a:r>
          </a:p>
        </p:txBody>
      </p:sp>
    </p:spTree>
    <p:extLst>
      <p:ext uri="{BB962C8B-B14F-4D97-AF65-F5344CB8AC3E}">
        <p14:creationId xmlns:p14="http://schemas.microsoft.com/office/powerpoint/2010/main" val="39257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3216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&lt;video&gt;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用于设置视频文件的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9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controls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用于为视频提供控制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9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也可以使用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width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height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187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3216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&lt;video&gt;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支持以下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视频格式：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带有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Theora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视频编码和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Vorbis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音频编码的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9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MPEG4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带有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H.264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视频编码和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AAC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音频编码的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MPEG4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9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带有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VP8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视频编码和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Vorbis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音频编码的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152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&lt;video&gt;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&lt;source&gt;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备用的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的文件路径，语法如下：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B313EA-3C8B-4DB9-A60D-C69CDC878A1C}"/>
              </a:ext>
            </a:extLst>
          </p:cNvPr>
          <p:cNvSpPr txBox="1"/>
          <p:nvPr/>
        </p:nvSpPr>
        <p:spPr>
          <a:xfrm>
            <a:off x="2638822" y="2200931"/>
            <a:ext cx="6192688" cy="170540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&lt;video controls&gt;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&lt;source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视频文件地址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type="video/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格式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&lt;source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视频文件地址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type="video/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格式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&lt;/video&gt;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40E6CD-59C3-4785-A833-20073A271E10}"/>
              </a:ext>
            </a:extLst>
          </p:cNvPr>
          <p:cNvSpPr txBox="1"/>
          <p:nvPr/>
        </p:nvSpPr>
        <p:spPr>
          <a:xfrm>
            <a:off x="1270670" y="4090060"/>
            <a:ext cx="10225136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上述代码中，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对应的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video/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MPEG4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对应的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video/mp4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对应的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video/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572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创建网页中的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C519E674-FF08-4575-A6F0-BCBC8E535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35" y="1989634"/>
            <a:ext cx="4608512" cy="3083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68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2929775" y="2637706"/>
            <a:ext cx="6693823" cy="361291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203965" y="2637706"/>
            <a:ext cx="5843569" cy="361291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&lt;video controls width="400"&gt;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&lt;source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="video/scenery.mp4" type="video/mp4"&gt;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&lt;/video&gt;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7686347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定义视频播放器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C:\code\chapter02\demo04.html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&lt;video&gt;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定义视频播放器。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19454B-9EC0-48A0-8A99-D6D701CA201F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369517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</a:t>
            </a:r>
            <a:r>
              <a:rPr lang="zh-CN" altLang="en-US" sz="24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</a:t>
            </a:r>
            <a:r>
              <a:rPr lang="en-US" altLang="zh-CN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demo04.html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页面中显示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074" name="图片 1">
            <a:extLst>
              <a:ext uri="{FF2B5EF4-FFF2-40B4-BE49-F238E27FC236}">
                <a16:creationId xmlns:a16="http://schemas.microsoft.com/office/drawing/2014/main" id="{291A3B46-BEB8-4615-9F6B-02B548858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4" y="2292086"/>
            <a:ext cx="441190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20EF22-EA95-4DE9-AEEB-C96CEB096F18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&lt;video&gt;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415515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&lt;audio&gt;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标签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&lt;audio&gt;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标签实现页面中音频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906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7C0C00A6-DB46-4096-944B-3694CE36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为网页提供了处理音频的能力。音频在网页中种的应用有很多，例如使用网页中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QQ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音乐播放器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听音乐。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2D954C-DB93-4C51-9E0D-A856580B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958" y="1989634"/>
            <a:ext cx="5050681" cy="415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5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&lt;audio&gt;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标签的作用：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&lt;audio&gt;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标签用来定义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上的声音文件或音频流。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A02236-C78C-4B67-B02D-723DDB1C070B}"/>
              </a:ext>
            </a:extLst>
          </p:cNvPr>
          <p:cNvSpPr txBox="1"/>
          <p:nvPr/>
        </p:nvSpPr>
        <p:spPr>
          <a:xfrm>
            <a:off x="1088017" y="1878989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&lt;audio&gt;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基本语法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B313EA-3C8B-4DB9-A60D-C69CDC878A1C}"/>
              </a:ext>
            </a:extLst>
          </p:cNvPr>
          <p:cNvSpPr txBox="1"/>
          <p:nvPr/>
        </p:nvSpPr>
        <p:spPr>
          <a:xfrm>
            <a:off x="3646934" y="2853730"/>
            <a:ext cx="5472608" cy="13388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&lt;audio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音频文件路径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controls&gt;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浏览器不支持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audio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&lt;/audio&gt;</a:t>
            </a:r>
          </a:p>
        </p:txBody>
      </p:sp>
    </p:spTree>
    <p:extLst>
      <p:ext uri="{BB962C8B-B14F-4D97-AF65-F5344CB8AC3E}">
        <p14:creationId xmlns:p14="http://schemas.microsoft.com/office/powerpoint/2010/main" val="321522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4947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&lt;audio&gt;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标签支持以下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种视频格式：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音频格式类似于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MP3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音频格式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。同等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条件下，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格式音频文件的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体积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大小优于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MP3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音频格式，其音频文件格式表示方式为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audio/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ogg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MP3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：是一种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音频压缩技术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，其全称是动态影像专家压缩标准音频层面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MovingPictureExpertsGroupAudioLayerIII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），简称为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MP3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，它被用来大幅度地降低音频数据量，其音频文件格式表示方式为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audio/mp3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7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WAV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是录音时用的标准的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格式，数据本身的格式为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压缩型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，属于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无损音乐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格式的一种，其音频文件格式表示方式为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audio/wav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881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&lt;audio&gt;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同样支持引入多个音频源，使用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&lt;source&gt;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&lt;source&gt;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标签来定义，语法如下：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B313EA-3C8B-4DB9-A60D-C69CDC878A1C}"/>
              </a:ext>
            </a:extLst>
          </p:cNvPr>
          <p:cNvSpPr txBox="1"/>
          <p:nvPr/>
        </p:nvSpPr>
        <p:spPr>
          <a:xfrm>
            <a:off x="2710830" y="2637706"/>
            <a:ext cx="6768752" cy="175432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&lt;audio controls&gt;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&lt;source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音频文件地址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type="audio/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格式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&lt;source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音频文件地址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type="audio/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格式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&lt;/audio&gt;</a:t>
            </a:r>
          </a:p>
        </p:txBody>
      </p:sp>
    </p:spTree>
    <p:extLst>
      <p:ext uri="{BB962C8B-B14F-4D97-AF65-F5344CB8AC3E}">
        <p14:creationId xmlns:p14="http://schemas.microsoft.com/office/powerpoint/2010/main" val="408412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创建页面中的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F823A282-E81F-479A-ABA2-C807C4AB7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569" y="2205658"/>
            <a:ext cx="5219885" cy="175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679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38550" y="2674146"/>
            <a:ext cx="5843569" cy="363596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Autofit/>
          </a:bodyPr>
          <a:lstStyle/>
          <a:p>
            <a:pPr lvl="0">
              <a:lnSpc>
                <a:spcPct val="120000"/>
              </a:lnSpc>
              <a:defRPr/>
            </a:pPr>
            <a:endParaRPr lang="en-US" altLang="zh-CN" sz="14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406427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定义音频播放器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&lt;audio&gt;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C717701-D13A-451F-9F61-D48E1993038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86894" y="2709714"/>
            <a:ext cx="5760640" cy="393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&lt;audio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="audio/music.mp3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controls&gt;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您的浏览器不支持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audio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&lt;/audio&gt;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  <a:p>
            <a:pPr>
              <a:lnSpc>
                <a:spcPct val="120000"/>
              </a:lnSpc>
            </a:pP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250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</a:t>
            </a:r>
            <a:r>
              <a:rPr lang="zh-CN" altLang="en-US" sz="24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</a:t>
            </a:r>
            <a:r>
              <a:rPr lang="en-US" altLang="zh-CN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demo05.html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页面中显示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098" name="图片 1">
            <a:extLst>
              <a:ext uri="{FF2B5EF4-FFF2-40B4-BE49-F238E27FC236}">
                <a16:creationId xmlns:a16="http://schemas.microsoft.com/office/drawing/2014/main" id="{D4E72CDD-19D4-4D9A-9711-6C0BB76E5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569" y="2474846"/>
            <a:ext cx="5847793" cy="196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69B52B5-331A-4A81-BD22-E35743B4D7D1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&lt;audio&gt;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306792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video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audio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使用这些对象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的方法和属性实现手动控制视频和音频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播放器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480D72EB-525D-422C-A196-EEB52F81D96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video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audio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314489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4447459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video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audio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对象的常用方法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205623"/>
              </p:ext>
            </p:extLst>
          </p:nvPr>
        </p:nvGraphicFramePr>
        <p:xfrm>
          <a:off x="1126654" y="1989634"/>
          <a:ext cx="10009112" cy="35398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load()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加载媒体文件，为播放做准备，通常用于播放前的预加载，也用于重新加载媒体文件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play()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播放媒体文件。如果视频没有加载，则加载并播放；如果视频是暂停的，则变为播放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暂停播放媒体文件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canPlayType()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测试浏览器是否支持指定的媒体类型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632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2B14B90-FAEA-4BCB-BBA6-DC89C3091948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video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audio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75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4447459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video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audio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对象的常用属性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540884"/>
              </p:ext>
            </p:extLst>
          </p:nvPr>
        </p:nvGraphicFramePr>
        <p:xfrm>
          <a:off x="1126654" y="1989634"/>
          <a:ext cx="9289032" cy="443422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0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4205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currentSrc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返回当前视频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音频的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URL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currentTime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设置或返回视频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音频中的当前播放位置（以秒计）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duration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返回视频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音频的长度（以秒计）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ended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返回视频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音频的播放是否已结束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6323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error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返回表示视频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音频错误状态的</a:t>
                      </a: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MediaError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46128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paused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返回视频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音频是否暂停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81366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muted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设置或返回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是否静音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027594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volume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设置或返回视频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音频的音量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49161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89B11FD-E74F-4FFC-A2E0-068C8BE4425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video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audio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319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9B11FD-E74F-4FFC-A2E0-068C8BE4425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video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audio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8C2F17-A99B-4028-9F7C-7326501985C6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手动控制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65DC79CB-84DB-44BD-A95D-55B008C75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94" y="1917626"/>
            <a:ext cx="5472608" cy="3361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606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878790"/>
            <a:ext cx="5843569" cy="337284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&lt;body&gt;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&lt;video width="300" controls&gt;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&lt;source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="video/scenery.mp4" type="video/mp4"&gt;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&lt;/video&gt;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播放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暂停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静音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定义音频播放器页面结构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C:\code\chapter02\demo06.html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&lt;video&gt;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个按钮。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FC9F99-01E9-4596-9301-E3AF1261AEC1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video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audio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407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41661" y="2682282"/>
            <a:ext cx="6851681" cy="393338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&lt;script&gt;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video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document.getElementsByTagName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('video')[0];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document.getElementsByTagName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('button');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[0].onclick = function () {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video.play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[1].onclick = function () {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video.pause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[2].onclick = function () {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video.muted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!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video.muted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设置按钮控制视频播放器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demo06.html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代码，实现手动控制视频的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CC27215-40E3-4D2A-B4DC-124F9A1E171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video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audio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337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demo06.html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页面中显示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视频播放器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和三个按钮。</a:t>
            </a: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4D60AE9D-F10A-4310-B2DC-EC2EEC4B2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610" y="2202347"/>
            <a:ext cx="5109903" cy="3139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253B86C-7398-4088-8FE9-2C4A043C0B12}"/>
              </a:ext>
            </a:extLst>
          </p:cNvPr>
          <p:cNvSpPr txBox="1"/>
          <p:nvPr/>
        </p:nvSpPr>
        <p:spPr>
          <a:xfrm>
            <a:off x="3547441" y="5341513"/>
            <a:ext cx="48780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设置按钮控制视频的播放、暂停、静音</a:t>
            </a: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4DF8ABD-5C0D-4656-BB9A-1A1BF3CC44C1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video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audio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837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地理定位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386848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地理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67FABA-ADEB-4B96-9621-478CC3439E8A}"/>
              </a:ext>
            </a:extLst>
          </p:cNvPr>
          <p:cNvSpPr txBox="1"/>
          <p:nvPr/>
        </p:nvSpPr>
        <p:spPr>
          <a:xfrm>
            <a:off x="1143691" y="1917626"/>
            <a:ext cx="1025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定位在日常生活中应用比较广泛，如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互联网打车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在线地图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增加了获取用户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地理位置信息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的接口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Geolocation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，开发者可以通过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经纬度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来获取用户的地理位置信息。另外，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百度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等互联网公司也提供了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地理定位的接口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4318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Geolocation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地理定位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网页中显示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地理定位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信息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地理定位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572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422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Geolocation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封装了获取位置信息的技术细节，开发者不需要关心信息的来源，只需关注如何使用即可，这极大地简化了开发的难度。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目前，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Geolocation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已经得到了大部分浏览器的支持：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Firefox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9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Opera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Safari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</a:p>
        </p:txBody>
      </p:sp>
    </p:spTree>
    <p:extLst>
      <p:ext uri="{BB962C8B-B14F-4D97-AF65-F5344CB8AC3E}">
        <p14:creationId xmlns:p14="http://schemas.microsoft.com/office/powerpoint/2010/main" val="63469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801200" cy="3277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Geolocation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的用法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navigator.geolocation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getCurrentPosition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获取当前地理位置。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navigator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是浏览器的内置对象。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getCurrentPosition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方法被调用时，会发起一个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异步请求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，浏览器会调用底层的硬件来更新当前的位置信息。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307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80120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getCurrentPosition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方法的参数说明如下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EF4B8E-5B78-43C2-98CF-56E558385E4A}"/>
              </a:ext>
            </a:extLst>
          </p:cNvPr>
          <p:cNvSpPr txBox="1"/>
          <p:nvPr/>
        </p:nvSpPr>
        <p:spPr>
          <a:xfrm>
            <a:off x="2710830" y="2205658"/>
            <a:ext cx="6768752" cy="6096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getCurrentPosition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successCallback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errorCallback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</a:t>
            </a:r>
          </a:p>
          <a:p>
            <a:pPr indent="267335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FA4082-AA58-48DA-9B6C-16FB55FA7D81}"/>
              </a:ext>
            </a:extLst>
          </p:cNvPr>
          <p:cNvSpPr txBox="1"/>
          <p:nvPr/>
        </p:nvSpPr>
        <p:spPr>
          <a:xfrm>
            <a:off x="2782838" y="3320038"/>
            <a:ext cx="676875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successCallback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定位成功时执行的回调函数。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errorCallback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定位失败时执行的回调函数。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922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59D8D57F-48FE-475B-A5B8-1EB9F3164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801200" cy="227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getCurrentPosition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成功获取地理信息后，会在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successCallback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回调函数中传入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对象。该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对象包含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coords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timestamp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两个属性。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Coords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coordinates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对象，包含当前位置的一些信息。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Timestamp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：获取到位置的时间戳。</a:t>
            </a:r>
          </a:p>
        </p:txBody>
      </p:sp>
    </p:spTree>
    <p:extLst>
      <p:ext uri="{BB962C8B-B14F-4D97-AF65-F5344CB8AC3E}">
        <p14:creationId xmlns:p14="http://schemas.microsoft.com/office/powerpoint/2010/main" val="151670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351135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coords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包含的信息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812989"/>
              </p:ext>
            </p:extLst>
          </p:nvPr>
        </p:nvGraphicFramePr>
        <p:xfrm>
          <a:off x="1126654" y="1989634"/>
          <a:ext cx="9289032" cy="338437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latitude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十进制表示的纬度坐标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longitude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十进制表示的经度坐标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accuracy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当前经纬度信息的精度（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单位：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altitude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海拔高度（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单位：</a:t>
                      </a:r>
                      <a:r>
                        <a:rPr lang="en-US" altLang="zh-CN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6323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altitudeAccuracy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当前海拔高度的精度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46128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heading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当前设备的朝向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（单位：弧度），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从正北开始计算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8136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1C7BBCD-FFA0-4C3F-A55E-CE41CE5D6EC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</p:spTree>
    <p:extLst>
      <p:ext uri="{BB962C8B-B14F-4D97-AF65-F5344CB8AC3E}">
        <p14:creationId xmlns:p14="http://schemas.microsoft.com/office/powerpoint/2010/main" val="51617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C7BBCD-FFA0-4C3F-A55E-CE41CE5D6EC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0A7AF1-474A-449D-90B4-8A9828E42C40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获取用户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信息，效果如图：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4A588666-9B10-4BEF-B52A-F121671C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2488220"/>
            <a:ext cx="4719130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B3B994-059A-4E9F-A65A-5CA724DCAF89}"/>
              </a:ext>
            </a:extLst>
          </p:cNvPr>
          <p:cNvSpPr txBox="1"/>
          <p:nvPr/>
        </p:nvSpPr>
        <p:spPr>
          <a:xfrm>
            <a:off x="2317391" y="4072396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页面初始效果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44C15F-0D4B-49D4-898D-F93F6290222C}"/>
              </a:ext>
            </a:extLst>
          </p:cNvPr>
          <p:cNvSpPr txBox="1"/>
          <p:nvPr/>
        </p:nvSpPr>
        <p:spPr>
          <a:xfrm>
            <a:off x="7031310" y="3192089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是否允许获取您的位置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4C7620-5C06-4B1E-BF92-EEEDD451E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6" y="1310665"/>
            <a:ext cx="4320480" cy="18590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9B3B994-059A-4E9F-A65A-5CA724DCAF89}"/>
              </a:ext>
            </a:extLst>
          </p:cNvPr>
          <p:cNvSpPr txBox="1"/>
          <p:nvPr/>
        </p:nvSpPr>
        <p:spPr>
          <a:xfrm>
            <a:off x="7429959" y="5689586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获取地理位置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EC0DA88-1395-4589-AB19-ACFEEF292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6" y="3823218"/>
            <a:ext cx="4638201" cy="186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4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C7BBCD-FFA0-4C3F-A55E-CE41CE5D6EC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0A7AF1-474A-449D-90B4-8A9828E42C40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获取用户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信息，效果如图：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图片 1">
            <a:extLst>
              <a:ext uri="{FF2B5EF4-FFF2-40B4-BE49-F238E27FC236}">
                <a16:creationId xmlns:a16="http://schemas.microsoft.com/office/drawing/2014/main" id="{285A148B-B3EE-4676-A858-B481F046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662" y="2205658"/>
            <a:ext cx="4912823" cy="2407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89507BB-6FD3-4851-B315-0FE20C4A8E40}"/>
              </a:ext>
            </a:extLst>
          </p:cNvPr>
          <p:cNvSpPr txBox="1"/>
          <p:nvPr/>
        </p:nvSpPr>
        <p:spPr>
          <a:xfrm>
            <a:off x="2448838" y="4572674"/>
            <a:ext cx="2592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设置虚拟地理定位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B3B994-059A-4E9F-A65A-5CA724DCAF89}"/>
              </a:ext>
            </a:extLst>
          </p:cNvPr>
          <p:cNvSpPr txBox="1"/>
          <p:nvPr/>
        </p:nvSpPr>
        <p:spPr>
          <a:xfrm>
            <a:off x="8039422" y="4263965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获取地理位置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492D22C-D0E4-42D1-B388-C345D5944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246" y="2359819"/>
            <a:ext cx="4782217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637706"/>
            <a:ext cx="5843569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&lt;!DOCTYPE html&gt;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&lt;p id="demo"&gt;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获得您的坐标：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&lt;/p&gt;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&lt;button onclick="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getLocation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试一下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&lt;/button&gt;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55044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获取用户当前的经纬度坐标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C:\code\chapter02\demo07.html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，利用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Geolocation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地理位置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定位，获取用户当前的经纬度坐标。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A784AB4-6E17-44C1-9BE3-63C1F522C88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</p:spTree>
    <p:extLst>
      <p:ext uri="{BB962C8B-B14F-4D97-AF65-F5344CB8AC3E}">
        <p14:creationId xmlns:p14="http://schemas.microsoft.com/office/powerpoint/2010/main" val="311814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637706"/>
            <a:ext cx="7283729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x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('demo');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function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getLocation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if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navigator.geolocation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navigator.geolocation.getCurrentPosition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showPosition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showError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} else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x.innerHTML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当前浏览器不支持地理定位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}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获取用户当前的经纬度坐标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demo07.html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代码，判断当前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52AC85-33ED-4580-A4A6-182AE12527F1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</p:spTree>
    <p:extLst>
      <p:ext uri="{BB962C8B-B14F-4D97-AF65-F5344CB8AC3E}">
        <p14:creationId xmlns:p14="http://schemas.microsoft.com/office/powerpoint/2010/main" val="428490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781722"/>
            <a:ext cx="7283729" cy="230832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获取定位成功，显示位置信息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function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showPosition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(position)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x.innerHTML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'Latitude:' +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position.coords.latitude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+    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纬度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&gt;Longitude:' +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position.coords.longitude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经度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获取用户当前的经纬度坐标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demo07.html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，继续添加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代码，定义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showPosition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函数，用于显示位置信息。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30A689C-87B8-4AD3-BAE6-3E8478A3283F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</p:spTree>
    <p:extLst>
      <p:ext uri="{BB962C8B-B14F-4D97-AF65-F5344CB8AC3E}">
        <p14:creationId xmlns:p14="http://schemas.microsoft.com/office/powerpoint/2010/main" val="189785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2891633" y="2064814"/>
            <a:ext cx="5267505" cy="467734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function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showError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(error) {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switch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error.code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 {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case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error.PERMISSION_DENIED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x.innerHTML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用户拒绝地理定位请求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break;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case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error.POSITION_UNAVAILABLE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x.innerHTML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位置信息不可用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break;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case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error.TIMEOUT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x.innerHTML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获取用户位置的请求超时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break;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case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error.UNKNOWN_ERROR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x.innerHTML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发生了一个不明错误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';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break;</a:t>
            </a:r>
          </a:p>
          <a:p>
            <a:pPr lvl="0">
              <a:defRPr/>
            </a:pPr>
            <a:r>
              <a:rPr lang="en-US" altLang="zh-CN" sz="1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}</a:t>
            </a:r>
          </a:p>
          <a:p>
            <a:pPr lvl="0">
              <a:defRPr/>
            </a:pPr>
            <a:r>
              <a:rPr lang="en-US" altLang="zh-CN" sz="1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获取用户当前的经纬度坐标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showError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函数，用于显示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出错信息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9B71F2-C279-4A57-900E-1DB7CB623A5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</p:spTree>
    <p:extLst>
      <p:ext uri="{BB962C8B-B14F-4D97-AF65-F5344CB8AC3E}">
        <p14:creationId xmlns:p14="http://schemas.microsoft.com/office/powerpoint/2010/main" val="253901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0536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demo07.html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初始页面效果。</a:t>
            </a:r>
          </a:p>
        </p:txBody>
      </p:sp>
      <p:pic>
        <p:nvPicPr>
          <p:cNvPr id="2050" name="图片 1">
            <a:extLst>
              <a:ext uri="{FF2B5EF4-FFF2-40B4-BE49-F238E27FC236}">
                <a16:creationId xmlns:a16="http://schemas.microsoft.com/office/drawing/2014/main" id="{381B3EB7-2582-4777-870A-BA3A92C8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7" y="2421682"/>
            <a:ext cx="6006165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408664C-C027-4906-87FC-DF8BA9B6F72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</p:spTree>
    <p:extLst>
      <p:ext uri="{BB962C8B-B14F-4D97-AF65-F5344CB8AC3E}">
        <p14:creationId xmlns:p14="http://schemas.microsoft.com/office/powerpoint/2010/main" val="192880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06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获取位置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试一下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”按钮后，会提示是否允许当前页面获取您的位置。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F77315-21DD-429E-9BA5-2A4A889ECB6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C4C7620-5C06-4B1E-BF92-EEEDD451E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878" y="2422135"/>
            <a:ext cx="5308098" cy="22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1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07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显示位置信息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”按钮后，页面就会显示获取定位后的结果。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4CE307-AC14-481A-9B1A-2C2F886E135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EC0DA88-1395-4589-AB19-ACFEEF292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71" y="2565698"/>
            <a:ext cx="5166067" cy="207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7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08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设置虚拟地理定位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单击开发者工具右上角的“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︙”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按钮，在弹出的菜单中选择“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 tools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”-“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Sensors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下拉菜单中选择“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Shanghai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，表示虚拟上海的地理位置。</a:t>
            </a:r>
          </a:p>
        </p:txBody>
      </p:sp>
      <p:pic>
        <p:nvPicPr>
          <p:cNvPr id="3074" name="图片 1">
            <a:extLst>
              <a:ext uri="{FF2B5EF4-FFF2-40B4-BE49-F238E27FC236}">
                <a16:creationId xmlns:a16="http://schemas.microsoft.com/office/drawing/2014/main" id="{25029CCE-B70B-421C-BF94-25F33C93D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815" y="3285778"/>
            <a:ext cx="5584752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632A1B2-116B-4609-9585-2D24A59DC149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</p:spTree>
    <p:extLst>
      <p:ext uri="{BB962C8B-B14F-4D97-AF65-F5344CB8AC3E}">
        <p14:creationId xmlns:p14="http://schemas.microsoft.com/office/powerpoint/2010/main" val="87186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09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显示位置信息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试一下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”按钮，页面显示虚拟位置的信息。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56F585-41B7-47A8-BBA9-218629FBDF87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Geolocation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地理定位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492D22C-D0E4-42D1-B388-C345D5944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12" y="2417199"/>
            <a:ext cx="4782217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1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百度地图地理定位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百度地图地理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定位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E05F2A6B-9A12-4980-BD4A-A45DE9064A1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91615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2815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百度地图的作用：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在实际开发中，利用第三方的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（例如百度地图）可以很方便地实现地理定位和信息的获取。百度地图提供了丰富的地图数据库以及地理定位、地图、导航、搜索和路线规划等功能。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7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百度地图的定位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基于用户当前位置的，将用户位置（经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纬度）作为参数进行传递，从而实现相应的功能，并支持各类应用的开发者对地理位置的获取需求。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F64EED-905F-43AA-B639-99076A277E7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18598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EF64EED-905F-43AA-B639-99076A277E7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6A81E0-68AE-4245-BEE1-C1F7F29B49B1}"/>
              </a:ext>
            </a:extLst>
          </p:cNvPr>
          <p:cNvSpPr txBox="1"/>
          <p:nvPr/>
        </p:nvSpPr>
        <p:spPr>
          <a:xfrm>
            <a:off x="1143690" y="1269554"/>
            <a:ext cx="833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全景图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页面，效果如图：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ABEF4E-44A4-4898-99A4-A700EC490DB9}"/>
              </a:ext>
            </a:extLst>
          </p:cNvPr>
          <p:cNvSpPr txBox="1"/>
          <p:nvPr/>
        </p:nvSpPr>
        <p:spPr>
          <a:xfrm>
            <a:off x="5015086" y="5765988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全景图页面效果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019A01-2CF9-447A-B32E-8FED4104A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870" y="1989634"/>
            <a:ext cx="6408712" cy="37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6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78403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进入百度地图开放平台官网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进入百度地图开放平台官网，选择导航栏中的“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开发文档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”下的“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”，找到“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5C42C4-1EA9-4C1B-8B03-77564B3E3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344" y="2835786"/>
            <a:ext cx="6095206" cy="291529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DFC3206-6EFD-4B82-9382-7D339220DF3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404146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 API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，进入以下页面。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5BB008-111C-406F-B2F8-B05C27FBF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70" y="2331730"/>
            <a:ext cx="6140512" cy="333088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FC25FDA-A2D1-46D9-B8D0-BE3D43CFC58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427703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 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 v2.0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选项，进入新页面。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ECC6B6-58A1-41F5-8E2A-B8502A58D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70" y="2331730"/>
            <a:ext cx="6120680" cy="332013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48B54C0-BE2B-4AFE-B505-9A3952003AD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50280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展示全景图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 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”按钮，进入新页面。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9D2A5D-877A-4524-8315-C4EAA4164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70" y="2313209"/>
            <a:ext cx="6140512" cy="333088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6BEF7B2-3886-4D43-BF62-702F0A86D7D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97371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复制代码并粘贴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C:\code\chapter02\demo08.html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，复制代码并将代码粘贴到本文件中。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0F3942-BECF-403C-8A17-6F9F4EAE85FD}"/>
              </a:ext>
            </a:extLst>
          </p:cNvPr>
          <p:cNvSpPr txBox="1"/>
          <p:nvPr/>
        </p:nvSpPr>
        <p:spPr>
          <a:xfrm>
            <a:off x="3059949" y="2331730"/>
            <a:ext cx="7787785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普通地图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&amp;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全景图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&lt;/title&gt;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http-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equiv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="Content-Type" content="text/html; charset=utf-8" /&gt;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id="panorama"&gt;&lt;/div&gt;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normal_map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"&gt;&lt;/div&gt;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7EA9072-53AC-45BB-97DD-E66A33553B4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65070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06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复制代码并粘贴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将代码复制到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3DC1A0-015A-42DF-A42B-0D13A7F2021C}"/>
              </a:ext>
            </a:extLst>
          </p:cNvPr>
          <p:cNvSpPr txBox="1"/>
          <p:nvPr/>
        </p:nvSpPr>
        <p:spPr>
          <a:xfrm>
            <a:off x="694606" y="2458847"/>
            <a:ext cx="11305256" cy="60016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 type="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text/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javascript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="http://api.map.baidu.com/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api?v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=3.0&amp;ak=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您的密钥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"&gt;&lt;/script&gt;</a:t>
            </a:r>
          </a:p>
          <a:p>
            <a:pPr lvl="0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93E1365-5438-4596-8EFC-46FE5545DD2F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19558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07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复制代码并粘贴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将代码复制到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3DC1A0-015A-42DF-A42B-0D13A7F2021C}"/>
              </a:ext>
            </a:extLst>
          </p:cNvPr>
          <p:cNvSpPr txBox="1"/>
          <p:nvPr/>
        </p:nvSpPr>
        <p:spPr>
          <a:xfrm>
            <a:off x="3059949" y="2133650"/>
            <a:ext cx="7211721" cy="452431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&lt;style type="text/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body,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html {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width: 100%;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height: 100%;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overflow: hidden;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margin: 0;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font-family: 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微软雅黑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#panorama {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height: 50%;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overflow: hidden;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#normal_map {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height: 50%;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overflow: hidden;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&lt;/style&gt;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AE8F1E-1C36-4A70-B74A-A4978F52990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4168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08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复制代码并粘贴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将代码复制到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3DC1A0-015A-42DF-A42B-0D13A7F2021C}"/>
              </a:ext>
            </a:extLst>
          </p:cNvPr>
          <p:cNvSpPr txBox="1"/>
          <p:nvPr/>
        </p:nvSpPr>
        <p:spPr>
          <a:xfrm>
            <a:off x="1403765" y="2191868"/>
            <a:ext cx="9804009" cy="390222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&lt;script type="text/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javascript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全景图展示</a:t>
            </a:r>
          </a:p>
          <a:p>
            <a:pPr lvl="0"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panorama = new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BMap.Panorama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('panorama');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panorama.setPosition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(new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BMap.Point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(120.320032, 31.589666));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根据经纬度坐标展示全景图</a:t>
            </a:r>
          </a:p>
          <a:p>
            <a:pPr lvl="0"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panorama.setPov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({ heading: -40, pitch: 6 });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panorama.addEventListener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position_changed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', function (e) {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全景图位置改变后，普通地图中心点也随之改变</a:t>
            </a:r>
          </a:p>
          <a:p>
            <a:pPr lvl="0"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pos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panorama.getPosition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map.setCenter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(new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BMap.Point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pos.lng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pos.lat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));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marker.setPosition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(pos);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});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5C9DE17-471D-42BE-9723-F52ADE065DD6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35290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09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复制代码并粘贴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将代码复制到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3DC1A0-015A-42DF-A42B-0D13A7F2021C}"/>
              </a:ext>
            </a:extLst>
          </p:cNvPr>
          <p:cNvSpPr txBox="1"/>
          <p:nvPr/>
        </p:nvSpPr>
        <p:spPr>
          <a:xfrm>
            <a:off x="2782838" y="2205658"/>
            <a:ext cx="8291841" cy="415498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普通地图展示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mapOption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mapType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BMAP_NORMAL_MAP,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maxZoom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18,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drawMargin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0,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enableFulltimeSpotClick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true,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enableHighResolution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true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map = new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BMap.Map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normal_map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mapOption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testpoint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new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BMap.Point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(120.320032, 31.589666);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map.centerAndZoom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testpoint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, 18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FEB642-0455-4116-9477-1444259FCF4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370994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10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复制代码并粘贴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将代码复制到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3DC1A0-015A-42DF-A42B-0D13A7F2021C}"/>
              </a:ext>
            </a:extLst>
          </p:cNvPr>
          <p:cNvSpPr txBox="1"/>
          <p:nvPr/>
        </p:nvSpPr>
        <p:spPr>
          <a:xfrm>
            <a:off x="2494806" y="2277666"/>
            <a:ext cx="8291841" cy="337284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marker = new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BMap.Marker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testpoint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marker.enableDragging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map.addOverlay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(marker);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marker.addEventListener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dragend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', function (e)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panorama.setPosition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e.point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拖动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marker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后，全景图位置也随着改变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panorama.setPov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({ heading: -40, pitch: 6 });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});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map.enableScrollWheelZoom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启用滚轮放大缩小，默认禁用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map.enableContinuousZoom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启用地图惯性拖拽，默认禁用</a:t>
            </a:r>
            <a:endParaRPr lang="zh-CN" altLang="en-US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23ED58B-719F-4DE8-8D4F-747D1EE452CA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381635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demo08.html</a:t>
            </a: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页面显示“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百度未授权使用地图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658CFA-B94B-4A03-9A21-2F7DC1276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70" y="2277666"/>
            <a:ext cx="5075040" cy="265156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0EF5ACF-4D1C-4B59-98ED-184317818A4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100652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申请个人密钥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在百度地图开放平台中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申请密钥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60AABE-13E7-4EBD-A16F-EF84900DB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31" y="2277666"/>
            <a:ext cx="7383019" cy="36004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BA58F99-6275-4157-A370-2847701AF9CE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278443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复制密钥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申请成功后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复制密钥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F55257-6DF4-40B7-8443-BC347D965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70" y="2277666"/>
            <a:ext cx="5586620" cy="357146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5D8C6-E7DE-4AA1-A58E-80616445AB0F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95123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粘贴密钥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粘贴到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demo08.html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您的密钥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”位置，保存代码并刷新页面。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2" name="图片 1">
            <a:extLst>
              <a:ext uri="{FF2B5EF4-FFF2-40B4-BE49-F238E27FC236}">
                <a16:creationId xmlns:a16="http://schemas.microsoft.com/office/drawing/2014/main" id="{3EB80CAF-0F3F-4350-9A83-AF4B49F8F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70" y="2277666"/>
            <a:ext cx="4878035" cy="3623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39216BF-61A0-48A8-AD17-812E466AA818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287175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坐标拾取器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打开百度地图开放平台官网，选择导航栏中的“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开发文档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”下的“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”，找到“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坐标拾取器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”选项。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2F364C-1FE5-4C1E-9865-43E8D41CE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71" y="2709714"/>
            <a:ext cx="6984775" cy="317343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4CAEBEF-69FD-4C35-A6E1-808420547BFB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</p:spTree>
    <p:extLst>
      <p:ext uri="{BB962C8B-B14F-4D97-AF65-F5344CB8AC3E}">
        <p14:creationId xmlns:p14="http://schemas.microsoft.com/office/powerpoint/2010/main" val="366126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16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选取坐标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zh-CN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单击“</a:t>
            </a:r>
            <a:r>
              <a:rPr lang="zh-CN" altLang="zh-CN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坐标拾取器</a:t>
            </a:r>
            <a:r>
              <a:rPr lang="zh-CN" altLang="zh-CN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”后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，可以在搜索栏</a:t>
            </a:r>
            <a:r>
              <a:rPr lang="zh-CN" altLang="zh-CN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搜索</a:t>
            </a:r>
            <a:r>
              <a:rPr lang="zh-CN" altLang="zh-CN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，也可以直接在地图上选择坐标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，然后复制右上角的</a:t>
            </a:r>
            <a:r>
              <a:rPr lang="zh-CN" altLang="en-US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坐标点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，粘贴到文件中坐标处。</a:t>
            </a:r>
            <a:endParaRPr lang="en-US" altLang="zh-CN" sz="2000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5120F70-301E-489A-9347-B9268C8D5237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63F2DF-BA82-47A1-A7F5-06B6B213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870" y="2821214"/>
            <a:ext cx="5964655" cy="348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0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06269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17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展示坐标对应的全景图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将选取坐标的</a:t>
            </a:r>
            <a:r>
              <a:rPr lang="zh-CN" altLang="en-US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经纬度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复制到代码中，页面显示坐标对应的</a:t>
            </a:r>
            <a:r>
              <a:rPr lang="zh-CN" altLang="en-US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全景图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2000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5120F70-301E-489A-9347-B9268C8D5237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百度地图地理定位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B4F37A-9D94-447F-A00F-4CA79DA2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870" y="2345448"/>
            <a:ext cx="6408712" cy="37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5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拖曳操作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114216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4D8066-2DA5-4DA8-83C2-5DAA13A97BC6}"/>
              </a:ext>
            </a:extLst>
          </p:cNvPr>
          <p:cNvSpPr txBox="1"/>
          <p:nvPr/>
        </p:nvSpPr>
        <p:spPr>
          <a:xfrm>
            <a:off x="1099190" y="1341562"/>
            <a:ext cx="9199987" cy="2253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拖曳操作的实现：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需要借助于鼠标来实现，如文件或图片的移动操作等。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在开发中，我们经常使用原生的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来实现拖曳效果，实现起来比较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如何让实现拖曳效果变得简单呢？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为我们提供了更好用的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，在很大程度上降低了页面中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拖曳交互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的实现难度。</a:t>
            </a:r>
          </a:p>
        </p:txBody>
      </p:sp>
    </p:spTree>
    <p:extLst>
      <p:ext uri="{BB962C8B-B14F-4D97-AF65-F5344CB8AC3E}">
        <p14:creationId xmlns:p14="http://schemas.microsoft.com/office/powerpoint/2010/main" val="403556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拖曳的概念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说出拖曳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的的基本过程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17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270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拖曳的概念：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是页面中的元素从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被拖动到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新的位置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的用户行为，如拖曳页面中的指定元素到另一个元素中。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拖曳过程：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首先使用鼠标指针进入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，然后按住鼠标左键拖动源对象，当移动鼠标时源对象会跟随鼠标指针移动，如果源对象进入了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，就松开鼠标左键让源对象放置在目标对象中。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24166-4297-468B-A61E-D23B25FFF81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拖曳的概念</a:t>
            </a:r>
          </a:p>
        </p:txBody>
      </p:sp>
    </p:spTree>
    <p:extLst>
      <p:ext uri="{BB962C8B-B14F-4D97-AF65-F5344CB8AC3E}">
        <p14:creationId xmlns:p14="http://schemas.microsoft.com/office/powerpoint/2010/main" val="58227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表示被拖动的元素。为元素添加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draggable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属性可以设置此元素为源对象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24166-4297-468B-A61E-D23B25FFF81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拖曳的概念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78A01B-D69C-48B7-A608-010DC9B577AC}"/>
              </a:ext>
            </a:extLst>
          </p:cNvPr>
          <p:cNvSpPr txBox="1"/>
          <p:nvPr/>
        </p:nvSpPr>
        <p:spPr>
          <a:xfrm>
            <a:off x="3214886" y="2349674"/>
            <a:ext cx="5400600" cy="62324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&lt;p draggable="true"&gt;&lt;/p&gt;</a:t>
            </a:r>
          </a:p>
          <a:p>
            <a:pPr indent="267335">
              <a:lnSpc>
                <a:spcPct val="150000"/>
              </a:lnSpc>
              <a:defRPr/>
            </a:pPr>
            <a:endParaRPr lang="en-US" altLang="zh-CN" sz="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5E527E-ECB5-4D52-89C1-BBFDD8277B2A}"/>
              </a:ext>
            </a:extLst>
          </p:cNvPr>
          <p:cNvSpPr txBox="1"/>
          <p:nvPr/>
        </p:nvSpPr>
        <p:spPr>
          <a:xfrm>
            <a:off x="1270670" y="3429794"/>
            <a:ext cx="8280920" cy="2192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&lt;p&gt;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draggable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&lt;p&gt;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标签是一个可以被鼠标拖曳的源对象。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需要注意的是，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链接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默认是可以拖动的，它们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draggable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属性，就可以进行拖曳。</a:t>
            </a:r>
          </a:p>
        </p:txBody>
      </p:sp>
    </p:spTree>
    <p:extLst>
      <p:ext uri="{BB962C8B-B14F-4D97-AF65-F5344CB8AC3E}">
        <p14:creationId xmlns:p14="http://schemas.microsoft.com/office/powerpoint/2010/main" val="10681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源对象进入的元素称作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，目标对象可以是页面中的任一元素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24166-4297-468B-A61E-D23B25FFF81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拖曳的概念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78A01B-D69C-48B7-A608-010DC9B577AC}"/>
              </a:ext>
            </a:extLst>
          </p:cNvPr>
          <p:cNvSpPr txBox="1"/>
          <p:nvPr/>
        </p:nvSpPr>
        <p:spPr>
          <a:xfrm>
            <a:off x="3646934" y="2565698"/>
            <a:ext cx="432048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&lt;div&gt;&lt;/div&gt;</a:t>
            </a:r>
          </a:p>
          <a:p>
            <a:pPr lvl="1" indent="267335" algn="ctr">
              <a:lnSpc>
                <a:spcPct val="150000"/>
              </a:lnSpc>
              <a:defRPr/>
            </a:pPr>
            <a:endParaRPr lang="en-US" altLang="zh-CN" sz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5E527E-ECB5-4D52-89C1-BBFDD8277B2A}"/>
              </a:ext>
            </a:extLst>
          </p:cNvPr>
          <p:cNvSpPr txBox="1"/>
          <p:nvPr/>
        </p:nvSpPr>
        <p:spPr>
          <a:xfrm>
            <a:off x="1270670" y="3429794"/>
            <a:ext cx="8280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标签不需要设置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draggable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694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拖曳事件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实现页面中的拖曳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操作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6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776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拖曳事件：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拖曳开始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拖曳进行中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拖曳结束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等事件。在开发中，我们可以依靠拖曳事件来实现带有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拖曳交互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效果的页面。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产生的，如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，这些对象会产生不同的拖曳事件。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E0B25E-14BB-4675-B0D1-EE2346F52347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353710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2287219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源对象事件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722826"/>
              </p:ext>
            </p:extLst>
          </p:nvPr>
        </p:nvGraphicFramePr>
        <p:xfrm>
          <a:off x="1126654" y="1989634"/>
          <a:ext cx="9145016" cy="217188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6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3650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事件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事件描述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90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ondragstart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当拖曳开始时触发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ondrag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在拖曳元素被拖曳过程中触发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ondragend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当拖曳结束时触发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DEC9107-4EE4-4149-9D2D-29941694073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83299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2287219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目标对象事件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833793"/>
              </p:ext>
            </p:extLst>
          </p:nvPr>
        </p:nvGraphicFramePr>
        <p:xfrm>
          <a:off x="1126654" y="1989634"/>
          <a:ext cx="9505056" cy="2717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5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605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53650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事件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事件描述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90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ondragenter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当源对象进入目标对象时触发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ondragover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当源对象悬停在目标对象上方时触发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ondragleave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当源对象离开目标对象时触发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4579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ondrop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当源对象在目标对象上方释放鼠标时触发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52822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DEC9107-4EE4-4149-9D2D-29941694073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39515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2500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只有当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时，才会触发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ondragenter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情况下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，浏览器会默认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ondrop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如果想要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该事件，则需要在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ondragover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中使用“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 false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e.preventDefault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默认行为。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E0B25E-14BB-4675-B0D1-EE2346F52347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380005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在源对象和目标对象的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dataTransfer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数据传输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代码如下：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78A01B-D69C-48B7-A608-010DC9B577AC}"/>
              </a:ext>
            </a:extLst>
          </p:cNvPr>
          <p:cNvSpPr txBox="1"/>
          <p:nvPr/>
        </p:nvSpPr>
        <p:spPr>
          <a:xfrm>
            <a:off x="3214886" y="2493690"/>
            <a:ext cx="5832648" cy="175432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通过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dataTransfer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对象设置数据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event.dataTransfer.setData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(format, data);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通过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dataTransfer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对象获取数据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event.dataTransfer.getData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(format);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09FB61-BCD6-45FA-BE32-4CD6FB3A508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148717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09FB61-BCD6-45FA-BE32-4CD6FB3A508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82E1B4-873E-409A-979C-C77FD77801B6}"/>
              </a:ext>
            </a:extLst>
          </p:cNvPr>
          <p:cNvSpPr txBox="1"/>
          <p:nvPr/>
        </p:nvSpPr>
        <p:spPr>
          <a:xfrm>
            <a:off x="1143691" y="1197546"/>
            <a:ext cx="94330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表示事件处理函数的事件源对象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setData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(format, data)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用于将指定格式的数据设置给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dataTransfer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format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用于定义数据的格式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data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表示待设置的数据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getData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(format)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可以从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dataTransfer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对象中获取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的数据，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format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表示数据的格式</a:t>
            </a: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167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09FB61-BCD6-45FA-BE32-4CD6FB3A508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22A65C-F270-4115-A569-DE5F73B4ABC4}"/>
              </a:ext>
            </a:extLst>
          </p:cNvPr>
          <p:cNvSpPr txBox="1"/>
          <p:nvPr/>
        </p:nvSpPr>
        <p:spPr>
          <a:xfrm>
            <a:off x="1143691" y="1197546"/>
            <a:ext cx="9433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的拖曳效果，效果如图：</a:t>
            </a:r>
          </a:p>
        </p:txBody>
      </p:sp>
      <p:pic>
        <p:nvPicPr>
          <p:cNvPr id="6" name="图片 1">
            <a:extLst>
              <a:ext uri="{FF2B5EF4-FFF2-40B4-BE49-F238E27FC236}">
                <a16:creationId xmlns:a16="http://schemas.microsoft.com/office/drawing/2014/main" id="{0B55C1EE-647C-45C7-BE85-16A3A866D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725" y="2022122"/>
            <a:ext cx="4811713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0288215-27BA-45E1-8BF0-21DAB68A326F}"/>
              </a:ext>
            </a:extLst>
          </p:cNvPr>
          <p:cNvSpPr txBox="1"/>
          <p:nvPr/>
        </p:nvSpPr>
        <p:spPr>
          <a:xfrm>
            <a:off x="4943078" y="4221882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初始页面效果</a:t>
            </a:r>
          </a:p>
        </p:txBody>
      </p:sp>
    </p:spTree>
    <p:extLst>
      <p:ext uri="{BB962C8B-B14F-4D97-AF65-F5344CB8AC3E}">
        <p14:creationId xmlns:p14="http://schemas.microsoft.com/office/powerpoint/2010/main" val="200830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09FB61-BCD6-45FA-BE32-4CD6FB3A508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22A65C-F270-4115-A569-DE5F73B4ABC4}"/>
              </a:ext>
            </a:extLst>
          </p:cNvPr>
          <p:cNvSpPr txBox="1"/>
          <p:nvPr/>
        </p:nvSpPr>
        <p:spPr>
          <a:xfrm>
            <a:off x="1143691" y="1197546"/>
            <a:ext cx="9433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的拖曳效果，效果如图：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288215-27BA-45E1-8BF0-21DAB68A326F}"/>
              </a:ext>
            </a:extLst>
          </p:cNvPr>
          <p:cNvSpPr txBox="1"/>
          <p:nvPr/>
        </p:nvSpPr>
        <p:spPr>
          <a:xfrm>
            <a:off x="4655046" y="4437906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源对象拖动事件效果</a:t>
            </a: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B04C4940-958C-4CE4-AFB0-A580C569F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766" y="2017794"/>
            <a:ext cx="7769083" cy="242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791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09FB61-BCD6-45FA-BE32-4CD6FB3A508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22A65C-F270-4115-A569-DE5F73B4ABC4}"/>
              </a:ext>
            </a:extLst>
          </p:cNvPr>
          <p:cNvSpPr txBox="1"/>
          <p:nvPr/>
        </p:nvSpPr>
        <p:spPr>
          <a:xfrm>
            <a:off x="1143691" y="1197546"/>
            <a:ext cx="9433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源对象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的拖曳效果，效果如图：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288215-27BA-45E1-8BF0-21DAB68A326F}"/>
              </a:ext>
            </a:extLst>
          </p:cNvPr>
          <p:cNvSpPr txBox="1"/>
          <p:nvPr/>
        </p:nvSpPr>
        <p:spPr>
          <a:xfrm>
            <a:off x="4511030" y="4437906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将源对象拖曳到目标对象中</a:t>
            </a: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468B2F31-1243-482B-B2B9-1533150D8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766" y="2019393"/>
            <a:ext cx="7755541" cy="241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066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709714"/>
            <a:ext cx="5843569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id="div1"&gt;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 id="p1" draggable="true"&gt;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拖曳内容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1&lt;/p&gt;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 id="p2" draggable="true"&gt;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拖曳内容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2&lt;/p&gt;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 id="p3" draggable="true"&gt;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拖曳内容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3&lt;/p&gt;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&lt;p id="p4" draggable="true"&gt;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拖曳内容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4&lt;/p&gt;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id="div2"&gt;&lt;/div&gt;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id="div3"&gt;&lt;/div&gt;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定义页面结构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C:\code\chapter02\demo09.html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源对象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目标对象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53641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277666"/>
            <a:ext cx="5843569" cy="422231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&lt;style&gt;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*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margin: 0;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padding: 0;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div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width: 200px;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height: 200px;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border: 1px solid red;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float: left;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margin: 10px;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&lt;/style&gt;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设置元素样式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demo09.html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标签结束前，添加样式代码。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205381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349674"/>
            <a:ext cx="5843569" cy="390222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(2)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border: 1px solid green;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(3)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border: 1px solid blue;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p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height: 25px;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background-color: pink;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line-height: 25px;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text-align: center;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设置元素样式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demo09.html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标签结束前，添加样式代码。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</p:spTree>
    <p:extLst>
      <p:ext uri="{BB962C8B-B14F-4D97-AF65-F5344CB8AC3E}">
        <p14:creationId xmlns:p14="http://schemas.microsoft.com/office/powerpoint/2010/main" val="36733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sz="2400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demo09.html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页面初始效果如图。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pic>
        <p:nvPicPr>
          <p:cNvPr id="6146" name="图片 1">
            <a:extLst>
              <a:ext uri="{FF2B5EF4-FFF2-40B4-BE49-F238E27FC236}">
                <a16:creationId xmlns:a16="http://schemas.microsoft.com/office/drawing/2014/main" id="{23AF6088-195F-49D7-A451-5A948612A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421682"/>
            <a:ext cx="6177064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561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设置源对象的拖动效果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demo09.html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标签结束前添加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6FC6C9-A617-4FA0-B76D-F34B15F3F15C}"/>
              </a:ext>
            </a:extLst>
          </p:cNvPr>
          <p:cNvSpPr txBox="1"/>
          <p:nvPr/>
        </p:nvSpPr>
        <p:spPr>
          <a:xfrm>
            <a:off x="3059949" y="2428558"/>
            <a:ext cx="7715777" cy="3416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当拖曳开始时触发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document.ondragstart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(event)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console.log('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源对象开始被拖动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console.log(event.target.id);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event.dataTransfer.setData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('text/html', event.target.id); 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传递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id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值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31358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06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设置源对象的拖动效果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demo09.html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标签结束前添加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6FC6C9-A617-4FA0-B76D-F34B15F3F15C}"/>
              </a:ext>
            </a:extLst>
          </p:cNvPr>
          <p:cNvSpPr txBox="1"/>
          <p:nvPr/>
        </p:nvSpPr>
        <p:spPr>
          <a:xfrm>
            <a:off x="3059949" y="2428558"/>
            <a:ext cx="5843569" cy="304698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作用于整个拖曳过程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不断地执行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document.ondrag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(event)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console.log('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源对象被拖动过程中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当拖曳结束时触发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document.ondragend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(event)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console.log('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源对象被拖动结束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};</a:t>
            </a:r>
          </a:p>
        </p:txBody>
      </p:sp>
    </p:spTree>
    <p:extLst>
      <p:ext uri="{BB962C8B-B14F-4D97-AF65-F5344CB8AC3E}">
        <p14:creationId xmlns:p14="http://schemas.microsoft.com/office/powerpoint/2010/main" val="309071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07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刷新页面并查看源对象的事件过程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在浏览器中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，并打开控制台，查看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的事件过程。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pic>
        <p:nvPicPr>
          <p:cNvPr id="7170" name="图片 1">
            <a:extLst>
              <a:ext uri="{FF2B5EF4-FFF2-40B4-BE49-F238E27FC236}">
                <a16:creationId xmlns:a16="http://schemas.microsoft.com/office/drawing/2014/main" id="{1B0CE963-8306-4E93-9963-FDB871287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78" y="2588044"/>
            <a:ext cx="9697631" cy="302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44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99849" y="2453916"/>
            <a:ext cx="5904656" cy="372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08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设置目标对象的释放效果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demo09.html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6FC6C9-A617-4FA0-B76D-F34B15F3F15C}"/>
              </a:ext>
            </a:extLst>
          </p:cNvPr>
          <p:cNvSpPr txBox="1"/>
          <p:nvPr/>
        </p:nvSpPr>
        <p:spPr>
          <a:xfrm>
            <a:off x="3276960" y="2440498"/>
            <a:ext cx="5843569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当源对象进入目标对象时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document.ondragenter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(event)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console.log('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目标对象被源对象拖动着进入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event.target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当源对象悬停在目标对象上方时触发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document.ondragover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function(event)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console.log('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源对象悬停在目标对象上方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return false;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6674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999848" y="2421682"/>
            <a:ext cx="6119693" cy="37490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09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设置目标对象的释放效果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demo09.html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标签结束前添加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6FC6C9-A617-4FA0-B76D-F34B15F3F15C}"/>
              </a:ext>
            </a:extLst>
          </p:cNvPr>
          <p:cNvSpPr txBox="1"/>
          <p:nvPr/>
        </p:nvSpPr>
        <p:spPr>
          <a:xfrm>
            <a:off x="3275973" y="2428558"/>
            <a:ext cx="5843569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当源对象离开目标对象时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document.ondragleave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console.log('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离开了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当源对象在目标对象上方释放鼠标时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document.ondrop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(event){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console.log('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上方释放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松手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var id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event.dataTransfer.getData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('text/html');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event.target.appendChild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(id));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868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10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刷新页面进行拖曳操作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在浏览器中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，然后进行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操作，查看源对象进入目标对象的事件过程。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E71A43-9419-4293-AFD7-A3FFE494427C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拖曳事件</a:t>
            </a:r>
          </a:p>
        </p:txBody>
      </p:sp>
      <p:pic>
        <p:nvPicPr>
          <p:cNvPr id="8194" name="图片 1">
            <a:extLst>
              <a:ext uri="{FF2B5EF4-FFF2-40B4-BE49-F238E27FC236}">
                <a16:creationId xmlns:a16="http://schemas.microsoft.com/office/drawing/2014/main" id="{5FCAB9BF-842A-449B-9DCE-08C49C33E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70" y="2853730"/>
            <a:ext cx="6692356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934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文件操作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</a:t>
            </a:r>
          </a:p>
        </p:txBody>
      </p:sp>
    </p:spTree>
    <p:extLst>
      <p:ext uri="{BB962C8B-B14F-4D97-AF65-F5344CB8AC3E}">
        <p14:creationId xmlns:p14="http://schemas.microsoft.com/office/powerpoint/2010/main" val="43694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771ABE-231D-45F2-A065-DE0AABA23305}"/>
              </a:ext>
            </a:extLst>
          </p:cNvPr>
          <p:cNvSpPr txBox="1"/>
          <p:nvPr/>
        </p:nvSpPr>
        <p:spPr>
          <a:xfrm>
            <a:off x="1099190" y="1341562"/>
            <a:ext cx="1032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在前端开发中，如果想要把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成功后的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上，或者在上传图片完成后，把图片的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缩略图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显示到页面中，应该如何实现呢？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这就需要用到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文件读取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接口来实现。</a:t>
            </a:r>
          </a:p>
        </p:txBody>
      </p:sp>
    </p:spTree>
    <p:extLst>
      <p:ext uri="{BB962C8B-B14F-4D97-AF65-F5344CB8AC3E}">
        <p14:creationId xmlns:p14="http://schemas.microsoft.com/office/powerpoint/2010/main" val="177225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175" y="3576722"/>
            <a:ext cx="5616624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选择文件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在网页中选择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文件并读取文件基本信息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</p:spTree>
    <p:extLst>
      <p:ext uri="{BB962C8B-B14F-4D97-AF65-F5344CB8AC3E}">
        <p14:creationId xmlns:p14="http://schemas.microsoft.com/office/powerpoint/2010/main" val="354735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4708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通过上传文件的方式选择文件：</a:t>
            </a: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环境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的特殊性，浏览器不允许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直接访问文件系统。通常我们使用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 type="file" 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让用户选择文件进行上传。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默认情况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一个文件域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只能上传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 type="file" &gt;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还有一个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multiple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新增），可以实现一次上传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24166-4297-468B-A61E-D23B25FFF81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</p:spTree>
    <p:extLst>
      <p:ext uri="{BB962C8B-B14F-4D97-AF65-F5344CB8AC3E}">
        <p14:creationId xmlns:p14="http://schemas.microsoft.com/office/powerpoint/2010/main" val="223089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上传多个文件，示例代码：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24166-4297-468B-A61E-D23B25FFF81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D8EB01-6CB0-4B05-AD1F-D7CFF362B9B1}"/>
              </a:ext>
            </a:extLst>
          </p:cNvPr>
          <p:cNvSpPr txBox="1"/>
          <p:nvPr/>
        </p:nvSpPr>
        <p:spPr>
          <a:xfrm>
            <a:off x="3286894" y="2152410"/>
            <a:ext cx="5328592" cy="52815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&lt;input type="file" multiple&gt;</a:t>
            </a:r>
          </a:p>
          <a:p>
            <a:pPr indent="267335" algn="ctr">
              <a:lnSpc>
                <a:spcPct val="150000"/>
              </a:lnSpc>
              <a:defRPr/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33B3DC-013C-4D8C-8698-106EC95C6178}"/>
              </a:ext>
            </a:extLst>
          </p:cNvPr>
          <p:cNvSpPr txBox="1"/>
          <p:nvPr/>
        </p:nvSpPr>
        <p:spPr>
          <a:xfrm>
            <a:off x="1198662" y="2925738"/>
            <a:ext cx="8784976" cy="2300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在用户选择文件以后，可以得到一个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FileList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，它代表所选的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文件列表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9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FileList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的形式，其中包含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9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multiple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属性，或者用户只选择了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一个上传文件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，那么只需要访问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FileList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第一个元素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769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实现在页面中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24166-4297-468B-A61E-D23B25FFF81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DED12AB3-0A00-45EA-970A-729E56C6E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631" y="2205658"/>
            <a:ext cx="4190519" cy="1766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8ADC355-C7FC-4B52-A215-D16F610EE616}"/>
              </a:ext>
            </a:extLst>
          </p:cNvPr>
          <p:cNvSpPr txBox="1"/>
          <p:nvPr/>
        </p:nvSpPr>
        <p:spPr>
          <a:xfrm>
            <a:off x="2566814" y="3933850"/>
            <a:ext cx="230425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页面初始效果</a:t>
            </a: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08CC2A06-B98F-45C2-B650-63118138E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229" y="2205658"/>
            <a:ext cx="5079588" cy="263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C840BC2-237B-40B1-91F1-A86A863A7C0E}"/>
              </a:ext>
            </a:extLst>
          </p:cNvPr>
          <p:cNvSpPr txBox="1"/>
          <p:nvPr/>
        </p:nvSpPr>
        <p:spPr>
          <a:xfrm>
            <a:off x="6959302" y="4802378"/>
            <a:ext cx="336486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FileList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275375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421682"/>
            <a:ext cx="5843569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&lt;input type="file" multiple&gt;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定义页面结构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C:\code\chapter02\demo10.html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标签。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36A9DD-FDD9-43ED-B028-052873A7AB81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</p:spTree>
    <p:extLst>
      <p:ext uri="{BB962C8B-B14F-4D97-AF65-F5344CB8AC3E}">
        <p14:creationId xmlns:p14="http://schemas.microsoft.com/office/powerpoint/2010/main" val="402072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421682"/>
            <a:ext cx="6635657" cy="300351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input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('input');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input.onchange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() {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当用户选择文件后执行此事件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this.files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    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查看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FileList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对象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file1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this.files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[0];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console.log(file1);               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查看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File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对象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上传文件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demo10.html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，并绑定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onchange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1C0336-D0EB-4E6A-93DE-B2383272EE8F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</p:spTree>
    <p:extLst>
      <p:ext uri="{BB962C8B-B14F-4D97-AF65-F5344CB8AC3E}">
        <p14:creationId xmlns:p14="http://schemas.microsoft.com/office/powerpoint/2010/main" val="1225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0536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demo10.html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页面初始效果如图。</a:t>
            </a:r>
          </a:p>
        </p:txBody>
      </p:sp>
      <p:pic>
        <p:nvPicPr>
          <p:cNvPr id="9218" name="图片 1">
            <a:extLst>
              <a:ext uri="{FF2B5EF4-FFF2-40B4-BE49-F238E27FC236}">
                <a16:creationId xmlns:a16="http://schemas.microsoft.com/office/drawing/2014/main" id="{183A3664-0F2A-4AD9-9F9B-52E46CDCB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70" y="2421682"/>
            <a:ext cx="4441829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989B626-D081-406B-BD49-7A843148E0E1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</p:spTree>
    <p:extLst>
      <p:ext uri="{BB962C8B-B14F-4D97-AF65-F5344CB8AC3E}">
        <p14:creationId xmlns:p14="http://schemas.microsoft.com/office/powerpoint/2010/main" val="364355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55044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</a:t>
            </a:r>
            <a:r>
              <a:rPr lang="en-US" altLang="zh-CN" sz="2400" b="1" kern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FileList</a:t>
            </a: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对象和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</a:t>
            </a:r>
            <a:r>
              <a:rPr lang="en-US" altLang="zh-CN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ile</a:t>
            </a: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”按钮，同时选择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1.txt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文件和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2.txt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文件，然后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查看开发者工具的控制台。</a:t>
            </a:r>
          </a:p>
        </p:txBody>
      </p:sp>
      <p:pic>
        <p:nvPicPr>
          <p:cNvPr id="10242" name="图片 1">
            <a:extLst>
              <a:ext uri="{FF2B5EF4-FFF2-40B4-BE49-F238E27FC236}">
                <a16:creationId xmlns:a16="http://schemas.microsoft.com/office/drawing/2014/main" id="{6529E665-F8F7-4A8E-BCC1-CD3723E71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887435"/>
            <a:ext cx="5400600" cy="280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576F10C-2B48-46F3-A1B9-D592CDF4144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选择文件</a:t>
            </a:r>
          </a:p>
        </p:txBody>
      </p:sp>
    </p:spTree>
    <p:extLst>
      <p:ext uri="{BB962C8B-B14F-4D97-AF65-F5344CB8AC3E}">
        <p14:creationId xmlns:p14="http://schemas.microsoft.com/office/powerpoint/2010/main" val="318945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FileReader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使用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FileReader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对象的常用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方法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2.5.2  FileReader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118053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70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FileReader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对象的作用：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FileReader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对象可以读取本地存储的文件。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FileReader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对象前，需要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FileReader()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，示例代码如下：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6B5680-018B-47C2-82D9-85A7023862F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2.5.2  FileReader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F50042-ED2C-41E3-90BC-A734BCE64C12}"/>
              </a:ext>
            </a:extLst>
          </p:cNvPr>
          <p:cNvSpPr txBox="1"/>
          <p:nvPr/>
        </p:nvSpPr>
        <p:spPr>
          <a:xfrm>
            <a:off x="2998862" y="3045652"/>
            <a:ext cx="5472608" cy="52815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reader = new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FileReader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</a:t>
            </a:r>
          </a:p>
          <a:p>
            <a:pPr indent="267335" algn="ctr">
              <a:lnSpc>
                <a:spcPct val="150000"/>
              </a:lnSpc>
              <a:defRPr/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36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401541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FileReader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对象的常用方法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028383"/>
              </p:ext>
            </p:extLst>
          </p:nvPr>
        </p:nvGraphicFramePr>
        <p:xfrm>
          <a:off x="1126654" y="1989634"/>
          <a:ext cx="9289032" cy="244827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108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3915556">
                  <a:extLst>
                    <a:ext uri="{9D8B030D-6E8A-4147-A177-3AD203B41FA5}">
                      <a16:colId xmlns:a16="http://schemas.microsoft.com/office/drawing/2014/main" val="37589275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方法名称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参数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readAsBinaryString()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file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将文件读取为二进制编码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readAsText()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file,[ending]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将文件读取为文本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readAsDataURL()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file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将文件读取为</a:t>
                      </a: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DataURL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abort()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(none)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中断读取操作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6323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4CB0C16-E877-4C24-92B5-B8FD420CC54A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2.5.2  FileReader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122279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440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</a:t>
            </a:r>
            <a:endParaRPr lang="en-US" altLang="zh-CN" sz="2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无论文件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是否读取成功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，读取文件的方法都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不会返回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读取的结果，而是将读取结果存储到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readAsText()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属性中将包含一个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用来表示读取文件的内容。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readAsDataURL()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属性中将包含一个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data:URL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Base64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来表示读取文件的内容。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6B5680-018B-47C2-82D9-85A7023862F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2.5.2  FileReader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25445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FileReader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对象读取文件内容的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基本语法如下：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6B5680-018B-47C2-82D9-85A7023862F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2.5.2  FileReader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3987C1-AA5B-4DC2-AB55-CD8CAECDD48A}"/>
              </a:ext>
            </a:extLst>
          </p:cNvPr>
          <p:cNvSpPr txBox="1"/>
          <p:nvPr/>
        </p:nvSpPr>
        <p:spPr>
          <a:xfrm>
            <a:off x="1935779" y="2148987"/>
            <a:ext cx="7903843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reader.readAsText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(File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对象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	    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方式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：读取文本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reader.readAsDataURL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(File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对象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);         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方式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：读取图片的缩略图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67335">
              <a:lnSpc>
                <a:spcPct val="150000"/>
              </a:lnSpc>
              <a:defRPr/>
            </a:pPr>
            <a:endParaRPr lang="zh-CN" altLang="en-US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62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6">
            <a:extLst>
              <a:ext uri="{FF2B5EF4-FFF2-40B4-BE49-F238E27FC236}">
                <a16:creationId xmlns:a16="http://schemas.microsoft.com/office/drawing/2014/main" id="{5C5E91A2-FC1A-4979-A9EE-D75460130F10}"/>
              </a:ext>
            </a:extLst>
          </p:cNvPr>
          <p:cNvSpPr txBox="1"/>
          <p:nvPr/>
        </p:nvSpPr>
        <p:spPr>
          <a:xfrm>
            <a:off x="1143691" y="1179043"/>
            <a:ext cx="401541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FileReader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对象的常用事件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55175B-A0B0-4D9B-B24C-144A10E4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106167"/>
              </p:ext>
            </p:extLst>
          </p:nvPr>
        </p:nvGraphicFramePr>
        <p:xfrm>
          <a:off x="1126654" y="1989634"/>
          <a:ext cx="8640960" cy="345638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37589275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事件名称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onabort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读取中断时触发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onerror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读取发生错误时触发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onloadstart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读取开始时触发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onprogress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正在读取时触发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6323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onload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读取成功时触发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39678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onloadend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读取完成时触发（无论成功或失败）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9313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06BD481-60A6-44B4-9AA8-E36218063E79}"/>
              </a:ext>
            </a:extLst>
          </p:cNvPr>
          <p:cNvSpPr txBox="1"/>
          <p:nvPr/>
        </p:nvSpPr>
        <p:spPr>
          <a:xfrm>
            <a:off x="910630" y="5446018"/>
            <a:ext cx="10225136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FileReader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EventTarget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，所以表的事件也可以通过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addEventListener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来使用。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6906E9-50F6-44F3-9786-AEC485E80AA7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2.5.2  FileReader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85581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如何监听文件读取成功事件，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示例代码如下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6B5680-018B-47C2-82D9-85A7023862F5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2.5.2  FileReader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3987C1-AA5B-4DC2-AB55-CD8CAECDD48A}"/>
              </a:ext>
            </a:extLst>
          </p:cNvPr>
          <p:cNvSpPr txBox="1"/>
          <p:nvPr/>
        </p:nvSpPr>
        <p:spPr>
          <a:xfrm>
            <a:off x="1791762" y="2148987"/>
            <a:ext cx="84079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将读取的内容显示到页面中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reader.onload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() {	     // onload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事件在读取成功时触发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div.innerHTML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this.result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将生成的内容显示到页面的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元素中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img.src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this.result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	         	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将生成的内容赋值为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图片的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6007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掌握如何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读取文件内容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进行文件内容的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读取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读取文件内容</a:t>
            </a:r>
          </a:p>
        </p:txBody>
      </p:sp>
    </p:spTree>
    <p:extLst>
      <p:ext uri="{BB962C8B-B14F-4D97-AF65-F5344CB8AC3E}">
        <p14:creationId xmlns:p14="http://schemas.microsoft.com/office/powerpoint/2010/main" val="239353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在页面中显示上传成功的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图片缩略图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18DF902-045C-47FA-BEA6-76517171B257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读取文件内容</a:t>
            </a:r>
          </a:p>
        </p:txBody>
      </p:sp>
      <p:pic>
        <p:nvPicPr>
          <p:cNvPr id="11" name="图片 1">
            <a:extLst>
              <a:ext uri="{FF2B5EF4-FFF2-40B4-BE49-F238E27FC236}">
                <a16:creationId xmlns:a16="http://schemas.microsoft.com/office/drawing/2014/main" id="{D62ABAF2-2AD6-4624-897B-9630A159B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26" y="1989634"/>
            <a:ext cx="526136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14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277666"/>
            <a:ext cx="5843569" cy="374217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&lt;title&gt;Document&lt;/title&gt;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&lt;input type="file" multiple&gt;&lt;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="" alt="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缩略图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width="100" height="100"&gt;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定义页面结构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code\chapter02\demo11.html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037140-51C2-44B0-BDB1-608A69A4D7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读取文件内容</a:t>
            </a:r>
          </a:p>
        </p:txBody>
      </p:sp>
    </p:spTree>
    <p:extLst>
      <p:ext uri="{BB962C8B-B14F-4D97-AF65-F5344CB8AC3E}">
        <p14:creationId xmlns:p14="http://schemas.microsoft.com/office/powerpoint/2010/main" val="150535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882103" y="2278343"/>
            <a:ext cx="5904656" cy="36126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277666"/>
            <a:ext cx="8147825" cy="3613297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script&gt;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file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('input');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file.onchange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()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var reader = new FileReader();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reader.readAsDataURL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this.files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[0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]);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读取文件内容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reader.onload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function ()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img.src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this.result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	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将读取的内容显示到页面中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&lt;/script&gt;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读取文件内容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，获取表单元素对象并绑定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onchange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1B494B1-6D39-4AD1-ADE4-E1C4292FE7BB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读取文件内容</a:t>
            </a:r>
          </a:p>
        </p:txBody>
      </p:sp>
    </p:spTree>
    <p:extLst>
      <p:ext uri="{BB962C8B-B14F-4D97-AF65-F5344CB8AC3E}">
        <p14:creationId xmlns:p14="http://schemas.microsoft.com/office/powerpoint/2010/main" val="303188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demo11.html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页面中显示图片的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缩略图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1266" name="图片 1">
            <a:extLst>
              <a:ext uri="{FF2B5EF4-FFF2-40B4-BE49-F238E27FC236}">
                <a16:creationId xmlns:a16="http://schemas.microsoft.com/office/drawing/2014/main" id="{289CD3CB-DFE9-4F72-A260-3C1F8F453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70" y="2421682"/>
            <a:ext cx="526136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C77338E-E292-4DA3-B4D8-8DF98A6BA67B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读取文件内容</a:t>
            </a:r>
          </a:p>
        </p:txBody>
      </p:sp>
    </p:spTree>
    <p:extLst>
      <p:ext uri="{BB962C8B-B14F-4D97-AF65-F5344CB8AC3E}">
        <p14:creationId xmlns:p14="http://schemas.microsoft.com/office/powerpoint/2010/main" val="323421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Canvas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</a:t>
            </a:r>
          </a:p>
        </p:txBody>
      </p:sp>
    </p:spTree>
    <p:extLst>
      <p:ext uri="{BB962C8B-B14F-4D97-AF65-F5344CB8AC3E}">
        <p14:creationId xmlns:p14="http://schemas.microsoft.com/office/powerpoint/2010/main" val="116925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 Canvas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CF385D02-41C8-4644-ACF5-09F91E241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3808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？</a:t>
            </a: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，现实生活中的画布是用来作画的。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：我们可以称它为“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网页中的画布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”。默认情况下，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是一块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300px*150px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的矩形画布，用户可以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的大小或为画布添加其他属性。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实现绘画：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并不是通过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绘画的，用户需要通过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来控制画布中的内容，例如添加图片、线条、文字等。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941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&lt;canvas&gt;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标签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&lt;canvas&gt;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标签在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网页中创建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画布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2.6.1  &lt;canvas&gt;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205809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&lt;canvas&gt;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在网页中创建一个画布，语法格式如下：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F50042-ED2C-41E3-90BC-A734BCE64C12}"/>
              </a:ext>
            </a:extLst>
          </p:cNvPr>
          <p:cNvSpPr txBox="1"/>
          <p:nvPr/>
        </p:nvSpPr>
        <p:spPr>
          <a:xfrm>
            <a:off x="2566814" y="2061642"/>
            <a:ext cx="6336704" cy="126143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&lt;canvas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cavsElem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width="400" height="300"&gt;</a:t>
            </a:r>
          </a:p>
          <a:p>
            <a:pPr indent="267335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您的浏览器不支持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Canvas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&lt;/canvas&gt;</a:t>
            </a:r>
          </a:p>
          <a:p>
            <a:pPr indent="267335">
              <a:lnSpc>
                <a:spcPct val="150000"/>
              </a:lnSpc>
              <a:defRPr/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300D3C-DB51-4B16-AC27-9A0F55855288}"/>
              </a:ext>
            </a:extLst>
          </p:cNvPr>
          <p:cNvSpPr txBox="1"/>
          <p:nvPr/>
        </p:nvSpPr>
        <p:spPr>
          <a:xfrm>
            <a:off x="1126654" y="3717826"/>
            <a:ext cx="10153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上述代码定义了一个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cavsElem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的画布，并设置了画布的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400px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300px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BE12EC-5050-49BE-A20A-50D7C2338483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2.6.1  &lt;canvas&gt;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257423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getElementById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获取到网页中的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画布对象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，代码如下所示：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F50042-ED2C-41E3-90BC-A734BCE64C12}"/>
              </a:ext>
            </a:extLst>
          </p:cNvPr>
          <p:cNvSpPr txBox="1"/>
          <p:nvPr/>
        </p:nvSpPr>
        <p:spPr>
          <a:xfrm>
            <a:off x="2134766" y="2219515"/>
            <a:ext cx="7056784" cy="57708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canvas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cavsElem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');</a:t>
            </a:r>
          </a:p>
          <a:p>
            <a:pPr indent="267335" algn="ctr">
              <a:lnSpc>
                <a:spcPct val="150000"/>
              </a:lnSpc>
              <a:defRPr/>
            </a:pPr>
            <a:endParaRPr lang="en-US" altLang="zh-CN" sz="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300D3C-DB51-4B16-AC27-9A0F55855288}"/>
              </a:ext>
            </a:extLst>
          </p:cNvPr>
          <p:cNvSpPr txBox="1"/>
          <p:nvPr/>
        </p:nvSpPr>
        <p:spPr>
          <a:xfrm>
            <a:off x="1054646" y="3173700"/>
            <a:ext cx="10153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上述代码获取了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cavsElem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的画布，同时将获取的画布对象保存在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中。</a:t>
            </a:r>
            <a:endParaRPr lang="zh-CN" altLang="en-US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BE12EC-5050-49BE-A20A-50D7C2338483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2.6.1  &lt;canvas&gt;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282692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707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context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是画布的上下文，也叫做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绘制环境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，是所有的绘制操作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入口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context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getContext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获得，代码如下所示：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300D3C-DB51-4B16-AC27-9A0F55855288}"/>
              </a:ext>
            </a:extLst>
          </p:cNvPr>
          <p:cNvSpPr txBox="1"/>
          <p:nvPr/>
        </p:nvSpPr>
        <p:spPr>
          <a:xfrm>
            <a:off x="1054646" y="3861842"/>
            <a:ext cx="1015312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在上述代码中，参数“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画笔的种类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，这里表示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二维绘图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的画笔。如果想要绘制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三维图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，可以把参数替换为“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webgl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BE12EC-5050-49BE-A20A-50D7C2338483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2.6.1  &lt;canvas&gt;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385C4A-DC1B-4379-9EE5-8F6A09270262}"/>
              </a:ext>
            </a:extLst>
          </p:cNvPr>
          <p:cNvSpPr txBox="1"/>
          <p:nvPr/>
        </p:nvSpPr>
        <p:spPr>
          <a:xfrm>
            <a:off x="2854846" y="2860856"/>
            <a:ext cx="6336704" cy="57708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context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canvas.getContext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 indent="267335" algn="ctr">
              <a:lnSpc>
                <a:spcPct val="150000"/>
              </a:lnSpc>
              <a:defRPr/>
            </a:pPr>
            <a:endParaRPr lang="en-US" altLang="zh-CN" sz="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44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223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代表一个平面，绘制图形时需要在平面上确定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起始点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，也就是“从哪里开始画”，这个点需要通过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来控制。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的坐标系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：从最左上角“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向右增大，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向下增大。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BE12EC-5050-49BE-A20A-50D7C2338483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2.6.1  &lt;canvas&gt;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42A68BB-23A8-4E47-B675-1341885345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859445"/>
              </p:ext>
            </p:extLst>
          </p:nvPr>
        </p:nvGraphicFramePr>
        <p:xfrm>
          <a:off x="3935413" y="3357563"/>
          <a:ext cx="2800350" cy="278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r:id="rId3" imgW="4019526" imgH="4000415" progId="Visio.Drawing.15">
                  <p:embed/>
                </p:oleObj>
              </mc:Choice>
              <mc:Fallback>
                <p:oleObj r:id="rId3" imgW="4019526" imgH="4000415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3357563"/>
                        <a:ext cx="2800350" cy="2789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517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绘制线条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的方法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网页中绘制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线条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</p:spTree>
    <p:extLst>
      <p:ext uri="{BB962C8B-B14F-4D97-AF65-F5344CB8AC3E}">
        <p14:creationId xmlns:p14="http://schemas.microsoft.com/office/powerpoint/2010/main" val="346787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730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线的定义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：线是所有复杂图形的组成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，想要绘制复杂的图形，首先要从绘制线开始。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线的组成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：在绘制线之前首先要了解线的组成。一条最简单的线由三部分组成，分别为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连线端点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描边。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953504-7F83-4DE6-9BE8-E1DF0607AAD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42039E77-4576-4786-B47E-87978CDCE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966" y="3357786"/>
            <a:ext cx="3096344" cy="182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456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219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在绘制图形时，我们首先需要确定从哪里下“笔”，这个下“笔”的位置就是初始位置。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在画布中使用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moveTo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(x, y)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来定义初始位置，其中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水平坐标轴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垂直坐标轴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的位置，中间用“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”隔开。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的取值为数字，表示像素值（单位省略）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953504-7F83-4DE6-9BE8-E1DF0607AAD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50A052-F644-4E60-8A1A-0BC4D87B34D2}"/>
              </a:ext>
            </a:extLst>
          </p:cNvPr>
          <p:cNvSpPr txBox="1"/>
          <p:nvPr/>
        </p:nvSpPr>
        <p:spPr>
          <a:xfrm>
            <a:off x="1071683" y="3677756"/>
            <a:ext cx="437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设置初始位置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的示例代码如下所示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D8E39-47F6-4AA3-8EDB-C7E8B9F0E4BE}"/>
              </a:ext>
            </a:extLst>
          </p:cNvPr>
          <p:cNvSpPr txBox="1"/>
          <p:nvPr/>
        </p:nvSpPr>
        <p:spPr>
          <a:xfrm>
            <a:off x="3430910" y="4437906"/>
            <a:ext cx="5599587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var context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canvas.getContext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(x, y);</a:t>
            </a:r>
          </a:p>
          <a:p>
            <a:pPr indent="267335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07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连线端点：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在画布中使用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lineTo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(x, y)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来定义连线端点。和初始位置类似，连线端点也需要定义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的坐标位置。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953504-7F83-4DE6-9BE8-E1DF0607AAD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50A052-F644-4E60-8A1A-0BC4D87B34D2}"/>
              </a:ext>
            </a:extLst>
          </p:cNvPr>
          <p:cNvSpPr txBox="1"/>
          <p:nvPr/>
        </p:nvSpPr>
        <p:spPr>
          <a:xfrm>
            <a:off x="1071683" y="2565698"/>
            <a:ext cx="437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定义连线端点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的代码如下所示：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D8E39-47F6-4AA3-8EDB-C7E8B9F0E4BE}"/>
              </a:ext>
            </a:extLst>
          </p:cNvPr>
          <p:cNvSpPr txBox="1"/>
          <p:nvPr/>
        </p:nvSpPr>
        <p:spPr>
          <a:xfrm>
            <a:off x="3430910" y="3341898"/>
            <a:ext cx="5256584" cy="60016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(x, y);</a:t>
            </a:r>
          </a:p>
          <a:p>
            <a:pPr indent="267335" algn="ctr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31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730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描边：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通过初始位置和连线端点可以绘制一条线，但这条线并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不能被看到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。这时我们需要为线添加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，让线变得可见。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使用画布中的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stroke()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，可以实现线的可视效果。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953504-7F83-4DE6-9BE8-E1DF0607AAD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50A052-F644-4E60-8A1A-0BC4D87B34D2}"/>
              </a:ext>
            </a:extLst>
          </p:cNvPr>
          <p:cNvSpPr txBox="1"/>
          <p:nvPr/>
        </p:nvSpPr>
        <p:spPr>
          <a:xfrm>
            <a:off x="1071683" y="3285778"/>
            <a:ext cx="437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设置描边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的代码如下所示：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D8E39-47F6-4AA3-8EDB-C7E8B9F0E4BE}"/>
              </a:ext>
            </a:extLst>
          </p:cNvPr>
          <p:cNvSpPr txBox="1"/>
          <p:nvPr/>
        </p:nvSpPr>
        <p:spPr>
          <a:xfrm>
            <a:off x="3430910" y="4091723"/>
            <a:ext cx="5832648" cy="66941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            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</a:t>
            </a:r>
          </a:p>
          <a:p>
            <a:pPr indent="267335">
              <a:lnSpc>
                <a:spcPct val="150000"/>
              </a:lnSpc>
              <a:defRPr/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53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绘制字母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953504-7F83-4DE6-9BE8-E1DF0607AAD4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62936F5E-8D03-40B1-9383-A2901610C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11" y="2277665"/>
            <a:ext cx="4752528" cy="200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39190BA-895B-4775-92E2-181544CE4B4A}"/>
              </a:ext>
            </a:extLst>
          </p:cNvPr>
          <p:cNvSpPr txBox="1"/>
          <p:nvPr/>
        </p:nvSpPr>
        <p:spPr>
          <a:xfrm>
            <a:off x="5105603" y="4325828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绘制字母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90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421682"/>
            <a:ext cx="5843569" cy="411151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绘制字母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&lt;canvas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width="300" height="300"&gt;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您的浏览器不支持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Canvas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&lt;/canvas&gt;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创建画布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C:\code\chapter02\demo12.html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，首先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295996-A98C-454B-A380-1D0660A2E15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</p:spTree>
    <p:extLst>
      <p:ext uri="{BB962C8B-B14F-4D97-AF65-F5344CB8AC3E}">
        <p14:creationId xmlns:p14="http://schemas.microsoft.com/office/powerpoint/2010/main" val="327149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421682"/>
            <a:ext cx="7427745" cy="337284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context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getContext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(10, 100);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定义初始位置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context.lineTo(30, 10);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context.lineTo(50, 100);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context.lineTo(70, 10);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context.lineTo(90, 100);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描边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绘制字母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代码，绘制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字母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295996-A98C-454B-A380-1D0660A2E15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</p:spTree>
    <p:extLst>
      <p:ext uri="{BB962C8B-B14F-4D97-AF65-F5344CB8AC3E}">
        <p14:creationId xmlns:p14="http://schemas.microsoft.com/office/powerpoint/2010/main" val="218276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demo12.html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页面中显示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字母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295996-A98C-454B-A380-1D0660A2E15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绘制线条</a:t>
            </a:r>
          </a:p>
        </p:txBody>
      </p:sp>
      <p:pic>
        <p:nvPicPr>
          <p:cNvPr id="14338" name="图片 1">
            <a:extLst>
              <a:ext uri="{FF2B5EF4-FFF2-40B4-BE49-F238E27FC236}">
                <a16:creationId xmlns:a16="http://schemas.microsoft.com/office/drawing/2014/main" id="{93DA1298-07BB-4A04-91D9-EDD3FBA58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71" y="2421683"/>
            <a:ext cx="4229963" cy="178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116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设置线条的样式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的方法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，能够实现设置不同样式的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线条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</p:spTree>
    <p:extLst>
      <p:ext uri="{BB962C8B-B14F-4D97-AF65-F5344CB8AC3E}">
        <p14:creationId xmlns:p14="http://schemas.microsoft.com/office/powerpoint/2010/main" val="307231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27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设置线条宽度：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lineWidth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可以定义线的宽度，该属性的取值为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（不带单位），以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像素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为计量。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50A052-F644-4E60-8A1A-0BC4D87B34D2}"/>
              </a:ext>
            </a:extLst>
          </p:cNvPr>
          <p:cNvSpPr txBox="1"/>
          <p:nvPr/>
        </p:nvSpPr>
        <p:spPr>
          <a:xfrm>
            <a:off x="1071683" y="2565698"/>
            <a:ext cx="437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设置线的宽度的示例代码如下所示：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D8E39-47F6-4AA3-8EDB-C7E8B9F0E4BE}"/>
              </a:ext>
            </a:extLst>
          </p:cNvPr>
          <p:cNvSpPr txBox="1"/>
          <p:nvPr/>
        </p:nvSpPr>
        <p:spPr>
          <a:xfrm>
            <a:off x="3574926" y="3429794"/>
            <a:ext cx="5234838" cy="6096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 algn="ctr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context.lineWidth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'10';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67335" algn="ctr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FCB7FB-17BE-44E2-8ABE-310B0FCC505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7E7624-661C-4D7C-91B9-76392C30C76F}"/>
              </a:ext>
            </a:extLst>
          </p:cNvPr>
          <p:cNvSpPr txBox="1"/>
          <p:nvPr/>
        </p:nvSpPr>
        <p:spPr>
          <a:xfrm>
            <a:off x="766614" y="4541852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/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上述代码中设置了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线的宽度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x-none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3384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27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设置描边颜色：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strokeStyle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可以定义线的描边颜色，该属性的取值为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十六进制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颜色值或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颜色的英文名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50A052-F644-4E60-8A1A-0BC4D87B34D2}"/>
              </a:ext>
            </a:extLst>
          </p:cNvPr>
          <p:cNvSpPr txBox="1"/>
          <p:nvPr/>
        </p:nvSpPr>
        <p:spPr>
          <a:xfrm>
            <a:off x="1071683" y="2565698"/>
            <a:ext cx="437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设置描边颜色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的示例代码如下所示：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D8E39-47F6-4AA3-8EDB-C7E8B9F0E4BE}"/>
              </a:ext>
            </a:extLst>
          </p:cNvPr>
          <p:cNvSpPr txBox="1"/>
          <p:nvPr/>
        </p:nvSpPr>
        <p:spPr>
          <a:xfrm>
            <a:off x="3862958" y="3429794"/>
            <a:ext cx="4730782" cy="10251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context.strokeStyle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'#f00';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context.strokeStyle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'red';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67335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FCB7FB-17BE-44E2-8ABE-310B0FCC505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2E706D-CAD4-42FD-8AE5-63C076DEC457}"/>
              </a:ext>
            </a:extLst>
          </p:cNvPr>
          <p:cNvSpPr txBox="1"/>
          <p:nvPr/>
        </p:nvSpPr>
        <p:spPr>
          <a:xfrm>
            <a:off x="766614" y="4973900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/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上述代码中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两种方式都可以用于设置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线的描边颜色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红色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8993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808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设置端点形状：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默认情况下，线的端点是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lineCap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可以改变端点的形状。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50A052-F644-4E60-8A1A-0BC4D87B34D2}"/>
              </a:ext>
            </a:extLst>
          </p:cNvPr>
          <p:cNvSpPr txBox="1"/>
          <p:nvPr/>
        </p:nvSpPr>
        <p:spPr>
          <a:xfrm>
            <a:off x="1071683" y="2021572"/>
            <a:ext cx="437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设置端点形状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的示例代码如下所示：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D8E39-47F6-4AA3-8EDB-C7E8B9F0E4BE}"/>
              </a:ext>
            </a:extLst>
          </p:cNvPr>
          <p:cNvSpPr txBox="1"/>
          <p:nvPr/>
        </p:nvSpPr>
        <p:spPr>
          <a:xfrm>
            <a:off x="3934966" y="2847250"/>
            <a:ext cx="4824536" cy="60016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context.lineCap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属性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值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67335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FCB7FB-17BE-44E2-8ABE-310B0FCC505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B24D3A-CBD7-488C-A131-31E67E3932D8}"/>
              </a:ext>
            </a:extLst>
          </p:cNvPr>
          <p:cNvSpPr txBox="1"/>
          <p:nvPr/>
        </p:nvSpPr>
        <p:spPr>
          <a:xfrm>
            <a:off x="1143691" y="3908296"/>
            <a:ext cx="747179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lineCap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的取值有</a:t>
            </a:r>
            <a:r>
              <a:rPr lang="x-none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（默认值）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默认效果，无端点，显示直线方形边缘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round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显示圆形端点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square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显示方形端点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711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83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绘制带有样式的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FCB7FB-17BE-44E2-8ABE-310B0FCC5052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12AE32DF-C915-42CA-90C6-0462E3AAA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86" y="2277666"/>
            <a:ext cx="5560452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88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421682"/>
            <a:ext cx="5843569" cy="411151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绘制字母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&lt;canvas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width="300" height="300"&gt;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您的浏览器不支持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Canvas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&lt;/canvas&gt;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创建画布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C:\code\chapter02\demo13.html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D9A046-0E3E-4072-97A3-CDF40100B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</p:spTree>
    <p:extLst>
      <p:ext uri="{BB962C8B-B14F-4D97-AF65-F5344CB8AC3E}">
        <p14:creationId xmlns:p14="http://schemas.microsoft.com/office/powerpoint/2010/main" val="150242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421682"/>
            <a:ext cx="6995697" cy="337284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context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getContext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(10, 10);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定义初始位置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context.lineTo(300, 10);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context.lineWidth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'10';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设置线的宽度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context.strokeStyle = 'red';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设置线的颜色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context.lineCap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'round';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设置线的端点形状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定义描边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设置线的宽度、颜色和端点形状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代码，设置线的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端点形状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D9A046-0E3E-4072-97A3-CDF40100B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</p:spTree>
    <p:extLst>
      <p:ext uri="{BB962C8B-B14F-4D97-AF65-F5344CB8AC3E}">
        <p14:creationId xmlns:p14="http://schemas.microsoft.com/office/powerpoint/2010/main" val="81621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4348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demo13.html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页面显示一条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的线。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D9A046-0E3E-4072-97A3-CDF40100B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设置线条的样式</a:t>
            </a:r>
          </a:p>
        </p:txBody>
      </p:sp>
      <p:pic>
        <p:nvPicPr>
          <p:cNvPr id="15362" name="图片 1">
            <a:extLst>
              <a:ext uri="{FF2B5EF4-FFF2-40B4-BE49-F238E27FC236}">
                <a16:creationId xmlns:a16="http://schemas.microsoft.com/office/drawing/2014/main" id="{10E8C51C-5B2B-49E8-B45A-EE8288666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70" y="2483768"/>
            <a:ext cx="4923845" cy="1594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089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设置线条的路径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的方法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，能够在网页中绘制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图形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187366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357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路径的定义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：路径是所有图形绘制的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连线端点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即可创建一条路径。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路径状态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闭合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，来产生不同的路径样式。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路径的状态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重置路径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闭合路径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116855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823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重置路径的概念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中，即使我们添加再多的连线端点也只能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有一条路径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，如果想要开始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新的路径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就需要使用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beginPath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，当出现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beginPath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时即表示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路径重新开始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194392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两条不同样式的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050461A4-2FF8-4AE8-8847-FF38B64BC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417" y="2134299"/>
            <a:ext cx="432239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9E8D80B-6BEF-4667-9AAA-D663A53E15BE}"/>
              </a:ext>
            </a:extLst>
          </p:cNvPr>
          <p:cNvSpPr txBox="1"/>
          <p:nvPr/>
        </p:nvSpPr>
        <p:spPr>
          <a:xfrm>
            <a:off x="2422798" y="386184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重置路径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982E2D-AC9E-4DED-B2DA-815003F9FEDD}"/>
              </a:ext>
            </a:extLst>
          </p:cNvPr>
          <p:cNvSpPr txBox="1"/>
          <p:nvPr/>
        </p:nvSpPr>
        <p:spPr>
          <a:xfrm>
            <a:off x="7175326" y="3893780"/>
            <a:ext cx="2827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未重置路径</a:t>
            </a: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B972D8F2-A2BE-4555-BE46-C5411DC7F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250" y="2133650"/>
            <a:ext cx="4879459" cy="173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646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205658"/>
            <a:ext cx="5843569" cy="411151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绘制字母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&lt;canvas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width="300" height="300"&gt;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您的浏览器不支持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Canvas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&lt;/canvas&gt;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创建画布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C:\code\chapter02\demo14.html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并绘制不同样式的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301703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205658"/>
            <a:ext cx="8579873" cy="4203843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context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getContext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(10, 10);       	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定义初始位置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context.lineTo(300, 10);      	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context.lineWidth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'5';       	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设置线的宽度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context.strokeStyle = '#00f';   	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设置线的颜色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  	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描边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context.beginPath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  	                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重置路径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(10, 50);         	                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定义初始位置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context.lineTo(300, 50);        	                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context.lineWidth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'10';        	                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设置线的宽度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context.strokeStyle = '#f00';   	                 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设置线的颜色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  	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描边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0802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重置路径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demo14.html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重置路径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125557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4348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demo14.html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页面中显示一条</a:t>
            </a:r>
            <a:r>
              <a:rPr lang="zh-CN" altLang="en-US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蓝色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的线和一条</a:t>
            </a:r>
            <a:r>
              <a:rPr lang="zh-CN" altLang="en-US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红色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的线。</a:t>
            </a:r>
            <a:endParaRPr lang="en-US" altLang="zh-CN" sz="2000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pic>
        <p:nvPicPr>
          <p:cNvPr id="16386" name="图片 1">
            <a:extLst>
              <a:ext uri="{FF2B5EF4-FFF2-40B4-BE49-F238E27FC236}">
                <a16:creationId xmlns:a16="http://schemas.microsoft.com/office/drawing/2014/main" id="{1DD35B57-E405-48C1-8429-7B6B5DC98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69" y="2493689"/>
            <a:ext cx="4877181" cy="1952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011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43482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去掉</a:t>
            </a:r>
            <a:r>
              <a:rPr lang="en-US" altLang="zh-CN" b="1" kern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context.beginPath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刷新页面，页面中显示两条</a:t>
            </a:r>
            <a:r>
              <a:rPr lang="zh-CN" altLang="en-US" sz="2000" kern="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样式相同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的线。</a:t>
            </a:r>
            <a:endParaRPr lang="en-US" altLang="zh-CN" sz="2000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D4B8D1-436C-4179-B6D7-BCA6D8C55008}"/>
              </a:ext>
            </a:extLst>
          </p:cNvPr>
          <p:cNvSpPr txBox="1"/>
          <p:nvPr/>
        </p:nvSpPr>
        <p:spPr>
          <a:xfrm>
            <a:off x="4583038" y="422188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未重置路径</a:t>
            </a:r>
          </a:p>
        </p:txBody>
      </p:sp>
      <p:pic>
        <p:nvPicPr>
          <p:cNvPr id="17410" name="图片 1">
            <a:extLst>
              <a:ext uri="{FF2B5EF4-FFF2-40B4-BE49-F238E27FC236}">
                <a16:creationId xmlns:a16="http://schemas.microsoft.com/office/drawing/2014/main" id="{642930F5-3298-408B-ADBD-DEF333DD2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955" y="2493688"/>
            <a:ext cx="4873895" cy="1728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11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823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闭合路径的概念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闭合路径就是将我们绘制的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开放路径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封闭处理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，多点的路径闭合后会形成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特定的形状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。在画布中使用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closePsth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闭合路径。</a:t>
            </a: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149694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三角形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并填充，效果如图：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CEA6510F-7A20-4876-AAC0-1A11A9E25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13" y="2277666"/>
            <a:ext cx="4093393" cy="1843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CCD2188-D2BE-423C-9A5F-36443CE9EE42}"/>
              </a:ext>
            </a:extLst>
          </p:cNvPr>
          <p:cNvSpPr txBox="1"/>
          <p:nvPr/>
        </p:nvSpPr>
        <p:spPr>
          <a:xfrm>
            <a:off x="2872765" y="4181812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设置闭合路径</a:t>
            </a:r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8E2A4048-AB28-4D6D-B412-F6E6231EC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277" y="2277666"/>
            <a:ext cx="4093393" cy="1843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B836C48-4CCB-4852-BF86-76F4FB75281F}"/>
              </a:ext>
            </a:extLst>
          </p:cNvPr>
          <p:cNvSpPr txBox="1"/>
          <p:nvPr/>
        </p:nvSpPr>
        <p:spPr>
          <a:xfrm>
            <a:off x="7622274" y="4149874"/>
            <a:ext cx="2001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填充图形</a:t>
            </a:r>
          </a:p>
        </p:txBody>
      </p:sp>
    </p:spTree>
    <p:extLst>
      <p:ext uri="{BB962C8B-B14F-4D97-AF65-F5344CB8AC3E}">
        <p14:creationId xmlns:p14="http://schemas.microsoft.com/office/powerpoint/2010/main" val="171263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277666"/>
            <a:ext cx="5843569" cy="411151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绘制字母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M&lt;/title&gt;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&lt;canvas id="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 width="300" height="300"&gt;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您的浏览器不支持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Canvas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&lt;/canvas&gt;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创建画布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C:\code\chapter02\demo15.html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创建画布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139556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239E06-F659-467E-8443-D2B892CD3B85}"/>
              </a:ext>
            </a:extLst>
          </p:cNvPr>
          <p:cNvSpPr txBox="1"/>
          <p:nvPr/>
        </p:nvSpPr>
        <p:spPr>
          <a:xfrm>
            <a:off x="3059949" y="2421682"/>
            <a:ext cx="6779673" cy="2634183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context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getContext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(10, 10);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定义初始位置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context.lineTo(10, 100);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context.lineTo(100, 100);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描边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绘制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</p:spTree>
    <p:extLst>
      <p:ext uri="{BB962C8B-B14F-4D97-AF65-F5344CB8AC3E}">
        <p14:creationId xmlns:p14="http://schemas.microsoft.com/office/powerpoint/2010/main" val="342527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demo15.html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pic>
        <p:nvPicPr>
          <p:cNvPr id="18434" name="图片 1">
            <a:extLst>
              <a:ext uri="{FF2B5EF4-FFF2-40B4-BE49-F238E27FC236}">
                <a16:creationId xmlns:a16="http://schemas.microsoft.com/office/drawing/2014/main" id="{115D0B31-BB6E-4908-BB00-EB3321917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67" y="2421680"/>
            <a:ext cx="4016502" cy="180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11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设置闭合路径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closePath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设置闭合路径。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6747DC-3294-4B3E-9240-68DE3801B56E}"/>
              </a:ext>
            </a:extLst>
          </p:cNvPr>
          <p:cNvSpPr txBox="1"/>
          <p:nvPr/>
        </p:nvSpPr>
        <p:spPr>
          <a:xfrm>
            <a:off x="3059949" y="2421682"/>
            <a:ext cx="6779673" cy="300351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context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getContext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(10, 10);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定义初始位置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context.lineTo(10, 100);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context.lineTo(100, 100);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context.closePath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描边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97184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刷新页面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页面中显示一个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pic>
        <p:nvPicPr>
          <p:cNvPr id="19458" name="图片 1">
            <a:extLst>
              <a:ext uri="{FF2B5EF4-FFF2-40B4-BE49-F238E27FC236}">
                <a16:creationId xmlns:a16="http://schemas.microsoft.com/office/drawing/2014/main" id="{15E8CBF9-615D-4A63-BF94-66E49C71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71" y="2421682"/>
            <a:ext cx="4157955" cy="1872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8916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06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填充图形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demo15.html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fill()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填充图形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AF1690-74BC-4AC0-B53C-E59CBC3DA28C}"/>
              </a:ext>
            </a:extLst>
          </p:cNvPr>
          <p:cNvSpPr txBox="1"/>
          <p:nvPr/>
        </p:nvSpPr>
        <p:spPr>
          <a:xfrm>
            <a:off x="3059949" y="2421682"/>
            <a:ext cx="6779673" cy="337284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&lt;script&gt;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var context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cas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').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getContext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('2d');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context.moveTo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(10, 10); 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定义初始位置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context.lineTo(10, 100);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context.lineTo(100, 100);     	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定义连线端点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context.closePath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            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设置闭合路径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context.fill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                  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填充图形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context.stroke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();                              //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描边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05484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5488EB-6C70-49C9-9B11-36F5B327EF24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1DDA25D-211E-4011-A295-BD9D25E90F3E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3E0652-72CC-4383-A5B7-2B272CFFB36C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07</a:t>
              </a: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8ED8BC86-932D-4D9C-8783-A2E21F8885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5328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刷新页面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页面中显示一个填充颜色为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522EFC-BF69-4B60-AB99-3AA410F25D60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pic>
        <p:nvPicPr>
          <p:cNvPr id="20482" name="图片 1">
            <a:extLst>
              <a:ext uri="{FF2B5EF4-FFF2-40B4-BE49-F238E27FC236}">
                <a16:creationId xmlns:a16="http://schemas.microsoft.com/office/drawing/2014/main" id="{53BE67FE-A80E-4604-BAEA-C8D5FAEC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945" y="2421681"/>
            <a:ext cx="4159949" cy="187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711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197546"/>
            <a:ext cx="10441160" cy="1776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x-none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fillStyle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可以更改填充颜色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x-none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fillStyle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的取值为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十六进制颜色值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英文颜色名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。例如，填充红色，在</a:t>
            </a:r>
            <a:r>
              <a:rPr lang="x-none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fill()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调用前添加如下代码即可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设置线条的路径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9C2B04-D154-4754-BB9C-6BC2B91A5B82}"/>
              </a:ext>
            </a:extLst>
          </p:cNvPr>
          <p:cNvSpPr txBox="1"/>
          <p:nvPr/>
        </p:nvSpPr>
        <p:spPr>
          <a:xfrm>
            <a:off x="2782838" y="3434359"/>
            <a:ext cx="6336704" cy="10251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context.fillStyle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'#f00';		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方式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1</a:t>
            </a:r>
          </a:p>
          <a:p>
            <a:pPr indent="267335"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context.fillStyle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= 'red';		//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方式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2</a:t>
            </a:r>
          </a:p>
          <a:p>
            <a:pPr indent="267335">
              <a:lnSpc>
                <a:spcPct val="150000"/>
              </a:lnSpc>
              <a:defRPr/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70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4221882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2170424"/>
            <a:ext cx="9794240" cy="277153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957209"/>
            <a:ext cx="9001000" cy="1330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本章主要讲解了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新特性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的使用，包括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Storage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视频与音频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地理定位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Canvas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。学习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本章内容后，读者应该能够利用这些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新特性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增强网页的功能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开发奠定基础。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391730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8629</TotalTime>
  <Words>10807</Words>
  <Application>Microsoft Office PowerPoint</Application>
  <PresentationFormat>自定义</PresentationFormat>
  <Paragraphs>1509</Paragraphs>
  <Slides>205</Slides>
  <Notes>38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205</vt:i4>
      </vt:variant>
    </vt:vector>
  </HeadingPairs>
  <TitlesOfParts>
    <vt:vector size="219" baseType="lpstr">
      <vt:lpstr>Source Han Sans K Bold</vt:lpstr>
      <vt:lpstr>思源黑体 CN Medium</vt:lpstr>
      <vt:lpstr>宋体</vt:lpstr>
      <vt:lpstr>微软雅黑</vt:lpstr>
      <vt:lpstr>字魂105号-简雅黑</vt:lpstr>
      <vt:lpstr>字魂58号-创中黑</vt:lpstr>
      <vt:lpstr>Arial</vt:lpstr>
      <vt:lpstr>Calibri</vt:lpstr>
      <vt:lpstr>Courier New</vt:lpstr>
      <vt:lpstr>Impact</vt:lpstr>
      <vt:lpstr>Wingdings</vt:lpstr>
      <vt:lpstr>webwppDefTheme</vt:lpstr>
      <vt:lpstr>Office 主题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韩冬</cp:lastModifiedBy>
  <cp:revision>3000</cp:revision>
  <dcterms:created xsi:type="dcterms:W3CDTF">2020-11-09T06:56:00Z</dcterms:created>
  <dcterms:modified xsi:type="dcterms:W3CDTF">2022-03-17T10:13:33Z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