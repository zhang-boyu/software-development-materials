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0" r:id="rId3"/>
    <p:sldId id="373" r:id="rId5"/>
    <p:sldId id="374" r:id="rId6"/>
    <p:sldId id="340" r:id="rId7"/>
    <p:sldId id="353" r:id="rId8"/>
    <p:sldId id="467" r:id="rId9"/>
    <p:sldId id="468" r:id="rId10"/>
    <p:sldId id="460" r:id="rId11"/>
    <p:sldId id="469" r:id="rId12"/>
    <p:sldId id="407" r:id="rId13"/>
    <p:sldId id="341" r:id="rId14"/>
    <p:sldId id="470" r:id="rId15"/>
    <p:sldId id="458" r:id="rId16"/>
    <p:sldId id="466" r:id="rId17"/>
    <p:sldId id="472" r:id="rId18"/>
    <p:sldId id="479" r:id="rId19"/>
    <p:sldId id="347" r:id="rId20"/>
  </p:sldIdLst>
  <p:sldSz cx="12198350" cy="6858000"/>
  <p:notesSz cx="6858000" cy="9144000"/>
  <p:custDataLst>
    <p:tags r:id="rId2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8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36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为了保护学生信息，对涉及到学生属性信息如姓名、年龄、性别、爱好进行封装，通过调用公有方法输出学生信息。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封装的概念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封装的意义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602413" y="44770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如何实现封装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  <p:bldP spid="4" grpId="0" bldLvl="0" autoUpdateAnimBg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封装的概念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204720"/>
            <a:ext cx="9742805" cy="151257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在Java面向对象的思想中，封装是指一种将类的实现细节包装、隐藏起来的方法。封装可以被认为是一个保护屏障，防止本类的代码和数据被外部类定义的代码随机访问。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在Java中通过private关键字限制对类的成员变量或成员方法的访问，称为封装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。封装性是面向对象的基础，也是面向对象的核心特征之一。类是数据及对数据操作的封装体，类具有封装性。通过封装，将属性私有化，再提供公有方法访问私有属性。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封装的意义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204720"/>
            <a:ext cx="9742805" cy="151257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封装的目的是限制对类的成员的访问，隐藏类的实现细节。类的设计者和使用者考虑的角度不同。设计者考虑如何定义类的属性和方法，如何设置其访问权限等，而类的使用者只需知道类有哪些功能，可以访问哪些属性和方法。只要使用者使用的界面不变，即使类的内部实现细节发生变化，使用者的代码就不需要改变，增强了程序的可维护性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封装的意义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204720"/>
            <a:ext cx="9742805" cy="151257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因此封装具有以下优点：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1. 良好的封装能够减少耦合。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2. 类内部的结构可以自由修改。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3. 可以对成员变量进行更精确的控制。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4. 隐藏信息，实现细节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如何实现封装</a:t>
            </a:r>
            <a:endParaRPr lang="en-US" alt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70305" y="2277110"/>
            <a:ext cx="9742805" cy="151257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>
                <a:latin typeface="宋体" panose="02010600030101010101" pitchFamily="2" charset="-122"/>
                <a:cs typeface="宋体" panose="02010600030101010101" pitchFamily="2" charset="-122"/>
              </a:rPr>
              <a:t>要限制类的外部对类成员的访问，可以使用访问修饰符private修饰属性，让其他类只能通过公共方法访问私有属性。封装的实现步骤如下：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宋体" panose="02010600030101010101" pitchFamily="2" charset="-122"/>
                <a:cs typeface="宋体" panose="02010600030101010101" pitchFamily="2" charset="-122"/>
              </a:rPr>
              <a:t>1.修改属性的访问修饰符来限制对属性的访问。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宋体" panose="02010600030101010101" pitchFamily="2" charset="-122"/>
                <a:cs typeface="宋体" panose="02010600030101010101" pitchFamily="2" charset="-122"/>
              </a:rPr>
              <a:t>例如，Student类中，属性name、age、sex、hobby都设置为private。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宋体" panose="02010600030101010101" pitchFamily="2" charset="-122"/>
                <a:cs typeface="宋体" panose="02010600030101010101" pitchFamily="2" charset="-122"/>
              </a:rPr>
              <a:t>private String name;//属性name设为private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宋体" panose="02010600030101010101" pitchFamily="2" charset="-122"/>
                <a:cs typeface="宋体" panose="02010600030101010101" pitchFamily="2" charset="-122"/>
              </a:rPr>
              <a:t>private int age	//属性age设为private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宋体" panose="02010600030101010101" pitchFamily="2" charset="-122"/>
                <a:cs typeface="宋体" panose="02010600030101010101" pitchFamily="2" charset="-122"/>
              </a:rPr>
              <a:t>private String sex;	//属性 sex设为private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宋体" panose="02010600030101010101" pitchFamily="2" charset="-122"/>
                <a:cs typeface="宋体" panose="02010600030101010101" pitchFamily="2" charset="-122"/>
              </a:rPr>
              <a:t>private String hobby;//属性 hobby设为private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如何实现封装</a:t>
            </a:r>
            <a:endParaRPr lang="en-US" alt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70305" y="2277110"/>
            <a:ext cx="9742805" cy="151257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>
                <a:latin typeface="宋体" panose="02010600030101010101" pitchFamily="2" charset="-122"/>
                <a:cs typeface="宋体" panose="02010600030101010101" pitchFamily="2" charset="-122"/>
              </a:rPr>
              <a:t>要限制类的外部对类成员的访问，可以使用访问修饰符private修饰属性，让其他类只能通过公共方法访问私有属性。封装的实现步骤如下：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宋体" panose="02010600030101010101" pitchFamily="2" charset="-122"/>
                <a:cs typeface="宋体" panose="02010600030101010101" pitchFamily="2" charset="-122"/>
              </a:rPr>
              <a:t>2.为每个私有属性创建一对赋值方法setter( )和取值方法getter( )，用于对属性的访问。例如，为Student类对属性name、age、 sex、hobby创建公共setter( )和getter( )方法：</a:t>
            </a:r>
            <a:r>
              <a:rPr lang="zh-CN" sz="1800">
                <a:latin typeface="宋体" panose="02010600030101010101" pitchFamily="2" charset="-122"/>
                <a:cs typeface="宋体" panose="02010600030101010101" pitchFamily="2" charset="-122"/>
              </a:rPr>
              <a:t>如：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1800">
                <a:latin typeface="宋体" panose="02010600030101010101" pitchFamily="2" charset="-122"/>
                <a:cs typeface="宋体" panose="02010600030101010101" pitchFamily="2" charset="-122"/>
              </a:rPr>
              <a:t>1 public String getName() {</a:t>
            </a:r>
            <a:endParaRPr 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宋体" panose="02010600030101010101" pitchFamily="2" charset="-122"/>
                <a:cs typeface="宋体" panose="02010600030101010101" pitchFamily="2" charset="-122"/>
              </a:rPr>
              <a:t>2  return name;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宋体" panose="02010600030101010101" pitchFamily="2" charset="-122"/>
                <a:cs typeface="宋体" panose="02010600030101010101" pitchFamily="2" charset="-122"/>
              </a:rPr>
              <a:t>3}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宋体" panose="02010600030101010101" pitchFamily="2" charset="-122"/>
                <a:cs typeface="宋体" panose="02010600030101010101" pitchFamily="2" charset="-122"/>
              </a:rPr>
              <a:t>4 public void setName(String name) {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宋体" panose="02010600030101010101" pitchFamily="2" charset="-122"/>
                <a:cs typeface="宋体" panose="02010600030101010101" pitchFamily="2" charset="-122"/>
              </a:rPr>
              <a:t>5 this.name = name;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宋体" panose="02010600030101010101" pitchFamily="2" charset="-122"/>
                <a:cs typeface="宋体" panose="02010600030101010101" pitchFamily="2" charset="-122"/>
              </a:rPr>
              <a:t>6 }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133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为了保护学生信息，对涉及到学生属性信息如姓名、年龄、性别、爱好进行封装，通过调用公有方法输出学生信息。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4105" y="2131695"/>
            <a:ext cx="1074610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结合任务6-5中的描述和知识链接中封装相关知识点可以得到文件6-6所示的代码：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  <a:p>
            <a:r>
              <a:rPr lang="en-US" sz="2000">
                <a:latin typeface="+mn-ea"/>
                <a:ea typeface="+mn-ea"/>
                <a:cs typeface="+mn-ea"/>
                <a:sym typeface="+mn-ea"/>
              </a:rPr>
              <a:t>        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文件6-6 Example04.Java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0845" y="2924810"/>
            <a:ext cx="6329680" cy="46545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1 public class Student {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2	private  int age ;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3	private  String name;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4	private  String sex;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5	private  String hobby;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6	public String getName() {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7		 return name;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8		}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9	public void setName(String name) {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10		 this.name = name;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11	 }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86830" y="3068955"/>
            <a:ext cx="5958205" cy="34766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12	public int getAge() {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13	 return age;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14	  }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15	public void setAge(int age) {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16		if(age &lt; 0){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17		  System.out.println("您输入的年龄有误！");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18		 } 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19        else {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20		   this.age = age;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21		}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22		  }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4105" y="2131695"/>
            <a:ext cx="1074610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结合任务6-5中的描述和知识链接中封装相关知识点可以得到文件6-6所示的代码：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  <a:p>
            <a:r>
              <a:rPr lang="en-US" sz="2000">
                <a:latin typeface="+mn-ea"/>
                <a:ea typeface="+mn-ea"/>
                <a:cs typeface="+mn-ea"/>
                <a:sym typeface="+mn-ea"/>
              </a:rPr>
              <a:t>        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文件6-6 Example04.Java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0845" y="2924810"/>
            <a:ext cx="6329680" cy="46545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23	public String getSex(){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24		   return sex;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25		 }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26		public void setSex(String sex) {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27		  this.sex = sex;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28		 }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29	public void setHobby(String hobby) {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30		 this.hobby = hobby;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31		 }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32	public String getHobby() {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33		 return hobby;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34		     }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70930" y="2492375"/>
            <a:ext cx="5958205" cy="42462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35	public void show() {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36		System.out.println(name+" "+age+" "+sex+" "+hobby);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37	}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38}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39 public class Example04 {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40	public static void main(String[] args) {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41    Student stu=new Student();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42    stu.setName("李华");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43    stu.setAge(18);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44    stu.setSex("男");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45    stu.setHobby("跑步");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46    stu.show();   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47	}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48}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运行结果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华康俪金黑W8(P)" pitchFamily="2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90980" y="2237423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6-6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的运行结果如图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6-6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所示。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4" name="图片 13"/>
          <p:cNvPicPr/>
          <p:nvPr/>
        </p:nvPicPr>
        <p:blipFill>
          <a:blip r:embed="rId3"/>
          <a:stretch>
            <a:fillRect/>
          </a:stretch>
        </p:blipFill>
        <p:spPr>
          <a:xfrm>
            <a:off x="2787015" y="3140710"/>
            <a:ext cx="3847465" cy="94297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147060" y="4580890"/>
            <a:ext cx="3404870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6-6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6-6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说明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4105" y="2131695"/>
            <a:ext cx="1074610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第35行代码也可以这样写：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public void show() {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System.out.println(getName()+" "+getAge()+" "+getSex()+" "+getHobby());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}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当43行代码写成stu.setAge(-18);将出现如图6-7的错误信息：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80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5" y="3860800"/>
            <a:ext cx="6423660" cy="12922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3362960" y="5228908"/>
            <a:ext cx="5080000" cy="5530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6-7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年龄小于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说明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890" y="2564765"/>
            <a:ext cx="1074610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latinLnBrk="0">
              <a:lnSpc>
                <a:spcPct val="150000"/>
              </a:lnSpc>
            </a:pP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    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在实际开发中，如果成员变量和局部变量的名称设置成一样的，会导致成员变量和局部变量的名称冲突，所以通常会使用this指代当前对象，通过this访问当前对象的成员变量。this关键字会在任务6-7中详细介绍。</a:t>
            </a:r>
            <a:endParaRPr sz="24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作业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890" y="2564765"/>
            <a:ext cx="1074610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latinLnBrk="0">
              <a:lnSpc>
                <a:spcPct val="150000"/>
              </a:lnSpc>
            </a:pP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    1</a:t>
            </a:r>
            <a:r>
              <a:rPr lang="zh-CN" altLang="en-US" sz="2400">
                <a:latin typeface="+mn-ea"/>
                <a:ea typeface="+mn-ea"/>
                <a:cs typeface="+mn-ea"/>
                <a:sym typeface="+mn-ea"/>
              </a:rPr>
              <a:t>、</a:t>
            </a:r>
            <a:r>
              <a:rPr lang="zh-CN" altLang="en-US" sz="2400">
                <a:sym typeface="+mn-ea"/>
              </a:rPr>
              <a:t>定义一个狗的类，包括属性：名字，年龄；方法：</a:t>
            </a:r>
            <a:r>
              <a:rPr lang="en-US" altLang="zh-CN" sz="2400">
                <a:sym typeface="+mn-ea"/>
              </a:rPr>
              <a:t>1</a:t>
            </a:r>
            <a:r>
              <a:rPr lang="zh-CN" altLang="en-US" sz="2400">
                <a:sym typeface="+mn-ea"/>
              </a:rPr>
              <a:t>）输出狗的信息的方法；</a:t>
            </a:r>
            <a:r>
              <a:rPr lang="en-US" altLang="zh-CN" sz="2400">
                <a:sym typeface="+mn-ea"/>
              </a:rPr>
              <a:t>2</a:t>
            </a:r>
            <a:r>
              <a:rPr lang="zh-CN" altLang="en-US" sz="2400">
                <a:sym typeface="+mn-ea"/>
              </a:rPr>
              <a:t>）狗能跳多远的方法；</a:t>
            </a:r>
            <a:endParaRPr lang="zh-CN" altLang="en-US" sz="2400">
              <a:sym typeface="+mn-ea"/>
            </a:endParaRPr>
          </a:p>
          <a:p>
            <a:pPr marL="0" indent="0" latinLnBrk="0">
              <a:lnSpc>
                <a:spcPct val="150000"/>
              </a:lnSpc>
            </a:pPr>
            <a:r>
              <a:rPr lang="en-US" altLang="zh-CN" sz="2400">
                <a:sym typeface="+mn-ea"/>
              </a:rPr>
              <a:t>      2</a:t>
            </a:r>
            <a:r>
              <a:rPr lang="zh-CN" altLang="en-US" sz="2400">
                <a:sym typeface="+mn-ea"/>
              </a:rPr>
              <a:t>、定义一个测试类：输出结果如下</a:t>
            </a:r>
            <a:r>
              <a:rPr lang="en-US" altLang="zh-CN" sz="2400">
                <a:sym typeface="+mn-ea"/>
              </a:rPr>
              <a:t>:</a:t>
            </a:r>
            <a:r>
              <a:rPr lang="zh-CN" altLang="en-US" sz="2400">
                <a:sym typeface="+mn-ea"/>
              </a:rPr>
              <a:t>花花今年</a:t>
            </a:r>
            <a:r>
              <a:rPr lang="en-US" altLang="zh-CN" sz="2400">
                <a:sym typeface="+mn-ea"/>
              </a:rPr>
              <a:t>3</a:t>
            </a:r>
            <a:r>
              <a:rPr lang="zh-CN" altLang="en-US" sz="2400">
                <a:sym typeface="+mn-ea"/>
              </a:rPr>
              <a:t>岁了，能跳</a:t>
            </a:r>
            <a:r>
              <a:rPr lang="en-US" altLang="zh-CN" sz="2400">
                <a:sym typeface="+mn-ea"/>
              </a:rPr>
              <a:t>1.5</a:t>
            </a:r>
            <a:r>
              <a:rPr lang="zh-CN" altLang="en-US" sz="2400">
                <a:sym typeface="+mn-ea"/>
              </a:rPr>
              <a:t>米。</a:t>
            </a:r>
            <a:endParaRPr sz="24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2819</Words>
  <Application>WPS 演示</Application>
  <PresentationFormat>自定义</PresentationFormat>
  <Paragraphs>239</Paragraphs>
  <Slides>17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黑体</vt:lpstr>
      <vt:lpstr>Times New Roman</vt:lpstr>
      <vt:lpstr>Arial Unicode MS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542</cp:revision>
  <dcterms:created xsi:type="dcterms:W3CDTF">2015-03-26T06:11:00Z</dcterms:created>
  <dcterms:modified xsi:type="dcterms:W3CDTF">2025-07-07T01:35:08Z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5D6E6628B123460CB464603F4E8997AA_13</vt:lpwstr>
  </property>
</Properties>
</file>