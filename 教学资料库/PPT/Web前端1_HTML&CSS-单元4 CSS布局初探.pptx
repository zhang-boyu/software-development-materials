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361" r:id="rId3"/>
    <p:sldId id="370" r:id="rId4"/>
    <p:sldId id="362" r:id="rId5"/>
    <p:sldId id="363" r:id="rId6"/>
    <p:sldId id="364" r:id="rId7"/>
    <p:sldId id="371" r:id="rId8"/>
    <p:sldId id="365" r:id="rId9"/>
    <p:sldId id="366" r:id="rId10"/>
    <p:sldId id="367" r:id="rId11"/>
    <p:sldId id="373" r:id="rId12"/>
    <p:sldId id="378" r:id="rId13"/>
    <p:sldId id="377" r:id="rId14"/>
    <p:sldId id="376" r:id="rId15"/>
    <p:sldId id="375" r:id="rId16"/>
    <p:sldId id="374" r:id="rId17"/>
    <p:sldId id="372" r:id="rId18"/>
    <p:sldId id="368" r:id="rId19"/>
    <p:sldId id="299" r:id="rId2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6">
          <p15:clr>
            <a:srgbClr val="A4A3A4"/>
          </p15:clr>
        </p15:guide>
        <p15:guide id="2" orient="horz" pos="346">
          <p15:clr>
            <a:srgbClr val="A4A3A4"/>
          </p15:clr>
        </p15:guide>
        <p15:guide id="3" orient="horz" pos="3702">
          <p15:clr>
            <a:srgbClr val="A4A3A4"/>
          </p15:clr>
        </p15:guide>
        <p15:guide id="4" orient="horz" pos="572">
          <p15:clr>
            <a:srgbClr val="A4A3A4"/>
          </p15:clr>
        </p15:guide>
        <p15:guide id="5" pos="2880">
          <p15:clr>
            <a:srgbClr val="A4A3A4"/>
          </p15:clr>
        </p15:guide>
        <p15:guide id="6" pos="272">
          <p15:clr>
            <a:srgbClr val="A4A3A4"/>
          </p15:clr>
        </p15:guide>
        <p15:guide id="7" pos="5488">
          <p15:clr>
            <a:srgbClr val="A4A3A4"/>
          </p15:clr>
        </p15:guide>
        <p15:guide id="8" pos="3833">
          <p15:clr>
            <a:srgbClr val="A4A3A4"/>
          </p15:clr>
        </p15:guide>
        <p15:guide id="9" pos="4180">
          <p15:clr>
            <a:srgbClr val="A4A3A4"/>
          </p15:clr>
        </p15:guide>
        <p15:guide id="10" pos="154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2802F"/>
    <a:srgbClr val="FFFFFF"/>
    <a:srgbClr val="B1D3EC"/>
    <a:srgbClr val="0D0D0D"/>
    <a:srgbClr val="3A383B"/>
    <a:srgbClr val="07ABB5"/>
    <a:srgbClr val="3836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5"/>
    <p:restoredTop sz="94660"/>
  </p:normalViewPr>
  <p:slideViewPr>
    <p:cSldViewPr snapToGrid="0" showGuides="1">
      <p:cViewPr varScale="1">
        <p:scale>
          <a:sx n="60" d="100"/>
          <a:sy n="60" d="100"/>
        </p:scale>
        <p:origin x="1504" y="36"/>
      </p:cViewPr>
      <p:guideLst>
        <p:guide orient="horz" pos="2146"/>
        <p:guide orient="horz" pos="346"/>
        <p:guide orient="horz" pos="3702"/>
        <p:guide orient="horz" pos="572"/>
        <p:guide pos="2880"/>
        <p:guide pos="272"/>
        <p:guide pos="5488"/>
        <p:guide pos="3833"/>
        <p:guide pos="4180"/>
        <p:guide pos="15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2018/7/20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665565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2839001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4237432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2256751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3835534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3189544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2743583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2415643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1130607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711060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3039458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420277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316465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4185122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725852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3420823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lang="zh-CN" altLang="en-US"/>
              <a:t>a</a:t>
            </a:r>
          </a:p>
        </p:txBody>
      </p:sp>
    </p:spTree>
    <p:extLst>
      <p:ext uri="{BB962C8B-B14F-4D97-AF65-F5344CB8AC3E}">
        <p14:creationId xmlns:p14="http://schemas.microsoft.com/office/powerpoint/2010/main" val="1170875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noProof="1" smtClean="0"/>
              <a:t>单击此处编辑母版标题样式</a:t>
            </a:r>
            <a:endParaRPr lang="en-US"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050" name="图片 6"/>
          <p:cNvPicPr>
            <a:picLocks noChangeAspect="1"/>
          </p:cNvPicPr>
          <p:nvPr userDrawn="1"/>
        </p:nvPicPr>
        <p:blipFill>
          <a:blip r:embed="rId2"/>
          <a:stretch>
            <a:fillRect/>
          </a:stretch>
        </p:blipFill>
        <p:spPr>
          <a:xfrm>
            <a:off x="0" y="0"/>
            <a:ext cx="9144000" cy="6858000"/>
          </a:xfrm>
          <a:prstGeom prst="rect">
            <a:avLst/>
          </a:prstGeom>
          <a:noFill/>
          <a:ln w="9525">
            <a:noFill/>
          </a:ln>
        </p:spPr>
      </p:pic>
      <p:sp>
        <p:nvSpPr>
          <p:cNvPr id="8"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155751C-E6EA-4D38-9B67-2E7BFD8C4C1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pic>
        <p:nvPicPr>
          <p:cNvPr id="3074" name="图片 6"/>
          <p:cNvPicPr>
            <a:picLocks noChangeAspect="1"/>
          </p:cNvPicPr>
          <p:nvPr userDrawn="1"/>
        </p:nvPicPr>
        <p:blipFill>
          <a:blip r:embed="rId2"/>
          <a:stretch>
            <a:fillRect/>
          </a:stretch>
        </p:blipFill>
        <p:spPr>
          <a:xfrm>
            <a:off x="0" y="0"/>
            <a:ext cx="9144000" cy="6858000"/>
          </a:xfrm>
          <a:prstGeom prst="rect">
            <a:avLst/>
          </a:prstGeom>
          <a:noFill/>
          <a:ln w="9525">
            <a:noFill/>
          </a:ln>
        </p:spPr>
      </p:pic>
      <p:sp>
        <p:nvSpPr>
          <p:cNvPr id="8"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2D88907-6C4F-4C89-B6CA-A82B149232D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smtClean="0"/>
              <a:t>单击此处编辑母版标题样式</a:t>
            </a:r>
            <a:endParaRPr lang="en-US" noProof="1"/>
          </a:p>
        </p:txBody>
      </p:sp>
      <p:sp>
        <p:nvSpPr>
          <p:cNvPr id="3" name="Content Placeholder 2"/>
          <p:cNvSpPr>
            <a:spLocks noGrp="1"/>
          </p:cNvSpPr>
          <p:nvPr>
            <p:ph sz="half" idx="1"/>
          </p:nvPr>
        </p:nvSpPr>
        <p:spPr>
          <a:xfrm>
            <a:off x="6286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noProof="1"/>
          </a:p>
        </p:txBody>
      </p:sp>
      <p:sp>
        <p:nvSpPr>
          <p:cNvPr id="4" name="Content Placeholder 3"/>
          <p:cNvSpPr>
            <a:spLocks noGrp="1"/>
          </p:cNvSpPr>
          <p:nvPr>
            <p:ph sz="half" idx="2"/>
          </p:nvPr>
        </p:nvSpPr>
        <p:spPr>
          <a:xfrm>
            <a:off x="46291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noProof="1" smtClean="0"/>
              <a:t>单击此处编辑母版标题样式</a:t>
            </a:r>
            <a:endParaRPr lang="en-US" noProof="1"/>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smtClean="0"/>
              <a:t>单击此处编辑母版标题样式</a:t>
            </a:r>
            <a:endParaRPr 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noProof="1" smtClean="0"/>
              <a:t>单击此处编辑母版标题样式</a:t>
            </a:r>
            <a:endParaRPr lang="en-US" noProof="1"/>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noProof="1" smtClean="0"/>
              <a:t>单击此处编辑母版标题样式</a:t>
            </a:r>
            <a:endParaRPr lang="en-US" noProof="1"/>
          </a:p>
        </p:txBody>
      </p:sp>
      <p:sp>
        <p:nvSpPr>
          <p:cNvPr id="3" name="Picture Placeholder 2"/>
          <p:cNvSpPr>
            <a:spLocks noGrp="1" noChangeAspect="1"/>
          </p:cNvSpPr>
          <p:nvPr>
            <p:ph type="pic" idx="1"/>
          </p:nvPr>
        </p:nvSpPr>
        <p:spPr>
          <a:xfrm>
            <a:off x="3887391" y="987426"/>
            <a:ext cx="462915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smtClean="0"/>
              <a:t>单击此处编辑母版标题样式</a:t>
            </a:r>
            <a:endParaRPr lang="en-US" noProof="1"/>
          </a:p>
        </p:txBody>
      </p:sp>
      <p:sp>
        <p:nvSpPr>
          <p:cNvPr id="3" name="Vertical Text Placeholder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noProof="1" smtClean="0"/>
              <a:t>单击此处编辑母版标题样式</a:t>
            </a:r>
            <a:endParaRPr lang="en-US" noProof="1"/>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365125"/>
            <a:ext cx="7886700" cy="1325563"/>
          </a:xfrm>
          <a:prstGeom prst="rect">
            <a:avLst/>
          </a:prstGeom>
          <a:noFill/>
          <a:ln w="9525">
            <a:noFill/>
          </a:ln>
        </p:spPr>
        <p:txBody>
          <a:bodyPr anchor="ctr"/>
          <a:lstStyle/>
          <a:p>
            <a:pPr lvl="0"/>
            <a:r>
              <a:rPr lang="zh-CN" altLang="en-US" dirty="0"/>
              <a:t>单击此处编辑母版标题样式</a:t>
            </a:r>
            <a:endParaRPr lang="en-US" altLang="zh-CN" dirty="0"/>
          </a:p>
        </p:txBody>
      </p:sp>
      <p:sp>
        <p:nvSpPr>
          <p:cNvPr id="1027" name="Text Placeholder 2"/>
          <p:cNvSpPr>
            <a:spLocks noGrp="1"/>
          </p:cNvSpPr>
          <p:nvPr>
            <p:ph type="body"/>
          </p:nvPr>
        </p:nvSpPr>
        <p:spPr>
          <a:xfrm>
            <a:off x="628650" y="1825625"/>
            <a:ext cx="78867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buFontTx/>
              <a:buNone/>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buFontTx/>
              <a:buNone/>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eaLnBrk="1" hangingPunct="1">
              <a:buFontTx/>
              <a:buNone/>
              <a:defRPr sz="1200" smtClean="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1CD871C-C23A-432E-873E-C530F1019FA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2349500"/>
            <a:ext cx="9144000" cy="2159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2890838" y="3429000"/>
            <a:ext cx="625316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图片 1"/>
          <p:cNvPicPr>
            <a:picLocks noChangeAspect="1"/>
          </p:cNvPicPr>
          <p:nvPr/>
        </p:nvPicPr>
        <p:blipFill>
          <a:blip r:embed="rId2"/>
          <a:stretch>
            <a:fillRect/>
          </a:stretch>
        </p:blipFill>
        <p:spPr>
          <a:xfrm>
            <a:off x="90488" y="2514600"/>
            <a:ext cx="1828800" cy="1828800"/>
          </a:xfrm>
          <a:prstGeom prst="rect">
            <a:avLst/>
          </a:prstGeom>
          <a:noFill/>
          <a:ln w="9525">
            <a:noFill/>
          </a:ln>
        </p:spPr>
      </p:pic>
      <p:sp>
        <p:nvSpPr>
          <p:cNvPr id="16" name="文本框 15"/>
          <p:cNvSpPr txBox="1"/>
          <p:nvPr/>
        </p:nvSpPr>
        <p:spPr>
          <a:xfrm>
            <a:off x="2690037" y="2720975"/>
            <a:ext cx="6258701" cy="1200329"/>
          </a:xfrm>
          <a:prstGeom prst="rect">
            <a:avLst/>
          </a:prstGeom>
          <a:noFill/>
          <a:ln w="9525">
            <a:noFill/>
          </a:ln>
        </p:spPr>
        <p:txBody>
          <a:bodyPr wrap="square">
            <a:spAutoFit/>
          </a:bodyPr>
          <a:lstStyle/>
          <a:p>
            <a:pPr algn="r" eaLnBrk="1" hangingPunct="1"/>
            <a:r>
              <a:rPr lang="en-US" altLang="zh-CN" sz="3200" dirty="0" smtClean="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p>
          <a:p>
            <a:pPr algn="r" eaLnBrk="1" hangingPunct="1"/>
            <a:endParaRPr lang="zh-CN" altLang="en-US" sz="40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endParaRPr>
          </a:p>
        </p:txBody>
      </p:sp>
      <p:sp>
        <p:nvSpPr>
          <p:cNvPr id="17" name="矩形 16"/>
          <p:cNvSpPr/>
          <p:nvPr/>
        </p:nvSpPr>
        <p:spPr>
          <a:xfrm>
            <a:off x="5045957" y="3555036"/>
            <a:ext cx="3817071" cy="584775"/>
          </a:xfrm>
          <a:prstGeom prst="rect">
            <a:avLst/>
          </a:prstGeom>
        </p:spPr>
        <p:txBody>
          <a:bodyPr wrap="none">
            <a:spAutoFit/>
          </a:bodyPr>
          <a:lstStyle/>
          <a:p>
            <a:pPr algn="r" eaLnBrk="1" hangingPunct="1"/>
            <a:r>
              <a:rPr lang="zh-CN" altLang="en-US"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单元</a:t>
            </a:r>
            <a:r>
              <a:rPr lang="en-US" altLang="zh-CN"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4 CSS</a:t>
            </a:r>
            <a:r>
              <a:rPr lang="zh-CN" altLang="en-US"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布局初探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2" fill="hold" nodeType="withEffect">
                                  <p:stCondLst>
                                    <p:cond delay="250"/>
                                  </p:stCondLst>
                                  <p:childTnLst>
                                    <p:set>
                                      <p:cBhvr>
                                        <p:cTn id="9" dur="1" fill="hold">
                                          <p:stCondLst>
                                            <p:cond delay="0"/>
                                          </p:stCondLst>
                                        </p:cTn>
                                        <p:tgtEl>
                                          <p:spTgt spid="14"/>
                                        </p:tgtEl>
                                        <p:attrNameLst>
                                          <p:attrName>style.visibility</p:attrName>
                                        </p:attrNameLst>
                                      </p:cBhvr>
                                      <p:to>
                                        <p:strVal val="visible"/>
                                      </p:to>
                                    </p:set>
                                    <p:animEffect transition="in" filter="wipe(right)">
                                      <p:cBhvr>
                                        <p:cTn id="10" dur="500"/>
                                        <p:tgtEl>
                                          <p:spTgt spid="14"/>
                                        </p:tgtEl>
                                      </p:cBhvr>
                                    </p:animEffect>
                                  </p:childTnLst>
                                </p:cTn>
                              </p:par>
                              <p:par>
                                <p:cTn id="11" presetID="42" presetClass="entr" presetSubtype="0" fill="hold" grpId="0" nodeType="withEffect">
                                  <p:stCondLst>
                                    <p:cond delay="5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anim calcmode="lin" valueType="num">
                                      <p:cBhvr>
                                        <p:cTn id="14" dur="500" fill="hold"/>
                                        <p:tgtEl>
                                          <p:spTgt spid="16"/>
                                        </p:tgtEl>
                                        <p:attrNameLst>
                                          <p:attrName>ppt_x</p:attrName>
                                        </p:attrNameLst>
                                      </p:cBhvr>
                                      <p:tavLst>
                                        <p:tav tm="0">
                                          <p:val>
                                            <p:strVal val="#ppt_x"/>
                                          </p:val>
                                        </p:tav>
                                        <p:tav tm="100000">
                                          <p:val>
                                            <p:strVal val="#ppt_x"/>
                                          </p:val>
                                        </p:tav>
                                      </p:tavLst>
                                    </p:anim>
                                    <p:anim calcmode="lin" valueType="num">
                                      <p:cBhvr>
                                        <p:cTn id="1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46"/>
          <p:cNvGrpSpPr>
            <a:grpSpLocks/>
          </p:cNvGrpSpPr>
          <p:nvPr/>
        </p:nvGrpSpPr>
        <p:grpSpPr bwMode="auto">
          <a:xfrm>
            <a:off x="0" y="284163"/>
            <a:ext cx="1692275" cy="530225"/>
            <a:chOff x="0" y="284389"/>
            <a:chExt cx="1692275" cy="529772"/>
          </a:xfrm>
        </p:grpSpPr>
        <p:sp>
          <p:nvSpPr>
            <p:cNvPr id="40" name="矩形 39"/>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41" name="矩形 40"/>
            <p:cNvSpPr/>
            <p:nvPr/>
          </p:nvSpPr>
          <p:spPr>
            <a:xfrm>
              <a:off x="1577975" y="284389"/>
              <a:ext cx="114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42" name="矩形 41"/>
          <p:cNvSpPr/>
          <p:nvPr/>
        </p:nvSpPr>
        <p:spPr>
          <a:xfrm>
            <a:off x="8720138" y="6043613"/>
            <a:ext cx="423862"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3" name="直接连接符 42"/>
          <p:cNvCxnSpPr/>
          <p:nvPr/>
        </p:nvCxnSpPr>
        <p:spPr>
          <a:xfrm>
            <a:off x="2837588" y="1735138"/>
            <a:ext cx="0" cy="3387725"/>
          </a:xfrm>
          <a:prstGeom prst="line">
            <a:avLst/>
          </a:prstGeom>
          <a:ln>
            <a:solidFill>
              <a:srgbClr val="0174AB"/>
            </a:solidFill>
            <a:prstDash val="dash"/>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212687" y="676164"/>
            <a:ext cx="3166848" cy="461665"/>
          </a:xfrm>
          <a:prstGeom prst="rect">
            <a:avLst/>
          </a:prstGeom>
          <a:noFill/>
        </p:spPr>
        <p:txBody>
          <a:bodyPr wrap="square">
            <a:spAutoFit/>
          </a:bodyPr>
          <a:lstStyle/>
          <a:p>
            <a:pPr eaLnBrk="1" fontAlgn="auto" hangingPunct="1">
              <a:spcBef>
                <a:spcPts val="0"/>
              </a:spcBef>
              <a:spcAft>
                <a:spcPts val="0"/>
              </a:spcAft>
              <a:defRPr/>
            </a:pP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任务</a:t>
            </a:r>
            <a:r>
              <a:rPr lang="en-US" altLang="zh-CN" sz="2400" b="1" spc="300" dirty="0">
                <a:solidFill>
                  <a:schemeClr val="tx1">
                    <a:lumMod val="85000"/>
                    <a:lumOff val="15000"/>
                  </a:schemeClr>
                </a:solidFill>
                <a:latin typeface="微软雅黑" panose="020B0503020204020204" pitchFamily="34" charset="-122"/>
                <a:ea typeface="微软雅黑" panose="020B0503020204020204" pitchFamily="34" charset="-122"/>
              </a:rPr>
              <a:t>4-1 </a:t>
            </a: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绝对定位</a:t>
            </a:r>
            <a:endParaRPr lang="zh-HK"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3212687" y="1543854"/>
            <a:ext cx="3166848" cy="461665"/>
          </a:xfrm>
          <a:prstGeom prst="rect">
            <a:avLst/>
          </a:prstGeom>
          <a:noFill/>
        </p:spPr>
        <p:txBody>
          <a:bodyPr wrap="square">
            <a:spAutoFit/>
          </a:bodyPr>
          <a:lstStyle/>
          <a:p>
            <a:pPr eaLnBrk="1" fontAlgn="auto" hangingPunct="1">
              <a:spcBef>
                <a:spcPts val="0"/>
              </a:spcBef>
              <a:spcAft>
                <a:spcPts val="0"/>
              </a:spcAft>
              <a:defRPr/>
            </a:pPr>
            <a:r>
              <a:rPr lang="zh-CN" altLang="en-US" sz="2400" b="1" spc="300" dirty="0">
                <a:solidFill>
                  <a:srgbClr val="00B050"/>
                </a:solidFill>
                <a:latin typeface="微软雅黑" panose="020B0503020204020204" pitchFamily="34" charset="-122"/>
                <a:ea typeface="微软雅黑" panose="020B0503020204020204" pitchFamily="34" charset="-122"/>
              </a:rPr>
              <a:t>任务</a:t>
            </a:r>
            <a:r>
              <a:rPr lang="en-US" altLang="zh-CN" sz="2400" b="1" spc="300" dirty="0">
                <a:solidFill>
                  <a:srgbClr val="00B050"/>
                </a:solidFill>
                <a:latin typeface="微软雅黑" panose="020B0503020204020204" pitchFamily="34" charset="-122"/>
                <a:ea typeface="微软雅黑" panose="020B0503020204020204" pitchFamily="34" charset="-122"/>
              </a:rPr>
              <a:t>4-2 </a:t>
            </a:r>
            <a:r>
              <a:rPr lang="zh-CN" altLang="en-US" sz="2400" b="1" spc="300" dirty="0">
                <a:solidFill>
                  <a:srgbClr val="00B050"/>
                </a:solidFill>
                <a:latin typeface="微软雅黑" panose="020B0503020204020204" pitchFamily="34" charset="-122"/>
                <a:ea typeface="微软雅黑" panose="020B0503020204020204" pitchFamily="34" charset="-122"/>
              </a:rPr>
              <a:t>相对定位</a:t>
            </a:r>
            <a:endParaRPr lang="zh-HK" altLang="en-US" sz="2400" b="1" spc="300" dirty="0">
              <a:solidFill>
                <a:srgbClr val="00B050"/>
              </a:solidFill>
              <a:latin typeface="微软雅黑" panose="020B0503020204020204" pitchFamily="34" charset="-122"/>
              <a:ea typeface="微软雅黑" panose="020B0503020204020204" pitchFamily="34" charset="-122"/>
            </a:endParaRPr>
          </a:p>
        </p:txBody>
      </p:sp>
      <p:grpSp>
        <p:nvGrpSpPr>
          <p:cNvPr id="46" name="组合 18"/>
          <p:cNvGrpSpPr>
            <a:grpSpLocks/>
          </p:cNvGrpSpPr>
          <p:nvPr/>
        </p:nvGrpSpPr>
        <p:grpSpPr bwMode="auto">
          <a:xfrm>
            <a:off x="692735" y="2450037"/>
            <a:ext cx="1411944" cy="1407337"/>
            <a:chOff x="1709739" y="2636838"/>
            <a:chExt cx="1590160" cy="1584325"/>
          </a:xfrm>
        </p:grpSpPr>
        <p:sp>
          <p:nvSpPr>
            <p:cNvPr id="47" name="Freeform 6"/>
            <p:cNvSpPr>
              <a:spLocks/>
            </p:cNvSpPr>
            <p:nvPr/>
          </p:nvSpPr>
          <p:spPr bwMode="auto">
            <a:xfrm>
              <a:off x="1709739" y="2636838"/>
              <a:ext cx="1468102" cy="1467130"/>
            </a:xfrm>
            <a:custGeom>
              <a:avLst/>
              <a:gdLst>
                <a:gd name="T0" fmla="*/ 2147483646 w 1276"/>
                <a:gd name="T1" fmla="*/ 2147483646 h 1274"/>
                <a:gd name="T2" fmla="*/ 2147483646 w 1276"/>
                <a:gd name="T3" fmla="*/ 2147483646 h 1274"/>
                <a:gd name="T4" fmla="*/ 2147483646 w 1276"/>
                <a:gd name="T5" fmla="*/ 2147483646 h 1274"/>
                <a:gd name="T6" fmla="*/ 2147483646 w 1276"/>
                <a:gd name="T7" fmla="*/ 2147483646 h 1274"/>
                <a:gd name="T8" fmla="*/ 2147483646 w 1276"/>
                <a:gd name="T9" fmla="*/ 2147483646 h 1274"/>
                <a:gd name="T10" fmla="*/ 2147483646 w 1276"/>
                <a:gd name="T11" fmla="*/ 2147483646 h 1274"/>
                <a:gd name="T12" fmla="*/ 2147483646 w 1276"/>
                <a:gd name="T13" fmla="*/ 2147483646 h 1274"/>
                <a:gd name="T14" fmla="*/ 0 w 1276"/>
                <a:gd name="T15" fmla="*/ 2147483646 h 1274"/>
                <a:gd name="T16" fmla="*/ 0 w 1276"/>
                <a:gd name="T17" fmla="*/ 2147483646 h 1274"/>
                <a:gd name="T18" fmla="*/ 2147483646 w 1276"/>
                <a:gd name="T19" fmla="*/ 0 h 1274"/>
                <a:gd name="T20" fmla="*/ 2147483646 w 1276"/>
                <a:gd name="T21" fmla="*/ 0 h 1274"/>
                <a:gd name="T22" fmla="*/ 2147483646 w 1276"/>
                <a:gd name="T23" fmla="*/ 2147483646 h 1274"/>
                <a:gd name="T24" fmla="*/ 2147483646 w 1276"/>
                <a:gd name="T25" fmla="*/ 2147483646 h 1274"/>
                <a:gd name="T26" fmla="*/ 2147483646 w 1276"/>
                <a:gd name="T27" fmla="*/ 2147483646 h 1274"/>
                <a:gd name="T28" fmla="*/ 2147483646 w 1276"/>
                <a:gd name="T29" fmla="*/ 2147483646 h 1274"/>
                <a:gd name="T30" fmla="*/ 2147483646 w 1276"/>
                <a:gd name="T31" fmla="*/ 2147483646 h 1274"/>
                <a:gd name="T32" fmla="*/ 2147483646 w 1276"/>
                <a:gd name="T33" fmla="*/ 2147483646 h 1274"/>
                <a:gd name="T34" fmla="*/ 2147483646 w 1276"/>
                <a:gd name="T35" fmla="*/ 2147483646 h 1274"/>
                <a:gd name="T36" fmla="*/ 2147483646 w 1276"/>
                <a:gd name="T37" fmla="*/ 2147483646 h 1274"/>
                <a:gd name="T38" fmla="*/ 2147483646 w 1276"/>
                <a:gd name="T39" fmla="*/ 2147483646 h 1274"/>
                <a:gd name="T40" fmla="*/ 2147483646 w 1276"/>
                <a:gd name="T41" fmla="*/ 2147483646 h 1274"/>
                <a:gd name="T42" fmla="*/ 2147483646 w 1276"/>
                <a:gd name="T43" fmla="*/ 2147483646 h 1274"/>
                <a:gd name="T44" fmla="*/ 2147483646 w 1276"/>
                <a:gd name="T45" fmla="*/ 2147483646 h 12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76"/>
                <a:gd name="T70" fmla="*/ 0 h 1274"/>
                <a:gd name="T71" fmla="*/ 1276 w 1276"/>
                <a:gd name="T72" fmla="*/ 1274 h 12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 name="Freeform 7"/>
            <p:cNvSpPr>
              <a:spLocks noEditPoints="1"/>
            </p:cNvSpPr>
            <p:nvPr/>
          </p:nvSpPr>
          <p:spPr bwMode="auto">
            <a:xfrm>
              <a:off x="2571440" y="3653665"/>
              <a:ext cx="569443" cy="567498"/>
            </a:xfrm>
            <a:custGeom>
              <a:avLst/>
              <a:gdLst>
                <a:gd name="T0" fmla="*/ 2147483646 w 495"/>
                <a:gd name="T1" fmla="*/ 2147483646 h 493"/>
                <a:gd name="T2" fmla="*/ 2147483646 w 495"/>
                <a:gd name="T3" fmla="*/ 2147483646 h 493"/>
                <a:gd name="T4" fmla="*/ 2147483646 w 495"/>
                <a:gd name="T5" fmla="*/ 2147483646 h 493"/>
                <a:gd name="T6" fmla="*/ 2147483646 w 495"/>
                <a:gd name="T7" fmla="*/ 2147483646 h 493"/>
                <a:gd name="T8" fmla="*/ 2147483646 w 495"/>
                <a:gd name="T9" fmla="*/ 2147483646 h 493"/>
                <a:gd name="T10" fmla="*/ 2147483646 w 495"/>
                <a:gd name="T11" fmla="*/ 2147483646 h 493"/>
                <a:gd name="T12" fmla="*/ 2147483646 w 495"/>
                <a:gd name="T13" fmla="*/ 2147483646 h 493"/>
                <a:gd name="T14" fmla="*/ 2147483646 w 495"/>
                <a:gd name="T15" fmla="*/ 2147483646 h 493"/>
                <a:gd name="T16" fmla="*/ 2147483646 w 495"/>
                <a:gd name="T17" fmla="*/ 2147483646 h 493"/>
                <a:gd name="T18" fmla="*/ 2147483646 w 495"/>
                <a:gd name="T19" fmla="*/ 2147483646 h 493"/>
                <a:gd name="T20" fmla="*/ 2147483646 w 495"/>
                <a:gd name="T21" fmla="*/ 2147483646 h 493"/>
                <a:gd name="T22" fmla="*/ 2147483646 w 495"/>
                <a:gd name="T23" fmla="*/ 2147483646 h 493"/>
                <a:gd name="T24" fmla="*/ 2147483646 w 495"/>
                <a:gd name="T25" fmla="*/ 2147483646 h 493"/>
                <a:gd name="T26" fmla="*/ 2147483646 w 495"/>
                <a:gd name="T27" fmla="*/ 2147483646 h 493"/>
                <a:gd name="T28" fmla="*/ 2147483646 w 495"/>
                <a:gd name="T29" fmla="*/ 2147483646 h 493"/>
                <a:gd name="T30" fmla="*/ 2147483646 w 495"/>
                <a:gd name="T31" fmla="*/ 2147483646 h 493"/>
                <a:gd name="T32" fmla="*/ 2147483646 w 495"/>
                <a:gd name="T33" fmla="*/ 2147483646 h 493"/>
                <a:gd name="T34" fmla="*/ 2147483646 w 495"/>
                <a:gd name="T35" fmla="*/ 2147483646 h 493"/>
                <a:gd name="T36" fmla="*/ 2147483646 w 495"/>
                <a:gd name="T37" fmla="*/ 2147483646 h 493"/>
                <a:gd name="T38" fmla="*/ 2147483646 w 495"/>
                <a:gd name="T39" fmla="*/ 2147483646 h 493"/>
                <a:gd name="T40" fmla="*/ 2147483646 w 495"/>
                <a:gd name="T41" fmla="*/ 2147483646 h 49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95"/>
                <a:gd name="T64" fmla="*/ 0 h 493"/>
                <a:gd name="T65" fmla="*/ 495 w 495"/>
                <a:gd name="T66" fmla="*/ 493 h 49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 name="Freeform 8"/>
            <p:cNvSpPr>
              <a:spLocks/>
            </p:cNvSpPr>
            <p:nvPr/>
          </p:nvSpPr>
          <p:spPr bwMode="auto">
            <a:xfrm>
              <a:off x="2262162" y="3371619"/>
              <a:ext cx="608346" cy="119627"/>
            </a:xfrm>
            <a:custGeom>
              <a:avLst/>
              <a:gdLst>
                <a:gd name="T0" fmla="*/ 0 w 529"/>
                <a:gd name="T1" fmla="*/ 2147483646 h 104"/>
                <a:gd name="T2" fmla="*/ 0 w 529"/>
                <a:gd name="T3" fmla="*/ 0 h 104"/>
                <a:gd name="T4" fmla="*/ 2147483646 w 529"/>
                <a:gd name="T5" fmla="*/ 0 h 104"/>
                <a:gd name="T6" fmla="*/ 2147483646 w 529"/>
                <a:gd name="T7" fmla="*/ 2147483646 h 104"/>
                <a:gd name="T8" fmla="*/ 0 w 529"/>
                <a:gd name="T9" fmla="*/ 2147483646 h 104"/>
                <a:gd name="T10" fmla="*/ 0 60000 65536"/>
                <a:gd name="T11" fmla="*/ 0 60000 65536"/>
                <a:gd name="T12" fmla="*/ 0 60000 65536"/>
                <a:gd name="T13" fmla="*/ 0 60000 65536"/>
                <a:gd name="T14" fmla="*/ 0 60000 65536"/>
                <a:gd name="T15" fmla="*/ 0 w 529"/>
                <a:gd name="T16" fmla="*/ 0 h 104"/>
                <a:gd name="T17" fmla="*/ 529 w 529"/>
                <a:gd name="T18" fmla="*/ 104 h 104"/>
              </a:gdLst>
              <a:ahLst/>
              <a:cxnLst>
                <a:cxn ang="T10">
                  <a:pos x="T0" y="T1"/>
                </a:cxn>
                <a:cxn ang="T11">
                  <a:pos x="T2" y="T3"/>
                </a:cxn>
                <a:cxn ang="T12">
                  <a:pos x="T4" y="T5"/>
                </a:cxn>
                <a:cxn ang="T13">
                  <a:pos x="T6" y="T7"/>
                </a:cxn>
                <a:cxn ang="T14">
                  <a:pos x="T8" y="T9"/>
                </a:cxn>
              </a:cxnLst>
              <a:rect l="T15" t="T16" r="T17" b="T18"/>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 name="Freeform 9"/>
            <p:cNvSpPr>
              <a:spLocks/>
            </p:cNvSpPr>
            <p:nvPr/>
          </p:nvSpPr>
          <p:spPr bwMode="auto">
            <a:xfrm>
              <a:off x="2263134" y="3127502"/>
              <a:ext cx="607373" cy="119627"/>
            </a:xfrm>
            <a:custGeom>
              <a:avLst/>
              <a:gdLst>
                <a:gd name="T0" fmla="*/ 2147483646 w 528"/>
                <a:gd name="T1" fmla="*/ 0 h 104"/>
                <a:gd name="T2" fmla="*/ 2147483646 w 528"/>
                <a:gd name="T3" fmla="*/ 2147483646 h 104"/>
                <a:gd name="T4" fmla="*/ 0 w 528"/>
                <a:gd name="T5" fmla="*/ 2147483646 h 104"/>
                <a:gd name="T6" fmla="*/ 0 w 528"/>
                <a:gd name="T7" fmla="*/ 0 h 104"/>
                <a:gd name="T8" fmla="*/ 2147483646 w 528"/>
                <a:gd name="T9" fmla="*/ 0 h 104"/>
                <a:gd name="T10" fmla="*/ 0 60000 65536"/>
                <a:gd name="T11" fmla="*/ 0 60000 65536"/>
                <a:gd name="T12" fmla="*/ 0 60000 65536"/>
                <a:gd name="T13" fmla="*/ 0 60000 65536"/>
                <a:gd name="T14" fmla="*/ 0 60000 65536"/>
                <a:gd name="T15" fmla="*/ 0 w 528"/>
                <a:gd name="T16" fmla="*/ 0 h 104"/>
                <a:gd name="T17" fmla="*/ 528 w 528"/>
                <a:gd name="T18" fmla="*/ 104 h 104"/>
              </a:gdLst>
              <a:ahLst/>
              <a:cxnLst>
                <a:cxn ang="T10">
                  <a:pos x="T0" y="T1"/>
                </a:cxn>
                <a:cxn ang="T11">
                  <a:pos x="T2" y="T3"/>
                </a:cxn>
                <a:cxn ang="T12">
                  <a:pos x="T4" y="T5"/>
                </a:cxn>
                <a:cxn ang="T13">
                  <a:pos x="T6" y="T7"/>
                </a:cxn>
                <a:cxn ang="T14">
                  <a:pos x="T8" y="T9"/>
                </a:cxn>
              </a:cxnLst>
              <a:rect l="T15" t="T16" r="T17" b="T18"/>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 name="Freeform 10"/>
            <p:cNvSpPr>
              <a:spLocks/>
            </p:cNvSpPr>
            <p:nvPr/>
          </p:nvSpPr>
          <p:spPr bwMode="auto">
            <a:xfrm>
              <a:off x="2263134" y="3615735"/>
              <a:ext cx="549991" cy="120599"/>
            </a:xfrm>
            <a:custGeom>
              <a:avLst/>
              <a:gdLst>
                <a:gd name="T0" fmla="*/ 0 w 478"/>
                <a:gd name="T1" fmla="*/ 0 h 105"/>
                <a:gd name="T2" fmla="*/ 2147483646 w 478"/>
                <a:gd name="T3" fmla="*/ 0 h 105"/>
                <a:gd name="T4" fmla="*/ 2147483646 w 478"/>
                <a:gd name="T5" fmla="*/ 2147483646 h 105"/>
                <a:gd name="T6" fmla="*/ 2147483646 w 478"/>
                <a:gd name="T7" fmla="*/ 2147483646 h 105"/>
                <a:gd name="T8" fmla="*/ 2147483646 w 478"/>
                <a:gd name="T9" fmla="*/ 2147483646 h 105"/>
                <a:gd name="T10" fmla="*/ 2147483646 w 478"/>
                <a:gd name="T11" fmla="*/ 2147483646 h 105"/>
                <a:gd name="T12" fmla="*/ 0 w 478"/>
                <a:gd name="T13" fmla="*/ 2147483646 h 105"/>
                <a:gd name="T14" fmla="*/ 0 w 478"/>
                <a:gd name="T15" fmla="*/ 0 h 105"/>
                <a:gd name="T16" fmla="*/ 0 60000 65536"/>
                <a:gd name="T17" fmla="*/ 0 60000 65536"/>
                <a:gd name="T18" fmla="*/ 0 60000 65536"/>
                <a:gd name="T19" fmla="*/ 0 60000 65536"/>
                <a:gd name="T20" fmla="*/ 0 60000 65536"/>
                <a:gd name="T21" fmla="*/ 0 60000 65536"/>
                <a:gd name="T22" fmla="*/ 0 60000 65536"/>
                <a:gd name="T23" fmla="*/ 0 60000 65536"/>
                <a:gd name="T24" fmla="*/ 0 w 478"/>
                <a:gd name="T25" fmla="*/ 0 h 105"/>
                <a:gd name="T26" fmla="*/ 478 w 478"/>
                <a:gd name="T27" fmla="*/ 105 h 1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 name="Freeform 11"/>
            <p:cNvSpPr>
              <a:spLocks/>
            </p:cNvSpPr>
            <p:nvPr/>
          </p:nvSpPr>
          <p:spPr bwMode="auto">
            <a:xfrm>
              <a:off x="3016880" y="3492218"/>
              <a:ext cx="283019" cy="281074"/>
            </a:xfrm>
            <a:custGeom>
              <a:avLst/>
              <a:gdLst>
                <a:gd name="T0" fmla="*/ 0 w 246"/>
                <a:gd name="T1" fmla="*/ 2147483646 h 244"/>
                <a:gd name="T2" fmla="*/ 2147483646 w 246"/>
                <a:gd name="T3" fmla="*/ 2147483646 h 244"/>
                <a:gd name="T4" fmla="*/ 2147483646 w 246"/>
                <a:gd name="T5" fmla="*/ 2147483646 h 244"/>
                <a:gd name="T6" fmla="*/ 2147483646 w 246"/>
                <a:gd name="T7" fmla="*/ 2147483646 h 244"/>
                <a:gd name="T8" fmla="*/ 2147483646 w 246"/>
                <a:gd name="T9" fmla="*/ 2147483646 h 244"/>
                <a:gd name="T10" fmla="*/ 2147483646 w 246"/>
                <a:gd name="T11" fmla="*/ 2147483646 h 244"/>
                <a:gd name="T12" fmla="*/ 0 w 246"/>
                <a:gd name="T13" fmla="*/ 2147483646 h 244"/>
                <a:gd name="T14" fmla="*/ 0 60000 65536"/>
                <a:gd name="T15" fmla="*/ 0 60000 65536"/>
                <a:gd name="T16" fmla="*/ 0 60000 65536"/>
                <a:gd name="T17" fmla="*/ 0 60000 65536"/>
                <a:gd name="T18" fmla="*/ 0 60000 65536"/>
                <a:gd name="T19" fmla="*/ 0 60000 65536"/>
                <a:gd name="T20" fmla="*/ 0 60000 65536"/>
                <a:gd name="T21" fmla="*/ 0 w 246"/>
                <a:gd name="T22" fmla="*/ 0 h 244"/>
                <a:gd name="T23" fmla="*/ 246 w 246"/>
                <a:gd name="T24" fmla="*/ 244 h 2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 name="Freeform 12"/>
            <p:cNvSpPr>
              <a:spLocks/>
            </p:cNvSpPr>
            <p:nvPr/>
          </p:nvSpPr>
          <p:spPr bwMode="auto">
            <a:xfrm>
              <a:off x="2017073" y="3372591"/>
              <a:ext cx="119627" cy="117682"/>
            </a:xfrm>
            <a:custGeom>
              <a:avLst/>
              <a:gdLst>
                <a:gd name="T0" fmla="*/ 0 w 104"/>
                <a:gd name="T1" fmla="*/ 2147483646 h 102"/>
                <a:gd name="T2" fmla="*/ 0 w 104"/>
                <a:gd name="T3" fmla="*/ 0 h 102"/>
                <a:gd name="T4" fmla="*/ 2147483646 w 104"/>
                <a:gd name="T5" fmla="*/ 0 h 102"/>
                <a:gd name="T6" fmla="*/ 2147483646 w 104"/>
                <a:gd name="T7" fmla="*/ 2147483646 h 102"/>
                <a:gd name="T8" fmla="*/ 0 w 104"/>
                <a:gd name="T9" fmla="*/ 2147483646 h 102"/>
                <a:gd name="T10" fmla="*/ 0 60000 65536"/>
                <a:gd name="T11" fmla="*/ 0 60000 65536"/>
                <a:gd name="T12" fmla="*/ 0 60000 65536"/>
                <a:gd name="T13" fmla="*/ 0 60000 65536"/>
                <a:gd name="T14" fmla="*/ 0 60000 65536"/>
                <a:gd name="T15" fmla="*/ 0 w 104"/>
                <a:gd name="T16" fmla="*/ 0 h 102"/>
                <a:gd name="T17" fmla="*/ 104 w 104"/>
                <a:gd name="T18" fmla="*/ 102 h 102"/>
              </a:gdLst>
              <a:ahLst/>
              <a:cxnLst>
                <a:cxn ang="T10">
                  <a:pos x="T0" y="T1"/>
                </a:cxn>
                <a:cxn ang="T11">
                  <a:pos x="T2" y="T3"/>
                </a:cxn>
                <a:cxn ang="T12">
                  <a:pos x="T4" y="T5"/>
                </a:cxn>
                <a:cxn ang="T13">
                  <a:pos x="T6" y="T7"/>
                </a:cxn>
                <a:cxn ang="T14">
                  <a:pos x="T8" y="T9"/>
                </a:cxn>
              </a:cxnLst>
              <a:rect l="T15" t="T16" r="T17" b="T18"/>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4" name="Freeform 13"/>
            <p:cNvSpPr>
              <a:spLocks/>
            </p:cNvSpPr>
            <p:nvPr/>
          </p:nvSpPr>
          <p:spPr bwMode="auto">
            <a:xfrm>
              <a:off x="2018045" y="3128475"/>
              <a:ext cx="118654" cy="118654"/>
            </a:xfrm>
            <a:custGeom>
              <a:avLst/>
              <a:gdLst>
                <a:gd name="T0" fmla="*/ 2147483646 w 103"/>
                <a:gd name="T1" fmla="*/ 2147483646 h 103"/>
                <a:gd name="T2" fmla="*/ 0 w 103"/>
                <a:gd name="T3" fmla="*/ 2147483646 h 103"/>
                <a:gd name="T4" fmla="*/ 0 w 103"/>
                <a:gd name="T5" fmla="*/ 0 h 103"/>
                <a:gd name="T6" fmla="*/ 2147483646 w 103"/>
                <a:gd name="T7" fmla="*/ 0 h 103"/>
                <a:gd name="T8" fmla="*/ 2147483646 w 103"/>
                <a:gd name="T9" fmla="*/ 2147483646 h 103"/>
                <a:gd name="T10" fmla="*/ 0 60000 65536"/>
                <a:gd name="T11" fmla="*/ 0 60000 65536"/>
                <a:gd name="T12" fmla="*/ 0 60000 65536"/>
                <a:gd name="T13" fmla="*/ 0 60000 65536"/>
                <a:gd name="T14" fmla="*/ 0 60000 65536"/>
                <a:gd name="T15" fmla="*/ 0 w 103"/>
                <a:gd name="T16" fmla="*/ 0 h 103"/>
                <a:gd name="T17" fmla="*/ 103 w 103"/>
                <a:gd name="T18" fmla="*/ 103 h 103"/>
              </a:gdLst>
              <a:ahLst/>
              <a:cxnLst>
                <a:cxn ang="T10">
                  <a:pos x="T0" y="T1"/>
                </a:cxn>
                <a:cxn ang="T11">
                  <a:pos x="T2" y="T3"/>
                </a:cxn>
                <a:cxn ang="T12">
                  <a:pos x="T4" y="T5"/>
                </a:cxn>
                <a:cxn ang="T13">
                  <a:pos x="T6" y="T7"/>
                </a:cxn>
                <a:cxn ang="T14">
                  <a:pos x="T8" y="T9"/>
                </a:cxn>
              </a:cxnLst>
              <a:rect l="T15" t="T16" r="T17" b="T18"/>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 name="Freeform 14"/>
            <p:cNvSpPr>
              <a:spLocks/>
            </p:cNvSpPr>
            <p:nvPr/>
          </p:nvSpPr>
          <p:spPr bwMode="auto">
            <a:xfrm>
              <a:off x="2018045" y="3616708"/>
              <a:ext cx="118654" cy="118654"/>
            </a:xfrm>
            <a:custGeom>
              <a:avLst/>
              <a:gdLst>
                <a:gd name="T0" fmla="*/ 2147483646 w 103"/>
                <a:gd name="T1" fmla="*/ 2147483646 h 103"/>
                <a:gd name="T2" fmla="*/ 0 w 103"/>
                <a:gd name="T3" fmla="*/ 2147483646 h 103"/>
                <a:gd name="T4" fmla="*/ 0 w 103"/>
                <a:gd name="T5" fmla="*/ 0 h 103"/>
                <a:gd name="T6" fmla="*/ 2147483646 w 103"/>
                <a:gd name="T7" fmla="*/ 0 h 103"/>
                <a:gd name="T8" fmla="*/ 2147483646 w 103"/>
                <a:gd name="T9" fmla="*/ 2147483646 h 103"/>
                <a:gd name="T10" fmla="*/ 0 60000 65536"/>
                <a:gd name="T11" fmla="*/ 0 60000 65536"/>
                <a:gd name="T12" fmla="*/ 0 60000 65536"/>
                <a:gd name="T13" fmla="*/ 0 60000 65536"/>
                <a:gd name="T14" fmla="*/ 0 60000 65536"/>
                <a:gd name="T15" fmla="*/ 0 w 103"/>
                <a:gd name="T16" fmla="*/ 0 h 103"/>
                <a:gd name="T17" fmla="*/ 103 w 103"/>
                <a:gd name="T18" fmla="*/ 103 h 103"/>
              </a:gdLst>
              <a:ahLst/>
              <a:cxnLst>
                <a:cxn ang="T10">
                  <a:pos x="T0" y="T1"/>
                </a:cxn>
                <a:cxn ang="T11">
                  <a:pos x="T2" y="T3"/>
                </a:cxn>
                <a:cxn ang="T12">
                  <a:pos x="T4" y="T5"/>
                </a:cxn>
                <a:cxn ang="T13">
                  <a:pos x="T6" y="T7"/>
                </a:cxn>
                <a:cxn ang="T14">
                  <a:pos x="T8" y="T9"/>
                </a:cxn>
              </a:cxnLst>
              <a:rect l="T15" t="T16" r="T17" b="T18"/>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solidFill>
              <a:srgbClr val="0174A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sp>
        <p:nvSpPr>
          <p:cNvPr id="56" name="文本框 55"/>
          <p:cNvSpPr txBox="1"/>
          <p:nvPr/>
        </p:nvSpPr>
        <p:spPr>
          <a:xfrm>
            <a:off x="226545" y="4131938"/>
            <a:ext cx="2235945" cy="461665"/>
          </a:xfrm>
          <a:prstGeom prst="rect">
            <a:avLst/>
          </a:prstGeom>
          <a:noFill/>
        </p:spPr>
        <p:txBody>
          <a:bodyPr wrap="square">
            <a:spAutoFit/>
          </a:bodyPr>
          <a:lstStyle/>
          <a:p>
            <a:pPr algn="ctr" eaLnBrk="1" fontAlgn="auto" hangingPunct="1">
              <a:spcBef>
                <a:spcPts val="0"/>
              </a:spcBef>
              <a:spcAft>
                <a:spcPts val="0"/>
              </a:spcAft>
              <a:defRPr/>
            </a:pPr>
            <a:r>
              <a:rPr lang="en-US" altLang="zh-CN" sz="2400" b="1" spc="300" dirty="0">
                <a:solidFill>
                  <a:srgbClr val="0174AB"/>
                </a:solidFill>
                <a:latin typeface="微软雅黑" panose="020B0503020204020204" pitchFamily="34" charset="-122"/>
                <a:ea typeface="微软雅黑" panose="020B0503020204020204" pitchFamily="34" charset="-122"/>
              </a:rPr>
              <a:t>CONTANTS</a:t>
            </a:r>
            <a:endParaRPr lang="zh-HK" altLang="en-US" sz="2400" b="1" spc="300" dirty="0">
              <a:solidFill>
                <a:srgbClr val="0174AB"/>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3212687" y="2347358"/>
            <a:ext cx="4740466" cy="461665"/>
          </a:xfrm>
          <a:prstGeom prst="rect">
            <a:avLst/>
          </a:prstGeom>
          <a:noFill/>
        </p:spPr>
        <p:txBody>
          <a:bodyPr wrap="square">
            <a:spAutoFit/>
          </a:bodyPr>
          <a:lstStyle/>
          <a:p>
            <a:pPr eaLnBrk="1" fontAlgn="auto" hangingPunct="1">
              <a:spcBef>
                <a:spcPts val="0"/>
              </a:spcBef>
              <a:spcAft>
                <a:spcPts val="0"/>
              </a:spcAft>
              <a:defRPr/>
            </a:pP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任务</a:t>
            </a:r>
            <a:r>
              <a:rPr lang="en-US" altLang="zh-CN" sz="2400" b="1" spc="300" dirty="0">
                <a:solidFill>
                  <a:schemeClr val="tx1">
                    <a:lumMod val="85000"/>
                    <a:lumOff val="15000"/>
                  </a:schemeClr>
                </a:solidFill>
                <a:latin typeface="微软雅黑" panose="020B0503020204020204" pitchFamily="34" charset="-122"/>
                <a:ea typeface="微软雅黑" panose="020B0503020204020204" pitchFamily="34" charset="-122"/>
              </a:rPr>
              <a:t>4-3 </a:t>
            </a: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绝对、相对组合定位</a:t>
            </a:r>
            <a:endParaRPr lang="zh-HK"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3212687" y="3215048"/>
            <a:ext cx="3751639" cy="461665"/>
          </a:xfrm>
          <a:prstGeom prst="rect">
            <a:avLst/>
          </a:prstGeom>
          <a:noFill/>
        </p:spPr>
        <p:txBody>
          <a:bodyPr wrap="square">
            <a:spAutoFit/>
          </a:bodyPr>
          <a:lstStyle/>
          <a:p>
            <a:pPr eaLnBrk="1" fontAlgn="auto" hangingPunct="1">
              <a:spcBef>
                <a:spcPts val="0"/>
              </a:spcBef>
              <a:spcAft>
                <a:spcPts val="0"/>
              </a:spcAft>
              <a:defRPr/>
            </a:pPr>
            <a:r>
              <a:rPr lang="zh-CN" altLang="en-US" sz="2400" b="1" spc="300" dirty="0">
                <a:solidFill>
                  <a:srgbClr val="00B050"/>
                </a:solidFill>
                <a:latin typeface="微软雅黑" panose="020B0503020204020204" pitchFamily="34" charset="-122"/>
                <a:ea typeface="微软雅黑" panose="020B0503020204020204" pitchFamily="34" charset="-122"/>
              </a:rPr>
              <a:t>任务</a:t>
            </a:r>
            <a:r>
              <a:rPr lang="en-US" altLang="zh-CN" sz="2400" b="1" spc="300" dirty="0">
                <a:solidFill>
                  <a:srgbClr val="00B050"/>
                </a:solidFill>
                <a:latin typeface="微软雅黑" panose="020B0503020204020204" pitchFamily="34" charset="-122"/>
                <a:ea typeface="微软雅黑" panose="020B0503020204020204" pitchFamily="34" charset="-122"/>
              </a:rPr>
              <a:t>4-4 z-index</a:t>
            </a:r>
            <a:r>
              <a:rPr lang="zh-CN" altLang="en-US" sz="2400" b="1" spc="300" dirty="0">
                <a:solidFill>
                  <a:srgbClr val="00B050"/>
                </a:solidFill>
                <a:latin typeface="微软雅黑" panose="020B0503020204020204" pitchFamily="34" charset="-122"/>
                <a:ea typeface="微软雅黑" panose="020B0503020204020204" pitchFamily="34" charset="-122"/>
              </a:rPr>
              <a:t>定位</a:t>
            </a:r>
            <a:endParaRPr lang="zh-HK" altLang="en-US" sz="2400" b="1" spc="300" dirty="0">
              <a:solidFill>
                <a:srgbClr val="00B05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3212687" y="3993714"/>
            <a:ext cx="3028625" cy="461665"/>
          </a:xfrm>
          <a:prstGeom prst="rect">
            <a:avLst/>
          </a:prstGeom>
          <a:noFill/>
        </p:spPr>
        <p:txBody>
          <a:bodyPr wrap="square">
            <a:spAutoFit/>
          </a:bodyPr>
          <a:lstStyle/>
          <a:p>
            <a:pPr eaLnBrk="1" fontAlgn="auto" hangingPunct="1">
              <a:spcBef>
                <a:spcPts val="0"/>
              </a:spcBef>
              <a:spcAft>
                <a:spcPts val="0"/>
              </a:spcAft>
              <a:defRPr/>
            </a:pP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任务</a:t>
            </a:r>
            <a:r>
              <a:rPr lang="en-US" altLang="zh-CN" sz="2400" b="1" spc="300" dirty="0">
                <a:solidFill>
                  <a:schemeClr val="tx1">
                    <a:lumMod val="85000"/>
                    <a:lumOff val="15000"/>
                  </a:schemeClr>
                </a:solidFill>
                <a:latin typeface="微软雅黑" panose="020B0503020204020204" pitchFamily="34" charset="-122"/>
                <a:ea typeface="微软雅黑" panose="020B0503020204020204" pitchFamily="34" charset="-122"/>
              </a:rPr>
              <a:t>4-5 </a:t>
            </a: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固定定位</a:t>
            </a:r>
            <a:endParaRPr lang="zh-HK"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3212687" y="4861404"/>
            <a:ext cx="3751639" cy="461665"/>
          </a:xfrm>
          <a:prstGeom prst="rect">
            <a:avLst/>
          </a:prstGeom>
          <a:noFill/>
        </p:spPr>
        <p:txBody>
          <a:bodyPr wrap="square">
            <a:spAutoFit/>
          </a:bodyPr>
          <a:lstStyle/>
          <a:p>
            <a:pPr eaLnBrk="1" fontAlgn="auto" hangingPunct="1">
              <a:spcBef>
                <a:spcPts val="0"/>
              </a:spcBef>
              <a:spcAft>
                <a:spcPts val="0"/>
              </a:spcAft>
              <a:defRPr/>
            </a:pPr>
            <a:r>
              <a:rPr lang="zh-CN" altLang="en-US" sz="2400" b="1" spc="300" dirty="0">
                <a:solidFill>
                  <a:srgbClr val="00B050"/>
                </a:solidFill>
                <a:latin typeface="微软雅黑" panose="020B0503020204020204" pitchFamily="34" charset="-122"/>
                <a:ea typeface="微软雅黑" panose="020B0503020204020204" pitchFamily="34" charset="-122"/>
              </a:rPr>
              <a:t>任务</a:t>
            </a:r>
            <a:r>
              <a:rPr lang="en-US" altLang="zh-CN" sz="2400" b="1" spc="300" dirty="0">
                <a:solidFill>
                  <a:srgbClr val="00B050"/>
                </a:solidFill>
                <a:latin typeface="微软雅黑" panose="020B0503020204020204" pitchFamily="34" charset="-122"/>
                <a:ea typeface="微软雅黑" panose="020B0503020204020204" pitchFamily="34" charset="-122"/>
              </a:rPr>
              <a:t>4-6 </a:t>
            </a:r>
            <a:r>
              <a:rPr lang="zh-CN" altLang="en-US" sz="2400" b="1" spc="300" dirty="0">
                <a:solidFill>
                  <a:srgbClr val="00B050"/>
                </a:solidFill>
                <a:latin typeface="微软雅黑" panose="020B0503020204020204" pitchFamily="34" charset="-122"/>
                <a:ea typeface="微软雅黑" panose="020B0503020204020204" pitchFamily="34" charset="-122"/>
              </a:rPr>
              <a:t>网页布局实现</a:t>
            </a:r>
            <a:endParaRPr lang="zh-HK" altLang="en-US" sz="2400" b="1" spc="300" dirty="0">
              <a:solidFill>
                <a:srgbClr val="00B05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3212687" y="5701518"/>
            <a:ext cx="5399685" cy="461665"/>
          </a:xfrm>
          <a:prstGeom prst="rect">
            <a:avLst/>
          </a:prstGeom>
          <a:noFill/>
        </p:spPr>
        <p:txBody>
          <a:bodyPr wrap="square">
            <a:spAutoFit/>
          </a:bodyPr>
          <a:lstStyle/>
          <a:p>
            <a:pPr eaLnBrk="1" fontAlgn="auto" hangingPunct="1">
              <a:spcBef>
                <a:spcPts val="0"/>
              </a:spcBef>
              <a:spcAft>
                <a:spcPts val="0"/>
              </a:spcAft>
              <a:defRPr/>
            </a:pP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任务</a:t>
            </a:r>
            <a:r>
              <a:rPr lang="en-US" altLang="zh-CN" sz="2400" b="1" spc="300" dirty="0">
                <a:solidFill>
                  <a:schemeClr val="tx1">
                    <a:lumMod val="85000"/>
                    <a:lumOff val="15000"/>
                  </a:schemeClr>
                </a:solidFill>
                <a:latin typeface="微软雅黑" panose="020B0503020204020204" pitchFamily="34" charset="-122"/>
                <a:ea typeface="微软雅黑" panose="020B0503020204020204" pitchFamily="34" charset="-122"/>
              </a:rPr>
              <a:t>4-7 </a:t>
            </a:r>
            <a:r>
              <a:rPr lang="en-US" altLang="zh-CN" sz="2400" b="1" spc="300" dirty="0" err="1">
                <a:solidFill>
                  <a:schemeClr val="tx1">
                    <a:lumMod val="85000"/>
                    <a:lumOff val="15000"/>
                  </a:schemeClr>
                </a:solidFill>
                <a:latin typeface="微软雅黑" panose="020B0503020204020204" pitchFamily="34" charset="-122"/>
                <a:ea typeface="微软雅黑" panose="020B0503020204020204" pitchFamily="34" charset="-122"/>
              </a:rPr>
              <a:t>clearfix</a:t>
            </a: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和</a:t>
            </a:r>
            <a:r>
              <a:rPr lang="en-US" altLang="zh-CN" sz="2400" b="1" spc="300" dirty="0">
                <a:solidFill>
                  <a:schemeClr val="tx1">
                    <a:lumMod val="85000"/>
                    <a:lumOff val="15000"/>
                  </a:schemeClr>
                </a:solidFill>
                <a:latin typeface="微软雅黑" panose="020B0503020204020204" pitchFamily="34" charset="-122"/>
                <a:ea typeface="微软雅黑" panose="020B0503020204020204" pitchFamily="34" charset="-122"/>
              </a:rPr>
              <a:t>clear</a:t>
            </a:r>
            <a:r>
              <a:rPr lang="zh-CN"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rPr>
              <a:t>的使用</a:t>
            </a:r>
            <a:endParaRPr lang="zh-HK" altLang="en-US" sz="2400" b="1" spc="3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8809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right)">
                                      <p:cBhvr>
                                        <p:cTn id="1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4-1</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22" name="文本框 21">
            <a:extLst/>
          </p:cNvPr>
          <p:cNvSpPr txBox="1">
            <a:spLocks noChangeAspect="1"/>
          </p:cNvSpPr>
          <p:nvPr/>
        </p:nvSpPr>
        <p:spPr>
          <a:xfrm>
            <a:off x="392113" y="2112963"/>
            <a:ext cx="720725" cy="646112"/>
          </a:xfrm>
          <a:prstGeom prst="rect">
            <a:avLst/>
          </a:prstGeom>
          <a:noFill/>
          <a:effectLst>
            <a:outerShdw blurRad="50800" dist="38100" dir="10800000" algn="r" rotWithShape="0">
              <a:prstClr val="black">
                <a:alpha val="40000"/>
              </a:prstClr>
            </a:outerShdw>
          </a:effectLst>
        </p:spPr>
        <p:txBody>
          <a:bodyPr>
            <a:spAutoFit/>
          </a:bodyPr>
          <a:lstStyle/>
          <a:p>
            <a:pPr algn="ctr" fontAlgn="auto">
              <a:spcBef>
                <a:spcPts val="0"/>
              </a:spcBef>
              <a:spcAft>
                <a:spcPts val="0"/>
              </a:spcAft>
              <a:defRPr/>
            </a:pPr>
            <a:r>
              <a:rPr lang="en-US" altLang="zh-CN" sz="3600" b="1" dirty="0">
                <a:solidFill>
                  <a:srgbClr val="0174AB"/>
                </a:solidFill>
                <a:latin typeface="微软雅黑" pitchFamily="34" charset="-122"/>
                <a:ea typeface="微软雅黑" pitchFamily="34" charset="-122"/>
              </a:rPr>
              <a:t>1</a:t>
            </a:r>
            <a:endParaRPr lang="zh-HK" altLang="en-US" sz="3600" b="1" dirty="0">
              <a:solidFill>
                <a:srgbClr val="0174AB"/>
              </a:solidFill>
              <a:latin typeface="微软雅黑" pitchFamily="34" charset="-122"/>
              <a:ea typeface="微软雅黑" pitchFamily="34" charset="-122"/>
            </a:endParaRPr>
          </a:p>
        </p:txBody>
      </p:sp>
      <p:sp>
        <p:nvSpPr>
          <p:cNvPr id="23" name="矩形 38">
            <a:extLst/>
          </p:cNvPr>
          <p:cNvSpPr>
            <a:spLocks noChangeArrowheads="1"/>
          </p:cNvSpPr>
          <p:nvPr/>
        </p:nvSpPr>
        <p:spPr bwMode="auto">
          <a:xfrm>
            <a:off x="1325563" y="2028825"/>
            <a:ext cx="714216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fontAlgn="auto" hangingPunct="1">
              <a:lnSpc>
                <a:spcPct val="150000"/>
              </a:lnSpc>
              <a:spcBef>
                <a:spcPts val="0"/>
              </a:spcBef>
              <a:spcAft>
                <a:spcPts val="0"/>
              </a:spcAft>
              <a:defRPr/>
            </a:pPr>
            <a:r>
              <a:rPr lang="en-US" altLang="zh-CN" sz="2400" dirty="0">
                <a:solidFill>
                  <a:schemeClr val="tx1">
                    <a:lumMod val="95000"/>
                    <a:lumOff val="5000"/>
                  </a:schemeClr>
                </a:solidFill>
                <a:latin typeface="方正粗活意简体" pitchFamily="65" charset="-122"/>
                <a:ea typeface="方正粗活意简体" pitchFamily="65" charset="-122"/>
              </a:rPr>
              <a:t>static</a:t>
            </a:r>
            <a:r>
              <a:rPr lang="zh-CN" altLang="en-US" sz="2400" dirty="0">
                <a:solidFill>
                  <a:schemeClr val="tx1">
                    <a:lumMod val="95000"/>
                    <a:lumOff val="5000"/>
                  </a:schemeClr>
                </a:solidFill>
                <a:latin typeface="方正粗活意简体" pitchFamily="65" charset="-122"/>
                <a:ea typeface="方正粗活意简体" pitchFamily="65" charset="-122"/>
              </a:rPr>
              <a:t>：默认值。</a:t>
            </a:r>
            <a:endParaRPr lang="en-US" altLang="zh-CN" sz="2400" dirty="0">
              <a:solidFill>
                <a:schemeClr val="tx1">
                  <a:lumMod val="95000"/>
                  <a:lumOff val="5000"/>
                </a:schemeClr>
              </a:solidFill>
              <a:latin typeface="方正粗活意简体" pitchFamily="65" charset="-122"/>
              <a:ea typeface="方正粗活意简体" pitchFamily="65" charset="-122"/>
            </a:endParaRPr>
          </a:p>
        </p:txBody>
      </p:sp>
      <p:sp>
        <p:nvSpPr>
          <p:cNvPr id="24" name="文本框 23">
            <a:extLst/>
          </p:cNvPr>
          <p:cNvSpPr txBox="1">
            <a:spLocks noChangeAspect="1"/>
          </p:cNvSpPr>
          <p:nvPr/>
        </p:nvSpPr>
        <p:spPr>
          <a:xfrm>
            <a:off x="392113" y="3244850"/>
            <a:ext cx="720725" cy="646113"/>
          </a:xfrm>
          <a:prstGeom prst="rect">
            <a:avLst/>
          </a:prstGeom>
          <a:noFill/>
          <a:effectLst>
            <a:outerShdw blurRad="50800" dist="38100" dir="10800000" algn="r" rotWithShape="0">
              <a:prstClr val="black">
                <a:alpha val="40000"/>
              </a:prstClr>
            </a:outerShdw>
          </a:effectLst>
        </p:spPr>
        <p:txBody>
          <a:bodyPr>
            <a:spAutoFit/>
          </a:bodyPr>
          <a:lstStyle/>
          <a:p>
            <a:pPr algn="ctr" fontAlgn="auto">
              <a:spcBef>
                <a:spcPts val="0"/>
              </a:spcBef>
              <a:spcAft>
                <a:spcPts val="0"/>
              </a:spcAft>
              <a:defRPr/>
            </a:pPr>
            <a:r>
              <a:rPr lang="en-US" altLang="zh-CN" sz="3600" b="1" dirty="0">
                <a:solidFill>
                  <a:srgbClr val="92D14F"/>
                </a:solidFill>
                <a:latin typeface="微软雅黑" pitchFamily="34" charset="-122"/>
                <a:ea typeface="微软雅黑" pitchFamily="34" charset="-122"/>
              </a:rPr>
              <a:t>2</a:t>
            </a:r>
            <a:endParaRPr lang="zh-HK" altLang="en-US" sz="3600" b="1" dirty="0">
              <a:solidFill>
                <a:srgbClr val="92D14F"/>
              </a:solidFill>
              <a:latin typeface="微软雅黑" pitchFamily="34" charset="-122"/>
              <a:ea typeface="微软雅黑" pitchFamily="34" charset="-122"/>
            </a:endParaRPr>
          </a:p>
        </p:txBody>
      </p:sp>
      <p:sp>
        <p:nvSpPr>
          <p:cNvPr id="25" name="文本框 24">
            <a:extLst/>
          </p:cNvPr>
          <p:cNvSpPr txBox="1">
            <a:spLocks noChangeAspect="1"/>
          </p:cNvSpPr>
          <p:nvPr/>
        </p:nvSpPr>
        <p:spPr>
          <a:xfrm>
            <a:off x="392113" y="4362450"/>
            <a:ext cx="720725" cy="646113"/>
          </a:xfrm>
          <a:prstGeom prst="rect">
            <a:avLst/>
          </a:prstGeom>
          <a:noFill/>
          <a:effectLst>
            <a:outerShdw blurRad="50800" dist="38100" dir="10800000" algn="r" rotWithShape="0">
              <a:prstClr val="black">
                <a:alpha val="40000"/>
              </a:prstClr>
            </a:outerShdw>
          </a:effectLst>
        </p:spPr>
        <p:txBody>
          <a:bodyPr>
            <a:spAutoFit/>
          </a:bodyPr>
          <a:lstStyle/>
          <a:p>
            <a:pPr algn="ctr" fontAlgn="auto">
              <a:spcBef>
                <a:spcPts val="0"/>
              </a:spcBef>
              <a:spcAft>
                <a:spcPts val="0"/>
              </a:spcAft>
              <a:defRPr/>
            </a:pPr>
            <a:r>
              <a:rPr lang="en-US" altLang="zh-CN" sz="3600" b="1" dirty="0">
                <a:solidFill>
                  <a:srgbClr val="0174AB"/>
                </a:solidFill>
                <a:latin typeface="微软雅黑" pitchFamily="34" charset="-122"/>
                <a:ea typeface="微软雅黑" pitchFamily="34" charset="-122"/>
              </a:rPr>
              <a:t>3</a:t>
            </a:r>
            <a:endParaRPr lang="zh-HK" altLang="en-US" sz="3600" b="1" dirty="0">
              <a:solidFill>
                <a:srgbClr val="0174AB"/>
              </a:solidFill>
              <a:latin typeface="微软雅黑" pitchFamily="34" charset="-122"/>
              <a:ea typeface="微软雅黑" pitchFamily="34" charset="-122"/>
            </a:endParaRPr>
          </a:p>
        </p:txBody>
      </p:sp>
      <p:sp>
        <p:nvSpPr>
          <p:cNvPr id="26" name="文本框 25">
            <a:extLst/>
          </p:cNvPr>
          <p:cNvSpPr txBox="1">
            <a:spLocks noChangeAspect="1"/>
          </p:cNvSpPr>
          <p:nvPr/>
        </p:nvSpPr>
        <p:spPr>
          <a:xfrm>
            <a:off x="392113" y="5397500"/>
            <a:ext cx="720725" cy="646113"/>
          </a:xfrm>
          <a:prstGeom prst="rect">
            <a:avLst/>
          </a:prstGeom>
          <a:noFill/>
          <a:effectLst>
            <a:outerShdw blurRad="50800" dist="38100" dir="10800000" algn="r" rotWithShape="0">
              <a:prstClr val="black">
                <a:alpha val="40000"/>
              </a:prstClr>
            </a:outerShdw>
          </a:effectLst>
        </p:spPr>
        <p:txBody>
          <a:bodyPr>
            <a:spAutoFit/>
          </a:bodyPr>
          <a:lstStyle/>
          <a:p>
            <a:pPr algn="ctr" fontAlgn="auto">
              <a:spcBef>
                <a:spcPts val="0"/>
              </a:spcBef>
              <a:spcAft>
                <a:spcPts val="0"/>
              </a:spcAft>
              <a:defRPr/>
            </a:pPr>
            <a:r>
              <a:rPr lang="en-US" altLang="zh-CN" sz="3600" b="1" dirty="0">
                <a:solidFill>
                  <a:srgbClr val="92D14F"/>
                </a:solidFill>
                <a:latin typeface="微软雅黑" pitchFamily="34" charset="-122"/>
                <a:ea typeface="微软雅黑" pitchFamily="34" charset="-122"/>
              </a:rPr>
              <a:t>4</a:t>
            </a:r>
            <a:endParaRPr lang="zh-HK" altLang="en-US" sz="3600" b="1" dirty="0">
              <a:solidFill>
                <a:srgbClr val="92D14F"/>
              </a:solidFill>
              <a:latin typeface="微软雅黑" pitchFamily="34" charset="-122"/>
              <a:ea typeface="微软雅黑" pitchFamily="34" charset="-122"/>
            </a:endParaRPr>
          </a:p>
        </p:txBody>
      </p:sp>
      <p:sp>
        <p:nvSpPr>
          <p:cNvPr id="27" name="矩形 38">
            <a:extLst/>
          </p:cNvPr>
          <p:cNvSpPr>
            <a:spLocks noChangeArrowheads="1"/>
          </p:cNvSpPr>
          <p:nvPr/>
        </p:nvSpPr>
        <p:spPr bwMode="auto">
          <a:xfrm>
            <a:off x="1323975" y="3048000"/>
            <a:ext cx="71421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Font typeface="Arial" panose="020B0604020202020204" pitchFamily="34" charset="0"/>
              <a:buNone/>
              <a:defRPr/>
            </a:pPr>
            <a:r>
              <a:rPr lang="en-US" altLang="zh-CN" sz="2400" dirty="0">
                <a:solidFill>
                  <a:schemeClr val="tx1">
                    <a:lumMod val="95000"/>
                    <a:lumOff val="5000"/>
                  </a:schemeClr>
                </a:solidFill>
                <a:latin typeface="方正粗活意简体" pitchFamily="65" charset="-122"/>
                <a:ea typeface="方正粗活意简体" pitchFamily="65" charset="-122"/>
              </a:rPr>
              <a:t>relative</a:t>
            </a:r>
            <a:r>
              <a:rPr lang="zh-CN" altLang="en-US" sz="2400" dirty="0">
                <a:solidFill>
                  <a:schemeClr val="tx1">
                    <a:lumMod val="95000"/>
                    <a:lumOff val="5000"/>
                  </a:schemeClr>
                </a:solidFill>
                <a:latin typeface="方正粗活意简体" pitchFamily="65" charset="-122"/>
                <a:ea typeface="方正粗活意简体" pitchFamily="65" charset="-122"/>
              </a:rPr>
              <a:t>：生成相对定位的元素，通过的设置相对于其正常位置进行定位。</a:t>
            </a:r>
            <a:endParaRPr lang="zh-HK" altLang="zh-HK" sz="2400" dirty="0">
              <a:solidFill>
                <a:schemeClr val="tx1">
                  <a:lumMod val="95000"/>
                  <a:lumOff val="5000"/>
                </a:schemeClr>
              </a:solidFill>
              <a:latin typeface="方正粗活意简体" pitchFamily="65" charset="-122"/>
              <a:ea typeface="方正粗活意简体" pitchFamily="65" charset="-122"/>
            </a:endParaRPr>
          </a:p>
        </p:txBody>
      </p:sp>
      <p:sp>
        <p:nvSpPr>
          <p:cNvPr id="28" name="矩形 38">
            <a:extLst/>
          </p:cNvPr>
          <p:cNvSpPr>
            <a:spLocks noChangeArrowheads="1"/>
          </p:cNvSpPr>
          <p:nvPr/>
        </p:nvSpPr>
        <p:spPr bwMode="auto">
          <a:xfrm>
            <a:off x="1323975" y="4176713"/>
            <a:ext cx="7142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Font typeface="Arial" panose="020B0604020202020204" pitchFamily="34" charset="0"/>
              <a:buNone/>
              <a:defRPr/>
            </a:pPr>
            <a:r>
              <a:rPr lang="en-US" altLang="zh-CN" sz="2400" dirty="0">
                <a:solidFill>
                  <a:schemeClr val="tx1">
                    <a:lumMod val="95000"/>
                    <a:lumOff val="5000"/>
                  </a:schemeClr>
                </a:solidFill>
                <a:latin typeface="方正粗活意简体" pitchFamily="65" charset="-122"/>
                <a:ea typeface="方正粗活意简体" pitchFamily="65" charset="-122"/>
              </a:rPr>
              <a:t>absolute</a:t>
            </a:r>
            <a:r>
              <a:rPr lang="zh-CN" altLang="en-US" sz="2400" dirty="0">
                <a:solidFill>
                  <a:schemeClr val="tx1">
                    <a:lumMod val="95000"/>
                    <a:lumOff val="5000"/>
                  </a:schemeClr>
                </a:solidFill>
                <a:latin typeface="方正粗活意简体" pitchFamily="65" charset="-122"/>
                <a:ea typeface="方正粗活意简体" pitchFamily="65" charset="-122"/>
              </a:rPr>
              <a:t>：生成绝对定位的元素，相对于</a:t>
            </a:r>
            <a:r>
              <a:rPr lang="en-US" altLang="zh-CN" sz="2400" dirty="0">
                <a:solidFill>
                  <a:schemeClr val="tx1">
                    <a:lumMod val="95000"/>
                    <a:lumOff val="5000"/>
                  </a:schemeClr>
                </a:solidFill>
                <a:latin typeface="方正粗活意简体" pitchFamily="65" charset="-122"/>
                <a:ea typeface="方正粗活意简体" pitchFamily="65" charset="-122"/>
              </a:rPr>
              <a:t>static</a:t>
            </a:r>
            <a:r>
              <a:rPr lang="zh-CN" altLang="en-US" sz="2400" dirty="0">
                <a:solidFill>
                  <a:schemeClr val="tx1">
                    <a:lumMod val="95000"/>
                    <a:lumOff val="5000"/>
                  </a:schemeClr>
                </a:solidFill>
                <a:latin typeface="方正粗活意简体" pitchFamily="65" charset="-122"/>
                <a:ea typeface="方正粗活意简体" pitchFamily="65" charset="-122"/>
              </a:rPr>
              <a:t>定位以外的第一个父元素进行定位。</a:t>
            </a:r>
            <a:endParaRPr lang="zh-HK" altLang="zh-HK" sz="2400" dirty="0">
              <a:solidFill>
                <a:schemeClr val="tx1">
                  <a:lumMod val="95000"/>
                  <a:lumOff val="5000"/>
                </a:schemeClr>
              </a:solidFill>
              <a:latin typeface="方正粗活意简体" pitchFamily="65" charset="-122"/>
              <a:ea typeface="方正粗活意简体" pitchFamily="65" charset="-122"/>
            </a:endParaRPr>
          </a:p>
        </p:txBody>
      </p:sp>
      <p:sp>
        <p:nvSpPr>
          <p:cNvPr id="29" name="文本框 28">
            <a:extLst/>
          </p:cNvPr>
          <p:cNvSpPr txBox="1"/>
          <p:nvPr/>
        </p:nvSpPr>
        <p:spPr>
          <a:xfrm>
            <a:off x="1323975" y="5295900"/>
            <a:ext cx="7142163" cy="831850"/>
          </a:xfrm>
          <a:prstGeom prst="rect">
            <a:avLst/>
          </a:prstGeom>
          <a:noFill/>
        </p:spPr>
        <p:txBody>
          <a:bodyPr>
            <a:spAutoFit/>
          </a:bodyPr>
          <a:lstStyle/>
          <a:p>
            <a:pPr>
              <a:defRPr/>
            </a:pPr>
            <a:r>
              <a:rPr lang="en-US" altLang="zh-CN" sz="2400" dirty="0">
                <a:solidFill>
                  <a:schemeClr val="tx1">
                    <a:lumMod val="95000"/>
                    <a:lumOff val="5000"/>
                  </a:schemeClr>
                </a:solidFill>
                <a:latin typeface="方正粗活意简体" pitchFamily="65" charset="-122"/>
                <a:ea typeface="方正粗活意简体" pitchFamily="65" charset="-122"/>
              </a:rPr>
              <a:t>fixed</a:t>
            </a:r>
            <a:r>
              <a:rPr lang="zh-CN" altLang="en-US" sz="2400" dirty="0">
                <a:solidFill>
                  <a:schemeClr val="tx1">
                    <a:lumMod val="95000"/>
                    <a:lumOff val="5000"/>
                  </a:schemeClr>
                </a:solidFill>
                <a:latin typeface="方正粗活意简体" pitchFamily="65" charset="-122"/>
                <a:ea typeface="方正粗活意简体" pitchFamily="65" charset="-122"/>
              </a:rPr>
              <a:t>：生成绝对定位的元素，相对于浏览器窗口进行定位。</a:t>
            </a:r>
            <a:endParaRPr lang="zh-CN" altLang="en-US" sz="2400" dirty="0">
              <a:latin typeface="微软雅黑" panose="020B0503020204020204" pitchFamily="34" charset="-122"/>
              <a:ea typeface="微软雅黑" panose="020B0503020204020204" pitchFamily="34" charset="-122"/>
            </a:endParaRPr>
          </a:p>
        </p:txBody>
      </p:sp>
      <p:sp>
        <p:nvSpPr>
          <p:cNvPr id="30" name="文本框 18"/>
          <p:cNvSpPr txBox="1">
            <a:spLocks noChangeArrowheads="1"/>
          </p:cNvSpPr>
          <p:nvPr/>
        </p:nvSpPr>
        <p:spPr bwMode="auto">
          <a:xfrm>
            <a:off x="461963" y="909638"/>
            <a:ext cx="48101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pPr>
            <a:r>
              <a:rPr lang="en-US" altLang="zh-CN" sz="3600">
                <a:latin typeface="方正粗活意简体" panose="03000509000000000000" pitchFamily="65" charset="-122"/>
                <a:ea typeface="方正粗活意简体" panose="03000509000000000000" pitchFamily="65" charset="-122"/>
              </a:rPr>
              <a:t>position</a:t>
            </a:r>
            <a:r>
              <a:rPr lang="zh-CN" altLang="en-US" sz="3600">
                <a:latin typeface="方正粗活意简体" panose="03000509000000000000" pitchFamily="65" charset="-122"/>
                <a:ea typeface="方正粗活意简体" panose="03000509000000000000" pitchFamily="65" charset="-122"/>
              </a:rPr>
              <a:t>属性的介绍</a:t>
            </a:r>
          </a:p>
        </p:txBody>
      </p:sp>
    </p:spTree>
    <p:extLst>
      <p:ext uri="{BB962C8B-B14F-4D97-AF65-F5344CB8AC3E}">
        <p14:creationId xmlns:p14="http://schemas.microsoft.com/office/powerpoint/2010/main" val="3872768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2</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3" y="1034001"/>
            <a:ext cx="2034953"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绝对定位</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4-1</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3" name="矩形 2"/>
          <p:cNvSpPr/>
          <p:nvPr/>
        </p:nvSpPr>
        <p:spPr>
          <a:xfrm>
            <a:off x="272312" y="1994801"/>
            <a:ext cx="8447826" cy="3970318"/>
          </a:xfrm>
          <a:prstGeom prst="rect">
            <a:avLst/>
          </a:prstGeom>
        </p:spPr>
        <p:txBody>
          <a:bodyPr wrap="square">
            <a:spAutoFit/>
          </a:bodyPr>
          <a:lstStyle/>
          <a:p>
            <a:pPr>
              <a:lnSpc>
                <a:spcPct val="150000"/>
              </a:lnSpc>
            </a:pPr>
            <a:r>
              <a:rPr lang="zh-CN" altLang="en-US" sz="2400" dirty="0">
                <a:solidFill>
                  <a:schemeClr val="tx1">
                    <a:lumMod val="95000"/>
                    <a:lumOff val="5000"/>
                  </a:schemeClr>
                </a:solidFill>
                <a:latin typeface="方正粗活意简体" pitchFamily="65" charset="-122"/>
                <a:ea typeface="方正粗活意简体" pitchFamily="65" charset="-122"/>
              </a:rPr>
              <a:t>position:absolute;</a:t>
            </a:r>
          </a:p>
          <a:p>
            <a:pPr>
              <a:lnSpc>
                <a:spcPct val="150000"/>
              </a:lnSpc>
            </a:pPr>
            <a:r>
              <a:rPr lang="zh-CN" altLang="en-US" sz="2400" dirty="0">
                <a:solidFill>
                  <a:schemeClr val="tx1">
                    <a:lumMod val="95000"/>
                    <a:lumOff val="5000"/>
                  </a:schemeClr>
                </a:solidFill>
                <a:latin typeface="方正粗活意简体" pitchFamily="65" charset="-122"/>
                <a:ea typeface="方正粗活意简体" pitchFamily="65" charset="-122"/>
              </a:rPr>
              <a:t>作用是将元素从文档流中拖出来，然后使用left、right、top、bottom属性相对于其最接近的一个具有定位属性的父级元素进行绝对定位。如果不存在父级元素，则相对于body元素，即相对于浏览器窗口。如果在没有父级元素的情况下，存在文本，则以它前面的最后一个文字的右上角为原点进行定位但是不断开文字，覆盖于</a:t>
            </a:r>
            <a:r>
              <a:rPr lang="zh-CN" altLang="en-US" sz="2400" dirty="0" smtClean="0">
                <a:solidFill>
                  <a:schemeClr val="tx1">
                    <a:lumMod val="95000"/>
                    <a:lumOff val="5000"/>
                  </a:schemeClr>
                </a:solidFill>
                <a:latin typeface="方正粗活意简体" pitchFamily="65" charset="-122"/>
                <a:ea typeface="方正粗活意简体" pitchFamily="65" charset="-122"/>
              </a:rPr>
              <a:t>上方。</a:t>
            </a:r>
          </a:p>
        </p:txBody>
      </p:sp>
    </p:spTree>
    <p:extLst>
      <p:ext uri="{BB962C8B-B14F-4D97-AF65-F5344CB8AC3E}">
        <p14:creationId xmlns:p14="http://schemas.microsoft.com/office/powerpoint/2010/main" val="374699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003056"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相对定位</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4-2</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3" name="矩形 2"/>
          <p:cNvSpPr/>
          <p:nvPr/>
        </p:nvSpPr>
        <p:spPr>
          <a:xfrm>
            <a:off x="383494" y="2084610"/>
            <a:ext cx="8548575" cy="2862322"/>
          </a:xfrm>
          <a:prstGeom prst="rect">
            <a:avLst/>
          </a:prstGeom>
        </p:spPr>
        <p:txBody>
          <a:bodyPr wrap="square">
            <a:spAutoFit/>
          </a:bodyPr>
          <a:lstStyle/>
          <a:p>
            <a:pPr>
              <a:lnSpc>
                <a:spcPct val="150000"/>
              </a:lnSpc>
            </a:pPr>
            <a:r>
              <a:rPr lang="zh-CN" altLang="en-US" sz="2400" dirty="0">
                <a:solidFill>
                  <a:schemeClr val="tx1">
                    <a:lumMod val="95000"/>
                    <a:lumOff val="5000"/>
                  </a:schemeClr>
                </a:solidFill>
                <a:latin typeface="方正粗活意简体" pitchFamily="65" charset="-122"/>
                <a:ea typeface="方正粗活意简体" pitchFamily="65" charset="-122"/>
              </a:rPr>
              <a:t>position</a:t>
            </a:r>
            <a:r>
              <a:rPr lang="zh-CN" altLang="en-US" sz="2400" dirty="0" smtClean="0">
                <a:solidFill>
                  <a:schemeClr val="tx1">
                    <a:lumMod val="95000"/>
                    <a:lumOff val="5000"/>
                  </a:schemeClr>
                </a:solidFill>
                <a:latin typeface="方正粗活意简体" pitchFamily="65" charset="-122"/>
                <a:ea typeface="方正粗活意简体" pitchFamily="65" charset="-122"/>
              </a:rPr>
              <a:t>:</a:t>
            </a:r>
            <a:r>
              <a:rPr lang="en-US" altLang="zh-CN" sz="2400" dirty="0">
                <a:solidFill>
                  <a:schemeClr val="tx1">
                    <a:lumMod val="95000"/>
                    <a:lumOff val="5000"/>
                  </a:schemeClr>
                </a:solidFill>
                <a:latin typeface="方正粗活意简体" pitchFamily="65" charset="-122"/>
                <a:ea typeface="方正粗活意简体" pitchFamily="65" charset="-122"/>
              </a:rPr>
              <a:t>relative</a:t>
            </a:r>
            <a:r>
              <a:rPr lang="zh-CN" altLang="en-US" sz="2400" dirty="0" smtClean="0">
                <a:solidFill>
                  <a:schemeClr val="tx1">
                    <a:lumMod val="95000"/>
                    <a:lumOff val="5000"/>
                  </a:schemeClr>
                </a:solidFill>
                <a:latin typeface="方正粗活意简体" pitchFamily="65" charset="-122"/>
                <a:ea typeface="方正粗活意简体" pitchFamily="65" charset="-122"/>
              </a:rPr>
              <a:t>;</a:t>
            </a:r>
            <a:endParaRPr lang="en-US" altLang="zh-CN" sz="2400" dirty="0" smtClean="0">
              <a:solidFill>
                <a:schemeClr val="tx1">
                  <a:lumMod val="95000"/>
                  <a:lumOff val="5000"/>
                </a:schemeClr>
              </a:solidFill>
              <a:latin typeface="方正粗活意简体" pitchFamily="65" charset="-122"/>
              <a:ea typeface="方正粗活意简体" pitchFamily="65" charset="-122"/>
            </a:endParaRPr>
          </a:p>
          <a:p>
            <a:pPr>
              <a:lnSpc>
                <a:spcPct val="150000"/>
              </a:lnSpc>
            </a:pPr>
            <a:r>
              <a:rPr lang="zh-CN" altLang="en-US" sz="2400" dirty="0" smtClean="0">
                <a:solidFill>
                  <a:schemeClr val="tx1">
                    <a:lumMod val="95000"/>
                    <a:lumOff val="5000"/>
                  </a:schemeClr>
                </a:solidFill>
                <a:latin typeface="方正粗活意简体" pitchFamily="65" charset="-122"/>
                <a:ea typeface="方正粗活意简体" pitchFamily="65" charset="-122"/>
              </a:rPr>
              <a:t>设置</a:t>
            </a:r>
            <a:r>
              <a:rPr lang="zh-CN" altLang="en-US" sz="2400" dirty="0">
                <a:solidFill>
                  <a:schemeClr val="tx1">
                    <a:lumMod val="95000"/>
                    <a:lumOff val="5000"/>
                  </a:schemeClr>
                </a:solidFill>
                <a:latin typeface="方正粗活意简体" pitchFamily="65" charset="-122"/>
                <a:ea typeface="方正粗活意简体" pitchFamily="65" charset="-122"/>
              </a:rPr>
              <a:t>方法同绝对定位，作用是默认参照父级元素的原点为原点，无父级元素则以文本流的顺序在上一个元素的底部为原点，配合TRBL进行定位，当父级元素内有padding等CSS属性时，当前级的原点则参照父级元素内容区的原点进行定位。</a:t>
            </a:r>
          </a:p>
        </p:txBody>
      </p:sp>
    </p:spTree>
    <p:extLst>
      <p:ext uri="{BB962C8B-B14F-4D97-AF65-F5344CB8AC3E}">
        <p14:creationId xmlns:p14="http://schemas.microsoft.com/office/powerpoint/2010/main" val="143660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4</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3" y="1034001"/>
            <a:ext cx="3927549"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绝对、相对组合定位</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4-3</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4" name="矩形 3"/>
          <p:cNvSpPr/>
          <p:nvPr/>
        </p:nvSpPr>
        <p:spPr>
          <a:xfrm>
            <a:off x="329609" y="1864998"/>
            <a:ext cx="8484782" cy="4524315"/>
          </a:xfrm>
          <a:prstGeom prst="rect">
            <a:avLst/>
          </a:prstGeom>
        </p:spPr>
        <p:txBody>
          <a:bodyPr wrap="square">
            <a:spAutoFit/>
          </a:bodyPr>
          <a:lstStyle/>
          <a:p>
            <a:r>
              <a:rPr lang="en-US" altLang="zh-CN" sz="2400" dirty="0" smtClean="0">
                <a:solidFill>
                  <a:schemeClr val="tx1">
                    <a:lumMod val="95000"/>
                    <a:lumOff val="5000"/>
                  </a:schemeClr>
                </a:solidFill>
                <a:latin typeface="方正粗活意简体" pitchFamily="65" charset="-122"/>
                <a:ea typeface="方正粗活意简体" pitchFamily="65" charset="-122"/>
              </a:rPr>
              <a:t>1</a:t>
            </a:r>
            <a:r>
              <a:rPr lang="zh-CN" altLang="en-US" sz="2400" dirty="0" smtClean="0">
                <a:solidFill>
                  <a:schemeClr val="tx1">
                    <a:lumMod val="95000"/>
                    <a:lumOff val="5000"/>
                  </a:schemeClr>
                </a:solidFill>
                <a:latin typeface="方正粗活意简体" pitchFamily="65" charset="-122"/>
                <a:ea typeface="方正粗活意简体" pitchFamily="65" charset="-122"/>
              </a:rPr>
              <a:t>、如果</a:t>
            </a:r>
            <a:r>
              <a:rPr lang="zh-CN" altLang="en-US" sz="2400" dirty="0">
                <a:solidFill>
                  <a:schemeClr val="tx1">
                    <a:lumMod val="95000"/>
                    <a:lumOff val="5000"/>
                  </a:schemeClr>
                </a:solidFill>
                <a:latin typeface="方正粗活意简体" pitchFamily="65" charset="-122"/>
                <a:ea typeface="方正粗活意简体" pitchFamily="65" charset="-122"/>
              </a:rPr>
              <a:t>没有TRBL，以父级元素的左上角为原点进行定位，在没有父级元素的时候，参照浏览器左上角(到这里和absolute相同条件下一样)，如果在没有父级元素的情况下，存在文本，则以文本的底部为原点进行定位并将文字断开(和absolute不同)。</a:t>
            </a:r>
          </a:p>
          <a:p>
            <a:r>
              <a:rPr lang="en-US" altLang="zh-CN" sz="2400" dirty="0" smtClean="0">
                <a:solidFill>
                  <a:schemeClr val="tx1">
                    <a:lumMod val="95000"/>
                    <a:lumOff val="5000"/>
                  </a:schemeClr>
                </a:solidFill>
                <a:latin typeface="方正粗活意简体" pitchFamily="65" charset="-122"/>
                <a:ea typeface="方正粗活意简体" pitchFamily="65" charset="-122"/>
              </a:rPr>
              <a:t>2</a:t>
            </a:r>
            <a:r>
              <a:rPr lang="zh-CN" altLang="en-US" sz="2400" dirty="0" smtClean="0">
                <a:solidFill>
                  <a:schemeClr val="tx1">
                    <a:lumMod val="95000"/>
                    <a:lumOff val="5000"/>
                  </a:schemeClr>
                </a:solidFill>
                <a:latin typeface="方正粗活意简体" pitchFamily="65" charset="-122"/>
                <a:ea typeface="方正粗活意简体" pitchFamily="65" charset="-122"/>
              </a:rPr>
              <a:t>、如果</a:t>
            </a:r>
            <a:r>
              <a:rPr lang="zh-CN" altLang="en-US" sz="2400" dirty="0">
                <a:solidFill>
                  <a:schemeClr val="tx1">
                    <a:lumMod val="95000"/>
                    <a:lumOff val="5000"/>
                  </a:schemeClr>
                </a:solidFill>
                <a:latin typeface="方正粗活意简体" pitchFamily="65" charset="-122"/>
                <a:ea typeface="方正粗活意简体" pitchFamily="65" charset="-122"/>
              </a:rPr>
              <a:t>设定TRBL，并且父级元素没有设定position属性，仍旧以父级元素的左上角为原点进行定位(和absolute不同)。</a:t>
            </a:r>
          </a:p>
          <a:p>
            <a:r>
              <a:rPr lang="en-US" altLang="zh-CN" sz="2400" dirty="0" smtClean="0">
                <a:solidFill>
                  <a:schemeClr val="tx1">
                    <a:lumMod val="95000"/>
                    <a:lumOff val="5000"/>
                  </a:schemeClr>
                </a:solidFill>
                <a:latin typeface="方正粗活意简体" pitchFamily="65" charset="-122"/>
                <a:ea typeface="方正粗活意简体" pitchFamily="65" charset="-122"/>
              </a:rPr>
              <a:t>3</a:t>
            </a:r>
            <a:r>
              <a:rPr lang="zh-CN" altLang="en-US" sz="2400" dirty="0" smtClean="0">
                <a:solidFill>
                  <a:schemeClr val="tx1">
                    <a:lumMod val="95000"/>
                    <a:lumOff val="5000"/>
                  </a:schemeClr>
                </a:solidFill>
                <a:latin typeface="方正粗活意简体" pitchFamily="65" charset="-122"/>
                <a:ea typeface="方正粗活意简体" pitchFamily="65" charset="-122"/>
              </a:rPr>
              <a:t>、如果</a:t>
            </a:r>
            <a:r>
              <a:rPr lang="zh-CN" altLang="en-US" sz="2400" dirty="0">
                <a:solidFill>
                  <a:schemeClr val="tx1">
                    <a:lumMod val="95000"/>
                    <a:lumOff val="5000"/>
                  </a:schemeClr>
                </a:solidFill>
                <a:latin typeface="方正粗活意简体" pitchFamily="65" charset="-122"/>
                <a:ea typeface="方正粗活意简体" pitchFamily="65" charset="-122"/>
              </a:rPr>
              <a:t>设定TRBL，并且父级元素设定position属性(无论是absolute还是relative)，则以父级的左上角为原点进行定位，位置由TRBL决定(前半段和absolute一样)。如果父级元素有padding属性，那么就以内容区域的左上角为原点，进行定位(后半段和absolute不同)。</a:t>
            </a:r>
          </a:p>
        </p:txBody>
      </p:sp>
    </p:spTree>
    <p:extLst>
      <p:ext uri="{BB962C8B-B14F-4D97-AF65-F5344CB8AC3E}">
        <p14:creationId xmlns:p14="http://schemas.microsoft.com/office/powerpoint/2010/main" val="38914763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5</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3" y="1034001"/>
            <a:ext cx="3927549"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绝对、相对组合定位</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4-3</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4" name="矩形 3"/>
          <p:cNvSpPr/>
          <p:nvPr/>
        </p:nvSpPr>
        <p:spPr>
          <a:xfrm>
            <a:off x="387368" y="1621444"/>
            <a:ext cx="8369264" cy="5078313"/>
          </a:xfrm>
          <a:prstGeom prst="rect">
            <a:avLst/>
          </a:prstGeom>
        </p:spPr>
        <p:txBody>
          <a:bodyPr wrap="square">
            <a:spAutoFit/>
          </a:bodyPr>
          <a:lstStyle/>
          <a:p>
            <a:pPr>
              <a:lnSpc>
                <a:spcPct val="150000"/>
              </a:lnSpc>
            </a:pPr>
            <a:r>
              <a:rPr lang="zh-CN" altLang="en-US" sz="2400" dirty="0" smtClean="0">
                <a:solidFill>
                  <a:schemeClr val="tx1">
                    <a:lumMod val="95000"/>
                    <a:lumOff val="5000"/>
                  </a:schemeClr>
                </a:solidFill>
                <a:latin typeface="方正粗活意简体" pitchFamily="65" charset="-122"/>
                <a:ea typeface="方正粗活意简体" pitchFamily="65" charset="-122"/>
              </a:rPr>
              <a:t>无论</a:t>
            </a:r>
            <a:r>
              <a:rPr lang="zh-CN" altLang="en-US" sz="2400" dirty="0">
                <a:solidFill>
                  <a:schemeClr val="tx1">
                    <a:lumMod val="95000"/>
                    <a:lumOff val="5000"/>
                  </a:schemeClr>
                </a:solidFill>
                <a:latin typeface="方正粗活意简体" pitchFamily="65" charset="-122"/>
                <a:ea typeface="方正粗活意简体" pitchFamily="65" charset="-122"/>
              </a:rPr>
              <a:t>父级元素存在不存在，无论有没有</a:t>
            </a:r>
            <a:r>
              <a:rPr lang="en-US" altLang="zh-CN" sz="2400" dirty="0">
                <a:solidFill>
                  <a:schemeClr val="tx1">
                    <a:lumMod val="95000"/>
                    <a:lumOff val="5000"/>
                  </a:schemeClr>
                </a:solidFill>
                <a:latin typeface="方正粗活意简体" pitchFamily="65" charset="-122"/>
                <a:ea typeface="方正粗活意简体" pitchFamily="65" charset="-122"/>
              </a:rPr>
              <a:t>TRBL</a:t>
            </a:r>
            <a:r>
              <a:rPr lang="zh-CN" altLang="en-US" sz="2400" dirty="0">
                <a:solidFill>
                  <a:schemeClr val="tx1">
                    <a:lumMod val="95000"/>
                    <a:lumOff val="5000"/>
                  </a:schemeClr>
                </a:solidFill>
                <a:latin typeface="方正粗活意简体" pitchFamily="65" charset="-122"/>
                <a:ea typeface="方正粗活意简体" pitchFamily="65" charset="-122"/>
              </a:rPr>
              <a:t>，均是以父级元素的左上角进行定位，但是父级元素的</a:t>
            </a:r>
            <a:r>
              <a:rPr lang="en-US" altLang="zh-CN" sz="2400" dirty="0">
                <a:solidFill>
                  <a:schemeClr val="tx1">
                    <a:lumMod val="95000"/>
                    <a:lumOff val="5000"/>
                  </a:schemeClr>
                </a:solidFill>
                <a:latin typeface="方正粗活意简体" pitchFamily="65" charset="-122"/>
                <a:ea typeface="方正粗活意简体" pitchFamily="65" charset="-122"/>
              </a:rPr>
              <a:t>padding</a:t>
            </a:r>
            <a:r>
              <a:rPr lang="zh-CN" altLang="en-US" sz="2400" dirty="0">
                <a:solidFill>
                  <a:schemeClr val="tx1">
                    <a:lumMod val="95000"/>
                    <a:lumOff val="5000"/>
                  </a:schemeClr>
                </a:solidFill>
                <a:latin typeface="方正粗活意简体" pitchFamily="65" charset="-122"/>
                <a:ea typeface="方正粗活意简体" pitchFamily="65" charset="-122"/>
              </a:rPr>
              <a:t>属性会对其影响。</a:t>
            </a:r>
          </a:p>
          <a:p>
            <a:pPr>
              <a:lnSpc>
                <a:spcPct val="150000"/>
              </a:lnSpc>
            </a:pPr>
            <a:r>
              <a:rPr lang="en-US" altLang="zh-CN" sz="2400" dirty="0">
                <a:solidFill>
                  <a:schemeClr val="tx1">
                    <a:lumMod val="95000"/>
                    <a:lumOff val="5000"/>
                  </a:schemeClr>
                </a:solidFill>
                <a:latin typeface="方正粗活意简体" pitchFamily="65" charset="-122"/>
                <a:ea typeface="方正粗活意简体" pitchFamily="65" charset="-122"/>
              </a:rPr>
              <a:t>top</a:t>
            </a:r>
            <a:r>
              <a:rPr lang="zh-CN" altLang="en-US" sz="2400" dirty="0">
                <a:solidFill>
                  <a:schemeClr val="tx1">
                    <a:lumMod val="95000"/>
                    <a:lumOff val="5000"/>
                  </a:schemeClr>
                </a:solidFill>
                <a:latin typeface="方正粗活意简体" pitchFamily="65" charset="-122"/>
                <a:ea typeface="方正粗活意简体" pitchFamily="65" charset="-122"/>
              </a:rPr>
              <a:t>的值表示对象相对原位置向下偏移的距离，</a:t>
            </a:r>
            <a:r>
              <a:rPr lang="en-US" altLang="zh-CN" sz="2400" dirty="0">
                <a:solidFill>
                  <a:schemeClr val="tx1">
                    <a:lumMod val="95000"/>
                    <a:lumOff val="5000"/>
                  </a:schemeClr>
                </a:solidFill>
                <a:latin typeface="方正粗活意简体" pitchFamily="65" charset="-122"/>
                <a:ea typeface="方正粗活意简体" pitchFamily="65" charset="-122"/>
              </a:rPr>
              <a:t>bottom</a:t>
            </a:r>
            <a:r>
              <a:rPr lang="zh-CN" altLang="en-US" sz="2400" dirty="0">
                <a:solidFill>
                  <a:schemeClr val="tx1">
                    <a:lumMod val="95000"/>
                    <a:lumOff val="5000"/>
                  </a:schemeClr>
                </a:solidFill>
                <a:latin typeface="方正粗活意简体" pitchFamily="65" charset="-122"/>
                <a:ea typeface="方正粗活意简体" pitchFamily="65" charset="-122"/>
              </a:rPr>
              <a:t>的值表示对象相对原位置向上偏移的距离，两者同时存在时，只有</a:t>
            </a:r>
            <a:r>
              <a:rPr lang="en-US" altLang="zh-CN" sz="2400" dirty="0">
                <a:solidFill>
                  <a:schemeClr val="tx1">
                    <a:lumMod val="95000"/>
                    <a:lumOff val="5000"/>
                  </a:schemeClr>
                </a:solidFill>
                <a:latin typeface="方正粗活意简体" pitchFamily="65" charset="-122"/>
                <a:ea typeface="方正粗活意简体" pitchFamily="65" charset="-122"/>
              </a:rPr>
              <a:t>top</a:t>
            </a:r>
            <a:r>
              <a:rPr lang="zh-CN" altLang="en-US" sz="2400" dirty="0">
                <a:solidFill>
                  <a:schemeClr val="tx1">
                    <a:lumMod val="95000"/>
                    <a:lumOff val="5000"/>
                  </a:schemeClr>
                </a:solidFill>
                <a:latin typeface="方正粗活意简体" pitchFamily="65" charset="-122"/>
                <a:ea typeface="方正粗活意简体" pitchFamily="65" charset="-122"/>
              </a:rPr>
              <a:t>起作用。</a:t>
            </a:r>
          </a:p>
          <a:p>
            <a:pPr>
              <a:lnSpc>
                <a:spcPct val="150000"/>
              </a:lnSpc>
            </a:pPr>
            <a:r>
              <a:rPr lang="en-US" altLang="zh-CN" sz="2400" dirty="0">
                <a:solidFill>
                  <a:schemeClr val="tx1">
                    <a:lumMod val="95000"/>
                    <a:lumOff val="5000"/>
                  </a:schemeClr>
                </a:solidFill>
                <a:latin typeface="方正粗活意简体" pitchFamily="65" charset="-122"/>
                <a:ea typeface="方正粗活意简体" pitchFamily="65" charset="-122"/>
              </a:rPr>
              <a:t>left</a:t>
            </a:r>
            <a:r>
              <a:rPr lang="zh-CN" altLang="en-US" sz="2400" dirty="0">
                <a:solidFill>
                  <a:schemeClr val="tx1">
                    <a:lumMod val="95000"/>
                    <a:lumOff val="5000"/>
                  </a:schemeClr>
                </a:solidFill>
                <a:latin typeface="方正粗活意简体" pitchFamily="65" charset="-122"/>
                <a:ea typeface="方正粗活意简体" pitchFamily="65" charset="-122"/>
              </a:rPr>
              <a:t>的值表示对象相对原位置向右偏移的距离，</a:t>
            </a:r>
            <a:r>
              <a:rPr lang="en-US" altLang="zh-CN" sz="2400" dirty="0">
                <a:solidFill>
                  <a:schemeClr val="tx1">
                    <a:lumMod val="95000"/>
                    <a:lumOff val="5000"/>
                  </a:schemeClr>
                </a:solidFill>
                <a:latin typeface="方正粗活意简体" pitchFamily="65" charset="-122"/>
                <a:ea typeface="方正粗活意简体" pitchFamily="65" charset="-122"/>
              </a:rPr>
              <a:t>right</a:t>
            </a:r>
            <a:r>
              <a:rPr lang="zh-CN" altLang="en-US" sz="2400" dirty="0">
                <a:solidFill>
                  <a:schemeClr val="tx1">
                    <a:lumMod val="95000"/>
                    <a:lumOff val="5000"/>
                  </a:schemeClr>
                </a:solidFill>
                <a:latin typeface="方正粗活意简体" pitchFamily="65" charset="-122"/>
                <a:ea typeface="方正粗活意简体" pitchFamily="65" charset="-122"/>
              </a:rPr>
              <a:t>的值表示对象相对原位置向左偏移的距离，两者同时存在时，只有</a:t>
            </a:r>
            <a:r>
              <a:rPr lang="en-US" altLang="zh-CN" sz="2400" dirty="0">
                <a:solidFill>
                  <a:schemeClr val="tx1">
                    <a:lumMod val="95000"/>
                    <a:lumOff val="5000"/>
                  </a:schemeClr>
                </a:solidFill>
                <a:latin typeface="方正粗活意简体" pitchFamily="65" charset="-122"/>
                <a:ea typeface="方正粗活意简体" pitchFamily="65" charset="-122"/>
              </a:rPr>
              <a:t>left</a:t>
            </a:r>
            <a:r>
              <a:rPr lang="zh-CN" altLang="en-US" sz="2400" dirty="0">
                <a:solidFill>
                  <a:schemeClr val="tx1">
                    <a:lumMod val="95000"/>
                    <a:lumOff val="5000"/>
                  </a:schemeClr>
                </a:solidFill>
                <a:latin typeface="方正粗活意简体" pitchFamily="65" charset="-122"/>
                <a:ea typeface="方正粗活意简体" pitchFamily="65" charset="-122"/>
              </a:rPr>
              <a:t>起作用。</a:t>
            </a:r>
          </a:p>
        </p:txBody>
      </p:sp>
    </p:spTree>
    <p:extLst>
      <p:ext uri="{BB962C8B-B14F-4D97-AF65-F5344CB8AC3E}">
        <p14:creationId xmlns:p14="http://schemas.microsoft.com/office/powerpoint/2010/main" val="376604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6</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en-US" altLang="zh-CN" sz="3200" dirty="0">
                <a:latin typeface="方正粗活意简体" panose="03000509000000000000" pitchFamily="65" charset="-122"/>
                <a:ea typeface="方正粗活意简体" panose="03000509000000000000" pitchFamily="65" charset="-122"/>
              </a:rPr>
              <a:t>z-index</a:t>
            </a:r>
            <a:r>
              <a:rPr lang="zh-CN" altLang="en-US" sz="3200" dirty="0">
                <a:latin typeface="方正粗活意简体" panose="03000509000000000000" pitchFamily="65" charset="-122"/>
                <a:ea typeface="方正粗活意简体" panose="03000509000000000000" pitchFamily="65" charset="-122"/>
              </a:rPr>
              <a:t>定位</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4-4</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3" name="矩形 2"/>
          <p:cNvSpPr/>
          <p:nvPr/>
        </p:nvSpPr>
        <p:spPr>
          <a:xfrm>
            <a:off x="404037" y="1997839"/>
            <a:ext cx="8208335" cy="3918830"/>
          </a:xfrm>
          <a:prstGeom prst="rect">
            <a:avLst/>
          </a:prstGeom>
        </p:spPr>
        <p:txBody>
          <a:bodyPr wrap="square">
            <a:spAutoFit/>
          </a:bodyPr>
          <a:lstStyle/>
          <a:p>
            <a:pPr>
              <a:lnSpc>
                <a:spcPct val="150000"/>
              </a:lnSpc>
            </a:pPr>
            <a:r>
              <a:rPr lang="zh-CN" altLang="en-US" sz="2400" dirty="0" smtClean="0">
                <a:solidFill>
                  <a:schemeClr val="tx1">
                    <a:lumMod val="95000"/>
                    <a:lumOff val="5000"/>
                  </a:schemeClr>
                </a:solidFill>
                <a:latin typeface="方正粗活意简体" pitchFamily="65" charset="-122"/>
                <a:ea typeface="方正粗活意简体" pitchFamily="65" charset="-122"/>
              </a:rPr>
              <a:t>又称为对象的层叠顺序，它用一个整数来定义堆叠的层次，整数值越大，则被层叠在越上面，当然这是指同级元素间的堆叠，如果两个对象的此属性具有同样的值，那么将依据它们在HTML文档中流的顺序层叠，写在后面的将会覆盖前面的。需要注意的是，父子关系是无法用z-index来设定上下关系的，一定是子级元素在上父级元素在下。使用static定位或无position定位的元素z-index属性是无效的。</a:t>
            </a:r>
            <a:endParaRPr lang="zh-CN" altLang="en-US" sz="2400" dirty="0">
              <a:solidFill>
                <a:schemeClr val="tx1">
                  <a:lumMod val="95000"/>
                  <a:lumOff val="5000"/>
                </a:schemeClr>
              </a:solidFill>
              <a:latin typeface="方正粗活意简体" pitchFamily="65" charset="-122"/>
              <a:ea typeface="方正粗活意简体" pitchFamily="65" charset="-122"/>
            </a:endParaRPr>
          </a:p>
        </p:txBody>
      </p:sp>
    </p:spTree>
    <p:extLst>
      <p:ext uri="{BB962C8B-B14F-4D97-AF65-F5344CB8AC3E}">
        <p14:creationId xmlns:p14="http://schemas.microsoft.com/office/powerpoint/2010/main" val="55604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7</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1928628"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固定定位</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4-5</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3" name="矩形 2"/>
          <p:cNvSpPr/>
          <p:nvPr/>
        </p:nvSpPr>
        <p:spPr>
          <a:xfrm>
            <a:off x="297712" y="1964353"/>
            <a:ext cx="8347998" cy="4893647"/>
          </a:xfrm>
          <a:prstGeom prst="rect">
            <a:avLst/>
          </a:prstGeom>
        </p:spPr>
        <p:txBody>
          <a:bodyPr wrap="square">
            <a:spAutoFit/>
          </a:bodyPr>
          <a:lstStyle/>
          <a:p>
            <a:r>
              <a:rPr lang="en-US" altLang="zh-CN" sz="2400" dirty="0" smtClean="0">
                <a:solidFill>
                  <a:schemeClr val="tx1">
                    <a:lumMod val="95000"/>
                    <a:lumOff val="5000"/>
                  </a:schemeClr>
                </a:solidFill>
                <a:latin typeface="方正粗活意简体" pitchFamily="65" charset="-122"/>
                <a:ea typeface="方正粗活意简体" pitchFamily="65" charset="-122"/>
              </a:rPr>
              <a:t>position:</a:t>
            </a:r>
            <a:r>
              <a:rPr lang="zh-CN" altLang="en-US" sz="2400" dirty="0" smtClean="0">
                <a:solidFill>
                  <a:schemeClr val="tx1">
                    <a:lumMod val="95000"/>
                    <a:lumOff val="5000"/>
                  </a:schemeClr>
                </a:solidFill>
                <a:latin typeface="方正粗活意简体" pitchFamily="65" charset="-122"/>
                <a:ea typeface="方正粗活意简体" pitchFamily="65" charset="-122"/>
              </a:rPr>
              <a:t>fixed</a:t>
            </a:r>
            <a:r>
              <a:rPr lang="en-US" altLang="zh-CN" sz="2400" dirty="0" smtClean="0">
                <a:solidFill>
                  <a:schemeClr val="tx1">
                    <a:lumMod val="95000"/>
                    <a:lumOff val="5000"/>
                  </a:schemeClr>
                </a:solidFill>
                <a:latin typeface="方正粗活意简体" pitchFamily="65" charset="-122"/>
                <a:ea typeface="方正粗活意简体" pitchFamily="65" charset="-122"/>
              </a:rPr>
              <a:t>;</a:t>
            </a:r>
            <a:endParaRPr lang="zh-CN" altLang="en-US" sz="2400" dirty="0">
              <a:solidFill>
                <a:schemeClr val="tx1">
                  <a:lumMod val="95000"/>
                  <a:lumOff val="5000"/>
                </a:schemeClr>
              </a:solidFill>
              <a:latin typeface="方正粗活意简体" pitchFamily="65" charset="-122"/>
              <a:ea typeface="方正粗活意简体" pitchFamily="65" charset="-122"/>
            </a:endParaRPr>
          </a:p>
          <a:p>
            <a:r>
              <a:rPr lang="zh-CN" altLang="en-US" sz="2400" dirty="0">
                <a:solidFill>
                  <a:schemeClr val="tx1">
                    <a:lumMod val="95000"/>
                    <a:lumOff val="5000"/>
                  </a:schemeClr>
                </a:solidFill>
                <a:latin typeface="方正粗活意简体" pitchFamily="65" charset="-122"/>
                <a:ea typeface="方正粗活意简体" pitchFamily="65" charset="-122"/>
              </a:rPr>
              <a:t>生成绝对定位的元素，相对于浏览器窗口进行定位。元素的位置通过TRBL属性进行规定。可通过z-index进行层次分级</a:t>
            </a:r>
            <a:r>
              <a:rPr lang="zh-CN" altLang="en-US" sz="2400" dirty="0" smtClean="0">
                <a:solidFill>
                  <a:schemeClr val="tx1">
                    <a:lumMod val="95000"/>
                    <a:lumOff val="5000"/>
                  </a:schemeClr>
                </a:solidFill>
                <a:latin typeface="方正粗活意简体" pitchFamily="65" charset="-122"/>
                <a:ea typeface="方正粗活意简体" pitchFamily="65" charset="-122"/>
              </a:rPr>
              <a:t>。</a:t>
            </a:r>
            <a:endParaRPr lang="en-US" altLang="zh-CN" sz="2400" dirty="0" smtClean="0">
              <a:solidFill>
                <a:schemeClr val="tx1">
                  <a:lumMod val="95000"/>
                  <a:lumOff val="5000"/>
                </a:schemeClr>
              </a:solidFill>
              <a:latin typeface="方正粗活意简体" pitchFamily="65" charset="-122"/>
              <a:ea typeface="方正粗活意简体" pitchFamily="65" charset="-122"/>
            </a:endParaRPr>
          </a:p>
          <a:p>
            <a:r>
              <a:rPr lang="zh-CN" altLang="en-US" sz="2400" dirty="0">
                <a:solidFill>
                  <a:schemeClr val="tx1">
                    <a:lumMod val="95000"/>
                    <a:lumOff val="5000"/>
                  </a:schemeClr>
                </a:solidFill>
                <a:latin typeface="方正粗活意简体" pitchFamily="65" charset="-122"/>
                <a:ea typeface="方正粗活意简体" pitchFamily="65" charset="-122"/>
              </a:rPr>
              <a:t>固定定位与</a:t>
            </a:r>
            <a:r>
              <a:rPr lang="en-US" altLang="zh-CN" sz="2400" dirty="0">
                <a:solidFill>
                  <a:schemeClr val="tx1">
                    <a:lumMod val="95000"/>
                    <a:lumOff val="5000"/>
                  </a:schemeClr>
                </a:solidFill>
                <a:latin typeface="方正粗活意简体" pitchFamily="65" charset="-122"/>
                <a:ea typeface="方正粗活意简体" pitchFamily="65" charset="-122"/>
              </a:rPr>
              <a:t>absolute</a:t>
            </a:r>
            <a:r>
              <a:rPr lang="zh-CN" altLang="en-US" sz="2400" dirty="0">
                <a:solidFill>
                  <a:schemeClr val="tx1">
                    <a:lumMod val="95000"/>
                    <a:lumOff val="5000"/>
                  </a:schemeClr>
                </a:solidFill>
                <a:latin typeface="方正粗活意简体" pitchFamily="65" charset="-122"/>
                <a:ea typeface="方正粗活意简体" pitchFamily="65" charset="-122"/>
              </a:rPr>
              <a:t>定位类型类似，但它只能相对于浏览器窗口进行定位。元素的位置通过</a:t>
            </a:r>
            <a:r>
              <a:rPr lang="en-US" altLang="zh-CN" sz="2400" dirty="0">
                <a:solidFill>
                  <a:schemeClr val="tx1">
                    <a:lumMod val="95000"/>
                    <a:lumOff val="5000"/>
                  </a:schemeClr>
                </a:solidFill>
                <a:latin typeface="方正粗活意简体" pitchFamily="65" charset="-122"/>
                <a:ea typeface="方正粗活意简体" pitchFamily="65" charset="-122"/>
              </a:rPr>
              <a:t>TRBL</a:t>
            </a:r>
            <a:r>
              <a:rPr lang="zh-CN" altLang="en-US" sz="2400" dirty="0">
                <a:solidFill>
                  <a:schemeClr val="tx1">
                    <a:lumMod val="95000"/>
                    <a:lumOff val="5000"/>
                  </a:schemeClr>
                </a:solidFill>
                <a:latin typeface="方正粗活意简体" pitchFamily="65" charset="-122"/>
                <a:ea typeface="方正粗活意简体" pitchFamily="65" charset="-122"/>
              </a:rPr>
              <a:t>属性进行规定。根据任务要求可知，四个并列的固定定位的</a:t>
            </a:r>
            <a:r>
              <a:rPr lang="en-US" altLang="zh-CN" sz="2400" dirty="0">
                <a:solidFill>
                  <a:schemeClr val="tx1">
                    <a:lumMod val="95000"/>
                    <a:lumOff val="5000"/>
                  </a:schemeClr>
                </a:solidFill>
                <a:latin typeface="方正粗活意简体" pitchFamily="65" charset="-122"/>
                <a:ea typeface="方正粗活意简体" pitchFamily="65" charset="-122"/>
              </a:rPr>
              <a:t>div</a:t>
            </a:r>
            <a:r>
              <a:rPr lang="zh-CN" altLang="en-US" sz="2400" dirty="0">
                <a:solidFill>
                  <a:schemeClr val="tx1">
                    <a:lumMod val="95000"/>
                    <a:lumOff val="5000"/>
                  </a:schemeClr>
                </a:solidFill>
                <a:latin typeface="方正粗活意简体" pitchFamily="65" charset="-122"/>
                <a:ea typeface="方正粗活意简体" pitchFamily="65" charset="-122"/>
              </a:rPr>
              <a:t>元素的样式都是根据浏览器窗口进行</a:t>
            </a:r>
            <a:r>
              <a:rPr lang="en-US" altLang="zh-CN" sz="2400" dirty="0">
                <a:solidFill>
                  <a:schemeClr val="tx1">
                    <a:lumMod val="95000"/>
                    <a:lumOff val="5000"/>
                  </a:schemeClr>
                </a:solidFill>
                <a:latin typeface="方正粗活意简体" pitchFamily="65" charset="-122"/>
                <a:ea typeface="方正粗活意简体" pitchFamily="65" charset="-122"/>
              </a:rPr>
              <a:t>TRBL</a:t>
            </a:r>
            <a:r>
              <a:rPr lang="zh-CN" altLang="en-US" sz="2400" dirty="0">
                <a:solidFill>
                  <a:schemeClr val="tx1">
                    <a:lumMod val="95000"/>
                    <a:lumOff val="5000"/>
                  </a:schemeClr>
                </a:solidFill>
                <a:latin typeface="方正粗活意简体" pitchFamily="65" charset="-122"/>
                <a:ea typeface="方正粗活意简体" pitchFamily="65" charset="-122"/>
              </a:rPr>
              <a:t>设置的。由于视图本身是固定的，它不会随浏览器窗口的滚动条滚动而变化，除非你在屏幕中移动浏览器窗口的屏幕位置，或改变浏览器窗口的显示大小，因此固定定位的元素会始终位于浏览器窗口内视图的某个位置，不会受文档流动影响，这与</a:t>
            </a:r>
            <a:r>
              <a:rPr lang="en-US" altLang="zh-CN" sz="2400" dirty="0" err="1">
                <a:solidFill>
                  <a:schemeClr val="tx1">
                    <a:lumMod val="95000"/>
                    <a:lumOff val="5000"/>
                  </a:schemeClr>
                </a:solidFill>
                <a:latin typeface="方正粗活意简体" pitchFamily="65" charset="-122"/>
                <a:ea typeface="方正粗活意简体" pitchFamily="65" charset="-122"/>
              </a:rPr>
              <a:t>background-attachment:fixed</a:t>
            </a:r>
            <a:r>
              <a:rPr lang="en-US" altLang="zh-CN" sz="2400" dirty="0">
                <a:solidFill>
                  <a:schemeClr val="tx1">
                    <a:lumMod val="95000"/>
                    <a:lumOff val="5000"/>
                  </a:schemeClr>
                </a:solidFill>
                <a:latin typeface="方正粗活意简体" pitchFamily="65" charset="-122"/>
                <a:ea typeface="方正粗活意简体" pitchFamily="65" charset="-122"/>
              </a:rPr>
              <a:t>?</a:t>
            </a:r>
            <a:r>
              <a:rPr lang="zh-CN" altLang="en-US" sz="2400" dirty="0">
                <a:solidFill>
                  <a:schemeClr val="tx1">
                    <a:lumMod val="95000"/>
                    <a:lumOff val="5000"/>
                  </a:schemeClr>
                </a:solidFill>
                <a:latin typeface="方正粗活意简体" pitchFamily="65" charset="-122"/>
                <a:ea typeface="方正粗活意简体" pitchFamily="65" charset="-122"/>
              </a:rPr>
              <a:t>属性功能相同。</a:t>
            </a:r>
            <a:endParaRPr lang="zh-CN" altLang="en-US" sz="2400" dirty="0">
              <a:solidFill>
                <a:schemeClr val="tx1">
                  <a:lumMod val="95000"/>
                  <a:lumOff val="5000"/>
                </a:schemeClr>
              </a:solidFill>
              <a:latin typeface="方正粗活意简体" pitchFamily="65" charset="-122"/>
              <a:ea typeface="方正粗活意简体" pitchFamily="65" charset="-122"/>
            </a:endParaRPr>
          </a:p>
        </p:txBody>
      </p:sp>
    </p:spTree>
    <p:extLst>
      <p:ext uri="{BB962C8B-B14F-4D97-AF65-F5344CB8AC3E}">
        <p14:creationId xmlns:p14="http://schemas.microsoft.com/office/powerpoint/2010/main" val="200594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8</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348" y="2084610"/>
            <a:ext cx="6600825" cy="4448175"/>
          </a:xfrm>
          <a:prstGeom prst="rect">
            <a:avLst/>
          </a:prstGeom>
        </p:spPr>
      </p:pic>
    </p:spTree>
    <p:extLst>
      <p:ext uri="{BB962C8B-B14F-4D97-AF65-F5344CB8AC3E}">
        <p14:creationId xmlns:p14="http://schemas.microsoft.com/office/powerpoint/2010/main" val="3537388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720138" y="6043613"/>
            <a:ext cx="423863"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9</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4412" y="1034000"/>
            <a:ext cx="7123959" cy="5474790"/>
          </a:xfrm>
          <a:prstGeom prst="rect">
            <a:avLst/>
          </a:prstGeom>
        </p:spPr>
      </p:pic>
    </p:spTree>
    <p:extLst>
      <p:ext uri="{BB962C8B-B14F-4D97-AF65-F5344CB8AC3E}">
        <p14:creationId xmlns:p14="http://schemas.microsoft.com/office/powerpoint/2010/main" val="103692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580473" y="6043613"/>
            <a:ext cx="563527"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10</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1655" y="0"/>
            <a:ext cx="6120689" cy="6858000"/>
          </a:xfrm>
          <a:prstGeom prst="rect">
            <a:avLst/>
          </a:prstGeom>
        </p:spPr>
      </p:pic>
    </p:spTree>
    <p:extLst>
      <p:ext uri="{BB962C8B-B14F-4D97-AF65-F5344CB8AC3E}">
        <p14:creationId xmlns:p14="http://schemas.microsoft.com/office/powerpoint/2010/main" val="423303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580474" y="6043613"/>
            <a:ext cx="563527"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11</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5387" y="377788"/>
            <a:ext cx="6753225" cy="6315075"/>
          </a:xfrm>
          <a:prstGeom prst="rect">
            <a:avLst/>
          </a:prstGeom>
        </p:spPr>
      </p:pic>
    </p:spTree>
    <p:extLst>
      <p:ext uri="{BB962C8B-B14F-4D97-AF65-F5344CB8AC3E}">
        <p14:creationId xmlns:p14="http://schemas.microsoft.com/office/powerpoint/2010/main" val="217387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580474" y="6043613"/>
            <a:ext cx="563527"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12</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139" y="0"/>
            <a:ext cx="7017721" cy="6858000"/>
          </a:xfrm>
          <a:prstGeom prst="rect">
            <a:avLst/>
          </a:prstGeom>
        </p:spPr>
      </p:pic>
    </p:spTree>
    <p:extLst>
      <p:ext uri="{BB962C8B-B14F-4D97-AF65-F5344CB8AC3E}">
        <p14:creationId xmlns:p14="http://schemas.microsoft.com/office/powerpoint/2010/main" val="345542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614496" y="6043613"/>
            <a:ext cx="529506"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13</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505" y="0"/>
            <a:ext cx="8084990" cy="6858000"/>
          </a:xfrm>
          <a:prstGeom prst="rect">
            <a:avLst/>
          </a:prstGeom>
        </p:spPr>
      </p:pic>
    </p:spTree>
    <p:extLst>
      <p:ext uri="{BB962C8B-B14F-4D97-AF65-F5344CB8AC3E}">
        <p14:creationId xmlns:p14="http://schemas.microsoft.com/office/powerpoint/2010/main" val="264501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601076" y="6043613"/>
            <a:ext cx="542926"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14</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925" y="47625"/>
            <a:ext cx="8058150" cy="6762750"/>
          </a:xfrm>
          <a:prstGeom prst="rect">
            <a:avLst/>
          </a:prstGeom>
        </p:spPr>
      </p:pic>
    </p:spTree>
    <p:extLst>
      <p:ext uri="{BB962C8B-B14F-4D97-AF65-F5344CB8AC3E}">
        <p14:creationId xmlns:p14="http://schemas.microsoft.com/office/powerpoint/2010/main" val="340121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580474" y="6043613"/>
            <a:ext cx="563527"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15</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265164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zh-CN" altLang="en-US" sz="3200" dirty="0">
                <a:latin typeface="方正粗活意简体" panose="03000509000000000000" pitchFamily="65" charset="-122"/>
                <a:ea typeface="方正粗活意简体" panose="03000509000000000000" pitchFamily="65" charset="-122"/>
              </a:rPr>
              <a:t>网页布局实现</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4-6</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7897" y="0"/>
            <a:ext cx="6608205" cy="6858000"/>
          </a:xfrm>
          <a:prstGeom prst="rect">
            <a:avLst/>
          </a:prstGeom>
        </p:spPr>
      </p:pic>
    </p:spTree>
    <p:extLst>
      <p:ext uri="{BB962C8B-B14F-4D97-AF65-F5344CB8AC3E}">
        <p14:creationId xmlns:p14="http://schemas.microsoft.com/office/powerpoint/2010/main" val="374590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1" y="284163"/>
            <a:ext cx="5100275" cy="530225"/>
            <a:chOff x="0" y="284389"/>
            <a:chExt cx="1601101" cy="529772"/>
          </a:xfrm>
        </p:grpSpPr>
        <p:sp>
          <p:nvSpPr>
            <p:cNvPr id="17" name="矩形 16"/>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eaLnBrk="1" hangingPunct="1">
                <a:defRPr/>
              </a:pPr>
              <a:r>
                <a:rPr lang="en-US" altLang="zh-CN"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24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endParaRPr kumimoji="0" lang="zh-CN" altLang="en-US" sz="2400" b="0" i="0" u="none" strike="noStrike" kern="1200" cap="none" spc="0" normalizeH="0" baseline="0" noProof="0" dirty="0" smtClean="0">
                <a:ln>
                  <a:noFill/>
                </a:ln>
                <a:solidFill>
                  <a:schemeClr val="bg1"/>
                </a:solidFill>
                <a:effectLst/>
                <a:uLnTx/>
                <a:uFillTx/>
                <a:latin typeface="方正粗活意简体" panose="03000509000000000000" pitchFamily="65" charset="-122"/>
                <a:ea typeface="方正粗活意简体" panose="03000509000000000000" pitchFamily="65" charset="-122"/>
                <a:cs typeface="+mn-cs"/>
                <a:sym typeface="Arial" panose="020B0604020202020204" pitchFamily="34" charset="0"/>
              </a:endParaRPr>
            </a:p>
          </p:txBody>
        </p:sp>
        <p:sp>
          <p:nvSpPr>
            <p:cNvPr id="18" name="矩形 17"/>
            <p:cNvSpPr/>
            <p:nvPr/>
          </p:nvSpPr>
          <p:spPr>
            <a:xfrm>
              <a:off x="1544595" y="284389"/>
              <a:ext cx="56506"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7" name="矩形 6"/>
          <p:cNvSpPr/>
          <p:nvPr/>
        </p:nvSpPr>
        <p:spPr>
          <a:xfrm>
            <a:off x="8612372" y="6043613"/>
            <a:ext cx="531629" cy="5302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16</a:t>
            </a:r>
            <a:endParaRPr kumimoji="0" lang="zh-CN" altLang="en-US" sz="2400" b="1"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4" name="直接连接符 13"/>
          <p:cNvCxnSpPr/>
          <p:nvPr/>
        </p:nvCxnSpPr>
        <p:spPr>
          <a:xfrm>
            <a:off x="0" y="814388"/>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auto">
          <a:xfrm>
            <a:off x="484964" y="1034001"/>
            <a:ext cx="4435312" cy="830997"/>
          </a:xfrm>
          <a:prstGeom prst="rect">
            <a:avLst/>
          </a:prstGeom>
          <a:noFill/>
        </p:spPr>
        <p:txBody>
          <a:bodyPr wrap="square">
            <a:spAutoFit/>
          </a:bodyPr>
          <a:lstStyle/>
          <a:p>
            <a:pPr eaLnBrk="1" fontAlgn="auto" hangingPunct="1">
              <a:lnSpc>
                <a:spcPct val="150000"/>
              </a:lnSpc>
              <a:spcBef>
                <a:spcPts val="0"/>
              </a:spcBef>
              <a:spcAft>
                <a:spcPts val="0"/>
              </a:spcAft>
              <a:defRPr/>
            </a:pPr>
            <a:r>
              <a:rPr lang="en-US" altLang="zh-CN" sz="3200" dirty="0" err="1">
                <a:latin typeface="方正粗活意简体" panose="03000509000000000000" pitchFamily="65" charset="-122"/>
                <a:ea typeface="方正粗活意简体" panose="03000509000000000000" pitchFamily="65" charset="-122"/>
              </a:rPr>
              <a:t>clearfix</a:t>
            </a:r>
            <a:r>
              <a:rPr lang="zh-CN" altLang="en-US" sz="3200" dirty="0">
                <a:latin typeface="方正粗活意简体" panose="03000509000000000000" pitchFamily="65" charset="-122"/>
                <a:ea typeface="方正粗活意简体" panose="03000509000000000000" pitchFamily="65" charset="-122"/>
              </a:rPr>
              <a:t>和</a:t>
            </a:r>
            <a:r>
              <a:rPr lang="en-US" altLang="zh-CN" sz="3200" dirty="0">
                <a:latin typeface="方正粗活意简体" panose="03000509000000000000" pitchFamily="65" charset="-122"/>
                <a:ea typeface="方正粗活意简体" panose="03000509000000000000" pitchFamily="65" charset="-122"/>
              </a:rPr>
              <a:t>clear</a:t>
            </a:r>
            <a:r>
              <a:rPr lang="zh-CN" altLang="en-US" sz="3200" dirty="0">
                <a:latin typeface="方正粗活意简体" panose="03000509000000000000" pitchFamily="65" charset="-122"/>
                <a:ea typeface="方正粗活意简体" panose="03000509000000000000" pitchFamily="65" charset="-122"/>
              </a:rPr>
              <a:t>的使用</a:t>
            </a:r>
            <a:endParaRPr kumimoji="0" lang="zh-CN" altLang="en-US" sz="3200" kern="1200" cap="none" spc="0" normalizeH="0" baseline="0" noProof="0" dirty="0" smtClean="0">
              <a:latin typeface="方正粗活意简体" panose="03000509000000000000" pitchFamily="65" charset="-122"/>
              <a:ea typeface="方正粗活意简体" panose="03000509000000000000" pitchFamily="65" charset="-122"/>
            </a:endParaRPr>
          </a:p>
        </p:txBody>
      </p:sp>
      <p:sp>
        <p:nvSpPr>
          <p:cNvPr id="9" name="文本框 8"/>
          <p:cNvSpPr txBox="1"/>
          <p:nvPr/>
        </p:nvSpPr>
        <p:spPr>
          <a:xfrm>
            <a:off x="7634173" y="284163"/>
            <a:ext cx="1364793" cy="461665"/>
          </a:xfrm>
          <a:prstGeom prst="rect">
            <a:avLst/>
          </a:prstGeom>
          <a:noFill/>
          <a:ln w="9525">
            <a:noFill/>
          </a:ln>
        </p:spPr>
        <p:txBody>
          <a:bodyPr wrap="square">
            <a:spAutoFit/>
          </a:bodyPr>
          <a:lstStyle/>
          <a:p>
            <a:pPr algn="r" eaLnBrk="1" hangingPunct="1"/>
            <a:r>
              <a:rPr lang="zh-CN" altLang="en-US"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任务</a:t>
            </a:r>
            <a:r>
              <a:rPr lang="en-US" altLang="zh-CN" sz="2400" dirty="0" smtClean="0">
                <a:solidFill>
                  <a:srgbClr val="0D0D0D"/>
                </a:solidFill>
                <a:latin typeface="方正粗活意简体" panose="03000509000000000000" pitchFamily="65" charset="-122"/>
                <a:ea typeface="方正粗活意简体" panose="03000509000000000000" pitchFamily="65" charset="-122"/>
                <a:sym typeface="Arial" panose="020B0604020202020204" pitchFamily="34" charset="0"/>
              </a:rPr>
              <a:t>4-7</a:t>
            </a:r>
            <a:endParaRPr lang="zh-CN" altLang="en-US" sz="2400" b="1" dirty="0">
              <a:solidFill>
                <a:srgbClr val="0070C0"/>
              </a:solidFill>
              <a:latin typeface="方正水柱简体" pitchFamily="65" charset="-122"/>
              <a:ea typeface="方正水柱简体" pitchFamily="65" charset="-122"/>
              <a:sym typeface="Arial" panose="020B0604020202020204" pitchFamily="34" charset="0"/>
            </a:endParaRPr>
          </a:p>
        </p:txBody>
      </p:sp>
      <p:sp>
        <p:nvSpPr>
          <p:cNvPr id="16" name="矩形 15"/>
          <p:cNvSpPr/>
          <p:nvPr/>
        </p:nvSpPr>
        <p:spPr>
          <a:xfrm>
            <a:off x="309206" y="2105225"/>
            <a:ext cx="8410932" cy="3687997"/>
          </a:xfrm>
          <a:prstGeom prst="rect">
            <a:avLst/>
          </a:prstGeom>
        </p:spPr>
        <p:txBody>
          <a:bodyPr wrap="square">
            <a:spAutoFit/>
          </a:bodyPr>
          <a:lstStyle/>
          <a:p>
            <a:pPr>
              <a:lnSpc>
                <a:spcPct val="200000"/>
              </a:lnSpc>
            </a:pPr>
            <a:r>
              <a:rPr lang="zh-CN" altLang="en-US" sz="2400" dirty="0">
                <a:latin typeface="方正粗活意简体" panose="03000509000000000000" pitchFamily="65" charset="-122"/>
                <a:ea typeface="方正粗活意简体" panose="03000509000000000000" pitchFamily="65" charset="-122"/>
                <a:cs typeface="宋体" panose="02010600030101010101" pitchFamily="2" charset="-122"/>
              </a:rPr>
              <a:t>写css 时总为浮动而烦恼，如果用了浮动，浮动的父层不会跟着浮动框的高度增加而增加，在Firefox等符合W3C标准的浏览器中，如果有一个DIV作为外部容器，内部的DIV如果设置了float样式，则外部的容器DIV因为内部没有clear，导致不能被撑开。这个时候我们可以用clearfix清除</a:t>
            </a:r>
            <a:r>
              <a:rPr lang="zh-CN" altLang="en-US" sz="2400" dirty="0" smtClean="0">
                <a:latin typeface="方正粗活意简体" panose="03000509000000000000" pitchFamily="65" charset="-122"/>
                <a:ea typeface="方正粗活意简体" panose="03000509000000000000" pitchFamily="65" charset="-122"/>
                <a:cs typeface="宋体" panose="02010600030101010101" pitchFamily="2" charset="-122"/>
              </a:rPr>
              <a:t>浮动。</a:t>
            </a:r>
            <a:endParaRPr lang="zh-CN" altLang="en-US" sz="2400" dirty="0">
              <a:latin typeface="方正粗活意简体" panose="03000509000000000000" pitchFamily="65" charset="-122"/>
              <a:ea typeface="方正粗活意简体" panose="03000509000000000000" pitchFamily="65" charset="-122"/>
              <a:cs typeface="宋体" panose="02010600030101010101" pitchFamily="2" charset="-122"/>
            </a:endParaRPr>
          </a:p>
        </p:txBody>
      </p:sp>
    </p:spTree>
    <p:extLst>
      <p:ext uri="{BB962C8B-B14F-4D97-AF65-F5344CB8AC3E}">
        <p14:creationId xmlns:p14="http://schemas.microsoft.com/office/powerpoint/2010/main" val="24950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0" y="2349500"/>
            <a:ext cx="9144000" cy="2159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15" name="直接连接符 14"/>
          <p:cNvCxnSpPr/>
          <p:nvPr/>
        </p:nvCxnSpPr>
        <p:spPr>
          <a:xfrm>
            <a:off x="2890838" y="3429000"/>
            <a:ext cx="625316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图片 1"/>
          <p:cNvPicPr>
            <a:picLocks noChangeAspect="1"/>
          </p:cNvPicPr>
          <p:nvPr/>
        </p:nvPicPr>
        <p:blipFill>
          <a:blip r:embed="rId2"/>
          <a:stretch>
            <a:fillRect/>
          </a:stretch>
        </p:blipFill>
        <p:spPr>
          <a:xfrm>
            <a:off x="90488" y="2514600"/>
            <a:ext cx="1828800" cy="1828800"/>
          </a:xfrm>
          <a:prstGeom prst="rect">
            <a:avLst/>
          </a:prstGeom>
          <a:noFill/>
          <a:ln w="9525">
            <a:noFill/>
          </a:ln>
        </p:spPr>
      </p:pic>
      <p:sp>
        <p:nvSpPr>
          <p:cNvPr id="17" name="文本框 16"/>
          <p:cNvSpPr txBox="1"/>
          <p:nvPr/>
        </p:nvSpPr>
        <p:spPr>
          <a:xfrm>
            <a:off x="2690037" y="2720975"/>
            <a:ext cx="6258701" cy="1200329"/>
          </a:xfrm>
          <a:prstGeom prst="rect">
            <a:avLst/>
          </a:prstGeom>
          <a:noFill/>
          <a:ln w="9525">
            <a:noFill/>
          </a:ln>
        </p:spPr>
        <p:txBody>
          <a:bodyPr wrap="square">
            <a:spAutoFit/>
          </a:bodyPr>
          <a:lstStyle/>
          <a:p>
            <a:pPr algn="r" eaLnBrk="1" hangingPunct="1"/>
            <a:r>
              <a:rPr lang="en-US" altLang="zh-CN" sz="3200" dirty="0" smtClean="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HTML5+CSS3</a:t>
            </a:r>
            <a:r>
              <a:rPr lang="zh-CN" altLang="en-US"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网页设计任务教程</a:t>
            </a:r>
          </a:p>
          <a:p>
            <a:pPr algn="r" eaLnBrk="1" hangingPunct="1"/>
            <a:endParaRPr lang="zh-CN" altLang="en-US" sz="40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endParaRPr>
          </a:p>
        </p:txBody>
      </p:sp>
      <p:sp>
        <p:nvSpPr>
          <p:cNvPr id="18" name="矩形 17"/>
          <p:cNvSpPr/>
          <p:nvPr/>
        </p:nvSpPr>
        <p:spPr>
          <a:xfrm>
            <a:off x="5045957" y="3555036"/>
            <a:ext cx="3817071" cy="584775"/>
          </a:xfrm>
          <a:prstGeom prst="rect">
            <a:avLst/>
          </a:prstGeom>
        </p:spPr>
        <p:txBody>
          <a:bodyPr wrap="none">
            <a:spAutoFit/>
          </a:bodyPr>
          <a:lstStyle/>
          <a:p>
            <a:pPr algn="r" eaLnBrk="1" hangingPunct="1"/>
            <a:r>
              <a:rPr lang="zh-CN" altLang="en-US"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单元</a:t>
            </a:r>
            <a:r>
              <a:rPr lang="en-US" altLang="zh-CN"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4 CSS</a:t>
            </a:r>
            <a:r>
              <a:rPr lang="zh-CN" altLang="en-US" sz="3200" dirty="0">
                <a:solidFill>
                  <a:schemeClr val="bg1"/>
                </a:solidFill>
                <a:latin typeface="方正粗活意简体" panose="03000509000000000000" pitchFamily="65" charset="-122"/>
                <a:ea typeface="方正粗活意简体" panose="03000509000000000000" pitchFamily="65" charset="-122"/>
                <a:sym typeface="Arial" panose="020B0604020202020204" pitchFamily="34" charset="0"/>
              </a:rPr>
              <a:t>布局初探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2" fill="hold" nodeType="withEffect">
                                  <p:stCondLst>
                                    <p:cond delay="25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500"/>
                                        <p:tgtEl>
                                          <p:spTgt spid="15"/>
                                        </p:tgtEl>
                                      </p:cBhvr>
                                    </p:animEffect>
                                  </p:childTnLst>
                                </p:cTn>
                              </p:par>
                              <p:par>
                                <p:cTn id="11" presetID="42" presetClass="entr" presetSubtype="0" fill="hold" grpId="0" nodeType="withEffect">
                                  <p:stCondLst>
                                    <p:cond delay="5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anim calcmode="lin" valueType="num">
                                      <p:cBhvr>
                                        <p:cTn id="14" dur="500" fill="hold"/>
                                        <p:tgtEl>
                                          <p:spTgt spid="17"/>
                                        </p:tgtEl>
                                        <p:attrNameLst>
                                          <p:attrName>ppt_x</p:attrName>
                                        </p:attrNameLst>
                                      </p:cBhvr>
                                      <p:tavLst>
                                        <p:tav tm="0">
                                          <p:val>
                                            <p:strVal val="#ppt_x"/>
                                          </p:val>
                                        </p:tav>
                                        <p:tav tm="100000">
                                          <p:val>
                                            <p:strVal val="#ppt_x"/>
                                          </p:val>
                                        </p:tav>
                                      </p:tavLst>
                                    </p:anim>
                                    <p:anim calcmode="lin" valueType="num">
                                      <p:cBhvr>
                                        <p:cTn id="1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361</TotalTime>
  <Words>1131</Words>
  <Application>Microsoft Office PowerPoint</Application>
  <PresentationFormat>全屏显示(4:3)</PresentationFormat>
  <Paragraphs>117</Paragraphs>
  <Slides>19</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方正粗活意简体</vt:lpstr>
      <vt:lpstr>方正水柱简体</vt:lpstr>
      <vt:lpstr>宋体</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TJ</cp:lastModifiedBy>
  <cp:revision>422</cp:revision>
  <dcterms:created xsi:type="dcterms:W3CDTF">2014-11-08T02:42:00Z</dcterms:created>
  <dcterms:modified xsi:type="dcterms:W3CDTF">2018-07-20T03:30:15Z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2052-10.1.0.6930</vt:lpwstr>
  </property>
</Properties>
</file>