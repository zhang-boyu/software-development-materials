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503" r:id="rId8"/>
    <p:sldId id="522" r:id="rId9"/>
    <p:sldId id="505" r:id="rId10"/>
    <p:sldId id="456" r:id="rId11"/>
    <p:sldId id="533" r:id="rId12"/>
    <p:sldId id="458" r:id="rId13"/>
    <p:sldId id="347" r:id="rId14"/>
  </p:sldIdLst>
  <p:sldSz cx="1219835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14"/>
        <p:guide pos="39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5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子任务2：在子任务1的基础上，定义子类Cat的属性color以及设置和获取方法；定义测试类输出Cat实例相关属性信息。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50435" y="3500755"/>
            <a:ext cx="701611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创建一个整数类型的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ArrayList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集合并添加元素，使用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Lambda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表达式遍历该集合元素。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Lambda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表达式概述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矩形 2"/>
          <p:cNvSpPr>
            <a:spLocks noChangeArrowheads="1"/>
          </p:cNvSpPr>
          <p:nvPr/>
        </p:nvSpPr>
        <p:spPr bwMode="auto">
          <a:xfrm>
            <a:off x="6605905" y="4221480"/>
            <a:ext cx="4091940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‌‌Lambda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表达式常用的语法格式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6" grpId="0" bldLvl="0" autoUpdateAnimBg="0"/>
      <p:bldP spid="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‌‌‌Lambda 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表达式概述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221043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Lambda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表达式是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JDK8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的一个新特性，可以取代大部分的匿名内部类，写出更优雅的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Java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代码，尤其在集合的遍历和其他集合操作中，可以极大地优化代码结构。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JDK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也提供了大量的内置函数式接口供我们使用，使得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Lambda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表达式的运用更加方便、高效。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535559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‌‌‌‌‌Lambda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表达式常用的语法格式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8580" y="2060575"/>
            <a:ext cx="9742805" cy="52387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Lambda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表达式常用的语法格式如表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9-10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所示。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      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509395" y="2785745"/>
          <a:ext cx="9571990" cy="3909695"/>
        </p:xfrm>
        <a:graphic>
          <a:graphicData uri="http://schemas.openxmlformats.org/drawingml/2006/table">
            <a:tbl>
              <a:tblPr/>
              <a:tblGrid>
                <a:gridCol w="5111750"/>
                <a:gridCol w="4460240"/>
              </a:tblGrid>
              <a:tr h="266700"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语法格式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600" b="1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描述</a:t>
                      </a:r>
                      <a:endParaRPr lang="zh-CN" sz="1600" b="1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-&gt;System.out.println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"Hello Lambda!"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;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无参数，无返回值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00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-&gt;System.out.println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有一个参数，并且无返回值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4025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x-&gt;System.out.println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endParaRPr 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若只有一个参数，小括号可以省略不写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5800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Comparator&lt;Integer&gt;com=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-&gt;{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System.out.println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"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函数式接口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</a:rPr>
                        <a:t>"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;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return Integer.compare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;};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有两个以上的参数，有返回值，并且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Lambda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方法体中有多条语句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81355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Comparator&lt;Integer&gt;com=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-&gt;Integer.compare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 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;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若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Lambda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体中只有一条语句，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return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和大括号都可以省略不写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36015"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Integer 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Integer 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-&gt;Integer.compare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）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;</a:t>
                      </a:r>
                      <a:endParaRPr lang="en-US" altLang="zh-CN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just">
                        <a:lnSpc>
                          <a:spcPct val="12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Lambda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表达式的参数列表的数据类型可以省略不写，因为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JVM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编译器通过上下文推断出，数据类型，即</a:t>
                      </a: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“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类型推断</a:t>
                      </a:r>
                      <a: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”</a:t>
                      </a:r>
                      <a:endParaRPr lang="zh-CN" altLang="en-US" sz="1400"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507105" y="2421255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9-10 Lambda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表达式常用的语法格式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8" name="矩形 5"/>
          <p:cNvSpPr>
            <a:spLocks noChangeArrowheads="1"/>
          </p:cNvSpPr>
          <p:nvPr/>
        </p:nvSpPr>
        <p:spPr bwMode="auto">
          <a:xfrm>
            <a:off x="4708525" y="3500755"/>
            <a:ext cx="6926580" cy="1337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创建一个整数类型的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ArrayList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集合并添加元素，使用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Lambda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表达式遍历该集合元素。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8" grpId="0" bldLvl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Lambda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表达式常用的语法格式知识点可以得到文件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Times New Roman" panose="02020603050405020304"/>
              <a:sym typeface="+mn-ea"/>
            </a:endParaRPr>
          </a:p>
          <a:p>
            <a:pPr algn="ctr"/>
            <a:r>
              <a:rPr lang="zh-CN" altLang="en-US" sz="2000">
                <a:latin typeface="Times New Roman" panose="02020603050405020304"/>
                <a:sym typeface="+mn-ea"/>
              </a:rPr>
              <a:t>文件</a:t>
            </a:r>
            <a:r>
              <a:rPr lang="en-US" altLang="zh-CN" sz="2000">
                <a:latin typeface="Times New Roman" panose="02020603050405020304"/>
                <a:sym typeface="+mn-ea"/>
              </a:rPr>
              <a:t>9-27 Example26.java</a:t>
            </a:r>
            <a:endParaRPr lang="en-US" altLang="zh-CN" sz="2000">
              <a:latin typeface="Times New Roman" panose="02020603050405020304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1import java.util.ArrayList;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2public class Example26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3  public static void main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String[] args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 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4    ArrayList&lt;Integer&gt; list=new ArrayList&lt;&gt;</a:t>
            </a:r>
            <a:r>
              <a:rPr lang="zh-CN" altLang="en-US" sz="2000">
                <a:latin typeface="Times New Roman" panose="02020603050405020304"/>
              </a:rPr>
              <a:t>（）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5    list.add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10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6    list.add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21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7    list.add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32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8    list.add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43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</a:rPr>
              <a:t>9    list.add</a:t>
            </a:r>
            <a:r>
              <a:rPr lang="zh-CN" altLang="en-US" sz="2000">
                <a:latin typeface="Times New Roman" panose="02020603050405020304"/>
              </a:rPr>
              <a:t>（</a:t>
            </a:r>
            <a:r>
              <a:rPr lang="en-US" altLang="zh-CN" sz="2000">
                <a:latin typeface="Times New Roman" panose="02020603050405020304"/>
              </a:rPr>
              <a:t>11</a:t>
            </a:r>
            <a:r>
              <a:rPr lang="zh-CN" altLang="en-US" sz="2000">
                <a:latin typeface="Times New Roman" panose="02020603050405020304"/>
              </a:rPr>
              <a:t>）</a:t>
            </a:r>
            <a:r>
              <a:rPr lang="en-US" altLang="zh-CN" sz="2000">
                <a:latin typeface="Times New Roman" panose="02020603050405020304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5960" y="2060575"/>
            <a:ext cx="111728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根据任务描述以及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Lambda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表达式常用的语法格式知识点可以得到文件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9-27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所示的代码。</a:t>
            </a:r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  <a:p>
            <a:pPr algn="ctr"/>
            <a:endParaRPr lang="zh-CN" altLang="en-US" sz="2000">
              <a:latin typeface="Times New Roman" panose="02020603050405020304"/>
              <a:sym typeface="+mn-ea"/>
            </a:endParaRPr>
          </a:p>
          <a:p>
            <a:pPr algn="ctr"/>
            <a:r>
              <a:rPr lang="zh-CN" altLang="en-US" sz="2000">
                <a:latin typeface="Times New Roman" panose="02020603050405020304"/>
                <a:sym typeface="+mn-ea"/>
              </a:rPr>
              <a:t>文件</a:t>
            </a:r>
            <a:r>
              <a:rPr lang="en-US" altLang="zh-CN" sz="2000">
                <a:latin typeface="Times New Roman" panose="02020603050405020304"/>
                <a:sym typeface="+mn-ea"/>
              </a:rPr>
              <a:t>9-27 Example26.java</a:t>
            </a:r>
            <a:endParaRPr lang="en-US" altLang="zh-CN" sz="2000">
              <a:latin typeface="Times New Roman" panose="02020603050405020304"/>
            </a:endParaRPr>
          </a:p>
          <a:p>
            <a:endParaRPr lang="zh-CN" altLang="en-US"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18590" y="2924810"/>
            <a:ext cx="10135870" cy="428879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10   list.add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52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//</a:t>
            </a:r>
            <a:r>
              <a:rPr lang="zh-CN" altLang="en-US" sz="2000">
                <a:latin typeface="Times New Roman" panose="02020603050405020304"/>
                <a:sym typeface="+mn-ea"/>
              </a:rPr>
              <a:t>通过</a:t>
            </a:r>
            <a:r>
              <a:rPr lang="en-US" altLang="zh-CN" sz="2000">
                <a:latin typeface="Times New Roman" panose="02020603050405020304"/>
                <a:sym typeface="+mn-ea"/>
              </a:rPr>
              <a:t>lambda</a:t>
            </a:r>
            <a:r>
              <a:rPr lang="zh-CN" altLang="en-US" sz="2000">
                <a:latin typeface="Times New Roman" panose="02020603050405020304"/>
                <a:sym typeface="+mn-ea"/>
              </a:rPr>
              <a:t>表达遍历集合</a:t>
            </a:r>
            <a:endParaRPr lang="zh-CN" altLang="en-US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11  list.forEach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e-&gt;{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12      System.out.print</a:t>
            </a:r>
            <a:r>
              <a:rPr lang="zh-CN" altLang="en-US" sz="2000">
                <a:latin typeface="Times New Roman" panose="02020603050405020304"/>
                <a:sym typeface="+mn-ea"/>
              </a:rPr>
              <a:t>（</a:t>
            </a:r>
            <a:r>
              <a:rPr lang="en-US" altLang="zh-CN" sz="2000">
                <a:latin typeface="Times New Roman" panose="02020603050405020304"/>
                <a:sym typeface="+mn-ea"/>
              </a:rPr>
              <a:t>e+" "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13  }</a:t>
            </a:r>
            <a:r>
              <a:rPr lang="zh-CN" altLang="en-US" sz="2000">
                <a:latin typeface="Times New Roman" panose="02020603050405020304"/>
                <a:sym typeface="+mn-ea"/>
              </a:rPr>
              <a:t>）</a:t>
            </a:r>
            <a:r>
              <a:rPr lang="en-US" altLang="zh-CN" sz="2000">
                <a:latin typeface="Times New Roman" panose="02020603050405020304"/>
                <a:sym typeface="+mn-ea"/>
              </a:rPr>
              <a:t>;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14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/>
                <a:sym typeface="+mn-ea"/>
              </a:rPr>
              <a:t>15 }</a:t>
            </a:r>
            <a:endParaRPr lang="en-US" altLang="zh-CN" sz="2000">
              <a:latin typeface="Times New Roman" panose="02020603050405020304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49730" y="2132965"/>
            <a:ext cx="5080000" cy="4756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l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文件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9-27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的运行结果如图</a:t>
            </a:r>
            <a:r>
              <a:rPr lang="en-US" altLang="zh-CN" sz="2000">
                <a:latin typeface="Times New Roman" panose="02020603050405020304"/>
                <a:ea typeface="宋体" panose="02010600030101010101" pitchFamily="2" charset="-122"/>
              </a:rPr>
              <a:t>9-35</a:t>
            </a:r>
            <a:r>
              <a:rPr lang="zh-CN" altLang="en-US" sz="2000">
                <a:latin typeface="Times New Roman" panose="02020603050405020304"/>
                <a:ea typeface="宋体" panose="02010600030101010101" pitchFamily="2" charset="-122"/>
              </a:rPr>
              <a:t>所示。</a:t>
            </a:r>
            <a:endParaRPr lang="zh-CN" altLang="en-US" sz="20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426970" y="4436745"/>
            <a:ext cx="5080000" cy="437515"/>
          </a:xfrm>
          <a:prstGeom prst="rect">
            <a:avLst/>
          </a:prstGeom>
        </p:spPr>
        <p:txBody>
          <a:bodyPr>
            <a:spAutoFit/>
          </a:bodyPr>
          <a:p>
            <a:pPr marL="0" indent="266700" algn="ctr" defTabSz="26670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图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9-35 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r>
              <a:rPr lang="en-US" altLang="zh-CN" sz="1800">
                <a:latin typeface="宋体" panose="02010600030101010101" pitchFamily="2" charset="-122"/>
                <a:ea typeface="宋体" panose="02010600030101010101" pitchFamily="2" charset="-122"/>
              </a:rPr>
              <a:t>9-27</a:t>
            </a:r>
            <a:r>
              <a:rPr lang="zh-CN" altLang="en-US" sz="1800">
                <a:latin typeface="宋体" panose="02010600030101010101" pitchFamily="2" charset="-122"/>
                <a:ea typeface="宋体" panose="02010600030101010101" pitchFamily="2" charset="-122"/>
              </a:rPr>
              <a:t>的运行结果</a:t>
            </a:r>
            <a:endParaRPr lang="zh-CN" altLang="en-US" sz="18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75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825" y="2853055"/>
            <a:ext cx="5454650" cy="9309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TABLE_ENDDRAG_ORIGIN_RECT" val="753*289"/>
  <p:tag name="TABLE_ENDDRAG_RECT" val="119*254*753*289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1496</Words>
  <Application>WPS 演示</Application>
  <PresentationFormat>自定义</PresentationFormat>
  <Paragraphs>171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6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577</cp:revision>
  <dcterms:created xsi:type="dcterms:W3CDTF">2015-03-26T06:11:00Z</dcterms:created>
  <dcterms:modified xsi:type="dcterms:W3CDTF">2025-07-12T03:22:24Z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AC278F23373F445A9B3FA4D491E3B32B_13</vt:lpwstr>
  </property>
</Properties>
</file>