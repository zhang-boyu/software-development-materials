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8" r:id="rId3"/>
    <p:sldId id="373" r:id="rId5"/>
    <p:sldId id="374" r:id="rId6"/>
    <p:sldId id="340" r:id="rId7"/>
    <p:sldId id="353" r:id="rId8"/>
    <p:sldId id="408" r:id="rId9"/>
    <p:sldId id="411" r:id="rId10"/>
    <p:sldId id="429" r:id="rId11"/>
    <p:sldId id="430" r:id="rId12"/>
    <p:sldId id="344" r:id="rId13"/>
    <p:sldId id="341" r:id="rId14"/>
    <p:sldId id="368" r:id="rId15"/>
    <p:sldId id="347" r:id="rId16"/>
  </p:sldIdLst>
  <p:sldSz cx="12198350" cy="6858000"/>
  <p:notesSz cx="6858000" cy="9144000"/>
  <p:custDataLst>
    <p:tags r:id="rId2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9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159"/>
        <p:guide pos="39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25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6819583" y="1403033"/>
            <a:ext cx="48498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  <p:pic>
        <p:nvPicPr>
          <p:cNvPr id="3079" name="Picture 10" descr="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49275"/>
            <a:ext cx="49418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7425" y="3645535"/>
            <a:ext cx="710501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定义整数类型变量x,y,z的值为0，表达式a = x &gt; 0 &amp; y++ &gt; 1，输出a和y的值。和表达式b = x &gt; 0 &amp;&amp; z++ &gt; 1，输出b和z的值。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逻辑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运算符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9" name="矩形 6"/>
          <p:cNvSpPr>
            <a:spLocks noChangeArrowheads="1"/>
          </p:cNvSpPr>
          <p:nvPr/>
        </p:nvSpPr>
        <p:spPr bwMode="auto">
          <a:xfrm>
            <a:off x="6605588" y="468534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矩形 6"/>
          <p:cNvSpPr>
            <a:spLocks noChangeArrowheads="1"/>
          </p:cNvSpPr>
          <p:nvPr/>
        </p:nvSpPr>
        <p:spPr bwMode="auto">
          <a:xfrm>
            <a:off x="6603048" y="504856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5" grpId="0" bldLvl="0" autoUpdateAnimBg="0"/>
      <p:bldP spid="5139" grpId="0" bldLvl="0" autoUpdateAnimBg="0"/>
      <p:bldP spid="3" grpId="0" bldLvl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8" name="Chevron 3"/>
          <p:cNvSpPr/>
          <p:nvPr>
            <p:custDataLst>
              <p:tags r:id="rId1"/>
            </p:custDataLst>
          </p:nvPr>
        </p:nvSpPr>
        <p:spPr>
          <a:xfrm>
            <a:off x="1000125" y="890270"/>
            <a:ext cx="255587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99048" y="1030229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逻辑</a:t>
            </a:r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运算符及用法</a:t>
            </a:r>
            <a:endParaRPr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49345" y="721995"/>
            <a:ext cx="788289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sz="2000" b="0">
                <a:solidFill>
                  <a:srgbClr val="59595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逻辑运算符用于对布尔型的数据进行操作，其结果仍是一个布尔值。Java中的逻辑运算符及用法</a:t>
            </a:r>
            <a:r>
              <a:rPr lang="zh-CN" sz="2000" b="0">
                <a:solidFill>
                  <a:srgbClr val="59595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具体如下表所示。</a:t>
            </a:r>
            <a:endParaRPr lang="zh-CN" sz="2000" b="0">
              <a:solidFill>
                <a:srgbClr val="595959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651432" y="1712754"/>
          <a:ext cx="6240145" cy="487997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71905"/>
                <a:gridCol w="1271270"/>
                <a:gridCol w="2234565"/>
                <a:gridCol w="1462405"/>
              </a:tblGrid>
              <a:tr h="469900"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运算符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运算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   </a:t>
                      </a: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范例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</a:t>
                      </a: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结果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70840">
                <a:tc rowSpan="4"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&amp;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与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true &amp; 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371475"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true &amp; 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370840"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false &amp; 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370840"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false &amp;true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365760">
                <a:tc rowSpan="4"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|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或</a:t>
                      </a:r>
                      <a:endParaRPr lang="zh-CN" altLang="en-US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true | 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365760"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true | 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365760"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false| 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365760"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false| 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365760">
                <a:tc rowSpan="4"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^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异或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true ^ 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365760"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true ^ 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365760"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false ^ 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365760"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false ^ 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00125" y="890270"/>
            <a:ext cx="255587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99048" y="1030229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逻辑</a:t>
            </a:r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运算符及用法</a:t>
            </a:r>
            <a:endParaRPr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651432" y="1856264"/>
          <a:ext cx="6240145" cy="487997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71905"/>
                <a:gridCol w="1271270"/>
                <a:gridCol w="2234565"/>
                <a:gridCol w="1462405"/>
              </a:tblGrid>
              <a:tr h="469900"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运算符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运算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   </a:t>
                      </a: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范例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</a:t>
                      </a: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结果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70840">
                <a:tc rowSpan="2"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!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非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!true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371475"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!false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365760">
                <a:tc rowSpan="4"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&amp;&amp;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短路与</a:t>
                      </a:r>
                      <a:endParaRPr lang="zh-CN" altLang="en-US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true &amp;&amp; 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365760"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true &amp;&amp; 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365760"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false &amp;&amp; 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365760"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false &amp;&amp; 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365760">
                <a:tc rowSpan="4"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||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短路或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true || 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365760"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true || 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365760"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false|| 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365760"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 vMerge="1"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false|| 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43691" y="2130854"/>
            <a:ext cx="991951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逻辑运算符可以针对结果为布尔值的表达式进行运算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&gt; 3 &amp;&amp; y != 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”和“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&amp;&amp;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”都表示与操作，当且仅当运算符两边的操作数都为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时，其结果才为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，否则结果为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。虽然运算符“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”和“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&amp;&amp;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”都表示与操作，但两者在使用上还有一定的区别。在使用“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”进行运算时，不论左边为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，右边的表达式都会进行运算。在使用“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&amp;&amp;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”进行运算，当左边为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时，右边的表达式就不再进行运算，因此“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&amp;&amp;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”被称作短路与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2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357124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2558" y="1245494"/>
            <a:ext cx="323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使用逻辑</a:t>
            </a:r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运算符</a:t>
            </a:r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的注意事项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9206" y="1986119"/>
            <a:ext cx="97200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”和“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||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”都表示或操作，当运算符两边的任一表达式值为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时，其结果为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只有两边表达式的值都为false时，其结果才为false。同逻辑与操作类似，“||”运算符为短路或，当运算符“||”的左边为true时，右边的表达式不再进行运算，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具体示例如下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357124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2558" y="1245494"/>
            <a:ext cx="323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使用逻辑</a:t>
            </a:r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运算符</a:t>
            </a:r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的注意事项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471545" y="4037330"/>
            <a:ext cx="5247640" cy="136080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x = 0;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y = 0;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boolean b = x==0 || y++&gt;0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83206" y="2346854"/>
            <a:ext cx="9720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^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”表示异或操作，当运算符两边的布尔值相同时（都为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或都为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），其结果为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。当两边表达式的布尔值不相同时，其结果为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357124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42558" y="1245494"/>
            <a:ext cx="323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使用逻辑</a:t>
            </a:r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运算符</a:t>
            </a:r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的注意事项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97425" y="3645535"/>
            <a:ext cx="716724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定义整数类型变量x,y,z的值为0，表达式a = x &gt; 0 &amp; y++ &gt; 1，输出a和y的值。和表达式b = x &gt; 0 &amp;&amp; z++ &gt; 1，输出b和z的值。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实现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88210"/>
            <a:ext cx="964755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  public class Example13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2	public static void main(String[] args)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3		int x = 0; 		// 定义变量x，初始值为0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4		int y = 0; 		// 定义变量y，初始值为0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5		int z = 0; 		// 定义变量z，初始值为0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6		boolean a, b;   	// 定义boolean变量a和b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7		a = x &gt; 0 &amp; y++ &gt; 1; 	// 逻辑运算符&amp;对表达式进行运算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8		System.out.println("a="+a);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9		System.out.println("y = " + y);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10		b = x &gt; 0 &amp;&amp; z++ &gt; 1; // 逻辑运算符&amp;&amp;对表达式进行运算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11		System.out.println("b="+b);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12		System.out.println("z = " + z);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13 	 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14  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运行结果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39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745" y="2752725"/>
            <a:ext cx="4603750" cy="25438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5.xml><?xml version="1.0" encoding="utf-8"?>
<p:tagLst xmlns:p="http://schemas.openxmlformats.org/presentationml/2006/main">
  <p:tag name="KSO_WM_UNIT_TABLE_BEAUTIFY" val="smartTable{058ce114-ed2f-4e5e-823b-6f941750c54b}"/>
  <p:tag name="TABLE_ENDDRAG_ORIGIN_RECT" val="491*359"/>
  <p:tag name="TABLE_ENDDRAG_RECT" val="208*163*491*359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UNIT_TABLE_BEAUTIFY" val="smartTable{1c1f46c1-1a22-4587-a1be-2e906e0a59b8}"/>
  <p:tag name="TABLE_ENDDRAG_ORIGIN_RECT" val="491*359"/>
  <p:tag name="TABLE_ENDDRAG_RECT" val="208*163*491*359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COMMONDATA" val="eyJoZGlkIjoiZjNjMmJiYWQ1NjYxMzU5Y2Q4YWViZjliZTZhYjA5ODEifQ=="/>
  <p:tag name="commondata" val="eyJoZGlkIjoiMDNkY2NkMDM0NDA1YWViZGM2YTRhMjRjYmMxZWU1ODg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1806</Words>
  <Application>WPS 演示</Application>
  <PresentationFormat>自定义</PresentationFormat>
  <Paragraphs>304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Times New Roman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吴静</cp:lastModifiedBy>
  <cp:revision>509</cp:revision>
  <dcterms:created xsi:type="dcterms:W3CDTF">2015-03-26T06:11:00Z</dcterms:created>
  <dcterms:modified xsi:type="dcterms:W3CDTF">2024-10-16T07:59:51Z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3688E8557FFC4ED0860520AC60EAC75E_13</vt:lpwstr>
  </property>
</Properties>
</file>