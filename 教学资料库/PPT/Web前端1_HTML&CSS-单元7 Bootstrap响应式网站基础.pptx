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sldIdLst>
    <p:sldId id="256" r:id="rId2"/>
    <p:sldId id="361" r:id="rId3"/>
    <p:sldId id="362" r:id="rId4"/>
    <p:sldId id="374" r:id="rId5"/>
    <p:sldId id="375" r:id="rId6"/>
    <p:sldId id="376" r:id="rId7"/>
    <p:sldId id="378" r:id="rId8"/>
    <p:sldId id="379" r:id="rId9"/>
    <p:sldId id="363" r:id="rId10"/>
    <p:sldId id="364" r:id="rId11"/>
    <p:sldId id="365" r:id="rId12"/>
    <p:sldId id="366" r:id="rId13"/>
    <p:sldId id="367" r:id="rId14"/>
    <p:sldId id="368" r:id="rId15"/>
    <p:sldId id="380" r:id="rId16"/>
    <p:sldId id="370" r:id="rId17"/>
    <p:sldId id="371" r:id="rId18"/>
    <p:sldId id="381" r:id="rId19"/>
    <p:sldId id="382" r:id="rId20"/>
    <p:sldId id="372" r:id="rId21"/>
    <p:sldId id="373" r:id="rId22"/>
    <p:sldId id="383" r:id="rId23"/>
    <p:sldId id="299" r:id="rId24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6">
          <p15:clr>
            <a:srgbClr val="A4A3A4"/>
          </p15:clr>
        </p15:guide>
        <p15:guide id="2" orient="horz" pos="346">
          <p15:clr>
            <a:srgbClr val="A4A3A4"/>
          </p15:clr>
        </p15:guide>
        <p15:guide id="3" orient="horz" pos="3702">
          <p15:clr>
            <a:srgbClr val="A4A3A4"/>
          </p15:clr>
        </p15:guide>
        <p15:guide id="4" orient="horz" pos="572">
          <p15:clr>
            <a:srgbClr val="A4A3A4"/>
          </p15:clr>
        </p15:guide>
        <p15:guide id="5" pos="2880">
          <p15:clr>
            <a:srgbClr val="A4A3A4"/>
          </p15:clr>
        </p15:guide>
        <p15:guide id="6" pos="272">
          <p15:clr>
            <a:srgbClr val="A4A3A4"/>
          </p15:clr>
        </p15:guide>
        <p15:guide id="7" pos="5488">
          <p15:clr>
            <a:srgbClr val="A4A3A4"/>
          </p15:clr>
        </p15:guide>
        <p15:guide id="8" pos="3833">
          <p15:clr>
            <a:srgbClr val="A4A3A4"/>
          </p15:clr>
        </p15:guide>
        <p15:guide id="9" pos="4180">
          <p15:clr>
            <a:srgbClr val="A4A3A4"/>
          </p15:clr>
        </p15:guide>
        <p15:guide id="10" pos="154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0C0"/>
    <a:srgbClr val="02802F"/>
    <a:srgbClr val="FFFFFF"/>
    <a:srgbClr val="B1D3EC"/>
    <a:srgbClr val="0D0D0D"/>
    <a:srgbClr val="3A383B"/>
    <a:srgbClr val="07ABB5"/>
    <a:srgbClr val="3836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48" autoAdjust="0"/>
    <p:restoredTop sz="94660"/>
  </p:normalViewPr>
  <p:slideViewPr>
    <p:cSldViewPr snapToGrid="0" showGuides="1">
      <p:cViewPr varScale="1">
        <p:scale>
          <a:sx n="60" d="100"/>
          <a:sy n="60" d="100"/>
        </p:scale>
        <p:origin x="1348" y="36"/>
      </p:cViewPr>
      <p:guideLst>
        <p:guide orient="horz" pos="2146"/>
        <p:guide orient="horz" pos="346"/>
        <p:guide orient="horz" pos="3702"/>
        <p:guide orient="horz" pos="572"/>
        <p:guide pos="2880"/>
        <p:guide pos="272"/>
        <p:guide pos="5488"/>
        <p:guide pos="3833"/>
        <p:guide pos="4180"/>
        <p:guide pos="154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2018/7/20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8364596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2689862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4993281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9233518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3398667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0453165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9822910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8382092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1041213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41182517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254452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3573668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7883078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9405590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3158881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40844610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83089754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49632566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94565392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07735975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546551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 smtClean="0"/>
              <a:t>单击此处编辑母版副标题样式</a:t>
            </a:r>
            <a:endParaRPr 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CD871C-C23A-432E-873E-C530F1019FA1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日期占位符 1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页脚占位符 2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155751C-E6EA-4D38-9B67-2E7BFD8C4C15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日期占位符 1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页脚占位符 2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2D88907-6C4F-4C89-B6CA-A82B149232DC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en-US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CD871C-C23A-432E-873E-C530F1019FA1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en-US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CD871C-C23A-432E-873E-C530F1019FA1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CD871C-C23A-432E-873E-C530F1019FA1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CD871C-C23A-432E-873E-C530F1019FA1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en-US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CD871C-C23A-432E-873E-C530F1019FA1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CD871C-C23A-432E-873E-C530F1019FA1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CD871C-C23A-432E-873E-C530F1019FA1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CD871C-C23A-432E-873E-C530F1019FA1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buFontTx/>
              <a:buNone/>
              <a:defRPr sz="1200" smtClean="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CD871C-C23A-432E-873E-C530F1019FA1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0" y="2349500"/>
            <a:ext cx="9144000" cy="2159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2890838" y="3429000"/>
            <a:ext cx="6253163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8" y="2514600"/>
            <a:ext cx="1828800" cy="1828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6" name="文本框 15"/>
          <p:cNvSpPr txBox="1"/>
          <p:nvPr/>
        </p:nvSpPr>
        <p:spPr>
          <a:xfrm>
            <a:off x="2690037" y="2720975"/>
            <a:ext cx="6258701" cy="120032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en-US" altLang="zh-CN" sz="3200" dirty="0" smtClean="0">
                <a:solidFill>
                  <a:schemeClr val="bg1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HTML5+CSS3</a:t>
            </a:r>
            <a:r>
              <a:rPr lang="zh-CN" altLang="en-US" sz="3200" dirty="0">
                <a:solidFill>
                  <a:schemeClr val="bg1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网页设计任务教程</a:t>
            </a:r>
          </a:p>
          <a:p>
            <a:pPr algn="r" eaLnBrk="1" hangingPunct="1"/>
            <a:endParaRPr lang="zh-CN" altLang="en-US" sz="4000" dirty="0">
              <a:solidFill>
                <a:schemeClr val="bg1"/>
              </a:solidFill>
              <a:latin typeface="方正粗活意简体" panose="03000509000000000000" pitchFamily="65" charset="-122"/>
              <a:ea typeface="方正粗活意简体" panose="03000509000000000000" pitchFamily="65" charset="-122"/>
              <a:sym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2655880" y="3555036"/>
            <a:ext cx="620714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hangingPunct="1"/>
            <a:r>
              <a:rPr lang="zh-CN" altLang="en-US" sz="3200" dirty="0">
                <a:solidFill>
                  <a:schemeClr val="bg1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单元</a:t>
            </a:r>
            <a:r>
              <a:rPr lang="en-US" altLang="zh-CN" sz="3200" dirty="0">
                <a:solidFill>
                  <a:schemeClr val="bg1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7 Bootstrap</a:t>
            </a:r>
            <a:r>
              <a:rPr lang="zh-CN" altLang="en-US" sz="3200" dirty="0">
                <a:solidFill>
                  <a:schemeClr val="bg1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响应式网站基础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46"/>
          <p:cNvGrpSpPr>
            <a:grpSpLocks/>
          </p:cNvGrpSpPr>
          <p:nvPr/>
        </p:nvGrpSpPr>
        <p:grpSpPr bwMode="auto">
          <a:xfrm>
            <a:off x="0" y="284163"/>
            <a:ext cx="1692275" cy="530225"/>
            <a:chOff x="0" y="284389"/>
            <a:chExt cx="1692275" cy="529772"/>
          </a:xfrm>
        </p:grpSpPr>
        <p:sp>
          <p:nvSpPr>
            <p:cNvPr id="40" name="矩形 39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目录</a:t>
              </a:r>
            </a:p>
          </p:txBody>
        </p:sp>
        <p:sp>
          <p:nvSpPr>
            <p:cNvPr id="41" name="矩形 40"/>
            <p:cNvSpPr/>
            <p:nvPr/>
          </p:nvSpPr>
          <p:spPr>
            <a:xfrm>
              <a:off x="1577975" y="284389"/>
              <a:ext cx="114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42" name="矩形 41"/>
          <p:cNvSpPr/>
          <p:nvPr/>
        </p:nvSpPr>
        <p:spPr>
          <a:xfrm>
            <a:off x="8720138" y="6043613"/>
            <a:ext cx="423862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43" name="直接连接符 42"/>
          <p:cNvCxnSpPr/>
          <p:nvPr/>
        </p:nvCxnSpPr>
        <p:spPr>
          <a:xfrm>
            <a:off x="2837588" y="1735138"/>
            <a:ext cx="0" cy="3387725"/>
          </a:xfrm>
          <a:prstGeom prst="line">
            <a:avLst/>
          </a:prstGeom>
          <a:ln>
            <a:solidFill>
              <a:srgbClr val="0174AB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组合 18"/>
          <p:cNvGrpSpPr>
            <a:grpSpLocks/>
          </p:cNvGrpSpPr>
          <p:nvPr/>
        </p:nvGrpSpPr>
        <p:grpSpPr bwMode="auto">
          <a:xfrm>
            <a:off x="692735" y="2450037"/>
            <a:ext cx="1411944" cy="1407337"/>
            <a:chOff x="1709739" y="2636838"/>
            <a:chExt cx="1590160" cy="1584325"/>
          </a:xfrm>
        </p:grpSpPr>
        <p:sp>
          <p:nvSpPr>
            <p:cNvPr id="47" name="Freeform 6"/>
            <p:cNvSpPr>
              <a:spLocks/>
            </p:cNvSpPr>
            <p:nvPr/>
          </p:nvSpPr>
          <p:spPr bwMode="auto">
            <a:xfrm>
              <a:off x="1709739" y="2636838"/>
              <a:ext cx="1468102" cy="1467130"/>
            </a:xfrm>
            <a:custGeom>
              <a:avLst/>
              <a:gdLst>
                <a:gd name="T0" fmla="*/ 2147483646 w 1276"/>
                <a:gd name="T1" fmla="*/ 2147483646 h 1274"/>
                <a:gd name="T2" fmla="*/ 2147483646 w 1276"/>
                <a:gd name="T3" fmla="*/ 2147483646 h 1274"/>
                <a:gd name="T4" fmla="*/ 2147483646 w 1276"/>
                <a:gd name="T5" fmla="*/ 2147483646 h 1274"/>
                <a:gd name="T6" fmla="*/ 2147483646 w 1276"/>
                <a:gd name="T7" fmla="*/ 2147483646 h 1274"/>
                <a:gd name="T8" fmla="*/ 2147483646 w 1276"/>
                <a:gd name="T9" fmla="*/ 2147483646 h 1274"/>
                <a:gd name="T10" fmla="*/ 2147483646 w 1276"/>
                <a:gd name="T11" fmla="*/ 2147483646 h 1274"/>
                <a:gd name="T12" fmla="*/ 2147483646 w 1276"/>
                <a:gd name="T13" fmla="*/ 2147483646 h 1274"/>
                <a:gd name="T14" fmla="*/ 0 w 1276"/>
                <a:gd name="T15" fmla="*/ 2147483646 h 1274"/>
                <a:gd name="T16" fmla="*/ 0 w 1276"/>
                <a:gd name="T17" fmla="*/ 2147483646 h 1274"/>
                <a:gd name="T18" fmla="*/ 2147483646 w 1276"/>
                <a:gd name="T19" fmla="*/ 0 h 1274"/>
                <a:gd name="T20" fmla="*/ 2147483646 w 1276"/>
                <a:gd name="T21" fmla="*/ 0 h 1274"/>
                <a:gd name="T22" fmla="*/ 2147483646 w 1276"/>
                <a:gd name="T23" fmla="*/ 2147483646 h 1274"/>
                <a:gd name="T24" fmla="*/ 2147483646 w 1276"/>
                <a:gd name="T25" fmla="*/ 2147483646 h 1274"/>
                <a:gd name="T26" fmla="*/ 2147483646 w 1276"/>
                <a:gd name="T27" fmla="*/ 2147483646 h 1274"/>
                <a:gd name="T28" fmla="*/ 2147483646 w 1276"/>
                <a:gd name="T29" fmla="*/ 2147483646 h 1274"/>
                <a:gd name="T30" fmla="*/ 2147483646 w 1276"/>
                <a:gd name="T31" fmla="*/ 2147483646 h 1274"/>
                <a:gd name="T32" fmla="*/ 2147483646 w 1276"/>
                <a:gd name="T33" fmla="*/ 2147483646 h 1274"/>
                <a:gd name="T34" fmla="*/ 2147483646 w 1276"/>
                <a:gd name="T35" fmla="*/ 2147483646 h 1274"/>
                <a:gd name="T36" fmla="*/ 2147483646 w 1276"/>
                <a:gd name="T37" fmla="*/ 2147483646 h 1274"/>
                <a:gd name="T38" fmla="*/ 2147483646 w 1276"/>
                <a:gd name="T39" fmla="*/ 2147483646 h 1274"/>
                <a:gd name="T40" fmla="*/ 2147483646 w 1276"/>
                <a:gd name="T41" fmla="*/ 2147483646 h 1274"/>
                <a:gd name="T42" fmla="*/ 2147483646 w 1276"/>
                <a:gd name="T43" fmla="*/ 2147483646 h 1274"/>
                <a:gd name="T44" fmla="*/ 2147483646 w 1276"/>
                <a:gd name="T45" fmla="*/ 2147483646 h 1274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1276"/>
                <a:gd name="T70" fmla="*/ 0 h 1274"/>
                <a:gd name="T71" fmla="*/ 1276 w 1276"/>
                <a:gd name="T72" fmla="*/ 1274 h 1274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1276" h="1274">
                  <a:moveTo>
                    <a:pt x="691" y="1168"/>
                  </a:moveTo>
                  <a:cubicBezTo>
                    <a:pt x="681" y="1203"/>
                    <a:pt x="672" y="1235"/>
                    <a:pt x="662" y="1267"/>
                  </a:cubicBezTo>
                  <a:cubicBezTo>
                    <a:pt x="661" y="1270"/>
                    <a:pt x="657" y="1272"/>
                    <a:pt x="654" y="1273"/>
                  </a:cubicBezTo>
                  <a:cubicBezTo>
                    <a:pt x="651" y="1274"/>
                    <a:pt x="647" y="1274"/>
                    <a:pt x="643" y="1274"/>
                  </a:cubicBezTo>
                  <a:cubicBezTo>
                    <a:pt x="486" y="1274"/>
                    <a:pt x="329" y="1273"/>
                    <a:pt x="172" y="1274"/>
                  </a:cubicBezTo>
                  <a:cubicBezTo>
                    <a:pt x="140" y="1274"/>
                    <a:pt x="109" y="1269"/>
                    <a:pt x="81" y="1253"/>
                  </a:cubicBezTo>
                  <a:cubicBezTo>
                    <a:pt x="29" y="1221"/>
                    <a:pt x="1" y="1174"/>
                    <a:pt x="1" y="1113"/>
                  </a:cubicBezTo>
                  <a:cubicBezTo>
                    <a:pt x="0" y="1039"/>
                    <a:pt x="0" y="966"/>
                    <a:pt x="0" y="892"/>
                  </a:cubicBezTo>
                  <a:cubicBezTo>
                    <a:pt x="0" y="651"/>
                    <a:pt x="0" y="411"/>
                    <a:pt x="0" y="170"/>
                  </a:cubicBezTo>
                  <a:cubicBezTo>
                    <a:pt x="0" y="68"/>
                    <a:pt x="68" y="0"/>
                    <a:pt x="170" y="0"/>
                  </a:cubicBezTo>
                  <a:cubicBezTo>
                    <a:pt x="483" y="0"/>
                    <a:pt x="797" y="0"/>
                    <a:pt x="1110" y="0"/>
                  </a:cubicBezTo>
                  <a:cubicBezTo>
                    <a:pt x="1194" y="0"/>
                    <a:pt x="1258" y="51"/>
                    <a:pt x="1273" y="131"/>
                  </a:cubicBezTo>
                  <a:cubicBezTo>
                    <a:pt x="1276" y="143"/>
                    <a:pt x="1276" y="156"/>
                    <a:pt x="1276" y="168"/>
                  </a:cubicBezTo>
                  <a:cubicBezTo>
                    <a:pt x="1276" y="322"/>
                    <a:pt x="1276" y="475"/>
                    <a:pt x="1276" y="629"/>
                  </a:cubicBezTo>
                  <a:cubicBezTo>
                    <a:pt x="1276" y="634"/>
                    <a:pt x="1276" y="638"/>
                    <a:pt x="1275" y="645"/>
                  </a:cubicBezTo>
                  <a:cubicBezTo>
                    <a:pt x="1239" y="640"/>
                    <a:pt x="1205" y="643"/>
                    <a:pt x="1171" y="659"/>
                  </a:cubicBezTo>
                  <a:cubicBezTo>
                    <a:pt x="1171" y="509"/>
                    <a:pt x="1171" y="362"/>
                    <a:pt x="1171" y="214"/>
                  </a:cubicBezTo>
                  <a:cubicBezTo>
                    <a:pt x="816" y="214"/>
                    <a:pt x="462" y="214"/>
                    <a:pt x="106" y="214"/>
                  </a:cubicBezTo>
                  <a:cubicBezTo>
                    <a:pt x="106" y="219"/>
                    <a:pt x="106" y="224"/>
                    <a:pt x="106" y="230"/>
                  </a:cubicBezTo>
                  <a:cubicBezTo>
                    <a:pt x="106" y="521"/>
                    <a:pt x="106" y="812"/>
                    <a:pt x="105" y="1102"/>
                  </a:cubicBezTo>
                  <a:cubicBezTo>
                    <a:pt x="105" y="1141"/>
                    <a:pt x="125" y="1169"/>
                    <a:pt x="171" y="1168"/>
                  </a:cubicBezTo>
                  <a:cubicBezTo>
                    <a:pt x="338" y="1167"/>
                    <a:pt x="504" y="1168"/>
                    <a:pt x="671" y="1168"/>
                  </a:cubicBezTo>
                  <a:cubicBezTo>
                    <a:pt x="677" y="1168"/>
                    <a:pt x="683" y="1168"/>
                    <a:pt x="691" y="1168"/>
                  </a:cubicBezTo>
                  <a:close/>
                </a:path>
              </a:pathLst>
            </a:custGeom>
            <a:solidFill>
              <a:srgbClr val="0174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Freeform 7"/>
            <p:cNvSpPr>
              <a:spLocks noEditPoints="1"/>
            </p:cNvSpPr>
            <p:nvPr/>
          </p:nvSpPr>
          <p:spPr bwMode="auto">
            <a:xfrm>
              <a:off x="2571440" y="3653665"/>
              <a:ext cx="569443" cy="567498"/>
            </a:xfrm>
            <a:custGeom>
              <a:avLst/>
              <a:gdLst>
                <a:gd name="T0" fmla="*/ 2147483646 w 495"/>
                <a:gd name="T1" fmla="*/ 2147483646 h 493"/>
                <a:gd name="T2" fmla="*/ 2147483646 w 495"/>
                <a:gd name="T3" fmla="*/ 2147483646 h 493"/>
                <a:gd name="T4" fmla="*/ 2147483646 w 495"/>
                <a:gd name="T5" fmla="*/ 2147483646 h 493"/>
                <a:gd name="T6" fmla="*/ 2147483646 w 495"/>
                <a:gd name="T7" fmla="*/ 2147483646 h 493"/>
                <a:gd name="T8" fmla="*/ 2147483646 w 495"/>
                <a:gd name="T9" fmla="*/ 2147483646 h 493"/>
                <a:gd name="T10" fmla="*/ 2147483646 w 495"/>
                <a:gd name="T11" fmla="*/ 2147483646 h 493"/>
                <a:gd name="T12" fmla="*/ 2147483646 w 495"/>
                <a:gd name="T13" fmla="*/ 2147483646 h 493"/>
                <a:gd name="T14" fmla="*/ 2147483646 w 495"/>
                <a:gd name="T15" fmla="*/ 2147483646 h 493"/>
                <a:gd name="T16" fmla="*/ 2147483646 w 495"/>
                <a:gd name="T17" fmla="*/ 2147483646 h 493"/>
                <a:gd name="T18" fmla="*/ 2147483646 w 495"/>
                <a:gd name="T19" fmla="*/ 2147483646 h 493"/>
                <a:gd name="T20" fmla="*/ 2147483646 w 495"/>
                <a:gd name="T21" fmla="*/ 2147483646 h 493"/>
                <a:gd name="T22" fmla="*/ 2147483646 w 495"/>
                <a:gd name="T23" fmla="*/ 2147483646 h 493"/>
                <a:gd name="T24" fmla="*/ 2147483646 w 495"/>
                <a:gd name="T25" fmla="*/ 2147483646 h 493"/>
                <a:gd name="T26" fmla="*/ 2147483646 w 495"/>
                <a:gd name="T27" fmla="*/ 2147483646 h 493"/>
                <a:gd name="T28" fmla="*/ 2147483646 w 495"/>
                <a:gd name="T29" fmla="*/ 2147483646 h 493"/>
                <a:gd name="T30" fmla="*/ 2147483646 w 495"/>
                <a:gd name="T31" fmla="*/ 2147483646 h 493"/>
                <a:gd name="T32" fmla="*/ 2147483646 w 495"/>
                <a:gd name="T33" fmla="*/ 2147483646 h 493"/>
                <a:gd name="T34" fmla="*/ 2147483646 w 495"/>
                <a:gd name="T35" fmla="*/ 2147483646 h 493"/>
                <a:gd name="T36" fmla="*/ 2147483646 w 495"/>
                <a:gd name="T37" fmla="*/ 2147483646 h 493"/>
                <a:gd name="T38" fmla="*/ 2147483646 w 495"/>
                <a:gd name="T39" fmla="*/ 2147483646 h 493"/>
                <a:gd name="T40" fmla="*/ 2147483646 w 495"/>
                <a:gd name="T41" fmla="*/ 2147483646 h 49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495"/>
                <a:gd name="T64" fmla="*/ 0 h 493"/>
                <a:gd name="T65" fmla="*/ 495 w 495"/>
                <a:gd name="T66" fmla="*/ 493 h 493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495" h="493">
                  <a:moveTo>
                    <a:pt x="328" y="1"/>
                  </a:moveTo>
                  <a:cubicBezTo>
                    <a:pt x="384" y="56"/>
                    <a:pt x="439" y="112"/>
                    <a:pt x="495" y="167"/>
                  </a:cubicBezTo>
                  <a:cubicBezTo>
                    <a:pt x="473" y="190"/>
                    <a:pt x="450" y="213"/>
                    <a:pt x="427" y="236"/>
                  </a:cubicBezTo>
                  <a:cubicBezTo>
                    <a:pt x="365" y="298"/>
                    <a:pt x="303" y="360"/>
                    <a:pt x="240" y="421"/>
                  </a:cubicBezTo>
                  <a:cubicBezTo>
                    <a:pt x="233" y="428"/>
                    <a:pt x="225" y="433"/>
                    <a:pt x="216" y="436"/>
                  </a:cubicBezTo>
                  <a:cubicBezTo>
                    <a:pt x="157" y="454"/>
                    <a:pt x="98" y="471"/>
                    <a:pt x="40" y="488"/>
                  </a:cubicBezTo>
                  <a:cubicBezTo>
                    <a:pt x="28" y="492"/>
                    <a:pt x="18" y="493"/>
                    <a:pt x="9" y="484"/>
                  </a:cubicBezTo>
                  <a:cubicBezTo>
                    <a:pt x="0" y="475"/>
                    <a:pt x="3" y="464"/>
                    <a:pt x="6" y="454"/>
                  </a:cubicBezTo>
                  <a:cubicBezTo>
                    <a:pt x="23" y="395"/>
                    <a:pt x="40" y="335"/>
                    <a:pt x="58" y="276"/>
                  </a:cubicBezTo>
                  <a:cubicBezTo>
                    <a:pt x="60" y="270"/>
                    <a:pt x="63" y="264"/>
                    <a:pt x="67" y="259"/>
                  </a:cubicBezTo>
                  <a:cubicBezTo>
                    <a:pt x="154" y="173"/>
                    <a:pt x="240" y="87"/>
                    <a:pt x="327" y="1"/>
                  </a:cubicBezTo>
                  <a:cubicBezTo>
                    <a:pt x="328" y="1"/>
                    <a:pt x="329" y="0"/>
                    <a:pt x="328" y="1"/>
                  </a:cubicBezTo>
                  <a:close/>
                  <a:moveTo>
                    <a:pt x="102" y="292"/>
                  </a:moveTo>
                  <a:cubicBezTo>
                    <a:pt x="91" y="327"/>
                    <a:pt x="81" y="362"/>
                    <a:pt x="72" y="396"/>
                  </a:cubicBezTo>
                  <a:cubicBezTo>
                    <a:pt x="71" y="399"/>
                    <a:pt x="72" y="403"/>
                    <a:pt x="74" y="405"/>
                  </a:cubicBezTo>
                  <a:cubicBezTo>
                    <a:pt x="87" y="423"/>
                    <a:pt x="92" y="425"/>
                    <a:pt x="113" y="418"/>
                  </a:cubicBezTo>
                  <a:cubicBezTo>
                    <a:pt x="125" y="415"/>
                    <a:pt x="136" y="411"/>
                    <a:pt x="148" y="408"/>
                  </a:cubicBezTo>
                  <a:cubicBezTo>
                    <a:pt x="165" y="403"/>
                    <a:pt x="182" y="398"/>
                    <a:pt x="200" y="393"/>
                  </a:cubicBezTo>
                  <a:cubicBezTo>
                    <a:pt x="195" y="365"/>
                    <a:pt x="190" y="341"/>
                    <a:pt x="185" y="316"/>
                  </a:cubicBezTo>
                  <a:cubicBezTo>
                    <a:pt x="185" y="313"/>
                    <a:pt x="181" y="309"/>
                    <a:pt x="178" y="308"/>
                  </a:cubicBezTo>
                  <a:cubicBezTo>
                    <a:pt x="153" y="302"/>
                    <a:pt x="128" y="297"/>
                    <a:pt x="102" y="292"/>
                  </a:cubicBezTo>
                  <a:close/>
                </a:path>
              </a:pathLst>
            </a:custGeom>
            <a:solidFill>
              <a:srgbClr val="0174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Freeform 8"/>
            <p:cNvSpPr>
              <a:spLocks/>
            </p:cNvSpPr>
            <p:nvPr/>
          </p:nvSpPr>
          <p:spPr bwMode="auto">
            <a:xfrm>
              <a:off x="2262162" y="3371619"/>
              <a:ext cx="608346" cy="119627"/>
            </a:xfrm>
            <a:custGeom>
              <a:avLst/>
              <a:gdLst>
                <a:gd name="T0" fmla="*/ 0 w 529"/>
                <a:gd name="T1" fmla="*/ 2147483646 h 104"/>
                <a:gd name="T2" fmla="*/ 0 w 529"/>
                <a:gd name="T3" fmla="*/ 0 h 104"/>
                <a:gd name="T4" fmla="*/ 2147483646 w 529"/>
                <a:gd name="T5" fmla="*/ 0 h 104"/>
                <a:gd name="T6" fmla="*/ 2147483646 w 529"/>
                <a:gd name="T7" fmla="*/ 2147483646 h 104"/>
                <a:gd name="T8" fmla="*/ 0 w 529"/>
                <a:gd name="T9" fmla="*/ 2147483646 h 10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29"/>
                <a:gd name="T16" fmla="*/ 0 h 104"/>
                <a:gd name="T17" fmla="*/ 529 w 529"/>
                <a:gd name="T18" fmla="*/ 104 h 10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29" h="104">
                  <a:moveTo>
                    <a:pt x="0" y="104"/>
                  </a:moveTo>
                  <a:cubicBezTo>
                    <a:pt x="0" y="69"/>
                    <a:pt x="0" y="35"/>
                    <a:pt x="0" y="0"/>
                  </a:cubicBezTo>
                  <a:cubicBezTo>
                    <a:pt x="177" y="0"/>
                    <a:pt x="352" y="0"/>
                    <a:pt x="529" y="0"/>
                  </a:cubicBezTo>
                  <a:cubicBezTo>
                    <a:pt x="529" y="35"/>
                    <a:pt x="529" y="69"/>
                    <a:pt x="529" y="104"/>
                  </a:cubicBezTo>
                  <a:cubicBezTo>
                    <a:pt x="353" y="104"/>
                    <a:pt x="177" y="104"/>
                    <a:pt x="0" y="104"/>
                  </a:cubicBezTo>
                  <a:close/>
                </a:path>
              </a:pathLst>
            </a:custGeom>
            <a:solidFill>
              <a:srgbClr val="0174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Freeform 9"/>
            <p:cNvSpPr>
              <a:spLocks/>
            </p:cNvSpPr>
            <p:nvPr/>
          </p:nvSpPr>
          <p:spPr bwMode="auto">
            <a:xfrm>
              <a:off x="2263134" y="3127502"/>
              <a:ext cx="607373" cy="119627"/>
            </a:xfrm>
            <a:custGeom>
              <a:avLst/>
              <a:gdLst>
                <a:gd name="T0" fmla="*/ 2147483646 w 528"/>
                <a:gd name="T1" fmla="*/ 0 h 104"/>
                <a:gd name="T2" fmla="*/ 2147483646 w 528"/>
                <a:gd name="T3" fmla="*/ 2147483646 h 104"/>
                <a:gd name="T4" fmla="*/ 0 w 528"/>
                <a:gd name="T5" fmla="*/ 2147483646 h 104"/>
                <a:gd name="T6" fmla="*/ 0 w 528"/>
                <a:gd name="T7" fmla="*/ 0 h 104"/>
                <a:gd name="T8" fmla="*/ 2147483646 w 528"/>
                <a:gd name="T9" fmla="*/ 0 h 10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28"/>
                <a:gd name="T16" fmla="*/ 0 h 104"/>
                <a:gd name="T17" fmla="*/ 528 w 528"/>
                <a:gd name="T18" fmla="*/ 104 h 10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28" h="104">
                  <a:moveTo>
                    <a:pt x="528" y="0"/>
                  </a:moveTo>
                  <a:cubicBezTo>
                    <a:pt x="528" y="35"/>
                    <a:pt x="528" y="69"/>
                    <a:pt x="528" y="104"/>
                  </a:cubicBezTo>
                  <a:cubicBezTo>
                    <a:pt x="352" y="104"/>
                    <a:pt x="177" y="104"/>
                    <a:pt x="0" y="104"/>
                  </a:cubicBezTo>
                  <a:cubicBezTo>
                    <a:pt x="0" y="70"/>
                    <a:pt x="0" y="36"/>
                    <a:pt x="0" y="0"/>
                  </a:cubicBezTo>
                  <a:cubicBezTo>
                    <a:pt x="176" y="0"/>
                    <a:pt x="352" y="0"/>
                    <a:pt x="528" y="0"/>
                  </a:cubicBezTo>
                  <a:close/>
                </a:path>
              </a:pathLst>
            </a:custGeom>
            <a:solidFill>
              <a:srgbClr val="0174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Freeform 10"/>
            <p:cNvSpPr>
              <a:spLocks/>
            </p:cNvSpPr>
            <p:nvPr/>
          </p:nvSpPr>
          <p:spPr bwMode="auto">
            <a:xfrm>
              <a:off x="2263134" y="3615735"/>
              <a:ext cx="549991" cy="120599"/>
            </a:xfrm>
            <a:custGeom>
              <a:avLst/>
              <a:gdLst>
                <a:gd name="T0" fmla="*/ 0 w 478"/>
                <a:gd name="T1" fmla="*/ 0 h 105"/>
                <a:gd name="T2" fmla="*/ 2147483646 w 478"/>
                <a:gd name="T3" fmla="*/ 0 h 105"/>
                <a:gd name="T4" fmla="*/ 2147483646 w 478"/>
                <a:gd name="T5" fmla="*/ 2147483646 h 105"/>
                <a:gd name="T6" fmla="*/ 2147483646 w 478"/>
                <a:gd name="T7" fmla="*/ 2147483646 h 105"/>
                <a:gd name="T8" fmla="*/ 2147483646 w 478"/>
                <a:gd name="T9" fmla="*/ 2147483646 h 105"/>
                <a:gd name="T10" fmla="*/ 2147483646 w 478"/>
                <a:gd name="T11" fmla="*/ 2147483646 h 105"/>
                <a:gd name="T12" fmla="*/ 0 w 478"/>
                <a:gd name="T13" fmla="*/ 2147483646 h 105"/>
                <a:gd name="T14" fmla="*/ 0 w 478"/>
                <a:gd name="T15" fmla="*/ 0 h 10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478"/>
                <a:gd name="T25" fmla="*/ 0 h 105"/>
                <a:gd name="T26" fmla="*/ 478 w 478"/>
                <a:gd name="T27" fmla="*/ 105 h 105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478" h="105">
                  <a:moveTo>
                    <a:pt x="0" y="0"/>
                  </a:moveTo>
                  <a:cubicBezTo>
                    <a:pt x="159" y="0"/>
                    <a:pt x="318" y="0"/>
                    <a:pt x="478" y="0"/>
                  </a:cubicBezTo>
                  <a:cubicBezTo>
                    <a:pt x="476" y="3"/>
                    <a:pt x="474" y="6"/>
                    <a:pt x="472" y="8"/>
                  </a:cubicBezTo>
                  <a:cubicBezTo>
                    <a:pt x="443" y="38"/>
                    <a:pt x="413" y="68"/>
                    <a:pt x="383" y="97"/>
                  </a:cubicBezTo>
                  <a:cubicBezTo>
                    <a:pt x="379" y="101"/>
                    <a:pt x="372" y="104"/>
                    <a:pt x="366" y="104"/>
                  </a:cubicBezTo>
                  <a:cubicBezTo>
                    <a:pt x="247" y="105"/>
                    <a:pt x="127" y="105"/>
                    <a:pt x="8" y="105"/>
                  </a:cubicBezTo>
                  <a:cubicBezTo>
                    <a:pt x="6" y="105"/>
                    <a:pt x="3" y="104"/>
                    <a:pt x="0" y="104"/>
                  </a:cubicBezTo>
                  <a:cubicBezTo>
                    <a:pt x="0" y="69"/>
                    <a:pt x="0" y="35"/>
                    <a:pt x="0" y="0"/>
                  </a:cubicBezTo>
                  <a:close/>
                </a:path>
              </a:pathLst>
            </a:custGeom>
            <a:solidFill>
              <a:srgbClr val="0174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Freeform 11"/>
            <p:cNvSpPr>
              <a:spLocks/>
            </p:cNvSpPr>
            <p:nvPr/>
          </p:nvSpPr>
          <p:spPr bwMode="auto">
            <a:xfrm>
              <a:off x="3016880" y="3492218"/>
              <a:ext cx="283019" cy="281074"/>
            </a:xfrm>
            <a:custGeom>
              <a:avLst/>
              <a:gdLst>
                <a:gd name="T0" fmla="*/ 0 w 246"/>
                <a:gd name="T1" fmla="*/ 2147483646 h 244"/>
                <a:gd name="T2" fmla="*/ 2147483646 w 246"/>
                <a:gd name="T3" fmla="*/ 2147483646 h 244"/>
                <a:gd name="T4" fmla="*/ 2147483646 w 246"/>
                <a:gd name="T5" fmla="*/ 2147483646 h 244"/>
                <a:gd name="T6" fmla="*/ 2147483646 w 246"/>
                <a:gd name="T7" fmla="*/ 2147483646 h 244"/>
                <a:gd name="T8" fmla="*/ 2147483646 w 246"/>
                <a:gd name="T9" fmla="*/ 2147483646 h 244"/>
                <a:gd name="T10" fmla="*/ 2147483646 w 246"/>
                <a:gd name="T11" fmla="*/ 2147483646 h 244"/>
                <a:gd name="T12" fmla="*/ 0 w 246"/>
                <a:gd name="T13" fmla="*/ 2147483646 h 24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46"/>
                <a:gd name="T22" fmla="*/ 0 h 244"/>
                <a:gd name="T23" fmla="*/ 246 w 246"/>
                <a:gd name="T24" fmla="*/ 244 h 24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46" h="244">
                  <a:moveTo>
                    <a:pt x="0" y="87"/>
                  </a:moveTo>
                  <a:cubicBezTo>
                    <a:pt x="22" y="64"/>
                    <a:pt x="43" y="41"/>
                    <a:pt x="66" y="20"/>
                  </a:cubicBezTo>
                  <a:cubicBezTo>
                    <a:pt x="87" y="1"/>
                    <a:pt x="118" y="0"/>
                    <a:pt x="139" y="20"/>
                  </a:cubicBezTo>
                  <a:cubicBezTo>
                    <a:pt x="169" y="48"/>
                    <a:pt x="198" y="76"/>
                    <a:pt x="225" y="106"/>
                  </a:cubicBezTo>
                  <a:cubicBezTo>
                    <a:pt x="245" y="127"/>
                    <a:pt x="246" y="158"/>
                    <a:pt x="227" y="178"/>
                  </a:cubicBezTo>
                  <a:cubicBezTo>
                    <a:pt x="205" y="202"/>
                    <a:pt x="181" y="223"/>
                    <a:pt x="159" y="244"/>
                  </a:cubicBezTo>
                  <a:cubicBezTo>
                    <a:pt x="107" y="193"/>
                    <a:pt x="54" y="140"/>
                    <a:pt x="0" y="87"/>
                  </a:cubicBezTo>
                  <a:close/>
                </a:path>
              </a:pathLst>
            </a:custGeom>
            <a:solidFill>
              <a:srgbClr val="0174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Freeform 12"/>
            <p:cNvSpPr>
              <a:spLocks/>
            </p:cNvSpPr>
            <p:nvPr/>
          </p:nvSpPr>
          <p:spPr bwMode="auto">
            <a:xfrm>
              <a:off x="2017073" y="3372591"/>
              <a:ext cx="119627" cy="117682"/>
            </a:xfrm>
            <a:custGeom>
              <a:avLst/>
              <a:gdLst>
                <a:gd name="T0" fmla="*/ 0 w 104"/>
                <a:gd name="T1" fmla="*/ 2147483646 h 102"/>
                <a:gd name="T2" fmla="*/ 0 w 104"/>
                <a:gd name="T3" fmla="*/ 0 h 102"/>
                <a:gd name="T4" fmla="*/ 2147483646 w 104"/>
                <a:gd name="T5" fmla="*/ 0 h 102"/>
                <a:gd name="T6" fmla="*/ 2147483646 w 104"/>
                <a:gd name="T7" fmla="*/ 2147483646 h 102"/>
                <a:gd name="T8" fmla="*/ 0 w 104"/>
                <a:gd name="T9" fmla="*/ 2147483646 h 10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4"/>
                <a:gd name="T16" fmla="*/ 0 h 102"/>
                <a:gd name="T17" fmla="*/ 104 w 104"/>
                <a:gd name="T18" fmla="*/ 102 h 10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4" h="102">
                  <a:moveTo>
                    <a:pt x="0" y="102"/>
                  </a:moveTo>
                  <a:cubicBezTo>
                    <a:pt x="0" y="68"/>
                    <a:pt x="0" y="34"/>
                    <a:pt x="0" y="0"/>
                  </a:cubicBezTo>
                  <a:cubicBezTo>
                    <a:pt x="35" y="0"/>
                    <a:pt x="69" y="0"/>
                    <a:pt x="104" y="0"/>
                  </a:cubicBezTo>
                  <a:cubicBezTo>
                    <a:pt x="104" y="34"/>
                    <a:pt x="104" y="67"/>
                    <a:pt x="104" y="102"/>
                  </a:cubicBezTo>
                  <a:cubicBezTo>
                    <a:pt x="70" y="102"/>
                    <a:pt x="36" y="102"/>
                    <a:pt x="0" y="102"/>
                  </a:cubicBezTo>
                  <a:close/>
                </a:path>
              </a:pathLst>
            </a:custGeom>
            <a:solidFill>
              <a:srgbClr val="0174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Freeform 13"/>
            <p:cNvSpPr>
              <a:spLocks/>
            </p:cNvSpPr>
            <p:nvPr/>
          </p:nvSpPr>
          <p:spPr bwMode="auto">
            <a:xfrm>
              <a:off x="2018045" y="3128475"/>
              <a:ext cx="118654" cy="118654"/>
            </a:xfrm>
            <a:custGeom>
              <a:avLst/>
              <a:gdLst>
                <a:gd name="T0" fmla="*/ 2147483646 w 103"/>
                <a:gd name="T1" fmla="*/ 2147483646 h 103"/>
                <a:gd name="T2" fmla="*/ 0 w 103"/>
                <a:gd name="T3" fmla="*/ 2147483646 h 103"/>
                <a:gd name="T4" fmla="*/ 0 w 103"/>
                <a:gd name="T5" fmla="*/ 0 h 103"/>
                <a:gd name="T6" fmla="*/ 2147483646 w 103"/>
                <a:gd name="T7" fmla="*/ 0 h 103"/>
                <a:gd name="T8" fmla="*/ 2147483646 w 103"/>
                <a:gd name="T9" fmla="*/ 2147483646 h 1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3"/>
                <a:gd name="T16" fmla="*/ 0 h 103"/>
                <a:gd name="T17" fmla="*/ 103 w 103"/>
                <a:gd name="T18" fmla="*/ 103 h 10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3" h="103">
                  <a:moveTo>
                    <a:pt x="103" y="103"/>
                  </a:moveTo>
                  <a:cubicBezTo>
                    <a:pt x="68" y="103"/>
                    <a:pt x="34" y="103"/>
                    <a:pt x="0" y="103"/>
                  </a:cubicBezTo>
                  <a:cubicBezTo>
                    <a:pt x="0" y="68"/>
                    <a:pt x="0" y="35"/>
                    <a:pt x="0" y="0"/>
                  </a:cubicBezTo>
                  <a:cubicBezTo>
                    <a:pt x="34" y="0"/>
                    <a:pt x="68" y="0"/>
                    <a:pt x="103" y="0"/>
                  </a:cubicBezTo>
                  <a:cubicBezTo>
                    <a:pt x="103" y="34"/>
                    <a:pt x="103" y="68"/>
                    <a:pt x="103" y="103"/>
                  </a:cubicBezTo>
                  <a:close/>
                </a:path>
              </a:pathLst>
            </a:custGeom>
            <a:solidFill>
              <a:srgbClr val="0174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Freeform 14"/>
            <p:cNvSpPr>
              <a:spLocks/>
            </p:cNvSpPr>
            <p:nvPr/>
          </p:nvSpPr>
          <p:spPr bwMode="auto">
            <a:xfrm>
              <a:off x="2018045" y="3616708"/>
              <a:ext cx="118654" cy="118654"/>
            </a:xfrm>
            <a:custGeom>
              <a:avLst/>
              <a:gdLst>
                <a:gd name="T0" fmla="*/ 2147483646 w 103"/>
                <a:gd name="T1" fmla="*/ 2147483646 h 103"/>
                <a:gd name="T2" fmla="*/ 0 w 103"/>
                <a:gd name="T3" fmla="*/ 2147483646 h 103"/>
                <a:gd name="T4" fmla="*/ 0 w 103"/>
                <a:gd name="T5" fmla="*/ 0 h 103"/>
                <a:gd name="T6" fmla="*/ 2147483646 w 103"/>
                <a:gd name="T7" fmla="*/ 0 h 103"/>
                <a:gd name="T8" fmla="*/ 2147483646 w 103"/>
                <a:gd name="T9" fmla="*/ 2147483646 h 1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3"/>
                <a:gd name="T16" fmla="*/ 0 h 103"/>
                <a:gd name="T17" fmla="*/ 103 w 103"/>
                <a:gd name="T18" fmla="*/ 103 h 10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3" h="103">
                  <a:moveTo>
                    <a:pt x="103" y="103"/>
                  </a:moveTo>
                  <a:cubicBezTo>
                    <a:pt x="68" y="103"/>
                    <a:pt x="35" y="103"/>
                    <a:pt x="0" y="103"/>
                  </a:cubicBezTo>
                  <a:cubicBezTo>
                    <a:pt x="0" y="68"/>
                    <a:pt x="0" y="35"/>
                    <a:pt x="0" y="0"/>
                  </a:cubicBezTo>
                  <a:cubicBezTo>
                    <a:pt x="34" y="0"/>
                    <a:pt x="68" y="0"/>
                    <a:pt x="103" y="0"/>
                  </a:cubicBezTo>
                  <a:cubicBezTo>
                    <a:pt x="103" y="33"/>
                    <a:pt x="103" y="67"/>
                    <a:pt x="103" y="103"/>
                  </a:cubicBezTo>
                  <a:close/>
                </a:path>
              </a:pathLst>
            </a:custGeom>
            <a:solidFill>
              <a:srgbClr val="0174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6" name="文本框 55"/>
          <p:cNvSpPr txBox="1"/>
          <p:nvPr/>
        </p:nvSpPr>
        <p:spPr>
          <a:xfrm>
            <a:off x="226545" y="4131938"/>
            <a:ext cx="223594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spc="300" dirty="0">
                <a:solidFill>
                  <a:srgbClr val="0174A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CONTANTS</a:t>
            </a:r>
            <a:endParaRPr lang="zh-HK" altLang="en-US" sz="2400" b="1" spc="300" dirty="0">
              <a:solidFill>
                <a:srgbClr val="0174A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3159524" y="782487"/>
            <a:ext cx="4484812" cy="3672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</a:t>
            </a:r>
            <a:r>
              <a:rPr lang="en-US" altLang="zh-CN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7-1 </a:t>
            </a:r>
            <a:r>
              <a:rPr lang="zh-CN" altLang="en-US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掌握</a:t>
            </a:r>
            <a:r>
              <a:rPr lang="en-US" altLang="zh-CN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Bootstrap</a:t>
            </a:r>
            <a:r>
              <a:rPr lang="zh-CN" altLang="en-US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基础知识</a:t>
            </a:r>
            <a:endParaRPr lang="zh-HK" altLang="en-US" b="1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3159524" y="1269125"/>
            <a:ext cx="39004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spc="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</a:t>
            </a:r>
            <a:r>
              <a:rPr lang="en-US" altLang="zh-CN" b="1" spc="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7-2 </a:t>
            </a:r>
            <a:r>
              <a:rPr lang="zh-CN" altLang="en-US" b="1" spc="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制作栅格化布局页面</a:t>
            </a:r>
            <a:endParaRPr lang="zh-HK" altLang="en-US" b="1" spc="3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3159523" y="1748249"/>
            <a:ext cx="34751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</a:t>
            </a:r>
            <a:r>
              <a:rPr lang="en-US" altLang="zh-CN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7-3 </a:t>
            </a:r>
            <a:r>
              <a:rPr lang="zh-CN" altLang="en-US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制作响应式导航栏</a:t>
            </a:r>
            <a:endParaRPr lang="zh-HK" altLang="en-US" b="1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3159523" y="2224479"/>
            <a:ext cx="42407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spc="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</a:t>
            </a:r>
            <a:r>
              <a:rPr lang="en-US" altLang="zh-CN" b="1" spc="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7-4 </a:t>
            </a:r>
            <a:r>
              <a:rPr lang="zh-CN" altLang="en-US" b="1" spc="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制作响应式</a:t>
            </a:r>
            <a:r>
              <a:rPr lang="en-US" altLang="zh-CN" b="1" spc="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banner</a:t>
            </a:r>
            <a:r>
              <a:rPr lang="zh-CN" altLang="en-US" b="1" spc="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图片</a:t>
            </a:r>
            <a:endParaRPr lang="zh-HK" altLang="en-US" b="1" spc="3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3159523" y="2667700"/>
            <a:ext cx="37835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</a:t>
            </a:r>
            <a:r>
              <a:rPr lang="en-US" altLang="zh-CN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7-5 </a:t>
            </a:r>
            <a:r>
              <a:rPr lang="zh-CN" altLang="en-US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制作响应式文字列表</a:t>
            </a:r>
            <a:endParaRPr lang="zh-HK" altLang="en-US" b="1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3170157" y="3132692"/>
            <a:ext cx="34645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spc="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</a:t>
            </a:r>
            <a:r>
              <a:rPr lang="en-US" altLang="zh-CN" b="1" spc="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7-6 </a:t>
            </a:r>
            <a:r>
              <a:rPr lang="zh-CN" altLang="en-US" b="1" spc="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制作响应式缩略图</a:t>
            </a:r>
            <a:endParaRPr lang="zh-HK" altLang="en-US" b="1" spc="3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3170157" y="3597684"/>
            <a:ext cx="44741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</a:t>
            </a:r>
            <a:r>
              <a:rPr lang="en-US" altLang="zh-CN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7-7 </a:t>
            </a:r>
            <a:r>
              <a:rPr lang="zh-CN" altLang="en-US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制作响应式图文混排列表</a:t>
            </a:r>
            <a:endParaRPr lang="zh-HK" altLang="en-US" b="1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3159522" y="4052597"/>
            <a:ext cx="43470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spc="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</a:t>
            </a:r>
            <a:r>
              <a:rPr lang="en-US" altLang="zh-CN" b="1" spc="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7-8 </a:t>
            </a:r>
            <a:r>
              <a:rPr lang="zh-CN" altLang="en-US" b="1" spc="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制作响应式图文混排内容</a:t>
            </a:r>
            <a:endParaRPr lang="zh-HK" altLang="en-US" b="1" spc="3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3170157" y="4505897"/>
            <a:ext cx="32306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</a:t>
            </a:r>
            <a:r>
              <a:rPr lang="en-US" altLang="zh-CN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7-9 </a:t>
            </a:r>
            <a:r>
              <a:rPr lang="zh-CN" altLang="en-US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制作响应式表格</a:t>
            </a:r>
            <a:endParaRPr lang="zh-HK" altLang="en-US" b="1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3159523" y="4994630"/>
            <a:ext cx="3475192" cy="368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spc="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</a:t>
            </a:r>
            <a:r>
              <a:rPr lang="en-US" altLang="zh-CN" b="1" spc="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7-10 </a:t>
            </a:r>
            <a:r>
              <a:rPr lang="zh-CN" altLang="en-US" b="1" spc="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制作响应式表单</a:t>
            </a:r>
            <a:endParaRPr lang="zh-HK" altLang="en-US" b="1" spc="3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3180789" y="5435881"/>
            <a:ext cx="36559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</a:t>
            </a:r>
            <a:r>
              <a:rPr lang="en-US" altLang="zh-CN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7-11 </a:t>
            </a:r>
            <a:r>
              <a:rPr lang="zh-CN" altLang="en-US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制作响应式提示框</a:t>
            </a:r>
            <a:endParaRPr lang="zh-HK" altLang="en-US" b="1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3180789" y="5890794"/>
            <a:ext cx="42194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spc="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</a:t>
            </a:r>
            <a:r>
              <a:rPr lang="en-US" altLang="zh-CN" b="1" spc="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7-12 </a:t>
            </a:r>
            <a:r>
              <a:rPr lang="zh-CN" altLang="en-US" b="1" spc="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制作完整的响应式网站</a:t>
            </a:r>
            <a:endParaRPr lang="zh-HK" altLang="en-US" b="1" spc="3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77570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720138" y="6043613"/>
            <a:ext cx="423863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1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3" y="1034001"/>
            <a:ext cx="48100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掌握</a:t>
            </a:r>
            <a:r>
              <a:rPr lang="en-US" altLang="zh-CN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Bootstrap</a:t>
            </a: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基础知识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34173" y="284163"/>
            <a:ext cx="136479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7-1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sp>
        <p:nvSpPr>
          <p:cNvPr id="16" name="文本框 15"/>
          <p:cNvSpPr txBox="1">
            <a:spLocks noChangeAspect="1"/>
          </p:cNvSpPr>
          <p:nvPr/>
        </p:nvSpPr>
        <p:spPr>
          <a:xfrm>
            <a:off x="376660" y="4687847"/>
            <a:ext cx="720725" cy="646331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b="1" dirty="0">
                <a:solidFill>
                  <a:srgbClr val="0174AB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endParaRPr lang="zh-HK" altLang="en-US" sz="3600" b="1" dirty="0">
              <a:solidFill>
                <a:srgbClr val="0174AB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097385" y="4618581"/>
            <a:ext cx="7518659" cy="5948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本地使用下载的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Bootstrap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框架。</a:t>
            </a:r>
          </a:p>
        </p:txBody>
      </p:sp>
      <p:sp>
        <p:nvSpPr>
          <p:cNvPr id="20" name="矩形 19"/>
          <p:cNvSpPr/>
          <p:nvPr/>
        </p:nvSpPr>
        <p:spPr>
          <a:xfrm>
            <a:off x="1097385" y="5383364"/>
            <a:ext cx="7771055" cy="5948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远程使用服务器的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Bootstrap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框架。</a:t>
            </a:r>
          </a:p>
        </p:txBody>
      </p:sp>
      <p:sp>
        <p:nvSpPr>
          <p:cNvPr id="21" name="矩形 20"/>
          <p:cNvSpPr/>
          <p:nvPr/>
        </p:nvSpPr>
        <p:spPr>
          <a:xfrm>
            <a:off x="484963" y="1960649"/>
            <a:ext cx="485258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响应式网站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是指网站</a:t>
            </a:r>
            <a:r>
              <a:rPr lang="zh-CN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能够自动切换分辨率、图片尺寸及相关脚本功能等，以适应不同设备。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 Bootstrap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是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Twitter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推出的一个用于前端开发的开源工具包，主要用来开发响应式网站。</a:t>
            </a:r>
          </a:p>
        </p:txBody>
      </p:sp>
      <p:pic>
        <p:nvPicPr>
          <p:cNvPr id="22" name="图片 21" descr="D:\myDocument\Desktop\rpwd_breakpoint.png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6714" y="2740099"/>
            <a:ext cx="4195445" cy="24733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67401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720138" y="6043613"/>
            <a:ext cx="423863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2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3" y="1034001"/>
            <a:ext cx="48100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掌握</a:t>
            </a:r>
            <a:r>
              <a:rPr lang="en-US" altLang="zh-CN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Bootstrap</a:t>
            </a: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基础知识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34173" y="284163"/>
            <a:ext cx="136479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7-1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84963" y="2274838"/>
            <a:ext cx="8235175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从bootstrap中文网http://v3.bootcss.com可以下载到bootstrap的包，解压缩后包含了三个子文件夹：css, fonts 和 js。在网站文件夹根目录下新建bootstrap文件夹，将这三个子文件夹复制到 bootstrap文件夹中。再从https://cdn.bootcss.com/jquery/2.1.1/jquery.min.js下载jquery.min.js文件，复制到bootstrap/js文件夹下。</a:t>
            </a:r>
          </a:p>
        </p:txBody>
      </p:sp>
    </p:spTree>
    <p:extLst>
      <p:ext uri="{BB962C8B-B14F-4D97-AF65-F5344CB8AC3E}">
        <p14:creationId xmlns:p14="http://schemas.microsoft.com/office/powerpoint/2010/main" val="2201039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720138" y="6043613"/>
            <a:ext cx="423863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3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3" y="1034001"/>
            <a:ext cx="48100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掌握</a:t>
            </a:r>
            <a:r>
              <a:rPr lang="en-US" altLang="zh-CN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Bootstrap</a:t>
            </a: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基础知识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34173" y="284163"/>
            <a:ext cx="136479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7-1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pic>
        <p:nvPicPr>
          <p:cNvPr id="10" name="图片 9" descr="D:\myDocument\Desktop\QQ截图20171209210027.p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9268" y="1185463"/>
            <a:ext cx="2903590" cy="48581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08627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720138" y="6043613"/>
            <a:ext cx="423863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4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3" y="1034001"/>
            <a:ext cx="48100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掌握</a:t>
            </a:r>
            <a:r>
              <a:rPr lang="en-US" altLang="zh-CN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Bootstrap</a:t>
            </a: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基础知识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34173" y="284163"/>
            <a:ext cx="136479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7-1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84963" y="1720840"/>
            <a:ext cx="8235175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&lt;head&gt;</a:t>
            </a:r>
          </a:p>
          <a:p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&lt;meta charset="utf-8" /&gt;</a:t>
            </a:r>
          </a:p>
          <a:p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&lt;title&gt;本地下载使用响应式网站&lt;/title&gt;</a:t>
            </a:r>
          </a:p>
          <a:p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&lt;link href="bootstrap/css/bootstrap.min.css" rel="stylesheet" /&gt;</a:t>
            </a:r>
          </a:p>
          <a:p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&lt;link href="bootstrap/css/bootstrap-theme.min.css" rel="stylesheet" /&gt;</a:t>
            </a:r>
          </a:p>
          <a:p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&lt;script type="text/javascript" src="bootstrap/js/jquery.min.js"&gt;&lt;/script&gt;</a:t>
            </a:r>
          </a:p>
          <a:p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&lt;script type="text/javascript" src="bootstrap/js/bootstrap.min.js"&gt;&lt;/script&gt;</a:t>
            </a:r>
          </a:p>
          <a:p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&lt;/head&gt;</a:t>
            </a:r>
          </a:p>
        </p:txBody>
      </p:sp>
    </p:spTree>
    <p:extLst>
      <p:ext uri="{BB962C8B-B14F-4D97-AF65-F5344CB8AC3E}">
        <p14:creationId xmlns:p14="http://schemas.microsoft.com/office/powerpoint/2010/main" val="1744049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720138" y="6043613"/>
            <a:ext cx="423863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5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3" y="1034001"/>
            <a:ext cx="48100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掌握</a:t>
            </a:r>
            <a:r>
              <a:rPr lang="en-US" altLang="zh-CN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Bootstrap</a:t>
            </a: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基础知识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34173" y="284163"/>
            <a:ext cx="136479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7-1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25474" y="1864998"/>
            <a:ext cx="8235175" cy="46166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&lt;head&gt;</a:t>
            </a:r>
          </a:p>
          <a:p>
            <a:r>
              <a:rPr lang="zh-CN" altLang="en-US" sz="1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&lt;</a:t>
            </a:r>
            <a:r>
              <a:rPr lang="zh-CN" altLang="en-US" sz="14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meta charset="utf-8" /&gt;</a:t>
            </a:r>
          </a:p>
          <a:p>
            <a:r>
              <a:rPr lang="zh-CN" altLang="en-US" sz="1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&lt;</a:t>
            </a:r>
            <a:r>
              <a:rPr lang="zh-CN" altLang="en-US" sz="14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title&gt;&lt;/title&gt;</a:t>
            </a:r>
          </a:p>
          <a:p>
            <a:r>
              <a:rPr lang="zh-CN" altLang="en-US" sz="1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&lt;</a:t>
            </a:r>
            <a:r>
              <a:rPr lang="zh-CN" altLang="en-US" sz="14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!-- 最新版本的 Bootstrap 核心 CSS 文件 --&gt;</a:t>
            </a:r>
          </a:p>
          <a:p>
            <a:r>
              <a:rPr lang="zh-CN" altLang="en-US" sz="1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&lt;</a:t>
            </a:r>
            <a:r>
              <a:rPr lang="zh-CN" altLang="en-US" sz="14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link rel="stylesheet" href="https://cdn.bootcss.com/bootstrap/3.3.7/css/bootstrap.min.css" integrity="sha384-BVYiiSIFeK1dGmJRAkycuHAHRg32OmUcww7on3RYdg4Va+PmSTsz/K68vbdEjh4u" crossorigin="anonymous"&gt;</a:t>
            </a:r>
          </a:p>
          <a:p>
            <a:r>
              <a:rPr lang="zh-CN" altLang="en-US" sz="1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&lt;</a:t>
            </a:r>
            <a:r>
              <a:rPr lang="zh-CN" altLang="en-US" sz="14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!-- 可选的 Bootstrap 主题文件（一般不用引入） --&gt;</a:t>
            </a:r>
          </a:p>
          <a:p>
            <a:r>
              <a:rPr lang="zh-CN" altLang="en-US" sz="1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&lt;</a:t>
            </a:r>
            <a:r>
              <a:rPr lang="zh-CN" altLang="en-US" sz="14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link rel="stylesheet" href="https://cdn.bootcss.com/bootstrap/3.3.7/css/bootstrap-theme.min.css" integrity="sha384-rHyoN1iRsVXV4nD0JutlnGaslCJuC7uwjduW9SVrLvRYooPp2bWYgmgJQIXwl/Sp" crossorigin="anonymous"&gt;</a:t>
            </a:r>
          </a:p>
          <a:p>
            <a:r>
              <a:rPr lang="zh-CN" altLang="en-US" sz="1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&lt;</a:t>
            </a:r>
            <a:r>
              <a:rPr lang="zh-CN" altLang="en-US" sz="14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!-- 最新的 Jquery 核心 JavaScript 文件 --&gt;</a:t>
            </a:r>
          </a:p>
          <a:p>
            <a:r>
              <a:rPr lang="zh-CN" altLang="en-US" sz="1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&lt;</a:t>
            </a:r>
            <a:r>
              <a:rPr lang="zh-CN" altLang="en-US" sz="14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script src="http://code.jquery.com/jquery-3.2.1.min.js" integrity="sha256-hwg4gsxgFZhOsEEamdOYGBf13FyQuiTwlAQgxVSNgt4=" crossorigin="anonymous"&gt;&lt;/script&gt;</a:t>
            </a:r>
          </a:p>
          <a:p>
            <a:r>
              <a:rPr lang="zh-CN" altLang="en-US" sz="1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&lt;</a:t>
            </a:r>
            <a:r>
              <a:rPr lang="zh-CN" altLang="en-US" sz="14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!-- 最新的 Bootstrap 核心 JavaScript 文件 --&gt;</a:t>
            </a:r>
          </a:p>
          <a:p>
            <a:r>
              <a:rPr lang="zh-CN" altLang="en-US" sz="1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&lt;</a:t>
            </a:r>
            <a:r>
              <a:rPr lang="zh-CN" altLang="en-US" sz="14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script src="https://cdn.bootcss.com/bootstrap/3.3.7/js/bootstrap.min.js" integrity="sha384-Tc5IQib027qvyjSMfHjOMaLkfuWVxZxUPnCJA7l2mCWNIpG9mGCD8wGNIcPD7Txa" crossorigin="anonymous"&gt;&lt;/script&gt;</a:t>
            </a:r>
          </a:p>
          <a:p>
            <a:r>
              <a:rPr lang="zh-CN" altLang="en-US" sz="14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&lt;/head&gt;</a:t>
            </a:r>
          </a:p>
        </p:txBody>
      </p:sp>
    </p:spTree>
    <p:extLst>
      <p:ext uri="{BB962C8B-B14F-4D97-AF65-F5344CB8AC3E}">
        <p14:creationId xmlns:p14="http://schemas.microsoft.com/office/powerpoint/2010/main" val="4135116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720138" y="6043613"/>
            <a:ext cx="423863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6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3" y="1034001"/>
            <a:ext cx="48100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掌握</a:t>
            </a:r>
            <a:r>
              <a:rPr lang="en-US" altLang="zh-CN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Bootstrap</a:t>
            </a: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基础知识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34173" y="284163"/>
            <a:ext cx="136479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7-1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54412" y="1680191"/>
            <a:ext cx="8235175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&lt;meta name="viewport" content="width=device-width, initial-scale=1.0, maximum-scale=1.0, user-scalable=no"&gt;</a:t>
            </a:r>
          </a:p>
          <a:p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这段代码的几个参数解释：</a:t>
            </a:r>
          </a:p>
          <a:p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width=device-width：宽度等于当前设备的宽度</a:t>
            </a:r>
          </a:p>
          <a:p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height=device-height：高度等于当前设备的高度</a:t>
            </a:r>
          </a:p>
          <a:p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initial-scale：初始的缩放比例（默认设置为1.0）  </a:t>
            </a:r>
          </a:p>
          <a:p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minimum-scale：允许用户缩放到的最小比例（默认设置为1.0）    </a:t>
            </a:r>
          </a:p>
          <a:p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maximum-scale：允许用户缩放到的最大比例（默认设置为1.0）   </a:t>
            </a:r>
          </a:p>
          <a:p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user-scalable：用户是否可以手动缩放（默认设置为no，因为我们不希望用户放大缩小页面）</a:t>
            </a:r>
          </a:p>
        </p:txBody>
      </p:sp>
    </p:spTree>
    <p:extLst>
      <p:ext uri="{BB962C8B-B14F-4D97-AF65-F5344CB8AC3E}">
        <p14:creationId xmlns:p14="http://schemas.microsoft.com/office/powerpoint/2010/main" val="3451392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720138" y="6043613"/>
            <a:ext cx="423863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7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3" y="1034001"/>
            <a:ext cx="404450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制作栅格化布局页面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34173" y="284163"/>
            <a:ext cx="136479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7-2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09206" y="2102617"/>
            <a:ext cx="8410932" cy="39188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Bootstrap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使用了四种栅格选项来形成栅格系统，他们分别是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col-</a:t>
            </a:r>
            <a:r>
              <a:rPr lang="en-US" altLang="zh-CN" sz="2400" dirty="0" err="1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xs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、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col-</a:t>
            </a:r>
            <a:r>
              <a:rPr lang="en-US" altLang="zh-CN" sz="2400" dirty="0" err="1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sm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、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col-md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、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col-</a:t>
            </a:r>
            <a:r>
              <a:rPr lang="en-US" altLang="zh-CN" sz="2400" dirty="0" err="1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lg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，</a:t>
            </a:r>
            <a:r>
              <a:rPr lang="en-US" altLang="zh-CN" sz="2400" dirty="0" err="1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lg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是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large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的缩写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(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大屏幕大桌面显示器≥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1200px)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，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md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是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mid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的缩写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(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中等屏幕桌面显示器≥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992px)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，</a:t>
            </a:r>
            <a:r>
              <a:rPr lang="en-US" altLang="zh-CN" sz="2400" dirty="0" err="1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sm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是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small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的缩写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(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小屏幕平板≥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768px)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，</a:t>
            </a:r>
            <a:r>
              <a:rPr lang="en-US" altLang="zh-CN" sz="2400" dirty="0" err="1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xs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是</a:t>
            </a:r>
            <a:r>
              <a:rPr lang="en-US" altLang="zh-CN" sz="2400" dirty="0" err="1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xteram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 small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的缩写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(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超小屏幕手机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&lt;768px)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。这样命名就体现了这几种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class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适应的屏幕宽度不同。下面我们分别介绍这几种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class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的特点。</a:t>
            </a:r>
          </a:p>
        </p:txBody>
      </p:sp>
    </p:spTree>
    <p:extLst>
      <p:ext uri="{BB962C8B-B14F-4D97-AF65-F5344CB8AC3E}">
        <p14:creationId xmlns:p14="http://schemas.microsoft.com/office/powerpoint/2010/main" val="3395479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720138" y="6043613"/>
            <a:ext cx="423863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8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4" y="1034001"/>
            <a:ext cx="361920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制作响应式导航栏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34173" y="284163"/>
            <a:ext cx="136479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7-3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23284" y="1864998"/>
            <a:ext cx="8775682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创建一个默认的导航栏的步骤如下：</a:t>
            </a:r>
          </a:p>
          <a:p>
            <a:pPr>
              <a:lnSpc>
                <a:spcPct val="150000"/>
              </a:lnSpc>
            </a:pP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向 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&lt;nav&gt; 标签添加 class .navbar、.navbar-default。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向上面的元素添加 role="navigation"，有助于增加可访问性。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向 &lt;div&gt; 元素添加一个标题 class .navbar-header，内部包含了带有 class navbar-brand 的 &lt;a&gt; 元素。这会让文本看起来更大一号。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为了向导航栏添加链接，只需要简单地添加带有 class .nav、.navbar-nav 的无序列表即可。</a:t>
            </a:r>
          </a:p>
        </p:txBody>
      </p:sp>
    </p:spTree>
    <p:extLst>
      <p:ext uri="{BB962C8B-B14F-4D97-AF65-F5344CB8AC3E}">
        <p14:creationId xmlns:p14="http://schemas.microsoft.com/office/powerpoint/2010/main" val="2861703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720138" y="6043613"/>
            <a:ext cx="423863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9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4" y="1034001"/>
            <a:ext cx="452297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制作响应式</a:t>
            </a:r>
            <a:r>
              <a:rPr lang="en-US" altLang="zh-CN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banner</a:t>
            </a: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图片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34173" y="284163"/>
            <a:ext cx="136479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7-4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87079" y="1717526"/>
            <a:ext cx="8337366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1、插入&lt;div&gt;标签，给&lt;div&gt;标签添加class.carousel slide，id# myCarousel，data-ride="carousel" data-interval="2000"。其中，data-ride="carousel" 就可以实现自动播放，data-interval="2000"设置图片轮转的时间间隔为2000毫秒。</a:t>
            </a:r>
          </a:p>
          <a:p>
            <a:r>
              <a:rPr lang="zh-CN" altLang="en-US" sz="20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2、插入&lt;ol&gt;标记，实现设置图片下端的小圆点。三个小圆点分别对应0、1、2，用data-slide-to参数进行控制。data-target="#myCarousel"，data-slide-to="2" 将把滑块移动到一个特定的索引，索引从0开始计数。</a:t>
            </a:r>
          </a:p>
          <a:p>
            <a:r>
              <a:rPr lang="zh-CN" altLang="en-US" sz="20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3、插入&lt;div&gt;标签，给&lt;div&gt;标签添加 class . item，其中，class . active代表开始显示的图片，背景色background和所在图片的底色一致，以便为了更好地保持美观。</a:t>
            </a:r>
          </a:p>
          <a:p>
            <a:r>
              <a:rPr lang="zh-CN" altLang="en-US" sz="20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4、class . carousel-control left是向前播放控制器，class . carousel-control right是向后播放的控制器，分别对应轮播（Carousel）导航上部左右箭头，data-slide 接受关键字 prev 或 next，用来改变要显示的图片相对于当前位置的位置。也可以使用转义字符&amp;lsaquo;（&lt;）和&amp;rsaquo;（&gt;）进行人为翻页。</a:t>
            </a:r>
          </a:p>
        </p:txBody>
      </p:sp>
    </p:spTree>
    <p:extLst>
      <p:ext uri="{BB962C8B-B14F-4D97-AF65-F5344CB8AC3E}">
        <p14:creationId xmlns:p14="http://schemas.microsoft.com/office/powerpoint/2010/main" val="1028583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559210" y="6043613"/>
            <a:ext cx="584792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10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4" y="1034001"/>
            <a:ext cx="406577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制作响应式文字列表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34173" y="284163"/>
            <a:ext cx="136479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7-5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84964" y="1997839"/>
            <a:ext cx="8074246" cy="4472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&lt;ul class="list-group"&gt;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    &lt;li class="list-group-item"&gt;免费域名注册&lt;/li&gt;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    &lt;li class="list-group-item"&gt;免费 Window 空间托管&lt;/li&gt;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    &lt;li class="list-group-item"&gt;图像的数量&lt;/li&gt;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    &lt;li class="list-group-item"&gt;24*7 支持&lt;/li&gt;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    &lt;li class="list-group-item"&gt;每年更新成本&lt;/li&gt;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&lt;/ul&gt;</a:t>
            </a:r>
          </a:p>
        </p:txBody>
      </p:sp>
    </p:spTree>
    <p:extLst>
      <p:ext uri="{BB962C8B-B14F-4D97-AF65-F5344CB8AC3E}">
        <p14:creationId xmlns:p14="http://schemas.microsoft.com/office/powerpoint/2010/main" val="1481228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569842" y="6043613"/>
            <a:ext cx="574159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11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3" y="1034001"/>
            <a:ext cx="358730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制作响应式缩略图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34173" y="284163"/>
            <a:ext cx="136479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7-6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76398" y="1779687"/>
            <a:ext cx="8191204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&lt;div class="row"&gt;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    &lt;div class="col-sm-6 col-md-3"&gt;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        &lt;a href="#" class="thumbnail"&gt;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            &lt;img src="/wp-content/uploads/2014/06/kittens.jpg"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                 alt="通用的占位符缩略图"&gt;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        &lt;/a&gt;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    &lt;/div&gt;</a:t>
            </a:r>
          </a:p>
          <a:p>
            <a:pPr>
              <a:lnSpc>
                <a:spcPct val="150000"/>
              </a:lnSpc>
            </a:pP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&lt;/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div&gt;</a:t>
            </a:r>
          </a:p>
        </p:txBody>
      </p:sp>
    </p:spTree>
    <p:extLst>
      <p:ext uri="{BB962C8B-B14F-4D97-AF65-F5344CB8AC3E}">
        <p14:creationId xmlns:p14="http://schemas.microsoft.com/office/powerpoint/2010/main" val="2348848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591108" y="6043613"/>
            <a:ext cx="552894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12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4" y="1034001"/>
            <a:ext cx="471435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制作响应式图文混排列表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34173" y="284163"/>
            <a:ext cx="136479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7-7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pic>
        <p:nvPicPr>
          <p:cNvPr id="10" name="图片 9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616" y="1922893"/>
            <a:ext cx="7893492" cy="4650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730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591108" y="6043613"/>
            <a:ext cx="552894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13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4" y="1034001"/>
            <a:ext cx="471435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制作响应式图文混排列表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34173" y="284163"/>
            <a:ext cx="136479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7-7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84964" y="1756832"/>
            <a:ext cx="8235174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1、.img-rounded：添加 border-radius:6px 来获得图片圆角</a:t>
            </a:r>
          </a:p>
          <a:p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2、.img-circle：添加 border-radius:50% 来让整个图片变成圆形</a:t>
            </a:r>
          </a:p>
          <a:p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3、.img-thumbnail：添加一些内边距（padding）和一个灰色的边框</a:t>
            </a:r>
          </a:p>
          <a:p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4、.img-responsive 类可以让图片支持响应式布局（将很好地扩展到父元素），其实质是为图片设置了 max-width: 100%;、 height: auto; 和 display: block; 属性，从而让图片在其父元素中更好的缩放。如果需要让使用了 .img-responsive 类的图片水平居中，请使用 .center-block 类，不要用 .text-center。</a:t>
            </a:r>
          </a:p>
        </p:txBody>
      </p:sp>
    </p:spTree>
    <p:extLst>
      <p:ext uri="{BB962C8B-B14F-4D97-AF65-F5344CB8AC3E}">
        <p14:creationId xmlns:p14="http://schemas.microsoft.com/office/powerpoint/2010/main" val="3527784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580474" y="6043613"/>
            <a:ext cx="563527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14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3" y="1034001"/>
            <a:ext cx="331085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制作响应式表格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34173" y="284163"/>
            <a:ext cx="136479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7-9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84963" y="1864998"/>
            <a:ext cx="8095511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1、.table 为表格添加基本的样式（只有横向的分隔线）</a:t>
            </a:r>
          </a:p>
          <a:p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	.table-striped：斑马线表格</a:t>
            </a:r>
          </a:p>
          <a:p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	.table-bordered：带边框的表格</a:t>
            </a:r>
          </a:p>
          <a:p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	.table-hover：鼠标悬停高亮的表格</a:t>
            </a:r>
          </a:p>
          <a:p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	.table-condensed：紧凑型表格</a:t>
            </a:r>
          </a:p>
          <a:p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	.table-responsive：响应式表格</a:t>
            </a:r>
          </a:p>
          <a:p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2、tr，th和td类样式</a:t>
            </a:r>
          </a:p>
          <a:p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          .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active 将表示悬停的颜色用在目标的行或者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单元格</a:t>
            </a:r>
            <a:endParaRPr lang="zh-CN" altLang="en-US" sz="2400" dirty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  <a:p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	.success 表示成功的操作（绿色）</a:t>
            </a:r>
          </a:p>
          <a:p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	.info 表示信息变化的操作（蓝色）</a:t>
            </a:r>
          </a:p>
          <a:p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	.warning 表示一个警告的操作（黄色）</a:t>
            </a:r>
          </a:p>
          <a:p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	.danger表示一个危险的操作（红色）</a:t>
            </a:r>
          </a:p>
        </p:txBody>
      </p:sp>
    </p:spTree>
    <p:extLst>
      <p:ext uri="{BB962C8B-B14F-4D97-AF65-F5344CB8AC3E}">
        <p14:creationId xmlns:p14="http://schemas.microsoft.com/office/powerpoint/2010/main" val="2685319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612372" y="6043613"/>
            <a:ext cx="531629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15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4" y="1034001"/>
            <a:ext cx="318327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制作响应式表单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347099" y="284163"/>
            <a:ext cx="1651868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7-10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49712" y="1989892"/>
            <a:ext cx="8127408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1、垂直或基本表单：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基本的表单结构是 Bootstrap 自带的，个别的表单控件自动接收一些全局样式。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	向父 &lt;form&gt; 元素添加 role=”form”。 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	把标签和控件放在一个带有 class .form-group 的 &lt;div&gt; 中。这是获取最佳间距所必需的。 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	向所有的文本元素 &lt;input&gt;、&lt;textarea&gt; 和 &lt;select&gt; 添加 class .form-control。</a:t>
            </a:r>
          </a:p>
        </p:txBody>
      </p:sp>
    </p:spTree>
    <p:extLst>
      <p:ext uri="{BB962C8B-B14F-4D97-AF65-F5344CB8AC3E}">
        <p14:creationId xmlns:p14="http://schemas.microsoft.com/office/powerpoint/2010/main" val="3609519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601740" y="6043613"/>
            <a:ext cx="542261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16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4" y="1034001"/>
            <a:ext cx="318327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制作响应式表单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347099" y="284163"/>
            <a:ext cx="1651868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7-10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84964" y="1859340"/>
            <a:ext cx="8235174" cy="4472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2、内联表单：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	如果需要创建一个表单，它的所有元素是内联的，向左对齐的，标签是并排的，可以向 &lt;form&gt; 标签添加 class .form-inline。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	默认情况下，Bootstrap 中的 &lt;input&gt;、&lt;select&gt; 和&lt; textarea &gt;有 100% 宽度。在使用内联表单时，您需要在表单控件上设置一个宽度。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	使用 class .sr-only，您可以隐藏内联表单的标签。</a:t>
            </a:r>
          </a:p>
        </p:txBody>
      </p:sp>
    </p:spTree>
    <p:extLst>
      <p:ext uri="{BB962C8B-B14F-4D97-AF65-F5344CB8AC3E}">
        <p14:creationId xmlns:p14="http://schemas.microsoft.com/office/powerpoint/2010/main" val="3567216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612372" y="6043613"/>
            <a:ext cx="531629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17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4" y="1034001"/>
            <a:ext cx="318327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制作响应式表单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347099" y="284163"/>
            <a:ext cx="1651868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7-10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84964" y="2136339"/>
            <a:ext cx="8235174" cy="3918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3、水平表单：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水平表单与其他表单不仅标记的数量上不同，而且表单的呈现形式也不同。如需创建一个水平布局的表单：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	向父 &lt;form&gt; 元素添加 class .form-horizontal。 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	把标签和控件放在一个带有 class .form-group 的 &lt;div&gt; 中。 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	向标签添加 class .control-label。</a:t>
            </a:r>
          </a:p>
        </p:txBody>
      </p:sp>
    </p:spTree>
    <p:extLst>
      <p:ext uri="{BB962C8B-B14F-4D97-AF65-F5344CB8AC3E}">
        <p14:creationId xmlns:p14="http://schemas.microsoft.com/office/powerpoint/2010/main" val="653788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580474" y="6043613"/>
            <a:ext cx="563527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18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3" y="1034001"/>
            <a:ext cx="352351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制作响应式提示框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315201" y="284163"/>
            <a:ext cx="1683766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7-11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84963" y="2084610"/>
            <a:ext cx="8371958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1、插入&lt;div&gt;标签，给&lt;div&gt;标签添加 class . alert、alert-success，class . alert、alert-info，class . alert、alert-warning，class . alert、alert-danger，分别代表成功，提示，警告，错误。</a:t>
            </a:r>
          </a:p>
          <a:p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2、如果需要有关闭按钮，需要给上述&lt;div&gt;添加样式class.alert-dismissable。</a:t>
            </a:r>
          </a:p>
          <a:p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3、在&lt;div&gt;里面插入&lt;button&gt;标签，加上属性class="close" data-dismiss="alert" aria-hidden="true"。</a:t>
            </a:r>
          </a:p>
          <a:p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4、给&lt;button&gt;里面加上内容转义字符&amp;times;，用来显示X。</a:t>
            </a:r>
          </a:p>
        </p:txBody>
      </p:sp>
    </p:spTree>
    <p:extLst>
      <p:ext uri="{BB962C8B-B14F-4D97-AF65-F5344CB8AC3E}">
        <p14:creationId xmlns:p14="http://schemas.microsoft.com/office/powerpoint/2010/main" val="3774084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580474" y="6043613"/>
            <a:ext cx="563527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19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4" y="1034001"/>
            <a:ext cx="432925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制作完整的响应式网站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145079" y="284163"/>
            <a:ext cx="1853887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7-12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4350" y="514995"/>
            <a:ext cx="6827672" cy="6358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751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580474" y="6043613"/>
            <a:ext cx="563527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20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4" y="1034001"/>
            <a:ext cx="432925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制作完整的响应式网站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145079" y="284163"/>
            <a:ext cx="1853887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7-12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0262" y="648586"/>
            <a:ext cx="5161668" cy="6113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230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0" y="2349500"/>
            <a:ext cx="9144000" cy="2159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2890838" y="3429000"/>
            <a:ext cx="6253163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8" y="2514600"/>
            <a:ext cx="1828800" cy="1828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7" name="文本框 16"/>
          <p:cNvSpPr txBox="1"/>
          <p:nvPr/>
        </p:nvSpPr>
        <p:spPr>
          <a:xfrm>
            <a:off x="2690037" y="2720975"/>
            <a:ext cx="6258701" cy="120032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en-US" altLang="zh-CN" sz="3200" dirty="0" smtClean="0">
                <a:solidFill>
                  <a:schemeClr val="bg1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HTML5+CSS3</a:t>
            </a:r>
            <a:r>
              <a:rPr lang="zh-CN" altLang="en-US" sz="3200" dirty="0">
                <a:solidFill>
                  <a:schemeClr val="bg1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网页设计任务教程</a:t>
            </a:r>
          </a:p>
          <a:p>
            <a:pPr algn="r" eaLnBrk="1" hangingPunct="1"/>
            <a:endParaRPr lang="zh-CN" altLang="en-US" sz="4000" dirty="0">
              <a:solidFill>
                <a:schemeClr val="bg1"/>
              </a:solidFill>
              <a:latin typeface="方正粗活意简体" panose="03000509000000000000" pitchFamily="65" charset="-122"/>
              <a:ea typeface="方正粗活意简体" panose="03000509000000000000" pitchFamily="65" charset="-122"/>
              <a:sym typeface="Arial" panose="020B0604020202020204" pitchFamily="34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655880" y="3555036"/>
            <a:ext cx="620714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hangingPunct="1"/>
            <a:r>
              <a:rPr lang="zh-CN" altLang="en-US" sz="3200" dirty="0">
                <a:solidFill>
                  <a:schemeClr val="bg1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单元</a:t>
            </a:r>
            <a:r>
              <a:rPr lang="en-US" altLang="zh-CN" sz="3200" dirty="0">
                <a:solidFill>
                  <a:schemeClr val="bg1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7 Bootstrap</a:t>
            </a:r>
            <a:r>
              <a:rPr lang="zh-CN" altLang="en-US" sz="3200" dirty="0">
                <a:solidFill>
                  <a:schemeClr val="bg1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响应式网站基础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7" grpId="0"/>
    </p:bldLst>
  </p:timing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600</TotalTime>
  <Words>2104</Words>
  <Application>Microsoft Office PowerPoint</Application>
  <PresentationFormat>全屏显示(4:3)</PresentationFormat>
  <Paragraphs>211</Paragraphs>
  <Slides>23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1" baseType="lpstr">
      <vt:lpstr>方正粗活意简体</vt:lpstr>
      <vt:lpstr>方正水柱简体</vt:lpstr>
      <vt:lpstr>宋体</vt:lpstr>
      <vt:lpstr>微软雅黑</vt:lpstr>
      <vt:lpstr>Arial</vt:lpstr>
      <vt:lpstr>Calibri</vt:lpstr>
      <vt:lpstr>Calibri Light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1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DY</dc:creator>
  <cp:lastModifiedBy>TJ</cp:lastModifiedBy>
  <cp:revision>427</cp:revision>
  <dcterms:created xsi:type="dcterms:W3CDTF">2014-11-08T02:42:00Z</dcterms:created>
  <dcterms:modified xsi:type="dcterms:W3CDTF">2018-07-20T14:10:23Z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2052-10.1.0.6930</vt:lpwstr>
  </property>
</Properties>
</file>