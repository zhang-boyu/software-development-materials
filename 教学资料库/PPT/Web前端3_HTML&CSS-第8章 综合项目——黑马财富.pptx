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22"/>
  </p:notesMasterIdLst>
  <p:handoutMasterIdLst>
    <p:handoutMasterId r:id="rId23"/>
  </p:handoutMasterIdLst>
  <p:sldIdLst>
    <p:sldId id="325" r:id="rId3"/>
    <p:sldId id="511" r:id="rId4"/>
    <p:sldId id="328" r:id="rId5"/>
    <p:sldId id="327" r:id="rId6"/>
    <p:sldId id="309" r:id="rId7"/>
    <p:sldId id="372" r:id="rId8"/>
    <p:sldId id="812" r:id="rId9"/>
    <p:sldId id="813" r:id="rId10"/>
    <p:sldId id="814" r:id="rId11"/>
    <p:sldId id="815" r:id="rId12"/>
    <p:sldId id="810" r:id="rId13"/>
    <p:sldId id="709" r:id="rId14"/>
    <p:sldId id="816" r:id="rId15"/>
    <p:sldId id="817" r:id="rId16"/>
    <p:sldId id="811" r:id="rId17"/>
    <p:sldId id="577" r:id="rId18"/>
    <p:sldId id="820" r:id="rId19"/>
    <p:sldId id="576" r:id="rId20"/>
    <p:sldId id="326" r:id="rId21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56">
          <p15:clr>
            <a:srgbClr val="A4A3A4"/>
          </p15:clr>
        </p15:guide>
        <p15:guide id="3" pos="65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EFA511"/>
    <a:srgbClr val="EBAD13"/>
    <a:srgbClr val="FFFFFF"/>
    <a:srgbClr val="BBBBBB"/>
    <a:srgbClr val="1369B3"/>
    <a:srgbClr val="FAFAFA"/>
    <a:srgbClr val="F2F2F2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746" autoAdjust="0"/>
    <p:restoredTop sz="94660" autoAdjust="0"/>
  </p:normalViewPr>
  <p:slideViewPr>
    <p:cSldViewPr>
      <p:cViewPr varScale="1">
        <p:scale>
          <a:sx n="74" d="100"/>
          <a:sy n="74" d="100"/>
        </p:scale>
        <p:origin x="414" y="66"/>
      </p:cViewPr>
      <p:guideLst>
        <p:guide orient="horz" pos="2160"/>
        <p:guide pos="256"/>
        <p:guide pos="65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66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905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981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046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796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007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30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90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</a:p>
          <a:p>
            <a:pPr lvl="0"/>
            <a:r>
              <a:rPr lang="zh-CN" altLang="en-US" smtClean="0">
                <a:sym typeface="+mn-ea"/>
              </a:rPr>
              <a:t>单击此处编辑正文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F932700-A96E-48CC-99B1-0D0AB6A057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BC59529-8D20-4D23-98BA-108ACEC1BA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854846" y="2565698"/>
            <a:ext cx="6933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综合项目</a:t>
            </a:r>
            <a:r>
              <a:rPr lang="en-US" altLang="zh-CN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——</a:t>
            </a:r>
            <a:r>
              <a:rPr lang="zh-CN" altLang="en-US" sz="4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黑马财富</a:t>
            </a:r>
            <a:endParaRPr lang="en-US" altLang="zh-CN" sz="4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990750" y="2421682"/>
            <a:ext cx="8424936" cy="688075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项目整体结构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，能够独立完成黑马财富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项目结构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的搭建</a:t>
              </a: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990750" y="3291963"/>
            <a:ext cx="8424936" cy="1001927"/>
            <a:chOff x="978872" y="2570436"/>
            <a:chExt cx="5437064" cy="751271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6"/>
              <a:ext cx="5437064" cy="75127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项目的代码实现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，能够独立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完成</a:t>
              </a:r>
              <a:r>
                <a:rPr lang="zh-CN" altLang="en-US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项目中各个模块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的编写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75127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721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24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2468140"/>
            <a:ext cx="10151132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跨平台响应式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的线上投资理财网站。传统的投资理财方式是用户去银行或者理财公司，通过业务员进行业务的办理。而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可以让用户足不出户在线了解各种理财产品，并且能够自助办理相关业务。本章将会讲解如何通过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相关技术制作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理财网站的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119265" y="2476461"/>
            <a:ext cx="1192190" cy="613062"/>
            <a:chOff x="2215144" y="982844"/>
            <a:chExt cx="1244730" cy="842780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119265" y="3396859"/>
            <a:ext cx="1192190" cy="618406"/>
            <a:chOff x="2215144" y="2026500"/>
            <a:chExt cx="1244730" cy="850129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3119265" y="4327437"/>
            <a:ext cx="1192190" cy="614525"/>
            <a:chOff x="2215144" y="3084852"/>
            <a:chExt cx="1244730" cy="844793"/>
          </a:xfrm>
        </p:grpSpPr>
        <p:sp>
          <p:nvSpPr>
            <p:cNvPr id="52" name="平行四边形 51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3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024817" y="2454282"/>
            <a:ext cx="5142331" cy="613062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344580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项目展示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4024817" y="3380033"/>
            <a:ext cx="5142331" cy="613062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项目分析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024817" y="4305784"/>
            <a:ext cx="5142331" cy="613062"/>
            <a:chOff x="4315150" y="2341731"/>
            <a:chExt cx="3857250" cy="540057"/>
          </a:xfrm>
        </p:grpSpPr>
        <p:sp>
          <p:nvSpPr>
            <p:cNvPr id="67" name="矩形 66"/>
            <p:cNvSpPr/>
            <p:nvPr/>
          </p:nvSpPr>
          <p:spPr>
            <a:xfrm>
              <a:off x="4841197" y="2424395"/>
              <a:ext cx="2827146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项目开发说明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8" name="平行四边形 6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项目展示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10630" y="1125538"/>
            <a:ext cx="1094521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的页面支持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端及移动端屏幕的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自适应。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的显示效果如下。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854" y="1917626"/>
            <a:ext cx="5801351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910630" y="1125538"/>
            <a:ext cx="1094521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的页面支持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端及移动端屏幕的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自适应。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的显示效果如下。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758" y="1917626"/>
            <a:ext cx="7770706" cy="352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40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830" y="1845618"/>
            <a:ext cx="6121047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5"/>
          <p:cNvSpPr txBox="1">
            <a:spLocks noChangeArrowheads="1"/>
          </p:cNvSpPr>
          <p:nvPr/>
        </p:nvSpPr>
        <p:spPr bwMode="auto">
          <a:xfrm>
            <a:off x="910630" y="1125538"/>
            <a:ext cx="1094521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的页面支持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端及移动端屏幕的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自适应。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的显示效果如下。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16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918" y="1631474"/>
            <a:ext cx="2146300" cy="46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250" y="1585294"/>
            <a:ext cx="2154238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35"/>
          <p:cNvSpPr txBox="1">
            <a:spLocks noChangeArrowheads="1"/>
          </p:cNvSpPr>
          <p:nvPr/>
        </p:nvSpPr>
        <p:spPr bwMode="auto">
          <a:xfrm>
            <a:off x="910630" y="1125538"/>
            <a:ext cx="10945216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iPhone 6/7/8 Plus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模拟设备上的页面显示效果如下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471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8.1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项目展示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303" y="1655954"/>
            <a:ext cx="3384376" cy="437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278" y="1125538"/>
            <a:ext cx="3651101" cy="4866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910630" y="1125538"/>
            <a:ext cx="1094521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iPad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设备上的页面显示效果如下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161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项目分析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145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982638" y="1197546"/>
            <a:ext cx="63196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首页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主要由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项目分析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263676"/>
              </p:ext>
            </p:extLst>
          </p:nvPr>
        </p:nvGraphicFramePr>
        <p:xfrm>
          <a:off x="3934966" y="1989634"/>
          <a:ext cx="4547874" cy="3888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Visio" r:id="rId3" imgW="3810296" imgH="3267460" progId="Visio.Drawing.15">
                  <p:embed/>
                </p:oleObj>
              </mc:Choice>
              <mc:Fallback>
                <p:oleObj name="Visio" r:id="rId3" imgW="3810296" imgH="326746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966" y="1989634"/>
                        <a:ext cx="4547874" cy="38884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431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766614" y="1125538"/>
            <a:ext cx="10873208" cy="469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顶部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通栏模块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可以根据不同的终端设备展示合理的页面效果。顶部通栏中展示的内容有手机黑马财富、联系电话、服务时间段、常见问题、注册和登录等。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导航栏模块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实现网站中的多个页面的跳转，主要包括“我要投资”“我要借贷”“平台介绍”“新手专区”“个人中心”等页面。导航栏可以根据不同的终端设备展示合理的页面效果，在移动端设备上浏览时导航栏会被折叠起来，同时出现一个“展开”按钮用于展开被折叠的导航栏。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轮播图模块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主要用于展示黑马财富网站的活动信息图片，如红包雨、互联网金融体验中心等图片。轮播图可以根据不同的终端设备展示不同尺寸大小的图片，在移动端设备上时，还可以实现手指触摸滑动图片效果。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产品信息模块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展示黑马财富网站的产品信息，如支付交易保障、平台财产安全等。产品信息模块可以根据不同的终端设备展示不同的页面显示效果，在平板设备上时，产品信息模块分两列显示。在手机设备上时，实现产品信息模块隐藏效果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项目分析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506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35"/>
          <p:cNvSpPr txBox="1">
            <a:spLocks noChangeArrowheads="1"/>
          </p:cNvSpPr>
          <p:nvPr/>
        </p:nvSpPr>
        <p:spPr bwMode="auto">
          <a:xfrm>
            <a:off x="766614" y="1125538"/>
            <a:ext cx="10873208" cy="3813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预约交易模块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主要用于展示办理业务的用户等待人数，以及预约交易成功的次数等。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用于展示金融产品，提供了标签页切换功能。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设备下的页面每行显示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种产品，平板设备下的页面每行显示两种产品；手机设备下的页面每行显示一种产品。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新闻模块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主要用于展示新闻信息，页面分为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个区域，分别是全部新闻区域、按钮区域和新闻列表区域。在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设备下，这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个区域按照左、中、右的方式排列，而在平板和手机设备下，这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个区域按照上、中、下的方式排列。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合作伙伴模块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用于展示一些合作机构的品牌标识，页面分为上、下两部分，上面是“合作伙伴”标题，下面用于展示品牌标识。当屏幕宽度足够宽时，品牌标识会在一行中显示，如果一行放不下，品牌标识则会自动换行显示。</a:t>
            </a:r>
          </a:p>
        </p:txBody>
      </p:sp>
      <p:sp>
        <p:nvSpPr>
          <p:cNvPr id="9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8.2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项目分析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049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项目开发说明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907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项目开发说明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1197546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黑马财富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 descr="8-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491" y="1197546"/>
            <a:ext cx="2016223" cy="174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838622" y="3213770"/>
            <a:ext cx="9908866" cy="30008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各个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和文件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说明如下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itheima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项目根目录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，项目中所有的文件都存放在此目录下。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文件目录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，在该目录下有一个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文件，用于添加自定义的样式代码。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fonts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字体图标文件目录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，用于存放项目的引用的字体图标文件。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图片文件目录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，用于存放项目的引用的图片文件。</a:t>
            </a: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libs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第三方库目录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，用于存放项目中引用的第三方库的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内容，包括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Bootstrap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index.html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项目的入口文件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917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0" y="333449"/>
            <a:ext cx="5743603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8.3  </a:t>
            </a:r>
            <a:r>
              <a:rPr lang="zh-CN" altLang="en-US" sz="2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项目开发说明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186132" y="1544997"/>
            <a:ext cx="9952931" cy="2748893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5" name="TextBox 38"/>
          <p:cNvSpPr txBox="1"/>
          <p:nvPr/>
        </p:nvSpPr>
        <p:spPr>
          <a:xfrm>
            <a:off x="1561999" y="1656276"/>
            <a:ext cx="9309785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从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配套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源代码包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中找到本项目，将代码解压出来，使用 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Visual Studio Code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编辑器打开本项目的根目录。然后在编辑器中切换到 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index.html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文件，通过右键快捷菜单中的“</a:t>
            </a:r>
            <a:r>
              <a:rPr lang="en-US" altLang="zh-CN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Open with Live Server</a:t>
            </a:r>
            <a:r>
              <a:rPr lang="en-US" altLang="zh-CN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”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选项</a:t>
            </a:r>
            <a:r>
              <a:rPr lang="zh-CN" altLang="en-US" sz="2000" dirty="0">
                <a:solidFill>
                  <a:srgbClr val="1369B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启动</a:t>
            </a:r>
            <a:r>
              <a:rPr lang="zh-CN" altLang="en-US" sz="2000" dirty="0">
                <a:solidFill>
                  <a:srgbClr val="5959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ea"/>
                <a:sym typeface="+mn-lt"/>
              </a:rPr>
              <a:t>项目，从而确保项目处于本地服务器环境下运行。</a:t>
            </a:r>
          </a:p>
        </p:txBody>
      </p:sp>
      <p:sp>
        <p:nvSpPr>
          <p:cNvPr id="6" name="矩形 93"/>
          <p:cNvSpPr/>
          <p:nvPr/>
        </p:nvSpPr>
        <p:spPr>
          <a:xfrm>
            <a:off x="1129951" y="1485578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7" name="矩形 93"/>
          <p:cNvSpPr/>
          <p:nvPr/>
        </p:nvSpPr>
        <p:spPr>
          <a:xfrm rot="10800000">
            <a:off x="10823731" y="3981855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C0000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465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35">
            <a:extLst>
              <a:ext uri="{FF2B5EF4-FFF2-40B4-BE49-F238E27FC236}">
                <a16:creationId xmlns:a16="http://schemas.microsoft.com/office/drawing/2014/main" id="{68FCB4C4-F740-4377-95B4-17B48BB3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4221882"/>
            <a:ext cx="10441160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2170424"/>
            <a:ext cx="9794240" cy="2771538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7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595500" y="2957209"/>
            <a:ext cx="9001000" cy="1792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讲解了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项目展示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项目分析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项目开发说明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。通过本章学习，希望读者能够按照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开发文档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黑马财富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项目的开发，能够独立完成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各个模块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的代码编写，并能够掌握项目的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开发思路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，积累项目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开发经验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76148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1413710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6712</TotalTime>
  <Words>1617</Words>
  <Application>Microsoft Office PowerPoint</Application>
  <PresentationFormat>自定义</PresentationFormat>
  <Paragraphs>69</Paragraphs>
  <Slides>19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Source Han Sans K Bold</vt:lpstr>
      <vt:lpstr>思源黑体 CN Medium</vt:lpstr>
      <vt:lpstr>宋体</vt:lpstr>
      <vt:lpstr>Microsoft YaHei</vt:lpstr>
      <vt:lpstr>Microsoft YaHei</vt:lpstr>
      <vt:lpstr>字魂105号-简雅黑</vt:lpstr>
      <vt:lpstr>字魂58号-创中黑</vt:lpstr>
      <vt:lpstr>Arial</vt:lpstr>
      <vt:lpstr>Calibri</vt:lpstr>
      <vt:lpstr>webwppDefTheme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Windows 用户</cp:lastModifiedBy>
  <cp:revision>2408</cp:revision>
  <dcterms:created xsi:type="dcterms:W3CDTF">2020-11-09T06:56:00Z</dcterms:created>
  <dcterms:modified xsi:type="dcterms:W3CDTF">2026-07-22T13:17:04Z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