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62" r:id="rId3"/>
    <p:sldId id="373" r:id="rId5"/>
    <p:sldId id="374" r:id="rId6"/>
    <p:sldId id="340" r:id="rId7"/>
    <p:sldId id="353" r:id="rId8"/>
    <p:sldId id="469" r:id="rId9"/>
    <p:sldId id="470" r:id="rId10"/>
    <p:sldId id="407" r:id="rId11"/>
    <p:sldId id="456" r:id="rId12"/>
    <p:sldId id="471" r:id="rId13"/>
    <p:sldId id="458" r:id="rId14"/>
    <p:sldId id="347" r:id="rId15"/>
  </p:sldIdLst>
  <p:sldSz cx="12198350" cy="6858000"/>
  <p:notesSz cx="6858000" cy="9144000"/>
  <p:custDataLst>
    <p:tags r:id="rId19"/>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3" userDrawn="1">
          <p15:clr>
            <a:srgbClr val="A4A3A4"/>
          </p15:clr>
        </p15:guide>
        <p15:guide id="2" pos="39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213"/>
        <p:guide pos="3929"/>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26.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4.emf"/><Relationship Id="rId3" Type="http://schemas.openxmlformats.org/officeDocument/2006/relationships/oleObject" Target="../embeddings/oleObject1.bin"/><Relationship Id="rId2" Type="http://schemas.openxmlformats.org/officeDocument/2006/relationships/tags" Target="../tags/tag17.xml"/><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5.emf"/><Relationship Id="rId2" Type="http://schemas.openxmlformats.org/officeDocument/2006/relationships/tags" Target="../tags/tag19.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25.xml"/><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子任务2：在子任务1的基础上，定义子类Cat的属性color以及设置和获取方法；定义测试类输出Cat实例相关属性信息。</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5594985" y="3500755"/>
            <a:ext cx="5594350" cy="2584450"/>
          </a:xfrm>
          <a:prstGeom prst="rect">
            <a:avLst/>
          </a:prstGeom>
        </p:spPr>
        <p:txBody>
          <a:bodyPr wrap="square">
            <a:spAutoFit/>
          </a:bodyPr>
          <a:p>
            <a:pPr marL="0" indent="266700" algn="just" defTabSz="266700">
              <a:lnSpc>
                <a:spcPct val="150000"/>
              </a:lnSpc>
              <a:spcBef>
                <a:spcPct val="0"/>
              </a:spcBef>
              <a:spcAft>
                <a:spcPct val="0"/>
              </a:spcAft>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创建一个</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LinkedList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集合，向集合中添加</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个元素，输出集合元素及其长度，向</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link</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集合中索引</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处插入元素</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周洋</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，向</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link</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集合第一个位置处插入元素</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王娜</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，取出</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link</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集合中第一个元素，移除</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link</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集合中指定索引位置为</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的元素，移除</a:t>
            </a:r>
            <a:r>
              <a:rPr lang="en-US" altLang="zh-CN" sz="1800">
                <a:latin typeface="微软雅黑" panose="020B0503020204020204" pitchFamily="34" charset="-122"/>
                <a:ea typeface="微软雅黑" panose="020B0503020204020204" pitchFamily="34" charset="-122"/>
                <a:cs typeface="微软雅黑" panose="020B0503020204020204" pitchFamily="34" charset="-122"/>
              </a:rPr>
              <a:t>link</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集合中最后一个元素，输出新的集合元素及长度。</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5667375" y="4797425"/>
            <a:ext cx="5594350" cy="506730"/>
          </a:xfrm>
          <a:prstGeom prst="rect">
            <a:avLst/>
          </a:prstGeom>
        </p:spPr>
        <p:txBody>
          <a:bodyPr wrap="square">
            <a:spAutoFit/>
          </a:bodyPr>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par>
                                <p:cTn id="15" presetID="5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Scale>
                                      <p:cBhvr>
                                        <p:cTn id="17" dur="1000" decel="50000" fill="hold">
                                          <p:stCondLst>
                                            <p:cond delay="0"/>
                                          </p:stCondLst>
                                        </p:cTn>
                                        <p:tgtEl>
                                          <p:spTgt spid="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3"/>
                                        </p:tgtEl>
                                        <p:attrNameLst>
                                          <p:attrName>ppt_x</p:attrName>
                                          <p:attrName>ppt_y</p:attrName>
                                        </p:attrNameLst>
                                      </p:cBhvr>
                                    </p:animMotion>
                                    <p:animEffect transition="in" filter="fade">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101090" y="-9906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605588" y="360521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LinkedList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集合</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1" nodeType="withEffect">
                                  <p:stCondLst>
                                    <p:cond delay="0"/>
                                  </p:stCondLst>
                                  <p:childTnLst>
                                    <p:set>
                                      <p:cBhvr>
                                        <p:cTn id="16" dur="1" fill="hold">
                                          <p:stCondLst>
                                            <p:cond delay="0"/>
                                          </p:stCondLst>
                                        </p:cTn>
                                        <p:tgtEl>
                                          <p:spTgt spid="2"/>
                                        </p:tgtEl>
                                        <p:attrNameLst>
                                          <p:attrName>style.visibility</p:attrName>
                                        </p:attrNameLst>
                                      </p:cBhvr>
                                      <p:to>
                                        <p:strVal val="visible"/>
                                      </p:to>
                                    </p:set>
                                    <p:animScale>
                                      <p:cBhvr>
                                        <p:cTn id="1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2"/>
                                        </p:tgtEl>
                                        <p:attrNameLst>
                                          <p:attrName>ppt_x</p:attrName>
                                          <p:attrName>ppt_y</p:attrName>
                                        </p:attrNameLst>
                                      </p:cBhvr>
                                    </p:animMotion>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LinkedList</a:t>
            </a:r>
            <a:r>
              <a:rPr lang="zh-CN" altLang="en-US" sz="2600" dirty="0">
                <a:solidFill>
                  <a:srgbClr val="1369B2"/>
                </a:solidFill>
                <a:latin typeface="微软雅黑" panose="020B0503020204020204" pitchFamily="34" charset="-122"/>
                <a:ea typeface="微软雅黑" panose="020B0503020204020204" pitchFamily="34" charset="-122"/>
                <a:sym typeface="+mn-ea"/>
              </a:rPr>
              <a:t>集合</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74445" y="2204720"/>
            <a:ext cx="9742805" cy="2437765"/>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lang="en-US" altLang="zh-CN" sz="2400">
                <a:latin typeface="宋体" panose="02010600030101010101" pitchFamily="2" charset="-122"/>
                <a:cs typeface="宋体" panose="02010600030101010101" pitchFamily="2" charset="-122"/>
              </a:rPr>
              <a:t>ArrayList</a:t>
            </a:r>
            <a:r>
              <a:rPr lang="zh-CN" altLang="en-US" sz="2400">
                <a:latin typeface="宋体" panose="02010600030101010101" pitchFamily="2" charset="-122"/>
                <a:cs typeface="宋体" panose="02010600030101010101" pitchFamily="2" charset="-122"/>
              </a:rPr>
              <a:t>集合在查询元素时速度很快，但在增删元素时效率较低，为了克服这种局限性，可以使用</a:t>
            </a:r>
            <a:r>
              <a:rPr lang="en-US" altLang="zh-CN" sz="2400">
                <a:latin typeface="宋体" panose="02010600030101010101" pitchFamily="2" charset="-122"/>
                <a:cs typeface="宋体" panose="02010600030101010101" pitchFamily="2" charset="-122"/>
              </a:rPr>
              <a:t>List</a:t>
            </a:r>
            <a:r>
              <a:rPr lang="zh-CN" altLang="en-US" sz="2400">
                <a:latin typeface="宋体" panose="02010600030101010101" pitchFamily="2" charset="-122"/>
                <a:cs typeface="宋体" panose="02010600030101010101" pitchFamily="2" charset="-122"/>
              </a:rPr>
              <a:t>接口的另一个实现类</a:t>
            </a:r>
            <a:r>
              <a:rPr lang="en-US" altLang="zh-CN" sz="2400">
                <a:latin typeface="宋体" panose="02010600030101010101" pitchFamily="2" charset="-122"/>
                <a:cs typeface="宋体" panose="02010600030101010101" pitchFamily="2" charset="-122"/>
              </a:rPr>
              <a:t> LinkedList</a:t>
            </a:r>
            <a:r>
              <a:rPr lang="zh-CN" altLang="en-US" sz="2400">
                <a:latin typeface="宋体" panose="02010600030101010101" pitchFamily="2" charset="-122"/>
                <a:cs typeface="宋体" panose="02010600030101010101" pitchFamily="2" charset="-122"/>
              </a:rPr>
              <a:t>。</a:t>
            </a:r>
            <a:r>
              <a:rPr lang="en-US" altLang="zh-CN" sz="2400">
                <a:latin typeface="宋体" panose="02010600030101010101" pitchFamily="2" charset="-122"/>
                <a:cs typeface="宋体" panose="02010600030101010101" pitchFamily="2" charset="-122"/>
              </a:rPr>
              <a:t>LinkedList</a:t>
            </a:r>
            <a:r>
              <a:rPr lang="zh-CN" altLang="en-US" sz="2400">
                <a:latin typeface="宋体" panose="02010600030101010101" pitchFamily="2" charset="-122"/>
                <a:cs typeface="宋体" panose="02010600030101010101" pitchFamily="2" charset="-122"/>
              </a:rPr>
              <a:t>内部维护了一个双向循环链表，链表中的每一个元素都使用引用的方式来记住它的前一个元素和后一个元素，从而可以将所有的元素彼此连接起来。当插入一个新元素时只需要修改元素之间的这种引用关系即可，删除一个节点也是如此。</a:t>
            </a:r>
            <a:endParaRPr lang="zh-CN" altLang="en-US" sz="2400">
              <a:latin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LinkedList</a:t>
            </a:r>
            <a:r>
              <a:rPr lang="zh-CN" altLang="en-US" sz="2600" dirty="0">
                <a:solidFill>
                  <a:srgbClr val="1369B2"/>
                </a:solidFill>
                <a:latin typeface="微软雅黑" panose="020B0503020204020204" pitchFamily="34" charset="-122"/>
                <a:ea typeface="微软雅黑" panose="020B0503020204020204" pitchFamily="34" charset="-122"/>
                <a:sym typeface="+mn-ea"/>
              </a:rPr>
              <a:t>集合</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74445" y="2060575"/>
            <a:ext cx="9742805" cy="2437765"/>
          </a:xfrm>
          <a:prstGeom prst="rect">
            <a:avLst/>
          </a:prstGeom>
        </p:spPr>
        <p:txBody>
          <a:bodyPr>
            <a:noAutofit/>
          </a:bodyPr>
          <a:p>
            <a:pPr marL="0" indent="266700" algn="just" defTabSz="266700">
              <a:lnSpc>
                <a:spcPct val="150000"/>
              </a:lnSpc>
            </a:pPr>
            <a:r>
              <a:rPr lang="en-US" sz="2400">
                <a:latin typeface="宋体" panose="02010600030101010101" pitchFamily="2" charset="-122"/>
                <a:cs typeface="宋体" panose="02010600030101010101" pitchFamily="2" charset="-122"/>
              </a:rPr>
              <a:t>   </a:t>
            </a:r>
            <a:r>
              <a:rPr lang="zh-CN" altLang="en-US" sz="2000">
                <a:latin typeface="宋体" panose="02010600030101010101" pitchFamily="2" charset="-122"/>
                <a:cs typeface="宋体" panose="02010600030101010101" pitchFamily="2" charset="-122"/>
                <a:sym typeface="+mn-ea"/>
              </a:rPr>
              <a:t>正因为这样的存储结构，所以</a:t>
            </a:r>
            <a:r>
              <a:rPr lang="en-US" altLang="zh-CN" sz="2000">
                <a:latin typeface="宋体" panose="02010600030101010101" pitchFamily="2" charset="-122"/>
                <a:cs typeface="宋体" panose="02010600030101010101" pitchFamily="2" charset="-122"/>
                <a:sym typeface="+mn-ea"/>
              </a:rPr>
              <a:t> Linkedlist</a:t>
            </a:r>
            <a:r>
              <a:rPr lang="zh-CN" altLang="en-US" sz="2000">
                <a:latin typeface="宋体" panose="02010600030101010101" pitchFamily="2" charset="-122"/>
                <a:cs typeface="宋体" panose="02010600030101010101" pitchFamily="2" charset="-122"/>
                <a:sym typeface="+mn-ea"/>
              </a:rPr>
              <a:t>集合对于元素的增删操作表现出很高的效率，</a:t>
            </a:r>
            <a:r>
              <a:rPr lang="en-US" altLang="zh-CN" sz="2000">
                <a:latin typeface="宋体" panose="02010600030101010101" pitchFamily="2" charset="-122"/>
                <a:cs typeface="宋体" panose="02010600030101010101" pitchFamily="2" charset="-122"/>
                <a:sym typeface="+mn-ea"/>
              </a:rPr>
              <a:t>LinkedList </a:t>
            </a:r>
            <a:r>
              <a:rPr lang="zh-CN" altLang="en-US" sz="2000">
                <a:latin typeface="宋体" panose="02010600030101010101" pitchFamily="2" charset="-122"/>
                <a:cs typeface="宋体" panose="02010600030101010101" pitchFamily="2" charset="-122"/>
                <a:sym typeface="+mn-ea"/>
              </a:rPr>
              <a:t>集合添加元素和删除元素的过程如图</a:t>
            </a:r>
            <a:r>
              <a:rPr lang="en-US" altLang="zh-CN" sz="2000">
                <a:latin typeface="宋体" panose="02010600030101010101" pitchFamily="2" charset="-122"/>
                <a:cs typeface="宋体" panose="02010600030101010101" pitchFamily="2" charset="-122"/>
                <a:sym typeface="+mn-ea"/>
              </a:rPr>
              <a:t>9-3</a:t>
            </a:r>
            <a:r>
              <a:rPr lang="zh-CN" altLang="en-US" sz="2000">
                <a:latin typeface="宋体" panose="02010600030101010101" pitchFamily="2" charset="-122"/>
                <a:cs typeface="宋体" panose="02010600030101010101" pitchFamily="2" charset="-122"/>
                <a:sym typeface="+mn-ea"/>
              </a:rPr>
              <a:t>所示。</a:t>
            </a:r>
            <a:endParaRPr lang="zh-CN" altLang="en-US" sz="2000">
              <a:latin typeface="宋体" panose="02010600030101010101" pitchFamily="2" charset="-122"/>
              <a:cs typeface="宋体" panose="02010600030101010101" pitchFamily="2" charset="-122"/>
              <a:sym typeface="+mn-ea"/>
            </a:endParaRPr>
          </a:p>
        </p:txBody>
      </p:sp>
      <p:graphicFrame>
        <p:nvGraphicFramePr>
          <p:cNvPr id="5" name="对象 -2147482620"/>
          <p:cNvGraphicFramePr>
            <a:graphicFrameLocks noChangeAspect="1"/>
          </p:cNvGraphicFramePr>
          <p:nvPr/>
        </p:nvGraphicFramePr>
        <p:xfrm>
          <a:off x="1490980" y="3284855"/>
          <a:ext cx="9394825" cy="2624455"/>
        </p:xfrm>
        <a:graphic>
          <a:graphicData uri="http://schemas.openxmlformats.org/presentationml/2006/ole">
            <mc:AlternateContent xmlns:mc="http://schemas.openxmlformats.org/markup-compatibility/2006">
              <mc:Choice xmlns:v="urn:schemas-microsoft-com:vml" Requires="v">
                <p:oleObj spid="_x0000_s3076" name="" r:id="rId3" imgW="6048375" imgH="1740535" progId="Visio.Drawing.11">
                  <p:embed/>
                </p:oleObj>
              </mc:Choice>
              <mc:Fallback>
                <p:oleObj name="" r:id="rId3" imgW="6048375" imgH="1740535" progId="Visio.Drawing.11">
                  <p:embed/>
                  <p:pic>
                    <p:nvPicPr>
                      <p:cNvPr id="0" name="图片 3075"/>
                      <p:cNvPicPr/>
                      <p:nvPr/>
                    </p:nvPicPr>
                    <p:blipFill>
                      <a:blip r:embed="rId4"/>
                      <a:stretch>
                        <a:fillRect/>
                      </a:stretch>
                    </p:blipFill>
                    <p:spPr>
                      <a:xfrm>
                        <a:off x="1490980" y="3284855"/>
                        <a:ext cx="9394825" cy="2624455"/>
                      </a:xfrm>
                      <a:prstGeom prst="rect">
                        <a:avLst/>
                      </a:prstGeom>
                      <a:noFill/>
                      <a:ln w="38100">
                        <a:noFill/>
                        <a:miter/>
                      </a:ln>
                    </p:spPr>
                  </p:pic>
                </p:oleObj>
              </mc:Fallback>
            </mc:AlternateContent>
          </a:graphicData>
        </a:graphic>
      </p:graphicFrame>
      <p:sp>
        <p:nvSpPr>
          <p:cNvPr id="6" name="文本框 5"/>
          <p:cNvSpPr txBox="1"/>
          <p:nvPr/>
        </p:nvSpPr>
        <p:spPr>
          <a:xfrm>
            <a:off x="3434715" y="6021070"/>
            <a:ext cx="5080000" cy="398780"/>
          </a:xfrm>
          <a:prstGeom prst="rect">
            <a:avLst/>
          </a:prstGeom>
        </p:spPr>
        <p:txBody>
          <a:bodyPr>
            <a:spAutoFit/>
          </a:bodyPr>
          <a:p>
            <a:pPr marL="0" indent="266700" algn="ctr" defTabSz="266700">
              <a:lnSpc>
                <a:spcPct val="125000"/>
              </a:lnSpc>
              <a:spcBef>
                <a:spcPct val="0"/>
              </a:spcBef>
              <a:spcAft>
                <a:spcPct val="0"/>
              </a:spcAft>
            </a:pPr>
            <a:r>
              <a:rPr lang="zh-CN" altLang="en-US" sz="1600">
                <a:latin typeface="宋体" panose="02010600030101010101" pitchFamily="2" charset="-122"/>
                <a:ea typeface="宋体" panose="02010600030101010101" pitchFamily="2" charset="-122"/>
              </a:rPr>
              <a:t>图</a:t>
            </a:r>
            <a:r>
              <a:rPr lang="en-US" altLang="zh-CN" sz="1600">
                <a:latin typeface="宋体" panose="02010600030101010101" pitchFamily="2" charset="-122"/>
                <a:ea typeface="宋体" panose="02010600030101010101" pitchFamily="2" charset="-122"/>
              </a:rPr>
              <a:t>9-3 LinkedList</a:t>
            </a:r>
            <a:r>
              <a:rPr lang="zh-CN" altLang="en-US" sz="1600">
                <a:latin typeface="宋体" panose="02010600030101010101" pitchFamily="2" charset="-122"/>
                <a:ea typeface="宋体" panose="02010600030101010101" pitchFamily="2" charset="-122"/>
              </a:rPr>
              <a:t>集合添加、删除元素过程图</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en-US" altLang="zh-CN" sz="2600" dirty="0">
                <a:solidFill>
                  <a:srgbClr val="1369B2"/>
                </a:solidFill>
                <a:latin typeface="微软雅黑" panose="020B0503020204020204" pitchFamily="34" charset="-122"/>
                <a:ea typeface="微软雅黑" panose="020B0503020204020204" pitchFamily="34" charset="-122"/>
                <a:sym typeface="+mn-ea"/>
              </a:rPr>
              <a:t>LinkedList</a:t>
            </a:r>
            <a:r>
              <a:rPr lang="zh-CN" altLang="en-US" sz="2600" dirty="0">
                <a:solidFill>
                  <a:srgbClr val="1369B2"/>
                </a:solidFill>
                <a:latin typeface="微软雅黑" panose="020B0503020204020204" pitchFamily="34" charset="-122"/>
                <a:ea typeface="微软雅黑" panose="020B0503020204020204" pitchFamily="34" charset="-122"/>
                <a:sym typeface="+mn-ea"/>
              </a:rPr>
              <a:t>集合</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a:p>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74445" y="2060575"/>
            <a:ext cx="9742805" cy="2437765"/>
          </a:xfrm>
          <a:prstGeom prst="rect">
            <a:avLst/>
          </a:prstGeom>
        </p:spPr>
        <p:txBody>
          <a:bodyPr>
            <a:noAutofit/>
          </a:bodyPr>
          <a:p>
            <a:pPr marL="0" indent="266700" algn="just" defTabSz="266700">
              <a:lnSpc>
                <a:spcPct val="150000"/>
              </a:lnSpc>
            </a:pPr>
            <a:r>
              <a:rPr lang="en-US" sz="2400">
                <a:latin typeface="宋体" panose="02010600030101010101" pitchFamily="2" charset="-122"/>
                <a:cs typeface="宋体" panose="02010600030101010101" pitchFamily="2" charset="-122"/>
              </a:rPr>
              <a:t>   </a:t>
            </a:r>
            <a:endParaRPr lang="zh-CN" altLang="en-US" sz="2000">
              <a:latin typeface="宋体" panose="02010600030101010101" pitchFamily="2" charset="-122"/>
              <a:cs typeface="宋体" panose="02010600030101010101" pitchFamily="2" charset="-122"/>
              <a:sym typeface="+mn-ea"/>
            </a:endParaRPr>
          </a:p>
        </p:txBody>
      </p:sp>
      <p:pic>
        <p:nvPicPr>
          <p:cNvPr id="8" name="图片 7"/>
          <p:cNvPicPr>
            <a:picLocks noChangeAspect="1"/>
          </p:cNvPicPr>
          <p:nvPr/>
        </p:nvPicPr>
        <p:blipFill>
          <a:blip r:embed="rId3"/>
          <a:stretch>
            <a:fillRect/>
          </a:stretch>
        </p:blipFill>
        <p:spPr>
          <a:xfrm>
            <a:off x="2138680" y="1844675"/>
            <a:ext cx="6927850" cy="4988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79085" y="3500755"/>
            <a:ext cx="6122035" cy="299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lang="en-US">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创建一个</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LinkedList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集合，向集合中添加</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个元素，输出集合元素及其长度，向</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link</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集合中索引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处插入元素</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周洋</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，向</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link</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集合第一个位置处插入元素</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王娜</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，取出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link</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集合中第一个元素，移除</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link</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集合中指定索引位置为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的元素，移除</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link</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集合中最后一个元素，输出新的集合元素及长度。</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0" indent="266700" algn="just" defTabSz="266700">
              <a:lnSpc>
                <a:spcPct val="150000"/>
              </a:lnSpc>
              <a:spcBef>
                <a:spcPct val="0"/>
              </a:spcBef>
              <a:spcAft>
                <a:spcPct val="0"/>
              </a:spcAft>
            </a:pP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274445" y="2060575"/>
            <a:ext cx="10271125" cy="1238885"/>
          </a:xfrm>
          <a:prstGeom prst="rect">
            <a:avLst/>
          </a:prstGeom>
          <a:noFill/>
        </p:spPr>
        <p:txBody>
          <a:bodyPr wrap="square" rtlCol="0" anchor="t">
            <a:noAutofit/>
          </a:bodyPr>
          <a:lstStyle/>
          <a:p>
            <a:r>
              <a:rPr lang="zh-CN" altLang="en-US" sz="2000">
                <a:latin typeface="+mn-ea"/>
                <a:ea typeface="+mn-ea"/>
                <a:cs typeface="+mn-ea"/>
                <a:sym typeface="+mn-ea"/>
              </a:rPr>
              <a:t>结合任务描述和知识链接中相关知识点可以得到文件</a:t>
            </a:r>
            <a:r>
              <a:rPr lang="en-US" altLang="zh-CN" sz="2000">
                <a:latin typeface="+mn-ea"/>
                <a:ea typeface="+mn-ea"/>
                <a:cs typeface="+mn-ea"/>
                <a:sym typeface="+mn-ea"/>
              </a:rPr>
              <a:t>9-2</a:t>
            </a:r>
            <a:r>
              <a:rPr lang="zh-CN" altLang="en-US" sz="2000">
                <a:latin typeface="+mn-ea"/>
                <a:ea typeface="+mn-ea"/>
                <a:cs typeface="+mn-ea"/>
                <a:sym typeface="+mn-ea"/>
              </a:rPr>
              <a:t>所示的代码。</a:t>
            </a:r>
            <a:r>
              <a:rPr sz="2000">
                <a:latin typeface="+mn-ea"/>
                <a:ea typeface="+mn-ea"/>
                <a:cs typeface="+mn-ea"/>
                <a:sym typeface="+mn-ea"/>
              </a:rPr>
              <a:t>：</a:t>
            </a:r>
            <a:endParaRPr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10" name="文本框 9"/>
          <p:cNvSpPr txBox="1"/>
          <p:nvPr/>
        </p:nvSpPr>
        <p:spPr>
          <a:xfrm>
            <a:off x="3074670" y="2449830"/>
            <a:ext cx="5671820" cy="460375"/>
          </a:xfrm>
          <a:prstGeom prst="rect">
            <a:avLst/>
          </a:prstGeom>
          <a:noFill/>
        </p:spPr>
        <p:txBody>
          <a:bodyPr wrap="square" rtlCol="0" anchor="t">
            <a:spAutoFit/>
          </a:bodyPr>
          <a:p>
            <a:r>
              <a:rPr sz="2400">
                <a:latin typeface="+mn-ea"/>
                <a:ea typeface="+mn-ea"/>
                <a:cs typeface="+mn-ea"/>
                <a:sym typeface="+mn-ea"/>
              </a:rPr>
              <a:t>文件</a:t>
            </a:r>
            <a:r>
              <a:rPr lang="en-US" sz="2400">
                <a:latin typeface="+mn-ea"/>
                <a:ea typeface="+mn-ea"/>
                <a:cs typeface="+mn-ea"/>
                <a:sym typeface="+mn-ea"/>
              </a:rPr>
              <a:t>9</a:t>
            </a:r>
            <a:r>
              <a:rPr sz="2400">
                <a:latin typeface="+mn-ea"/>
                <a:ea typeface="+mn-ea"/>
                <a:cs typeface="+mn-ea"/>
                <a:sym typeface="+mn-ea"/>
              </a:rPr>
              <a:t>-</a:t>
            </a:r>
            <a:r>
              <a:rPr lang="en-US" sz="2400">
                <a:latin typeface="+mn-ea"/>
                <a:ea typeface="+mn-ea"/>
                <a:cs typeface="+mn-ea"/>
                <a:sym typeface="+mn-ea"/>
              </a:rPr>
              <a:t>2</a:t>
            </a:r>
            <a:r>
              <a:rPr lang="en-US" sz="2400">
                <a:latin typeface="+mn-ea"/>
                <a:ea typeface="+mn-ea"/>
                <a:cs typeface="+mn-ea"/>
                <a:sym typeface="+mn-ea"/>
              </a:rPr>
              <a:t> </a:t>
            </a:r>
            <a:r>
              <a:rPr sz="2400">
                <a:latin typeface="+mn-ea"/>
                <a:ea typeface="+mn-ea"/>
                <a:cs typeface="+mn-ea"/>
                <a:sym typeface="+mn-ea"/>
              </a:rPr>
              <a:t>Example0</a:t>
            </a:r>
            <a:r>
              <a:rPr lang="en-US" sz="2400">
                <a:latin typeface="+mn-ea"/>
                <a:ea typeface="+mn-ea"/>
                <a:cs typeface="+mn-ea"/>
                <a:sym typeface="+mn-ea"/>
              </a:rPr>
              <a:t>2</a:t>
            </a:r>
            <a:r>
              <a:rPr sz="2400">
                <a:latin typeface="+mn-ea"/>
                <a:ea typeface="+mn-ea"/>
                <a:cs typeface="+mn-ea"/>
                <a:sym typeface="+mn-ea"/>
              </a:rPr>
              <a:t>.Java</a:t>
            </a:r>
            <a:endParaRPr sz="2400">
              <a:latin typeface="+mn-ea"/>
              <a:ea typeface="+mn-ea"/>
              <a:cs typeface="+mn-ea"/>
              <a:sym typeface="+mn-ea"/>
            </a:endParaRPr>
          </a:p>
        </p:txBody>
      </p:sp>
      <p:sp>
        <p:nvSpPr>
          <p:cNvPr id="6" name="文本框 5"/>
          <p:cNvSpPr txBox="1"/>
          <p:nvPr/>
        </p:nvSpPr>
        <p:spPr>
          <a:xfrm>
            <a:off x="1994535" y="2780665"/>
            <a:ext cx="10135870"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400">
                <a:latin typeface="Times New Roman" panose="02020603050405020304"/>
              </a:rPr>
              <a:t>1import java.util.*;</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2public class Example02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3	publicstaticvoidmain</a:t>
            </a:r>
            <a:r>
              <a:rPr lang="zh-CN" altLang="en-US" sz="2400">
                <a:latin typeface="Times New Roman" panose="02020603050405020304"/>
              </a:rPr>
              <a:t>（</a:t>
            </a:r>
            <a:r>
              <a:rPr lang="en-US" altLang="zh-CN" sz="2400">
                <a:latin typeface="Times New Roman" panose="02020603050405020304"/>
              </a:rPr>
              <a:t>String[] args</a:t>
            </a:r>
            <a:r>
              <a:rPr lang="zh-CN" altLang="en-US" sz="2400">
                <a:latin typeface="Times New Roman" panose="02020603050405020304"/>
              </a:rPr>
              <a:t>）</a:t>
            </a:r>
            <a:r>
              <a:rPr lang="en-US" altLang="zh-CN" sz="2400">
                <a:latin typeface="Times New Roman" panose="02020603050405020304"/>
              </a:rPr>
              <a:t>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4		 LinkedList link = new LinkedList</a:t>
            </a:r>
            <a:r>
              <a:rPr lang="zh-CN" altLang="en-US" sz="2400">
                <a:latin typeface="Times New Roman" panose="02020603050405020304"/>
              </a:rPr>
              <a:t>（）</a:t>
            </a:r>
            <a:r>
              <a:rPr lang="en-US" altLang="zh-CN" sz="2400">
                <a:latin typeface="Times New Roman" panose="02020603050405020304"/>
              </a:rPr>
              <a:t>;   // </a:t>
            </a:r>
            <a:r>
              <a:rPr lang="zh-CN" altLang="en-US" sz="2400">
                <a:latin typeface="Times New Roman" panose="02020603050405020304"/>
              </a:rPr>
              <a:t>创建</a:t>
            </a:r>
            <a:r>
              <a:rPr lang="en-US" altLang="zh-CN" sz="2400">
                <a:latin typeface="Times New Roman" panose="02020603050405020304"/>
              </a:rPr>
              <a:t>LinkedList</a:t>
            </a:r>
            <a:r>
              <a:rPr lang="zh-CN" altLang="en-US" sz="2400">
                <a:latin typeface="Times New Roman" panose="02020603050405020304"/>
              </a:rPr>
              <a:t>集合</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5	link.add</a:t>
            </a:r>
            <a:r>
              <a:rPr lang="zh-CN" altLang="en-US" sz="2400">
                <a:latin typeface="Times New Roman" panose="02020603050405020304"/>
              </a:rPr>
              <a:t>（</a:t>
            </a:r>
            <a:r>
              <a:rPr lang="en-US" altLang="zh-CN" sz="2400">
                <a:latin typeface="Times New Roman" panose="02020603050405020304"/>
              </a:rPr>
              <a:t>"</a:t>
            </a:r>
            <a:r>
              <a:rPr lang="zh-CN" altLang="en-US" sz="2400">
                <a:latin typeface="Times New Roman" panose="02020603050405020304"/>
              </a:rPr>
              <a:t>李宏</a:t>
            </a:r>
            <a:r>
              <a:rPr lang="en-US" altLang="zh-CN" sz="2400">
                <a:latin typeface="Times New Roman" panose="02020603050405020304"/>
              </a:rPr>
              <a:t>"</a:t>
            </a:r>
            <a:r>
              <a:rPr lang="zh-CN" altLang="en-US" sz="2400">
                <a:latin typeface="Times New Roman" panose="02020603050405020304"/>
              </a:rPr>
              <a:t>）</a:t>
            </a:r>
            <a:r>
              <a:rPr lang="en-US" altLang="zh-CN" sz="2400">
                <a:latin typeface="Times New Roman" panose="02020603050405020304"/>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6	link.add</a:t>
            </a:r>
            <a:r>
              <a:rPr lang="zh-CN" altLang="en-US" sz="2400">
                <a:latin typeface="Times New Roman" panose="02020603050405020304"/>
              </a:rPr>
              <a:t>（</a:t>
            </a:r>
            <a:r>
              <a:rPr lang="en-US" altLang="zh-CN" sz="2400">
                <a:latin typeface="Times New Roman" panose="02020603050405020304"/>
              </a:rPr>
              <a:t>"</a:t>
            </a:r>
            <a:r>
              <a:rPr lang="zh-CN" altLang="en-US" sz="2400">
                <a:latin typeface="Times New Roman" panose="02020603050405020304"/>
              </a:rPr>
              <a:t>赵芳</a:t>
            </a:r>
            <a:r>
              <a:rPr lang="en-US" altLang="zh-CN" sz="2400">
                <a:latin typeface="Times New Roman" panose="02020603050405020304"/>
              </a:rPr>
              <a:t>"</a:t>
            </a:r>
            <a:r>
              <a:rPr lang="zh-CN" altLang="en-US" sz="2400">
                <a:latin typeface="Times New Roman" panose="02020603050405020304"/>
              </a:rPr>
              <a:t>）</a:t>
            </a:r>
            <a:r>
              <a:rPr lang="en-US" altLang="zh-CN" sz="2400">
                <a:latin typeface="Times New Roman" panose="02020603050405020304"/>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7	link.add</a:t>
            </a:r>
            <a:r>
              <a:rPr lang="zh-CN" altLang="en-US" sz="2400">
                <a:latin typeface="Times New Roman" panose="02020603050405020304"/>
              </a:rPr>
              <a:t>（</a:t>
            </a:r>
            <a:r>
              <a:rPr lang="en-US" altLang="zh-CN" sz="2400">
                <a:latin typeface="Times New Roman" panose="02020603050405020304"/>
              </a:rPr>
              <a:t>"</a:t>
            </a:r>
            <a:r>
              <a:rPr lang="zh-CN" altLang="en-US" sz="2400">
                <a:latin typeface="Times New Roman" panose="02020603050405020304"/>
              </a:rPr>
              <a:t>王磊</a:t>
            </a:r>
            <a:r>
              <a:rPr lang="en-US" altLang="zh-CN" sz="2400">
                <a:latin typeface="Times New Roman" panose="02020603050405020304"/>
              </a:rPr>
              <a:t>"</a:t>
            </a:r>
            <a:r>
              <a:rPr lang="zh-CN" altLang="en-US" sz="2400">
                <a:latin typeface="Times New Roman" panose="02020603050405020304"/>
              </a:rPr>
              <a:t>）</a:t>
            </a:r>
            <a:r>
              <a:rPr lang="en-US" altLang="zh-CN" sz="2400">
                <a:latin typeface="Times New Roman" panose="02020603050405020304"/>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rPr>
              <a:t>8	link.add</a:t>
            </a:r>
            <a:r>
              <a:rPr lang="zh-CN" altLang="en-US" sz="2400">
                <a:latin typeface="Times New Roman" panose="02020603050405020304"/>
              </a:rPr>
              <a:t>（</a:t>
            </a:r>
            <a:r>
              <a:rPr lang="en-US" altLang="zh-CN" sz="2400">
                <a:latin typeface="Times New Roman" panose="02020603050405020304"/>
              </a:rPr>
              <a:t>"</a:t>
            </a:r>
            <a:r>
              <a:rPr lang="zh-CN" altLang="en-US" sz="2400">
                <a:latin typeface="Times New Roman" panose="02020603050405020304"/>
              </a:rPr>
              <a:t>刘丽</a:t>
            </a:r>
            <a:r>
              <a:rPr lang="en-US" altLang="zh-CN" sz="2400">
                <a:latin typeface="Times New Roman" panose="02020603050405020304"/>
              </a:rPr>
              <a:t>"</a:t>
            </a:r>
            <a:r>
              <a:rPr lang="zh-CN" altLang="en-US" sz="2400">
                <a:latin typeface="Times New Roman" panose="02020603050405020304"/>
              </a:rPr>
              <a:t>）</a:t>
            </a:r>
            <a:r>
              <a:rPr lang="en-US" altLang="zh-CN" sz="2400">
                <a:latin typeface="Times New Roman" panose="02020603050405020304"/>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9	System.out.println</a:t>
            </a:r>
            <a:r>
              <a:rPr lang="zh-CN" altLang="en-US" sz="2400">
                <a:latin typeface="Times New Roman" panose="02020603050405020304"/>
                <a:sym typeface="+mn-ea"/>
              </a:rPr>
              <a:t>（</a:t>
            </a:r>
            <a:r>
              <a:rPr lang="en-US" altLang="zh-CN" sz="2400">
                <a:latin typeface="Times New Roman" panose="02020603050405020304"/>
                <a:sym typeface="+mn-ea"/>
              </a:rPr>
              <a:t>link</a:t>
            </a:r>
            <a:r>
              <a:rPr lang="zh-CN" altLang="en-US" sz="2400">
                <a:latin typeface="Times New Roman" panose="02020603050405020304"/>
                <a:sym typeface="+mn-ea"/>
              </a:rPr>
              <a:t>）</a:t>
            </a:r>
            <a:r>
              <a:rPr lang="en-US" altLang="zh-CN" sz="2400">
                <a:latin typeface="Times New Roman" panose="02020603050405020304"/>
                <a:sym typeface="+mn-ea"/>
              </a:rPr>
              <a:t>; // </a:t>
            </a:r>
            <a:r>
              <a:rPr lang="zh-CN" altLang="en-US" sz="2400">
                <a:latin typeface="Times New Roman" panose="02020603050405020304"/>
                <a:sym typeface="+mn-ea"/>
              </a:rPr>
              <a:t>获取并打印该集合中的元素</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10System.out.println</a:t>
            </a:r>
            <a:r>
              <a:rPr lang="zh-CN" altLang="en-US" sz="2400">
                <a:latin typeface="Times New Roman" panose="02020603050405020304"/>
                <a:sym typeface="+mn-ea"/>
              </a:rPr>
              <a:t>（</a:t>
            </a:r>
            <a:r>
              <a:rPr lang="en-US" altLang="zh-CN" sz="2400">
                <a:latin typeface="Times New Roman" panose="02020603050405020304"/>
                <a:sym typeface="+mn-ea"/>
              </a:rPr>
              <a:t>"</a:t>
            </a:r>
            <a:r>
              <a:rPr lang="zh-CN" altLang="en-US" sz="2400">
                <a:latin typeface="Times New Roman" panose="02020603050405020304"/>
                <a:sym typeface="+mn-ea"/>
              </a:rPr>
              <a:t>集合的长度：</a:t>
            </a:r>
            <a:r>
              <a:rPr lang="en-US" altLang="zh-CN" sz="2400">
                <a:latin typeface="Times New Roman" panose="02020603050405020304"/>
                <a:sym typeface="+mn-ea"/>
              </a:rPr>
              <a:t>" + link.size</a:t>
            </a:r>
            <a:r>
              <a:rPr lang="zh-CN" altLang="en-US" sz="2400">
                <a:latin typeface="Times New Roman" panose="02020603050405020304"/>
                <a:sym typeface="+mn-ea"/>
              </a:rPr>
              <a:t>（））</a:t>
            </a:r>
            <a:r>
              <a:rPr lang="en-US" altLang="zh-CN" sz="2400">
                <a:latin typeface="Times New Roman" panose="02020603050405020304"/>
                <a:sym typeface="+mn-ea"/>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endParaRPr lang="en-US" altLang="zh-CN" sz="2400">
              <a:latin typeface="Times New Roman" panose="02020603050405020304"/>
            </a:endParaRPr>
          </a:p>
          <a:p>
            <a:pPr marL="0" indent="266700" algn="just" defTabSz="266700" latinLnBrk="0">
              <a:lnSpc>
                <a:spcPct val="100000"/>
              </a:lnSpc>
              <a:spcBef>
                <a:spcPct val="0"/>
              </a:spcBef>
              <a:spcAft>
                <a:spcPct val="0"/>
              </a:spcAft>
            </a:pPr>
            <a:endParaRPr lang="en-US" altLang="zh-CN" sz="2400">
              <a:latin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任务源码</a:t>
            </a:r>
            <a:endParaRPr lang="zh-CN" sz="2600" b="1">
              <a:solidFill>
                <a:schemeClr val="accent1">
                  <a:lumMod val="75000"/>
                </a:schemeClr>
              </a:solidFill>
            </a:endParaRPr>
          </a:p>
        </p:txBody>
      </p:sp>
      <p:sp>
        <p:nvSpPr>
          <p:cNvPr id="3" name="文本框 2"/>
          <p:cNvSpPr txBox="1"/>
          <p:nvPr/>
        </p:nvSpPr>
        <p:spPr>
          <a:xfrm>
            <a:off x="1274445" y="2060575"/>
            <a:ext cx="10271125" cy="1238885"/>
          </a:xfrm>
          <a:prstGeom prst="rect">
            <a:avLst/>
          </a:prstGeom>
          <a:noFill/>
        </p:spPr>
        <p:txBody>
          <a:bodyPr wrap="square" rtlCol="0" anchor="t">
            <a:noAutofit/>
          </a:bodyPr>
          <a:lstStyle/>
          <a:p>
            <a:r>
              <a:rPr lang="zh-CN" altLang="en-US" sz="2000">
                <a:latin typeface="+mn-ea"/>
                <a:ea typeface="+mn-ea"/>
                <a:cs typeface="+mn-ea"/>
                <a:sym typeface="+mn-ea"/>
              </a:rPr>
              <a:t>结合任务描述和知识链接中相关知识点可以得到文件</a:t>
            </a:r>
            <a:r>
              <a:rPr lang="en-US" altLang="zh-CN" sz="2000">
                <a:latin typeface="+mn-ea"/>
                <a:ea typeface="+mn-ea"/>
                <a:cs typeface="+mn-ea"/>
                <a:sym typeface="+mn-ea"/>
              </a:rPr>
              <a:t>9-2</a:t>
            </a:r>
            <a:r>
              <a:rPr lang="zh-CN" altLang="en-US" sz="2000">
                <a:latin typeface="+mn-ea"/>
                <a:ea typeface="+mn-ea"/>
                <a:cs typeface="+mn-ea"/>
                <a:sym typeface="+mn-ea"/>
              </a:rPr>
              <a:t>所示的代码。</a:t>
            </a:r>
            <a:r>
              <a:rPr sz="2000">
                <a:latin typeface="+mn-ea"/>
                <a:ea typeface="+mn-ea"/>
                <a:cs typeface="+mn-ea"/>
                <a:sym typeface="+mn-ea"/>
              </a:rPr>
              <a:t>：</a:t>
            </a:r>
            <a:endParaRPr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1706880" y="2420620"/>
            <a:ext cx="10001885" cy="4288790"/>
          </a:xfrm>
          <a:prstGeom prst="rect">
            <a:avLst/>
          </a:prstGeom>
        </p:spPr>
        <p:txBody>
          <a:bodyPr>
            <a:noAutofit/>
          </a:bodyPr>
          <a:p>
            <a:pPr marL="0" indent="266700" algn="just" defTabSz="266700" latinLnBrk="0">
              <a:lnSpc>
                <a:spcPct val="100000"/>
              </a:lnSpc>
              <a:spcBef>
                <a:spcPct val="0"/>
              </a:spcBef>
              <a:spcAft>
                <a:spcPct val="0"/>
              </a:spcAft>
            </a:pPr>
            <a:r>
              <a:rPr lang="en-US" altLang="zh-CN" sz="2400">
                <a:latin typeface="Times New Roman" panose="02020603050405020304"/>
                <a:sym typeface="+mn-ea"/>
              </a:rPr>
              <a:t>11          link.add</a:t>
            </a:r>
            <a:r>
              <a:rPr lang="zh-CN" altLang="en-US" sz="2400">
                <a:latin typeface="Times New Roman" panose="02020603050405020304"/>
                <a:sym typeface="+mn-ea"/>
              </a:rPr>
              <a:t>（</a:t>
            </a:r>
            <a:r>
              <a:rPr lang="en-US" altLang="zh-CN" sz="2400">
                <a:latin typeface="Times New Roman" panose="02020603050405020304"/>
                <a:sym typeface="+mn-ea"/>
              </a:rPr>
              <a:t>2</a:t>
            </a:r>
            <a:r>
              <a:rPr lang="zh-CN" altLang="en-US" sz="2400">
                <a:latin typeface="Times New Roman" panose="02020603050405020304"/>
                <a:sym typeface="+mn-ea"/>
              </a:rPr>
              <a:t>，</a:t>
            </a:r>
            <a:r>
              <a:rPr lang="en-US" altLang="zh-CN" sz="2400">
                <a:latin typeface="Times New Roman" panose="02020603050405020304"/>
                <a:sym typeface="+mn-ea"/>
              </a:rPr>
              <a:t> "</a:t>
            </a:r>
            <a:r>
              <a:rPr lang="zh-CN" altLang="en-US" sz="2400">
                <a:latin typeface="Times New Roman" panose="02020603050405020304"/>
                <a:sym typeface="+mn-ea"/>
              </a:rPr>
              <a:t>周洋</a:t>
            </a:r>
            <a:r>
              <a:rPr lang="en-US" altLang="zh-CN" sz="2400">
                <a:latin typeface="Times New Roman" panose="02020603050405020304"/>
                <a:sym typeface="+mn-ea"/>
              </a:rPr>
              <a:t>"</a:t>
            </a:r>
            <a:r>
              <a:rPr lang="zh-CN" altLang="en-US" sz="2400">
                <a:latin typeface="Times New Roman" panose="02020603050405020304"/>
                <a:sym typeface="+mn-ea"/>
              </a:rPr>
              <a:t>）</a:t>
            </a:r>
            <a:r>
              <a:rPr lang="en-US" altLang="zh-CN" sz="2400">
                <a:latin typeface="Times New Roman" panose="02020603050405020304"/>
                <a:sym typeface="+mn-ea"/>
              </a:rPr>
              <a:t>;     // </a:t>
            </a:r>
            <a:r>
              <a:rPr lang="zh-CN" altLang="en-US" sz="2400">
                <a:latin typeface="Times New Roman" panose="02020603050405020304"/>
                <a:sym typeface="+mn-ea"/>
              </a:rPr>
              <a:t>向</a:t>
            </a:r>
            <a:r>
              <a:rPr lang="en-US" altLang="zh-CN" sz="2400">
                <a:latin typeface="Times New Roman" panose="02020603050405020304"/>
                <a:sym typeface="+mn-ea"/>
              </a:rPr>
              <a:t>link</a:t>
            </a:r>
            <a:r>
              <a:rPr lang="zh-CN" altLang="en-US" sz="2400">
                <a:latin typeface="Times New Roman" panose="02020603050405020304"/>
                <a:sym typeface="+mn-ea"/>
              </a:rPr>
              <a:t>集合中索引</a:t>
            </a:r>
            <a:r>
              <a:rPr lang="en-US" altLang="zh-CN" sz="2400">
                <a:latin typeface="Times New Roman" panose="02020603050405020304"/>
                <a:sym typeface="+mn-ea"/>
              </a:rPr>
              <a:t>2</a:t>
            </a:r>
            <a:r>
              <a:rPr lang="zh-CN" altLang="en-US" sz="2400">
                <a:latin typeface="Times New Roman" panose="02020603050405020304"/>
                <a:sym typeface="+mn-ea"/>
              </a:rPr>
              <a:t>处插入元素周洋</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12	link.addFirst</a:t>
            </a:r>
            <a:r>
              <a:rPr lang="zh-CN" altLang="en-US" sz="2400">
                <a:latin typeface="Times New Roman" panose="02020603050405020304"/>
                <a:sym typeface="+mn-ea"/>
              </a:rPr>
              <a:t>（</a:t>
            </a:r>
            <a:r>
              <a:rPr lang="en-US" altLang="zh-CN" sz="2400">
                <a:latin typeface="Times New Roman" panose="02020603050405020304"/>
                <a:sym typeface="+mn-ea"/>
              </a:rPr>
              <a:t>"</a:t>
            </a:r>
            <a:r>
              <a:rPr lang="zh-CN" altLang="en-US" sz="2400">
                <a:latin typeface="Times New Roman" panose="02020603050405020304"/>
                <a:sym typeface="+mn-ea"/>
              </a:rPr>
              <a:t>王娜</a:t>
            </a:r>
            <a:r>
              <a:rPr lang="en-US" altLang="zh-CN" sz="2400">
                <a:latin typeface="Times New Roman" panose="02020603050405020304"/>
                <a:sym typeface="+mn-ea"/>
              </a:rPr>
              <a:t>"</a:t>
            </a:r>
            <a:r>
              <a:rPr lang="zh-CN" altLang="en-US" sz="2400">
                <a:latin typeface="Times New Roman" panose="02020603050405020304"/>
                <a:sym typeface="+mn-ea"/>
              </a:rPr>
              <a:t>）</a:t>
            </a:r>
            <a:r>
              <a:rPr lang="en-US" altLang="zh-CN" sz="2400">
                <a:latin typeface="Times New Roman" panose="02020603050405020304"/>
                <a:sym typeface="+mn-ea"/>
              </a:rPr>
              <a:t>;    // </a:t>
            </a:r>
            <a:r>
              <a:rPr lang="zh-CN" altLang="en-US" sz="2400">
                <a:latin typeface="Times New Roman" panose="02020603050405020304"/>
                <a:sym typeface="+mn-ea"/>
              </a:rPr>
              <a:t>向</a:t>
            </a:r>
            <a:r>
              <a:rPr lang="en-US" altLang="zh-CN" sz="2400">
                <a:latin typeface="Times New Roman" panose="02020603050405020304"/>
                <a:sym typeface="+mn-ea"/>
              </a:rPr>
              <a:t>link</a:t>
            </a:r>
            <a:r>
              <a:rPr lang="zh-CN" altLang="en-US" sz="2400">
                <a:latin typeface="Times New Roman" panose="02020603050405020304"/>
                <a:sym typeface="+mn-ea"/>
              </a:rPr>
              <a:t>集合第一个位置插入元素王娜</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13	        System.out.println</a:t>
            </a:r>
            <a:r>
              <a:rPr lang="zh-CN" altLang="en-US" sz="2400">
                <a:latin typeface="Times New Roman" panose="02020603050405020304"/>
                <a:sym typeface="+mn-ea"/>
              </a:rPr>
              <a:t>（</a:t>
            </a:r>
            <a:r>
              <a:rPr lang="en-US" altLang="zh-CN" sz="2400">
                <a:latin typeface="Times New Roman" panose="02020603050405020304"/>
                <a:sym typeface="+mn-ea"/>
              </a:rPr>
              <a:t>link</a:t>
            </a:r>
            <a:r>
              <a:rPr lang="zh-CN" altLang="en-US" sz="2400">
                <a:latin typeface="Times New Roman" panose="02020603050405020304"/>
                <a:sym typeface="+mn-ea"/>
              </a:rPr>
              <a:t>）</a:t>
            </a:r>
            <a:r>
              <a:rPr lang="en-US" altLang="zh-CN" sz="2400">
                <a:latin typeface="Times New Roman" panose="02020603050405020304"/>
                <a:sym typeface="+mn-ea"/>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14	        System.out.println</a:t>
            </a:r>
            <a:r>
              <a:rPr lang="zh-CN" altLang="en-US" sz="2400">
                <a:latin typeface="Times New Roman" panose="02020603050405020304"/>
                <a:sym typeface="+mn-ea"/>
              </a:rPr>
              <a:t>（</a:t>
            </a:r>
            <a:r>
              <a:rPr lang="en-US" altLang="zh-CN" sz="2400">
                <a:latin typeface="Times New Roman" panose="02020603050405020304"/>
                <a:sym typeface="+mn-ea"/>
              </a:rPr>
              <a:t>link.getFirst</a:t>
            </a:r>
            <a:r>
              <a:rPr lang="zh-CN" altLang="en-US" sz="2400">
                <a:latin typeface="Times New Roman" panose="02020603050405020304"/>
                <a:sym typeface="+mn-ea"/>
              </a:rPr>
              <a:t>（））</a:t>
            </a:r>
            <a:r>
              <a:rPr lang="en-US" altLang="zh-CN" sz="2400">
                <a:latin typeface="Times New Roman" panose="02020603050405020304"/>
                <a:sym typeface="+mn-ea"/>
              </a:rPr>
              <a:t>; // </a:t>
            </a:r>
            <a:r>
              <a:rPr lang="zh-CN" altLang="en-US" sz="2400">
                <a:latin typeface="Times New Roman" panose="02020603050405020304"/>
                <a:sym typeface="+mn-ea"/>
              </a:rPr>
              <a:t>取出</a:t>
            </a:r>
            <a:r>
              <a:rPr lang="en-US" altLang="zh-CN" sz="2400">
                <a:latin typeface="Times New Roman" panose="02020603050405020304"/>
                <a:sym typeface="+mn-ea"/>
              </a:rPr>
              <a:t>link</a:t>
            </a:r>
            <a:r>
              <a:rPr lang="zh-CN" altLang="en-US" sz="2400">
                <a:latin typeface="Times New Roman" panose="02020603050405020304"/>
                <a:sym typeface="+mn-ea"/>
              </a:rPr>
              <a:t>集合中第一个元素</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15	        link.remove</a:t>
            </a:r>
            <a:r>
              <a:rPr lang="zh-CN" altLang="en-US" sz="2400">
                <a:latin typeface="Times New Roman" panose="02020603050405020304"/>
                <a:sym typeface="+mn-ea"/>
              </a:rPr>
              <a:t>（</a:t>
            </a:r>
            <a:r>
              <a:rPr lang="en-US" altLang="zh-CN" sz="2400">
                <a:latin typeface="Times New Roman" panose="02020603050405020304"/>
                <a:sym typeface="+mn-ea"/>
              </a:rPr>
              <a:t>1</a:t>
            </a:r>
            <a:r>
              <a:rPr lang="zh-CN" altLang="en-US" sz="2400">
                <a:latin typeface="Times New Roman" panose="02020603050405020304"/>
                <a:sym typeface="+mn-ea"/>
              </a:rPr>
              <a:t>）</a:t>
            </a:r>
            <a:r>
              <a:rPr lang="en-US" altLang="zh-CN" sz="2400">
                <a:latin typeface="Times New Roman" panose="02020603050405020304"/>
                <a:sym typeface="+mn-ea"/>
              </a:rPr>
              <a:t>;            // </a:t>
            </a:r>
            <a:r>
              <a:rPr lang="zh-CN" altLang="en-US" sz="2400">
                <a:latin typeface="Times New Roman" panose="02020603050405020304"/>
                <a:sym typeface="+mn-ea"/>
              </a:rPr>
              <a:t>移除</a:t>
            </a:r>
            <a:r>
              <a:rPr lang="en-US" altLang="zh-CN" sz="2400">
                <a:latin typeface="Times New Roman" panose="02020603050405020304"/>
                <a:sym typeface="+mn-ea"/>
              </a:rPr>
              <a:t>link</a:t>
            </a:r>
            <a:r>
              <a:rPr lang="zh-CN" altLang="en-US" sz="2400">
                <a:latin typeface="Times New Roman" panose="02020603050405020304"/>
                <a:sym typeface="+mn-ea"/>
              </a:rPr>
              <a:t>集合中指定索引位置为</a:t>
            </a:r>
            <a:r>
              <a:rPr lang="en-US" altLang="zh-CN" sz="2400">
                <a:latin typeface="Times New Roman" panose="02020603050405020304"/>
                <a:sym typeface="+mn-ea"/>
              </a:rPr>
              <a:t>1</a:t>
            </a:r>
            <a:r>
              <a:rPr lang="zh-CN" altLang="en-US" sz="2400">
                <a:latin typeface="Times New Roman" panose="02020603050405020304"/>
                <a:sym typeface="+mn-ea"/>
              </a:rPr>
              <a:t>的元素</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16	        link.removeLast</a:t>
            </a:r>
            <a:r>
              <a:rPr lang="zh-CN" altLang="en-US" sz="2400">
                <a:latin typeface="Times New Roman" panose="02020603050405020304"/>
                <a:sym typeface="+mn-ea"/>
              </a:rPr>
              <a:t>（）</a:t>
            </a:r>
            <a:r>
              <a:rPr lang="en-US" altLang="zh-CN" sz="2400">
                <a:latin typeface="Times New Roman" panose="02020603050405020304"/>
                <a:sym typeface="+mn-ea"/>
              </a:rPr>
              <a:t>;          // </a:t>
            </a:r>
            <a:r>
              <a:rPr lang="zh-CN" altLang="en-US" sz="2400">
                <a:latin typeface="Times New Roman" panose="02020603050405020304"/>
                <a:sym typeface="+mn-ea"/>
              </a:rPr>
              <a:t>移除</a:t>
            </a:r>
            <a:r>
              <a:rPr lang="en-US" altLang="zh-CN" sz="2400">
                <a:latin typeface="Times New Roman" panose="02020603050405020304"/>
                <a:sym typeface="+mn-ea"/>
              </a:rPr>
              <a:t>link</a:t>
            </a:r>
            <a:r>
              <a:rPr lang="zh-CN" altLang="en-US" sz="2400">
                <a:latin typeface="Times New Roman" panose="02020603050405020304"/>
                <a:sym typeface="+mn-ea"/>
              </a:rPr>
              <a:t>集合中第一个元素</a:t>
            </a:r>
            <a:endParaRPr lang="zh-CN" altLang="en-US"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17	        System.out.println</a:t>
            </a:r>
            <a:r>
              <a:rPr lang="zh-CN" altLang="en-US" sz="2400">
                <a:latin typeface="Times New Roman" panose="02020603050405020304"/>
                <a:sym typeface="+mn-ea"/>
              </a:rPr>
              <a:t>（</a:t>
            </a:r>
            <a:r>
              <a:rPr lang="en-US" altLang="zh-CN" sz="2400">
                <a:latin typeface="Times New Roman" panose="02020603050405020304"/>
                <a:sym typeface="+mn-ea"/>
              </a:rPr>
              <a:t>link</a:t>
            </a:r>
            <a:r>
              <a:rPr lang="zh-CN" altLang="en-US" sz="2400">
                <a:latin typeface="Times New Roman" panose="02020603050405020304"/>
                <a:sym typeface="+mn-ea"/>
              </a:rPr>
              <a:t>）</a:t>
            </a:r>
            <a:r>
              <a:rPr lang="en-US" altLang="zh-CN" sz="2400">
                <a:latin typeface="Times New Roman" panose="02020603050405020304"/>
                <a:sym typeface="+mn-ea"/>
              </a:rPr>
              <a:t>;</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18	}</a:t>
            </a:r>
            <a:endParaRPr lang="en-US" altLang="zh-CN" sz="2400">
              <a:latin typeface="Times New Roman" panose="02020603050405020304"/>
            </a:endParaRPr>
          </a:p>
          <a:p>
            <a:pPr marL="0" indent="266700" algn="just" defTabSz="266700" latinLnBrk="0">
              <a:lnSpc>
                <a:spcPct val="100000"/>
              </a:lnSpc>
              <a:spcBef>
                <a:spcPct val="0"/>
              </a:spcBef>
              <a:spcAft>
                <a:spcPct val="0"/>
              </a:spcAft>
            </a:pPr>
            <a:r>
              <a:rPr lang="en-US" altLang="zh-CN" sz="2400">
                <a:latin typeface="Times New Roman" panose="02020603050405020304"/>
                <a:sym typeface="+mn-ea"/>
              </a:rPr>
              <a:t>19	}</a:t>
            </a:r>
            <a:endParaRPr lang="en-US" altLang="zh-CN" sz="2400">
              <a:latin typeface="Times New Roman" panose="02020603050405020304"/>
            </a:endParaRPr>
          </a:p>
          <a:p>
            <a:pPr marL="0" indent="266700" algn="just" defTabSz="266700" latinLnBrk="0">
              <a:lnSpc>
                <a:spcPct val="100000"/>
              </a:lnSpc>
              <a:spcBef>
                <a:spcPct val="0"/>
              </a:spcBef>
              <a:spcAft>
                <a:spcPct val="0"/>
              </a:spcAft>
            </a:pPr>
            <a:endParaRPr lang="en-US" altLang="zh-CN" sz="2400">
              <a:latin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运行结果</a:t>
            </a:r>
            <a:endParaRPr lang="zh-CN" sz="2600" b="1">
              <a:solidFill>
                <a:schemeClr val="accent1">
                  <a:lumMod val="75000"/>
                </a:schemeClr>
              </a:solidFill>
            </a:endParaRPr>
          </a:p>
        </p:txBody>
      </p:sp>
      <p:sp>
        <p:nvSpPr>
          <p:cNvPr id="3" name="文本框 2"/>
          <p:cNvSpPr txBox="1"/>
          <p:nvPr/>
        </p:nvSpPr>
        <p:spPr>
          <a:xfrm>
            <a:off x="1346835" y="2095500"/>
            <a:ext cx="10271125" cy="1238885"/>
          </a:xfrm>
          <a:prstGeom prst="rect">
            <a:avLst/>
          </a:prstGeom>
          <a:noFill/>
        </p:spPr>
        <p:txBody>
          <a:bodyPr wrap="square" rtlCol="0" anchor="t">
            <a:noAutofit/>
          </a:bodyPr>
          <a:lstStyle/>
          <a:p>
            <a:r>
              <a:rPr sz="2000">
                <a:latin typeface="+mn-ea"/>
                <a:ea typeface="+mn-ea"/>
                <a:cs typeface="+mn-ea"/>
                <a:sym typeface="+mn-ea"/>
              </a:rPr>
              <a:t>文件</a:t>
            </a:r>
            <a:r>
              <a:rPr lang="en-US" sz="2000">
                <a:latin typeface="+mn-ea"/>
                <a:ea typeface="+mn-ea"/>
                <a:cs typeface="+mn-ea"/>
                <a:sym typeface="+mn-ea"/>
              </a:rPr>
              <a:t>9</a:t>
            </a:r>
            <a:r>
              <a:rPr sz="2000">
                <a:latin typeface="+mn-ea"/>
                <a:ea typeface="+mn-ea"/>
                <a:cs typeface="+mn-ea"/>
                <a:sym typeface="+mn-ea"/>
              </a:rPr>
              <a:t>-</a:t>
            </a:r>
            <a:r>
              <a:rPr lang="en-US" sz="2000">
                <a:latin typeface="+mn-ea"/>
                <a:ea typeface="+mn-ea"/>
                <a:cs typeface="+mn-ea"/>
                <a:sym typeface="+mn-ea"/>
              </a:rPr>
              <a:t>2</a:t>
            </a:r>
            <a:r>
              <a:rPr sz="2000">
                <a:latin typeface="+mn-ea"/>
                <a:ea typeface="+mn-ea"/>
                <a:cs typeface="+mn-ea"/>
                <a:sym typeface="+mn-ea"/>
              </a:rPr>
              <a:t>的运行结果如图</a:t>
            </a:r>
            <a:r>
              <a:rPr lang="en-US" sz="2000">
                <a:latin typeface="+mn-ea"/>
                <a:ea typeface="+mn-ea"/>
                <a:cs typeface="+mn-ea"/>
                <a:sym typeface="+mn-ea"/>
              </a:rPr>
              <a:t>9</a:t>
            </a:r>
            <a:r>
              <a:rPr sz="2000">
                <a:latin typeface="+mn-ea"/>
                <a:ea typeface="+mn-ea"/>
                <a:cs typeface="+mn-ea"/>
                <a:sym typeface="+mn-ea"/>
              </a:rPr>
              <a:t>-</a:t>
            </a:r>
            <a:r>
              <a:rPr lang="en-US" sz="2000">
                <a:latin typeface="+mn-ea"/>
                <a:ea typeface="+mn-ea"/>
                <a:cs typeface="+mn-ea"/>
                <a:sym typeface="+mn-ea"/>
              </a:rPr>
              <a:t>4</a:t>
            </a:r>
            <a:r>
              <a:rPr sz="2000">
                <a:latin typeface="+mn-ea"/>
                <a:ea typeface="+mn-ea"/>
                <a:cs typeface="+mn-ea"/>
                <a:sym typeface="+mn-ea"/>
              </a:rPr>
              <a:t>所示:</a:t>
            </a:r>
            <a:endParaRPr sz="2000">
              <a:latin typeface="+mn-ea"/>
              <a:ea typeface="+mn-ea"/>
              <a:cs typeface="+mn-ea"/>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9" name="文本框 8"/>
          <p:cNvSpPr txBox="1"/>
          <p:nvPr/>
        </p:nvSpPr>
        <p:spPr>
          <a:xfrm>
            <a:off x="2930525" y="5085080"/>
            <a:ext cx="5080000" cy="398780"/>
          </a:xfrm>
          <a:prstGeom prst="rect">
            <a:avLst/>
          </a:prstGeom>
        </p:spPr>
        <p:txBody>
          <a:bodyPr>
            <a:spAutoFit/>
          </a:bodyPr>
          <a:p>
            <a:pPr marL="0" indent="0" algn="ctr" defTabSz="266700">
              <a:lnSpc>
                <a:spcPct val="125000"/>
              </a:lnSpc>
              <a:spcBef>
                <a:spcPct val="0"/>
              </a:spcBef>
              <a:spcAft>
                <a:spcPct val="0"/>
              </a:spcAft>
            </a:pPr>
            <a:r>
              <a:rPr lang="zh-CN" altLang="en-US" sz="1600">
                <a:latin typeface="宋体" panose="02010600030101010101" pitchFamily="2" charset="-122"/>
                <a:ea typeface="宋体" panose="02010600030101010101" pitchFamily="2" charset="-122"/>
              </a:rPr>
              <a:t>图</a:t>
            </a:r>
            <a:r>
              <a:rPr lang="en-US" altLang="zh-CN" sz="1600">
                <a:latin typeface="宋体" panose="02010600030101010101" pitchFamily="2" charset="-122"/>
                <a:ea typeface="宋体" panose="02010600030101010101" pitchFamily="2" charset="-122"/>
              </a:rPr>
              <a:t>9-4 </a:t>
            </a:r>
            <a:r>
              <a:rPr lang="zh-CN" altLang="en-US" sz="1600">
                <a:latin typeface="宋体" panose="02010600030101010101" pitchFamily="2" charset="-122"/>
                <a:ea typeface="宋体" panose="02010600030101010101" pitchFamily="2" charset="-122"/>
              </a:rPr>
              <a:t>文件</a:t>
            </a:r>
            <a:r>
              <a:rPr lang="en-US" altLang="zh-CN" sz="1600">
                <a:latin typeface="宋体" panose="02010600030101010101" pitchFamily="2" charset="-122"/>
                <a:ea typeface="宋体" panose="02010600030101010101" pitchFamily="2" charset="-122"/>
              </a:rPr>
              <a:t>9-2</a:t>
            </a:r>
            <a:r>
              <a:rPr lang="zh-CN" altLang="en-US" sz="1600">
                <a:latin typeface="宋体" panose="02010600030101010101" pitchFamily="2" charset="-122"/>
                <a:ea typeface="宋体" panose="02010600030101010101" pitchFamily="2" charset="-122"/>
              </a:rPr>
              <a:t>的运行结果</a:t>
            </a:r>
            <a:endParaRPr lang="zh-CN" altLang="en-US" sz="1600">
              <a:latin typeface="宋体" panose="02010600030101010101" pitchFamily="2" charset="-122"/>
              <a:ea typeface="宋体" panose="02010600030101010101" pitchFamily="2" charset="-122"/>
            </a:endParaRPr>
          </a:p>
        </p:txBody>
      </p:sp>
      <p:pic>
        <p:nvPicPr>
          <p:cNvPr id="143" name="图片 1"/>
          <p:cNvPicPr>
            <a:picLocks noChangeAspect="1"/>
          </p:cNvPicPr>
          <p:nvPr/>
        </p:nvPicPr>
        <p:blipFill>
          <a:blip r:embed="rId3"/>
          <a:srcRect r="10323"/>
          <a:stretch>
            <a:fillRect/>
          </a:stretch>
        </p:blipFill>
        <p:spPr>
          <a:xfrm>
            <a:off x="3218815" y="2780665"/>
            <a:ext cx="5419090" cy="2101850"/>
          </a:xfrm>
          <a:prstGeom prst="rect">
            <a:avLst/>
          </a:prstGeom>
          <a:noFill/>
          <a:ln>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KSO_WM_DIAGRAM_VIRTUALLY_FRAME" val="{&quot;height&quot;:185.62503937007872,&quot;left&quot;:0,&quot;top&quot;:174,&quot;width&quot;:960.6250393700788}"/>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KSO_WM_DIAGRAM_VIRTUALLY_FRAME" val="{&quot;height&quot;:185.62503937007872,&quot;left&quot;:0,&quot;top&quot;:174,&quot;width&quot;:960.6250393700788}"/>
</p:tagLst>
</file>

<file path=ppt/tags/tag23.xml><?xml version="1.0" encoding="utf-8"?>
<p:tagLst xmlns:p="http://schemas.openxmlformats.org/presentationml/2006/main">
  <p:tag name="KSO_WM_DIAGRAM_VIRTUALLY_FRAME" val="{&quot;height&quot;:185.62503937007872,&quot;left&quot;:0,&quot;top&quot;:174,&quot;width&quot;:960.6250393700788}"/>
</p:tagLst>
</file>

<file path=ppt/tags/tag24.xml><?xml version="1.0" encoding="utf-8"?>
<p:tagLst xmlns:p="http://schemas.openxmlformats.org/presentationml/2006/main">
  <p:tag name="KSO_WM_DIAGRAM_VIRTUALLY_FRAME" val="{&quot;height&quot;:185.62503937007872,&quot;left&quot;:0,&quot;top&quot;:174,&quot;width&quot;:960.6250393700788}"/>
</p:tagLst>
</file>

<file path=ppt/tags/tag25.xml><?xml version="1.0" encoding="utf-8"?>
<p:tagLst xmlns:p="http://schemas.openxmlformats.org/presentationml/2006/main">
  <p:tag name="KSO_WM_DIAGRAM_VIRTUALLY_FRAME" val="{&quot;height&quot;:185.62503937007872,&quot;left&quot;:0,&quot;top&quot;:174,&quot;width&quot;:960.6250393700788}"/>
</p:tagLst>
</file>

<file path=ppt/tags/tag26.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1643</Words>
  <Application>WPS 演示</Application>
  <PresentationFormat>自定义</PresentationFormat>
  <Paragraphs>141</Paragraphs>
  <Slides>12</Slides>
  <Notes>11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12</vt:i4>
      </vt:variant>
    </vt:vector>
  </HeadingPairs>
  <TitlesOfParts>
    <vt:vector size="28"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Times New Roman</vt:lpstr>
      <vt:lpstr>Arial Unicode MS</vt:lpstr>
      <vt:lpstr>等线</vt:lpstr>
      <vt:lpstr>黑体</vt:lpstr>
      <vt:lpstr>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535</cp:revision>
  <dcterms:created xsi:type="dcterms:W3CDTF">2015-03-26T06:11:00Z</dcterms:created>
  <dcterms:modified xsi:type="dcterms:W3CDTF">2025-07-12T00:49:11Z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E3AD3053331549A78D410354479B0E34_13</vt:lpwstr>
  </property>
</Properties>
</file>