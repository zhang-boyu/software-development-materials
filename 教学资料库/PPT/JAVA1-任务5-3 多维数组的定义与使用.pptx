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391" r:id="rId4"/>
    <p:sldId id="392" r:id="rId6"/>
    <p:sldId id="393" r:id="rId7"/>
    <p:sldId id="340" r:id="rId8"/>
    <p:sldId id="394" r:id="rId9"/>
    <p:sldId id="395" r:id="rId10"/>
    <p:sldId id="397" r:id="rId11"/>
    <p:sldId id="396" r:id="rId12"/>
    <p:sldId id="398" r:id="rId13"/>
    <p:sldId id="345" r:id="rId14"/>
    <p:sldId id="401" r:id="rId15"/>
    <p:sldId id="347" r:id="rId16"/>
  </p:sldIdLst>
  <p:sldSz cx="12198350" cy="6858000"/>
  <p:notesSz cx="6858000" cy="9144000"/>
  <p:custDataLst>
    <p:tags r:id="rId20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31" userDrawn="1">
          <p15:clr>
            <a:srgbClr val="A4A3A4"/>
          </p15:clr>
        </p15:guide>
        <p15:guide id="2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A5500"/>
    <a:srgbClr val="66FF66"/>
    <a:srgbClr val="66FF33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20" d="100"/>
          <a:sy n="120" d="100"/>
        </p:scale>
        <p:origin x="514" y="67"/>
      </p:cViewPr>
      <p:guideLst>
        <p:guide orient="horz" pos="2231"/>
        <p:guide pos="386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0" Type="http://schemas.openxmlformats.org/officeDocument/2006/relationships/tags" Target="tags/tag26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2052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79413" y="685800"/>
            <a:ext cx="609917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Rot="1" noChangeAspect="1"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第二级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第三级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第四级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5588" y="1122363"/>
            <a:ext cx="9148762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5588" y="3602038"/>
            <a:ext cx="9148762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2195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2195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5375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6096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6096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5375" y="1681163"/>
            <a:ext cx="5186363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5375" y="2505075"/>
            <a:ext cx="5186363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>
              <a:sym typeface="Calibri" panose="020F050202020403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9663" y="365125"/>
            <a:ext cx="2630487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9063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5588" y="1122363"/>
            <a:ext cx="9148762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5588" y="3602038"/>
            <a:ext cx="9148762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2195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2195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5375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6096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6096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5375" y="1681163"/>
            <a:ext cx="5186363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5375" y="2505075"/>
            <a:ext cx="5186363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>
              <a:sym typeface="Calibri" panose="020F050202020403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9663" y="365125"/>
            <a:ext cx="2630487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9063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直接连接符 7"/>
          <p:cNvSpPr>
            <a:spLocks noChangeShapeType="1"/>
          </p:cNvSpPr>
          <p:nvPr/>
        </p:nvSpPr>
        <p:spPr bwMode="auto">
          <a:xfrm>
            <a:off x="6557963" y="6740525"/>
            <a:ext cx="5637212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7" name="直接连接符 8"/>
          <p:cNvSpPr>
            <a:spLocks noChangeShapeType="1"/>
          </p:cNvSpPr>
          <p:nvPr/>
        </p:nvSpPr>
        <p:spPr bwMode="auto">
          <a:xfrm>
            <a:off x="0" y="6740525"/>
            <a:ext cx="5637213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8" name="TextBox 15"/>
          <p:cNvSpPr>
            <a:spLocks noChangeArrowheads="1"/>
          </p:cNvSpPr>
          <p:nvPr/>
        </p:nvSpPr>
        <p:spPr bwMode="auto">
          <a:xfrm>
            <a:off x="5695950" y="6488113"/>
            <a:ext cx="7921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fld id="{929913C5-467F-4262-8E10-4784E1F23762}" type="slidenum"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</a:fld>
            <a:r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 </a:t>
            </a:r>
            <a:endParaRPr lang="zh-CN" altLang="en-US" b="1" smtClean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1029" name="直接连接符 10"/>
          <p:cNvSpPr>
            <a:spLocks noChangeShapeType="1"/>
          </p:cNvSpPr>
          <p:nvPr/>
        </p:nvSpPr>
        <p:spPr bwMode="auto">
          <a:xfrm>
            <a:off x="0" y="333375"/>
            <a:ext cx="12196763" cy="0"/>
          </a:xfrm>
          <a:prstGeom prst="line">
            <a:avLst/>
          </a:prstGeom>
          <a:noFill/>
          <a:ln w="152400">
            <a:solidFill>
              <a:srgbClr val="C8C8C8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30" name="组合 11"/>
          <p:cNvGrpSpPr/>
          <p:nvPr/>
        </p:nvGrpSpPr>
        <p:grpSpPr bwMode="auto">
          <a:xfrm rot="-5400000">
            <a:off x="10190163" y="-101600"/>
            <a:ext cx="1463675" cy="1666875"/>
            <a:chOff x="0" y="0"/>
            <a:chExt cx="2260994" cy="1512168"/>
          </a:xfrm>
        </p:grpSpPr>
        <p:sp>
          <p:nvSpPr>
            <p:cNvPr id="1031" name="燕尾形 12"/>
            <p:cNvSpPr>
              <a:spLocks noChangeArrowheads="1"/>
            </p:cNvSpPr>
            <p:nvPr/>
          </p:nvSpPr>
          <p:spPr bwMode="auto">
            <a:xfrm>
              <a:off x="4905" y="0"/>
              <a:ext cx="674374" cy="1512168"/>
            </a:xfrm>
            <a:prstGeom prst="chevron">
              <a:avLst>
                <a:gd name="adj" fmla="val 34773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2" name="燕尾形 13"/>
            <p:cNvSpPr>
              <a:spLocks noChangeArrowheads="1"/>
            </p:cNvSpPr>
            <p:nvPr/>
          </p:nvSpPr>
          <p:spPr bwMode="auto">
            <a:xfrm>
              <a:off x="201087" y="0"/>
              <a:ext cx="792083" cy="1512168"/>
            </a:xfrm>
            <a:prstGeom prst="chevron">
              <a:avLst>
                <a:gd name="adj" fmla="val 5000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3" name="五边形 14"/>
            <p:cNvSpPr>
              <a:spLocks noChangeArrowheads="1"/>
            </p:cNvSpPr>
            <p:nvPr/>
          </p:nvSpPr>
          <p:spPr bwMode="auto">
            <a:xfrm>
              <a:off x="340866" y="0"/>
              <a:ext cx="1925034" cy="1512168"/>
            </a:xfrm>
            <a:prstGeom prst="homePlate">
              <a:avLst>
                <a:gd name="adj" fmla="val 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5pPr>
      <a:lvl6pPr marL="13716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6pPr>
      <a:lvl7pPr marL="18288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7pPr>
      <a:lvl8pPr marL="22860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8pPr>
      <a:lvl9pPr marL="27432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直接连接符 7"/>
          <p:cNvSpPr>
            <a:spLocks noChangeShapeType="1"/>
          </p:cNvSpPr>
          <p:nvPr/>
        </p:nvSpPr>
        <p:spPr bwMode="auto">
          <a:xfrm>
            <a:off x="6557963" y="6740525"/>
            <a:ext cx="5637212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800"/>
          </a:p>
        </p:txBody>
      </p:sp>
      <p:sp>
        <p:nvSpPr>
          <p:cNvPr id="1027" name="直接连接符 8"/>
          <p:cNvSpPr>
            <a:spLocks noChangeShapeType="1"/>
          </p:cNvSpPr>
          <p:nvPr/>
        </p:nvSpPr>
        <p:spPr bwMode="auto">
          <a:xfrm>
            <a:off x="0" y="6740525"/>
            <a:ext cx="5637213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800"/>
          </a:p>
        </p:txBody>
      </p:sp>
      <p:sp>
        <p:nvSpPr>
          <p:cNvPr id="1028" name="TextBox 15"/>
          <p:cNvSpPr>
            <a:spLocks noChangeArrowheads="1"/>
          </p:cNvSpPr>
          <p:nvPr/>
        </p:nvSpPr>
        <p:spPr bwMode="auto">
          <a:xfrm>
            <a:off x="5695950" y="6488113"/>
            <a:ext cx="7921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fld id="{929913C5-467F-4262-8E10-4784E1F23762}" type="slidenum">
              <a:rPr lang="zh-CN" altLang="en-US" sz="18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</a:fld>
            <a:r>
              <a:rPr lang="zh-CN" altLang="en-US" sz="18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 </a:t>
            </a:r>
            <a:endParaRPr lang="zh-CN" altLang="en-US" sz="1800" b="1" smtClean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1029" name="直接连接符 10"/>
          <p:cNvSpPr>
            <a:spLocks noChangeShapeType="1"/>
          </p:cNvSpPr>
          <p:nvPr/>
        </p:nvSpPr>
        <p:spPr bwMode="auto">
          <a:xfrm>
            <a:off x="0" y="333375"/>
            <a:ext cx="12196763" cy="0"/>
          </a:xfrm>
          <a:prstGeom prst="line">
            <a:avLst/>
          </a:prstGeom>
          <a:noFill/>
          <a:ln w="152400">
            <a:solidFill>
              <a:srgbClr val="C8C8C8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800"/>
          </a:p>
        </p:txBody>
      </p:sp>
      <p:grpSp>
        <p:nvGrpSpPr>
          <p:cNvPr id="1030" name="组合 11"/>
          <p:cNvGrpSpPr/>
          <p:nvPr/>
        </p:nvGrpSpPr>
        <p:grpSpPr bwMode="auto">
          <a:xfrm rot="-5400000">
            <a:off x="10190163" y="-101600"/>
            <a:ext cx="1463675" cy="1666875"/>
            <a:chOff x="0" y="0"/>
            <a:chExt cx="2260994" cy="1512168"/>
          </a:xfrm>
        </p:grpSpPr>
        <p:sp>
          <p:nvSpPr>
            <p:cNvPr id="1031" name="燕尾形 12"/>
            <p:cNvSpPr>
              <a:spLocks noChangeArrowheads="1"/>
            </p:cNvSpPr>
            <p:nvPr/>
          </p:nvSpPr>
          <p:spPr bwMode="auto">
            <a:xfrm>
              <a:off x="4905" y="0"/>
              <a:ext cx="674374" cy="1512168"/>
            </a:xfrm>
            <a:prstGeom prst="chevron">
              <a:avLst>
                <a:gd name="adj" fmla="val 34773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z="1800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2" name="燕尾形 13"/>
            <p:cNvSpPr>
              <a:spLocks noChangeArrowheads="1"/>
            </p:cNvSpPr>
            <p:nvPr/>
          </p:nvSpPr>
          <p:spPr bwMode="auto">
            <a:xfrm>
              <a:off x="201087" y="0"/>
              <a:ext cx="792083" cy="1512168"/>
            </a:xfrm>
            <a:prstGeom prst="chevron">
              <a:avLst>
                <a:gd name="adj" fmla="val 5000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z="1800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3" name="五边形 14"/>
            <p:cNvSpPr>
              <a:spLocks noChangeArrowheads="1"/>
            </p:cNvSpPr>
            <p:nvPr/>
          </p:nvSpPr>
          <p:spPr bwMode="auto">
            <a:xfrm>
              <a:off x="340866" y="0"/>
              <a:ext cx="1925034" cy="1512168"/>
            </a:xfrm>
            <a:prstGeom prst="homePlate">
              <a:avLst>
                <a:gd name="adj" fmla="val 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z="1800" smtClean="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5pPr>
      <a:lvl6pPr marL="13716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6pPr>
      <a:lvl7pPr marL="18288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7pPr>
      <a:lvl8pPr marL="22860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8pPr>
      <a:lvl9pPr marL="27432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5" Type="http://schemas.openxmlformats.org/officeDocument/2006/relationships/notesSlide" Target="../notesSlides/notesSlide2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9.xml"/><Relationship Id="rId1" Type="http://schemas.openxmlformats.org/officeDocument/2006/relationships/tags" Target="../tags/tag18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1.xml"/><Relationship Id="rId1" Type="http://schemas.openxmlformats.org/officeDocument/2006/relationships/tags" Target="../tags/tag20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4.png"/><Relationship Id="rId2" Type="http://schemas.openxmlformats.org/officeDocument/2006/relationships/tags" Target="../tags/tag25.xml"/><Relationship Id="rId1" Type="http://schemas.openxmlformats.org/officeDocument/2006/relationships/tags" Target="../tags/tag24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矩形 1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3075" name="Picture 3" descr="F:\品牌VI\无锡职院\资源库LOGO\2uqt7gw81r.jpg2uqt7gw81r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9225" y="328613"/>
            <a:ext cx="8331200" cy="6027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 descr="0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4367213"/>
            <a:ext cx="12196762" cy="2506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TextBox 7"/>
          <p:cNvSpPr>
            <a:spLocks noChangeArrowheads="1"/>
          </p:cNvSpPr>
          <p:nvPr/>
        </p:nvSpPr>
        <p:spPr bwMode="auto">
          <a:xfrm>
            <a:off x="409575" y="376238"/>
            <a:ext cx="2665413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60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无锡职业技术学院内部资料</a:t>
            </a:r>
            <a:endParaRPr lang="zh-CN" altLang="en-US" sz="160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3078" name="TextBox 15"/>
          <p:cNvSpPr>
            <a:spLocks noChangeArrowheads="1"/>
          </p:cNvSpPr>
          <p:nvPr/>
        </p:nvSpPr>
        <p:spPr bwMode="auto">
          <a:xfrm>
            <a:off x="5045075" y="1403350"/>
            <a:ext cx="662432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en-US" altLang="zh-CN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JAVA</a:t>
            </a:r>
            <a:r>
              <a:rPr lang="zh-CN" altLang="en-US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程序设计项目教程</a:t>
            </a:r>
            <a:endParaRPr lang="zh-CN" altLang="en-US" sz="4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经典繁仿黑" pitchFamily="1" charset="-122"/>
            </a:endParaRPr>
          </a:p>
        </p:txBody>
      </p:sp>
    </p:spTree>
  </p:cSld>
  <p:clrMapOvr>
    <a:masterClrMapping/>
  </p:clrMapOvr>
  <p:transition spd="slow">
    <p:cover dir="l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2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3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06" name="任意多边形 10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 flipV="1">
            <a:off x="0" y="2590800"/>
            <a:ext cx="12199938" cy="1630363"/>
          </a:xfrm>
          <a:custGeom>
            <a:avLst/>
            <a:gdLst>
              <a:gd name="T0" fmla="*/ 0 w 10521680"/>
              <a:gd name="T1" fmla="*/ 0 h 1828800"/>
              <a:gd name="T2" fmla="*/ 7670639 w 10521680"/>
              <a:gd name="T3" fmla="*/ 0 h 1828800"/>
              <a:gd name="T4" fmla="*/ 8437771 w 10521680"/>
              <a:gd name="T5" fmla="*/ 1295748 h 1828800"/>
              <a:gd name="T6" fmla="*/ 16402222 w 10521680"/>
              <a:gd name="T7" fmla="*/ 1295748 h 1828800"/>
              <a:gd name="T8" fmla="*/ 0 60000 65536"/>
              <a:gd name="T9" fmla="*/ 0 60000 65536"/>
              <a:gd name="T10" fmla="*/ 0 60000 65536"/>
              <a:gd name="T11" fmla="*/ 0 60000 65536"/>
              <a:gd name="T12" fmla="*/ 0 w 10521680"/>
              <a:gd name="T13" fmla="*/ 0 h 1828800"/>
              <a:gd name="T14" fmla="*/ 10521680 w 10521680"/>
              <a:gd name="T15" fmla="*/ 1828800 h 18288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521680" h="1828800">
                <a:moveTo>
                  <a:pt x="0" y="0"/>
                </a:moveTo>
                <a:lnTo>
                  <a:pt x="4920553" y="0"/>
                </a:lnTo>
                <a:lnTo>
                  <a:pt x="5412652" y="1828800"/>
                </a:lnTo>
                <a:lnTo>
                  <a:pt x="10521680" y="1828800"/>
                </a:lnTo>
              </a:path>
            </a:pathLst>
          </a:custGeom>
          <a:noFill/>
          <a:ln w="57150" cap="flat" cmpd="sng">
            <a:solidFill>
              <a:srgbClr val="3B79CE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grpSp>
        <p:nvGrpSpPr>
          <p:cNvPr id="4107" name="组合 11"/>
          <p:cNvGrpSpPr/>
          <p:nvPr>
            <p:custDataLst>
              <p:tags r:id="rId2"/>
            </p:custDataLst>
          </p:nvPr>
        </p:nvGrpSpPr>
        <p:grpSpPr bwMode="auto">
          <a:xfrm>
            <a:off x="1085850" y="3875088"/>
            <a:ext cx="692150" cy="692150"/>
            <a:chOff x="0" y="0"/>
            <a:chExt cx="692150" cy="69215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08" name="TextBox 8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08940" y="3162300"/>
            <a:ext cx="212852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24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</p:txBody>
      </p:sp>
      <p:sp>
        <p:nvSpPr>
          <p:cNvPr id="4109" name="TextBox 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406015" y="3162300"/>
            <a:ext cx="290703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10" name="TextBox 16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8114983" y="2997200"/>
            <a:ext cx="21732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任务实现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4112" name="组合 18"/>
          <p:cNvGrpSpPr/>
          <p:nvPr>
            <p:custDataLst>
              <p:tags r:id="rId8"/>
            </p:custDataLst>
          </p:nvPr>
        </p:nvGrpSpPr>
        <p:grpSpPr bwMode="auto">
          <a:xfrm>
            <a:off x="3452813" y="3875088"/>
            <a:ext cx="692150" cy="692150"/>
            <a:chOff x="0" y="0"/>
            <a:chExt cx="692150" cy="692150"/>
          </a:xfrm>
        </p:grpSpPr>
        <p:sp>
          <p:nvSpPr>
            <p:cNvPr id="4120" name="椭圆 19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1" name="椭圆 20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grpSp>
        <p:nvGrpSpPr>
          <p:cNvPr id="4113" name="组合 21"/>
          <p:cNvGrpSpPr/>
          <p:nvPr>
            <p:custDataLst>
              <p:tags r:id="rId11"/>
            </p:custDataLst>
          </p:nvPr>
        </p:nvGrpSpPr>
        <p:grpSpPr bwMode="auto">
          <a:xfrm>
            <a:off x="9190673" y="2204720"/>
            <a:ext cx="692150" cy="692150"/>
            <a:chOff x="1499235" y="-40005"/>
            <a:chExt cx="692150" cy="692150"/>
          </a:xfrm>
        </p:grpSpPr>
        <p:sp>
          <p:nvSpPr>
            <p:cNvPr id="4118" name="椭圆 22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499235" y="-40005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19" name="椭圆 23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575435" y="32385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15" name="Text Box 2"/>
          <p:cNvSpPr>
            <a:spLocks noChangeArrowheads="1"/>
          </p:cNvSpPr>
          <p:nvPr/>
        </p:nvSpPr>
        <p:spPr bwMode="auto">
          <a:xfrm>
            <a:off x="5378450" y="3070225"/>
            <a:ext cx="1296988" cy="647700"/>
          </a:xfrm>
          <a:prstGeom prst="rect">
            <a:avLst/>
          </a:prstGeom>
          <a:solidFill>
            <a:srgbClr val="3B79C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目录</a:t>
            </a:r>
            <a:endParaRPr lang="zh-CN" altLang="zh-CN"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模块一  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594985" y="3500755"/>
            <a:ext cx="5594350" cy="92202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子任务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：创建一个三维数组，使用程序随机产生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10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以内的数字为元素赋值。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523230" y="4436745"/>
            <a:ext cx="5594350" cy="92202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子任务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2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：根据子任务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中创建的数组，使用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for 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语句遍历数组中的元素的值。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5" name="矩形 2"/>
          <p:cNvSpPr>
            <a:spLocks noChangeArrowheads="1"/>
          </p:cNvSpPr>
          <p:nvPr/>
        </p:nvSpPr>
        <p:spPr bwMode="auto">
          <a:xfrm>
            <a:off x="6605588" y="3605213"/>
            <a:ext cx="35988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三维数组</a:t>
            </a:r>
            <a:endParaRPr lang="zh-CN" altLang="en-US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136" name="矩形 3"/>
          <p:cNvSpPr>
            <a:spLocks noChangeArrowheads="1"/>
          </p:cNvSpPr>
          <p:nvPr/>
        </p:nvSpPr>
        <p:spPr bwMode="auto">
          <a:xfrm>
            <a:off x="6605588" y="4037013"/>
            <a:ext cx="35988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注意事项</a:t>
            </a:r>
            <a:endParaRPr lang="zh-CN" altLang="en-US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模块二  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知识链接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5" dur="1000"/>
                                        <p:tgtEl>
                                          <p:spTgt spid="5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2" presetClass="entr" presetSubtype="0" fill="hold" grpId="0" nodeType="withEffect">
                                  <p:stCondLst>
                                    <p:cond delay="20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20" dur="1000"/>
                                        <p:tgtEl>
                                          <p:spTgt spid="5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5" grpId="0" bldLvl="0" autoUpdateAnimBg="0"/>
      <p:bldP spid="5136" grpId="0" bldLvl="0" autoUpdateAnimBg="0"/>
      <p:bldP spid="5137" grpId="0" bldLvl="0" autoUpdateAnimBg="0"/>
      <p:bldP spid="5137" grpId="1" bldLvl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702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三维数组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46835" y="2420620"/>
            <a:ext cx="9742805" cy="2437765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三维数组是一种数据结构，它允许存储三维空间的数据。三维数组可以看作二维数组的数组，即每个元素是一个二维数组。下面是对三维数组的声明、初始化及访问的介绍。</a:t>
            </a:r>
            <a:endParaRPr lang="zh-CN" altLang="en-US"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702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三维数组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1800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 sz="1800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 sz="1800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sz="1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sz="1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sz="1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46835" y="2420620"/>
            <a:ext cx="9742805" cy="2437765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．声明三维数组</a:t>
            </a:r>
            <a:endParaRPr lang="zh-CN" altLang="en-US" sz="2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   int[][][] array3D; </a:t>
            </a:r>
            <a:endParaRPr lang="en-US" altLang="zh-CN" sz="2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．初始化三维数组</a:t>
            </a:r>
            <a:endParaRPr lang="zh-CN" altLang="en-US" sz="2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//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创建一个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2</a:t>
            </a:r>
            <a:r>
              <a:rPr lang="en-US" altLang="en-US" sz="20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×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3</a:t>
            </a:r>
            <a:r>
              <a:rPr lang="en-US" altLang="en-US" sz="20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×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4 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的三维数组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也可采用静态初始化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altLang="zh-CN" sz="2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702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三维数组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1800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 sz="1800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 sz="1800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sz="1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sz="1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sz="1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46835" y="2277110"/>
            <a:ext cx="9742805" cy="2437765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</a:pPr>
            <a:r>
              <a:rPr lang="en-US" altLang="zh-CN" sz="16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int[][][] array3D = new int[2][3][4]; int[][][] array3D = { </a:t>
            </a:r>
            <a:endParaRPr lang="en-US" altLang="zh-CN" sz="16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</a:pPr>
            <a:r>
              <a:rPr lang="en-US" altLang="zh-CN" sz="16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{ </a:t>
            </a:r>
            <a:endParaRPr lang="en-US" altLang="zh-CN" sz="16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</a:pPr>
            <a:r>
              <a:rPr lang="en-US" altLang="zh-CN" sz="16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{1, 2, 3, 4}, </a:t>
            </a:r>
            <a:endParaRPr lang="en-US" altLang="zh-CN" sz="16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</a:pPr>
            <a:r>
              <a:rPr lang="en-US" altLang="zh-CN" sz="16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{5, 6, 7, 8}, </a:t>
            </a:r>
            <a:endParaRPr lang="en-US" altLang="zh-CN" sz="16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</a:pPr>
            <a:r>
              <a:rPr lang="en-US" altLang="zh-CN" sz="16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{9, 10, 11, 12} </a:t>
            </a:r>
            <a:endParaRPr lang="en-US" altLang="zh-CN" sz="16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</a:pPr>
            <a:r>
              <a:rPr lang="en-US" altLang="zh-CN" sz="16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}, </a:t>
            </a:r>
            <a:endParaRPr lang="en-US" altLang="zh-CN" sz="16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</a:pPr>
            <a:r>
              <a:rPr lang="en-US" altLang="zh-CN" sz="16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{ </a:t>
            </a:r>
            <a:endParaRPr lang="en-US" altLang="zh-CN" sz="16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</a:pPr>
            <a:r>
              <a:rPr lang="en-US" altLang="zh-CN" sz="16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{13, 14, 15, 16}, </a:t>
            </a:r>
            <a:endParaRPr lang="en-US" altLang="zh-CN" sz="16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</a:pPr>
            <a:r>
              <a:rPr lang="en-US" altLang="zh-CN" sz="16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{17, 18, 19, 20}, </a:t>
            </a:r>
            <a:endParaRPr lang="en-US" altLang="zh-CN" sz="16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</a:pPr>
            <a:r>
              <a:rPr lang="en-US" altLang="zh-CN" sz="16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{21, 22, 23, 24} </a:t>
            </a:r>
            <a:endParaRPr lang="en-US" altLang="zh-CN" sz="16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</a:pPr>
            <a:r>
              <a:rPr lang="en-US" altLang="zh-CN" sz="16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} </a:t>
            </a:r>
            <a:endParaRPr lang="en-US" altLang="zh-CN" sz="16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</a:pPr>
            <a:r>
              <a:rPr lang="en-US" altLang="zh-CN" sz="16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}; </a:t>
            </a:r>
            <a:endParaRPr lang="en-US" altLang="zh-CN" sz="16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6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702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三维数组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1800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 sz="1800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 sz="1800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sz="1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sz="1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sz="1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46835" y="2420620"/>
            <a:ext cx="9742805" cy="2437765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</a:pP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3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．访问三维数组元素</a:t>
            </a:r>
            <a:endParaRPr lang="zh-CN" altLang="en-US" sz="2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</a:pP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int element = array3D[0][1][2]; // 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访问第一个二维数组的第二行第三列的元素</a:t>
            </a:r>
            <a:endParaRPr lang="zh-CN" altLang="en-US" sz="2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702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注意事项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1800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 sz="1800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 sz="1800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sz="1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sz="1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sz="1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46835" y="2420620"/>
            <a:ext cx="9742805" cy="2437765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</a:pP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多维数组的维度是固定的，一旦创建，其维度（即数组的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形状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）就不能改变。可以通过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 length 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属性获取数组的长度，但对于多维数组，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length 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属性只返回最外层数组的长度。</a:t>
            </a:r>
            <a:endParaRPr lang="zh-CN" altLang="en-US" sz="2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</a:pP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要获取内层数组的长度，需要遍历到相应层。</a:t>
            </a:r>
            <a:endParaRPr lang="zh-CN" altLang="en-US" sz="2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</a:pP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使用多维数组时，务必注意数组的索引不要越界，否则将抛出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 ArrayIndexOutOfBoundsException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en-US" sz="2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11750" cy="5499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模块三  任务实现</a:t>
            </a:r>
            <a:endParaRPr lang="zh-CN" altLang="en-US" sz="36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594985" y="3500755"/>
            <a:ext cx="5594350" cy="92202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子任务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：创建一个三维数组，使用程序随机产生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10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以内的数字为元素赋值。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523230" y="4436745"/>
            <a:ext cx="5594350" cy="92202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子任务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2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：根据子任务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中创建的数组，使用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for 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语句遍历数组中的元素的值。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/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sz="1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sz="1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sz="1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使用案例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专业字体设计服务/WWW.ZTSGC.COM/" charset="-122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913130" y="1269365"/>
          <a:ext cx="5913120" cy="47072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13120"/>
              </a:tblGrid>
              <a:tr h="47072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rgbClr val="7030A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public class</a:t>
                      </a: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</a:t>
                      </a:r>
                      <a:r>
                        <a:rPr lang="zh-CN" altLang="en-US" sz="110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Example08 </a:t>
                      </a: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{</a:t>
                      </a:r>
                      <a:endParaRPr lang="zh-CN" altLang="en-US" sz="1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</a:t>
                      </a:r>
                      <a:r>
                        <a:rPr lang="zh-CN" altLang="en-US" sz="1100">
                          <a:solidFill>
                            <a:srgbClr val="7030A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public static</a:t>
                      </a: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</a:t>
                      </a:r>
                      <a:r>
                        <a:rPr lang="zh-CN" altLang="en-US" sz="110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void </a:t>
                      </a: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main(</a:t>
                      </a:r>
                      <a:r>
                        <a:rPr lang="zh-CN" altLang="en-US" sz="110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String</a:t>
                      </a: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[] args) {</a:t>
                      </a:r>
                      <a:endParaRPr lang="zh-CN" altLang="en-US" sz="1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</a:t>
                      </a:r>
                      <a:r>
                        <a:rPr lang="zh-CN" altLang="en-US" sz="110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int</a:t>
                      </a: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[][][] arr = </a:t>
                      </a:r>
                      <a:r>
                        <a:rPr lang="zh-CN" altLang="en-US" sz="1100">
                          <a:solidFill>
                            <a:srgbClr val="7030A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new </a:t>
                      </a:r>
                      <a:r>
                        <a:rPr lang="zh-CN" altLang="en-US" sz="110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int</a:t>
                      </a: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[2][2][2]; </a:t>
                      </a:r>
                      <a:r>
                        <a:rPr lang="en-US" altLang="zh-CN" sz="1100">
                          <a:solidFill>
                            <a:srgbClr val="AA55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// 创建一个 2x2x2 的三维数组</a:t>
                      </a:r>
                      <a:endParaRPr lang="en-US" altLang="zh-CN" sz="1100">
                        <a:solidFill>
                          <a:srgbClr val="AA55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</a:t>
                      </a:r>
                      <a:r>
                        <a:rPr lang="en-US" altLang="zh-CN" sz="1100">
                          <a:solidFill>
                            <a:srgbClr val="AA55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// 外层循环遍历三维数组的第一维</a:t>
                      </a:r>
                      <a:endParaRPr lang="zh-CN" altLang="en-US" sz="1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</a:t>
                      </a:r>
                      <a:r>
                        <a:rPr lang="zh-CN" altLang="en-US" sz="1100">
                          <a:solidFill>
                            <a:srgbClr val="7030A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for </a:t>
                      </a: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10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int </a:t>
                      </a: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 = 0; i &lt; arr.length; i++) {</a:t>
                      </a:r>
                      <a:endParaRPr lang="zh-CN" altLang="en-US" sz="1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    </a:t>
                      </a:r>
                      <a:r>
                        <a:rPr lang="en-US" altLang="zh-CN" sz="1100">
                          <a:solidFill>
                            <a:srgbClr val="AA55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// 中层循环遍历每个二维数组的第二维</a:t>
                      </a:r>
                      <a:endParaRPr lang="zh-CN" altLang="en-US" sz="1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    </a:t>
                      </a:r>
                      <a:r>
                        <a:rPr lang="zh-CN" altLang="en-US" sz="1100">
                          <a:solidFill>
                            <a:srgbClr val="7030A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for </a:t>
                      </a: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10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int </a:t>
                      </a: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j = 0; j &lt; arr[i].length; j++) {</a:t>
                      </a:r>
                      <a:endParaRPr lang="zh-CN" altLang="en-US" sz="1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        </a:t>
                      </a:r>
                      <a:r>
                        <a:rPr lang="en-US" altLang="zh-CN" sz="1100">
                          <a:solidFill>
                            <a:srgbClr val="AA55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// 内层循环遍历每个一维数组的第三维</a:t>
                      </a:r>
                      <a:endParaRPr lang="en-US" altLang="zh-CN" sz="1100">
                        <a:solidFill>
                          <a:srgbClr val="AA55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        </a:t>
                      </a:r>
                      <a:r>
                        <a:rPr lang="zh-CN" altLang="en-US" sz="1100">
                          <a:solidFill>
                            <a:srgbClr val="7030A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for </a:t>
                      </a: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10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int </a:t>
                      </a: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z = 0; z &lt; arr[i][j].length; z++) {</a:t>
                      </a:r>
                      <a:endParaRPr lang="zh-CN" altLang="en-US" sz="1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en-US" altLang="zh-CN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            </a:t>
                      </a:r>
                      <a:r>
                        <a:rPr lang="en-US" altLang="zh-CN" sz="1100">
                          <a:solidFill>
                            <a:srgbClr val="AA55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// 随机生成 0-9 的整数并赋值给三维数组的当前元素</a:t>
                      </a:r>
                      <a:endParaRPr lang="zh-CN" altLang="en-US" sz="1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            arr[i][j][z] = (</a:t>
                      </a:r>
                      <a:r>
                        <a:rPr lang="zh-CN" altLang="en-US" sz="110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int</a:t>
                      </a: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)(Math.random() * 10); </a:t>
                      </a:r>
                      <a:endParaRPr lang="zh-CN" altLang="en-US" sz="1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        }</a:t>
                      </a:r>
                      <a:endParaRPr lang="zh-CN" altLang="en-US" sz="1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    }</a:t>
                      </a:r>
                      <a:endParaRPr lang="zh-CN" altLang="en-US" sz="1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}</a:t>
                      </a:r>
                      <a:endParaRPr lang="zh-CN" altLang="en-US" sz="1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en-US" altLang="zh-CN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</a:t>
                      </a:r>
                      <a:r>
                        <a:rPr lang="en-US" altLang="zh-CN" sz="1100">
                          <a:solidFill>
                            <a:srgbClr val="AA55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/</a:t>
                      </a:r>
                      <a:r>
                        <a:rPr lang="en-US" altLang="zh-CN" sz="1100">
                          <a:solidFill>
                            <a:srgbClr val="AA55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 输出提示信息</a:t>
                      </a:r>
                      <a:endParaRPr lang="zh-CN" altLang="en-US" sz="1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System.out.println("由程序生成的三维数组如下：");</a:t>
                      </a:r>
                      <a:endParaRPr lang="zh-CN" altLang="en-US" sz="1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</a:t>
                      </a:r>
                      <a:r>
                        <a:rPr lang="en-US" altLang="zh-CN" sz="1100">
                          <a:solidFill>
                            <a:srgbClr val="AA55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// 再次遍历三维数组以输出每个元素</a:t>
                      </a:r>
                      <a:endParaRPr lang="en-US" altLang="zh-CN" sz="1100">
                        <a:solidFill>
                          <a:srgbClr val="AA55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</a:t>
                      </a:r>
                      <a:r>
                        <a:rPr lang="zh-CN" altLang="en-US" sz="1100">
                          <a:solidFill>
                            <a:srgbClr val="7030A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for</a:t>
                      </a: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(</a:t>
                      </a:r>
                      <a:r>
                        <a:rPr lang="zh-CN" altLang="en-US" sz="110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int </a:t>
                      </a: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 = 0; i &lt; arr.length; i++) {</a:t>
                      </a:r>
                      <a:endParaRPr lang="zh-CN" altLang="en-US" sz="1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   </a:t>
                      </a:r>
                      <a:r>
                        <a:rPr lang="zh-CN" altLang="en-US" sz="1100">
                          <a:solidFill>
                            <a:srgbClr val="7030A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for</a:t>
                      </a: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(</a:t>
                      </a:r>
                      <a:r>
                        <a:rPr lang="zh-CN" altLang="en-US" sz="110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int </a:t>
                      </a: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j = 0; j &lt; arr[i].length; j++) {</a:t>
                      </a:r>
                      <a:endParaRPr lang="zh-CN" altLang="en-US" sz="1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        </a:t>
                      </a:r>
                      <a:r>
                        <a:rPr lang="zh-CN" altLang="en-US" sz="1100">
                          <a:solidFill>
                            <a:srgbClr val="7030A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for</a:t>
                      </a: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(</a:t>
                      </a:r>
                      <a:r>
                        <a:rPr lang="zh-CN" altLang="en-US" sz="110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int </a:t>
                      </a: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z = 0; z &lt; arr[i][j].length; z++) {</a:t>
                      </a:r>
                      <a:endParaRPr lang="zh-CN" altLang="en-US" sz="1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en-US" altLang="zh-CN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            </a:t>
                      </a:r>
                      <a:r>
                        <a:rPr lang="en-US" altLang="zh-CN" sz="1100">
                          <a:solidFill>
                            <a:srgbClr val="AA55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// 输出三维数组的每个元素及其索引</a:t>
                      </a:r>
                      <a:endParaRPr lang="zh-CN" altLang="en-US" sz="1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            System.out.println("arr[" + i + "][" + j + "][" + z + "]=" + arr[i][j][z]); </a:t>
                      </a:r>
                      <a:endParaRPr lang="zh-CN" altLang="en-US" sz="1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        }</a:t>
                      </a:r>
                      <a:endParaRPr lang="zh-CN" altLang="en-US" sz="1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    }</a:t>
                      </a:r>
                      <a:endParaRPr lang="zh-CN" altLang="en-US" sz="1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}</a:t>
                      </a:r>
                      <a:endParaRPr lang="zh-CN" altLang="en-US" sz="1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}</a:t>
                      </a:r>
                      <a:endParaRPr lang="zh-CN" altLang="en-US" sz="1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}</a:t>
                      </a:r>
                      <a:endParaRPr lang="zh-CN" altLang="en-US" sz="1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dash"/>
                    </a:lnL>
                    <a:lnR w="12700">
                      <a:solidFill>
                        <a:schemeClr val="tx1"/>
                      </a:solidFill>
                      <a:prstDash val="dash"/>
                    </a:lnR>
                    <a:lnT w="12700">
                      <a:solidFill>
                        <a:schemeClr val="tx1"/>
                      </a:solidFill>
                      <a:prstDash val="dash"/>
                    </a:lnT>
                    <a:lnB w="12700">
                      <a:solidFill>
                        <a:schemeClr val="tx1"/>
                      </a:solidFill>
                      <a:prstDash val="dash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cxnSp>
        <p:nvCxnSpPr>
          <p:cNvPr id="6" name="直接箭头连接符 5"/>
          <p:cNvCxnSpPr/>
          <p:nvPr/>
        </p:nvCxnSpPr>
        <p:spPr>
          <a:xfrm>
            <a:off x="6745605" y="4941570"/>
            <a:ext cx="1368425" cy="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headEnd type="none" w="med" len="med"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>
            <p:custDataLst>
              <p:tags r:id="rId2"/>
            </p:custDataLst>
          </p:nvPr>
        </p:nvSpPr>
        <p:spPr>
          <a:xfrm>
            <a:off x="8185785" y="2637155"/>
            <a:ext cx="2299335" cy="4914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</a:rPr>
              <a:t>运行结果显示</a:t>
            </a:r>
            <a:endParaRPr lang="zh-CN" altLang="en-US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67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5468" y="3356928"/>
            <a:ext cx="2657475" cy="22383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矩形 1"/>
          <p:cNvSpPr>
            <a:spLocks noChangeArrowheads="1"/>
          </p:cNvSpPr>
          <p:nvPr/>
        </p:nvSpPr>
        <p:spPr bwMode="auto">
          <a:xfrm>
            <a:off x="0" y="0"/>
            <a:ext cx="1219835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7171" name="Picture 4" descr="0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05038"/>
            <a:ext cx="12198350" cy="229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8" descr="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7938" y="4797425"/>
            <a:ext cx="1679575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3" name="文本框 1"/>
          <p:cNvSpPr txBox="1">
            <a:spLocks noChangeArrowheads="1"/>
          </p:cNvSpPr>
          <p:nvPr/>
        </p:nvSpPr>
        <p:spPr bwMode="auto">
          <a:xfrm>
            <a:off x="4732338" y="3016250"/>
            <a:ext cx="223678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感谢关注</a:t>
            </a:r>
            <a:endParaRPr lang="zh-CN" altLang="en-US" sz="4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</p:sld>
</file>

<file path=ppt/tags/tag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4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5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6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7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8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9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0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1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8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2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3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4.xml><?xml version="1.0" encoding="utf-8"?>
<p:tagLst xmlns:p="http://schemas.openxmlformats.org/presentationml/2006/main">
  <p:tag name="TABLE_ENDDRAG_ORIGIN_RECT" val="465*444"/>
  <p:tag name="TABLE_ENDDRAG_RECT" val="38*57*465*444"/>
</p:tagLst>
</file>

<file path=ppt/tags/tag25.xml><?xml version="1.0" encoding="utf-8"?>
<p:tagLst xmlns:p="http://schemas.openxmlformats.org/presentationml/2006/main">
  <p:tag name="KSO_WM_DIAGRAM_VIRTUALLY_FRAME" val="{&quot;height&quot;:324.1,&quot;left&quot;:45.2,&quot;top&quot;:105.55,&quot;width&quot;:828.75}"/>
</p:tagLst>
</file>

<file path=ppt/tags/tag26.xml><?xml version="1.0" encoding="utf-8"?>
<p:tagLst xmlns:p="http://schemas.openxmlformats.org/presentationml/2006/main">
  <p:tag name="COMMONDATA" val="eyJoZGlkIjoiZjNjMmJiYWQ1NjYxMzU5Y2Q4YWViZjliZTZhYjA5ODEifQ=="/>
</p:tagLst>
</file>

<file path=ppt/theme/theme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1904</Words>
  <Application>WPS 演示</Application>
  <PresentationFormat>自定义</PresentationFormat>
  <Paragraphs>152</Paragraphs>
  <Slides>12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34" baseType="lpstr">
      <vt:lpstr>Arial</vt:lpstr>
      <vt:lpstr>宋体</vt:lpstr>
      <vt:lpstr>Wingdings</vt:lpstr>
      <vt:lpstr>Arial Unicode MS</vt:lpstr>
      <vt:lpstr>Calibri</vt:lpstr>
      <vt:lpstr>微软雅黑</vt:lpstr>
      <vt:lpstr>经典繁仿黑</vt:lpstr>
      <vt:lpstr>Impact</vt:lpstr>
      <vt:lpstr>专业字体设计服务/WWW.ZTSGC.COM/</vt:lpstr>
      <vt:lpstr>华康俪金黑W8(P)</vt:lpstr>
      <vt:lpstr>黑体</vt:lpstr>
      <vt:lpstr>Arial Unicode MS</vt:lpstr>
      <vt:lpstr>等线</vt:lpstr>
      <vt:lpstr>专业字体设计服务/WWW.ZTSGC.COM/</vt:lpstr>
      <vt:lpstr>华康俪金黑W8(P)</vt:lpstr>
      <vt:lpstr>经典繁仿黑</vt:lpstr>
      <vt:lpstr>Wonder Arial</vt:lpstr>
      <vt:lpstr>汉仪中黑繁</vt:lpstr>
      <vt:lpstr>Metrolite 2 Com Roman</vt:lpstr>
      <vt:lpstr>华康俪金黑W8</vt:lpstr>
      <vt:lpstr>Office 主题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丝雨</cp:lastModifiedBy>
  <cp:revision>499</cp:revision>
  <dcterms:created xsi:type="dcterms:W3CDTF">2015-03-26T06:11:00Z</dcterms:created>
  <dcterms:modified xsi:type="dcterms:W3CDTF">2026-01-10T13:35:16Z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66E6EA326170477E9C748D14EEE77480_12</vt:lpwstr>
  </property>
</Properties>
</file>