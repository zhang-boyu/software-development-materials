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2" r:id="rId8"/>
    <p:sldId id="353" r:id="rId9"/>
    <p:sldId id="355" r:id="rId10"/>
    <p:sldId id="356" r:id="rId11"/>
    <p:sldId id="357" r:id="rId12"/>
    <p:sldId id="358" r:id="rId13"/>
    <p:sldId id="360" r:id="rId14"/>
    <p:sldId id="361" r:id="rId15"/>
    <p:sldId id="362" r:id="rId16"/>
    <p:sldId id="363" r:id="rId17"/>
    <p:sldId id="364" r:id="rId18"/>
    <p:sldId id="365" r:id="rId19"/>
    <p:sldId id="367" r:id="rId20"/>
    <p:sldId id="344" r:id="rId21"/>
    <p:sldId id="341" r:id="rId22"/>
    <p:sldId id="368" r:id="rId23"/>
    <p:sldId id="375" r:id="rId24"/>
    <p:sldId id="369" r:id="rId25"/>
    <p:sldId id="347" r:id="rId26"/>
  </p:sldIdLst>
  <p:sldSz cx="12198350" cy="6858000"/>
  <p:notesSz cx="6858000" cy="9144000"/>
  <p:custDataLst>
    <p:tags r:id="rId3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60"/>
        <p:guide pos="39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66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0" Type="http://schemas.openxmlformats.org/officeDocument/2006/relationships/notesSlide" Target="../notesSlides/notesSlide9.xml"/><Relationship Id="rId1" Type="http://schemas.openxmlformats.org/officeDocument/2006/relationships/tags" Target="../tags/tag2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0" Type="http://schemas.openxmlformats.org/officeDocument/2006/relationships/notesSlide" Target="../notesSlides/notesSlide10.xml"/><Relationship Id="rId1" Type="http://schemas.openxmlformats.org/officeDocument/2006/relationships/tags" Target="../tags/tag3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3.xml"/><Relationship Id="rId1" Type="http://schemas.openxmlformats.org/officeDocument/2006/relationships/tags" Target="../tags/tag5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emf"/><Relationship Id="rId2" Type="http://schemas.openxmlformats.org/officeDocument/2006/relationships/tags" Target="../tags/tag55.xml"/><Relationship Id="rId1" Type="http://schemas.openxmlformats.org/officeDocument/2006/relationships/tags" Target="../tags/tag54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23230" y="378904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下载并安装Java程序的开发环境JDK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21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什么是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Java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Java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语言特点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6605588" y="432530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Java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发展历程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9" name="矩形 6"/>
          <p:cNvSpPr>
            <a:spLocks noChangeArrowheads="1"/>
          </p:cNvSpPr>
          <p:nvPr/>
        </p:nvSpPr>
        <p:spPr bwMode="auto">
          <a:xfrm>
            <a:off x="6605588" y="468534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什么是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JDK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矩形 6"/>
          <p:cNvSpPr>
            <a:spLocks noChangeArrowheads="1"/>
          </p:cNvSpPr>
          <p:nvPr/>
        </p:nvSpPr>
        <p:spPr bwMode="auto">
          <a:xfrm>
            <a:off x="6603048" y="504856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JDK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目录介绍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0" dur="10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6" grpId="0" bldLvl="0" autoUpdateAnimBg="0"/>
      <p:bldP spid="5138" grpId="0" bldLvl="0" autoUpdateAnimBg="0"/>
      <p:bldP spid="5139" grpId="0" bldLvl="0" autoUpdateAnimBg="0"/>
      <p:bldP spid="3" grpId="0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948372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539750" algn="l">
              <a:lnSpc>
                <a:spcPct val="150000"/>
              </a:lnSpc>
            </a:pP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Java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是一种</a:t>
            </a:r>
            <a:r>
              <a:rPr lang="zh-CN" altLang="zh-CN" sz="24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高级计算机语言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，它是由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SUN</a:t>
            </a:r>
            <a:r>
              <a:rPr lang="zh-CN" altLang="zh-CN" sz="24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公司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（已被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Oracle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公司收购）于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1995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年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5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月推出的一种可以编写</a:t>
            </a:r>
            <a:r>
              <a:rPr lang="zh-CN" altLang="zh-CN" sz="24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跨平台</a:t>
            </a:r>
            <a:r>
              <a:rPr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应用软件、完全</a:t>
            </a:r>
            <a:r>
              <a:rPr sz="24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面向对象</a:t>
            </a:r>
            <a:r>
              <a:rPr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的程序设计语言。Java语言</a:t>
            </a:r>
            <a:r>
              <a:rPr sz="24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简单易用</a:t>
            </a:r>
            <a:r>
              <a:rPr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、</a:t>
            </a:r>
            <a:r>
              <a:rPr sz="24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安全可靠</a:t>
            </a:r>
            <a:r>
              <a:rPr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,自问世以来,与之相关的技术和应用发展得非常快。在计算机、移动电话、家用电器等领域中,Java技术无处不在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。SUN公司将Java划分为三个技术平台，分别是</a:t>
            </a:r>
            <a:r>
              <a:rPr lang="zh-CN" altLang="zh-CN" sz="24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Java SE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、</a:t>
            </a:r>
            <a:r>
              <a:rPr lang="zh-CN" altLang="zh-CN" sz="24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Java EE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和</a:t>
            </a:r>
            <a:r>
              <a:rPr lang="zh-CN" altLang="zh-CN" sz="2400" dirty="0">
                <a:solidFill>
                  <a:srgbClr val="1369B2"/>
                </a:solidFill>
                <a:latin typeface="微软雅黑" panose="020B0503020204020204" pitchFamily="34" charset="-122"/>
                <a:sym typeface="+mn-ea"/>
              </a:rPr>
              <a:t>Java ME</a:t>
            </a:r>
            <a:r>
              <a:rPr lang="zh-CN" altLang="zh-CN" sz="2400" dirty="0">
                <a:solidFill>
                  <a:srgbClr val="595959"/>
                </a:solidFill>
                <a:latin typeface="微软雅黑" panose="020B0503020204020204" pitchFamily="34" charset="-122"/>
                <a:sym typeface="+mn-ea"/>
              </a:rPr>
              <a:t>。</a:t>
            </a:r>
            <a:endParaRPr lang="zh-CN" altLang="zh-CN" sz="2400" dirty="0">
              <a:solidFill>
                <a:srgbClr val="595959"/>
              </a:solidFill>
              <a:latin typeface="微软雅黑" panose="020B0503020204020204" pitchFamily="34" charset="-122"/>
              <a:ea typeface="+mj-ea"/>
              <a:cs typeface="+mj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130935" y="256413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30935" y="3500914"/>
            <a:ext cx="10225106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66700" indent="0" fontAlgn="auto">
              <a:lnSpc>
                <a:spcPct val="150000"/>
              </a:lnSpc>
            </a:pPr>
            <a:r>
              <a:rPr lang="en-US" sz="2000" b="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宋体" panose="02010600030101010101" pitchFamily="2" charset="-122"/>
              </a:rPr>
              <a:t>Java SE</a:t>
            </a:r>
            <a:r>
              <a:rPr lang="zh-CN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（</a:t>
            </a:r>
            <a:r>
              <a:rPr lang="en-US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宋体" panose="02010600030101010101" pitchFamily="2" charset="-122"/>
              </a:rPr>
              <a:t>Java Platform Standard Edition</a:t>
            </a:r>
            <a:r>
              <a:rPr lang="zh-CN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）是</a:t>
            </a:r>
            <a:r>
              <a:rPr lang="zh-CN" sz="2000" b="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标准版技术</a:t>
            </a:r>
            <a:r>
              <a:rPr lang="zh-CN" sz="2000" b="0" dirty="0">
                <a:solidFill>
                  <a:srgbClr val="1369B2"/>
                </a:solidFill>
                <a:uFillTx/>
                <a:ea typeface="微软雅黑" panose="020B0503020204020204" pitchFamily="34" charset="-122"/>
              </a:rPr>
              <a:t>平台</a:t>
            </a:r>
            <a:r>
              <a:rPr lang="zh-CN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，它是为开发普通桌面和商务应用程序提供的解决方案。</a:t>
            </a:r>
            <a:r>
              <a:rPr lang="en-US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宋体" panose="02010600030101010101" pitchFamily="2" charset="-122"/>
              </a:rPr>
              <a:t>Java</a:t>
            </a:r>
            <a:r>
              <a:rPr lang="en-US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 </a:t>
            </a:r>
            <a:r>
              <a:rPr lang="en-US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宋体" panose="02010600030101010101" pitchFamily="2" charset="-122"/>
              </a:rPr>
              <a:t>SE</a:t>
            </a:r>
            <a:r>
              <a:rPr lang="zh-CN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是三个平台中</a:t>
            </a:r>
            <a:r>
              <a:rPr lang="zh-CN" sz="2000" b="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最核心</a:t>
            </a:r>
            <a:r>
              <a:rPr lang="zh-CN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的部分，</a:t>
            </a:r>
            <a:r>
              <a:rPr lang="en-US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宋体" panose="02010600030101010101" pitchFamily="2" charset="-122"/>
              </a:rPr>
              <a:t>Java</a:t>
            </a:r>
            <a:r>
              <a:rPr lang="en-US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 </a:t>
            </a:r>
            <a:r>
              <a:rPr lang="en-US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宋体" panose="02010600030101010101" pitchFamily="2" charset="-122"/>
              </a:rPr>
              <a:t>EE</a:t>
            </a:r>
            <a:r>
              <a:rPr lang="zh-CN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和</a:t>
            </a:r>
            <a:r>
              <a:rPr lang="en-US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宋体" panose="02010600030101010101" pitchFamily="2" charset="-122"/>
              </a:rPr>
              <a:t>Java</a:t>
            </a:r>
            <a:r>
              <a:rPr lang="en-US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 </a:t>
            </a:r>
            <a:r>
              <a:rPr lang="en-US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宋体" panose="02010600030101010101" pitchFamily="2" charset="-122"/>
              </a:rPr>
              <a:t>ME</a:t>
            </a:r>
            <a:r>
              <a:rPr lang="zh-CN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都是从</a:t>
            </a:r>
            <a:r>
              <a:rPr lang="en-US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宋体" panose="02010600030101010101" pitchFamily="2" charset="-122"/>
              </a:rPr>
              <a:t>Java</a:t>
            </a:r>
            <a:r>
              <a:rPr lang="en-US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 </a:t>
            </a:r>
            <a:r>
              <a:rPr lang="en-US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宋体" panose="02010600030101010101" pitchFamily="2" charset="-122"/>
              </a:rPr>
              <a:t>SE</a:t>
            </a:r>
            <a:r>
              <a:rPr lang="zh-CN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的基础上发展而来的，</a:t>
            </a:r>
            <a:r>
              <a:rPr lang="en-US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宋体" panose="02010600030101010101" pitchFamily="2" charset="-122"/>
              </a:rPr>
              <a:t>Java</a:t>
            </a:r>
            <a:r>
              <a:rPr lang="en-US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 </a:t>
            </a:r>
            <a:r>
              <a:rPr lang="en-US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宋体" panose="02010600030101010101" pitchFamily="2" charset="-122"/>
              </a:rPr>
              <a:t>SE</a:t>
            </a:r>
            <a:r>
              <a:rPr lang="zh-CN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平台中包括了</a:t>
            </a:r>
            <a:r>
              <a:rPr lang="zh-CN" sz="2000" b="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Java最核心的类库</a:t>
            </a:r>
            <a:r>
              <a:rPr lang="zh-CN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，如</a:t>
            </a:r>
            <a:r>
              <a:rPr lang="zh-CN" sz="2000" b="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集合</a:t>
            </a:r>
            <a:r>
              <a:rPr lang="zh-CN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、</a:t>
            </a:r>
            <a:r>
              <a:rPr lang="en-US" sz="2000" b="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cs typeface="宋体" panose="02010600030101010101" pitchFamily="2" charset="-122"/>
              </a:rPr>
              <a:t>IO</a:t>
            </a:r>
            <a:r>
              <a:rPr lang="zh-CN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、</a:t>
            </a:r>
            <a:r>
              <a:rPr lang="zh-CN" sz="2000" b="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数据库连接</a:t>
            </a:r>
            <a:r>
              <a:rPr lang="zh-CN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以及</a:t>
            </a:r>
            <a:r>
              <a:rPr lang="zh-CN" sz="2000" b="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网络编程</a:t>
            </a:r>
            <a:r>
              <a:rPr lang="zh-CN" sz="2000" b="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</a:rPr>
              <a:t>等。</a:t>
            </a:r>
            <a:endParaRPr lang="zh-CN" altLang="en-US" sz="2000" b="0" dirty="0">
              <a:solidFill>
                <a:srgbClr val="595959"/>
              </a:solidFill>
              <a:uFillTx/>
              <a:latin typeface="Times New Roman" panose="0202060305040502030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7048" y="2637414"/>
            <a:ext cx="10496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 SE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130935" y="256413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30935" y="3500914"/>
            <a:ext cx="10225106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66700" indent="0" fontAlgn="auto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J</a:t>
            </a: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ava EE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(Java Platform Enterprise Edition) 是</a:t>
            </a: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企业版技术平台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，它是为开发企业级应用程序提供的解决方案。Java EE平台用于</a:t>
            </a: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开发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装配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以及</a:t>
            </a: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部署企业级应用程序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，主要包括</a:t>
            </a: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Servlet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JSP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JavaBean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JDBC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EJB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Web Service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等技术。</a:t>
            </a:r>
            <a:endParaRPr lang="zh-CN" altLang="en-US" sz="2000" b="0" dirty="0">
              <a:solidFill>
                <a:srgbClr val="595959"/>
              </a:solidFill>
              <a:uFillTx/>
              <a:latin typeface="Times New Roman" panose="0202060305040502030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85458" y="2709169"/>
            <a:ext cx="104267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 EE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130935" y="256413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30935" y="3500914"/>
            <a:ext cx="10225106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66700" indent="0" fontAlgn="auto">
              <a:lnSpc>
                <a:spcPct val="150000"/>
              </a:lnSpc>
            </a:pP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Java ME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(Java Platform Micro Edition) 是</a:t>
            </a: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小型版技术平台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，它是为开发</a:t>
            </a: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电子消费产品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和</a:t>
            </a: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嵌入式设备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提供的解决方案。JavaME主要用于</a:t>
            </a: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小型数字电子设备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上软件程序的开发。例如，为家用电器增加智能化控制和联网功能，为手机增加新的游戏和通讯录管理功能。此外，Java ME还提供了HTTP等高级</a:t>
            </a:r>
            <a:r>
              <a:rPr lang="zh-CN" sz="2000" dirty="0">
                <a:solidFill>
                  <a:srgbClr val="1369B2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Internet协议</a:t>
            </a:r>
            <a:r>
              <a:rPr lang="zh-CN" sz="2000" dirty="0">
                <a:solidFill>
                  <a:srgbClr val="595959"/>
                </a:solidFill>
                <a:uFillTx/>
                <a:latin typeface="Times New Roman" panose="02020603050405020304" charset="0"/>
                <a:ea typeface="微软雅黑" panose="020B0503020204020204" pitchFamily="34" charset="-122"/>
                <a:sym typeface="+mn-ea"/>
              </a:rPr>
              <a:t>，使移动电话能以Client/Server方式直接访问Internet的全部信息，提供高效率的无线交流。</a:t>
            </a:r>
            <a:endParaRPr lang="zh-CN" altLang="en-US" sz="2000" b="0" dirty="0">
              <a:solidFill>
                <a:srgbClr val="595959"/>
              </a:solidFill>
              <a:uFillTx/>
              <a:latin typeface="Times New Roman" panose="0202060305040502030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7048" y="2637414"/>
            <a:ext cx="11512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 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语言特点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10" name="MH_Number_1"/>
          <p:cNvSpPr/>
          <p:nvPr>
            <p:custDataLst>
              <p:tags r:id="rId3"/>
            </p:custDataLst>
          </p:nvPr>
        </p:nvSpPr>
        <p:spPr>
          <a:xfrm>
            <a:off x="8248650" y="2285365"/>
            <a:ext cx="3040380" cy="664845"/>
          </a:xfrm>
          <a:prstGeom prst="roundRect">
            <a:avLst>
              <a:gd name="adj" fmla="val 12189"/>
            </a:avLst>
          </a:prstGeom>
          <a:solidFill>
            <a:srgbClr val="5B9BD5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89985" tIns="46792" rIns="89985" bIns="46792" anchor="ctr" anchorCtr="1">
            <a:normAutofit/>
          </a:bodyPr>
          <a:p>
            <a:pPr lvl="0"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跨平台性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MH_Number_1"/>
          <p:cNvSpPr/>
          <p:nvPr>
            <p:custDataLst>
              <p:tags r:id="rId4"/>
            </p:custDataLst>
          </p:nvPr>
        </p:nvSpPr>
        <p:spPr>
          <a:xfrm>
            <a:off x="1409700" y="2233930"/>
            <a:ext cx="3040380" cy="716280"/>
          </a:xfrm>
          <a:prstGeom prst="roundRect">
            <a:avLst>
              <a:gd name="adj" fmla="val 12189"/>
            </a:avLst>
          </a:prstGeom>
          <a:solidFill>
            <a:srgbClr val="5B9BD5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89985" tIns="46792" rIns="89985" bIns="46792" anchor="ctr" anchorCtr="1">
            <a:normAutofit/>
          </a:bodyPr>
          <a:p>
            <a:pPr lvl="0"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简单易用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MH_Entry_2">
            <a:hlinkClick r:id="" action="ppaction://noaction"/>
          </p:cNvPr>
          <p:cNvSpPr/>
          <p:nvPr>
            <p:custDataLst>
              <p:tags r:id="rId5"/>
            </p:custDataLst>
          </p:nvPr>
        </p:nvSpPr>
        <p:spPr>
          <a:xfrm>
            <a:off x="4790407" y="3429611"/>
            <a:ext cx="3037588" cy="3143608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25400" cap="flat" cmpd="sng" algn="ctr">
            <a:solidFill>
              <a:srgbClr val="5B9BD5"/>
            </a:solidFill>
            <a:prstDash val="solid"/>
          </a:ln>
          <a:effectLst/>
        </p:spPr>
        <p:txBody>
          <a:bodyPr wrap="square" anchor="ctr" anchorCtr="1">
            <a:noAutofit/>
          </a:bodyPr>
          <a:p>
            <a:pPr indent="0" algn="l" fontAlgn="base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语言安全可靠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编译器在编译程序时，不显示存储安排决策，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程序中的存储是在程序运行时由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解释程序决定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3" name="MH_Entry_2">
            <a:hlinkClick r:id="" action="ppaction://noaction"/>
          </p:cNvPr>
          <p:cNvSpPr/>
          <p:nvPr>
            <p:custDataLst>
              <p:tags r:id="rId6"/>
            </p:custDataLst>
          </p:nvPr>
        </p:nvSpPr>
        <p:spPr>
          <a:xfrm>
            <a:off x="1409481" y="3436982"/>
            <a:ext cx="3040528" cy="3140666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25400" cap="flat" cmpd="sng" algn="ctr">
            <a:solidFill>
              <a:srgbClr val="5B9BD5"/>
            </a:solidFill>
            <a:prstDash val="solid"/>
          </a:ln>
          <a:effectLst/>
        </p:spPr>
        <p:txBody>
          <a:bodyPr wrap="square" anchor="ctr" anchorCtr="1">
            <a:noAutofit/>
          </a:bodyPr>
          <a:p>
            <a:pPr indent="0" algn="l" fontAlgn="auto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语言是一种相对简单的编程语言，能够通过最基本的方法完成指定的任务。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MH_Entry_2">
            <a:hlinkClick r:id="" action="ppaction://noaction"/>
          </p:cNvPr>
          <p:cNvSpPr/>
          <p:nvPr>
            <p:custDataLst>
              <p:tags r:id="rId7"/>
            </p:custDataLst>
          </p:nvPr>
        </p:nvSpPr>
        <p:spPr>
          <a:xfrm>
            <a:off x="8250360" y="3429611"/>
            <a:ext cx="3037588" cy="3143608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25400" cap="flat" cmpd="sng" algn="ctr">
            <a:solidFill>
              <a:srgbClr val="5B9BD5"/>
            </a:solidFill>
            <a:prstDash val="solid"/>
          </a:ln>
          <a:effectLst/>
        </p:spPr>
        <p:txBody>
          <a:bodyPr wrap="square" anchor="ctr" anchorCtr="1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JVM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（虚拟机）以及字节码实现跨平台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MH_Number_1"/>
          <p:cNvSpPr/>
          <p:nvPr>
            <p:custDataLst>
              <p:tags r:id="rId8"/>
            </p:custDataLst>
          </p:nvPr>
        </p:nvSpPr>
        <p:spPr>
          <a:xfrm>
            <a:off x="4787265" y="2247900"/>
            <a:ext cx="3040380" cy="702310"/>
          </a:xfrm>
          <a:prstGeom prst="roundRect">
            <a:avLst>
              <a:gd name="adj" fmla="val 12189"/>
            </a:avLst>
          </a:prstGeom>
          <a:solidFill>
            <a:srgbClr val="5B9BD5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89985" tIns="46792" rIns="89985" bIns="46792" anchor="ctr" anchorCtr="1">
            <a:normAutofit/>
          </a:bodyPr>
          <a:p>
            <a:pPr lvl="0"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安全可靠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语言特点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12" name="MH_Entry_2">
            <a:hlinkClick r:id="" action="ppaction://noaction"/>
          </p:cNvPr>
          <p:cNvSpPr/>
          <p:nvPr>
            <p:custDataLst>
              <p:tags r:id="rId3"/>
            </p:custDataLst>
          </p:nvPr>
        </p:nvSpPr>
        <p:spPr>
          <a:xfrm>
            <a:off x="1494122" y="3353411"/>
            <a:ext cx="3037588" cy="3143608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25400" cap="flat" cmpd="sng" algn="ctr">
            <a:solidFill>
              <a:srgbClr val="5B9BD5"/>
            </a:solidFill>
            <a:prstDash val="solid"/>
          </a:ln>
          <a:effectLst/>
        </p:spPr>
        <p:txBody>
          <a:bodyPr wrap="square" anchor="ctr" anchorCtr="1">
            <a:noAutofit/>
          </a:bodyPr>
          <a:p>
            <a:pPr indent="0" algn="l" fontAlgn="base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语言是一个纯粹的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面向对象程序设计语言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，它提供了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等原语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MH_Number_1"/>
          <p:cNvSpPr/>
          <p:nvPr>
            <p:custDataLst>
              <p:tags r:id="rId4"/>
            </p:custDataLst>
          </p:nvPr>
        </p:nvSpPr>
        <p:spPr>
          <a:xfrm>
            <a:off x="1490980" y="2171700"/>
            <a:ext cx="3040380" cy="702310"/>
          </a:xfrm>
          <a:prstGeom prst="roundRect">
            <a:avLst>
              <a:gd name="adj" fmla="val 12189"/>
            </a:avLst>
          </a:prstGeom>
          <a:solidFill>
            <a:srgbClr val="5B9BD5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89985" tIns="46792" rIns="89985" bIns="46792" anchor="ctr" anchorCtr="1">
            <a:normAutofit/>
          </a:bodyPr>
          <a:p>
            <a:pPr lvl="0"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面向对象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MH_Number_1"/>
          <p:cNvSpPr/>
          <p:nvPr>
            <p:custDataLst>
              <p:tags r:id="rId5"/>
            </p:custDataLst>
          </p:nvPr>
        </p:nvSpPr>
        <p:spPr>
          <a:xfrm>
            <a:off x="8248650" y="2180590"/>
            <a:ext cx="3040380" cy="664845"/>
          </a:xfrm>
          <a:prstGeom prst="roundRect">
            <a:avLst>
              <a:gd name="adj" fmla="val 12189"/>
            </a:avLst>
          </a:prstGeom>
          <a:solidFill>
            <a:srgbClr val="5B9BD5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89985" tIns="46792" rIns="89985" bIns="46792" anchor="ctr" anchorCtr="1">
            <a:normAutofit/>
          </a:bodyPr>
          <a:p>
            <a:pPr lvl="0"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分布式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Entry_2">
            <a:hlinkClick r:id="" action="ppaction://noaction"/>
          </p:cNvPr>
          <p:cNvSpPr/>
          <p:nvPr>
            <p:custDataLst>
              <p:tags r:id="rId6"/>
            </p:custDataLst>
          </p:nvPr>
        </p:nvSpPr>
        <p:spPr>
          <a:xfrm>
            <a:off x="4790407" y="3324836"/>
            <a:ext cx="3037588" cy="3143608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25400" cap="flat" cmpd="sng" algn="ctr">
            <a:solidFill>
              <a:srgbClr val="5B9BD5"/>
            </a:solidFill>
            <a:prstDash val="solid"/>
          </a:ln>
          <a:effectLst/>
        </p:spPr>
        <p:txBody>
          <a:bodyPr wrap="square" anchor="ctr" anchorCtr="1">
            <a:noAutofit/>
          </a:bodyPr>
          <a:p>
            <a:pPr indent="0" algn="l" fontAlgn="base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语言支持多线程。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多线程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简单理解为程序中多个任务可以并发执行，多线程可以在很大程度上提高程序的执行效率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MH_Entry_2">
            <a:hlinkClick r:id="" action="ppaction://noaction"/>
          </p:cNvPr>
          <p:cNvSpPr/>
          <p:nvPr>
            <p:custDataLst>
              <p:tags r:id="rId7"/>
            </p:custDataLst>
          </p:nvPr>
        </p:nvSpPr>
        <p:spPr>
          <a:xfrm>
            <a:off x="8250360" y="3324836"/>
            <a:ext cx="3037588" cy="3143608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25400" cap="flat" cmpd="sng" algn="ctr">
            <a:solidFill>
              <a:srgbClr val="5B9BD5"/>
            </a:solidFill>
            <a:prstDash val="solid"/>
          </a:ln>
          <a:effectLst/>
        </p:spPr>
        <p:txBody>
          <a:bodyPr wrap="square" anchor="ctr" anchorCtr="1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分布式语言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，既支持各种层次的网络连接，又可以通过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Socket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类支持可靠的流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stream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进行网络连接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MH_Number_1"/>
          <p:cNvSpPr/>
          <p:nvPr>
            <p:custDataLst>
              <p:tags r:id="rId8"/>
            </p:custDataLst>
          </p:nvPr>
        </p:nvSpPr>
        <p:spPr>
          <a:xfrm>
            <a:off x="4787265" y="2143125"/>
            <a:ext cx="3040380" cy="702310"/>
          </a:xfrm>
          <a:prstGeom prst="roundRect">
            <a:avLst>
              <a:gd name="adj" fmla="val 12189"/>
            </a:avLst>
          </a:prstGeom>
          <a:solidFill>
            <a:srgbClr val="5B9BD5"/>
          </a:solidFill>
          <a:ln w="254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lIns="89985" tIns="46792" rIns="89985" bIns="46792" anchor="ctr" anchorCtr="1">
            <a:normAutofit/>
          </a:bodyPr>
          <a:p>
            <a:pPr lvl="0" algn="ctr">
              <a:lnSpc>
                <a:spcPct val="13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支持多线程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语言发展历程</a:t>
            </a:r>
            <a:endParaRPr lang="en-US" alt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143635" y="2133794"/>
          <a:ext cx="10208424" cy="363977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690614"/>
                <a:gridCol w="7517810"/>
              </a:tblGrid>
              <a:tr h="551638">
                <a:tc>
                  <a:txBody>
                    <a:bodyPr/>
                    <a:p>
                      <a:pPr indent="26797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时间</a:t>
                      </a:r>
                      <a:endParaRPr lang="zh-CN" sz="18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76030" marR="7603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事件</a:t>
                      </a:r>
                      <a:endParaRPr lang="zh-CN" altLang="en-US" sz="18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030" marR="76030" marT="0" marB="0" anchor="ctr">
                    <a:solidFill>
                      <a:srgbClr val="F2F2F2"/>
                    </a:solidFill>
                  </a:tcPr>
                </a:tc>
              </a:tr>
              <a:tr h="49771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8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1995年5月23日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76030" marR="7603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Java语言诞生</a:t>
                      </a:r>
                      <a:endParaRPr lang="zh-CN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76030" marR="76030" marT="0" marB="0">
                    <a:solidFill>
                      <a:srgbClr val="F2F2F2"/>
                    </a:solidFill>
                  </a:tcPr>
                </a:tc>
              </a:tr>
              <a:tr h="49771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1998年12月8日</a:t>
                      </a:r>
                      <a:endParaRPr lang="zh-CN" altLang="en-US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76030" marR="7603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Java 1.2企业平台J2EE发布</a:t>
                      </a:r>
                      <a:endParaRPr lang="zh-CN" altLang="en-US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76030" marR="76030" marT="0" marB="0">
                    <a:solidFill>
                      <a:srgbClr val="F2F2F2"/>
                    </a:solidFill>
                  </a:tcPr>
                </a:tc>
              </a:tr>
              <a:tr h="54065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1999年6月</a:t>
                      </a:r>
                      <a:endParaRPr lang="zh-CN" altLang="en-US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76030" marR="7603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SUN公司发布Java的3个版本：标准版（J2SE）、企业版（J2EE）和微型版（J2ME）</a:t>
                      </a:r>
                      <a:endParaRPr lang="zh-CN" altLang="en-US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76030" marR="76030" marT="0" marB="0">
                    <a:solidFill>
                      <a:srgbClr val="F2F2F2"/>
                    </a:solidFill>
                  </a:tcPr>
                </a:tc>
              </a:tr>
              <a:tr h="49771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2001年9月24日</a:t>
                      </a:r>
                      <a:endParaRPr lang="zh-CN" altLang="en-US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76030" marR="7603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J2EE 1.3发布</a:t>
                      </a:r>
                      <a:endParaRPr lang="zh-CN" altLang="en-US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76030" marR="76030" marT="0" marB="0">
                    <a:solidFill>
                      <a:srgbClr val="F2F2F2"/>
                    </a:solidFill>
                  </a:tcPr>
                </a:tc>
              </a:tr>
              <a:tr h="49771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2002年2月26日</a:t>
                      </a:r>
                      <a:endParaRPr lang="zh-CN" altLang="en-US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76030" marR="7603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J2SE 1.4发布，自此Java的计算能力有了大幅提升</a:t>
                      </a:r>
                      <a:endParaRPr lang="zh-CN" altLang="en-US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76030" marR="76030" marT="0" marB="0">
                    <a:solidFill>
                      <a:srgbClr val="F2F2F2"/>
                    </a:solidFill>
                  </a:tcPr>
                </a:tc>
              </a:tr>
              <a:tr h="54065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2004年9月30日</a:t>
                      </a:r>
                      <a:endParaRPr lang="zh-CN" altLang="en-US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76030" marR="7603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J2SE 1.5的发布成为Java语言发展史上的又一里程碑。为了表示该版本的重要性，J2SE 1.5更名为Java SE 5.0</a:t>
                      </a:r>
                      <a:endParaRPr lang="zh-CN" altLang="en-US" sz="18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76030" marR="7603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18590" y="76454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语言发展历程</a:t>
            </a:r>
            <a:endParaRPr lang="en-US" alt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49910" y="68834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563042" y="1413034"/>
          <a:ext cx="9208135" cy="475996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426970"/>
                <a:gridCol w="6781165"/>
              </a:tblGrid>
              <a:tr h="520065">
                <a:tc>
                  <a:txBody>
                    <a:bodyPr/>
                    <a:lstStyle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时间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事件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2005年6月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JavaOne大会召开，SUN公司公开Java SE 6。自此，Java的各种版本进行了更名，取消了名称中的数字2，J2EE更名为Java EE，J2SE更名为Java SE，J2ME更名为Java ME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2009年12月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SUN公司发布Java EE 6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2011年7月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Oracle公司发布Java SE 7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2014年3月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Oracle公司发布Java SE 8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2017年9月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Oracle公司发布Java SE 9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2018年3月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Oracle公司发布Java SE 10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2018年9月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Oracle公司发布Java SE 11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2019年3月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Oracle公司发布Java SE 12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18590" y="83693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语言发展历程</a:t>
            </a:r>
            <a:endParaRPr lang="en-US" alt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49910" y="76073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563042" y="1484789"/>
          <a:ext cx="9208135" cy="500951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426970"/>
                <a:gridCol w="6781165"/>
              </a:tblGrid>
              <a:tr h="520065">
                <a:tc>
                  <a:txBody>
                    <a:bodyPr/>
                    <a:lstStyle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时间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事件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2019年9月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Oracle公司发布Java SE 13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2020年3月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Oracle公司发布Java SE 14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2020年9月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Oracle公司发布Java SE 15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2021年3月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Oracle公司发布Java SE 16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2021年5月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Oracle公司发布Java SE 17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202</a:t>
                      </a: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年3月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Oracle公司发布Java SE 1</a:t>
                      </a: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8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2023年9月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Java SE 21</a:t>
                      </a:r>
                      <a:r>
                        <a:rPr lang="zh-CN" alt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Oracle公司发布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2024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月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Oracle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公司发布</a:t>
                      </a: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Java SE 23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2025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3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月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Oracle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公司发布</a:t>
                      </a: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Java SE 24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2025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年</a:t>
                      </a: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9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月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Oracle</a:t>
                      </a: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公司发布</a:t>
                      </a: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Java SE 25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什么是JDK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1562735" y="2493010"/>
            <a:ext cx="9260205" cy="23996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JDK(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Java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 Development Kit)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，是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SUN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公司提供的一套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开发环境。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JDK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是整个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的核心，其中包括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编译器、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运行工具、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文档生成工具、</a:t>
            </a:r>
            <a:r>
              <a:rPr lang="en-US" altLang="zh-CN" sz="2000">
                <a:latin typeface="Times New Roman" panose="02020603050405020304"/>
                <a:ea typeface="Times New Roman" panose="02020603050405020304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打包工具等。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1996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Sun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公司发布了最早的版本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-JDK 1.0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，随后相继推出了一系列更新版本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,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Java SE 25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也是截至目前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Java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的最新版本，当然也不是版本越高越好，比如有的集成开服环境可能并不兼容更高的</a:t>
            </a:r>
            <a:r>
              <a: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Java</a:t>
            </a:r>
            <a:r>
              <a:rPr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版本。</a:t>
            </a:r>
            <a:endParaRPr lang="zh-CN" altLang="en-US" sz="20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什么是JDK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621155" y="2637155"/>
            <a:ext cx="9177655" cy="23996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+mn-ea"/>
                <a:ea typeface="+mn-ea"/>
                <a:cs typeface="+mn-ea"/>
              </a:rPr>
              <a:t>Sun </a:t>
            </a:r>
            <a:r>
              <a:rPr lang="zh-CN" altLang="en-US" sz="2000">
                <a:latin typeface="+mn-ea"/>
                <a:ea typeface="+mn-ea"/>
                <a:cs typeface="+mn-ea"/>
              </a:rPr>
              <a:t>公司除了提供</a:t>
            </a:r>
            <a:r>
              <a:rPr lang="en-US" altLang="zh-CN" sz="2000">
                <a:latin typeface="+mn-ea"/>
                <a:ea typeface="+mn-ea"/>
                <a:cs typeface="+mn-ea"/>
              </a:rPr>
              <a:t>JDK </a:t>
            </a:r>
            <a:r>
              <a:rPr lang="zh-CN" altLang="en-US" sz="2000">
                <a:latin typeface="+mn-ea"/>
                <a:ea typeface="+mn-ea"/>
                <a:cs typeface="+mn-ea"/>
              </a:rPr>
              <a:t>以外</a:t>
            </a:r>
            <a:r>
              <a:rPr lang="en-US" altLang="zh-CN" sz="2000">
                <a:latin typeface="+mn-ea"/>
                <a:ea typeface="+mn-ea"/>
                <a:cs typeface="+mn-ea"/>
              </a:rPr>
              <a:t>,</a:t>
            </a:r>
            <a:r>
              <a:rPr lang="zh-CN" altLang="en-US" sz="2000">
                <a:latin typeface="+mn-ea"/>
                <a:ea typeface="+mn-ea"/>
                <a:cs typeface="+mn-ea"/>
              </a:rPr>
              <a:t>还提供了</a:t>
            </a:r>
            <a:r>
              <a:rPr lang="en-US" altLang="zh-CN" sz="20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JRE</a:t>
            </a:r>
            <a:r>
              <a:rPr lang="en-US" altLang="zh-CN" sz="2000">
                <a:latin typeface="+mn-ea"/>
                <a:ea typeface="+mn-ea"/>
                <a:cs typeface="+mn-ea"/>
              </a:rPr>
              <a:t>(Java  Runtime Environment,Java </a:t>
            </a:r>
            <a:r>
              <a:rPr lang="zh-CN" altLang="en-US" sz="2000">
                <a:latin typeface="+mn-ea"/>
                <a:ea typeface="+mn-ea"/>
                <a:cs typeface="+mn-ea"/>
              </a:rPr>
              <a:t>运行时环境</a:t>
            </a:r>
            <a:r>
              <a:rPr lang="en-US" altLang="zh-CN" sz="2000">
                <a:latin typeface="+mn-ea"/>
                <a:ea typeface="+mn-ea"/>
                <a:cs typeface="+mn-ea"/>
              </a:rPr>
              <a:t>)</a:t>
            </a:r>
            <a:r>
              <a:rPr lang="zh-CN" altLang="en-US" sz="2000">
                <a:latin typeface="+mn-ea"/>
                <a:ea typeface="+mn-ea"/>
                <a:cs typeface="+mn-ea"/>
              </a:rPr>
              <a:t>工具</a:t>
            </a:r>
            <a:r>
              <a:rPr lang="en-US" altLang="zh-CN" sz="2000">
                <a:latin typeface="+mn-ea"/>
                <a:ea typeface="+mn-ea"/>
                <a:cs typeface="+mn-ea"/>
              </a:rPr>
              <a:t>,</a:t>
            </a:r>
            <a:r>
              <a:rPr lang="zh-CN" altLang="en-US" sz="2000">
                <a:latin typeface="+mn-ea"/>
                <a:ea typeface="+mn-ea"/>
                <a:cs typeface="+mn-ea"/>
              </a:rPr>
              <a:t>它是提供给普通用户使用的</a:t>
            </a:r>
            <a:r>
              <a:rPr lang="en-US" altLang="zh-CN" sz="2000">
                <a:latin typeface="+mn-ea"/>
                <a:ea typeface="+mn-ea"/>
                <a:cs typeface="+mn-ea"/>
              </a:rPr>
              <a:t>Java</a:t>
            </a:r>
            <a:r>
              <a:rPr lang="zh-CN" altLang="en-US" sz="2000">
                <a:latin typeface="+mn-ea"/>
                <a:ea typeface="+mn-ea"/>
                <a:cs typeface="+mn-ea"/>
              </a:rPr>
              <a:t>运行环境。与</a:t>
            </a:r>
            <a:r>
              <a:rPr lang="en-US" altLang="zh-CN" sz="2000">
                <a:latin typeface="+mn-ea"/>
                <a:ea typeface="+mn-ea"/>
                <a:cs typeface="+mn-ea"/>
              </a:rPr>
              <a:t>JDK </a:t>
            </a:r>
            <a:r>
              <a:rPr lang="zh-CN" altLang="en-US" sz="2000">
                <a:latin typeface="+mn-ea"/>
                <a:ea typeface="+mn-ea"/>
                <a:cs typeface="+mn-ea"/>
              </a:rPr>
              <a:t>相比</a:t>
            </a:r>
            <a:r>
              <a:rPr lang="en-US" altLang="zh-CN" sz="2000">
                <a:latin typeface="+mn-ea"/>
                <a:ea typeface="+mn-ea"/>
                <a:cs typeface="+mn-ea"/>
              </a:rPr>
              <a:t>,</a:t>
            </a:r>
            <a:r>
              <a:rPr lang="en-US" altLang="zh-CN" sz="20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JRE </a:t>
            </a:r>
            <a:r>
              <a:rPr lang="zh-CN" altLang="en-US" sz="20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中只包含</a:t>
            </a:r>
            <a:r>
              <a:rPr lang="en-US" altLang="zh-CN" sz="20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Java</a:t>
            </a:r>
            <a:r>
              <a:rPr lang="zh-CN" altLang="en-US" sz="20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运行工具</a:t>
            </a:r>
            <a:r>
              <a:rPr lang="en-US" altLang="zh-CN" sz="20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,</a:t>
            </a:r>
            <a:r>
              <a:rPr lang="zh-CN" altLang="en-US" sz="20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不包含</a:t>
            </a:r>
            <a:r>
              <a:rPr lang="en-US" altLang="zh-CN" sz="20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Java </a:t>
            </a:r>
            <a:r>
              <a:rPr lang="zh-CN" altLang="en-US" sz="20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编译工具</a:t>
            </a:r>
            <a:r>
              <a:rPr lang="zh-CN" altLang="en-US" sz="2000">
                <a:latin typeface="+mn-ea"/>
                <a:ea typeface="+mn-ea"/>
                <a:cs typeface="+mn-ea"/>
              </a:rPr>
              <a:t>。为了方便使用</a:t>
            </a:r>
            <a:r>
              <a:rPr lang="en-US" altLang="zh-CN" sz="2000">
                <a:latin typeface="+mn-ea"/>
                <a:ea typeface="+mn-ea"/>
                <a:cs typeface="+mn-ea"/>
              </a:rPr>
              <a:t>,</a:t>
            </a:r>
            <a:r>
              <a:rPr lang="en-US" altLang="zh-CN" sz="20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Sun </a:t>
            </a:r>
            <a:r>
              <a:rPr lang="zh-CN" altLang="en-US" sz="20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公司在</a:t>
            </a:r>
            <a:r>
              <a:rPr lang="en-US" altLang="zh-CN" sz="20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JDK </a:t>
            </a:r>
            <a:r>
              <a:rPr lang="zh-CN" altLang="en-US" sz="20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中封装了</a:t>
            </a:r>
            <a:r>
              <a:rPr lang="en-US" altLang="zh-CN" sz="20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JRE</a:t>
            </a:r>
            <a:r>
              <a:rPr lang="en-US" altLang="zh-CN" sz="2000">
                <a:latin typeface="+mn-ea"/>
                <a:ea typeface="+mn-ea"/>
                <a:cs typeface="+mn-ea"/>
              </a:rPr>
              <a:t>,</a:t>
            </a:r>
            <a:r>
              <a:rPr lang="zh-CN" altLang="en-US" sz="2000">
                <a:latin typeface="+mn-ea"/>
                <a:ea typeface="+mn-ea"/>
                <a:cs typeface="+mn-ea"/>
              </a:rPr>
              <a:t>也就是说 </a:t>
            </a:r>
            <a:r>
              <a:rPr lang="en-US" altLang="zh-CN" sz="2000">
                <a:latin typeface="+mn-ea"/>
                <a:ea typeface="+mn-ea"/>
                <a:cs typeface="+mn-ea"/>
              </a:rPr>
              <a:t>Java </a:t>
            </a:r>
            <a:r>
              <a:rPr lang="zh-CN" altLang="en-US" sz="2000">
                <a:latin typeface="+mn-ea"/>
                <a:ea typeface="+mn-ea"/>
                <a:cs typeface="+mn-ea"/>
              </a:rPr>
              <a:t>开发环境中包含</a:t>
            </a:r>
            <a:r>
              <a:rPr lang="en-US" altLang="zh-CN" sz="2000">
                <a:latin typeface="+mn-ea"/>
                <a:ea typeface="+mn-ea"/>
                <a:cs typeface="+mn-ea"/>
              </a:rPr>
              <a:t>Java</a:t>
            </a:r>
            <a:r>
              <a:rPr lang="zh-CN" altLang="en-US" sz="2000">
                <a:latin typeface="+mn-ea"/>
                <a:ea typeface="+mn-ea"/>
                <a:cs typeface="+mn-ea"/>
              </a:rPr>
              <a:t>运行环境，这样一来</a:t>
            </a:r>
            <a:r>
              <a:rPr lang="en-US" altLang="zh-CN" sz="2000">
                <a:latin typeface="+mn-ea"/>
                <a:ea typeface="+mn-ea"/>
                <a:cs typeface="+mn-ea"/>
              </a:rPr>
              <a:t>,</a:t>
            </a:r>
            <a:r>
              <a:rPr lang="zh-CN" altLang="en-US" sz="2000">
                <a:latin typeface="+mn-ea"/>
                <a:ea typeface="+mn-ea"/>
                <a:cs typeface="+mn-ea"/>
              </a:rPr>
              <a:t>开发人员只需要在计算机上安装</a:t>
            </a:r>
            <a:r>
              <a:rPr lang="en-US" altLang="zh-CN" sz="2000">
                <a:latin typeface="+mn-ea"/>
                <a:ea typeface="+mn-ea"/>
                <a:cs typeface="+mn-ea"/>
              </a:rPr>
              <a:t>JDK,</a:t>
            </a:r>
            <a:r>
              <a:rPr lang="zh-CN" altLang="en-US" sz="2000">
                <a:latin typeface="+mn-ea"/>
                <a:ea typeface="+mn-ea"/>
                <a:cs typeface="+mn-ea"/>
              </a:rPr>
              <a:t>就可以实现</a:t>
            </a:r>
            <a:r>
              <a:rPr lang="en-US" altLang="zh-CN" sz="2000">
                <a:latin typeface="+mn-ea"/>
                <a:ea typeface="+mn-ea"/>
                <a:cs typeface="+mn-ea"/>
              </a:rPr>
              <a:t>Java</a:t>
            </a:r>
            <a:r>
              <a:rPr lang="zh-CN" altLang="en-US" sz="2000">
                <a:latin typeface="+mn-ea"/>
                <a:ea typeface="+mn-ea"/>
                <a:cs typeface="+mn-ea"/>
              </a:rPr>
              <a:t>程序的编译和运行。</a:t>
            </a:r>
            <a:endParaRPr lang="zh-CN" altLang="en-US" sz="2000">
              <a:latin typeface="+mn-ea"/>
              <a:ea typeface="+mn-ea"/>
              <a:cs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什么是JDK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778635" y="2277110"/>
            <a:ext cx="6410325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JDK</a:t>
            </a:r>
            <a:r>
              <a:rPr lang="zh-CN" altLang="en-US" sz="18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、</a:t>
            </a:r>
            <a:r>
              <a:rPr lang="en-US" altLang="zh-CN" sz="18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JRE</a:t>
            </a:r>
            <a:r>
              <a:rPr lang="zh-CN" altLang="en-US" sz="18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与</a:t>
            </a:r>
            <a:r>
              <a:rPr lang="en-US" altLang="zh-CN" sz="18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JVM</a:t>
            </a:r>
            <a:r>
              <a:rPr lang="zh-CN" altLang="en-US" sz="18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之间的主要关系和区别，如图</a:t>
            </a:r>
            <a:r>
              <a:rPr lang="en-US" altLang="zh-CN" sz="18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1-1</a:t>
            </a:r>
            <a:r>
              <a:rPr lang="zh-CN" altLang="en-US" sz="18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所示：</a:t>
            </a:r>
            <a:endParaRPr lang="zh-CN" altLang="en-US" sz="1800">
              <a:solidFill>
                <a:srgbClr val="FF0000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7885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660" y="2924810"/>
            <a:ext cx="3907790" cy="26536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08960" y="566070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1-1 JDK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JRE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JVM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的关系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JDK目录介绍</a:t>
            </a:r>
            <a:endParaRPr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5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418590" y="1988820"/>
            <a:ext cx="9065260" cy="506730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50000"/>
              </a:lnSpc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JDK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安装完毕后，会在磁盘上生成一个目录，该目录被称为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JDK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安装目录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1800">
              <a:solidFill>
                <a:srgbClr val="FF0000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955" y="2564765"/>
            <a:ext cx="6569075" cy="36068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6" name="直接箭头连接符 5"/>
          <p:cNvCxnSpPr/>
          <p:nvPr/>
        </p:nvCxnSpPr>
        <p:spPr>
          <a:xfrm>
            <a:off x="2780665" y="3866515"/>
            <a:ext cx="436372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068820" y="3669030"/>
            <a:ext cx="14789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0000"/>
                </a:solidFill>
              </a:rPr>
              <a:t>存放可执行文件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2891790" y="4173220"/>
            <a:ext cx="420370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968490" y="3975735"/>
            <a:ext cx="22383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0000"/>
                </a:solidFill>
              </a:rPr>
              <a:t>存放</a:t>
            </a:r>
            <a:r>
              <a:rPr lang="en-US" altLang="zh-CN" sz="1400" b="1">
                <a:solidFill>
                  <a:srgbClr val="FF0000"/>
                </a:solidFill>
              </a:rPr>
              <a:t>JDK</a:t>
            </a:r>
            <a:r>
              <a:rPr lang="zh-CN" altLang="en-US" sz="1400" b="1">
                <a:solidFill>
                  <a:srgbClr val="FF0000"/>
                </a:solidFill>
              </a:rPr>
              <a:t>相关配置文件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3031490" y="4418330"/>
            <a:ext cx="405003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964680" y="4220845"/>
            <a:ext cx="22383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0000"/>
                </a:solidFill>
              </a:rPr>
              <a:t>存放头文件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3031490" y="4706620"/>
            <a:ext cx="404495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964680" y="4509135"/>
            <a:ext cx="22383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0000"/>
                </a:solidFill>
              </a:rPr>
              <a:t>存放调试文件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>
            <a:off x="2959735" y="4970145"/>
            <a:ext cx="412623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942455" y="4830445"/>
            <a:ext cx="2809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0000"/>
                </a:solidFill>
              </a:rPr>
              <a:t>存放</a:t>
            </a:r>
            <a:r>
              <a:rPr lang="en-US" altLang="zh-CN" sz="1400" b="1">
                <a:solidFill>
                  <a:srgbClr val="FF0000"/>
                </a:solidFill>
              </a:rPr>
              <a:t>Java</a:t>
            </a:r>
            <a:r>
              <a:rPr lang="zh-CN" altLang="en-US" sz="1400" b="1">
                <a:solidFill>
                  <a:srgbClr val="FF0000"/>
                </a:solidFill>
              </a:rPr>
              <a:t>和各类模块的软件许可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2780665" y="5260975"/>
            <a:ext cx="436372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7000875" y="5063490"/>
            <a:ext cx="2809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FF0000"/>
                </a:solidFill>
              </a:rPr>
              <a:t>存放</a:t>
            </a:r>
            <a:r>
              <a:rPr lang="en-US" altLang="zh-CN" sz="1400" b="1">
                <a:solidFill>
                  <a:srgbClr val="FF0000"/>
                </a:solidFill>
              </a:rPr>
              <a:t>Java</a:t>
            </a:r>
            <a:r>
              <a:rPr lang="zh-CN" altLang="en-US" sz="1400" b="1">
                <a:solidFill>
                  <a:srgbClr val="FF0000"/>
                </a:solidFill>
              </a:rPr>
              <a:t>类库或库文件</a:t>
            </a:r>
            <a:endParaRPr lang="zh-CN" altLang="en-US" sz="1400" b="1">
              <a:solidFill>
                <a:srgbClr val="FF0000"/>
              </a:solidFill>
            </a:endParaRPr>
          </a:p>
        </p:txBody>
      </p:sp>
      <p:sp>
        <p:nvSpPr>
          <p:cNvPr id="7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下载JDK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0370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安装JDK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6605588" y="44688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测试是否安装成功</a:t>
            </a: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bldLvl="0" autoUpdateAnimBg="0"/>
      <p:bldP spid="5136" grpId="0" bldLvl="0" autoUpdateAnimBg="0"/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下载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JDK</a:t>
            </a:r>
            <a:endParaRPr lang="en-US" alt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964755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500" b="1">
                <a:latin typeface="+mj-ea"/>
                <a:ea typeface="+mj-ea"/>
                <a:cs typeface="+mj-ea"/>
              </a:rPr>
              <a:t>具体去</a:t>
            </a:r>
            <a:r>
              <a:rPr lang="en-US" altLang="zh-CN" sz="1500" b="1">
                <a:latin typeface="+mj-ea"/>
                <a:ea typeface="+mj-ea"/>
                <a:cs typeface="+mj-ea"/>
              </a:rPr>
              <a:t>Oracle</a:t>
            </a:r>
            <a:r>
              <a:rPr lang="zh-CN" altLang="en-US" sz="1500" b="1">
                <a:latin typeface="+mj-ea"/>
                <a:ea typeface="+mj-ea"/>
                <a:cs typeface="+mj-ea"/>
              </a:rPr>
              <a:t>官方网站下载即可，</a:t>
            </a:r>
            <a:r>
              <a:rPr lang="zh-CN" sz="1500" b="1">
                <a:latin typeface="+mj-ea"/>
                <a:ea typeface="+mj-ea"/>
                <a:cs typeface="+mj-ea"/>
              </a:rPr>
              <a:t>如图</a:t>
            </a:r>
            <a:r>
              <a:rPr lang="en-US" altLang="zh-CN" sz="1500" b="1">
                <a:latin typeface="+mj-ea"/>
                <a:ea typeface="+mj-ea"/>
                <a:cs typeface="+mj-ea"/>
              </a:rPr>
              <a:t>1-2</a:t>
            </a:r>
            <a:r>
              <a:rPr lang="zh-CN" altLang="en-US" sz="1500" b="1">
                <a:latin typeface="+mj-ea"/>
                <a:ea typeface="+mj-ea"/>
                <a:cs typeface="+mj-ea"/>
              </a:rPr>
              <a:t>所示：</a:t>
            </a:r>
            <a:endParaRPr lang="zh-CN" altLang="en-US" sz="1500" b="1">
              <a:latin typeface="+mj-ea"/>
              <a:ea typeface="+mj-ea"/>
              <a:cs typeface="+mj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02915" y="616489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1-2  Windows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JDK-21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下载页面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图片 74" descr="截图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025" y="2565400"/>
            <a:ext cx="8070215" cy="33121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4" name="矩形 114"/>
          <p:cNvSpPr/>
          <p:nvPr/>
        </p:nvSpPr>
        <p:spPr>
          <a:xfrm>
            <a:off x="1850390" y="4545965"/>
            <a:ext cx="8071485" cy="40068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安装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JDK</a:t>
            </a:r>
            <a:endParaRPr lang="en-US" alt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23540" y="537305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1-3 JDK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安装页面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图片 8" descr="C:/Users/Lenovo/Desktop/截图1.png截图1"/>
          <p:cNvPicPr>
            <a:picLocks noChangeAspect="1"/>
          </p:cNvPicPr>
          <p:nvPr/>
        </p:nvPicPr>
        <p:blipFill>
          <a:blip r:embed="rId3"/>
          <a:srcRect t="7426" b="7426"/>
          <a:stretch>
            <a:fillRect/>
          </a:stretch>
        </p:blipFill>
        <p:spPr>
          <a:xfrm>
            <a:off x="3291205" y="2348865"/>
            <a:ext cx="4712335" cy="304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安装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JDK</a:t>
            </a:r>
            <a:endParaRPr lang="en-US" alt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55215" y="5013325"/>
            <a:ext cx="635825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666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1-4 JDK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成功安装页面 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              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1-5  JDK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目录页面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10" name="图片 9" descr="C:/Users/Lenovo/Desktop/截图1.png截图1"/>
          <p:cNvPicPr>
            <a:picLocks noChangeAspect="1"/>
          </p:cNvPicPr>
          <p:nvPr/>
        </p:nvPicPr>
        <p:blipFill>
          <a:blip r:embed="rId3"/>
          <a:srcRect t="6638" b="6638"/>
          <a:stretch>
            <a:fillRect/>
          </a:stretch>
        </p:blipFill>
        <p:spPr>
          <a:xfrm>
            <a:off x="1706880" y="2172335"/>
            <a:ext cx="3658870" cy="25304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5" name="图片 85" descr="截图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4985" y="2171700"/>
            <a:ext cx="3672840" cy="25419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测试是否安装成功</a:t>
            </a:r>
            <a:endParaRPr lang="en-US" alt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pic>
        <p:nvPicPr>
          <p:cNvPr id="5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40" y="2421255"/>
            <a:ext cx="2839720" cy="3512185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117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1070" y="2421255"/>
            <a:ext cx="2919095" cy="348234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34490" y="1917065"/>
            <a:ext cx="842391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在命令提示符窗口运行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Java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c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命令和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Java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命令会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分别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出现图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1-6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和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1-7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的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窗口说明安装正确。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94535" y="5977255"/>
            <a:ext cx="630364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4000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1-6  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Java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c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命令运行页面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              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1-7  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Java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命令运行页面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TEMPLATE_CATEGORY" val="diagram"/>
  <p:tag name="KSO_WM_TEMPLATE_INDEX" val="160805"/>
  <p:tag name="KSO_WM_TAG_VERSION" val="1.0"/>
  <p:tag name="KSO_WM_UNIT_TYPE" val="r_t"/>
  <p:tag name="KSO_WM_UNIT_INDEX" val="1_1"/>
  <p:tag name="KSO_WM_UNIT_ID" val="diagram160805_1*r_t*1_1"/>
  <p:tag name="KSO_WM_UNIT_CLEAR" val="1"/>
  <p:tag name="KSO_WM_UNIT_LAYERLEVEL" val="1_1"/>
  <p:tag name="KSO_WM_UNIT_DIAGRAM_CONTRAST_TITLE_CNT" val="5"/>
  <p:tag name="KSO_WM_UNIT_DIAGRAM_DIMENSION_TITLE_CNT" val="1"/>
  <p:tag name="KSO_WM_UNIT_VALUE" val="6"/>
  <p:tag name="KSO_WM_UNIT_HIGHLIGHT" val="0"/>
  <p:tag name="KSO_WM_UNIT_COMPATIBLE" val="0"/>
  <p:tag name="KSO_WM_UNIT_PRESET_TEXT_INDEX" val="3"/>
  <p:tag name="KSO_WM_UNIT_PRESET_TEXT_LEN" val="5"/>
  <p:tag name="KSO_WM_DIAGRAM_GROUP_CODE" val="r1-1"/>
  <p:tag name="KSO_WM_UNIT_FILL_FORE_SCHEMECOLOR_INDEX" val="5"/>
  <p:tag name="KSO_WM_UNIT_FILL_TYPE" val="1"/>
</p:tagLst>
</file>

<file path=ppt/tags/tag28.xml><?xml version="1.0" encoding="utf-8"?>
<p:tagLst xmlns:p="http://schemas.openxmlformats.org/presentationml/2006/main">
  <p:tag name="KSO_WM_TEMPLATE_CATEGORY" val="diagram"/>
  <p:tag name="KSO_WM_TEMPLATE_INDEX" val="160805"/>
  <p:tag name="KSO_WM_TAG_VERSION" val="1.0"/>
  <p:tag name="KSO_WM_UNIT_TYPE" val="r_t"/>
  <p:tag name="KSO_WM_UNIT_INDEX" val="1_4"/>
  <p:tag name="KSO_WM_UNIT_ID" val="diagram160805_1*r_t*1_4"/>
  <p:tag name="KSO_WM_UNIT_CLEAR" val="1"/>
  <p:tag name="KSO_WM_UNIT_LAYERLEVEL" val="1_1"/>
  <p:tag name="KSO_WM_UNIT_DIAGRAM_CONTRAST_TITLE_CNT" val="5"/>
  <p:tag name="KSO_WM_UNIT_DIAGRAM_DIMENSION_TITLE_CNT" val="1"/>
  <p:tag name="KSO_WM_UNIT_VALUE" val="6"/>
  <p:tag name="KSO_WM_UNIT_HIGHLIGHT" val="0"/>
  <p:tag name="KSO_WM_UNIT_COMPATIBLE" val="0"/>
  <p:tag name="KSO_WM_UNIT_PRESET_TEXT_INDEX" val="3"/>
  <p:tag name="KSO_WM_UNIT_PRESET_TEXT_LEN" val="5"/>
  <p:tag name="KSO_WM_DIAGRAM_GROUP_CODE" val="r1-1"/>
  <p:tag name="KSO_WM_UNIT_FILL_FORE_SCHEMECOLOR_INDEX" val="5"/>
  <p:tag name="KSO_WM_UNIT_FILL_TYPE" val="1"/>
</p:tagLst>
</file>

<file path=ppt/tags/tag29.xml><?xml version="1.0" encoding="utf-8"?>
<p:tagLst xmlns:p="http://schemas.openxmlformats.org/presentationml/2006/main">
  <p:tag name="KSO_WM_TEMPLATE_CATEGORY" val="diagram"/>
  <p:tag name="KSO_WM_TEMPLATE_INDEX" val="160805"/>
  <p:tag name="KSO_WM_TAG_VERSION" val="1.0"/>
  <p:tag name="KSO_WM_UNIT_TYPE" val="r_v"/>
  <p:tag name="KSO_WM_UNIT_INDEX" val="1_4"/>
  <p:tag name="KSO_WM_UNIT_ID" val="diagram160805_1*r_v*1_4"/>
  <p:tag name="KSO_WM_UNIT_CLEAR" val="1"/>
  <p:tag name="KSO_WM_UNIT_LAYERLEVEL" val="1_1"/>
  <p:tag name="KSO_WM_UNIT_DIAGRAM_CONTRAST_TITLE_CNT" val="5"/>
  <p:tag name="KSO_WM_UNIT_DIAGRAM_DIMENSION_TITLE_CNT" val="1"/>
  <p:tag name="KSO_WM_UNIT_VALUE" val="12"/>
  <p:tag name="KSO_WM_UNIT_HIGHLIGHT" val="0"/>
  <p:tag name="KSO_WM_UNIT_COMPATIBLE" val="0"/>
  <p:tag name="KSO_WM_UNIT_PRESET_TEXT_INDEX" val="3"/>
  <p:tag name="KSO_WM_UNIT_PRESET_TEXT_LEN" val="12"/>
  <p:tag name="KSO_WM_DIAGRAM_GROUP_CODE" val="r1-1"/>
  <p:tag name="KSO_WM_UNIT_LINE_FORE_SCHEMECOLOR_INDEX" val="5"/>
  <p:tag name="KSO_WM_UNIT_LINE_FILL_TYPE" val="2"/>
  <p:tag name="KSO_WM_UNIT_TEXT_FILL_FORE_SCHEMECOLOR_INDEX" val="5"/>
  <p:tag name="KSO_WM_UNIT_TEXT_FILL_TYPE" val="1"/>
</p:tagLst>
</file>

<file path=ppt/tags/tag30.xml><?xml version="1.0" encoding="utf-8"?>
<p:tagLst xmlns:p="http://schemas.openxmlformats.org/presentationml/2006/main">
  <p:tag name="KSO_WM_TEMPLATE_CATEGORY" val="diagram"/>
  <p:tag name="KSO_WM_TEMPLATE_INDEX" val="160805"/>
  <p:tag name="KSO_WM_TAG_VERSION" val="1.0"/>
  <p:tag name="KSO_WM_UNIT_TYPE" val="r_v"/>
  <p:tag name="KSO_WM_UNIT_INDEX" val="1_2"/>
  <p:tag name="KSO_WM_UNIT_ID" val="diagram160805_1*r_v*1_2"/>
  <p:tag name="KSO_WM_UNIT_CLEAR" val="1"/>
  <p:tag name="KSO_WM_UNIT_LAYERLEVEL" val="1_1"/>
  <p:tag name="KSO_WM_UNIT_DIAGRAM_CONTRAST_TITLE_CNT" val="5"/>
  <p:tag name="KSO_WM_UNIT_DIAGRAM_DIMENSION_TITLE_CNT" val="1"/>
  <p:tag name="KSO_WM_UNIT_VALUE" val="12"/>
  <p:tag name="KSO_WM_UNIT_HIGHLIGHT" val="0"/>
  <p:tag name="KSO_WM_UNIT_COMPATIBLE" val="0"/>
  <p:tag name="KSO_WM_UNIT_PRESET_TEXT_INDEX" val="3"/>
  <p:tag name="KSO_WM_UNIT_PRESET_TEXT_LEN" val="12"/>
  <p:tag name="KSO_WM_DIAGRAM_GROUP_CODE" val="r1-1"/>
  <p:tag name="KSO_WM_UNIT_LINE_FORE_SCHEMECOLOR_INDEX" val="5"/>
  <p:tag name="KSO_WM_UNIT_LINE_FILL_TYPE" val="2"/>
  <p:tag name="KSO_WM_UNIT_TEXT_FILL_FORE_SCHEMECOLOR_INDEX" val="5"/>
  <p:tag name="KSO_WM_UNIT_TEXT_FILL_TYPE" val="1"/>
</p:tagLst>
</file>

<file path=ppt/tags/tag31.xml><?xml version="1.0" encoding="utf-8"?>
<p:tagLst xmlns:p="http://schemas.openxmlformats.org/presentationml/2006/main">
  <p:tag name="KSO_WM_TEMPLATE_CATEGORY" val="diagram"/>
  <p:tag name="KSO_WM_TEMPLATE_INDEX" val="160805"/>
  <p:tag name="KSO_WM_TAG_VERSION" val="1.0"/>
  <p:tag name="KSO_WM_UNIT_TYPE" val="r_v"/>
  <p:tag name="KSO_WM_UNIT_INDEX" val="1_3"/>
  <p:tag name="KSO_WM_UNIT_ID" val="diagram160805_1*r_v*1_3"/>
  <p:tag name="KSO_WM_UNIT_CLEAR" val="1"/>
  <p:tag name="KSO_WM_UNIT_LAYERLEVEL" val="1_1"/>
  <p:tag name="KSO_WM_UNIT_DIAGRAM_CONTRAST_TITLE_CNT" val="5"/>
  <p:tag name="KSO_WM_UNIT_DIAGRAM_DIMENSION_TITLE_CNT" val="1"/>
  <p:tag name="KSO_WM_UNIT_VALUE" val="12"/>
  <p:tag name="KSO_WM_UNIT_HIGHLIGHT" val="0"/>
  <p:tag name="KSO_WM_UNIT_COMPATIBLE" val="0"/>
  <p:tag name="KSO_WM_UNIT_PRESET_TEXT_INDEX" val="3"/>
  <p:tag name="KSO_WM_UNIT_PRESET_TEXT_LEN" val="12"/>
  <p:tag name="KSO_WM_DIAGRAM_GROUP_CODE" val="r1-1"/>
  <p:tag name="KSO_WM_UNIT_LINE_FORE_SCHEMECOLOR_INDEX" val="5"/>
  <p:tag name="KSO_WM_UNIT_LINE_FILL_TYPE" val="2"/>
  <p:tag name="KSO_WM_UNIT_TEXT_FILL_FORE_SCHEMECOLOR_INDEX" val="5"/>
  <p:tag name="KSO_WM_UNIT_TEXT_FILL_TYPE" val="1"/>
</p:tagLst>
</file>

<file path=ppt/tags/tag32.xml><?xml version="1.0" encoding="utf-8"?>
<p:tagLst xmlns:p="http://schemas.openxmlformats.org/presentationml/2006/main">
  <p:tag name="KSO_WM_TEMPLATE_CATEGORY" val="diagram"/>
  <p:tag name="KSO_WM_TEMPLATE_INDEX" val="160805"/>
  <p:tag name="KSO_WM_TAG_VERSION" val="1.0"/>
  <p:tag name="KSO_WM_UNIT_TYPE" val="r_t"/>
  <p:tag name="KSO_WM_UNIT_INDEX" val="1_2"/>
  <p:tag name="KSO_WM_UNIT_ID" val="diagram160805_1*r_t*1_2"/>
  <p:tag name="KSO_WM_UNIT_CLEAR" val="1"/>
  <p:tag name="KSO_WM_UNIT_LAYERLEVEL" val="1_1"/>
  <p:tag name="KSO_WM_UNIT_DIAGRAM_CONTRAST_TITLE_CNT" val="5"/>
  <p:tag name="KSO_WM_UNIT_DIAGRAM_DIMENSION_TITLE_CNT" val="1"/>
  <p:tag name="KSO_WM_UNIT_VALUE" val="6"/>
  <p:tag name="KSO_WM_UNIT_HIGHLIGHT" val="0"/>
  <p:tag name="KSO_WM_UNIT_COMPATIBLE" val="0"/>
  <p:tag name="KSO_WM_UNIT_PRESET_TEXT_INDEX" val="3"/>
  <p:tag name="KSO_WM_UNIT_PRESET_TEXT_LEN" val="5"/>
  <p:tag name="KSO_WM_DIAGRAM_GROUP_CODE" val="r1-1"/>
  <p:tag name="KSO_WM_UNIT_FILL_FORE_SCHEMECOLOR_INDEX" val="5"/>
  <p:tag name="KSO_WM_UNIT_FILL_TYPE" val="1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TEMPLATE_CATEGORY" val="diagram"/>
  <p:tag name="KSO_WM_TEMPLATE_INDEX" val="160805"/>
  <p:tag name="KSO_WM_TAG_VERSION" val="1.0"/>
  <p:tag name="KSO_WM_UNIT_TYPE" val="r_v"/>
  <p:tag name="KSO_WM_UNIT_INDEX" val="1_4"/>
  <p:tag name="KSO_WM_UNIT_ID" val="diagram160805_1*r_v*1_4"/>
  <p:tag name="KSO_WM_UNIT_CLEAR" val="1"/>
  <p:tag name="KSO_WM_UNIT_LAYERLEVEL" val="1_1"/>
  <p:tag name="KSO_WM_UNIT_DIAGRAM_CONTRAST_TITLE_CNT" val="5"/>
  <p:tag name="KSO_WM_UNIT_DIAGRAM_DIMENSION_TITLE_CNT" val="1"/>
  <p:tag name="KSO_WM_UNIT_VALUE" val="12"/>
  <p:tag name="KSO_WM_UNIT_HIGHLIGHT" val="0"/>
  <p:tag name="KSO_WM_UNIT_COMPATIBLE" val="0"/>
  <p:tag name="KSO_WM_UNIT_PRESET_TEXT_INDEX" val="3"/>
  <p:tag name="KSO_WM_UNIT_PRESET_TEXT_LEN" val="12"/>
  <p:tag name="KSO_WM_DIAGRAM_GROUP_CODE" val="r1-1"/>
  <p:tag name="KSO_WM_UNIT_LINE_FORE_SCHEMECOLOR_INDEX" val="5"/>
  <p:tag name="KSO_WM_UNIT_LINE_FILL_TYPE" val="2"/>
  <p:tag name="KSO_WM_UNIT_TEXT_FILL_FORE_SCHEMECOLOR_INDEX" val="5"/>
  <p:tag name="KSO_WM_UNIT_TEXT_FILL_TYPE" val="1"/>
</p:tagLst>
</file>

<file path=ppt/tags/tag36.xml><?xml version="1.0" encoding="utf-8"?>
<p:tagLst xmlns:p="http://schemas.openxmlformats.org/presentationml/2006/main">
  <p:tag name="KSO_WM_TEMPLATE_CATEGORY" val="diagram"/>
  <p:tag name="KSO_WM_TEMPLATE_INDEX" val="160805"/>
  <p:tag name="KSO_WM_TAG_VERSION" val="1.0"/>
  <p:tag name="KSO_WM_UNIT_TYPE" val="r_t"/>
  <p:tag name="KSO_WM_UNIT_INDEX" val="1_2"/>
  <p:tag name="KSO_WM_UNIT_ID" val="diagram160805_1*r_t*1_2"/>
  <p:tag name="KSO_WM_UNIT_CLEAR" val="1"/>
  <p:tag name="KSO_WM_UNIT_LAYERLEVEL" val="1_1"/>
  <p:tag name="KSO_WM_UNIT_DIAGRAM_CONTRAST_TITLE_CNT" val="5"/>
  <p:tag name="KSO_WM_UNIT_DIAGRAM_DIMENSION_TITLE_CNT" val="1"/>
  <p:tag name="KSO_WM_UNIT_VALUE" val="6"/>
  <p:tag name="KSO_WM_UNIT_HIGHLIGHT" val="0"/>
  <p:tag name="KSO_WM_UNIT_COMPATIBLE" val="0"/>
  <p:tag name="KSO_WM_UNIT_PRESET_TEXT_INDEX" val="3"/>
  <p:tag name="KSO_WM_UNIT_PRESET_TEXT_LEN" val="5"/>
  <p:tag name="KSO_WM_DIAGRAM_GROUP_CODE" val="r1-1"/>
  <p:tag name="KSO_WM_UNIT_FILL_FORE_SCHEMECOLOR_INDEX" val="5"/>
  <p:tag name="KSO_WM_UNIT_FILL_TYPE" val="1"/>
</p:tagLst>
</file>

<file path=ppt/tags/tag37.xml><?xml version="1.0" encoding="utf-8"?>
<p:tagLst xmlns:p="http://schemas.openxmlformats.org/presentationml/2006/main">
  <p:tag name="KSO_WM_TEMPLATE_CATEGORY" val="diagram"/>
  <p:tag name="KSO_WM_TEMPLATE_INDEX" val="160805"/>
  <p:tag name="KSO_WM_TAG_VERSION" val="1.0"/>
  <p:tag name="KSO_WM_UNIT_TYPE" val="r_t"/>
  <p:tag name="KSO_WM_UNIT_INDEX" val="1_1"/>
  <p:tag name="KSO_WM_UNIT_ID" val="diagram160805_1*r_t*1_1"/>
  <p:tag name="KSO_WM_UNIT_CLEAR" val="1"/>
  <p:tag name="KSO_WM_UNIT_LAYERLEVEL" val="1_1"/>
  <p:tag name="KSO_WM_UNIT_DIAGRAM_CONTRAST_TITLE_CNT" val="5"/>
  <p:tag name="KSO_WM_UNIT_DIAGRAM_DIMENSION_TITLE_CNT" val="1"/>
  <p:tag name="KSO_WM_UNIT_VALUE" val="6"/>
  <p:tag name="KSO_WM_UNIT_HIGHLIGHT" val="0"/>
  <p:tag name="KSO_WM_UNIT_COMPATIBLE" val="0"/>
  <p:tag name="KSO_WM_UNIT_PRESET_TEXT_INDEX" val="3"/>
  <p:tag name="KSO_WM_UNIT_PRESET_TEXT_LEN" val="5"/>
  <p:tag name="KSO_WM_DIAGRAM_GROUP_CODE" val="r1-1"/>
  <p:tag name="KSO_WM_UNIT_FILL_FORE_SCHEMECOLOR_INDEX" val="5"/>
  <p:tag name="KSO_WM_UNIT_FILL_TYPE" val="1"/>
</p:tagLst>
</file>

<file path=ppt/tags/tag38.xml><?xml version="1.0" encoding="utf-8"?>
<p:tagLst xmlns:p="http://schemas.openxmlformats.org/presentationml/2006/main">
  <p:tag name="KSO_WM_TEMPLATE_CATEGORY" val="diagram"/>
  <p:tag name="KSO_WM_TEMPLATE_INDEX" val="160805"/>
  <p:tag name="KSO_WM_TAG_VERSION" val="1.0"/>
  <p:tag name="KSO_WM_UNIT_TYPE" val="r_v"/>
  <p:tag name="KSO_WM_UNIT_INDEX" val="1_4"/>
  <p:tag name="KSO_WM_UNIT_ID" val="diagram160805_1*r_v*1_4"/>
  <p:tag name="KSO_WM_UNIT_CLEAR" val="1"/>
  <p:tag name="KSO_WM_UNIT_LAYERLEVEL" val="1_1"/>
  <p:tag name="KSO_WM_UNIT_DIAGRAM_CONTRAST_TITLE_CNT" val="5"/>
  <p:tag name="KSO_WM_UNIT_DIAGRAM_DIMENSION_TITLE_CNT" val="1"/>
  <p:tag name="KSO_WM_UNIT_VALUE" val="12"/>
  <p:tag name="KSO_WM_UNIT_HIGHLIGHT" val="0"/>
  <p:tag name="KSO_WM_UNIT_COMPATIBLE" val="0"/>
  <p:tag name="KSO_WM_UNIT_PRESET_TEXT_INDEX" val="3"/>
  <p:tag name="KSO_WM_UNIT_PRESET_TEXT_LEN" val="12"/>
  <p:tag name="KSO_WM_DIAGRAM_GROUP_CODE" val="r1-1"/>
  <p:tag name="KSO_WM_UNIT_LINE_FORE_SCHEMECOLOR_INDEX" val="5"/>
  <p:tag name="KSO_WM_UNIT_LINE_FILL_TYPE" val="2"/>
  <p:tag name="KSO_WM_UNIT_TEXT_FILL_FORE_SCHEMECOLOR_INDEX" val="5"/>
  <p:tag name="KSO_WM_UNIT_TEXT_FILL_TYPE" val="1"/>
</p:tagLst>
</file>

<file path=ppt/tags/tag39.xml><?xml version="1.0" encoding="utf-8"?>
<p:tagLst xmlns:p="http://schemas.openxmlformats.org/presentationml/2006/main">
  <p:tag name="KSO_WM_TEMPLATE_CATEGORY" val="diagram"/>
  <p:tag name="KSO_WM_TEMPLATE_INDEX" val="160805"/>
  <p:tag name="KSO_WM_TAG_VERSION" val="1.0"/>
  <p:tag name="KSO_WM_UNIT_TYPE" val="r_v"/>
  <p:tag name="KSO_WM_UNIT_INDEX" val="1_3"/>
  <p:tag name="KSO_WM_UNIT_ID" val="diagram160805_1*r_v*1_3"/>
  <p:tag name="KSO_WM_UNIT_CLEAR" val="1"/>
  <p:tag name="KSO_WM_UNIT_LAYERLEVEL" val="1_1"/>
  <p:tag name="KSO_WM_UNIT_DIAGRAM_CONTRAST_TITLE_CNT" val="5"/>
  <p:tag name="KSO_WM_UNIT_DIAGRAM_DIMENSION_TITLE_CNT" val="1"/>
  <p:tag name="KSO_WM_UNIT_VALUE" val="12"/>
  <p:tag name="KSO_WM_UNIT_HIGHLIGHT" val="0"/>
  <p:tag name="KSO_WM_UNIT_COMPATIBLE" val="0"/>
  <p:tag name="KSO_WM_UNIT_PRESET_TEXT_INDEX" val="3"/>
  <p:tag name="KSO_WM_UNIT_PRESET_TEXT_LEN" val="12"/>
  <p:tag name="KSO_WM_DIAGRAM_GROUP_CODE" val="r1-1"/>
  <p:tag name="KSO_WM_UNIT_LINE_FORE_SCHEMECOLOR_INDEX" val="5"/>
  <p:tag name="KSO_WM_UNIT_LINE_FILL_TYPE" val="2"/>
  <p:tag name="KSO_WM_UNIT_TEXT_FILL_FORE_SCHEMECOLOR_INDEX" val="5"/>
  <p:tag name="KSO_WM_UNIT_TEXT_FILL_TYPE" val="1"/>
</p:tagLst>
</file>

<file path=ppt/tags/tag40.xml><?xml version="1.0" encoding="utf-8"?>
<p:tagLst xmlns:p="http://schemas.openxmlformats.org/presentationml/2006/main">
  <p:tag name="KSO_WM_TEMPLATE_CATEGORY" val="diagram"/>
  <p:tag name="KSO_WM_TEMPLATE_INDEX" val="160805"/>
  <p:tag name="KSO_WM_TAG_VERSION" val="1.0"/>
  <p:tag name="KSO_WM_UNIT_TYPE" val="r_t"/>
  <p:tag name="KSO_WM_UNIT_INDEX" val="1_2"/>
  <p:tag name="KSO_WM_UNIT_ID" val="diagram160805_1*r_t*1_2"/>
  <p:tag name="KSO_WM_UNIT_CLEAR" val="1"/>
  <p:tag name="KSO_WM_UNIT_LAYERLEVEL" val="1_1"/>
  <p:tag name="KSO_WM_UNIT_DIAGRAM_CONTRAST_TITLE_CNT" val="5"/>
  <p:tag name="KSO_WM_UNIT_DIAGRAM_DIMENSION_TITLE_CNT" val="1"/>
  <p:tag name="KSO_WM_UNIT_VALUE" val="6"/>
  <p:tag name="KSO_WM_UNIT_HIGHLIGHT" val="0"/>
  <p:tag name="KSO_WM_UNIT_COMPATIBLE" val="0"/>
  <p:tag name="KSO_WM_UNIT_PRESET_TEXT_INDEX" val="3"/>
  <p:tag name="KSO_WM_UNIT_PRESET_TEXT_LEN" val="5"/>
  <p:tag name="KSO_WM_DIAGRAM_GROUP_CODE" val="r1-1"/>
  <p:tag name="KSO_WM_UNIT_FILL_FORE_SCHEMECOLOR_INDEX" val="5"/>
  <p:tag name="KSO_WM_UNIT_FILL_TYPE" val="1"/>
</p:tagLst>
</file>

<file path=ppt/tags/tag4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3.xml><?xml version="1.0" encoding="utf-8"?>
<p:tagLst xmlns:p="http://schemas.openxmlformats.org/presentationml/2006/main">
  <p:tag name="KSO_WM_UNIT_TABLE_BEAUTIFY" val="smartTable{98e732ef-fa4b-49bb-9e7c-4877c162a704}"/>
  <p:tag name="TABLE_ENDDRAG_ORIGIN_RECT" val="725*356"/>
  <p:tag name="TABLE_ENDDRAG_RECT" val="149*124*725*356"/>
</p:tagLst>
</file>

<file path=ppt/tags/tag4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6.xml><?xml version="1.0" encoding="utf-8"?>
<p:tagLst xmlns:p="http://schemas.openxmlformats.org/presentationml/2006/main">
  <p:tag name="KSO_WM_UNIT_TABLE_BEAUTIFY" val="smartTable{f54e9e6c-6030-43f5-b913-18a50b865442}"/>
  <p:tag name="TABLE_ENDDRAG_ORIGIN_RECT" val="725*356"/>
  <p:tag name="TABLE_ENDDRAG_RECT" val="149*124*725*356"/>
</p:tagLst>
</file>

<file path=ppt/tags/tag4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9.xml><?xml version="1.0" encoding="utf-8"?>
<p:tagLst xmlns:p="http://schemas.openxmlformats.org/presentationml/2006/main">
  <p:tag name="KSO_WM_UNIT_TABLE_BEAUTIFY" val="smartTable{6147a81b-1392-478f-a8a5-c76971a82012}"/>
  <p:tag name="TABLE_ENDDRAG_ORIGIN_RECT" val="725*356"/>
  <p:tag name="TABLE_ENDDRAG_RECT" val="149*124*725*356"/>
</p:tagLst>
</file>

<file path=ppt/tags/tag5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66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3061</Words>
  <Application>WPS 演示</Application>
  <PresentationFormat>自定义</PresentationFormat>
  <Paragraphs>362</Paragraphs>
  <Slides>23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Times New Roman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506</cp:revision>
  <dcterms:created xsi:type="dcterms:W3CDTF">2015-03-26T06:11:00Z</dcterms:created>
  <dcterms:modified xsi:type="dcterms:W3CDTF">2025-10-14T00:33:47Z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E0F8A3C182C34F02BEA26341705966F0_13</vt:lpwstr>
  </property>
</Properties>
</file>