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361" r:id="rId3"/>
    <p:sldId id="362" r:id="rId4"/>
    <p:sldId id="363" r:id="rId5"/>
    <p:sldId id="364" r:id="rId6"/>
    <p:sldId id="365" r:id="rId7"/>
    <p:sldId id="366" r:id="rId8"/>
    <p:sldId id="367" r:id="rId9"/>
    <p:sldId id="368" r:id="rId10"/>
    <p:sldId id="369" r:id="rId11"/>
    <p:sldId id="376" r:id="rId12"/>
    <p:sldId id="374" r:id="rId13"/>
    <p:sldId id="375" r:id="rId14"/>
    <p:sldId id="371" r:id="rId15"/>
    <p:sldId id="377" r:id="rId16"/>
    <p:sldId id="378" r:id="rId17"/>
    <p:sldId id="379" r:id="rId18"/>
    <p:sldId id="372" r:id="rId19"/>
    <p:sldId id="380" r:id="rId20"/>
    <p:sldId id="381" r:id="rId21"/>
    <p:sldId id="373" r:id="rId22"/>
    <p:sldId id="382" r:id="rId23"/>
    <p:sldId id="384" r:id="rId24"/>
    <p:sldId id="299" r:id="rId25"/>
  </p:sldIdLst>
  <p:sldSz cx="9144000" cy="6858000" type="screen4x3"/>
  <p:notesSz cx="6858000" cy="9144000"/>
  <p:defaultTextStyle>
    <a:defPPr>
      <a:defRPr lang="zh-CN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Font typeface="Arial" panose="020B0604020202020204" pitchFamily="34" charset="0"/>
      <a:buNone/>
      <a:defRPr b="0" i="0" u="none" kern="1200" baseline="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6">
          <p15:clr>
            <a:srgbClr val="A4A3A4"/>
          </p15:clr>
        </p15:guide>
        <p15:guide id="2" orient="horz" pos="346">
          <p15:clr>
            <a:srgbClr val="A4A3A4"/>
          </p15:clr>
        </p15:guide>
        <p15:guide id="3" orient="horz" pos="3702">
          <p15:clr>
            <a:srgbClr val="A4A3A4"/>
          </p15:clr>
        </p15:guide>
        <p15:guide id="4" orient="horz" pos="572">
          <p15:clr>
            <a:srgbClr val="A4A3A4"/>
          </p15:clr>
        </p15:guide>
        <p15:guide id="5" pos="2880">
          <p15:clr>
            <a:srgbClr val="A4A3A4"/>
          </p15:clr>
        </p15:guide>
        <p15:guide id="6" pos="272">
          <p15:clr>
            <a:srgbClr val="A4A3A4"/>
          </p15:clr>
        </p15:guide>
        <p15:guide id="7" pos="5488">
          <p15:clr>
            <a:srgbClr val="A4A3A4"/>
          </p15:clr>
        </p15:guide>
        <p15:guide id="8" pos="3833">
          <p15:clr>
            <a:srgbClr val="A4A3A4"/>
          </p15:clr>
        </p15:guide>
        <p15:guide id="9" pos="4180">
          <p15:clr>
            <a:srgbClr val="A4A3A4"/>
          </p15:clr>
        </p15:guide>
        <p15:guide id="10" pos="154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02802F"/>
    <a:srgbClr val="FFFFFF"/>
    <a:srgbClr val="B1D3EC"/>
    <a:srgbClr val="0D0D0D"/>
    <a:srgbClr val="3A383B"/>
    <a:srgbClr val="07ABB5"/>
    <a:srgbClr val="3836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472" autoAdjust="0"/>
    <p:restoredTop sz="93512" autoAdjust="0"/>
  </p:normalViewPr>
  <p:slideViewPr>
    <p:cSldViewPr snapToGrid="0" showGuides="1">
      <p:cViewPr varScale="1">
        <p:scale>
          <a:sx n="60" d="100"/>
          <a:sy n="60" d="100"/>
        </p:scale>
        <p:origin x="1504" y="36"/>
      </p:cViewPr>
      <p:guideLst>
        <p:guide orient="horz" pos="2146"/>
        <p:guide orient="horz" pos="346"/>
        <p:guide orient="horz" pos="3702"/>
        <p:guide orient="horz" pos="572"/>
        <p:guide pos="2880"/>
        <p:guide pos="272"/>
        <p:guide pos="5488"/>
        <p:guide pos="3833"/>
        <p:guide pos="4180"/>
        <p:guide pos="154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2018/7/20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5001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800172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493499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8687212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589015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395750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2653526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357790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8298666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784654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334472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3658479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461036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5895273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8223041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9184826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7166892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1125177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377766466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66237480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3724974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眉占位符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zh-CN" alt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198944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 smtClean="0"/>
              <a:t>单击此处编辑母版副标题样式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155751C-E6EA-4D38-9B67-2E7BFD8C4C15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8" name="日期占位符 1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页脚占位符 2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>
              <a:defRPr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62D88907-6C4F-4C89-B6CA-A82B149232DC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3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单击图标添加图片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 noProof="1" smtClean="0"/>
              <a:t>单击此处编辑母版标题样式</a:t>
            </a:r>
            <a:endParaRPr lang="en-US" noProof="1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 noProof="1" smtClean="0"/>
              <a:t>单击此处编辑母版文本样式</a:t>
            </a:r>
          </a:p>
          <a:p>
            <a:pPr lvl="1"/>
            <a:r>
              <a:rPr lang="zh-CN" altLang="en-US" noProof="1" smtClean="0"/>
              <a:t>第二级</a:t>
            </a:r>
          </a:p>
          <a:p>
            <a:pPr lvl="2"/>
            <a:r>
              <a:rPr lang="zh-CN" altLang="en-US" noProof="1" smtClean="0"/>
              <a:t>第三级</a:t>
            </a:r>
          </a:p>
          <a:p>
            <a:pPr lvl="3"/>
            <a:r>
              <a:rPr lang="zh-CN" altLang="en-US" noProof="1" smtClean="0"/>
              <a:t>第四级</a:t>
            </a:r>
          </a:p>
          <a:p>
            <a:pPr lvl="4"/>
            <a:r>
              <a:rPr lang="zh-CN" altLang="en-US" noProof="1" smtClean="0"/>
              <a:t>第五级</a:t>
            </a:r>
            <a:endParaRPr lang="en-US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en-US" altLang="zh-CN" dirty="0"/>
          </a:p>
        </p:txBody>
      </p:sp>
      <p:sp>
        <p:nvSpPr>
          <p:cNvPr id="1027" name="Text Placeholder 2"/>
          <p:cNvSpPr>
            <a:spLocks noGrp="1"/>
          </p:cNvSpPr>
          <p:nvPr>
            <p:ph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buFontTx/>
              <a:buNone/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buFontTx/>
              <a:buNone/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51CD871C-C23A-432E-873E-C530F1019FA1}" type="slidenum">
              <a:rPr kumimoji="0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898989"/>
                </a:solidFill>
                <a:effectLst/>
                <a:uLnTx/>
                <a:uFillTx/>
                <a:latin typeface="Calibri" panose="020F0502020204030204" pitchFamily="34" charset="0"/>
                <a:ea typeface="宋体" panose="02010600030101010101" pitchFamily="2" charset="-122"/>
                <a:cs typeface="+mn-cs"/>
              </a:rPr>
              <a:t>‹#›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Calibri" panose="020F0502020204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5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6" name="文本框 15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5044355" y="3555036"/>
            <a:ext cx="38186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 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页面布局基础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组合 46"/>
          <p:cNvGrpSpPr>
            <a:grpSpLocks/>
          </p:cNvGrpSpPr>
          <p:nvPr/>
        </p:nvGrpSpPr>
        <p:grpSpPr bwMode="auto">
          <a:xfrm>
            <a:off x="0" y="284163"/>
            <a:ext cx="1692275" cy="530225"/>
            <a:chOff x="0" y="284389"/>
            <a:chExt cx="1692275" cy="529772"/>
          </a:xfrm>
        </p:grpSpPr>
        <p:sp>
          <p:nvSpPr>
            <p:cNvPr id="40" name="矩形 39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24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目录</a:t>
              </a:r>
            </a:p>
          </p:txBody>
        </p:sp>
        <p:sp>
          <p:nvSpPr>
            <p:cNvPr id="41" name="矩形 40"/>
            <p:cNvSpPr/>
            <p:nvPr/>
          </p:nvSpPr>
          <p:spPr>
            <a:xfrm>
              <a:off x="1577975" y="284389"/>
              <a:ext cx="114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2" name="矩形 41"/>
          <p:cNvSpPr/>
          <p:nvPr/>
        </p:nvSpPr>
        <p:spPr>
          <a:xfrm>
            <a:off x="8720138" y="6043613"/>
            <a:ext cx="42386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b="1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837588" y="1735138"/>
            <a:ext cx="0" cy="3387725"/>
          </a:xfrm>
          <a:prstGeom prst="line">
            <a:avLst/>
          </a:prstGeom>
          <a:ln>
            <a:solidFill>
              <a:srgbClr val="0174AB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6" name="组合 18"/>
          <p:cNvGrpSpPr>
            <a:grpSpLocks/>
          </p:cNvGrpSpPr>
          <p:nvPr/>
        </p:nvGrpSpPr>
        <p:grpSpPr bwMode="auto">
          <a:xfrm>
            <a:off x="692735" y="2450037"/>
            <a:ext cx="1411944" cy="1407337"/>
            <a:chOff x="1709739" y="2636838"/>
            <a:chExt cx="1590160" cy="1584325"/>
          </a:xfrm>
        </p:grpSpPr>
        <p:sp>
          <p:nvSpPr>
            <p:cNvPr id="47" name="Freeform 6"/>
            <p:cNvSpPr>
              <a:spLocks/>
            </p:cNvSpPr>
            <p:nvPr/>
          </p:nvSpPr>
          <p:spPr bwMode="auto">
            <a:xfrm>
              <a:off x="1709739" y="2636838"/>
              <a:ext cx="1468102" cy="1467130"/>
            </a:xfrm>
            <a:custGeom>
              <a:avLst/>
              <a:gdLst>
                <a:gd name="T0" fmla="*/ 2147483646 w 1276"/>
                <a:gd name="T1" fmla="*/ 2147483646 h 1274"/>
                <a:gd name="T2" fmla="*/ 2147483646 w 1276"/>
                <a:gd name="T3" fmla="*/ 2147483646 h 1274"/>
                <a:gd name="T4" fmla="*/ 2147483646 w 1276"/>
                <a:gd name="T5" fmla="*/ 2147483646 h 1274"/>
                <a:gd name="T6" fmla="*/ 2147483646 w 1276"/>
                <a:gd name="T7" fmla="*/ 2147483646 h 1274"/>
                <a:gd name="T8" fmla="*/ 2147483646 w 1276"/>
                <a:gd name="T9" fmla="*/ 2147483646 h 1274"/>
                <a:gd name="T10" fmla="*/ 2147483646 w 1276"/>
                <a:gd name="T11" fmla="*/ 2147483646 h 1274"/>
                <a:gd name="T12" fmla="*/ 2147483646 w 1276"/>
                <a:gd name="T13" fmla="*/ 2147483646 h 1274"/>
                <a:gd name="T14" fmla="*/ 0 w 1276"/>
                <a:gd name="T15" fmla="*/ 2147483646 h 1274"/>
                <a:gd name="T16" fmla="*/ 0 w 1276"/>
                <a:gd name="T17" fmla="*/ 2147483646 h 1274"/>
                <a:gd name="T18" fmla="*/ 2147483646 w 1276"/>
                <a:gd name="T19" fmla="*/ 0 h 1274"/>
                <a:gd name="T20" fmla="*/ 2147483646 w 1276"/>
                <a:gd name="T21" fmla="*/ 0 h 1274"/>
                <a:gd name="T22" fmla="*/ 2147483646 w 1276"/>
                <a:gd name="T23" fmla="*/ 2147483646 h 1274"/>
                <a:gd name="T24" fmla="*/ 2147483646 w 1276"/>
                <a:gd name="T25" fmla="*/ 2147483646 h 1274"/>
                <a:gd name="T26" fmla="*/ 2147483646 w 1276"/>
                <a:gd name="T27" fmla="*/ 2147483646 h 1274"/>
                <a:gd name="T28" fmla="*/ 2147483646 w 1276"/>
                <a:gd name="T29" fmla="*/ 2147483646 h 1274"/>
                <a:gd name="T30" fmla="*/ 2147483646 w 1276"/>
                <a:gd name="T31" fmla="*/ 2147483646 h 1274"/>
                <a:gd name="T32" fmla="*/ 2147483646 w 1276"/>
                <a:gd name="T33" fmla="*/ 2147483646 h 1274"/>
                <a:gd name="T34" fmla="*/ 2147483646 w 1276"/>
                <a:gd name="T35" fmla="*/ 2147483646 h 1274"/>
                <a:gd name="T36" fmla="*/ 2147483646 w 1276"/>
                <a:gd name="T37" fmla="*/ 2147483646 h 1274"/>
                <a:gd name="T38" fmla="*/ 2147483646 w 1276"/>
                <a:gd name="T39" fmla="*/ 2147483646 h 1274"/>
                <a:gd name="T40" fmla="*/ 2147483646 w 1276"/>
                <a:gd name="T41" fmla="*/ 2147483646 h 1274"/>
                <a:gd name="T42" fmla="*/ 2147483646 w 1276"/>
                <a:gd name="T43" fmla="*/ 2147483646 h 1274"/>
                <a:gd name="T44" fmla="*/ 2147483646 w 1276"/>
                <a:gd name="T45" fmla="*/ 2147483646 h 12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w 1276"/>
                <a:gd name="T70" fmla="*/ 0 h 1274"/>
                <a:gd name="T71" fmla="*/ 1276 w 1276"/>
                <a:gd name="T72" fmla="*/ 1274 h 1274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T69" t="T70" r="T71" b="T72"/>
              <a:pathLst>
                <a:path w="1276" h="1274">
                  <a:moveTo>
                    <a:pt x="691" y="1168"/>
                  </a:moveTo>
                  <a:cubicBezTo>
                    <a:pt x="681" y="1203"/>
                    <a:pt x="672" y="1235"/>
                    <a:pt x="662" y="1267"/>
                  </a:cubicBezTo>
                  <a:cubicBezTo>
                    <a:pt x="661" y="1270"/>
                    <a:pt x="657" y="1272"/>
                    <a:pt x="654" y="1273"/>
                  </a:cubicBezTo>
                  <a:cubicBezTo>
                    <a:pt x="651" y="1274"/>
                    <a:pt x="647" y="1274"/>
                    <a:pt x="643" y="1274"/>
                  </a:cubicBezTo>
                  <a:cubicBezTo>
                    <a:pt x="486" y="1274"/>
                    <a:pt x="329" y="1273"/>
                    <a:pt x="172" y="1274"/>
                  </a:cubicBezTo>
                  <a:cubicBezTo>
                    <a:pt x="140" y="1274"/>
                    <a:pt x="109" y="1269"/>
                    <a:pt x="81" y="1253"/>
                  </a:cubicBezTo>
                  <a:cubicBezTo>
                    <a:pt x="29" y="1221"/>
                    <a:pt x="1" y="1174"/>
                    <a:pt x="1" y="1113"/>
                  </a:cubicBezTo>
                  <a:cubicBezTo>
                    <a:pt x="0" y="1039"/>
                    <a:pt x="0" y="966"/>
                    <a:pt x="0" y="892"/>
                  </a:cubicBezTo>
                  <a:cubicBezTo>
                    <a:pt x="0" y="651"/>
                    <a:pt x="0" y="411"/>
                    <a:pt x="0" y="170"/>
                  </a:cubicBezTo>
                  <a:cubicBezTo>
                    <a:pt x="0" y="68"/>
                    <a:pt x="68" y="0"/>
                    <a:pt x="170" y="0"/>
                  </a:cubicBezTo>
                  <a:cubicBezTo>
                    <a:pt x="483" y="0"/>
                    <a:pt x="797" y="0"/>
                    <a:pt x="1110" y="0"/>
                  </a:cubicBezTo>
                  <a:cubicBezTo>
                    <a:pt x="1194" y="0"/>
                    <a:pt x="1258" y="51"/>
                    <a:pt x="1273" y="131"/>
                  </a:cubicBezTo>
                  <a:cubicBezTo>
                    <a:pt x="1276" y="143"/>
                    <a:pt x="1276" y="156"/>
                    <a:pt x="1276" y="168"/>
                  </a:cubicBezTo>
                  <a:cubicBezTo>
                    <a:pt x="1276" y="322"/>
                    <a:pt x="1276" y="475"/>
                    <a:pt x="1276" y="629"/>
                  </a:cubicBezTo>
                  <a:cubicBezTo>
                    <a:pt x="1276" y="634"/>
                    <a:pt x="1276" y="638"/>
                    <a:pt x="1275" y="645"/>
                  </a:cubicBezTo>
                  <a:cubicBezTo>
                    <a:pt x="1239" y="640"/>
                    <a:pt x="1205" y="643"/>
                    <a:pt x="1171" y="659"/>
                  </a:cubicBezTo>
                  <a:cubicBezTo>
                    <a:pt x="1171" y="509"/>
                    <a:pt x="1171" y="362"/>
                    <a:pt x="1171" y="214"/>
                  </a:cubicBezTo>
                  <a:cubicBezTo>
                    <a:pt x="816" y="214"/>
                    <a:pt x="462" y="214"/>
                    <a:pt x="106" y="214"/>
                  </a:cubicBezTo>
                  <a:cubicBezTo>
                    <a:pt x="106" y="219"/>
                    <a:pt x="106" y="224"/>
                    <a:pt x="106" y="230"/>
                  </a:cubicBezTo>
                  <a:cubicBezTo>
                    <a:pt x="106" y="521"/>
                    <a:pt x="106" y="812"/>
                    <a:pt x="105" y="1102"/>
                  </a:cubicBezTo>
                  <a:cubicBezTo>
                    <a:pt x="105" y="1141"/>
                    <a:pt x="125" y="1169"/>
                    <a:pt x="171" y="1168"/>
                  </a:cubicBezTo>
                  <a:cubicBezTo>
                    <a:pt x="338" y="1167"/>
                    <a:pt x="504" y="1168"/>
                    <a:pt x="671" y="1168"/>
                  </a:cubicBezTo>
                  <a:cubicBezTo>
                    <a:pt x="677" y="1168"/>
                    <a:pt x="683" y="1168"/>
                    <a:pt x="691" y="1168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8" name="Freeform 7"/>
            <p:cNvSpPr>
              <a:spLocks noEditPoints="1"/>
            </p:cNvSpPr>
            <p:nvPr/>
          </p:nvSpPr>
          <p:spPr bwMode="auto">
            <a:xfrm>
              <a:off x="2571440" y="3653665"/>
              <a:ext cx="569443" cy="567498"/>
            </a:xfrm>
            <a:custGeom>
              <a:avLst/>
              <a:gdLst>
                <a:gd name="T0" fmla="*/ 2147483646 w 495"/>
                <a:gd name="T1" fmla="*/ 2147483646 h 493"/>
                <a:gd name="T2" fmla="*/ 2147483646 w 495"/>
                <a:gd name="T3" fmla="*/ 2147483646 h 493"/>
                <a:gd name="T4" fmla="*/ 2147483646 w 495"/>
                <a:gd name="T5" fmla="*/ 2147483646 h 493"/>
                <a:gd name="T6" fmla="*/ 2147483646 w 495"/>
                <a:gd name="T7" fmla="*/ 2147483646 h 493"/>
                <a:gd name="T8" fmla="*/ 2147483646 w 495"/>
                <a:gd name="T9" fmla="*/ 2147483646 h 493"/>
                <a:gd name="T10" fmla="*/ 2147483646 w 495"/>
                <a:gd name="T11" fmla="*/ 2147483646 h 493"/>
                <a:gd name="T12" fmla="*/ 2147483646 w 495"/>
                <a:gd name="T13" fmla="*/ 2147483646 h 493"/>
                <a:gd name="T14" fmla="*/ 2147483646 w 495"/>
                <a:gd name="T15" fmla="*/ 2147483646 h 493"/>
                <a:gd name="T16" fmla="*/ 2147483646 w 495"/>
                <a:gd name="T17" fmla="*/ 2147483646 h 493"/>
                <a:gd name="T18" fmla="*/ 2147483646 w 495"/>
                <a:gd name="T19" fmla="*/ 2147483646 h 493"/>
                <a:gd name="T20" fmla="*/ 2147483646 w 495"/>
                <a:gd name="T21" fmla="*/ 2147483646 h 493"/>
                <a:gd name="T22" fmla="*/ 2147483646 w 495"/>
                <a:gd name="T23" fmla="*/ 2147483646 h 493"/>
                <a:gd name="T24" fmla="*/ 2147483646 w 495"/>
                <a:gd name="T25" fmla="*/ 2147483646 h 493"/>
                <a:gd name="T26" fmla="*/ 2147483646 w 495"/>
                <a:gd name="T27" fmla="*/ 2147483646 h 493"/>
                <a:gd name="T28" fmla="*/ 2147483646 w 495"/>
                <a:gd name="T29" fmla="*/ 2147483646 h 493"/>
                <a:gd name="T30" fmla="*/ 2147483646 w 495"/>
                <a:gd name="T31" fmla="*/ 2147483646 h 493"/>
                <a:gd name="T32" fmla="*/ 2147483646 w 495"/>
                <a:gd name="T33" fmla="*/ 2147483646 h 493"/>
                <a:gd name="T34" fmla="*/ 2147483646 w 495"/>
                <a:gd name="T35" fmla="*/ 2147483646 h 493"/>
                <a:gd name="T36" fmla="*/ 2147483646 w 495"/>
                <a:gd name="T37" fmla="*/ 2147483646 h 493"/>
                <a:gd name="T38" fmla="*/ 2147483646 w 495"/>
                <a:gd name="T39" fmla="*/ 2147483646 h 493"/>
                <a:gd name="T40" fmla="*/ 2147483646 w 495"/>
                <a:gd name="T41" fmla="*/ 2147483646 h 49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w 495"/>
                <a:gd name="T64" fmla="*/ 0 h 493"/>
                <a:gd name="T65" fmla="*/ 495 w 495"/>
                <a:gd name="T66" fmla="*/ 493 h 493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T63" t="T64" r="T65" b="T66"/>
              <a:pathLst>
                <a:path w="495" h="493">
                  <a:moveTo>
                    <a:pt x="328" y="1"/>
                  </a:moveTo>
                  <a:cubicBezTo>
                    <a:pt x="384" y="56"/>
                    <a:pt x="439" y="112"/>
                    <a:pt x="495" y="167"/>
                  </a:cubicBezTo>
                  <a:cubicBezTo>
                    <a:pt x="473" y="190"/>
                    <a:pt x="450" y="213"/>
                    <a:pt x="427" y="236"/>
                  </a:cubicBezTo>
                  <a:cubicBezTo>
                    <a:pt x="365" y="298"/>
                    <a:pt x="303" y="360"/>
                    <a:pt x="240" y="421"/>
                  </a:cubicBezTo>
                  <a:cubicBezTo>
                    <a:pt x="233" y="428"/>
                    <a:pt x="225" y="433"/>
                    <a:pt x="216" y="436"/>
                  </a:cubicBezTo>
                  <a:cubicBezTo>
                    <a:pt x="157" y="454"/>
                    <a:pt x="98" y="471"/>
                    <a:pt x="40" y="488"/>
                  </a:cubicBezTo>
                  <a:cubicBezTo>
                    <a:pt x="28" y="492"/>
                    <a:pt x="18" y="493"/>
                    <a:pt x="9" y="484"/>
                  </a:cubicBezTo>
                  <a:cubicBezTo>
                    <a:pt x="0" y="475"/>
                    <a:pt x="3" y="464"/>
                    <a:pt x="6" y="454"/>
                  </a:cubicBezTo>
                  <a:cubicBezTo>
                    <a:pt x="23" y="395"/>
                    <a:pt x="40" y="335"/>
                    <a:pt x="58" y="276"/>
                  </a:cubicBezTo>
                  <a:cubicBezTo>
                    <a:pt x="60" y="270"/>
                    <a:pt x="63" y="264"/>
                    <a:pt x="67" y="259"/>
                  </a:cubicBezTo>
                  <a:cubicBezTo>
                    <a:pt x="154" y="173"/>
                    <a:pt x="240" y="87"/>
                    <a:pt x="327" y="1"/>
                  </a:cubicBezTo>
                  <a:cubicBezTo>
                    <a:pt x="328" y="1"/>
                    <a:pt x="329" y="0"/>
                    <a:pt x="328" y="1"/>
                  </a:cubicBezTo>
                  <a:close/>
                  <a:moveTo>
                    <a:pt x="102" y="292"/>
                  </a:moveTo>
                  <a:cubicBezTo>
                    <a:pt x="91" y="327"/>
                    <a:pt x="81" y="362"/>
                    <a:pt x="72" y="396"/>
                  </a:cubicBezTo>
                  <a:cubicBezTo>
                    <a:pt x="71" y="399"/>
                    <a:pt x="72" y="403"/>
                    <a:pt x="74" y="405"/>
                  </a:cubicBezTo>
                  <a:cubicBezTo>
                    <a:pt x="87" y="423"/>
                    <a:pt x="92" y="425"/>
                    <a:pt x="113" y="418"/>
                  </a:cubicBezTo>
                  <a:cubicBezTo>
                    <a:pt x="125" y="415"/>
                    <a:pt x="136" y="411"/>
                    <a:pt x="148" y="408"/>
                  </a:cubicBezTo>
                  <a:cubicBezTo>
                    <a:pt x="165" y="403"/>
                    <a:pt x="182" y="398"/>
                    <a:pt x="200" y="393"/>
                  </a:cubicBezTo>
                  <a:cubicBezTo>
                    <a:pt x="195" y="365"/>
                    <a:pt x="190" y="341"/>
                    <a:pt x="185" y="316"/>
                  </a:cubicBezTo>
                  <a:cubicBezTo>
                    <a:pt x="185" y="313"/>
                    <a:pt x="181" y="309"/>
                    <a:pt x="178" y="308"/>
                  </a:cubicBezTo>
                  <a:cubicBezTo>
                    <a:pt x="153" y="302"/>
                    <a:pt x="128" y="297"/>
                    <a:pt x="102" y="29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Freeform 8"/>
            <p:cNvSpPr>
              <a:spLocks/>
            </p:cNvSpPr>
            <p:nvPr/>
          </p:nvSpPr>
          <p:spPr bwMode="auto">
            <a:xfrm>
              <a:off x="2262162" y="3371619"/>
              <a:ext cx="608346" cy="119627"/>
            </a:xfrm>
            <a:custGeom>
              <a:avLst/>
              <a:gdLst>
                <a:gd name="T0" fmla="*/ 0 w 529"/>
                <a:gd name="T1" fmla="*/ 2147483646 h 104"/>
                <a:gd name="T2" fmla="*/ 0 w 529"/>
                <a:gd name="T3" fmla="*/ 0 h 104"/>
                <a:gd name="T4" fmla="*/ 2147483646 w 529"/>
                <a:gd name="T5" fmla="*/ 0 h 104"/>
                <a:gd name="T6" fmla="*/ 2147483646 w 529"/>
                <a:gd name="T7" fmla="*/ 2147483646 h 104"/>
                <a:gd name="T8" fmla="*/ 0 w 529"/>
                <a:gd name="T9" fmla="*/ 2147483646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9"/>
                <a:gd name="T16" fmla="*/ 0 h 104"/>
                <a:gd name="T17" fmla="*/ 529 w 529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9" h="104">
                  <a:moveTo>
                    <a:pt x="0" y="104"/>
                  </a:moveTo>
                  <a:cubicBezTo>
                    <a:pt x="0" y="69"/>
                    <a:pt x="0" y="35"/>
                    <a:pt x="0" y="0"/>
                  </a:cubicBezTo>
                  <a:cubicBezTo>
                    <a:pt x="177" y="0"/>
                    <a:pt x="352" y="0"/>
                    <a:pt x="529" y="0"/>
                  </a:cubicBezTo>
                  <a:cubicBezTo>
                    <a:pt x="529" y="35"/>
                    <a:pt x="529" y="69"/>
                    <a:pt x="529" y="104"/>
                  </a:cubicBezTo>
                  <a:cubicBezTo>
                    <a:pt x="353" y="104"/>
                    <a:pt x="177" y="104"/>
                    <a:pt x="0" y="104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0" name="Freeform 9"/>
            <p:cNvSpPr>
              <a:spLocks/>
            </p:cNvSpPr>
            <p:nvPr/>
          </p:nvSpPr>
          <p:spPr bwMode="auto">
            <a:xfrm>
              <a:off x="2263134" y="3127502"/>
              <a:ext cx="607373" cy="119627"/>
            </a:xfrm>
            <a:custGeom>
              <a:avLst/>
              <a:gdLst>
                <a:gd name="T0" fmla="*/ 2147483646 w 528"/>
                <a:gd name="T1" fmla="*/ 0 h 104"/>
                <a:gd name="T2" fmla="*/ 2147483646 w 528"/>
                <a:gd name="T3" fmla="*/ 2147483646 h 104"/>
                <a:gd name="T4" fmla="*/ 0 w 528"/>
                <a:gd name="T5" fmla="*/ 2147483646 h 104"/>
                <a:gd name="T6" fmla="*/ 0 w 528"/>
                <a:gd name="T7" fmla="*/ 0 h 104"/>
                <a:gd name="T8" fmla="*/ 2147483646 w 528"/>
                <a:gd name="T9" fmla="*/ 0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528"/>
                <a:gd name="T16" fmla="*/ 0 h 104"/>
                <a:gd name="T17" fmla="*/ 528 w 528"/>
                <a:gd name="T18" fmla="*/ 104 h 10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528" h="104">
                  <a:moveTo>
                    <a:pt x="528" y="0"/>
                  </a:moveTo>
                  <a:cubicBezTo>
                    <a:pt x="528" y="35"/>
                    <a:pt x="528" y="69"/>
                    <a:pt x="528" y="104"/>
                  </a:cubicBezTo>
                  <a:cubicBezTo>
                    <a:pt x="352" y="104"/>
                    <a:pt x="177" y="104"/>
                    <a:pt x="0" y="104"/>
                  </a:cubicBezTo>
                  <a:cubicBezTo>
                    <a:pt x="0" y="70"/>
                    <a:pt x="0" y="36"/>
                    <a:pt x="0" y="0"/>
                  </a:cubicBezTo>
                  <a:cubicBezTo>
                    <a:pt x="176" y="0"/>
                    <a:pt x="352" y="0"/>
                    <a:pt x="528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1" name="Freeform 10"/>
            <p:cNvSpPr>
              <a:spLocks/>
            </p:cNvSpPr>
            <p:nvPr/>
          </p:nvSpPr>
          <p:spPr bwMode="auto">
            <a:xfrm>
              <a:off x="2263134" y="3615735"/>
              <a:ext cx="549991" cy="120599"/>
            </a:xfrm>
            <a:custGeom>
              <a:avLst/>
              <a:gdLst>
                <a:gd name="T0" fmla="*/ 0 w 478"/>
                <a:gd name="T1" fmla="*/ 0 h 105"/>
                <a:gd name="T2" fmla="*/ 2147483646 w 478"/>
                <a:gd name="T3" fmla="*/ 0 h 105"/>
                <a:gd name="T4" fmla="*/ 2147483646 w 478"/>
                <a:gd name="T5" fmla="*/ 2147483646 h 105"/>
                <a:gd name="T6" fmla="*/ 2147483646 w 478"/>
                <a:gd name="T7" fmla="*/ 2147483646 h 105"/>
                <a:gd name="T8" fmla="*/ 2147483646 w 478"/>
                <a:gd name="T9" fmla="*/ 2147483646 h 105"/>
                <a:gd name="T10" fmla="*/ 2147483646 w 478"/>
                <a:gd name="T11" fmla="*/ 2147483646 h 105"/>
                <a:gd name="T12" fmla="*/ 0 w 478"/>
                <a:gd name="T13" fmla="*/ 2147483646 h 105"/>
                <a:gd name="T14" fmla="*/ 0 w 478"/>
                <a:gd name="T15" fmla="*/ 0 h 10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478"/>
                <a:gd name="T25" fmla="*/ 0 h 105"/>
                <a:gd name="T26" fmla="*/ 478 w 478"/>
                <a:gd name="T27" fmla="*/ 105 h 105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478" h="105">
                  <a:moveTo>
                    <a:pt x="0" y="0"/>
                  </a:moveTo>
                  <a:cubicBezTo>
                    <a:pt x="159" y="0"/>
                    <a:pt x="318" y="0"/>
                    <a:pt x="478" y="0"/>
                  </a:cubicBezTo>
                  <a:cubicBezTo>
                    <a:pt x="476" y="3"/>
                    <a:pt x="474" y="6"/>
                    <a:pt x="472" y="8"/>
                  </a:cubicBezTo>
                  <a:cubicBezTo>
                    <a:pt x="443" y="38"/>
                    <a:pt x="413" y="68"/>
                    <a:pt x="383" y="97"/>
                  </a:cubicBezTo>
                  <a:cubicBezTo>
                    <a:pt x="379" y="101"/>
                    <a:pt x="372" y="104"/>
                    <a:pt x="366" y="104"/>
                  </a:cubicBezTo>
                  <a:cubicBezTo>
                    <a:pt x="247" y="105"/>
                    <a:pt x="127" y="105"/>
                    <a:pt x="8" y="105"/>
                  </a:cubicBezTo>
                  <a:cubicBezTo>
                    <a:pt x="6" y="105"/>
                    <a:pt x="3" y="104"/>
                    <a:pt x="0" y="104"/>
                  </a:cubicBezTo>
                  <a:cubicBezTo>
                    <a:pt x="0" y="69"/>
                    <a:pt x="0" y="35"/>
                    <a:pt x="0" y="0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2" name="Freeform 11"/>
            <p:cNvSpPr>
              <a:spLocks/>
            </p:cNvSpPr>
            <p:nvPr/>
          </p:nvSpPr>
          <p:spPr bwMode="auto">
            <a:xfrm>
              <a:off x="3016880" y="3492218"/>
              <a:ext cx="283019" cy="281074"/>
            </a:xfrm>
            <a:custGeom>
              <a:avLst/>
              <a:gdLst>
                <a:gd name="T0" fmla="*/ 0 w 246"/>
                <a:gd name="T1" fmla="*/ 2147483646 h 244"/>
                <a:gd name="T2" fmla="*/ 2147483646 w 246"/>
                <a:gd name="T3" fmla="*/ 2147483646 h 244"/>
                <a:gd name="T4" fmla="*/ 2147483646 w 246"/>
                <a:gd name="T5" fmla="*/ 2147483646 h 244"/>
                <a:gd name="T6" fmla="*/ 2147483646 w 246"/>
                <a:gd name="T7" fmla="*/ 2147483646 h 244"/>
                <a:gd name="T8" fmla="*/ 2147483646 w 246"/>
                <a:gd name="T9" fmla="*/ 2147483646 h 244"/>
                <a:gd name="T10" fmla="*/ 2147483646 w 246"/>
                <a:gd name="T11" fmla="*/ 2147483646 h 244"/>
                <a:gd name="T12" fmla="*/ 0 w 246"/>
                <a:gd name="T13" fmla="*/ 2147483646 h 24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246"/>
                <a:gd name="T22" fmla="*/ 0 h 244"/>
                <a:gd name="T23" fmla="*/ 246 w 246"/>
                <a:gd name="T24" fmla="*/ 244 h 244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246" h="244">
                  <a:moveTo>
                    <a:pt x="0" y="87"/>
                  </a:moveTo>
                  <a:cubicBezTo>
                    <a:pt x="22" y="64"/>
                    <a:pt x="43" y="41"/>
                    <a:pt x="66" y="20"/>
                  </a:cubicBezTo>
                  <a:cubicBezTo>
                    <a:pt x="87" y="1"/>
                    <a:pt x="118" y="0"/>
                    <a:pt x="139" y="20"/>
                  </a:cubicBezTo>
                  <a:cubicBezTo>
                    <a:pt x="169" y="48"/>
                    <a:pt x="198" y="76"/>
                    <a:pt x="225" y="106"/>
                  </a:cubicBezTo>
                  <a:cubicBezTo>
                    <a:pt x="245" y="127"/>
                    <a:pt x="246" y="158"/>
                    <a:pt x="227" y="178"/>
                  </a:cubicBezTo>
                  <a:cubicBezTo>
                    <a:pt x="205" y="202"/>
                    <a:pt x="181" y="223"/>
                    <a:pt x="159" y="244"/>
                  </a:cubicBezTo>
                  <a:cubicBezTo>
                    <a:pt x="107" y="193"/>
                    <a:pt x="54" y="140"/>
                    <a:pt x="0" y="87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Freeform 12"/>
            <p:cNvSpPr>
              <a:spLocks/>
            </p:cNvSpPr>
            <p:nvPr/>
          </p:nvSpPr>
          <p:spPr bwMode="auto">
            <a:xfrm>
              <a:off x="2017073" y="3372591"/>
              <a:ext cx="119627" cy="117682"/>
            </a:xfrm>
            <a:custGeom>
              <a:avLst/>
              <a:gdLst>
                <a:gd name="T0" fmla="*/ 0 w 104"/>
                <a:gd name="T1" fmla="*/ 2147483646 h 102"/>
                <a:gd name="T2" fmla="*/ 0 w 104"/>
                <a:gd name="T3" fmla="*/ 0 h 102"/>
                <a:gd name="T4" fmla="*/ 2147483646 w 104"/>
                <a:gd name="T5" fmla="*/ 0 h 102"/>
                <a:gd name="T6" fmla="*/ 2147483646 w 104"/>
                <a:gd name="T7" fmla="*/ 2147483646 h 102"/>
                <a:gd name="T8" fmla="*/ 0 w 104"/>
                <a:gd name="T9" fmla="*/ 2147483646 h 10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4"/>
                <a:gd name="T16" fmla="*/ 0 h 102"/>
                <a:gd name="T17" fmla="*/ 104 w 104"/>
                <a:gd name="T18" fmla="*/ 102 h 10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4" h="102">
                  <a:moveTo>
                    <a:pt x="0" y="102"/>
                  </a:moveTo>
                  <a:cubicBezTo>
                    <a:pt x="0" y="68"/>
                    <a:pt x="0" y="34"/>
                    <a:pt x="0" y="0"/>
                  </a:cubicBezTo>
                  <a:cubicBezTo>
                    <a:pt x="35" y="0"/>
                    <a:pt x="69" y="0"/>
                    <a:pt x="104" y="0"/>
                  </a:cubicBezTo>
                  <a:cubicBezTo>
                    <a:pt x="104" y="34"/>
                    <a:pt x="104" y="67"/>
                    <a:pt x="104" y="102"/>
                  </a:cubicBezTo>
                  <a:cubicBezTo>
                    <a:pt x="70" y="102"/>
                    <a:pt x="36" y="102"/>
                    <a:pt x="0" y="102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Freeform 13"/>
            <p:cNvSpPr>
              <a:spLocks/>
            </p:cNvSpPr>
            <p:nvPr/>
          </p:nvSpPr>
          <p:spPr bwMode="auto">
            <a:xfrm>
              <a:off x="2018045" y="3128475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4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4"/>
                    <a:pt x="103" y="68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Freeform 14"/>
            <p:cNvSpPr>
              <a:spLocks/>
            </p:cNvSpPr>
            <p:nvPr/>
          </p:nvSpPr>
          <p:spPr bwMode="auto">
            <a:xfrm>
              <a:off x="2018045" y="3616708"/>
              <a:ext cx="118654" cy="118654"/>
            </a:xfrm>
            <a:custGeom>
              <a:avLst/>
              <a:gdLst>
                <a:gd name="T0" fmla="*/ 2147483646 w 103"/>
                <a:gd name="T1" fmla="*/ 2147483646 h 103"/>
                <a:gd name="T2" fmla="*/ 0 w 103"/>
                <a:gd name="T3" fmla="*/ 2147483646 h 103"/>
                <a:gd name="T4" fmla="*/ 0 w 103"/>
                <a:gd name="T5" fmla="*/ 0 h 103"/>
                <a:gd name="T6" fmla="*/ 2147483646 w 103"/>
                <a:gd name="T7" fmla="*/ 0 h 103"/>
                <a:gd name="T8" fmla="*/ 2147483646 w 103"/>
                <a:gd name="T9" fmla="*/ 2147483646 h 10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03"/>
                <a:gd name="T16" fmla="*/ 0 h 103"/>
                <a:gd name="T17" fmla="*/ 103 w 103"/>
                <a:gd name="T18" fmla="*/ 103 h 10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03" h="103">
                  <a:moveTo>
                    <a:pt x="103" y="103"/>
                  </a:moveTo>
                  <a:cubicBezTo>
                    <a:pt x="68" y="103"/>
                    <a:pt x="35" y="103"/>
                    <a:pt x="0" y="103"/>
                  </a:cubicBezTo>
                  <a:cubicBezTo>
                    <a:pt x="0" y="68"/>
                    <a:pt x="0" y="35"/>
                    <a:pt x="0" y="0"/>
                  </a:cubicBezTo>
                  <a:cubicBezTo>
                    <a:pt x="34" y="0"/>
                    <a:pt x="68" y="0"/>
                    <a:pt x="103" y="0"/>
                  </a:cubicBezTo>
                  <a:cubicBezTo>
                    <a:pt x="103" y="33"/>
                    <a:pt x="103" y="67"/>
                    <a:pt x="103" y="103"/>
                  </a:cubicBezTo>
                  <a:close/>
                </a:path>
              </a:pathLst>
            </a:custGeom>
            <a:solidFill>
              <a:srgbClr val="0174A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6" name="文本框 55"/>
          <p:cNvSpPr txBox="1"/>
          <p:nvPr/>
        </p:nvSpPr>
        <p:spPr>
          <a:xfrm>
            <a:off x="226545" y="4131938"/>
            <a:ext cx="223594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spc="300" dirty="0">
                <a:solidFill>
                  <a:srgbClr val="0174AB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CONTANTS</a:t>
            </a:r>
            <a:endParaRPr lang="zh-HK" altLang="en-US" sz="2400" b="1" spc="300" dirty="0">
              <a:solidFill>
                <a:srgbClr val="0174AB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文本框 56"/>
          <p:cNvSpPr txBox="1"/>
          <p:nvPr/>
        </p:nvSpPr>
        <p:spPr>
          <a:xfrm>
            <a:off x="3159524" y="782487"/>
            <a:ext cx="35496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页面中的图文混排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文本框 57"/>
          <p:cNvSpPr txBox="1"/>
          <p:nvPr/>
        </p:nvSpPr>
        <p:spPr>
          <a:xfrm>
            <a:off x="3159524" y="1269125"/>
            <a:ext cx="3900496" cy="382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6-2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页面内容溢出的处理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3159523" y="1748248"/>
            <a:ext cx="347519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6-3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纯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CSS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制作选项卡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文本框 59"/>
          <p:cNvSpPr txBox="1"/>
          <p:nvPr/>
        </p:nvSpPr>
        <p:spPr>
          <a:xfrm>
            <a:off x="3159523" y="2224479"/>
            <a:ext cx="293293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6-4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导航条的制作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文本框 60"/>
          <p:cNvSpPr txBox="1"/>
          <p:nvPr/>
        </p:nvSpPr>
        <p:spPr>
          <a:xfrm>
            <a:off x="3159522" y="2667700"/>
            <a:ext cx="477236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6-5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制作带有背景图像的导航条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3170157" y="3132692"/>
            <a:ext cx="35389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6-6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制作新闻文字列表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3170156" y="3597684"/>
            <a:ext cx="399618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6-7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制作新闻图文混排列表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3159524" y="4052597"/>
            <a:ext cx="32519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6-8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制作缩略图列表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3170157" y="4505897"/>
            <a:ext cx="324127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6-9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登录界面的制作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3159522" y="4994630"/>
            <a:ext cx="55606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6-10 960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网格系统在网页制作中的使用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3180789" y="5435881"/>
            <a:ext cx="3985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6-11 </a:t>
            </a:r>
            <a:r>
              <a:rPr lang="zh-CN" altLang="en-US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常用三种经典布局</a:t>
            </a:r>
            <a:endParaRPr lang="zh-HK" altLang="en-US" b="1" spc="3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3180789" y="5890794"/>
            <a:ext cx="53890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任务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6-12 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使用基于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lib-flexible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库的</a:t>
            </a:r>
            <a:r>
              <a:rPr lang="en-US" altLang="zh-CN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rem</a:t>
            </a:r>
            <a:r>
              <a:rPr lang="zh-CN" altLang="en-US" b="1" spc="300" dirty="0">
                <a:solidFill>
                  <a:srgbClr val="00B05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单位制作自适应网页</a:t>
            </a:r>
            <a:endParaRPr lang="zh-HK" altLang="en-US" b="1" spc="300" dirty="0">
              <a:solidFill>
                <a:srgbClr val="00B05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08060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576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页面中的图文混排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-1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14843" y="2160110"/>
            <a:ext cx="823517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文字与图片出现在同一行，且文字出现在图片的旁边，则只需要设置图片的浮动float属性即可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974333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8743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页面内容溢出的处理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07608" y="1958233"/>
            <a:ext cx="7395270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word-wrap:break-word</a:t>
            </a:r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;</a:t>
            </a:r>
          </a:p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内容将在边界内换行，仅用于块对象。</a:t>
            </a: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59" y="2050567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76659" y="2889759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07608" y="2919849"/>
            <a:ext cx="70182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word-break:break-all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;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用于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处理单词折断。</a:t>
            </a:r>
          </a:p>
        </p:txBody>
      </p:sp>
      <p:sp>
        <p:nvSpPr>
          <p:cNvPr id="22" name="文本框 21"/>
          <p:cNvSpPr txBox="1"/>
          <p:nvPr/>
        </p:nvSpPr>
        <p:spPr>
          <a:xfrm>
            <a:off x="1324867" y="3641285"/>
            <a:ext cx="7395270" cy="830997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white-space:nowrap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;</a:t>
            </a:r>
          </a:p>
          <a:p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用于处理元素内的空白，只在一行内显示。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3" name="文本框 22"/>
          <p:cNvSpPr txBox="1">
            <a:spLocks noChangeAspect="1"/>
          </p:cNvSpPr>
          <p:nvPr/>
        </p:nvSpPr>
        <p:spPr>
          <a:xfrm>
            <a:off x="376658" y="3754786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4" name="文本框 23"/>
          <p:cNvSpPr txBox="1">
            <a:spLocks noChangeAspect="1"/>
          </p:cNvSpPr>
          <p:nvPr/>
        </p:nvSpPr>
        <p:spPr>
          <a:xfrm>
            <a:off x="376658" y="4680601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307607" y="4732053"/>
            <a:ext cx="701824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overflow:hidden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;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超出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边界的部分隐藏。</a:t>
            </a:r>
          </a:p>
        </p:txBody>
      </p:sp>
      <p:sp>
        <p:nvSpPr>
          <p:cNvPr id="26" name="文本框 25"/>
          <p:cNvSpPr txBox="1"/>
          <p:nvPr/>
        </p:nvSpPr>
        <p:spPr>
          <a:xfrm>
            <a:off x="1324867" y="5656641"/>
            <a:ext cx="6928874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 err="1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text-overflow:ellipsis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;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超出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部分显示省略号。</a:t>
            </a:r>
          </a:p>
        </p:txBody>
      </p:sp>
      <p:sp>
        <p:nvSpPr>
          <p:cNvPr id="27" name="文本框 26"/>
          <p:cNvSpPr txBox="1">
            <a:spLocks noChangeAspect="1"/>
          </p:cNvSpPr>
          <p:nvPr/>
        </p:nvSpPr>
        <p:spPr>
          <a:xfrm>
            <a:off x="376658" y="5564309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85669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5128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纯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制作选项卡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6-3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/>
          </p:cNvPr>
          <p:cNvSpPr txBox="1">
            <a:spLocks noChangeAspect="1"/>
          </p:cNvSpPr>
          <p:nvPr/>
        </p:nvSpPr>
        <p:spPr>
          <a:xfrm>
            <a:off x="447675" y="2274888"/>
            <a:ext cx="720725" cy="64611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8">
            <a:extLst/>
          </p:cNvPr>
          <p:cNvSpPr>
            <a:spLocks noChangeArrowheads="1"/>
          </p:cNvSpPr>
          <p:nvPr/>
        </p:nvSpPr>
        <p:spPr bwMode="auto">
          <a:xfrm>
            <a:off x="1401763" y="2190750"/>
            <a:ext cx="56165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itchFamily="65" charset="-122"/>
                <a:ea typeface="方正粗活意简体" pitchFamily="65" charset="-122"/>
              </a:rPr>
              <a:t>同一页面超链接的使用（命名锚记）。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20" name="文本框 19">
            <a:extLst/>
          </p:cNvPr>
          <p:cNvSpPr txBox="1">
            <a:spLocks noChangeAspect="1"/>
          </p:cNvSpPr>
          <p:nvPr/>
        </p:nvSpPr>
        <p:spPr>
          <a:xfrm>
            <a:off x="447675" y="3544888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38">
            <a:extLst/>
          </p:cNvPr>
          <p:cNvSpPr>
            <a:spLocks noChangeArrowheads="1"/>
          </p:cNvSpPr>
          <p:nvPr/>
        </p:nvSpPr>
        <p:spPr bwMode="auto">
          <a:xfrm>
            <a:off x="1401763" y="3641725"/>
            <a:ext cx="71421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buFont typeface="Arial" panose="020B0604020202020204" pitchFamily="34" charset="0"/>
              <a:buNone/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overflow: hidden;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隐藏属性的使用。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34417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2768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导航条的制作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6-4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>
            <a:extLst/>
          </p:cNvPr>
          <p:cNvSpPr txBox="1">
            <a:spLocks noChangeAspect="1"/>
          </p:cNvSpPr>
          <p:nvPr/>
        </p:nvSpPr>
        <p:spPr>
          <a:xfrm>
            <a:off x="460375" y="1898650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矩形 38">
            <a:extLst/>
          </p:cNvPr>
          <p:cNvSpPr>
            <a:spLocks noChangeArrowheads="1"/>
          </p:cNvSpPr>
          <p:nvPr/>
        </p:nvSpPr>
        <p:spPr bwMode="auto">
          <a:xfrm>
            <a:off x="1261765" y="1806575"/>
            <a:ext cx="7142162" cy="5948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css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重置样式。</a:t>
            </a:r>
            <a:endParaRPr lang="en-US" altLang="zh-CN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itchFamily="65" charset="-122"/>
              <a:ea typeface="方正粗活意简体" pitchFamily="65" charset="-122"/>
            </a:endParaRPr>
          </a:p>
        </p:txBody>
      </p:sp>
      <p:sp>
        <p:nvSpPr>
          <p:cNvPr id="20" name="文本框 19">
            <a:extLst/>
          </p:cNvPr>
          <p:cNvSpPr txBox="1">
            <a:spLocks noChangeAspect="1"/>
          </p:cNvSpPr>
          <p:nvPr/>
        </p:nvSpPr>
        <p:spPr>
          <a:xfrm>
            <a:off x="460375" y="2952750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>
            <a:extLst/>
          </p:cNvPr>
          <p:cNvSpPr txBox="1">
            <a:spLocks noChangeAspect="1"/>
          </p:cNvSpPr>
          <p:nvPr/>
        </p:nvSpPr>
        <p:spPr>
          <a:xfrm>
            <a:off x="460375" y="4014788"/>
            <a:ext cx="720725" cy="646112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文本框 21">
            <a:extLst/>
          </p:cNvPr>
          <p:cNvSpPr txBox="1">
            <a:spLocks noChangeAspect="1"/>
          </p:cNvSpPr>
          <p:nvPr/>
        </p:nvSpPr>
        <p:spPr>
          <a:xfrm>
            <a:off x="460375" y="5194300"/>
            <a:ext cx="720725" cy="646113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2982913"/>
            <a:ext cx="7142162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HK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ul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样式修饰。</a:t>
            </a:r>
            <a:endParaRPr lang="zh-HK" altLang="zh-HK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4" name="矩形 38">
            <a:extLst/>
          </p:cNvPr>
          <p:cNvSpPr>
            <a:spLocks noChangeArrowheads="1"/>
          </p:cNvSpPr>
          <p:nvPr/>
        </p:nvSpPr>
        <p:spPr bwMode="auto">
          <a:xfrm>
            <a:off x="1325563" y="3973513"/>
            <a:ext cx="714216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的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float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属性。</a:t>
            </a:r>
            <a:r>
              <a:rPr lang="en-US" altLang="zh-CN" sz="3200" dirty="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  <a:endParaRPr lang="zh-HK" altLang="zh-HK" sz="32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5" name="文本框 24">
            <a:extLst/>
          </p:cNvPr>
          <p:cNvSpPr txBox="1"/>
          <p:nvPr/>
        </p:nvSpPr>
        <p:spPr>
          <a:xfrm>
            <a:off x="1325563" y="5286375"/>
            <a:ext cx="6296025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块级元素、内联元素。</a:t>
            </a:r>
          </a:p>
        </p:txBody>
      </p:sp>
    </p:spTree>
    <p:extLst>
      <p:ext uri="{BB962C8B-B14F-4D97-AF65-F5344CB8AC3E}">
        <p14:creationId xmlns:p14="http://schemas.microsoft.com/office/powerpoint/2010/main" val="2888796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5373577" cy="762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制作带有背景图像的导航条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6-5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>
            <a:spLocks noChangeAspect="1"/>
          </p:cNvSpPr>
          <p:nvPr/>
        </p:nvSpPr>
        <p:spPr>
          <a:xfrm>
            <a:off x="376660" y="245950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60" y="381727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1097385" y="2366243"/>
            <a:ext cx="7518659" cy="59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 err="1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ul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、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的浮动属性。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097385" y="3724013"/>
            <a:ext cx="7771055" cy="59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display: </a:t>
            </a: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block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属性。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22" name="文本框 21"/>
          <p:cNvSpPr txBox="1">
            <a:spLocks noChangeAspect="1"/>
          </p:cNvSpPr>
          <p:nvPr/>
        </p:nvSpPr>
        <p:spPr>
          <a:xfrm>
            <a:off x="389524" y="508178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10249" y="4988523"/>
            <a:ext cx="7771055" cy="5948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a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链接设置背景。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52513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5766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制作新闻文字列表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6-6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119273" y="2363800"/>
            <a:ext cx="6631862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ul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li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边距属性。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60" y="2321276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76660" y="3413240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/>
          <p:cNvSpPr txBox="1">
            <a:spLocks noChangeAspect="1"/>
          </p:cNvSpPr>
          <p:nvPr/>
        </p:nvSpPr>
        <p:spPr>
          <a:xfrm>
            <a:off x="376660" y="4575772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097385" y="4639366"/>
            <a:ext cx="346761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标签内嵌套其他标签。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110643" y="3501923"/>
            <a:ext cx="22429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li:hover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06957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432925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制作新闻图文混排列表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6-7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228961" y="2162420"/>
            <a:ext cx="3598220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元素选择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器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img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的使用。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60" y="2076721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96171" y="2806470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文本框 20"/>
          <p:cNvSpPr txBox="1">
            <a:spLocks noChangeAspect="1"/>
          </p:cNvSpPr>
          <p:nvPr/>
        </p:nvSpPr>
        <p:spPr>
          <a:xfrm>
            <a:off x="396170" y="3543941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1228961" y="3636273"/>
            <a:ext cx="448072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clear: 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both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属性的使用。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228961" y="2898902"/>
            <a:ext cx="3959727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css3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圆角属性的使用。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4" name="文本框 23"/>
          <p:cNvSpPr txBox="1">
            <a:spLocks noChangeAspect="1"/>
          </p:cNvSpPr>
          <p:nvPr/>
        </p:nvSpPr>
        <p:spPr>
          <a:xfrm>
            <a:off x="396170" y="432347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4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1228961" y="4419665"/>
            <a:ext cx="471862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overflow: hidden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属性的使用。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6" name="文本框 25"/>
          <p:cNvSpPr txBox="1">
            <a:spLocks noChangeAspect="1"/>
          </p:cNvSpPr>
          <p:nvPr/>
        </p:nvSpPr>
        <p:spPr>
          <a:xfrm>
            <a:off x="396170" y="5110128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HK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5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228961" y="5202460"/>
            <a:ext cx="521436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text-align: justify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属性的使用。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8" name="文本框 27"/>
          <p:cNvSpPr txBox="1">
            <a:spLocks noChangeAspect="1"/>
          </p:cNvSpPr>
          <p:nvPr/>
        </p:nvSpPr>
        <p:spPr>
          <a:xfrm>
            <a:off x="396170" y="5879027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6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1228960" y="5975219"/>
            <a:ext cx="562904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text-overflow: ellipsis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属性的使用。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427950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23643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制作缩略图列表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6-8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1324868" y="2542981"/>
            <a:ext cx="461894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ul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li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img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标签嵌套使用。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19" name="文本框 18"/>
          <p:cNvSpPr txBox="1">
            <a:spLocks noChangeAspect="1"/>
          </p:cNvSpPr>
          <p:nvPr/>
        </p:nvSpPr>
        <p:spPr>
          <a:xfrm>
            <a:off x="376660" y="2459503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1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0" name="文本框 19"/>
          <p:cNvSpPr txBox="1">
            <a:spLocks noChangeAspect="1"/>
          </p:cNvSpPr>
          <p:nvPr/>
        </p:nvSpPr>
        <p:spPr>
          <a:xfrm>
            <a:off x="376660" y="3817273"/>
            <a:ext cx="720725" cy="654050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>
                <a:solidFill>
                  <a:srgbClr val="92D14F"/>
                </a:solidFill>
                <a:latin typeface="微软雅黑" pitchFamily="34" charset="-122"/>
                <a:ea typeface="微软雅黑" pitchFamily="34" charset="-122"/>
              </a:rPr>
              <a:t>2</a:t>
            </a:r>
            <a:endParaRPr lang="zh-HK" altLang="en-US" sz="3600" b="1" dirty="0">
              <a:solidFill>
                <a:srgbClr val="92D14F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324868" y="3842854"/>
            <a:ext cx="389401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err="1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img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、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span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标签配合使用。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324868" y="5142727"/>
            <a:ext cx="461894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display: </a:t>
            </a:r>
            <a:r>
              <a:rPr lang="en-US" altLang="zh-CN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block</a:t>
            </a: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  <a:cs typeface="宋体" panose="02010600030101010101" pitchFamily="2" charset="-122"/>
              </a:rPr>
              <a:t>属性的使用。</a:t>
            </a:r>
            <a:endParaRPr lang="zh-CN" altLang="en-US" sz="2400" dirty="0">
              <a:latin typeface="方正粗活意简体" panose="03000509000000000000" pitchFamily="65" charset="-122"/>
              <a:ea typeface="方正粗活意简体" panose="03000509000000000000" pitchFamily="65" charset="-122"/>
              <a:cs typeface="宋体" panose="02010600030101010101" pitchFamily="2" charset="-122"/>
            </a:endParaRPr>
          </a:p>
        </p:txBody>
      </p:sp>
      <p:sp>
        <p:nvSpPr>
          <p:cNvPr id="23" name="文本框 22"/>
          <p:cNvSpPr txBox="1">
            <a:spLocks noChangeAspect="1"/>
          </p:cNvSpPr>
          <p:nvPr/>
        </p:nvSpPr>
        <p:spPr>
          <a:xfrm>
            <a:off x="376660" y="5059249"/>
            <a:ext cx="720725" cy="646331"/>
          </a:xfrm>
          <a:prstGeom prst="rect">
            <a:avLst/>
          </a:prstGeom>
          <a:noFill/>
          <a:effectLst>
            <a:outerShdw blurRad="50800" dist="38100" dir="10800000" algn="r" rotWithShape="0">
              <a:prstClr val="black">
                <a:alpha val="40000"/>
              </a:prstClr>
            </a:outerShdw>
          </a:effectLst>
        </p:spPr>
        <p:txBody>
          <a:bodyPr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600" b="1" dirty="0" smtClean="0">
                <a:solidFill>
                  <a:srgbClr val="0174AB"/>
                </a:solidFill>
                <a:latin typeface="微软雅黑" pitchFamily="34" charset="-122"/>
                <a:ea typeface="微软雅黑" pitchFamily="34" charset="-122"/>
              </a:rPr>
              <a:t>3</a:t>
            </a:r>
            <a:endParaRPr lang="zh-HK" altLang="en-US" sz="3600" b="1" dirty="0">
              <a:solidFill>
                <a:srgbClr val="0174AB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3043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720138" y="6043613"/>
            <a:ext cx="423863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1194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登录界面的制作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8184" y="1754032"/>
            <a:ext cx="4976377" cy="497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0937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1194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登录界面的制作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9788" y="1727127"/>
            <a:ext cx="6979264" cy="4846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0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4" y="1034001"/>
            <a:ext cx="311947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登录界面的制作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634173" y="284163"/>
            <a:ext cx="136479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6-9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363" y="1746656"/>
            <a:ext cx="6436243" cy="4827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1745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12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256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960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网格系统在网页制作中的使用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53423" y="284163"/>
            <a:ext cx="15455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6-10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61507" y="2084610"/>
            <a:ext cx="842098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960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网格系统是使用固定宽度960px置中对齐画面的方式呈现在网页上。去除左右两边各10px的空间，留下中间940px的区块以20px作为间隔分栏。 在空间设计上，可随意合并多栏作为版面配置及网页尺寸的设定， 合并出来的栏宽也不会有畸零数，有利于CSS中DIV宽度的设定。</a:t>
            </a:r>
          </a:p>
        </p:txBody>
      </p:sp>
    </p:spTree>
    <p:extLst>
      <p:ext uri="{BB962C8B-B14F-4D97-AF65-F5344CB8AC3E}">
        <p14:creationId xmlns:p14="http://schemas.microsoft.com/office/powerpoint/2010/main" val="27680780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13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256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960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网格系统在网页制作中的使用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53423" y="284163"/>
            <a:ext cx="15455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6-10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0" name="图片 9" descr="F:\我的文档\17-18-1\h5\48 960网格系统\图\1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62" y="2084610"/>
            <a:ext cx="8127409" cy="33034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48646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14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256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960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网格系统在网页制作中的使用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53423" y="284163"/>
            <a:ext cx="15455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6-10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484963" y="2190055"/>
            <a:ext cx="8212470" cy="281083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dirty="0" smtClean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960</a:t>
            </a:r>
            <a:r>
              <a:rPr lang="zh-CN" altLang="en-US" sz="24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格系统常用规格有两种：一个是12栏式的，效果可见图6-10-5，另一个是16栏式的，效果可见图6-10-6。如果你的设计里面分3个区块你就选择12栏式的，那是因为12能被3整除；同理假如你的设计分四个区块，你可以选12栏式或者16栏式，那时因为12和16都可以被4整除。</a:t>
            </a:r>
          </a:p>
        </p:txBody>
      </p:sp>
    </p:spTree>
    <p:extLst>
      <p:ext uri="{BB962C8B-B14F-4D97-AF65-F5344CB8AC3E}">
        <p14:creationId xmlns:p14="http://schemas.microsoft.com/office/powerpoint/2010/main" val="1275313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15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62560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960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网格系统在网页制作中的使用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53423" y="284163"/>
            <a:ext cx="1545543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6-10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0" name="图片 9" descr="F:\我的文档\17-18-1\h5\48 960网格系统\图\6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63" y="2195497"/>
            <a:ext cx="8167484" cy="253599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5874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16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629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常用三种经典布局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00261" y="284163"/>
            <a:ext cx="159870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0" name="图片 9" descr="F:\我的文档\17-18-1\h5\48 960网格系统\图\2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630" y="2084610"/>
            <a:ext cx="7972478" cy="3718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30733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91108" y="6043613"/>
            <a:ext cx="552894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17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629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常用三种经典布局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00261" y="284163"/>
            <a:ext cx="159870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0" name="图片 9" descr="F:\我的文档\17-18-1\h5\48 960网格系统\图\3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63" y="2084609"/>
            <a:ext cx="8235175" cy="346911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7722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18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484963" y="1034001"/>
            <a:ext cx="3629837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常用三种经典布局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400261" y="284163"/>
            <a:ext cx="1598706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6-11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10" name="图片 9" descr="F:\我的文档\17-18-1\h5\48 960网格系统\图\5.png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963" y="2165076"/>
            <a:ext cx="8235175" cy="355147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18105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516680" y="6043613"/>
            <a:ext cx="627322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19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-78559" y="1034001"/>
            <a:ext cx="94671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使用基于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lib-flexible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库的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rem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单位制作自适应网页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78995" y="284163"/>
            <a:ext cx="161997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484963" y="2099614"/>
            <a:ext cx="814867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lib-flexible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是适配不同大小终端的开源库，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HTML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头部引入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lib-flexible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的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js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库，容器或组件宽高主要使用单位</a:t>
            </a: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rem</a:t>
            </a:r>
            <a:r>
              <a:rPr lang="zh-CN" altLang="en-US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，字体大小则不变仍然使用单位</a:t>
            </a:r>
            <a:r>
              <a:rPr lang="en-US" altLang="zh-CN" sz="24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px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。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lib-flexible</a:t>
            </a:r>
            <a:r>
              <a:rPr lang="zh-CN" altLang="en-US" sz="2400" dirty="0" smtClean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开源库官网：</a:t>
            </a:r>
            <a:endParaRPr lang="en-US" altLang="zh-CN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chemeClr val="tx1">
                    <a:lumMod val="95000"/>
                    <a:lumOff val="5000"/>
                  </a:schemeClr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https://github.com/amfe/lib-flexible</a:t>
            </a:r>
            <a:endParaRPr lang="zh-CN" altLang="en-US" sz="2400" dirty="0">
              <a:solidFill>
                <a:schemeClr val="tx1">
                  <a:lumMod val="95000"/>
                  <a:lumOff val="5000"/>
                </a:schemeClr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900739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01740" y="6043613"/>
            <a:ext cx="542261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2400" b="1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-78559" y="1034001"/>
            <a:ext cx="94671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使用基于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lib-flexible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库的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rem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单位制作自适应网页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78995" y="284163"/>
            <a:ext cx="161997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25" y="1864998"/>
            <a:ext cx="2867266" cy="4688512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0736" y="1885796"/>
            <a:ext cx="2866979" cy="46880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11213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46"/>
          <p:cNvGrpSpPr/>
          <p:nvPr/>
        </p:nvGrpSpPr>
        <p:grpSpPr>
          <a:xfrm>
            <a:off x="-1" y="284163"/>
            <a:ext cx="5100275" cy="530225"/>
            <a:chOff x="0" y="284389"/>
            <a:chExt cx="1601101" cy="529772"/>
          </a:xfrm>
        </p:grpSpPr>
        <p:sp>
          <p:nvSpPr>
            <p:cNvPr id="17" name="矩形 16"/>
            <p:cNvSpPr/>
            <p:nvPr/>
          </p:nvSpPr>
          <p:spPr>
            <a:xfrm>
              <a:off x="0" y="284389"/>
              <a:ext cx="1511300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 eaLnBrk="1" hangingPunct="1">
                <a:defRPr/>
              </a:pPr>
              <a:r>
                <a:rPr lang="en-US" altLang="zh-CN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HTML5+CSS3</a:t>
              </a:r>
              <a:r>
                <a:rPr lang="zh-CN" altLang="en-US" sz="2400" dirty="0">
                  <a:solidFill>
                    <a:schemeClr val="bg1"/>
                  </a:solidFill>
                  <a:latin typeface="方正粗活意简体" panose="03000509000000000000" pitchFamily="65" charset="-122"/>
                  <a:ea typeface="方正粗活意简体" panose="03000509000000000000" pitchFamily="65" charset="-122"/>
                  <a:sym typeface="Arial" panose="020B0604020202020204" pitchFamily="34" charset="0"/>
                </a:rPr>
                <a:t>网页设计任务教程</a:t>
              </a:r>
              <a:endPara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方正粗活意简体" panose="03000509000000000000" pitchFamily="65" charset="-122"/>
                <a:ea typeface="方正粗活意简体" panose="03000509000000000000" pitchFamily="65" charset="-122"/>
                <a:cs typeface="+mn-cs"/>
                <a:sym typeface="Arial" panose="020B0604020202020204" pitchFamily="34" charset="0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1544595" y="284389"/>
              <a:ext cx="56506" cy="529772"/>
            </a:xfrm>
            <a:prstGeom prst="rect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8612372" y="6043613"/>
            <a:ext cx="531629" cy="53022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Arial" panose="020B0604020202020204" pitchFamily="34" charset="0"/>
              </a:rPr>
              <a:t>21</a:t>
            </a:r>
            <a:endParaRPr kumimoji="0" lang="zh-CN" altLang="en-US" sz="24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0" y="814388"/>
            <a:ext cx="9144000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文本框 47"/>
          <p:cNvSpPr txBox="1"/>
          <p:nvPr/>
        </p:nvSpPr>
        <p:spPr bwMode="auto">
          <a:xfrm>
            <a:off x="-78559" y="1034001"/>
            <a:ext cx="94671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eaLnBrk="1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使用基于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lib-flexible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库的</a:t>
            </a:r>
            <a:r>
              <a:rPr lang="en-US" altLang="zh-CN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rem</a:t>
            </a:r>
            <a:r>
              <a:rPr lang="zh-CN" altLang="en-US" sz="3200" dirty="0">
                <a:latin typeface="方正粗活意简体" panose="03000509000000000000" pitchFamily="65" charset="-122"/>
                <a:ea typeface="方正粗活意简体" panose="03000509000000000000" pitchFamily="65" charset="-122"/>
              </a:rPr>
              <a:t>单位制作自适应网页</a:t>
            </a:r>
            <a:endParaRPr kumimoji="0" lang="zh-CN" altLang="en-US" sz="3200" kern="1200" cap="none" spc="0" normalizeH="0" baseline="0" noProof="0" dirty="0" smtClean="0">
              <a:latin typeface="方正粗活意简体" panose="03000509000000000000" pitchFamily="65" charset="-122"/>
              <a:ea typeface="方正粗活意简体" panose="03000509000000000000" pitchFamily="65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7378995" y="284163"/>
            <a:ext cx="1619971" cy="4616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zh-CN" altLang="en-US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任务</a:t>
            </a:r>
            <a:r>
              <a:rPr lang="en-US" altLang="zh-CN" sz="2400" dirty="0" smtClean="0">
                <a:solidFill>
                  <a:srgbClr val="0D0D0D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6-12</a:t>
            </a:r>
            <a:endParaRPr lang="zh-CN" altLang="en-US" sz="2400" b="1" dirty="0">
              <a:solidFill>
                <a:srgbClr val="0070C0"/>
              </a:solidFill>
              <a:latin typeface="方正水柱简体" pitchFamily="65" charset="-122"/>
              <a:ea typeface="方正水柱简体" pitchFamily="65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872" y="1864998"/>
            <a:ext cx="2834281" cy="463719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9330" y="1927856"/>
            <a:ext cx="2839650" cy="4645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385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0" y="2349500"/>
            <a:ext cx="9144000" cy="2159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2890838" y="3429000"/>
            <a:ext cx="6253163" cy="0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488" y="2514600"/>
            <a:ext cx="1828800" cy="1828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7" name="文本框 16"/>
          <p:cNvSpPr txBox="1"/>
          <p:nvPr/>
        </p:nvSpPr>
        <p:spPr>
          <a:xfrm>
            <a:off x="2690037" y="2720975"/>
            <a:ext cx="6258701" cy="1200329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r" eaLnBrk="1" hangingPunct="1"/>
            <a:r>
              <a:rPr lang="en-US" altLang="zh-CN" sz="3200" dirty="0" smtClean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HTML5+CSS3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网页设计任务教程</a:t>
            </a:r>
          </a:p>
          <a:p>
            <a:pPr algn="r" eaLnBrk="1" hangingPunct="1"/>
            <a:endParaRPr lang="zh-CN" altLang="en-US" sz="4000" dirty="0">
              <a:solidFill>
                <a:schemeClr val="bg1"/>
              </a:solidFill>
              <a:latin typeface="方正粗活意简体" panose="03000509000000000000" pitchFamily="65" charset="-122"/>
              <a:ea typeface="方正粗活意简体" panose="03000509000000000000" pitchFamily="65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044355" y="3555036"/>
            <a:ext cx="381867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 eaLnBrk="1" hangingPunct="1"/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单元</a:t>
            </a:r>
            <a:r>
              <a:rPr lang="en-US" altLang="zh-CN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6 </a:t>
            </a:r>
            <a:r>
              <a:rPr lang="zh-CN" altLang="en-US" sz="3200" dirty="0">
                <a:solidFill>
                  <a:schemeClr val="bg1"/>
                </a:solidFill>
                <a:latin typeface="方正粗活意简体" panose="03000509000000000000" pitchFamily="65" charset="-122"/>
                <a:ea typeface="方正粗活意简体" panose="03000509000000000000" pitchFamily="65" charset="-122"/>
                <a:sym typeface="Arial" panose="020B0604020202020204" pitchFamily="34" charset="0"/>
              </a:rPr>
              <a:t>页面布局基础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7" grpId="0"/>
    </p:bldLst>
  </p:timing>
</p:sld>
</file>

<file path=ppt/theme/theme1.xml><?xml version="1.0" encoding="utf-8"?>
<a:theme xmlns:a="http://schemas.openxmlformats.org/drawingml/2006/main" name="Office 主题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382</TotalTime>
  <Words>909</Words>
  <Application>Microsoft Office PowerPoint</Application>
  <PresentationFormat>全屏显示(4:3)</PresentationFormat>
  <Paragraphs>184</Paragraphs>
  <Slides>24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2" baseType="lpstr">
      <vt:lpstr>方正粗活意简体</vt:lpstr>
      <vt:lpstr>方正水柱简体</vt:lpstr>
      <vt:lpstr>宋体</vt:lpstr>
      <vt:lpstr>微软雅黑</vt:lpstr>
      <vt:lpstr>Arial</vt:lpstr>
      <vt:lpstr>Calibri</vt:lpstr>
      <vt:lpstr>Calibri Light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DY</dc:creator>
  <cp:lastModifiedBy>TJ</cp:lastModifiedBy>
  <cp:revision>426</cp:revision>
  <dcterms:created xsi:type="dcterms:W3CDTF">2014-11-08T02:42:00Z</dcterms:created>
  <dcterms:modified xsi:type="dcterms:W3CDTF">2018-07-20T13:36:07Z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