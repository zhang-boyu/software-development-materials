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338" r:id="rId4"/>
    <p:sldId id="374" r:id="rId6"/>
    <p:sldId id="340" r:id="rId7"/>
    <p:sldId id="366" r:id="rId8"/>
    <p:sldId id="367" r:id="rId9"/>
    <p:sldId id="368" r:id="rId10"/>
    <p:sldId id="369" r:id="rId11"/>
    <p:sldId id="370" r:id="rId12"/>
    <p:sldId id="345" r:id="rId13"/>
    <p:sldId id="372" r:id="rId14"/>
    <p:sldId id="373" r:id="rId15"/>
    <p:sldId id="347" r:id="rId16"/>
  </p:sldIdLst>
  <p:sldSz cx="12198350" cy="6858000"/>
  <p:notesSz cx="6858000" cy="9144000"/>
  <p:custDataLst>
    <p:tags r:id="rId20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1" userDrawn="1">
          <p15:clr>
            <a:srgbClr val="A4A3A4"/>
          </p15:clr>
        </p15:guide>
        <p15:guide id="2" pos="38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71"/>
        <p:guide pos="38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gs" Target="tags/tag26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z="1800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sz="1800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1800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9.xml"/><Relationship Id="rId1" Type="http://schemas.openxmlformats.org/officeDocument/2006/relationships/tags" Target="../tags/tag18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6819583" y="1403033"/>
            <a:ext cx="4849812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  <p:pic>
        <p:nvPicPr>
          <p:cNvPr id="3079" name="Picture 10" descr="0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549275"/>
            <a:ext cx="49418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027420" y="3644900"/>
            <a:ext cx="49568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使用跳转语句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break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1-100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之间的所有素数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任务描述</a:t>
            </a:r>
            <a:endParaRPr lang="en-US" altLang="zh-CN" sz="3600" b="1" dirty="0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7" grpId="0" bldLvl="0" autoUpdateAnimBg="0"/>
      <p:bldP spid="5137" grpId="1" bldLvl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800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 sz="1800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Java 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中的跳转语句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6" name="矩形 3"/>
          <p:cNvSpPr>
            <a:spLocks noChangeArrowheads="1"/>
          </p:cNvSpPr>
          <p:nvPr/>
        </p:nvSpPr>
        <p:spPr bwMode="auto">
          <a:xfrm>
            <a:off x="6605588" y="4037013"/>
            <a:ext cx="35988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break语句的语法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格式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  知识链接</a:t>
            </a:r>
            <a:endParaRPr lang="en-US" altLang="zh-CN" sz="3600" b="1" dirty="0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2" presetClass="entr" presetSubtype="0" fill="hold" grpId="0" nodeType="withEffect">
                                  <p:stCondLst>
                                    <p:cond delay="20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0" dur="1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6" grpId="0" bldLvl="0" autoUpdateAnimBg="0"/>
      <p:bldP spid="5137" grpId="0" bldLvl="0" autoUpdateAnimBg="0"/>
      <p:bldP spid="5137" grpId="1" bldLvl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Java 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中的跳转语句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49301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Java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中的跳转语句主要包括以下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种：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return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（在介绍关于异常的知识点时具体讲解）。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跳转语句的功能是改变程序的执行流程，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语句可以独立使用，而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continue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语句只能用在循环结构语句的循环体中。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249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break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02690" y="2132965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break; 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其中，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是关键字。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语句虽然可以独立使用，但通常用于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switch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语句和循环结构语句中，控制程序的执行流程的转移，其使用分为下列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3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种情况。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第一，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语句用在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switch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语句中，我们已在项目三中遇到过这种情况，其作用是强制退出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switch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语句，执行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switch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语句后面的语句。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249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break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209550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第二，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break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语句用在单层循环结构语句的循环体中，其作用是强制退出循环结构语句。</a:t>
            </a:r>
            <a:endParaRPr lang="en-US" altLang="zh-CN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>
                <a:latin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例如，以下代码使得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while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语句实际上只输出了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2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次变量</a:t>
            </a:r>
            <a:r>
              <a:rPr lang="en-US" altLang="zh-CN" sz="2000">
                <a:latin typeface="宋体" panose="02010600030101010101" pitchFamily="2" charset="-122"/>
                <a:cs typeface="宋体" panose="02010600030101010101" pitchFamily="2" charset="-122"/>
              </a:rPr>
              <a:t> i </a:t>
            </a:r>
            <a:r>
              <a:rPr lang="zh-CN" altLang="en-US" sz="2000">
                <a:latin typeface="宋体" panose="02010600030101010101" pitchFamily="2" charset="-122"/>
                <a:cs typeface="宋体" panose="02010600030101010101" pitchFamily="2" charset="-122"/>
              </a:rPr>
              <a:t>的值。</a:t>
            </a:r>
            <a:endParaRPr lang="zh-CN" altLang="en-US" sz="20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int i=1;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while (i&lt;=5){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if (i==3){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break;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System.out.print(" i=" + (i++));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} 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8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924935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break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语句的语法格式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1800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 sz="1800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sz="1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sz="1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74445" y="1988820"/>
            <a:ext cx="9742805" cy="243776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第三，若程序中有内外两重循环，而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 break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语句写在内循环中，则只能退出内循环，进入外循环的下一次循环，而不能退出外循环。要想退出外循环，则需要在外循环中使用</a:t>
            </a:r>
            <a:r>
              <a:rPr lang="en-US" altLang="zh-CN" sz="1800">
                <a:latin typeface="宋体" panose="02010600030101010101" pitchFamily="2" charset="-122"/>
                <a:cs typeface="宋体" panose="02010600030101010101" pitchFamily="2" charset="-122"/>
              </a:rPr>
              <a:t>break </a:t>
            </a:r>
            <a:r>
              <a:rPr lang="zh-CN" altLang="en-US" sz="1800">
                <a:latin typeface="宋体" panose="02010600030101010101" pitchFamily="2" charset="-122"/>
                <a:cs typeface="宋体" panose="02010600030101010101" pitchFamily="2" charset="-122"/>
              </a:rPr>
              <a:t>语句。例如以下代码。</a:t>
            </a:r>
            <a:endParaRPr lang="zh-CN" altLang="en-US" sz="18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int i, j;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for (i = 1; i &lt;= 9; i++) { //</a:t>
            </a: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</a:rPr>
              <a:t>外循环</a:t>
            </a:r>
            <a:endParaRPr lang="zh-CN" altLang="en-US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if (i &gt; 4) {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break;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for (j = 1; j &lt;= i; j++) {//</a:t>
            </a:r>
            <a:r>
              <a:rPr lang="zh-CN" altLang="en-US" sz="1600">
                <a:latin typeface="宋体" panose="02010600030101010101" pitchFamily="2" charset="-122"/>
                <a:cs typeface="宋体" panose="02010600030101010101" pitchFamily="2" charset="-122"/>
              </a:rPr>
              <a:t>内循环</a:t>
            </a:r>
            <a:endParaRPr lang="zh-CN" altLang="en-US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  System.out.print("*");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}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  System.out.print("\n"); 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anose="02010600030101010101" pitchFamily="2" charset="-122"/>
                <a:cs typeface="宋体" panose="02010600030101010101" pitchFamily="2" charset="-122"/>
              </a:rPr>
              <a:t>}</a:t>
            </a:r>
            <a:endParaRPr lang="en-US" altLang="zh-CN" sz="16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5" name="矩形 2"/>
          <p:cNvSpPr>
            <a:spLocks noChangeArrowheads="1"/>
          </p:cNvSpPr>
          <p:nvPr/>
        </p:nvSpPr>
        <p:spPr bwMode="auto">
          <a:xfrm>
            <a:off x="6099175" y="3644265"/>
            <a:ext cx="508381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buFont typeface="Arial" panose="020B0604020202020204" pitchFamily="34" charset="0"/>
              <a:buNone/>
            </a:pP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使用跳转语句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break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输出</a:t>
            </a:r>
            <a:r>
              <a:rPr lang="en-US" altLang="zh-CN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1-100</a:t>
            </a:r>
            <a:r>
              <a:rPr lang="zh-CN" altLang="en-US" sz="18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之间的所有素数</a:t>
            </a:r>
            <a:endParaRPr lang="zh-CN" altLang="en-US" sz="180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549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任务实现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5" dur="1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5" grpId="0" bldLvl="0" autoUpdateAnimBg="0"/>
      <p:bldP spid="5137" grpId="0" bldLvl="0" autoUpdateAnimBg="0"/>
      <p:bldP spid="5137" grpId="1" bldLvl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任务源码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4105" y="2131695"/>
            <a:ext cx="1074610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sz="2000">
                <a:latin typeface="+mn-ea"/>
                <a:ea typeface="+mn-ea"/>
                <a:cs typeface="+mn-ea"/>
                <a:sym typeface="+mn-ea"/>
              </a:rPr>
              <a:t>结合任务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4.5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中的描述和知识链接</a:t>
            </a:r>
            <a:r>
              <a:rPr lang="zh-CN" sz="2000">
                <a:latin typeface="+mn-ea"/>
                <a:ea typeface="+mn-ea"/>
                <a:cs typeface="+mn-ea"/>
                <a:sym typeface="+mn-ea"/>
              </a:rPr>
              <a:t>得到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4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-</a:t>
            </a:r>
            <a:r>
              <a:rPr lang="en-US" sz="2000">
                <a:latin typeface="+mn-ea"/>
                <a:ea typeface="+mn-ea"/>
                <a:cs typeface="+mn-ea"/>
                <a:sym typeface="+mn-ea"/>
              </a:rPr>
              <a:t>5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所示的代码：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42870" y="2551430"/>
            <a:ext cx="600075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ctr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 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文件</a:t>
            </a:r>
            <a:r>
              <a:rPr lang="en-US" altLang="zh-CN" sz="2000">
                <a:latin typeface="+mn-ea"/>
                <a:ea typeface="+mn-ea"/>
                <a:cs typeface="+mn-ea"/>
                <a:sym typeface="+mn-ea"/>
              </a:rPr>
              <a:t> 4-5 Example05.java</a:t>
            </a:r>
            <a:endParaRPr lang="en-US" altLang="zh-CN" sz="2000">
              <a:latin typeface="+mn-ea"/>
              <a:ea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30935" y="2852420"/>
            <a:ext cx="6329680" cy="4654550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1 public class Example05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2 public static void main(String[] args)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//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素数就是不能被除了</a:t>
            </a: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 1 </a:t>
            </a:r>
            <a:r>
              <a:rPr lang="zh-CN" altLang="en-US" sz="2000">
                <a:latin typeface="Times New Roman" panose="02020603050405020304" charset="0"/>
                <a:cs typeface="Times New Roman" panose="02020603050405020304" charset="0"/>
              </a:rPr>
              <a:t>和自己的其他整数整除的数</a:t>
            </a:r>
            <a:endParaRPr lang="zh-CN" altLang="en-US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3 int i,j;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4 for(i=2;i&lt;=100;i++)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5 for(j=2;j&lt;=i;j++)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6 if(i%j==0)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7 break;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8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9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395210" y="2852420"/>
            <a:ext cx="4306570" cy="2245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10 if(i==j) {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11 System.out.print(i+" ");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12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13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14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  <a:sym typeface="+mn-ea"/>
              </a:rPr>
              <a:t>15 } 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266700" algn="just" defTabSz="266700" latinLnBrk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运行结果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华康俪金黑W8(P)" pitchFamily="2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62735" y="2852420"/>
            <a:ext cx="7806690" cy="154241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362960" y="486822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000">
                <a:solidFill>
                  <a:srgbClr val="000000"/>
                </a:solidFill>
                <a:latin typeface="TT9E365D44tCID"/>
                <a:ea typeface="TT9E365D44tCID"/>
              </a:rPr>
              <a:t>图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4-11 </a:t>
            </a:r>
            <a:r>
              <a:rPr lang="zh-CN" altLang="en-US" sz="2000">
                <a:solidFill>
                  <a:srgbClr val="000000"/>
                </a:solidFill>
                <a:latin typeface="TT9E365D44tCID"/>
                <a:ea typeface="TT9E365D44tCID"/>
              </a:rPr>
              <a:t>文件 </a:t>
            </a:r>
            <a:r>
              <a:rPr lang="en-US" altLang="zh-CN" sz="20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4-5 </a:t>
            </a:r>
            <a:r>
              <a:rPr lang="zh-CN" altLang="en-US" sz="2000">
                <a:solidFill>
                  <a:srgbClr val="000000"/>
                </a:solidFill>
                <a:latin typeface="TT9E365D44tCID"/>
                <a:ea typeface="TT9E365D44tCID"/>
              </a:rPr>
              <a:t>的运行结果</a:t>
            </a:r>
            <a:endParaRPr lang="zh-CN" altLang="en-US" sz="2000">
              <a:solidFill>
                <a:srgbClr val="000000"/>
              </a:solidFill>
              <a:latin typeface="TT9E365D44tCID"/>
              <a:ea typeface="TT9E365D44tCID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18590" y="234886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ym typeface="+mn-ea"/>
              </a:rPr>
              <a:t>文件</a:t>
            </a:r>
            <a:r>
              <a:rPr lang="en-US" altLang="zh-CN" sz="2400">
                <a:sym typeface="+mn-ea"/>
              </a:rPr>
              <a:t> 4-5 </a:t>
            </a:r>
            <a:r>
              <a:rPr lang="zh-CN" altLang="en-US" sz="2400">
                <a:sym typeface="+mn-ea"/>
              </a:rPr>
              <a:t>的运行结果如图</a:t>
            </a:r>
            <a:r>
              <a:rPr lang="en-US" altLang="zh-CN" sz="2400">
                <a:sym typeface="+mn-ea"/>
              </a:rPr>
              <a:t> 4-11 </a:t>
            </a:r>
            <a:r>
              <a:rPr lang="zh-CN" altLang="en-US" sz="2400">
                <a:sym typeface="+mn-ea"/>
              </a:rPr>
              <a:t>所示。</a:t>
            </a:r>
            <a:endParaRPr lang="zh-CN" altLang="en-US" sz="2400"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COMMONDATA" val="eyJoZGlkIjoiZjNjMmJiYWQ1NjYxMzU5Y2Q4YWViZjliZTZhYjA5ODE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1303</Words>
  <Application>WPS 演示</Application>
  <PresentationFormat>自定义</PresentationFormat>
  <Paragraphs>147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黑体</vt:lpstr>
      <vt:lpstr>TT9E365D44tCID</vt:lpstr>
      <vt:lpstr>Times New Roman</vt:lpstr>
      <vt:lpstr>ksdb</vt:lpstr>
      <vt:lpstr>Arial Unicode MS</vt:lpstr>
      <vt:lpstr>等线</vt:lpstr>
      <vt:lpstr>Office 主题</vt:lpstr>
      <vt:lpstr>2_Office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丝雨</cp:lastModifiedBy>
  <cp:revision>500</cp:revision>
  <dcterms:created xsi:type="dcterms:W3CDTF">2015-03-26T06:11:00Z</dcterms:created>
  <dcterms:modified xsi:type="dcterms:W3CDTF">2026-01-09T09:14:19Z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A49FEA27645E43EEB7D30005153958A5_13</vt:lpwstr>
  </property>
</Properties>
</file>