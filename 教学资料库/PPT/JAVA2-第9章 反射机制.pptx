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94"/>
  </p:handoutMasterIdLst>
  <p:sldIdLst>
    <p:sldId id="3296" r:id="rId4"/>
    <p:sldId id="3297" r:id="rId6"/>
    <p:sldId id="3298" r:id="rId7"/>
    <p:sldId id="3299" r:id="rId8"/>
    <p:sldId id="3300" r:id="rId9"/>
    <p:sldId id="3301" r:id="rId10"/>
    <p:sldId id="3302" r:id="rId11"/>
    <p:sldId id="3303" r:id="rId12"/>
    <p:sldId id="3304" r:id="rId13"/>
    <p:sldId id="3305" r:id="rId14"/>
    <p:sldId id="3306" r:id="rId15"/>
    <p:sldId id="3307" r:id="rId16"/>
    <p:sldId id="3308" r:id="rId17"/>
    <p:sldId id="3309" r:id="rId18"/>
    <p:sldId id="3310" r:id="rId19"/>
    <p:sldId id="3311" r:id="rId20"/>
    <p:sldId id="3312" r:id="rId21"/>
    <p:sldId id="3313" r:id="rId22"/>
    <p:sldId id="3314" r:id="rId23"/>
    <p:sldId id="3315" r:id="rId24"/>
    <p:sldId id="3316" r:id="rId25"/>
    <p:sldId id="3317" r:id="rId26"/>
    <p:sldId id="3318" r:id="rId27"/>
    <p:sldId id="3319" r:id="rId28"/>
    <p:sldId id="3320" r:id="rId29"/>
    <p:sldId id="3321" r:id="rId30"/>
    <p:sldId id="3322" r:id="rId31"/>
    <p:sldId id="3323" r:id="rId32"/>
    <p:sldId id="3324" r:id="rId33"/>
    <p:sldId id="3378" r:id="rId34"/>
    <p:sldId id="3379" r:id="rId35"/>
    <p:sldId id="3384" r:id="rId36"/>
    <p:sldId id="3385" r:id="rId37"/>
    <p:sldId id="3386" r:id="rId38"/>
    <p:sldId id="3325" r:id="rId39"/>
    <p:sldId id="3389" r:id="rId40"/>
    <p:sldId id="3390" r:id="rId41"/>
    <p:sldId id="3326" r:id="rId42"/>
    <p:sldId id="3327" r:id="rId43"/>
    <p:sldId id="3328" r:id="rId44"/>
    <p:sldId id="3329" r:id="rId45"/>
    <p:sldId id="3330" r:id="rId46"/>
    <p:sldId id="3331" r:id="rId47"/>
    <p:sldId id="3332" r:id="rId48"/>
    <p:sldId id="3333" r:id="rId49"/>
    <p:sldId id="3334" r:id="rId50"/>
    <p:sldId id="3335" r:id="rId51"/>
    <p:sldId id="3336" r:id="rId52"/>
    <p:sldId id="3337" r:id="rId53"/>
    <p:sldId id="3338" r:id="rId54"/>
    <p:sldId id="3339" r:id="rId55"/>
    <p:sldId id="3340" r:id="rId56"/>
    <p:sldId id="3341" r:id="rId57"/>
    <p:sldId id="3342" r:id="rId58"/>
    <p:sldId id="3343" r:id="rId59"/>
    <p:sldId id="3344" r:id="rId60"/>
    <p:sldId id="3345" r:id="rId61"/>
    <p:sldId id="3346" r:id="rId62"/>
    <p:sldId id="3347" r:id="rId63"/>
    <p:sldId id="3348" r:id="rId64"/>
    <p:sldId id="3349" r:id="rId65"/>
    <p:sldId id="3350" r:id="rId66"/>
    <p:sldId id="3351" r:id="rId67"/>
    <p:sldId id="3352" r:id="rId68"/>
    <p:sldId id="3353" r:id="rId69"/>
    <p:sldId id="3354" r:id="rId70"/>
    <p:sldId id="3355" r:id="rId71"/>
    <p:sldId id="3356" r:id="rId72"/>
    <p:sldId id="3357" r:id="rId73"/>
    <p:sldId id="3358" r:id="rId74"/>
    <p:sldId id="3359" r:id="rId75"/>
    <p:sldId id="3360" r:id="rId76"/>
    <p:sldId id="3361" r:id="rId77"/>
    <p:sldId id="3362" r:id="rId78"/>
    <p:sldId id="3363" r:id="rId79"/>
    <p:sldId id="3364" r:id="rId80"/>
    <p:sldId id="3365" r:id="rId81"/>
    <p:sldId id="3366" r:id="rId82"/>
    <p:sldId id="3367" r:id="rId83"/>
    <p:sldId id="3368" r:id="rId84"/>
    <p:sldId id="3369" r:id="rId85"/>
    <p:sldId id="3370" r:id="rId86"/>
    <p:sldId id="3371" r:id="rId87"/>
    <p:sldId id="3372" r:id="rId88"/>
    <p:sldId id="3373" r:id="rId89"/>
    <p:sldId id="3374" r:id="rId90"/>
    <p:sldId id="3375" r:id="rId91"/>
    <p:sldId id="3376" r:id="rId92"/>
    <p:sldId id="3377" r:id="rId93"/>
  </p:sldIdLst>
  <p:sldSz cx="12190095" cy="6859270"/>
  <p:notesSz cx="6858000" cy="9144000"/>
  <p:custDataLst>
    <p:tags r:id="rId99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369B2"/>
    <a:srgbClr val="FF0000"/>
    <a:srgbClr val="FFCA08"/>
    <a:srgbClr val="76C0DD"/>
    <a:srgbClr val="FAFAFA"/>
    <a:srgbClr val="F2F2F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92" autoAdjust="0"/>
    <p:restoredTop sz="94660" autoAdjust="0"/>
  </p:normalViewPr>
  <p:slideViewPr>
    <p:cSldViewPr>
      <p:cViewPr varScale="1">
        <p:scale>
          <a:sx n="101" d="100"/>
          <a:sy n="101" d="100"/>
        </p:scale>
        <p:origin x="126" y="408"/>
      </p:cViewPr>
      <p:guideLst>
        <p:guide orient="horz" pos="2333"/>
        <p:guide pos="720"/>
        <p:guide pos="64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3110"/>
        <p:guide pos="212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tags" Target="tags/tag51.xml"/><Relationship Id="rId98" Type="http://schemas.openxmlformats.org/officeDocument/2006/relationships/commentAuthors" Target="commentAuthors.xml"/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handoutMaster" Target="handoutMasters/handoutMaster1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09" y="1413038"/>
            <a:ext cx="10198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6843" y="654565"/>
            <a:ext cx="575974" cy="577219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8921" y="655090"/>
            <a:ext cx="575974" cy="576171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2882" y="654565"/>
            <a:ext cx="577021" cy="577219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000" y="654565"/>
            <a:ext cx="577021" cy="577219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4961" y="654565"/>
            <a:ext cx="577021" cy="577219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tags" Target="../tags/tag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0.xml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1" Type="http://schemas.openxmlformats.org/officeDocument/2006/relationships/tags" Target="../tags/tag2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1" Type="http://schemas.openxmlformats.org/officeDocument/2006/relationships/tags" Target="../tags/tag2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1" Type="http://schemas.openxmlformats.org/officeDocument/2006/relationships/tags" Target="../tags/tag2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1" Type="http://schemas.openxmlformats.org/officeDocument/2006/relationships/tags" Target="../tags/tag3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1" Type="http://schemas.openxmlformats.org/officeDocument/2006/relationships/tags" Target="../tags/tag3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37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1" Type="http://schemas.openxmlformats.org/officeDocument/2006/relationships/tags" Target="../tags/tag3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42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5.png"/><Relationship Id="rId1" Type="http://schemas.openxmlformats.org/officeDocument/2006/relationships/tags" Target="../tags/tag4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45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1" Type="http://schemas.openxmlformats.org/officeDocument/2006/relationships/tags" Target="../tags/tag4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1" Type="http://schemas.openxmlformats.org/officeDocument/2006/relationships/tags" Target="../tags/tag4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49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8.png"/><Relationship Id="rId1" Type="http://schemas.openxmlformats.org/officeDocument/2006/relationships/tags" Target="../tags/tag5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9</a:t>
            </a:r>
            <a:r>
              <a:rPr lang="zh-CN" altLang="en-US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反射机制</a:t>
            </a:r>
            <a:endParaRPr lang="en-US" sz="45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279207" y="3861435"/>
            <a:ext cx="792000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基础入门（第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849264" y="2632634"/>
            <a:ext cx="856869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Class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类，能够说出Class类实例化对象的3种方式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849120" y="3608974"/>
            <a:ext cx="8561070" cy="685800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Class类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的基本使用,能够分别通过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无参构造方法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有参构造方法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实例化对象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43744" y="1702774"/>
            <a:ext cx="8561070" cy="685800"/>
            <a:chOff x="978872" y="2570437"/>
            <a:chExt cx="5437064" cy="514350"/>
          </a:xfrm>
        </p:grpSpPr>
        <p:sp>
          <p:nvSpPr>
            <p:cNvPr id="13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了解反射，能够说出反射的概念和优点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859280" y="4570999"/>
            <a:ext cx="8561070" cy="685800"/>
            <a:chOff x="978872" y="2570437"/>
            <a:chExt cx="5437064" cy="514350"/>
          </a:xfrm>
        </p:grpSpPr>
        <p:sp>
          <p:nvSpPr>
            <p:cNvPr id="3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掌握类结构的获取,能够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通过反射获取类的父类、全部构造方法、全部方法、全部属性以及实现的全部接口</a:t>
              </a:r>
              <a:endPara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842770" y="5487304"/>
            <a:ext cx="8561070" cy="685800"/>
            <a:chOff x="978872" y="2570437"/>
            <a:chExt cx="5437064" cy="514350"/>
          </a:xfrm>
        </p:grpSpPr>
        <p:sp>
          <p:nvSpPr>
            <p:cNvPr id="6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熟悉反射的基本应用,能够通过反射调用类中的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setter、getter方法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,操作类中的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属性</a:t>
              </a:r>
              <a:endPara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75" y="573706"/>
            <a:ext cx="3911644" cy="662276"/>
          </a:xfrm>
          <a:prstGeom prst="rect">
            <a:avLst/>
          </a:prstGeom>
        </p:spPr>
        <p:txBody>
          <a:bodyPr lIns="121897" tIns="60948" rIns="121897" bIns="6094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14461" y="2375868"/>
            <a:ext cx="9770271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Java中，如果定义了一个类，则可以通过类的实例化操作创建对象，并通过对象获取对应的类信息。反射机制是Java中非常重要的一个知识点，应用面很广，Java中的大部分类库以及框架底层都用到了反射机制，反射机制是Java框架设计的灵魂。本章将针对Java的反射机制进行详细讲解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43206" y="1746896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43206" y="2602983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43206" y="3465964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48758" y="1738017"/>
            <a:ext cx="5496560" cy="612775"/>
            <a:chOff x="4315150" y="953426"/>
            <a:chExt cx="4122956" cy="539804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反射概述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48758" y="2586157"/>
            <a:ext cx="5496560" cy="612775"/>
            <a:chOff x="4315150" y="1647579"/>
            <a:chExt cx="4122956" cy="539804"/>
          </a:xfrm>
        </p:grpSpPr>
        <p:sp>
          <p:nvSpPr>
            <p:cNvPr id="64" name="矩形 63"/>
            <p:cNvSpPr/>
            <p:nvPr/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认识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Class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类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48758" y="3444311"/>
            <a:ext cx="5496560" cy="612775"/>
            <a:chOff x="4315150" y="2341731"/>
            <a:chExt cx="4122956" cy="539804"/>
          </a:xfrm>
        </p:grpSpPr>
        <p:sp>
          <p:nvSpPr>
            <p:cNvPr id="67" name="矩形 66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Class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类的使用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143206" y="4333374"/>
            <a:ext cx="1192190" cy="613315"/>
            <a:chOff x="2215144" y="3084852"/>
            <a:chExt cx="1244730" cy="843130"/>
          </a:xfrm>
        </p:grpSpPr>
        <p:sp>
          <p:nvSpPr>
            <p:cNvPr id="3" name="平行四边形 2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048758" y="4311721"/>
            <a:ext cx="5496560" cy="612775"/>
            <a:chOff x="4315150" y="2341731"/>
            <a:chExt cx="4122956" cy="539804"/>
          </a:xfrm>
        </p:grpSpPr>
        <p:sp>
          <p:nvSpPr>
            <p:cNvPr id="6" name="矩形 5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通过反射获取类结构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7" name="平行四边形 6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143206" y="5167129"/>
            <a:ext cx="1192190" cy="613315"/>
            <a:chOff x="2215144" y="3084852"/>
            <a:chExt cx="1244730" cy="843130"/>
          </a:xfrm>
        </p:grpSpPr>
        <p:sp>
          <p:nvSpPr>
            <p:cNvPr id="9" name="平行四边形 8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48758" y="5145476"/>
            <a:ext cx="5496560" cy="612775"/>
            <a:chOff x="4315150" y="2341731"/>
            <a:chExt cx="4122956" cy="539804"/>
          </a:xfrm>
        </p:grpSpPr>
        <p:sp>
          <p:nvSpPr>
            <p:cNvPr id="12" name="矩形 11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反射的应用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了解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反射概述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，能够说出反射的作用和优点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6695" y="2634615"/>
            <a:ext cx="9213850" cy="2493645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在日常生活中，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反射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是一种物理现象，例如，通过照镜子可以反射出你的容貌，水面可以反射出物体的形态等，这些都是反射。通过反射，可以将一个虚像映射到实物，这样就可以获取实物的某些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形态特征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。Java程序中也有反射，Java程序中的反射也是同样的道理，常规情况下程序通过类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创建对象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，反射就是将这一过程进行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反转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，通过实例化对象来获取所属类的信息。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反射概述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2685" y="2381885"/>
            <a:ext cx="9864090" cy="30537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2685" y="23818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2600" y="49491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反射的作用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60145" y="2117725"/>
            <a:ext cx="98704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Java的反射机制可以动态获取程序信息以及动态调用对象的功能，它主要有以下4个作用。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（1）在程序运行状态中，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构造任意一个类的对象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（2）在程序运行状态中，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获取任意一个对象所属的类的信息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（3）在程序运行状态中，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调用任意一个类的成员变量和方法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（4）在程序运行状态中，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获取任意一个对象的属性和方法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反射的优点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60145" y="2117725"/>
            <a:ext cx="987044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反射机制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的优点是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可以实现动态创建对象和编译(即动态编译)，特别是在Java EE的开发中，反射的灵活性表现的十分明显。</a:t>
            </a:r>
            <a:endParaRPr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，一个大型的软件，不可能一次就把程序设计得很完美，当这个程序编译、发布上线后，需要更新某些功能时，如果采用静态编译，需要把整个程序重新编译一次才可以实现功能的更新，这就需要用户把以前的软件卸载，再重新安装新的版本。而采用反射机制，程序可以在运行时动态地创建和编译对象，不需要用户重新安装软件，即可实现功能的更新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7070725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了解Class类，能够说出Class类实例化对象的3种方式</a:t>
              </a:r>
              <a:endPara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1012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469014"/>
            <a:ext cx="15576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60145" y="2117725"/>
            <a:ext cx="98704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在1.5节中学习了Java程序的运行机制，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JVM编译.java文件生成对应的.class文件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将.class文件加载到内存中执行。在执行.class文件的时候可能需要用到其他类（其他.class文件内容），这个时候就需要获取其他类的信息（反射）。JVM在加载.class文件时，会产生一个Class对象代表该.class字节码文件，从Class对象中可以获得.class文件内容，即获得类的信息。因此要想完成反射操作，就必须先认识Class类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8346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6068" y="1245494"/>
            <a:ext cx="23196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类的常用方法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78275" y="937260"/>
            <a:ext cx="74974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Class类提供了很多方法，通过Class类的方法可以获取一个类的相应信息，包括该类的方法、属性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63372" y="2139474"/>
          <a:ext cx="9208135" cy="38176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045460"/>
                <a:gridCol w="6162675"/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forName(String className) 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获取与给定字符串名称的类或接口相关联的Class对象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getConstructors()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获取类中所有public修饰的构造方法对象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getDeclaredFields() 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获取所有成员变量对应的字段类对象，包括public，protected，default和private修饰的字段，但不包括从父类继承的字段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getFields()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获取所有public修饰的成员变量对应的字段类对象，包括从父类继承的字段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getMethods()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获取所有public修饰的成员方法对应的方法类对象，包括从父类继承的方法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getMethod(String name,        Class...parameter Type) 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根据方法名和参数类型获得对应的方法类对象，并且只能获得public修饰的方法类对象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getInterfaces()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获取当前类所实现的全部接口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63372" y="1565434"/>
          <a:ext cx="9208135" cy="36449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141980"/>
                <a:gridCol w="6066155"/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getClass()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获取调用该方法的Class对象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getName()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获取类的完整名称，名称中包含包的名称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getPackage()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获取类所属的包名称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getSuperclass()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获取类的父类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newInstance()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创建Class对象关联类的对象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getComponentType()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获取数组的对应Class对象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isArray()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判断此Class对象是否是一个数组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40868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469014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类实例化对象的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种方式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4145" y="2548255"/>
            <a:ext cx="954468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因为Class类本身并没有定义任何构造方法，所以Class类不能直接使用构造方法进行对象的实例化，使用Class类进行对象的实例化可以使用以下3种方式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（1）根据全限定类名获取：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Class.forName(“全限定类名”)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（2）根据对象获取：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对象名.getClass()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（3）根据类名获取：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类名.class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94868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0886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33090" y="932815"/>
            <a:ext cx="78301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下面通过一个案例演示Class类的3种实例化方式。具体代码如下所示。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45" y="1741170"/>
            <a:ext cx="8727440" cy="452247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03730" y="1741170"/>
            <a:ext cx="838327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A{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Example01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Class&lt;?&gt; c1 = null;			//声明Class对象c1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Class&lt;?&gt; c2 = null;			//声明Class对象c2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Class&lt;?&gt; c3 = null;			//声明Class对象c3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try{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c1 = Class.forName("com.itheima.A");//通过第（1）种方式实例化c1对象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c2 = new A().getClass();		//通过第（2）种方式实例化c2对象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c3 = A.class;			//通过第（3）种方式实例化c3对象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System.out.println("类名称："+c1.getName());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System.out.println("类名称："+c2.getName());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System.out.println("类名称："+c3.getName());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26822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9010" y="110617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7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2349500"/>
            <a:ext cx="5732543" cy="21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7984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案例运行结果分析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8430" y="2747645"/>
            <a:ext cx="93732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从上图可以看出，3种实例化Class对象的结果是一样的，但是类名.class是JVM使用类装载器，将类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装入内存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(如果类还没有装入内存),不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做类的初始化工作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，返回Class的对象；Class.forName("类名字符串")会进行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类的静态初始化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，返回Class的对象；实例对象.getClass()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实例对象运行时所属的类的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Class的对象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375535"/>
            <a:ext cx="9864090" cy="31121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37553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500126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类的使用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无参构造方法实例化对象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60145" y="2548255"/>
            <a:ext cx="98704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如果想通过Class类实例化其他类的对象，则可以调用newInstance()方法，在调用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newInstance()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方法实例化其他类的对象时，必须要保证被实例化的类中存在一个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无参构造方法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536065"/>
            <a:ext cx="431673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6068" y="1676024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通过无参构造方法实例化对象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09651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2390" y="1245235"/>
            <a:ext cx="48266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案例一演示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通过无参构造方法实例化对象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通过一个案例演示Class类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通过无参构造方法实例化对象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19020" y="2455545"/>
            <a:ext cx="7276465" cy="306768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111500" y="2455545"/>
            <a:ext cx="5939790" cy="306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Person{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private String name;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private int age;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String getName() {return name;}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void setName(String name) {this.name = name;}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int getAge() {return age;}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void setAge(int age) {this.age = age;}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String toString()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"姓名："+this.name+",年龄："+this.age;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创建Person类，在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中定义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属性并编写name与age的getter和setter方法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315" y="1809750"/>
            <a:ext cx="8195310" cy="46913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320925" y="1809750"/>
            <a:ext cx="7521575" cy="469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Class&lt;?&gt; c = null; 			//声明Class类对象c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 = Class.forName("com.itheima.Person");//调用forName()方法实例化c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Person per = null;			//声明Person类对象per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 = (Person)c.newInstance();//通过c调用newInstance()方法实例化per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 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per.setName("张三");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per.setAge(30);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System.out.println(per);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852170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方法，调用Class.forName()方法实例化Class对象，将Person的全限定名作为参数传入，使用Class对象c调用newInstance()方法实例化对象per。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635" y="5003165"/>
            <a:ext cx="96793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注意：在调用newInstance()方法实例化类对象时，被实例化对象的类中必须存在无参构造方法，否则无法实例化对象。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8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115" y="2529523"/>
            <a:ext cx="6539615" cy="180000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案例一运行结果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2216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2390" y="1245235"/>
            <a:ext cx="5097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案例二演示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没有无参构造方法时实例化对象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通过一个案例演示没有无参构造方法时，通过newInstance()方法实例化对象。具体步骤如下。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55545"/>
            <a:ext cx="9356090" cy="33972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6930" y="2457450"/>
            <a:ext cx="7976870" cy="333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Person{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String name;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age;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Person(String name,int age){		//定义有参构造方法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this.setName(name);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this.setAge(age);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String toString()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"姓名："+this.name+",年龄："+this.age;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省略定义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getter/setter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方法的代码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，在Person类中定义name和age属性并编写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属性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的getter和setter方法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及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方法，定义有参构造方法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1740" y="1953260"/>
            <a:ext cx="7233920" cy="39852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336925" y="2005965"/>
            <a:ext cx="5516880" cy="3879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Class&lt;?&gt; c = null;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 = Class.forName("com.itheima.Person");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Person per = null;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per = (Person)c.newInstance();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 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方法，对Person对象使用newInstance()方法进行实例化，代码如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635" y="5003165"/>
            <a:ext cx="103917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由图可知，报错信息提示Person类中没有发现无参构造方法，无法使用newInstance()方法实例化Person对象。因此，在使用Class类实例化其他类对象时一定要在其他类中编写无参构造方法。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9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685" y="2471103"/>
            <a:ext cx="5291774" cy="21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参构造方法实例化对象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635" y="1780540"/>
            <a:ext cx="87757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通过有参构造方法实例化对象的操作步骤如下: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(1)通过调用Class类中的getConstructors()方法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获取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要实例化的类中的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全部构造方法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(2)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获取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实例化使用的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有参构造方法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对应的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Constructor对象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(3)通过 Constructor类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实例化对象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8370" y="1064895"/>
            <a:ext cx="102647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Constructor类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用于存储要实例化化的类的构造方法，Constructor类的常用方法如下所示。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91287" y="2133759"/>
          <a:ext cx="9208135" cy="36449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141980"/>
                <a:gridCol w="606615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90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 getModifiers()</a:t>
                      </a:r>
                      <a:endParaRPr lang="en-US" sz="19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获取构造方法的修饰符</a:t>
                      </a:r>
                      <a:endParaRPr lang="en-US" sz="19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90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 getName()</a:t>
                      </a:r>
                      <a:endParaRPr lang="en-US" sz="19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获取构造方法的名称</a:t>
                      </a:r>
                      <a:endParaRPr lang="en-US" sz="19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90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 getParameterTypes()</a:t>
                      </a:r>
                      <a:endParaRPr lang="en-US" sz="19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获取构造方法中参数的类型</a:t>
                      </a:r>
                      <a:endParaRPr lang="en-US" sz="19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</a:tr>
              <a:tr h="431165"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toString()</a:t>
                      </a:r>
                      <a:endParaRPr lang="en-US" sz="19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返回此构造方法的信息</a:t>
                      </a:r>
                      <a:endParaRPr lang="en-US" sz="19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newInstance(Object...initargs)</a:t>
                      </a:r>
                      <a:endParaRPr lang="en-US" sz="19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通过该构造方法的指定参数列表创建一个该类的对象，如果未设置参数则表示采用默认无参的构造方法</a:t>
                      </a:r>
                      <a:endParaRPr lang="en-US" sz="1900" b="0" spc="13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885" y="1666240"/>
            <a:ext cx="9319260" cy="51460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601595" y="1718945"/>
            <a:ext cx="8413750" cy="5232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 Example04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Class&lt;?&gt; c = null;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c = Class.forName("com.itheima.Person");    //实例化对象c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Person per = null;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Constructor&lt;?&gt; cons[] = null;		//声明Constructor类对象数组cons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cons = c.getConstructors();		//获取Person类的全部构造方法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per = (Person)cons[0].newInstance("张三",30); //实例化Person对象per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 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System.out.println(per);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Chevron 3"/>
          <p:cNvSpPr/>
          <p:nvPr>
            <p:custDataLst>
              <p:tags r:id="rId2"/>
            </p:custDataLst>
          </p:nvPr>
        </p:nvSpPr>
        <p:spPr>
          <a:xfrm>
            <a:off x="1000125" y="967740"/>
            <a:ext cx="52216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98880" y="1101725"/>
            <a:ext cx="5097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演示通过有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参构造方法时实例化对象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032" y="2951480"/>
            <a:ext cx="5985417" cy="176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6047740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通过反射获取类结构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通过反射获取类结构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3025" y="2133600"/>
            <a:ext cx="99009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在实际开发中，通过反射可以得到一个类的完整结构，包括类的构造方法、类的属性、类的方法。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通过反射获取类结构需要使用到java.lang.reflect包中的以下3个类。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Constructor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：用于获取类中的构造方法。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Field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：用于获取类中的属性。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（3）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Method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：用于获取类中的方法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通过反射获取类结构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4860" y="1216660"/>
            <a:ext cx="109067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Constructor类、Field类和Method类都是AccessibleObject类的子类，AccessibleObject类的继承关系如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图所示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362" y="2479040"/>
            <a:ext cx="3657381" cy="338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获取类实现的全部接口，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能够通过反射获取类实现的全部接口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9744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34658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getInterfaces()方法声明格式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4905" y="233362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要获取一个类所实现的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全部接口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，可以调用Class类中的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getInterfaces()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方法。getInterfaces()方法声明格式如下所示：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62655" y="3708400"/>
            <a:ext cx="5264150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Class[] getInterfaces();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4905" y="5022850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getInterfaces()方法返回一个Class类的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对象数组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，数组中存储的是类所实现的接口。使用对象数组中的元素（接口）调用Class类中的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getName()方法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可以获取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接口的名称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68205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4145" y="1245235"/>
            <a:ext cx="6550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案例演示getInterfaces()方法获取类所实现的全部接口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下面通过一个案例讲解通过getInterfaces()方法获取一个类所实现的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全部接口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57450"/>
            <a:ext cx="9356090" cy="374078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129280" y="2523490"/>
            <a:ext cx="5904230" cy="360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interface China{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static final String NATION = "CHINA";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static final String AUTHOR = "张三";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Person implements China{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String name;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age;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Person(String name,int age){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this.setName(name);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this.setAge(age);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省略定义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getter/setter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toString()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方法的代码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定义接口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China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，声明两个字符串常量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NATION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AUTHOR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，然后定义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类实现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接口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China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，在类中声明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name和age属性并编写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属性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的getter和setter方法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及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方法，定义有参构造方法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595" y="2234565"/>
            <a:ext cx="9251315" cy="38785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49475" y="2234565"/>
            <a:ext cx="7869555" cy="3879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Example05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	Class&lt;?&gt; c = null;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	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	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 = Class.forName("com.itheima.Person");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		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cons[] = c.getInterfaces();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for (int i = 0;i &lt; cons.length; i++){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	        System.out.println("实现的接口名称："+ cons[i].getName());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方法，以Class数组的形式将全部的接口对象返回，并利用循环的方式将数组的内容依次输出，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1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965" y="2609850"/>
            <a:ext cx="7928346" cy="21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获取父类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，能够通过反射获取类的父类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9744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35972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getSuperClass()方法声明格式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4905" y="233362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如果要获取一个类的父类，可以调用Class类中的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getSuperClass()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方法。getSuperClass()方法声明格式如下：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62655" y="3708400"/>
            <a:ext cx="5776595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Class&lt;? Super T&gt; getSuperClass();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4905" y="5022850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getSuperClass()方法返回一个Class类的实例，通过该实例调用Class类中的getName()方法可以获取类的名称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7067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29410" y="1245235"/>
            <a:ext cx="4721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案例演示getSuperClass()方法获取父类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下面通过一个案例讲解调用getSuperClass()方法获取一个类的父类。具体步骤如下。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065" y="2306320"/>
            <a:ext cx="7616825" cy="346646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234690" y="2370455"/>
            <a:ext cx="5489575" cy="333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Person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String name;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age;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Person(String name,int age){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this.setName(name);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this.setAge(age);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public String toString()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return "姓名："+this.name+",年龄："+this.age;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......//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省略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getter/setter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类，在类中定义属性和构造方法，属性的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getter/setter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120" y="2306320"/>
            <a:ext cx="8281670" cy="360108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322195" y="2437765"/>
            <a:ext cx="7545705" cy="333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Example06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Class&lt;?&gt; c1 = null;                                 //声明Class对象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c1 = Class.forName("com.itheima.Person");    //实例化Class对象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c2 = c1.getSuperclass();                //取得Person类的父类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System.out.println("父类名称："+ c2.getName());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方法，声明从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对象并实例化，使用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getSuperclass()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取得Person类的父类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635" y="5213350"/>
            <a:ext cx="96824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由图可知，Person类在编写时没有显式地继承一个父类，所以会默认继承Object类。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777" y="2529840"/>
            <a:ext cx="6607345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全部构造方法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，能够通过反射获取类的全部构造方法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1805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获取构造方法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4905" y="2333625"/>
            <a:ext cx="99009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类的构造方法的获取在9.3.2节已经讲解，获取类的构造方法需要调用Class类的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getConstructors()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方法。调用getConstructors()方法获取的构造方法需要存储到Constructor类型的数组当中。通过调用Constructor类的方法可以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获取构造方法的详细信息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构造方法的权限、名称、参数信息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62769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4145" y="1245235"/>
            <a:ext cx="5924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案例演示getConstructors()方法获取全部构造方法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演示通过getConstructors()方法获取全部构造方法，然后存储到Constructor类型的数组当中的过程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56335" y="2760345"/>
            <a:ext cx="98774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类，声明属性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，定义无参构造方法、有一个参数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的构造方法、有两个参数的构造方法，为属性定义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getter/setter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方法。这部分代码比较简单，此处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省略不写，可以根据描述信息自行编写代码，或者参考教材案例文件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9-7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58900"/>
            <a:ext cx="9602470" cy="50457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60170" y="1260475"/>
            <a:ext cx="9510395" cy="5232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Class&lt;?&gt; c1 = null;                                //声明Class对象c1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c1 = Class.forName("com.itheima.Person");   //实例化c1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}catch(ClassNotFoundException e){e.printStackTrace();}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Constructor&lt;?&gt; con[]  = c1.getConstructors();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//获取全部构造方法，存到Constructor类数组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0;i &lt; con.length;i++){             //循环打印构造方法信息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p[] = con[i].getParameterTypes();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//获取构造方法详细信息并输出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System.out.print("构造方法：");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System.out.print(con[i].getModifiers()+" "); //获取构造方法权限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System.out.print(con[i].getName());           //获取构造方法名称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System.out.print("（");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for (int j = 0;j &lt; p.length; j++){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//打印构造方法参数信息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	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System.out.print(p[j].getName()+ " arg" +i);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if (j &lt; p.length-1){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System.out.print(",");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System.out.println("）{}");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852170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4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742" y="2529523"/>
            <a:ext cx="6151349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313" y="14690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64945" y="2763520"/>
            <a:ext cx="925957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上图可知，控制台输出了Person类的所有构造方法名称及参数信息，在获取构造方法权限时可以发现，getModifiers()方法返回的是一个数字1而不是public，这是因为Java源码中方法的权限修饰符是使用数字标识的，如果要把表示权限的数字转换成用户可以看懂的关键字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需要调用java.lang.reflect包中Modifier类的toString()方法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调用Modifier类的toString()方法将数字还原成权限修饰符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519045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190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7148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43954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38823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调用Modifier类的toString()方法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4905" y="233362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调用Modifier类的toString()方法将数字还原成权限修饰符，只需要将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System.out.print(con[i].getModifiers()+" "); 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替换成如下代码：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62655" y="3708400"/>
            <a:ext cx="6544945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mo = con[i].getModifiers();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System.out.print(Modifier.toString(mo) + " ");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44905" y="5022850"/>
            <a:ext cx="52190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代码替换后，再次运行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程序。查看结果。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5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062" y="2529840"/>
            <a:ext cx="6364369" cy="180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52855" y="5231130"/>
            <a:ext cx="846074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由图可知，使用Modifier类将权限修饰符从数字1还原成了关键字public。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获取全部方法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，能够通过反射获取类的全部方法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7819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2346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getMethods()方法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4905" y="2333625"/>
            <a:ext cx="99009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如果要获取类中的所有public修饰的成员方法对象，那么可以使用Class类中的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getMethods()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方法，该方法返回一个Method类的对象数组。如果想要进一步获取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方法的具体信息，如方法的参数、抛出的异常声明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等，可以调用Method类提供的一系列方法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0746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26739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Method类的常用方法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63372" y="2282984"/>
          <a:ext cx="9208135" cy="321373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getModifiers()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获取方法的权限修饰符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getName()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获取方法的名称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getParameterTypes()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获取方法的全部参数的类型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getReturnType()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获取方法的返回值类型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getExceptionType()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获取方法抛出的全部异常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newInstance(Object...initargs) 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通过反射调用类中的方法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948690"/>
            <a:ext cx="1922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0886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45155" y="790575"/>
            <a:ext cx="78295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演示类的全部方法的获取。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方法，省略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类的定义，完整代码可参考教材案例文件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9-8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95" y="1804035"/>
            <a:ext cx="9251315" cy="48202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6275" y="1829435"/>
            <a:ext cx="8298180" cy="476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c = null;                               //声明Class对象c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c = Class.forName("com.itheima.Person"); //实例化Class对象c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Method m[] = c.getMethods();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//获取全部方法，存储到Method类数组对象m中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 (int i = 0;i &lt; m.length; i++){        //遍历数组m循环输出方法信息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Class&lt;?&gt; r = m[i].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getReturnType()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 //获取方法的返回值类型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Class&lt;?&gt; p[] = m[i].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getParameterTypes();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//获取全部的参数类型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int xx = m[i].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getModifiers();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//获取方法的权限修饰符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System.out.print(Modifier.toString(xx)+" ");  //还原修饰符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System.out.print(r.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getName()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+" ");           //获取方法名称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System.out.print(m[i].getName());       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System.out.print("(");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......//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省略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循环输出方法的参数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Class&lt;?&gt; ex[] = m[i].getExceptionTypes();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//获取方法抛出的全部异常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......//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省略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判断是否有异常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输出异常信息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参考教材案例文件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9-8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      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1990090"/>
            <a:ext cx="5208860" cy="288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43635" y="5227320"/>
            <a:ext cx="101473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由图可知，控制台不仅将Person类的方法输出，也将从Object类中继承而来的方法进行了输出。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获取全部属性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，能够通过反射获取类的全部属性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9744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获取类的全部属性的两种方式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4905" y="222948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（1）获取本类中，以及实现的接口或继承的父类中的公共属性，需要调用getFields()方法。getFields()方法声明如下所示：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3010" y="3598545"/>
            <a:ext cx="7203440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Field[] getFields() throws SecurityException;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18100" y="937260"/>
            <a:ext cx="60826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通过反射也可以获取一个类中的全部属性，类中的属性包括两部分，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从父类继承的属性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本类定义的属性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4905" y="151193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（2）获取本类中的全部属性，需要调用getDeclaredFields()方法。getDeclareFields()方法声明如下所示：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3010" y="2880995"/>
            <a:ext cx="7203440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Field[] getDeclaredFields throws SecurityException;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4905" y="429323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上述两个方法返回的都是Field数组，Field数组中的每一个Field对象表示类中的一个属性。如果要获取属性的详细信息，就需要调用Field类提供的一系列方法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8187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22834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Field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类的常用方法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63372" y="2282984"/>
          <a:ext cx="9208135" cy="3662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getModifiers()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获取属性的权限修饰符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getName()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获取属性的名称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isAccessible()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判断属性是否可被外部访问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setAccessible(Boolean flag)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设置属性是否可被外部访问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toString()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返回Filed类的信息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get(Object obj)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获取参数对象中属性的具体内容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set(Object obj, Object value)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设置指定对象中属性的具体内容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163955"/>
            <a:ext cx="1922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3039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55620" y="989330"/>
            <a:ext cx="84791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案例讲解如何获取一个类中的全部属性信息。定义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方法，省略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类的定义，完整代码可参考教材案例文件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9-9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95" y="2019300"/>
            <a:ext cx="9251315" cy="45745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350770" y="2044700"/>
            <a:ext cx="7488555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c1 = null;                               //声明Class对象c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c1 = Class.forName("com.itheima.Person"); //实例化Class对象c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//获取本类属性，存储到Field类数组f当中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 f[] = c1.getDeclaredFields();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 (int i = 0;i&lt;f.length;i++){            //循环输出属性信息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Class&lt;?&gt; r = f[i].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getType()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        //获取属性的类型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int mo = f[i].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getModifiers()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       //获取属性权限修饰符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String priv =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Modifier.toString(mo)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//转换属性的权限修饰符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System.out.print("本类属性：");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System.out.print(priv+" ");             //输出属性权限修饰符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System.out.print(r.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getName()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+" ");     //输出属性类型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System.out.print(f[i].getName());      //输出属性名称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System.out.println(";");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765" y="2529840"/>
            <a:ext cx="5790083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9.4.6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通过反射调用类中的方法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9.4.6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9744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2558" y="1245494"/>
            <a:ext cx="373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反射调用类中的方法时操作步骤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4905" y="2229485"/>
            <a:ext cx="990092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通过反射调用类中的方法时，需要使用Method类完成，具体操作步骤如下。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（1）通过调用Class类的getMethod()方法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获取一个Method类的对象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。调用getMethod()方法时需要传入方法名作为参数。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（2）通过获取的Method对象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调用invoke()方法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，执行目标方法。调用invoke()方法时，需要传递Class对象的实例作为参数。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9.4.6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922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76880" y="887095"/>
            <a:ext cx="84924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下面通过一个案例讲解通过反射调用类中的方法。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方法，省略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类的定义，完整代码可参考教材案例文件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9-10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65" y="2019300"/>
            <a:ext cx="6637655" cy="403098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279140" y="2019300"/>
            <a:ext cx="5632450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class Example10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Class&lt;?&gt; c = null;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 = Class.forName("com.itheima.Person");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Method met = c.getMethod("sayHello");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met.invoke(c.newInstance());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}catch(Exception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9.4.6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387" y="2529840"/>
            <a:ext cx="6498376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反射的应用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通过反射调用类中的getter/setter方法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469390" y="1998980"/>
            <a:ext cx="925195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从面向对象部分读者就了解到类中的属性必须封装，</a:t>
            </a:r>
            <a:r>
              <a:rPr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封装之后的属性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要通过</a:t>
            </a:r>
            <a:r>
              <a:rPr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setter方法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设置属性值，通过</a:t>
            </a:r>
            <a:r>
              <a:rPr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getter方法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获取属性值，那么在使用反射调用类中方法的操作中，最重要的是调用类中的setter方法及getter方法。</a:t>
            </a:r>
            <a:endParaRPr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getter/setter方法的调用过程与9.4.6节中类方法的调用过程类似，但因为getter/setter方法需要访问属性，所以稍显复杂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651891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145" y="1245235"/>
            <a:ext cx="6375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案例演示通过反射调用类中的setter方法及getter方法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下面通过一个案例讲解使用反射调用类中的setter方法及getter方法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56335" y="2760345"/>
            <a:ext cx="98774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类，声明属性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，定义无参构造方法、有一个参数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的构造方法、有两个参数的构造方法，为属性定义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getter/setter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方法。这部分代码比较简单，此处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省略不写，可以根据描述信息自行编写代码，或参考教材案例文件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9-11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55545"/>
            <a:ext cx="9356090" cy="21183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06930" y="2927985"/>
            <a:ext cx="7976870" cy="1173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String initStr(String old){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String str= old.substring(0,1).toUpperCase()+old.substring(1);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str;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定义initStr()方法，通过此方法将字符串中的首字母转换成大写，并在首字母转换成大写之后，将字符串连接到set字符串及get字符串之后找到对应的方法。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81505"/>
            <a:ext cx="9356090" cy="440309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226310" y="1881505"/>
            <a:ext cx="7976870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setter(Object obj,String att,Object value,Class&lt;?&gt; type){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Method met= obj.getClass().getMethod("set"+initStr(att),type);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met.invoke(obj,value);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}catch(Exception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getter(Object obj,String att){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Method met= obj.getClass().getMethod("get"+initStr(att));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System.out.println(met.invoke(obj));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}catch(Exception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步骤三：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定义setter()方法和getter()方法，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875" y="1881505"/>
            <a:ext cx="8176260" cy="44202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604770" y="1881505"/>
            <a:ext cx="6981825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Class&lt;?&gt; c = null;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Object obj = null;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c = Class.forName("com.itheima.Person");	//对象c为Class类型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obj = c.newInstance();	                    //实例化Class对象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}catch(Exception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setter(obj,"name","张三",String.class);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setter(obj,"age",18,int.class);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System.out.print("姓名：");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getter(obj,"name");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System.out.print("年龄：");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getter(obj,"age");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步骤四：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()方法，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612" y="2529840"/>
            <a:ext cx="5691566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通过反射操作的属性，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能够熟练使用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通过反射操作属性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469390" y="1998980"/>
            <a:ext cx="925195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在反射操作中，虽然可以通过调用类中的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getter/setter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方法访问类的属性，但是这样操作起来太过繁琐。除了调用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getter/setter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方法访问类的属性之外，反射机制也可以直接通过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操作类中的属性，通过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类提供的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方法可以直接设置、获取类的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属性值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通过调用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getter/setter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方法访问类的属性时，首先要调用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setAccessible()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方法将需要操作的属性权限设置成可以被外部访问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163955"/>
            <a:ext cx="1922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3039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70885" y="917575"/>
            <a:ext cx="8187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讲解如何使用反射直接操作类的属性。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方法，省略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类的定义，完整代码可参考教材案例文件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9-12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60" y="2234565"/>
            <a:ext cx="8244205" cy="442150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74240" y="2234565"/>
            <a:ext cx="7820025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static void main(String args[]) throws Exception{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Class&lt;?&gt; c = null;                             //声明一个Class对象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Object obj = null;                             //声明一个Object对象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c = Class.forName("com.itheima.Person");   //实例化Class对象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obj = c.newInstance();                         //实例化Object对象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Field nameField = null;                        //表示name属性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Field ageField = null;                         //表示age属性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nameField = c.getDeclaredField("name");     //获取name属性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ageField = c.getDeclaredField("age");        //获取age属性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nameField.setAccessible(true);       //将name属性设置为可被外部访问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nameField.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(obj,"张三");             //设置name属性值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ageField.setAccessible(true);         //将age属性设置为可被外部访问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ageField.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(obj,30);                   //设置age属性值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System.out.println("姓名："+nameField.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(obj));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System.out.println("年龄："+ageField.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(obj));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597025" y="2230120"/>
            <a:ext cx="8996045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以上程序是扩大类属性的访问权限后直接进行了属性的操作，所以在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Person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类中并不需要编写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方法，但是在实际开发中，这种直接操作属性的方式是不安全的，读者在以后的开发中，不要直接操作属性，而是要通过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方法操作属性，本案例只是演示通过反射可以直接访问类中的属性。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977" y="2529523"/>
            <a:ext cx="5692839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198245" y="2573020"/>
            <a:ext cx="979360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本章主要介绍了Java的反射机制。首先介绍了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反射机制原理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；然后带领读者认识了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Class类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；接着通过案例介绍了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Class类的使用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，包括通过无参构造方法实例化对象和通过有参构造方法实例化对象；接下来介绍了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通过反射获取类结构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，包括获取接口、获取父类、获取构造方法，获取全部方法、获取全部属性和通过反射调用类中的方法；最后讲解了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反射的应用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，包括通过反射调用类中的setter、getter方法和通过反射操作类中的属性。通过本章的学习，读者对Java的反射会有一定的了解，掌握好这些知识，对以后的实际开发大有裨益。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198245" y="2061210"/>
            <a:ext cx="9794240" cy="386397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41971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13853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5735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7617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8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PLACING_PICTURE_USER_VIEWPORT" val="{&quot;height&quot;:3336,&quot;width&quot;:14734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ISPRING_RESOURCE_PATHS_HASH_PRESENTER" val="417f8e4a56fc57c2e92e6fdc581ab83ee55365e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19191</Words>
  <Application>WPS 演示</Application>
  <PresentationFormat>自定义</PresentationFormat>
  <Paragraphs>1000</Paragraphs>
  <Slides>89</Slides>
  <Notes>83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89</vt:i4>
      </vt:variant>
    </vt:vector>
  </HeadingPairs>
  <TitlesOfParts>
    <vt:vector size="109" baseType="lpstr">
      <vt:lpstr>Arial</vt:lpstr>
      <vt:lpstr>宋体</vt:lpstr>
      <vt:lpstr>Wingdings</vt:lpstr>
      <vt:lpstr>微软雅黑</vt:lpstr>
      <vt:lpstr>思源黑体 CN Medium</vt:lpstr>
      <vt:lpstr>黑体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字魂58号-创中黑</vt:lpstr>
      <vt:lpstr>字魂105号-简雅黑</vt:lpstr>
      <vt:lpstr>Arial Unicode MS</vt:lpstr>
      <vt:lpstr>Times New Roman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itcast</cp:lastModifiedBy>
  <cp:revision>798</cp:revision>
  <dcterms:created xsi:type="dcterms:W3CDTF">2020-09-03T07:01:00Z</dcterms:created>
  <dcterms:modified xsi:type="dcterms:W3CDTF">2022-01-14T03:52:56Z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3EF54124C04D4D6E86421ADAF5E2F187</vt:lpwstr>
  </property>
</Properties>
</file>