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77"/>
  </p:notesMasterIdLst>
  <p:handoutMasterIdLst>
    <p:handoutMasterId r:id="rId178"/>
  </p:handoutMasterIdLst>
  <p:sldIdLst>
    <p:sldId id="325" r:id="rId3"/>
    <p:sldId id="511" r:id="rId4"/>
    <p:sldId id="328" r:id="rId5"/>
    <p:sldId id="327" r:id="rId6"/>
    <p:sldId id="309" r:id="rId7"/>
    <p:sldId id="577" r:id="rId8"/>
    <p:sldId id="630" r:id="rId9"/>
    <p:sldId id="372" r:id="rId10"/>
    <p:sldId id="777" r:id="rId11"/>
    <p:sldId id="409" r:id="rId12"/>
    <p:sldId id="631" r:id="rId13"/>
    <p:sldId id="633" r:id="rId14"/>
    <p:sldId id="635" r:id="rId15"/>
    <p:sldId id="636" r:id="rId16"/>
    <p:sldId id="637" r:id="rId17"/>
    <p:sldId id="798" r:id="rId18"/>
    <p:sldId id="638" r:id="rId19"/>
    <p:sldId id="513" r:id="rId20"/>
    <p:sldId id="598" r:id="rId21"/>
    <p:sldId id="639" r:id="rId22"/>
    <p:sldId id="410" r:id="rId23"/>
    <p:sldId id="641" r:id="rId24"/>
    <p:sldId id="642" r:id="rId25"/>
    <p:sldId id="645" r:id="rId26"/>
    <p:sldId id="644" r:id="rId27"/>
    <p:sldId id="646" r:id="rId28"/>
    <p:sldId id="643" r:id="rId29"/>
    <p:sldId id="647" r:id="rId30"/>
    <p:sldId id="648" r:id="rId31"/>
    <p:sldId id="634" r:id="rId32"/>
    <p:sldId id="649" r:id="rId33"/>
    <p:sldId id="640" r:id="rId34"/>
    <p:sldId id="651" r:id="rId35"/>
    <p:sldId id="778" r:id="rId36"/>
    <p:sldId id="652" r:id="rId37"/>
    <p:sldId id="654" r:id="rId38"/>
    <p:sldId id="656" r:id="rId39"/>
    <p:sldId id="653" r:id="rId40"/>
    <p:sldId id="655" r:id="rId41"/>
    <p:sldId id="657" r:id="rId42"/>
    <p:sldId id="613" r:id="rId43"/>
    <p:sldId id="599" r:id="rId44"/>
    <p:sldId id="607" r:id="rId45"/>
    <p:sldId id="658" r:id="rId46"/>
    <p:sldId id="659" r:id="rId47"/>
    <p:sldId id="660" r:id="rId48"/>
    <p:sldId id="661" r:id="rId49"/>
    <p:sldId id="797" r:id="rId50"/>
    <p:sldId id="779" r:id="rId51"/>
    <p:sldId id="662" r:id="rId52"/>
    <p:sldId id="663" r:id="rId53"/>
    <p:sldId id="664" r:id="rId54"/>
    <p:sldId id="665" r:id="rId55"/>
    <p:sldId id="666" r:id="rId56"/>
    <p:sldId id="667" r:id="rId57"/>
    <p:sldId id="668" r:id="rId58"/>
    <p:sldId id="669" r:id="rId59"/>
    <p:sldId id="670" r:id="rId60"/>
    <p:sldId id="671" r:id="rId61"/>
    <p:sldId id="672" r:id="rId62"/>
    <p:sldId id="673" r:id="rId63"/>
    <p:sldId id="612" r:id="rId64"/>
    <p:sldId id="600" r:id="rId65"/>
    <p:sldId id="650" r:id="rId66"/>
    <p:sldId id="686" r:id="rId67"/>
    <p:sldId id="694" r:id="rId68"/>
    <p:sldId id="687" r:id="rId69"/>
    <p:sldId id="688" r:id="rId70"/>
    <p:sldId id="674" r:id="rId71"/>
    <p:sldId id="690" r:id="rId72"/>
    <p:sldId id="693" r:id="rId73"/>
    <p:sldId id="795" r:id="rId74"/>
    <p:sldId id="692" r:id="rId75"/>
    <p:sldId id="697" r:id="rId76"/>
    <p:sldId id="698" r:id="rId77"/>
    <p:sldId id="677" r:id="rId78"/>
    <p:sldId id="699" r:id="rId79"/>
    <p:sldId id="701" r:id="rId80"/>
    <p:sldId id="702" r:id="rId81"/>
    <p:sldId id="700" r:id="rId82"/>
    <p:sldId id="703" r:id="rId83"/>
    <p:sldId id="695" r:id="rId84"/>
    <p:sldId id="704" r:id="rId85"/>
    <p:sldId id="705" r:id="rId86"/>
    <p:sldId id="706" r:id="rId87"/>
    <p:sldId id="707" r:id="rId88"/>
    <p:sldId id="708" r:id="rId89"/>
    <p:sldId id="709" r:id="rId90"/>
    <p:sldId id="710" r:id="rId91"/>
    <p:sldId id="711" r:id="rId92"/>
    <p:sldId id="678" r:id="rId93"/>
    <p:sldId id="696" r:id="rId94"/>
    <p:sldId id="713" r:id="rId95"/>
    <p:sldId id="712" r:id="rId96"/>
    <p:sldId id="714" r:id="rId97"/>
    <p:sldId id="715" r:id="rId98"/>
    <p:sldId id="716" r:id="rId99"/>
    <p:sldId id="718" r:id="rId100"/>
    <p:sldId id="679" r:id="rId101"/>
    <p:sldId id="725" r:id="rId102"/>
    <p:sldId id="726" r:id="rId103"/>
    <p:sldId id="719" r:id="rId104"/>
    <p:sldId id="717" r:id="rId105"/>
    <p:sldId id="680" r:id="rId106"/>
    <p:sldId id="720" r:id="rId107"/>
    <p:sldId id="728" r:id="rId108"/>
    <p:sldId id="731" r:id="rId109"/>
    <p:sldId id="799" r:id="rId110"/>
    <p:sldId id="732" r:id="rId111"/>
    <p:sldId id="780" r:id="rId112"/>
    <p:sldId id="729" r:id="rId113"/>
    <p:sldId id="739" r:id="rId114"/>
    <p:sldId id="800" r:id="rId115"/>
    <p:sldId id="736" r:id="rId116"/>
    <p:sldId id="801" r:id="rId117"/>
    <p:sldId id="740" r:id="rId118"/>
    <p:sldId id="741" r:id="rId119"/>
    <p:sldId id="802" r:id="rId120"/>
    <p:sldId id="742" r:id="rId121"/>
    <p:sldId id="796" r:id="rId122"/>
    <p:sldId id="743" r:id="rId123"/>
    <p:sldId id="781" r:id="rId124"/>
    <p:sldId id="730" r:id="rId125"/>
    <p:sldId id="733" r:id="rId126"/>
    <p:sldId id="734" r:id="rId127"/>
    <p:sldId id="735" r:id="rId128"/>
    <p:sldId id="782" r:id="rId129"/>
    <p:sldId id="774" r:id="rId130"/>
    <p:sldId id="737" r:id="rId131"/>
    <p:sldId id="738" r:id="rId132"/>
    <p:sldId id="721" r:id="rId133"/>
    <p:sldId id="681" r:id="rId134"/>
    <p:sldId id="775" r:id="rId135"/>
    <p:sldId id="745" r:id="rId136"/>
    <p:sldId id="746" r:id="rId137"/>
    <p:sldId id="803" r:id="rId138"/>
    <p:sldId id="744" r:id="rId139"/>
    <p:sldId id="747" r:id="rId140"/>
    <p:sldId id="682" r:id="rId141"/>
    <p:sldId id="776" r:id="rId142"/>
    <p:sldId id="722" r:id="rId143"/>
    <p:sldId id="749" r:id="rId144"/>
    <p:sldId id="784" r:id="rId145"/>
    <p:sldId id="748" r:id="rId146"/>
    <p:sldId id="683" r:id="rId147"/>
    <p:sldId id="723" r:id="rId148"/>
    <p:sldId id="750" r:id="rId149"/>
    <p:sldId id="753" r:id="rId150"/>
    <p:sldId id="804" r:id="rId151"/>
    <p:sldId id="756" r:id="rId152"/>
    <p:sldId id="757" r:id="rId153"/>
    <p:sldId id="787" r:id="rId154"/>
    <p:sldId id="786" r:id="rId155"/>
    <p:sldId id="755" r:id="rId156"/>
    <p:sldId id="758" r:id="rId157"/>
    <p:sldId id="788" r:id="rId158"/>
    <p:sldId id="724" r:id="rId159"/>
    <p:sldId id="761" r:id="rId160"/>
    <p:sldId id="762" r:id="rId161"/>
    <p:sldId id="789" r:id="rId162"/>
    <p:sldId id="764" r:id="rId163"/>
    <p:sldId id="805" r:id="rId164"/>
    <p:sldId id="685" r:id="rId165"/>
    <p:sldId id="765" r:id="rId166"/>
    <p:sldId id="766" r:id="rId167"/>
    <p:sldId id="767" r:id="rId168"/>
    <p:sldId id="792" r:id="rId169"/>
    <p:sldId id="793" r:id="rId170"/>
    <p:sldId id="769" r:id="rId171"/>
    <p:sldId id="771" r:id="rId172"/>
    <p:sldId id="794" r:id="rId173"/>
    <p:sldId id="759" r:id="rId174"/>
    <p:sldId id="576" r:id="rId175"/>
    <p:sldId id="326" r:id="rId176"/>
  </p:sldIdLst>
  <p:sldSz cx="12190413"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56">
          <p15:clr>
            <a:srgbClr val="A4A3A4"/>
          </p15:clr>
        </p15:guide>
        <p15:guide id="3" pos="656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朱 杰" initials="朱" lastIdx="22" clrIdx="0">
    <p:extLst>
      <p:ext uri="{19B8F6BF-5375-455C-9EA6-DF929625EA0E}">
        <p15:presenceInfo xmlns:p15="http://schemas.microsoft.com/office/powerpoint/2012/main" userId="a0b21a782a23e5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DB7"/>
    <a:srgbClr val="1369B2"/>
    <a:srgbClr val="595959"/>
    <a:srgbClr val="EBAD13"/>
    <a:srgbClr val="FFFFFF"/>
    <a:srgbClr val="BBBBBB"/>
    <a:srgbClr val="1369B3"/>
    <a:srgbClr val="FAFAFA"/>
    <a:srgbClr val="F2F2F2"/>
    <a:srgbClr val="006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1" autoAdjust="0"/>
    <p:restoredTop sz="89369" autoAdjust="0"/>
  </p:normalViewPr>
  <p:slideViewPr>
    <p:cSldViewPr>
      <p:cViewPr varScale="1">
        <p:scale>
          <a:sx n="73" d="100"/>
          <a:sy n="73" d="100"/>
        </p:scale>
        <p:origin x="546" y="60"/>
      </p:cViewPr>
      <p:guideLst>
        <p:guide orient="horz" pos="2160"/>
        <p:guide pos="256"/>
        <p:guide pos="656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viewProps" Target="viewProp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theme" Target="theme/theme1.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notesMaster" Target="notesMasters/notesMaster1.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commentAuthors" Target="commentAuthor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presProps" Target="presProp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2026/7/22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3204363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2026/7/22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3934185211"/>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130742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3180665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1251122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558905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199768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296079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309885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extLst>
      <p:ext uri="{BB962C8B-B14F-4D97-AF65-F5344CB8AC3E}">
        <p14:creationId xmlns:p14="http://schemas.microsoft.com/office/powerpoint/2010/main" val="414736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509808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extLst>
      <p:ext uri="{BB962C8B-B14F-4D97-AF65-F5344CB8AC3E}">
        <p14:creationId xmlns:p14="http://schemas.microsoft.com/office/powerpoint/2010/main" val="1237495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extLst>
      <p:ext uri="{BB962C8B-B14F-4D97-AF65-F5344CB8AC3E}">
        <p14:creationId xmlns:p14="http://schemas.microsoft.com/office/powerpoint/2010/main" val="3419229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extLst>
      <p:ext uri="{BB962C8B-B14F-4D97-AF65-F5344CB8AC3E}">
        <p14:creationId xmlns:p14="http://schemas.microsoft.com/office/powerpoint/2010/main" val="3070151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extLst>
      <p:ext uri="{BB962C8B-B14F-4D97-AF65-F5344CB8AC3E}">
        <p14:creationId xmlns:p14="http://schemas.microsoft.com/office/powerpoint/2010/main" val="2639974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extLst>
      <p:ext uri="{BB962C8B-B14F-4D97-AF65-F5344CB8AC3E}">
        <p14:creationId xmlns:p14="http://schemas.microsoft.com/office/powerpoint/2010/main" val="1114518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extLst>
      <p:ext uri="{BB962C8B-B14F-4D97-AF65-F5344CB8AC3E}">
        <p14:creationId xmlns:p14="http://schemas.microsoft.com/office/powerpoint/2010/main" val="1011568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extLst>
      <p:ext uri="{BB962C8B-B14F-4D97-AF65-F5344CB8AC3E}">
        <p14:creationId xmlns:p14="http://schemas.microsoft.com/office/powerpoint/2010/main" val="3053013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extLst>
      <p:ext uri="{BB962C8B-B14F-4D97-AF65-F5344CB8AC3E}">
        <p14:creationId xmlns:p14="http://schemas.microsoft.com/office/powerpoint/2010/main" val="3652423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extLst>
      <p:ext uri="{BB962C8B-B14F-4D97-AF65-F5344CB8AC3E}">
        <p14:creationId xmlns:p14="http://schemas.microsoft.com/office/powerpoint/2010/main" val="3905992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extLst>
      <p:ext uri="{BB962C8B-B14F-4D97-AF65-F5344CB8AC3E}">
        <p14:creationId xmlns:p14="http://schemas.microsoft.com/office/powerpoint/2010/main" val="33446892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extLst>
      <p:ext uri="{BB962C8B-B14F-4D97-AF65-F5344CB8AC3E}">
        <p14:creationId xmlns:p14="http://schemas.microsoft.com/office/powerpoint/2010/main" val="2026743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extLst>
      <p:ext uri="{BB962C8B-B14F-4D97-AF65-F5344CB8AC3E}">
        <p14:creationId xmlns:p14="http://schemas.microsoft.com/office/powerpoint/2010/main" val="1818148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extLst>
      <p:ext uri="{BB962C8B-B14F-4D97-AF65-F5344CB8AC3E}">
        <p14:creationId xmlns:p14="http://schemas.microsoft.com/office/powerpoint/2010/main" val="391563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extLst>
      <p:ext uri="{BB962C8B-B14F-4D97-AF65-F5344CB8AC3E}">
        <p14:creationId xmlns:p14="http://schemas.microsoft.com/office/powerpoint/2010/main" val="2722571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extLst>
      <p:ext uri="{BB962C8B-B14F-4D97-AF65-F5344CB8AC3E}">
        <p14:creationId xmlns:p14="http://schemas.microsoft.com/office/powerpoint/2010/main" val="1450187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extLst>
      <p:ext uri="{BB962C8B-B14F-4D97-AF65-F5344CB8AC3E}">
        <p14:creationId xmlns:p14="http://schemas.microsoft.com/office/powerpoint/2010/main" val="32359488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extLst>
      <p:ext uri="{BB962C8B-B14F-4D97-AF65-F5344CB8AC3E}">
        <p14:creationId xmlns:p14="http://schemas.microsoft.com/office/powerpoint/2010/main" val="3466377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extLst>
      <p:ext uri="{BB962C8B-B14F-4D97-AF65-F5344CB8AC3E}">
        <p14:creationId xmlns:p14="http://schemas.microsoft.com/office/powerpoint/2010/main" val="30323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extLst>
      <p:ext uri="{BB962C8B-B14F-4D97-AF65-F5344CB8AC3E}">
        <p14:creationId xmlns:p14="http://schemas.microsoft.com/office/powerpoint/2010/main" val="1288072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extLst>
      <p:ext uri="{BB962C8B-B14F-4D97-AF65-F5344CB8AC3E}">
        <p14:creationId xmlns:p14="http://schemas.microsoft.com/office/powerpoint/2010/main" val="42345743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extLst>
      <p:ext uri="{BB962C8B-B14F-4D97-AF65-F5344CB8AC3E}">
        <p14:creationId xmlns:p14="http://schemas.microsoft.com/office/powerpoint/2010/main" val="23123280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extLst>
      <p:ext uri="{BB962C8B-B14F-4D97-AF65-F5344CB8AC3E}">
        <p14:creationId xmlns:p14="http://schemas.microsoft.com/office/powerpoint/2010/main" val="3344517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extLst>
      <p:ext uri="{BB962C8B-B14F-4D97-AF65-F5344CB8AC3E}">
        <p14:creationId xmlns:p14="http://schemas.microsoft.com/office/powerpoint/2010/main" val="22585606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90</a:t>
            </a:fld>
            <a:endParaRPr lang="zh-CN" altLang="en-US"/>
          </a:p>
        </p:txBody>
      </p:sp>
    </p:spTree>
    <p:extLst>
      <p:ext uri="{BB962C8B-B14F-4D97-AF65-F5344CB8AC3E}">
        <p14:creationId xmlns:p14="http://schemas.microsoft.com/office/powerpoint/2010/main" val="37148220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extLst>
      <p:ext uri="{BB962C8B-B14F-4D97-AF65-F5344CB8AC3E}">
        <p14:creationId xmlns:p14="http://schemas.microsoft.com/office/powerpoint/2010/main" val="19715786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extLst>
      <p:ext uri="{BB962C8B-B14F-4D97-AF65-F5344CB8AC3E}">
        <p14:creationId xmlns:p14="http://schemas.microsoft.com/office/powerpoint/2010/main" val="3759175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extLst>
      <p:ext uri="{BB962C8B-B14F-4D97-AF65-F5344CB8AC3E}">
        <p14:creationId xmlns:p14="http://schemas.microsoft.com/office/powerpoint/2010/main" val="10834075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extLst>
      <p:ext uri="{BB962C8B-B14F-4D97-AF65-F5344CB8AC3E}">
        <p14:creationId xmlns:p14="http://schemas.microsoft.com/office/powerpoint/2010/main" val="8673515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extLst>
      <p:ext uri="{BB962C8B-B14F-4D97-AF65-F5344CB8AC3E}">
        <p14:creationId xmlns:p14="http://schemas.microsoft.com/office/powerpoint/2010/main" val="23409287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extLst>
      <p:ext uri="{BB962C8B-B14F-4D97-AF65-F5344CB8AC3E}">
        <p14:creationId xmlns:p14="http://schemas.microsoft.com/office/powerpoint/2010/main" val="42690489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extLst>
      <p:ext uri="{BB962C8B-B14F-4D97-AF65-F5344CB8AC3E}">
        <p14:creationId xmlns:p14="http://schemas.microsoft.com/office/powerpoint/2010/main" val="41383840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extLst>
      <p:ext uri="{BB962C8B-B14F-4D97-AF65-F5344CB8AC3E}">
        <p14:creationId xmlns:p14="http://schemas.microsoft.com/office/powerpoint/2010/main" val="39744468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99</a:t>
            </a:fld>
            <a:endParaRPr lang="zh-CN" altLang="en-US"/>
          </a:p>
        </p:txBody>
      </p:sp>
    </p:spTree>
    <p:extLst>
      <p:ext uri="{BB962C8B-B14F-4D97-AF65-F5344CB8AC3E}">
        <p14:creationId xmlns:p14="http://schemas.microsoft.com/office/powerpoint/2010/main" val="1724593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100</a:t>
            </a:fld>
            <a:endParaRPr lang="zh-CN" altLang="en-US"/>
          </a:p>
        </p:txBody>
      </p:sp>
    </p:spTree>
    <p:extLst>
      <p:ext uri="{BB962C8B-B14F-4D97-AF65-F5344CB8AC3E}">
        <p14:creationId xmlns:p14="http://schemas.microsoft.com/office/powerpoint/2010/main" val="3617654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extLst>
      <p:ext uri="{BB962C8B-B14F-4D97-AF65-F5344CB8AC3E}">
        <p14:creationId xmlns:p14="http://schemas.microsoft.com/office/powerpoint/2010/main" val="1323454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extLst>
      <p:ext uri="{BB962C8B-B14F-4D97-AF65-F5344CB8AC3E}">
        <p14:creationId xmlns:p14="http://schemas.microsoft.com/office/powerpoint/2010/main" val="927971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103</a:t>
            </a:fld>
            <a:endParaRPr lang="zh-CN" altLang="en-US"/>
          </a:p>
        </p:txBody>
      </p:sp>
    </p:spTree>
    <p:extLst>
      <p:ext uri="{BB962C8B-B14F-4D97-AF65-F5344CB8AC3E}">
        <p14:creationId xmlns:p14="http://schemas.microsoft.com/office/powerpoint/2010/main" val="7180469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104</a:t>
            </a:fld>
            <a:endParaRPr lang="zh-CN" altLang="en-US"/>
          </a:p>
        </p:txBody>
      </p:sp>
    </p:spTree>
    <p:extLst>
      <p:ext uri="{BB962C8B-B14F-4D97-AF65-F5344CB8AC3E}">
        <p14:creationId xmlns:p14="http://schemas.microsoft.com/office/powerpoint/2010/main" val="14899339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110</a:t>
            </a:fld>
            <a:endParaRPr lang="zh-CN" altLang="en-US"/>
          </a:p>
        </p:txBody>
      </p:sp>
    </p:spTree>
    <p:extLst>
      <p:ext uri="{BB962C8B-B14F-4D97-AF65-F5344CB8AC3E}">
        <p14:creationId xmlns:p14="http://schemas.microsoft.com/office/powerpoint/2010/main" val="6365684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122</a:t>
            </a:fld>
            <a:endParaRPr lang="zh-CN" altLang="en-US"/>
          </a:p>
        </p:txBody>
      </p:sp>
    </p:spTree>
    <p:extLst>
      <p:ext uri="{BB962C8B-B14F-4D97-AF65-F5344CB8AC3E}">
        <p14:creationId xmlns:p14="http://schemas.microsoft.com/office/powerpoint/2010/main" val="14098974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127</a:t>
            </a:fld>
            <a:endParaRPr lang="zh-CN" altLang="en-US"/>
          </a:p>
        </p:txBody>
      </p:sp>
    </p:spTree>
    <p:extLst>
      <p:ext uri="{BB962C8B-B14F-4D97-AF65-F5344CB8AC3E}">
        <p14:creationId xmlns:p14="http://schemas.microsoft.com/office/powerpoint/2010/main" val="29524425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131</a:t>
            </a:fld>
            <a:endParaRPr lang="zh-CN" altLang="en-US"/>
          </a:p>
        </p:txBody>
      </p:sp>
    </p:spTree>
    <p:extLst>
      <p:ext uri="{BB962C8B-B14F-4D97-AF65-F5344CB8AC3E}">
        <p14:creationId xmlns:p14="http://schemas.microsoft.com/office/powerpoint/2010/main" val="1581687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132</a:t>
            </a:fld>
            <a:endParaRPr lang="zh-CN" altLang="en-US"/>
          </a:p>
        </p:txBody>
      </p:sp>
    </p:spTree>
    <p:extLst>
      <p:ext uri="{BB962C8B-B14F-4D97-AF65-F5344CB8AC3E}">
        <p14:creationId xmlns:p14="http://schemas.microsoft.com/office/powerpoint/2010/main" val="32189798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133</a:t>
            </a:fld>
            <a:endParaRPr lang="zh-CN" altLang="en-US"/>
          </a:p>
        </p:txBody>
      </p:sp>
    </p:spTree>
    <p:extLst>
      <p:ext uri="{BB962C8B-B14F-4D97-AF65-F5344CB8AC3E}">
        <p14:creationId xmlns:p14="http://schemas.microsoft.com/office/powerpoint/2010/main" val="18147285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134</a:t>
            </a:fld>
            <a:endParaRPr lang="zh-CN" altLang="en-US"/>
          </a:p>
        </p:txBody>
      </p:sp>
    </p:spTree>
    <p:extLst>
      <p:ext uri="{BB962C8B-B14F-4D97-AF65-F5344CB8AC3E}">
        <p14:creationId xmlns:p14="http://schemas.microsoft.com/office/powerpoint/2010/main" val="40965764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135</a:t>
            </a:fld>
            <a:endParaRPr lang="zh-CN" altLang="en-US"/>
          </a:p>
        </p:txBody>
      </p:sp>
    </p:spTree>
    <p:extLst>
      <p:ext uri="{BB962C8B-B14F-4D97-AF65-F5344CB8AC3E}">
        <p14:creationId xmlns:p14="http://schemas.microsoft.com/office/powerpoint/2010/main" val="38451558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136</a:t>
            </a:fld>
            <a:endParaRPr lang="zh-CN" altLang="en-US"/>
          </a:p>
        </p:txBody>
      </p:sp>
    </p:spTree>
    <p:extLst>
      <p:ext uri="{BB962C8B-B14F-4D97-AF65-F5344CB8AC3E}">
        <p14:creationId xmlns:p14="http://schemas.microsoft.com/office/powerpoint/2010/main" val="18584332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137</a:t>
            </a:fld>
            <a:endParaRPr lang="zh-CN" altLang="en-US"/>
          </a:p>
        </p:txBody>
      </p:sp>
    </p:spTree>
    <p:extLst>
      <p:ext uri="{BB962C8B-B14F-4D97-AF65-F5344CB8AC3E}">
        <p14:creationId xmlns:p14="http://schemas.microsoft.com/office/powerpoint/2010/main" val="695992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138</a:t>
            </a:fld>
            <a:endParaRPr lang="zh-CN" altLang="en-US"/>
          </a:p>
        </p:txBody>
      </p:sp>
    </p:spTree>
    <p:extLst>
      <p:ext uri="{BB962C8B-B14F-4D97-AF65-F5344CB8AC3E}">
        <p14:creationId xmlns:p14="http://schemas.microsoft.com/office/powerpoint/2010/main" val="10768355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139</a:t>
            </a:fld>
            <a:endParaRPr lang="zh-CN" altLang="en-US"/>
          </a:p>
        </p:txBody>
      </p:sp>
    </p:spTree>
    <p:extLst>
      <p:ext uri="{BB962C8B-B14F-4D97-AF65-F5344CB8AC3E}">
        <p14:creationId xmlns:p14="http://schemas.microsoft.com/office/powerpoint/2010/main" val="2806705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140</a:t>
            </a:fld>
            <a:endParaRPr lang="zh-CN" altLang="en-US"/>
          </a:p>
        </p:txBody>
      </p:sp>
    </p:spTree>
    <p:extLst>
      <p:ext uri="{BB962C8B-B14F-4D97-AF65-F5344CB8AC3E}">
        <p14:creationId xmlns:p14="http://schemas.microsoft.com/office/powerpoint/2010/main" val="22179415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141</a:t>
            </a:fld>
            <a:endParaRPr lang="zh-CN" altLang="en-US"/>
          </a:p>
        </p:txBody>
      </p:sp>
    </p:spTree>
    <p:extLst>
      <p:ext uri="{BB962C8B-B14F-4D97-AF65-F5344CB8AC3E}">
        <p14:creationId xmlns:p14="http://schemas.microsoft.com/office/powerpoint/2010/main" val="29839275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142</a:t>
            </a:fld>
            <a:endParaRPr lang="zh-CN" altLang="en-US"/>
          </a:p>
        </p:txBody>
      </p:sp>
    </p:spTree>
    <p:extLst>
      <p:ext uri="{BB962C8B-B14F-4D97-AF65-F5344CB8AC3E}">
        <p14:creationId xmlns:p14="http://schemas.microsoft.com/office/powerpoint/2010/main" val="29449913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143</a:t>
            </a:fld>
            <a:endParaRPr lang="zh-CN" altLang="en-US"/>
          </a:p>
        </p:txBody>
      </p:sp>
    </p:spTree>
    <p:extLst>
      <p:ext uri="{BB962C8B-B14F-4D97-AF65-F5344CB8AC3E}">
        <p14:creationId xmlns:p14="http://schemas.microsoft.com/office/powerpoint/2010/main" val="28877578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144</a:t>
            </a:fld>
            <a:endParaRPr lang="zh-CN" altLang="en-US"/>
          </a:p>
        </p:txBody>
      </p:sp>
    </p:spTree>
    <p:extLst>
      <p:ext uri="{BB962C8B-B14F-4D97-AF65-F5344CB8AC3E}">
        <p14:creationId xmlns:p14="http://schemas.microsoft.com/office/powerpoint/2010/main" val="28226049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145</a:t>
            </a:fld>
            <a:endParaRPr lang="zh-CN" altLang="en-US"/>
          </a:p>
        </p:txBody>
      </p:sp>
    </p:spTree>
    <p:extLst>
      <p:ext uri="{BB962C8B-B14F-4D97-AF65-F5344CB8AC3E}">
        <p14:creationId xmlns:p14="http://schemas.microsoft.com/office/powerpoint/2010/main" val="8797032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146</a:t>
            </a:fld>
            <a:endParaRPr lang="zh-CN" altLang="en-US"/>
          </a:p>
        </p:txBody>
      </p:sp>
    </p:spTree>
    <p:extLst>
      <p:ext uri="{BB962C8B-B14F-4D97-AF65-F5344CB8AC3E}">
        <p14:creationId xmlns:p14="http://schemas.microsoft.com/office/powerpoint/2010/main" val="25894465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147</a:t>
            </a:fld>
            <a:endParaRPr lang="zh-CN" altLang="en-US"/>
          </a:p>
        </p:txBody>
      </p:sp>
    </p:spTree>
    <p:extLst>
      <p:ext uri="{BB962C8B-B14F-4D97-AF65-F5344CB8AC3E}">
        <p14:creationId xmlns:p14="http://schemas.microsoft.com/office/powerpoint/2010/main" val="27258718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148</a:t>
            </a:fld>
            <a:endParaRPr lang="zh-CN" altLang="en-US"/>
          </a:p>
        </p:txBody>
      </p:sp>
    </p:spTree>
    <p:extLst>
      <p:ext uri="{BB962C8B-B14F-4D97-AF65-F5344CB8AC3E}">
        <p14:creationId xmlns:p14="http://schemas.microsoft.com/office/powerpoint/2010/main" val="17501616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149</a:t>
            </a:fld>
            <a:endParaRPr lang="zh-CN" altLang="en-US"/>
          </a:p>
        </p:txBody>
      </p:sp>
    </p:spTree>
    <p:extLst>
      <p:ext uri="{BB962C8B-B14F-4D97-AF65-F5344CB8AC3E}">
        <p14:creationId xmlns:p14="http://schemas.microsoft.com/office/powerpoint/2010/main" val="3839267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150</a:t>
            </a:fld>
            <a:endParaRPr lang="zh-CN" altLang="en-US"/>
          </a:p>
        </p:txBody>
      </p:sp>
    </p:spTree>
    <p:extLst>
      <p:ext uri="{BB962C8B-B14F-4D97-AF65-F5344CB8AC3E}">
        <p14:creationId xmlns:p14="http://schemas.microsoft.com/office/powerpoint/2010/main" val="7899003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151</a:t>
            </a:fld>
            <a:endParaRPr lang="zh-CN" altLang="en-US"/>
          </a:p>
        </p:txBody>
      </p:sp>
    </p:spTree>
    <p:extLst>
      <p:ext uri="{BB962C8B-B14F-4D97-AF65-F5344CB8AC3E}">
        <p14:creationId xmlns:p14="http://schemas.microsoft.com/office/powerpoint/2010/main" val="9316199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152</a:t>
            </a:fld>
            <a:endParaRPr lang="zh-CN" altLang="en-US"/>
          </a:p>
        </p:txBody>
      </p:sp>
    </p:spTree>
    <p:extLst>
      <p:ext uri="{BB962C8B-B14F-4D97-AF65-F5344CB8AC3E}">
        <p14:creationId xmlns:p14="http://schemas.microsoft.com/office/powerpoint/2010/main" val="14981036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153</a:t>
            </a:fld>
            <a:endParaRPr lang="zh-CN" altLang="en-US"/>
          </a:p>
        </p:txBody>
      </p:sp>
    </p:spTree>
    <p:extLst>
      <p:ext uri="{BB962C8B-B14F-4D97-AF65-F5344CB8AC3E}">
        <p14:creationId xmlns:p14="http://schemas.microsoft.com/office/powerpoint/2010/main" val="13719432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154</a:t>
            </a:fld>
            <a:endParaRPr lang="zh-CN" altLang="en-US"/>
          </a:p>
        </p:txBody>
      </p:sp>
    </p:spTree>
    <p:extLst>
      <p:ext uri="{BB962C8B-B14F-4D97-AF65-F5344CB8AC3E}">
        <p14:creationId xmlns:p14="http://schemas.microsoft.com/office/powerpoint/2010/main" val="223044293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155</a:t>
            </a:fld>
            <a:endParaRPr lang="zh-CN" altLang="en-US"/>
          </a:p>
        </p:txBody>
      </p:sp>
    </p:spTree>
    <p:extLst>
      <p:ext uri="{BB962C8B-B14F-4D97-AF65-F5344CB8AC3E}">
        <p14:creationId xmlns:p14="http://schemas.microsoft.com/office/powerpoint/2010/main" val="8687653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156</a:t>
            </a:fld>
            <a:endParaRPr lang="zh-CN" altLang="en-US"/>
          </a:p>
        </p:txBody>
      </p:sp>
    </p:spTree>
    <p:extLst>
      <p:ext uri="{BB962C8B-B14F-4D97-AF65-F5344CB8AC3E}">
        <p14:creationId xmlns:p14="http://schemas.microsoft.com/office/powerpoint/2010/main" val="21354085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157</a:t>
            </a:fld>
            <a:endParaRPr lang="zh-CN" altLang="en-US"/>
          </a:p>
        </p:txBody>
      </p:sp>
    </p:spTree>
    <p:extLst>
      <p:ext uri="{BB962C8B-B14F-4D97-AF65-F5344CB8AC3E}">
        <p14:creationId xmlns:p14="http://schemas.microsoft.com/office/powerpoint/2010/main" val="271974549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158</a:t>
            </a:fld>
            <a:endParaRPr lang="zh-CN" altLang="en-US"/>
          </a:p>
        </p:txBody>
      </p:sp>
    </p:spTree>
    <p:extLst>
      <p:ext uri="{BB962C8B-B14F-4D97-AF65-F5344CB8AC3E}">
        <p14:creationId xmlns:p14="http://schemas.microsoft.com/office/powerpoint/2010/main" val="4033358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159</a:t>
            </a:fld>
            <a:endParaRPr lang="zh-CN" altLang="en-US"/>
          </a:p>
        </p:txBody>
      </p:sp>
    </p:spTree>
    <p:extLst>
      <p:ext uri="{BB962C8B-B14F-4D97-AF65-F5344CB8AC3E}">
        <p14:creationId xmlns:p14="http://schemas.microsoft.com/office/powerpoint/2010/main" val="212947330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160</a:t>
            </a:fld>
            <a:endParaRPr lang="zh-CN" altLang="en-US"/>
          </a:p>
        </p:txBody>
      </p:sp>
    </p:spTree>
    <p:extLst>
      <p:ext uri="{BB962C8B-B14F-4D97-AF65-F5344CB8AC3E}">
        <p14:creationId xmlns:p14="http://schemas.microsoft.com/office/powerpoint/2010/main" val="21181204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161</a:t>
            </a:fld>
            <a:endParaRPr lang="zh-CN" altLang="en-US"/>
          </a:p>
        </p:txBody>
      </p:sp>
    </p:spTree>
    <p:extLst>
      <p:ext uri="{BB962C8B-B14F-4D97-AF65-F5344CB8AC3E}">
        <p14:creationId xmlns:p14="http://schemas.microsoft.com/office/powerpoint/2010/main" val="45743335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162</a:t>
            </a:fld>
            <a:endParaRPr lang="zh-CN" altLang="en-US"/>
          </a:p>
        </p:txBody>
      </p:sp>
    </p:spTree>
    <p:extLst>
      <p:ext uri="{BB962C8B-B14F-4D97-AF65-F5344CB8AC3E}">
        <p14:creationId xmlns:p14="http://schemas.microsoft.com/office/powerpoint/2010/main" val="278949734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163</a:t>
            </a:fld>
            <a:endParaRPr lang="zh-CN" altLang="en-US"/>
          </a:p>
        </p:txBody>
      </p:sp>
    </p:spTree>
    <p:extLst>
      <p:ext uri="{BB962C8B-B14F-4D97-AF65-F5344CB8AC3E}">
        <p14:creationId xmlns:p14="http://schemas.microsoft.com/office/powerpoint/2010/main" val="227136075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164</a:t>
            </a:fld>
            <a:endParaRPr lang="zh-CN" altLang="en-US"/>
          </a:p>
        </p:txBody>
      </p:sp>
    </p:spTree>
    <p:extLst>
      <p:ext uri="{BB962C8B-B14F-4D97-AF65-F5344CB8AC3E}">
        <p14:creationId xmlns:p14="http://schemas.microsoft.com/office/powerpoint/2010/main" val="33252348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165</a:t>
            </a:fld>
            <a:endParaRPr lang="zh-CN" altLang="en-US"/>
          </a:p>
        </p:txBody>
      </p:sp>
    </p:spTree>
    <p:extLst>
      <p:ext uri="{BB962C8B-B14F-4D97-AF65-F5344CB8AC3E}">
        <p14:creationId xmlns:p14="http://schemas.microsoft.com/office/powerpoint/2010/main" val="148064083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166</a:t>
            </a:fld>
            <a:endParaRPr lang="zh-CN" altLang="en-US"/>
          </a:p>
        </p:txBody>
      </p:sp>
    </p:spTree>
    <p:extLst>
      <p:ext uri="{BB962C8B-B14F-4D97-AF65-F5344CB8AC3E}">
        <p14:creationId xmlns:p14="http://schemas.microsoft.com/office/powerpoint/2010/main" val="288932411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167</a:t>
            </a:fld>
            <a:endParaRPr lang="zh-CN" altLang="en-US"/>
          </a:p>
        </p:txBody>
      </p:sp>
    </p:spTree>
    <p:extLst>
      <p:ext uri="{BB962C8B-B14F-4D97-AF65-F5344CB8AC3E}">
        <p14:creationId xmlns:p14="http://schemas.microsoft.com/office/powerpoint/2010/main" val="32600160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168</a:t>
            </a:fld>
            <a:endParaRPr lang="zh-CN" altLang="en-US"/>
          </a:p>
        </p:txBody>
      </p:sp>
    </p:spTree>
    <p:extLst>
      <p:ext uri="{BB962C8B-B14F-4D97-AF65-F5344CB8AC3E}">
        <p14:creationId xmlns:p14="http://schemas.microsoft.com/office/powerpoint/2010/main" val="270115147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169</a:t>
            </a:fld>
            <a:endParaRPr lang="zh-CN" altLang="en-US"/>
          </a:p>
        </p:txBody>
      </p:sp>
    </p:spTree>
    <p:extLst>
      <p:ext uri="{BB962C8B-B14F-4D97-AF65-F5344CB8AC3E}">
        <p14:creationId xmlns:p14="http://schemas.microsoft.com/office/powerpoint/2010/main" val="13800505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170</a:t>
            </a:fld>
            <a:endParaRPr lang="zh-CN" altLang="en-US"/>
          </a:p>
        </p:txBody>
      </p:sp>
    </p:spTree>
    <p:extLst>
      <p:ext uri="{BB962C8B-B14F-4D97-AF65-F5344CB8AC3E}">
        <p14:creationId xmlns:p14="http://schemas.microsoft.com/office/powerpoint/2010/main" val="296817935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171</a:t>
            </a:fld>
            <a:endParaRPr lang="zh-CN" altLang="en-US"/>
          </a:p>
        </p:txBody>
      </p:sp>
    </p:spTree>
    <p:extLst>
      <p:ext uri="{BB962C8B-B14F-4D97-AF65-F5344CB8AC3E}">
        <p14:creationId xmlns:p14="http://schemas.microsoft.com/office/powerpoint/2010/main" val="22310200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172</a:t>
            </a:fld>
            <a:endParaRPr lang="zh-CN" altLang="en-US"/>
          </a:p>
        </p:txBody>
      </p:sp>
    </p:spTree>
    <p:extLst>
      <p:ext uri="{BB962C8B-B14F-4D97-AF65-F5344CB8AC3E}">
        <p14:creationId xmlns:p14="http://schemas.microsoft.com/office/powerpoint/2010/main" val="248111515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173</a:t>
            </a:fld>
            <a:endParaRPr lang="zh-CN" altLang="en-US"/>
          </a:p>
        </p:txBody>
      </p:sp>
    </p:spTree>
    <p:extLst>
      <p:ext uri="{BB962C8B-B14F-4D97-AF65-F5344CB8AC3E}">
        <p14:creationId xmlns:p14="http://schemas.microsoft.com/office/powerpoint/2010/main" val="111943060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174</a:t>
            </a:fld>
            <a:endParaRPr lang="zh-CN" altLang="en-US"/>
          </a:p>
        </p:txBody>
      </p:sp>
    </p:spTree>
    <p:extLst>
      <p:ext uri="{BB962C8B-B14F-4D97-AF65-F5344CB8AC3E}">
        <p14:creationId xmlns:p14="http://schemas.microsoft.com/office/powerpoint/2010/main" val="4292909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7F932700-A96E-48CC-99B1-0D0AB6A057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EC926309-C010-4B32-8B30-A6D8032A6D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16" name="图片 15">
            <a:extLst>
              <a:ext uri="{FF2B5EF4-FFF2-40B4-BE49-F238E27FC236}">
                <a16:creationId xmlns:a16="http://schemas.microsoft.com/office/drawing/2014/main" id="{FBC59529-8D20-4D23-98BA-108ACEC1BA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2026/7/22</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2026/7/22</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0.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0.xml"/><Relationship Id="rId1" Type="http://schemas.openxmlformats.org/officeDocument/2006/relationships/vmlDrawing" Target="../drawings/vmlDrawing3.v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0.xml"/><Relationship Id="rId1" Type="http://schemas.openxmlformats.org/officeDocument/2006/relationships/tags" Target="../tags/tag11.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22.sv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vmlDrawing" Target="../drawings/vmlDrawing4.v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vmlDrawing" Target="../drawings/vmlDrawing5.vml"/><Relationship Id="rId5" Type="http://schemas.openxmlformats.org/officeDocument/2006/relationships/image" Target="../media/image27.emf"/><Relationship Id="rId4" Type="http://schemas.openxmlformats.org/officeDocument/2006/relationships/oleObject" Target="../embeddings/oleObject5.bin"/></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0.xml"/><Relationship Id="rId1" Type="http://schemas.openxmlformats.org/officeDocument/2006/relationships/vmlDrawing" Target="../drawings/vmlDrawing6.vml"/><Relationship Id="rId4" Type="http://schemas.openxmlformats.org/officeDocument/2006/relationships/image" Target="../media/image29.e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0.xml"/><Relationship Id="rId1" Type="http://schemas.openxmlformats.org/officeDocument/2006/relationships/vmlDrawing" Target="../drawings/vmlDrawing7.vml"/><Relationship Id="rId4" Type="http://schemas.openxmlformats.org/officeDocument/2006/relationships/image" Target="../media/image30.e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0.xml"/><Relationship Id="rId1" Type="http://schemas.openxmlformats.org/officeDocument/2006/relationships/vmlDrawing" Target="../drawings/vmlDrawing8.vml"/><Relationship Id="rId4" Type="http://schemas.openxmlformats.org/officeDocument/2006/relationships/image" Target="../media/image33.em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0.xml"/><Relationship Id="rId1" Type="http://schemas.openxmlformats.org/officeDocument/2006/relationships/vmlDrawing" Target="../drawings/vmlDrawing9.vml"/><Relationship Id="rId4" Type="http://schemas.openxmlformats.org/officeDocument/2006/relationships/image" Target="../media/image35.em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1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0.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1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1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1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1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2.xml"/><Relationship Id="rId1" Type="http://schemas.openxmlformats.org/officeDocument/2006/relationships/slideLayout" Target="../slideLayouts/slideLayout10.xml"/><Relationship Id="rId4" Type="http://schemas.openxmlformats.org/officeDocument/2006/relationships/image" Target="../media/image44.png"/></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897893" y="2493690"/>
            <a:ext cx="10826673" cy="923330"/>
          </a:xfrm>
          <a:prstGeom prst="rect">
            <a:avLst/>
          </a:prstGeom>
          <a:noFill/>
        </p:spPr>
        <p:txBody>
          <a:bodyPr wrap="square" rtlCol="0">
            <a:spAutoFit/>
          </a:bodyPr>
          <a:lstStyle/>
          <a:p>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第</a:t>
            </a:r>
            <a:r>
              <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3</a:t>
            </a:r>
            <a:r>
              <a:rPr lang="zh-CN" altLang="en-US"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章  移动端页面布局和常用事件</a:t>
            </a:r>
            <a:endPar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endParaRPr>
          </a:p>
        </p:txBody>
      </p:sp>
      <p:sp>
        <p:nvSpPr>
          <p:cNvPr id="6" name="Rectangle 4"/>
          <p:cNvSpPr txBox="1">
            <a:spLocks noChangeArrowheads="1"/>
          </p:cNvSpPr>
          <p:nvPr/>
        </p:nvSpPr>
        <p:spPr>
          <a:xfrm>
            <a:off x="4511030" y="3861842"/>
            <a:ext cx="5184576"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《HTML5</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移动</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Web</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开发（第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2062758" y="1845618"/>
            <a:ext cx="8784976" cy="688075"/>
            <a:chOff x="978872" y="1800500"/>
            <a:chExt cx="5471124" cy="515937"/>
          </a:xfrm>
        </p:grpSpPr>
        <p:sp>
          <p:nvSpPr>
            <p:cNvPr id="81"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流式布局的概念</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能够说出流式布局的实现原理</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2062758" y="2715900"/>
            <a:ext cx="8784976"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altLang="en-US" sz="2000" dirty="0" smtClean="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视口的概念，</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能够说出视口</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的分类</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2062758" y="3584066"/>
            <a:ext cx="8784976" cy="688077"/>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如何使用</a:t>
              </a:r>
              <a:r>
                <a:rPr lang="en-US" altLang="zh-CN"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&lt;meta&gt;</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标签设置视口</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，能够为移动端页面设置合适的视口</a:t>
              </a: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8" name="组合 27"/>
          <p:cNvGrpSpPr/>
          <p:nvPr/>
        </p:nvGrpSpPr>
        <p:grpSpPr>
          <a:xfrm>
            <a:off x="2062758" y="4465839"/>
            <a:ext cx="8784976" cy="685959"/>
            <a:chOff x="978872" y="2570437"/>
            <a:chExt cx="5437064" cy="514350"/>
          </a:xfrm>
        </p:grpSpPr>
        <p:sp>
          <p:nvSpPr>
            <p:cNvPr id="2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移动端常用事件</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，能够灵活使用</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4</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种基本</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touch</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事件</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3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31" name="组合 30"/>
          <p:cNvGrpSpPr/>
          <p:nvPr/>
        </p:nvGrpSpPr>
        <p:grpSpPr>
          <a:xfrm>
            <a:off x="2062758" y="5334005"/>
            <a:ext cx="8784976" cy="688077"/>
            <a:chOff x="978872" y="3338787"/>
            <a:chExt cx="5437064" cy="515938"/>
          </a:xfrm>
        </p:grpSpPr>
        <p:sp>
          <p:nvSpPr>
            <p:cNvPr id="32"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移动商城项目</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，能够实现项目各功能</a:t>
              </a:r>
            </a:p>
          </p:txBody>
        </p:sp>
        <p:sp>
          <p:nvSpPr>
            <p:cNvPr id="33"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extLst>
      <p:ext uri="{BB962C8B-B14F-4D97-AF65-F5344CB8AC3E}">
        <p14:creationId xmlns:p14="http://schemas.microsoft.com/office/powerpoint/2010/main" val="13372166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1714674"/>
            <a:ext cx="10151132"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目前移动设备大多采用</a:t>
            </a:r>
            <a:r>
              <a:rPr lang="zh-CN" altLang="en-US" sz="2000" dirty="0">
                <a:solidFill>
                  <a:srgbClr val="1369B2"/>
                </a:solidFill>
                <a:latin typeface="微软雅黑" panose="020B0503020204020204" pitchFamily="34" charset="-122"/>
                <a:ea typeface="微软雅黑" panose="020B0503020204020204" pitchFamily="34" charset="-122"/>
              </a:rPr>
              <a:t>触屏操作</a:t>
            </a:r>
            <a:r>
              <a:rPr lang="zh-CN" altLang="en-US" sz="2000" dirty="0">
                <a:solidFill>
                  <a:srgbClr val="595959"/>
                </a:solidFill>
                <a:latin typeface="微软雅黑" panose="020B0503020204020204" pitchFamily="34" charset="-122"/>
                <a:ea typeface="微软雅黑" panose="020B0503020204020204" pitchFamily="34" charset="-122"/>
              </a:rPr>
              <a:t>，这使得用户逐渐摆脱了</a:t>
            </a:r>
            <a:r>
              <a:rPr lang="en-US" altLang="zh-CN" sz="2000" dirty="0">
                <a:solidFill>
                  <a:srgbClr val="595959"/>
                </a:solidFill>
                <a:latin typeface="微软雅黑" panose="020B0503020204020204" pitchFamily="34" charset="-122"/>
                <a:ea typeface="微软雅黑" panose="020B0503020204020204" pitchFamily="34" charset="-122"/>
              </a:rPr>
              <a:t>PC</a:t>
            </a:r>
            <a:r>
              <a:rPr lang="zh-CN" altLang="en-US" sz="2000" dirty="0">
                <a:solidFill>
                  <a:srgbClr val="595959"/>
                </a:solidFill>
                <a:latin typeface="微软雅黑" panose="020B0503020204020204" pitchFamily="34" charset="-122"/>
                <a:ea typeface="微软雅黑" panose="020B0503020204020204" pitchFamily="34" charset="-122"/>
              </a:rPr>
              <a:t>端使用键盘和鼠标操作的束缚，人机交互更加方便。触屏操作不仅体现在功能强大、多样化的</a:t>
            </a:r>
            <a:r>
              <a:rPr lang="en-US" altLang="zh-CN" sz="2000" dirty="0">
                <a:solidFill>
                  <a:srgbClr val="595959"/>
                </a:solidFill>
                <a:latin typeface="微软雅黑" panose="020B0503020204020204" pitchFamily="34" charset="-122"/>
                <a:ea typeface="微软雅黑" panose="020B0503020204020204" pitchFamily="34" charset="-122"/>
              </a:rPr>
              <a:t>App</a:t>
            </a:r>
            <a:r>
              <a:rPr lang="zh-CN" altLang="en-US" sz="2000" dirty="0">
                <a:solidFill>
                  <a:srgbClr val="595959"/>
                </a:solidFill>
                <a:latin typeface="微软雅黑" panose="020B0503020204020204" pitchFamily="34" charset="-122"/>
                <a:ea typeface="微软雅黑" panose="020B0503020204020204" pitchFamily="34" charset="-122"/>
              </a:rPr>
              <a:t>应用程序上，对于移动</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en-US" sz="2000" dirty="0">
                <a:solidFill>
                  <a:srgbClr val="595959"/>
                </a:solidFill>
                <a:latin typeface="微软雅黑" panose="020B0503020204020204" pitchFamily="34" charset="-122"/>
                <a:ea typeface="微软雅黑" panose="020B0503020204020204" pitchFamily="34" charset="-122"/>
              </a:rPr>
              <a:t>应用程序同样也提供了良好的使用体验。本章将针对移动</a:t>
            </a:r>
            <a:r>
              <a:rPr lang="en-US" altLang="zh-CN" sz="2000" dirty="0">
                <a:solidFill>
                  <a:srgbClr val="595959"/>
                </a:solidFill>
                <a:latin typeface="微软雅黑" panose="020B0503020204020204" pitchFamily="34" charset="-122"/>
                <a:ea typeface="微软雅黑" panose="020B0503020204020204" pitchFamily="34" charset="-122"/>
              </a:rPr>
              <a:t>Web</a:t>
            </a:r>
            <a:r>
              <a:rPr lang="zh-CN" altLang="en-US" sz="2000" dirty="0">
                <a:solidFill>
                  <a:srgbClr val="595959"/>
                </a:solidFill>
                <a:latin typeface="微软雅黑" panose="020B0503020204020204" pitchFamily="34" charset="-122"/>
                <a:ea typeface="微软雅黑" panose="020B0503020204020204" pitchFamily="34" charset="-122"/>
              </a:rPr>
              <a:t>开发用到的</a:t>
            </a:r>
            <a:r>
              <a:rPr lang="zh-CN" altLang="en-US" sz="2000" dirty="0">
                <a:solidFill>
                  <a:srgbClr val="1369B2"/>
                </a:solidFill>
                <a:latin typeface="微软雅黑" panose="020B0503020204020204" pitchFamily="34" charset="-122"/>
                <a:ea typeface="微软雅黑" panose="020B0503020204020204" pitchFamily="34" charset="-122"/>
              </a:rPr>
              <a:t>流式布局</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移动端常用事件</a:t>
            </a:r>
            <a:r>
              <a:rPr lang="zh-CN" altLang="en-US" sz="2000" dirty="0">
                <a:solidFill>
                  <a:srgbClr val="595959"/>
                </a:solidFill>
                <a:latin typeface="微软雅黑" panose="020B0503020204020204" pitchFamily="34" charset="-122"/>
                <a:ea typeface="微软雅黑" panose="020B0503020204020204" pitchFamily="34" charset="-122"/>
              </a:rPr>
              <a:t>进行详细讲解，并运用所学知识完成</a:t>
            </a:r>
            <a:r>
              <a:rPr lang="zh-CN" altLang="en-US" sz="2000" dirty="0">
                <a:solidFill>
                  <a:srgbClr val="1369B2"/>
                </a:solidFill>
                <a:latin typeface="微软雅黑" panose="020B0503020204020204" pitchFamily="34" charset="-122"/>
                <a:ea typeface="微软雅黑" panose="020B0503020204020204" pitchFamily="34" charset="-122"/>
              </a:rPr>
              <a:t>移动商城网站首页的页面制作</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44580"/>
            </a:xfrm>
            <a:prstGeom prst="rect">
              <a:avLst/>
            </a:prstGeom>
            <a:ln w="15875">
              <a:noFill/>
            </a:ln>
          </p:spPr>
          <p:txBody>
            <a:bodyPr wrap="square" lIns="68580" tIns="34290" rIns="68580" bIns="34290">
              <a:spAutoFit/>
            </a:bodyPr>
            <a:lstStyle/>
            <a:p>
              <a:pPr algn="l">
                <a:buClrTx/>
                <a:buSzTx/>
                <a:buFontTx/>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流式布局</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2129"/>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视口</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移动</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端</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touch</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事件</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1" name="组合 20"/>
          <p:cNvGrpSpPr/>
          <p:nvPr/>
        </p:nvGrpSpPr>
        <p:grpSpPr>
          <a:xfrm>
            <a:off x="3070870" y="4699302"/>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976422" y="4677123"/>
            <a:ext cx="5142331" cy="613062"/>
            <a:chOff x="4315150" y="953426"/>
            <a:chExt cx="3857250" cy="540057"/>
          </a:xfrm>
        </p:grpSpPr>
        <p:sp>
          <p:nvSpPr>
            <p:cNvPr id="28" name="矩形 27"/>
            <p:cNvSpPr/>
            <p:nvPr/>
          </p:nvSpPr>
          <p:spPr>
            <a:xfrm>
              <a:off x="4841196" y="1036090"/>
              <a:ext cx="2827147" cy="332129"/>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阶段项目</a:t>
              </a:r>
              <a:r>
                <a:rPr lang="zh-CN"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移动商城</a:t>
              </a:r>
              <a:endParaRPr lang="zh-CN" altLang="en-GB"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9" name="平行四边形 28"/>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流式布局</a:t>
            </a:r>
            <a:endParaRPr lang="en-GB" altLang="zh-CN"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3.1</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流式</a:t>
            </a:r>
            <a:r>
              <a:rPr lang="zh-CN" altLang="en-US" dirty="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a:t>
            </a:r>
            <a:r>
              <a:rPr lang="zh-CN" altLang="en-US" dirty="0" smtClean="0">
                <a:solidFill>
                  <a:srgbClr val="595959"/>
                </a:solidFill>
                <a:latin typeface="微软雅黑" panose="020B0503020204020204" pitchFamily="34" charset="-122"/>
                <a:ea typeface="微软雅黑" panose="020B0503020204020204" pitchFamily="34" charset="-122"/>
              </a:rPr>
              <a:t>能够通过流式布局对页面进行布局</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40691775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3" name="TextBox 35"/>
          <p:cNvSpPr txBox="1">
            <a:spLocks noChangeArrowheads="1"/>
          </p:cNvSpPr>
          <p:nvPr/>
        </p:nvSpPr>
        <p:spPr bwMode="auto">
          <a:xfrm>
            <a:off x="982638" y="2115278"/>
            <a:ext cx="10441160"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流式布局</a:t>
            </a:r>
            <a:r>
              <a:rPr lang="zh-CN" altLang="en-US" sz="2000" dirty="0">
                <a:solidFill>
                  <a:srgbClr val="1369B2"/>
                </a:solidFill>
                <a:latin typeface="微软雅黑" panose="020B0503020204020204" pitchFamily="34" charset="-122"/>
                <a:ea typeface="微软雅黑" panose="020B0503020204020204" pitchFamily="34" charset="-122"/>
              </a:rPr>
              <a:t>使用场景</a:t>
            </a:r>
            <a:r>
              <a:rPr lang="zh-CN" altLang="en-US" sz="2000" dirty="0">
                <a:solidFill>
                  <a:srgbClr val="595959"/>
                </a:solidFill>
                <a:latin typeface="微软雅黑" panose="020B0503020204020204" pitchFamily="34" charset="-122"/>
                <a:ea typeface="微软雅黑" panose="020B0503020204020204" pitchFamily="34" charset="-122"/>
              </a:rPr>
              <a:t>：为了适应小屏幕设备，移动设备和跨平台（响应式）网页开发大多采用流式布局。</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流式布局</a:t>
            </a:r>
            <a:r>
              <a:rPr lang="zh-CN" altLang="en-US" sz="2000" dirty="0">
                <a:solidFill>
                  <a:srgbClr val="595959"/>
                </a:solidFill>
                <a:latin typeface="微软雅黑" panose="020B0503020204020204" pitchFamily="34" charset="-122"/>
                <a:ea typeface="微软雅黑" panose="020B0503020204020204" pitchFamily="34" charset="-122"/>
              </a:rPr>
              <a:t>是一种</a:t>
            </a:r>
            <a:r>
              <a:rPr lang="zh-CN" altLang="en-US" sz="2000" dirty="0">
                <a:solidFill>
                  <a:srgbClr val="1369B2"/>
                </a:solidFill>
                <a:latin typeface="微软雅黑" panose="020B0503020204020204" pitchFamily="34" charset="-122"/>
                <a:ea typeface="微软雅黑" panose="020B0503020204020204" pitchFamily="34" charset="-122"/>
              </a:rPr>
              <a:t>等比例缩放布局</a:t>
            </a:r>
            <a:r>
              <a:rPr lang="zh-CN" altLang="en-US" sz="2000" dirty="0">
                <a:solidFill>
                  <a:srgbClr val="595959"/>
                </a:solidFill>
                <a:latin typeface="微软雅黑" panose="020B0503020204020204" pitchFamily="34" charset="-122"/>
                <a:ea typeface="微软雅黑" panose="020B0503020204020204" pitchFamily="34" charset="-122"/>
              </a:rPr>
              <a:t>方式，在</a:t>
            </a:r>
            <a:r>
              <a:rPr lang="en-US" altLang="zh-CN" sz="2000" dirty="0">
                <a:solidFill>
                  <a:srgbClr val="595959"/>
                </a:solidFill>
                <a:latin typeface="微软雅黑" panose="020B0503020204020204" pitchFamily="34" charset="-122"/>
                <a:ea typeface="微软雅黑" panose="020B0503020204020204" pitchFamily="34" charset="-122"/>
              </a:rPr>
              <a:t>CSS</a:t>
            </a:r>
            <a:r>
              <a:rPr lang="zh-CN" altLang="en-US" sz="2000" dirty="0">
                <a:solidFill>
                  <a:srgbClr val="595959"/>
                </a:solidFill>
                <a:latin typeface="微软雅黑" panose="020B0503020204020204" pitchFamily="34" charset="-122"/>
                <a:ea typeface="微软雅黑" panose="020B0503020204020204" pitchFamily="34" charset="-122"/>
              </a:rPr>
              <a:t>代码中使用</a:t>
            </a:r>
            <a:r>
              <a:rPr lang="zh-CN" altLang="en-US" sz="2000" dirty="0">
                <a:solidFill>
                  <a:srgbClr val="1369B2"/>
                </a:solidFill>
                <a:latin typeface="微软雅黑" panose="020B0503020204020204" pitchFamily="34" charset="-122"/>
                <a:ea typeface="微软雅黑" panose="020B0503020204020204" pitchFamily="34" charset="-122"/>
              </a:rPr>
              <a:t>百分比</a:t>
            </a:r>
            <a:r>
              <a:rPr lang="zh-CN" altLang="en-US" sz="2000" dirty="0">
                <a:solidFill>
                  <a:srgbClr val="595959"/>
                </a:solidFill>
                <a:latin typeface="微软雅黑" panose="020B0503020204020204" pitchFamily="34" charset="-122"/>
                <a:ea typeface="微软雅黑" panose="020B0503020204020204" pitchFamily="34" charset="-122"/>
              </a:rPr>
              <a:t>来设置宽度，所以也称为</a:t>
            </a:r>
            <a:r>
              <a:rPr lang="zh-CN" altLang="en-US" sz="2000" dirty="0">
                <a:solidFill>
                  <a:srgbClr val="1369B2"/>
                </a:solidFill>
                <a:latin typeface="微软雅黑" panose="020B0503020204020204" pitchFamily="34" charset="-122"/>
                <a:ea typeface="微软雅黑" panose="020B0503020204020204" pitchFamily="34" charset="-122"/>
              </a:rPr>
              <a:t>百分比自适应</a:t>
            </a:r>
            <a:r>
              <a:rPr lang="zh-CN" altLang="en-US" sz="2000" dirty="0">
                <a:solidFill>
                  <a:srgbClr val="595959"/>
                </a:solidFill>
                <a:latin typeface="微软雅黑" panose="020B0503020204020204" pitchFamily="34" charset="-122"/>
                <a:ea typeface="微软雅黑" panose="020B0503020204020204" pitchFamily="34" charset="-122"/>
              </a:rPr>
              <a:t>布局。</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1168672" y="1477940"/>
            <a:ext cx="30543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什么是流式布局</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6439899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p:cNvSpPr txBox="1">
            <a:spLocks noChangeArrowheads="1"/>
          </p:cNvSpPr>
          <p:nvPr/>
        </p:nvSpPr>
        <p:spPr bwMode="auto">
          <a:xfrm>
            <a:off x="982638" y="2115278"/>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流式布局实现方法：将</a:t>
            </a:r>
            <a:r>
              <a:rPr lang="en-US" altLang="zh-CN" sz="2000" dirty="0">
                <a:solidFill>
                  <a:srgbClr val="1369B2"/>
                </a:solidFill>
                <a:latin typeface="微软雅黑" panose="020B0503020204020204" pitchFamily="34" charset="-122"/>
                <a:ea typeface="微软雅黑" panose="020B0503020204020204" pitchFamily="34" charset="-122"/>
              </a:rPr>
              <a:t>CSS</a:t>
            </a:r>
            <a:r>
              <a:rPr lang="zh-CN" altLang="en-US" sz="2000" dirty="0">
                <a:solidFill>
                  <a:srgbClr val="1369B2"/>
                </a:solidFill>
                <a:latin typeface="微软雅黑" panose="020B0503020204020204" pitchFamily="34" charset="-122"/>
                <a:ea typeface="微软雅黑" panose="020B0503020204020204" pitchFamily="34" charset="-122"/>
              </a:rPr>
              <a:t>固定像素宽度</a:t>
            </a:r>
            <a:r>
              <a:rPr lang="zh-CN" altLang="en-US" sz="2000" dirty="0">
                <a:solidFill>
                  <a:srgbClr val="595959"/>
                </a:solidFill>
                <a:latin typeface="微软雅黑" panose="020B0503020204020204" pitchFamily="34" charset="-122"/>
                <a:ea typeface="微软雅黑" panose="020B0503020204020204" pitchFamily="34" charset="-122"/>
              </a:rPr>
              <a:t>换算为</a:t>
            </a:r>
            <a:r>
              <a:rPr lang="zh-CN" altLang="en-US" sz="2000" dirty="0">
                <a:solidFill>
                  <a:srgbClr val="1369B2"/>
                </a:solidFill>
                <a:latin typeface="微软雅黑" panose="020B0503020204020204" pitchFamily="34" charset="-122"/>
                <a:ea typeface="微软雅黑" panose="020B0503020204020204" pitchFamily="34" charset="-122"/>
              </a:rPr>
              <a:t>百分比宽度</a:t>
            </a:r>
            <a:r>
              <a:rPr lang="zh-CN" altLang="en-US" sz="2000" dirty="0">
                <a:solidFill>
                  <a:srgbClr val="595959"/>
                </a:solidFill>
                <a:latin typeface="微软雅黑" panose="020B0503020204020204" pitchFamily="34" charset="-122"/>
                <a:ea typeface="微软雅黑" panose="020B0503020204020204" pitchFamily="34" charset="-122"/>
              </a:rPr>
              <a:t>，换算公式如下。</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TextBox 76"/>
          <p:cNvSpPr txBox="1"/>
          <p:nvPr/>
        </p:nvSpPr>
        <p:spPr>
          <a:xfrm>
            <a:off x="1168672" y="1477940"/>
            <a:ext cx="30543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流式布局实现方法</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3" name="矩形 12"/>
          <p:cNvSpPr/>
          <p:nvPr/>
        </p:nvSpPr>
        <p:spPr bwMode="auto">
          <a:xfrm>
            <a:off x="2494806" y="2999644"/>
            <a:ext cx="6408712" cy="7181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4" name="矩形 13"/>
          <p:cNvSpPr/>
          <p:nvPr/>
        </p:nvSpPr>
        <p:spPr bwMode="auto">
          <a:xfrm>
            <a:off x="2839738" y="3063879"/>
            <a:ext cx="5631732" cy="499624"/>
          </a:xfrm>
          <a:prstGeom prst="rect">
            <a:avLst/>
          </a:prstGeom>
        </p:spPr>
        <p:txBody>
          <a:bodyPr wrap="square">
            <a:spAutoFit/>
          </a:bodyPr>
          <a:lstStyle/>
          <a:p>
            <a:pPr>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百分比宽度 </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目标元素宽度 </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父盒子宽度</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
          <p:cNvSpPr txBox="1">
            <a:spLocks noChangeArrowheads="1"/>
          </p:cNvSpPr>
          <p:nvPr/>
        </p:nvSpPr>
        <p:spPr bwMode="auto">
          <a:xfrm>
            <a:off x="190550" y="1150459"/>
            <a:ext cx="11305256"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CSS</a:t>
            </a:r>
            <a:r>
              <a:rPr lang="zh-CN" altLang="en-US" sz="2000" dirty="0">
                <a:solidFill>
                  <a:srgbClr val="1369B2"/>
                </a:solidFill>
                <a:latin typeface="微软雅黑" panose="020B0503020204020204" pitchFamily="34" charset="-122"/>
                <a:ea typeface="微软雅黑" panose="020B0503020204020204" pitchFamily="34" charset="-122"/>
              </a:rPr>
              <a:t>固定像素宽度布局</a:t>
            </a:r>
            <a:r>
              <a:rPr lang="zh-CN" altLang="en-US" sz="2000" dirty="0">
                <a:solidFill>
                  <a:srgbClr val="595959"/>
                </a:solidFill>
                <a:latin typeface="微软雅黑" panose="020B0503020204020204" pitchFamily="34" charset="-122"/>
                <a:ea typeface="微软雅黑" panose="020B0503020204020204" pitchFamily="34" charset="-122"/>
              </a:rPr>
              <a:t>与</a:t>
            </a:r>
            <a:r>
              <a:rPr lang="zh-CN" altLang="en-US" sz="2000" dirty="0">
                <a:solidFill>
                  <a:srgbClr val="1369B2"/>
                </a:solidFill>
                <a:latin typeface="微软雅黑" panose="020B0503020204020204" pitchFamily="34" charset="-122"/>
                <a:ea typeface="微软雅黑" panose="020B0503020204020204" pitchFamily="34" charset="-122"/>
              </a:rPr>
              <a:t>流式布局</a:t>
            </a:r>
            <a:r>
              <a:rPr lang="zh-CN" altLang="en-US" sz="2000" dirty="0">
                <a:solidFill>
                  <a:srgbClr val="595959"/>
                </a:solidFill>
                <a:latin typeface="微软雅黑" panose="020B0503020204020204" pitchFamily="34" charset="-122"/>
                <a:ea typeface="微软雅黑" panose="020B0503020204020204" pitchFamily="34" charset="-122"/>
              </a:rPr>
              <a:t>两种布局方式实现多栏布局结构，效果如图</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pic>
        <p:nvPicPr>
          <p:cNvPr id="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670" y="2277666"/>
            <a:ext cx="4824536" cy="273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5"/>
          <p:cNvSpPr txBox="1">
            <a:spLocks noChangeArrowheads="1"/>
          </p:cNvSpPr>
          <p:nvPr/>
        </p:nvSpPr>
        <p:spPr bwMode="auto">
          <a:xfrm>
            <a:off x="1687126" y="5101793"/>
            <a:ext cx="3991624"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固定像素宽度的布局方式</a:t>
            </a:r>
          </a:p>
        </p:txBody>
      </p:sp>
      <p:sp>
        <p:nvSpPr>
          <p:cNvPr id="9" name="TextBox 35"/>
          <p:cNvSpPr txBox="1">
            <a:spLocks noChangeArrowheads="1"/>
          </p:cNvSpPr>
          <p:nvPr/>
        </p:nvSpPr>
        <p:spPr bwMode="auto">
          <a:xfrm>
            <a:off x="7377315" y="5430165"/>
            <a:ext cx="1822529"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流式布局方式</a:t>
            </a:r>
          </a:p>
        </p:txBody>
      </p:sp>
      <p:pic>
        <p:nvPicPr>
          <p:cNvPr id="11"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238" y="1989634"/>
            <a:ext cx="3810684" cy="342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8675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8" name="TextBox 35"/>
          <p:cNvSpPr txBox="1">
            <a:spLocks noChangeArrowheads="1"/>
          </p:cNvSpPr>
          <p:nvPr/>
        </p:nvSpPr>
        <p:spPr bwMode="auto">
          <a:xfrm>
            <a:off x="867197" y="1184439"/>
            <a:ext cx="10441160"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通过案例演示</a:t>
            </a:r>
            <a:r>
              <a:rPr lang="en-US" altLang="zh-CN" sz="2000" dirty="0">
                <a:solidFill>
                  <a:srgbClr val="1369B2"/>
                </a:solidFill>
                <a:latin typeface="微软雅黑" panose="020B0503020204020204" pitchFamily="34" charset="-122"/>
                <a:ea typeface="微软雅黑" panose="020B0503020204020204" pitchFamily="34" charset="-122"/>
              </a:rPr>
              <a:t>CSS</a:t>
            </a:r>
            <a:r>
              <a:rPr lang="zh-CN" altLang="en-US" sz="2000" dirty="0">
                <a:solidFill>
                  <a:srgbClr val="1369B2"/>
                </a:solidFill>
                <a:latin typeface="微软雅黑" panose="020B0503020204020204" pitchFamily="34" charset="-122"/>
                <a:ea typeface="微软雅黑" panose="020B0503020204020204" pitchFamily="34" charset="-122"/>
              </a:rPr>
              <a:t>固定像素宽度布局</a:t>
            </a:r>
            <a:r>
              <a:rPr lang="zh-CN" altLang="en-US" sz="2000" dirty="0">
                <a:solidFill>
                  <a:srgbClr val="595959"/>
                </a:solidFill>
                <a:latin typeface="微软雅黑" panose="020B0503020204020204" pitchFamily="34" charset="-122"/>
                <a:ea typeface="微软雅黑" panose="020B0503020204020204" pitchFamily="34" charset="-122"/>
              </a:rPr>
              <a:t>与</a:t>
            </a:r>
            <a:r>
              <a:rPr lang="zh-CN" altLang="en-US" sz="2000" dirty="0">
                <a:solidFill>
                  <a:srgbClr val="1369B2"/>
                </a:solidFill>
                <a:latin typeface="微软雅黑" panose="020B0503020204020204" pitchFamily="34" charset="-122"/>
                <a:ea typeface="微软雅黑" panose="020B0503020204020204" pitchFamily="34" charset="-122"/>
              </a:rPr>
              <a:t>流式布局</a:t>
            </a:r>
            <a:r>
              <a:rPr lang="zh-CN" altLang="en-US" sz="2000" dirty="0">
                <a:solidFill>
                  <a:srgbClr val="595959"/>
                </a:solidFill>
                <a:latin typeface="微软雅黑" panose="020B0503020204020204" pitchFamily="34" charset="-122"/>
                <a:ea typeface="微软雅黑" panose="020B0503020204020204" pitchFamily="34" charset="-122"/>
              </a:rPr>
              <a:t>两种布局方式的使用</a:t>
            </a:r>
            <a:r>
              <a:rPr lang="zh-CN" altLang="en-US" sz="2000" dirty="0" smtClean="0">
                <a:solidFill>
                  <a:srgbClr val="595959"/>
                </a:solidFill>
                <a:latin typeface="微软雅黑" panose="020B0503020204020204" pitchFamily="34" charset="-122"/>
                <a:ea typeface="微软雅黑" panose="020B0503020204020204" pitchFamily="34" charset="-122"/>
              </a:rPr>
              <a:t>，对比</a:t>
            </a:r>
            <a:r>
              <a:rPr lang="zh-CN" altLang="en-US" sz="2000" dirty="0">
                <a:solidFill>
                  <a:srgbClr val="595959"/>
                </a:solidFill>
                <a:latin typeface="微软雅黑" panose="020B0503020204020204" pitchFamily="34" charset="-122"/>
                <a:ea typeface="微软雅黑" panose="020B0503020204020204" pitchFamily="34" charset="-122"/>
              </a:rPr>
              <a:t>这两种布局方式的区别</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rPr>
              <a:t>案</a:t>
            </a:r>
            <a:r>
              <a:rPr lang="zh-CN" altLang="en-US" sz="2000" dirty="0">
                <a:solidFill>
                  <a:srgbClr val="595959"/>
                </a:solidFill>
                <a:latin typeface="微软雅黑" panose="020B0503020204020204" pitchFamily="34" charset="-122"/>
                <a:ea typeface="微软雅黑" panose="020B0503020204020204" pitchFamily="34" charset="-122"/>
              </a:rPr>
              <a:t>例</a:t>
            </a:r>
            <a:r>
              <a:rPr lang="zh-CN" altLang="en-US" sz="2000" dirty="0">
                <a:solidFill>
                  <a:srgbClr val="1369B2"/>
                </a:solidFill>
                <a:latin typeface="微软雅黑" panose="020B0503020204020204" pitchFamily="34" charset="-122"/>
                <a:ea typeface="微软雅黑" panose="020B0503020204020204" pitchFamily="34" charset="-122"/>
              </a:rPr>
              <a:t>实现步骤</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smtClean="0">
                <a:solidFill>
                  <a:srgbClr val="595959"/>
                </a:solidFill>
                <a:latin typeface="微软雅黑" panose="020B0503020204020204" pitchFamily="34" charset="-122"/>
                <a:ea typeface="微软雅黑" panose="020B0503020204020204" pitchFamily="34" charset="-122"/>
              </a:rPr>
              <a:t>先</a:t>
            </a:r>
            <a:r>
              <a:rPr lang="zh-CN" altLang="en-US" sz="2000" dirty="0">
                <a:solidFill>
                  <a:srgbClr val="595959"/>
                </a:solidFill>
                <a:latin typeface="微软雅黑" panose="020B0503020204020204" pitchFamily="34" charset="-122"/>
                <a:ea typeface="微软雅黑" panose="020B0503020204020204" pitchFamily="34" charset="-122"/>
              </a:rPr>
              <a:t>采用</a:t>
            </a:r>
            <a:r>
              <a:rPr lang="en-US" altLang="zh-CN" sz="2000" dirty="0">
                <a:solidFill>
                  <a:srgbClr val="595959"/>
                </a:solidFill>
                <a:latin typeface="微软雅黑" panose="020B0503020204020204" pitchFamily="34" charset="-122"/>
                <a:ea typeface="微软雅黑" panose="020B0503020204020204" pitchFamily="34" charset="-122"/>
              </a:rPr>
              <a:t>CSS</a:t>
            </a:r>
            <a:r>
              <a:rPr lang="zh-CN" altLang="en-US" sz="2000" dirty="0">
                <a:solidFill>
                  <a:srgbClr val="595959"/>
                </a:solidFill>
                <a:latin typeface="微软雅黑" panose="020B0503020204020204" pitchFamily="34" charset="-122"/>
                <a:ea typeface="微软雅黑" panose="020B0503020204020204" pitchFamily="34" charset="-122"/>
              </a:rPr>
              <a:t>固定像素宽度布局方式实现多栏</a:t>
            </a:r>
            <a:r>
              <a:rPr lang="zh-CN" altLang="en-US" sz="2000" dirty="0" smtClean="0">
                <a:solidFill>
                  <a:srgbClr val="595959"/>
                </a:solidFill>
                <a:latin typeface="微软雅黑" panose="020B0503020204020204" pitchFamily="34" charset="-122"/>
                <a:ea typeface="微软雅黑" panose="020B0503020204020204" pitchFamily="34" charset="-122"/>
              </a:rPr>
              <a:t>布局。</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smtClean="0">
                <a:solidFill>
                  <a:srgbClr val="595959"/>
                </a:solidFill>
                <a:latin typeface="微软雅黑" panose="020B0503020204020204" pitchFamily="34" charset="-122"/>
                <a:ea typeface="微软雅黑" panose="020B0503020204020204" pitchFamily="34" charset="-122"/>
              </a:rPr>
              <a:t>然后</a:t>
            </a:r>
            <a:r>
              <a:rPr lang="zh-CN" altLang="en-US" sz="2000" dirty="0">
                <a:solidFill>
                  <a:srgbClr val="595959"/>
                </a:solidFill>
                <a:latin typeface="微软雅黑" panose="020B0503020204020204" pitchFamily="34" charset="-122"/>
                <a:ea typeface="微软雅黑" panose="020B0503020204020204" pitchFamily="34" charset="-122"/>
              </a:rPr>
              <a:t>分析这种方式存在的</a:t>
            </a:r>
            <a:r>
              <a:rPr lang="zh-CN" altLang="en-US" sz="2000" dirty="0" smtClean="0">
                <a:solidFill>
                  <a:srgbClr val="595959"/>
                </a:solidFill>
                <a:latin typeface="微软雅黑" panose="020B0503020204020204" pitchFamily="34" charset="-122"/>
                <a:ea typeface="微软雅黑" panose="020B0503020204020204" pitchFamily="34" charset="-122"/>
              </a:rPr>
              <a:t>问题。</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smtClean="0">
                <a:solidFill>
                  <a:srgbClr val="595959"/>
                </a:solidFill>
                <a:latin typeface="微软雅黑" panose="020B0503020204020204" pitchFamily="34" charset="-122"/>
                <a:ea typeface="微软雅黑" panose="020B0503020204020204" pitchFamily="34" charset="-122"/>
              </a:rPr>
              <a:t>最后</a:t>
            </a:r>
            <a:r>
              <a:rPr lang="zh-CN" altLang="en-US" sz="2000" dirty="0">
                <a:solidFill>
                  <a:srgbClr val="595959"/>
                </a:solidFill>
                <a:latin typeface="微软雅黑" panose="020B0503020204020204" pitchFamily="34" charset="-122"/>
                <a:ea typeface="微软雅黑" panose="020B0503020204020204" pitchFamily="34" charset="-122"/>
              </a:rPr>
              <a:t>改为流式布局方式实现</a:t>
            </a:r>
            <a:r>
              <a:rPr lang="zh-CN" altLang="en-US" sz="2000" dirty="0" smtClean="0">
                <a:solidFill>
                  <a:srgbClr val="595959"/>
                </a:solidFill>
                <a:latin typeface="微软雅黑" panose="020B0503020204020204" pitchFamily="34" charset="-122"/>
                <a:ea typeface="微软雅黑" panose="020B0503020204020204" pitchFamily="34" charset="-122"/>
              </a:rPr>
              <a:t>多栏布局</a:t>
            </a:r>
            <a:r>
              <a:rPr lang="zh-CN" altLang="en-US" sz="2000" dirty="0">
                <a:solidFill>
                  <a:srgbClr val="595959"/>
                </a:solidFill>
                <a:latin typeface="微软雅黑" panose="020B0503020204020204" pitchFamily="34" charset="-122"/>
                <a:ea typeface="微软雅黑" panose="020B0503020204020204" pitchFamily="34" charset="-122"/>
              </a:rPr>
              <a:t>，验证问题是否解决。</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0184103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969496"/>
          </a:xfrm>
          <a:prstGeom prst="rect">
            <a:avLst/>
          </a:prstGeom>
          <a:noFill/>
          <a:ln>
            <a:noFill/>
          </a:ln>
        </p:spPr>
        <p:txBody>
          <a:bodyPr wrap="square" rtlCol="0">
            <a:spAutoFit/>
          </a:bodyPr>
          <a:lstStyle/>
          <a:p>
            <a:pPr lvl="0" defTabSz="457200">
              <a:lnSpc>
                <a:spcPct val="150000"/>
              </a:lnSpc>
              <a:defRPr/>
            </a:pP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rPr>
              <a:t>编写页面结构</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在</a:t>
            </a:r>
            <a:r>
              <a:rPr lang="en-US" altLang="zh-CN" sz="1800" dirty="0">
                <a:solidFill>
                  <a:srgbClr val="595959"/>
                </a:solidFill>
                <a:latin typeface="微软雅黑" panose="020B0503020204020204" pitchFamily="34" charset="-122"/>
                <a:ea typeface="微软雅黑" panose="020B0503020204020204" pitchFamily="34" charset="-122"/>
              </a:rPr>
              <a:t>C:\code\chapter03\demo01.html</a:t>
            </a:r>
            <a:r>
              <a:rPr lang="zh-CN" altLang="en-US" sz="1800" dirty="0">
                <a:solidFill>
                  <a:srgbClr val="595959"/>
                </a:solidFill>
                <a:latin typeface="微软雅黑" panose="020B0503020204020204" pitchFamily="34" charset="-122"/>
                <a:ea typeface="微软雅黑" panose="020B0503020204020204" pitchFamily="34" charset="-122"/>
              </a:rPr>
              <a:t>文件中，编写代码实现</a:t>
            </a:r>
            <a:r>
              <a:rPr lang="zh-CN" altLang="en-US" sz="1800" dirty="0">
                <a:solidFill>
                  <a:srgbClr val="1369B2"/>
                </a:solidFill>
                <a:latin typeface="微软雅黑" panose="020B0503020204020204" pitchFamily="34" charset="-122"/>
                <a:ea typeface="微软雅黑" panose="020B0503020204020204" pitchFamily="34" charset="-122"/>
              </a:rPr>
              <a:t>多栏布局结构</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7" name="矩形 6"/>
          <p:cNvSpPr/>
          <p:nvPr/>
        </p:nvSpPr>
        <p:spPr bwMode="auto">
          <a:xfrm>
            <a:off x="2782838" y="2287040"/>
            <a:ext cx="6408712" cy="34470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8" name="矩形 7"/>
          <p:cNvSpPr/>
          <p:nvPr/>
        </p:nvSpPr>
        <p:spPr bwMode="auto">
          <a:xfrm>
            <a:off x="3127770" y="2287040"/>
            <a:ext cx="5631732" cy="3372846"/>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&lt;header&gt;header&lt;/header&gt;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&lt;aside&gt;aside&lt;/aside&gt;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&lt;article&gt;article&lt;/article&gt;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&lt;footer&gt;footer&lt;/footer&gt;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25351960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969496"/>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实现</a:t>
            </a:r>
            <a:r>
              <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rPr>
              <a:t>CSS</a:t>
            </a: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固定像素宽度</a:t>
            </a: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sym typeface="+mn-lt"/>
              </a:rPr>
              <a:t>布局</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编写页面</a:t>
            </a:r>
            <a:r>
              <a:rPr lang="zh-CN" altLang="en-US" sz="1800" dirty="0">
                <a:solidFill>
                  <a:srgbClr val="1369B2"/>
                </a:solidFill>
                <a:latin typeface="微软雅黑" panose="020B0503020204020204" pitchFamily="34" charset="-122"/>
                <a:ea typeface="微软雅黑" panose="020B0503020204020204" pitchFamily="34" charset="-122"/>
              </a:rPr>
              <a:t>样式代码</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1" name="矩形 10"/>
          <p:cNvSpPr/>
          <p:nvPr/>
        </p:nvSpPr>
        <p:spPr bwMode="auto">
          <a:xfrm>
            <a:off x="2278782" y="2061642"/>
            <a:ext cx="7056784" cy="4154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2" name="矩形 11"/>
          <p:cNvSpPr/>
          <p:nvPr/>
        </p:nvSpPr>
        <p:spPr bwMode="auto">
          <a:xfrm>
            <a:off x="2494806" y="2061642"/>
            <a:ext cx="6624736"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body &gt; *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980px;height: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auto;margin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10px auto 0</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1px solid #000;padding: 5px;text-align: center;}</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header { height: 50px;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section { height: 300px;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footer { height: 30px;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section &gt; * {height: 100%;border: 1px solid #000;float: left;}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aside { width: 250px;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article { width: 710px; margin-left: 16px;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Tree>
    <p:extLst>
      <p:ext uri="{BB962C8B-B14F-4D97-AF65-F5344CB8AC3E}">
        <p14:creationId xmlns:p14="http://schemas.microsoft.com/office/powerpoint/2010/main" val="31160169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958027"/>
            <a:ext cx="8722842" cy="1015663"/>
          </a:xfrm>
          <a:prstGeom prst="rect">
            <a:avLst/>
          </a:prstGeom>
          <a:noFill/>
          <a:ln>
            <a:noFill/>
          </a:ln>
        </p:spPr>
        <p:txBody>
          <a:bodyPr wrap="square" rtlCol="0">
            <a:spAutoFit/>
          </a:bodyPr>
          <a:lstStyle/>
          <a:p>
            <a:pPr lvl="0" defTabSz="457200">
              <a:lnSpc>
                <a:spcPct val="150000"/>
              </a:lnSpc>
              <a:defRPr/>
            </a:pP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sym typeface="+mn-lt"/>
              </a:rPr>
              <a:t>访问测试</a:t>
            </a:r>
            <a:endParaRPr lang="en-US" altLang="zh-CN" sz="2000" b="1" kern="0" dirty="0" smtClean="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kern="0" dirty="0" smtClean="0">
                <a:solidFill>
                  <a:srgbClr val="595959"/>
                </a:solidFill>
                <a:latin typeface="微软雅黑" panose="020B0503020204020204" pitchFamily="34" charset="-122"/>
                <a:ea typeface="微软雅黑" panose="020B0503020204020204" pitchFamily="34" charset="-122"/>
                <a:cs typeface="+mn-ea"/>
                <a:sym typeface="+mn-lt"/>
              </a:rPr>
              <a:t>在</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浏览器</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中访问</a:t>
            </a:r>
            <a:r>
              <a:rPr lang="en-US" altLang="zh-CN" sz="2000" kern="0" dirty="0">
                <a:solidFill>
                  <a:srgbClr val="1369B2"/>
                </a:solidFill>
                <a:latin typeface="微软雅黑" panose="020B0503020204020204" pitchFamily="34" charset="-122"/>
                <a:ea typeface="微软雅黑" panose="020B0503020204020204" pitchFamily="34" charset="-122"/>
                <a:cs typeface="+mn-ea"/>
                <a:sym typeface="+mn-lt"/>
              </a:rPr>
              <a:t>demo01.html</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文</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件。</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pic>
        <p:nvPicPr>
          <p:cNvPr id="102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980" y="2107168"/>
            <a:ext cx="6790756" cy="384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35"/>
          <p:cNvSpPr txBox="1">
            <a:spLocks noChangeArrowheads="1"/>
          </p:cNvSpPr>
          <p:nvPr/>
        </p:nvSpPr>
        <p:spPr bwMode="auto">
          <a:xfrm>
            <a:off x="4597330" y="5907159"/>
            <a:ext cx="3991624"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固定像素宽度的布局方式</a:t>
            </a:r>
          </a:p>
        </p:txBody>
      </p:sp>
    </p:spTree>
    <p:extLst>
      <p:ext uri="{BB962C8B-B14F-4D97-AF65-F5344CB8AC3E}">
        <p14:creationId xmlns:p14="http://schemas.microsoft.com/office/powerpoint/2010/main" val="14494997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015663"/>
          </a:xfrm>
          <a:prstGeom prst="rect">
            <a:avLst/>
          </a:prstGeom>
          <a:noFill/>
          <a:ln>
            <a:noFill/>
          </a:ln>
        </p:spPr>
        <p:txBody>
          <a:bodyPr wrap="square" rtlCol="0">
            <a:spAutoFit/>
          </a:bodyPr>
          <a:lstStyle/>
          <a:p>
            <a:pPr lvl="0" defTabSz="457200">
              <a:lnSpc>
                <a:spcPct val="150000"/>
              </a:lnSpc>
              <a:defRPr/>
            </a:pP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尝试</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缩小浏览器窗口</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，会发现</a:t>
            </a:r>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demo01.html</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页面元素的大小</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不会随着</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浏览器窗口改变，浏览器会出现</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滚动条</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0" name="TextBox 35"/>
          <p:cNvSpPr txBox="1">
            <a:spLocks noChangeArrowheads="1"/>
          </p:cNvSpPr>
          <p:nvPr/>
        </p:nvSpPr>
        <p:spPr bwMode="auto">
          <a:xfrm>
            <a:off x="5132453" y="6126350"/>
            <a:ext cx="2145948"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缩小浏览器窗口</a:t>
            </a:r>
          </a:p>
        </p:txBody>
      </p:sp>
      <p:pic>
        <p:nvPicPr>
          <p:cNvPr id="205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2958" y="2140934"/>
            <a:ext cx="4589989" cy="398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70486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05</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1"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384995"/>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采用流式布局方式</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将页面</a:t>
            </a:r>
            <a:r>
              <a:rPr lang="en-US" altLang="zh-CN" sz="1800" dirty="0">
                <a:solidFill>
                  <a:srgbClr val="595959"/>
                </a:solidFill>
                <a:latin typeface="微软雅黑" panose="020B0503020204020204" pitchFamily="34" charset="-122"/>
                <a:ea typeface="微软雅黑" panose="020B0503020204020204" pitchFamily="34" charset="-122"/>
              </a:rPr>
              <a:t>&lt;title&gt;</a:t>
            </a:r>
            <a:r>
              <a:rPr lang="zh-CN" altLang="en-US" sz="1800" dirty="0">
                <a:solidFill>
                  <a:srgbClr val="595959"/>
                </a:solidFill>
                <a:latin typeface="微软雅黑" panose="020B0503020204020204" pitchFamily="34" charset="-122"/>
                <a:ea typeface="微软雅黑" panose="020B0503020204020204" pitchFamily="34" charset="-122"/>
              </a:rPr>
              <a:t>标签的内容改为“</a:t>
            </a:r>
            <a:r>
              <a:rPr lang="zh-CN" altLang="en-US" sz="1800" dirty="0">
                <a:solidFill>
                  <a:srgbClr val="1369B2"/>
                </a:solidFill>
                <a:latin typeface="微软雅黑" panose="020B0503020204020204" pitchFamily="34" charset="-122"/>
                <a:ea typeface="微软雅黑" panose="020B0503020204020204" pitchFamily="34" charset="-122"/>
              </a:rPr>
              <a:t>流式布局</a:t>
            </a:r>
            <a:r>
              <a:rPr lang="zh-CN" altLang="en-US" sz="1800" dirty="0">
                <a:solidFill>
                  <a:srgbClr val="595959"/>
                </a:solidFill>
                <a:latin typeface="微软雅黑" panose="020B0503020204020204" pitchFamily="34" charset="-122"/>
                <a:ea typeface="微软雅黑" panose="020B0503020204020204" pitchFamily="34" charset="-122"/>
              </a:rPr>
              <a:t>”，然后修改页面样式，将所有</a:t>
            </a:r>
            <a:r>
              <a:rPr lang="en-US" altLang="zh-CN" sz="1800" dirty="0">
                <a:solidFill>
                  <a:srgbClr val="595959"/>
                </a:solidFill>
                <a:latin typeface="微软雅黑" panose="020B0503020204020204" pitchFamily="34" charset="-122"/>
                <a:ea typeface="微软雅黑" panose="020B0503020204020204" pitchFamily="34" charset="-122"/>
              </a:rPr>
              <a:t>CSS</a:t>
            </a:r>
            <a:r>
              <a:rPr lang="zh-CN" altLang="en-US" sz="1800" dirty="0">
                <a:solidFill>
                  <a:srgbClr val="595959"/>
                </a:solidFill>
                <a:latin typeface="微软雅黑" panose="020B0503020204020204" pitchFamily="34" charset="-122"/>
                <a:ea typeface="微软雅黑" panose="020B0503020204020204" pitchFamily="34" charset="-122"/>
              </a:rPr>
              <a:t>固定像素宽度修改为</a:t>
            </a:r>
            <a:r>
              <a:rPr lang="zh-CN" altLang="en-US" sz="1800" dirty="0">
                <a:solidFill>
                  <a:srgbClr val="1369B2"/>
                </a:solidFill>
                <a:latin typeface="微软雅黑" panose="020B0503020204020204" pitchFamily="34" charset="-122"/>
                <a:ea typeface="微软雅黑" panose="020B0503020204020204" pitchFamily="34" charset="-122"/>
              </a:rPr>
              <a:t>百分比宽度</a:t>
            </a:r>
            <a:r>
              <a:rPr lang="zh-CN" altLang="en-US" sz="1800" dirty="0">
                <a:solidFill>
                  <a:srgbClr val="595959"/>
                </a:solidFill>
                <a:latin typeface="微软雅黑" panose="020B0503020204020204" pitchFamily="34" charset="-122"/>
                <a:ea typeface="微软雅黑" panose="020B0503020204020204" pitchFamily="34" charset="-122"/>
              </a:rPr>
              <a:t>的形式，让页面元素的大小随着浏览器窗口改变。</a:t>
            </a:r>
          </a:p>
        </p:txBody>
      </p:sp>
      <p:sp>
        <p:nvSpPr>
          <p:cNvPr id="13" name="矩形 12"/>
          <p:cNvSpPr/>
          <p:nvPr/>
        </p:nvSpPr>
        <p:spPr bwMode="auto">
          <a:xfrm>
            <a:off x="2350790" y="2502399"/>
            <a:ext cx="7144302" cy="3312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4" name="矩形 13"/>
          <p:cNvSpPr/>
          <p:nvPr/>
        </p:nvSpPr>
        <p:spPr bwMode="auto">
          <a:xfrm>
            <a:off x="2582325" y="2690420"/>
            <a:ext cx="6840760" cy="2973122"/>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3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body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95</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body</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的第一级子元素宽度为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95%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auto;margin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10px auto 0</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1px solid #000;padding: 5px;text-align: center</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header { height: 50px;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section { height: 300px;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footer { height: 30px;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Tree>
    <p:extLst>
      <p:ext uri="{BB962C8B-B14F-4D97-AF65-F5344CB8AC3E}">
        <p14:creationId xmlns:p14="http://schemas.microsoft.com/office/powerpoint/2010/main" val="26407259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05</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1"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384995"/>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采用流式布局方式</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rPr>
              <a:t>将页面</a:t>
            </a:r>
            <a:r>
              <a:rPr lang="en-US" altLang="zh-CN" sz="1800" dirty="0">
                <a:solidFill>
                  <a:srgbClr val="595959"/>
                </a:solidFill>
                <a:latin typeface="微软雅黑" panose="020B0503020204020204" pitchFamily="34" charset="-122"/>
                <a:ea typeface="微软雅黑" panose="020B0503020204020204" pitchFamily="34" charset="-122"/>
              </a:rPr>
              <a:t>&lt;title&gt;</a:t>
            </a:r>
            <a:r>
              <a:rPr lang="zh-CN" altLang="en-US" sz="1800" dirty="0">
                <a:solidFill>
                  <a:srgbClr val="595959"/>
                </a:solidFill>
                <a:latin typeface="微软雅黑" panose="020B0503020204020204" pitchFamily="34" charset="-122"/>
                <a:ea typeface="微软雅黑" panose="020B0503020204020204" pitchFamily="34" charset="-122"/>
              </a:rPr>
              <a:t>标签的内容改为“</a:t>
            </a:r>
            <a:r>
              <a:rPr lang="zh-CN" altLang="en-US" sz="1800" dirty="0">
                <a:solidFill>
                  <a:srgbClr val="1369B2"/>
                </a:solidFill>
                <a:latin typeface="微软雅黑" panose="020B0503020204020204" pitchFamily="34" charset="-122"/>
                <a:ea typeface="微软雅黑" panose="020B0503020204020204" pitchFamily="34" charset="-122"/>
              </a:rPr>
              <a:t>流式布局</a:t>
            </a:r>
            <a:r>
              <a:rPr lang="zh-CN" altLang="en-US" sz="1800" dirty="0">
                <a:solidFill>
                  <a:srgbClr val="595959"/>
                </a:solidFill>
                <a:latin typeface="微软雅黑" panose="020B0503020204020204" pitchFamily="34" charset="-122"/>
                <a:ea typeface="微软雅黑" panose="020B0503020204020204" pitchFamily="34" charset="-122"/>
              </a:rPr>
              <a:t>”，然后修改页面样式，将所有</a:t>
            </a:r>
            <a:r>
              <a:rPr lang="en-US" altLang="zh-CN" sz="1800" dirty="0">
                <a:solidFill>
                  <a:srgbClr val="595959"/>
                </a:solidFill>
                <a:latin typeface="微软雅黑" panose="020B0503020204020204" pitchFamily="34" charset="-122"/>
                <a:ea typeface="微软雅黑" panose="020B0503020204020204" pitchFamily="34" charset="-122"/>
              </a:rPr>
              <a:t>CSS</a:t>
            </a:r>
            <a:r>
              <a:rPr lang="zh-CN" altLang="en-US" sz="1800" dirty="0">
                <a:solidFill>
                  <a:srgbClr val="595959"/>
                </a:solidFill>
                <a:latin typeface="微软雅黑" panose="020B0503020204020204" pitchFamily="34" charset="-122"/>
                <a:ea typeface="微软雅黑" panose="020B0503020204020204" pitchFamily="34" charset="-122"/>
              </a:rPr>
              <a:t>固定像素宽度修改为</a:t>
            </a:r>
            <a:r>
              <a:rPr lang="zh-CN" altLang="en-US" sz="1800" dirty="0">
                <a:solidFill>
                  <a:srgbClr val="1369B2"/>
                </a:solidFill>
                <a:latin typeface="微软雅黑" panose="020B0503020204020204" pitchFamily="34" charset="-122"/>
                <a:ea typeface="微软雅黑" panose="020B0503020204020204" pitchFamily="34" charset="-122"/>
              </a:rPr>
              <a:t>百分比宽度</a:t>
            </a:r>
            <a:r>
              <a:rPr lang="zh-CN" altLang="en-US" sz="1800" dirty="0">
                <a:solidFill>
                  <a:srgbClr val="595959"/>
                </a:solidFill>
                <a:latin typeface="微软雅黑" panose="020B0503020204020204" pitchFamily="34" charset="-122"/>
                <a:ea typeface="微软雅黑" panose="020B0503020204020204" pitchFamily="34" charset="-122"/>
              </a:rPr>
              <a:t>的形式，让页面元素的大小随着浏览器窗口改变。</a:t>
            </a:r>
          </a:p>
        </p:txBody>
      </p:sp>
      <p:sp>
        <p:nvSpPr>
          <p:cNvPr id="13" name="矩形 12"/>
          <p:cNvSpPr/>
          <p:nvPr/>
        </p:nvSpPr>
        <p:spPr bwMode="auto">
          <a:xfrm>
            <a:off x="2422798" y="2551913"/>
            <a:ext cx="7543803" cy="31738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4" name="矩形 13"/>
          <p:cNvSpPr/>
          <p:nvPr/>
        </p:nvSpPr>
        <p:spPr bwMode="auto">
          <a:xfrm>
            <a:off x="2621786" y="2623921"/>
            <a:ext cx="6696744" cy="2973122"/>
          </a:xfrm>
          <a:prstGeom prst="rect">
            <a:avLst/>
          </a:prstGeom>
        </p:spPr>
        <p:txBody>
          <a:bodyPr wrap="square">
            <a:spAutoFit/>
          </a:bodyPr>
          <a:lstStyle/>
          <a:p>
            <a:pPr>
              <a:lnSpc>
                <a:spcPct val="13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section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100</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section</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的第一级子元素高度为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100%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1px solid #000;float: left</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aside</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百分比宽度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目标元素宽度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250px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父盒子宽度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980px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aside { width: 25.51%; }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article</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百分比宽度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目标元素宽度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710px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父盒子宽度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980px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article { width: 72.45%; margin-left: 1.04%; }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p>
        </p:txBody>
      </p:sp>
    </p:spTree>
    <p:extLst>
      <p:ext uri="{BB962C8B-B14F-4D97-AF65-F5344CB8AC3E}">
        <p14:creationId xmlns:p14="http://schemas.microsoft.com/office/powerpoint/2010/main" val="34398214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969496"/>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rPr>
              <a:t>demo01.html</a:t>
            </a: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文件。</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sym typeface="+mn-lt"/>
              </a:rPr>
              <a:t>将浏览器窗口</a:t>
            </a:r>
            <a:r>
              <a:rPr lang="zh-CN" altLang="en-US" sz="1800" dirty="0">
                <a:solidFill>
                  <a:srgbClr val="1369B2"/>
                </a:solidFill>
                <a:latin typeface="微软雅黑" panose="020B0503020204020204" pitchFamily="34" charset="-122"/>
                <a:ea typeface="微软雅黑" panose="020B0503020204020204" pitchFamily="34" charset="-122"/>
                <a:sym typeface="+mn-lt"/>
              </a:rPr>
              <a:t>进行缩放</a:t>
            </a:r>
            <a:r>
              <a:rPr lang="zh-CN" altLang="en-US" sz="1800" dirty="0">
                <a:solidFill>
                  <a:srgbClr val="595959"/>
                </a:solidFill>
                <a:latin typeface="微软雅黑" panose="020B0503020204020204" pitchFamily="34" charset="-122"/>
                <a:ea typeface="微软雅黑" panose="020B0503020204020204" pitchFamily="34" charset="-122"/>
                <a:sym typeface="+mn-lt"/>
              </a:rPr>
              <a:t>，会发现页面宽度也会按照一定的比例进行缩放。</a:t>
            </a:r>
            <a:endParaRPr lang="en-US" altLang="zh-CN" sz="1800" dirty="0">
              <a:solidFill>
                <a:srgbClr val="595959"/>
              </a:solidFill>
              <a:latin typeface="微软雅黑" panose="020B0503020204020204" pitchFamily="34" charset="-122"/>
              <a:ea typeface="微软雅黑" panose="020B0503020204020204" pitchFamily="34" charset="-122"/>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06</a:t>
            </a: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流式</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pic>
        <p:nvPicPr>
          <p:cNvPr id="3074"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980" y="2049642"/>
            <a:ext cx="4955079" cy="4459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08695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视口</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3.2</a:t>
            </a:r>
          </a:p>
        </p:txBody>
      </p:sp>
    </p:spTree>
    <p:extLst>
      <p:ext uri="{BB962C8B-B14F-4D97-AF65-F5344CB8AC3E}">
        <p14:creationId xmlns:p14="http://schemas.microsoft.com/office/powerpoint/2010/main" val="12680115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rPr>
              <a:t>熟悉</a:t>
            </a:r>
            <a:r>
              <a:rPr lang="zh-CN" altLang="en-US" dirty="0" smtClean="0">
                <a:solidFill>
                  <a:srgbClr val="1369B2"/>
                </a:solidFill>
                <a:latin typeface="微软雅黑" panose="020B0503020204020204" pitchFamily="34" charset="-122"/>
                <a:ea typeface="微软雅黑" panose="020B0503020204020204" pitchFamily="34" charset="-122"/>
              </a:rPr>
              <a:t>视口的概念</a:t>
            </a:r>
            <a:r>
              <a:rPr lang="zh-CN" altLang="en-US" dirty="0" smtClean="0">
                <a:solidFill>
                  <a:srgbClr val="595959"/>
                </a:solidFill>
                <a:latin typeface="微软雅黑" panose="020B0503020204020204" pitchFamily="34" charset="-122"/>
                <a:ea typeface="微软雅黑" panose="020B0503020204020204" pitchFamily="34" charset="-122"/>
              </a:rPr>
              <a:t>，</a:t>
            </a:r>
            <a:r>
              <a:rPr lang="zh-CN" altLang="en-US" dirty="0">
                <a:solidFill>
                  <a:srgbClr val="595959"/>
                </a:solidFill>
                <a:latin typeface="微软雅黑" panose="020B0503020204020204" pitchFamily="34" charset="-122"/>
                <a:ea typeface="微软雅黑" panose="020B0503020204020204" pitchFamily="34" charset="-122"/>
              </a:rPr>
              <a:t>能够说出视口</a:t>
            </a:r>
            <a:r>
              <a:rPr lang="zh-CN" altLang="en-US" dirty="0" smtClean="0">
                <a:solidFill>
                  <a:srgbClr val="595959"/>
                </a:solidFill>
                <a:latin typeface="微软雅黑" panose="020B0503020204020204" pitchFamily="34" charset="-122"/>
                <a:ea typeface="微软雅黑" panose="020B0503020204020204" pitchFamily="34" charset="-122"/>
              </a:rPr>
              <a:t>的作用和</a:t>
            </a:r>
            <a:r>
              <a:rPr lang="zh-CN" altLang="en-US" dirty="0">
                <a:solidFill>
                  <a:srgbClr val="595959"/>
                </a:solidFill>
                <a:latin typeface="微软雅黑" panose="020B0503020204020204" pitchFamily="34" charset="-122"/>
                <a:ea typeface="微软雅黑" panose="020B0503020204020204" pitchFamily="34" charset="-122"/>
              </a:rPr>
              <a:t>分类</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0481861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5"/>
          <p:cNvSpPr txBox="1">
            <a:spLocks noChangeArrowheads="1"/>
          </p:cNvSpPr>
          <p:nvPr/>
        </p:nvSpPr>
        <p:spPr bwMode="auto">
          <a:xfrm>
            <a:off x="982638" y="2115278"/>
            <a:ext cx="10441160"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在移动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Web</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开发中，视口（</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viewport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）的概念</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起初</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是由</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苹果公司</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为</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iOS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系统的</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Safari</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浏览器引入的，其</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目的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是为了让</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iPhone</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的小屏幕尽可能</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完整</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地</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显示</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整个网页。</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通过</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设置视口</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，能将大分辨率网页缩小显示在手机浏览器上，这样保证网页在手机上看起来更像在桌面浏览器中的样子。</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简单来说，</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视口</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就是浏览器</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显示页面内容的区域</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sp>
        <p:nvSpPr>
          <p:cNvPr id="4" name="TextBox 76"/>
          <p:cNvSpPr txBox="1"/>
          <p:nvPr/>
        </p:nvSpPr>
        <p:spPr>
          <a:xfrm>
            <a:off x="1168672" y="1477940"/>
            <a:ext cx="30543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什么是视口</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925771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视口的分类</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10" name="直接连接符 41"/>
          <p:cNvCxnSpPr/>
          <p:nvPr/>
        </p:nvCxnSpPr>
        <p:spPr>
          <a:xfrm flipH="1">
            <a:off x="3689671" y="206702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42"/>
          <p:cNvCxnSpPr/>
          <p:nvPr/>
        </p:nvCxnSpPr>
        <p:spPr>
          <a:xfrm flipH="1">
            <a:off x="3689671" y="380780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43"/>
          <p:cNvCxnSpPr/>
          <p:nvPr/>
        </p:nvCxnSpPr>
        <p:spPr>
          <a:xfrm flipH="1">
            <a:off x="3689671" y="5520879"/>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44"/>
          <p:cNvCxnSpPr/>
          <p:nvPr/>
        </p:nvCxnSpPr>
        <p:spPr>
          <a:xfrm>
            <a:off x="3689671" y="2067024"/>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4" name="椭圆 13"/>
          <p:cNvSpPr/>
          <p:nvPr/>
        </p:nvSpPr>
        <p:spPr>
          <a:xfrm>
            <a:off x="4883204" y="153534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Microsoft YaHei" panose="020B0503020204020204" pitchFamily="34" charset="-122"/>
              <a:ea typeface="Microsoft YaHei" panose="020B0503020204020204" pitchFamily="34" charset="-122"/>
            </a:endParaRPr>
          </a:p>
        </p:txBody>
      </p:sp>
      <p:sp>
        <p:nvSpPr>
          <p:cNvPr id="15" name="椭圆 14"/>
          <p:cNvSpPr/>
          <p:nvPr/>
        </p:nvSpPr>
        <p:spPr>
          <a:xfrm>
            <a:off x="4883204" y="325393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Microsoft YaHei" panose="020B0503020204020204" pitchFamily="34" charset="-122"/>
              <a:ea typeface="Microsoft YaHei" panose="020B0503020204020204" pitchFamily="34" charset="-122"/>
            </a:endParaRPr>
          </a:p>
        </p:txBody>
      </p:sp>
      <p:sp>
        <p:nvSpPr>
          <p:cNvPr id="16" name="椭圆 15"/>
          <p:cNvSpPr/>
          <p:nvPr/>
        </p:nvSpPr>
        <p:spPr>
          <a:xfrm>
            <a:off x="4883204" y="494734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Microsoft YaHei" panose="020B0503020204020204" pitchFamily="34" charset="-122"/>
              <a:ea typeface="Microsoft YaHei" panose="020B0503020204020204" pitchFamily="34" charset="-122"/>
            </a:endParaRPr>
          </a:p>
        </p:txBody>
      </p:sp>
      <p:sp>
        <p:nvSpPr>
          <p:cNvPr id="17" name="椭圆 16"/>
          <p:cNvSpPr/>
          <p:nvPr/>
        </p:nvSpPr>
        <p:spPr>
          <a:xfrm>
            <a:off x="4965817" y="3345904"/>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18" name="Freeform 176"/>
          <p:cNvSpPr>
            <a:spLocks noEditPoints="1"/>
          </p:cNvSpPr>
          <p:nvPr/>
        </p:nvSpPr>
        <p:spPr bwMode="auto">
          <a:xfrm>
            <a:off x="5160853" y="356077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19" name="椭圆 18"/>
          <p:cNvSpPr/>
          <p:nvPr/>
        </p:nvSpPr>
        <p:spPr>
          <a:xfrm>
            <a:off x="4975178" y="162731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20" name="椭圆 19"/>
          <p:cNvSpPr/>
          <p:nvPr/>
        </p:nvSpPr>
        <p:spPr>
          <a:xfrm>
            <a:off x="4965816" y="5058980"/>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21" name="Freeform 175"/>
          <p:cNvSpPr>
            <a:spLocks noEditPoints="1"/>
          </p:cNvSpPr>
          <p:nvPr/>
        </p:nvSpPr>
        <p:spPr bwMode="auto">
          <a:xfrm>
            <a:off x="5190486" y="5185835"/>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22" name="Freeform 168"/>
          <p:cNvSpPr>
            <a:spLocks noEditPoints="1"/>
          </p:cNvSpPr>
          <p:nvPr/>
        </p:nvSpPr>
        <p:spPr bwMode="auto">
          <a:xfrm>
            <a:off x="5160852" y="175904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24" name="文本框 9"/>
          <p:cNvSpPr txBox="1"/>
          <p:nvPr/>
        </p:nvSpPr>
        <p:spPr>
          <a:xfrm>
            <a:off x="6302445" y="1877427"/>
            <a:ext cx="2529065"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latin typeface="Microsoft YaHei" panose="020B0503020204020204" pitchFamily="34" charset="-122"/>
                <a:ea typeface="Microsoft YaHei" panose="020B0503020204020204" pitchFamily="34" charset="-122"/>
              </a:rPr>
              <a:t>布局视口</a:t>
            </a:r>
          </a:p>
        </p:txBody>
      </p:sp>
      <p:sp>
        <p:nvSpPr>
          <p:cNvPr id="26" name="文本框 9"/>
          <p:cNvSpPr txBox="1"/>
          <p:nvPr/>
        </p:nvSpPr>
        <p:spPr>
          <a:xfrm>
            <a:off x="6313894" y="3605619"/>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latin typeface="Microsoft YaHei" panose="020B0503020204020204" pitchFamily="34" charset="-122"/>
                <a:ea typeface="Microsoft YaHei" panose="020B0503020204020204" pitchFamily="34" charset="-122"/>
              </a:rPr>
              <a:t>视觉视口</a:t>
            </a:r>
          </a:p>
        </p:txBody>
      </p:sp>
      <p:sp>
        <p:nvSpPr>
          <p:cNvPr id="28" name="文本框 9"/>
          <p:cNvSpPr txBox="1"/>
          <p:nvPr/>
        </p:nvSpPr>
        <p:spPr>
          <a:xfrm>
            <a:off x="6325343" y="5477827"/>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latin typeface="Microsoft YaHei" panose="020B0503020204020204" pitchFamily="34" charset="-122"/>
                <a:ea typeface="Microsoft YaHei" panose="020B0503020204020204" pitchFamily="34" charset="-122"/>
              </a:rPr>
              <a:t>理想视口（重点）</a:t>
            </a:r>
          </a:p>
        </p:txBody>
      </p:sp>
      <p:sp>
        <p:nvSpPr>
          <p:cNvPr id="29" name="文本框 9"/>
          <p:cNvSpPr txBox="1"/>
          <p:nvPr/>
        </p:nvSpPr>
        <p:spPr>
          <a:xfrm>
            <a:off x="2196335" y="3636325"/>
            <a:ext cx="1395818" cy="34295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rPr>
              <a:t>视口的分类</a:t>
            </a:r>
          </a:p>
        </p:txBody>
      </p:sp>
    </p:spTree>
    <p:extLst>
      <p:ext uri="{BB962C8B-B14F-4D97-AF65-F5344CB8AC3E}">
        <p14:creationId xmlns:p14="http://schemas.microsoft.com/office/powerpoint/2010/main" val="37899044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76"/>
          <p:cNvSpPr txBox="1"/>
          <p:nvPr/>
        </p:nvSpPr>
        <p:spPr>
          <a:xfrm>
            <a:off x="1142277" y="1311945"/>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布局视口</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982638" y="2115278"/>
            <a:ext cx="1044116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布局视口</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layout viewport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）：指浏览器绘制网页的视口，目前大多数移动端浏览器都默认设置了布局视口的宽度为</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980px</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为什么采用默认的宽度：移动端浏览器之所以采用这样的默认宽度，是为了</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防止</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早期的</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PC</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端网页</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在屏幕宽度过小的情况下出现</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排版混乱</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的问题。</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4666596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867196" y="1184439"/>
            <a:ext cx="10700617"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布局视口</a:t>
            </a:r>
            <a:r>
              <a:rPr lang="zh-CN" altLang="en-US" sz="2000" dirty="0">
                <a:solidFill>
                  <a:srgbClr val="595959"/>
                </a:solidFill>
                <a:latin typeface="微软雅黑" panose="020B0503020204020204" pitchFamily="34" charset="-122"/>
                <a:ea typeface="微软雅黑" panose="020B0503020204020204" pitchFamily="34" charset="-122"/>
              </a:rPr>
              <a:t>的效果图。</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140463974"/>
              </p:ext>
            </p:extLst>
          </p:nvPr>
        </p:nvGraphicFramePr>
        <p:xfrm>
          <a:off x="2926853" y="1790222"/>
          <a:ext cx="5400600" cy="4252737"/>
        </p:xfrm>
        <a:graphic>
          <a:graphicData uri="http://schemas.openxmlformats.org/presentationml/2006/ole">
            <mc:AlternateContent xmlns:mc="http://schemas.openxmlformats.org/markup-compatibility/2006">
              <mc:Choice xmlns:v="urn:schemas-microsoft-com:vml" Requires="v">
                <p:oleObj spid="_x0000_s5014" name="Visio" r:id="rId3" imgW="3665176" imgH="2887971" progId="Visio.Drawing.15">
                  <p:embed/>
                </p:oleObj>
              </mc:Choice>
              <mc:Fallback>
                <p:oleObj name="Visio" r:id="rId3" imgW="3665176" imgH="2887971" progId="Visio.Drawing.15">
                  <p:embed/>
                  <p:pic>
                    <p:nvPicPr>
                      <p:cNvPr id="0" name="Object 4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6853" y="1790222"/>
                        <a:ext cx="5400600" cy="4252737"/>
                      </a:xfrm>
                      <a:prstGeom prst="rect">
                        <a:avLst/>
                      </a:prstGeom>
                      <a:noFill/>
                    </p:spPr>
                  </p:pic>
                </p:oleObj>
              </mc:Fallback>
            </mc:AlternateContent>
          </a:graphicData>
        </a:graphic>
      </p:graphicFrame>
    </p:spTree>
    <p:extLst>
      <p:ext uri="{BB962C8B-B14F-4D97-AF65-F5344CB8AC3E}">
        <p14:creationId xmlns:p14="http://schemas.microsoft.com/office/powerpoint/2010/main" val="37984475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867196" y="1184439"/>
            <a:ext cx="10700617"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布局视口</a:t>
            </a:r>
            <a:r>
              <a:rPr lang="zh-CN" altLang="en-US" sz="2000" dirty="0">
                <a:solidFill>
                  <a:srgbClr val="595959"/>
                </a:solidFill>
                <a:latin typeface="微软雅黑" panose="020B0503020204020204" pitchFamily="34" charset="-122"/>
                <a:ea typeface="微软雅黑" panose="020B0503020204020204" pitchFamily="34" charset="-122"/>
              </a:rPr>
              <a:t>：当浏览器刚打开网页时，浏览器会按照</a:t>
            </a:r>
            <a:r>
              <a:rPr lang="en-US" altLang="zh-CN" sz="2000" dirty="0">
                <a:solidFill>
                  <a:srgbClr val="595959"/>
                </a:solidFill>
                <a:latin typeface="微软雅黑" panose="020B0503020204020204" pitchFamily="34" charset="-122"/>
                <a:ea typeface="微软雅黑" panose="020B0503020204020204" pitchFamily="34" charset="-122"/>
              </a:rPr>
              <a:t>980px</a:t>
            </a:r>
            <a:r>
              <a:rPr lang="zh-CN" altLang="en-US" sz="2000" dirty="0">
                <a:solidFill>
                  <a:srgbClr val="595959"/>
                </a:solidFill>
                <a:latin typeface="微软雅黑" panose="020B0503020204020204" pitchFamily="34" charset="-122"/>
                <a:ea typeface="微软雅黑" panose="020B0503020204020204" pitchFamily="34" charset="-122"/>
              </a:rPr>
              <a:t>的宽度进行网页绘制，由于</a:t>
            </a:r>
            <a:r>
              <a:rPr lang="zh-CN" altLang="en-US" sz="2000" dirty="0">
                <a:solidFill>
                  <a:srgbClr val="1369B2"/>
                </a:solidFill>
                <a:latin typeface="微软雅黑" panose="020B0503020204020204" pitchFamily="34" charset="-122"/>
                <a:ea typeface="微软雅黑" panose="020B0503020204020204" pitchFamily="34" charset="-122"/>
              </a:rPr>
              <a:t>手机的屏幕宽度比较窄</a:t>
            </a:r>
            <a:r>
              <a:rPr lang="zh-CN" altLang="en-US" sz="2000" dirty="0">
                <a:solidFill>
                  <a:srgbClr val="595959"/>
                </a:solidFill>
                <a:latin typeface="微软雅黑" panose="020B0503020204020204" pitchFamily="34" charset="-122"/>
                <a:ea typeface="微软雅黑" panose="020B0503020204020204" pitchFamily="34" charset="-122"/>
              </a:rPr>
              <a:t>，浏览器为了将网页显示完整，默认情况下会对网页进行等比例缩小，导致网页中的图片和文字都变得非常小。</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用户虽然可以通过</a:t>
            </a:r>
            <a:r>
              <a:rPr lang="zh-CN" altLang="en-US" sz="2000" dirty="0">
                <a:solidFill>
                  <a:srgbClr val="1369B2"/>
                </a:solidFill>
                <a:latin typeface="微软雅黑" panose="020B0503020204020204" pitchFamily="34" charset="-122"/>
                <a:ea typeface="微软雅黑" panose="020B0503020204020204" pitchFamily="34" charset="-122"/>
              </a:rPr>
              <a:t>双击屏幕</a:t>
            </a:r>
            <a:r>
              <a:rPr lang="zh-CN" altLang="en-US" sz="2000" dirty="0">
                <a:solidFill>
                  <a:srgbClr val="595959"/>
                </a:solidFill>
                <a:latin typeface="微软雅黑" panose="020B0503020204020204" pitchFamily="34" charset="-122"/>
                <a:ea typeface="微软雅黑" panose="020B0503020204020204" pitchFamily="34" charset="-122"/>
              </a:rPr>
              <a:t>将网页</a:t>
            </a:r>
            <a:r>
              <a:rPr lang="zh-CN" altLang="en-US" sz="2000" dirty="0">
                <a:solidFill>
                  <a:srgbClr val="1369B2"/>
                </a:solidFill>
                <a:latin typeface="微软雅黑" panose="020B0503020204020204" pitchFamily="34" charset="-122"/>
                <a:ea typeface="微软雅黑" panose="020B0503020204020204" pitchFamily="34" charset="-122"/>
              </a:rPr>
              <a:t>放大</a:t>
            </a:r>
            <a:r>
              <a:rPr lang="zh-CN" altLang="en-US" sz="2000" dirty="0">
                <a:solidFill>
                  <a:srgbClr val="595959"/>
                </a:solidFill>
                <a:latin typeface="微软雅黑" panose="020B0503020204020204" pitchFamily="34" charset="-122"/>
                <a:ea typeface="微软雅黑" panose="020B0503020204020204" pitchFamily="34" charset="-122"/>
              </a:rPr>
              <a:t>到正常的大小，但网页在浏览器中会出现横向滚动条，必须左右滑动屏幕才能查看完整的一行内容。</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2049157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76"/>
          <p:cNvSpPr txBox="1"/>
          <p:nvPr/>
        </p:nvSpPr>
        <p:spPr>
          <a:xfrm>
            <a:off x="1142277" y="1311945"/>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视觉视口</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nvSpPr>
        <p:spPr bwMode="auto">
          <a:xfrm>
            <a:off x="982638" y="2115278"/>
            <a:ext cx="1044116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视觉视口</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visual viewport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）：指显示在屏幕上的网页区域，这个区域的宽度等同于移动设备的浏览器窗口的宽度。</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视觉视口的宽度取决于手机的屏幕分辨率，不同手机的宽度不同。当用户在手机上缩放网页时，操作的是视觉视口，而布局视口仍然保持原来的宽度。</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9419658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1011213" y="1053530"/>
            <a:ext cx="10700617"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视觉视口</a:t>
            </a:r>
            <a:r>
              <a:rPr lang="zh-CN" altLang="en-US" sz="2000" dirty="0">
                <a:solidFill>
                  <a:srgbClr val="595959"/>
                </a:solidFill>
                <a:latin typeface="微软雅黑" panose="020B0503020204020204" pitchFamily="34" charset="-122"/>
                <a:ea typeface="微软雅黑" panose="020B0503020204020204" pitchFamily="34" charset="-122"/>
              </a:rPr>
              <a:t>的效果图。</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6863896"/>
              </p:ext>
            </p:extLst>
          </p:nvPr>
        </p:nvGraphicFramePr>
        <p:xfrm>
          <a:off x="3574926" y="1930759"/>
          <a:ext cx="5716117" cy="4252947"/>
        </p:xfrm>
        <a:graphic>
          <a:graphicData uri="http://schemas.openxmlformats.org/presentationml/2006/ole">
            <mc:AlternateContent xmlns:mc="http://schemas.openxmlformats.org/markup-compatibility/2006">
              <mc:Choice xmlns:v="urn:schemas-microsoft-com:vml" Requires="v">
                <p:oleObj spid="_x0000_s7055" name="Visio" r:id="rId3" imgW="3680327" imgH="2743359" progId="Visio.Drawing.15">
                  <p:embed/>
                </p:oleObj>
              </mc:Choice>
              <mc:Fallback>
                <p:oleObj name="Visio" r:id="rId3" imgW="3680327" imgH="2743359" progId="Visio.Drawing.15">
                  <p:embed/>
                  <p:pic>
                    <p:nvPicPr>
                      <p:cNvPr id="0" name="Object 4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4926" y="1930759"/>
                        <a:ext cx="5716117" cy="4252947"/>
                      </a:xfrm>
                      <a:prstGeom prst="rect">
                        <a:avLst/>
                      </a:prstGeom>
                      <a:noFill/>
                    </p:spPr>
                  </p:pic>
                </p:oleObj>
              </mc:Fallback>
            </mc:AlternateContent>
          </a:graphicData>
        </a:graphic>
      </p:graphicFrame>
    </p:spTree>
    <p:extLst>
      <p:ext uri="{BB962C8B-B14F-4D97-AF65-F5344CB8AC3E}">
        <p14:creationId xmlns:p14="http://schemas.microsoft.com/office/powerpoint/2010/main" val="490462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76"/>
          <p:cNvSpPr txBox="1"/>
          <p:nvPr/>
        </p:nvSpPr>
        <p:spPr>
          <a:xfrm>
            <a:off x="1142277" y="1383953"/>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理想视口</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982638" y="2115278"/>
            <a:ext cx="10441160"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理想视口</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ideal viewport</a:t>
            </a:r>
            <a:r>
              <a:rPr lang="zh-CN" altLang="en-US" sz="2000" dirty="0">
                <a:solidFill>
                  <a:srgbClr val="595959"/>
                </a:solidFill>
                <a:latin typeface="微软雅黑" panose="020B0503020204020204" pitchFamily="34" charset="-122"/>
                <a:ea typeface="微软雅黑" panose="020B0503020204020204" pitchFamily="34" charset="-122"/>
              </a:rPr>
              <a:t>）：指对设备来讲最理想的视口。</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采用理想视口的方式，可以使网页在移动端浏览器上获得最</a:t>
            </a:r>
            <a:r>
              <a:rPr lang="zh-CN" altLang="en-US" sz="2000" dirty="0">
                <a:solidFill>
                  <a:srgbClr val="1369B2"/>
                </a:solidFill>
                <a:latin typeface="微软雅黑" panose="020B0503020204020204" pitchFamily="34" charset="-122"/>
                <a:ea typeface="微软雅黑" panose="020B0503020204020204" pitchFamily="34" charset="-122"/>
              </a:rPr>
              <a:t>理想的浏览和阅读</a:t>
            </a:r>
            <a:r>
              <a:rPr lang="zh-CN" altLang="en-US" sz="2000" dirty="0">
                <a:solidFill>
                  <a:srgbClr val="595959"/>
                </a:solidFill>
                <a:latin typeface="微软雅黑" panose="020B0503020204020204" pitchFamily="34" charset="-122"/>
                <a:ea typeface="微软雅黑" panose="020B0503020204020204" pitchFamily="34" charset="-122"/>
              </a:rPr>
              <a:t>的宽度。</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在理想视口情况下，</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布局视口的宽度</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和</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屏幕宽度</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是</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一致</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的，这样就</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不需要</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左右滚动页面了。</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1576550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3.2.1  </a:t>
            </a:r>
            <a:r>
              <a:rPr lang="zh-CN" altLang="en-US" sz="2400" b="1" dirty="0">
                <a:solidFill>
                  <a:srgbClr val="595959"/>
                </a:solidFill>
                <a:latin typeface="微软雅黑" panose="020B0503020204020204" pitchFamily="34" charset="-122"/>
                <a:ea typeface="微软雅黑" panose="020B0503020204020204" pitchFamily="34" charset="-122"/>
                <a:cs typeface="+mn-ea"/>
              </a:rPr>
              <a:t>视口的概念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939205" y="1125538"/>
            <a:ext cx="10700617"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rPr>
              <a:t>理想视口</a:t>
            </a:r>
            <a:r>
              <a:rPr lang="zh-CN" altLang="en-US" sz="2000" dirty="0">
                <a:solidFill>
                  <a:srgbClr val="595959"/>
                </a:solidFill>
                <a:latin typeface="微软雅黑" panose="020B0503020204020204" pitchFamily="34" charset="-122"/>
                <a:ea typeface="微软雅黑" panose="020B0503020204020204" pitchFamily="34" charset="-122"/>
              </a:rPr>
              <a:t>的效果图。</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1574657"/>
              </p:ext>
            </p:extLst>
          </p:nvPr>
        </p:nvGraphicFramePr>
        <p:xfrm>
          <a:off x="3789359" y="1575431"/>
          <a:ext cx="4085755" cy="4624332"/>
        </p:xfrm>
        <a:graphic>
          <a:graphicData uri="http://schemas.openxmlformats.org/presentationml/2006/ole">
            <mc:AlternateContent xmlns:mc="http://schemas.openxmlformats.org/markup-compatibility/2006">
              <mc:Choice xmlns:v="urn:schemas-microsoft-com:vml" Requires="v">
                <p:oleObj spid="_x0000_s9101" name="Visio" r:id="rId3" imgW="2423249" imgH="2743359" progId="Visio.Drawing.15">
                  <p:embed/>
                </p:oleObj>
              </mc:Choice>
              <mc:Fallback>
                <p:oleObj name="Visio" r:id="rId3" imgW="2423249" imgH="2743359" progId="Visio.Drawing.15">
                  <p:embed/>
                  <p:pic>
                    <p:nvPicPr>
                      <p:cNvPr id="0" name="Object 4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359" y="1575431"/>
                        <a:ext cx="4085755" cy="4624332"/>
                      </a:xfrm>
                      <a:prstGeom prst="rect">
                        <a:avLst/>
                      </a:prstGeom>
                      <a:noFill/>
                    </p:spPr>
                  </p:pic>
                </p:oleObj>
              </mc:Fallback>
            </mc:AlternateContent>
          </a:graphicData>
        </a:graphic>
      </p:graphicFrame>
    </p:spTree>
    <p:extLst>
      <p:ext uri="{BB962C8B-B14F-4D97-AF65-F5344CB8AC3E}">
        <p14:creationId xmlns:p14="http://schemas.microsoft.com/office/powerpoint/2010/main" val="37663867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463817"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掌握如何</a:t>
            </a:r>
            <a:r>
              <a:rPr lang="zh-CN" altLang="en-US" dirty="0">
                <a:solidFill>
                  <a:srgbClr val="1369B2"/>
                </a:solidFill>
                <a:latin typeface="微软雅黑" panose="020B0503020204020204" pitchFamily="34" charset="-122"/>
                <a:ea typeface="微软雅黑" panose="020B0503020204020204" pitchFamily="34" charset="-122"/>
              </a:rPr>
              <a:t>使用</a:t>
            </a:r>
            <a:r>
              <a:rPr lang="en-US" altLang="zh-CN" dirty="0">
                <a:solidFill>
                  <a:srgbClr val="1369B2"/>
                </a:solidFill>
                <a:latin typeface="微软雅黑" panose="020B0503020204020204" pitchFamily="34" charset="-122"/>
                <a:ea typeface="微软雅黑" panose="020B0503020204020204" pitchFamily="34" charset="-122"/>
              </a:rPr>
              <a:t>&lt;meta&gt;</a:t>
            </a:r>
            <a:r>
              <a:rPr lang="zh-CN" altLang="en-US" dirty="0">
                <a:solidFill>
                  <a:srgbClr val="1369B2"/>
                </a:solidFill>
                <a:latin typeface="微软雅黑" panose="020B0503020204020204" pitchFamily="34" charset="-122"/>
                <a:ea typeface="微软雅黑" panose="020B0503020204020204" pitchFamily="34" charset="-122"/>
              </a:rPr>
              <a:t>标签设置视口</a:t>
            </a:r>
            <a:r>
              <a:rPr lang="zh-CN" altLang="en-US" dirty="0">
                <a:solidFill>
                  <a:srgbClr val="595959"/>
                </a:solidFill>
                <a:latin typeface="微软雅黑" panose="020B0503020204020204" pitchFamily="34" charset="-122"/>
                <a:ea typeface="微软雅黑" panose="020B0503020204020204" pitchFamily="34" charset="-122"/>
              </a:rPr>
              <a:t>，能够为移动端页面设置合适的视口</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520643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30F93C9C-E844-214A-90AC-76ADC702D516}"/>
              </a:ext>
            </a:extLst>
          </p:cNvPr>
          <p:cNvSpPr txBox="1"/>
          <p:nvPr/>
        </p:nvSpPr>
        <p:spPr>
          <a:xfrm flipH="1">
            <a:off x="1050502" y="1187836"/>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TextBox 35"/>
          <p:cNvSpPr txBox="1">
            <a:spLocks noChangeArrowheads="1"/>
          </p:cNvSpPr>
          <p:nvPr/>
        </p:nvSpPr>
        <p:spPr bwMode="auto">
          <a:xfrm>
            <a:off x="982638" y="2115278"/>
            <a:ext cx="1044116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将</a:t>
            </a:r>
            <a:r>
              <a:rPr lang="en-US" altLang="zh-CN" sz="2000" dirty="0">
                <a:solidFill>
                  <a:srgbClr val="595959"/>
                </a:solidFill>
                <a:latin typeface="微软雅黑" panose="020B0503020204020204" pitchFamily="34" charset="-122"/>
                <a:ea typeface="微软雅黑" panose="020B0503020204020204" pitchFamily="34" charset="-122"/>
              </a:rPr>
              <a:t>&lt;meta&gt;</a:t>
            </a:r>
            <a:r>
              <a:rPr lang="zh-CN" altLang="en-US" sz="2000" dirty="0">
                <a:solidFill>
                  <a:srgbClr val="595959"/>
                </a:solidFill>
                <a:latin typeface="微软雅黑" panose="020B0503020204020204" pitchFamily="34" charset="-122"/>
                <a:ea typeface="微软雅黑" panose="020B0503020204020204" pitchFamily="34" charset="-122"/>
              </a:rPr>
              <a:t>标签中的</a:t>
            </a:r>
            <a:r>
              <a:rPr lang="en-US" altLang="zh-CN" sz="2000" dirty="0">
                <a:solidFill>
                  <a:srgbClr val="1369B2"/>
                </a:solidFill>
                <a:latin typeface="微软雅黑" panose="020B0503020204020204" pitchFamily="34" charset="-122"/>
                <a:ea typeface="微软雅黑" panose="020B0503020204020204" pitchFamily="34" charset="-122"/>
              </a:rPr>
              <a:t>name</a:t>
            </a:r>
            <a:r>
              <a:rPr lang="zh-CN" altLang="en-US" sz="2000" dirty="0">
                <a:solidFill>
                  <a:srgbClr val="1369B2"/>
                </a:solidFill>
                <a:latin typeface="微软雅黑" panose="020B0503020204020204" pitchFamily="34" charset="-122"/>
                <a:ea typeface="微软雅黑" panose="020B0503020204020204" pitchFamily="34" charset="-122"/>
              </a:rPr>
              <a:t>属性</a:t>
            </a:r>
            <a:r>
              <a:rPr lang="zh-CN" altLang="en-US" sz="2000" dirty="0">
                <a:solidFill>
                  <a:srgbClr val="595959"/>
                </a:solidFill>
                <a:latin typeface="微软雅黑" panose="020B0503020204020204" pitchFamily="34" charset="-122"/>
                <a:ea typeface="微软雅黑" panose="020B0503020204020204" pitchFamily="34" charset="-122"/>
              </a:rPr>
              <a:t>设为</a:t>
            </a:r>
            <a:r>
              <a:rPr lang="en-US" altLang="zh-CN" sz="2000" dirty="0">
                <a:solidFill>
                  <a:srgbClr val="1369B2"/>
                </a:solidFill>
                <a:latin typeface="微软雅黑" panose="020B0503020204020204" pitchFamily="34" charset="-122"/>
                <a:ea typeface="微软雅黑" panose="020B0503020204020204" pitchFamily="34" charset="-122"/>
              </a:rPr>
              <a:t>viewport</a:t>
            </a:r>
            <a:r>
              <a:rPr lang="zh-CN" altLang="en-US" sz="2000" dirty="0">
                <a:solidFill>
                  <a:srgbClr val="595959"/>
                </a:solidFill>
                <a:latin typeface="微软雅黑" panose="020B0503020204020204" pitchFamily="34" charset="-122"/>
                <a:ea typeface="微软雅黑" panose="020B0503020204020204" pitchFamily="34" charset="-122"/>
              </a:rPr>
              <a:t>，即可设置视口。</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TextBox 76"/>
          <p:cNvSpPr txBox="1"/>
          <p:nvPr/>
        </p:nvSpPr>
        <p:spPr>
          <a:xfrm>
            <a:off x="1168672" y="1405932"/>
            <a:ext cx="3918422"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利用</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&lt;meta&gt;</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标签设置视口</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矩形 14"/>
          <p:cNvSpPr/>
          <p:nvPr/>
        </p:nvSpPr>
        <p:spPr bwMode="auto">
          <a:xfrm>
            <a:off x="2494806" y="2927636"/>
            <a:ext cx="6408712" cy="7181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6" name="矩形 15"/>
          <p:cNvSpPr/>
          <p:nvPr/>
        </p:nvSpPr>
        <p:spPr bwMode="auto">
          <a:xfrm>
            <a:off x="2839738" y="2991871"/>
            <a:ext cx="5631732" cy="499624"/>
          </a:xfrm>
          <a:prstGeom prst="rect">
            <a:avLst/>
          </a:prstGeom>
        </p:spPr>
        <p:txBody>
          <a:bodyPr wrap="square">
            <a:spAutoFit/>
          </a:bodyPr>
          <a:lstStyle/>
          <a:p>
            <a:pPr algn="ct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&lt;meta name="viewport"&gt;</a:t>
            </a:r>
          </a:p>
        </p:txBody>
      </p:sp>
    </p:spTree>
    <p:extLst>
      <p:ext uri="{BB962C8B-B14F-4D97-AF65-F5344CB8AC3E}">
        <p14:creationId xmlns:p14="http://schemas.microsoft.com/office/powerpoint/2010/main" val="13059852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30F93C9C-E844-214A-90AC-76ADC702D516}"/>
              </a:ext>
            </a:extLst>
          </p:cNvPr>
          <p:cNvSpPr txBox="1"/>
          <p:nvPr/>
        </p:nvSpPr>
        <p:spPr>
          <a:xfrm flipH="1">
            <a:off x="1050502" y="1197546"/>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02</a:t>
            </a: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982638" y="2052980"/>
            <a:ext cx="1044116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在使用</a:t>
            </a:r>
            <a:r>
              <a:rPr lang="en-US" altLang="zh-CN" sz="2000" dirty="0">
                <a:solidFill>
                  <a:srgbClr val="595959"/>
                </a:solidFill>
                <a:latin typeface="微软雅黑" panose="020B0503020204020204" pitchFamily="34" charset="-122"/>
                <a:ea typeface="微软雅黑" panose="020B0503020204020204" pitchFamily="34" charset="-122"/>
              </a:rPr>
              <a:t>&lt;meta&gt;</a:t>
            </a:r>
            <a:r>
              <a:rPr lang="zh-CN" altLang="en-US" sz="2000" dirty="0">
                <a:solidFill>
                  <a:srgbClr val="595959"/>
                </a:solidFill>
                <a:latin typeface="微软雅黑" panose="020B0503020204020204" pitchFamily="34" charset="-122"/>
                <a:ea typeface="微软雅黑" panose="020B0503020204020204" pitchFamily="34" charset="-122"/>
              </a:rPr>
              <a:t>标签设置视口时，可以在</a:t>
            </a:r>
            <a:r>
              <a:rPr lang="en-US" altLang="zh-CN" sz="2000" dirty="0">
                <a:solidFill>
                  <a:srgbClr val="595959"/>
                </a:solidFill>
                <a:latin typeface="微软雅黑" panose="020B0503020204020204" pitchFamily="34" charset="-122"/>
                <a:ea typeface="微软雅黑" panose="020B0503020204020204" pitchFamily="34" charset="-122"/>
              </a:rPr>
              <a:t>&lt;meta&gt;</a:t>
            </a:r>
            <a:r>
              <a:rPr lang="zh-CN" altLang="en-US" sz="2000" dirty="0">
                <a:solidFill>
                  <a:srgbClr val="595959"/>
                </a:solidFill>
                <a:latin typeface="微软雅黑" panose="020B0503020204020204" pitchFamily="34" charset="-122"/>
                <a:ea typeface="微软雅黑" panose="020B0503020204020204" pitchFamily="34" charset="-122"/>
              </a:rPr>
              <a:t>标签的</a:t>
            </a:r>
            <a:r>
              <a:rPr lang="en-US" altLang="zh-CN" sz="2000" dirty="0">
                <a:solidFill>
                  <a:srgbClr val="1369B2"/>
                </a:solidFill>
                <a:latin typeface="微软雅黑" panose="020B0503020204020204" pitchFamily="34" charset="-122"/>
                <a:ea typeface="微软雅黑" panose="020B0503020204020204" pitchFamily="34" charset="-122"/>
              </a:rPr>
              <a:t>content</a:t>
            </a:r>
            <a:r>
              <a:rPr lang="zh-CN" altLang="en-US" sz="2000" dirty="0">
                <a:solidFill>
                  <a:srgbClr val="1369B2"/>
                </a:solidFill>
                <a:latin typeface="微软雅黑" panose="020B0503020204020204" pitchFamily="34" charset="-122"/>
                <a:ea typeface="微软雅黑" panose="020B0503020204020204" pitchFamily="34" charset="-122"/>
              </a:rPr>
              <a:t>属性</a:t>
            </a:r>
            <a:r>
              <a:rPr lang="zh-CN" altLang="en-US" sz="2000" dirty="0">
                <a:solidFill>
                  <a:srgbClr val="595959"/>
                </a:solidFill>
                <a:latin typeface="微软雅黑" panose="020B0503020204020204" pitchFamily="34" charset="-122"/>
                <a:ea typeface="微软雅黑" panose="020B0503020204020204" pitchFamily="34" charset="-122"/>
              </a:rPr>
              <a:t>中添加一些</a:t>
            </a:r>
            <a:r>
              <a:rPr lang="zh-CN" altLang="en-US" sz="2000" dirty="0">
                <a:solidFill>
                  <a:srgbClr val="1369B2"/>
                </a:solidFill>
                <a:latin typeface="微软雅黑" panose="020B0503020204020204" pitchFamily="34" charset="-122"/>
                <a:ea typeface="微软雅黑" panose="020B0503020204020204" pitchFamily="34" charset="-122"/>
              </a:rPr>
              <a:t>参数</a:t>
            </a:r>
            <a:r>
              <a:rPr lang="zh-CN" altLang="en-US" sz="2000" dirty="0">
                <a:solidFill>
                  <a:srgbClr val="595959"/>
                </a:solidFill>
                <a:latin typeface="微软雅黑" panose="020B0503020204020204" pitchFamily="34" charset="-122"/>
                <a:ea typeface="微软雅黑" panose="020B0503020204020204" pitchFamily="34" charset="-122"/>
              </a:rPr>
              <a:t>，其格式为“</a:t>
            </a:r>
            <a:r>
              <a:rPr lang="zh-CN" altLang="en-US" sz="2000" dirty="0">
                <a:solidFill>
                  <a:srgbClr val="1369B2"/>
                </a:solidFill>
                <a:latin typeface="微软雅黑" panose="020B0503020204020204" pitchFamily="34" charset="-122"/>
                <a:ea typeface="微软雅黑" panose="020B0503020204020204" pitchFamily="34" charset="-122"/>
              </a:rPr>
              <a:t>参数名</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参数值</a:t>
            </a:r>
            <a:r>
              <a:rPr lang="zh-CN" altLang="en-US" sz="2000" dirty="0">
                <a:solidFill>
                  <a:srgbClr val="595959"/>
                </a:solidFill>
                <a:latin typeface="微软雅黑" panose="020B0503020204020204" pitchFamily="34" charset="-122"/>
                <a:ea typeface="微软雅黑" panose="020B0503020204020204" pitchFamily="34" charset="-122"/>
              </a:rPr>
              <a:t>”，多个参数用“</a:t>
            </a:r>
            <a:r>
              <a:rPr lang="en-US"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分开。</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例如“</a:t>
            </a:r>
            <a:r>
              <a:rPr lang="en-US" altLang="zh-CN" sz="2000" dirty="0">
                <a:solidFill>
                  <a:srgbClr val="595959"/>
                </a:solidFill>
                <a:latin typeface="微软雅黑" panose="020B0503020204020204" pitchFamily="34" charset="-122"/>
                <a:ea typeface="微软雅黑" panose="020B0503020204020204" pitchFamily="34" charset="-122"/>
              </a:rPr>
              <a:t>width=device-width, initial-scale=1.0”</a:t>
            </a:r>
            <a:r>
              <a:rPr lang="zh-CN" altLang="en-US" sz="2000" dirty="0">
                <a:solidFill>
                  <a:srgbClr val="595959"/>
                </a:solidFill>
                <a:latin typeface="微软雅黑" panose="020B0503020204020204" pitchFamily="34" charset="-122"/>
                <a:ea typeface="微软雅黑" panose="020B0503020204020204" pitchFamily="34" charset="-122"/>
              </a:rPr>
              <a:t>，其中</a:t>
            </a:r>
            <a:r>
              <a:rPr lang="en-US" altLang="zh-CN" sz="2000" dirty="0">
                <a:solidFill>
                  <a:srgbClr val="595959"/>
                </a:solidFill>
                <a:latin typeface="微软雅黑" panose="020B0503020204020204" pitchFamily="34" charset="-122"/>
                <a:ea typeface="微软雅黑" panose="020B0503020204020204" pitchFamily="34" charset="-122"/>
              </a:rPr>
              <a:t>width</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initial-scale</a:t>
            </a:r>
            <a:r>
              <a:rPr lang="zh-CN" altLang="en-US" sz="2000" dirty="0">
                <a:solidFill>
                  <a:srgbClr val="595959"/>
                </a:solidFill>
                <a:latin typeface="微软雅黑" panose="020B0503020204020204" pitchFamily="34" charset="-122"/>
                <a:ea typeface="微软雅黑" panose="020B0503020204020204" pitchFamily="34" charset="-122"/>
              </a:rPr>
              <a:t>是参数名，</a:t>
            </a:r>
            <a:r>
              <a:rPr lang="en-US" altLang="zh-CN" sz="2000" dirty="0">
                <a:solidFill>
                  <a:srgbClr val="595959"/>
                </a:solidFill>
                <a:latin typeface="微软雅黑" panose="020B0503020204020204" pitchFamily="34" charset="-122"/>
                <a:ea typeface="微软雅黑" panose="020B0503020204020204" pitchFamily="34" charset="-122"/>
              </a:rPr>
              <a:t>device-width</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en-US" sz="2000" dirty="0">
                <a:solidFill>
                  <a:srgbClr val="595959"/>
                </a:solidFill>
                <a:latin typeface="微软雅黑" panose="020B0503020204020204" pitchFamily="34" charset="-122"/>
                <a:ea typeface="微软雅黑" panose="020B0503020204020204" pitchFamily="34" charset="-122"/>
              </a:rPr>
              <a:t>是</a:t>
            </a:r>
            <a:r>
              <a:rPr lang="zh-CN" altLang="en-US" sz="2000" dirty="0">
                <a:solidFill>
                  <a:srgbClr val="1369B2"/>
                </a:solidFill>
                <a:latin typeface="微软雅黑" panose="020B0503020204020204" pitchFamily="34" charset="-122"/>
                <a:ea typeface="微软雅黑" panose="020B0503020204020204" pitchFamily="34" charset="-122"/>
              </a:rPr>
              <a:t>参数值</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extBox 76"/>
          <p:cNvSpPr txBox="1"/>
          <p:nvPr/>
        </p:nvSpPr>
        <p:spPr>
          <a:xfrm>
            <a:off x="1054646" y="1311945"/>
            <a:ext cx="4422478"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&lt;meta&gt;</a:t>
            </a: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标签的</a:t>
            </a:r>
            <a:r>
              <a:rPr lang="en-US" altLang="zh-CN"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content</a:t>
            </a: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属性</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3367036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76"/>
          <p:cNvSpPr txBox="1"/>
          <p:nvPr/>
        </p:nvSpPr>
        <p:spPr>
          <a:xfrm>
            <a:off x="1143690" y="1053530"/>
            <a:ext cx="3583363"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content</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属性的常用参数</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778986539"/>
              </p:ext>
            </p:extLst>
          </p:nvPr>
        </p:nvGraphicFramePr>
        <p:xfrm>
          <a:off x="1143690" y="1629594"/>
          <a:ext cx="10496132" cy="4677529"/>
        </p:xfrm>
        <a:graphic>
          <a:graphicData uri="http://schemas.openxmlformats.org/drawingml/2006/table">
            <a:tbl>
              <a:tblPr>
                <a:tableStyleId>{7DF18680-E054-41AD-8BC1-D1AEF772440D}</a:tableStyleId>
              </a:tblPr>
              <a:tblGrid>
                <a:gridCol w="2647260">
                  <a:extLst>
                    <a:ext uri="{9D8B030D-6E8A-4147-A177-3AD203B41FA5}">
                      <a16:colId xmlns:a16="http://schemas.microsoft.com/office/drawing/2014/main" val="20000"/>
                    </a:ext>
                  </a:extLst>
                </a:gridCol>
                <a:gridCol w="7848872">
                  <a:extLst>
                    <a:ext uri="{9D8B030D-6E8A-4147-A177-3AD203B41FA5}">
                      <a16:colId xmlns:a16="http://schemas.microsoft.com/office/drawing/2014/main" val="4045703550"/>
                    </a:ext>
                  </a:extLst>
                </a:gridCol>
              </a:tblGrid>
              <a:tr h="618650">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mn-cs"/>
                        </a:rPr>
                        <a:t>参数名</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rPr>
                        <a:t>说明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extLst>
                  <a:ext uri="{0D108BD9-81ED-4DB2-BD59-A6C34878D82A}">
                    <a16:rowId xmlns:a16="http://schemas.microsoft.com/office/drawing/2014/main" val="10000"/>
                  </a:ext>
                </a:extLst>
              </a:tr>
              <a:tr h="627047">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width</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设置视口宽度，可以设为正整数（像素）或特殊值</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device-width</a:t>
                      </a:r>
                      <a:endParaRPr lang="zh-CN" altLang="en-US"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1"/>
                  </a:ext>
                </a:extLst>
              </a:tr>
              <a:tr h="629358">
                <a:tc>
                  <a:txBody>
                    <a:bodyPr/>
                    <a:lstStyle/>
                    <a:p>
                      <a:pPr marL="0" indent="266700" algn="ctr" defTabSz="1219200" rtl="0" eaLnBrk="1" latinLnBrk="0" hangingPunct="1">
                        <a:spcAft>
                          <a:spcPts val="0"/>
                        </a:spcAft>
                      </a:pPr>
                      <a:r>
                        <a:rPr lang="en-US" sz="2000" b="0" kern="100" dirty="0">
                          <a:solidFill>
                            <a:srgbClr val="595959"/>
                          </a:solidFill>
                          <a:effectLst/>
                          <a:latin typeface="微软雅黑" panose="020B0503020204020204" pitchFamily="34" charset="-122"/>
                          <a:ea typeface="微软雅黑" panose="020B0503020204020204" pitchFamily="34" charset="-122"/>
                          <a:cs typeface="+mn-cs"/>
                        </a:rPr>
                        <a:t>height</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设置视口高度，可以设为正整数（像素）或特殊值</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device-height</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2"/>
                  </a:ext>
                </a:extLst>
              </a:tr>
              <a:tr h="629358">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initial-scale </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设置视口的默认缩放比，取值范围为</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0.0~10.0</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202222124"/>
                  </a:ext>
                </a:extLst>
              </a:tr>
              <a:tr h="629358">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maximum-scale</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最大允许缩放比，取值范围为</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0.0~10.0</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906597130"/>
                  </a:ext>
                </a:extLst>
              </a:tr>
              <a:tr h="629358">
                <a:tc>
                  <a:txBody>
                    <a:bodyPr/>
                    <a:lstStyle/>
                    <a:p>
                      <a:pPr marL="0" indent="266700" algn="ctr" defTabSz="1219200" rtl="0" eaLnBrk="1" latinLnBrk="0" hangingPunct="1">
                        <a:spcAft>
                          <a:spcPts val="0"/>
                        </a:spcAft>
                      </a:pP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minimum-scale</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最小允许缩放比，取值范围为</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0.0~10.0</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83768110"/>
                  </a:ext>
                </a:extLst>
              </a:tr>
              <a:tr h="629358">
                <a:tc>
                  <a:txBody>
                    <a:bodyPr/>
                    <a:lstStyle/>
                    <a:p>
                      <a:pPr marL="0" indent="266700" algn="ctr" defTabSz="1219200" rtl="0" eaLnBrk="1" latinLnBrk="0" hangingPunct="1">
                        <a:spcAft>
                          <a:spcPts val="0"/>
                        </a:spcAft>
                      </a:pPr>
                      <a:r>
                        <a:rPr lang="en-US" sz="2000" b="0" kern="100" dirty="0">
                          <a:solidFill>
                            <a:srgbClr val="595959"/>
                          </a:solidFill>
                          <a:effectLst/>
                          <a:latin typeface="微软雅黑" panose="020B0503020204020204" pitchFamily="34" charset="-122"/>
                          <a:ea typeface="微软雅黑" panose="020B0503020204020204" pitchFamily="34" charset="-122"/>
                          <a:cs typeface="+mn-cs"/>
                        </a:rPr>
                        <a:t>user-scalable </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设置视口是否允许用户自行缩放，其值为</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yes</a:t>
                      </a: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（默认）或</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no</a:t>
                      </a: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（禁止用户缩放），也可以使用数字</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1</a:t>
                      </a: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（允许用户缩放）或数字</a:t>
                      </a:r>
                      <a:r>
                        <a:rPr lang="en-US" altLang="zh-CN" sz="2000" b="0" kern="100" dirty="0">
                          <a:solidFill>
                            <a:srgbClr val="595959"/>
                          </a:solidFill>
                          <a:effectLst/>
                          <a:latin typeface="微软雅黑" panose="020B0503020204020204" pitchFamily="34" charset="-122"/>
                          <a:ea typeface="微软雅黑" panose="020B0503020204020204" pitchFamily="34" charset="-122"/>
                          <a:cs typeface="+mn-cs"/>
                        </a:rPr>
                        <a:t>0</a:t>
                      </a:r>
                      <a:r>
                        <a:rPr lang="zh-CN" altLang="en-US" sz="2000" b="0" kern="100" dirty="0">
                          <a:solidFill>
                            <a:srgbClr val="595959"/>
                          </a:solidFill>
                          <a:effectLst/>
                          <a:latin typeface="微软雅黑" panose="020B0503020204020204" pitchFamily="34" charset="-122"/>
                          <a:ea typeface="微软雅黑" panose="020B0503020204020204" pitchFamily="34" charset="-122"/>
                          <a:cs typeface="+mn-cs"/>
                        </a:rPr>
                        <a:t>（禁止用户缩放）</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401805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TextBox 35"/>
          <p:cNvSpPr txBox="1">
            <a:spLocks noChangeArrowheads="1"/>
          </p:cNvSpPr>
          <p:nvPr/>
        </p:nvSpPr>
        <p:spPr bwMode="auto">
          <a:xfrm>
            <a:off x="1035396" y="1197546"/>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595959"/>
                </a:solidFill>
                <a:latin typeface="微软雅黑" panose="020B0503020204020204" pitchFamily="34" charset="-122"/>
                <a:ea typeface="微软雅黑" panose="020B0503020204020204" pitchFamily="34" charset="-122"/>
              </a:rPr>
              <a:t>&lt;meta&gt;</a:t>
            </a:r>
            <a:r>
              <a:rPr lang="zh-CN" altLang="en-US" sz="2000" dirty="0">
                <a:solidFill>
                  <a:srgbClr val="595959"/>
                </a:solidFill>
                <a:latin typeface="微软雅黑" panose="020B0503020204020204" pitchFamily="34" charset="-122"/>
                <a:ea typeface="微软雅黑" panose="020B0503020204020204" pitchFamily="34" charset="-122"/>
              </a:rPr>
              <a:t>标签配置视口</a:t>
            </a:r>
            <a:r>
              <a:rPr lang="zh-CN" altLang="en-US" sz="2000" dirty="0" smtClean="0">
                <a:solidFill>
                  <a:srgbClr val="595959"/>
                </a:solidFill>
                <a:latin typeface="微软雅黑" panose="020B0503020204020204" pitchFamily="34" charset="-122"/>
                <a:ea typeface="微软雅黑" panose="020B0503020204020204" pitchFamily="34" charset="-122"/>
              </a:rPr>
              <a:t>属性。</a:t>
            </a:r>
            <a:endPar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矩形 14"/>
          <p:cNvSpPr/>
          <p:nvPr/>
        </p:nvSpPr>
        <p:spPr bwMode="auto">
          <a:xfrm>
            <a:off x="2062758" y="2015950"/>
            <a:ext cx="8568952" cy="10798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6" name="矩形 15"/>
          <p:cNvSpPr/>
          <p:nvPr/>
        </p:nvSpPr>
        <p:spPr bwMode="auto">
          <a:xfrm>
            <a:off x="2235224" y="2041050"/>
            <a:ext cx="8224020" cy="874407"/>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&lt;meta name="viewport" content="user-scalable=no, width=device-width, initial-scale=1.0, maximum-scale=1.0, minimum-scale=1.0"&gt;</a:t>
            </a:r>
          </a:p>
        </p:txBody>
      </p:sp>
      <p:sp>
        <p:nvSpPr>
          <p:cNvPr id="8" name="TextBox 35"/>
          <p:cNvSpPr txBox="1">
            <a:spLocks noChangeArrowheads="1"/>
          </p:cNvSpPr>
          <p:nvPr/>
        </p:nvSpPr>
        <p:spPr bwMode="auto">
          <a:xfrm>
            <a:off x="509070" y="3240086"/>
            <a:ext cx="10967486"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1066800" lvl="1" indent="-4572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user-scalable=no</a:t>
            </a:r>
            <a:r>
              <a:rPr lang="zh-CN" altLang="en-US" sz="2000" dirty="0">
                <a:solidFill>
                  <a:srgbClr val="595959"/>
                </a:solidFill>
                <a:latin typeface="微软雅黑" panose="020B0503020204020204" pitchFamily="34" charset="-122"/>
                <a:ea typeface="微软雅黑" panose="020B0503020204020204" pitchFamily="34" charset="-122"/>
              </a:rPr>
              <a:t>：不允许用户自行缩放页面。</a:t>
            </a:r>
          </a:p>
          <a:p>
            <a:pPr marL="1066800" lvl="1" indent="-4572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width=device-width</a:t>
            </a:r>
            <a:r>
              <a:rPr lang="zh-CN" altLang="en-US" sz="2000" dirty="0">
                <a:solidFill>
                  <a:srgbClr val="595959"/>
                </a:solidFill>
                <a:latin typeface="微软雅黑" panose="020B0503020204020204" pitchFamily="34" charset="-122"/>
                <a:ea typeface="微软雅黑" panose="020B0503020204020204" pitchFamily="34" charset="-122"/>
              </a:rPr>
              <a:t>：通知浏览器布局视口的宽度应该与当前设备的宽度一致，即设备有多宽，布局视口就有多宽。</a:t>
            </a:r>
          </a:p>
          <a:p>
            <a:pPr marL="1066800" lvl="1" indent="-4572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initial-scale=1.0</a:t>
            </a:r>
            <a:r>
              <a:rPr lang="zh-CN" altLang="en-US" sz="2000" dirty="0">
                <a:solidFill>
                  <a:srgbClr val="595959"/>
                </a:solidFill>
                <a:latin typeface="微软雅黑" panose="020B0503020204020204" pitchFamily="34" charset="-122"/>
                <a:ea typeface="微软雅黑" panose="020B0503020204020204" pitchFamily="34" charset="-122"/>
              </a:rPr>
              <a:t>：视口默认缩放比为</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en-US" sz="2000" dirty="0">
                <a:solidFill>
                  <a:srgbClr val="595959"/>
                </a:solidFill>
                <a:latin typeface="微软雅黑" panose="020B0503020204020204" pitchFamily="34" charset="-122"/>
                <a:ea typeface="微软雅黑" panose="020B0503020204020204" pitchFamily="34" charset="-122"/>
              </a:rPr>
              <a:t>。</a:t>
            </a:r>
          </a:p>
          <a:p>
            <a:pPr marL="1066800" lvl="1" indent="-4572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maximum-scale=1.0</a:t>
            </a:r>
            <a:r>
              <a:rPr lang="zh-CN" altLang="en-US" sz="2000" dirty="0">
                <a:solidFill>
                  <a:srgbClr val="595959"/>
                </a:solidFill>
                <a:latin typeface="微软雅黑" panose="020B0503020204020204" pitchFamily="34" charset="-122"/>
                <a:ea typeface="微软雅黑" panose="020B0503020204020204" pitchFamily="34" charset="-122"/>
              </a:rPr>
              <a:t>：最大允许缩放为</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marL="1066800" lvl="1" indent="-4572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minimum-scale=1.0</a:t>
            </a:r>
            <a:r>
              <a:rPr lang="zh-CN" altLang="en-US" sz="2000" dirty="0">
                <a:solidFill>
                  <a:srgbClr val="595959"/>
                </a:solidFill>
                <a:latin typeface="微软雅黑" panose="020B0503020204020204" pitchFamily="34" charset="-122"/>
                <a:ea typeface="微软雅黑" panose="020B0503020204020204" pitchFamily="34" charset="-122"/>
              </a:rPr>
              <a:t>：最小允许的缩放比例</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83189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
          <p:cNvSpPr txBox="1">
            <a:spLocks noChangeArrowheads="1"/>
          </p:cNvSpPr>
          <p:nvPr/>
        </p:nvSpPr>
        <p:spPr bwMode="auto">
          <a:xfrm>
            <a:off x="190550" y="1150459"/>
            <a:ext cx="11305256"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smtClean="0">
                <a:solidFill>
                  <a:srgbClr val="595959"/>
                </a:solidFill>
                <a:latin typeface="微软雅黑" panose="020B0503020204020204" pitchFamily="34" charset="-122"/>
                <a:ea typeface="微软雅黑" panose="020B0503020204020204" pitchFamily="34" charset="-122"/>
              </a:rPr>
              <a:t>案例：通过</a:t>
            </a:r>
            <a:r>
              <a:rPr lang="en-US" altLang="zh-CN" sz="2000" dirty="0">
                <a:solidFill>
                  <a:srgbClr val="595959"/>
                </a:solidFill>
                <a:latin typeface="微软雅黑" panose="020B0503020204020204" pitchFamily="34" charset="-122"/>
                <a:ea typeface="微软雅黑" panose="020B0503020204020204" pitchFamily="34" charset="-122"/>
              </a:rPr>
              <a:t>Chrome</a:t>
            </a:r>
            <a:r>
              <a:rPr lang="zh-CN" altLang="en-US" sz="2000" dirty="0">
                <a:solidFill>
                  <a:srgbClr val="595959"/>
                </a:solidFill>
                <a:latin typeface="微软雅黑" panose="020B0503020204020204" pitchFamily="34" charset="-122"/>
                <a:ea typeface="微软雅黑" panose="020B0503020204020204" pitchFamily="34" charset="-122"/>
              </a:rPr>
              <a:t>浏览器模拟移动设备访问网页，观察页面在</a:t>
            </a:r>
            <a:r>
              <a:rPr lang="zh-CN" altLang="en-US" sz="2000" dirty="0">
                <a:solidFill>
                  <a:srgbClr val="1369B2"/>
                </a:solidFill>
                <a:latin typeface="微软雅黑" panose="020B0503020204020204" pitchFamily="34" charset="-122"/>
                <a:ea typeface="微软雅黑" panose="020B0503020204020204" pitchFamily="34" charset="-122"/>
              </a:rPr>
              <a:t>设置视口</a:t>
            </a:r>
            <a:r>
              <a:rPr lang="zh-CN" altLang="en-US" sz="2000" dirty="0" smtClean="0">
                <a:solidFill>
                  <a:srgbClr val="1369B2"/>
                </a:solidFill>
                <a:latin typeface="微软雅黑" panose="020B0503020204020204" pitchFamily="34" charset="-122"/>
                <a:ea typeface="微软雅黑" panose="020B0503020204020204" pitchFamily="34" charset="-122"/>
              </a:rPr>
              <a:t>前后</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smtClean="0">
                <a:solidFill>
                  <a:srgbClr val="595959"/>
                </a:solidFill>
                <a:latin typeface="微软雅黑" panose="020B0503020204020204" pitchFamily="34" charset="-122"/>
                <a:ea typeface="微软雅黑" panose="020B0503020204020204" pitchFamily="34" charset="-122"/>
              </a:rPr>
              <a:t>区别</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p:txBody>
      </p:sp>
      <p:sp>
        <p:nvSpPr>
          <p:cNvPr id="10"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4582" y="1917626"/>
            <a:ext cx="4061518" cy="296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35"/>
          <p:cNvSpPr txBox="1">
            <a:spLocks noChangeArrowheads="1"/>
          </p:cNvSpPr>
          <p:nvPr/>
        </p:nvSpPr>
        <p:spPr bwMode="auto">
          <a:xfrm>
            <a:off x="7434476" y="5057172"/>
            <a:ext cx="3991624"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dirty="0">
                <a:solidFill>
                  <a:srgbClr val="076DB7"/>
                </a:solidFill>
                <a:latin typeface="微软雅黑" panose="020B0503020204020204" pitchFamily="34" charset="-122"/>
                <a:ea typeface="微软雅黑" panose="020B0503020204020204" pitchFamily="34" charset="-122"/>
                <a:sym typeface="Arial" panose="020B0604020202020204" pitchFamily="34" charset="0"/>
              </a:rPr>
              <a:t>设置视口之后</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的页面效果</a:t>
            </a:r>
          </a:p>
        </p:txBody>
      </p:sp>
      <p:pic>
        <p:nvPicPr>
          <p:cNvPr id="1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661" y="2067581"/>
            <a:ext cx="6264696" cy="266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35"/>
          <p:cNvSpPr txBox="1">
            <a:spLocks noChangeArrowheads="1"/>
          </p:cNvSpPr>
          <p:nvPr/>
        </p:nvSpPr>
        <p:spPr bwMode="auto">
          <a:xfrm>
            <a:off x="2172613" y="4869954"/>
            <a:ext cx="3991624"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模拟移动设备的显示</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en-US" altLang="zh-CN"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gn="ct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smtClean="0">
                <a:solidFill>
                  <a:srgbClr val="076DB7"/>
                </a:solidFill>
                <a:latin typeface="微软雅黑" panose="020B0503020204020204" pitchFamily="34" charset="-122"/>
                <a:ea typeface="微软雅黑" panose="020B0503020204020204" pitchFamily="34" charset="-122"/>
                <a:sym typeface="Arial" panose="020B0604020202020204" pitchFamily="34" charset="0"/>
              </a:rPr>
              <a:t>设置</a:t>
            </a:r>
            <a:r>
              <a:rPr lang="zh-CN" altLang="en-US" sz="2000" dirty="0">
                <a:solidFill>
                  <a:srgbClr val="076DB7"/>
                </a:solidFill>
                <a:latin typeface="微软雅黑" panose="020B0503020204020204" pitchFamily="34" charset="-122"/>
                <a:ea typeface="微软雅黑" panose="020B0503020204020204" pitchFamily="34" charset="-122"/>
                <a:sym typeface="Arial" panose="020B0604020202020204" pitchFamily="34" charset="0"/>
              </a:rPr>
              <a:t>视口</a:t>
            </a:r>
            <a:r>
              <a:rPr lang="zh-CN" altLang="en-US" sz="2000" dirty="0" smtClean="0">
                <a:solidFill>
                  <a:srgbClr val="076DB7"/>
                </a:solidFill>
                <a:latin typeface="微软雅黑" panose="020B0503020204020204" pitchFamily="34" charset="-122"/>
                <a:ea typeface="微软雅黑" panose="020B0503020204020204" pitchFamily="34" charset="-122"/>
                <a:sym typeface="Arial" panose="020B0604020202020204" pitchFamily="34" charset="0"/>
              </a:rPr>
              <a:t>前</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59394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336071"/>
          </a:xfrm>
          <a:prstGeom prst="rect">
            <a:avLst/>
          </a:prstGeom>
          <a:noFill/>
          <a:ln>
            <a:noFill/>
          </a:ln>
        </p:spPr>
        <p:txBody>
          <a:bodyPr wrap="square" rtlCol="0">
            <a:spAutoFit/>
          </a:bodyPr>
          <a:lstStyle/>
          <a:p>
            <a:pPr lvl="0" defTabSz="457200">
              <a:lnSpc>
                <a:spcPct val="150000"/>
              </a:lnSpc>
              <a:defRPr/>
            </a:pP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sym typeface="+mn-lt"/>
              </a:rPr>
              <a:t>编写页面</a:t>
            </a:r>
            <a:endParaRPr lang="en-US" altLang="zh-CN" sz="2000" b="1" kern="0" dirty="0" smtClean="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smtClean="0">
                <a:solidFill>
                  <a:srgbClr val="595959"/>
                </a:solidFill>
                <a:latin typeface="微软雅黑" panose="020B0503020204020204" pitchFamily="34" charset="-122"/>
                <a:ea typeface="微软雅黑" panose="020B0503020204020204" pitchFamily="34" charset="-122"/>
              </a:rPr>
              <a:t>创建</a:t>
            </a:r>
            <a:r>
              <a:rPr lang="en-US" altLang="zh-CN" sz="1800" dirty="0">
                <a:solidFill>
                  <a:srgbClr val="1369B2"/>
                </a:solidFill>
                <a:latin typeface="微软雅黑" panose="020B0503020204020204" pitchFamily="34" charset="-122"/>
                <a:ea typeface="微软雅黑" panose="020B0503020204020204" pitchFamily="34" charset="-122"/>
              </a:rPr>
              <a:t>C:\code\chapter03\demo02.html</a:t>
            </a:r>
            <a:r>
              <a:rPr lang="zh-CN" altLang="en-US" sz="1800" dirty="0">
                <a:solidFill>
                  <a:srgbClr val="595959"/>
                </a:solidFill>
                <a:latin typeface="微软雅黑" panose="020B0503020204020204" pitchFamily="34" charset="-122"/>
                <a:ea typeface="微软雅黑" panose="020B0503020204020204" pitchFamily="34" charset="-122"/>
              </a:rPr>
              <a:t>文件，在页面中使用</a:t>
            </a:r>
            <a:r>
              <a:rPr lang="en-US" altLang="zh-CN" sz="1800" dirty="0">
                <a:solidFill>
                  <a:srgbClr val="1369B2"/>
                </a:solidFill>
                <a:latin typeface="微软雅黑" panose="020B0503020204020204" pitchFamily="34" charset="-122"/>
                <a:ea typeface="微软雅黑" panose="020B0503020204020204" pitchFamily="34" charset="-122"/>
              </a:rPr>
              <a:t>&lt;</a:t>
            </a:r>
            <a:r>
              <a:rPr lang="en-US" altLang="zh-CN" sz="1800" dirty="0" err="1">
                <a:solidFill>
                  <a:srgbClr val="1369B2"/>
                </a:solidFill>
                <a:latin typeface="微软雅黑" panose="020B0503020204020204" pitchFamily="34" charset="-122"/>
                <a:ea typeface="微软雅黑" panose="020B0503020204020204" pitchFamily="34" charset="-122"/>
              </a:rPr>
              <a:t>img</a:t>
            </a:r>
            <a:r>
              <a:rPr lang="en-US" altLang="zh-CN" sz="1800" dirty="0">
                <a:solidFill>
                  <a:srgbClr val="1369B2"/>
                </a:solidFill>
                <a:latin typeface="微软雅黑" panose="020B0503020204020204" pitchFamily="34" charset="-122"/>
                <a:ea typeface="微软雅黑" panose="020B0503020204020204" pitchFamily="34" charset="-122"/>
              </a:rPr>
              <a:t>&gt;</a:t>
            </a:r>
            <a:r>
              <a:rPr lang="zh-CN" altLang="en-US" sz="1800" dirty="0">
                <a:solidFill>
                  <a:srgbClr val="595959"/>
                </a:solidFill>
                <a:latin typeface="微软雅黑" panose="020B0503020204020204" pitchFamily="34" charset="-122"/>
                <a:ea typeface="微软雅黑" panose="020B0503020204020204" pitchFamily="34" charset="-122"/>
              </a:rPr>
              <a:t>标签创建图片，在这一步先不给页面设置视口。</a:t>
            </a:r>
          </a:p>
        </p:txBody>
      </p:sp>
      <p:sp>
        <p:nvSpPr>
          <p:cNvPr id="7" name="矩形 6"/>
          <p:cNvSpPr/>
          <p:nvPr/>
        </p:nvSpPr>
        <p:spPr bwMode="auto">
          <a:xfrm>
            <a:off x="2062758" y="2431942"/>
            <a:ext cx="8496944" cy="39703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8" name="矩形 7"/>
          <p:cNvSpPr/>
          <p:nvPr/>
        </p:nvSpPr>
        <p:spPr bwMode="auto">
          <a:xfrm>
            <a:off x="2278782" y="2493690"/>
            <a:ext cx="8568952" cy="3846822"/>
          </a:xfrm>
          <a:prstGeom prst="rect">
            <a:avLst/>
          </a:prstGeom>
        </p:spPr>
        <p:txBody>
          <a:bodyPr wrap="square">
            <a:spAutoFit/>
          </a:bodyPr>
          <a:lstStyle/>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&lt;style&gt;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.title {width: 320px;font-size: 20px;color: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red;margin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auto;text-align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center;}</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 1px solid #000;}</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&lt;/style&gt;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class="title"&gt;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="images/cp3.jpg"&gt;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&lt;span&gt;</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限时试用</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&lt;/span&gt;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432886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969496"/>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rPr>
              <a:t>demo02.html</a:t>
            </a: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sym typeface="+mn-lt"/>
              </a:rPr>
              <a:t>文件</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en-US" altLang="zh-CN" sz="1800" dirty="0">
                <a:solidFill>
                  <a:srgbClr val="1369B2"/>
                </a:solidFill>
                <a:latin typeface="微软雅黑" panose="020B0503020204020204" pitchFamily="34" charset="-122"/>
                <a:ea typeface="微软雅黑" panose="020B0503020204020204" pitchFamily="34" charset="-122"/>
                <a:sym typeface="+mn-lt"/>
              </a:rPr>
              <a:t>PC</a:t>
            </a:r>
            <a:r>
              <a:rPr lang="zh-CN" altLang="en-US" sz="1800" dirty="0">
                <a:solidFill>
                  <a:srgbClr val="1369B2"/>
                </a:solidFill>
                <a:latin typeface="微软雅黑" panose="020B0503020204020204" pitchFamily="34" charset="-122"/>
                <a:ea typeface="微软雅黑" panose="020B0503020204020204" pitchFamily="34" charset="-122"/>
                <a:sym typeface="+mn-lt"/>
              </a:rPr>
              <a:t>端浏览器</a:t>
            </a:r>
            <a:r>
              <a:rPr lang="zh-CN" altLang="en-US" sz="1800" dirty="0">
                <a:solidFill>
                  <a:srgbClr val="595959"/>
                </a:solidFill>
                <a:latin typeface="微软雅黑" panose="020B0503020204020204" pitchFamily="34" charset="-122"/>
                <a:ea typeface="微软雅黑" panose="020B0503020204020204" pitchFamily="34" charset="-122"/>
                <a:sym typeface="+mn-lt"/>
              </a:rPr>
              <a:t>页面显示效果。</a:t>
            </a:r>
            <a:endParaRPr lang="en-US" altLang="zh-CN" sz="1800" dirty="0">
              <a:solidFill>
                <a:srgbClr val="595959"/>
              </a:solidFill>
              <a:latin typeface="微软雅黑" panose="020B0503020204020204" pitchFamily="34" charset="-122"/>
              <a:ea typeface="微软雅黑" panose="020B0503020204020204" pitchFamily="34" charset="-122"/>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4166" y="2030580"/>
            <a:ext cx="6611440" cy="4063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74988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969496"/>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在浏览器中访问</a:t>
            </a:r>
            <a:r>
              <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rPr>
              <a:t>demo02.html</a:t>
            </a: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文件。</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defTabSz="457200">
              <a:lnSpc>
                <a:spcPct val="150000"/>
              </a:lnSpc>
              <a:defRPr/>
            </a:pPr>
            <a:r>
              <a:rPr lang="zh-CN" altLang="en-US" sz="1800" dirty="0">
                <a:solidFill>
                  <a:srgbClr val="595959"/>
                </a:solidFill>
                <a:latin typeface="微软雅黑" panose="020B0503020204020204" pitchFamily="34" charset="-122"/>
                <a:ea typeface="微软雅黑" panose="020B0503020204020204" pitchFamily="34" charset="-122"/>
                <a:sym typeface="+mn-lt"/>
              </a:rPr>
              <a:t>启动开发者工具，模拟</a:t>
            </a:r>
            <a:r>
              <a:rPr lang="zh-CN" altLang="en-US" sz="1800" dirty="0">
                <a:solidFill>
                  <a:srgbClr val="1369B2"/>
                </a:solidFill>
                <a:latin typeface="微软雅黑" panose="020B0503020204020204" pitchFamily="34" charset="-122"/>
                <a:ea typeface="微软雅黑" panose="020B0503020204020204" pitchFamily="34" charset="-122"/>
                <a:sym typeface="+mn-lt"/>
              </a:rPr>
              <a:t>移动设备</a:t>
            </a:r>
            <a:r>
              <a:rPr lang="zh-CN" altLang="en-US" sz="1800" dirty="0">
                <a:solidFill>
                  <a:srgbClr val="595959"/>
                </a:solidFill>
                <a:latin typeface="微软雅黑" panose="020B0503020204020204" pitchFamily="34" charset="-122"/>
                <a:ea typeface="微软雅黑" panose="020B0503020204020204" pitchFamily="34" charset="-122"/>
                <a:sym typeface="+mn-lt"/>
              </a:rPr>
              <a:t>的显示效果。</a:t>
            </a:r>
            <a:endParaRPr lang="en-US" altLang="zh-CN" sz="1800" dirty="0">
              <a:solidFill>
                <a:srgbClr val="595959"/>
              </a:solidFill>
              <a:latin typeface="微软雅黑" panose="020B0503020204020204" pitchFamily="34" charset="-122"/>
              <a:ea typeface="微软雅黑" panose="020B0503020204020204" pitchFamily="34" charset="-122"/>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03</a:t>
            </a: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4766" y="2235910"/>
            <a:ext cx="8733273" cy="3724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39113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384995"/>
          </a:xfrm>
          <a:prstGeom prst="rect">
            <a:avLst/>
          </a:prstGeom>
          <a:noFill/>
          <a:ln>
            <a:noFill/>
          </a:ln>
        </p:spPr>
        <p:txBody>
          <a:bodyPr wrap="square" rtlCol="0">
            <a:spAutoFit/>
          </a:bodyPr>
          <a:lstStyle/>
          <a:p>
            <a:pPr lvl="0" defTabSz="457200">
              <a:lnSpc>
                <a:spcPct val="150000"/>
              </a:lnSpc>
              <a:defRPr/>
            </a:pPr>
            <a:r>
              <a:rPr lang="zh-CN" altLang="en-US" sz="2000" b="1" kern="0" dirty="0">
                <a:solidFill>
                  <a:srgbClr val="595959"/>
                </a:solidFill>
                <a:latin typeface="微软雅黑" panose="020B0503020204020204" pitchFamily="34" charset="-122"/>
                <a:ea typeface="微软雅黑" panose="020B0503020204020204" pitchFamily="34" charset="-122"/>
                <a:cs typeface="+mn-ea"/>
                <a:sym typeface="+mn-lt"/>
              </a:rPr>
              <a:t>切换到移动设备</a:t>
            </a:r>
            <a:endParaRPr lang="en-US" altLang="zh-CN" sz="2000" b="1" kern="0" dirty="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1800" dirty="0" smtClean="0">
                <a:solidFill>
                  <a:srgbClr val="595959"/>
                </a:solidFill>
                <a:latin typeface="微软雅黑" panose="020B0503020204020204" pitchFamily="34" charset="-122"/>
                <a:ea typeface="微软雅黑" panose="020B0503020204020204" pitchFamily="34" charset="-122"/>
              </a:rPr>
              <a:t>单击图中标注的     </a:t>
            </a:r>
            <a:r>
              <a:rPr lang="zh-CN" altLang="en-US" sz="1800" dirty="0">
                <a:solidFill>
                  <a:srgbClr val="595959"/>
                </a:solidFill>
                <a:latin typeface="微软雅黑" panose="020B0503020204020204" pitchFamily="34" charset="-122"/>
                <a:ea typeface="微软雅黑" panose="020B0503020204020204" pitchFamily="34" charset="-122"/>
              </a:rPr>
              <a:t>按钮，切换到</a:t>
            </a:r>
            <a:r>
              <a:rPr lang="zh-CN" altLang="en-US" sz="1800" dirty="0">
                <a:solidFill>
                  <a:srgbClr val="1369B2"/>
                </a:solidFill>
                <a:latin typeface="微软雅黑" panose="020B0503020204020204" pitchFamily="34" charset="-122"/>
                <a:ea typeface="微软雅黑" panose="020B0503020204020204" pitchFamily="34" charset="-122"/>
              </a:rPr>
              <a:t>移动设备</a:t>
            </a:r>
            <a:r>
              <a:rPr lang="zh-CN" altLang="en-US" sz="1800" dirty="0">
                <a:solidFill>
                  <a:srgbClr val="595959"/>
                </a:solidFill>
                <a:latin typeface="微软雅黑" panose="020B0503020204020204" pitchFamily="34" charset="-122"/>
                <a:ea typeface="微软雅黑" panose="020B0503020204020204" pitchFamily="34" charset="-122"/>
              </a:rPr>
              <a:t>（如</a:t>
            </a:r>
            <a:r>
              <a:rPr lang="en-US" altLang="zh-CN" sz="1800" dirty="0">
                <a:solidFill>
                  <a:srgbClr val="595959"/>
                </a:solidFill>
                <a:latin typeface="微软雅黑" panose="020B0503020204020204" pitchFamily="34" charset="-122"/>
                <a:ea typeface="微软雅黑" panose="020B0503020204020204" pitchFamily="34" charset="-122"/>
              </a:rPr>
              <a:t>iPhone 6/7/8</a:t>
            </a:r>
            <a:r>
              <a:rPr lang="zh-CN" altLang="en-US" sz="1800" dirty="0">
                <a:solidFill>
                  <a:srgbClr val="595959"/>
                </a:solidFill>
                <a:latin typeface="微软雅黑" panose="020B0503020204020204" pitchFamily="34" charset="-122"/>
                <a:ea typeface="微软雅黑" panose="020B0503020204020204" pitchFamily="34" charset="-122"/>
              </a:rPr>
              <a:t>），此时会看到页面整体缩小了，并且在页面的顶部出现了设备的名称，移动设备上页面显示效果。</a:t>
            </a: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04</a:t>
            </a:r>
          </a:p>
        </p:txBody>
      </p:sp>
      <p:sp>
        <p:nvSpPr>
          <p:cNvPr id="10"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5" name="图片 14"/>
          <p:cNvPicPr>
            <a:picLocks noChangeAspect="1"/>
          </p:cNvPicPr>
          <p:nvPr/>
        </p:nvPicPr>
        <p:blipFill>
          <a:blip r:embed="rId3"/>
          <a:stretch>
            <a:fillRect/>
          </a:stretch>
        </p:blipFill>
        <p:spPr>
          <a:xfrm>
            <a:off x="4583038" y="1557586"/>
            <a:ext cx="360040" cy="370788"/>
          </a:xfrm>
          <a:prstGeom prst="rect">
            <a:avLst/>
          </a:prstGeom>
        </p:spPr>
      </p:pic>
      <p:pic>
        <p:nvPicPr>
          <p:cNvPr id="11272"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5467" y="2587111"/>
            <a:ext cx="8041592" cy="341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01070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4977A9EE-CCB8-E04F-9A2A-321C6C7617C3}"/>
              </a:ext>
            </a:extLst>
          </p:cNvPr>
          <p:cNvSpPr/>
          <p:nvPr/>
        </p:nvSpPr>
        <p:spPr>
          <a:xfrm>
            <a:off x="961390" y="1124105"/>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2916980" y="1031179"/>
            <a:ext cx="8722842" cy="1422954"/>
          </a:xfrm>
          <a:prstGeom prst="rect">
            <a:avLst/>
          </a:prstGeom>
          <a:noFill/>
          <a:ln>
            <a:noFill/>
          </a:ln>
        </p:spPr>
        <p:txBody>
          <a:bodyPr wrap="square" rtlCol="0">
            <a:spAutoFit/>
          </a:bodyPr>
          <a:lstStyle/>
          <a:p>
            <a:pPr lvl="0" defTabSz="457200">
              <a:lnSpc>
                <a:spcPct val="150000"/>
              </a:lnSpc>
              <a:defRPr/>
            </a:pPr>
            <a:r>
              <a:rPr lang="zh-CN" altLang="en-US" sz="2000" b="1" kern="0" dirty="0" smtClean="0">
                <a:solidFill>
                  <a:srgbClr val="595959"/>
                </a:solidFill>
                <a:latin typeface="微软雅黑" panose="020B0503020204020204" pitchFamily="34" charset="-122"/>
                <a:ea typeface="微软雅黑" panose="020B0503020204020204" pitchFamily="34" charset="-122"/>
                <a:cs typeface="+mn-ea"/>
                <a:sym typeface="+mn-lt"/>
              </a:rPr>
              <a:t>修改网页</a:t>
            </a:r>
            <a:endParaRPr lang="en-US" altLang="zh-CN" sz="2000" b="1" kern="0" dirty="0" smtClean="0">
              <a:solidFill>
                <a:srgbClr val="595959"/>
              </a:solidFill>
              <a:latin typeface="微软雅黑" panose="020B0503020204020204" pitchFamily="34" charset="-122"/>
              <a:ea typeface="微软雅黑" panose="020B0503020204020204" pitchFamily="34" charset="-122"/>
              <a:cs typeface="+mn-ea"/>
              <a:sym typeface="+mn-lt"/>
            </a:endParaRPr>
          </a:p>
          <a:p>
            <a:pPr lvl="0" defTabSz="457200">
              <a:lnSpc>
                <a:spcPct val="150000"/>
              </a:lnSpc>
              <a:defRPr/>
            </a:pPr>
            <a:r>
              <a:rPr lang="zh-CN" altLang="en-US" sz="2000" kern="0" dirty="0" smtClean="0">
                <a:solidFill>
                  <a:srgbClr val="595959"/>
                </a:solidFill>
                <a:latin typeface="微软雅黑" panose="020B0503020204020204" pitchFamily="34" charset="-122"/>
                <a:ea typeface="微软雅黑" panose="020B0503020204020204" pitchFamily="34" charset="-122"/>
                <a:cs typeface="+mn-ea"/>
                <a:sym typeface="+mn-lt"/>
              </a:rPr>
              <a:t>修改</a:t>
            </a:r>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demo02.html</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文件，将</a:t>
            </a:r>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&lt;title&gt;</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中的内容修改为“</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设置视口后</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”，同时在</a:t>
            </a:r>
            <a:r>
              <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rPr>
              <a:t>&lt;head&gt;</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标签中添加</a:t>
            </a:r>
            <a:r>
              <a:rPr lang="en-US" altLang="zh-CN" sz="2000" kern="0" dirty="0">
                <a:solidFill>
                  <a:srgbClr val="1369B2"/>
                </a:solidFill>
                <a:latin typeface="微软雅黑" panose="020B0503020204020204" pitchFamily="34" charset="-122"/>
                <a:ea typeface="微软雅黑" panose="020B0503020204020204" pitchFamily="34" charset="-122"/>
                <a:cs typeface="+mn-ea"/>
                <a:sym typeface="+mn-lt"/>
              </a:rPr>
              <a:t>&lt;meta&gt;</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标签</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设置</a:t>
            </a:r>
            <a:r>
              <a:rPr lang="zh-CN" altLang="en-US" sz="2000" kern="0" dirty="0">
                <a:solidFill>
                  <a:srgbClr val="1369B2"/>
                </a:solidFill>
                <a:latin typeface="微软雅黑" panose="020B0503020204020204" pitchFamily="34" charset="-122"/>
                <a:ea typeface="微软雅黑" panose="020B0503020204020204" pitchFamily="34" charset="-122"/>
                <a:cs typeface="+mn-ea"/>
                <a:sym typeface="+mn-lt"/>
              </a:rPr>
              <a:t>视口</a:t>
            </a:r>
            <a:r>
              <a:rPr lang="zh-CN" altLang="en-US" sz="2000" kern="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kern="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30F93C9C-E844-214A-90AC-76ADC702D516}"/>
              </a:ext>
            </a:extLst>
          </p:cNvPr>
          <p:cNvSpPr txBox="1"/>
          <p:nvPr/>
        </p:nvSpPr>
        <p:spPr>
          <a:xfrm flipH="1">
            <a:off x="1050502" y="1259844"/>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05</a:t>
            </a: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2" name="矩形 11"/>
          <p:cNvSpPr/>
          <p:nvPr/>
        </p:nvSpPr>
        <p:spPr bwMode="auto">
          <a:xfrm>
            <a:off x="1774726" y="2915860"/>
            <a:ext cx="9505056" cy="945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3" name="矩形 12"/>
          <p:cNvSpPr/>
          <p:nvPr/>
        </p:nvSpPr>
        <p:spPr bwMode="auto">
          <a:xfrm>
            <a:off x="2295032" y="2926480"/>
            <a:ext cx="8912742" cy="923330"/>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&lt;meta name="viewport" content="user-scalable=no, width=device-width,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initial-scale=1.0, maximum-scale=1.0, minimum-scale=1.0"&gt;</a:t>
            </a:r>
          </a:p>
        </p:txBody>
      </p:sp>
    </p:spTree>
    <p:extLst>
      <p:ext uri="{BB962C8B-B14F-4D97-AF65-F5344CB8AC3E}">
        <p14:creationId xmlns:p14="http://schemas.microsoft.com/office/powerpoint/2010/main" val="42730797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a:extLst>
              <a:ext uri="{FF2B5EF4-FFF2-40B4-BE49-F238E27FC236}">
                <a16:creationId xmlns:a16="http://schemas.microsoft.com/office/drawing/2014/main" id="{BEAF0FBF-8370-1548-A5DC-85DA9EE176CA}"/>
              </a:ext>
            </a:extLst>
          </p:cNvPr>
          <p:cNvSpPr txBox="1"/>
          <p:nvPr>
            <p:custDataLst>
              <p:tags r:id="rId1"/>
            </p:custDataLst>
          </p:nvPr>
        </p:nvSpPr>
        <p:spPr>
          <a:xfrm>
            <a:off x="910630" y="992262"/>
            <a:ext cx="8722842" cy="507831"/>
          </a:xfrm>
          <a:prstGeom prst="rect">
            <a:avLst/>
          </a:prstGeom>
          <a:noFill/>
          <a:ln>
            <a:noFill/>
          </a:ln>
        </p:spPr>
        <p:txBody>
          <a:bodyPr wrap="square" rtlCol="0">
            <a:spAutoFit/>
          </a:bodyPr>
          <a:lstStyle/>
          <a:p>
            <a:pPr lvl="0" defTabSz="457200">
              <a:lnSpc>
                <a:spcPct val="150000"/>
              </a:lnSpc>
              <a:defRPr/>
            </a:pPr>
            <a:r>
              <a:rPr lang="zh-CN" altLang="en-US" sz="2000" dirty="0">
                <a:solidFill>
                  <a:srgbClr val="595959"/>
                </a:solidFill>
                <a:latin typeface="微软雅黑" panose="020B0503020204020204" pitchFamily="34" charset="-122"/>
                <a:ea typeface="微软雅黑" panose="020B0503020204020204" pitchFamily="34" charset="-122"/>
                <a:sym typeface="+mn-lt"/>
              </a:rPr>
              <a:t>在移动设备中查看</a:t>
            </a:r>
            <a:r>
              <a:rPr lang="zh-CN" altLang="en-US" sz="2000" dirty="0">
                <a:solidFill>
                  <a:srgbClr val="1369B2"/>
                </a:solidFill>
                <a:latin typeface="微软雅黑" panose="020B0503020204020204" pitchFamily="34" charset="-122"/>
                <a:ea typeface="微软雅黑" panose="020B0503020204020204" pitchFamily="34" charset="-122"/>
                <a:sym typeface="+mn-lt"/>
              </a:rPr>
              <a:t>设置视口</a:t>
            </a:r>
            <a:r>
              <a:rPr lang="zh-CN" altLang="en-US" sz="2000" dirty="0">
                <a:solidFill>
                  <a:srgbClr val="595959"/>
                </a:solidFill>
                <a:latin typeface="微软雅黑" panose="020B0503020204020204" pitchFamily="34" charset="-122"/>
                <a:ea typeface="微软雅黑" panose="020B0503020204020204" pitchFamily="34" charset="-122"/>
                <a:sym typeface="+mn-lt"/>
              </a:rPr>
              <a:t>之后的页面效果。</a:t>
            </a:r>
            <a:endParaRPr lang="en-US" altLang="zh-CN" sz="2000" dirty="0">
              <a:solidFill>
                <a:srgbClr val="595959"/>
              </a:solidFill>
              <a:latin typeface="微软雅黑" panose="020B0503020204020204" pitchFamily="34" charset="-122"/>
              <a:ea typeface="微软雅黑" panose="020B0503020204020204" pitchFamily="34" charset="-122"/>
              <a:sym typeface="+mn-lt"/>
            </a:endParaRPr>
          </a:p>
        </p:txBody>
      </p:sp>
      <p:sp>
        <p:nvSpPr>
          <p:cNvPr id="11"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3.2.2  </a:t>
            </a:r>
            <a:r>
              <a:rPr lang="zh-CN" altLang="en-US" sz="2400" b="1" dirty="0">
                <a:solidFill>
                  <a:srgbClr val="595959"/>
                </a:solidFill>
                <a:latin typeface="微软雅黑" panose="020B0503020204020204" pitchFamily="34" charset="-122"/>
                <a:ea typeface="微软雅黑" panose="020B0503020204020204" pitchFamily="34" charset="-122"/>
                <a:cs typeface="+mn-ea"/>
              </a:rPr>
              <a:t>使用</a:t>
            </a:r>
            <a:r>
              <a:rPr lang="en-US" altLang="zh-CN" sz="2400" b="1" dirty="0">
                <a:solidFill>
                  <a:srgbClr val="595959"/>
                </a:solidFill>
                <a:latin typeface="微软雅黑" panose="020B0503020204020204" pitchFamily="34" charset="-122"/>
                <a:ea typeface="微软雅黑" panose="020B0503020204020204" pitchFamily="34" charset="-122"/>
                <a:cs typeface="+mn-ea"/>
              </a:rPr>
              <a:t>&lt;meta&gt;</a:t>
            </a:r>
            <a:r>
              <a:rPr lang="zh-CN" altLang="en-US" sz="2400" b="1" dirty="0">
                <a:solidFill>
                  <a:srgbClr val="595959"/>
                </a:solidFill>
                <a:latin typeface="微软雅黑" panose="020B0503020204020204" pitchFamily="34" charset="-122"/>
                <a:ea typeface="微软雅黑" panose="020B0503020204020204" pitchFamily="34" charset="-122"/>
                <a:cs typeface="+mn-ea"/>
              </a:rPr>
              <a:t>标签设置视口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3314"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4847" y="1719275"/>
            <a:ext cx="6192688" cy="4518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00517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移动</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端</a:t>
            </a:r>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touch</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事件</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3.3</a:t>
            </a:r>
          </a:p>
        </p:txBody>
      </p:sp>
    </p:spTree>
    <p:extLst>
      <p:ext uri="{BB962C8B-B14F-4D97-AF65-F5344CB8AC3E}">
        <p14:creationId xmlns:p14="http://schemas.microsoft.com/office/powerpoint/2010/main" val="7090544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rPr>
              <a:t>熟悉</a:t>
            </a:r>
            <a:r>
              <a:rPr lang="en-US" altLang="zh-CN" dirty="0" smtClean="0">
                <a:solidFill>
                  <a:srgbClr val="1369B2"/>
                </a:solidFill>
                <a:latin typeface="微软雅黑" panose="020B0503020204020204" pitchFamily="34" charset="-122"/>
                <a:ea typeface="微软雅黑" panose="020B0503020204020204" pitchFamily="34" charset="-122"/>
              </a:rPr>
              <a:t>touch</a:t>
            </a:r>
            <a:r>
              <a:rPr lang="zh-CN" altLang="en-US" dirty="0" smtClean="0">
                <a:solidFill>
                  <a:srgbClr val="1369B2"/>
                </a:solidFill>
                <a:latin typeface="微软雅黑" panose="020B0503020204020204" pitchFamily="34" charset="-122"/>
                <a:ea typeface="微软雅黑" panose="020B0503020204020204" pitchFamily="34" charset="-122"/>
              </a:rPr>
              <a:t>事件</a:t>
            </a:r>
            <a:r>
              <a:rPr lang="zh-CN" altLang="en-US" dirty="0">
                <a:solidFill>
                  <a:srgbClr val="595959"/>
                </a:solidFill>
                <a:latin typeface="微软雅黑" panose="020B0503020204020204" pitchFamily="34" charset="-122"/>
                <a:ea typeface="微软雅黑" panose="020B0503020204020204" pitchFamily="34" charset="-122"/>
              </a:rPr>
              <a:t>，能够灵活使用</a:t>
            </a:r>
            <a:r>
              <a:rPr lang="en-US" altLang="zh-CN" dirty="0">
                <a:solidFill>
                  <a:srgbClr val="595959"/>
                </a:solidFill>
                <a:latin typeface="微软雅黑" panose="020B0503020204020204" pitchFamily="34" charset="-122"/>
                <a:ea typeface="微软雅黑" panose="020B0503020204020204" pitchFamily="34" charset="-122"/>
              </a:rPr>
              <a:t>4</a:t>
            </a:r>
            <a:r>
              <a:rPr lang="zh-CN" altLang="en-US" dirty="0">
                <a:solidFill>
                  <a:srgbClr val="595959"/>
                </a:solidFill>
                <a:latin typeface="微软雅黑" panose="020B0503020204020204" pitchFamily="34" charset="-122"/>
                <a:ea typeface="微软雅黑" panose="020B0503020204020204" pitchFamily="34" charset="-122"/>
              </a:rPr>
              <a:t>种基本</a:t>
            </a:r>
            <a:r>
              <a:rPr lang="en-US" altLang="zh-CN" dirty="0">
                <a:solidFill>
                  <a:srgbClr val="595959"/>
                </a:solidFill>
                <a:latin typeface="微软雅黑" panose="020B0503020204020204" pitchFamily="34" charset="-122"/>
                <a:ea typeface="微软雅黑" panose="020B0503020204020204" pitchFamily="34" charset="-122"/>
              </a:rPr>
              <a:t>touch</a:t>
            </a:r>
            <a:r>
              <a:rPr lang="zh-CN" altLang="en-US" dirty="0">
                <a:solidFill>
                  <a:srgbClr val="595959"/>
                </a:solidFill>
                <a:latin typeface="微软雅黑" panose="020B0503020204020204" pitchFamily="34" charset="-122"/>
                <a:ea typeface="微软雅黑" panose="020B0503020204020204" pitchFamily="34" charset="-122"/>
              </a:rPr>
              <a:t>事件</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Tree>
    <p:extLst>
      <p:ext uri="{BB962C8B-B14F-4D97-AF65-F5344CB8AC3E}">
        <p14:creationId xmlns:p14="http://schemas.microsoft.com/office/powerpoint/2010/main" val="26648826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7" name="TextBox 35"/>
          <p:cNvSpPr txBox="1">
            <a:spLocks noChangeArrowheads="1"/>
          </p:cNvSpPr>
          <p:nvPr/>
        </p:nvSpPr>
        <p:spPr bwMode="auto">
          <a:xfrm>
            <a:off x="910630" y="1053530"/>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的中文翻译为“</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触摸</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接触</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事件</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是一组事件的统称。</a:t>
            </a:r>
            <a:endParaRPr lang="zh-CN" altLang="en-US" sz="20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TextBox 76"/>
          <p:cNvSpPr txBox="1"/>
          <p:nvPr/>
        </p:nvSpPr>
        <p:spPr>
          <a:xfrm>
            <a:off x="1128957" y="1949706"/>
            <a:ext cx="3918422"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4</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种基本的</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触屏事件</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3312142729"/>
              </p:ext>
            </p:extLst>
          </p:nvPr>
        </p:nvGraphicFramePr>
        <p:xfrm>
          <a:off x="1128957" y="2809155"/>
          <a:ext cx="10496132" cy="3133771"/>
        </p:xfrm>
        <a:graphic>
          <a:graphicData uri="http://schemas.openxmlformats.org/drawingml/2006/table">
            <a:tbl>
              <a:tblPr>
                <a:tableStyleId>{7DF18680-E054-41AD-8BC1-D1AEF772440D}</a:tableStyleId>
              </a:tblPr>
              <a:tblGrid>
                <a:gridCol w="2647260">
                  <a:extLst>
                    <a:ext uri="{9D8B030D-6E8A-4147-A177-3AD203B41FA5}">
                      <a16:colId xmlns:a16="http://schemas.microsoft.com/office/drawing/2014/main" val="20000"/>
                    </a:ext>
                  </a:extLst>
                </a:gridCol>
                <a:gridCol w="7848872">
                  <a:extLst>
                    <a:ext uri="{9D8B030D-6E8A-4147-A177-3AD203B41FA5}">
                      <a16:colId xmlns:a16="http://schemas.microsoft.com/office/drawing/2014/main" val="4045703550"/>
                    </a:ext>
                  </a:extLst>
                </a:gridCol>
              </a:tblGrid>
              <a:tr h="618650">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mn-cs"/>
                        </a:rPr>
                        <a:t>事件</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rPr>
                        <a:t>事件描述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extLst>
                  <a:ext uri="{0D108BD9-81ED-4DB2-BD59-A6C34878D82A}">
                    <a16:rowId xmlns:a16="http://schemas.microsoft.com/office/drawing/2014/main" val="10000"/>
                  </a:ext>
                </a:extLst>
              </a:tr>
              <a:tr h="627047">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touchstart</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当手指触摸屏幕时触发</a:t>
                      </a:r>
                    </a:p>
                  </a:txBody>
                  <a:tcPr marL="68580" marR="68580" marT="0" marB="0" anchor="ctr">
                    <a:solidFill>
                      <a:srgbClr val="F2F2F2"/>
                    </a:solidFill>
                  </a:tcPr>
                </a:tc>
                <a:extLst>
                  <a:ext uri="{0D108BD9-81ED-4DB2-BD59-A6C34878D82A}">
                    <a16:rowId xmlns:a16="http://schemas.microsoft.com/office/drawing/2014/main" val="10001"/>
                  </a:ext>
                </a:extLst>
              </a:tr>
              <a:tr h="629358">
                <a:tc>
                  <a:txBody>
                    <a:bodyPr/>
                    <a:lstStyle/>
                    <a:p>
                      <a:pPr marL="0" indent="266700" algn="ctr" defTabSz="1219200" rtl="0" eaLnBrk="1" latinLnBrk="0" hangingPunct="1">
                        <a:spcAft>
                          <a:spcPts val="0"/>
                        </a:spcAft>
                      </a:pPr>
                      <a:r>
                        <a:rPr lang="en-US" sz="2000" b="0" kern="100">
                          <a:solidFill>
                            <a:srgbClr val="595959"/>
                          </a:solidFill>
                          <a:effectLst/>
                          <a:latin typeface="微软雅黑" panose="020B0503020204020204" pitchFamily="34" charset="-122"/>
                          <a:ea typeface="微软雅黑" panose="020B0503020204020204" pitchFamily="34" charset="-122"/>
                          <a:cs typeface="+mn-cs"/>
                        </a:rPr>
                        <a:t>touchmove</a:t>
                      </a:r>
                      <a:endParaRPr lang="zh-CN" sz="2000" b="0" kern="10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当手指在屏幕上滑动时触发</a:t>
                      </a:r>
                    </a:p>
                  </a:txBody>
                  <a:tcPr marL="68580" marR="68580" marT="0" marB="0" anchor="ctr">
                    <a:solidFill>
                      <a:srgbClr val="F2F2F2"/>
                    </a:solidFill>
                  </a:tcPr>
                </a:tc>
                <a:extLst>
                  <a:ext uri="{0D108BD9-81ED-4DB2-BD59-A6C34878D82A}">
                    <a16:rowId xmlns:a16="http://schemas.microsoft.com/office/drawing/2014/main" val="10002"/>
                  </a:ext>
                </a:extLst>
              </a:tr>
              <a:tr h="629358">
                <a:tc>
                  <a:txBody>
                    <a:bodyPr/>
                    <a:lstStyle/>
                    <a:p>
                      <a:pPr marL="0" indent="266700" algn="ctr" defTabSz="1219200" rtl="0" eaLnBrk="1" latinLnBrk="0" hangingPunct="1">
                        <a:spcAft>
                          <a:spcPts val="0"/>
                        </a:spcAft>
                      </a:pPr>
                      <a:r>
                        <a:rPr lang="en-US" sz="2000" b="0" kern="100">
                          <a:solidFill>
                            <a:srgbClr val="595959"/>
                          </a:solidFill>
                          <a:effectLst/>
                          <a:latin typeface="微软雅黑" panose="020B0503020204020204" pitchFamily="34" charset="-122"/>
                          <a:ea typeface="微软雅黑" panose="020B0503020204020204" pitchFamily="34" charset="-122"/>
                          <a:cs typeface="+mn-cs"/>
                        </a:rPr>
                        <a:t>touchend</a:t>
                      </a:r>
                      <a:endParaRPr lang="zh-CN" sz="2000" b="0" kern="10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当手指离开屏幕时触发</a:t>
                      </a:r>
                    </a:p>
                  </a:txBody>
                  <a:tcPr marL="68580" marR="68580" marT="0" marB="0" anchor="ctr">
                    <a:solidFill>
                      <a:srgbClr val="F2F2F2"/>
                    </a:solidFill>
                  </a:tcPr>
                </a:tc>
                <a:extLst>
                  <a:ext uri="{0D108BD9-81ED-4DB2-BD59-A6C34878D82A}">
                    <a16:rowId xmlns:a16="http://schemas.microsoft.com/office/drawing/2014/main" val="1202222124"/>
                  </a:ext>
                </a:extLst>
              </a:tr>
              <a:tr h="629358">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touchcancel</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当系统取消</a:t>
                      </a:r>
                      <a:r>
                        <a:rPr lang="en-US" sz="2000" b="0" kern="100" dirty="0">
                          <a:solidFill>
                            <a:srgbClr val="595959"/>
                          </a:solidFill>
                          <a:effectLst/>
                          <a:latin typeface="微软雅黑" panose="020B0503020204020204" pitchFamily="34" charset="-122"/>
                          <a:ea typeface="微软雅黑" panose="020B0503020204020204" pitchFamily="34" charset="-122"/>
                          <a:cs typeface="+mn-cs"/>
                        </a:rPr>
                        <a:t>touch</a:t>
                      </a:r>
                      <a:r>
                        <a:rPr lang="zh-CN" sz="2000" b="0" kern="100" dirty="0">
                          <a:solidFill>
                            <a:srgbClr val="595959"/>
                          </a:solidFill>
                          <a:effectLst/>
                          <a:latin typeface="微软雅黑" panose="020B0503020204020204" pitchFamily="34" charset="-122"/>
                          <a:ea typeface="微软雅黑" panose="020B0503020204020204" pitchFamily="34" charset="-122"/>
                          <a:cs typeface="+mn-cs"/>
                        </a:rPr>
                        <a:t>事件的时候触发（如来电、弹出信息等）</a:t>
                      </a:r>
                    </a:p>
                  </a:txBody>
                  <a:tcPr marL="68580" marR="68580" marT="0" marB="0" anchor="ctr">
                    <a:solidFill>
                      <a:srgbClr val="F2F2F2"/>
                    </a:solidFill>
                  </a:tcPr>
                </a:tc>
                <a:extLst>
                  <a:ext uri="{0D108BD9-81ED-4DB2-BD59-A6C34878D82A}">
                    <a16:rowId xmlns:a16="http://schemas.microsoft.com/office/drawing/2014/main" val="906597130"/>
                  </a:ext>
                </a:extLst>
              </a:tr>
            </a:tbl>
          </a:graphicData>
        </a:graphic>
      </p:graphicFrame>
    </p:spTree>
    <p:extLst>
      <p:ext uri="{BB962C8B-B14F-4D97-AF65-F5344CB8AC3E}">
        <p14:creationId xmlns:p14="http://schemas.microsoft.com/office/powerpoint/2010/main" val="22973977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5" name="1">
            <a:extLst>
              <a:ext uri="{FF2B5EF4-FFF2-40B4-BE49-F238E27FC236}">
                <a16:creationId xmlns:a16="http://schemas.microsoft.com/office/drawing/2014/main" id="{BEAF0FBF-8370-1548-A5DC-85DA9EE176CA}"/>
              </a:ext>
            </a:extLst>
          </p:cNvPr>
          <p:cNvSpPr txBox="1"/>
          <p:nvPr>
            <p:custDataLst>
              <p:tags r:id="rId1"/>
            </p:custDataLst>
          </p:nvPr>
        </p:nvSpPr>
        <p:spPr>
          <a:xfrm>
            <a:off x="756740" y="960778"/>
            <a:ext cx="8722842" cy="553998"/>
          </a:xfrm>
          <a:prstGeom prst="rect">
            <a:avLst/>
          </a:prstGeom>
          <a:noFill/>
          <a:ln>
            <a:noFill/>
          </a:ln>
        </p:spPr>
        <p:txBody>
          <a:bodyPr wrap="square" rtlCol="0">
            <a:spAutoFit/>
          </a:bodyPr>
          <a:lstStyle/>
          <a:p>
            <a:pPr lvl="0" defTabSz="457200">
              <a:lnSpc>
                <a:spcPct val="150000"/>
              </a:lnSpc>
              <a:defRPr/>
            </a:pPr>
            <a:r>
              <a:rPr lang="en-US" altLang="zh-CN" sz="2000" dirty="0">
                <a:solidFill>
                  <a:srgbClr val="1369B2"/>
                </a:solidFill>
                <a:latin typeface="微软雅黑" panose="020B0503020204020204" pitchFamily="34" charset="-122"/>
                <a:ea typeface="微软雅黑" panose="020B0503020204020204" pitchFamily="34" charset="-122"/>
              </a:rPr>
              <a:t>touch</a:t>
            </a:r>
            <a:r>
              <a:rPr lang="zh-CN" altLang="en-US" sz="2000" dirty="0">
                <a:solidFill>
                  <a:srgbClr val="595959"/>
                </a:solidFill>
                <a:latin typeface="微软雅黑" panose="020B0503020204020204" pitchFamily="34" charset="-122"/>
                <a:ea typeface="微软雅黑" panose="020B0503020204020204" pitchFamily="34" charset="-122"/>
              </a:rPr>
              <a:t>触屏事件需要通过</a:t>
            </a:r>
            <a:r>
              <a:rPr lang="en-US" altLang="zh-CN" sz="2000" dirty="0" err="1">
                <a:solidFill>
                  <a:srgbClr val="1369B2"/>
                </a:solidFill>
                <a:latin typeface="微软雅黑" panose="020B0503020204020204" pitchFamily="34" charset="-122"/>
                <a:ea typeface="微软雅黑" panose="020B0503020204020204" pitchFamily="34" charset="-122"/>
              </a:rPr>
              <a:t>addEventListener</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方法向指定元素添加</a:t>
            </a:r>
            <a:r>
              <a:rPr lang="zh-CN" altLang="en-US" sz="2000" dirty="0">
                <a:solidFill>
                  <a:srgbClr val="1369B2"/>
                </a:solidFill>
                <a:latin typeface="微软雅黑" panose="020B0503020204020204" pitchFamily="34" charset="-122"/>
                <a:ea typeface="微软雅黑" panose="020B0503020204020204" pitchFamily="34" charset="-122"/>
              </a:rPr>
              <a:t>事件监听</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9" name="矩形 8"/>
          <p:cNvSpPr/>
          <p:nvPr/>
        </p:nvSpPr>
        <p:spPr bwMode="auto">
          <a:xfrm>
            <a:off x="2422798" y="1936406"/>
            <a:ext cx="7632848" cy="42595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0" name="矩形 9"/>
          <p:cNvSpPr/>
          <p:nvPr/>
        </p:nvSpPr>
        <p:spPr bwMode="auto">
          <a:xfrm>
            <a:off x="2710830" y="1948601"/>
            <a:ext cx="7344816" cy="4247317"/>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.box {width: 50px;height: 50px;background-color: red; }</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&lt;/style&gt;</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class="box"&gt;&lt;/div&gt;</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&lt;script&gt;</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window.onload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a:t>
            </a:r>
            <a:endPar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box =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 // 1. </a:t>
            </a:r>
            <a:r>
              <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DOM</a:t>
            </a:r>
            <a:r>
              <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2. </a:t>
            </a:r>
            <a:r>
              <a:rPr lang="zh-CN"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为元素添加</a:t>
            </a:r>
            <a:r>
              <a:rPr lang="zh-CN" altLang="zh-CN"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事件</a:t>
            </a:r>
            <a:endParaRPr lang="en-US" altLang="zh-CN"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（代码</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见</a:t>
            </a:r>
            <a:r>
              <a:rPr lang="zh-CN" altLang="en-US"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下页）</a:t>
            </a:r>
            <a:endParaRPr lang="en-US" altLang="zh-CN"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p:txBody>
      </p:sp>
    </p:spTree>
    <p:extLst>
      <p:ext uri="{BB962C8B-B14F-4D97-AF65-F5344CB8AC3E}">
        <p14:creationId xmlns:p14="http://schemas.microsoft.com/office/powerpoint/2010/main" val="82288257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9" name="矩形 8"/>
          <p:cNvSpPr/>
          <p:nvPr/>
        </p:nvSpPr>
        <p:spPr bwMode="auto">
          <a:xfrm>
            <a:off x="1198662" y="1557586"/>
            <a:ext cx="10009112" cy="46805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10" name="矩形 9"/>
          <p:cNvSpPr/>
          <p:nvPr/>
        </p:nvSpPr>
        <p:spPr bwMode="auto">
          <a:xfrm>
            <a:off x="1342678" y="1629593"/>
            <a:ext cx="9820576" cy="4536242"/>
          </a:xfrm>
          <a:prstGeom prst="rect">
            <a:avLst/>
          </a:prstGeom>
        </p:spPr>
        <p:txBody>
          <a:bodyPr wrap="square">
            <a:spAutoFit/>
          </a:bodyPr>
          <a:lstStyle/>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 </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为元素添加事件</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touchstart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添加开始触摸事件：当手指触摸屏幕时触发</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console.log('</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touchstart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添加手指滑动事件：当手指在屏幕上滑动时触发</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console.log('</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添加触摸结束事件：当手指离开屏幕时触发</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console.log('</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touchcancel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添加触摸意外中断事件</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console.log('</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touchcancel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1">
            <a:extLst>
              <a:ext uri="{FF2B5EF4-FFF2-40B4-BE49-F238E27FC236}">
                <a16:creationId xmlns:a16="http://schemas.microsoft.com/office/drawing/2014/main" id="{BEAF0FBF-8370-1548-A5DC-85DA9EE176CA}"/>
              </a:ext>
            </a:extLst>
          </p:cNvPr>
          <p:cNvSpPr txBox="1"/>
          <p:nvPr>
            <p:custDataLst>
              <p:tags r:id="rId1"/>
            </p:custDataLst>
          </p:nvPr>
        </p:nvSpPr>
        <p:spPr>
          <a:xfrm>
            <a:off x="900756" y="960778"/>
            <a:ext cx="8722842" cy="553998"/>
          </a:xfrm>
          <a:prstGeom prst="rect">
            <a:avLst/>
          </a:prstGeom>
          <a:noFill/>
          <a:ln>
            <a:noFill/>
          </a:ln>
        </p:spPr>
        <p:txBody>
          <a:bodyPr wrap="square" rtlCol="0">
            <a:spAutoFit/>
          </a:bodyPr>
          <a:lstStyle/>
          <a:p>
            <a:pPr lvl="0" defTabSz="457200">
              <a:lnSpc>
                <a:spcPct val="150000"/>
              </a:lnSpc>
              <a:defRPr/>
            </a:pPr>
            <a:r>
              <a:rPr lang="en-US" altLang="zh-CN" sz="2000" dirty="0">
                <a:solidFill>
                  <a:srgbClr val="1369B2"/>
                </a:solidFill>
                <a:latin typeface="微软雅黑" panose="020B0503020204020204" pitchFamily="34" charset="-122"/>
                <a:ea typeface="微软雅黑" panose="020B0503020204020204" pitchFamily="34" charset="-122"/>
              </a:rPr>
              <a:t>touch</a:t>
            </a:r>
            <a:r>
              <a:rPr lang="zh-CN" altLang="en-US" sz="2000" dirty="0">
                <a:solidFill>
                  <a:srgbClr val="595959"/>
                </a:solidFill>
                <a:latin typeface="微软雅黑" panose="020B0503020204020204" pitchFamily="34" charset="-122"/>
                <a:ea typeface="微软雅黑" panose="020B0503020204020204" pitchFamily="34" charset="-122"/>
              </a:rPr>
              <a:t>触屏事件需要通过</a:t>
            </a:r>
            <a:r>
              <a:rPr lang="en-US" altLang="zh-CN" sz="2000" dirty="0" err="1">
                <a:solidFill>
                  <a:srgbClr val="1369B2"/>
                </a:solidFill>
                <a:latin typeface="微软雅黑" panose="020B0503020204020204" pitchFamily="34" charset="-122"/>
                <a:ea typeface="微软雅黑" panose="020B0503020204020204" pitchFamily="34" charset="-122"/>
              </a:rPr>
              <a:t>addEventListener</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方法向指定元素添加</a:t>
            </a:r>
            <a:r>
              <a:rPr lang="zh-CN" altLang="en-US" sz="2000" dirty="0">
                <a:solidFill>
                  <a:srgbClr val="1369B2"/>
                </a:solidFill>
                <a:latin typeface="微软雅黑" panose="020B0503020204020204" pitchFamily="34" charset="-122"/>
                <a:ea typeface="微软雅黑" panose="020B0503020204020204" pitchFamily="34" charset="-122"/>
              </a:rPr>
              <a:t>事件监听</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481767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7" name="TextBox 35"/>
          <p:cNvSpPr txBox="1">
            <a:spLocks noChangeArrowheads="1"/>
          </p:cNvSpPr>
          <p:nvPr/>
        </p:nvSpPr>
        <p:spPr bwMode="auto">
          <a:xfrm>
            <a:off x="910630" y="1053530"/>
            <a:ext cx="10441160"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移动端的</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触屏事件</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发生后会产生</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TouchEvent</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对象</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，该对象包含</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个用于跟踪触屏的属性，用于返回不同的触屏点集合。</a:t>
            </a:r>
          </a:p>
        </p:txBody>
      </p:sp>
      <p:sp>
        <p:nvSpPr>
          <p:cNvPr id="13" name="TextBox 76"/>
          <p:cNvSpPr txBox="1"/>
          <p:nvPr/>
        </p:nvSpPr>
        <p:spPr>
          <a:xfrm>
            <a:off x="1110278" y="2354041"/>
            <a:ext cx="433685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en-US" altLang="zh-CN"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TouchEvent</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对象的重要属性</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1503420673"/>
              </p:ext>
            </p:extLst>
          </p:nvPr>
        </p:nvGraphicFramePr>
        <p:xfrm>
          <a:off x="576063" y="3013613"/>
          <a:ext cx="11135767" cy="2504413"/>
        </p:xfrm>
        <a:graphic>
          <a:graphicData uri="http://schemas.openxmlformats.org/drawingml/2006/table">
            <a:tbl>
              <a:tblPr>
                <a:tableStyleId>{7DF18680-E054-41AD-8BC1-D1AEF772440D}</a:tableStyleId>
              </a:tblPr>
              <a:tblGrid>
                <a:gridCol w="2592288">
                  <a:extLst>
                    <a:ext uri="{9D8B030D-6E8A-4147-A177-3AD203B41FA5}">
                      <a16:colId xmlns:a16="http://schemas.microsoft.com/office/drawing/2014/main" val="20000"/>
                    </a:ext>
                  </a:extLst>
                </a:gridCol>
                <a:gridCol w="8543479">
                  <a:extLst>
                    <a:ext uri="{9D8B030D-6E8A-4147-A177-3AD203B41FA5}">
                      <a16:colId xmlns:a16="http://schemas.microsoft.com/office/drawing/2014/main" val="4045703550"/>
                    </a:ext>
                  </a:extLst>
                </a:gridCol>
              </a:tblGrid>
              <a:tr h="618650">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mn-cs"/>
                        </a:rPr>
                        <a:t>属性名称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rPr>
                        <a:t>属性描述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extLst>
                  <a:ext uri="{0D108BD9-81ED-4DB2-BD59-A6C34878D82A}">
                    <a16:rowId xmlns:a16="http://schemas.microsoft.com/office/drawing/2014/main" val="10000"/>
                  </a:ext>
                </a:extLst>
              </a:tr>
              <a:tr h="627047">
                <a:tc>
                  <a:txBody>
                    <a:bodyPr/>
                    <a:lstStyle/>
                    <a:p>
                      <a:pPr marL="0" indent="266700" algn="ctr" defTabSz="1219200" rtl="0" eaLnBrk="1" latinLnBrk="0" hangingPunct="1">
                        <a:spcAft>
                          <a:spcPts val="0"/>
                        </a:spcAft>
                      </a:pPr>
                      <a:r>
                        <a:rPr lang="en-US" sz="2000" b="0" kern="100" dirty="0">
                          <a:solidFill>
                            <a:srgbClr val="595959"/>
                          </a:solidFill>
                          <a:effectLst/>
                          <a:latin typeface="微软雅黑" panose="020B0503020204020204" pitchFamily="34" charset="-122"/>
                          <a:ea typeface="微软雅黑" panose="020B0503020204020204" pitchFamily="34" charset="-122"/>
                          <a:cs typeface="+mn-cs"/>
                        </a:rPr>
                        <a:t>touches</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altLang="en-US" sz="2000" b="0" kern="100" dirty="0" smtClean="0">
                          <a:solidFill>
                            <a:srgbClr val="595959"/>
                          </a:solidFill>
                          <a:effectLst/>
                          <a:latin typeface="微软雅黑" panose="020B0503020204020204" pitchFamily="34" charset="-122"/>
                          <a:ea typeface="微软雅黑" panose="020B0503020204020204" pitchFamily="34" charset="-122"/>
                          <a:cs typeface="+mn-cs"/>
                        </a:rPr>
                        <a:t>表示当前跟踪的触摸操作的 </a:t>
                      </a:r>
                      <a:r>
                        <a:rPr lang="en-US" altLang="zh-CN" sz="2000" b="0" kern="100" dirty="0" smtClean="0">
                          <a:solidFill>
                            <a:srgbClr val="595959"/>
                          </a:solidFill>
                          <a:effectLst/>
                          <a:latin typeface="微软雅黑" panose="020B0503020204020204" pitchFamily="34" charset="-122"/>
                          <a:ea typeface="微软雅黑" panose="020B0503020204020204" pitchFamily="34" charset="-122"/>
                          <a:cs typeface="+mn-cs"/>
                        </a:rPr>
                        <a:t>touch </a:t>
                      </a:r>
                      <a:r>
                        <a:rPr lang="zh-CN" altLang="en-US" sz="2000" b="0" kern="100" dirty="0" smtClean="0">
                          <a:solidFill>
                            <a:srgbClr val="595959"/>
                          </a:solidFill>
                          <a:effectLst/>
                          <a:latin typeface="微软雅黑" panose="020B0503020204020204" pitchFamily="34" charset="-122"/>
                          <a:ea typeface="微软雅黑" panose="020B0503020204020204" pitchFamily="34" charset="-122"/>
                          <a:cs typeface="+mn-cs"/>
                        </a:rPr>
                        <a:t>对象的触摸点集合</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10001"/>
                  </a:ext>
                </a:extLst>
              </a:tr>
              <a:tr h="629358">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targetTouches</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表示当前对象上所有触摸点的集合</a:t>
                      </a:r>
                    </a:p>
                  </a:txBody>
                  <a:tcPr marL="68580" marR="68580" marT="0" marB="0" anchor="ctr">
                    <a:solidFill>
                      <a:srgbClr val="F2F2F2"/>
                    </a:solidFill>
                  </a:tcPr>
                </a:tc>
                <a:extLst>
                  <a:ext uri="{0D108BD9-81ED-4DB2-BD59-A6C34878D82A}">
                    <a16:rowId xmlns:a16="http://schemas.microsoft.com/office/drawing/2014/main" val="10002"/>
                  </a:ext>
                </a:extLst>
              </a:tr>
              <a:tr h="629358">
                <a:tc>
                  <a:txBody>
                    <a:bodyPr/>
                    <a:lstStyle/>
                    <a:p>
                      <a:pPr marL="0" indent="266700" algn="ctr" defTabSz="1219200" rtl="0" eaLnBrk="1" latinLnBrk="0" hangingPunct="1">
                        <a:spcAft>
                          <a:spcPts val="0"/>
                        </a:spcAft>
                      </a:pPr>
                      <a:r>
                        <a:rPr lang="en-US" sz="2000" b="0" kern="100">
                          <a:solidFill>
                            <a:srgbClr val="595959"/>
                          </a:solidFill>
                          <a:effectLst/>
                          <a:latin typeface="微软雅黑" panose="020B0503020204020204" pitchFamily="34" charset="-122"/>
                          <a:ea typeface="微软雅黑" panose="020B0503020204020204" pitchFamily="34" charset="-122"/>
                          <a:cs typeface="+mn-cs"/>
                        </a:rPr>
                        <a:t>changedTouches</a:t>
                      </a:r>
                      <a:endParaRPr lang="zh-CN" sz="2000" b="0" kern="10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返回在上一次触摸和此次触摸之间状态发生变化的所有触摸对象的集合</a:t>
                      </a:r>
                    </a:p>
                  </a:txBody>
                  <a:tcPr marL="68580" marR="68580" marT="0" marB="0" anchor="ctr">
                    <a:solidFill>
                      <a:srgbClr val="F2F2F2"/>
                    </a:solidFill>
                  </a:tcPr>
                </a:tc>
                <a:extLst>
                  <a:ext uri="{0D108BD9-81ED-4DB2-BD59-A6C34878D82A}">
                    <a16:rowId xmlns:a16="http://schemas.microsoft.com/office/drawing/2014/main" val="1202222124"/>
                  </a:ext>
                </a:extLst>
              </a:tr>
            </a:tbl>
          </a:graphicData>
        </a:graphic>
      </p:graphicFrame>
    </p:spTree>
    <p:extLst>
      <p:ext uri="{BB962C8B-B14F-4D97-AF65-F5344CB8AC3E}">
        <p14:creationId xmlns:p14="http://schemas.microsoft.com/office/powerpoint/2010/main" val="3027974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7" name="TextBox 35"/>
          <p:cNvSpPr txBox="1">
            <a:spLocks noChangeArrowheads="1"/>
          </p:cNvSpPr>
          <p:nvPr/>
        </p:nvSpPr>
        <p:spPr bwMode="auto">
          <a:xfrm>
            <a:off x="910630" y="1053530"/>
            <a:ext cx="10441160"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触摸点集合中每个</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对象</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代表一个触点，它包含一些用于获取触摸信息的常用属性，如位置、大小、形状、压力大小和目标元素属性等。</a:t>
            </a:r>
          </a:p>
        </p:txBody>
      </p:sp>
      <p:sp>
        <p:nvSpPr>
          <p:cNvPr id="13" name="TextBox 76"/>
          <p:cNvSpPr txBox="1"/>
          <p:nvPr/>
        </p:nvSpPr>
        <p:spPr>
          <a:xfrm>
            <a:off x="1099241" y="2095209"/>
            <a:ext cx="3328744"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对象的常用属性</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2356533296"/>
              </p:ext>
            </p:extLst>
          </p:nvPr>
        </p:nvGraphicFramePr>
        <p:xfrm>
          <a:off x="982638" y="2781723"/>
          <a:ext cx="10078817" cy="3888431"/>
        </p:xfrm>
        <a:graphic>
          <a:graphicData uri="http://schemas.openxmlformats.org/drawingml/2006/table">
            <a:tbl>
              <a:tblPr>
                <a:tableStyleId>{7DF18680-E054-41AD-8BC1-D1AEF772440D}</a:tableStyleId>
              </a:tblPr>
              <a:tblGrid>
                <a:gridCol w="2542008">
                  <a:extLst>
                    <a:ext uri="{9D8B030D-6E8A-4147-A177-3AD203B41FA5}">
                      <a16:colId xmlns:a16="http://schemas.microsoft.com/office/drawing/2014/main" val="20000"/>
                    </a:ext>
                  </a:extLst>
                </a:gridCol>
                <a:gridCol w="7536809">
                  <a:extLst>
                    <a:ext uri="{9D8B030D-6E8A-4147-A177-3AD203B41FA5}">
                      <a16:colId xmlns:a16="http://schemas.microsoft.com/office/drawing/2014/main" val="4045703550"/>
                    </a:ext>
                  </a:extLst>
                </a:gridCol>
              </a:tblGrid>
              <a:tr h="409062">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mn-cs"/>
                        </a:rPr>
                        <a:t>属性名称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rPr>
                        <a:t>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703060505090304"/>
                      </a:endParaRPr>
                    </a:p>
                  </a:txBody>
                  <a:tcPr marL="68580" marR="68580" marT="0" marB="0" anchor="ctr">
                    <a:solidFill>
                      <a:srgbClr val="F2F2F2"/>
                    </a:solidFill>
                  </a:tcPr>
                </a:tc>
                <a:extLst>
                  <a:ext uri="{0D108BD9-81ED-4DB2-BD59-A6C34878D82A}">
                    <a16:rowId xmlns:a16="http://schemas.microsoft.com/office/drawing/2014/main" val="10000"/>
                  </a:ext>
                </a:extLst>
              </a:tr>
              <a:tr h="416184">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clientX</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触摸目标在视口中的</a:t>
                      </a:r>
                      <a:r>
                        <a:rPr lang="en-US" sz="2000" b="0" kern="100" dirty="0">
                          <a:solidFill>
                            <a:srgbClr val="595959"/>
                          </a:solidFill>
                          <a:effectLst/>
                          <a:latin typeface="微软雅黑" panose="020B0503020204020204" pitchFamily="34" charset="-122"/>
                          <a:ea typeface="微软雅黑" panose="020B0503020204020204" pitchFamily="34" charset="-122"/>
                          <a:cs typeface="+mn-cs"/>
                        </a:rPr>
                        <a:t>x</a:t>
                      </a:r>
                      <a:r>
                        <a:rPr lang="zh-CN" sz="2000" b="0" kern="100" dirty="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10001"/>
                  </a:ext>
                </a:extLst>
              </a:tr>
              <a:tr h="501907">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clientY</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触摸目标在视口中的</a:t>
                      </a:r>
                      <a:r>
                        <a:rPr lang="en-US" sz="2000" b="0" kern="100" dirty="0">
                          <a:solidFill>
                            <a:srgbClr val="595959"/>
                          </a:solidFill>
                          <a:effectLst/>
                          <a:latin typeface="微软雅黑" panose="020B0503020204020204" pitchFamily="34" charset="-122"/>
                          <a:ea typeface="微软雅黑" panose="020B0503020204020204" pitchFamily="34" charset="-122"/>
                          <a:cs typeface="+mn-cs"/>
                        </a:rPr>
                        <a:t>y</a:t>
                      </a:r>
                      <a:r>
                        <a:rPr lang="zh-CN" sz="2000" b="0" kern="100" dirty="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10002"/>
                  </a:ext>
                </a:extLst>
              </a:tr>
              <a:tr h="419101">
                <a:tc>
                  <a:txBody>
                    <a:bodyPr/>
                    <a:lstStyle/>
                    <a:p>
                      <a:pPr marL="0" indent="266700" algn="ctr" defTabSz="1219200" rtl="0" eaLnBrk="1" latinLnBrk="0" hangingPunct="1">
                        <a:spcAft>
                          <a:spcPts val="0"/>
                        </a:spcAft>
                      </a:pPr>
                      <a:r>
                        <a:rPr lang="en-US" sz="2000" b="0" kern="100" dirty="0">
                          <a:solidFill>
                            <a:srgbClr val="595959"/>
                          </a:solidFill>
                          <a:effectLst/>
                          <a:latin typeface="微软雅黑" panose="020B0503020204020204" pitchFamily="34" charset="-122"/>
                          <a:ea typeface="微软雅黑" panose="020B0503020204020204" pitchFamily="34" charset="-122"/>
                          <a:cs typeface="+mn-cs"/>
                        </a:rPr>
                        <a:t>identifier</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标识触摸的唯一</a:t>
                      </a:r>
                      <a:r>
                        <a:rPr lang="en-US" sz="2000" b="0" kern="100">
                          <a:solidFill>
                            <a:srgbClr val="595959"/>
                          </a:solidFill>
                          <a:effectLst/>
                          <a:latin typeface="微软雅黑" panose="020B0503020204020204" pitchFamily="34" charset="-122"/>
                          <a:ea typeface="微软雅黑" panose="020B0503020204020204" pitchFamily="34" charset="-122"/>
                          <a:cs typeface="+mn-cs"/>
                        </a:rPr>
                        <a:t>ID</a:t>
                      </a:r>
                      <a:endParaRPr lang="zh-CN" sz="2000" b="0" kern="10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extLst>
                  <a:ext uri="{0D108BD9-81ED-4DB2-BD59-A6C34878D82A}">
                    <a16:rowId xmlns:a16="http://schemas.microsoft.com/office/drawing/2014/main" val="2755996427"/>
                  </a:ext>
                </a:extLst>
              </a:tr>
              <a:tr h="488952">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pageX</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触摸目标在页面中的</a:t>
                      </a:r>
                      <a:r>
                        <a:rPr lang="en-US" sz="2000" b="0" kern="100">
                          <a:solidFill>
                            <a:srgbClr val="595959"/>
                          </a:solidFill>
                          <a:effectLst/>
                          <a:latin typeface="微软雅黑" panose="020B0503020204020204" pitchFamily="34" charset="-122"/>
                          <a:ea typeface="微软雅黑" panose="020B0503020204020204" pitchFamily="34" charset="-122"/>
                          <a:cs typeface="+mn-cs"/>
                        </a:rPr>
                        <a:t>x</a:t>
                      </a:r>
                      <a:r>
                        <a:rPr lang="zh-CN" sz="2000" b="0" kern="10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3242266897"/>
                  </a:ext>
                </a:extLst>
              </a:tr>
              <a:tr h="389649">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pageY</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触摸目标在页面中的</a:t>
                      </a:r>
                      <a:r>
                        <a:rPr lang="en-US" sz="2000" b="0" kern="100">
                          <a:solidFill>
                            <a:srgbClr val="595959"/>
                          </a:solidFill>
                          <a:effectLst/>
                          <a:latin typeface="微软雅黑" panose="020B0503020204020204" pitchFamily="34" charset="-122"/>
                          <a:ea typeface="微软雅黑" panose="020B0503020204020204" pitchFamily="34" charset="-122"/>
                          <a:cs typeface="+mn-cs"/>
                        </a:rPr>
                        <a:t>y</a:t>
                      </a:r>
                      <a:r>
                        <a:rPr lang="zh-CN" sz="2000" b="0" kern="10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1578452174"/>
                  </a:ext>
                </a:extLst>
              </a:tr>
              <a:tr h="389649">
                <a:tc>
                  <a:txBody>
                    <a:bodyPr/>
                    <a:lstStyle/>
                    <a:p>
                      <a:pPr marL="0" indent="266700" algn="ctr" defTabSz="1219200" rtl="0" eaLnBrk="1" latinLnBrk="0" hangingPunct="1">
                        <a:spcAft>
                          <a:spcPts val="0"/>
                        </a:spcAft>
                      </a:pPr>
                      <a:r>
                        <a:rPr lang="en-US" sz="2000" b="0" kern="100">
                          <a:solidFill>
                            <a:srgbClr val="595959"/>
                          </a:solidFill>
                          <a:effectLst/>
                          <a:latin typeface="微软雅黑" panose="020B0503020204020204" pitchFamily="34" charset="-122"/>
                          <a:ea typeface="微软雅黑" panose="020B0503020204020204" pitchFamily="34" charset="-122"/>
                          <a:cs typeface="+mn-cs"/>
                        </a:rPr>
                        <a:t>screenX</a:t>
                      </a:r>
                      <a:endParaRPr lang="zh-CN" sz="2000" b="0" kern="10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a:solidFill>
                            <a:srgbClr val="595959"/>
                          </a:solidFill>
                          <a:effectLst/>
                          <a:latin typeface="微软雅黑" panose="020B0503020204020204" pitchFamily="34" charset="-122"/>
                          <a:ea typeface="微软雅黑" panose="020B0503020204020204" pitchFamily="34" charset="-122"/>
                          <a:cs typeface="+mn-cs"/>
                        </a:rPr>
                        <a:t>触摸目标在屏幕中的</a:t>
                      </a:r>
                      <a:r>
                        <a:rPr lang="en-US" sz="2000" b="0" kern="100">
                          <a:solidFill>
                            <a:srgbClr val="595959"/>
                          </a:solidFill>
                          <a:effectLst/>
                          <a:latin typeface="微软雅黑" panose="020B0503020204020204" pitchFamily="34" charset="-122"/>
                          <a:ea typeface="微软雅黑" panose="020B0503020204020204" pitchFamily="34" charset="-122"/>
                          <a:cs typeface="+mn-cs"/>
                        </a:rPr>
                        <a:t>x</a:t>
                      </a:r>
                      <a:r>
                        <a:rPr lang="zh-CN" sz="2000" b="0" kern="10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203824230"/>
                  </a:ext>
                </a:extLst>
              </a:tr>
              <a:tr h="495764">
                <a:tc>
                  <a:txBody>
                    <a:bodyPr/>
                    <a:lstStyle/>
                    <a:p>
                      <a:pPr marL="0" indent="266700" algn="ctr" defTabSz="1219200" rtl="0" eaLnBrk="1" latinLnBrk="0" hangingPunct="1">
                        <a:spcAft>
                          <a:spcPts val="0"/>
                        </a:spcAft>
                      </a:pPr>
                      <a:r>
                        <a:rPr lang="en-US" sz="2000" b="0" kern="100" dirty="0" err="1">
                          <a:solidFill>
                            <a:srgbClr val="595959"/>
                          </a:solidFill>
                          <a:effectLst/>
                          <a:latin typeface="微软雅黑" panose="020B0503020204020204" pitchFamily="34" charset="-122"/>
                          <a:ea typeface="微软雅黑" panose="020B0503020204020204" pitchFamily="34" charset="-122"/>
                          <a:cs typeface="+mn-cs"/>
                        </a:rPr>
                        <a:t>screenY</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触摸目标在屏幕中的</a:t>
                      </a:r>
                      <a:r>
                        <a:rPr lang="en-US" sz="2000" b="0" kern="100" dirty="0">
                          <a:solidFill>
                            <a:srgbClr val="595959"/>
                          </a:solidFill>
                          <a:effectLst/>
                          <a:latin typeface="微软雅黑" panose="020B0503020204020204" pitchFamily="34" charset="-122"/>
                          <a:ea typeface="微软雅黑" panose="020B0503020204020204" pitchFamily="34" charset="-122"/>
                          <a:cs typeface="+mn-cs"/>
                        </a:rPr>
                        <a:t>y</a:t>
                      </a:r>
                      <a:r>
                        <a:rPr lang="zh-CN" sz="2000" b="0" kern="100" dirty="0">
                          <a:solidFill>
                            <a:srgbClr val="595959"/>
                          </a:solidFill>
                          <a:effectLst/>
                          <a:latin typeface="微软雅黑" panose="020B0503020204020204" pitchFamily="34" charset="-122"/>
                          <a:ea typeface="微软雅黑" panose="020B0503020204020204" pitchFamily="34" charset="-122"/>
                          <a:cs typeface="+mn-cs"/>
                        </a:rPr>
                        <a:t>坐标</a:t>
                      </a:r>
                    </a:p>
                  </a:txBody>
                  <a:tcPr marL="68580" marR="68580" marT="0" marB="0" anchor="ctr">
                    <a:solidFill>
                      <a:srgbClr val="F2F2F2"/>
                    </a:solidFill>
                  </a:tcPr>
                </a:tc>
                <a:extLst>
                  <a:ext uri="{0D108BD9-81ED-4DB2-BD59-A6C34878D82A}">
                    <a16:rowId xmlns:a16="http://schemas.microsoft.com/office/drawing/2014/main" val="1672215666"/>
                  </a:ext>
                </a:extLst>
              </a:tr>
              <a:tr h="378163">
                <a:tc>
                  <a:txBody>
                    <a:bodyPr/>
                    <a:lstStyle/>
                    <a:p>
                      <a:pPr marL="0" indent="266700" algn="ctr" defTabSz="1219200" rtl="0" eaLnBrk="1" latinLnBrk="0" hangingPunct="1">
                        <a:spcAft>
                          <a:spcPts val="0"/>
                        </a:spcAft>
                      </a:pPr>
                      <a:r>
                        <a:rPr lang="en-US" sz="2000" b="0" kern="100" dirty="0">
                          <a:solidFill>
                            <a:srgbClr val="595959"/>
                          </a:solidFill>
                          <a:effectLst/>
                          <a:latin typeface="微软雅黑" panose="020B0503020204020204" pitchFamily="34" charset="-122"/>
                          <a:ea typeface="微软雅黑" panose="020B0503020204020204" pitchFamily="34" charset="-122"/>
                          <a:cs typeface="+mn-cs"/>
                        </a:rPr>
                        <a:t>target</a:t>
                      </a:r>
                      <a:endParaRPr lang="zh-CN" sz="2000" b="0" kern="100" dirty="0">
                        <a:solidFill>
                          <a:srgbClr val="595959"/>
                        </a:solidFill>
                        <a:effectLst/>
                        <a:latin typeface="微软雅黑" panose="020B0503020204020204" pitchFamily="34" charset="-122"/>
                        <a:ea typeface="微软雅黑" panose="020B0503020204020204" pitchFamily="34" charset="-122"/>
                        <a:cs typeface="+mn-cs"/>
                      </a:endParaRPr>
                    </a:p>
                  </a:txBody>
                  <a:tcPr marL="68580" marR="68580" marT="0" marB="0" anchor="ctr">
                    <a:solidFill>
                      <a:srgbClr val="F2F2F2"/>
                    </a:solidFill>
                  </a:tcPr>
                </a:tc>
                <a:tc>
                  <a:txBody>
                    <a:bodyPr/>
                    <a:lstStyle/>
                    <a:p>
                      <a:pPr marL="0" indent="266700" algn="ctr" defTabSz="1219200" rtl="0" eaLnBrk="1" latinLnBrk="0" hangingPunct="1">
                        <a:spcAft>
                          <a:spcPts val="0"/>
                        </a:spcAft>
                      </a:pPr>
                      <a:r>
                        <a:rPr lang="zh-CN" sz="2000" b="0" kern="100" dirty="0">
                          <a:solidFill>
                            <a:srgbClr val="595959"/>
                          </a:solidFill>
                          <a:effectLst/>
                          <a:latin typeface="微软雅黑" panose="020B0503020204020204" pitchFamily="34" charset="-122"/>
                          <a:ea typeface="微软雅黑" panose="020B0503020204020204" pitchFamily="34" charset="-122"/>
                          <a:cs typeface="+mn-cs"/>
                        </a:rPr>
                        <a:t>触摸的</a:t>
                      </a:r>
                      <a:r>
                        <a:rPr lang="en-US" sz="2000" b="0" kern="100" dirty="0">
                          <a:solidFill>
                            <a:srgbClr val="595959"/>
                          </a:solidFill>
                          <a:effectLst/>
                          <a:latin typeface="微软雅黑" panose="020B0503020204020204" pitchFamily="34" charset="-122"/>
                          <a:ea typeface="微软雅黑" panose="020B0503020204020204" pitchFamily="34" charset="-122"/>
                          <a:cs typeface="+mn-cs"/>
                        </a:rPr>
                        <a:t>DOM</a:t>
                      </a:r>
                      <a:r>
                        <a:rPr lang="zh-CN" sz="2000" b="0" kern="100" dirty="0">
                          <a:solidFill>
                            <a:srgbClr val="595959"/>
                          </a:solidFill>
                          <a:effectLst/>
                          <a:latin typeface="微软雅黑" panose="020B0503020204020204" pitchFamily="34" charset="-122"/>
                          <a:ea typeface="微软雅黑" panose="020B0503020204020204" pitchFamily="34" charset="-122"/>
                          <a:cs typeface="+mn-cs"/>
                        </a:rPr>
                        <a:t>节点目标</a:t>
                      </a:r>
                    </a:p>
                  </a:txBody>
                  <a:tcPr marL="68580" marR="68580" marT="0" marB="0" anchor="ctr">
                    <a:solidFill>
                      <a:srgbClr val="F2F2F2"/>
                    </a:solidFill>
                  </a:tcPr>
                </a:tc>
                <a:extLst>
                  <a:ext uri="{0D108BD9-81ED-4DB2-BD59-A6C34878D82A}">
                    <a16:rowId xmlns:a16="http://schemas.microsoft.com/office/drawing/2014/main" val="1202222124"/>
                  </a:ext>
                </a:extLst>
              </a:tr>
            </a:tbl>
          </a:graphicData>
        </a:graphic>
      </p:graphicFrame>
    </p:spTree>
    <p:extLst>
      <p:ext uri="{BB962C8B-B14F-4D97-AF65-F5344CB8AC3E}">
        <p14:creationId xmlns:p14="http://schemas.microsoft.com/office/powerpoint/2010/main" val="42836647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bwMode="auto">
          <a:xfrm>
            <a:off x="2422798" y="3069754"/>
            <a:ext cx="7632848" cy="8640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6"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touch</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事件简介</a:t>
            </a:r>
          </a:p>
        </p:txBody>
      </p:sp>
      <p:sp>
        <p:nvSpPr>
          <p:cNvPr id="8" name="矩形 7">
            <a:extLst>
              <a:ext uri="{FF2B5EF4-FFF2-40B4-BE49-F238E27FC236}">
                <a16:creationId xmlns:a16="http://schemas.microsoft.com/office/drawing/2014/main" id="{2112EC40-A66D-4624-89BE-1F2F4CFB6932}"/>
              </a:ext>
            </a:extLst>
          </p:cNvPr>
          <p:cNvSpPr/>
          <p:nvPr/>
        </p:nvSpPr>
        <p:spPr>
          <a:xfrm>
            <a:off x="2181898" y="1262275"/>
            <a:ext cx="3858476"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文本框 8">
            <a:extLst>
              <a:ext uri="{FF2B5EF4-FFF2-40B4-BE49-F238E27FC236}">
                <a16:creationId xmlns:a16="http://schemas.microsoft.com/office/drawing/2014/main" id="{DC97F200-584E-4863-AC7C-FEFAE9F54CFD}"/>
              </a:ext>
            </a:extLst>
          </p:cNvPr>
          <p:cNvSpPr txBox="1"/>
          <p:nvPr/>
        </p:nvSpPr>
        <p:spPr>
          <a:xfrm>
            <a:off x="2291860" y="1402476"/>
            <a:ext cx="3748514" cy="400110"/>
          </a:xfrm>
          <a:prstGeom prst="rect">
            <a:avLst/>
          </a:prstGeom>
          <a:solidFill>
            <a:srgbClr val="1369B2"/>
          </a:solid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多学一招：</a:t>
            </a:r>
            <a:r>
              <a:rPr lang="en-US" altLang="zh-CN"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touch</a:t>
            </a:r>
            <a:r>
              <a:rPr lang="zh-CN" altLang="en-US" sz="20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事件获取坐标</a:t>
            </a:r>
          </a:p>
        </p:txBody>
      </p:sp>
      <p:sp>
        <p:nvSpPr>
          <p:cNvPr id="10" name="矩形 9">
            <a:extLst>
              <a:ext uri="{FF2B5EF4-FFF2-40B4-BE49-F238E27FC236}">
                <a16:creationId xmlns:a16="http://schemas.microsoft.com/office/drawing/2014/main" id="{87171776-C649-475B-AF6D-6B1F33BB1F72}"/>
              </a:ext>
            </a:extLst>
          </p:cNvPr>
          <p:cNvSpPr/>
          <p:nvPr/>
        </p:nvSpPr>
        <p:spPr>
          <a:xfrm>
            <a:off x="6139276"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1" name="矩形 10">
            <a:extLst>
              <a:ext uri="{FF2B5EF4-FFF2-40B4-BE49-F238E27FC236}">
                <a16:creationId xmlns:a16="http://schemas.microsoft.com/office/drawing/2014/main" id="{C7237529-15D2-46EA-8481-511A367458F3}"/>
              </a:ext>
            </a:extLst>
          </p:cNvPr>
          <p:cNvSpPr/>
          <p:nvPr/>
        </p:nvSpPr>
        <p:spPr>
          <a:xfrm>
            <a:off x="6327005" y="1262275"/>
            <a:ext cx="83127" cy="67056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2" name="图形 11" descr="讲故事">
            <a:extLst>
              <a:ext uri="{FF2B5EF4-FFF2-40B4-BE49-F238E27FC236}">
                <a16:creationId xmlns:a16="http://schemas.microsoft.com/office/drawing/2014/main" id="{6684872B-9D64-4BDB-95BD-35B49D3CED26}"/>
              </a:ext>
            </a:extLst>
          </p:cNvPr>
          <p:cNvPicPr>
            <a:picLocks noChangeAspect="1"/>
          </p:cNvPicPr>
          <p:nvPr/>
        </p:nvPicPr>
        <p:blipFill>
          <a:blip r:embed="rId2">
            <a:extLst>
              <a:ext uri="{96DAC541-7B7A-43D3-8B79-37D633B846F1}">
                <asvg:svgBlip xmlns:asvg="http://schemas.microsoft.com/office/drawing/2016/SVG/main" xmlns="" r:embed="rId4"/>
              </a:ext>
            </a:extLst>
          </a:blip>
          <a:stretch>
            <a:fillRect/>
          </a:stretch>
        </p:blipFill>
        <p:spPr>
          <a:xfrm>
            <a:off x="982639" y="1045642"/>
            <a:ext cx="936104" cy="936104"/>
          </a:xfrm>
          <a:prstGeom prst="rect">
            <a:avLst/>
          </a:prstGeom>
        </p:spPr>
      </p:pic>
      <p:sp>
        <p:nvSpPr>
          <p:cNvPr id="2" name="矩形 1"/>
          <p:cNvSpPr/>
          <p:nvPr/>
        </p:nvSpPr>
        <p:spPr>
          <a:xfrm>
            <a:off x="651613" y="2263940"/>
            <a:ext cx="9757083" cy="553998"/>
          </a:xfrm>
          <a:prstGeom prst="rect">
            <a:avLst/>
          </a:prstGeom>
        </p:spPr>
        <p:txBody>
          <a:bodyPr wrap="square">
            <a:spAutoFit/>
          </a:bodyPr>
          <a:lstStyle/>
          <a:p>
            <a:pPr indent="266700">
              <a:lnSpc>
                <a:spcPct val="150000"/>
              </a:lnSpc>
              <a:spcAft>
                <a:spcPts val="0"/>
              </a:spcAft>
            </a:pPr>
            <a:r>
              <a:rPr lang="zh-CN" altLang="zh-CN" sz="2000" dirty="0">
                <a:solidFill>
                  <a:srgbClr val="076DB7"/>
                </a:solidFill>
                <a:latin typeface="微软雅黑" panose="020B0503020204020204" pitchFamily="34" charset="-122"/>
                <a:ea typeface="微软雅黑" panose="020B0503020204020204" pitchFamily="34" charset="-122"/>
              </a:rPr>
              <a:t>触摸点</a:t>
            </a:r>
            <a:r>
              <a:rPr lang="zh-CN" altLang="zh-CN" sz="2000" dirty="0">
                <a:solidFill>
                  <a:srgbClr val="595959"/>
                </a:solidFill>
                <a:latin typeface="微软雅黑" panose="020B0503020204020204" pitchFamily="34" charset="-122"/>
                <a:ea typeface="微软雅黑" panose="020B0503020204020204" pitchFamily="34" charset="-122"/>
              </a:rPr>
              <a:t>的相关信息可以通过</a:t>
            </a:r>
            <a:r>
              <a:rPr lang="en-US" altLang="zh-CN" sz="2000" dirty="0" err="1">
                <a:solidFill>
                  <a:srgbClr val="076DB7"/>
                </a:solidFill>
                <a:latin typeface="微软雅黑" panose="020B0503020204020204" pitchFamily="34" charset="-122"/>
                <a:ea typeface="微软雅黑" panose="020B0503020204020204" pitchFamily="34" charset="-122"/>
              </a:rPr>
              <a:t>TouchEvent</a:t>
            </a:r>
            <a:r>
              <a:rPr lang="zh-CN" altLang="zh-CN" sz="2000" dirty="0" smtClean="0">
                <a:solidFill>
                  <a:srgbClr val="076DB7"/>
                </a:solidFill>
                <a:latin typeface="微软雅黑" panose="020B0503020204020204" pitchFamily="34" charset="-122"/>
                <a:ea typeface="微软雅黑" panose="020B0503020204020204" pitchFamily="34" charset="-122"/>
              </a:rPr>
              <a:t>对象</a:t>
            </a:r>
            <a:r>
              <a:rPr lang="zh-CN" altLang="zh-CN" sz="2000" dirty="0" smtClean="0">
                <a:solidFill>
                  <a:srgbClr val="595959"/>
                </a:solidFill>
                <a:latin typeface="微软雅黑" panose="020B0503020204020204" pitchFamily="34" charset="-122"/>
                <a:ea typeface="微软雅黑" panose="020B0503020204020204" pitchFamily="34" charset="-122"/>
              </a:rPr>
              <a:t>获取</a:t>
            </a:r>
            <a:r>
              <a:rPr lang="zh-CN" altLang="en-US" sz="2000" dirty="0" smtClean="0">
                <a:solidFill>
                  <a:srgbClr val="595959"/>
                </a:solidFill>
                <a:latin typeface="微软雅黑" panose="020B0503020204020204" pitchFamily="34" charset="-122"/>
                <a:ea typeface="微软雅黑" panose="020B0503020204020204" pitchFamily="34" charset="-122"/>
              </a:rPr>
              <a:t>，示例代码如下。</a:t>
            </a:r>
            <a:endParaRPr lang="en-US" altLang="zh-CN" sz="2000" dirty="0" smtClean="0">
              <a:solidFill>
                <a:srgbClr val="595959"/>
              </a:solidFill>
              <a:latin typeface="微软雅黑" panose="020B0503020204020204" pitchFamily="34" charset="-122"/>
              <a:ea typeface="微软雅黑" panose="020B0503020204020204" pitchFamily="34" charset="-122"/>
            </a:endParaRPr>
          </a:p>
        </p:txBody>
      </p:sp>
      <p:sp>
        <p:nvSpPr>
          <p:cNvPr id="3" name="矩形 2"/>
          <p:cNvSpPr/>
          <p:nvPr/>
        </p:nvSpPr>
        <p:spPr>
          <a:xfrm>
            <a:off x="4013554" y="3249851"/>
            <a:ext cx="3033203" cy="499624"/>
          </a:xfrm>
          <a:prstGeom prst="rect">
            <a:avLst/>
          </a:prstGeom>
        </p:spPr>
        <p:txBody>
          <a:bodyPr wrap="none">
            <a:spAutoFit/>
          </a:bodyPr>
          <a:lstStyle/>
          <a:p>
            <a:pPr indent="266700">
              <a:lnSpc>
                <a:spcPct val="150000"/>
              </a:lnSpc>
              <a:spcAft>
                <a:spcPts val="0"/>
              </a:spcAft>
            </a:pPr>
            <a:r>
              <a:rPr lang="en-US" altLang="zh-CN" sz="2000" dirty="0" smtClean="0">
                <a:solidFill>
                  <a:srgbClr val="595959"/>
                </a:solidFill>
                <a:latin typeface="微软雅黑" panose="020B0503020204020204" pitchFamily="34" charset="-122"/>
                <a:ea typeface="微软雅黑" panose="020B0503020204020204" pitchFamily="34" charset="-122"/>
              </a:rPr>
              <a:t>e</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触摸点集合</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属性</a:t>
            </a:r>
            <a:r>
              <a:rPr lang="zh-CN" altLang="zh-CN" sz="2000" dirty="0" smtClean="0">
                <a:solidFill>
                  <a:srgbClr val="595959"/>
                </a:solidFill>
                <a:latin typeface="微软雅黑" panose="020B0503020204020204" pitchFamily="34" charset="-122"/>
                <a:ea typeface="微软雅黑" panose="020B0503020204020204" pitchFamily="34" charset="-122"/>
              </a:rPr>
              <a:t>名称</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828795" y="4254424"/>
            <a:ext cx="10423157" cy="961289"/>
          </a:xfrm>
          <a:prstGeom prst="rect">
            <a:avLst/>
          </a:prstGeom>
        </p:spPr>
        <p:txBody>
          <a:bodyPr wrap="square">
            <a:spAutoFit/>
          </a:bodyPr>
          <a:lstStyle/>
          <a:p>
            <a:pPr>
              <a:lnSpc>
                <a:spcPct val="150000"/>
              </a:lnSpc>
              <a:spcAft>
                <a:spcPts val="0"/>
              </a:spcAft>
            </a:pPr>
            <a:r>
              <a:rPr lang="zh-CN" altLang="zh-CN" sz="2000" dirty="0" smtClean="0">
                <a:solidFill>
                  <a:srgbClr val="595959"/>
                </a:solidFill>
                <a:latin typeface="微软雅黑" panose="020B0503020204020204" pitchFamily="34" charset="-122"/>
                <a:ea typeface="微软雅黑" panose="020B0503020204020204" pitchFamily="34" charset="-122"/>
              </a:rPr>
              <a:t>例如</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当手指触摸屏幕时或者当手指在屏幕上滑动时获取触摸目标相对于当前视口的</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坐标距离，可以使用</a:t>
            </a:r>
            <a:r>
              <a:rPr lang="en-US" altLang="zh-CN" sz="2000" dirty="0" err="1">
                <a:solidFill>
                  <a:srgbClr val="076DB7"/>
                </a:solidFill>
                <a:latin typeface="微软雅黑" panose="020B0503020204020204" pitchFamily="34" charset="-122"/>
                <a:ea typeface="微软雅黑" panose="020B0503020204020204" pitchFamily="34" charset="-122"/>
              </a:rPr>
              <a:t>e.targetTouches</a:t>
            </a:r>
            <a:r>
              <a:rPr lang="en-US" altLang="zh-CN" sz="2000" dirty="0">
                <a:solidFill>
                  <a:srgbClr val="076DB7"/>
                </a:solidFill>
                <a:latin typeface="微软雅黑" panose="020B0503020204020204" pitchFamily="34" charset="-122"/>
                <a:ea typeface="微软雅黑" panose="020B0503020204020204" pitchFamily="34" charset="-122"/>
              </a:rPr>
              <a:t>[0].</a:t>
            </a:r>
            <a:r>
              <a:rPr lang="en-US" altLang="zh-CN" sz="2000" dirty="0" err="1">
                <a:solidFill>
                  <a:srgbClr val="076DB7"/>
                </a:solidFill>
                <a:latin typeface="微软雅黑" panose="020B0503020204020204" pitchFamily="34" charset="-122"/>
                <a:ea typeface="微软雅黑" panose="020B0503020204020204" pitchFamily="34" charset="-122"/>
              </a:rPr>
              <a:t>clientX</a:t>
            </a:r>
            <a:r>
              <a:rPr lang="zh-CN" altLang="zh-CN" sz="2000" dirty="0">
                <a:solidFill>
                  <a:srgbClr val="595959"/>
                </a:solidFill>
                <a:latin typeface="微软雅黑" panose="020B0503020204020204" pitchFamily="34" charset="-122"/>
                <a:ea typeface="微软雅黑" panose="020B0503020204020204" pitchFamily="34" charset="-122"/>
              </a:rPr>
              <a:t>或</a:t>
            </a:r>
            <a:r>
              <a:rPr lang="en-US" altLang="zh-CN" sz="2000" dirty="0" err="1">
                <a:solidFill>
                  <a:srgbClr val="076DB7"/>
                </a:solidFill>
                <a:latin typeface="微软雅黑" panose="020B0503020204020204" pitchFamily="34" charset="-122"/>
                <a:ea typeface="微软雅黑" panose="020B0503020204020204" pitchFamily="34" charset="-122"/>
              </a:rPr>
              <a:t>e.touches</a:t>
            </a:r>
            <a:r>
              <a:rPr lang="en-US" altLang="zh-CN" sz="2000" dirty="0">
                <a:solidFill>
                  <a:srgbClr val="076DB7"/>
                </a:solidFill>
                <a:latin typeface="微软雅黑" panose="020B0503020204020204" pitchFamily="34" charset="-122"/>
                <a:ea typeface="微软雅黑" panose="020B0503020204020204" pitchFamily="34" charset="-122"/>
              </a:rPr>
              <a:t>[0].</a:t>
            </a:r>
            <a:r>
              <a:rPr lang="en-US" altLang="zh-CN" sz="2000" dirty="0" err="1">
                <a:solidFill>
                  <a:srgbClr val="076DB7"/>
                </a:solidFill>
                <a:latin typeface="微软雅黑" panose="020B0503020204020204" pitchFamily="34" charset="-122"/>
                <a:ea typeface="微软雅黑" panose="020B0503020204020204" pitchFamily="34" charset="-122"/>
              </a:rPr>
              <a:t>clientX</a:t>
            </a:r>
            <a:r>
              <a:rPr lang="zh-CN" altLang="zh-CN" sz="2000" dirty="0">
                <a:solidFill>
                  <a:srgbClr val="595959"/>
                </a:solidFill>
                <a:latin typeface="微软雅黑" panose="020B0503020204020204" pitchFamily="34" charset="-122"/>
                <a:ea typeface="微软雅黑" panose="020B0503020204020204" pitchFamily="34" charset="-122"/>
              </a:rPr>
              <a:t>进行获取。</a:t>
            </a:r>
          </a:p>
        </p:txBody>
      </p:sp>
    </p:spTree>
    <p:extLst>
      <p:ext uri="{BB962C8B-B14F-4D97-AF65-F5344CB8AC3E}">
        <p14:creationId xmlns:p14="http://schemas.microsoft.com/office/powerpoint/2010/main" val="22188846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247793"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rPr>
              <a:t>掌握如何</a:t>
            </a:r>
            <a:r>
              <a:rPr lang="zh-CN" altLang="en-US" dirty="0" smtClean="0">
                <a:solidFill>
                  <a:srgbClr val="1369B2"/>
                </a:solidFill>
                <a:latin typeface="微软雅黑" panose="020B0503020204020204" pitchFamily="34" charset="-122"/>
                <a:ea typeface="微软雅黑" panose="020B0503020204020204" pitchFamily="34" charset="-122"/>
              </a:rPr>
              <a:t>解决</a:t>
            </a:r>
            <a:r>
              <a:rPr lang="zh-CN" altLang="en-US" dirty="0">
                <a:solidFill>
                  <a:srgbClr val="1369B2"/>
                </a:solidFill>
                <a:latin typeface="微软雅黑" panose="020B0503020204020204" pitchFamily="34" charset="-122"/>
                <a:ea typeface="微软雅黑" panose="020B0503020204020204" pitchFamily="34" charset="-122"/>
              </a:rPr>
              <a:t>移动端</a:t>
            </a:r>
            <a:r>
              <a:rPr lang="en-US" altLang="zh-CN" dirty="0">
                <a:solidFill>
                  <a:srgbClr val="1369B2"/>
                </a:solidFill>
                <a:latin typeface="微软雅黑" panose="020B0503020204020204" pitchFamily="34" charset="-122"/>
                <a:ea typeface="微软雅黑" panose="020B0503020204020204" pitchFamily="34" charset="-122"/>
              </a:rPr>
              <a:t>click</a:t>
            </a:r>
            <a:r>
              <a:rPr lang="zh-CN" altLang="en-US" dirty="0">
                <a:solidFill>
                  <a:srgbClr val="1369B2"/>
                </a:solidFill>
                <a:latin typeface="微软雅黑" panose="020B0503020204020204" pitchFamily="34" charset="-122"/>
                <a:ea typeface="微软雅黑" panose="020B0503020204020204" pitchFamily="34" charset="-122"/>
              </a:rPr>
              <a:t>事件的延时</a:t>
            </a:r>
            <a:r>
              <a:rPr lang="zh-CN" altLang="en-US" dirty="0" smtClean="0">
                <a:solidFill>
                  <a:srgbClr val="1369B2"/>
                </a:solidFill>
                <a:latin typeface="微软雅黑" panose="020B0503020204020204" pitchFamily="34" charset="-122"/>
                <a:ea typeface="微软雅黑" panose="020B0503020204020204" pitchFamily="34" charset="-122"/>
              </a:rPr>
              <a:t>问题</a:t>
            </a:r>
            <a:r>
              <a:rPr lang="zh-CN" altLang="en-US" dirty="0" smtClean="0">
                <a:solidFill>
                  <a:srgbClr val="595959"/>
                </a:solidFill>
                <a:latin typeface="微软雅黑" panose="020B0503020204020204" pitchFamily="34" charset="-122"/>
                <a:ea typeface="微软雅黑" panose="020B0503020204020204" pitchFamily="34" charset="-122"/>
              </a:rPr>
              <a:t>，能够运用</a:t>
            </a:r>
            <a:r>
              <a:rPr lang="en-US" altLang="zh-CN" dirty="0" smtClean="0">
                <a:solidFill>
                  <a:srgbClr val="595959"/>
                </a:solidFill>
                <a:latin typeface="微软雅黑" panose="020B0503020204020204" pitchFamily="34" charset="-122"/>
                <a:ea typeface="微软雅黑" panose="020B0503020204020204" pitchFamily="34" charset="-122"/>
              </a:rPr>
              <a:t>3</a:t>
            </a:r>
            <a:r>
              <a:rPr lang="zh-CN" altLang="en-US" dirty="0" smtClean="0">
                <a:solidFill>
                  <a:srgbClr val="595959"/>
                </a:solidFill>
                <a:latin typeface="微软雅黑" panose="020B0503020204020204" pitchFamily="34" charset="-122"/>
                <a:ea typeface="微软雅黑" panose="020B0503020204020204" pitchFamily="34" charset="-122"/>
              </a:rPr>
              <a:t>种方式解决问题</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5383564"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Tree>
    <p:extLst>
      <p:ext uri="{BB962C8B-B14F-4D97-AF65-F5344CB8AC3E}">
        <p14:creationId xmlns:p14="http://schemas.microsoft.com/office/powerpoint/2010/main" val="39618381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7" name="TextBox 35"/>
          <p:cNvSpPr txBox="1">
            <a:spLocks noChangeArrowheads="1"/>
          </p:cNvSpPr>
          <p:nvPr/>
        </p:nvSpPr>
        <p:spPr bwMode="auto">
          <a:xfrm>
            <a:off x="879004" y="1773610"/>
            <a:ext cx="10441160"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移动端使用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事件时会出现</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左右的延时问题，其</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原因是</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浏览器需要判断用户的操作是</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单次点击</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还是</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双次点击</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举例：</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例如，在手机上浏览网页时，由于手机屏幕比较小，页面中可能会有一些文字看不清楚。为了看清楚文字，用户通常会快速双击屏幕放大页面查看内容。当用户第一次点击屏幕时，浏览器无法立刻判断用户的操作，浏览器会等待</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。如果用户在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内再次点击了屏幕，浏览器就会认为是一个双次点击的操作，否则就会认为是一个单次点击操作。</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910630" y="1125538"/>
            <a:ext cx="504056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事件的延时问题的原因</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81987642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7" name="TextBox 35"/>
          <p:cNvSpPr txBox="1">
            <a:spLocks noChangeArrowheads="1"/>
          </p:cNvSpPr>
          <p:nvPr/>
        </p:nvSpPr>
        <p:spPr bwMode="auto">
          <a:xfrm>
            <a:off x="879004" y="1773610"/>
            <a:ext cx="1044116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随着移动端网页的流行与普及，用户对</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网页性能</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有了更高的要求，而在移动端使用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事件会出现延时，这会影响用户的体验。</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下面我们给出了</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3</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个</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解决方案，用来处理</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事件出现</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延时的问题，读者可以根据实际需求进行选择。</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TextBox 76"/>
          <p:cNvSpPr txBox="1"/>
          <p:nvPr/>
        </p:nvSpPr>
        <p:spPr>
          <a:xfrm>
            <a:off x="910630" y="1125538"/>
            <a:ext cx="504056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68548653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TextBox 76"/>
          <p:cNvSpPr txBox="1"/>
          <p:nvPr/>
        </p:nvSpPr>
        <p:spPr>
          <a:xfrm>
            <a:off x="910630" y="1125538"/>
            <a:ext cx="504056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5" name="直接连接符 41"/>
          <p:cNvCxnSpPr/>
          <p:nvPr/>
        </p:nvCxnSpPr>
        <p:spPr>
          <a:xfrm flipH="1">
            <a:off x="4193727" y="2322047"/>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42"/>
          <p:cNvCxnSpPr/>
          <p:nvPr/>
        </p:nvCxnSpPr>
        <p:spPr>
          <a:xfrm flipH="1">
            <a:off x="4193727" y="406282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9" name="直接连接符 43"/>
          <p:cNvCxnSpPr/>
          <p:nvPr/>
        </p:nvCxnSpPr>
        <p:spPr>
          <a:xfrm flipH="1">
            <a:off x="4193727" y="5775901"/>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44"/>
          <p:cNvCxnSpPr/>
          <p:nvPr/>
        </p:nvCxnSpPr>
        <p:spPr>
          <a:xfrm>
            <a:off x="4193727" y="2322046"/>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1" name="椭圆 10"/>
          <p:cNvSpPr/>
          <p:nvPr/>
        </p:nvSpPr>
        <p:spPr>
          <a:xfrm>
            <a:off x="5387260" y="350895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Microsoft YaHei" panose="020B0503020204020204" pitchFamily="34" charset="-122"/>
              <a:ea typeface="Microsoft YaHei" panose="020B0503020204020204" pitchFamily="34" charset="-122"/>
            </a:endParaRPr>
          </a:p>
        </p:txBody>
      </p:sp>
      <p:sp>
        <p:nvSpPr>
          <p:cNvPr id="12" name="椭圆 11"/>
          <p:cNvSpPr/>
          <p:nvPr/>
        </p:nvSpPr>
        <p:spPr>
          <a:xfrm>
            <a:off x="5387260" y="520236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Microsoft YaHei" panose="020B0503020204020204" pitchFamily="34" charset="-122"/>
              <a:ea typeface="Microsoft YaHei" panose="020B0503020204020204" pitchFamily="34" charset="-122"/>
            </a:endParaRPr>
          </a:p>
        </p:txBody>
      </p:sp>
      <p:sp>
        <p:nvSpPr>
          <p:cNvPr id="13" name="椭圆 12"/>
          <p:cNvSpPr/>
          <p:nvPr/>
        </p:nvSpPr>
        <p:spPr>
          <a:xfrm>
            <a:off x="5469873" y="3600926"/>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14" name="Freeform 176"/>
          <p:cNvSpPr>
            <a:spLocks noEditPoints="1"/>
          </p:cNvSpPr>
          <p:nvPr/>
        </p:nvSpPr>
        <p:spPr bwMode="auto">
          <a:xfrm>
            <a:off x="5664909" y="3815799"/>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15" name="椭圆 14"/>
          <p:cNvSpPr/>
          <p:nvPr/>
        </p:nvSpPr>
        <p:spPr>
          <a:xfrm>
            <a:off x="5479234" y="1882338"/>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16" name="椭圆 15"/>
          <p:cNvSpPr/>
          <p:nvPr/>
        </p:nvSpPr>
        <p:spPr>
          <a:xfrm>
            <a:off x="5469872" y="5314002"/>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Microsoft YaHei" panose="020B0503020204020204" pitchFamily="34" charset="-122"/>
              <a:ea typeface="Microsoft YaHei" panose="020B0503020204020204" pitchFamily="34" charset="-122"/>
            </a:endParaRPr>
          </a:p>
        </p:txBody>
      </p:sp>
      <p:sp>
        <p:nvSpPr>
          <p:cNvPr id="17" name="Freeform 175"/>
          <p:cNvSpPr>
            <a:spLocks noEditPoints="1"/>
          </p:cNvSpPr>
          <p:nvPr/>
        </p:nvSpPr>
        <p:spPr bwMode="auto">
          <a:xfrm>
            <a:off x="5694542" y="5440857"/>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18" name="Freeform 168"/>
          <p:cNvSpPr>
            <a:spLocks noEditPoints="1"/>
          </p:cNvSpPr>
          <p:nvPr/>
        </p:nvSpPr>
        <p:spPr bwMode="auto">
          <a:xfrm>
            <a:off x="5664908" y="2014071"/>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Microsoft YaHei" panose="020B0503020204020204" pitchFamily="34" charset="-122"/>
              <a:ea typeface="Microsoft YaHei" panose="020B0503020204020204" pitchFamily="34" charset="-122"/>
            </a:endParaRPr>
          </a:p>
        </p:txBody>
      </p:sp>
      <p:sp>
        <p:nvSpPr>
          <p:cNvPr id="19" name="文本框 9"/>
          <p:cNvSpPr txBox="1"/>
          <p:nvPr/>
        </p:nvSpPr>
        <p:spPr>
          <a:xfrm>
            <a:off x="6806501" y="2132449"/>
            <a:ext cx="137693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latin typeface="Microsoft YaHei" panose="020B0503020204020204" pitchFamily="34" charset="-122"/>
                <a:ea typeface="Microsoft YaHei" panose="020B0503020204020204" pitchFamily="34" charset="-122"/>
              </a:rPr>
              <a:t>禁用缩放</a:t>
            </a:r>
          </a:p>
        </p:txBody>
      </p:sp>
      <p:sp>
        <p:nvSpPr>
          <p:cNvPr id="20" name="文本框 9"/>
          <p:cNvSpPr txBox="1"/>
          <p:nvPr/>
        </p:nvSpPr>
        <p:spPr>
          <a:xfrm>
            <a:off x="6817950" y="3860641"/>
            <a:ext cx="2373600"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rgbClr val="595959"/>
                </a:solidFill>
                <a:latin typeface="Microsoft YaHei" panose="020B0503020204020204" pitchFamily="34" charset="-122"/>
                <a:ea typeface="Microsoft YaHei" panose="020B0503020204020204" pitchFamily="34" charset="-122"/>
              </a:rPr>
              <a:t>封装</a:t>
            </a:r>
            <a:r>
              <a:rPr lang="en-US" altLang="zh-CN" sz="2000" b="1" dirty="0">
                <a:solidFill>
                  <a:srgbClr val="595959"/>
                </a:solidFill>
                <a:latin typeface="Microsoft YaHei" panose="020B0503020204020204" pitchFamily="34" charset="-122"/>
                <a:ea typeface="Microsoft YaHei" panose="020B0503020204020204" pitchFamily="34" charset="-122"/>
              </a:rPr>
              <a:t>touch</a:t>
            </a:r>
            <a:r>
              <a:rPr lang="zh-CN" altLang="en-US" sz="2000" b="1" dirty="0">
                <a:solidFill>
                  <a:srgbClr val="595959"/>
                </a:solidFill>
                <a:latin typeface="Microsoft YaHei" panose="020B0503020204020204" pitchFamily="34" charset="-122"/>
                <a:ea typeface="Microsoft YaHei" panose="020B0503020204020204" pitchFamily="34" charset="-122"/>
              </a:rPr>
              <a:t>事件</a:t>
            </a:r>
          </a:p>
        </p:txBody>
      </p:sp>
      <p:sp>
        <p:nvSpPr>
          <p:cNvPr id="21" name="文本框 9"/>
          <p:cNvSpPr txBox="1"/>
          <p:nvPr/>
        </p:nvSpPr>
        <p:spPr>
          <a:xfrm>
            <a:off x="6829399" y="5732849"/>
            <a:ext cx="2650183"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zh-CN" b="1" dirty="0"/>
              <a:t>使用</a:t>
            </a:r>
            <a:r>
              <a:rPr lang="en-US" altLang="zh-CN" b="1" dirty="0" err="1"/>
              <a:t>Fastclick</a:t>
            </a:r>
            <a:r>
              <a:rPr lang="zh-CN" altLang="zh-CN" b="1" dirty="0"/>
              <a:t>插件</a:t>
            </a:r>
            <a:endParaRPr lang="zh-CN" altLang="en-US" sz="2000" b="1" dirty="0">
              <a:solidFill>
                <a:srgbClr val="595959"/>
              </a:solidFill>
              <a:latin typeface="Microsoft YaHei" panose="020B0503020204020204" pitchFamily="34" charset="-122"/>
              <a:ea typeface="Microsoft YaHei" panose="020B0503020204020204" pitchFamily="34" charset="-122"/>
            </a:endParaRPr>
          </a:p>
        </p:txBody>
      </p:sp>
      <p:sp>
        <p:nvSpPr>
          <p:cNvPr id="22" name="文本框 9"/>
          <p:cNvSpPr txBox="1"/>
          <p:nvPr/>
        </p:nvSpPr>
        <p:spPr>
          <a:xfrm>
            <a:off x="1846734" y="3863645"/>
            <a:ext cx="2223598" cy="100631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en-US" altLang="zh-CN" sz="2000" b="1" dirty="0">
                <a:solidFill>
                  <a:srgbClr val="595959"/>
                </a:solidFill>
              </a:rPr>
              <a:t>3</a:t>
            </a:r>
            <a:r>
              <a:rPr lang="zh-CN" altLang="en-US" sz="2000" b="1" dirty="0">
                <a:solidFill>
                  <a:srgbClr val="595959"/>
                </a:solidFill>
              </a:rPr>
              <a:t>种</a:t>
            </a:r>
            <a:r>
              <a:rPr lang="zh-CN" altLang="en-US" sz="2000" b="1" dirty="0">
                <a:solidFill>
                  <a:srgbClr val="595959"/>
                </a:solidFill>
                <a:latin typeface="Microsoft YaHei" panose="020B0503020204020204" pitchFamily="34" charset="-122"/>
                <a:ea typeface="Microsoft YaHei" panose="020B0503020204020204" pitchFamily="34" charset="-122"/>
              </a:rPr>
              <a:t>解决移动端</a:t>
            </a:r>
            <a:r>
              <a:rPr lang="en-US" altLang="zh-CN" sz="2000" b="1" dirty="0">
                <a:solidFill>
                  <a:srgbClr val="595959"/>
                </a:solidFill>
                <a:latin typeface="Microsoft YaHei" panose="020B0503020204020204" pitchFamily="34" charset="-122"/>
                <a:ea typeface="Microsoft YaHei" panose="020B0503020204020204" pitchFamily="34" charset="-122"/>
              </a:rPr>
              <a:t>click</a:t>
            </a:r>
            <a:r>
              <a:rPr lang="zh-CN" altLang="en-US" sz="2000" b="1" dirty="0">
                <a:solidFill>
                  <a:srgbClr val="595959"/>
                </a:solidFill>
                <a:latin typeface="Microsoft YaHei" panose="020B0503020204020204" pitchFamily="34" charset="-122"/>
                <a:ea typeface="Microsoft YaHei" panose="020B0503020204020204" pitchFamily="34" charset="-122"/>
              </a:rPr>
              <a:t>事件的延时问题的</a:t>
            </a:r>
            <a:r>
              <a:rPr lang="zh-CN" altLang="en-US" sz="2000" b="1" dirty="0">
                <a:solidFill>
                  <a:srgbClr val="595959"/>
                </a:solidFill>
              </a:rPr>
              <a:t>方法</a:t>
            </a:r>
            <a:endParaRPr lang="en-US" altLang="zh-CN" sz="2000" b="1" dirty="0">
              <a:solidFill>
                <a:srgbClr val="595959"/>
              </a:solidFill>
            </a:endParaRPr>
          </a:p>
        </p:txBody>
      </p:sp>
    </p:spTree>
    <p:extLst>
      <p:ext uri="{BB962C8B-B14F-4D97-AF65-F5344CB8AC3E}">
        <p14:creationId xmlns:p14="http://schemas.microsoft.com/office/powerpoint/2010/main" val="390761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TextBox 76"/>
          <p:cNvSpPr txBox="1"/>
          <p:nvPr/>
        </p:nvSpPr>
        <p:spPr>
          <a:xfrm>
            <a:off x="910630" y="1125538"/>
            <a:ext cx="648072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禁用</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缩放解决移动端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TextBox 35"/>
          <p:cNvSpPr txBox="1">
            <a:spLocks noChangeArrowheads="1"/>
          </p:cNvSpPr>
          <p:nvPr/>
        </p:nvSpPr>
        <p:spPr bwMode="auto">
          <a:xfrm>
            <a:off x="910630" y="1819276"/>
            <a:ext cx="10441160"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使用</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user-scalable=no</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设置当前页面</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不可缩放</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禁用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浏览器默认的</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双击缩放</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去掉</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的点击延时。</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缺点</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它完全禁用了双击缩放，当我们需要放大文字或者图片时无法满足需求。</a:t>
            </a:r>
          </a:p>
        </p:txBody>
      </p:sp>
      <p:sp>
        <p:nvSpPr>
          <p:cNvPr id="24" name="矩形 23"/>
          <p:cNvSpPr/>
          <p:nvPr/>
        </p:nvSpPr>
        <p:spPr bwMode="auto">
          <a:xfrm>
            <a:off x="2278782" y="3700408"/>
            <a:ext cx="7740860" cy="6557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25" name="矩形 24"/>
          <p:cNvSpPr/>
          <p:nvPr/>
        </p:nvSpPr>
        <p:spPr bwMode="auto">
          <a:xfrm>
            <a:off x="2638822" y="3717826"/>
            <a:ext cx="7560840" cy="553998"/>
          </a:xfrm>
          <a:prstGeom prst="rect">
            <a:avLst/>
          </a:prstGeom>
        </p:spPr>
        <p:txBody>
          <a:bodyPr wrap="square">
            <a:spAutoFit/>
          </a:body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&lt;meta name="viewport" content="user-scalable=no"&gt;</a:t>
            </a:r>
          </a:p>
        </p:txBody>
      </p:sp>
    </p:spTree>
    <p:extLst>
      <p:ext uri="{BB962C8B-B14F-4D97-AF65-F5344CB8AC3E}">
        <p14:creationId xmlns:p14="http://schemas.microsoft.com/office/powerpoint/2010/main" val="37467120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TextBox 76"/>
          <p:cNvSpPr txBox="1"/>
          <p:nvPr/>
        </p:nvSpPr>
        <p:spPr>
          <a:xfrm>
            <a:off x="910630" y="1125538"/>
            <a:ext cx="7056784"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封装</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TextBox 35"/>
          <p:cNvSpPr txBox="1">
            <a:spLocks noChangeArrowheads="1"/>
          </p:cNvSpPr>
          <p:nvPr/>
        </p:nvSpPr>
        <p:spPr bwMode="auto">
          <a:xfrm>
            <a:off x="910630" y="1819276"/>
            <a:ext cx="10441160"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封装</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事件</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解决</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延时问题。</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缺点</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这种方式可以检测单个元素发生点击时的状态，解决移动端</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事件出现</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的延时问题。但是不能检查多个元素发生点击时的状态。</a:t>
            </a:r>
          </a:p>
        </p:txBody>
      </p:sp>
    </p:spTree>
    <p:extLst>
      <p:ext uri="{BB962C8B-B14F-4D97-AF65-F5344CB8AC3E}">
        <p14:creationId xmlns:p14="http://schemas.microsoft.com/office/powerpoint/2010/main" val="6404379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TextBox 4"/>
          <p:cNvSpPr txBox="1">
            <a:spLocks noChangeArrowheads="1"/>
          </p:cNvSpPr>
          <p:nvPr/>
        </p:nvSpPr>
        <p:spPr bwMode="auto">
          <a:xfrm>
            <a:off x="190550" y="1939661"/>
            <a:ext cx="10156562"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实现</a:t>
            </a:r>
            <a:r>
              <a:rPr lang="zh-CN" altLang="en-US" sz="2000" dirty="0">
                <a:solidFill>
                  <a:srgbClr val="595959"/>
                </a:solidFill>
                <a:latin typeface="微软雅黑" panose="020B0503020204020204" pitchFamily="34" charset="-122"/>
                <a:ea typeface="微软雅黑" panose="020B0503020204020204" pitchFamily="34" charset="-122"/>
                <a:sym typeface="+mn-ea"/>
              </a:rPr>
              <a:t>思路：</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Clr>
                <a:schemeClr val="tx1"/>
              </a:buClr>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当手指</a:t>
            </a:r>
            <a:r>
              <a:rPr lang="zh-CN" altLang="en-US" sz="2000" dirty="0">
                <a:solidFill>
                  <a:srgbClr val="1369B2"/>
                </a:solidFill>
                <a:latin typeface="微软雅黑" panose="020B0503020204020204" pitchFamily="34" charset="-122"/>
                <a:ea typeface="微软雅黑" panose="020B0503020204020204" pitchFamily="34" charset="-122"/>
                <a:sym typeface="+mn-ea"/>
              </a:rPr>
              <a:t>触摸屏幕</a:t>
            </a:r>
            <a:r>
              <a:rPr lang="zh-CN" altLang="en-US" sz="2000" dirty="0">
                <a:solidFill>
                  <a:srgbClr val="595959"/>
                </a:solidFill>
                <a:latin typeface="微软雅黑" panose="020B0503020204020204" pitchFamily="34" charset="-122"/>
                <a:ea typeface="微软雅黑" panose="020B0503020204020204" pitchFamily="34" charset="-122"/>
                <a:sym typeface="+mn-ea"/>
              </a:rPr>
              <a:t>时，记录当前触摸开始的时间；</a:t>
            </a:r>
          </a:p>
          <a:p>
            <a:pPr marL="1066800" lvl="1" indent="-457200">
              <a:lnSpc>
                <a:spcPct val="150000"/>
              </a:lnSpc>
              <a:buClr>
                <a:schemeClr val="tx1"/>
              </a:buClr>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当手指</a:t>
            </a:r>
            <a:r>
              <a:rPr lang="zh-CN" altLang="en-US" sz="2000" dirty="0">
                <a:solidFill>
                  <a:srgbClr val="1369B2"/>
                </a:solidFill>
                <a:latin typeface="微软雅黑" panose="020B0503020204020204" pitchFamily="34" charset="-122"/>
                <a:ea typeface="微软雅黑" panose="020B0503020204020204" pitchFamily="34" charset="-122"/>
                <a:sym typeface="+mn-ea"/>
              </a:rPr>
              <a:t>离开屏幕</a:t>
            </a:r>
            <a:r>
              <a:rPr lang="zh-CN" altLang="en-US" sz="2000" dirty="0">
                <a:solidFill>
                  <a:srgbClr val="595959"/>
                </a:solidFill>
                <a:latin typeface="微软雅黑" panose="020B0503020204020204" pitchFamily="34" charset="-122"/>
                <a:ea typeface="微软雅黑" panose="020B0503020204020204" pitchFamily="34" charset="-122"/>
                <a:sym typeface="+mn-ea"/>
              </a:rPr>
              <a:t>时，用离开的时间减去触摸开始的时间，得到手指停留时间；</a:t>
            </a:r>
          </a:p>
          <a:p>
            <a:pPr marL="1066800" lvl="1" indent="-457200">
              <a:lnSpc>
                <a:spcPct val="150000"/>
              </a:lnSpc>
              <a:buClr>
                <a:schemeClr val="tx1"/>
              </a:buClr>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如果手指</a:t>
            </a:r>
            <a:r>
              <a:rPr lang="zh-CN" altLang="en-US" sz="2000" dirty="0">
                <a:solidFill>
                  <a:srgbClr val="1369B2"/>
                </a:solidFill>
                <a:latin typeface="微软雅黑" panose="020B0503020204020204" pitchFamily="34" charset="-122"/>
                <a:ea typeface="微软雅黑" panose="020B0503020204020204" pitchFamily="34" charset="-122"/>
                <a:sym typeface="+mn-ea"/>
              </a:rPr>
              <a:t>停留时间</a:t>
            </a:r>
            <a:r>
              <a:rPr lang="zh-CN" altLang="en-US" sz="2000" dirty="0">
                <a:solidFill>
                  <a:srgbClr val="595959"/>
                </a:solidFill>
                <a:latin typeface="微软雅黑" panose="020B0503020204020204" pitchFamily="34" charset="-122"/>
                <a:ea typeface="微软雅黑" panose="020B0503020204020204" pitchFamily="34" charset="-122"/>
                <a:sym typeface="+mn-ea"/>
              </a:rPr>
              <a:t>小于</a:t>
            </a:r>
            <a:r>
              <a:rPr lang="en-US" altLang="zh-CN" sz="2000" dirty="0">
                <a:solidFill>
                  <a:srgbClr val="595959"/>
                </a:solidFill>
                <a:latin typeface="微软雅黑" panose="020B0503020204020204" pitchFamily="34" charset="-122"/>
                <a:ea typeface="微软雅黑" panose="020B0503020204020204" pitchFamily="34" charset="-122"/>
                <a:sym typeface="+mn-ea"/>
              </a:rPr>
              <a:t>150ms</a:t>
            </a:r>
            <a:r>
              <a:rPr lang="zh-CN" altLang="en-US" sz="2000" dirty="0">
                <a:solidFill>
                  <a:srgbClr val="595959"/>
                </a:solidFill>
                <a:latin typeface="微软雅黑" panose="020B0503020204020204" pitchFamily="34" charset="-122"/>
                <a:ea typeface="微软雅黑" panose="020B0503020204020204" pitchFamily="34" charset="-122"/>
                <a:sym typeface="+mn-ea"/>
              </a:rPr>
              <a:t>，并且没有滑动过屏幕，那么就定义为点击。</a:t>
            </a:r>
          </a:p>
        </p:txBody>
      </p:sp>
      <p:sp>
        <p:nvSpPr>
          <p:cNvPr id="5" name="TextBox 76"/>
          <p:cNvSpPr txBox="1"/>
          <p:nvPr/>
        </p:nvSpPr>
        <p:spPr>
          <a:xfrm>
            <a:off x="910630" y="1125538"/>
            <a:ext cx="7056784"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封装</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touch</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96860491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矩形 3"/>
          <p:cNvSpPr/>
          <p:nvPr/>
        </p:nvSpPr>
        <p:spPr bwMode="auto">
          <a:xfrm>
            <a:off x="1647746" y="1773610"/>
            <a:ext cx="8119868" cy="40324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5" name="矩形 4"/>
          <p:cNvSpPr/>
          <p:nvPr/>
        </p:nvSpPr>
        <p:spPr bwMode="auto">
          <a:xfrm>
            <a:off x="1869996" y="1812474"/>
            <a:ext cx="7105530" cy="3877985"/>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tap(</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obj</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callback)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记录手指是否移动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记录触摸时候的时间变量</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obj.addEventListener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touchstart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function(e)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Date.now</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记录触摸时间</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sym typeface="Arial" panose="020B0604020202020204" pitchFamily="34" charset="0"/>
              </a:rPr>
              <a:t>当手指触摸屏幕时，记录当前触摸时间</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obj.addEventListener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function(e)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true;//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查看手指是否有滑动（如果有滑动算拖拽，不算点击）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p:txBody>
      </p:sp>
      <p:sp>
        <p:nvSpPr>
          <p:cNvPr id="7" name="TextBox 35"/>
          <p:cNvSpPr txBox="1">
            <a:spLocks noChangeArrowheads="1"/>
          </p:cNvSpPr>
          <p:nvPr/>
        </p:nvSpPr>
        <p:spPr bwMode="auto">
          <a:xfrm>
            <a:off x="838622" y="1053530"/>
            <a:ext cx="10441160"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代码实现：</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sym typeface="Arial" panose="020B0604020202020204" pitchFamily="34" charset="0"/>
              </a:rPr>
              <a:t>当手指触摸屏幕时，记录当前触摸时间</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8326652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矩形 3"/>
          <p:cNvSpPr/>
          <p:nvPr/>
        </p:nvSpPr>
        <p:spPr bwMode="auto">
          <a:xfrm>
            <a:off x="2926854" y="1901576"/>
            <a:ext cx="6673482" cy="46805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5" name="矩形 4"/>
          <p:cNvSpPr/>
          <p:nvPr/>
        </p:nvSpPr>
        <p:spPr bwMode="auto">
          <a:xfrm>
            <a:off x="3142878" y="1829568"/>
            <a:ext cx="6745490" cy="4893647"/>
          </a:xfrm>
          <a:prstGeom prst="rect">
            <a:avLst/>
          </a:prstGeom>
        </p:spPr>
        <p:txBody>
          <a:bodyPr wrap="square">
            <a:spAutoFit/>
          </a:bodyPr>
          <a:lstStyle/>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obj.addEventListener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function(e)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如果手指触摸和离开时间小于</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150ms</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算点击</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&amp;&amp;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Date.now</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150)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callback &amp;&amp; callback();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执行回调函数</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取反</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调用封装好的</a:t>
            </a:r>
            <a:r>
              <a:rPr lang="en-US" altLang="zh-CN"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tap()</a:t>
            </a:r>
            <a:r>
              <a:rPr lang="zh-CN" altLang="en-US" sz="1600" dirty="0">
                <a:solidFill>
                  <a:srgbClr val="1369B2"/>
                </a:solidFill>
                <a:latin typeface="微软雅黑" panose="020B0503020204020204" pitchFamily="34" charset="-122"/>
                <a:ea typeface="微软雅黑" panose="020B0503020204020204" pitchFamily="34" charset="-122"/>
                <a:cs typeface="Courier New" panose="02070609020205090404" pitchFamily="49" charset="0"/>
              </a:rPr>
              <a:t>方法</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tap(div, function()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执行点击后的代码</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extBox 35"/>
          <p:cNvSpPr txBox="1">
            <a:spLocks noChangeArrowheads="1"/>
          </p:cNvSpPr>
          <p:nvPr/>
        </p:nvSpPr>
        <p:spPr bwMode="auto">
          <a:xfrm>
            <a:off x="838622" y="909514"/>
            <a:ext cx="10441160"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代码实现：</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当手指离开屏幕时，用离开的时间减去触摸的时间，得到手指停留时间，如果手指停留时间小于</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150ms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，并且没有滑动过屏幕，那么就定义为点击。</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48097124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TextBox 76"/>
          <p:cNvSpPr txBox="1"/>
          <p:nvPr/>
        </p:nvSpPr>
        <p:spPr>
          <a:xfrm>
            <a:off x="910630" y="1342354"/>
            <a:ext cx="7560840"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使用</a:t>
            </a:r>
            <a:r>
              <a:rPr lang="en-US" altLang="zh-CN"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Fastclick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插件解决移动端</a:t>
            </a:r>
            <a:r>
              <a:rPr lang="en-US" altLang="zh-CN"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事件的延时问题</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TextBox 35"/>
          <p:cNvSpPr txBox="1">
            <a:spLocks noChangeArrowheads="1"/>
          </p:cNvSpPr>
          <p:nvPr/>
        </p:nvSpPr>
        <p:spPr bwMode="auto">
          <a:xfrm>
            <a:off x="910630" y="2252116"/>
            <a:ext cx="10441160"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使用</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Fastclick</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插件</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解决</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延时问题。</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实现原理</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：在检测到</a:t>
            </a:r>
            <a:r>
              <a:rPr lang="en-US" altLang="zh-CN" sz="2000" dirty="0" err="1">
                <a:solidFill>
                  <a:srgbClr val="595959"/>
                </a:solidFill>
                <a:latin typeface="微软雅黑" panose="020B0503020204020204" pitchFamily="34" charset="-122"/>
                <a:ea typeface="微软雅黑" panose="020B0503020204020204" pitchFamily="34" charset="-122"/>
                <a:sym typeface="Arial" panose="020B0604020202020204" pitchFamily="34" charset="0"/>
              </a:rPr>
              <a:t>touchend</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事件的时候，通过</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DOM</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自定义事件立即触发</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事件，并把浏览器在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之后的</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事件阻止掉。</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优点</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：可以完美解决移动端</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click</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事件出现</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300ms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的延时问题。</a:t>
            </a:r>
          </a:p>
        </p:txBody>
      </p:sp>
    </p:spTree>
    <p:extLst>
      <p:ext uri="{BB962C8B-B14F-4D97-AF65-F5344CB8AC3E}">
        <p14:creationId xmlns:p14="http://schemas.microsoft.com/office/powerpoint/2010/main" val="38494990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23"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下载</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并引入</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插件</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首先通过官网下载</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fastclick.js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至本地，并在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网页中使用</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&lt;script&gt;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标签引入</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fastclick.js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p:cNvSpPr/>
          <p:nvPr/>
        </p:nvSpPr>
        <p:spPr bwMode="auto">
          <a:xfrm>
            <a:off x="2494806" y="2997746"/>
            <a:ext cx="5976664" cy="7526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8" name="矩形 7"/>
          <p:cNvSpPr/>
          <p:nvPr/>
        </p:nvSpPr>
        <p:spPr bwMode="auto">
          <a:xfrm>
            <a:off x="3114103" y="3087576"/>
            <a:ext cx="4680520" cy="499624"/>
          </a:xfrm>
          <a:prstGeom prst="rect">
            <a:avLst/>
          </a:prstGeom>
        </p:spPr>
        <p:txBody>
          <a:bodyPr wrap="square">
            <a:spAutoFit/>
          </a:body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&lt;script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="fastclick.js"&gt;&lt;/script&gt;</a:t>
            </a: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01</a:t>
              </a:r>
            </a:p>
          </p:txBody>
        </p:sp>
      </p:grpSp>
    </p:spTree>
    <p:extLst>
      <p:ext uri="{BB962C8B-B14F-4D97-AF65-F5344CB8AC3E}">
        <p14:creationId xmlns:p14="http://schemas.microsoft.com/office/powerpoint/2010/main" val="233511997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矩形 3"/>
          <p:cNvSpPr/>
          <p:nvPr/>
        </p:nvSpPr>
        <p:spPr bwMode="auto">
          <a:xfrm>
            <a:off x="1702718" y="2421682"/>
            <a:ext cx="8712968" cy="2992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5" name="矩形 4"/>
          <p:cNvSpPr/>
          <p:nvPr/>
        </p:nvSpPr>
        <p:spPr bwMode="auto">
          <a:xfrm>
            <a:off x="2010962" y="2493690"/>
            <a:ext cx="8404724" cy="2862322"/>
          </a:xfrm>
          <a:prstGeom prst="rect">
            <a:avLst/>
          </a:prstGeom>
        </p:spPr>
        <p:txBody>
          <a:bodyPr wrap="square">
            <a:spAutoFit/>
          </a:bodyPr>
          <a:lstStyle/>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if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addEventListener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 document) {</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document.addEventListener</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DOMContentLoaded</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表示将</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document.body</a:t>
            </a:r>
            <a:r>
              <a:rPr lang="zh-CN" altLang="en-US"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下面的所有元素都绑定为</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Fastclick</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FastClick.attach</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20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document.body</a:t>
            </a: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a:t>
            </a:r>
          </a:p>
          <a:p>
            <a:pPr>
              <a:lnSpc>
                <a:spcPct val="150000"/>
              </a:lnSpc>
              <a:defRPr/>
            </a:pPr>
            <a:r>
              <a:rPr lang="en-US" altLang="zh-CN" sz="20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初始化插件</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通过</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JavaScript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方式对</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Fastclick</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进行</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初识化</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3532395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解决移动端</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click</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事件的延时问题</a:t>
            </a:r>
          </a:p>
        </p:txBody>
      </p:sp>
      <p:sp>
        <p:nvSpPr>
          <p:cNvPr id="4" name="矩形 3"/>
          <p:cNvSpPr/>
          <p:nvPr/>
        </p:nvSpPr>
        <p:spPr bwMode="auto">
          <a:xfrm>
            <a:off x="1270670" y="2410305"/>
            <a:ext cx="3801422" cy="2300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5" name="矩形 4"/>
          <p:cNvSpPr/>
          <p:nvPr/>
        </p:nvSpPr>
        <p:spPr bwMode="auto">
          <a:xfrm>
            <a:off x="1447150" y="2637706"/>
            <a:ext cx="3783960" cy="1754326"/>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HTML</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结构 </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&lt;div&gt;&lt;/div&gt;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p:txBody>
      </p:sp>
      <p:sp>
        <p:nvSpPr>
          <p:cNvPr id="7" name="矩形 6"/>
          <p:cNvSpPr/>
          <p:nvPr/>
        </p:nvSpPr>
        <p:spPr bwMode="auto">
          <a:xfrm>
            <a:off x="5375126" y="2410306"/>
            <a:ext cx="5976664" cy="2300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8" name="矩形 7"/>
          <p:cNvSpPr/>
          <p:nvPr/>
        </p:nvSpPr>
        <p:spPr bwMode="auto">
          <a:xfrm>
            <a:off x="5619715" y="2493690"/>
            <a:ext cx="5588059" cy="2169825"/>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编写</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代码，绑定</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click</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事件</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Odiv</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a:t>
            </a: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Odiv.addEventListener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('click', function()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alert('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点击操作</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9"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使用插件</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项目</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中</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使用</a:t>
            </a:r>
            <a:r>
              <a:rPr lang="en-US" altLang="zh-CN"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fastclick.js</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插件。</a:t>
            </a:r>
            <a:endPar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52942384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zh-CN" altLang="zh-CN" sz="4800" b="1" dirty="0">
                <a:solidFill>
                  <a:srgbClr val="595959"/>
                </a:solidFill>
                <a:latin typeface="微软雅黑" panose="020B0503020204020204" pitchFamily="34" charset="-122"/>
                <a:ea typeface="微软雅黑" panose="020B0503020204020204" pitchFamily="34" charset="-122"/>
                <a:cs typeface="+mn-ea"/>
              </a:rPr>
              <a:t>阶段项目——移动商城</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3.4</a:t>
            </a:r>
          </a:p>
        </p:txBody>
      </p:sp>
    </p:spTree>
    <p:extLst>
      <p:ext uri="{BB962C8B-B14F-4D97-AF65-F5344CB8AC3E}">
        <p14:creationId xmlns:p14="http://schemas.microsoft.com/office/powerpoint/2010/main" val="32482869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319801"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熟悉</a:t>
            </a:r>
            <a:r>
              <a:rPr lang="zh-CN" altLang="en-US" dirty="0">
                <a:solidFill>
                  <a:srgbClr val="1369B2"/>
                </a:solidFill>
                <a:latin typeface="微软雅黑" panose="020B0503020204020204" pitchFamily="34" charset="-122"/>
                <a:ea typeface="微软雅黑" panose="020B0503020204020204" pitchFamily="34" charset="-122"/>
              </a:rPr>
              <a:t>移动商城项目分析</a:t>
            </a:r>
            <a:r>
              <a:rPr lang="zh-CN" altLang="en-US" dirty="0">
                <a:solidFill>
                  <a:srgbClr val="595959"/>
                </a:solidFill>
                <a:latin typeface="微软雅黑" panose="020B0503020204020204" pitchFamily="34" charset="-122"/>
                <a:ea typeface="微软雅黑" panose="020B0503020204020204" pitchFamily="34" charset="-122"/>
              </a:rPr>
              <a:t>，能够对项目有一个整体的认识</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spTree>
    <p:extLst>
      <p:ext uri="{BB962C8B-B14F-4D97-AF65-F5344CB8AC3E}">
        <p14:creationId xmlns:p14="http://schemas.microsoft.com/office/powerpoint/2010/main" val="393840772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sp>
        <p:nvSpPr>
          <p:cNvPr id="3" name="文本框 2">
            <a:extLst>
              <a:ext uri="{FF2B5EF4-FFF2-40B4-BE49-F238E27FC236}">
                <a16:creationId xmlns:a16="http://schemas.microsoft.com/office/drawing/2014/main" id="{A8937977-6347-412F-B0AB-51F081C574C4}"/>
              </a:ext>
            </a:extLst>
          </p:cNvPr>
          <p:cNvSpPr txBox="1"/>
          <p:nvPr/>
        </p:nvSpPr>
        <p:spPr>
          <a:xfrm>
            <a:off x="2782838" y="2210485"/>
            <a:ext cx="8136904" cy="1938992"/>
          </a:xfrm>
          <a:prstGeom prst="rect">
            <a:avLst/>
          </a:prstGeom>
          <a:noFill/>
        </p:spPr>
        <p:txBody>
          <a:bodyPr wrap="square">
            <a:spAutoFit/>
          </a:bodyPr>
          <a:lstStyle/>
          <a:p>
            <a:pPr algn="just" latinLnBrk="1">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移动商城</a:t>
            </a:r>
            <a:r>
              <a:rPr lang="zh-CN" altLang="en-US" sz="2000" dirty="0">
                <a:solidFill>
                  <a:srgbClr val="595959"/>
                </a:solidFill>
                <a:latin typeface="微软雅黑" panose="020B0503020204020204" pitchFamily="34" charset="-122"/>
                <a:ea typeface="微软雅黑" panose="020B0503020204020204" pitchFamily="34" charset="-122"/>
              </a:rPr>
              <a:t>”是一个类似淘宝、京东的</a:t>
            </a:r>
            <a:r>
              <a:rPr lang="zh-CN" altLang="en-US" sz="2000" dirty="0">
                <a:solidFill>
                  <a:srgbClr val="1369B2"/>
                </a:solidFill>
                <a:latin typeface="微软雅黑" panose="020B0503020204020204" pitchFamily="34" charset="-122"/>
                <a:ea typeface="微软雅黑" panose="020B0503020204020204" pitchFamily="34" charset="-122"/>
              </a:rPr>
              <a:t>电商类</a:t>
            </a:r>
            <a:r>
              <a:rPr lang="zh-CN" altLang="en-US" sz="2000" dirty="0">
                <a:solidFill>
                  <a:srgbClr val="595959"/>
                </a:solidFill>
                <a:latin typeface="微软雅黑" panose="020B0503020204020204" pitchFamily="34" charset="-122"/>
                <a:ea typeface="微软雅黑" panose="020B0503020204020204" pitchFamily="34" charset="-122"/>
              </a:rPr>
              <a:t>移动端网站。在本项目中我们仅实现首页的相关功能，首页主要分为</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个模块，分别是</a:t>
            </a:r>
            <a:r>
              <a:rPr lang="zh-CN" altLang="en-US" sz="2000" dirty="0">
                <a:solidFill>
                  <a:srgbClr val="1369B2"/>
                </a:solidFill>
                <a:latin typeface="微软雅黑" panose="020B0503020204020204" pitchFamily="34" charset="-122"/>
                <a:ea typeface="微软雅黑" panose="020B0503020204020204" pitchFamily="34" charset="-122"/>
              </a:rPr>
              <a:t>搜索栏</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轮播图</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rPr>
              <a:t>导航栏</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商品区</a:t>
            </a:r>
            <a:r>
              <a:rPr lang="zh-CN" altLang="en-US" sz="2000" dirty="0">
                <a:solidFill>
                  <a:srgbClr val="595959"/>
                </a:solidFill>
                <a:latin typeface="微软雅黑" panose="020B0503020204020204" pitchFamily="34" charset="-122"/>
                <a:ea typeface="微软雅黑" panose="020B0503020204020204" pitchFamily="34" charset="-122"/>
              </a:rPr>
              <a:t>。实现的过程中用到了前面所学到的流式布局、视口和</a:t>
            </a:r>
            <a:r>
              <a:rPr lang="en-US" altLang="zh-CN" sz="2000" dirty="0">
                <a:solidFill>
                  <a:srgbClr val="595959"/>
                </a:solidFill>
                <a:latin typeface="微软雅黑" panose="020B0503020204020204" pitchFamily="34" charset="-122"/>
                <a:ea typeface="微软雅黑" panose="020B0503020204020204" pitchFamily="34" charset="-122"/>
              </a:rPr>
              <a:t>touch</a:t>
            </a:r>
            <a:r>
              <a:rPr lang="zh-CN" altLang="en-US" sz="2000" dirty="0">
                <a:solidFill>
                  <a:srgbClr val="595959"/>
                </a:solidFill>
                <a:latin typeface="微软雅黑" panose="020B0503020204020204" pitchFamily="34" charset="-122"/>
                <a:ea typeface="微软雅黑" panose="020B0503020204020204" pitchFamily="34" charset="-122"/>
              </a:rPr>
              <a:t>事件。</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Freeform 118">
            <a:extLst>
              <a:ext uri="{FF2B5EF4-FFF2-40B4-BE49-F238E27FC236}">
                <a16:creationId xmlns:a16="http://schemas.microsoft.com/office/drawing/2014/main" id="{E36AEA52-0270-4C9F-A3BD-8930DF13CF69}"/>
              </a:ext>
            </a:extLst>
          </p:cNvPr>
          <p:cNvSpPr>
            <a:spLocks noEditPoints="1"/>
          </p:cNvSpPr>
          <p:nvPr/>
        </p:nvSpPr>
        <p:spPr bwMode="auto">
          <a:xfrm>
            <a:off x="1330243" y="2582277"/>
            <a:ext cx="989701" cy="733744"/>
          </a:xfrm>
          <a:custGeom>
            <a:avLst/>
            <a:gdLst>
              <a:gd name="T0" fmla="*/ 246 w 694"/>
              <a:gd name="T1" fmla="*/ 424 h 516"/>
              <a:gd name="T2" fmla="*/ 271 w 694"/>
              <a:gd name="T3" fmla="*/ 401 h 516"/>
              <a:gd name="T4" fmla="*/ 263 w 694"/>
              <a:gd name="T5" fmla="*/ 416 h 516"/>
              <a:gd name="T6" fmla="*/ 252 w 694"/>
              <a:gd name="T7" fmla="*/ 434 h 516"/>
              <a:gd name="T8" fmla="*/ 256 w 694"/>
              <a:gd name="T9" fmla="*/ 446 h 516"/>
              <a:gd name="T10" fmla="*/ 272 w 694"/>
              <a:gd name="T11" fmla="*/ 451 h 516"/>
              <a:gd name="T12" fmla="*/ 310 w 694"/>
              <a:gd name="T13" fmla="*/ 443 h 516"/>
              <a:gd name="T14" fmla="*/ 334 w 694"/>
              <a:gd name="T15" fmla="*/ 443 h 516"/>
              <a:gd name="T16" fmla="*/ 360 w 694"/>
              <a:gd name="T17" fmla="*/ 441 h 516"/>
              <a:gd name="T18" fmla="*/ 361 w 694"/>
              <a:gd name="T19" fmla="*/ 451 h 516"/>
              <a:gd name="T20" fmla="*/ 363 w 694"/>
              <a:gd name="T21" fmla="*/ 471 h 516"/>
              <a:gd name="T22" fmla="*/ 372 w 694"/>
              <a:gd name="T23" fmla="*/ 478 h 516"/>
              <a:gd name="T24" fmla="*/ 393 w 694"/>
              <a:gd name="T25" fmla="*/ 473 h 516"/>
              <a:gd name="T26" fmla="*/ 420 w 694"/>
              <a:gd name="T27" fmla="*/ 452 h 516"/>
              <a:gd name="T28" fmla="*/ 386 w 694"/>
              <a:gd name="T29" fmla="*/ 447 h 516"/>
              <a:gd name="T30" fmla="*/ 390 w 694"/>
              <a:gd name="T31" fmla="*/ 433 h 516"/>
              <a:gd name="T32" fmla="*/ 385 w 694"/>
              <a:gd name="T33" fmla="*/ 420 h 516"/>
              <a:gd name="T34" fmla="*/ 371 w 694"/>
              <a:gd name="T35" fmla="*/ 416 h 516"/>
              <a:gd name="T36" fmla="*/ 351 w 694"/>
              <a:gd name="T37" fmla="*/ 421 h 516"/>
              <a:gd name="T38" fmla="*/ 334 w 694"/>
              <a:gd name="T39" fmla="*/ 414 h 516"/>
              <a:gd name="T40" fmla="*/ 295 w 694"/>
              <a:gd name="T41" fmla="*/ 424 h 516"/>
              <a:gd name="T42" fmla="*/ 296 w 694"/>
              <a:gd name="T43" fmla="*/ 410 h 516"/>
              <a:gd name="T44" fmla="*/ 295 w 694"/>
              <a:gd name="T45" fmla="*/ 394 h 516"/>
              <a:gd name="T46" fmla="*/ 277 w 694"/>
              <a:gd name="T47" fmla="*/ 391 h 516"/>
              <a:gd name="T48" fmla="*/ 219 w 694"/>
              <a:gd name="T49" fmla="*/ 423 h 516"/>
              <a:gd name="T50" fmla="*/ 488 w 694"/>
              <a:gd name="T51" fmla="*/ 248 h 516"/>
              <a:gd name="T52" fmla="*/ 484 w 694"/>
              <a:gd name="T53" fmla="*/ 335 h 516"/>
              <a:gd name="T54" fmla="*/ 549 w 694"/>
              <a:gd name="T55" fmla="*/ 329 h 516"/>
              <a:gd name="T56" fmla="*/ 582 w 694"/>
              <a:gd name="T57" fmla="*/ 252 h 516"/>
              <a:gd name="T58" fmla="*/ 466 w 694"/>
              <a:gd name="T59" fmla="*/ 427 h 516"/>
              <a:gd name="T60" fmla="*/ 474 w 694"/>
              <a:gd name="T61" fmla="*/ 379 h 516"/>
              <a:gd name="T62" fmla="*/ 487 w 694"/>
              <a:gd name="T63" fmla="*/ 366 h 516"/>
              <a:gd name="T64" fmla="*/ 500 w 694"/>
              <a:gd name="T65" fmla="*/ 379 h 516"/>
              <a:gd name="T66" fmla="*/ 491 w 694"/>
              <a:gd name="T67" fmla="*/ 392 h 516"/>
              <a:gd name="T68" fmla="*/ 528 w 694"/>
              <a:gd name="T69" fmla="*/ 394 h 516"/>
              <a:gd name="T70" fmla="*/ 641 w 694"/>
              <a:gd name="T71" fmla="*/ 77 h 516"/>
              <a:gd name="T72" fmla="*/ 629 w 694"/>
              <a:gd name="T73" fmla="*/ 146 h 516"/>
              <a:gd name="T74" fmla="*/ 608 w 694"/>
              <a:gd name="T75" fmla="*/ 205 h 516"/>
              <a:gd name="T76" fmla="*/ 620 w 694"/>
              <a:gd name="T77" fmla="*/ 220 h 516"/>
              <a:gd name="T78" fmla="*/ 630 w 694"/>
              <a:gd name="T79" fmla="*/ 201 h 516"/>
              <a:gd name="T80" fmla="*/ 678 w 694"/>
              <a:gd name="T81" fmla="*/ 90 h 516"/>
              <a:gd name="T82" fmla="*/ 645 w 694"/>
              <a:gd name="T83" fmla="*/ 43 h 516"/>
              <a:gd name="T84" fmla="*/ 635 w 694"/>
              <a:gd name="T85" fmla="*/ 9 h 516"/>
              <a:gd name="T86" fmla="*/ 613 w 694"/>
              <a:gd name="T87" fmla="*/ 0 h 516"/>
              <a:gd name="T88" fmla="*/ 583 w 694"/>
              <a:gd name="T89" fmla="*/ 18 h 516"/>
              <a:gd name="T90" fmla="*/ 555 w 694"/>
              <a:gd name="T91" fmla="*/ 65 h 516"/>
              <a:gd name="T92" fmla="*/ 501 w 694"/>
              <a:gd name="T93" fmla="*/ 209 h 516"/>
              <a:gd name="T94" fmla="*/ 626 w 694"/>
              <a:gd name="T95" fmla="*/ 130 h 516"/>
              <a:gd name="T96" fmla="*/ 88 w 694"/>
              <a:gd name="T97" fmla="*/ 204 h 516"/>
              <a:gd name="T98" fmla="*/ 88 w 694"/>
              <a:gd name="T99" fmla="*/ 251 h 516"/>
              <a:gd name="T100" fmla="*/ 88 w 694"/>
              <a:gd name="T101" fmla="*/ 251 h 516"/>
              <a:gd name="T102" fmla="*/ 265 w 694"/>
              <a:gd name="T103" fmla="*/ 324 h 516"/>
              <a:gd name="T104" fmla="*/ 494 w 694"/>
              <a:gd name="T105" fmla="*/ 129 h 516"/>
              <a:gd name="T106" fmla="*/ 584 w 694"/>
              <a:gd name="T107" fmla="*/ 482 h 516"/>
              <a:gd name="T108" fmla="*/ 600 w 694"/>
              <a:gd name="T109" fmla="*/ 304 h 516"/>
              <a:gd name="T110" fmla="*/ 617 w 694"/>
              <a:gd name="T111" fmla="*/ 264 h 516"/>
              <a:gd name="T112" fmla="*/ 620 w 694"/>
              <a:gd name="T113" fmla="*/ 516 h 516"/>
              <a:gd name="T114" fmla="*/ 0 w 694"/>
              <a:gd name="T115" fmla="*/ 50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94" h="516">
                <a:moveTo>
                  <a:pt x="204" y="433"/>
                </a:moveTo>
                <a:lnTo>
                  <a:pt x="218" y="451"/>
                </a:lnTo>
                <a:lnTo>
                  <a:pt x="228" y="443"/>
                </a:lnTo>
                <a:lnTo>
                  <a:pt x="246" y="424"/>
                </a:lnTo>
                <a:lnTo>
                  <a:pt x="257" y="413"/>
                </a:lnTo>
                <a:lnTo>
                  <a:pt x="265" y="406"/>
                </a:lnTo>
                <a:lnTo>
                  <a:pt x="269" y="404"/>
                </a:lnTo>
                <a:lnTo>
                  <a:pt x="271" y="401"/>
                </a:lnTo>
                <a:lnTo>
                  <a:pt x="273" y="401"/>
                </a:lnTo>
                <a:lnTo>
                  <a:pt x="273" y="401"/>
                </a:lnTo>
                <a:lnTo>
                  <a:pt x="270" y="407"/>
                </a:lnTo>
                <a:lnTo>
                  <a:pt x="263" y="416"/>
                </a:lnTo>
                <a:lnTo>
                  <a:pt x="259" y="420"/>
                </a:lnTo>
                <a:lnTo>
                  <a:pt x="256" y="425"/>
                </a:lnTo>
                <a:lnTo>
                  <a:pt x="253" y="430"/>
                </a:lnTo>
                <a:lnTo>
                  <a:pt x="252" y="434"/>
                </a:lnTo>
                <a:lnTo>
                  <a:pt x="252" y="438"/>
                </a:lnTo>
                <a:lnTo>
                  <a:pt x="252" y="441"/>
                </a:lnTo>
                <a:lnTo>
                  <a:pt x="255" y="444"/>
                </a:lnTo>
                <a:lnTo>
                  <a:pt x="256" y="446"/>
                </a:lnTo>
                <a:lnTo>
                  <a:pt x="259" y="447"/>
                </a:lnTo>
                <a:lnTo>
                  <a:pt x="263" y="448"/>
                </a:lnTo>
                <a:lnTo>
                  <a:pt x="268" y="450"/>
                </a:lnTo>
                <a:lnTo>
                  <a:pt x="272" y="451"/>
                </a:lnTo>
                <a:lnTo>
                  <a:pt x="283" y="450"/>
                </a:lnTo>
                <a:lnTo>
                  <a:pt x="292" y="448"/>
                </a:lnTo>
                <a:lnTo>
                  <a:pt x="302" y="446"/>
                </a:lnTo>
                <a:lnTo>
                  <a:pt x="310" y="443"/>
                </a:lnTo>
                <a:lnTo>
                  <a:pt x="323" y="439"/>
                </a:lnTo>
                <a:lnTo>
                  <a:pt x="331" y="438"/>
                </a:lnTo>
                <a:lnTo>
                  <a:pt x="332" y="440"/>
                </a:lnTo>
                <a:lnTo>
                  <a:pt x="334" y="443"/>
                </a:lnTo>
                <a:lnTo>
                  <a:pt x="338" y="445"/>
                </a:lnTo>
                <a:lnTo>
                  <a:pt x="341" y="446"/>
                </a:lnTo>
                <a:lnTo>
                  <a:pt x="351" y="445"/>
                </a:lnTo>
                <a:lnTo>
                  <a:pt x="360" y="441"/>
                </a:lnTo>
                <a:lnTo>
                  <a:pt x="364" y="440"/>
                </a:lnTo>
                <a:lnTo>
                  <a:pt x="364" y="443"/>
                </a:lnTo>
                <a:lnTo>
                  <a:pt x="364" y="443"/>
                </a:lnTo>
                <a:lnTo>
                  <a:pt x="361" y="451"/>
                </a:lnTo>
                <a:lnTo>
                  <a:pt x="360" y="457"/>
                </a:lnTo>
                <a:lnTo>
                  <a:pt x="360" y="462"/>
                </a:lnTo>
                <a:lnTo>
                  <a:pt x="361" y="467"/>
                </a:lnTo>
                <a:lnTo>
                  <a:pt x="363" y="471"/>
                </a:lnTo>
                <a:lnTo>
                  <a:pt x="365" y="473"/>
                </a:lnTo>
                <a:lnTo>
                  <a:pt x="367" y="475"/>
                </a:lnTo>
                <a:lnTo>
                  <a:pt x="370" y="477"/>
                </a:lnTo>
                <a:lnTo>
                  <a:pt x="372" y="478"/>
                </a:lnTo>
                <a:lnTo>
                  <a:pt x="376" y="477"/>
                </a:lnTo>
                <a:lnTo>
                  <a:pt x="379" y="477"/>
                </a:lnTo>
                <a:lnTo>
                  <a:pt x="384" y="475"/>
                </a:lnTo>
                <a:lnTo>
                  <a:pt x="393" y="473"/>
                </a:lnTo>
                <a:lnTo>
                  <a:pt x="404" y="473"/>
                </a:lnTo>
                <a:lnTo>
                  <a:pt x="413" y="474"/>
                </a:lnTo>
                <a:lnTo>
                  <a:pt x="417" y="474"/>
                </a:lnTo>
                <a:lnTo>
                  <a:pt x="420" y="452"/>
                </a:lnTo>
                <a:lnTo>
                  <a:pt x="408" y="451"/>
                </a:lnTo>
                <a:lnTo>
                  <a:pt x="385" y="451"/>
                </a:lnTo>
                <a:lnTo>
                  <a:pt x="386" y="450"/>
                </a:lnTo>
                <a:lnTo>
                  <a:pt x="386" y="447"/>
                </a:lnTo>
                <a:lnTo>
                  <a:pt x="386" y="447"/>
                </a:lnTo>
                <a:lnTo>
                  <a:pt x="387" y="443"/>
                </a:lnTo>
                <a:lnTo>
                  <a:pt x="388" y="438"/>
                </a:lnTo>
                <a:lnTo>
                  <a:pt x="390" y="433"/>
                </a:lnTo>
                <a:lnTo>
                  <a:pt x="390" y="428"/>
                </a:lnTo>
                <a:lnTo>
                  <a:pt x="388" y="425"/>
                </a:lnTo>
                <a:lnTo>
                  <a:pt x="387" y="423"/>
                </a:lnTo>
                <a:lnTo>
                  <a:pt x="385" y="420"/>
                </a:lnTo>
                <a:lnTo>
                  <a:pt x="383" y="418"/>
                </a:lnTo>
                <a:lnTo>
                  <a:pt x="380" y="417"/>
                </a:lnTo>
                <a:lnTo>
                  <a:pt x="377" y="416"/>
                </a:lnTo>
                <a:lnTo>
                  <a:pt x="371" y="416"/>
                </a:lnTo>
                <a:lnTo>
                  <a:pt x="365" y="417"/>
                </a:lnTo>
                <a:lnTo>
                  <a:pt x="359" y="418"/>
                </a:lnTo>
                <a:lnTo>
                  <a:pt x="352" y="420"/>
                </a:lnTo>
                <a:lnTo>
                  <a:pt x="351" y="421"/>
                </a:lnTo>
                <a:lnTo>
                  <a:pt x="349" y="421"/>
                </a:lnTo>
                <a:lnTo>
                  <a:pt x="344" y="418"/>
                </a:lnTo>
                <a:lnTo>
                  <a:pt x="339" y="416"/>
                </a:lnTo>
                <a:lnTo>
                  <a:pt x="334" y="414"/>
                </a:lnTo>
                <a:lnTo>
                  <a:pt x="329" y="414"/>
                </a:lnTo>
                <a:lnTo>
                  <a:pt x="316" y="417"/>
                </a:lnTo>
                <a:lnTo>
                  <a:pt x="303" y="420"/>
                </a:lnTo>
                <a:lnTo>
                  <a:pt x="295" y="424"/>
                </a:lnTo>
                <a:lnTo>
                  <a:pt x="285" y="426"/>
                </a:lnTo>
                <a:lnTo>
                  <a:pt x="289" y="421"/>
                </a:lnTo>
                <a:lnTo>
                  <a:pt x="293" y="416"/>
                </a:lnTo>
                <a:lnTo>
                  <a:pt x="296" y="410"/>
                </a:lnTo>
                <a:lnTo>
                  <a:pt x="297" y="403"/>
                </a:lnTo>
                <a:lnTo>
                  <a:pt x="297" y="399"/>
                </a:lnTo>
                <a:lnTo>
                  <a:pt x="296" y="397"/>
                </a:lnTo>
                <a:lnTo>
                  <a:pt x="295" y="394"/>
                </a:lnTo>
                <a:lnTo>
                  <a:pt x="293" y="392"/>
                </a:lnTo>
                <a:lnTo>
                  <a:pt x="289" y="390"/>
                </a:lnTo>
                <a:lnTo>
                  <a:pt x="283" y="390"/>
                </a:lnTo>
                <a:lnTo>
                  <a:pt x="277" y="391"/>
                </a:lnTo>
                <a:lnTo>
                  <a:pt x="269" y="394"/>
                </a:lnTo>
                <a:lnTo>
                  <a:pt x="260" y="398"/>
                </a:lnTo>
                <a:lnTo>
                  <a:pt x="251" y="403"/>
                </a:lnTo>
                <a:lnTo>
                  <a:pt x="219" y="423"/>
                </a:lnTo>
                <a:lnTo>
                  <a:pt x="204" y="433"/>
                </a:lnTo>
                <a:close/>
                <a:moveTo>
                  <a:pt x="582" y="252"/>
                </a:moveTo>
                <a:lnTo>
                  <a:pt x="496" y="221"/>
                </a:lnTo>
                <a:lnTo>
                  <a:pt x="488" y="248"/>
                </a:lnTo>
                <a:lnTo>
                  <a:pt x="481" y="275"/>
                </a:lnTo>
                <a:lnTo>
                  <a:pt x="473" y="302"/>
                </a:lnTo>
                <a:lnTo>
                  <a:pt x="466" y="329"/>
                </a:lnTo>
                <a:lnTo>
                  <a:pt x="484" y="335"/>
                </a:lnTo>
                <a:lnTo>
                  <a:pt x="502" y="342"/>
                </a:lnTo>
                <a:lnTo>
                  <a:pt x="520" y="347"/>
                </a:lnTo>
                <a:lnTo>
                  <a:pt x="538" y="355"/>
                </a:lnTo>
                <a:lnTo>
                  <a:pt x="549" y="329"/>
                </a:lnTo>
                <a:lnTo>
                  <a:pt x="561" y="304"/>
                </a:lnTo>
                <a:lnTo>
                  <a:pt x="572" y="278"/>
                </a:lnTo>
                <a:lnTo>
                  <a:pt x="582" y="252"/>
                </a:lnTo>
                <a:lnTo>
                  <a:pt x="582" y="252"/>
                </a:lnTo>
                <a:close/>
                <a:moveTo>
                  <a:pt x="466" y="339"/>
                </a:moveTo>
                <a:lnTo>
                  <a:pt x="447" y="363"/>
                </a:lnTo>
                <a:lnTo>
                  <a:pt x="458" y="424"/>
                </a:lnTo>
                <a:lnTo>
                  <a:pt x="466" y="427"/>
                </a:lnTo>
                <a:lnTo>
                  <a:pt x="479" y="390"/>
                </a:lnTo>
                <a:lnTo>
                  <a:pt x="476" y="387"/>
                </a:lnTo>
                <a:lnTo>
                  <a:pt x="475" y="384"/>
                </a:lnTo>
                <a:lnTo>
                  <a:pt x="474" y="379"/>
                </a:lnTo>
                <a:lnTo>
                  <a:pt x="475" y="376"/>
                </a:lnTo>
                <a:lnTo>
                  <a:pt x="478" y="371"/>
                </a:lnTo>
                <a:lnTo>
                  <a:pt x="482" y="367"/>
                </a:lnTo>
                <a:lnTo>
                  <a:pt x="487" y="366"/>
                </a:lnTo>
                <a:lnTo>
                  <a:pt x="492" y="367"/>
                </a:lnTo>
                <a:lnTo>
                  <a:pt x="496" y="370"/>
                </a:lnTo>
                <a:lnTo>
                  <a:pt x="499" y="374"/>
                </a:lnTo>
                <a:lnTo>
                  <a:pt x="500" y="379"/>
                </a:lnTo>
                <a:lnTo>
                  <a:pt x="500" y="384"/>
                </a:lnTo>
                <a:lnTo>
                  <a:pt x="498" y="387"/>
                </a:lnTo>
                <a:lnTo>
                  <a:pt x="495" y="391"/>
                </a:lnTo>
                <a:lnTo>
                  <a:pt x="491" y="392"/>
                </a:lnTo>
                <a:lnTo>
                  <a:pt x="487" y="393"/>
                </a:lnTo>
                <a:lnTo>
                  <a:pt x="474" y="430"/>
                </a:lnTo>
                <a:lnTo>
                  <a:pt x="482" y="433"/>
                </a:lnTo>
                <a:lnTo>
                  <a:pt x="528" y="394"/>
                </a:lnTo>
                <a:lnTo>
                  <a:pt x="529" y="363"/>
                </a:lnTo>
                <a:lnTo>
                  <a:pt x="466" y="339"/>
                </a:lnTo>
                <a:close/>
                <a:moveTo>
                  <a:pt x="637" y="93"/>
                </a:moveTo>
                <a:lnTo>
                  <a:pt x="641" y="77"/>
                </a:lnTo>
                <a:lnTo>
                  <a:pt x="644" y="63"/>
                </a:lnTo>
                <a:lnTo>
                  <a:pt x="665" y="72"/>
                </a:lnTo>
                <a:lnTo>
                  <a:pt x="649" y="104"/>
                </a:lnTo>
                <a:lnTo>
                  <a:pt x="629" y="146"/>
                </a:lnTo>
                <a:lnTo>
                  <a:pt x="621" y="167"/>
                </a:lnTo>
                <a:lnTo>
                  <a:pt x="613" y="184"/>
                </a:lnTo>
                <a:lnTo>
                  <a:pt x="609" y="197"/>
                </a:lnTo>
                <a:lnTo>
                  <a:pt x="608" y="205"/>
                </a:lnTo>
                <a:lnTo>
                  <a:pt x="610" y="211"/>
                </a:lnTo>
                <a:lnTo>
                  <a:pt x="614" y="215"/>
                </a:lnTo>
                <a:lnTo>
                  <a:pt x="616" y="218"/>
                </a:lnTo>
                <a:lnTo>
                  <a:pt x="620" y="220"/>
                </a:lnTo>
                <a:lnTo>
                  <a:pt x="626" y="222"/>
                </a:lnTo>
                <a:lnTo>
                  <a:pt x="628" y="222"/>
                </a:lnTo>
                <a:lnTo>
                  <a:pt x="633" y="201"/>
                </a:lnTo>
                <a:lnTo>
                  <a:pt x="630" y="201"/>
                </a:lnTo>
                <a:lnTo>
                  <a:pt x="627" y="200"/>
                </a:lnTo>
                <a:lnTo>
                  <a:pt x="636" y="177"/>
                </a:lnTo>
                <a:lnTo>
                  <a:pt x="657" y="133"/>
                </a:lnTo>
                <a:lnTo>
                  <a:pt x="678" y="90"/>
                </a:lnTo>
                <a:lnTo>
                  <a:pt x="688" y="70"/>
                </a:lnTo>
                <a:lnTo>
                  <a:pt x="694" y="61"/>
                </a:lnTo>
                <a:lnTo>
                  <a:pt x="683" y="56"/>
                </a:lnTo>
                <a:lnTo>
                  <a:pt x="645" y="43"/>
                </a:lnTo>
                <a:lnTo>
                  <a:pt x="644" y="33"/>
                </a:lnTo>
                <a:lnTo>
                  <a:pt x="642" y="24"/>
                </a:lnTo>
                <a:lnTo>
                  <a:pt x="638" y="15"/>
                </a:lnTo>
                <a:lnTo>
                  <a:pt x="635" y="9"/>
                </a:lnTo>
                <a:lnTo>
                  <a:pt x="630" y="5"/>
                </a:lnTo>
                <a:lnTo>
                  <a:pt x="624" y="2"/>
                </a:lnTo>
                <a:lnTo>
                  <a:pt x="618" y="0"/>
                </a:lnTo>
                <a:lnTo>
                  <a:pt x="613" y="0"/>
                </a:lnTo>
                <a:lnTo>
                  <a:pt x="606" y="2"/>
                </a:lnTo>
                <a:lnTo>
                  <a:pt x="599" y="6"/>
                </a:lnTo>
                <a:lnTo>
                  <a:pt x="591" y="11"/>
                </a:lnTo>
                <a:lnTo>
                  <a:pt x="583" y="18"/>
                </a:lnTo>
                <a:lnTo>
                  <a:pt x="576" y="27"/>
                </a:lnTo>
                <a:lnTo>
                  <a:pt x="569" y="38"/>
                </a:lnTo>
                <a:lnTo>
                  <a:pt x="562" y="49"/>
                </a:lnTo>
                <a:lnTo>
                  <a:pt x="555" y="65"/>
                </a:lnTo>
                <a:lnTo>
                  <a:pt x="540" y="101"/>
                </a:lnTo>
                <a:lnTo>
                  <a:pt x="526" y="137"/>
                </a:lnTo>
                <a:lnTo>
                  <a:pt x="513" y="174"/>
                </a:lnTo>
                <a:lnTo>
                  <a:pt x="501" y="209"/>
                </a:lnTo>
                <a:lnTo>
                  <a:pt x="587" y="241"/>
                </a:lnTo>
                <a:lnTo>
                  <a:pt x="601" y="204"/>
                </a:lnTo>
                <a:lnTo>
                  <a:pt x="614" y="168"/>
                </a:lnTo>
                <a:lnTo>
                  <a:pt x="626" y="130"/>
                </a:lnTo>
                <a:lnTo>
                  <a:pt x="637" y="93"/>
                </a:lnTo>
                <a:lnTo>
                  <a:pt x="637" y="93"/>
                </a:lnTo>
                <a:close/>
                <a:moveTo>
                  <a:pt x="88" y="178"/>
                </a:moveTo>
                <a:lnTo>
                  <a:pt x="88" y="204"/>
                </a:lnTo>
                <a:lnTo>
                  <a:pt x="390" y="204"/>
                </a:lnTo>
                <a:lnTo>
                  <a:pt x="390" y="178"/>
                </a:lnTo>
                <a:lnTo>
                  <a:pt x="88" y="178"/>
                </a:lnTo>
                <a:close/>
                <a:moveTo>
                  <a:pt x="88" y="251"/>
                </a:moveTo>
                <a:lnTo>
                  <a:pt x="88" y="277"/>
                </a:lnTo>
                <a:lnTo>
                  <a:pt x="390" y="277"/>
                </a:lnTo>
                <a:lnTo>
                  <a:pt x="390" y="251"/>
                </a:lnTo>
                <a:lnTo>
                  <a:pt x="88" y="251"/>
                </a:lnTo>
                <a:close/>
                <a:moveTo>
                  <a:pt x="88" y="324"/>
                </a:moveTo>
                <a:lnTo>
                  <a:pt x="88" y="350"/>
                </a:lnTo>
                <a:lnTo>
                  <a:pt x="265" y="350"/>
                </a:lnTo>
                <a:lnTo>
                  <a:pt x="265" y="324"/>
                </a:lnTo>
                <a:lnTo>
                  <a:pt x="88" y="324"/>
                </a:lnTo>
                <a:close/>
                <a:moveTo>
                  <a:pt x="18" y="112"/>
                </a:moveTo>
                <a:lnTo>
                  <a:pt x="501" y="112"/>
                </a:lnTo>
                <a:lnTo>
                  <a:pt x="494" y="129"/>
                </a:lnTo>
                <a:lnTo>
                  <a:pt x="487" y="147"/>
                </a:lnTo>
                <a:lnTo>
                  <a:pt x="34" y="147"/>
                </a:lnTo>
                <a:lnTo>
                  <a:pt x="34" y="482"/>
                </a:lnTo>
                <a:lnTo>
                  <a:pt x="584" y="482"/>
                </a:lnTo>
                <a:lnTo>
                  <a:pt x="584" y="340"/>
                </a:lnTo>
                <a:lnTo>
                  <a:pt x="590" y="329"/>
                </a:lnTo>
                <a:lnTo>
                  <a:pt x="595" y="317"/>
                </a:lnTo>
                <a:lnTo>
                  <a:pt x="600" y="304"/>
                </a:lnTo>
                <a:lnTo>
                  <a:pt x="606" y="292"/>
                </a:lnTo>
                <a:lnTo>
                  <a:pt x="606" y="292"/>
                </a:lnTo>
                <a:lnTo>
                  <a:pt x="616" y="266"/>
                </a:lnTo>
                <a:lnTo>
                  <a:pt x="617" y="264"/>
                </a:lnTo>
                <a:lnTo>
                  <a:pt x="618" y="264"/>
                </a:lnTo>
                <a:lnTo>
                  <a:pt x="620" y="264"/>
                </a:lnTo>
                <a:lnTo>
                  <a:pt x="620" y="500"/>
                </a:lnTo>
                <a:lnTo>
                  <a:pt x="620" y="516"/>
                </a:lnTo>
                <a:lnTo>
                  <a:pt x="602" y="516"/>
                </a:lnTo>
                <a:lnTo>
                  <a:pt x="18" y="516"/>
                </a:lnTo>
                <a:lnTo>
                  <a:pt x="0" y="516"/>
                </a:lnTo>
                <a:lnTo>
                  <a:pt x="0" y="500"/>
                </a:lnTo>
                <a:lnTo>
                  <a:pt x="0" y="129"/>
                </a:lnTo>
                <a:lnTo>
                  <a:pt x="0" y="112"/>
                </a:lnTo>
                <a:lnTo>
                  <a:pt x="18" y="112"/>
                </a:lnTo>
                <a:close/>
              </a:path>
            </a:pathLst>
          </a:custGeom>
          <a:solidFill>
            <a:schemeClr val="accent1"/>
          </a:solidFill>
          <a:ln>
            <a:noFill/>
          </a:ln>
        </p:spPr>
        <p:txBody>
          <a:bodyPr vert="horz" wrap="square" lIns="121920" tIns="60960" rIns="121920" bIns="60960" numCol="1" anchor="t" anchorCtr="0" compatLnSpc="1"/>
          <a:lstStyle/>
          <a:p>
            <a:endParaRPr lang="zh-CN" altLang="en-US" sz="2400"/>
          </a:p>
        </p:txBody>
      </p:sp>
    </p:spTree>
    <p:extLst>
      <p:ext uri="{BB962C8B-B14F-4D97-AF65-F5344CB8AC3E}">
        <p14:creationId xmlns:p14="http://schemas.microsoft.com/office/powerpoint/2010/main" val="39680902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pic>
        <p:nvPicPr>
          <p:cNvPr id="3" name="Picture 2" descr="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3313"/>
          <a:stretch/>
        </p:blipFill>
        <p:spPr bwMode="auto">
          <a:xfrm>
            <a:off x="2646633" y="1852918"/>
            <a:ext cx="2676129" cy="449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76"/>
          <p:cNvSpPr txBox="1"/>
          <p:nvPr/>
        </p:nvSpPr>
        <p:spPr>
          <a:xfrm>
            <a:off x="1142277" y="1095921"/>
            <a:ext cx="3008713"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首页</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页面效果</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5" name="Picture 2" descr="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55628"/>
          <a:stretch/>
        </p:blipFill>
        <p:spPr bwMode="auto">
          <a:xfrm>
            <a:off x="5807174" y="2390480"/>
            <a:ext cx="2600498" cy="341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46261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76"/>
          <p:cNvSpPr txBox="1"/>
          <p:nvPr/>
        </p:nvSpPr>
        <p:spPr>
          <a:xfrm>
            <a:off x="1142277" y="1095921"/>
            <a:ext cx="3008713"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首页</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功能模块</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7703FD65-B89F-412B-8A06-6737B2815C80}"/>
              </a:ext>
            </a:extLst>
          </p:cNvPr>
          <p:cNvSpPr txBox="1"/>
          <p:nvPr/>
        </p:nvSpPr>
        <p:spPr>
          <a:xfrm>
            <a:off x="1053976" y="1701602"/>
            <a:ext cx="10585846"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首页由</a:t>
            </a:r>
            <a:r>
              <a:rPr lang="en-US" altLang="zh-CN" dirty="0">
                <a:solidFill>
                  <a:srgbClr val="1369B2"/>
                </a:solidFill>
              </a:rPr>
              <a:t>4</a:t>
            </a:r>
            <a:r>
              <a:rPr lang="zh-CN" altLang="en-US" dirty="0">
                <a:solidFill>
                  <a:srgbClr val="1369B2"/>
                </a:solidFill>
              </a:rPr>
              <a:t>个</a:t>
            </a:r>
            <a:r>
              <a:rPr lang="zh-CN" altLang="en-US" dirty="0"/>
              <a:t>功能模块组成，分别是</a:t>
            </a:r>
            <a:r>
              <a:rPr lang="zh-CN" altLang="en-US" dirty="0">
                <a:solidFill>
                  <a:srgbClr val="1369B2"/>
                </a:solidFill>
              </a:rPr>
              <a:t>搜索栏</a:t>
            </a:r>
            <a:r>
              <a:rPr lang="zh-CN" altLang="en-US" dirty="0"/>
              <a:t>、</a:t>
            </a:r>
            <a:r>
              <a:rPr lang="zh-CN" altLang="en-US" dirty="0">
                <a:solidFill>
                  <a:srgbClr val="1369B2"/>
                </a:solidFill>
              </a:rPr>
              <a:t>轮播图</a:t>
            </a:r>
            <a:r>
              <a:rPr lang="zh-CN" altLang="en-US" dirty="0"/>
              <a:t>、</a:t>
            </a:r>
            <a:r>
              <a:rPr lang="zh-CN" altLang="en-US" dirty="0">
                <a:solidFill>
                  <a:srgbClr val="1369B2"/>
                </a:solidFill>
              </a:rPr>
              <a:t>导航栏</a:t>
            </a:r>
            <a:r>
              <a:rPr lang="zh-CN" altLang="en-US" dirty="0"/>
              <a:t>和</a:t>
            </a:r>
            <a:r>
              <a:rPr lang="zh-CN" altLang="en-US" dirty="0">
                <a:solidFill>
                  <a:srgbClr val="1369B2"/>
                </a:solidFill>
              </a:rPr>
              <a:t>商品区</a:t>
            </a:r>
            <a:r>
              <a:rPr lang="zh-CN" altLang="en-US" dirty="0"/>
              <a:t>。</a:t>
            </a:r>
          </a:p>
        </p:txBody>
      </p:sp>
      <p:pic>
        <p:nvPicPr>
          <p:cNvPr id="18" name="Picture 2" descr="1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0990" y="2277666"/>
            <a:ext cx="3791049" cy="4286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spTree>
    <p:extLst>
      <p:ext uri="{BB962C8B-B14F-4D97-AF65-F5344CB8AC3E}">
        <p14:creationId xmlns:p14="http://schemas.microsoft.com/office/powerpoint/2010/main" val="333174464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sp>
        <p:nvSpPr>
          <p:cNvPr id="8" name="文本框 7">
            <a:extLst>
              <a:ext uri="{FF2B5EF4-FFF2-40B4-BE49-F238E27FC236}">
                <a16:creationId xmlns:a16="http://schemas.microsoft.com/office/drawing/2014/main" id="{7703FD65-B89F-412B-8A06-6737B2815C80}"/>
              </a:ext>
            </a:extLst>
          </p:cNvPr>
          <p:cNvSpPr txBox="1"/>
          <p:nvPr/>
        </p:nvSpPr>
        <p:spPr>
          <a:xfrm>
            <a:off x="982638" y="1701602"/>
            <a:ext cx="10585846"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a:t>为了方便读者进行项目的搭建，在</a:t>
            </a:r>
            <a:r>
              <a:rPr lang="en-US" altLang="zh-CN" dirty="0" err="1">
                <a:solidFill>
                  <a:srgbClr val="1369B2"/>
                </a:solidFill>
              </a:rPr>
              <a:t>shopM</a:t>
            </a:r>
            <a:r>
              <a:rPr lang="zh-CN" altLang="zh-CN" dirty="0"/>
              <a:t>文件夹中创建项目的其他目录和文件</a:t>
            </a:r>
            <a:r>
              <a:rPr lang="zh-CN" altLang="en-US" dirty="0"/>
              <a:t>。</a:t>
            </a:r>
          </a:p>
        </p:txBody>
      </p:sp>
      <p:pic>
        <p:nvPicPr>
          <p:cNvPr id="1024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094" y="2565698"/>
            <a:ext cx="1944216" cy="3034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76"/>
          <p:cNvSpPr txBox="1"/>
          <p:nvPr/>
        </p:nvSpPr>
        <p:spPr>
          <a:xfrm>
            <a:off x="1142277" y="1095921"/>
            <a:ext cx="3008713"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首页</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目录结构</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2359983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项目分析</a:t>
            </a:r>
          </a:p>
        </p:txBody>
      </p:sp>
      <p:sp>
        <p:nvSpPr>
          <p:cNvPr id="6" name="TextBox 4"/>
          <p:cNvSpPr txBox="1">
            <a:spLocks noChangeArrowheads="1"/>
          </p:cNvSpPr>
          <p:nvPr/>
        </p:nvSpPr>
        <p:spPr bwMode="auto">
          <a:xfrm>
            <a:off x="262558" y="1269554"/>
            <a:ext cx="11305256"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zh-CN" sz="2000" dirty="0">
                <a:solidFill>
                  <a:srgbClr val="595959"/>
                </a:solidFill>
                <a:latin typeface="微软雅黑" panose="020B0503020204020204" pitchFamily="34" charset="-122"/>
                <a:ea typeface="微软雅黑" panose="020B0503020204020204" pitchFamily="34" charset="-122"/>
              </a:rPr>
              <a:t>下面对项目</a:t>
            </a:r>
            <a:r>
              <a:rPr lang="zh-CN" altLang="zh-CN" sz="2000" dirty="0">
                <a:solidFill>
                  <a:srgbClr val="1369B2"/>
                </a:solidFill>
                <a:latin typeface="微软雅黑" panose="020B0503020204020204" pitchFamily="34" charset="-122"/>
                <a:ea typeface="微软雅黑" panose="020B0503020204020204" pitchFamily="34" charset="-122"/>
              </a:rPr>
              <a:t>目录结构</a:t>
            </a:r>
            <a:r>
              <a:rPr lang="zh-CN" altLang="zh-CN" sz="2000" dirty="0">
                <a:solidFill>
                  <a:srgbClr val="595959"/>
                </a:solidFill>
                <a:latin typeface="微软雅黑" panose="020B0503020204020204" pitchFamily="34" charset="-122"/>
                <a:ea typeface="微软雅黑" panose="020B0503020204020204" pitchFamily="34" charset="-122"/>
              </a:rPr>
              <a:t>中的</a:t>
            </a:r>
            <a:r>
              <a:rPr lang="zh-CN" altLang="zh-CN" sz="2000" dirty="0">
                <a:solidFill>
                  <a:srgbClr val="1369B2"/>
                </a:solidFill>
                <a:latin typeface="微软雅黑" panose="020B0503020204020204" pitchFamily="34" charset="-122"/>
                <a:ea typeface="微软雅黑" panose="020B0503020204020204" pitchFamily="34" charset="-122"/>
              </a:rPr>
              <a:t>各个目录</a:t>
            </a:r>
            <a:r>
              <a:rPr lang="zh-CN" altLang="zh-CN" sz="2000" dirty="0">
                <a:solidFill>
                  <a:srgbClr val="595959"/>
                </a:solidFill>
                <a:latin typeface="微软雅黑" panose="020B0503020204020204" pitchFamily="34" charset="-122"/>
                <a:ea typeface="微软雅黑" panose="020B0503020204020204" pitchFamily="34" charset="-122"/>
              </a:rPr>
              <a:t>及</a:t>
            </a:r>
            <a:r>
              <a:rPr lang="zh-CN" altLang="zh-CN" sz="2000" dirty="0">
                <a:solidFill>
                  <a:srgbClr val="1369B2"/>
                </a:solidFill>
                <a:latin typeface="微软雅黑" panose="020B0503020204020204" pitchFamily="34" charset="-122"/>
                <a:ea typeface="微软雅黑" panose="020B0503020204020204" pitchFamily="34" charset="-122"/>
              </a:rPr>
              <a:t>文件</a:t>
            </a:r>
            <a:r>
              <a:rPr lang="zh-CN" altLang="zh-CN" sz="2000" dirty="0">
                <a:solidFill>
                  <a:srgbClr val="595959"/>
                </a:solidFill>
                <a:latin typeface="微软雅黑" panose="020B0503020204020204" pitchFamily="34" charset="-122"/>
                <a:ea typeface="微软雅黑" panose="020B0503020204020204" pitchFamily="34" charset="-122"/>
              </a:rPr>
              <a:t>进行说明</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609600" lvl="1" indent="0">
              <a:lnSpc>
                <a:spcPct val="150000"/>
              </a:lnSpc>
              <a:buClr>
                <a:schemeClr val="tx1"/>
              </a:buClr>
            </a:pPr>
            <a:endParaRPr lang="en-US" altLang="zh-CN" sz="18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Clr>
                <a:srgbClr val="595959"/>
              </a:buClr>
              <a:buFont typeface="+mj-lt"/>
              <a:buAutoNum type="arabicPeriod"/>
            </a:pPr>
            <a:r>
              <a:rPr lang="en-US" altLang="zh-CN" sz="2000" dirty="0" err="1">
                <a:solidFill>
                  <a:srgbClr val="1369B2"/>
                </a:solidFill>
                <a:latin typeface="微软雅黑" panose="020B0503020204020204" pitchFamily="34" charset="-122"/>
                <a:ea typeface="微软雅黑" panose="020B0503020204020204" pitchFamily="34" charset="-122"/>
                <a:sym typeface="+mn-ea"/>
              </a:rPr>
              <a:t>shopM</a:t>
            </a:r>
            <a:r>
              <a:rPr lang="zh-CN" altLang="en-US" sz="2000" dirty="0">
                <a:solidFill>
                  <a:srgbClr val="595959"/>
                </a:solidFill>
                <a:latin typeface="微软雅黑" panose="020B0503020204020204" pitchFamily="34" charset="-122"/>
                <a:ea typeface="微软雅黑" panose="020B0503020204020204" pitchFamily="34" charset="-122"/>
                <a:sym typeface="+mn-ea"/>
              </a:rPr>
              <a:t>：项目根目录，在该目录下包含</a:t>
            </a:r>
            <a:r>
              <a:rPr lang="en-US" altLang="zh-CN" sz="2000" dirty="0" err="1">
                <a:solidFill>
                  <a:srgbClr val="595959"/>
                </a:solidFill>
                <a:latin typeface="微软雅黑" panose="020B0503020204020204" pitchFamily="34" charset="-122"/>
                <a:ea typeface="微软雅黑" panose="020B0503020204020204" pitchFamily="34" charset="-122"/>
                <a:sym typeface="+mn-ea"/>
              </a:rPr>
              <a:t>css</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images</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js</a:t>
            </a:r>
            <a:r>
              <a:rPr lang="zh-CN" altLang="en-US" sz="2000" dirty="0">
                <a:solidFill>
                  <a:srgbClr val="595959"/>
                </a:solidFill>
                <a:latin typeface="微软雅黑" panose="020B0503020204020204" pitchFamily="34" charset="-122"/>
                <a:ea typeface="微软雅黑" panose="020B0503020204020204" pitchFamily="34" charset="-122"/>
                <a:sym typeface="+mn-ea"/>
              </a:rPr>
              <a:t>目录，以及</a:t>
            </a:r>
            <a:r>
              <a:rPr lang="en-US" altLang="zh-CN" sz="2000" dirty="0">
                <a:solidFill>
                  <a:srgbClr val="595959"/>
                </a:solidFill>
                <a:latin typeface="微软雅黑" panose="020B0503020204020204" pitchFamily="34" charset="-122"/>
                <a:ea typeface="微软雅黑" panose="020B0503020204020204" pitchFamily="34" charset="-122"/>
                <a:sym typeface="+mn-ea"/>
              </a:rPr>
              <a:t>index.html</a:t>
            </a:r>
            <a:r>
              <a:rPr lang="zh-CN" altLang="en-US" sz="2000" dirty="0">
                <a:solidFill>
                  <a:srgbClr val="595959"/>
                </a:solidFill>
                <a:latin typeface="微软雅黑" panose="020B0503020204020204" pitchFamily="34" charset="-122"/>
                <a:ea typeface="微软雅黑" panose="020B0503020204020204" pitchFamily="34" charset="-122"/>
                <a:sym typeface="+mn-ea"/>
              </a:rPr>
              <a:t>文件。</a:t>
            </a:r>
          </a:p>
          <a:p>
            <a:pPr marL="1066800" lvl="1" indent="-457200">
              <a:lnSpc>
                <a:spcPct val="150000"/>
              </a:lnSpc>
              <a:buClr>
                <a:srgbClr val="595959"/>
              </a:buClr>
              <a:buFont typeface="+mj-lt"/>
              <a:buAutoNum type="arabicPeriod"/>
            </a:pPr>
            <a:r>
              <a:rPr lang="en-US" altLang="zh-CN" sz="2000" dirty="0" err="1">
                <a:solidFill>
                  <a:srgbClr val="1369B2"/>
                </a:solidFill>
                <a:latin typeface="微软雅黑" panose="020B0503020204020204" pitchFamily="34" charset="-122"/>
                <a:ea typeface="微软雅黑" panose="020B0503020204020204" pitchFamily="34" charset="-122"/>
                <a:sym typeface="+mn-ea"/>
              </a:rPr>
              <a:t>css</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css</a:t>
            </a:r>
            <a:r>
              <a:rPr lang="zh-CN" altLang="en-US" sz="2000" dirty="0">
                <a:solidFill>
                  <a:srgbClr val="595959"/>
                </a:solidFill>
                <a:latin typeface="微软雅黑" panose="020B0503020204020204" pitchFamily="34" charset="-122"/>
                <a:ea typeface="微软雅黑" panose="020B0503020204020204" pitchFamily="34" charset="-122"/>
                <a:sym typeface="+mn-ea"/>
              </a:rPr>
              <a:t>文件目录，该目录下存放</a:t>
            </a:r>
            <a:r>
              <a:rPr lang="en-US" altLang="zh-CN" sz="2000" dirty="0">
                <a:solidFill>
                  <a:srgbClr val="595959"/>
                </a:solidFill>
                <a:latin typeface="微软雅黑" panose="020B0503020204020204" pitchFamily="34" charset="-122"/>
                <a:ea typeface="微软雅黑" panose="020B0503020204020204" pitchFamily="34" charset="-122"/>
                <a:sym typeface="+mn-ea"/>
              </a:rPr>
              <a:t>CSS</a:t>
            </a:r>
            <a:r>
              <a:rPr lang="zh-CN" altLang="en-US" sz="2000" dirty="0">
                <a:solidFill>
                  <a:srgbClr val="595959"/>
                </a:solidFill>
                <a:latin typeface="微软雅黑" panose="020B0503020204020204" pitchFamily="34" charset="-122"/>
                <a:ea typeface="微软雅黑" panose="020B0503020204020204" pitchFamily="34" charset="-122"/>
                <a:sym typeface="+mn-ea"/>
              </a:rPr>
              <a:t>文件，用于添加自定义的样式代码。</a:t>
            </a:r>
          </a:p>
          <a:p>
            <a:pPr marL="1066800" lvl="1" indent="-457200">
              <a:lnSpc>
                <a:spcPct val="150000"/>
              </a:lnSpc>
              <a:buClr>
                <a:srgbClr val="595959"/>
              </a:buClr>
              <a:buFont typeface="+mj-lt"/>
              <a:buAutoNum type="arabicPeriod"/>
            </a:pPr>
            <a:r>
              <a:rPr lang="en-US" altLang="zh-CN" sz="2000" dirty="0">
                <a:solidFill>
                  <a:srgbClr val="1369B2"/>
                </a:solidFill>
                <a:latin typeface="微软雅黑" panose="020B0503020204020204" pitchFamily="34" charset="-122"/>
                <a:ea typeface="微软雅黑" panose="020B0503020204020204" pitchFamily="34" charset="-122"/>
                <a:sym typeface="+mn-ea"/>
              </a:rPr>
              <a:t>images</a:t>
            </a:r>
            <a:r>
              <a:rPr lang="zh-CN" altLang="en-US" sz="2000" dirty="0">
                <a:solidFill>
                  <a:srgbClr val="595959"/>
                </a:solidFill>
                <a:latin typeface="微软雅黑" panose="020B0503020204020204" pitchFamily="34" charset="-122"/>
                <a:ea typeface="微软雅黑" panose="020B0503020204020204" pitchFamily="34" charset="-122"/>
                <a:sym typeface="+mn-ea"/>
              </a:rPr>
              <a:t>：图片文件目录，该目录下存放项目引用的图片文件。</a:t>
            </a:r>
          </a:p>
          <a:p>
            <a:pPr marL="1066800" lvl="1" indent="-457200">
              <a:lnSpc>
                <a:spcPct val="150000"/>
              </a:lnSpc>
              <a:buClr>
                <a:srgbClr val="595959"/>
              </a:buClr>
              <a:buFont typeface="+mj-lt"/>
              <a:buAutoNum type="arabicPeriod"/>
            </a:pPr>
            <a:r>
              <a:rPr lang="en-US" altLang="zh-CN" sz="2000" dirty="0" err="1">
                <a:solidFill>
                  <a:srgbClr val="1369B2"/>
                </a:solidFill>
                <a:latin typeface="微软雅黑" panose="020B0503020204020204" pitchFamily="34" charset="-122"/>
                <a:ea typeface="微软雅黑" panose="020B0503020204020204" pitchFamily="34" charset="-122"/>
                <a:sym typeface="+mn-ea"/>
              </a:rPr>
              <a:t>js</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JavaScript</a:t>
            </a:r>
            <a:r>
              <a:rPr lang="zh-CN" altLang="en-US" sz="2000" dirty="0">
                <a:solidFill>
                  <a:srgbClr val="595959"/>
                </a:solidFill>
                <a:latin typeface="微软雅黑" panose="020B0503020204020204" pitchFamily="34" charset="-122"/>
                <a:ea typeface="微软雅黑" panose="020B0503020204020204" pitchFamily="34" charset="-122"/>
                <a:sym typeface="+mn-ea"/>
              </a:rPr>
              <a:t>文件目录，该目录里存放封装首页页面功能的</a:t>
            </a:r>
            <a:r>
              <a:rPr lang="en-US" altLang="zh-CN" sz="2000" dirty="0">
                <a:solidFill>
                  <a:srgbClr val="595959"/>
                </a:solidFill>
                <a:latin typeface="微软雅黑" panose="020B0503020204020204" pitchFamily="34" charset="-122"/>
                <a:ea typeface="微软雅黑" panose="020B0503020204020204" pitchFamily="34" charset="-122"/>
                <a:sym typeface="+mn-ea"/>
              </a:rPr>
              <a:t>index.js</a:t>
            </a:r>
            <a:r>
              <a:rPr lang="zh-CN" altLang="en-US" sz="2000" dirty="0">
                <a:solidFill>
                  <a:srgbClr val="595959"/>
                </a:solidFill>
                <a:latin typeface="微软雅黑" panose="020B0503020204020204" pitchFamily="34" charset="-122"/>
                <a:ea typeface="微软雅黑" panose="020B0503020204020204" pitchFamily="34" charset="-122"/>
                <a:sym typeface="+mn-ea"/>
              </a:rPr>
              <a:t>文件。</a:t>
            </a:r>
          </a:p>
          <a:p>
            <a:pPr marL="1066800" lvl="1" indent="-457200">
              <a:lnSpc>
                <a:spcPct val="150000"/>
              </a:lnSpc>
              <a:buClr>
                <a:srgbClr val="595959"/>
              </a:buClr>
              <a:buFont typeface="+mj-lt"/>
              <a:buAutoNum type="arabicPeriod"/>
            </a:pPr>
            <a:r>
              <a:rPr lang="en-US" altLang="zh-CN" sz="2000" dirty="0">
                <a:solidFill>
                  <a:srgbClr val="1369B2"/>
                </a:solidFill>
                <a:latin typeface="微软雅黑" panose="020B0503020204020204" pitchFamily="34" charset="-122"/>
                <a:ea typeface="微软雅黑" panose="020B0503020204020204" pitchFamily="34" charset="-122"/>
                <a:sym typeface="+mn-ea"/>
              </a:rPr>
              <a:t>index.html</a:t>
            </a:r>
            <a:r>
              <a:rPr lang="zh-CN" altLang="en-US" sz="2000" dirty="0">
                <a:solidFill>
                  <a:srgbClr val="595959"/>
                </a:solidFill>
                <a:latin typeface="微软雅黑" panose="020B0503020204020204" pitchFamily="34" charset="-122"/>
                <a:ea typeface="微软雅黑" panose="020B0503020204020204" pitchFamily="34" charset="-122"/>
                <a:sym typeface="+mn-ea"/>
              </a:rPr>
              <a:t>：首页页面文件。</a:t>
            </a:r>
          </a:p>
        </p:txBody>
      </p:sp>
    </p:spTree>
    <p:extLst>
      <p:ext uri="{BB962C8B-B14F-4D97-AF65-F5344CB8AC3E}">
        <p14:creationId xmlns:p14="http://schemas.microsoft.com/office/powerpoint/2010/main" val="298497465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首页整体布局的搭建</a:t>
            </a:r>
            <a:r>
              <a:rPr lang="zh-CN" altLang="en-US" dirty="0" smtClean="0">
                <a:solidFill>
                  <a:srgbClr val="595959"/>
                </a:solidFill>
                <a:latin typeface="微软雅黑" panose="020B0503020204020204" pitchFamily="34" charset="-122"/>
                <a:ea typeface="微软雅黑" panose="020B0503020204020204" pitchFamily="34" charset="-122"/>
              </a:rPr>
              <a:t>，能够完成首页整体布局的搭建</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267535730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703FD65-B89F-412B-8A06-6737B2815C80}"/>
              </a:ext>
            </a:extLst>
          </p:cNvPr>
          <p:cNvSpPr txBox="1"/>
          <p:nvPr/>
        </p:nvSpPr>
        <p:spPr>
          <a:xfrm>
            <a:off x="982638" y="1045729"/>
            <a:ext cx="10585846"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smtClean="0"/>
              <a:t>在</a:t>
            </a:r>
            <a:r>
              <a:rPr lang="en-US" altLang="zh-CN" dirty="0">
                <a:solidFill>
                  <a:srgbClr val="1369B2"/>
                </a:solidFill>
              </a:rPr>
              <a:t>C:\code\chapter03</a:t>
            </a:r>
            <a:r>
              <a:rPr lang="zh-CN" altLang="en-US" dirty="0"/>
              <a:t>目录下，新建</a:t>
            </a:r>
            <a:r>
              <a:rPr lang="en-US" altLang="zh-CN" dirty="0" err="1">
                <a:solidFill>
                  <a:srgbClr val="1369B2"/>
                </a:solidFill>
              </a:rPr>
              <a:t>shopM</a:t>
            </a:r>
            <a:r>
              <a:rPr lang="zh-CN" altLang="en-US" dirty="0"/>
              <a:t>文件夹作为项目</a:t>
            </a:r>
            <a:r>
              <a:rPr lang="zh-CN" altLang="en-US" dirty="0" smtClean="0"/>
              <a:t>站点。然后在</a:t>
            </a:r>
            <a:r>
              <a:rPr lang="en-US" altLang="zh-CN" dirty="0" err="1">
                <a:solidFill>
                  <a:srgbClr val="1369B2"/>
                </a:solidFill>
              </a:rPr>
              <a:t>shopM</a:t>
            </a:r>
            <a:r>
              <a:rPr lang="zh-CN" altLang="en-US" dirty="0"/>
              <a:t>文件夹下新建</a:t>
            </a:r>
            <a:r>
              <a:rPr lang="en-US" altLang="zh-CN" dirty="0">
                <a:solidFill>
                  <a:srgbClr val="1369B2"/>
                </a:solidFill>
              </a:rPr>
              <a:t>index.html</a:t>
            </a:r>
            <a:r>
              <a:rPr lang="zh-CN" altLang="en-US" dirty="0"/>
              <a:t>文件作为项目首页</a:t>
            </a:r>
            <a:r>
              <a:rPr lang="zh-CN" altLang="en-US" dirty="0" smtClean="0"/>
              <a:t>，编写</a:t>
            </a:r>
            <a:r>
              <a:rPr lang="zh-CN" altLang="en-US" dirty="0"/>
              <a:t>首页结构代码。</a:t>
            </a:r>
          </a:p>
        </p:txBody>
      </p:sp>
      <p:sp>
        <p:nvSpPr>
          <p:cNvPr id="7" name="矩形 6"/>
          <p:cNvSpPr/>
          <p:nvPr/>
        </p:nvSpPr>
        <p:spPr bwMode="auto">
          <a:xfrm>
            <a:off x="1325642" y="2133650"/>
            <a:ext cx="9865096" cy="4111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dirty="0">
              <a:solidFill>
                <a:schemeClr val="tx1"/>
              </a:solidFill>
              <a:latin typeface="微软雅黑" panose="020B0503020204020204" pitchFamily="34" charset="-122"/>
              <a:ea typeface="微软雅黑" panose="020B0503020204020204" pitchFamily="34" charset="-122"/>
              <a:cs typeface="Courier New" panose="02070609020205090404" pitchFamily="49" charset="0"/>
              <a:sym typeface="+mn-ea"/>
            </a:endParaRPr>
          </a:p>
        </p:txBody>
      </p:sp>
      <p:sp>
        <p:nvSpPr>
          <p:cNvPr id="9" name="矩形 8"/>
          <p:cNvSpPr/>
          <p:nvPr/>
        </p:nvSpPr>
        <p:spPr bwMode="auto">
          <a:xfrm>
            <a:off x="1486694" y="2133650"/>
            <a:ext cx="9488020" cy="4154984"/>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&lt;!DOCTYPE html&gt;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head&gt;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&lt;meta name="viewport" content="width=device-width, user-scalable=no, initial-scale=1.0"&gt;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&lt;title&gt;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首页</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&lt;/title&gt;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hm_layout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页面版心容器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&lt;/html&gt;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269559775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D7B789A8-33E7-4059-9F3F-87FE2CF262B4}"/>
              </a:ext>
            </a:extLst>
          </p:cNvPr>
          <p:cNvSpPr txBox="1"/>
          <p:nvPr/>
        </p:nvSpPr>
        <p:spPr>
          <a:xfrm>
            <a:off x="2278782" y="1799736"/>
            <a:ext cx="7488832" cy="38739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2" name="文本框 11">
            <a:extLst>
              <a:ext uri="{FF2B5EF4-FFF2-40B4-BE49-F238E27FC236}">
                <a16:creationId xmlns:a16="http://schemas.microsoft.com/office/drawing/2014/main" id="{E0D98C1D-F3F5-4D00-85B1-64BD918E58F1}"/>
              </a:ext>
            </a:extLst>
          </p:cNvPr>
          <p:cNvSpPr txBox="1"/>
          <p:nvPr/>
        </p:nvSpPr>
        <p:spPr>
          <a:xfrm>
            <a:off x="982638" y="988542"/>
            <a:ext cx="10441160" cy="553998"/>
          </a:xfrm>
          <a:prstGeom prst="rect">
            <a:avLst/>
          </a:prstGeom>
          <a:noFill/>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css</a:t>
            </a:r>
            <a:r>
              <a:rPr lang="zh-CN" altLang="en-US" sz="2000" dirty="0">
                <a:solidFill>
                  <a:srgbClr val="595959"/>
                </a:solidFill>
                <a:latin typeface="微软雅黑" panose="020B0503020204020204" pitchFamily="34" charset="-122"/>
                <a:ea typeface="微软雅黑" panose="020B0503020204020204" pitchFamily="34" charset="-122"/>
              </a:rPr>
              <a:t>目录下新建</a:t>
            </a:r>
            <a:r>
              <a:rPr lang="en-US" altLang="zh-CN" sz="2000" dirty="0">
                <a:solidFill>
                  <a:srgbClr val="595959"/>
                </a:solidFill>
                <a:latin typeface="微软雅黑" panose="020B0503020204020204" pitchFamily="34" charset="-122"/>
                <a:ea typeface="微软雅黑" panose="020B0503020204020204" pitchFamily="34" charset="-122"/>
              </a:rPr>
              <a:t>base.css</a:t>
            </a:r>
            <a:r>
              <a:rPr lang="zh-CN" altLang="en-US" sz="2000" dirty="0">
                <a:solidFill>
                  <a:srgbClr val="595959"/>
                </a:solidFill>
                <a:latin typeface="微软雅黑" panose="020B0503020204020204" pitchFamily="34" charset="-122"/>
                <a:ea typeface="微软雅黑" panose="020B0503020204020204" pitchFamily="34" charset="-122"/>
              </a:rPr>
              <a:t>文件，作为项目的公共样式</a:t>
            </a:r>
            <a:r>
              <a:rPr lang="zh-CN" altLang="en-US" sz="2000" dirty="0" smtClean="0">
                <a:solidFill>
                  <a:srgbClr val="595959"/>
                </a:solidFill>
                <a:latin typeface="微软雅黑" panose="020B0503020204020204" pitchFamily="34" charset="-122"/>
                <a:ea typeface="微软雅黑" panose="020B0503020204020204" pitchFamily="34" charset="-122"/>
              </a:rPr>
              <a:t>文件，编写</a:t>
            </a:r>
            <a:r>
              <a:rPr lang="zh-CN" altLang="en-US" sz="2000" dirty="0">
                <a:solidFill>
                  <a:srgbClr val="1369B2"/>
                </a:solidFill>
                <a:latin typeface="微软雅黑" panose="020B0503020204020204" pitchFamily="34" charset="-122"/>
                <a:ea typeface="微软雅黑" panose="020B0503020204020204" pitchFamily="34" charset="-122"/>
              </a:rPr>
              <a:t>重置样式</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7" name="矩形 6"/>
          <p:cNvSpPr/>
          <p:nvPr/>
        </p:nvSpPr>
        <p:spPr bwMode="auto">
          <a:xfrm>
            <a:off x="2494806" y="1861945"/>
            <a:ext cx="7704856" cy="3785652"/>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@charset "utf-8";</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重置样式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::before,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::after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margin: 0;padding: 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-tap-highlight-color: transparent;/*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清除点击高亮效果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-box-sizing: border-box;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处理主流移动端浏览器兼容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box-sizing: border-box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30237873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D7B789A8-33E7-4059-9F3F-87FE2CF262B4}"/>
              </a:ext>
            </a:extLst>
          </p:cNvPr>
          <p:cNvSpPr txBox="1"/>
          <p:nvPr/>
        </p:nvSpPr>
        <p:spPr>
          <a:xfrm>
            <a:off x="2134766" y="1708509"/>
            <a:ext cx="7920880" cy="45406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2" name="文本框 11">
            <a:extLst>
              <a:ext uri="{FF2B5EF4-FFF2-40B4-BE49-F238E27FC236}">
                <a16:creationId xmlns:a16="http://schemas.microsoft.com/office/drawing/2014/main" id="{E0D98C1D-F3F5-4D00-85B1-64BD918E58F1}"/>
              </a:ext>
            </a:extLst>
          </p:cNvPr>
          <p:cNvSpPr txBox="1"/>
          <p:nvPr/>
        </p:nvSpPr>
        <p:spPr>
          <a:xfrm>
            <a:off x="982638" y="988542"/>
            <a:ext cx="10441160" cy="553998"/>
          </a:xfrm>
          <a:prstGeom prst="rect">
            <a:avLst/>
          </a:prstGeom>
          <a:noFill/>
        </p:spPr>
        <p:txBody>
          <a:bodyPr wrap="square">
            <a:spAutoFit/>
          </a:bodyPr>
          <a:lstStyle/>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err="1">
                <a:solidFill>
                  <a:srgbClr val="595959"/>
                </a:solidFill>
                <a:latin typeface="微软雅黑" panose="020B0503020204020204" pitchFamily="34" charset="-122"/>
                <a:ea typeface="微软雅黑" panose="020B0503020204020204" pitchFamily="34" charset="-122"/>
              </a:rPr>
              <a:t>css</a:t>
            </a:r>
            <a:r>
              <a:rPr lang="zh-CN" altLang="en-US" sz="2000" dirty="0">
                <a:solidFill>
                  <a:srgbClr val="595959"/>
                </a:solidFill>
                <a:latin typeface="微软雅黑" panose="020B0503020204020204" pitchFamily="34" charset="-122"/>
                <a:ea typeface="微软雅黑" panose="020B0503020204020204" pitchFamily="34" charset="-122"/>
              </a:rPr>
              <a:t>目录下新建</a:t>
            </a:r>
            <a:r>
              <a:rPr lang="en-US" altLang="zh-CN" sz="2000" dirty="0">
                <a:solidFill>
                  <a:srgbClr val="595959"/>
                </a:solidFill>
                <a:latin typeface="微软雅黑" panose="020B0503020204020204" pitchFamily="34" charset="-122"/>
                <a:ea typeface="微软雅黑" panose="020B0503020204020204" pitchFamily="34" charset="-122"/>
              </a:rPr>
              <a:t>base.css</a:t>
            </a:r>
            <a:r>
              <a:rPr lang="zh-CN" altLang="en-US" sz="2000" dirty="0">
                <a:solidFill>
                  <a:srgbClr val="595959"/>
                </a:solidFill>
                <a:latin typeface="微软雅黑" panose="020B0503020204020204" pitchFamily="34" charset="-122"/>
                <a:ea typeface="微软雅黑" panose="020B0503020204020204" pitchFamily="34" charset="-122"/>
              </a:rPr>
              <a:t>文件，作为项目的公共样式</a:t>
            </a:r>
            <a:r>
              <a:rPr lang="zh-CN" altLang="en-US" sz="2000" dirty="0" smtClean="0">
                <a:solidFill>
                  <a:srgbClr val="595959"/>
                </a:solidFill>
                <a:latin typeface="微软雅黑" panose="020B0503020204020204" pitchFamily="34" charset="-122"/>
                <a:ea typeface="微软雅黑" panose="020B0503020204020204" pitchFamily="34" charset="-122"/>
              </a:rPr>
              <a:t>文件，编写</a:t>
            </a:r>
            <a:r>
              <a:rPr lang="zh-CN" altLang="en-US" sz="2000" dirty="0">
                <a:solidFill>
                  <a:srgbClr val="1369B2"/>
                </a:solidFill>
                <a:latin typeface="微软雅黑" panose="020B0503020204020204" pitchFamily="34" charset="-122"/>
                <a:ea typeface="微软雅黑" panose="020B0503020204020204" pitchFamily="34" charset="-122"/>
              </a:rPr>
              <a:t>重置样式</a:t>
            </a:r>
            <a:r>
              <a:rPr lang="zh-CN" altLang="zh-CN" sz="2000" dirty="0">
                <a:solidFill>
                  <a:srgbClr val="595959"/>
                </a:solidFill>
                <a:latin typeface="微软雅黑" panose="020B0503020204020204" pitchFamily="34" charset="-122"/>
                <a:ea typeface="微软雅黑" panose="020B0503020204020204" pitchFamily="34" charset="-122"/>
              </a:rPr>
              <a:t>。</a:t>
            </a:r>
          </a:p>
        </p:txBody>
      </p:sp>
      <p:sp>
        <p:nvSpPr>
          <p:cNvPr id="7" name="矩形 6"/>
          <p:cNvSpPr/>
          <p:nvPr/>
        </p:nvSpPr>
        <p:spPr bwMode="auto">
          <a:xfrm>
            <a:off x="2422798" y="1713366"/>
            <a:ext cx="8136904" cy="4524315"/>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body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font-size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14px;</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font-family</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MicroSoft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YaHei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",sans-serif;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设备默认字体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background-color: #f5f5f5</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 {color: #333;text-decoration: none;}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a:hover {text-decoration: none;}</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{list-style: none;}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input,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textarea</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none;outline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none;resize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none;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清除移动端输入框特有的样式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-appearance: none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160380477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7B789A8-33E7-4059-9F3F-87FE2CF262B4}"/>
              </a:ext>
            </a:extLst>
          </p:cNvPr>
          <p:cNvSpPr txBox="1"/>
          <p:nvPr/>
        </p:nvSpPr>
        <p:spPr>
          <a:xfrm>
            <a:off x="7103318" y="3804436"/>
            <a:ext cx="3960440" cy="2088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1" name="文本框 10">
            <a:extLst>
              <a:ext uri="{FF2B5EF4-FFF2-40B4-BE49-F238E27FC236}">
                <a16:creationId xmlns:a16="http://schemas.microsoft.com/office/drawing/2014/main" id="{D7B789A8-33E7-4059-9F3F-87FE2CF262B4}"/>
              </a:ext>
            </a:extLst>
          </p:cNvPr>
          <p:cNvSpPr txBox="1"/>
          <p:nvPr/>
        </p:nvSpPr>
        <p:spPr>
          <a:xfrm>
            <a:off x="1198662" y="1737684"/>
            <a:ext cx="5760640" cy="4154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2" name="文本框 11">
            <a:extLst>
              <a:ext uri="{FF2B5EF4-FFF2-40B4-BE49-F238E27FC236}">
                <a16:creationId xmlns:a16="http://schemas.microsoft.com/office/drawing/2014/main" id="{E0D98C1D-F3F5-4D00-85B1-64BD918E58F1}"/>
              </a:ext>
            </a:extLst>
          </p:cNvPr>
          <p:cNvSpPr txBox="1"/>
          <p:nvPr/>
        </p:nvSpPr>
        <p:spPr>
          <a:xfrm>
            <a:off x="982638" y="988542"/>
            <a:ext cx="10441160" cy="499624"/>
          </a:xfrm>
          <a:prstGeom prst="rect">
            <a:avLst/>
          </a:prstGeom>
          <a:noFill/>
        </p:spPr>
        <p:txBody>
          <a:bodyPr wrap="square">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编写</a:t>
            </a:r>
            <a:r>
              <a:rPr lang="zh-CN" altLang="en-US" sz="2000" dirty="0" smtClean="0">
                <a:solidFill>
                  <a:srgbClr val="1369B2"/>
                </a:solidFill>
                <a:latin typeface="微软雅黑" panose="020B0503020204020204" pitchFamily="34" charset="-122"/>
                <a:ea typeface="微软雅黑" panose="020B0503020204020204" pitchFamily="34" charset="-122"/>
              </a:rPr>
              <a:t>公用样式</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bwMode="auto">
          <a:xfrm>
            <a:off x="1486694" y="1737684"/>
            <a:ext cx="5616624"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公用样式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{float: left;}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{float: right;}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清除浮动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::before,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::after {content: "";height: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0;line-height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0;display: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block;visibility</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hidden;clear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both;}</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[class^="icon_"]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url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("../images/sprites.png") no-repeat;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background-size: 200px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200px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
        <p:nvSpPr>
          <p:cNvPr id="2" name="矩形 1"/>
          <p:cNvSpPr/>
          <p:nvPr/>
        </p:nvSpPr>
        <p:spPr>
          <a:xfrm>
            <a:off x="7305332" y="3992841"/>
            <a:ext cx="3528392" cy="1569660"/>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m_l10 {margin-left: 10px;}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.m_r10 {margin-right: 10px;}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.m_b10 {margin-bottom: 10px;}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.m_t10 {margin-top: 10px;}</a:t>
            </a:r>
          </a:p>
        </p:txBody>
      </p:sp>
    </p:spTree>
    <p:extLst>
      <p:ext uri="{BB962C8B-B14F-4D97-AF65-F5344CB8AC3E}">
        <p14:creationId xmlns:p14="http://schemas.microsoft.com/office/powerpoint/2010/main" val="227869894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910630" y="981522"/>
            <a:ext cx="10297144" cy="923330"/>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打开</a:t>
            </a:r>
            <a:r>
              <a:rPr lang="en-US" altLang="zh-CN" sz="1800" dirty="0">
                <a:solidFill>
                  <a:srgbClr val="1369B2"/>
                </a:solidFill>
              </a:rPr>
              <a:t>C:\code\chapter03\shopM\index.html</a:t>
            </a:r>
            <a:r>
              <a:rPr lang="zh-CN" altLang="en-US" sz="1800" dirty="0"/>
              <a:t>文件，在</a:t>
            </a:r>
            <a:r>
              <a:rPr lang="en-US" altLang="zh-CN" sz="1800" dirty="0">
                <a:solidFill>
                  <a:srgbClr val="1369B2"/>
                </a:solidFill>
              </a:rPr>
              <a:t>&lt;head&gt;</a:t>
            </a:r>
            <a:r>
              <a:rPr lang="zh-CN" altLang="en-US" sz="1800" dirty="0">
                <a:solidFill>
                  <a:srgbClr val="1369B2"/>
                </a:solidFill>
              </a:rPr>
              <a:t>标签</a:t>
            </a:r>
            <a:r>
              <a:rPr lang="zh-CN" altLang="en-US" sz="1800" dirty="0"/>
              <a:t>中引入外部</a:t>
            </a:r>
            <a:r>
              <a:rPr lang="en-US" altLang="zh-CN" sz="1800" dirty="0"/>
              <a:t>base.css</a:t>
            </a:r>
            <a:r>
              <a:rPr lang="zh-CN" altLang="en-US" sz="1800" dirty="0"/>
              <a:t>文件和</a:t>
            </a:r>
            <a:r>
              <a:rPr lang="en-US" altLang="zh-CN" sz="1800" dirty="0"/>
              <a:t>index.css</a:t>
            </a:r>
            <a:r>
              <a:rPr lang="zh-CN" altLang="en-US" sz="1800" dirty="0"/>
              <a:t>文件，并在版心容器内添加各个功能模块内容。</a:t>
            </a:r>
          </a:p>
        </p:txBody>
      </p:sp>
      <p:sp>
        <p:nvSpPr>
          <p:cNvPr id="5" name="文本框 4">
            <a:extLst>
              <a:ext uri="{FF2B5EF4-FFF2-40B4-BE49-F238E27FC236}">
                <a16:creationId xmlns:a16="http://schemas.microsoft.com/office/drawing/2014/main" id="{D7B789A8-33E7-4059-9F3F-87FE2CF262B4}"/>
              </a:ext>
            </a:extLst>
          </p:cNvPr>
          <p:cNvSpPr txBox="1"/>
          <p:nvPr/>
        </p:nvSpPr>
        <p:spPr>
          <a:xfrm>
            <a:off x="1774727" y="1989634"/>
            <a:ext cx="7920880" cy="44808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134766" y="1989634"/>
            <a:ext cx="6696744" cy="4480842"/>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/base.css"&gt;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&lt;link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="stylesheet"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css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/index.css"&gt;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hm_layout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&lt;header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"&gt;&lt;/header&gt;&lt;!--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导航栏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&lt;main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hm_product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"&gt;&lt;/main&gt;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商品区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&lt;/body&gt;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201503768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982638" y="1047682"/>
            <a:ext cx="11017224" cy="507831"/>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在</a:t>
            </a:r>
            <a:r>
              <a:rPr lang="en-US" altLang="zh-CN" sz="1800" dirty="0" err="1" smtClean="0">
                <a:solidFill>
                  <a:srgbClr val="1369B2"/>
                </a:solidFill>
              </a:rPr>
              <a:t>css</a:t>
            </a:r>
            <a:r>
              <a:rPr lang="zh-CN" altLang="en-US" sz="1800" dirty="0" smtClean="0">
                <a:solidFill>
                  <a:srgbClr val="1369B2"/>
                </a:solidFill>
              </a:rPr>
              <a:t>目录</a:t>
            </a:r>
            <a:r>
              <a:rPr lang="zh-CN" altLang="en-US" sz="1800" dirty="0"/>
              <a:t>下创建</a:t>
            </a:r>
            <a:r>
              <a:rPr lang="en-US" altLang="zh-CN" sz="1800" dirty="0">
                <a:solidFill>
                  <a:srgbClr val="1369B2"/>
                </a:solidFill>
              </a:rPr>
              <a:t>index.css</a:t>
            </a:r>
            <a:r>
              <a:rPr lang="zh-CN" altLang="en-US" sz="1800" dirty="0">
                <a:solidFill>
                  <a:srgbClr val="1369B2"/>
                </a:solidFill>
              </a:rPr>
              <a:t>文件</a:t>
            </a:r>
            <a:r>
              <a:rPr lang="zh-CN" altLang="en-US" sz="1800" dirty="0"/>
              <a:t>，编写版心容器样式代码。</a:t>
            </a:r>
          </a:p>
        </p:txBody>
      </p:sp>
      <p:sp>
        <p:nvSpPr>
          <p:cNvPr id="5" name="文本框 4">
            <a:extLst>
              <a:ext uri="{FF2B5EF4-FFF2-40B4-BE49-F238E27FC236}">
                <a16:creationId xmlns:a16="http://schemas.microsoft.com/office/drawing/2014/main" id="{D7B789A8-33E7-4059-9F3F-87FE2CF262B4}"/>
              </a:ext>
            </a:extLst>
          </p:cNvPr>
          <p:cNvSpPr txBox="1"/>
          <p:nvPr/>
        </p:nvSpPr>
        <p:spPr>
          <a:xfrm>
            <a:off x="2409417" y="1773610"/>
            <a:ext cx="6854141" cy="34563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854846" y="1773610"/>
            <a:ext cx="6696744" cy="3372846"/>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@charset "utf-8";</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版心容器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hm_layout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max-width: 640px;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最大宽度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min-width: 320px;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最小宽度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margin: 0 auto;</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relative;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搭建首页整体布局</a:t>
            </a:r>
          </a:p>
        </p:txBody>
      </p:sp>
    </p:spTree>
    <p:extLst>
      <p:ext uri="{BB962C8B-B14F-4D97-AF65-F5344CB8AC3E}">
        <p14:creationId xmlns:p14="http://schemas.microsoft.com/office/powerpoint/2010/main" val="12720149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16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搜索栏</a:t>
            </a:r>
            <a:r>
              <a:rPr lang="zh-CN" altLang="en-US" dirty="0" smtClean="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的搭建，能够实现搜索</a:t>
            </a:r>
            <a:r>
              <a:rPr lang="zh-CN" altLang="en-US" dirty="0" smtClean="0">
                <a:solidFill>
                  <a:srgbClr val="595959"/>
                </a:solidFill>
                <a:latin typeface="微软雅黑" panose="020B0503020204020204" pitchFamily="34" charset="-122"/>
                <a:ea typeface="微软雅黑" panose="020B0503020204020204" pitchFamily="34" charset="-122"/>
              </a:rPr>
              <a:t>栏布局效果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Tree>
    <p:extLst>
      <p:ext uri="{BB962C8B-B14F-4D97-AF65-F5344CB8AC3E}">
        <p14:creationId xmlns:p14="http://schemas.microsoft.com/office/powerpoint/2010/main" val="312980756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703FD65-B89F-412B-8A06-6737B2815C80}"/>
              </a:ext>
            </a:extLst>
          </p:cNvPr>
          <p:cNvSpPr txBox="1"/>
          <p:nvPr/>
        </p:nvSpPr>
        <p:spPr>
          <a:xfrm>
            <a:off x="982638" y="1269554"/>
            <a:ext cx="10801200"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搜索栏会</a:t>
            </a:r>
            <a:r>
              <a:rPr lang="zh-CN" altLang="en-US" dirty="0">
                <a:solidFill>
                  <a:srgbClr val="1369B2"/>
                </a:solidFill>
              </a:rPr>
              <a:t>定位</a:t>
            </a:r>
            <a:r>
              <a:rPr lang="zh-CN" altLang="en-US" dirty="0"/>
              <a:t>在页面的顶端，</a:t>
            </a:r>
            <a:r>
              <a:rPr lang="zh-CN" altLang="en-US" dirty="0">
                <a:solidFill>
                  <a:srgbClr val="1369B2"/>
                </a:solidFill>
              </a:rPr>
              <a:t>搜索栏的宽度</a:t>
            </a:r>
            <a:r>
              <a:rPr lang="zh-CN" altLang="en-US" dirty="0"/>
              <a:t>会随着浏览器窗口的大小而变化，并且透明度会在往下滑动时发生变化，搜索栏效果如图。</a:t>
            </a: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19" y="2781690"/>
            <a:ext cx="5140864" cy="55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585296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7703FD65-B89F-412B-8A06-6737B2815C80}"/>
              </a:ext>
            </a:extLst>
          </p:cNvPr>
          <p:cNvSpPr txBox="1"/>
          <p:nvPr/>
        </p:nvSpPr>
        <p:spPr>
          <a:xfrm>
            <a:off x="1054646" y="1732071"/>
            <a:ext cx="10585846" cy="4996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整个搜索栏可以分为</a:t>
            </a:r>
            <a:r>
              <a:rPr lang="en-US" altLang="zh-CN" dirty="0"/>
              <a:t>3</a:t>
            </a:r>
            <a:r>
              <a:rPr lang="zh-CN" altLang="en-US" dirty="0"/>
              <a:t>部分，包括</a:t>
            </a:r>
            <a:r>
              <a:rPr lang="en-US" altLang="zh-CN" dirty="0">
                <a:solidFill>
                  <a:srgbClr val="1369B2"/>
                </a:solidFill>
              </a:rPr>
              <a:t>Logo</a:t>
            </a:r>
            <a:r>
              <a:rPr lang="zh-CN" altLang="en-US" dirty="0"/>
              <a:t>、</a:t>
            </a:r>
            <a:r>
              <a:rPr lang="zh-CN" altLang="en-US" dirty="0">
                <a:solidFill>
                  <a:srgbClr val="1369B2"/>
                </a:solidFill>
              </a:rPr>
              <a:t>搜索框</a:t>
            </a:r>
            <a:r>
              <a:rPr lang="zh-CN" altLang="en-US" dirty="0"/>
              <a:t>和</a:t>
            </a:r>
            <a:r>
              <a:rPr lang="zh-CN" altLang="en-US" dirty="0">
                <a:solidFill>
                  <a:srgbClr val="1369B2"/>
                </a:solidFill>
              </a:rPr>
              <a:t>登录链接</a:t>
            </a:r>
            <a:r>
              <a:rPr lang="zh-CN" altLang="en-US" dirty="0"/>
              <a:t>，搜索栏的结构图。</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graphicFrame>
        <p:nvGraphicFramePr>
          <p:cNvPr id="3" name="对象 2"/>
          <p:cNvGraphicFramePr>
            <a:graphicFrameLocks noChangeAspect="1"/>
          </p:cNvGraphicFramePr>
          <p:nvPr>
            <p:extLst>
              <p:ext uri="{D42A27DB-BD31-4B8C-83A1-F6EECF244321}">
                <p14:modId xmlns:p14="http://schemas.microsoft.com/office/powerpoint/2010/main" val="1308053751"/>
              </p:ext>
            </p:extLst>
          </p:nvPr>
        </p:nvGraphicFramePr>
        <p:xfrm>
          <a:off x="1990750" y="2406180"/>
          <a:ext cx="8121281" cy="3060410"/>
        </p:xfrm>
        <a:graphic>
          <a:graphicData uri="http://schemas.openxmlformats.org/presentationml/2006/ole">
            <mc:AlternateContent xmlns:mc="http://schemas.openxmlformats.org/markup-compatibility/2006">
              <mc:Choice xmlns:v="urn:schemas-microsoft-com:vml" Requires="v">
                <p:oleObj spid="_x0000_s11675" name="Visio" r:id="rId4" imgW="5581482" imgH="2104997" progId="Visio.Drawing.15">
                  <p:embed/>
                </p:oleObj>
              </mc:Choice>
              <mc:Fallback>
                <p:oleObj name="Visio" r:id="rId4" imgW="5581482" imgH="2104997"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0750" y="2406180"/>
                        <a:ext cx="8121281" cy="3060410"/>
                      </a:xfrm>
                      <a:prstGeom prst="rect">
                        <a:avLst/>
                      </a:prstGeom>
                      <a:noFill/>
                    </p:spPr>
                  </p:pic>
                </p:oleObj>
              </mc:Fallback>
            </mc:AlternateContent>
          </a:graphicData>
        </a:graphic>
      </p:graphicFrame>
    </p:spTree>
    <p:extLst>
      <p:ext uri="{BB962C8B-B14F-4D97-AF65-F5344CB8AC3E}">
        <p14:creationId xmlns:p14="http://schemas.microsoft.com/office/powerpoint/2010/main" val="335442155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4"/>
          <p:cNvSpPr txBox="1">
            <a:spLocks noChangeArrowheads="1"/>
          </p:cNvSpPr>
          <p:nvPr/>
        </p:nvSpPr>
        <p:spPr bwMode="auto">
          <a:xfrm>
            <a:off x="406574" y="1773610"/>
            <a:ext cx="11305256" cy="3508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a:solidFill>
                  <a:srgbClr val="595959"/>
                </a:solidFill>
                <a:latin typeface="微软雅黑" panose="020B0503020204020204" pitchFamily="34" charset="-122"/>
                <a:ea typeface="微软雅黑" panose="020B0503020204020204" pitchFamily="34" charset="-122"/>
              </a:rPr>
              <a:t>整个搜索栏包含在</a:t>
            </a:r>
            <a:r>
              <a:rPr lang="en-US" altLang="zh-CN" sz="2000" dirty="0" err="1">
                <a:solidFill>
                  <a:srgbClr val="1369B2"/>
                </a:solidFill>
                <a:latin typeface="微软雅黑" panose="020B0503020204020204" pitchFamily="34" charset="-122"/>
                <a:ea typeface="微软雅黑" panose="020B0503020204020204" pitchFamily="34" charset="-122"/>
              </a:rPr>
              <a:t>div.hm_header_box</a:t>
            </a:r>
            <a:r>
              <a:rPr lang="zh-CN" altLang="en-US" sz="2000" dirty="0">
                <a:solidFill>
                  <a:srgbClr val="1369B2"/>
                </a:solidFill>
                <a:latin typeface="微软雅黑" panose="020B0503020204020204" pitchFamily="34" charset="-122"/>
                <a:ea typeface="微软雅黑" panose="020B0503020204020204" pitchFamily="34" charset="-122"/>
              </a:rPr>
              <a:t>容器</a:t>
            </a:r>
            <a:r>
              <a:rPr lang="zh-CN" altLang="en-US" sz="2000" dirty="0">
                <a:solidFill>
                  <a:srgbClr val="595959"/>
                </a:solidFill>
                <a:latin typeface="微软雅黑" panose="020B0503020204020204" pitchFamily="34" charset="-122"/>
                <a:ea typeface="微软雅黑" panose="020B0503020204020204" pitchFamily="34" charset="-122"/>
              </a:rPr>
              <a:t>中</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marL="609600" lvl="1" indent="0">
              <a:lnSpc>
                <a:spcPct val="200000"/>
              </a:lnSpc>
              <a:buClr>
                <a:schemeClr val="tx1"/>
              </a:buClr>
            </a:pPr>
            <a:r>
              <a:rPr lang="zh-CN" altLang="en-US" sz="2000" dirty="0" smtClean="0">
                <a:solidFill>
                  <a:srgbClr val="595959"/>
                </a:solidFill>
                <a:latin typeface="微软雅黑" panose="020B0503020204020204" pitchFamily="34" charset="-122"/>
                <a:ea typeface="微软雅黑" panose="020B0503020204020204" pitchFamily="34" charset="-122"/>
              </a:rPr>
              <a:t>搜索</a:t>
            </a:r>
            <a:r>
              <a:rPr lang="zh-CN" altLang="en-US" sz="2000" dirty="0">
                <a:solidFill>
                  <a:srgbClr val="595959"/>
                </a:solidFill>
                <a:latin typeface="微软雅黑" panose="020B0503020204020204" pitchFamily="34" charset="-122"/>
                <a:ea typeface="微软雅黑" panose="020B0503020204020204" pitchFamily="34" charset="-122"/>
              </a:rPr>
              <a:t>栏实现细节</a:t>
            </a:r>
            <a:r>
              <a:rPr lang="zh-CN" altLang="en-US" sz="2000" dirty="0" smtClean="0">
                <a:solidFill>
                  <a:srgbClr val="595959"/>
                </a:solidFill>
                <a:latin typeface="微软雅黑" panose="020B0503020204020204" pitchFamily="34" charset="-122"/>
                <a:ea typeface="微软雅黑" panose="020B0503020204020204" pitchFamily="34" charset="-122"/>
              </a:rPr>
              <a:t>说明</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整个搜索栏包含在</a:t>
            </a:r>
            <a:r>
              <a:rPr lang="en-US" altLang="zh-CN" sz="2000" dirty="0">
                <a:solidFill>
                  <a:srgbClr val="1369B2"/>
                </a:solidFill>
                <a:latin typeface="微软雅黑" panose="020B0503020204020204" pitchFamily="34" charset="-122"/>
                <a:ea typeface="微软雅黑" panose="020B0503020204020204" pitchFamily="34" charset="-122"/>
                <a:sym typeface="+mn-ea"/>
              </a:rPr>
              <a:t>&lt;header&gt;</a:t>
            </a:r>
            <a:r>
              <a:rPr lang="zh-CN" altLang="en-US" sz="2000" dirty="0">
                <a:solidFill>
                  <a:srgbClr val="1369B2"/>
                </a:solidFill>
                <a:latin typeface="微软雅黑" panose="020B0503020204020204" pitchFamily="34" charset="-122"/>
                <a:ea typeface="微软雅黑" panose="020B0503020204020204" pitchFamily="34" charset="-122"/>
                <a:sym typeface="+mn-ea"/>
              </a:rPr>
              <a:t>容器</a:t>
            </a:r>
            <a:r>
              <a:rPr lang="zh-CN" altLang="en-US" sz="2000" dirty="0">
                <a:solidFill>
                  <a:srgbClr val="595959"/>
                </a:solidFill>
                <a:latin typeface="微软雅黑" panose="020B0503020204020204" pitchFamily="34" charset="-122"/>
                <a:ea typeface="微软雅黑" panose="020B0503020204020204" pitchFamily="34" charset="-122"/>
                <a:sym typeface="+mn-ea"/>
              </a:rPr>
              <a:t>中，采用固定定位，浮动在顶端。</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父容器使用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&lt;div&gt;</a:t>
            </a:r>
            <a:r>
              <a:rPr lang="zh-CN" altLang="en-US" sz="2000" dirty="0">
                <a:solidFill>
                  <a:srgbClr val="1369B2"/>
                </a:solidFill>
                <a:latin typeface="微软雅黑" panose="020B0503020204020204" pitchFamily="34" charset="-122"/>
                <a:ea typeface="微软雅黑" panose="020B0503020204020204" pitchFamily="34" charset="-122"/>
                <a:sym typeface="+mn-ea"/>
              </a:rPr>
              <a:t>标签</a:t>
            </a:r>
            <a:r>
              <a:rPr lang="zh-CN" altLang="en-US" sz="2000" dirty="0">
                <a:solidFill>
                  <a:srgbClr val="595959"/>
                </a:solidFill>
                <a:latin typeface="微软雅黑" panose="020B0503020204020204" pitchFamily="34" charset="-122"/>
                <a:ea typeface="微软雅黑" panose="020B0503020204020204" pitchFamily="34" charset="-122"/>
                <a:sym typeface="+mn-ea"/>
              </a:rPr>
              <a:t>定义，采用相对定位。</a:t>
            </a:r>
          </a:p>
          <a:p>
            <a:pPr marL="1066800" lvl="1" indent="-457200">
              <a:lnSpc>
                <a:spcPct val="150000"/>
              </a:lnSpc>
              <a:buFont typeface="+mj-lt"/>
              <a:buAutoNum type="arabicPeriod"/>
            </a:pPr>
            <a:r>
              <a:rPr lang="en-US" altLang="zh-CN" sz="2000" dirty="0">
                <a:solidFill>
                  <a:srgbClr val="595959"/>
                </a:solidFill>
                <a:latin typeface="微软雅黑" panose="020B0503020204020204" pitchFamily="34" charset="-122"/>
                <a:ea typeface="微软雅黑" panose="020B0503020204020204" pitchFamily="34" charset="-122"/>
                <a:sym typeface="+mn-ea"/>
              </a:rPr>
              <a:t>Logo</a:t>
            </a:r>
            <a:r>
              <a:rPr lang="zh-CN" altLang="en-US"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&lt;a&gt;</a:t>
            </a:r>
            <a:r>
              <a:rPr lang="zh-CN" altLang="en-US" sz="2000" dirty="0">
                <a:solidFill>
                  <a:srgbClr val="595959"/>
                </a:solidFill>
                <a:latin typeface="微软雅黑" panose="020B0503020204020204" pitchFamily="34" charset="-122"/>
                <a:ea typeface="微软雅黑" panose="020B0503020204020204" pitchFamily="34" charset="-122"/>
                <a:sym typeface="+mn-ea"/>
              </a:rPr>
              <a:t>（左侧）</a:t>
            </a:r>
            <a:r>
              <a:rPr lang="zh-CN" altLang="en-US" sz="2000" dirty="0">
                <a:solidFill>
                  <a:srgbClr val="1369B2"/>
                </a:solidFill>
                <a:latin typeface="微软雅黑" panose="020B0503020204020204" pitchFamily="34" charset="-122"/>
                <a:ea typeface="微软雅黑" panose="020B0503020204020204" pitchFamily="34" charset="-122"/>
                <a:sym typeface="+mn-ea"/>
              </a:rPr>
              <a:t>标签</a:t>
            </a:r>
            <a:r>
              <a:rPr lang="zh-CN" altLang="en-US" sz="2000" dirty="0">
                <a:solidFill>
                  <a:srgbClr val="595959"/>
                </a:solidFill>
                <a:latin typeface="微软雅黑" panose="020B0503020204020204" pitchFamily="34" charset="-122"/>
                <a:ea typeface="微软雅黑" panose="020B0503020204020204" pitchFamily="34" charset="-122"/>
                <a:sym typeface="+mn-ea"/>
              </a:rPr>
              <a:t>定义，宽度固定，参照父容器进行定位。</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搜索框使用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&lt;form&gt;</a:t>
            </a:r>
            <a:r>
              <a:rPr lang="zh-CN" altLang="en-US" sz="2000" dirty="0">
                <a:solidFill>
                  <a:srgbClr val="1369B2"/>
                </a:solidFill>
                <a:latin typeface="微软雅黑" panose="020B0503020204020204" pitchFamily="34" charset="-122"/>
                <a:ea typeface="微软雅黑" panose="020B0503020204020204" pitchFamily="34" charset="-122"/>
                <a:sym typeface="+mn-ea"/>
              </a:rPr>
              <a:t>标签</a:t>
            </a:r>
            <a:r>
              <a:rPr lang="zh-CN" altLang="en-US" sz="2000" dirty="0">
                <a:solidFill>
                  <a:srgbClr val="595959"/>
                </a:solidFill>
                <a:latin typeface="微软雅黑" panose="020B0503020204020204" pitchFamily="34" charset="-122"/>
                <a:ea typeface="微软雅黑" panose="020B0503020204020204" pitchFamily="34" charset="-122"/>
                <a:sym typeface="+mn-ea"/>
              </a:rPr>
              <a:t>定义，存储用户搜索信息，宽度随浏览器窗口的大小而变化。</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登录链接使用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&lt;a&gt;</a:t>
            </a:r>
            <a:r>
              <a:rPr lang="zh-CN" altLang="en-US" sz="2000" dirty="0">
                <a:solidFill>
                  <a:srgbClr val="595959"/>
                </a:solidFill>
                <a:latin typeface="微软雅黑" panose="020B0503020204020204" pitchFamily="34" charset="-122"/>
                <a:ea typeface="微软雅黑" panose="020B0503020204020204" pitchFamily="34" charset="-122"/>
                <a:sym typeface="+mn-ea"/>
              </a:rPr>
              <a:t>（右侧）</a:t>
            </a:r>
            <a:r>
              <a:rPr lang="zh-CN" altLang="en-US" sz="2000" dirty="0">
                <a:solidFill>
                  <a:srgbClr val="1369B2"/>
                </a:solidFill>
                <a:latin typeface="微软雅黑" panose="020B0503020204020204" pitchFamily="34" charset="-122"/>
                <a:ea typeface="微软雅黑" panose="020B0503020204020204" pitchFamily="34" charset="-122"/>
                <a:sym typeface="+mn-ea"/>
              </a:rPr>
              <a:t>标签</a:t>
            </a:r>
            <a:r>
              <a:rPr lang="zh-CN" altLang="en-US" sz="2000" dirty="0">
                <a:solidFill>
                  <a:srgbClr val="595959"/>
                </a:solidFill>
                <a:latin typeface="微软雅黑" panose="020B0503020204020204" pitchFamily="34" charset="-122"/>
                <a:ea typeface="微软雅黑" panose="020B0503020204020204" pitchFamily="34" charset="-122"/>
                <a:sym typeface="+mn-ea"/>
              </a:rPr>
              <a:t>定义，宽度固定，参照父容器进行定位。</a:t>
            </a:r>
          </a:p>
        </p:txBody>
      </p:sp>
    </p:spTree>
    <p:extLst>
      <p:ext uri="{BB962C8B-B14F-4D97-AF65-F5344CB8AC3E}">
        <p14:creationId xmlns:p14="http://schemas.microsoft.com/office/powerpoint/2010/main" val="180682622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926854" y="2401105"/>
            <a:ext cx="6264696" cy="39703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998862" y="2291377"/>
            <a:ext cx="5053941"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Logo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搜索框</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 action="#"&gt;&lt;/form&gt;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登录链接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&lt;/header&gt;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7"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编写搜索栏结构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130093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638822" y="2163540"/>
            <a:ext cx="7128792" cy="42982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782838" y="2133650"/>
            <a:ext cx="6912768" cy="4222310"/>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fixed;  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0;top: 0;height: 40px;width: 100%;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z-index: 1000;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避免搜索栏被遮挡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max-width: 640px;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设置最大宽度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min-width: 320px;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设置最小宽度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margin: 0 auto;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设置水平居中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rgba</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(201,21,35,0);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设置透明度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 40px; position: relative;</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7"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编写搜索栏样式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91775968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884861" y="2466496"/>
            <a:ext cx="5652628" cy="27363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992873" y="2585950"/>
            <a:ext cx="5544616" cy="230832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Logo --&gt;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icon_logo</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Logo</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Logo</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部分结构代码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37782205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857767" y="2155686"/>
            <a:ext cx="6084676" cy="34637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965779" y="2275140"/>
            <a:ext cx="5400599" cy="3046988"/>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icon_logo</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60px;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 36px;</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absolute;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background-position: 0 -103px;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top: 4px;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left: 10px;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Logo</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Logo</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部分样式代码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81401501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1062767" y="1266046"/>
            <a:ext cx="10153128"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为了方便查看</a:t>
            </a:r>
            <a:r>
              <a:rPr lang="en-US" altLang="zh-CN" dirty="0"/>
              <a:t>Logo</a:t>
            </a:r>
            <a:r>
              <a:rPr lang="zh-CN" altLang="en-US" dirty="0"/>
              <a:t>效果，给</a:t>
            </a:r>
            <a:r>
              <a:rPr lang="en-US" altLang="zh-CN" dirty="0">
                <a:solidFill>
                  <a:srgbClr val="1369B2"/>
                </a:solidFill>
              </a:rPr>
              <a:t>.</a:t>
            </a:r>
            <a:r>
              <a:rPr lang="en-US" altLang="zh-CN" dirty="0" err="1">
                <a:solidFill>
                  <a:srgbClr val="1369B2"/>
                </a:solidFill>
              </a:rPr>
              <a:t>hm_header</a:t>
            </a:r>
            <a:r>
              <a:rPr lang="zh-CN" altLang="en-US" dirty="0"/>
              <a:t>元素临时设置一个背景色</a:t>
            </a:r>
            <a:r>
              <a:rPr lang="en-US" altLang="zh-CN" dirty="0">
                <a:solidFill>
                  <a:srgbClr val="1369B2"/>
                </a:solidFill>
              </a:rPr>
              <a:t>background:#000</a:t>
            </a:r>
            <a:r>
              <a:rPr lang="zh-CN" altLang="en-US" dirty="0" smtClean="0"/>
              <a:t>，在</a:t>
            </a:r>
            <a:r>
              <a:rPr lang="zh-CN" altLang="en-US" dirty="0"/>
              <a:t>浏览器中查看</a:t>
            </a:r>
            <a:r>
              <a:rPr lang="en-US" altLang="zh-CN" dirty="0"/>
              <a:t>Logo</a:t>
            </a:r>
            <a:r>
              <a:rPr lang="zh-CN" altLang="en-US" dirty="0"/>
              <a:t>效果。</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902" y="2709714"/>
            <a:ext cx="556085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Tree>
    <p:extLst>
      <p:ext uri="{BB962C8B-B14F-4D97-AF65-F5344CB8AC3E}">
        <p14:creationId xmlns:p14="http://schemas.microsoft.com/office/powerpoint/2010/main" val="17362158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098762" y="2188984"/>
            <a:ext cx="7164796" cy="39051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206774" y="2308438"/>
            <a:ext cx="6048672" cy="341632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搜索框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form action="#"&gt;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icon_search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&lt;input type="search" placeholder="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&lt;/form&gt;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编写搜索框结构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搜索框结构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05</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96735234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247742" y="2240800"/>
            <a:ext cx="9983639" cy="36170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1247742" y="2441554"/>
            <a:ext cx="9983639" cy="341632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form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100%;padding-left: 75px;padding-right: 50px;height: 40px;position: relative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form input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100%;height: 30px;border-radius: 15px;margin-top: 5px;padding-left: 30px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form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icon_search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 20px;width: 20px;position: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absolute;background-position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-60px -109px;top: 10px;left: 85px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编写搜索框样式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搜索框样式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06</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02467075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982638" y="1246485"/>
            <a:ext cx="1015312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smtClean="0"/>
              <a:t>在</a:t>
            </a:r>
            <a:r>
              <a:rPr lang="zh-CN" altLang="en-US" dirty="0"/>
              <a:t>浏览器中查看</a:t>
            </a:r>
            <a:r>
              <a:rPr lang="zh-CN" altLang="en-US" dirty="0">
                <a:solidFill>
                  <a:srgbClr val="1369B2"/>
                </a:solidFill>
              </a:rPr>
              <a:t>搜索框</a:t>
            </a:r>
            <a:r>
              <a:rPr lang="zh-CN" altLang="en-US" dirty="0"/>
              <a:t>效果。</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862" y="2493690"/>
            <a:ext cx="5679902" cy="588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Tree>
    <p:extLst>
      <p:ext uri="{BB962C8B-B14F-4D97-AF65-F5344CB8AC3E}">
        <p14:creationId xmlns:p14="http://schemas.microsoft.com/office/powerpoint/2010/main" val="400339921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494806" y="2277666"/>
            <a:ext cx="6336704" cy="29129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638822" y="2405740"/>
            <a:ext cx="6048672" cy="2585323"/>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 class="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登录链接 </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8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class="login"&gt;</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登录</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&lt;/header&gt;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12"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编写登录链接结构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搜索栏登录链接</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07</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07057992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3070870" y="2151388"/>
            <a:ext cx="6336704" cy="42084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3502918" y="2151388"/>
            <a:ext cx="6048672" cy="411151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.login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50px;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height: 40px;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line-height: 40px;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text-align: center;</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color: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absolute;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right: 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top: 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font-size: 15px;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编写登录链接样式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搜索栏登录链接</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08</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38874053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838622" y="1187907"/>
            <a:ext cx="10153128" cy="3323987"/>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保存上述代码，在浏览器中查看</a:t>
            </a:r>
            <a:r>
              <a:rPr lang="zh-CN" altLang="en-US" dirty="0">
                <a:solidFill>
                  <a:srgbClr val="1369B2"/>
                </a:solidFill>
              </a:rPr>
              <a:t>登录链接效果</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搜索</a:t>
            </a:r>
            <a:r>
              <a:rPr lang="zh-CN" altLang="en-US" dirty="0"/>
              <a:t>栏布局完成后，为了不影响后面其他模块的实现效果，我们需要</a:t>
            </a:r>
            <a:r>
              <a:rPr lang="zh-CN" altLang="en-US" dirty="0">
                <a:solidFill>
                  <a:srgbClr val="1369B2"/>
                </a:solidFill>
              </a:rPr>
              <a:t>去掉</a:t>
            </a:r>
            <a:r>
              <a:rPr lang="zh-CN" altLang="en-US" dirty="0"/>
              <a:t>前面给</a:t>
            </a:r>
            <a:r>
              <a:rPr lang="en-US" altLang="zh-CN" dirty="0">
                <a:solidFill>
                  <a:srgbClr val="1369B2"/>
                </a:solidFill>
              </a:rPr>
              <a:t>.</a:t>
            </a:r>
            <a:r>
              <a:rPr lang="en-US" altLang="zh-CN" dirty="0" err="1">
                <a:solidFill>
                  <a:srgbClr val="1369B2"/>
                </a:solidFill>
              </a:rPr>
              <a:t>hm_header</a:t>
            </a:r>
            <a:r>
              <a:rPr lang="zh-CN" altLang="en-US" dirty="0"/>
              <a:t>元素临时设置的背景色</a:t>
            </a:r>
            <a:r>
              <a:rPr lang="en-US" altLang="zh-CN" dirty="0">
                <a:solidFill>
                  <a:srgbClr val="1369B2"/>
                </a:solidFill>
              </a:rPr>
              <a:t>background:#000</a:t>
            </a:r>
            <a:r>
              <a:rPr lang="en-US" altLang="zh-CN" dirty="0" smtClean="0">
                <a:solidFill>
                  <a:srgbClr val="1369B2"/>
                </a:solidFill>
              </a:rPr>
              <a:t>;</a:t>
            </a:r>
            <a:r>
              <a:rPr lang="zh-CN" altLang="en-US" dirty="0" smtClean="0"/>
              <a:t>。</a:t>
            </a:r>
            <a:endParaRPr lang="zh-CN" altLang="en-US"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854" y="2284861"/>
            <a:ext cx="5616624" cy="58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搜索栏布局</a:t>
            </a:r>
          </a:p>
        </p:txBody>
      </p:sp>
    </p:spTree>
    <p:extLst>
      <p:ext uri="{BB962C8B-B14F-4D97-AF65-F5344CB8AC3E}">
        <p14:creationId xmlns:p14="http://schemas.microsoft.com/office/powerpoint/2010/main" val="200668826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轮播图</a:t>
            </a:r>
            <a:r>
              <a:rPr lang="zh-CN" altLang="en-US" dirty="0" smtClean="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的搭建，能够实现轮播</a:t>
            </a:r>
            <a:r>
              <a:rPr lang="zh-CN" altLang="en-US" dirty="0" smtClean="0">
                <a:solidFill>
                  <a:srgbClr val="595959"/>
                </a:solidFill>
                <a:latin typeface="微软雅黑" panose="020B0503020204020204" pitchFamily="34" charset="-122"/>
                <a:ea typeface="微软雅黑" panose="020B0503020204020204" pitchFamily="34" charset="-122"/>
              </a:rPr>
              <a:t>图布局效果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Tree>
    <p:extLst>
      <p:ext uri="{BB962C8B-B14F-4D97-AF65-F5344CB8AC3E}">
        <p14:creationId xmlns:p14="http://schemas.microsoft.com/office/powerpoint/2010/main" val="420134971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982638" y="1197546"/>
            <a:ext cx="10441160"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“移动商城”搜索栏的下方是</a:t>
            </a:r>
            <a:r>
              <a:rPr lang="zh-CN" altLang="en-US" dirty="0">
                <a:solidFill>
                  <a:srgbClr val="1369B2"/>
                </a:solidFill>
              </a:rPr>
              <a:t>轮播图</a:t>
            </a:r>
            <a:r>
              <a:rPr lang="zh-CN" altLang="en-US" dirty="0"/>
              <a:t>。网页中使用轮播图可以增加焦点信息量，可以在一个区域展示多张宣传图。</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942" y="2637706"/>
            <a:ext cx="5949954" cy="2888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Tree>
    <p:extLst>
      <p:ext uri="{BB962C8B-B14F-4D97-AF65-F5344CB8AC3E}">
        <p14:creationId xmlns:p14="http://schemas.microsoft.com/office/powerpoint/2010/main" val="122473416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998862" y="2493690"/>
            <a:ext cx="6480720" cy="3563354"/>
          </a:xfrm>
          <a:prstGeom prst="rect">
            <a:avLst/>
          </a:prstGeom>
        </p:spPr>
      </p:pic>
      <p:sp>
        <p:nvSpPr>
          <p:cNvPr id="7"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7703FD65-B89F-412B-8A06-6737B2815C80}"/>
              </a:ext>
            </a:extLst>
          </p:cNvPr>
          <p:cNvSpPr txBox="1"/>
          <p:nvPr/>
        </p:nvSpPr>
        <p:spPr>
          <a:xfrm>
            <a:off x="982638" y="1732071"/>
            <a:ext cx="10585846"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整个轮播图可以分为两部分，包括</a:t>
            </a:r>
            <a:r>
              <a:rPr lang="zh-CN" altLang="en-US" dirty="0">
                <a:solidFill>
                  <a:srgbClr val="1369B2"/>
                </a:solidFill>
              </a:rPr>
              <a:t>轮播图图片</a:t>
            </a:r>
            <a:r>
              <a:rPr lang="zh-CN" altLang="en-US" dirty="0"/>
              <a:t>和</a:t>
            </a:r>
            <a:r>
              <a:rPr lang="zh-CN" altLang="en-US" dirty="0">
                <a:solidFill>
                  <a:srgbClr val="1369B2"/>
                </a:solidFill>
              </a:rPr>
              <a:t>轮播图指示器</a:t>
            </a:r>
            <a:r>
              <a:rPr lang="zh-CN" altLang="en-US" dirty="0"/>
              <a:t>（图片轮播时随之变化的小圆点），轮播图结构设计图。</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Tree>
    <p:extLst>
      <p:ext uri="{BB962C8B-B14F-4D97-AF65-F5344CB8AC3E}">
        <p14:creationId xmlns:p14="http://schemas.microsoft.com/office/powerpoint/2010/main" val="374702348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
        <p:nvSpPr>
          <p:cNvPr id="9" name="TextBox 4"/>
          <p:cNvSpPr txBox="1">
            <a:spLocks noChangeArrowheads="1"/>
          </p:cNvSpPr>
          <p:nvPr/>
        </p:nvSpPr>
        <p:spPr bwMode="auto">
          <a:xfrm>
            <a:off x="406574" y="1773610"/>
            <a:ext cx="9073008" cy="196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a:solidFill>
                  <a:srgbClr val="595959"/>
                </a:solidFill>
                <a:latin typeface="微软雅黑" panose="020B0503020204020204" pitchFamily="34" charset="-122"/>
                <a:ea typeface="微软雅黑" panose="020B0503020204020204" pitchFamily="34" charset="-122"/>
              </a:rPr>
              <a:t>轮播图实现细节说明</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整个轮播图包含在</a:t>
            </a:r>
            <a:r>
              <a:rPr lang="en-US" altLang="zh-CN" sz="2000" dirty="0">
                <a:solidFill>
                  <a:srgbClr val="1369B2"/>
                </a:solidFill>
                <a:latin typeface="微软雅黑" panose="020B0503020204020204" pitchFamily="34" charset="-122"/>
                <a:ea typeface="微软雅黑" panose="020B0503020204020204" pitchFamily="34" charset="-122"/>
                <a:sym typeface="+mn-ea"/>
              </a:rPr>
              <a:t>&lt;div&gt;</a:t>
            </a:r>
            <a:r>
              <a:rPr lang="zh-CN" altLang="en-US" sz="2000" dirty="0">
                <a:solidFill>
                  <a:srgbClr val="1369B2"/>
                </a:solidFill>
                <a:latin typeface="微软雅黑" panose="020B0503020204020204" pitchFamily="34" charset="-122"/>
                <a:ea typeface="微软雅黑" panose="020B0503020204020204" pitchFamily="34" charset="-122"/>
                <a:sym typeface="+mn-ea"/>
              </a:rPr>
              <a:t>容器</a:t>
            </a:r>
            <a:r>
              <a:rPr lang="zh-CN" altLang="en-US" sz="2000" dirty="0">
                <a:solidFill>
                  <a:srgbClr val="595959"/>
                </a:solidFill>
                <a:latin typeface="微软雅黑" panose="020B0503020204020204" pitchFamily="34" charset="-122"/>
                <a:ea typeface="微软雅黑" panose="020B0503020204020204" pitchFamily="34" charset="-122"/>
                <a:sym typeface="+mn-ea"/>
              </a:rPr>
              <a:t>中，采用相对定位。</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轮播图图片使用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a:t>
            </a:r>
            <a:r>
              <a:rPr lang="en-US" altLang="zh-CN" sz="2000" dirty="0" err="1">
                <a:solidFill>
                  <a:srgbClr val="1369B2"/>
                </a:solidFill>
                <a:latin typeface="微软雅黑" panose="020B0503020204020204" pitchFamily="34" charset="-122"/>
                <a:ea typeface="微软雅黑" panose="020B0503020204020204" pitchFamily="34" charset="-122"/>
                <a:sym typeface="+mn-ea"/>
              </a:rPr>
              <a:t>ul</a:t>
            </a:r>
            <a:r>
              <a:rPr lang="en-US" altLang="zh-CN" sz="2000" dirty="0">
                <a:solidFill>
                  <a:srgbClr val="1369B2"/>
                </a:solidFill>
                <a:latin typeface="微软雅黑" panose="020B0503020204020204" pitchFamily="34" charset="-122"/>
                <a:ea typeface="微软雅黑" panose="020B0503020204020204" pitchFamily="34" charset="-122"/>
                <a:sym typeface="+mn-ea"/>
              </a:rPr>
              <a:t>&gt;</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&lt;li&gt;</a:t>
            </a:r>
            <a:r>
              <a:rPr lang="zh-CN" altLang="en-US" sz="2000" dirty="0">
                <a:solidFill>
                  <a:srgbClr val="595959"/>
                </a:solidFill>
                <a:latin typeface="微软雅黑" panose="020B0503020204020204" pitchFamily="34" charset="-122"/>
                <a:ea typeface="微软雅黑" panose="020B0503020204020204" pitchFamily="34" charset="-122"/>
                <a:sym typeface="+mn-ea"/>
              </a:rPr>
              <a:t>布局。</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轮播图指示器使用</a:t>
            </a:r>
            <a:r>
              <a:rPr lang="en-US" altLang="zh-CN" sz="2000" dirty="0">
                <a:solidFill>
                  <a:srgbClr val="1369B2"/>
                </a:solidFill>
                <a:latin typeface="微软雅黑" panose="020B0503020204020204" pitchFamily="34" charset="-122"/>
                <a:ea typeface="微软雅黑" panose="020B0503020204020204" pitchFamily="34" charset="-122"/>
                <a:sym typeface="+mn-ea"/>
              </a:rPr>
              <a:t>&lt;</a:t>
            </a:r>
            <a:r>
              <a:rPr lang="en-US" altLang="zh-CN" sz="2000" dirty="0" err="1">
                <a:solidFill>
                  <a:srgbClr val="1369B2"/>
                </a:solidFill>
                <a:latin typeface="微软雅黑" panose="020B0503020204020204" pitchFamily="34" charset="-122"/>
                <a:ea typeface="微软雅黑" panose="020B0503020204020204" pitchFamily="34" charset="-122"/>
                <a:sym typeface="+mn-ea"/>
              </a:rPr>
              <a:t>ul</a:t>
            </a:r>
            <a:r>
              <a:rPr lang="en-US" altLang="zh-CN" sz="2000" dirty="0">
                <a:solidFill>
                  <a:srgbClr val="1369B2"/>
                </a:solidFill>
                <a:latin typeface="微软雅黑" panose="020B0503020204020204" pitchFamily="34" charset="-122"/>
                <a:ea typeface="微软雅黑" panose="020B0503020204020204" pitchFamily="34" charset="-122"/>
                <a:sym typeface="+mn-ea"/>
              </a:rPr>
              <a:t>&gt;</a:t>
            </a:r>
            <a:r>
              <a:rPr lang="zh-CN" altLang="en-US"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&lt;li&gt;</a:t>
            </a:r>
            <a:r>
              <a:rPr lang="zh-CN" altLang="en-US" sz="2000" dirty="0">
                <a:solidFill>
                  <a:srgbClr val="595959"/>
                </a:solidFill>
                <a:latin typeface="微软雅黑" panose="020B0503020204020204" pitchFamily="34" charset="-122"/>
                <a:ea typeface="微软雅黑" panose="020B0503020204020204" pitchFamily="34" charset="-122"/>
                <a:sym typeface="+mn-ea"/>
              </a:rPr>
              <a:t>布局，用于控制轮播图播放序列。</a:t>
            </a:r>
          </a:p>
        </p:txBody>
      </p:sp>
    </p:spTree>
    <p:extLst>
      <p:ext uri="{BB962C8B-B14F-4D97-AF65-F5344CB8AC3E}">
        <p14:creationId xmlns:p14="http://schemas.microsoft.com/office/powerpoint/2010/main" val="75545026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D7B789A8-33E7-4059-9F3F-87FE2CF262B4}"/>
              </a:ext>
            </a:extLst>
          </p:cNvPr>
          <p:cNvSpPr txBox="1"/>
          <p:nvPr/>
        </p:nvSpPr>
        <p:spPr>
          <a:xfrm>
            <a:off x="2278782" y="2073937"/>
            <a:ext cx="8136904" cy="42233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1" name="矩形 10"/>
          <p:cNvSpPr/>
          <p:nvPr/>
        </p:nvSpPr>
        <p:spPr bwMode="auto">
          <a:xfrm>
            <a:off x="2494806" y="2087804"/>
            <a:ext cx="7920880" cy="4222310"/>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="images/1.jpg"&gt;&lt;/a&gt;&lt;/li&gt;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="images/2.jpg"&gt;&lt;/a&gt;&lt;/li&gt;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此处</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省略</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8</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&lt;li</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 class="active"&gt;&lt;/li&gt;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此处省略</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6</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&lt;li&gt;... --&gt;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sp>
        <p:nvSpPr>
          <p:cNvPr id="1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
        <p:nvSpPr>
          <p:cNvPr id="8"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编写轮播图结构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轮播图结构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38983507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641158" y="2125932"/>
            <a:ext cx="5832648" cy="44002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854846" y="2191841"/>
            <a:ext cx="5832648" cy="4222310"/>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overflow: hidden;</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relative;</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800%;}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12.5%;float: left;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100%;display: block;</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
        <p:nvSpPr>
          <p:cNvPr id="8"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编写轮播图样式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轮播图样式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70794185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774726" y="2205658"/>
            <a:ext cx="9397044" cy="3960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1882738" y="2346389"/>
            <a:ext cx="9073008" cy="3613297"/>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指示器样式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128px;height: 10px;</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轮播图指示器居中显示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absolute;left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50%;bottom: 5px;transform: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translateX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(-50%);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6px;height: 6px;border-radius: 3px;border: 1px solid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fff;float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left;margin-left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10px;</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li:first-of-type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{margin-left: 0px;/*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重置第一个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的左边距为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li.active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{background-color: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
        <p:nvSpPr>
          <p:cNvPr id="7"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编写轮播图指示器样式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轮播图指示器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06964115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1143690" y="1140362"/>
            <a:ext cx="1015312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smtClean="0"/>
              <a:t>在</a:t>
            </a:r>
            <a:r>
              <a:rPr lang="zh-CN" altLang="zh-CN" dirty="0"/>
              <a:t>浏览器中查看</a:t>
            </a:r>
            <a:r>
              <a:rPr lang="zh-CN" altLang="en-US" dirty="0">
                <a:solidFill>
                  <a:srgbClr val="1369B2"/>
                </a:solidFill>
              </a:rPr>
              <a:t>轮播图</a:t>
            </a:r>
            <a:r>
              <a:rPr lang="zh-CN" altLang="zh-CN" dirty="0"/>
              <a:t>效果</a:t>
            </a:r>
            <a:r>
              <a:rPr lang="zh-CN" altLang="en-US" sz="1800" dirty="0"/>
              <a:t>。</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862" y="2061642"/>
            <a:ext cx="5487993"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轮播图布局</a:t>
            </a:r>
          </a:p>
        </p:txBody>
      </p:sp>
    </p:spTree>
    <p:extLst>
      <p:ext uri="{BB962C8B-B14F-4D97-AF65-F5344CB8AC3E}">
        <p14:creationId xmlns:p14="http://schemas.microsoft.com/office/powerpoint/2010/main" val="52627693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导航栏</a:t>
            </a:r>
            <a:r>
              <a:rPr lang="zh-CN" altLang="en-US" dirty="0" smtClean="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的搭建，能够实现导航</a:t>
            </a:r>
            <a:r>
              <a:rPr lang="zh-CN" altLang="en-US" dirty="0" smtClean="0">
                <a:solidFill>
                  <a:srgbClr val="595959"/>
                </a:solidFill>
                <a:latin typeface="微软雅黑" panose="020B0503020204020204" pitchFamily="34" charset="-122"/>
                <a:ea typeface="微软雅黑" panose="020B0503020204020204" pitchFamily="34" charset="-122"/>
              </a:rPr>
              <a:t>栏布局效果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导航栏布局</a:t>
            </a:r>
          </a:p>
        </p:txBody>
      </p:sp>
    </p:spTree>
    <p:extLst>
      <p:ext uri="{BB962C8B-B14F-4D97-AF65-F5344CB8AC3E}">
        <p14:creationId xmlns:p14="http://schemas.microsoft.com/office/powerpoint/2010/main" val="323954494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703FD65-B89F-412B-8A06-6737B2815C80}"/>
              </a:ext>
            </a:extLst>
          </p:cNvPr>
          <p:cNvSpPr txBox="1"/>
          <p:nvPr/>
        </p:nvSpPr>
        <p:spPr>
          <a:xfrm>
            <a:off x="982638" y="1269554"/>
            <a:ext cx="10801200"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对于电商网站首页而言，无论是</a:t>
            </a:r>
            <a:r>
              <a:rPr lang="en-US" altLang="zh-CN" dirty="0">
                <a:solidFill>
                  <a:srgbClr val="1369B2"/>
                </a:solidFill>
              </a:rPr>
              <a:t>PC</a:t>
            </a:r>
            <a:r>
              <a:rPr lang="zh-CN" altLang="en-US" dirty="0">
                <a:solidFill>
                  <a:srgbClr val="1369B2"/>
                </a:solidFill>
              </a:rPr>
              <a:t>端</a:t>
            </a:r>
            <a:r>
              <a:rPr lang="zh-CN" altLang="en-US" dirty="0"/>
              <a:t>还是</a:t>
            </a:r>
            <a:r>
              <a:rPr lang="zh-CN" altLang="en-US" dirty="0">
                <a:solidFill>
                  <a:srgbClr val="1369B2"/>
                </a:solidFill>
              </a:rPr>
              <a:t>移动端</a:t>
            </a:r>
            <a:r>
              <a:rPr lang="zh-CN" altLang="en-US" dirty="0"/>
              <a:t>，</a:t>
            </a:r>
            <a:r>
              <a:rPr lang="zh-CN" altLang="en-US" dirty="0">
                <a:solidFill>
                  <a:srgbClr val="1369B2"/>
                </a:solidFill>
              </a:rPr>
              <a:t>导航栏</a:t>
            </a:r>
            <a:r>
              <a:rPr lang="zh-CN" altLang="en-US" dirty="0"/>
              <a:t>都是不可缺少的内容</a:t>
            </a:r>
            <a:r>
              <a:rPr lang="zh-CN" altLang="en-US" dirty="0" smtClean="0"/>
              <a:t>。</a:t>
            </a:r>
            <a:endParaRPr lang="en-US" altLang="zh-CN" dirty="0" smtClean="0"/>
          </a:p>
          <a:p>
            <a:r>
              <a:rPr lang="zh-CN" altLang="en-US" dirty="0" smtClean="0"/>
              <a:t>移动端为了</a:t>
            </a:r>
            <a:r>
              <a:rPr lang="zh-CN" altLang="en-US" dirty="0"/>
              <a:t>方便用户点触，一般会设计成</a:t>
            </a:r>
            <a:r>
              <a:rPr lang="zh-CN" altLang="en-US" dirty="0">
                <a:solidFill>
                  <a:srgbClr val="1369B2"/>
                </a:solidFill>
              </a:rPr>
              <a:t>独立图标</a:t>
            </a:r>
            <a:r>
              <a:rPr lang="zh-CN" altLang="en-US" dirty="0"/>
              <a:t>的形式。</a:t>
            </a:r>
          </a:p>
        </p:txBody>
      </p:sp>
      <p:pic>
        <p:nvPicPr>
          <p:cNvPr id="9218"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870" y="2781691"/>
            <a:ext cx="5998552"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导航栏布局</a:t>
            </a:r>
          </a:p>
        </p:txBody>
      </p:sp>
    </p:spTree>
    <p:extLst>
      <p:ext uri="{BB962C8B-B14F-4D97-AF65-F5344CB8AC3E}">
        <p14:creationId xmlns:p14="http://schemas.microsoft.com/office/powerpoint/2010/main" val="357980809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7703FD65-B89F-412B-8A06-6737B2815C80}"/>
              </a:ext>
            </a:extLst>
          </p:cNvPr>
          <p:cNvSpPr txBox="1"/>
          <p:nvPr/>
        </p:nvSpPr>
        <p:spPr>
          <a:xfrm>
            <a:off x="982638" y="1732071"/>
            <a:ext cx="10585846" cy="4996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整个</a:t>
            </a:r>
            <a:r>
              <a:rPr lang="zh-CN" altLang="en-US" dirty="0">
                <a:solidFill>
                  <a:srgbClr val="1369B2"/>
                </a:solidFill>
              </a:rPr>
              <a:t>导航栏</a:t>
            </a:r>
            <a:r>
              <a:rPr lang="zh-CN" altLang="en-US" dirty="0"/>
              <a:t>的页面结构都是由</a:t>
            </a:r>
            <a:r>
              <a:rPr lang="en-US" altLang="zh-CN" dirty="0"/>
              <a:t>&lt;</a:t>
            </a:r>
            <a:r>
              <a:rPr lang="en-US" altLang="zh-CN" dirty="0" err="1"/>
              <a:t>ul</a:t>
            </a:r>
            <a:r>
              <a:rPr lang="en-US" altLang="zh-CN" dirty="0"/>
              <a:t>&gt;</a:t>
            </a:r>
            <a:r>
              <a:rPr lang="zh-CN" altLang="en-US" dirty="0"/>
              <a:t>和</a:t>
            </a:r>
            <a:r>
              <a:rPr lang="en-US" altLang="zh-CN" dirty="0"/>
              <a:t>&lt;li&gt;</a:t>
            </a:r>
            <a:r>
              <a:rPr lang="zh-CN" altLang="en-US" dirty="0"/>
              <a:t>实现的，导航栏结构设计</a:t>
            </a:r>
            <a:r>
              <a:rPr lang="zh-CN" altLang="en-US" dirty="0" smtClean="0"/>
              <a:t>图如下。</a:t>
            </a:r>
            <a:endParaRPr lang="zh-CN" altLang="en-US" dirty="0"/>
          </a:p>
        </p:txBody>
      </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导航栏布局</a:t>
            </a:r>
          </a:p>
        </p:txBody>
      </p:sp>
      <p:graphicFrame>
        <p:nvGraphicFramePr>
          <p:cNvPr id="3" name="对象 2"/>
          <p:cNvGraphicFramePr>
            <a:graphicFrameLocks noChangeAspect="1"/>
          </p:cNvGraphicFramePr>
          <p:nvPr>
            <p:extLst>
              <p:ext uri="{D42A27DB-BD31-4B8C-83A1-F6EECF244321}">
                <p14:modId xmlns:p14="http://schemas.microsoft.com/office/powerpoint/2010/main" val="2733637576"/>
              </p:ext>
            </p:extLst>
          </p:nvPr>
        </p:nvGraphicFramePr>
        <p:xfrm>
          <a:off x="2566814" y="2205658"/>
          <a:ext cx="6984776" cy="4038344"/>
        </p:xfrm>
        <a:graphic>
          <a:graphicData uri="http://schemas.openxmlformats.org/presentationml/2006/ole">
            <mc:AlternateContent xmlns:mc="http://schemas.openxmlformats.org/markup-compatibility/2006">
              <mc:Choice xmlns:v="urn:schemas-microsoft-com:vml" Requires="v">
                <p:oleObj spid="_x0000_s15757" name="Visio" r:id="rId4" imgW="3838563" imgH="2219382" progId="Visio.Drawing.15">
                  <p:embed/>
                </p:oleObj>
              </mc:Choice>
              <mc:Fallback>
                <p:oleObj name="Visio" r:id="rId4" imgW="3838563" imgH="2219382"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814" y="2205658"/>
                        <a:ext cx="6984776" cy="4038344"/>
                      </a:xfrm>
                      <a:prstGeom prst="rect">
                        <a:avLst/>
                      </a:prstGeom>
                      <a:noFill/>
                    </p:spPr>
                  </p:pic>
                </p:oleObj>
              </mc:Fallback>
            </mc:AlternateContent>
          </a:graphicData>
        </a:graphic>
      </p:graphicFrame>
    </p:spTree>
    <p:extLst>
      <p:ext uri="{BB962C8B-B14F-4D97-AF65-F5344CB8AC3E}">
        <p14:creationId xmlns:p14="http://schemas.microsoft.com/office/powerpoint/2010/main" val="25485825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949243" y="2133650"/>
            <a:ext cx="6048672" cy="42484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3165267" y="2266354"/>
            <a:ext cx="5184576" cy="3902222"/>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导航栏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="images/nav0.png" alt=""/&gt;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&lt;p&gt;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分类查询</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&lt;/p&gt;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此处省略多个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&lt;li&gt;... --&gt;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导航栏布局</a:t>
            </a:r>
          </a:p>
        </p:txBody>
      </p:sp>
      <p:sp>
        <p:nvSpPr>
          <p:cNvPr id="8"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编写导航栏结构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导航栏结构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41636734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134766" y="2132081"/>
            <a:ext cx="8460940" cy="43417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422798" y="2207991"/>
            <a:ext cx="8136904" cy="4222310"/>
          </a:xfrm>
          <a:prstGeom prst="rect">
            <a:avLst/>
          </a:prstGeom>
        </p:spPr>
        <p:txBody>
          <a:bodyPr wrap="square">
            <a:spAutoFit/>
          </a:bodyPr>
          <a:lstStyle/>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导航栏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100%;background-color: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设置父元素</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宽度为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100%</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设置父元素中的子元素</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宽度为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25%</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，一行显示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4</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个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25%;float: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left;text-align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center;margin-top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5px;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60px;</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hm_nav</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 p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line-height: 25px;</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导航栏布局</a:t>
            </a:r>
          </a:p>
        </p:txBody>
      </p:sp>
      <p:sp>
        <p:nvSpPr>
          <p:cNvPr id="12" name="TextBox 35"/>
          <p:cNvSpPr txBox="1">
            <a:spLocks noChangeArrowheads="1"/>
          </p:cNvSpPr>
          <p:nvPr/>
        </p:nvSpPr>
        <p:spPr bwMode="auto">
          <a:xfrm>
            <a:off x="2946879" y="981522"/>
            <a:ext cx="8136768"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编写导航栏样式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导航栏样式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26498685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商品</a:t>
            </a:r>
            <a:r>
              <a:rPr lang="zh-CN" altLang="en-US" dirty="0" smtClean="0">
                <a:solidFill>
                  <a:srgbClr val="1369B2"/>
                </a:solidFill>
                <a:latin typeface="微软雅黑" panose="020B0503020204020204" pitchFamily="34" charset="-122"/>
                <a:ea typeface="微软雅黑" panose="020B0503020204020204" pitchFamily="34" charset="-122"/>
              </a:rPr>
              <a:t>区整体布局</a:t>
            </a:r>
            <a:r>
              <a:rPr lang="zh-CN" altLang="en-US" dirty="0">
                <a:solidFill>
                  <a:srgbClr val="595959"/>
                </a:solidFill>
                <a:latin typeface="微软雅黑" panose="020B0503020204020204" pitchFamily="34" charset="-122"/>
                <a:ea typeface="微软雅黑" panose="020B0503020204020204" pitchFamily="34" charset="-122"/>
              </a:rPr>
              <a:t>的搭建，能够实现商品</a:t>
            </a:r>
            <a:r>
              <a:rPr lang="zh-CN" altLang="en-US" dirty="0" smtClean="0">
                <a:solidFill>
                  <a:srgbClr val="595959"/>
                </a:solidFill>
                <a:latin typeface="微软雅黑" panose="020B0503020204020204" pitchFamily="34" charset="-122"/>
                <a:ea typeface="微软雅黑" panose="020B0503020204020204" pitchFamily="34" charset="-122"/>
              </a:rPr>
              <a:t>区整体布局效果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29078202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910630" y="1021317"/>
            <a:ext cx="10801200" cy="961289"/>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整个商品区可以分为</a:t>
            </a:r>
            <a:r>
              <a:rPr lang="en-US" altLang="zh-CN" dirty="0"/>
              <a:t>3</a:t>
            </a:r>
            <a:r>
              <a:rPr lang="zh-CN" altLang="en-US" dirty="0"/>
              <a:t>部分，分别是</a:t>
            </a:r>
            <a:r>
              <a:rPr lang="zh-CN" altLang="en-US" dirty="0">
                <a:solidFill>
                  <a:srgbClr val="1369B2"/>
                </a:solidFill>
              </a:rPr>
              <a:t>秒杀区块</a:t>
            </a:r>
            <a:r>
              <a:rPr lang="zh-CN" altLang="en-US" dirty="0"/>
              <a:t>（掌上秒杀）、</a:t>
            </a:r>
            <a:r>
              <a:rPr lang="zh-CN" altLang="en-US" dirty="0">
                <a:solidFill>
                  <a:srgbClr val="1369B2"/>
                </a:solidFill>
              </a:rPr>
              <a:t>产品区块</a:t>
            </a:r>
            <a:r>
              <a:rPr lang="en-US" altLang="zh-CN" dirty="0">
                <a:solidFill>
                  <a:srgbClr val="1369B2"/>
                </a:solidFill>
              </a:rPr>
              <a:t>1</a:t>
            </a:r>
            <a:r>
              <a:rPr lang="zh-CN" altLang="en-US" dirty="0"/>
              <a:t>（优惠活动）</a:t>
            </a:r>
            <a:r>
              <a:rPr lang="zh-CN" altLang="en-US" dirty="0" smtClean="0"/>
              <a:t>和</a:t>
            </a:r>
            <a:endParaRPr lang="en-US" altLang="zh-CN" dirty="0" smtClean="0"/>
          </a:p>
          <a:p>
            <a:r>
              <a:rPr lang="zh-CN" altLang="en-US" dirty="0" smtClean="0">
                <a:solidFill>
                  <a:srgbClr val="1369B2"/>
                </a:solidFill>
              </a:rPr>
              <a:t>产品</a:t>
            </a:r>
            <a:r>
              <a:rPr lang="zh-CN" altLang="en-US" dirty="0">
                <a:solidFill>
                  <a:srgbClr val="1369B2"/>
                </a:solidFill>
              </a:rPr>
              <a:t>区块</a:t>
            </a:r>
            <a:r>
              <a:rPr lang="en-US" altLang="zh-CN" dirty="0">
                <a:solidFill>
                  <a:srgbClr val="1369B2"/>
                </a:solidFill>
              </a:rPr>
              <a:t>2</a:t>
            </a:r>
            <a:r>
              <a:rPr lang="zh-CN" altLang="en-US" dirty="0"/>
              <a:t>（黑马超市）。</a:t>
            </a: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pic>
        <p:nvPicPr>
          <p:cNvPr id="16386" name="Picture 2" descr="无标题"/>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038" y="1701602"/>
            <a:ext cx="2736304" cy="494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058086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7703FD65-B89F-412B-8A06-6737B2815C80}"/>
              </a:ext>
            </a:extLst>
          </p:cNvPr>
          <p:cNvSpPr txBox="1"/>
          <p:nvPr/>
        </p:nvSpPr>
        <p:spPr>
          <a:xfrm>
            <a:off x="982638" y="1732071"/>
            <a:ext cx="10585846"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整个商品区包含在</a:t>
            </a:r>
            <a:r>
              <a:rPr lang="en-US" altLang="zh-CN" dirty="0">
                <a:solidFill>
                  <a:srgbClr val="1369B2"/>
                </a:solidFill>
              </a:rPr>
              <a:t>&lt;main&gt;</a:t>
            </a:r>
            <a:r>
              <a:rPr lang="zh-CN" altLang="en-US" dirty="0"/>
              <a:t>容器内，并且</a:t>
            </a:r>
            <a:r>
              <a:rPr lang="zh-CN" altLang="en-US" dirty="0">
                <a:solidFill>
                  <a:srgbClr val="1369B2"/>
                </a:solidFill>
              </a:rPr>
              <a:t>秒杀区块</a:t>
            </a:r>
            <a:r>
              <a:rPr lang="zh-CN" altLang="en-US" dirty="0"/>
              <a:t>（掌上秒杀）和</a:t>
            </a:r>
            <a:r>
              <a:rPr lang="zh-CN" altLang="en-US" dirty="0">
                <a:solidFill>
                  <a:srgbClr val="1369B2"/>
                </a:solidFill>
              </a:rPr>
              <a:t>产品区块</a:t>
            </a:r>
            <a:r>
              <a:rPr lang="en-US" altLang="zh-CN" dirty="0">
                <a:solidFill>
                  <a:srgbClr val="1369B2"/>
                </a:solidFill>
              </a:rPr>
              <a:t>1</a:t>
            </a:r>
            <a:r>
              <a:rPr lang="zh-CN" altLang="en-US" dirty="0"/>
              <a:t>（优惠活动）和</a:t>
            </a:r>
            <a:r>
              <a:rPr lang="zh-CN" altLang="en-US" dirty="0">
                <a:solidFill>
                  <a:srgbClr val="1369B2"/>
                </a:solidFill>
              </a:rPr>
              <a:t>产品区块</a:t>
            </a:r>
            <a:r>
              <a:rPr lang="en-US" altLang="zh-CN" dirty="0">
                <a:solidFill>
                  <a:srgbClr val="1369B2"/>
                </a:solidFill>
              </a:rPr>
              <a:t>2</a:t>
            </a:r>
            <a:r>
              <a:rPr lang="zh-CN" altLang="en-US" dirty="0"/>
              <a:t>（黑马超市）这</a:t>
            </a:r>
            <a:r>
              <a:rPr lang="en-US" altLang="zh-CN" dirty="0"/>
              <a:t>3</a:t>
            </a:r>
            <a:r>
              <a:rPr lang="zh-CN" altLang="en-US" dirty="0"/>
              <a:t>部分的头部内容和主体内容结构</a:t>
            </a:r>
            <a:r>
              <a:rPr lang="zh-CN" altLang="en-US" dirty="0" smtClean="0"/>
              <a:t>相似。商品</a:t>
            </a:r>
            <a:r>
              <a:rPr lang="zh-CN" altLang="en-US" dirty="0"/>
              <a:t>区</a:t>
            </a:r>
            <a:r>
              <a:rPr lang="zh-CN" altLang="en-US" dirty="0" smtClean="0"/>
              <a:t>整体结构如下。</a:t>
            </a:r>
            <a:endParaRPr lang="zh-CN" altLang="en-US" dirty="0"/>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graphicFrame>
        <p:nvGraphicFramePr>
          <p:cNvPr id="7" name="对象 6"/>
          <p:cNvGraphicFramePr>
            <a:graphicFrameLocks noChangeAspect="1"/>
          </p:cNvGraphicFramePr>
          <p:nvPr>
            <p:extLst>
              <p:ext uri="{D42A27DB-BD31-4B8C-83A1-F6EECF244321}">
                <p14:modId xmlns:p14="http://schemas.microsoft.com/office/powerpoint/2010/main" val="349187056"/>
              </p:ext>
            </p:extLst>
          </p:nvPr>
        </p:nvGraphicFramePr>
        <p:xfrm>
          <a:off x="2926854" y="2693360"/>
          <a:ext cx="5544616" cy="3701326"/>
        </p:xfrm>
        <a:graphic>
          <a:graphicData uri="http://schemas.openxmlformats.org/presentationml/2006/ole">
            <mc:AlternateContent xmlns:mc="http://schemas.openxmlformats.org/markup-compatibility/2006">
              <mc:Choice xmlns:v="urn:schemas-microsoft-com:vml" Requires="v">
                <p:oleObj spid="_x0000_s17797" name="Visio" r:id="rId3" imgW="4772133" imgH="3181293" progId="Visio.Drawing.15">
                  <p:embed/>
                </p:oleObj>
              </mc:Choice>
              <mc:Fallback>
                <p:oleObj name="Visio" r:id="rId3" imgW="4772133" imgH="318129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6854" y="2693360"/>
                        <a:ext cx="5544616" cy="3701326"/>
                      </a:xfrm>
                      <a:prstGeom prst="rect">
                        <a:avLst/>
                      </a:prstGeom>
                      <a:noFill/>
                    </p:spPr>
                  </p:pic>
                </p:oleObj>
              </mc:Fallback>
            </mc:AlternateContent>
          </a:graphicData>
        </a:graphic>
      </p:graphicFrame>
    </p:spTree>
    <p:extLst>
      <p:ext uri="{BB962C8B-B14F-4D97-AF65-F5344CB8AC3E}">
        <p14:creationId xmlns:p14="http://schemas.microsoft.com/office/powerpoint/2010/main" val="249200564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7B789A8-33E7-4059-9F3F-87FE2CF262B4}"/>
              </a:ext>
            </a:extLst>
          </p:cNvPr>
          <p:cNvSpPr txBox="1"/>
          <p:nvPr/>
        </p:nvSpPr>
        <p:spPr>
          <a:xfrm>
            <a:off x="2494806" y="2185753"/>
            <a:ext cx="7272808" cy="41314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9" name="矩形 8"/>
          <p:cNvSpPr/>
          <p:nvPr/>
        </p:nvSpPr>
        <p:spPr bwMode="auto">
          <a:xfrm>
            <a:off x="2710830" y="2205658"/>
            <a:ext cx="6552727" cy="411151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商品区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&lt;main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hm_product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秒杀区块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产品区块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4" name="TextBox 35"/>
          <p:cNvSpPr txBox="1">
            <a:spLocks noChangeArrowheads="1"/>
          </p:cNvSpPr>
          <p:nvPr/>
        </p:nvSpPr>
        <p:spPr bwMode="auto">
          <a:xfrm>
            <a:off x="2946879" y="981522"/>
            <a:ext cx="8136768" cy="252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编写商品区结构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商品区结构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5" name="组合 14">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6"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6">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07155064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a:extLst>
              <a:ext uri="{FF2B5EF4-FFF2-40B4-BE49-F238E27FC236}">
                <a16:creationId xmlns:a16="http://schemas.microsoft.com/office/drawing/2014/main" id="{D7B789A8-33E7-4059-9F3F-87FE2CF262B4}"/>
              </a:ext>
            </a:extLst>
          </p:cNvPr>
          <p:cNvSpPr txBox="1"/>
          <p:nvPr/>
        </p:nvSpPr>
        <p:spPr>
          <a:xfrm>
            <a:off x="2506326" y="2349674"/>
            <a:ext cx="6926182" cy="25202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4" name="TextBox 35"/>
          <p:cNvSpPr txBox="1">
            <a:spLocks noChangeArrowheads="1"/>
          </p:cNvSpPr>
          <p:nvPr/>
        </p:nvSpPr>
        <p:spPr bwMode="auto">
          <a:xfrm>
            <a:off x="2946879" y="981522"/>
            <a:ext cx="8136768" cy="252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编写商品区结构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商品区结构</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5" name="组合 14">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6"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6">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2" name="矩形 1"/>
          <p:cNvSpPr/>
          <p:nvPr/>
        </p:nvSpPr>
        <p:spPr>
          <a:xfrm>
            <a:off x="2882701" y="2456174"/>
            <a:ext cx="7244953" cy="230832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产品区块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&lt;/section&gt;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&lt;/main&gt;</a:t>
            </a:r>
            <a:endParaRPr lang="zh-CN" altLang="en-US" sz="1600" dirty="0"/>
          </a:p>
        </p:txBody>
      </p:sp>
    </p:spTree>
    <p:extLst>
      <p:ext uri="{BB962C8B-B14F-4D97-AF65-F5344CB8AC3E}">
        <p14:creationId xmlns:p14="http://schemas.microsoft.com/office/powerpoint/2010/main" val="407981783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3142878" y="2133650"/>
            <a:ext cx="5616624" cy="39051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3250890" y="2253105"/>
            <a:ext cx="5076564" cy="3785652"/>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商品区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hm_product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margin-top: 10px;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background-color: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box-shadow:0 0 1px #e0e0e0;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添加阴影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3.4.6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区的整体</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1" name="TextBox 35"/>
          <p:cNvSpPr txBox="1">
            <a:spLocks noChangeArrowheads="1"/>
          </p:cNvSpPr>
          <p:nvPr/>
        </p:nvSpPr>
        <p:spPr bwMode="auto">
          <a:xfrm>
            <a:off x="2946879" y="981522"/>
            <a:ext cx="8136768" cy="298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编写商品区</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商品</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区样式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2" name="组合 11">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3"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4" name="文本框 13">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03806336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16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商品</a:t>
            </a:r>
            <a:r>
              <a:rPr lang="zh-CN" altLang="en-US" dirty="0" smtClean="0">
                <a:solidFill>
                  <a:srgbClr val="1369B2"/>
                </a:solidFill>
                <a:latin typeface="微软雅黑" panose="020B0503020204020204" pitchFamily="34" charset="-122"/>
                <a:ea typeface="微软雅黑" panose="020B0503020204020204" pitchFamily="34" charset="-122"/>
              </a:rPr>
              <a:t>区秒杀区块布局</a:t>
            </a:r>
            <a:r>
              <a:rPr lang="zh-CN" altLang="en-US" dirty="0">
                <a:solidFill>
                  <a:srgbClr val="595959"/>
                </a:solidFill>
                <a:latin typeface="微软雅黑" panose="020B0503020204020204" pitchFamily="34" charset="-122"/>
                <a:ea typeface="微软雅黑" panose="020B0503020204020204" pitchFamily="34" charset="-122"/>
              </a:rPr>
              <a:t>的搭建，能够</a:t>
            </a:r>
            <a:r>
              <a:rPr lang="zh-CN" altLang="en-US" dirty="0" smtClean="0">
                <a:solidFill>
                  <a:srgbClr val="595959"/>
                </a:solidFill>
                <a:latin typeface="微软雅黑" panose="020B0503020204020204" pitchFamily="34" charset="-122"/>
                <a:ea typeface="微软雅黑" panose="020B0503020204020204" pitchFamily="34" charset="-122"/>
              </a:rPr>
              <a:t>实现</a:t>
            </a:r>
            <a:r>
              <a:rPr lang="zh-CN" altLang="en-US" dirty="0">
                <a:solidFill>
                  <a:srgbClr val="595959"/>
                </a:solidFill>
                <a:latin typeface="微软雅黑" panose="020B0503020204020204" pitchFamily="34" charset="-122"/>
                <a:ea typeface="微软雅黑" panose="020B0503020204020204" pitchFamily="34" charset="-122"/>
              </a:rPr>
              <a:t>秒杀</a:t>
            </a:r>
            <a:r>
              <a:rPr lang="zh-CN" altLang="en-US" dirty="0" smtClean="0">
                <a:solidFill>
                  <a:srgbClr val="595959"/>
                </a:solidFill>
                <a:latin typeface="微软雅黑" panose="020B0503020204020204" pitchFamily="34" charset="-122"/>
                <a:ea typeface="微软雅黑" panose="020B0503020204020204" pitchFamily="34" charset="-122"/>
              </a:rPr>
              <a:t>区块的布局效果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Tree>
    <p:extLst>
      <p:ext uri="{BB962C8B-B14F-4D97-AF65-F5344CB8AC3E}">
        <p14:creationId xmlns:p14="http://schemas.microsoft.com/office/powerpoint/2010/main" val="7097905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3" name="文本框 2">
            <a:extLst>
              <a:ext uri="{FF2B5EF4-FFF2-40B4-BE49-F238E27FC236}">
                <a16:creationId xmlns:a16="http://schemas.microsoft.com/office/drawing/2014/main" id="{7703FD65-B89F-412B-8A06-6737B2815C80}"/>
              </a:ext>
            </a:extLst>
          </p:cNvPr>
          <p:cNvSpPr txBox="1"/>
          <p:nvPr/>
        </p:nvSpPr>
        <p:spPr>
          <a:xfrm>
            <a:off x="1143690" y="1795863"/>
            <a:ext cx="10585846"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秒杀区块包含在</a:t>
            </a:r>
            <a:r>
              <a:rPr lang="en-US" altLang="zh-CN" dirty="0"/>
              <a:t>&lt;section&gt;</a:t>
            </a:r>
            <a:r>
              <a:rPr lang="zh-CN" altLang="en-US" dirty="0"/>
              <a:t>容器中，</a:t>
            </a:r>
            <a:r>
              <a:rPr lang="zh-CN" altLang="en-US" dirty="0">
                <a:solidFill>
                  <a:srgbClr val="1369B2"/>
                </a:solidFill>
              </a:rPr>
              <a:t>秒杀区块结构</a:t>
            </a:r>
            <a:r>
              <a:rPr lang="zh-CN" altLang="en-US" dirty="0"/>
              <a:t>。</a:t>
            </a:r>
          </a:p>
        </p:txBody>
      </p:sp>
      <p:sp>
        <p:nvSpPr>
          <p:cNvPr id="5"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907490017"/>
              </p:ext>
            </p:extLst>
          </p:nvPr>
        </p:nvGraphicFramePr>
        <p:xfrm>
          <a:off x="1990750" y="2612574"/>
          <a:ext cx="8061457" cy="3505952"/>
        </p:xfrm>
        <a:graphic>
          <a:graphicData uri="http://schemas.openxmlformats.org/presentationml/2006/ole">
            <mc:AlternateContent xmlns:mc="http://schemas.openxmlformats.org/markup-compatibility/2006">
              <mc:Choice xmlns:v="urn:schemas-microsoft-com:vml" Requires="v">
                <p:oleObj spid="_x0000_s18817" name="Visio" r:id="rId3" imgW="4581585" imgH="1990611" progId="Visio.Drawing.15">
                  <p:embed/>
                </p:oleObj>
              </mc:Choice>
              <mc:Fallback>
                <p:oleObj name="Visio" r:id="rId3" imgW="4581585" imgH="1990611"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750" y="2612574"/>
                        <a:ext cx="8061457" cy="3505952"/>
                      </a:xfrm>
                      <a:prstGeom prst="rect">
                        <a:avLst/>
                      </a:prstGeom>
                      <a:noFill/>
                    </p:spPr>
                  </p:pic>
                </p:oleObj>
              </mc:Fallback>
            </mc:AlternateContent>
          </a:graphicData>
        </a:graphic>
      </p:graphicFrame>
    </p:spTree>
    <p:extLst>
      <p:ext uri="{BB962C8B-B14F-4D97-AF65-F5344CB8AC3E}">
        <p14:creationId xmlns:p14="http://schemas.microsoft.com/office/powerpoint/2010/main" val="12121605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7B789A8-33E7-4059-9F3F-87FE2CF262B4}"/>
              </a:ext>
            </a:extLst>
          </p:cNvPr>
          <p:cNvSpPr txBox="1"/>
          <p:nvPr/>
        </p:nvSpPr>
        <p:spPr>
          <a:xfrm>
            <a:off x="2134766" y="2305430"/>
            <a:ext cx="7920880" cy="29245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0" name="矩形 9"/>
          <p:cNvSpPr/>
          <p:nvPr/>
        </p:nvSpPr>
        <p:spPr bwMode="auto">
          <a:xfrm>
            <a:off x="2491312" y="2349221"/>
            <a:ext cx="7492326" cy="2677656"/>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秒杀区块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m_l10"&gt;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sk_icon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m_l10"&gt;&lt;/span&gt;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秒杀图标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m_l10"&gt;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掌上秒杀</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&lt;/span&gt;&lt;!--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秒杀文字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p:txBody>
      </p:sp>
      <p:sp>
        <p:nvSpPr>
          <p:cNvPr id="11"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杀区块</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头部</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秒杀区块头部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内容结构</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15281301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7B789A8-33E7-4059-9F3F-87FE2CF262B4}"/>
              </a:ext>
            </a:extLst>
          </p:cNvPr>
          <p:cNvSpPr txBox="1"/>
          <p:nvPr/>
        </p:nvSpPr>
        <p:spPr>
          <a:xfrm>
            <a:off x="2062758" y="2255847"/>
            <a:ext cx="8064896" cy="39822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0" name="矩形 9"/>
          <p:cNvSpPr/>
          <p:nvPr/>
        </p:nvSpPr>
        <p:spPr bwMode="auto">
          <a:xfrm>
            <a:off x="2347296" y="2355619"/>
            <a:ext cx="7780358" cy="3785652"/>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m_l10"&gt;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秒杀时间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span&gt;0&lt;/span&gt;&lt;span&gt;0&lt;/span&gt;&lt;span&gt;:&lt;/span&gt;&lt;span&gt;0&lt;/span&gt;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&lt;span&gt;0&lt;/span&lt;span&gt;:&lt;/span&gt;&lt;span&gt;0&lt;/span&lt;span&gt;0&lt;/span&gt;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m_r10"&gt;&lt;a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更多</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&gt;&lt;/a&gt;&lt;/div</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"&gt;&lt;/div&gt;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section&gt;</a:t>
            </a:r>
          </a:p>
        </p:txBody>
      </p:sp>
      <p:sp>
        <p:nvSpPr>
          <p:cNvPr id="11"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杀区块</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头部</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秒杀区块头部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内容结构</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7125980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630710" y="2421682"/>
            <a:ext cx="9361040" cy="3045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022412" y="2599405"/>
            <a:ext cx="8537290" cy="2677656"/>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设置一个样式标记：秒杀块样式开始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{border-bottom: none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去除底部边框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padding-left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0</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秒杀图标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sk_icon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url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("../images/seckill-icon.png") no-repeat;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background-size: 16px 20px;width: 16px;height: 20px;float: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left;margin-top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3px;</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8"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杀区块</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头部样式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秒杀区块头部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内容样式代码。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194013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394797" y="2277666"/>
            <a:ext cx="9524945" cy="36348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1698944" y="2359557"/>
            <a:ext cx="8964996" cy="341632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秒杀文字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sk_name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#d8505c;font-size: 15px;float: left</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秒杀时间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float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left;margin-top:8px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float: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left;width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15px;height: 15px;line-height: 15px;text-align: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center;background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#333</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fff;margin-left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span:nth-child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(3n) {background: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transparent;color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#333;width: 5px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8"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杀区块</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头部样式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秒杀区块头部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内容样式代码。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4610157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03FD65-B89F-412B-8A06-6737B2815C80}"/>
              </a:ext>
            </a:extLst>
          </p:cNvPr>
          <p:cNvSpPr txBox="1"/>
          <p:nvPr/>
        </p:nvSpPr>
        <p:spPr>
          <a:xfrm>
            <a:off x="910630" y="1195437"/>
            <a:ext cx="10153128" cy="4996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smtClean="0"/>
              <a:t>在</a:t>
            </a:r>
            <a:r>
              <a:rPr lang="zh-CN" altLang="zh-CN" dirty="0"/>
              <a:t>浏览器中查看</a:t>
            </a:r>
            <a:r>
              <a:rPr lang="zh-CN" altLang="en-US" dirty="0">
                <a:solidFill>
                  <a:srgbClr val="1369B2"/>
                </a:solidFill>
              </a:rPr>
              <a:t>秒杀区块头部内容</a:t>
            </a:r>
            <a:r>
              <a:rPr lang="zh-CN" altLang="en-US" dirty="0"/>
              <a:t>页面</a:t>
            </a:r>
            <a:r>
              <a:rPr lang="zh-CN" altLang="zh-CN" dirty="0"/>
              <a:t>效果</a:t>
            </a:r>
            <a:r>
              <a:rPr lang="zh-CN" altLang="en-US" sz="1800" dirty="0"/>
              <a:t>。</a:t>
            </a:r>
          </a:p>
        </p:txBody>
      </p:sp>
      <p:pic>
        <p:nvPicPr>
          <p:cNvPr id="1638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4846" y="2205658"/>
            <a:ext cx="5544616" cy="53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Tree>
    <p:extLst>
      <p:ext uri="{BB962C8B-B14F-4D97-AF65-F5344CB8AC3E}">
        <p14:creationId xmlns:p14="http://schemas.microsoft.com/office/powerpoint/2010/main" val="266523312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350790" y="2323049"/>
            <a:ext cx="7272808" cy="31949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530810" y="2397120"/>
            <a:ext cx="6876764" cy="3003515"/>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="images/detail01.jpg" /&gt;&lt;/a&gt;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&lt;p&gt;&amp;yen;10.00&lt;/p&gt;&lt;p&gt;&amp;yen;100.00&lt;/p&gt;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区块主体内容结构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秒杀区块主体内容</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332000550"/>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422798" y="2277666"/>
            <a:ext cx="7272808" cy="32403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530810" y="2397120"/>
            <a:ext cx="6876764" cy="3021981"/>
          </a:xfrm>
          <a:prstGeom prst="rect">
            <a:avLst/>
          </a:prstGeom>
        </p:spPr>
        <p:txBody>
          <a:bodyPr wrap="square">
            <a:spAutoFit/>
          </a:bodyPr>
          <a:lstStyle/>
          <a:p>
            <a:pPr>
              <a:lnSpc>
                <a:spcPct val="12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="images/detail02.jpg" /&gt;&lt;/a&gt;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&lt;p&gt;&amp;yen;10.00&lt;/p&gt;&lt;p&gt;&amp;yen;100.00&lt;/p&gt;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="images/detail01.jpg" /&gt;&lt;/a&gt;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&lt;p&gt;&amp;yen;10.00&lt;/p&gt;&lt;p&gt;&amp;yen;100.00&lt;/p&gt;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&lt;/li&gt;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&lt;/div&gt;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区块主体内容结构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秒杀区块主体内容</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06942823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998862" y="2133650"/>
            <a:ext cx="6120680" cy="4512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3317046" y="2133650"/>
            <a:ext cx="5184576" cy="4499309"/>
          </a:xfrm>
          <a:prstGeom prst="rect">
            <a:avLst/>
          </a:prstGeom>
        </p:spPr>
        <p:txBody>
          <a:bodyPr wrap="square">
            <a:spAutoFit/>
          </a:bodyPr>
          <a:lstStyle/>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秒杀区块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padding: 20px;</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33.33%;float: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left;text-align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center;</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60%;</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display: inline-block;</a:t>
            </a:r>
          </a:p>
          <a:p>
            <a:pPr>
              <a:lnSpc>
                <a:spcPct val="12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清除文本基线，居中对齐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2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区块主体</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秒杀区块主体内容</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9842928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278782" y="2277666"/>
            <a:ext cx="6624736" cy="36213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494806" y="2376180"/>
            <a:ext cx="6192688" cy="3372846"/>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&gt;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p:first-of-type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#d8505c</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padding-top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5px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hm_sk</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 &gt;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p:last-of-type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text-decoration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line-through</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#666</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padding-top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5px;</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
        <p:nvSpPr>
          <p:cNvPr id="12"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编写秒</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杀</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区块主体</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内容样式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秒杀区块主体内容</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96837536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03FD65-B89F-412B-8A06-6737B2815C80}"/>
              </a:ext>
            </a:extLst>
          </p:cNvPr>
          <p:cNvSpPr txBox="1"/>
          <p:nvPr/>
        </p:nvSpPr>
        <p:spPr>
          <a:xfrm>
            <a:off x="1054646" y="1127545"/>
            <a:ext cx="1015312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smtClean="0"/>
              <a:t>在</a:t>
            </a:r>
            <a:r>
              <a:rPr lang="zh-CN" altLang="zh-CN" dirty="0"/>
              <a:t>浏览器中查看</a:t>
            </a:r>
            <a:r>
              <a:rPr lang="zh-CN" altLang="en-US" dirty="0">
                <a:solidFill>
                  <a:srgbClr val="1369B2"/>
                </a:solidFill>
              </a:rPr>
              <a:t>秒杀区块主体内容</a:t>
            </a:r>
            <a:r>
              <a:rPr lang="zh-CN" altLang="en-US" dirty="0"/>
              <a:t>页面</a:t>
            </a:r>
            <a:r>
              <a:rPr lang="zh-CN" altLang="zh-CN" dirty="0"/>
              <a:t>效果</a:t>
            </a:r>
            <a:r>
              <a:rPr lang="zh-CN" altLang="en-US" sz="1800" dirty="0"/>
              <a:t>。</a:t>
            </a:r>
          </a:p>
        </p:txBody>
      </p:sp>
      <p:pic>
        <p:nvPicPr>
          <p:cNvPr id="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2878" y="1989634"/>
            <a:ext cx="5773029"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3.4.7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秒杀区块布局</a:t>
            </a:r>
          </a:p>
        </p:txBody>
      </p:sp>
    </p:spTree>
    <p:extLst>
      <p:ext uri="{BB962C8B-B14F-4D97-AF65-F5344CB8AC3E}">
        <p14:creationId xmlns:p14="http://schemas.microsoft.com/office/powerpoint/2010/main" val="20750251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175785"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商品</a:t>
            </a:r>
            <a:r>
              <a:rPr lang="zh-CN" altLang="en-US" dirty="0" smtClean="0">
                <a:solidFill>
                  <a:srgbClr val="1369B2"/>
                </a:solidFill>
                <a:latin typeface="微软雅黑" panose="020B0503020204020204" pitchFamily="34" charset="-122"/>
                <a:ea typeface="微软雅黑" panose="020B0503020204020204" pitchFamily="34" charset="-122"/>
              </a:rPr>
              <a:t>区产品区块</a:t>
            </a:r>
            <a:r>
              <a:rPr lang="en-US" altLang="zh-CN" dirty="0" smtClean="0">
                <a:solidFill>
                  <a:srgbClr val="1369B2"/>
                </a:solidFill>
                <a:latin typeface="微软雅黑" panose="020B0503020204020204" pitchFamily="34" charset="-122"/>
                <a:ea typeface="微软雅黑" panose="020B0503020204020204" pitchFamily="34" charset="-122"/>
              </a:rPr>
              <a:t>1</a:t>
            </a:r>
            <a:r>
              <a:rPr lang="zh-CN" altLang="en-US" dirty="0" smtClean="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的搭建，能够</a:t>
            </a:r>
            <a:r>
              <a:rPr lang="zh-CN" altLang="en-US" dirty="0" smtClean="0">
                <a:solidFill>
                  <a:srgbClr val="595959"/>
                </a:solidFill>
                <a:latin typeface="微软雅黑" panose="020B0503020204020204" pitchFamily="34" charset="-122"/>
                <a:ea typeface="微软雅黑" panose="020B0503020204020204" pitchFamily="34" charset="-122"/>
              </a:rPr>
              <a:t>实现</a:t>
            </a:r>
            <a:r>
              <a:rPr lang="zh-CN" altLang="en-US" dirty="0">
                <a:solidFill>
                  <a:srgbClr val="595959"/>
                </a:solidFill>
                <a:latin typeface="微软雅黑" panose="020B0503020204020204" pitchFamily="34" charset="-122"/>
                <a:ea typeface="微软雅黑" panose="020B0503020204020204" pitchFamily="34" charset="-122"/>
              </a:rPr>
              <a:t>产品</a:t>
            </a:r>
            <a:r>
              <a:rPr lang="zh-CN" altLang="en-US" dirty="0" smtClean="0">
                <a:solidFill>
                  <a:srgbClr val="595959"/>
                </a:solidFill>
                <a:latin typeface="微软雅黑" panose="020B0503020204020204" pitchFamily="34" charset="-122"/>
                <a:ea typeface="微软雅黑" panose="020B0503020204020204" pitchFamily="34" charset="-122"/>
              </a:rPr>
              <a:t>区块</a:t>
            </a:r>
            <a:r>
              <a:rPr lang="en-US" altLang="zh-CN" dirty="0" smtClean="0">
                <a:solidFill>
                  <a:srgbClr val="595959"/>
                </a:solidFill>
                <a:latin typeface="微软雅黑" panose="020B0503020204020204" pitchFamily="34" charset="-122"/>
                <a:ea typeface="微软雅黑" panose="020B0503020204020204" pitchFamily="34" charset="-122"/>
              </a:rPr>
              <a:t>1</a:t>
            </a:r>
            <a:r>
              <a:rPr lang="zh-CN" altLang="en-US" dirty="0" smtClean="0">
                <a:solidFill>
                  <a:srgbClr val="595959"/>
                </a:solidFill>
                <a:latin typeface="微软雅黑" panose="020B0503020204020204" pitchFamily="34" charset="-122"/>
                <a:ea typeface="微软雅黑" panose="020B0503020204020204" pitchFamily="34" charset="-122"/>
              </a:rPr>
              <a:t>的布局效果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171366129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3" name="文本框 2">
            <a:extLst>
              <a:ext uri="{FF2B5EF4-FFF2-40B4-BE49-F238E27FC236}">
                <a16:creationId xmlns:a16="http://schemas.microsoft.com/office/drawing/2014/main" id="{7703FD65-B89F-412B-8A06-6737B2815C80}"/>
              </a:ext>
            </a:extLst>
          </p:cNvPr>
          <p:cNvSpPr txBox="1"/>
          <p:nvPr/>
        </p:nvSpPr>
        <p:spPr>
          <a:xfrm>
            <a:off x="1143690" y="1773610"/>
            <a:ext cx="10585846" cy="4996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产品区块</a:t>
            </a:r>
            <a:r>
              <a:rPr lang="en-US" altLang="zh-CN" dirty="0"/>
              <a:t>1</a:t>
            </a:r>
            <a:r>
              <a:rPr lang="zh-CN" altLang="en-US" dirty="0"/>
              <a:t>包含在</a:t>
            </a:r>
            <a:r>
              <a:rPr lang="en-US" altLang="zh-CN" dirty="0"/>
              <a:t>&lt;section&gt;</a:t>
            </a:r>
            <a:r>
              <a:rPr lang="zh-CN" altLang="en-US" dirty="0"/>
              <a:t>容器中，</a:t>
            </a:r>
            <a:r>
              <a:rPr lang="zh-CN" altLang="en-US" dirty="0">
                <a:solidFill>
                  <a:srgbClr val="1369B2"/>
                </a:solidFill>
              </a:rPr>
              <a:t>产品区块</a:t>
            </a:r>
            <a:r>
              <a:rPr lang="en-US" altLang="zh-CN" dirty="0">
                <a:solidFill>
                  <a:srgbClr val="1369B2"/>
                </a:solidFill>
              </a:rPr>
              <a:t>1</a:t>
            </a:r>
            <a:r>
              <a:rPr lang="zh-CN" altLang="en-US" dirty="0">
                <a:solidFill>
                  <a:srgbClr val="1369B2"/>
                </a:solidFill>
              </a:rPr>
              <a:t>结构</a:t>
            </a:r>
            <a:r>
              <a:rPr lang="zh-CN" altLang="en-US" dirty="0"/>
              <a:t>。</a:t>
            </a:r>
          </a:p>
        </p:txBody>
      </p:sp>
      <p:graphicFrame>
        <p:nvGraphicFramePr>
          <p:cNvPr id="5" name="对象 4"/>
          <p:cNvGraphicFramePr>
            <a:graphicFrameLocks noChangeAspect="1"/>
          </p:cNvGraphicFramePr>
          <p:nvPr>
            <p:extLst>
              <p:ext uri="{D42A27DB-BD31-4B8C-83A1-F6EECF244321}">
                <p14:modId xmlns:p14="http://schemas.microsoft.com/office/powerpoint/2010/main" val="1575096872"/>
              </p:ext>
            </p:extLst>
          </p:nvPr>
        </p:nvGraphicFramePr>
        <p:xfrm>
          <a:off x="2134766" y="2637706"/>
          <a:ext cx="7560840" cy="2806517"/>
        </p:xfrm>
        <a:graphic>
          <a:graphicData uri="http://schemas.openxmlformats.org/presentationml/2006/ole">
            <mc:AlternateContent xmlns:mc="http://schemas.openxmlformats.org/markup-compatibility/2006">
              <mc:Choice xmlns:v="urn:schemas-microsoft-com:vml" Requires="v">
                <p:oleObj spid="_x0000_s21879" name="Visio" r:id="rId3" imgW="4581585" imgH="1695436" progId="Visio.Drawing.15">
                  <p:embed/>
                </p:oleObj>
              </mc:Choice>
              <mc:Fallback>
                <p:oleObj name="Visio" r:id="rId3" imgW="4581585" imgH="169543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4766" y="2637706"/>
                        <a:ext cx="7560840" cy="2806517"/>
                      </a:xfrm>
                      <a:prstGeom prst="rect">
                        <a:avLst/>
                      </a:prstGeom>
                      <a:noFill/>
                    </p:spPr>
                  </p:pic>
                </p:oleObj>
              </mc:Fallback>
            </mc:AlternateContent>
          </a:graphicData>
        </a:graphic>
      </p:graphicFrame>
      <p:sp>
        <p:nvSpPr>
          <p:cNvPr id="8"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8614419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7B789A8-33E7-4059-9F3F-87FE2CF262B4}"/>
              </a:ext>
            </a:extLst>
          </p:cNvPr>
          <p:cNvSpPr txBox="1"/>
          <p:nvPr/>
        </p:nvSpPr>
        <p:spPr>
          <a:xfrm>
            <a:off x="1142276" y="2045127"/>
            <a:ext cx="10065497" cy="42649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9" name="矩形 8"/>
          <p:cNvSpPr/>
          <p:nvPr/>
        </p:nvSpPr>
        <p:spPr bwMode="auto">
          <a:xfrm>
            <a:off x="1414686" y="2155130"/>
            <a:ext cx="9793088"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产品区块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”&gt;&lt;h3&gt;</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优惠活动</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h3&gt;&lt;/div&gt;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="images/cp1.jpg" /&gt;&lt;/a&gt;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b_bottom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="images/cp2.jpg" alt=""/&gt;&lt;/a&gt;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 "&gt;&lt;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="images/cp3.jpg" alt=""/&gt;&lt;/a&gt;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&lt;/section&gt;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14" name="TextBox 35"/>
          <p:cNvSpPr txBox="1">
            <a:spLocks noChangeArrowheads="1"/>
          </p:cNvSpPr>
          <p:nvPr/>
        </p:nvSpPr>
        <p:spPr bwMode="auto">
          <a:xfrm>
            <a:off x="2946879" y="981522"/>
            <a:ext cx="8136768"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编写产品区块</a:t>
            </a:r>
            <a:r>
              <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index.html</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产品区块</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结构代码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15" name="组合 14">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6"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6">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09011048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766614" y="2305430"/>
            <a:ext cx="10945216" cy="36899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982638" y="2305430"/>
            <a:ext cx="10729192" cy="341632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100%;height: 30px;line-height: 30px;border-bottom: 1px solid #ccc;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padding-left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30px;}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h3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position: relative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color: #666;font-weight: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normal;font-size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15px;}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h3::before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content: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position: absolute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3px;height: 12px;background-color: #e92322;top: 9px;left: -8px;}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.w_50 {display: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block;width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50</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w_50 &gt;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100%;display: block</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{border-right: 1px solid #ccc</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b_bottom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{border-bottom: 1px solid #ccc</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7" name="TextBox 35"/>
          <p:cNvSpPr txBox="1">
            <a:spLocks noChangeArrowheads="1"/>
          </p:cNvSpPr>
          <p:nvPr/>
        </p:nvSpPr>
        <p:spPr bwMode="auto">
          <a:xfrm>
            <a:off x="2946879" y="981522"/>
            <a:ext cx="8136768"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编写产品区块</a:t>
            </a:r>
            <a:r>
              <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文件中编写</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产品区块</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1</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样式代码。</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02157684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03FD65-B89F-412B-8A06-6737B2815C80}"/>
              </a:ext>
            </a:extLst>
          </p:cNvPr>
          <p:cNvSpPr txBox="1"/>
          <p:nvPr/>
        </p:nvSpPr>
        <p:spPr>
          <a:xfrm>
            <a:off x="838622" y="1269554"/>
            <a:ext cx="1015312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a:t>保存上述代码，在浏览器中查看</a:t>
            </a:r>
            <a:r>
              <a:rPr lang="zh-CN" altLang="en-US" dirty="0">
                <a:solidFill>
                  <a:srgbClr val="1369B2"/>
                </a:solidFill>
              </a:rPr>
              <a:t>产品区块</a:t>
            </a:r>
            <a:r>
              <a:rPr lang="en-US" altLang="zh-CN" dirty="0">
                <a:solidFill>
                  <a:srgbClr val="1369B2"/>
                </a:solidFill>
              </a:rPr>
              <a:t>1</a:t>
            </a:r>
            <a:r>
              <a:rPr lang="zh-CN" altLang="en-US" dirty="0"/>
              <a:t>页面</a:t>
            </a:r>
            <a:r>
              <a:rPr lang="zh-CN" altLang="zh-CN" dirty="0"/>
              <a:t>效果</a:t>
            </a:r>
            <a:r>
              <a:rPr lang="zh-CN" altLang="en-US" sz="1800" dirty="0"/>
              <a:t>。</a:t>
            </a: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3.4.8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1</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pic>
        <p:nvPicPr>
          <p:cNvPr id="2867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2938" y="2320026"/>
            <a:ext cx="4464496" cy="28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879328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商品</a:t>
            </a:r>
            <a:r>
              <a:rPr lang="zh-CN" altLang="en-US" dirty="0" smtClean="0">
                <a:solidFill>
                  <a:srgbClr val="1369B2"/>
                </a:solidFill>
                <a:latin typeface="微软雅黑" panose="020B0503020204020204" pitchFamily="34" charset="-122"/>
                <a:ea typeface="微软雅黑" panose="020B0503020204020204" pitchFamily="34" charset="-122"/>
              </a:rPr>
              <a:t>区产品区块</a:t>
            </a:r>
            <a:r>
              <a:rPr lang="en-US" altLang="zh-CN" dirty="0" smtClean="0">
                <a:solidFill>
                  <a:srgbClr val="1369B2"/>
                </a:solidFill>
                <a:latin typeface="微软雅黑" panose="020B0503020204020204" pitchFamily="34" charset="-122"/>
                <a:ea typeface="微软雅黑" panose="020B0503020204020204" pitchFamily="34" charset="-122"/>
              </a:rPr>
              <a:t>2</a:t>
            </a:r>
            <a:r>
              <a:rPr lang="zh-CN" altLang="en-US" dirty="0" smtClean="0">
                <a:solidFill>
                  <a:srgbClr val="1369B2"/>
                </a:solidFill>
                <a:latin typeface="微软雅黑" panose="020B0503020204020204" pitchFamily="34" charset="-122"/>
                <a:ea typeface="微软雅黑" panose="020B0503020204020204" pitchFamily="34" charset="-122"/>
              </a:rPr>
              <a:t>布局</a:t>
            </a:r>
            <a:r>
              <a:rPr lang="zh-CN" altLang="en-US" dirty="0">
                <a:solidFill>
                  <a:srgbClr val="595959"/>
                </a:solidFill>
                <a:latin typeface="微软雅黑" panose="020B0503020204020204" pitchFamily="34" charset="-122"/>
                <a:ea typeface="微软雅黑" panose="020B0503020204020204" pitchFamily="34" charset="-122"/>
              </a:rPr>
              <a:t>的搭建，能够</a:t>
            </a:r>
            <a:r>
              <a:rPr lang="zh-CN" altLang="en-US" dirty="0" smtClean="0">
                <a:solidFill>
                  <a:srgbClr val="595959"/>
                </a:solidFill>
                <a:latin typeface="微软雅黑" panose="020B0503020204020204" pitchFamily="34" charset="-122"/>
                <a:ea typeface="微软雅黑" panose="020B0503020204020204" pitchFamily="34" charset="-122"/>
              </a:rPr>
              <a:t>实现</a:t>
            </a:r>
            <a:r>
              <a:rPr lang="zh-CN" altLang="en-US" dirty="0">
                <a:solidFill>
                  <a:srgbClr val="595959"/>
                </a:solidFill>
                <a:latin typeface="微软雅黑" panose="020B0503020204020204" pitchFamily="34" charset="-122"/>
                <a:ea typeface="微软雅黑" panose="020B0503020204020204" pitchFamily="34" charset="-122"/>
              </a:rPr>
              <a:t>产品</a:t>
            </a:r>
            <a:r>
              <a:rPr lang="zh-CN" altLang="en-US" dirty="0" smtClean="0">
                <a:solidFill>
                  <a:srgbClr val="595959"/>
                </a:solidFill>
                <a:latin typeface="微软雅黑" panose="020B0503020204020204" pitchFamily="34" charset="-122"/>
                <a:ea typeface="微软雅黑" panose="020B0503020204020204" pitchFamily="34" charset="-122"/>
              </a:rPr>
              <a:t>区块</a:t>
            </a:r>
            <a:r>
              <a:rPr lang="en-US" altLang="zh-CN" dirty="0" smtClean="0">
                <a:solidFill>
                  <a:srgbClr val="595959"/>
                </a:solidFill>
                <a:latin typeface="微软雅黑" panose="020B0503020204020204" pitchFamily="34" charset="-122"/>
                <a:ea typeface="微软雅黑" panose="020B0503020204020204" pitchFamily="34" charset="-122"/>
              </a:rPr>
              <a:t>2</a:t>
            </a:r>
            <a:r>
              <a:rPr lang="zh-CN" altLang="en-US" dirty="0" smtClean="0">
                <a:solidFill>
                  <a:srgbClr val="595959"/>
                </a:solidFill>
                <a:latin typeface="微软雅黑" panose="020B0503020204020204" pitchFamily="34" charset="-122"/>
                <a:ea typeface="微软雅黑" panose="020B0503020204020204" pitchFamily="34" charset="-122"/>
              </a:rPr>
              <a:t>的布局效果</a:t>
            </a:r>
            <a:endParaRPr lang="zh-CN" altLang="en-US" dirty="0">
              <a:solidFill>
                <a:srgbClr val="595959"/>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3.4.9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8801538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3.4.9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
        <p:nvSpPr>
          <p:cNvPr id="3" name="文本框 2">
            <a:extLst>
              <a:ext uri="{FF2B5EF4-FFF2-40B4-BE49-F238E27FC236}">
                <a16:creationId xmlns:a16="http://schemas.microsoft.com/office/drawing/2014/main" id="{7703FD65-B89F-412B-8A06-6737B2815C80}"/>
              </a:ext>
            </a:extLst>
          </p:cNvPr>
          <p:cNvSpPr txBox="1"/>
          <p:nvPr/>
        </p:nvSpPr>
        <p:spPr>
          <a:xfrm>
            <a:off x="1143690" y="1773610"/>
            <a:ext cx="10585846"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产品区块</a:t>
            </a:r>
            <a:r>
              <a:rPr lang="en-US" altLang="zh-CN" dirty="0"/>
              <a:t>2</a:t>
            </a:r>
            <a:r>
              <a:rPr lang="zh-CN" altLang="en-US" dirty="0"/>
              <a:t>包含在</a:t>
            </a:r>
            <a:r>
              <a:rPr lang="en-US" altLang="zh-CN" dirty="0"/>
              <a:t>&lt;section&gt;</a:t>
            </a:r>
            <a:r>
              <a:rPr lang="zh-CN" altLang="en-US" dirty="0"/>
              <a:t>容器中，</a:t>
            </a:r>
            <a:r>
              <a:rPr lang="zh-CN" altLang="en-US" dirty="0">
                <a:solidFill>
                  <a:srgbClr val="1369B2"/>
                </a:solidFill>
              </a:rPr>
              <a:t>产品区块</a:t>
            </a:r>
            <a:r>
              <a:rPr lang="en-US" altLang="zh-CN" dirty="0">
                <a:solidFill>
                  <a:srgbClr val="1369B2"/>
                </a:solidFill>
              </a:rPr>
              <a:t>2</a:t>
            </a:r>
            <a:r>
              <a:rPr lang="zh-CN" altLang="en-US" dirty="0">
                <a:solidFill>
                  <a:srgbClr val="1369B2"/>
                </a:solidFill>
              </a:rPr>
              <a:t>结构</a:t>
            </a:r>
            <a:r>
              <a:rPr lang="zh-CN" altLang="en-US" dirty="0"/>
              <a:t>。</a:t>
            </a:r>
          </a:p>
        </p:txBody>
      </p:sp>
      <p:sp>
        <p:nvSpPr>
          <p:cNvPr id="8"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结构分析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661828828"/>
              </p:ext>
            </p:extLst>
          </p:nvPr>
        </p:nvGraphicFramePr>
        <p:xfrm>
          <a:off x="2566814" y="2694725"/>
          <a:ext cx="7200800" cy="2652927"/>
        </p:xfrm>
        <a:graphic>
          <a:graphicData uri="http://schemas.openxmlformats.org/presentationml/2006/ole">
            <mc:AlternateContent xmlns:mc="http://schemas.openxmlformats.org/markup-compatibility/2006">
              <mc:Choice xmlns:v="urn:schemas-microsoft-com:vml" Requires="v">
                <p:oleObj spid="_x0000_s30068" name="Visio" r:id="rId3" imgW="4581585" imgH="1695436" progId="Visio.Drawing.15">
                  <p:embed/>
                </p:oleObj>
              </mc:Choice>
              <mc:Fallback>
                <p:oleObj name="Visio" r:id="rId3" imgW="4581585" imgH="169543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6814" y="2694725"/>
                        <a:ext cx="7200800" cy="2652927"/>
                      </a:xfrm>
                      <a:prstGeom prst="rect">
                        <a:avLst/>
                      </a:prstGeom>
                      <a:noFill/>
                    </p:spPr>
                  </p:pic>
                </p:oleObj>
              </mc:Fallback>
            </mc:AlternateContent>
          </a:graphicData>
        </a:graphic>
      </p:graphicFrame>
    </p:spTree>
    <p:extLst>
      <p:ext uri="{BB962C8B-B14F-4D97-AF65-F5344CB8AC3E}">
        <p14:creationId xmlns:p14="http://schemas.microsoft.com/office/powerpoint/2010/main" val="202589931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6"/>
          <p:cNvSpPr txBox="1"/>
          <p:nvPr/>
        </p:nvSpPr>
        <p:spPr>
          <a:xfrm>
            <a:off x="1142277" y="1095921"/>
            <a:ext cx="2000601"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实现</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 name="文本框 7">
            <a:extLst>
              <a:ext uri="{FF2B5EF4-FFF2-40B4-BE49-F238E27FC236}">
                <a16:creationId xmlns:a16="http://schemas.microsoft.com/office/drawing/2014/main" id="{7703FD65-B89F-412B-8A06-6737B2815C80}"/>
              </a:ext>
            </a:extLst>
          </p:cNvPr>
          <p:cNvSpPr txBox="1"/>
          <p:nvPr/>
        </p:nvSpPr>
        <p:spPr>
          <a:xfrm>
            <a:off x="3394906" y="1035118"/>
            <a:ext cx="6228692"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smtClean="0"/>
              <a:t>在</a:t>
            </a:r>
            <a:r>
              <a:rPr lang="en-US" altLang="zh-CN" dirty="0"/>
              <a:t>index.html</a:t>
            </a:r>
            <a:r>
              <a:rPr lang="zh-CN" altLang="en-US" dirty="0"/>
              <a:t>文件中编写</a:t>
            </a:r>
            <a:r>
              <a:rPr lang="zh-CN" altLang="en-US" dirty="0">
                <a:solidFill>
                  <a:srgbClr val="1369B2"/>
                </a:solidFill>
              </a:rPr>
              <a:t>产品区块</a:t>
            </a:r>
            <a:r>
              <a:rPr lang="en-US" altLang="zh-CN" dirty="0">
                <a:solidFill>
                  <a:srgbClr val="1369B2"/>
                </a:solidFill>
              </a:rPr>
              <a:t>2</a:t>
            </a:r>
            <a:r>
              <a:rPr lang="zh-CN" altLang="en-US" dirty="0"/>
              <a:t>结构代码。</a:t>
            </a:r>
          </a:p>
        </p:txBody>
      </p:sp>
      <p:sp>
        <p:nvSpPr>
          <p:cNvPr id="9" name="文本框 8">
            <a:extLst>
              <a:ext uri="{FF2B5EF4-FFF2-40B4-BE49-F238E27FC236}">
                <a16:creationId xmlns:a16="http://schemas.microsoft.com/office/drawing/2014/main" id="{D7B789A8-33E7-4059-9F3F-87FE2CF262B4}"/>
              </a:ext>
            </a:extLst>
          </p:cNvPr>
          <p:cNvSpPr txBox="1"/>
          <p:nvPr/>
        </p:nvSpPr>
        <p:spPr>
          <a:xfrm>
            <a:off x="1342678" y="1929024"/>
            <a:ext cx="10153128" cy="43439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10" name="矩形 9"/>
          <p:cNvSpPr/>
          <p:nvPr/>
        </p:nvSpPr>
        <p:spPr bwMode="auto">
          <a:xfrm>
            <a:off x="1630710" y="2004571"/>
            <a:ext cx="9865096"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产品区块</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2 --&gt;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&lt;section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头部内容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product_box_tit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"&gt;&lt;h3&gt;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黑马超市</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&lt;/h3&gt;&lt;/div&gt;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主体内容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product_box_con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clearfix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f_right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="images/cp4.jpg" alt=""/&gt;&lt;/a&gt;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b_bottom</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="images/cp5.jpg" alt=""/&gt;&lt;/a&gt;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&lt;a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href</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javascript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class="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f_left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w_50"&gt;&lt;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src</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="images/cp6.jpg" alt=""/&gt;&lt;/a&gt;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&lt;/div&gt;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&lt;/section&gt;</a:t>
            </a:r>
          </a:p>
        </p:txBody>
      </p:sp>
      <p:sp>
        <p:nvSpPr>
          <p:cNvPr id="11"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3.4.9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1841089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03FD65-B89F-412B-8A06-6737B2815C80}"/>
              </a:ext>
            </a:extLst>
          </p:cNvPr>
          <p:cNvSpPr txBox="1"/>
          <p:nvPr/>
        </p:nvSpPr>
        <p:spPr>
          <a:xfrm>
            <a:off x="838622" y="1187907"/>
            <a:ext cx="10153128" cy="4996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a:t>保存上述代码，在浏览器中查看</a:t>
            </a:r>
            <a:r>
              <a:rPr lang="zh-CN" altLang="en-US" dirty="0">
                <a:solidFill>
                  <a:srgbClr val="1369B2"/>
                </a:solidFill>
              </a:rPr>
              <a:t>产品区块</a:t>
            </a:r>
            <a:r>
              <a:rPr lang="en-US" altLang="zh-CN" dirty="0">
                <a:solidFill>
                  <a:srgbClr val="1369B2"/>
                </a:solidFill>
              </a:rPr>
              <a:t>2</a:t>
            </a:r>
            <a:r>
              <a:rPr lang="zh-CN" altLang="en-US" dirty="0"/>
              <a:t>页面</a:t>
            </a:r>
            <a:r>
              <a:rPr lang="zh-CN" altLang="zh-CN" dirty="0"/>
              <a:t>效果</a:t>
            </a:r>
            <a:r>
              <a:rPr lang="zh-CN" altLang="en-US" sz="1800" dirty="0"/>
              <a:t>。</a:t>
            </a:r>
          </a:p>
        </p:txBody>
      </p:sp>
      <p:pic>
        <p:nvPicPr>
          <p:cNvPr id="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0870" y="2183791"/>
            <a:ext cx="4843942" cy="3004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3.4.9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商品区</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产品区块</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布局</a:t>
            </a:r>
          </a:p>
        </p:txBody>
      </p:sp>
    </p:spTree>
    <p:extLst>
      <p:ext uri="{BB962C8B-B14F-4D97-AF65-F5344CB8AC3E}">
        <p14:creationId xmlns:p14="http://schemas.microsoft.com/office/powerpoint/2010/main" val="318826076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首页搜索栏模块</a:t>
            </a:r>
            <a:r>
              <a:rPr lang="zh-CN" altLang="en-US" dirty="0">
                <a:solidFill>
                  <a:srgbClr val="595959"/>
                </a:solidFill>
                <a:latin typeface="微软雅黑" panose="020B0503020204020204" pitchFamily="34" charset="-122"/>
                <a:ea typeface="微软雅黑" panose="020B0503020204020204" pitchFamily="34" charset="-122"/>
              </a:rPr>
              <a:t>的实现，能够独立完成该模块功能</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Tree>
    <p:extLst>
      <p:ext uri="{BB962C8B-B14F-4D97-AF65-F5344CB8AC3E}">
        <p14:creationId xmlns:p14="http://schemas.microsoft.com/office/powerpoint/2010/main" val="208631320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
        <p:nvSpPr>
          <p:cNvPr id="6" name="文本框 5">
            <a:extLst>
              <a:ext uri="{FF2B5EF4-FFF2-40B4-BE49-F238E27FC236}">
                <a16:creationId xmlns:a16="http://schemas.microsoft.com/office/drawing/2014/main" id="{7703FD65-B89F-412B-8A06-6737B2815C80}"/>
              </a:ext>
            </a:extLst>
          </p:cNvPr>
          <p:cNvSpPr txBox="1"/>
          <p:nvPr/>
        </p:nvSpPr>
        <p:spPr>
          <a:xfrm>
            <a:off x="1143690" y="1773610"/>
            <a:ext cx="10585846" cy="2215991"/>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solidFill>
                  <a:srgbClr val="1369B2"/>
                </a:solidFill>
              </a:rPr>
              <a:t>搜索栏模块</a:t>
            </a:r>
            <a:r>
              <a:rPr lang="zh-CN" altLang="en-US" dirty="0"/>
              <a:t>背景默认是透明的，当用户</a:t>
            </a:r>
            <a:r>
              <a:rPr lang="zh-CN" altLang="en-US" dirty="0">
                <a:solidFill>
                  <a:srgbClr val="1369B2"/>
                </a:solidFill>
              </a:rPr>
              <a:t>向上滑动</a:t>
            </a:r>
            <a:r>
              <a:rPr lang="zh-CN" altLang="en-US" dirty="0"/>
              <a:t>内容时，搜索栏模块背景的透明度会</a:t>
            </a:r>
            <a:r>
              <a:rPr lang="zh-CN" altLang="en-US" dirty="0">
                <a:solidFill>
                  <a:srgbClr val="1369B2"/>
                </a:solidFill>
              </a:rPr>
              <a:t>慢慢加深</a:t>
            </a:r>
            <a:r>
              <a:rPr lang="zh-CN" altLang="en-US" dirty="0"/>
              <a:t>，直到整个轮播图模块移出当前屏幕外，搜索栏模块背景会保持一个</a:t>
            </a:r>
            <a:r>
              <a:rPr lang="zh-CN" altLang="en-US" dirty="0">
                <a:solidFill>
                  <a:srgbClr val="1369B2"/>
                </a:solidFill>
              </a:rPr>
              <a:t>固定的透明色</a:t>
            </a:r>
            <a:r>
              <a:rPr lang="zh-CN" altLang="en-US" dirty="0" smtClean="0"/>
              <a:t>。</a:t>
            </a:r>
            <a:endParaRPr lang="en-US" altLang="zh-CN" dirty="0" smtClean="0"/>
          </a:p>
          <a:p>
            <a:endParaRPr lang="en-US" altLang="zh-CN" sz="1200" dirty="0"/>
          </a:p>
          <a:p>
            <a:r>
              <a:rPr lang="zh-CN" altLang="en-US" dirty="0" smtClean="0"/>
              <a:t>如果</a:t>
            </a:r>
            <a:r>
              <a:rPr lang="zh-CN" altLang="en-US" dirty="0"/>
              <a:t>用户</a:t>
            </a:r>
            <a:r>
              <a:rPr lang="zh-CN" altLang="en-US" dirty="0">
                <a:solidFill>
                  <a:srgbClr val="1369B2"/>
                </a:solidFill>
              </a:rPr>
              <a:t>向下滑动</a:t>
            </a:r>
            <a:r>
              <a:rPr lang="zh-CN" altLang="en-US" dirty="0"/>
              <a:t>内容，搜索栏模块背景的透明度会</a:t>
            </a:r>
            <a:r>
              <a:rPr lang="zh-CN" altLang="en-US" dirty="0">
                <a:solidFill>
                  <a:srgbClr val="1369B2"/>
                </a:solidFill>
              </a:rPr>
              <a:t>慢慢变浅</a:t>
            </a:r>
            <a:r>
              <a:rPr lang="zh-CN" altLang="en-US" dirty="0"/>
              <a:t>，直到搜索栏模块固定在顶部时背景色变为</a:t>
            </a:r>
            <a:r>
              <a:rPr lang="zh-CN" altLang="en-US" dirty="0">
                <a:solidFill>
                  <a:srgbClr val="1369B2"/>
                </a:solidFill>
              </a:rPr>
              <a:t>透明</a:t>
            </a:r>
            <a:r>
              <a:rPr lang="zh-CN" altLang="en-US" dirty="0"/>
              <a:t>。</a:t>
            </a:r>
          </a:p>
        </p:txBody>
      </p:sp>
      <p:sp>
        <p:nvSpPr>
          <p:cNvPr id="7"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功能分析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32866105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
        <p:nvSpPr>
          <p:cNvPr id="8" name="TextBox 4"/>
          <p:cNvSpPr txBox="1">
            <a:spLocks noChangeArrowheads="1"/>
          </p:cNvSpPr>
          <p:nvPr/>
        </p:nvSpPr>
        <p:spPr bwMode="auto">
          <a:xfrm>
            <a:off x="550590" y="1269554"/>
            <a:ext cx="10156562" cy="2223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250000"/>
              </a:lnSpc>
              <a:buClr>
                <a:schemeClr val="tx1"/>
              </a:buClr>
            </a:pPr>
            <a:r>
              <a:rPr lang="zh-CN" altLang="en-US" sz="2000" dirty="0">
                <a:solidFill>
                  <a:srgbClr val="595959"/>
                </a:solidFill>
                <a:latin typeface="微软雅黑" panose="020B0503020204020204" pitchFamily="34" charset="-122"/>
                <a:ea typeface="微软雅黑" panose="020B0503020204020204" pitchFamily="34" charset="-122"/>
              </a:rPr>
              <a:t>搜索栏需要实现以下</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个效果：</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搜索栏固定浮动在</a:t>
            </a:r>
            <a:r>
              <a:rPr lang="zh-CN" altLang="en-US" sz="2000" dirty="0">
                <a:solidFill>
                  <a:srgbClr val="1369B2"/>
                </a:solidFill>
                <a:latin typeface="微软雅黑" panose="020B0503020204020204" pitchFamily="34" charset="-122"/>
                <a:ea typeface="微软雅黑" panose="020B0503020204020204" pitchFamily="34" charset="-122"/>
                <a:sym typeface="+mn-ea"/>
              </a:rPr>
              <a:t>顶部</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搜索栏的</a:t>
            </a:r>
            <a:r>
              <a:rPr lang="zh-CN" altLang="en-US" sz="2000" dirty="0">
                <a:solidFill>
                  <a:srgbClr val="1369B2"/>
                </a:solidFill>
                <a:latin typeface="微软雅黑" panose="020B0503020204020204" pitchFamily="34" charset="-122"/>
                <a:ea typeface="微软雅黑" panose="020B0503020204020204" pitchFamily="34" charset="-122"/>
                <a:sym typeface="+mn-ea"/>
              </a:rPr>
              <a:t>宽度</a:t>
            </a:r>
            <a:r>
              <a:rPr lang="zh-CN" altLang="en-US" sz="2000" dirty="0">
                <a:solidFill>
                  <a:srgbClr val="595959"/>
                </a:solidFill>
                <a:latin typeface="微软雅黑" panose="020B0503020204020204" pitchFamily="34" charset="-122"/>
                <a:ea typeface="微软雅黑" panose="020B0503020204020204" pitchFamily="34" charset="-122"/>
                <a:sym typeface="+mn-ea"/>
              </a:rPr>
              <a:t>会随着浏览器</a:t>
            </a:r>
            <a:r>
              <a:rPr lang="zh-CN" altLang="en-US" sz="2000" dirty="0">
                <a:solidFill>
                  <a:srgbClr val="1369B2"/>
                </a:solidFill>
                <a:latin typeface="微软雅黑" panose="020B0503020204020204" pitchFamily="34" charset="-122"/>
                <a:ea typeface="微软雅黑" panose="020B0503020204020204" pitchFamily="34" charset="-122"/>
                <a:sym typeface="+mn-ea"/>
              </a:rPr>
              <a:t>窗口的大小</a:t>
            </a:r>
            <a:r>
              <a:rPr lang="zh-CN" altLang="en-US" sz="2000" dirty="0">
                <a:solidFill>
                  <a:srgbClr val="595959"/>
                </a:solidFill>
                <a:latin typeface="微软雅黑" panose="020B0503020204020204" pitchFamily="34" charset="-122"/>
                <a:ea typeface="微软雅黑" panose="020B0503020204020204" pitchFamily="34" charset="-122"/>
                <a:sym typeface="+mn-ea"/>
              </a:rPr>
              <a:t>而变化。</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搜索栏的</a:t>
            </a:r>
            <a:r>
              <a:rPr lang="zh-CN" altLang="en-US" sz="2000" dirty="0">
                <a:solidFill>
                  <a:srgbClr val="1369B2"/>
                </a:solidFill>
                <a:latin typeface="微软雅黑" panose="020B0503020204020204" pitchFamily="34" charset="-122"/>
                <a:ea typeface="微软雅黑" panose="020B0503020204020204" pitchFamily="34" charset="-122"/>
                <a:sym typeface="+mn-ea"/>
              </a:rPr>
              <a:t>透明度</a:t>
            </a:r>
            <a:r>
              <a:rPr lang="zh-CN" altLang="en-US" sz="2000" dirty="0">
                <a:solidFill>
                  <a:srgbClr val="595959"/>
                </a:solidFill>
                <a:latin typeface="微软雅黑" panose="020B0503020204020204" pitchFamily="34" charset="-122"/>
                <a:ea typeface="微软雅黑" panose="020B0503020204020204" pitchFamily="34" charset="-122"/>
                <a:sym typeface="+mn-ea"/>
              </a:rPr>
              <a:t>会在往下</a:t>
            </a:r>
            <a:r>
              <a:rPr lang="zh-CN" altLang="en-US" sz="2000" dirty="0">
                <a:solidFill>
                  <a:srgbClr val="1369B2"/>
                </a:solidFill>
                <a:latin typeface="微软雅黑" panose="020B0503020204020204" pitchFamily="34" charset="-122"/>
                <a:ea typeface="微软雅黑" panose="020B0503020204020204" pitchFamily="34" charset="-122"/>
                <a:sym typeface="+mn-ea"/>
              </a:rPr>
              <a:t>滑动时</a:t>
            </a:r>
            <a:r>
              <a:rPr lang="zh-CN" altLang="en-US" sz="2000" dirty="0">
                <a:solidFill>
                  <a:srgbClr val="595959"/>
                </a:solidFill>
                <a:latin typeface="微软雅黑" panose="020B0503020204020204" pitchFamily="34" charset="-122"/>
                <a:ea typeface="微软雅黑" panose="020B0503020204020204" pitchFamily="34" charset="-122"/>
                <a:sym typeface="+mn-ea"/>
              </a:rPr>
              <a:t>透明度发生变化。</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180645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7B789A8-33E7-4059-9F3F-87FE2CF262B4}"/>
              </a:ext>
            </a:extLst>
          </p:cNvPr>
          <p:cNvSpPr txBox="1"/>
          <p:nvPr/>
        </p:nvSpPr>
        <p:spPr>
          <a:xfrm>
            <a:off x="2829279" y="3861842"/>
            <a:ext cx="6912768" cy="22892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矩形 6"/>
          <p:cNvSpPr/>
          <p:nvPr/>
        </p:nvSpPr>
        <p:spPr bwMode="auto">
          <a:xfrm>
            <a:off x="3045303" y="3981249"/>
            <a:ext cx="5760640" cy="2169825"/>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入口函数，页面加载完成之后执行</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search()</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方法</a:t>
            </a: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window.onload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search();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
        <p:nvSpPr>
          <p:cNvPr id="14" name="TextBox 35"/>
          <p:cNvSpPr txBox="1">
            <a:spLocks noChangeArrowheads="1"/>
          </p:cNvSpPr>
          <p:nvPr/>
        </p:nvSpPr>
        <p:spPr bwMode="auto">
          <a:xfrm>
            <a:off x="2937903" y="1053530"/>
            <a:ext cx="8692943" cy="1415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创建</a:t>
            </a:r>
            <a:r>
              <a:rPr lang="en-US" altLang="zh-CN"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index.js</a:t>
            </a: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a:t>
            </a:r>
            <a:endParaRPr lang="en-US" altLang="zh-CN" sz="2000"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C:\code\chapter03\shopM\js</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目录下，</a:t>
            </a:r>
            <a:r>
              <a:rPr lang="zh-CN" altLang="en-US"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新建</a:t>
            </a:r>
            <a:r>
              <a:rPr lang="en-US" altLang="zh-CN"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index.js</a:t>
            </a:r>
            <a:r>
              <a:rPr lang="zh-CN" altLang="en-US"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文件</a:t>
            </a: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搜索栏模块效果</a:t>
            </a: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5" name="组合 14">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6"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7" name="文本框 16">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8" name="TextBox 35"/>
          <p:cNvSpPr txBox="1">
            <a:spLocks noChangeArrowheads="1"/>
          </p:cNvSpPr>
          <p:nvPr/>
        </p:nvSpPr>
        <p:spPr bwMode="auto">
          <a:xfrm>
            <a:off x="2937903" y="2712459"/>
            <a:ext cx="8692943" cy="100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添加</a:t>
            </a:r>
            <a:r>
              <a:rPr lang="en-US" altLang="zh-CN"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search()</a:t>
            </a: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a:t>
            </a:r>
            <a:endParaRPr lang="en-US" altLang="zh-CN" sz="2000"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index.js</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文件的</a:t>
            </a:r>
            <a:r>
              <a:rPr lang="en-US" altLang="zh-CN" sz="18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window.onload</a:t>
            </a:r>
            <a:r>
              <a:rPr lang="en-US" altLang="zh-CN"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 = function(){}</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方法中添加</a:t>
            </a:r>
            <a:r>
              <a:rPr lang="en-US" altLang="zh-CN" sz="18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search()</a:t>
            </a:r>
            <a:r>
              <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a:t>
            </a:r>
            <a:r>
              <a:rPr lang="zh-CN" altLang="en-US" sz="18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8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9" name="组合 18">
            <a:extLst>
              <a:ext uri="{FF2B5EF4-FFF2-40B4-BE49-F238E27FC236}">
                <a16:creationId xmlns:a16="http://schemas.microsoft.com/office/drawing/2014/main" id="{18962999-4FA5-4F80-B01C-AECE33BB829E}"/>
              </a:ext>
            </a:extLst>
          </p:cNvPr>
          <p:cNvGrpSpPr/>
          <p:nvPr/>
        </p:nvGrpSpPr>
        <p:grpSpPr>
          <a:xfrm>
            <a:off x="1135363" y="2790398"/>
            <a:ext cx="1747943" cy="773218"/>
            <a:chOff x="961390" y="2294944"/>
            <a:chExt cx="1747943" cy="773218"/>
          </a:xfrm>
        </p:grpSpPr>
        <p:sp>
          <p:nvSpPr>
            <p:cNvPr id="2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21" name="文本框 2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60961916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7B789A8-33E7-4059-9F3F-87FE2CF262B4}"/>
              </a:ext>
            </a:extLst>
          </p:cNvPr>
          <p:cNvSpPr txBox="1"/>
          <p:nvPr/>
        </p:nvSpPr>
        <p:spPr>
          <a:xfrm>
            <a:off x="2107175" y="2261438"/>
            <a:ext cx="7128792" cy="3904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矩形 6"/>
          <p:cNvSpPr/>
          <p:nvPr/>
        </p:nvSpPr>
        <p:spPr bwMode="auto">
          <a:xfrm>
            <a:off x="2566814" y="2305430"/>
            <a:ext cx="6636546" cy="3742178"/>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search()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当前</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元素的高度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banner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banner.offsetHeight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search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hm_header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window.onscroll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监听屏幕</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滚动</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（代码见下一页）</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
        <p:nvSpPr>
          <p:cNvPr id="9" name="TextBox 35"/>
          <p:cNvSpPr txBox="1">
            <a:spLocks noChangeArrowheads="1"/>
          </p:cNvSpPr>
          <p:nvPr/>
        </p:nvSpPr>
        <p:spPr bwMode="auto">
          <a:xfrm>
            <a:off x="2946878" y="1197546"/>
            <a:ext cx="8692943"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b="1"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search()</a:t>
            </a: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的具体实现</a:t>
            </a: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550572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7B789A8-33E7-4059-9F3F-87FE2CF262B4}"/>
              </a:ext>
            </a:extLst>
          </p:cNvPr>
          <p:cNvSpPr txBox="1"/>
          <p:nvPr/>
        </p:nvSpPr>
        <p:spPr>
          <a:xfrm>
            <a:off x="2062758" y="2305859"/>
            <a:ext cx="8939658" cy="36442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矩形 6"/>
          <p:cNvSpPr/>
          <p:nvPr/>
        </p:nvSpPr>
        <p:spPr bwMode="auto">
          <a:xfrm>
            <a:off x="2206774" y="2389739"/>
            <a:ext cx="8795642" cy="3416320"/>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获取当前屏幕滚动时，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滚动出屏幕的距离</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offsetTop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document.body.scrollTop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document.documentElement.scrollTop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3</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计算比例值，获取透明度，设置背景颜色的样式</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opacity = 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默认透明度为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判断如果当</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还没有完全滚出屏幕，才有必要去计算并设置透明度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offsetTop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opacity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offsetTop</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bannerHeight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search.style.backgroundColor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rgba</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(201,21,35," + opacity +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设置样式</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
        <p:nvSpPr>
          <p:cNvPr id="9" name="TextBox 35"/>
          <p:cNvSpPr txBox="1">
            <a:spLocks noChangeArrowheads="1"/>
          </p:cNvSpPr>
          <p:nvPr/>
        </p:nvSpPr>
        <p:spPr bwMode="auto">
          <a:xfrm>
            <a:off x="2946878" y="1197546"/>
            <a:ext cx="8692943"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b="1"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search()</a:t>
            </a:r>
            <a:r>
              <a:rPr lang="zh-CN" altLang="en-US" sz="2000"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的具体实现</a:t>
            </a: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326379557"/>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910630" y="1133967"/>
            <a:ext cx="1051316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a:t>保存上述代码，</a:t>
            </a:r>
            <a:r>
              <a:rPr lang="zh-CN" altLang="en-US" dirty="0"/>
              <a:t>在浏览器中当用户</a:t>
            </a:r>
            <a:r>
              <a:rPr lang="zh-CN" altLang="en-US" dirty="0">
                <a:solidFill>
                  <a:srgbClr val="1369B2"/>
                </a:solidFill>
              </a:rPr>
              <a:t>向上滑动内容</a:t>
            </a:r>
            <a:r>
              <a:rPr lang="zh-CN" altLang="en-US" dirty="0"/>
              <a:t>时，搜索栏模块背景的</a:t>
            </a:r>
            <a:r>
              <a:rPr lang="zh-CN" altLang="en-US" dirty="0">
                <a:solidFill>
                  <a:srgbClr val="1369B2"/>
                </a:solidFill>
              </a:rPr>
              <a:t>透明度会慢慢加深</a:t>
            </a:r>
            <a:r>
              <a:rPr lang="zh-CN" altLang="en-US" sz="1800" dirty="0"/>
              <a:t>。</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8922" y="2421682"/>
            <a:ext cx="5256584" cy="1307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Tree>
    <p:extLst>
      <p:ext uri="{BB962C8B-B14F-4D97-AF65-F5344CB8AC3E}">
        <p14:creationId xmlns:p14="http://schemas.microsoft.com/office/powerpoint/2010/main" val="336166975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910630" y="1187907"/>
            <a:ext cx="1051316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当</a:t>
            </a:r>
            <a:r>
              <a:rPr lang="zh-CN" altLang="en-US" dirty="0">
                <a:solidFill>
                  <a:srgbClr val="1369B2"/>
                </a:solidFill>
              </a:rPr>
              <a:t>超出</a:t>
            </a:r>
            <a:r>
              <a:rPr lang="zh-CN" altLang="en-US" dirty="0"/>
              <a:t>轮播图模块高度时，搜索栏模块背景会保持一个</a:t>
            </a:r>
            <a:r>
              <a:rPr lang="zh-CN" altLang="en-US" dirty="0">
                <a:solidFill>
                  <a:srgbClr val="1369B2"/>
                </a:solidFill>
              </a:rPr>
              <a:t>固定的颜色</a:t>
            </a:r>
            <a:r>
              <a:rPr lang="zh-CN" altLang="en-US" sz="1800" dirty="0"/>
              <a:t>。</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870" y="2156732"/>
            <a:ext cx="5384123" cy="2054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3.4.10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实现首页搜索栏模块效果</a:t>
            </a:r>
          </a:p>
        </p:txBody>
      </p:sp>
    </p:spTree>
    <p:extLst>
      <p:ext uri="{BB962C8B-B14F-4D97-AF65-F5344CB8AC3E}">
        <p14:creationId xmlns:p14="http://schemas.microsoft.com/office/powerpoint/2010/main" val="221093091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首页倒计时效果</a:t>
            </a:r>
            <a:r>
              <a:rPr lang="zh-CN" altLang="en-US" dirty="0">
                <a:solidFill>
                  <a:srgbClr val="595959"/>
                </a:solidFill>
                <a:latin typeface="微软雅黑" panose="020B0503020204020204" pitchFamily="34" charset="-122"/>
                <a:ea typeface="微软雅黑" panose="020B0503020204020204" pitchFamily="34" charset="-122"/>
              </a:rPr>
              <a:t>的实现，能够能够独立完成该模块功能</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Tree>
    <p:extLst>
      <p:ext uri="{BB962C8B-B14F-4D97-AF65-F5344CB8AC3E}">
        <p14:creationId xmlns:p14="http://schemas.microsoft.com/office/powerpoint/2010/main" val="31169069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
        <p:nvSpPr>
          <p:cNvPr id="13"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功能分析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7" name="TextBox 4"/>
          <p:cNvSpPr txBox="1">
            <a:spLocks noChangeArrowheads="1"/>
          </p:cNvSpPr>
          <p:nvPr/>
        </p:nvSpPr>
        <p:spPr bwMode="auto">
          <a:xfrm>
            <a:off x="622598" y="1557586"/>
            <a:ext cx="10156562" cy="22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250000"/>
              </a:lnSpc>
              <a:buClr>
                <a:schemeClr val="tx1"/>
              </a:buClr>
            </a:pPr>
            <a:r>
              <a:rPr lang="zh-CN" altLang="en-US" sz="2000" dirty="0">
                <a:solidFill>
                  <a:srgbClr val="1369B2"/>
                </a:solidFill>
                <a:latin typeface="微软雅黑" panose="020B0503020204020204" pitchFamily="34" charset="-122"/>
                <a:ea typeface="微软雅黑" panose="020B0503020204020204" pitchFamily="34" charset="-122"/>
              </a:rPr>
              <a:t>倒计时</a:t>
            </a:r>
            <a:r>
              <a:rPr lang="zh-CN" altLang="en-US" sz="2000" dirty="0">
                <a:solidFill>
                  <a:srgbClr val="595959"/>
                </a:solidFill>
                <a:latin typeface="微软雅黑" panose="020B0503020204020204" pitchFamily="34" charset="-122"/>
                <a:ea typeface="微软雅黑" panose="020B0503020204020204" pitchFamily="34" charset="-122"/>
              </a:rPr>
              <a:t>需要实现以下</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个效果：</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设置初始的</a:t>
            </a:r>
            <a:r>
              <a:rPr lang="zh-CN" altLang="en-US" sz="2000" dirty="0">
                <a:solidFill>
                  <a:srgbClr val="1369B2"/>
                </a:solidFill>
                <a:latin typeface="微软雅黑" panose="020B0503020204020204" pitchFamily="34" charset="-122"/>
                <a:ea typeface="微软雅黑" panose="020B0503020204020204" pitchFamily="34" charset="-122"/>
                <a:sym typeface="+mn-ea"/>
              </a:rPr>
              <a:t>倒计时</a:t>
            </a:r>
            <a:r>
              <a:rPr lang="zh-CN" altLang="en-US" sz="2000" dirty="0">
                <a:solidFill>
                  <a:srgbClr val="595959"/>
                </a:solidFill>
                <a:latin typeface="微软雅黑" panose="020B0503020204020204" pitchFamily="34" charset="-122"/>
                <a:ea typeface="微软雅黑" panose="020B0503020204020204" pitchFamily="34" charset="-122"/>
                <a:sym typeface="+mn-ea"/>
              </a:rPr>
              <a:t>时间。</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如果倒计时时间已经完成</a:t>
            </a:r>
            <a:r>
              <a:rPr lang="zh-CN" altLang="en-US" sz="2000" dirty="0">
                <a:solidFill>
                  <a:srgbClr val="1369B2"/>
                </a:solidFill>
                <a:latin typeface="微软雅黑" panose="020B0503020204020204" pitchFamily="34" charset="-122"/>
                <a:ea typeface="微软雅黑" panose="020B0503020204020204" pitchFamily="34" charset="-122"/>
                <a:sym typeface="+mn-ea"/>
              </a:rPr>
              <a:t>清除定时器</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如果倒计时时间没有完成，获取剩余时间中的</a:t>
            </a:r>
            <a:r>
              <a:rPr lang="zh-CN" altLang="en-US" sz="2000" dirty="0">
                <a:solidFill>
                  <a:srgbClr val="1369B2"/>
                </a:solidFill>
                <a:latin typeface="微软雅黑" panose="020B0503020204020204" pitchFamily="34" charset="-122"/>
                <a:ea typeface="微软雅黑" panose="020B0503020204020204" pitchFamily="34" charset="-122"/>
                <a:sym typeface="+mn-ea"/>
              </a:rPr>
              <a:t>时分秒</a:t>
            </a:r>
            <a:r>
              <a:rPr lang="zh-CN" altLang="en-US" sz="2000" dirty="0">
                <a:solidFill>
                  <a:srgbClr val="595959"/>
                </a:solidFill>
                <a:latin typeface="微软雅黑" panose="020B0503020204020204" pitchFamily="34" charset="-122"/>
                <a:ea typeface="微软雅黑" panose="020B0503020204020204" pitchFamily="34" charset="-122"/>
                <a:sym typeface="+mn-ea"/>
              </a:rPr>
              <a:t>并显示在页面中。</a:t>
            </a:r>
          </a:p>
        </p:txBody>
      </p:sp>
    </p:spTree>
    <p:extLst>
      <p:ext uri="{BB962C8B-B14F-4D97-AF65-F5344CB8AC3E}">
        <p14:creationId xmlns:p14="http://schemas.microsoft.com/office/powerpoint/2010/main" val="20046679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2964655" y="2781722"/>
            <a:ext cx="7128792" cy="28083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3180679" y="2901129"/>
            <a:ext cx="4752528" cy="2585323"/>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入口函数，页面加载完成之后执行</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search()</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方法</a:t>
            </a: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window.onload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search();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downTime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倒计时</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
        <p:nvSpPr>
          <p:cNvPr id="8" name="TextBox 35"/>
          <p:cNvSpPr txBox="1">
            <a:spLocks noChangeArrowheads="1"/>
          </p:cNvSpPr>
          <p:nvPr/>
        </p:nvSpPr>
        <p:spPr bwMode="auto">
          <a:xfrm>
            <a:off x="2937903" y="1053530"/>
            <a:ext cx="8692943"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秒杀倒计时效果</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index.js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文件中的</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window.onload</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 = function(){}</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方法中</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添加</a:t>
            </a:r>
            <a:endParaRPr lang="en-US" altLang="zh-CN"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2000" dirty="0" err="1"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downTime</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413943017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2217440" y="2277666"/>
            <a:ext cx="7694190" cy="38164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2422798" y="2308438"/>
            <a:ext cx="7427490" cy="3785652"/>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倒计时</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downTime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sk_time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querySelectorAll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('span');</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1 * 60 * 60;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timer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setInterval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开启定时器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0)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判断倒计时时间是否已经完成</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clearInterval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return;</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
        <p:nvSpPr>
          <p:cNvPr id="6" name="TextBox 35"/>
          <p:cNvSpPr txBox="1">
            <a:spLocks noChangeArrowheads="1"/>
          </p:cNvSpPr>
          <p:nvPr/>
        </p:nvSpPr>
        <p:spPr bwMode="auto">
          <a:xfrm>
            <a:off x="2937903" y="1053530"/>
            <a:ext cx="8692943"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秒杀倒计时效果</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downTime</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的具体实现。</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73557892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D7B789A8-33E7-4059-9F3F-87FE2CF262B4}"/>
              </a:ext>
            </a:extLst>
          </p:cNvPr>
          <p:cNvSpPr txBox="1"/>
          <p:nvPr/>
        </p:nvSpPr>
        <p:spPr>
          <a:xfrm>
            <a:off x="2638822" y="2147920"/>
            <a:ext cx="7056784" cy="43062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
        <p:nvSpPr>
          <p:cNvPr id="6" name="TextBox 35"/>
          <p:cNvSpPr txBox="1">
            <a:spLocks noChangeArrowheads="1"/>
          </p:cNvSpPr>
          <p:nvPr/>
        </p:nvSpPr>
        <p:spPr bwMode="auto">
          <a:xfrm>
            <a:off x="2937903" y="1053530"/>
            <a:ext cx="8692943"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秒杀倒计时效果</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downTime</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的具体实现。</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2" name="矩形 1"/>
          <p:cNvSpPr/>
          <p:nvPr/>
        </p:nvSpPr>
        <p:spPr>
          <a:xfrm>
            <a:off x="3058455" y="1879710"/>
            <a:ext cx="6092825" cy="4542397"/>
          </a:xfrm>
          <a:prstGeom prst="rect">
            <a:avLst/>
          </a:prstGeom>
        </p:spPr>
        <p:txBody>
          <a:bodyPr>
            <a:spAutoFit/>
          </a:bodyPr>
          <a:lstStyle/>
          <a:p>
            <a:pPr>
              <a:lnSpc>
                <a:spcPct val="130000"/>
              </a:lnSpc>
              <a:defRPr/>
            </a:pP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获取剩余时间中的 时分秒</a:t>
            </a:r>
          </a:p>
          <a:p>
            <a:pPr>
              <a:lnSpc>
                <a:spcPct val="13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h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3600);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获取小时数</a:t>
            </a:r>
          </a:p>
          <a:p>
            <a:pPr>
              <a:lnSpc>
                <a:spcPct val="13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m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3600 / 60);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获取分钟数</a:t>
            </a:r>
          </a:p>
          <a:p>
            <a:pPr>
              <a:lnSpc>
                <a:spcPct val="13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totalTime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60);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获取秒钟数</a:t>
            </a:r>
          </a:p>
          <a:p>
            <a:pPr>
              <a:lnSpc>
                <a:spcPct val="13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赋值，将时间填充到</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span</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中</a:t>
            </a:r>
          </a:p>
          <a:p>
            <a:pPr>
              <a:lnSpc>
                <a:spcPct val="13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spans[0].</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spans[1].</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spans[3].</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spans[4].</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spans[6].</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spans[7].</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innerHTML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Math.floor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 % 10);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1000);</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Tree>
    <p:extLst>
      <p:ext uri="{BB962C8B-B14F-4D97-AF65-F5344CB8AC3E}">
        <p14:creationId xmlns:p14="http://schemas.microsoft.com/office/powerpoint/2010/main" val="2065674418"/>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982638" y="1259407"/>
            <a:ext cx="1051316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smtClean="0"/>
              <a:t>在</a:t>
            </a:r>
            <a:r>
              <a:rPr lang="zh-CN" altLang="en-US" dirty="0"/>
              <a:t>浏览器中查看</a:t>
            </a:r>
            <a:r>
              <a:rPr lang="zh-CN" altLang="en-US" dirty="0">
                <a:solidFill>
                  <a:srgbClr val="1369B2"/>
                </a:solidFill>
              </a:rPr>
              <a:t>倒计时</a:t>
            </a:r>
            <a:r>
              <a:rPr lang="zh-CN" altLang="en-US" dirty="0"/>
              <a:t>效果。</a:t>
            </a:r>
            <a:endParaRPr lang="zh-CN" altLang="en-US" sz="1800" dirty="0"/>
          </a:p>
        </p:txBody>
      </p:sp>
      <p:pic>
        <p:nvPicPr>
          <p:cNvPr id="1126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0830" y="2205658"/>
            <a:ext cx="5904656" cy="760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实现首页倒计时效果</a:t>
            </a:r>
          </a:p>
        </p:txBody>
      </p:sp>
    </p:spTree>
    <p:extLst>
      <p:ext uri="{BB962C8B-B14F-4D97-AF65-F5344CB8AC3E}">
        <p14:creationId xmlns:p14="http://schemas.microsoft.com/office/powerpoint/2010/main" val="1893919070"/>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4" y="3576722"/>
            <a:ext cx="5535825"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首页轮播图自动轮播效果</a:t>
            </a:r>
            <a:r>
              <a:rPr lang="zh-CN" altLang="en-US" dirty="0">
                <a:solidFill>
                  <a:srgbClr val="595959"/>
                </a:solidFill>
                <a:latin typeface="微软雅黑" panose="020B0503020204020204" pitchFamily="34" charset="-122"/>
                <a:ea typeface="微软雅黑" panose="020B0503020204020204" pitchFamily="34" charset="-122"/>
              </a:rPr>
              <a:t>的实现，能够独立完成该模块功能</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Tree>
    <p:extLst>
      <p:ext uri="{BB962C8B-B14F-4D97-AF65-F5344CB8AC3E}">
        <p14:creationId xmlns:p14="http://schemas.microsoft.com/office/powerpoint/2010/main" val="92625405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功能分析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6" name="TextBox 4"/>
          <p:cNvSpPr txBox="1">
            <a:spLocks noChangeArrowheads="1"/>
          </p:cNvSpPr>
          <p:nvPr/>
        </p:nvSpPr>
        <p:spPr bwMode="auto">
          <a:xfrm>
            <a:off x="475148" y="1845850"/>
            <a:ext cx="10156562" cy="2893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a:solidFill>
                  <a:srgbClr val="1369B2"/>
                </a:solidFill>
                <a:latin typeface="微软雅黑" panose="020B0503020204020204" pitchFamily="34" charset="-122"/>
                <a:ea typeface="微软雅黑" panose="020B0503020204020204" pitchFamily="34" charset="-122"/>
              </a:rPr>
              <a:t>轮播图</a:t>
            </a:r>
            <a:r>
              <a:rPr lang="zh-CN" altLang="en-US" sz="2000" dirty="0">
                <a:solidFill>
                  <a:srgbClr val="595959"/>
                </a:solidFill>
                <a:latin typeface="微软雅黑" panose="020B0503020204020204" pitchFamily="34" charset="-122"/>
                <a:ea typeface="微软雅黑" panose="020B0503020204020204" pitchFamily="34" charset="-122"/>
              </a:rPr>
              <a:t>需要实现以下</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en-US" sz="2000" dirty="0">
                <a:solidFill>
                  <a:srgbClr val="595959"/>
                </a:solidFill>
                <a:latin typeface="微软雅黑" panose="020B0503020204020204" pitchFamily="34" charset="-122"/>
                <a:ea typeface="微软雅黑" panose="020B0503020204020204" pitchFamily="34" charset="-122"/>
              </a:rPr>
              <a:t>个效果：</a:t>
            </a:r>
            <a:endParaRPr lang="en-US" altLang="zh-CN" sz="2000" dirty="0">
              <a:solidFill>
                <a:srgbClr val="595959"/>
              </a:solidFill>
              <a:latin typeface="微软雅黑" panose="020B0503020204020204" pitchFamily="34" charset="-122"/>
              <a:ea typeface="微软雅黑" panose="020B0503020204020204" pitchFamily="34" charset="-122"/>
              <a:sym typeface="+mn-ea"/>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使用</a:t>
            </a:r>
            <a:r>
              <a:rPr lang="zh-CN" altLang="en-US" sz="2000" dirty="0">
                <a:solidFill>
                  <a:srgbClr val="1369B2"/>
                </a:solidFill>
                <a:latin typeface="微软雅黑" panose="020B0503020204020204" pitchFamily="34" charset="-122"/>
                <a:ea typeface="微软雅黑" panose="020B0503020204020204" pitchFamily="34" charset="-122"/>
                <a:sym typeface="+mn-ea"/>
              </a:rPr>
              <a:t>定时器</a:t>
            </a:r>
            <a:r>
              <a:rPr lang="zh-CN" altLang="en-US" sz="2000" dirty="0">
                <a:solidFill>
                  <a:srgbClr val="595959"/>
                </a:solidFill>
                <a:latin typeface="微软雅黑" panose="020B0503020204020204" pitchFamily="34" charset="-122"/>
                <a:ea typeface="微软雅黑" panose="020B0503020204020204" pitchFamily="34" charset="-122"/>
                <a:sym typeface="+mn-ea"/>
              </a:rPr>
              <a:t>和过渡让轮播图片</a:t>
            </a:r>
            <a:r>
              <a:rPr lang="zh-CN" altLang="en-US" sz="2000" dirty="0">
                <a:solidFill>
                  <a:srgbClr val="1369B2"/>
                </a:solidFill>
                <a:latin typeface="微软雅黑" panose="020B0503020204020204" pitchFamily="34" charset="-122"/>
                <a:ea typeface="微软雅黑" panose="020B0503020204020204" pitchFamily="34" charset="-122"/>
                <a:sym typeface="+mn-ea"/>
              </a:rPr>
              <a:t>自动滚动</a:t>
            </a:r>
            <a:r>
              <a:rPr lang="zh-CN" altLang="en-US" sz="2000" dirty="0">
                <a:solidFill>
                  <a:srgbClr val="595959"/>
                </a:solidFill>
                <a:latin typeface="微软雅黑" panose="020B0503020204020204" pitchFamily="34" charset="-122"/>
                <a:ea typeface="微软雅黑" panose="020B0503020204020204" pitchFamily="34" charset="-122"/>
                <a:sym typeface="+mn-ea"/>
              </a:rPr>
              <a:t>起来；</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轮播器</a:t>
            </a:r>
            <a:r>
              <a:rPr lang="zh-CN" altLang="en-US" sz="2000" dirty="0">
                <a:solidFill>
                  <a:srgbClr val="1369B2"/>
                </a:solidFill>
                <a:latin typeface="微软雅黑" panose="020B0503020204020204" pitchFamily="34" charset="-122"/>
                <a:ea typeface="微软雅黑" panose="020B0503020204020204" pitchFamily="34" charset="-122"/>
                <a:sym typeface="+mn-ea"/>
              </a:rPr>
              <a:t>指示点</a:t>
            </a:r>
            <a:r>
              <a:rPr lang="zh-CN" altLang="en-US" sz="2000" dirty="0">
                <a:solidFill>
                  <a:srgbClr val="595959"/>
                </a:solidFill>
                <a:latin typeface="微软雅黑" panose="020B0503020204020204" pitchFamily="34" charset="-122"/>
                <a:ea typeface="微软雅黑" panose="020B0503020204020204" pitchFamily="34" charset="-122"/>
                <a:sym typeface="+mn-ea"/>
              </a:rPr>
              <a:t>也要随着轮播图图片滚动起来。</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a:solidFill>
                  <a:srgbClr val="1369B2"/>
                </a:solidFill>
                <a:latin typeface="微软雅黑" panose="020B0503020204020204" pitchFamily="34" charset="-122"/>
                <a:ea typeface="微软雅黑" panose="020B0503020204020204" pitchFamily="34" charset="-122"/>
                <a:sym typeface="+mn-ea"/>
              </a:rPr>
              <a:t>touch</a:t>
            </a:r>
            <a:r>
              <a:rPr lang="zh-CN" altLang="en-US" sz="2000" dirty="0">
                <a:solidFill>
                  <a:srgbClr val="1369B2"/>
                </a:solidFill>
                <a:latin typeface="微软雅黑" panose="020B0503020204020204" pitchFamily="34" charset="-122"/>
                <a:ea typeface="微软雅黑" panose="020B0503020204020204" pitchFamily="34" charset="-122"/>
                <a:sym typeface="+mn-ea"/>
              </a:rPr>
              <a:t>事件</a:t>
            </a:r>
            <a:r>
              <a:rPr lang="zh-CN" altLang="en-US" sz="2000" dirty="0">
                <a:solidFill>
                  <a:srgbClr val="595959"/>
                </a:solidFill>
                <a:latin typeface="微软雅黑" panose="020B0503020204020204" pitchFamily="34" charset="-122"/>
                <a:ea typeface="微软雅黑" panose="020B0503020204020204" pitchFamily="34" charset="-122"/>
                <a:sym typeface="+mn-ea"/>
              </a:rPr>
              <a:t>实现</a:t>
            </a:r>
            <a:r>
              <a:rPr lang="zh-CN" altLang="en-US" sz="2000" dirty="0">
                <a:solidFill>
                  <a:srgbClr val="1369B2"/>
                </a:solidFill>
                <a:latin typeface="微软雅黑" panose="020B0503020204020204" pitchFamily="34" charset="-122"/>
                <a:ea typeface="微软雅黑" panose="020B0503020204020204" pitchFamily="34" charset="-122"/>
                <a:sym typeface="+mn-ea"/>
              </a:rPr>
              <a:t>图片滑动</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当滑动距离</a:t>
            </a:r>
            <a:r>
              <a:rPr lang="zh-CN" altLang="en-US" sz="2000" dirty="0">
                <a:solidFill>
                  <a:srgbClr val="1369B2"/>
                </a:solidFill>
                <a:latin typeface="微软雅黑" panose="020B0503020204020204" pitchFamily="34" charset="-122"/>
                <a:ea typeface="微软雅黑" panose="020B0503020204020204" pitchFamily="34" charset="-122"/>
                <a:sym typeface="+mn-ea"/>
              </a:rPr>
              <a:t>不超过</a:t>
            </a:r>
            <a:r>
              <a:rPr lang="zh-CN" altLang="en-US" sz="2000" dirty="0">
                <a:solidFill>
                  <a:srgbClr val="595959"/>
                </a:solidFill>
                <a:latin typeface="微软雅黑" panose="020B0503020204020204" pitchFamily="34" charset="-122"/>
                <a:ea typeface="微软雅黑" panose="020B0503020204020204" pitchFamily="34" charset="-122"/>
                <a:sym typeface="+mn-ea"/>
              </a:rPr>
              <a:t>特定</a:t>
            </a:r>
            <a:r>
              <a:rPr lang="zh-CN" altLang="en-US" sz="2000" dirty="0">
                <a:solidFill>
                  <a:srgbClr val="1369B2"/>
                </a:solidFill>
                <a:latin typeface="微软雅黑" panose="020B0503020204020204" pitchFamily="34" charset="-122"/>
                <a:ea typeface="微软雅黑" panose="020B0503020204020204" pitchFamily="34" charset="-122"/>
                <a:sym typeface="+mn-ea"/>
              </a:rPr>
              <a:t>屏幕宽度</a:t>
            </a:r>
            <a:r>
              <a:rPr lang="zh-CN" altLang="en-US" sz="2000" dirty="0">
                <a:solidFill>
                  <a:srgbClr val="595959"/>
                </a:solidFill>
                <a:latin typeface="微软雅黑" panose="020B0503020204020204" pitchFamily="34" charset="-122"/>
                <a:ea typeface="微软雅黑" panose="020B0503020204020204" pitchFamily="34" charset="-122"/>
                <a:sym typeface="+mn-ea"/>
              </a:rPr>
              <a:t>的时候，进行回弹操作定位回去 ；</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当滑动距离</a:t>
            </a:r>
            <a:r>
              <a:rPr lang="zh-CN" altLang="en-US" sz="2000" dirty="0">
                <a:solidFill>
                  <a:srgbClr val="1369B2"/>
                </a:solidFill>
                <a:latin typeface="微软雅黑" panose="020B0503020204020204" pitchFamily="34" charset="-122"/>
                <a:ea typeface="微软雅黑" panose="020B0503020204020204" pitchFamily="34" charset="-122"/>
                <a:sym typeface="+mn-ea"/>
              </a:rPr>
              <a:t>超过</a:t>
            </a:r>
            <a:r>
              <a:rPr lang="zh-CN" altLang="en-US" sz="2000" dirty="0">
                <a:solidFill>
                  <a:srgbClr val="595959"/>
                </a:solidFill>
                <a:latin typeface="微软雅黑" panose="020B0503020204020204" pitchFamily="34" charset="-122"/>
                <a:ea typeface="微软雅黑" panose="020B0503020204020204" pitchFamily="34" charset="-122"/>
                <a:sym typeface="+mn-ea"/>
              </a:rPr>
              <a:t>特定</a:t>
            </a:r>
            <a:r>
              <a:rPr lang="zh-CN" altLang="en-US" sz="2000" dirty="0">
                <a:solidFill>
                  <a:srgbClr val="1369B2"/>
                </a:solidFill>
                <a:latin typeface="微软雅黑" panose="020B0503020204020204" pitchFamily="34" charset="-122"/>
                <a:ea typeface="微软雅黑" panose="020B0503020204020204" pitchFamily="34" charset="-122"/>
                <a:sym typeface="+mn-ea"/>
              </a:rPr>
              <a:t>屏幕宽度</a:t>
            </a:r>
            <a:r>
              <a:rPr lang="zh-CN" altLang="en-US" sz="2000" dirty="0">
                <a:solidFill>
                  <a:srgbClr val="595959"/>
                </a:solidFill>
                <a:latin typeface="微软雅黑" panose="020B0503020204020204" pitchFamily="34" charset="-122"/>
                <a:ea typeface="微软雅黑" panose="020B0503020204020204" pitchFamily="34" charset="-122"/>
                <a:sym typeface="+mn-ea"/>
              </a:rPr>
              <a:t>的时候，进行翻页操作滚动到下一张。</a:t>
            </a:r>
          </a:p>
        </p:txBody>
      </p:sp>
    </p:spTree>
    <p:extLst>
      <p:ext uri="{BB962C8B-B14F-4D97-AF65-F5344CB8AC3E}">
        <p14:creationId xmlns:p14="http://schemas.microsoft.com/office/powerpoint/2010/main" val="17105156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6"/>
          <p:cNvSpPr txBox="1"/>
          <p:nvPr/>
        </p:nvSpPr>
        <p:spPr>
          <a:xfrm>
            <a:off x="1142277" y="1239937"/>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实现</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文本框 3">
            <a:extLst>
              <a:ext uri="{FF2B5EF4-FFF2-40B4-BE49-F238E27FC236}">
                <a16:creationId xmlns:a16="http://schemas.microsoft.com/office/drawing/2014/main" id="{7703FD65-B89F-412B-8A06-6737B2815C80}"/>
              </a:ext>
            </a:extLst>
          </p:cNvPr>
          <p:cNvSpPr txBox="1"/>
          <p:nvPr/>
        </p:nvSpPr>
        <p:spPr>
          <a:xfrm>
            <a:off x="982638" y="2057574"/>
            <a:ext cx="10585846" cy="2308324"/>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如果要实现轮播图</a:t>
            </a:r>
            <a:r>
              <a:rPr lang="zh-CN" altLang="en-US" dirty="0">
                <a:solidFill>
                  <a:srgbClr val="1369B2"/>
                </a:solidFill>
              </a:rPr>
              <a:t>自动循环轮播</a:t>
            </a:r>
            <a:r>
              <a:rPr lang="zh-CN" altLang="en-US" dirty="0"/>
              <a:t>效果，需要在原始</a:t>
            </a:r>
            <a:r>
              <a:rPr lang="zh-CN" altLang="en-US" dirty="0">
                <a:solidFill>
                  <a:srgbClr val="1369B2"/>
                </a:solidFill>
              </a:rPr>
              <a:t>图片的首尾</a:t>
            </a:r>
            <a:r>
              <a:rPr lang="zh-CN" altLang="en-US" dirty="0"/>
              <a:t>添加图片，具体操作为在轮播图开始位置添加原始的最后一张图片，在轮播图最后位置添加原始的第一张图片。</a:t>
            </a:r>
            <a:endParaRPr lang="en-US" altLang="zh-CN" dirty="0"/>
          </a:p>
          <a:p>
            <a:endParaRPr lang="en-US" altLang="zh-CN" sz="1400" dirty="0"/>
          </a:p>
          <a:p>
            <a:r>
              <a:rPr lang="zh-CN" altLang="en-US" dirty="0"/>
              <a:t>在实际开发中，轮播图是通过服务器进行返回的，因为服务器返回的轮播图数量不固定，所以应该通过</a:t>
            </a:r>
            <a:r>
              <a:rPr lang="en-US" altLang="zh-CN" dirty="0"/>
              <a:t>JavaScript</a:t>
            </a:r>
            <a:r>
              <a:rPr lang="zh-CN" altLang="en-US" dirty="0"/>
              <a:t>代码</a:t>
            </a:r>
            <a:r>
              <a:rPr lang="zh-CN" altLang="en-US" dirty="0">
                <a:solidFill>
                  <a:srgbClr val="1369B2"/>
                </a:solidFill>
              </a:rPr>
              <a:t>动态添加</a:t>
            </a:r>
            <a:r>
              <a:rPr lang="zh-CN" altLang="en-US" dirty="0"/>
              <a:t>首尾图片，而不是手动添加首尾图片。</a:t>
            </a:r>
          </a:p>
        </p:txBody>
      </p:sp>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Tree>
    <p:extLst>
      <p:ext uri="{BB962C8B-B14F-4D97-AF65-F5344CB8AC3E}">
        <p14:creationId xmlns:p14="http://schemas.microsoft.com/office/powerpoint/2010/main" val="80871113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D7B789A8-33E7-4059-9F3F-87FE2CF262B4}"/>
              </a:ext>
            </a:extLst>
          </p:cNvPr>
          <p:cNvSpPr txBox="1"/>
          <p:nvPr/>
        </p:nvSpPr>
        <p:spPr>
          <a:xfrm>
            <a:off x="4655046" y="4410141"/>
            <a:ext cx="5760640" cy="19978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文本框 5">
            <a:extLst>
              <a:ext uri="{FF2B5EF4-FFF2-40B4-BE49-F238E27FC236}">
                <a16:creationId xmlns:a16="http://schemas.microsoft.com/office/drawing/2014/main" id="{D7B789A8-33E7-4059-9F3F-87FE2CF262B4}"/>
              </a:ext>
            </a:extLst>
          </p:cNvPr>
          <p:cNvSpPr txBox="1"/>
          <p:nvPr/>
        </p:nvSpPr>
        <p:spPr>
          <a:xfrm>
            <a:off x="1486694" y="2205658"/>
            <a:ext cx="8928992" cy="42023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7" name="矩形 6"/>
          <p:cNvSpPr/>
          <p:nvPr/>
        </p:nvSpPr>
        <p:spPr bwMode="auto">
          <a:xfrm>
            <a:off x="1664849" y="2253057"/>
            <a:ext cx="9038869"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overflow: hidden;</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relative;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1000%;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将宽度设置为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1000%</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，这是因为此时需要存放</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10</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张图片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position: relative;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当前元素必须使用</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relative</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相对定位，否则父容器无法获取正确的高度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left: -100%;</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9" name="TextBox 35"/>
          <p:cNvSpPr txBox="1">
            <a:spLocks noChangeArrowheads="1"/>
          </p:cNvSpPr>
          <p:nvPr/>
        </p:nvSpPr>
        <p:spPr bwMode="auto">
          <a:xfrm>
            <a:off x="2937903" y="1053530"/>
            <a:ext cx="8692943"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修改轮播图样式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文件中修改</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轮播图样式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27832761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D7B789A8-33E7-4059-9F3F-87FE2CF262B4}"/>
              </a:ext>
            </a:extLst>
          </p:cNvPr>
          <p:cNvSpPr txBox="1"/>
          <p:nvPr/>
        </p:nvSpPr>
        <p:spPr>
          <a:xfrm>
            <a:off x="2494806" y="2571865"/>
            <a:ext cx="6408712" cy="20967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9" name="TextBox 35"/>
          <p:cNvSpPr txBox="1">
            <a:spLocks noChangeArrowheads="1"/>
          </p:cNvSpPr>
          <p:nvPr/>
        </p:nvSpPr>
        <p:spPr bwMode="auto">
          <a:xfrm>
            <a:off x="2937903" y="1053530"/>
            <a:ext cx="8692943"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修改轮播图样式</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index.css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文件中修改</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轮播图样式</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2" name="矩形 1"/>
          <p:cNvSpPr/>
          <p:nvPr/>
        </p:nvSpPr>
        <p:spPr>
          <a:xfrm>
            <a:off x="2804914" y="2796356"/>
            <a:ext cx="6026596" cy="1754326"/>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hm_bannerImg</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li{</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width: 10%;         /* li</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的宽度相应需要改为</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10%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float: left;</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Tree>
    <p:extLst>
      <p:ext uri="{BB962C8B-B14F-4D97-AF65-F5344CB8AC3E}">
        <p14:creationId xmlns:p14="http://schemas.microsoft.com/office/powerpoint/2010/main" val="321845907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2048789" y="2709714"/>
            <a:ext cx="7128792" cy="31202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2336821" y="2829121"/>
            <a:ext cx="4752528" cy="3000821"/>
          </a:xfrm>
          <a:prstGeom prst="rect">
            <a:avLst/>
          </a:prstGeom>
        </p:spPr>
        <p:txBody>
          <a:bodyPr wrap="square">
            <a:spAutoFit/>
          </a:bodyPr>
          <a:lstStyle/>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入口函数，页面加载完成之后执行</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search()</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方法</a:t>
            </a:r>
          </a:p>
          <a:p>
            <a:pPr>
              <a:lnSpc>
                <a:spcPct val="150000"/>
              </a:lnSpc>
              <a:defRPr/>
            </a:pP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window.onload</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search();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搜索栏</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downTime</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倒计时</a:t>
            </a:r>
            <a:endPar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8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bannerEffect</a:t>
            </a: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轮播图</a:t>
            </a:r>
          </a:p>
          <a:p>
            <a:pPr>
              <a:lnSpc>
                <a:spcPct val="150000"/>
              </a:lnSpc>
              <a:defRPr/>
            </a:pPr>
            <a:r>
              <a:rPr lang="en-US" altLang="zh-CN" sz="18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6" name="TextBox 35"/>
          <p:cNvSpPr txBox="1">
            <a:spLocks noChangeArrowheads="1"/>
          </p:cNvSpPr>
          <p:nvPr/>
        </p:nvSpPr>
        <p:spPr bwMode="auto">
          <a:xfrm>
            <a:off x="2937903" y="1053530"/>
            <a:ext cx="8692943"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修改轮播图逻辑</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打开</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index.js</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文件，在</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window.onload</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 = function(){}</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方法中添加</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bannerEffect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9"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0" name="文本框 9">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569094276"/>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1918742" y="2472749"/>
            <a:ext cx="9433048" cy="30438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2206774" y="2503503"/>
            <a:ext cx="9145016" cy="2677656"/>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bannerEffect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banner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document.querySelector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hm_banner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获取轮播图结构</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ul:first-of-type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获取轮播图容器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first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li:first-of-type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获取原始的第一张图片</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last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li:last-of-type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获取原始的最后一张图片</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imgBox.appendChild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first.cloneNode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(true));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imgBox.insertBefore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last.cloneNode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(true),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imgBox.firstChild</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12" name="TextBox 35"/>
          <p:cNvSpPr txBox="1">
            <a:spLocks noChangeArrowheads="1"/>
          </p:cNvSpPr>
          <p:nvPr/>
        </p:nvSpPr>
        <p:spPr bwMode="auto">
          <a:xfrm>
            <a:off x="2937903" y="1053530"/>
            <a:ext cx="8917943"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动态</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添加首尾图片</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bannerEffect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24997580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1143690" y="2335486"/>
            <a:ext cx="10297144" cy="39093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1232734" y="2366240"/>
            <a:ext cx="10208100" cy="3785652"/>
          </a:xfrm>
          <a:prstGeom prst="rect">
            <a:avLst/>
          </a:prstGeom>
        </p:spPr>
        <p:txBody>
          <a:bodyPr wrap="square">
            <a:spAutoFit/>
          </a:bodyPr>
          <a:lstStyle/>
          <a:p>
            <a:pPr>
              <a:lnSpc>
                <a:spcPct val="150000"/>
              </a:lnSpc>
              <a:defRPr/>
            </a:pP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设置对应的样式</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imgBox.querySelectorAll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获取所有</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count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lis.length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元素的数量</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banner.offsetWidth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获取当前</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的宽度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count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设置图片盒子的宽度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lis.length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设置每一个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元素的</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宽度</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1;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定义图片索引，因为图片有了一个宽度的默认偏移，所以索引为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设置默认的偏移</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12" name="TextBox 35"/>
          <p:cNvSpPr txBox="1">
            <a:spLocks noChangeArrowheads="1"/>
          </p:cNvSpPr>
          <p:nvPr/>
        </p:nvSpPr>
        <p:spPr bwMode="auto">
          <a:xfrm>
            <a:off x="2937903" y="1053530"/>
            <a:ext cx="8917943"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动态</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添加首尾图片</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bannerEffect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5215734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910630" y="2328038"/>
            <a:ext cx="10657184" cy="32227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r>
              <a:rPr lang="en-US" altLang="zh-CN" sz="1600" dirty="0" smtClean="0"/>
              <a:t> </a:t>
            </a:r>
            <a:endParaRPr lang="zh-CN" altLang="zh-CN" sz="1600" dirty="0"/>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12" name="TextBox 35"/>
          <p:cNvSpPr txBox="1">
            <a:spLocks noChangeArrowheads="1"/>
          </p:cNvSpPr>
          <p:nvPr/>
        </p:nvSpPr>
        <p:spPr bwMode="auto">
          <a:xfrm>
            <a:off x="2937903" y="1053530"/>
            <a:ext cx="8917943" cy="1084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动态添加首尾图片</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编写</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bannerEffect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的具体实现。</a:t>
            </a: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2" name="矩形 1"/>
          <p:cNvSpPr/>
          <p:nvPr/>
        </p:nvSpPr>
        <p:spPr>
          <a:xfrm>
            <a:off x="1126654" y="2411282"/>
            <a:ext cx="10657184" cy="3046988"/>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当屏幕变化时，重新计算宽度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window.onresize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banner.offsetWidth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获取当前</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的宽度，覆盖全局宽度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count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设置图片盒子的宽度</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lis.length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style.width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设置每一个</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元素的宽度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重新设置偏移</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zh-CN" altLang="en-US" sz="1600" dirty="0"/>
          </a:p>
        </p:txBody>
      </p:sp>
    </p:spTree>
    <p:extLst>
      <p:ext uri="{BB962C8B-B14F-4D97-AF65-F5344CB8AC3E}">
        <p14:creationId xmlns:p14="http://schemas.microsoft.com/office/powerpoint/2010/main" val="43074238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703FD65-B89F-412B-8A06-6737B2815C80}"/>
              </a:ext>
            </a:extLst>
          </p:cNvPr>
          <p:cNvSpPr txBox="1"/>
          <p:nvPr/>
        </p:nvSpPr>
        <p:spPr>
          <a:xfrm>
            <a:off x="910630" y="1032659"/>
            <a:ext cx="10513168" cy="961289"/>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保存上述代码，在浏览器中审查</a:t>
            </a:r>
            <a:r>
              <a:rPr lang="zh-CN" altLang="en-US" dirty="0" smtClean="0"/>
              <a:t>元素，</a:t>
            </a:r>
            <a:r>
              <a:rPr lang="en-US" altLang="zh-CN" dirty="0" smtClean="0">
                <a:solidFill>
                  <a:srgbClr val="1369B2"/>
                </a:solidFill>
              </a:rPr>
              <a:t>&lt;</a:t>
            </a:r>
            <a:r>
              <a:rPr lang="en-US" altLang="zh-CN" dirty="0">
                <a:solidFill>
                  <a:srgbClr val="1369B2"/>
                </a:solidFill>
              </a:rPr>
              <a:t>li&gt;</a:t>
            </a:r>
            <a:r>
              <a:rPr lang="zh-CN" altLang="en-US" dirty="0">
                <a:solidFill>
                  <a:srgbClr val="1369B2"/>
                </a:solidFill>
              </a:rPr>
              <a:t>元素</a:t>
            </a:r>
            <a:r>
              <a:rPr lang="zh-CN" altLang="en-US" dirty="0"/>
              <a:t>由之前的</a:t>
            </a:r>
            <a:r>
              <a:rPr lang="en-US" altLang="zh-CN" dirty="0">
                <a:solidFill>
                  <a:srgbClr val="1369B2"/>
                </a:solidFill>
              </a:rPr>
              <a:t>8</a:t>
            </a:r>
            <a:r>
              <a:rPr lang="zh-CN" altLang="en-US" dirty="0">
                <a:solidFill>
                  <a:srgbClr val="1369B2"/>
                </a:solidFill>
              </a:rPr>
              <a:t>个</a:t>
            </a:r>
            <a:r>
              <a:rPr lang="zh-CN" altLang="en-US" dirty="0"/>
              <a:t>变为了</a:t>
            </a:r>
            <a:r>
              <a:rPr lang="en-US" altLang="zh-CN" dirty="0">
                <a:solidFill>
                  <a:srgbClr val="1369B2"/>
                </a:solidFill>
              </a:rPr>
              <a:t>10</a:t>
            </a:r>
            <a:r>
              <a:rPr lang="zh-CN" altLang="en-US" dirty="0">
                <a:solidFill>
                  <a:srgbClr val="1369B2"/>
                </a:solidFill>
              </a:rPr>
              <a:t>个</a:t>
            </a:r>
            <a:r>
              <a:rPr lang="zh-CN" altLang="en-US" dirty="0" smtClean="0"/>
              <a:t>，</a:t>
            </a:r>
            <a:endParaRPr lang="en-US" altLang="zh-CN" dirty="0" smtClean="0"/>
          </a:p>
          <a:p>
            <a:r>
              <a:rPr lang="zh-CN" altLang="en-US" dirty="0" smtClean="0"/>
              <a:t>说明</a:t>
            </a:r>
            <a:r>
              <a:rPr lang="zh-CN" altLang="en-US" dirty="0"/>
              <a:t>已经</a:t>
            </a:r>
            <a:r>
              <a:rPr lang="zh-CN" altLang="en-US" dirty="0">
                <a:solidFill>
                  <a:srgbClr val="1369B2"/>
                </a:solidFill>
              </a:rPr>
              <a:t>动态添加</a:t>
            </a:r>
            <a:r>
              <a:rPr lang="zh-CN" altLang="en-US" dirty="0"/>
              <a:t>完成首尾两张图片。</a:t>
            </a:r>
            <a:endParaRPr lang="zh-CN" altLang="en-US" sz="1800" dirty="0"/>
          </a:p>
        </p:txBody>
      </p:sp>
      <p:pic>
        <p:nvPicPr>
          <p:cNvPr id="13314"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894" y="2061642"/>
            <a:ext cx="5328592" cy="4537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Tree>
    <p:extLst>
      <p:ext uri="{BB962C8B-B14F-4D97-AF65-F5344CB8AC3E}">
        <p14:creationId xmlns:p14="http://schemas.microsoft.com/office/powerpoint/2010/main" val="289295740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2165437" y="2349674"/>
            <a:ext cx="8424936" cy="2880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2340124" y="2349674"/>
            <a:ext cx="8075562" cy="3046988"/>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实现自动轮播，封装定时器</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setInterval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下一张</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'left 0.5s ease-in-out';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向左偏移是负值</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7" name="TextBox 35"/>
          <p:cNvSpPr txBox="1">
            <a:spLocks noChangeArrowheads="1"/>
          </p:cNvSpPr>
          <p:nvPr/>
        </p:nvSpPr>
        <p:spPr bwMode="auto">
          <a:xfrm>
            <a:off x="2937903" y="1053530"/>
            <a:ext cx="8917943"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自动轮播功能</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步骤（</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）中</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window.onresize</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代码外部编写定时器代码。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12759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7B789A8-33E7-4059-9F3F-87FE2CF262B4}"/>
              </a:ext>
            </a:extLst>
          </p:cNvPr>
          <p:cNvSpPr txBox="1"/>
          <p:nvPr/>
        </p:nvSpPr>
        <p:spPr>
          <a:xfrm>
            <a:off x="1846734" y="2205658"/>
            <a:ext cx="8342262" cy="42907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5" name="矩形 4"/>
          <p:cNvSpPr/>
          <p:nvPr/>
        </p:nvSpPr>
        <p:spPr bwMode="auto">
          <a:xfrm>
            <a:off x="1908076" y="2205658"/>
            <a:ext cx="8327190" cy="4154984"/>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setTimeout</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添加延时操作，等过渡完成之后，再进行判断</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判断是否到最后一张，如果是则执行如下操作</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if (index == count - 1)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1;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索引为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'none';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关闭过渡效果</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500);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2000);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开启定时器</a:t>
            </a: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实现首页轮播图自动轮播效果</a:t>
            </a:r>
          </a:p>
        </p:txBody>
      </p:sp>
      <p:sp>
        <p:nvSpPr>
          <p:cNvPr id="7" name="TextBox 35"/>
          <p:cNvSpPr txBox="1">
            <a:spLocks noChangeArrowheads="1"/>
          </p:cNvSpPr>
          <p:nvPr/>
        </p:nvSpPr>
        <p:spPr bwMode="auto">
          <a:xfrm>
            <a:off x="2937903" y="1053530"/>
            <a:ext cx="8917943"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自动轮播功能</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步骤（</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）中</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window.onresize</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代码外部编写定时器代码。</a:t>
            </a: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83691156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574172E-A3D8-43AB-9E82-549DB9FB48BD}"/>
              </a:ext>
            </a:extLst>
          </p:cNvPr>
          <p:cNvPicPr>
            <a:picLocks noChangeAspect="1"/>
          </p:cNvPicPr>
          <p:nvPr/>
        </p:nvPicPr>
        <p:blipFill>
          <a:blip r:embed="rId3"/>
          <a:stretch>
            <a:fillRect/>
          </a:stretch>
        </p:blipFill>
        <p:spPr>
          <a:xfrm>
            <a:off x="944880" y="2215515"/>
            <a:ext cx="2797810" cy="3898265"/>
          </a:xfrm>
          <a:prstGeom prst="rect">
            <a:avLst/>
          </a:prstGeom>
        </p:spPr>
      </p:pic>
      <p:sp>
        <p:nvSpPr>
          <p:cNvPr id="7" name="椭圆形标注 12">
            <a:extLst>
              <a:ext uri="{FF2B5EF4-FFF2-40B4-BE49-F238E27FC236}">
                <a16:creationId xmlns:a16="http://schemas.microsoft.com/office/drawing/2014/main" id="{7B390C9A-D5FF-47D1-B4B4-0199AF6B48D8}"/>
              </a:ext>
            </a:extLst>
          </p:cNvPr>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a:extLst>
              <a:ext uri="{FF2B5EF4-FFF2-40B4-BE49-F238E27FC236}">
                <a16:creationId xmlns:a16="http://schemas.microsoft.com/office/drawing/2014/main" id="{D9A8924D-E4E3-41DB-9F07-89CCE28E2FE3}"/>
              </a:ext>
            </a:extLst>
          </p:cNvPr>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2" name="TextBox 35">
            <a:extLst>
              <a:ext uri="{FF2B5EF4-FFF2-40B4-BE49-F238E27FC236}">
                <a16:creationId xmlns:a16="http://schemas.microsoft.com/office/drawing/2014/main" id="{88A2767E-6F2C-4E24-978D-C8C7F571051E}"/>
              </a:ext>
            </a:extLst>
          </p:cNvPr>
          <p:cNvSpPr txBox="1">
            <a:spLocks noChangeArrowheads="1"/>
          </p:cNvSpPr>
          <p:nvPr/>
        </p:nvSpPr>
        <p:spPr bwMode="auto">
          <a:xfrm>
            <a:off x="5815965" y="3576722"/>
            <a:ext cx="4983480" cy="123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rPr>
              <a:t>掌握</a:t>
            </a:r>
            <a:r>
              <a:rPr lang="zh-CN" altLang="en-US" dirty="0">
                <a:solidFill>
                  <a:srgbClr val="1369B2"/>
                </a:solidFill>
                <a:latin typeface="微软雅黑" panose="020B0503020204020204" pitchFamily="34" charset="-122"/>
                <a:ea typeface="微软雅黑" panose="020B0503020204020204" pitchFamily="34" charset="-122"/>
              </a:rPr>
              <a:t>首页轮播图手动轮播效果的实现</a:t>
            </a:r>
            <a:r>
              <a:rPr lang="zh-CN" altLang="en-US" dirty="0">
                <a:solidFill>
                  <a:srgbClr val="595959"/>
                </a:solidFill>
                <a:latin typeface="微软雅黑" panose="020B0503020204020204" pitchFamily="34" charset="-122"/>
                <a:ea typeface="微软雅黑" panose="020B0503020204020204" pitchFamily="34" charset="-122"/>
              </a:rPr>
              <a:t>，能够独立完成该功能模块</a:t>
            </a:r>
          </a:p>
        </p:txBody>
      </p:sp>
      <p:grpSp>
        <p:nvGrpSpPr>
          <p:cNvPr id="14" name="组合 13">
            <a:extLst>
              <a:ext uri="{FF2B5EF4-FFF2-40B4-BE49-F238E27FC236}">
                <a16:creationId xmlns:a16="http://schemas.microsoft.com/office/drawing/2014/main" id="{3617D419-9079-4D1F-99BA-23638A3FE48F}"/>
              </a:ext>
            </a:extLst>
          </p:cNvPr>
          <p:cNvGrpSpPr/>
          <p:nvPr/>
        </p:nvGrpSpPr>
        <p:grpSpPr>
          <a:xfrm>
            <a:off x="5379720" y="3816752"/>
            <a:ext cx="405130" cy="405130"/>
            <a:chOff x="8881" y="4685"/>
            <a:chExt cx="638" cy="638"/>
          </a:xfrm>
        </p:grpSpPr>
        <p:sp>
          <p:nvSpPr>
            <p:cNvPr id="15" name="椭圆 14">
              <a:extLst>
                <a:ext uri="{FF2B5EF4-FFF2-40B4-BE49-F238E27FC236}">
                  <a16:creationId xmlns:a16="http://schemas.microsoft.com/office/drawing/2014/main" id="{7644041C-FD8B-4B62-94FA-4226E308886B}"/>
                </a:ext>
              </a:extLst>
            </p:cNvPr>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DC457E5-245E-48A8-8165-3C32BA3775C2}"/>
                </a:ext>
              </a:extLst>
            </p:cNvPr>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Tree>
    <p:extLst>
      <p:ext uri="{BB962C8B-B14F-4D97-AF65-F5344CB8AC3E}">
        <p14:creationId xmlns:p14="http://schemas.microsoft.com/office/powerpoint/2010/main" val="95302578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6"/>
          <p:cNvSpPr txBox="1"/>
          <p:nvPr/>
        </p:nvSpPr>
        <p:spPr>
          <a:xfrm>
            <a:off x="1142277" y="1095921"/>
            <a:ext cx="2216625" cy="461665"/>
          </a:xfrm>
          <a:prstGeom prst="rect">
            <a:avLst/>
          </a:prstGeom>
          <a:solidFill>
            <a:srgbClr val="0070C0"/>
          </a:solidFill>
          <a:effectLst>
            <a:outerShdw blurRad="190500" dist="38100" dir="2700000" algn="tl" rotWithShape="0">
              <a:prstClr val="black">
                <a:alpha val="20000"/>
              </a:prstClr>
            </a:outerShdw>
          </a:effectLst>
        </p:spPr>
        <p:txBody>
          <a:bodyPr wrap="square" rtlCol="0" anchor="ctr">
            <a:spAutoFit/>
          </a:bodyPr>
          <a:lstStyle/>
          <a:p>
            <a:pPr algn="ctr"/>
            <a:r>
              <a:rPr lang="zh-CN" altLang="en-US" b="1"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功能分析</a:t>
            </a:r>
            <a:endParaRPr lang="en-US" altLang="zh-CN" sz="24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TextBox 4"/>
          <p:cNvSpPr txBox="1">
            <a:spLocks noChangeArrowheads="1"/>
          </p:cNvSpPr>
          <p:nvPr/>
        </p:nvSpPr>
        <p:spPr bwMode="auto">
          <a:xfrm>
            <a:off x="262558" y="1773610"/>
            <a:ext cx="11737304" cy="33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marL="342900" indent="-342900">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marL="609600" lvl="1" indent="0">
              <a:lnSpc>
                <a:spcPct val="150000"/>
              </a:lnSpc>
              <a:buClr>
                <a:schemeClr val="tx1"/>
              </a:buClr>
            </a:pPr>
            <a:r>
              <a:rPr lang="zh-CN" altLang="en-US" sz="2000" dirty="0">
                <a:solidFill>
                  <a:srgbClr val="1369B2"/>
                </a:solidFill>
                <a:latin typeface="微软雅黑" panose="020B0503020204020204" pitchFamily="34" charset="-122"/>
                <a:ea typeface="微软雅黑" panose="020B0503020204020204" pitchFamily="34" charset="-122"/>
              </a:rPr>
              <a:t>轮播图</a:t>
            </a:r>
            <a:r>
              <a:rPr lang="zh-CN" altLang="en-US" sz="2000" dirty="0">
                <a:solidFill>
                  <a:srgbClr val="595959"/>
                </a:solidFill>
                <a:latin typeface="微软雅黑" panose="020B0503020204020204" pitchFamily="34" charset="-122"/>
                <a:ea typeface="微软雅黑" panose="020B0503020204020204" pitchFamily="34" charset="-122"/>
              </a:rPr>
              <a:t>的手动轮播效果，需要用到</a:t>
            </a:r>
            <a:r>
              <a:rPr lang="en-US" altLang="zh-CN" sz="2000" dirty="0">
                <a:solidFill>
                  <a:srgbClr val="1369B2"/>
                </a:solidFill>
                <a:latin typeface="微软雅黑" panose="020B0503020204020204" pitchFamily="34" charset="-122"/>
                <a:ea typeface="微软雅黑" panose="020B0503020204020204" pitchFamily="34" charset="-122"/>
              </a:rPr>
              <a:t>touch</a:t>
            </a:r>
            <a:r>
              <a:rPr lang="zh-CN" altLang="en-US" sz="2000" dirty="0">
                <a:solidFill>
                  <a:srgbClr val="595959"/>
                </a:solidFill>
                <a:latin typeface="微软雅黑" panose="020B0503020204020204" pitchFamily="34" charset="-122"/>
                <a:ea typeface="微软雅黑" panose="020B0503020204020204" pitchFamily="34" charset="-122"/>
              </a:rPr>
              <a:t>相关事件，如</a:t>
            </a:r>
            <a:r>
              <a:rPr lang="en-US" altLang="zh-CN" sz="2000" dirty="0" err="1">
                <a:solidFill>
                  <a:srgbClr val="1369B2"/>
                </a:solidFill>
                <a:latin typeface="微软雅黑" panose="020B0503020204020204" pitchFamily="34" charset="-122"/>
                <a:ea typeface="微软雅黑" panose="020B0503020204020204" pitchFamily="34" charset="-122"/>
              </a:rPr>
              <a:t>touchstart</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touchmove</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touchend</a:t>
            </a:r>
            <a:r>
              <a:rPr lang="zh-CN" altLang="en-US" sz="2000" dirty="0">
                <a:solidFill>
                  <a:srgbClr val="595959"/>
                </a:solidFill>
                <a:latin typeface="微软雅黑" panose="020B0503020204020204" pitchFamily="34" charset="-122"/>
                <a:ea typeface="微软雅黑" panose="020B0503020204020204" pitchFamily="34" charset="-122"/>
              </a:rPr>
              <a:t>。</a:t>
            </a:r>
          </a:p>
          <a:p>
            <a:pPr marL="609600" lvl="1" indent="0">
              <a:lnSpc>
                <a:spcPct val="150000"/>
              </a:lnSpc>
              <a:buClr>
                <a:schemeClr val="tx1"/>
              </a:buClr>
            </a:pPr>
            <a:r>
              <a:rPr lang="zh-CN" altLang="en-US" sz="2000" dirty="0">
                <a:solidFill>
                  <a:srgbClr val="595959"/>
                </a:solidFill>
                <a:latin typeface="微软雅黑" panose="020B0503020204020204" pitchFamily="34" charset="-122"/>
                <a:ea typeface="微软雅黑" panose="020B0503020204020204" pitchFamily="34" charset="-122"/>
              </a:rPr>
              <a:t>手动轮播实现细节分为三步：</a:t>
            </a:r>
            <a:endParaRPr lang="en-US" altLang="zh-CN" sz="2000" dirty="0">
              <a:solidFill>
                <a:srgbClr val="595959"/>
              </a:solidFill>
              <a:latin typeface="微软雅黑" panose="020B0503020204020204" pitchFamily="34" charset="-122"/>
              <a:ea typeface="微软雅黑" panose="020B0503020204020204" pitchFamily="34" charset="-122"/>
            </a:endParaRP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记录手指的</a:t>
            </a:r>
            <a:r>
              <a:rPr lang="zh-CN" altLang="en-US" sz="2000" dirty="0">
                <a:solidFill>
                  <a:srgbClr val="1369B2"/>
                </a:solidFill>
                <a:latin typeface="微软雅黑" panose="020B0503020204020204" pitchFamily="34" charset="-122"/>
                <a:ea typeface="微软雅黑" panose="020B0503020204020204" pitchFamily="34" charset="-122"/>
                <a:sym typeface="+mn-ea"/>
              </a:rPr>
              <a:t>起始位置</a:t>
            </a:r>
            <a:r>
              <a:rPr lang="zh-CN" altLang="en-US" sz="2000" dirty="0">
                <a:solidFill>
                  <a:srgbClr val="595959"/>
                </a:solidFill>
                <a:latin typeface="微软雅黑" panose="020B0503020204020204" pitchFamily="34" charset="-122"/>
                <a:ea typeface="微软雅黑" panose="020B0503020204020204" pitchFamily="34" charset="-122"/>
                <a:sym typeface="+mn-ea"/>
              </a:rPr>
              <a:t>；</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记录手指在</a:t>
            </a:r>
            <a:r>
              <a:rPr lang="zh-CN" altLang="en-US" sz="2000" dirty="0">
                <a:solidFill>
                  <a:srgbClr val="1369B2"/>
                </a:solidFill>
                <a:latin typeface="微软雅黑" panose="020B0503020204020204" pitchFamily="34" charset="-122"/>
                <a:ea typeface="微软雅黑" panose="020B0503020204020204" pitchFamily="34" charset="-122"/>
                <a:sym typeface="+mn-ea"/>
              </a:rPr>
              <a:t>滑动过程</a:t>
            </a:r>
            <a:r>
              <a:rPr lang="zh-CN" altLang="en-US" sz="2000" dirty="0">
                <a:solidFill>
                  <a:srgbClr val="595959"/>
                </a:solidFill>
                <a:latin typeface="微软雅黑" panose="020B0503020204020204" pitchFamily="34" charset="-122"/>
                <a:ea typeface="微软雅黑" panose="020B0503020204020204" pitchFamily="34" charset="-122"/>
                <a:sym typeface="+mn-ea"/>
              </a:rPr>
              <a:t>中的位置，计算出相对于起始位置的</a:t>
            </a:r>
            <a:r>
              <a:rPr lang="zh-CN" altLang="en-US" sz="2000" dirty="0">
                <a:solidFill>
                  <a:srgbClr val="1369B2"/>
                </a:solidFill>
                <a:latin typeface="微软雅黑" panose="020B0503020204020204" pitchFamily="34" charset="-122"/>
                <a:ea typeface="微软雅黑" panose="020B0503020204020204" pitchFamily="34" charset="-122"/>
                <a:sym typeface="+mn-ea"/>
              </a:rPr>
              <a:t>偏移值</a:t>
            </a:r>
            <a:r>
              <a:rPr lang="zh-CN" altLang="en-US" sz="2000" dirty="0">
                <a:solidFill>
                  <a:srgbClr val="595959"/>
                </a:solidFill>
                <a:latin typeface="微软雅黑" panose="020B0503020204020204" pitchFamily="34" charset="-122"/>
                <a:ea typeface="微软雅黑" panose="020B0503020204020204" pitchFamily="34" charset="-122"/>
                <a:sym typeface="+mn-ea"/>
              </a:rPr>
              <a:t>，通过</a:t>
            </a:r>
            <a:r>
              <a:rPr lang="en-US" altLang="zh-CN" sz="2000" dirty="0">
                <a:solidFill>
                  <a:srgbClr val="595959"/>
                </a:solidFill>
                <a:latin typeface="微软雅黑" panose="020B0503020204020204" pitchFamily="34" charset="-122"/>
                <a:ea typeface="微软雅黑" panose="020B0503020204020204" pitchFamily="34" charset="-122"/>
                <a:sym typeface="+mn-ea"/>
              </a:rPr>
              <a:t>left</a:t>
            </a:r>
            <a:r>
              <a:rPr lang="zh-CN" altLang="en-US" sz="2000" dirty="0">
                <a:solidFill>
                  <a:srgbClr val="595959"/>
                </a:solidFill>
                <a:latin typeface="微软雅黑" panose="020B0503020204020204" pitchFamily="34" charset="-122"/>
                <a:ea typeface="微软雅黑" panose="020B0503020204020204" pitchFamily="34" charset="-122"/>
                <a:sym typeface="+mn-ea"/>
              </a:rPr>
              <a:t>样式实现图片的偏移；</a:t>
            </a:r>
          </a:p>
          <a:p>
            <a:pPr marL="1066800" lvl="1" indent="-457200">
              <a:lnSpc>
                <a:spcPct val="150000"/>
              </a:lnSpc>
              <a:buFont typeface="+mj-lt"/>
              <a:buAutoNum type="arabicPeriod"/>
            </a:pPr>
            <a:r>
              <a:rPr lang="zh-CN" altLang="en-US" sz="2000" dirty="0">
                <a:solidFill>
                  <a:srgbClr val="595959"/>
                </a:solidFill>
                <a:latin typeface="微软雅黑" panose="020B0503020204020204" pitchFamily="34" charset="-122"/>
                <a:ea typeface="微软雅黑" panose="020B0503020204020204" pitchFamily="34" charset="-122"/>
                <a:sym typeface="+mn-ea"/>
              </a:rPr>
              <a:t>在手指松开后，判断当前</a:t>
            </a:r>
            <a:r>
              <a:rPr lang="zh-CN" altLang="en-US" sz="2000" dirty="0">
                <a:solidFill>
                  <a:srgbClr val="1369B2"/>
                </a:solidFill>
                <a:latin typeface="微软雅黑" panose="020B0503020204020204" pitchFamily="34" charset="-122"/>
                <a:ea typeface="微软雅黑" panose="020B0503020204020204" pitchFamily="34" charset="-122"/>
                <a:sym typeface="+mn-ea"/>
              </a:rPr>
              <a:t>滑动的距离</a:t>
            </a:r>
            <a:r>
              <a:rPr lang="zh-CN" altLang="en-US" sz="2000" dirty="0">
                <a:solidFill>
                  <a:srgbClr val="595959"/>
                </a:solidFill>
                <a:latin typeface="微软雅黑" panose="020B0503020204020204" pitchFamily="34" charset="-122"/>
                <a:ea typeface="微软雅黑" panose="020B0503020204020204" pitchFamily="34" charset="-122"/>
                <a:sym typeface="+mn-ea"/>
              </a:rPr>
              <a:t>，如果超出指定的范围，就进行</a:t>
            </a:r>
            <a:r>
              <a:rPr lang="zh-CN" altLang="en-US" sz="2000" dirty="0">
                <a:solidFill>
                  <a:srgbClr val="1369B2"/>
                </a:solidFill>
                <a:latin typeface="微软雅黑" panose="020B0503020204020204" pitchFamily="34" charset="-122"/>
                <a:ea typeface="微软雅黑" panose="020B0503020204020204" pitchFamily="34" charset="-122"/>
                <a:sym typeface="+mn-ea"/>
              </a:rPr>
              <a:t>翻页</a:t>
            </a:r>
            <a:r>
              <a:rPr lang="zh-CN" altLang="en-US" sz="2000" dirty="0">
                <a:solidFill>
                  <a:srgbClr val="595959"/>
                </a:solidFill>
                <a:latin typeface="微软雅黑" panose="020B0503020204020204" pitchFamily="34" charset="-122"/>
                <a:ea typeface="微软雅黑" panose="020B0503020204020204" pitchFamily="34" charset="-122"/>
                <a:sym typeface="+mn-ea"/>
              </a:rPr>
              <a:t>操作（去到下一张），否则进行</a:t>
            </a:r>
            <a:r>
              <a:rPr lang="zh-CN" altLang="en-US" sz="2000" dirty="0">
                <a:solidFill>
                  <a:srgbClr val="1369B2"/>
                </a:solidFill>
                <a:latin typeface="微软雅黑" panose="020B0503020204020204" pitchFamily="34" charset="-122"/>
                <a:ea typeface="微软雅黑" panose="020B0503020204020204" pitchFamily="34" charset="-122"/>
                <a:sym typeface="+mn-ea"/>
              </a:rPr>
              <a:t>回弹</a:t>
            </a:r>
            <a:r>
              <a:rPr lang="zh-CN" altLang="en-US" sz="2000" dirty="0">
                <a:solidFill>
                  <a:srgbClr val="595959"/>
                </a:solidFill>
                <a:latin typeface="微软雅黑" panose="020B0503020204020204" pitchFamily="34" charset="-122"/>
                <a:ea typeface="微软雅黑" panose="020B0503020204020204" pitchFamily="34" charset="-122"/>
                <a:sym typeface="+mn-ea"/>
              </a:rPr>
              <a:t>操作（回到上一张）。</a:t>
            </a:r>
          </a:p>
        </p:txBody>
      </p:sp>
    </p:spTree>
    <p:extLst>
      <p:ext uri="{BB962C8B-B14F-4D97-AF65-F5344CB8AC3E}">
        <p14:creationId xmlns:p14="http://schemas.microsoft.com/office/powerpoint/2010/main" val="142727003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8" name="文本框 7">
            <a:extLst>
              <a:ext uri="{FF2B5EF4-FFF2-40B4-BE49-F238E27FC236}">
                <a16:creationId xmlns:a16="http://schemas.microsoft.com/office/drawing/2014/main" id="{D7B789A8-33E7-4059-9F3F-87FE2CF262B4}"/>
              </a:ext>
            </a:extLst>
          </p:cNvPr>
          <p:cNvSpPr txBox="1"/>
          <p:nvPr/>
        </p:nvSpPr>
        <p:spPr>
          <a:xfrm>
            <a:off x="1918742" y="3213770"/>
            <a:ext cx="8424936" cy="2980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9" name="矩形 8"/>
          <p:cNvSpPr/>
          <p:nvPr/>
        </p:nvSpPr>
        <p:spPr bwMode="auto">
          <a:xfrm>
            <a:off x="2134766" y="3376594"/>
            <a:ext cx="8208912" cy="2634183"/>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设置全局变量，开始坐标值、滑动过程中的坐标值、两者的差异值</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触摸开始</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touchstart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clearInterval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e.targetTouches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clientX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获取当前手指的起始位置</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7" name="TextBox 35"/>
          <p:cNvSpPr txBox="1">
            <a:spLocks noChangeArrowheads="1"/>
          </p:cNvSpPr>
          <p:nvPr/>
        </p:nvSpPr>
        <p:spPr bwMode="auto">
          <a:xfrm>
            <a:off x="2937903" y="1053530"/>
            <a:ext cx="8629911" cy="298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图片的偏移</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记录</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手指的起始位置</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手指</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在滑动过程中的位置</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，计算出相对于起始位置的偏移值，通过</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left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样式实现图片的偏移</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bannerEffect</a:t>
            </a:r>
            <a:r>
              <a:rPr lang="en-US" altLang="zh-CN"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方法中，自动轮播代码完成后编写</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如下代码</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70828653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D7B789A8-33E7-4059-9F3F-87FE2CF262B4}"/>
              </a:ext>
            </a:extLst>
          </p:cNvPr>
          <p:cNvSpPr txBox="1"/>
          <p:nvPr/>
        </p:nvSpPr>
        <p:spPr>
          <a:xfrm>
            <a:off x="1558702" y="2319774"/>
            <a:ext cx="9433048" cy="30542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9" name="矩形 8"/>
          <p:cNvSpPr/>
          <p:nvPr/>
        </p:nvSpPr>
        <p:spPr bwMode="auto">
          <a:xfrm>
            <a:off x="1990750" y="2495942"/>
            <a:ext cx="8784976" cy="2677656"/>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滑动过程</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e.targetTouches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[0].client;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记录手指在滑动过程中的位置</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计算坐标的差异</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'none';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为了保证效果正常，将之前可能添加的过渡样式清除</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实现元素的偏移</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7" name="TextBox 35"/>
          <p:cNvSpPr txBox="1">
            <a:spLocks noChangeArrowheads="1"/>
          </p:cNvSpPr>
          <p:nvPr/>
        </p:nvSpPr>
        <p:spPr bwMode="auto">
          <a:xfrm>
            <a:off x="2937903" y="1053530"/>
            <a:ext cx="8629911"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图片的偏移</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01</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4725223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422798" y="2205658"/>
            <a:ext cx="7488832" cy="41764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638822" y="2205658"/>
            <a:ext cx="6840760" cy="4154984"/>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触摸结束</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Math.abs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100)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判断滑动的方向</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0) { </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上一</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张</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else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下一</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张</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'left 0.5s ease-in-out';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翻页，下一张图</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9" name="TextBox 35"/>
          <p:cNvSpPr txBox="1">
            <a:spLocks noChangeArrowheads="1"/>
          </p:cNvSpPr>
          <p:nvPr/>
        </p:nvSpPr>
        <p:spPr bwMode="auto">
          <a:xfrm>
            <a:off x="2937903" y="1053530"/>
            <a:ext cx="8629911"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实现翻页和回弹</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在手指松开后，判断当前滑动的距离</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，进行</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翻</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页</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或</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回弹</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操作。</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1131277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846734" y="2493690"/>
            <a:ext cx="8424936" cy="23042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206774" y="2637706"/>
            <a:ext cx="8208912" cy="1895519"/>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else if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Math.abs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0) {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保证用户确实进行过滑动操作</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'left 0.5s ease-in-out';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回弹操作，返回上一张图</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9" name="TextBox 35"/>
          <p:cNvSpPr txBox="1">
            <a:spLocks noChangeArrowheads="1"/>
          </p:cNvSpPr>
          <p:nvPr/>
        </p:nvSpPr>
        <p:spPr bwMode="auto">
          <a:xfrm>
            <a:off x="2937903" y="1053530"/>
            <a:ext cx="8629911"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实现翻页和回弹</a:t>
            </a:r>
            <a:endParaRPr lang="en-US" altLang="zh-CN" b="1"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在手指松开后，判断当前滑动的距离</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，进行</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翻</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页</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或</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回弹</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操作。</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 name="组合 9">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1"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2" name="文本框 11">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02</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1895975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838622" y="1187907"/>
            <a:ext cx="10513168"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在浏览器中查看</a:t>
            </a:r>
            <a:r>
              <a:rPr lang="zh-CN" altLang="en-US" dirty="0">
                <a:solidFill>
                  <a:srgbClr val="1369B2"/>
                </a:solidFill>
              </a:rPr>
              <a:t>轮播图效果</a:t>
            </a:r>
            <a:r>
              <a:rPr lang="zh-CN" altLang="en-US" dirty="0"/>
              <a:t>，当定位到第一张轮播图，然后向前手动滑动轮播图，此时会出现</a:t>
            </a:r>
            <a:r>
              <a:rPr lang="zh-CN" altLang="en-US" dirty="0">
                <a:solidFill>
                  <a:srgbClr val="1369B2"/>
                </a:solidFill>
              </a:rPr>
              <a:t>空白的区域</a:t>
            </a:r>
            <a:r>
              <a:rPr lang="zh-CN" altLang="en-US" dirty="0"/>
              <a:t>。</a:t>
            </a:r>
            <a:endParaRPr lang="zh-CN" altLang="en-US" sz="1800"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1648" y="2349674"/>
            <a:ext cx="5227115" cy="2539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Tree>
    <p:extLst>
      <p:ext uri="{BB962C8B-B14F-4D97-AF65-F5344CB8AC3E}">
        <p14:creationId xmlns:p14="http://schemas.microsoft.com/office/powerpoint/2010/main" val="233910517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206774" y="2133651"/>
            <a:ext cx="7704856" cy="42084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396698" y="2133650"/>
            <a:ext cx="8208912" cy="4191532"/>
          </a:xfrm>
          <a:prstGeom prst="rect">
            <a:avLst/>
          </a:prstGeom>
        </p:spPr>
        <p:txBody>
          <a:bodyPr wrap="square">
            <a:spAutoFit/>
          </a:bodyPr>
          <a:lstStyle/>
          <a:p>
            <a:pPr>
              <a:lnSpc>
                <a:spcPct val="14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webkitTransitionEnd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 {</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(index == count - 1)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如果滑动到了最后一张</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(count-1)</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，就回到索引</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1</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1;</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'none';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清除过渡</a:t>
            </a:r>
          </a:p>
          <a:p>
            <a:pPr>
              <a:lnSpc>
                <a:spcPct val="14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设置偏移</a:t>
            </a:r>
          </a:p>
          <a:p>
            <a:pPr>
              <a:lnSpc>
                <a:spcPct val="14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else if (index == 0)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如果滑动到了第一张，回到索引</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count-2</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index = count - 2;</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'none';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清除过渡</a:t>
            </a:r>
          </a:p>
          <a:p>
            <a:pPr>
              <a:lnSpc>
                <a:spcPct val="14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设置偏移</a:t>
            </a:r>
          </a:p>
          <a:p>
            <a:pPr>
              <a:lnSpc>
                <a:spcPct val="14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重新开启定时器</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TextBox 35"/>
          <p:cNvSpPr txBox="1">
            <a:spLocks noChangeArrowheads="1"/>
          </p:cNvSpPr>
          <p:nvPr/>
        </p:nvSpPr>
        <p:spPr bwMode="auto">
          <a:xfrm>
            <a:off x="2937903" y="1053530"/>
            <a:ext cx="8629911"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解决空白区域问题</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解决手动滑动轮播图时出现</a:t>
            </a:r>
            <a:r>
              <a:rPr lang="zh-CN" altLang="en-US" sz="2000" dirty="0" smtClean="0">
                <a:solidFill>
                  <a:srgbClr val="076DB7"/>
                </a:solidFill>
                <a:latin typeface="微软雅黑" panose="020B0503020204020204" pitchFamily="34" charset="-122"/>
                <a:ea typeface="微软雅黑" panose="020B0503020204020204" pitchFamily="34" charset="-122"/>
                <a:sym typeface="Arial" panose="020B0604020202020204" pitchFamily="34" charset="0"/>
              </a:rPr>
              <a:t>空白区域</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的问题。</a:t>
            </a: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03</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47421204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838622" y="1187907"/>
            <a:ext cx="10513168" cy="1015663"/>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在浏览器中查看</a:t>
            </a:r>
            <a:r>
              <a:rPr lang="zh-CN" altLang="en-US" dirty="0">
                <a:solidFill>
                  <a:srgbClr val="1369B2"/>
                </a:solidFill>
              </a:rPr>
              <a:t>轮播图效果</a:t>
            </a:r>
            <a:r>
              <a:rPr lang="zh-CN" altLang="en-US" dirty="0"/>
              <a:t>，</a:t>
            </a:r>
            <a:r>
              <a:rPr lang="zh-CN" altLang="zh-CN" dirty="0"/>
              <a:t>当定位到第一张轮播图，然后向前手动滑动轮播图</a:t>
            </a:r>
            <a:r>
              <a:rPr lang="zh-CN" altLang="en-US" dirty="0"/>
              <a:t>此时不会出现</a:t>
            </a:r>
            <a:r>
              <a:rPr lang="zh-CN" altLang="zh-CN" dirty="0"/>
              <a:t>空白区域</a:t>
            </a:r>
            <a:r>
              <a:rPr lang="zh-CN" altLang="en-US" dirty="0"/>
              <a:t>。</a:t>
            </a:r>
            <a:endParaRPr lang="zh-CN" altLang="en-US" sz="18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18" y="2133650"/>
            <a:ext cx="4667540" cy="226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文本框 6">
            <a:extLst>
              <a:ext uri="{FF2B5EF4-FFF2-40B4-BE49-F238E27FC236}">
                <a16:creationId xmlns:a16="http://schemas.microsoft.com/office/drawing/2014/main" id="{7703FD65-B89F-412B-8A06-6737B2815C80}"/>
              </a:ext>
            </a:extLst>
          </p:cNvPr>
          <p:cNvSpPr txBox="1"/>
          <p:nvPr/>
        </p:nvSpPr>
        <p:spPr>
          <a:xfrm>
            <a:off x="910630" y="4616762"/>
            <a:ext cx="10585846" cy="147732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en-US" dirty="0"/>
              <a:t>在上图中，当</a:t>
            </a:r>
            <a:r>
              <a:rPr lang="zh-CN" altLang="en-US" dirty="0">
                <a:solidFill>
                  <a:srgbClr val="1369B2"/>
                </a:solidFill>
              </a:rPr>
              <a:t>快速滑动轮</a:t>
            </a:r>
            <a:r>
              <a:rPr lang="zh-CN" altLang="en-US" dirty="0"/>
              <a:t>播图时也会出现空白的区域，这是因为在滑动时还没有等过渡事件触发，就再一次触发了</a:t>
            </a:r>
            <a:r>
              <a:rPr lang="en-US" altLang="zh-CN" dirty="0" err="1"/>
              <a:t>touchmove</a:t>
            </a:r>
            <a:r>
              <a:rPr lang="zh-CN" altLang="en-US" dirty="0"/>
              <a:t>事件，所以快速滑动会出现空白区域。解决方法：限制</a:t>
            </a:r>
            <a:r>
              <a:rPr lang="en-US" altLang="zh-CN" dirty="0" err="1"/>
              <a:t>touchmove</a:t>
            </a:r>
            <a:r>
              <a:rPr lang="zh-CN" altLang="en-US" dirty="0"/>
              <a:t>事件触发的条件，让其不能</a:t>
            </a:r>
            <a:r>
              <a:rPr lang="zh-CN" altLang="en-US" dirty="0">
                <a:solidFill>
                  <a:srgbClr val="1369B2"/>
                </a:solidFill>
              </a:rPr>
              <a:t>任意触发</a:t>
            </a:r>
            <a:r>
              <a:rPr lang="zh-CN" altLang="en-US" dirty="0"/>
              <a:t>。</a:t>
            </a:r>
            <a:endParaRPr lang="en-US" altLang="zh-CN" dirty="0"/>
          </a:p>
        </p:txBody>
      </p:sp>
    </p:spTree>
    <p:extLst>
      <p:ext uri="{BB962C8B-B14F-4D97-AF65-F5344CB8AC3E}">
        <p14:creationId xmlns:p14="http://schemas.microsoft.com/office/powerpoint/2010/main" val="1751743822"/>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350790" y="2349674"/>
            <a:ext cx="8539931" cy="28974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641743" y="2493690"/>
            <a:ext cx="8208912" cy="2634183"/>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设置全局变量，开始坐标值、滑动过程中的坐标值、两者的差异值</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isEnd</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true;</a:t>
            </a:r>
            <a:endParaRPr lang="zh-CN" altLang="en-US"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touchstart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触摸开始</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clearIntervar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e.targetTouches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clientX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获取当前手指的起始位置</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12" name="TextBox 35"/>
          <p:cNvSpPr txBox="1">
            <a:spLocks noChangeArrowheads="1"/>
          </p:cNvSpPr>
          <p:nvPr/>
        </p:nvSpPr>
        <p:spPr bwMode="auto">
          <a:xfrm>
            <a:off x="2937903" y="1053530"/>
            <a:ext cx="8629911"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快</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速滑动轮播图时出现轮播图区域空白的问题</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创建一个变量</a:t>
            </a:r>
            <a:r>
              <a:rPr lang="en-US" altLang="zh-CN" sz="2000" dirty="0" err="1"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isEnd</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标记当前过渡效果是否执行完毕。</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359947401"/>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774726" y="2277666"/>
            <a:ext cx="9289032" cy="36175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1993670" y="2349674"/>
            <a:ext cx="9214104" cy="3416320"/>
          </a:xfrm>
          <a:prstGeom prst="rect">
            <a:avLst/>
          </a:prstGeom>
        </p:spPr>
        <p:txBody>
          <a:bodyPr wrap="square">
            <a:spAutoFit/>
          </a:bodyPr>
          <a:lstStyle/>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滑动过程</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a:t>
            </a:r>
          </a:p>
          <a:p>
            <a:pPr>
              <a:lnSpc>
                <a:spcPct val="150000"/>
              </a:lnSpc>
              <a:defRPr/>
            </a:pP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isEnd</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true){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e.targetTouches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clientX</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记录手指在滑动过程中的位置</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计算坐标的差异</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imgBox.style.transition</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'none';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为了保证效果正常，将之前可能添加的过渡样式清除</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imgBox.style.left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(-index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bannerWidth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px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实现元素的偏移</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12" name="TextBox 35"/>
          <p:cNvSpPr txBox="1">
            <a:spLocks noChangeArrowheads="1"/>
          </p:cNvSpPr>
          <p:nvPr/>
        </p:nvSpPr>
        <p:spPr bwMode="auto">
          <a:xfrm>
            <a:off x="2937903" y="1053530"/>
            <a:ext cx="8629911" cy="160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快</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速滑动轮播图时出现轮播图区域空白的问题</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判断</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变量</a:t>
            </a:r>
            <a:r>
              <a:rPr lang="en-US" altLang="zh-CN" sz="2000" dirty="0" err="1"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isEnd</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是否为</a:t>
            </a:r>
            <a:r>
              <a:rPr lang="en-US" altLang="zh-CN"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true</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315346947"/>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998862" y="2637706"/>
            <a:ext cx="6480720" cy="38884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3188786" y="2663833"/>
            <a:ext cx="6074771" cy="4191532"/>
          </a:xfrm>
          <a:prstGeom prst="rect">
            <a:avLst/>
          </a:prstGeom>
        </p:spPr>
        <p:txBody>
          <a:bodyPr wrap="square">
            <a:spAutoFit/>
          </a:bodyPr>
          <a:lstStyle/>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为图片添加触摸事件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触摸结束</a:t>
            </a:r>
          </a:p>
          <a:p>
            <a:pPr>
              <a:lnSpc>
                <a:spcPct val="14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touchend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(e) {</a:t>
            </a:r>
          </a:p>
          <a:p>
            <a:pPr>
              <a:lnSpc>
                <a:spcPct val="140000"/>
              </a:lnSpc>
              <a:defRPr/>
            </a:pP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isEnd</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false</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if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Math.abs</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&gt; 100)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判断滑动的方向</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（原有代码略）</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4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40000"/>
              </a:lnSpc>
              <a:defRPr/>
            </a:pP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将上一次</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a:t>
            </a:r>
            <a:r>
              <a:rPr lang="zh-CN" altLang="en-US"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产生的数据重置为</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0</a:t>
            </a:r>
          </a:p>
          <a:p>
            <a:pPr>
              <a:lnSpc>
                <a:spcPct val="140000"/>
              </a:lnSpc>
              <a:defRPr/>
            </a:pP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startX</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a:t>
            </a:r>
          </a:p>
          <a:p>
            <a:pPr>
              <a:lnSpc>
                <a:spcPct val="140000"/>
              </a:lnSpc>
              <a:defRPr/>
            </a:pP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moveX</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a:t>
            </a:r>
          </a:p>
          <a:p>
            <a:pPr>
              <a:lnSpc>
                <a:spcPct val="140000"/>
              </a:lnSpc>
              <a:defRPr/>
            </a:pP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distanceX</a:t>
            </a:r>
            <a:r>
              <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a:t>
            </a:r>
          </a:p>
          <a:p>
            <a:pPr>
              <a:lnSpc>
                <a:spcPct val="14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40000"/>
              </a:lnSpc>
              <a:defRPr/>
            </a:pPr>
            <a:endParaRPr lang="en-US" altLang="zh-CN" sz="1600" b="1"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12" name="TextBox 35"/>
          <p:cNvSpPr txBox="1">
            <a:spLocks noChangeArrowheads="1"/>
          </p:cNvSpPr>
          <p:nvPr/>
        </p:nvSpPr>
        <p:spPr bwMode="auto">
          <a:xfrm>
            <a:off x="2937903" y="1053530"/>
            <a:ext cx="8629911" cy="252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快速滑动轮播图时出现轮播图区域空白的问题</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在执行本次拖动后，需要松开手指才可以执行下一次的拖动，所以需要在</a:t>
            </a:r>
            <a:r>
              <a:rPr lang="en-US" altLang="zh-CN" sz="2000" dirty="0" err="1"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touchend</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事件中，将</a:t>
            </a:r>
            <a:r>
              <a:rPr lang="en-US" altLang="zh-CN" sz="2000" dirty="0" err="1"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isEnd</a:t>
            </a:r>
            <a:r>
              <a:rPr lang="zh-CN" altLang="en-US"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标记为</a:t>
            </a:r>
            <a:r>
              <a:rPr lang="en-US" altLang="zh-CN"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false</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，表示当前过渡效果正在执行。</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3" name="组合 12">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4"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5" name="文本框 14">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2570675652"/>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808938" y="2421682"/>
            <a:ext cx="6454620" cy="33843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TextBox 35"/>
          <p:cNvSpPr txBox="1">
            <a:spLocks noChangeArrowheads="1"/>
          </p:cNvSpPr>
          <p:nvPr/>
        </p:nvSpPr>
        <p:spPr bwMode="auto">
          <a:xfrm>
            <a:off x="2937903" y="1053530"/>
            <a:ext cx="8629911"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快速滑动轮播图时出现轮播图区域空白的问题</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在</a:t>
            </a:r>
            <a:r>
              <a:rPr lang="zh-CN" altLang="en-US" sz="2000"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过渡效果完成之后，需要</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将</a:t>
            </a:r>
            <a:r>
              <a:rPr lang="en-US" altLang="zh-CN" sz="2000" dirty="0" err="1">
                <a:solidFill>
                  <a:srgbClr val="1369B2"/>
                </a:solidFill>
                <a:latin typeface="微软雅黑" panose="020B0503020204020204" pitchFamily="34" charset="-122"/>
                <a:ea typeface="微软雅黑" panose="020B0503020204020204" pitchFamily="34" charset="-122"/>
                <a:sym typeface="Arial" panose="020B0604020202020204" pitchFamily="34" charset="0"/>
              </a:rPr>
              <a:t>isEnd</a:t>
            </a:r>
            <a:r>
              <a:rPr lang="zh-CN" altLang="en-US" sz="2000" dirty="0">
                <a:solidFill>
                  <a:srgbClr val="1369B2"/>
                </a:solidFill>
                <a:latin typeface="微软雅黑" panose="020B0503020204020204" pitchFamily="34" charset="-122"/>
                <a:ea typeface="微软雅黑" panose="020B0503020204020204" pitchFamily="34" charset="-122"/>
                <a:sym typeface="Arial" panose="020B0604020202020204" pitchFamily="34" charset="0"/>
              </a:rPr>
              <a:t>重置为</a:t>
            </a:r>
            <a:r>
              <a:rPr lang="en-US" altLang="zh-CN" sz="2000" dirty="0" smtClean="0">
                <a:solidFill>
                  <a:srgbClr val="1369B2"/>
                </a:solidFill>
                <a:latin typeface="微软雅黑" panose="020B0503020204020204" pitchFamily="34" charset="-122"/>
                <a:ea typeface="微软雅黑" panose="020B0503020204020204" pitchFamily="34" charset="-122"/>
                <a:sym typeface="Arial" panose="020B0604020202020204" pitchFamily="34" charset="0"/>
              </a:rPr>
              <a:t>true</a:t>
            </a:r>
            <a:r>
              <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a:t>
            </a: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04</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
        <p:nvSpPr>
          <p:cNvPr id="12" name="矩形 11"/>
          <p:cNvSpPr/>
          <p:nvPr/>
        </p:nvSpPr>
        <p:spPr bwMode="auto">
          <a:xfrm>
            <a:off x="2998862" y="2565698"/>
            <a:ext cx="6264696" cy="3046988"/>
          </a:xfrm>
          <a:prstGeom prst="rect">
            <a:avLst/>
          </a:prstGeom>
        </p:spPr>
        <p:txBody>
          <a:bodyPr wrap="square">
            <a:spAutoFit/>
          </a:bodyPr>
          <a:lstStyle/>
          <a:p>
            <a:pPr>
              <a:lnSpc>
                <a:spcPct val="150000"/>
              </a:lnSpc>
              <a:defRPr/>
            </a:pP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webkitTransitionEnd</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 {</a:t>
            </a:r>
          </a:p>
          <a:p>
            <a:pPr>
              <a:lnSpc>
                <a:spcPct val="150000"/>
              </a:lnSpc>
              <a:defRPr/>
            </a:pP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（原有代码略）</a:t>
            </a:r>
            <a:endPar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a:p>
            <a:pPr>
              <a:lnSpc>
                <a:spcPct val="150000"/>
              </a:lnSpc>
              <a:defRPr/>
            </a:pP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setTimeout</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a:t>
            </a:r>
          </a:p>
          <a:p>
            <a:pPr>
              <a:lnSpc>
                <a:spcPct val="150000"/>
              </a:lnSpc>
              <a:defRPr/>
            </a:pP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isEnd</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true;</a:t>
            </a:r>
          </a:p>
          <a:p>
            <a:pPr>
              <a:lnSpc>
                <a:spcPct val="150000"/>
              </a:lnSpc>
              <a:defRPr/>
            </a:pP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clearInterval</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b="1"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清除之前添加的定时器</a:t>
            </a:r>
          </a:p>
          <a:p>
            <a:pPr>
              <a:lnSpc>
                <a:spcPct val="150000"/>
              </a:lnSpc>
              <a:defRPr/>
            </a:pP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重新开启定时器</a:t>
            </a:r>
          </a:p>
          <a:p>
            <a:pPr>
              <a:lnSpc>
                <a:spcPct val="150000"/>
              </a:lnSpc>
              <a:defRPr/>
            </a:pPr>
            <a:r>
              <a:rPr lang="zh-CN" altLang="en-US"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b="1"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1000);</a:t>
            </a:r>
          </a:p>
          <a:p>
            <a:pPr>
              <a:lnSpc>
                <a:spcPct val="150000"/>
              </a:lnSpc>
              <a:defRPr/>
            </a:pP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endParaRPr>
          </a:p>
        </p:txBody>
      </p:sp>
    </p:spTree>
    <p:extLst>
      <p:ext uri="{BB962C8B-B14F-4D97-AF65-F5344CB8AC3E}">
        <p14:creationId xmlns:p14="http://schemas.microsoft.com/office/powerpoint/2010/main" val="62690579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1558702" y="2305430"/>
            <a:ext cx="9289032" cy="3572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1748626" y="2305429"/>
            <a:ext cx="9171116" cy="3416320"/>
          </a:xfrm>
          <a:prstGeom prst="rect">
            <a:avLst/>
          </a:prstGeom>
        </p:spPr>
        <p:txBody>
          <a:bodyPr wrap="square">
            <a:spAutoFit/>
          </a:bodyPr>
          <a:lstStyle/>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标记点</a:t>
            </a:r>
          </a:p>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function (index)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indicators =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banner.querySelector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ul:last-of-type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querySelectorAll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('li');//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获取点标记</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for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var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0;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&lt;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indicators.length</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indicators[</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classList.remove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('active');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indicators[index-1].</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classList.add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('active');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实现自动轮播，封装定时器</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TextBox 35"/>
          <p:cNvSpPr txBox="1">
            <a:spLocks noChangeArrowheads="1"/>
          </p:cNvSpPr>
          <p:nvPr/>
        </p:nvSpPr>
        <p:spPr bwMode="auto">
          <a:xfrm>
            <a:off x="2937903" y="1053530"/>
            <a:ext cx="8629911" cy="206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轮播图指示器点标记</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当图片轮播时，切换相应的轮播图</a:t>
            </a:r>
            <a:r>
              <a:rPr lang="zh-CN" altLang="zh-CN" sz="2000" dirty="0">
                <a:solidFill>
                  <a:srgbClr val="1369B2"/>
                </a:solidFill>
                <a:latin typeface="微软雅黑" panose="020B0503020204020204" pitchFamily="34" charset="-122"/>
                <a:ea typeface="微软雅黑" panose="020B0503020204020204" pitchFamily="34" charset="-122"/>
              </a:rPr>
              <a:t>指示器点</a:t>
            </a:r>
            <a:r>
              <a:rPr lang="zh-CN" altLang="zh-CN" sz="2000" dirty="0" smtClean="0">
                <a:solidFill>
                  <a:srgbClr val="1369B2"/>
                </a:solidFill>
                <a:latin typeface="微软雅黑" panose="020B0503020204020204" pitchFamily="34" charset="-122"/>
                <a:ea typeface="微软雅黑" panose="020B0503020204020204" pitchFamily="34" charset="-122"/>
              </a:rPr>
              <a:t>标记</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05</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584963344"/>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7B789A8-33E7-4059-9F3F-87FE2CF262B4}"/>
              </a:ext>
            </a:extLst>
          </p:cNvPr>
          <p:cNvSpPr txBox="1"/>
          <p:nvPr/>
        </p:nvSpPr>
        <p:spPr>
          <a:xfrm>
            <a:off x="2304882" y="2328039"/>
            <a:ext cx="6696744" cy="35726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nSpc>
                <a:spcPct val="150000"/>
              </a:lnSpc>
              <a:defRPr sz="1800">
                <a:solidFill>
                  <a:srgbClr val="595959"/>
                </a:solidFill>
                <a:latin typeface="微软雅黑" panose="020B0503020204020204" pitchFamily="34" charset="-122"/>
                <a:ea typeface="微软雅黑" panose="020B0503020204020204" pitchFamily="34" charset="-122"/>
                <a:cs typeface="Courier New" panose="02070609020205090404" pitchFamily="49"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00000"/>
              </a:lnSpc>
            </a:pPr>
            <a:endParaRPr lang="zh-CN" altLang="zh-CN" sz="1600" dirty="0"/>
          </a:p>
        </p:txBody>
      </p:sp>
      <p:sp>
        <p:nvSpPr>
          <p:cNvPr id="6" name="矩形 5"/>
          <p:cNvSpPr/>
          <p:nvPr/>
        </p:nvSpPr>
        <p:spPr bwMode="auto">
          <a:xfrm>
            <a:off x="2494806" y="2328038"/>
            <a:ext cx="6794852" cy="3416320"/>
          </a:xfrm>
          <a:prstGeom prst="rect">
            <a:avLst/>
          </a:prstGeom>
        </p:spPr>
        <p:txBody>
          <a:bodyPr wrap="square">
            <a:spAutoFit/>
          </a:bodyPr>
          <a:lstStyle/>
          <a:p>
            <a:pPr>
              <a:lnSpc>
                <a:spcPct val="150000"/>
              </a:lnSpc>
              <a:defRPr/>
            </a:pP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imgBox.addEventListener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webkitTransitionEnd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function ()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原代码</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setIndicator</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(index);</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setTimeout</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(function() {</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isEnd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true;</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clearInterval</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timerId</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清除之前添加的定时器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err="1">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startTime</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smtClean="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重新开启定时器</a:t>
            </a:r>
          </a:p>
          <a:p>
            <a:pPr>
              <a:lnSpc>
                <a:spcPct val="150000"/>
              </a:lnSpc>
              <a:defRPr/>
            </a:pPr>
            <a:r>
              <a:rPr lang="zh-CN" altLang="en-US"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 1000);</a:t>
            </a:r>
          </a:p>
          <a:p>
            <a:pPr>
              <a:lnSpc>
                <a:spcPct val="15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609020205090404" pitchFamily="49" charset="0"/>
              </a:rPr>
              <a:t>});</a:t>
            </a:r>
          </a:p>
        </p:txBody>
      </p:sp>
      <p:sp>
        <p:nvSpPr>
          <p:cNvPr id="8"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
        <p:nvSpPr>
          <p:cNvPr id="7" name="TextBox 35"/>
          <p:cNvSpPr txBox="1">
            <a:spLocks noChangeArrowheads="1"/>
          </p:cNvSpPr>
          <p:nvPr/>
        </p:nvSpPr>
        <p:spPr bwMode="auto">
          <a:xfrm>
            <a:off x="2937903" y="1053530"/>
            <a:ext cx="8629911" cy="113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实现</a:t>
            </a:r>
            <a:r>
              <a:rPr lang="zh-CN" altLang="en-US" b="1" dirty="0">
                <a:solidFill>
                  <a:srgbClr val="595959"/>
                </a:solidFill>
                <a:latin typeface="微软雅黑" panose="020B0503020204020204" pitchFamily="34" charset="-122"/>
                <a:ea typeface="微软雅黑" panose="020B0503020204020204" pitchFamily="34" charset="-122"/>
                <a:sym typeface="Arial" panose="020B0604020202020204" pitchFamily="34" charset="0"/>
              </a:rPr>
              <a:t>轮播图指示器点标记</a:t>
            </a:r>
            <a:r>
              <a:rPr lang="zh-CN" altLang="en-US"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rPr>
              <a:t>效果</a:t>
            </a:r>
            <a:endParaRPr lang="en-US" altLang="zh-CN" b="1"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图片</a:t>
            </a:r>
            <a:r>
              <a:rPr lang="zh-CN" altLang="en-US" sz="2000" dirty="0">
                <a:solidFill>
                  <a:srgbClr val="595959"/>
                </a:solidFill>
                <a:latin typeface="微软雅黑" panose="020B0503020204020204" pitchFamily="34" charset="-122"/>
                <a:ea typeface="微软雅黑" panose="020B0503020204020204" pitchFamily="34" charset="-122"/>
              </a:rPr>
              <a:t>轮播完成之后，再切换轮播图</a:t>
            </a:r>
            <a:r>
              <a:rPr lang="zh-CN" altLang="en-US" sz="2000" dirty="0">
                <a:solidFill>
                  <a:srgbClr val="1369B2"/>
                </a:solidFill>
                <a:latin typeface="微软雅黑" panose="020B0503020204020204" pitchFamily="34" charset="-122"/>
                <a:ea typeface="微软雅黑" panose="020B0503020204020204" pitchFamily="34" charset="-122"/>
              </a:rPr>
              <a:t>指示器点标记样式</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 name="组合 8">
            <a:extLst>
              <a:ext uri="{FF2B5EF4-FFF2-40B4-BE49-F238E27FC236}">
                <a16:creationId xmlns:a16="http://schemas.microsoft.com/office/drawing/2014/main" id="{18962999-4FA5-4F80-B01C-AECE33BB829E}"/>
              </a:ext>
            </a:extLst>
          </p:cNvPr>
          <p:cNvGrpSpPr/>
          <p:nvPr/>
        </p:nvGrpSpPr>
        <p:grpSpPr>
          <a:xfrm>
            <a:off x="1143690" y="1152646"/>
            <a:ext cx="1747943" cy="773218"/>
            <a:chOff x="961390" y="2294944"/>
            <a:chExt cx="1747943" cy="773218"/>
          </a:xfrm>
        </p:grpSpPr>
        <p:sp>
          <p:nvSpPr>
            <p:cNvPr id="10" name="圆角矩形 4">
              <a:extLst>
                <a:ext uri="{FF2B5EF4-FFF2-40B4-BE49-F238E27FC236}">
                  <a16:creationId xmlns:a16="http://schemas.microsoft.com/office/drawing/2014/main" id="{A19D45C5-F0BD-48AF-854F-68A96DA027A3}"/>
                </a:ext>
              </a:extLst>
            </p:cNvPr>
            <p:cNvSpPr/>
            <p:nvPr/>
          </p:nvSpPr>
          <p:spPr>
            <a:xfrm>
              <a:off x="961390" y="2294944"/>
              <a:ext cx="1747943" cy="77321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olidFill>
                  <a:schemeClr val="bg1"/>
                </a:solidFill>
                <a:sym typeface="+mn-ea"/>
              </a:endParaRPr>
            </a:p>
          </p:txBody>
        </p:sp>
        <p:sp>
          <p:nvSpPr>
            <p:cNvPr id="11" name="文本框 10">
              <a:extLst>
                <a:ext uri="{FF2B5EF4-FFF2-40B4-BE49-F238E27FC236}">
                  <a16:creationId xmlns:a16="http://schemas.microsoft.com/office/drawing/2014/main" id="{01F20156-81C1-4D0C-9724-BE9DA8D3732D}"/>
                </a:ext>
              </a:extLst>
            </p:cNvPr>
            <p:cNvSpPr txBox="1"/>
            <p:nvPr/>
          </p:nvSpPr>
          <p:spPr>
            <a:xfrm flipH="1">
              <a:off x="1050502" y="2430683"/>
              <a:ext cx="1624965" cy="523220"/>
            </a:xfrm>
            <a:prstGeom prst="rect">
              <a:avLst/>
            </a:prstGeom>
            <a:noFill/>
            <a:ln w="9525">
              <a:noFill/>
              <a:miter/>
            </a:ln>
            <a:effectLst>
              <a:outerShdw sx="999" sy="999" algn="ctr" rotWithShape="0">
                <a:srgbClr val="000000"/>
              </a:outerShdw>
            </a:effectLst>
          </p:spPr>
          <p:txBody>
            <a:bodyPr wrap="square" anchor="t">
              <a:spAutoFit/>
            </a:bodyPr>
            <a:lstStyle/>
            <a:p>
              <a:pPr lvl="0" algn="ctr"/>
              <a:r>
                <a:rPr lang="en-US" altLang="zh-CN" sz="2800" dirty="0">
                  <a:solidFill>
                    <a:schemeClr val="bg1"/>
                  </a:solidFill>
                  <a:latin typeface="Impact" panose="020B0806030902050204" charset="0"/>
                  <a:ea typeface="微软雅黑" panose="020B0503020204020204" charset="-122"/>
                  <a:sym typeface="Arial" panose="020B0604020202020204" pitchFamily="34" charset="0"/>
                </a:rPr>
                <a:t>STEP  </a:t>
              </a:r>
              <a:r>
                <a:rPr lang="en-US" altLang="zh-CN" sz="2800" dirty="0" smtClean="0">
                  <a:solidFill>
                    <a:schemeClr val="bg1"/>
                  </a:solidFill>
                  <a:latin typeface="Impact" panose="020B0806030902050204" charset="0"/>
                  <a:ea typeface="微软雅黑" panose="020B0503020204020204" charset="-122"/>
                  <a:sym typeface="Arial" panose="020B0604020202020204" pitchFamily="34" charset="0"/>
                </a:rPr>
                <a:t>05</a:t>
              </a:r>
              <a:endParaRPr lang="en-US" altLang="zh-CN" sz="2800" dirty="0">
                <a:solidFill>
                  <a:schemeClr val="bg1"/>
                </a:solidFill>
                <a:latin typeface="Impact" panose="020B0806030902050204" charset="0"/>
                <a:ea typeface="微软雅黑" panose="020B0503020204020204" charset="-122"/>
                <a:sym typeface="Arial" panose="020B0604020202020204" pitchFamily="34" charset="0"/>
              </a:endParaRPr>
            </a:p>
          </p:txBody>
        </p:sp>
      </p:grpSp>
    </p:spTree>
    <p:extLst>
      <p:ext uri="{BB962C8B-B14F-4D97-AF65-F5344CB8AC3E}">
        <p14:creationId xmlns:p14="http://schemas.microsoft.com/office/powerpoint/2010/main" val="3016255753"/>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703FD65-B89F-412B-8A06-6737B2815C80}"/>
              </a:ext>
            </a:extLst>
          </p:cNvPr>
          <p:cNvSpPr txBox="1"/>
          <p:nvPr/>
        </p:nvSpPr>
        <p:spPr>
          <a:xfrm>
            <a:off x="910630" y="1187907"/>
            <a:ext cx="10513168" cy="553998"/>
          </a:xfrm>
          <a:prstGeom prst="rect">
            <a:avLst/>
          </a:prstGeom>
          <a:noFill/>
        </p:spPr>
        <p:txBody>
          <a:bodyPr wrap="square">
            <a:spAutoFit/>
          </a:bodyPr>
          <a:lstStyle>
            <a:defPPr>
              <a:defRPr lang="zh-CN"/>
            </a:defPPr>
            <a:lvl1pPr algn="just">
              <a:lnSpc>
                <a:spcPct val="150000"/>
              </a:lnSpc>
              <a:defRPr sz="2000">
                <a:solidFill>
                  <a:srgbClr val="595959"/>
                </a:solidFill>
                <a:latin typeface="微软雅黑" panose="020B0503020204020204" pitchFamily="34" charset="-122"/>
                <a:ea typeface="微软雅黑" panose="020B0503020204020204" pitchFamily="34" charset="-122"/>
              </a:defRPr>
            </a:lvl1pPr>
          </a:lstStyle>
          <a:p>
            <a:r>
              <a:rPr lang="zh-CN" altLang="zh-CN" dirty="0"/>
              <a:t>在浏览器中查看</a:t>
            </a:r>
            <a:r>
              <a:rPr lang="zh-CN" altLang="zh-CN" dirty="0">
                <a:solidFill>
                  <a:srgbClr val="1369B2"/>
                </a:solidFill>
              </a:rPr>
              <a:t>点标记</a:t>
            </a:r>
            <a:r>
              <a:rPr lang="zh-CN" altLang="zh-CN" dirty="0"/>
              <a:t>样式随着</a:t>
            </a:r>
            <a:r>
              <a:rPr lang="zh-CN" altLang="zh-CN" dirty="0">
                <a:solidFill>
                  <a:srgbClr val="1369B2"/>
                </a:solidFill>
              </a:rPr>
              <a:t>轮播图</a:t>
            </a:r>
            <a:r>
              <a:rPr lang="zh-CN" altLang="zh-CN" dirty="0"/>
              <a:t>的改变而进行了</a:t>
            </a:r>
            <a:r>
              <a:rPr lang="zh-CN" altLang="zh-CN" dirty="0">
                <a:solidFill>
                  <a:srgbClr val="1369B2"/>
                </a:solidFill>
              </a:rPr>
              <a:t>切换</a:t>
            </a:r>
            <a:r>
              <a:rPr lang="zh-CN" altLang="en-US" dirty="0"/>
              <a:t>。</a:t>
            </a:r>
            <a:endParaRPr lang="zh-CN" altLang="en-US" sz="1800" dirty="0"/>
          </a:p>
        </p:txBody>
      </p:sp>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480" y="2146014"/>
            <a:ext cx="4896544" cy="2371161"/>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222" y="2179468"/>
            <a:ext cx="4608512" cy="2304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1143690" y="333449"/>
            <a:ext cx="6463683"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3.4.13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实现首页轮播图手动轮播效果</a:t>
            </a:r>
          </a:p>
        </p:txBody>
      </p:sp>
    </p:spTree>
    <p:extLst>
      <p:ext uri="{BB962C8B-B14F-4D97-AF65-F5344CB8AC3E}">
        <p14:creationId xmlns:p14="http://schemas.microsoft.com/office/powerpoint/2010/main" val="85039698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a:extLst>
              <a:ext uri="{FF2B5EF4-FFF2-40B4-BE49-F238E27FC236}">
                <a16:creationId xmlns:a16="http://schemas.microsoft.com/office/drawing/2014/main" id="{68FCB4C4-F740-4377-95B4-17B48BB3B6AF}"/>
              </a:ext>
            </a:extLst>
          </p:cNvPr>
          <p:cNvSpPr txBox="1">
            <a:spLocks noChangeArrowheads="1"/>
          </p:cNvSpPr>
          <p:nvPr/>
        </p:nvSpPr>
        <p:spPr bwMode="auto">
          <a:xfrm>
            <a:off x="982638" y="4221882"/>
            <a:ext cx="10441160"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圆角矩形 26">
            <a:extLst>
              <a:ext uri="{FF2B5EF4-FFF2-40B4-BE49-F238E27FC236}">
                <a16:creationId xmlns:a16="http://schemas.microsoft.com/office/drawing/2014/main" id="{FB40132D-FEA4-4137-839F-407CBE609B3F}"/>
              </a:ext>
            </a:extLst>
          </p:cNvPr>
          <p:cNvSpPr/>
          <p:nvPr/>
        </p:nvSpPr>
        <p:spPr>
          <a:xfrm>
            <a:off x="1198880" y="2170424"/>
            <a:ext cx="9794240" cy="2771538"/>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7" name="TextBox 38">
            <a:extLst>
              <a:ext uri="{FF2B5EF4-FFF2-40B4-BE49-F238E27FC236}">
                <a16:creationId xmlns:a16="http://schemas.microsoft.com/office/drawing/2014/main" id="{814CCD3C-575E-4C15-89E6-3D4FA5A051F1}"/>
              </a:ext>
            </a:extLst>
          </p:cNvPr>
          <p:cNvSpPr txBox="1"/>
          <p:nvPr/>
        </p:nvSpPr>
        <p:spPr>
          <a:xfrm>
            <a:off x="1595500" y="2717628"/>
            <a:ext cx="9001000" cy="1792286"/>
          </a:xfrm>
          <a:prstGeom prst="rect">
            <a:avLst/>
          </a:prstGeom>
          <a:noFill/>
        </p:spPr>
        <p:txBody>
          <a:bodyPr wrap="square" lIns="0" tIns="0" rIns="0" bIns="0" rtlCol="0">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本章</a:t>
            </a:r>
            <a:r>
              <a:rPr lang="zh-CN" altLang="en-US" sz="2000" dirty="0">
                <a:solidFill>
                  <a:srgbClr val="595959"/>
                </a:solidFill>
                <a:latin typeface="微软雅黑" panose="020B0503020204020204" pitchFamily="34" charset="-122"/>
                <a:ea typeface="微软雅黑" panose="020B0503020204020204" pitchFamily="34" charset="-122"/>
              </a:rPr>
              <a:t>首先介绍了</a:t>
            </a:r>
            <a:r>
              <a:rPr lang="zh-CN" altLang="en-US" sz="2000" dirty="0">
                <a:solidFill>
                  <a:srgbClr val="1369B2"/>
                </a:solidFill>
                <a:latin typeface="微软雅黑" panose="020B0503020204020204" pitchFamily="34" charset="-122"/>
                <a:ea typeface="微软雅黑" panose="020B0503020204020204" pitchFamily="34" charset="-122"/>
              </a:rPr>
              <a:t>流式布局</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rPr>
              <a:t>视口</a:t>
            </a:r>
            <a:r>
              <a:rPr lang="zh-CN" altLang="en-US" sz="2000" dirty="0">
                <a:solidFill>
                  <a:srgbClr val="595959"/>
                </a:solidFill>
                <a:latin typeface="微软雅黑" panose="020B0503020204020204" pitchFamily="34" charset="-122"/>
                <a:ea typeface="微软雅黑" panose="020B0503020204020204" pitchFamily="34" charset="-122"/>
              </a:rPr>
              <a:t>相关内容，然后讲解了</a:t>
            </a:r>
            <a:r>
              <a:rPr lang="zh-CN" altLang="en-US" sz="2000" dirty="0">
                <a:solidFill>
                  <a:srgbClr val="1369B2"/>
                </a:solidFill>
                <a:latin typeface="微软雅黑" panose="020B0503020204020204" pitchFamily="34" charset="-122"/>
                <a:ea typeface="微软雅黑" panose="020B0503020204020204" pitchFamily="34" charset="-122"/>
              </a:rPr>
              <a:t>移动端常用的</a:t>
            </a:r>
            <a:r>
              <a:rPr lang="en-US" altLang="zh-CN" sz="2000" dirty="0">
                <a:solidFill>
                  <a:srgbClr val="1369B2"/>
                </a:solidFill>
                <a:latin typeface="微软雅黑" panose="020B0503020204020204" pitchFamily="34" charset="-122"/>
                <a:ea typeface="微软雅黑" panose="020B0503020204020204" pitchFamily="34" charset="-122"/>
              </a:rPr>
              <a:t>touch</a:t>
            </a:r>
            <a:r>
              <a:rPr lang="zh-CN" altLang="en-US" sz="2000" dirty="0">
                <a:solidFill>
                  <a:srgbClr val="1369B2"/>
                </a:solidFill>
                <a:latin typeface="微软雅黑" panose="020B0503020204020204" pitchFamily="34" charset="-122"/>
                <a:ea typeface="微软雅黑" panose="020B0503020204020204" pitchFamily="34" charset="-122"/>
              </a:rPr>
              <a:t>事件</a:t>
            </a:r>
            <a:r>
              <a:rPr lang="zh-CN" altLang="en-US" sz="2000" dirty="0">
                <a:solidFill>
                  <a:srgbClr val="595959"/>
                </a:solidFill>
                <a:latin typeface="微软雅黑" panose="020B0503020204020204" pitchFamily="34" charset="-122"/>
                <a:ea typeface="微软雅黑" panose="020B0503020204020204" pitchFamily="34" charset="-122"/>
              </a:rPr>
              <a:t>相关内容，为后面移动端项目的实现夯实基础，最后通过对本章内容的学习完成移动商城项目</a:t>
            </a:r>
            <a:r>
              <a:rPr lang="zh-CN" altLang="en-US" sz="2000" dirty="0">
                <a:solidFill>
                  <a:srgbClr val="1369B2"/>
                </a:solidFill>
                <a:latin typeface="微软雅黑" panose="020B0503020204020204" pitchFamily="34" charset="-122"/>
                <a:ea typeface="微软雅黑" panose="020B0503020204020204" pitchFamily="34" charset="-122"/>
              </a:rPr>
              <a:t>首页功能模块</a:t>
            </a:r>
            <a:r>
              <a:rPr lang="zh-CN" altLang="en-US" sz="2000" dirty="0">
                <a:solidFill>
                  <a:srgbClr val="595959"/>
                </a:solidFill>
                <a:latin typeface="微软雅黑" panose="020B0503020204020204" pitchFamily="34" charset="-122"/>
                <a:ea typeface="微软雅黑" panose="020B0503020204020204" pitchFamily="34" charset="-122"/>
              </a:rPr>
              <a:t>。通过对本章项目的学习，读者需要将所学的技术知识运用到实际项目开发中</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id="{12D02CBD-122C-4126-9C27-9F5A42D82327}"/>
              </a:ext>
            </a:extLst>
          </p:cNvPr>
          <p:cNvSpPr/>
          <p:nvPr/>
        </p:nvSpPr>
        <p:spPr>
          <a:xfrm>
            <a:off x="442023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本</a:t>
            </a:r>
          </a:p>
        </p:txBody>
      </p:sp>
      <p:sp>
        <p:nvSpPr>
          <p:cNvPr id="9" name="椭圆 8">
            <a:extLst>
              <a:ext uri="{FF2B5EF4-FFF2-40B4-BE49-F238E27FC236}">
                <a16:creationId xmlns:a16="http://schemas.microsoft.com/office/drawing/2014/main" id="{248D732B-AEB5-4AF0-80CB-E49986E102F7}"/>
              </a:ext>
            </a:extLst>
          </p:cNvPr>
          <p:cNvSpPr/>
          <p:nvPr/>
        </p:nvSpPr>
        <p:spPr>
          <a:xfrm>
            <a:off x="513905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章</a:t>
            </a:r>
          </a:p>
        </p:txBody>
      </p:sp>
      <p:sp>
        <p:nvSpPr>
          <p:cNvPr id="10" name="椭圆 9">
            <a:extLst>
              <a:ext uri="{FF2B5EF4-FFF2-40B4-BE49-F238E27FC236}">
                <a16:creationId xmlns:a16="http://schemas.microsoft.com/office/drawing/2014/main" id="{B0611DBD-A63B-4039-A64B-C5315892C467}"/>
              </a:ext>
            </a:extLst>
          </p:cNvPr>
          <p:cNvSpPr/>
          <p:nvPr/>
        </p:nvSpPr>
        <p:spPr>
          <a:xfrm>
            <a:off x="585787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小</a:t>
            </a:r>
          </a:p>
        </p:txBody>
      </p:sp>
      <p:sp>
        <p:nvSpPr>
          <p:cNvPr id="11" name="椭圆 10">
            <a:extLst>
              <a:ext uri="{FF2B5EF4-FFF2-40B4-BE49-F238E27FC236}">
                <a16:creationId xmlns:a16="http://schemas.microsoft.com/office/drawing/2014/main" id="{7CAB7274-D61E-48A3-90F6-2DA430D6E3B7}"/>
              </a:ext>
            </a:extLst>
          </p:cNvPr>
          <p:cNvSpPr/>
          <p:nvPr/>
        </p:nvSpPr>
        <p:spPr>
          <a:xfrm>
            <a:off x="6576695" y="17614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结</a:t>
            </a:r>
          </a:p>
        </p:txBody>
      </p:sp>
    </p:spTree>
    <p:extLst>
      <p:ext uri="{BB962C8B-B14F-4D97-AF65-F5344CB8AC3E}">
        <p14:creationId xmlns:p14="http://schemas.microsoft.com/office/powerpoint/2010/main" val="141371068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6.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7.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8.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9.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0.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1.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2.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3.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4.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ags/tag15.xml><?xml version="1.0" encoding="utf-8"?>
<p:tagLst xmlns:a="http://schemas.openxmlformats.org/drawingml/2006/main" xmlns:r="http://schemas.openxmlformats.org/officeDocument/2006/relationships" xmlns:p="http://schemas.openxmlformats.org/presentationml/2006/main">
  <p:tag name="PA" val="v5.2.7"/>
  <p:tag name="RESOURCELIBID_ANIM" val="450"/>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7108</TotalTime>
  <Words>14570</Words>
  <Application>Microsoft Office PowerPoint</Application>
  <PresentationFormat>自定义</PresentationFormat>
  <Paragraphs>1481</Paragraphs>
  <Slides>174</Slides>
  <Notes>94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174</vt:i4>
      </vt:variant>
    </vt:vector>
  </HeadingPairs>
  <TitlesOfParts>
    <vt:vector size="191" baseType="lpstr">
      <vt:lpstr>Source Han Sans K Bold</vt:lpstr>
      <vt:lpstr>思源黑体 CN Medium</vt:lpstr>
      <vt:lpstr>思源黑体 CN Regular</vt:lpstr>
      <vt:lpstr>宋体</vt:lpstr>
      <vt:lpstr>Microsoft YaHei</vt:lpstr>
      <vt:lpstr>Microsoft YaHei</vt:lpstr>
      <vt:lpstr>字魂105号-简雅黑</vt:lpstr>
      <vt:lpstr>字魂58号-创中黑</vt:lpstr>
      <vt:lpstr>Arial</vt:lpstr>
      <vt:lpstr>Calibri</vt:lpstr>
      <vt:lpstr>Courier New</vt:lpstr>
      <vt:lpstr>Impact</vt:lpstr>
      <vt:lpstr>Times New Roman</vt:lpstr>
      <vt:lpstr>Wingdings</vt:lpstr>
      <vt:lpstr>webwppDefTheme</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Windows 用户</cp:lastModifiedBy>
  <cp:revision>2523</cp:revision>
  <dcterms:created xsi:type="dcterms:W3CDTF">2020-11-09T06:56:00Z</dcterms:created>
  <dcterms:modified xsi:type="dcterms:W3CDTF">2026-07-22T13:14:30Z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