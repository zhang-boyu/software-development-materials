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39" r:id="rId5"/>
    <p:sldId id="340" r:id="rId6"/>
    <p:sldId id="373" r:id="rId7"/>
    <p:sldId id="352" r:id="rId8"/>
    <p:sldId id="374" r:id="rId9"/>
    <p:sldId id="375" r:id="rId10"/>
    <p:sldId id="376" r:id="rId11"/>
    <p:sldId id="377" r:id="rId12"/>
    <p:sldId id="354" r:id="rId13"/>
    <p:sldId id="378" r:id="rId14"/>
    <p:sldId id="379" r:id="rId15"/>
    <p:sldId id="380" r:id="rId16"/>
    <p:sldId id="347" r:id="rId17"/>
  </p:sldIdLst>
  <p:sldSz cx="12198350" cy="6858000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30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在D:\或者电脑其它分区下新建文本文档,重命名为HelloWorld.Java。用记事本打开HelloWorld.Java文件,编写一段Java程序。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  知识链接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27420" y="378904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Java运行机制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28055" y="429323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运行机制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970" y="2131695"/>
            <a:ext cx="1138682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1）首先使用“</a:t>
            </a:r>
            <a:r>
              <a:rPr lang="en-US" sz="2400" dirty="0">
                <a:latin typeface="微软雅黑" panose="020B0503020204020204" pitchFamily="34" charset="-122"/>
                <a:sym typeface="+mn-ea"/>
              </a:rPr>
              <a:t>j</a:t>
            </a:r>
            <a:r>
              <a:rPr sz="2400" dirty="0">
                <a:latin typeface="微软雅黑" panose="020B0503020204020204" pitchFamily="34" charset="-122"/>
                <a:sym typeface="+mn-ea"/>
              </a:rPr>
              <a:t>avac HelloWorld.Java”命令开启Java编译器并进行编译。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2）编译结束后，会自动生成一个HelloWorld.class的字节码文件。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3）使用“</a:t>
            </a:r>
            <a:r>
              <a:rPr lang="en-US" sz="2400" dirty="0">
                <a:latin typeface="微软雅黑" panose="020B0503020204020204" pitchFamily="34" charset="-122"/>
                <a:sym typeface="+mn-ea"/>
              </a:rPr>
              <a:t>j</a:t>
            </a:r>
            <a:r>
              <a:rPr sz="2400" dirty="0">
                <a:latin typeface="微软雅黑" panose="020B0503020204020204" pitchFamily="34" charset="-122"/>
                <a:sym typeface="+mn-ea"/>
              </a:rPr>
              <a:t>ava HelloWorld”命令启动Java虚拟机运行程序，Java虚拟机首先将编译好的字节码文件加载到内存，这个过程被称为类加载，它是由类加载器完成的，然后虚拟机会通过Java解析器对加载到内存中的Java类进行解析执行。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4）执行后会生成计算机可以识别的机器码文件。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5）机器码文件在计算机运行并显示结果。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程序说明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970" y="2131695"/>
            <a:ext cx="1138682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Java程序是由Java虚拟机负责解释执行的，并非操作系统。这样做的好处是可以实现Java程序的跨平台。也就是说，在不同的操作系统上，可以运行相同的Java程序，不同操作系统只需安装不同版本的Java虚拟机即可。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class是一个关键字,用于定义一个类。在Java中,类是程序的基本单元,所有的代码都需要在类中书写。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HelloWorld是类的名称,简称类名。class 关键字与类名之间需要用空格、制表符、换行符等任意空白字符进行分隔。类名之后要写一对大括号,它定义了这个类的作用域。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程序说明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970" y="2131695"/>
            <a:ext cx="1138682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main()方法是Java程序的执行入口,程序将从 main()方法开始执行类中的代码。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main()方法中编写了一条执行语句:“System.out.println("helloworld");”,它的作用是打印一段文本信息并输出到控制台。执行完这条语句,控制台会输出“hello world”。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在编写程序时,程序中出现的空格、括号、分号等符号必须采用英文半角格式,否则程序会出错。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任务实现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67150" y="26098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编写源文件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03828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编译Java文件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447452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运行Java文件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8" grpId="0" bldLvl="0" autoUpdateAnimBg="0"/>
      <p:bldP spid="3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编写源文件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51025" y="2421255"/>
            <a:ext cx="7960360" cy="23018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1-1  HelloWorld.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>
                <a:latin typeface="Times New Roman" panose="02020603050405020304"/>
                <a:ea typeface="Segoe UI" panose="020B0502040204020203"/>
              </a:rPr>
              <a:t>1 class HelloWorld{</a:t>
            </a:r>
            <a:endParaRPr lang="en-US" altLang="zh-CN" sz="20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>
                <a:latin typeface="Times New Roman" panose="02020603050405020304"/>
                <a:ea typeface="Segoe UI" panose="020B0502040204020203"/>
              </a:rPr>
              <a:t>2	public static void main(String[] args){	</a:t>
            </a:r>
            <a:endParaRPr lang="en-US" altLang="zh-CN" sz="20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>
                <a:latin typeface="Times New Roman" panose="02020603050405020304"/>
                <a:ea typeface="Segoe UI" panose="020B0502040204020203"/>
              </a:rPr>
              <a:t>3	system.out.println("hello world");	</a:t>
            </a:r>
            <a:endParaRPr lang="en-US" altLang="zh-CN" sz="20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>
                <a:latin typeface="Times New Roman" panose="02020603050405020304"/>
                <a:ea typeface="Segoe UI" panose="020B0502040204020203"/>
              </a:rPr>
              <a:t>4	}	</a:t>
            </a:r>
            <a:endParaRPr lang="en-US" altLang="zh-CN" sz="20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>
                <a:latin typeface="Times New Roman" panose="02020603050405020304"/>
                <a:ea typeface="Segoe UI" panose="020B0502040204020203"/>
              </a:rPr>
              <a:t>5   }</a:t>
            </a:r>
            <a:endParaRPr lang="en-US" altLang="zh-CN" sz="2000" i="0">
              <a:latin typeface="Times New Roman" panose="02020603050405020304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编译并运行Java文件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0980" y="2277110"/>
            <a:ext cx="99809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1）以管理员身份打开命令提示符窗口（按Win+R键打开运行对话框，输入cmd，然后按Ctrl+Shift+Enter启动以管理员身份运行的命令提示符窗口。‌），如图1-8 所示：</a:t>
            </a:r>
            <a:endParaRPr lang="zh-CN" altLang="en-US"/>
          </a:p>
        </p:txBody>
      </p:sp>
      <p:pic>
        <p:nvPicPr>
          <p:cNvPr id="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160" y="2937510"/>
            <a:ext cx="3643630" cy="13785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2354580" y="458057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1-8 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命令行窗口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编译并运行Java文件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0980" y="2277110"/>
            <a:ext cx="6768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2）将当前路径切换到源文件所在路径，如F:\，如图1-9 所示：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14625" y="455072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ea typeface="宋体" panose="02010600030101010101" pitchFamily="2" charset="-122"/>
              </a:rPr>
              <a:t>图1-9 切换到源文件HelloWorld.Java所在目录界面</a:t>
            </a:r>
            <a:endParaRPr sz="1600">
              <a:ea typeface="宋体" panose="02010600030101010101" pitchFamily="2" charset="-122"/>
            </a:endParaRPr>
          </a:p>
        </p:txBody>
      </p:sp>
      <p:pic>
        <p:nvPicPr>
          <p:cNvPr id="15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15" y="2924810"/>
            <a:ext cx="3986530" cy="1346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编译并运行Java文件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0980" y="2277110"/>
            <a:ext cx="6768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3）编译Java源文件，如图1-10 所示：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14625" y="455072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ea typeface="宋体" panose="02010600030101010101" pitchFamily="2" charset="-122"/>
              </a:rPr>
              <a:t>图1-10  编译源文件HelloWorld.Java界面</a:t>
            </a:r>
            <a:endParaRPr sz="1600">
              <a:ea typeface="宋体" panose="02010600030101010101" pitchFamily="2" charset="-122"/>
            </a:endParaRPr>
          </a:p>
        </p:txBody>
      </p:sp>
      <p:pic>
        <p:nvPicPr>
          <p:cNvPr id="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160" y="2853055"/>
            <a:ext cx="3909060" cy="1444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编译并运行Java文件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0980" y="2277110"/>
            <a:ext cx="6768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4</a:t>
            </a:r>
            <a:r>
              <a:rPr lang="zh-CN" altLang="en-US"/>
              <a:t>）运行Java文件，如图1-11 所示：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14625" y="455072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ea typeface="宋体" panose="02010600030101010101" pitchFamily="2" charset="-122"/>
              </a:rPr>
              <a:t>图1-11  运行文件HelloWorld界面</a:t>
            </a:r>
            <a:endParaRPr sz="1600">
              <a:ea typeface="宋体" panose="02010600030101010101" pitchFamily="2" charset="-122"/>
            </a:endParaRPr>
          </a:p>
        </p:txBody>
      </p:sp>
      <p:pic>
        <p:nvPicPr>
          <p:cNvPr id="12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15" y="2718435"/>
            <a:ext cx="3949700" cy="16567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WPS 演示</Application>
  <PresentationFormat>自定义</PresentationFormat>
  <Paragraphs>145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Wingdings</vt:lpstr>
      <vt:lpstr>Times New Roman</vt:lpstr>
      <vt:lpstr>Segoe UI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503</cp:revision>
  <dcterms:created xsi:type="dcterms:W3CDTF">2015-03-26T06:11:00Z</dcterms:created>
  <dcterms:modified xsi:type="dcterms:W3CDTF">2025-09-22T13:28:51Z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1F6BE489A63948188B8E400E193D5A46_13</vt:lpwstr>
  </property>
</Properties>
</file>