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53"/>
  </p:notesMasterIdLst>
  <p:handoutMasterIdLst>
    <p:handoutMasterId r:id="rId54"/>
  </p:handoutMasterIdLst>
  <p:sldIdLst>
    <p:sldId id="637" r:id="rId3"/>
    <p:sldId id="638" r:id="rId4"/>
    <p:sldId id="640" r:id="rId5"/>
    <p:sldId id="325" r:id="rId6"/>
    <p:sldId id="511" r:id="rId7"/>
    <p:sldId id="328" r:id="rId8"/>
    <p:sldId id="327" r:id="rId9"/>
    <p:sldId id="309" r:id="rId10"/>
    <p:sldId id="577" r:id="rId11"/>
    <p:sldId id="372" r:id="rId12"/>
    <p:sldId id="636" r:id="rId13"/>
    <p:sldId id="409" r:id="rId14"/>
    <p:sldId id="410" r:id="rId15"/>
    <p:sldId id="635" r:id="rId16"/>
    <p:sldId id="513" r:id="rId17"/>
    <p:sldId id="598" r:id="rId18"/>
    <p:sldId id="633" r:id="rId19"/>
    <p:sldId id="608" r:id="rId20"/>
    <p:sldId id="613" r:id="rId21"/>
    <p:sldId id="599" r:id="rId22"/>
    <p:sldId id="614" r:id="rId23"/>
    <p:sldId id="611" r:id="rId24"/>
    <p:sldId id="612" r:id="rId25"/>
    <p:sldId id="600" r:id="rId26"/>
    <p:sldId id="609" r:id="rId27"/>
    <p:sldId id="630" r:id="rId28"/>
    <p:sldId id="631" r:id="rId29"/>
    <p:sldId id="615" r:id="rId30"/>
    <p:sldId id="601" r:id="rId31"/>
    <p:sldId id="517" r:id="rId32"/>
    <p:sldId id="620" r:id="rId33"/>
    <p:sldId id="602" r:id="rId34"/>
    <p:sldId id="616" r:id="rId35"/>
    <p:sldId id="621" r:id="rId36"/>
    <p:sldId id="622" r:id="rId37"/>
    <p:sldId id="623" r:id="rId38"/>
    <p:sldId id="603" r:id="rId39"/>
    <p:sldId id="617" r:id="rId40"/>
    <p:sldId id="604" r:id="rId41"/>
    <p:sldId id="618" r:id="rId42"/>
    <p:sldId id="624" r:id="rId43"/>
    <p:sldId id="625" r:id="rId44"/>
    <p:sldId id="605" r:id="rId45"/>
    <p:sldId id="619" r:id="rId46"/>
    <p:sldId id="634" r:id="rId47"/>
    <p:sldId id="632" r:id="rId48"/>
    <p:sldId id="626" r:id="rId49"/>
    <p:sldId id="627" r:id="rId50"/>
    <p:sldId id="628" r:id="rId51"/>
    <p:sldId id="576" r:id="rId52"/>
  </p:sldIdLst>
  <p:sldSz cx="12190413" cy="6859588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56">
          <p15:clr>
            <a:srgbClr val="A4A3A4"/>
          </p15:clr>
        </p15:guide>
        <p15:guide id="3" pos="656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朱 杰" initials="朱" lastIdx="5" clrIdx="0">
    <p:extLst>
      <p:ext uri="{19B8F6BF-5375-455C-9EA6-DF929625EA0E}">
        <p15:presenceInfo xmlns:p15="http://schemas.microsoft.com/office/powerpoint/2012/main" userId="a0b21a782a23e534" providerId="Windows Live"/>
      </p:ext>
    </p:extLst>
  </p:cmAuthor>
  <p:cmAuthor id="2" name="韩冬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A2"/>
    <a:srgbClr val="1369B2"/>
    <a:srgbClr val="595959"/>
    <a:srgbClr val="EBAD13"/>
    <a:srgbClr val="FFFFFF"/>
    <a:srgbClr val="BBBBBB"/>
    <a:srgbClr val="1369B3"/>
    <a:srgbClr val="FAFAFA"/>
    <a:srgbClr val="F2F2F2"/>
    <a:srgbClr val="006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68" autoAdjust="0"/>
    <p:restoredTop sz="94660" autoAdjust="0"/>
  </p:normalViewPr>
  <p:slideViewPr>
    <p:cSldViewPr>
      <p:cViewPr varScale="1">
        <p:scale>
          <a:sx n="73" d="100"/>
          <a:sy n="73" d="100"/>
        </p:scale>
        <p:origin x="810" y="60"/>
      </p:cViewPr>
      <p:guideLst>
        <p:guide orient="horz" pos="2160"/>
        <p:guide pos="256"/>
        <p:guide pos="65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-2634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commentAuthors" Target="comment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pPr/>
              <a:t>2026/3/5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363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pPr/>
              <a:t>2026/3/5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1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28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665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122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905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87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796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85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36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495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229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9746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518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936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3662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2017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8222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2083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2739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30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F932700-A96E-48CC-99B1-0D0AB6A057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2026/3/5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2026/3/5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2026/3/5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C926309-C010-4B32-8B30-A6D8032A6D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 cstate="print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BC59529-8D20-4D23-98BA-108ACEC1BA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2.svg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1.png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8"/>
          <p:cNvSpPr txBox="1"/>
          <p:nvPr/>
        </p:nvSpPr>
        <p:spPr>
          <a:xfrm>
            <a:off x="3809190" y="2929728"/>
            <a:ext cx="76368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《</a:t>
            </a:r>
            <a:r>
              <a:rPr lang="zh-CN" altLang="en-US" sz="6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跨平台网站开发</a:t>
            </a:r>
            <a:r>
              <a:rPr lang="en-US" altLang="zh-CN" sz="6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》</a:t>
            </a:r>
            <a:endParaRPr lang="en-US" altLang="zh-CN" sz="6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 txBox="1"/>
          <p:nvPr/>
        </p:nvSpPr>
        <p:spPr>
          <a:xfrm>
            <a:off x="397510" y="715150"/>
            <a:ext cx="284017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课程概述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23108" y="1858158"/>
            <a:ext cx="957269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 smtClean="0"/>
              <a:t>     </a:t>
            </a:r>
            <a:r>
              <a:rPr lang="zh-CN" altLang="zh-CN" dirty="0" smtClean="0"/>
              <a:t>《</a:t>
            </a:r>
            <a:r>
              <a:rPr lang="zh-CN" altLang="en-US" dirty="0" smtClean="0"/>
              <a:t>跨平台网站开发</a:t>
            </a:r>
            <a:r>
              <a:rPr lang="zh-CN" altLang="zh-CN" dirty="0" smtClean="0"/>
              <a:t>》是一</a:t>
            </a:r>
            <a:r>
              <a:rPr lang="zh-CN" altLang="en-US" dirty="0" smtClean="0"/>
              <a:t>门</a:t>
            </a:r>
            <a:r>
              <a:rPr lang="zh-CN" altLang="zh-CN" dirty="0" smtClean="0"/>
              <a:t>基于</a:t>
            </a:r>
            <a:r>
              <a:rPr lang="en-US" altLang="zh-CN" dirty="0" err="1" smtClean="0"/>
              <a:t>HTML5</a:t>
            </a:r>
            <a:r>
              <a:rPr lang="zh-CN" altLang="zh-CN" dirty="0" smtClean="0"/>
              <a:t>和</a:t>
            </a:r>
            <a:r>
              <a:rPr lang="en-US" altLang="zh-CN" dirty="0" smtClean="0"/>
              <a:t>Bootstrap</a:t>
            </a:r>
            <a:r>
              <a:rPr lang="zh-CN" altLang="en-US" dirty="0" smtClean="0"/>
              <a:t>等</a:t>
            </a:r>
            <a:r>
              <a:rPr lang="zh-CN" altLang="zh-CN" dirty="0" smtClean="0"/>
              <a:t>相关内容的</a:t>
            </a:r>
            <a:r>
              <a:rPr lang="en-US" altLang="zh-CN" dirty="0" smtClean="0"/>
              <a:t>Web</a:t>
            </a:r>
            <a:r>
              <a:rPr lang="zh-CN" altLang="zh-CN" dirty="0" smtClean="0"/>
              <a:t>前端</a:t>
            </a:r>
            <a:r>
              <a:rPr lang="zh-CN" altLang="en-US" dirty="0" smtClean="0"/>
              <a:t>开发课程</a:t>
            </a:r>
            <a:r>
              <a:rPr lang="zh-CN" altLang="zh-CN" dirty="0" smtClean="0"/>
              <a:t>，涉及移动</a:t>
            </a:r>
            <a:r>
              <a:rPr lang="en-US" altLang="zh-CN" dirty="0" smtClean="0"/>
              <a:t>Web</a:t>
            </a:r>
            <a:r>
              <a:rPr lang="zh-CN" altLang="zh-CN" dirty="0" smtClean="0"/>
              <a:t>开发、</a:t>
            </a:r>
            <a:r>
              <a:rPr lang="en-US" altLang="zh-CN" dirty="0" err="1" smtClean="0"/>
              <a:t>HTML5</a:t>
            </a:r>
            <a:r>
              <a:rPr lang="zh-CN" altLang="zh-CN" dirty="0" smtClean="0"/>
              <a:t>新特性、移动端页面布局和常用事件、跨平台移动</a:t>
            </a:r>
            <a:r>
              <a:rPr lang="en-US" altLang="zh-CN" dirty="0" smtClean="0"/>
              <a:t>Web</a:t>
            </a:r>
            <a:r>
              <a:rPr lang="zh-CN" altLang="zh-CN" dirty="0" smtClean="0"/>
              <a:t>技术、</a:t>
            </a:r>
            <a:r>
              <a:rPr lang="en-US" altLang="zh-CN" dirty="0" smtClean="0"/>
              <a:t>Bootstrap</a:t>
            </a:r>
            <a:r>
              <a:rPr lang="zh-CN" altLang="zh-CN" dirty="0" smtClean="0"/>
              <a:t>响应式</a:t>
            </a:r>
            <a:r>
              <a:rPr lang="en-US" altLang="zh-CN" dirty="0" smtClean="0"/>
              <a:t>Web</a:t>
            </a:r>
            <a:r>
              <a:rPr lang="zh-CN" altLang="zh-CN" dirty="0" smtClean="0"/>
              <a:t>开发、</a:t>
            </a:r>
            <a:r>
              <a:rPr lang="en-US" altLang="zh-CN" dirty="0" smtClean="0"/>
              <a:t>Bootstrap</a:t>
            </a:r>
            <a:r>
              <a:rPr lang="zh-CN" altLang="zh-CN" dirty="0" smtClean="0"/>
              <a:t>常用组件和样式。</a:t>
            </a:r>
            <a:endParaRPr lang="en-US" altLang="zh-CN" dirty="0" smtClean="0"/>
          </a:p>
          <a:p>
            <a:pPr algn="just">
              <a:lnSpc>
                <a:spcPct val="150000"/>
              </a:lnSpc>
            </a:pPr>
            <a:r>
              <a:rPr lang="en-US" altLang="zh-CN" dirty="0" smtClean="0"/>
              <a:t>       </a:t>
            </a:r>
            <a:r>
              <a:rPr lang="zh-CN" altLang="zh-CN" dirty="0" smtClean="0"/>
              <a:t>通过对本课程的学习，</a:t>
            </a:r>
            <a:r>
              <a:rPr lang="zh-CN" altLang="en-US" dirty="0" smtClean="0"/>
              <a:t>可以</a:t>
            </a:r>
            <a:r>
              <a:rPr lang="zh-CN" altLang="zh-CN" dirty="0" smtClean="0"/>
              <a:t>让学生了解</a:t>
            </a:r>
            <a:r>
              <a:rPr lang="zh-CN" altLang="en-US" dirty="0" smtClean="0"/>
              <a:t>跨平台</a:t>
            </a:r>
            <a:r>
              <a:rPr lang="zh-CN" altLang="zh-CN" dirty="0" smtClean="0"/>
              <a:t>开发的基本理念，掌握移动</a:t>
            </a:r>
            <a:r>
              <a:rPr lang="en-US" altLang="zh-CN" dirty="0" smtClean="0"/>
              <a:t>Web</a:t>
            </a:r>
            <a:r>
              <a:rPr lang="zh-CN" altLang="en-US" dirty="0" smtClean="0"/>
              <a:t>前端</a:t>
            </a:r>
            <a:r>
              <a:rPr lang="zh-CN" altLang="zh-CN" dirty="0" smtClean="0"/>
              <a:t>开发工作所需的技能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 txBox="1"/>
          <p:nvPr/>
        </p:nvSpPr>
        <p:spPr>
          <a:xfrm>
            <a:off x="397510" y="715150"/>
            <a:ext cx="284017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成绩评定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23108" y="1858158"/>
            <a:ext cx="9572692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 smtClean="0"/>
              <a:t>     </a:t>
            </a:r>
            <a:endParaRPr lang="zh-CN" altLang="en-US" dirty="0"/>
          </a:p>
        </p:txBody>
      </p:sp>
      <p:sp>
        <p:nvSpPr>
          <p:cNvPr id="98305" name="Rectangle 1"/>
          <p:cNvSpPr>
            <a:spLocks noChangeArrowheads="1"/>
          </p:cNvSpPr>
          <p:nvPr/>
        </p:nvSpPr>
        <p:spPr bwMode="auto">
          <a:xfrm>
            <a:off x="1308860" y="1855757"/>
            <a:ext cx="9572692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3000" dirty="0" smtClean="0">
                <a:latin typeface="Times New Roman" pitchFamily="18" charset="0"/>
                <a:ea typeface="宋体" pitchFamily="2" charset="-122"/>
                <a:cs typeface="Calibri" pitchFamily="34" charset="0"/>
              </a:rPr>
              <a:t>期末</a:t>
            </a:r>
            <a:r>
              <a:rPr kumimoji="0" lang="zh-CN" sz="3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Calibri" pitchFamily="34" charset="0"/>
              </a:rPr>
              <a:t>成绩</a:t>
            </a:r>
            <a:r>
              <a:rPr kumimoji="0" lang="zh-CN" altLang="en-US" sz="3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Calibri" pitchFamily="34" charset="0"/>
              </a:rPr>
              <a:t>：</a:t>
            </a:r>
            <a:endParaRPr kumimoji="0" lang="en-US" altLang="zh-CN" sz="30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Calibri" pitchFamily="34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3000" dirty="0" smtClean="0">
                <a:latin typeface="Times New Roman" pitchFamily="18" charset="0"/>
                <a:ea typeface="宋体" pitchFamily="2" charset="-122"/>
                <a:cs typeface="Calibri" pitchFamily="34" charset="0"/>
              </a:rPr>
              <a:t>        </a:t>
            </a:r>
            <a:r>
              <a:rPr kumimoji="0" lang="zh-CN" sz="3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Calibri" pitchFamily="34" charset="0"/>
              </a:rPr>
              <a:t>平时成绩（</a:t>
            </a:r>
            <a:r>
              <a:rPr kumimoji="0" lang="en-US" altLang="zh-CN" sz="3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60%</a:t>
            </a:r>
            <a:r>
              <a:rPr kumimoji="0" lang="zh-CN" altLang="en-US" sz="3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Calibri" pitchFamily="34" charset="0"/>
              </a:rPr>
              <a:t>）和期末考试（</a:t>
            </a:r>
            <a:r>
              <a:rPr kumimoji="0" lang="en-US" altLang="zh-CN" sz="3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40%</a:t>
            </a:r>
            <a:r>
              <a:rPr kumimoji="0" lang="zh-CN" altLang="en-US" sz="3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Calibri" pitchFamily="34" charset="0"/>
              </a:rPr>
              <a:t>）组成。</a:t>
            </a:r>
            <a:endParaRPr kumimoji="0" lang="en-US" altLang="zh-CN" sz="30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Calibri" pitchFamily="34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Calibri" pitchFamily="34" charset="0"/>
              </a:rPr>
              <a:t>其中，平时成绩包括出勤（</a:t>
            </a:r>
            <a:r>
              <a:rPr kumimoji="0" lang="en-US" altLang="zh-CN" sz="3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20%</a:t>
            </a:r>
            <a:r>
              <a:rPr kumimoji="0" lang="zh-CN" altLang="en-US" sz="3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Calibri" pitchFamily="34" charset="0"/>
              </a:rPr>
              <a:t>）、作业（</a:t>
            </a:r>
            <a:r>
              <a:rPr kumimoji="0" lang="en-US" altLang="zh-CN" sz="3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20%</a:t>
            </a:r>
            <a:r>
              <a:rPr kumimoji="0" lang="zh-CN" altLang="en-US" sz="3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Calibri" pitchFamily="34" charset="0"/>
              </a:rPr>
              <a:t>） 、</a:t>
            </a:r>
            <a:endParaRPr kumimoji="0" lang="en-US" altLang="zh-CN" sz="30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Calibri" pitchFamily="34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Calibri" pitchFamily="34" charset="0"/>
              </a:rPr>
              <a:t>上机成绩（</a:t>
            </a:r>
            <a:r>
              <a:rPr kumimoji="0" lang="en-US" altLang="zh-CN" sz="3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20%</a:t>
            </a:r>
            <a:r>
              <a:rPr kumimoji="0" lang="zh-CN" altLang="en-US" sz="3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Calibri" pitchFamily="34" charset="0"/>
              </a:rPr>
              <a:t>）。</a:t>
            </a:r>
            <a:endParaRPr kumimoji="0" lang="zh-CN" altLang="en-US" sz="30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1897514" y="2565698"/>
            <a:ext cx="93514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6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1</a:t>
            </a:r>
            <a:r>
              <a:rPr lang="zh-CN" altLang="en-US" sz="6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 初识移动</a:t>
            </a:r>
            <a:r>
              <a:rPr lang="en-US" altLang="zh-CN" sz="6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Web</a:t>
            </a:r>
            <a:r>
              <a:rPr lang="zh-CN" altLang="en-US" sz="6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开发</a:t>
            </a:r>
            <a:endParaRPr lang="en-US" altLang="zh-CN" sz="6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4727054" y="3861842"/>
            <a:ext cx="5184576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《HTML5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移动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开发（第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270670" y="1917626"/>
            <a:ext cx="10297143" cy="688075"/>
            <a:chOff x="978872" y="1800500"/>
            <a:chExt cx="5471124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了解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移动互联网的发展状况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，能够说出移动互联网发展的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4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个阶段</a:t>
              </a: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270670" y="2787908"/>
            <a:ext cx="10297144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熟悉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移动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Web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开发的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3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种方式，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能够说出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移动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Web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Native App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Hybrid App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的特点</a:t>
              </a: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1270670" y="3656074"/>
            <a:ext cx="10441159" cy="688077"/>
            <a:chOff x="978872" y="3338787"/>
            <a:chExt cx="5437064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了解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移动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Web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开发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，能够说出移动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Web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开发与</a:t>
              </a:r>
              <a:r>
                <a:rPr lang="en-US" altLang="zh-CN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PC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端</a:t>
              </a:r>
              <a:r>
                <a:rPr lang="en-US" altLang="zh-CN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Web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开发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的区别</a:t>
              </a: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270671" y="4537847"/>
            <a:ext cx="10441158" cy="685959"/>
            <a:chOff x="978872" y="2570437"/>
            <a:chExt cx="5437064" cy="514350"/>
          </a:xfrm>
        </p:grpSpPr>
        <p:sp>
          <p:nvSpPr>
            <p:cNvPr id="29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熟悉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移动端的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Web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浏览器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，能够说出常用的移动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Web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浏览器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30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270671" y="5406013"/>
            <a:ext cx="10441159" cy="688077"/>
            <a:chOff x="978872" y="3338787"/>
            <a:chExt cx="7102470" cy="515938"/>
          </a:xfrm>
        </p:grpSpPr>
        <p:sp>
          <p:nvSpPr>
            <p:cNvPr id="32" name="Pentagon 6"/>
            <p:cNvSpPr/>
            <p:nvPr/>
          </p:nvSpPr>
          <p:spPr bwMode="auto">
            <a:xfrm>
              <a:off x="978872" y="3338787"/>
              <a:ext cx="7102470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掌握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Visual Studio Code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编辑器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的使用，能够独立完成编辑器的安装和设置</a:t>
              </a:r>
            </a:p>
          </p:txBody>
        </p:sp>
        <p:sp>
          <p:nvSpPr>
            <p:cNvPr id="33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7216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5" y="1714674"/>
            <a:ext cx="10151132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互联网是移动通信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和互联网的结合体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发展给人们的生活带来了巨大的变化，用户可以通过手机、平板计算机等可移动数据终端与互联网连接，从而获得互联网中的海量资讯。本章将从移动互联网的发展入手，结合现实生活中常用的移动应用，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让大家对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开发有一个初步的了解，然后讲解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移动端开发的常见方式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移动端的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，让读者对移动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开发有进一步的了解，最后讲解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 Code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的使用，为后面案例代码的编写打下基础。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1933199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2853597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3784175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1911020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移动互联网的发展</a:t>
              </a: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2836771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302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移动端开发的常见方式</a:t>
              </a: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3762522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24395"/>
              <a:ext cx="2827146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移动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Web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开发概述</a:t>
              </a:r>
              <a:endPara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070870" y="4699302"/>
            <a:ext cx="1192190" cy="613062"/>
            <a:chOff x="2215144" y="982844"/>
            <a:chExt cx="1244730" cy="842780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070870" y="5619700"/>
            <a:ext cx="1192190" cy="618406"/>
            <a:chOff x="2215144" y="2026500"/>
            <a:chExt cx="1244730" cy="850129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976422" y="4677123"/>
            <a:ext cx="5142331" cy="613062"/>
            <a:chOff x="4315150" y="953426"/>
            <a:chExt cx="3857250" cy="540057"/>
          </a:xfrm>
        </p:grpSpPr>
        <p:sp>
          <p:nvSpPr>
            <p:cNvPr id="28" name="矩形 27"/>
            <p:cNvSpPr/>
            <p:nvPr/>
          </p:nvSpPr>
          <p:spPr>
            <a:xfrm>
              <a:off x="4841196" y="1036090"/>
              <a:ext cx="2827147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移动端的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Web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浏览器</a:t>
              </a:r>
              <a:endParaRPr lang="zh-CN" altLang="en-GB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平行四边形 28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976422" y="5602874"/>
            <a:ext cx="5142331" cy="613062"/>
            <a:chOff x="4315150" y="1647579"/>
            <a:chExt cx="3857250" cy="540057"/>
          </a:xfrm>
        </p:grpSpPr>
        <p:sp>
          <p:nvSpPr>
            <p:cNvPr id="31" name="矩形 30"/>
            <p:cNvSpPr/>
            <p:nvPr/>
          </p:nvSpPr>
          <p:spPr>
            <a:xfrm>
              <a:off x="4841196" y="1730243"/>
              <a:ext cx="2827147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 Visual Studio Code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编辑器</a:t>
              </a:r>
              <a:endParaRPr lang="zh-CN" altLang="en-GB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移动互联网的发展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167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移动互联网的发展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状况，能够说出移动互联网发展的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个阶段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移动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互联网的发展</a:t>
            </a:r>
          </a:p>
        </p:txBody>
      </p:sp>
    </p:spTree>
    <p:extLst>
      <p:ext uri="{BB962C8B-B14F-4D97-AF65-F5344CB8AC3E}">
        <p14:creationId xmlns:p14="http://schemas.microsoft.com/office/powerpoint/2010/main" val="406917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移动互联网的发展</a:t>
            </a: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982638" y="2115278"/>
            <a:ext cx="10441160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在互联网发展的同时，移动互联网也呈现出爆发式的增长，根据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CNNIC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（中国互联网络信息中心）发布的第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47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中国互联网络发展状况统计报告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可知，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截至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2022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月，我国网民规模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达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10.51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，较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1919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，互联网普及率达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74.4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。随着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移动通信网络环境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的不断完善，以及智能手机的进一步普及，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移动互联网应用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向用户各类生活需求深入渗透，促进手机上网使用率增长，增长势头强劲。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TextBox 76"/>
          <p:cNvSpPr txBox="1"/>
          <p:nvPr/>
        </p:nvSpPr>
        <p:spPr>
          <a:xfrm>
            <a:off x="1168672" y="1477940"/>
            <a:ext cx="3054325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移动互联网发展背景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移动互联网的发展</a:t>
            </a:r>
          </a:p>
        </p:txBody>
      </p:sp>
      <p:sp>
        <p:nvSpPr>
          <p:cNvPr id="3" name="TextBox 76"/>
          <p:cNvSpPr txBox="1"/>
          <p:nvPr/>
        </p:nvSpPr>
        <p:spPr>
          <a:xfrm>
            <a:off x="1023108" y="1072340"/>
            <a:ext cx="371477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不同设备接入互联网情况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65984" y="1715282"/>
            <a:ext cx="103585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       截至</a:t>
            </a:r>
            <a:r>
              <a:rPr lang="en-US" altLang="zh-CN" dirty="0" smtClean="0"/>
              <a:t>2021</a:t>
            </a:r>
            <a:r>
              <a:rPr lang="zh-CN" altLang="en-US" dirty="0" smtClean="0"/>
              <a:t>年</a:t>
            </a:r>
            <a:r>
              <a:rPr lang="en-US" altLang="zh-CN" dirty="0" smtClean="0"/>
              <a:t>12</a:t>
            </a:r>
            <a:r>
              <a:rPr lang="zh-CN" altLang="en-US" dirty="0" smtClean="0"/>
              <a:t>月</a:t>
            </a:r>
            <a:r>
              <a:rPr lang="zh-CN" altLang="en-US" dirty="0" smtClean="0"/>
              <a:t>，我</a:t>
            </a:r>
            <a:r>
              <a:rPr lang="zh-CN" altLang="en-US" dirty="0" smtClean="0"/>
              <a:t>国网民使用手机上网的比例最高，达</a:t>
            </a:r>
            <a:r>
              <a:rPr lang="en-US" altLang="zh-CN" dirty="0" smtClean="0"/>
              <a:t>99.7%;</a:t>
            </a:r>
            <a:r>
              <a:rPr lang="zh-CN" altLang="en-US" dirty="0" smtClean="0"/>
              <a:t>使用台式电脑、笔记本电脑、电视和平板电脑上网的比例分别为</a:t>
            </a:r>
            <a:r>
              <a:rPr lang="en-US" altLang="zh-CN" dirty="0" smtClean="0"/>
              <a:t>35.0%</a:t>
            </a:r>
            <a:r>
              <a:rPr lang="zh-CN" altLang="en-US" dirty="0" smtClean="0"/>
              <a:t>、</a:t>
            </a:r>
            <a:r>
              <a:rPr lang="en-US" altLang="zh-CN" dirty="0" smtClean="0"/>
              <a:t>33.0%</a:t>
            </a:r>
            <a:r>
              <a:rPr lang="zh-CN" altLang="en-US" dirty="0" smtClean="0"/>
              <a:t>、</a:t>
            </a:r>
            <a:r>
              <a:rPr lang="en-US" altLang="zh-CN" dirty="0" smtClean="0"/>
              <a:t>28.1%</a:t>
            </a:r>
            <a:r>
              <a:rPr lang="zh-CN" altLang="en-US" dirty="0" smtClean="0"/>
              <a:t>和</a:t>
            </a:r>
            <a:r>
              <a:rPr lang="en-US" altLang="zh-CN" dirty="0" smtClean="0"/>
              <a:t>27.4%</a:t>
            </a:r>
            <a:r>
              <a:rPr lang="zh-CN" altLang="en-US" dirty="0" smtClean="0"/>
              <a:t>，各类设备接入互联网比重均有所提高。</a:t>
            </a:r>
            <a:endParaRPr lang="zh-CN" altLang="en-US" dirty="0"/>
          </a:p>
        </p:txBody>
      </p:sp>
      <p:pic>
        <p:nvPicPr>
          <p:cNvPr id="5" name="图片 4" descr="QQ图片2023021612541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80364" y="3072604"/>
            <a:ext cx="6677025" cy="3281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76"/>
          <p:cNvSpPr txBox="1"/>
          <p:nvPr/>
        </p:nvSpPr>
        <p:spPr>
          <a:xfrm>
            <a:off x="1168672" y="1095921"/>
            <a:ext cx="3558381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移动互联网结合日常生活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1054646" y="1618327"/>
            <a:ext cx="10441160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移动互联网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已经与人们的生活息息相关。用户可以通过手机、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平板计算机等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终端设备接入移动应用，与互联网连接，从而在互联网上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获取海量信息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。例如，通过手机上的浏览器访问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购物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等移动应用程序。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移动互联网的发展</a:t>
            </a:r>
          </a:p>
        </p:txBody>
      </p:sp>
      <p:pic>
        <p:nvPicPr>
          <p:cNvPr id="1026" name="Picture 2" descr="无标题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950" y="3087332"/>
            <a:ext cx="4680520" cy="3510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841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76"/>
          <p:cNvSpPr txBox="1"/>
          <p:nvPr/>
        </p:nvSpPr>
        <p:spPr>
          <a:xfrm>
            <a:off x="1142277" y="1095921"/>
            <a:ext cx="3870555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移动互联网发展的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4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个阶段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移动互联网的发展</a:t>
            </a:r>
          </a:p>
        </p:txBody>
      </p:sp>
      <p:sp>
        <p:nvSpPr>
          <p:cNvPr id="11" name="同侧圆角矩形 4"/>
          <p:cNvSpPr txBox="1"/>
          <p:nvPr/>
        </p:nvSpPr>
        <p:spPr>
          <a:xfrm>
            <a:off x="2539954" y="2072269"/>
            <a:ext cx="8777164" cy="138296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0160" rIns="10160" bIns="10160" numCol="1" spcCol="1270" anchor="ctr" anchorCtr="0">
            <a:noAutofit/>
          </a:bodyPr>
          <a:lstStyle/>
          <a:p>
            <a:pPr marL="0" lvl="1" defTabSz="7112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阶段是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中国移动互联网的起步阶段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日，中国移动推出“移动梦网计划”，打造开放、合作、共赢的产业价值链。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2002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日，中国电信在广州启动“互联星空”计划，标志着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ISP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ICP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开始联合打造宽带互联网产业。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2002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日，中国移动率先在全国范围内正式推出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GPRS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业务。</a:t>
            </a:r>
            <a:endParaRPr lang="zh-CN" altLang="en-US" sz="1600" dirty="0"/>
          </a:p>
        </p:txBody>
      </p:sp>
      <p:sp>
        <p:nvSpPr>
          <p:cNvPr id="4" name="矩形 3"/>
          <p:cNvSpPr/>
          <p:nvPr/>
        </p:nvSpPr>
        <p:spPr>
          <a:xfrm>
            <a:off x="2566814" y="3861842"/>
            <a:ext cx="86409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第二阶段是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无线应用协议（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WAP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）广泛应用阶段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WAP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1998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年初公布，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1999-2000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年，无线接入服务正式进入商用领域，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WAP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广为人知，成为各行业关注的重点。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WAP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项全球性的网络通信协议，它使移动互联网有了一个通行的标准，其目标是将互联网丰富的信息和先进的业务引入手机等无线终端。用户主要在移动互联网上看新闻、读小说、听音乐，开始进入以内容为主的移动互联网时代。</a:t>
            </a:r>
            <a:endParaRPr lang="zh-CN" altLang="en-US" sz="1600" dirty="0"/>
          </a:p>
        </p:txBody>
      </p:sp>
      <p:sp>
        <p:nvSpPr>
          <p:cNvPr id="13" name="同侧圆角矩形 12"/>
          <p:cNvSpPr/>
          <p:nvPr/>
        </p:nvSpPr>
        <p:spPr>
          <a:xfrm rot="5400000">
            <a:off x="6129147" y="-1720842"/>
            <a:ext cx="1591478" cy="8997825"/>
          </a:xfrm>
          <a:prstGeom prst="round2SameRect">
            <a:avLst>
              <a:gd name="adj1" fmla="val 28996"/>
              <a:gd name="adj2" fmla="val 0"/>
            </a:avLst>
          </a:prstGeom>
          <a:noFill/>
          <a:ln>
            <a:solidFill>
              <a:srgbClr val="005D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同侧圆角矩形 13"/>
          <p:cNvSpPr/>
          <p:nvPr/>
        </p:nvSpPr>
        <p:spPr>
          <a:xfrm rot="5400000">
            <a:off x="5917588" y="386739"/>
            <a:ext cx="2014596" cy="8997825"/>
          </a:xfrm>
          <a:prstGeom prst="round2SameRect">
            <a:avLst>
              <a:gd name="adj1" fmla="val 28996"/>
              <a:gd name="adj2" fmla="val 0"/>
            </a:avLst>
          </a:prstGeom>
          <a:noFill/>
          <a:ln>
            <a:solidFill>
              <a:srgbClr val="005D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燕尾形 14"/>
          <p:cNvSpPr/>
          <p:nvPr/>
        </p:nvSpPr>
        <p:spPr>
          <a:xfrm rot="5400000">
            <a:off x="765113" y="2341824"/>
            <a:ext cx="2038020" cy="1283697"/>
          </a:xfrm>
          <a:prstGeom prst="chevron">
            <a:avLst>
              <a:gd name="adj" fmla="val 321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98663" y="2229465"/>
            <a:ext cx="12273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第一阶段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2000-2002</a:t>
            </a:r>
            <a:endParaRPr lang="zh-CN" altLang="en-US" sz="1600" dirty="0"/>
          </a:p>
        </p:txBody>
      </p:sp>
      <p:sp>
        <p:nvSpPr>
          <p:cNvPr id="18" name="燕尾形 17"/>
          <p:cNvSpPr/>
          <p:nvPr/>
        </p:nvSpPr>
        <p:spPr>
          <a:xfrm rot="5400000">
            <a:off x="563180" y="4447325"/>
            <a:ext cx="2441880" cy="1283697"/>
          </a:xfrm>
          <a:prstGeom prst="chevron">
            <a:avLst>
              <a:gd name="adj" fmla="val 321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198661" y="4173681"/>
            <a:ext cx="12273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第二阶段</a:t>
            </a:r>
          </a:p>
          <a:p>
            <a:pPr lvl="0" algn="ctr"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2003-2005</a:t>
            </a:r>
          </a:p>
        </p:txBody>
      </p:sp>
    </p:spTree>
    <p:extLst>
      <p:ext uri="{BB962C8B-B14F-4D97-AF65-F5344CB8AC3E}">
        <p14:creationId xmlns:p14="http://schemas.microsoft.com/office/powerpoint/2010/main" val="378990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76"/>
          <p:cNvSpPr txBox="1"/>
          <p:nvPr/>
        </p:nvSpPr>
        <p:spPr>
          <a:xfrm>
            <a:off x="1142277" y="1095921"/>
            <a:ext cx="3870555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移动互联网发展的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4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个阶段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移动互联网的发展</a:t>
            </a:r>
          </a:p>
        </p:txBody>
      </p:sp>
      <p:sp>
        <p:nvSpPr>
          <p:cNvPr id="11" name="同侧圆角矩形 4"/>
          <p:cNvSpPr txBox="1"/>
          <p:nvPr/>
        </p:nvSpPr>
        <p:spPr>
          <a:xfrm>
            <a:off x="2539954" y="2072269"/>
            <a:ext cx="8777164" cy="138296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0160" rIns="10160" bIns="10160" numCol="1" spcCol="1270" anchor="ctr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第三阶段是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互动娱乐的移动互联网阶段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。中国移动互联网除了内容之外，开始有了一些功能性的应用，如手机</a:t>
            </a:r>
            <a:r>
              <a:rPr lang="en-US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QQ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、手机搜索、手机流媒体、手机游戏等，作为传统互联网的补充，移动互联网占据了用户大量的碎片时间。</a:t>
            </a:r>
          </a:p>
        </p:txBody>
      </p:sp>
      <p:sp>
        <p:nvSpPr>
          <p:cNvPr id="4" name="矩形 3"/>
          <p:cNvSpPr/>
          <p:nvPr/>
        </p:nvSpPr>
        <p:spPr>
          <a:xfrm>
            <a:off x="2566814" y="3861842"/>
            <a:ext cx="8640960" cy="1895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第四阶段是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移动互联网产品广泛应用阶段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。随着</a:t>
            </a:r>
            <a:r>
              <a:rPr lang="en-US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3G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4G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5G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网络的应用，移动应用在手机上得到了广泛的使用，一些新名词开始出现，如</a:t>
            </a:r>
            <a:r>
              <a:rPr lang="en-US" altLang="en-US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SoLoMoCo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</a:t>
            </a:r>
            <a:r>
              <a:rPr lang="en-US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Social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（社交的）、</a:t>
            </a:r>
            <a:r>
              <a:rPr lang="en-US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（本地的）、</a:t>
            </a:r>
            <a:r>
              <a:rPr lang="en-US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Mobile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（移动的）、</a:t>
            </a:r>
            <a:r>
              <a:rPr lang="en-US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Commerce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（商务化）。这个阶段，移动互联网产品得到进一步发展和重视，大部分互联网公司都会设立专门的移动终端部门，负责公司产品在移动终端的战略布局和发展。</a:t>
            </a:r>
          </a:p>
        </p:txBody>
      </p:sp>
      <p:sp>
        <p:nvSpPr>
          <p:cNvPr id="13" name="同侧圆角矩形 12"/>
          <p:cNvSpPr/>
          <p:nvPr/>
        </p:nvSpPr>
        <p:spPr>
          <a:xfrm rot="5400000">
            <a:off x="6129147" y="-1720842"/>
            <a:ext cx="1591478" cy="8997825"/>
          </a:xfrm>
          <a:prstGeom prst="round2SameRect">
            <a:avLst>
              <a:gd name="adj1" fmla="val 28996"/>
              <a:gd name="adj2" fmla="val 0"/>
            </a:avLst>
          </a:prstGeom>
          <a:noFill/>
          <a:ln>
            <a:solidFill>
              <a:srgbClr val="005D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同侧圆角矩形 13"/>
          <p:cNvSpPr/>
          <p:nvPr/>
        </p:nvSpPr>
        <p:spPr>
          <a:xfrm rot="5400000">
            <a:off x="5917588" y="386739"/>
            <a:ext cx="2014596" cy="8997825"/>
          </a:xfrm>
          <a:prstGeom prst="round2SameRect">
            <a:avLst>
              <a:gd name="adj1" fmla="val 28996"/>
              <a:gd name="adj2" fmla="val 0"/>
            </a:avLst>
          </a:prstGeom>
          <a:noFill/>
          <a:ln>
            <a:solidFill>
              <a:srgbClr val="005D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燕尾形 14"/>
          <p:cNvSpPr/>
          <p:nvPr/>
        </p:nvSpPr>
        <p:spPr>
          <a:xfrm rot="5400000">
            <a:off x="765113" y="2341824"/>
            <a:ext cx="2038020" cy="1283697"/>
          </a:xfrm>
          <a:prstGeom prst="chevron">
            <a:avLst>
              <a:gd name="adj" fmla="val 321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98663" y="2570263"/>
            <a:ext cx="1227310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第三阶段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2006-2008</a:t>
            </a:r>
          </a:p>
        </p:txBody>
      </p:sp>
      <p:sp>
        <p:nvSpPr>
          <p:cNvPr id="18" name="燕尾形 17"/>
          <p:cNvSpPr/>
          <p:nvPr/>
        </p:nvSpPr>
        <p:spPr>
          <a:xfrm rot="5400000">
            <a:off x="563180" y="4447325"/>
            <a:ext cx="2441880" cy="1283697"/>
          </a:xfrm>
          <a:prstGeom prst="chevron">
            <a:avLst>
              <a:gd name="adj" fmla="val 321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154971" y="4576921"/>
            <a:ext cx="12837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第四阶段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2009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年至今</a:t>
            </a:r>
          </a:p>
        </p:txBody>
      </p:sp>
    </p:spTree>
    <p:extLst>
      <p:ext uri="{BB962C8B-B14F-4D97-AF65-F5344CB8AC3E}">
        <p14:creationId xmlns:p14="http://schemas.microsoft.com/office/powerpoint/2010/main" val="178509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移动端开发的常见方式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</a:t>
            </a:r>
          </a:p>
        </p:txBody>
      </p:sp>
    </p:spTree>
    <p:extLst>
      <p:ext uri="{BB962C8B-B14F-4D97-AF65-F5344CB8AC3E}">
        <p14:creationId xmlns:p14="http://schemas.microsoft.com/office/powerpoint/2010/main" val="126801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78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移动端开发的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种常见方式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能够说出移动</a:t>
            </a:r>
            <a:r>
              <a:rPr lang="en-US" altLang="zh-CN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zh-CN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Native </a:t>
            </a:r>
            <a:r>
              <a:rPr lang="en-US" altLang="zh-CN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Hybrid App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的特点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移动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端开发的常见方式</a:t>
            </a:r>
          </a:p>
        </p:txBody>
      </p:sp>
    </p:spTree>
    <p:extLst>
      <p:ext uri="{BB962C8B-B14F-4D97-AF65-F5344CB8AC3E}">
        <p14:creationId xmlns:p14="http://schemas.microsoft.com/office/powerpoint/2010/main" val="3048186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867197" y="1184439"/>
            <a:ext cx="10441160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目前市场上主流的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移动端开发方式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移动端开发的常见方式</a:t>
            </a: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190550" y="1917626"/>
            <a:ext cx="10967486" cy="3354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10668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编写运行在移动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浏览器中的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应用，通常是通过单独制作移动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页面或制作响应式页面同时兼容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端和移动端的方式实现。</a:t>
            </a:r>
          </a:p>
          <a:p>
            <a:pPr marL="10668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Native 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编写运行在本地操作系统上（如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）的应用程序，交互性强。一般使用的开发语言是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Objective-C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</a:p>
          <a:p>
            <a:pPr marL="10668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Hybrid 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通过原生应用搭建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的外部容器，并使用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等移动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技术编写移动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页面，将移动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页面封装在外部容器中，以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的形式与用户交互。</a:t>
            </a:r>
          </a:p>
        </p:txBody>
      </p:sp>
    </p:spTree>
    <p:extLst>
      <p:ext uri="{BB962C8B-B14F-4D97-AF65-F5344CB8AC3E}">
        <p14:creationId xmlns:p14="http://schemas.microsoft.com/office/powerpoint/2010/main" val="2164870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76"/>
          <p:cNvSpPr txBox="1"/>
          <p:nvPr/>
        </p:nvSpPr>
        <p:spPr>
          <a:xfrm>
            <a:off x="1143691" y="1341562"/>
            <a:ext cx="305432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种开发方式的区别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移动端开发的常见方式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388417"/>
              </p:ext>
            </p:extLst>
          </p:nvPr>
        </p:nvGraphicFramePr>
        <p:xfrm>
          <a:off x="1143691" y="2205658"/>
          <a:ext cx="9632037" cy="293172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991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058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177896770"/>
                    </a:ext>
                  </a:extLst>
                </a:gridCol>
                <a:gridCol w="1284225">
                  <a:extLst>
                    <a:ext uri="{9D8B030D-6E8A-4147-A177-3AD203B41FA5}">
                      <a16:colId xmlns:a16="http://schemas.microsoft.com/office/drawing/2014/main" val="985776366"/>
                    </a:ext>
                  </a:extLst>
                </a:gridCol>
                <a:gridCol w="1378594">
                  <a:extLst>
                    <a:ext uri="{9D8B030D-6E8A-4147-A177-3AD203B41FA5}">
                      <a16:colId xmlns:a16="http://schemas.microsoft.com/office/drawing/2014/main" val="2488031500"/>
                    </a:ext>
                  </a:extLst>
                </a:gridCol>
                <a:gridCol w="1302005">
                  <a:extLst>
                    <a:ext uri="{9D8B030D-6E8A-4147-A177-3AD203B41FA5}">
                      <a16:colId xmlns:a16="http://schemas.microsoft.com/office/drawing/2014/main" val="3758688017"/>
                    </a:ext>
                  </a:extLst>
                </a:gridCol>
                <a:gridCol w="1130708">
                  <a:extLst>
                    <a:ext uri="{9D8B030D-6E8A-4147-A177-3AD203B41FA5}">
                      <a16:colId xmlns:a16="http://schemas.microsoft.com/office/drawing/2014/main" val="1212782412"/>
                    </a:ext>
                  </a:extLst>
                </a:gridCol>
              </a:tblGrid>
              <a:tr h="956278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开发方式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开发成本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维护更新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用户体验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商店认可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安装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跨平台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869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移动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Web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低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简单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差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不认可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不需要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优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290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Native App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高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复杂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优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认可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需要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差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290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Hybrid App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简单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认可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需要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优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4241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移动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Web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开发概述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</a:t>
            </a:r>
          </a:p>
        </p:txBody>
      </p:sp>
    </p:spTree>
    <p:extLst>
      <p:ext uri="{BB962C8B-B14F-4D97-AF65-F5344CB8AC3E}">
        <p14:creationId xmlns:p14="http://schemas.microsoft.com/office/powerpoint/2010/main" val="70905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说出移动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开发的特点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开发概述</a:t>
            </a:r>
          </a:p>
        </p:txBody>
      </p:sp>
    </p:spTree>
    <p:extLst>
      <p:ext uri="{BB962C8B-B14F-4D97-AF65-F5344CB8AC3E}">
        <p14:creationId xmlns:p14="http://schemas.microsoft.com/office/powerpoint/2010/main" val="2664882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6"/>
          <p:cNvSpPr txBox="1"/>
          <p:nvPr/>
        </p:nvSpPr>
        <p:spPr>
          <a:xfrm>
            <a:off x="838622" y="1197546"/>
            <a:ext cx="3096344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移动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Web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开发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现状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开发概述</a:t>
            </a:r>
          </a:p>
        </p:txBody>
      </p:sp>
      <p:sp>
        <p:nvSpPr>
          <p:cNvPr id="11" name="TextBox 35"/>
          <p:cNvSpPr txBox="1">
            <a:spLocks noChangeArrowheads="1"/>
          </p:cNvSpPr>
          <p:nvPr/>
        </p:nvSpPr>
        <p:spPr bwMode="auto">
          <a:xfrm>
            <a:off x="694606" y="1921693"/>
            <a:ext cx="10657184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随着智能手机、平板计算机等移动设备的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普及以及硬件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设备的完善，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对新技术的支持日益加大，移动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开发的用户体验和网站性能也得到了逐步的提高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，这些都极大地促进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的发展。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39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开发概述</a:t>
            </a:r>
          </a:p>
        </p:txBody>
      </p:sp>
      <p:sp>
        <p:nvSpPr>
          <p:cNvPr id="5" name="TextBox 76"/>
          <p:cNvSpPr txBox="1"/>
          <p:nvPr/>
        </p:nvSpPr>
        <p:spPr>
          <a:xfrm>
            <a:off x="838622" y="1197546"/>
            <a:ext cx="3096344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移动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Web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开发特点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" y="1917626"/>
            <a:ext cx="11855846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主要由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等技术实现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，项目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的呈现依赖于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由于屏幕大小的限制，在移动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开发中，页面的结构不能过于复杂，开发人员要提炼出该网站核心的功能，并简洁清晰地呈现出来。</a:t>
            </a: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页面的一切交互活动由鼠标控制变成了手指触屏控制，操作方式更加丰富，如摇一摇、双指放大、滑动、双击、单击等。因此移动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开发需要增加一些触屏事件。</a:t>
            </a:r>
          </a:p>
        </p:txBody>
      </p:sp>
    </p:spTree>
    <p:extLst>
      <p:ext uri="{BB962C8B-B14F-4D97-AF65-F5344CB8AC3E}">
        <p14:creationId xmlns:p14="http://schemas.microsoft.com/office/powerpoint/2010/main" val="160684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移动端的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Web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浏览器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</a:t>
            </a:r>
          </a:p>
        </p:txBody>
      </p:sp>
    </p:spTree>
    <p:extLst>
      <p:ext uri="{BB962C8B-B14F-4D97-AF65-F5344CB8AC3E}">
        <p14:creationId xmlns:p14="http://schemas.microsoft.com/office/powerpoint/2010/main" val="324828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移动端的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说出常用的移动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移动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端的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浏览器</a:t>
            </a:r>
          </a:p>
        </p:txBody>
      </p:sp>
    </p:spTree>
    <p:extLst>
      <p:ext uri="{BB962C8B-B14F-4D97-AF65-F5344CB8AC3E}">
        <p14:creationId xmlns:p14="http://schemas.microsoft.com/office/powerpoint/2010/main" val="393840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移动端的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浏览器</a:t>
            </a:r>
          </a:p>
        </p:txBody>
      </p:sp>
      <p:sp>
        <p:nvSpPr>
          <p:cNvPr id="10" name="TextBox 35"/>
          <p:cNvSpPr txBox="1">
            <a:spLocks noChangeArrowheads="1"/>
          </p:cNvSpPr>
          <p:nvPr/>
        </p:nvSpPr>
        <p:spPr bwMode="auto">
          <a:xfrm>
            <a:off x="867197" y="1184439"/>
            <a:ext cx="10441160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手机中常用的移动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浏览器。例如，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内置的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 Browser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内置的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Mobile Safari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，以及一些国产的浏览器如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UC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QQ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百度浏览器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等。它们可以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识别和解析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781179" y="3125660"/>
            <a:ext cx="7934501" cy="2495238"/>
            <a:chOff x="2781179" y="3125660"/>
            <a:chExt cx="7934501" cy="2495238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1179" y="3125660"/>
              <a:ext cx="3819048" cy="2495238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9966" y="3297089"/>
              <a:ext cx="4085714" cy="107619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6211" y="4436035"/>
              <a:ext cx="3923809" cy="1066667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3751493" y="3324555"/>
              <a:ext cx="2232248" cy="107619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r>
                <a:rPr lang="en-US" altLang="zh-CN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QQ</a:t>
              </a:r>
              <a:r>
                <a:rPr lang="zh-CN" altLang="en-US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788326" y="4293890"/>
              <a:ext cx="2841640" cy="12900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r>
                <a:rPr lang="en-US" altLang="zh-CN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UC</a:t>
              </a:r>
              <a:r>
                <a:rPr lang="zh-CN" altLang="en-US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556698" y="3254644"/>
              <a:ext cx="2510909" cy="107619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r>
                <a:rPr lang="zh-CN" altLang="en-US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百度浏览器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679484" y="4371334"/>
              <a:ext cx="3438799" cy="107619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r>
                <a:rPr lang="zh-CN" altLang="en-US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搜狗浏览器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2860436" y="4557775"/>
              <a:ext cx="858505" cy="7536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0870" y="4653930"/>
              <a:ext cx="533576" cy="533576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4224" y="4574028"/>
              <a:ext cx="681623" cy="6816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57998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982638" y="1086501"/>
            <a:ext cx="7344816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对比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移动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端网页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PC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端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网页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移动端的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浏览器</a:t>
            </a:r>
          </a:p>
        </p:txBody>
      </p:sp>
      <p:pic>
        <p:nvPicPr>
          <p:cNvPr id="6" name="Picture 2" descr="样机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718" y="1784866"/>
            <a:ext cx="2100857" cy="417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014" y="1773610"/>
            <a:ext cx="5834225" cy="417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524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移动端的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浏览器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34566" y="1413570"/>
            <a:ext cx="10657184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通过同一个网站针对不同终端的设计对比，可以反映出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的以下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移动端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浏览器受到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屏幕尺寸的限制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，不能显示太多的内容。</a:t>
            </a: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移动端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浏览器支持一些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手势操作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，如触屏、滑动、缩放等。</a:t>
            </a: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移动端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浏览器需要考虑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硬件因素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，设备性能问题。</a:t>
            </a:r>
          </a:p>
        </p:txBody>
      </p:sp>
    </p:spTree>
    <p:extLst>
      <p:ext uri="{BB962C8B-B14F-4D97-AF65-F5344CB8AC3E}">
        <p14:creationId xmlns:p14="http://schemas.microsoft.com/office/powerpoint/2010/main" val="72072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7885728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r>
              <a:rPr lang="zh-CN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编辑器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</a:t>
            </a:r>
          </a:p>
        </p:txBody>
      </p:sp>
    </p:spTree>
    <p:extLst>
      <p:ext uri="{BB962C8B-B14F-4D97-AF65-F5344CB8AC3E}">
        <p14:creationId xmlns:p14="http://schemas.microsoft.com/office/powerpoint/2010/main" val="338290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4" y="3576722"/>
            <a:ext cx="5175785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Visual 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Studio Code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，能够说出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 Code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的特点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1.5.1  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4828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1.5.1  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/>
        </p:nvSpPr>
        <p:spPr bwMode="auto">
          <a:xfrm>
            <a:off x="867196" y="1184439"/>
            <a:ext cx="10700617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 Code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是由微软公司推出的一款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免费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代码编辑器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，一经推出便受到开发者的欢迎。对于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前端开发人员，一个强大的编辑器可以使开发变得简单、便捷、高效。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26854" y="2925738"/>
            <a:ext cx="6192688" cy="115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2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1.5.1  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406574" y="1125538"/>
            <a:ext cx="11305256" cy="427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 Code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编辑器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轻巧、极速，占用系统资源较少。</a:t>
            </a: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具备智能代码补全、语法高亮显示、自定义快捷键和代码匹配等功能。</a:t>
            </a: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跨平台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，可用于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macOS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Windows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Linux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系统。</a:t>
            </a: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主题界面的设计比较人性化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。例如，可以快速查找文件并直接进行开发，可以通过分屏显示代码，可以自定义主题颜色（默认为黑色），也可以快速查看最近打开的项目文件和查看项目文件结构。 </a:t>
            </a: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提供丰富的扩展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extension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），用户可根据需要自行下载和安装扩展。常用的扩展有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Chinese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Live Server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等。</a:t>
            </a:r>
          </a:p>
        </p:txBody>
      </p:sp>
    </p:spTree>
    <p:extLst>
      <p:ext uri="{BB962C8B-B14F-4D97-AF65-F5344CB8AC3E}">
        <p14:creationId xmlns:p14="http://schemas.microsoft.com/office/powerpoint/2010/main" val="266394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 Code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的下载和安装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安装编辑器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333449"/>
            <a:ext cx="552758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下载和安装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5201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143691" y="333449"/>
            <a:ext cx="552758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下载和安装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35"/>
          <p:cNvSpPr txBox="1">
            <a:spLocks noChangeArrowheads="1"/>
          </p:cNvSpPr>
          <p:nvPr/>
        </p:nvSpPr>
        <p:spPr bwMode="auto">
          <a:xfrm>
            <a:off x="867197" y="1184439"/>
            <a:ext cx="623612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 Code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编辑器：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739" y="2061641"/>
            <a:ext cx="5311555" cy="370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2387604" y="5767123"/>
            <a:ext cx="3687823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Visual Studio Code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官方网站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2EC1B6-31C7-C44F-B34A-41EF56EEB99F}"/>
              </a:ext>
            </a:extLst>
          </p:cNvPr>
          <p:cNvSpPr/>
          <p:nvPr/>
        </p:nvSpPr>
        <p:spPr>
          <a:xfrm>
            <a:off x="7420892" y="4061724"/>
            <a:ext cx="2418730" cy="32031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单击按钮下载安装包至本地</a:t>
            </a:r>
            <a:endParaRPr kumimoji="1" lang="en-US" altLang="zh-CN" sz="1400" dirty="0">
              <a:ln>
                <a:solidFill>
                  <a:srgbClr val="FF0000"/>
                </a:solidFill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线箭头连接符 5">
            <a:extLst>
              <a:ext uri="{FF2B5EF4-FFF2-40B4-BE49-F238E27FC236}">
                <a16:creationId xmlns:a16="http://schemas.microsoft.com/office/drawing/2014/main" id="{2E3BF127-6136-1146-9EC0-EF4F5F33B748}"/>
              </a:ext>
            </a:extLst>
          </p:cNvPr>
          <p:cNvCxnSpPr/>
          <p:nvPr/>
        </p:nvCxnSpPr>
        <p:spPr>
          <a:xfrm>
            <a:off x="5015086" y="4221882"/>
            <a:ext cx="23762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636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143691" y="333449"/>
            <a:ext cx="552758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下载和安装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35"/>
          <p:cNvSpPr txBox="1">
            <a:spLocks noChangeArrowheads="1"/>
          </p:cNvSpPr>
          <p:nvPr/>
        </p:nvSpPr>
        <p:spPr bwMode="auto">
          <a:xfrm>
            <a:off x="867196" y="1184439"/>
            <a:ext cx="10700617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 Code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编辑器：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4124753" y="4908539"/>
            <a:ext cx="212342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许可协议界面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2EC1B6-31C7-C44F-B34A-41EF56EEB99F}"/>
              </a:ext>
            </a:extLst>
          </p:cNvPr>
          <p:cNvSpPr/>
          <p:nvPr/>
        </p:nvSpPr>
        <p:spPr>
          <a:xfrm>
            <a:off x="622598" y="3324848"/>
            <a:ext cx="2418730" cy="32031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双击安装包启动安装程序</a:t>
            </a:r>
            <a:endParaRPr kumimoji="1" lang="en-US" altLang="zh-CN" sz="1400" dirty="0">
              <a:ln>
                <a:solidFill>
                  <a:srgbClr val="FF0000"/>
                </a:solidFill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731" y="2073172"/>
            <a:ext cx="3685470" cy="2823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直线箭头连接符 5">
            <a:extLst>
              <a:ext uri="{FF2B5EF4-FFF2-40B4-BE49-F238E27FC236}">
                <a16:creationId xmlns:a16="http://schemas.microsoft.com/office/drawing/2014/main" id="{2E3BF127-6136-1146-9EC0-EF4F5F33B748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3041328" y="3485005"/>
            <a:ext cx="302403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5">
            <a:extLst>
              <a:ext uri="{FF2B5EF4-FFF2-40B4-BE49-F238E27FC236}">
                <a16:creationId xmlns:a16="http://schemas.microsoft.com/office/drawing/2014/main" id="{2E3BF127-6136-1146-9EC0-EF4F5F33B748}"/>
              </a:ext>
            </a:extLst>
          </p:cNvPr>
          <p:cNvCxnSpPr/>
          <p:nvPr/>
        </p:nvCxnSpPr>
        <p:spPr>
          <a:xfrm flipV="1">
            <a:off x="6386063" y="4737468"/>
            <a:ext cx="1149303" cy="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图片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367" y="2084513"/>
            <a:ext cx="3672408" cy="2848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35"/>
          <p:cNvSpPr txBox="1">
            <a:spLocks noChangeArrowheads="1"/>
          </p:cNvSpPr>
          <p:nvPr/>
        </p:nvSpPr>
        <p:spPr bwMode="auto">
          <a:xfrm>
            <a:off x="8174641" y="4933255"/>
            <a:ext cx="239386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选择附加任务界面</a:t>
            </a:r>
          </a:p>
        </p:txBody>
      </p:sp>
    </p:spTree>
    <p:extLst>
      <p:ext uri="{BB962C8B-B14F-4D97-AF65-F5344CB8AC3E}">
        <p14:creationId xmlns:p14="http://schemas.microsoft.com/office/powerpoint/2010/main" val="246108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143691" y="333449"/>
            <a:ext cx="552758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下载和安装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35"/>
          <p:cNvSpPr txBox="1">
            <a:spLocks noChangeArrowheads="1"/>
          </p:cNvSpPr>
          <p:nvPr/>
        </p:nvSpPr>
        <p:spPr bwMode="auto">
          <a:xfrm>
            <a:off x="867196" y="1184439"/>
            <a:ext cx="10700617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 Code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编辑器：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4124753" y="4980547"/>
            <a:ext cx="212342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准备安装界面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2EC1B6-31C7-C44F-B34A-41EF56EEB99F}"/>
              </a:ext>
            </a:extLst>
          </p:cNvPr>
          <p:cNvSpPr/>
          <p:nvPr/>
        </p:nvSpPr>
        <p:spPr>
          <a:xfrm>
            <a:off x="622598" y="3396856"/>
            <a:ext cx="1912564" cy="32031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进入准备安装界面</a:t>
            </a:r>
            <a:endParaRPr kumimoji="1" lang="en-US" altLang="zh-CN" sz="1400" dirty="0">
              <a:ln>
                <a:solidFill>
                  <a:srgbClr val="FF0000"/>
                </a:solidFill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线箭头连接符 5">
            <a:extLst>
              <a:ext uri="{FF2B5EF4-FFF2-40B4-BE49-F238E27FC236}">
                <a16:creationId xmlns:a16="http://schemas.microsoft.com/office/drawing/2014/main" id="{2E3BF127-6136-1146-9EC0-EF4F5F33B748}"/>
              </a:ext>
            </a:extLst>
          </p:cNvPr>
          <p:cNvCxnSpPr>
            <a:stCxn id="8" idx="3"/>
          </p:cNvCxnSpPr>
          <p:nvPr/>
        </p:nvCxnSpPr>
        <p:spPr>
          <a:xfrm flipV="1">
            <a:off x="2535162" y="3557013"/>
            <a:ext cx="808569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35"/>
          <p:cNvSpPr txBox="1">
            <a:spLocks noChangeArrowheads="1"/>
          </p:cNvSpPr>
          <p:nvPr/>
        </p:nvSpPr>
        <p:spPr bwMode="auto">
          <a:xfrm>
            <a:off x="8174641" y="5005263"/>
            <a:ext cx="239386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安装完成界面</a:t>
            </a:r>
          </a:p>
        </p:txBody>
      </p:sp>
      <p:pic>
        <p:nvPicPr>
          <p:cNvPr id="14" name="图片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731" y="1978055"/>
            <a:ext cx="3903603" cy="2990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234" y="1978055"/>
            <a:ext cx="3932572" cy="3012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线箭头连接符 5">
            <a:extLst>
              <a:ext uri="{FF2B5EF4-FFF2-40B4-BE49-F238E27FC236}">
                <a16:creationId xmlns:a16="http://schemas.microsoft.com/office/drawing/2014/main" id="{2E3BF127-6136-1146-9EC0-EF4F5F33B748}"/>
              </a:ext>
            </a:extLst>
          </p:cNvPr>
          <p:cNvCxnSpPr/>
          <p:nvPr/>
        </p:nvCxnSpPr>
        <p:spPr>
          <a:xfrm>
            <a:off x="6455246" y="4809476"/>
            <a:ext cx="108012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80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143691" y="333449"/>
            <a:ext cx="552758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下载和安装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35"/>
          <p:cNvSpPr txBox="1">
            <a:spLocks noChangeArrowheads="1"/>
          </p:cNvSpPr>
          <p:nvPr/>
        </p:nvSpPr>
        <p:spPr bwMode="auto">
          <a:xfrm>
            <a:off x="867196" y="1243212"/>
            <a:ext cx="10700617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Visual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Studio Code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编辑器的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界面：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7170" name="图片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846" y="1969215"/>
            <a:ext cx="5777545" cy="3952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013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/>
        </p:nvSpPr>
        <p:spPr>
          <a:xfrm>
            <a:off x="1143691" y="333449"/>
            <a:ext cx="552758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下载和安装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904506" y="2239342"/>
            <a:ext cx="10159251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默认颜色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（黑色）设置为“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 +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(default light)”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4861945"/>
              </p:ext>
            </p:extLst>
          </p:nvPr>
        </p:nvGraphicFramePr>
        <p:xfrm>
          <a:off x="2195427" y="3041368"/>
          <a:ext cx="7577408" cy="3312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Visio" r:id="rId4" imgW="8200892" imgH="3581262" progId="">
                  <p:embed/>
                </p:oleObj>
              </mc:Choice>
              <mc:Fallback>
                <p:oleObj name="Visio" r:id="rId4" imgW="8200892" imgH="3581262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427" y="3041368"/>
                        <a:ext cx="7577408" cy="33123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2112EC40-A66D-4624-89BE-1F2F4CFB6932}"/>
              </a:ext>
            </a:extLst>
          </p:cNvPr>
          <p:cNvSpPr/>
          <p:nvPr/>
        </p:nvSpPr>
        <p:spPr>
          <a:xfrm>
            <a:off x="2181898" y="1262275"/>
            <a:ext cx="3193228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97F200-584E-4863-AC7C-FEFAE9F54CFD}"/>
              </a:ext>
            </a:extLst>
          </p:cNvPr>
          <p:cNvSpPr txBox="1"/>
          <p:nvPr/>
        </p:nvSpPr>
        <p:spPr>
          <a:xfrm>
            <a:off x="2291860" y="1402476"/>
            <a:ext cx="3083266" cy="400110"/>
          </a:xfrm>
          <a:prstGeom prst="rect">
            <a:avLst/>
          </a:prstGeom>
          <a:solidFill>
            <a:srgbClr val="1369B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多学一招：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设置主题颜色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171776-C649-475B-AF6D-6B1F33BB1F72}"/>
              </a:ext>
            </a:extLst>
          </p:cNvPr>
          <p:cNvSpPr/>
          <p:nvPr/>
        </p:nvSpPr>
        <p:spPr>
          <a:xfrm>
            <a:off x="5473363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237529-15D2-46EA-8481-511A367458F3}"/>
              </a:ext>
            </a:extLst>
          </p:cNvPr>
          <p:cNvSpPr/>
          <p:nvPr/>
        </p:nvSpPr>
        <p:spPr>
          <a:xfrm>
            <a:off x="5661092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10" name="图形 11" descr="讲故事">
            <a:extLst>
              <a:ext uri="{FF2B5EF4-FFF2-40B4-BE49-F238E27FC236}">
                <a16:creationId xmlns:a16="http://schemas.microsoft.com/office/drawing/2014/main" id="{6684872B-9D64-4BDB-95BD-35B49D3CED2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82639" y="104564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03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333449"/>
            <a:ext cx="552758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下载和安装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913405" y="2064967"/>
            <a:ext cx="10151132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设置后的效果如下。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 descr="1-11x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925" y="2330166"/>
            <a:ext cx="6045693" cy="3835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112EC40-A66D-4624-89BE-1F2F4CFB6932}"/>
              </a:ext>
            </a:extLst>
          </p:cNvPr>
          <p:cNvSpPr/>
          <p:nvPr/>
        </p:nvSpPr>
        <p:spPr>
          <a:xfrm>
            <a:off x="2181898" y="1262275"/>
            <a:ext cx="3193228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97F200-584E-4863-AC7C-FEFAE9F54CFD}"/>
              </a:ext>
            </a:extLst>
          </p:cNvPr>
          <p:cNvSpPr txBox="1"/>
          <p:nvPr/>
        </p:nvSpPr>
        <p:spPr>
          <a:xfrm>
            <a:off x="2291860" y="1402476"/>
            <a:ext cx="3083266" cy="400110"/>
          </a:xfrm>
          <a:prstGeom prst="rect">
            <a:avLst/>
          </a:prstGeom>
          <a:solidFill>
            <a:srgbClr val="1369B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多学一招：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设置主题颜色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171776-C649-475B-AF6D-6B1F33BB1F72}"/>
              </a:ext>
            </a:extLst>
          </p:cNvPr>
          <p:cNvSpPr/>
          <p:nvPr/>
        </p:nvSpPr>
        <p:spPr>
          <a:xfrm>
            <a:off x="5473363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237529-15D2-46EA-8481-511A367458F3}"/>
              </a:ext>
            </a:extLst>
          </p:cNvPr>
          <p:cNvSpPr/>
          <p:nvPr/>
        </p:nvSpPr>
        <p:spPr>
          <a:xfrm>
            <a:off x="5661092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13" name="图形 11" descr="讲故事">
            <a:extLst>
              <a:ext uri="{FF2B5EF4-FFF2-40B4-BE49-F238E27FC236}">
                <a16:creationId xmlns:a16="http://schemas.microsoft.com/office/drawing/2014/main" id="{6684872B-9D64-4BDB-95BD-35B49D3CED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82639" y="104564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97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常用扩展的安装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，能够成功安装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Chinese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Live Server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23603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安装常用扩展</a:t>
            </a:r>
          </a:p>
        </p:txBody>
      </p:sp>
    </p:spTree>
    <p:extLst>
      <p:ext uri="{BB962C8B-B14F-4D97-AF65-F5344CB8AC3E}">
        <p14:creationId xmlns:p14="http://schemas.microsoft.com/office/powerpoint/2010/main" val="1319074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6"/>
          <p:cNvSpPr txBox="1"/>
          <p:nvPr/>
        </p:nvSpPr>
        <p:spPr>
          <a:xfrm>
            <a:off x="838622" y="1053530"/>
            <a:ext cx="2952328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安装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Chinese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扩展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694606" y="1629594"/>
            <a:ext cx="10657184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 Code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编辑器的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（默认英文）设置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实现步骤：单击左边栏中的第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个图标按钮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Extensions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扩展按钮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）然后在搜索框中输入关键词“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Chinese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中文语言扩展，最后单击“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Install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按钮进行安装。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1217716" y="6086697"/>
            <a:ext cx="4437637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Chinese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扩展安装过程</a:t>
            </a:r>
          </a:p>
        </p:txBody>
      </p:sp>
      <p:cxnSp>
        <p:nvCxnSpPr>
          <p:cNvPr id="9" name="直线箭头连接符 5">
            <a:extLst>
              <a:ext uri="{FF2B5EF4-FFF2-40B4-BE49-F238E27FC236}">
                <a16:creationId xmlns:a16="http://schemas.microsoft.com/office/drawing/2014/main" id="{2E3BF127-6136-1146-9EC0-EF4F5F33B748}"/>
              </a:ext>
            </a:extLst>
          </p:cNvPr>
          <p:cNvCxnSpPr/>
          <p:nvPr/>
        </p:nvCxnSpPr>
        <p:spPr>
          <a:xfrm flipV="1">
            <a:off x="5761119" y="4149874"/>
            <a:ext cx="524157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7488002" y="6086697"/>
            <a:ext cx="2998954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Chinese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扩展安装成功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333449"/>
            <a:ext cx="423603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安装常用扩展</a:t>
            </a:r>
          </a:p>
        </p:txBody>
      </p:sp>
      <p:pic>
        <p:nvPicPr>
          <p:cNvPr id="1028" name="图片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8946" y="2277666"/>
            <a:ext cx="246426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 descr="1-12x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162" y="3180798"/>
            <a:ext cx="4614743" cy="293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 descr="1-13x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238" y="3137695"/>
            <a:ext cx="4655401" cy="296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760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6"/>
          <p:cNvSpPr txBox="1"/>
          <p:nvPr/>
        </p:nvSpPr>
        <p:spPr>
          <a:xfrm>
            <a:off x="838622" y="1053530"/>
            <a:ext cx="338437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安装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Live Server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扩展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694606" y="1629594"/>
            <a:ext cx="10441160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Live Server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扩展可以创建一个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本地服务器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来预览网页，服务器的默认端口是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5500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，用户也可以自行设置端口号、默认浏览器等。使用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Live Server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扩展运行程序时，如果对代码进行了修改，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不需要重新刷新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浏览器即可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333449"/>
            <a:ext cx="423603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安装常用扩展</a:t>
            </a:r>
          </a:p>
        </p:txBody>
      </p:sp>
    </p:spTree>
    <p:extLst>
      <p:ext uri="{BB962C8B-B14F-4D97-AF65-F5344CB8AC3E}">
        <p14:creationId xmlns:p14="http://schemas.microsoft.com/office/powerpoint/2010/main" val="2300338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694606" y="1589813"/>
            <a:ext cx="10441160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具体安装步骤：单击左边栏中的第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个图标按钮“    ”（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Extensions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扩展按钮），然后在搜索框中输入关键词“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live server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找到该扩展，单击“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”按钮进行安装。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3422501" y="5995740"/>
            <a:ext cx="4437637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Live Server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扩展安装过程</a:t>
            </a:r>
          </a:p>
        </p:txBody>
      </p:sp>
      <p:sp>
        <p:nvSpPr>
          <p:cNvPr id="8" name="Title 1"/>
          <p:cNvSpPr txBox="1"/>
          <p:nvPr/>
        </p:nvSpPr>
        <p:spPr>
          <a:xfrm>
            <a:off x="1143691" y="333449"/>
            <a:ext cx="423603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安装常用扩展</a:t>
            </a:r>
          </a:p>
        </p:txBody>
      </p:sp>
      <p:pic>
        <p:nvPicPr>
          <p:cNvPr id="10" name="图片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230" y="1773610"/>
            <a:ext cx="217274" cy="253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76"/>
          <p:cNvSpPr txBox="1"/>
          <p:nvPr/>
        </p:nvSpPr>
        <p:spPr>
          <a:xfrm>
            <a:off x="838622" y="1053530"/>
            <a:ext cx="338437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安装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Live Server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扩展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4098" name="Picture 2" descr="1-14x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106" y="2652294"/>
            <a:ext cx="5178425" cy="332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02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 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，能够灵活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编写网页程序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333449"/>
            <a:ext cx="603163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7738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333449"/>
            <a:ext cx="603163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 Code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编辑器编写一个简单的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Hello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页面，效果如图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846" y="2136702"/>
            <a:ext cx="5764569" cy="1849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648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333449"/>
            <a:ext cx="603163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050" name="图片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894" y="3179914"/>
            <a:ext cx="4824536" cy="3015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977424"/>
            <a:ext cx="1130525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Visual Studio Code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欢迎页面中单击“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打开文件夹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选项，选择某个文件夹（如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C:\code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），进入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Visual Studio Code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代码编辑页面。</a:t>
            </a: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C:\code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目录下新建文件夹，命名为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chapter01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，用于存放第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章的代码。</a:t>
            </a: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C:\code\chapter01\demo01.html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，编写一个简单的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Hello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0991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演示在</a:t>
            </a:r>
            <a:r>
              <a:rPr lang="en-US" altLang="zh-CN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Visual Studio Code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中如何编写代码</a:t>
            </a:r>
            <a:endParaRPr lang="en-US" altLang="zh-CN" sz="20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C:\code\chapter01\demo01.html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文件中，编写代码。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2782838" y="2215032"/>
            <a:ext cx="6408712" cy="34470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127770" y="2215032"/>
            <a:ext cx="563173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&lt;!DOCTYPE html&gt;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&lt;html&gt;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charset="UTF-8</a:t>
            </a:r>
            <a:r>
              <a:rPr lang="en-US" altLang="zh-CN" sz="1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&lt;title&gt;Document&lt;/title&gt;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Hello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&lt;/html&gt;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333449"/>
            <a:ext cx="603163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307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/>
          <p:cNvSpPr txBox="1">
            <a:spLocks noChangeArrowheads="1"/>
          </p:cNvSpPr>
          <p:nvPr/>
        </p:nvSpPr>
        <p:spPr bwMode="auto">
          <a:xfrm>
            <a:off x="867196" y="1184439"/>
            <a:ext cx="10700617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完成代码编写后，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 Code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中的代码展示界面。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3" name="图片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858" y="1905644"/>
            <a:ext cx="6487513" cy="3749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143691" y="333449"/>
            <a:ext cx="603163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5802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Live Server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扩展运行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demo01.html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程序，在代码编辑区域任意位置右击鼠标，在弹出的菜单中选择“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 with Live Server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02</a:t>
            </a:r>
          </a:p>
        </p:txBody>
      </p:sp>
      <p:pic>
        <p:nvPicPr>
          <p:cNvPr id="12290" name="图片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980" y="2565698"/>
            <a:ext cx="5374656" cy="3455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/>
          <p:nvPr/>
        </p:nvSpPr>
        <p:spPr>
          <a:xfrm>
            <a:off x="1143691" y="333449"/>
            <a:ext cx="603163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7772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/>
          <p:cNvSpPr txBox="1">
            <a:spLocks noChangeArrowheads="1"/>
          </p:cNvSpPr>
          <p:nvPr/>
        </p:nvSpPr>
        <p:spPr bwMode="auto">
          <a:xfrm>
            <a:off x="910630" y="1055823"/>
            <a:ext cx="10700617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demo01.html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文件运行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3314" name="图片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62" y="1320007"/>
            <a:ext cx="5906238" cy="1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143691" y="333449"/>
            <a:ext cx="6031636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334566" y="3069754"/>
            <a:ext cx="10156562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网页显示“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Hello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内容。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+mj-lt"/>
              <a:buAutoNum type="arabicPeriod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浏览器自动打开的网址为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http://127.0.0.1:5500/chapter01/demo01.html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。（浏览器自动隐藏了“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http://”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127.0.0.1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表示主机地址，也就是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Live Server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创建的本地网站服务器的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地址；</a:t>
            </a: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5500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表示端口，即访问服务器中的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5500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端口；</a:t>
            </a: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chapter01/demo01.html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是文件资源在服务器上对应的路径。</a:t>
            </a:r>
          </a:p>
        </p:txBody>
      </p:sp>
    </p:spTree>
    <p:extLst>
      <p:ext uri="{BB962C8B-B14F-4D97-AF65-F5344CB8AC3E}">
        <p14:creationId xmlns:p14="http://schemas.microsoft.com/office/powerpoint/2010/main" val="307292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圆角矩形 26">
            <a:extLst>
              <a:ext uri="{FF2B5EF4-FFF2-40B4-BE49-F238E27FC236}">
                <a16:creationId xmlns:a16="http://schemas.microsoft.com/office/drawing/2014/main" id="{FB40132D-FEA4-4137-839F-407CBE609B3F}"/>
              </a:ext>
            </a:extLst>
          </p:cNvPr>
          <p:cNvSpPr/>
          <p:nvPr/>
        </p:nvSpPr>
        <p:spPr>
          <a:xfrm>
            <a:off x="1198880" y="2170424"/>
            <a:ext cx="9794240" cy="2771538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5" name="TextBox 38">
            <a:extLst>
              <a:ext uri="{FF2B5EF4-FFF2-40B4-BE49-F238E27FC236}">
                <a16:creationId xmlns:a16="http://schemas.microsoft.com/office/drawing/2014/main" id="{814CCD3C-575E-4C15-89E6-3D4FA5A051F1}"/>
              </a:ext>
            </a:extLst>
          </p:cNvPr>
          <p:cNvSpPr txBox="1"/>
          <p:nvPr/>
        </p:nvSpPr>
        <p:spPr>
          <a:xfrm>
            <a:off x="1595500" y="2789636"/>
            <a:ext cx="9001000" cy="17922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本章首先介绍了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移动互联网的发展状况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，然后讲解了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移动端开发的常见方式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开发概述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移动端的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相关内容，最后讲解了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 Code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编辑器的下载和安装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相关配置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，并体验了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 Code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编辑器的简单使用。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2D02CBD-122C-4126-9C27-9F5A42D82327}"/>
              </a:ext>
            </a:extLst>
          </p:cNvPr>
          <p:cNvSpPr/>
          <p:nvPr/>
        </p:nvSpPr>
        <p:spPr>
          <a:xfrm>
            <a:off x="442023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48D732B-AEB5-4AF0-80CB-E49986E102F7}"/>
              </a:ext>
            </a:extLst>
          </p:cNvPr>
          <p:cNvSpPr/>
          <p:nvPr/>
        </p:nvSpPr>
        <p:spPr>
          <a:xfrm>
            <a:off x="513905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0611DBD-A63B-4039-A64B-C5315892C467}"/>
              </a:ext>
            </a:extLst>
          </p:cNvPr>
          <p:cNvSpPr/>
          <p:nvPr/>
        </p:nvSpPr>
        <p:spPr>
          <a:xfrm>
            <a:off x="585787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CAB7274-D61E-48A3-90F6-2DA430D6E3B7}"/>
              </a:ext>
            </a:extLst>
          </p:cNvPr>
          <p:cNvSpPr/>
          <p:nvPr/>
        </p:nvSpPr>
        <p:spPr>
          <a:xfrm>
            <a:off x="657669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  <p:extLst>
      <p:ext uri="{BB962C8B-B14F-4D97-AF65-F5344CB8AC3E}">
        <p14:creationId xmlns:p14="http://schemas.microsoft.com/office/powerpoint/2010/main" val="1413710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4818</TotalTime>
  <Words>4174</Words>
  <Application>Microsoft Office PowerPoint</Application>
  <PresentationFormat>自定义</PresentationFormat>
  <Paragraphs>258</Paragraphs>
  <Slides>50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6" baseType="lpstr">
      <vt:lpstr>Source Han Sans K Bold</vt:lpstr>
      <vt:lpstr>思源黑体 CN Medium</vt:lpstr>
      <vt:lpstr>思源黑体 CN Regular</vt:lpstr>
      <vt:lpstr>宋体</vt:lpstr>
      <vt:lpstr>微软雅黑</vt:lpstr>
      <vt:lpstr>字魂105号-简雅黑</vt:lpstr>
      <vt:lpstr>字魂58号-创中黑</vt:lpstr>
      <vt:lpstr>Arial</vt:lpstr>
      <vt:lpstr>Calibri</vt:lpstr>
      <vt:lpstr>Courier New</vt:lpstr>
      <vt:lpstr>Impact</vt:lpstr>
      <vt:lpstr>Times New Roman</vt:lpstr>
      <vt:lpstr>Wingdings</vt:lpstr>
      <vt:lpstr>webwppDefTheme</vt:lpstr>
      <vt:lpstr>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Windows 用户</cp:lastModifiedBy>
  <cp:revision>1740</cp:revision>
  <dcterms:created xsi:type="dcterms:W3CDTF">2020-11-09T06:56:00Z</dcterms:created>
  <dcterms:modified xsi:type="dcterms:W3CDTF">2026-03-05T12:36:02Z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