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64" r:id="rId4"/>
  </p:sldMasterIdLst>
  <p:notesMasterIdLst>
    <p:notesMasterId r:id="rId6"/>
  </p:notesMasterIdLst>
  <p:sldIdLst>
    <p:sldId id="2807" r:id="rId5"/>
    <p:sldId id="2839" r:id="rId7"/>
    <p:sldId id="2840" r:id="rId8"/>
    <p:sldId id="2818" r:id="rId9"/>
    <p:sldId id="2835" r:id="rId10"/>
    <p:sldId id="2799" r:id="rId11"/>
    <p:sldId id="2841" r:id="rId12"/>
    <p:sldId id="2800" r:id="rId13"/>
    <p:sldId id="2801" r:id="rId14"/>
    <p:sldId id="2842" r:id="rId15"/>
    <p:sldId id="2843" r:id="rId16"/>
    <p:sldId id="2819" r:id="rId17"/>
    <p:sldId id="2836" r:id="rId18"/>
    <p:sldId id="2809" r:id="rId19"/>
    <p:sldId id="2823" r:id="rId20"/>
    <p:sldId id="2827" r:id="rId21"/>
    <p:sldId id="2844" r:id="rId22"/>
    <p:sldId id="2828" r:id="rId23"/>
    <p:sldId id="2829" r:id="rId24"/>
    <p:sldId id="2824" r:id="rId25"/>
    <p:sldId id="2825" r:id="rId26"/>
    <p:sldId id="2811" r:id="rId27"/>
    <p:sldId id="2845" r:id="rId28"/>
    <p:sldId id="2846" r:id="rId29"/>
    <p:sldId id="2847" r:id="rId30"/>
    <p:sldId id="2848" r:id="rId31"/>
    <p:sldId id="2849" r:id="rId32"/>
    <p:sldId id="2850" r:id="rId33"/>
    <p:sldId id="2826" r:id="rId34"/>
    <p:sldId id="2837" r:id="rId35"/>
    <p:sldId id="2830" r:id="rId36"/>
    <p:sldId id="2831" r:id="rId37"/>
    <p:sldId id="2851" r:id="rId38"/>
    <p:sldId id="2852" r:id="rId39"/>
    <p:sldId id="2834" r:id="rId40"/>
    <p:sldId id="2853" r:id="rId41"/>
    <p:sldId id="2833" r:id="rId42"/>
    <p:sldId id="2854" r:id="rId43"/>
    <p:sldId id="2832" r:id="rId44"/>
    <p:sldId id="2855" r:id="rId45"/>
    <p:sldId id="2820" r:id="rId46"/>
    <p:sldId id="2817" r:id="rId47"/>
  </p:sldIdLst>
  <p:sldSz cx="12858750" cy="7232650"/>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445" indent="-18224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065"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4685" indent="-55372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7305"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47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19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1991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5695"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3" userDrawn="1">
          <p15:clr>
            <a:srgbClr val="A4A3A4"/>
          </p15:clr>
        </p15:guide>
        <p15:guide id="2" pos="4050" userDrawn="1">
          <p15:clr>
            <a:srgbClr val="A4A3A4"/>
          </p15:clr>
        </p15:guide>
        <p15:guide id="3" pos="512" userDrawn="1">
          <p15:clr>
            <a:srgbClr val="A4A3A4"/>
          </p15:clr>
        </p15:guide>
        <p15:guide id="5" orient="horz" pos="4183" userDrawn="1">
          <p15:clr>
            <a:srgbClr val="A4A3A4"/>
          </p15:clr>
        </p15:guide>
        <p15:guide id="6" pos="75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212E3C"/>
    <a:srgbClr val="FBBF09"/>
    <a:srgbClr val="EF4232"/>
    <a:srgbClr val="03A9F0"/>
    <a:srgbClr val="FFFFFF"/>
    <a:srgbClr val="FABCA8"/>
    <a:srgbClr val="57562F"/>
    <a:srgbClr val="FBCDBE"/>
    <a:srgbClr val="6B6A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89" autoAdjust="0"/>
    <p:restoredTop sz="92986" autoAdjust="0"/>
  </p:normalViewPr>
  <p:slideViewPr>
    <p:cSldViewPr showGuides="1">
      <p:cViewPr varScale="1">
        <p:scale>
          <a:sx n="71" d="100"/>
          <a:sy n="71" d="100"/>
        </p:scale>
        <p:origin x="-474" y="-96"/>
      </p:cViewPr>
      <p:guideLst>
        <p:guide orient="horz" pos="373"/>
        <p:guide pos="4050"/>
        <p:guide pos="512"/>
        <p:guide orient="horz" pos="4183"/>
        <p:guide pos="7588"/>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1" Type="http://schemas.openxmlformats.org/officeDocument/2006/relationships/tags" Target="tags/tag1.xml"/><Relationship Id="rId50" Type="http://schemas.openxmlformats.org/officeDocument/2006/relationships/tableStyles" Target="tableStyles.xml"/><Relationship Id="rId5" Type="http://schemas.openxmlformats.org/officeDocument/2006/relationships/slide" Target="slides/slide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295" algn="l" rtl="0" eaLnBrk="0" fontAlgn="base" hangingPunct="0">
      <a:spcBef>
        <a:spcPct val="30000"/>
      </a:spcBef>
      <a:spcAft>
        <a:spcPct val="0"/>
      </a:spcAft>
      <a:defRPr sz="1300" kern="1200">
        <a:solidFill>
          <a:schemeClr val="tx1"/>
        </a:solidFill>
        <a:latin typeface="+mn-lt"/>
        <a:ea typeface="+mn-ea"/>
        <a:cs typeface="+mn-cs"/>
      </a:defRPr>
    </a:lvl2pPr>
    <a:lvl3pPr marL="912495" algn="l" rtl="0" eaLnBrk="0" fontAlgn="base" hangingPunct="0">
      <a:spcBef>
        <a:spcPct val="30000"/>
      </a:spcBef>
      <a:spcAft>
        <a:spcPct val="0"/>
      </a:spcAft>
      <a:defRPr sz="1300" kern="1200">
        <a:solidFill>
          <a:schemeClr val="tx1"/>
        </a:solidFill>
        <a:latin typeface="+mn-lt"/>
        <a:ea typeface="+mn-ea"/>
        <a:cs typeface="+mn-cs"/>
      </a:defRPr>
    </a:lvl3pPr>
    <a:lvl4pPr marL="1369060" algn="l" rtl="0" eaLnBrk="0" fontAlgn="base" hangingPunct="0">
      <a:spcBef>
        <a:spcPct val="30000"/>
      </a:spcBef>
      <a:spcAft>
        <a:spcPct val="0"/>
      </a:spcAft>
      <a:defRPr sz="1300" kern="1200">
        <a:solidFill>
          <a:schemeClr val="tx1"/>
        </a:solidFill>
        <a:latin typeface="+mn-lt"/>
        <a:ea typeface="+mn-ea"/>
        <a:cs typeface="+mn-cs"/>
      </a:defRPr>
    </a:lvl4pPr>
    <a:lvl5pPr marL="1826260" algn="l" rtl="0" eaLnBrk="0" fontAlgn="base" hangingPunct="0">
      <a:spcBef>
        <a:spcPct val="30000"/>
      </a:spcBef>
      <a:spcAft>
        <a:spcPct val="0"/>
      </a:spcAft>
      <a:defRPr sz="1300" kern="1200">
        <a:solidFill>
          <a:schemeClr val="tx1"/>
        </a:solidFill>
        <a:latin typeface="+mn-lt"/>
        <a:ea typeface="+mn-ea"/>
        <a:cs typeface="+mn-cs"/>
      </a:defRPr>
    </a:lvl5pPr>
    <a:lvl6pPr marL="2284095" algn="l" defTabSz="913765" rtl="0" eaLnBrk="1" latinLnBrk="0" hangingPunct="1">
      <a:defRPr sz="1300" kern="1200">
        <a:solidFill>
          <a:schemeClr val="tx1"/>
        </a:solidFill>
        <a:latin typeface="+mn-lt"/>
        <a:ea typeface="+mn-ea"/>
        <a:cs typeface="+mn-cs"/>
      </a:defRPr>
    </a:lvl6pPr>
    <a:lvl7pPr marL="2741295" algn="l" defTabSz="913765" rtl="0" eaLnBrk="1" latinLnBrk="0" hangingPunct="1">
      <a:defRPr sz="1300" kern="1200">
        <a:solidFill>
          <a:schemeClr val="tx1"/>
        </a:solidFill>
        <a:latin typeface="+mn-lt"/>
        <a:ea typeface="+mn-ea"/>
        <a:cs typeface="+mn-cs"/>
      </a:defRPr>
    </a:lvl7pPr>
    <a:lvl8pPr marL="3197860" algn="l" defTabSz="913765" rtl="0" eaLnBrk="1" latinLnBrk="0" hangingPunct="1">
      <a:defRPr sz="1300" kern="1200">
        <a:solidFill>
          <a:schemeClr val="tx1"/>
        </a:solidFill>
        <a:latin typeface="+mn-lt"/>
        <a:ea typeface="+mn-ea"/>
        <a:cs typeface="+mn-cs"/>
      </a:defRPr>
    </a:lvl8pPr>
    <a:lvl9pPr marL="3655060"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3.bin"/><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6.bin"/><Relationship Id="rId5" Type="http://schemas.openxmlformats.org/officeDocument/2006/relationships/image" Target="../media/image2.png"/><Relationship Id="rId4" Type="http://schemas.openxmlformats.org/officeDocument/2006/relationships/oleObject" Target="../embeddings/oleObject5.bin"/><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600"/>
            <a:ext cx="2893219" cy="386187"/>
          </a:xfrm>
          <a:prstGeom prst="rect">
            <a:avLst/>
          </a:prstGeom>
        </p:spPr>
        <p:txBody>
          <a:bodyPr lIns="91397" tIns="45699" rIns="91397" bIns="45699"/>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600"/>
            <a:ext cx="4339828" cy="386187"/>
          </a:xfrm>
          <a:prstGeom prst="rect">
            <a:avLst/>
          </a:prstGeom>
        </p:spPr>
        <p:txBody>
          <a:bodyPr lIns="91397" tIns="45699" rIns="91397" bIns="45699"/>
          <a:lstStyle/>
          <a:p>
            <a:endParaRPr lang="zh-CN" altLang="en-US"/>
          </a:p>
        </p:txBody>
      </p:sp>
      <p:sp>
        <p:nvSpPr>
          <p:cNvPr id="4" name="灯片编号占位符 3"/>
          <p:cNvSpPr>
            <a:spLocks noGrp="1"/>
          </p:cNvSpPr>
          <p:nvPr>
            <p:ph type="sldNum" sz="quarter" idx="12"/>
          </p:nvPr>
        </p:nvSpPr>
        <p:spPr>
          <a:xfrm>
            <a:off x="9081492" y="6703600"/>
            <a:ext cx="2893219" cy="386187"/>
          </a:xfrm>
          <a:prstGeom prst="rect">
            <a:avLst/>
          </a:prstGeom>
        </p:spPr>
        <p:txBody>
          <a:bodyPr lIns="91397" tIns="45699" rIns="91397" bIns="45699"/>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84039" y="385072"/>
            <a:ext cx="11090672" cy="1397978"/>
          </a:xfrm>
          <a:prstGeom prst="rect">
            <a:avLst/>
          </a:prstGeom>
        </p:spPr>
        <p:txBody>
          <a:bodyPr lIns="128583" tIns="64291" rIns="128583" bIns="64291"/>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884039" y="1925358"/>
            <a:ext cx="11090672" cy="4589051"/>
          </a:xfrm>
          <a:prstGeom prst="rect">
            <a:avLst/>
          </a:prstGeom>
        </p:spPr>
        <p:txBody>
          <a:bodyPr lIns="128583" tIns="64291" rIns="128583" bIns="6429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a:xfrm>
            <a:off x="884039" y="6703596"/>
            <a:ext cx="2893219" cy="385072"/>
          </a:xfrm>
          <a:prstGeom prst="rect">
            <a:avLst/>
          </a:prstGeom>
        </p:spPr>
        <p:txBody>
          <a:bodyPr lIns="128583" tIns="64291" rIns="128583" bIns="64291"/>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a:xfrm>
            <a:off x="4259461" y="6703596"/>
            <a:ext cx="4339828" cy="385072"/>
          </a:xfrm>
          <a:prstGeom prst="rect">
            <a:avLst/>
          </a:prstGeom>
        </p:spPr>
        <p:txBody>
          <a:bodyPr lIns="128583" tIns="64291" rIns="128583" bIns="64291"/>
          <a:lstStyle/>
          <a:p>
            <a:endParaRPr lang="zh-CN" altLang="en-US"/>
          </a:p>
        </p:txBody>
      </p:sp>
      <p:sp>
        <p:nvSpPr>
          <p:cNvPr id="6" name="Slide Number Placeholder 5"/>
          <p:cNvSpPr>
            <a:spLocks noGrp="1"/>
          </p:cNvSpPr>
          <p:nvPr>
            <p:ph type="sldNum" sz="quarter" idx="12"/>
          </p:nvPr>
        </p:nvSpPr>
        <p:spPr>
          <a:xfrm>
            <a:off x="9081492" y="6703596"/>
            <a:ext cx="2893219" cy="385072"/>
          </a:xfrm>
          <a:prstGeom prst="rect">
            <a:avLst/>
          </a:prstGeom>
        </p:spPr>
        <p:txBody>
          <a:bodyPr lIns="128583" tIns="64291" rIns="128583" bIns="64291"/>
          <a:lstStyle/>
          <a:p>
            <a:fld id="{D27987A4-0198-42B4-AAAE-EDBADA4485AB}" type="slidenum">
              <a:rPr lang="zh-CN" altLang="en-US" smtClean="0"/>
            </a:fld>
            <a:endParaRPr lang="zh-CN" altLang="en-US"/>
          </a:p>
        </p:txBody>
      </p:sp>
    </p:spTree>
  </p:cSld>
  <p:clrMapOvr>
    <a:masterClrMapping/>
  </p:clrMapOvr>
  <p:transition spd="med" advClick="0"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7"/>
          <a:ext cx="5956102" cy="1928707"/>
        </p:xfrm>
        <a:graphic>
          <a:graphicData uri="http://schemas.openxmlformats.org/presentationml/2006/ole">
            <mc:AlternateContent xmlns:mc="http://schemas.openxmlformats.org/markup-compatibility/2006">
              <mc:Choice xmlns:v="urn:schemas-microsoft-com:vml" Requires="v">
                <p:oleObj spid="_x0000_s2089"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7"/>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7"/>
          <a:ext cx="2893219" cy="1928707"/>
        </p:xfrm>
        <a:graphic>
          <a:graphicData uri="http://schemas.openxmlformats.org/presentationml/2006/ole">
            <mc:AlternateContent xmlns:mc="http://schemas.openxmlformats.org/markup-compatibility/2006">
              <mc:Choice xmlns:v="urn:schemas-microsoft-com:vml" Requires="v">
                <p:oleObj spid="_x0000_s2090"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7"/>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2091"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7"/>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2"/>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39"/>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9"/>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39"/>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75" tIns="57388" rIns="114775" bIns="5738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1"/>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0"/>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7445" indent="0">
              <a:buNone/>
              <a:defRPr sz="2000"/>
            </a:lvl3pPr>
            <a:lvl4pPr marL="1721485" indent="0">
              <a:buNone/>
              <a:defRPr sz="1800"/>
            </a:lvl4pPr>
            <a:lvl5pPr marL="2295525" indent="0">
              <a:buNone/>
              <a:defRPr sz="1800"/>
            </a:lvl5pPr>
            <a:lvl6pPr marL="2869565" indent="0">
              <a:buNone/>
              <a:defRPr sz="1800"/>
            </a:lvl6pPr>
            <a:lvl7pPr marL="3442970" indent="0">
              <a:buNone/>
              <a:defRPr sz="1800"/>
            </a:lvl7pPr>
            <a:lvl8pPr marL="4017010" indent="0">
              <a:buNone/>
              <a:defRPr sz="1800"/>
            </a:lvl8pPr>
            <a:lvl9pPr marL="459105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0"/>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0"/>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2"/>
            <a:ext cx="4230440" cy="4947334"/>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7"/>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7445" indent="0">
              <a:buNone/>
              <a:defRPr sz="3000"/>
            </a:lvl3pPr>
            <a:lvl4pPr marL="1721485" indent="0">
              <a:buNone/>
              <a:defRPr sz="2500"/>
            </a:lvl4pPr>
            <a:lvl5pPr marL="2295525" indent="0">
              <a:buNone/>
              <a:defRPr sz="2500"/>
            </a:lvl5pPr>
            <a:lvl6pPr marL="2869565" indent="0">
              <a:buNone/>
              <a:defRPr sz="2500"/>
            </a:lvl6pPr>
            <a:lvl7pPr marL="3442970" indent="0">
              <a:buNone/>
              <a:defRPr sz="2500"/>
            </a:lvl7pPr>
            <a:lvl8pPr marL="4017010" indent="0">
              <a:buNone/>
              <a:defRPr sz="2500"/>
            </a:lvl8pPr>
            <a:lvl9pPr marL="4591050" indent="0">
              <a:buNone/>
              <a:defRPr sz="2500"/>
            </a:lvl9pPr>
          </a:lstStyle>
          <a:p>
            <a:endParaRPr lang="zh-CN" altLang="en-US"/>
          </a:p>
        </p:txBody>
      </p:sp>
      <p:sp>
        <p:nvSpPr>
          <p:cNvPr id="4" name="文本占位符 3"/>
          <p:cNvSpPr>
            <a:spLocks noGrp="1"/>
          </p:cNvSpPr>
          <p:nvPr>
            <p:ph type="body" sz="half" idx="2"/>
          </p:nvPr>
        </p:nvSpPr>
        <p:spPr>
          <a:xfrm>
            <a:off x="2520405" y="5660556"/>
            <a:ext cx="7715250" cy="848831"/>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4"/>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4"/>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9"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9" y="6750476"/>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0"/>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0"/>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0"/>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0"/>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5"/>
          <a:ext cx="5956102" cy="1928707"/>
        </p:xfrm>
        <a:graphic>
          <a:graphicData uri="http://schemas.openxmlformats.org/presentationml/2006/ole">
            <mc:AlternateContent xmlns:mc="http://schemas.openxmlformats.org/markup-compatibility/2006">
              <mc:Choice xmlns:v="urn:schemas-microsoft-com:vml" Requires="v">
                <p:oleObj spid="_x0000_s3113"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5"/>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5"/>
          <a:ext cx="2893219" cy="1928707"/>
        </p:xfrm>
        <a:graphic>
          <a:graphicData uri="http://schemas.openxmlformats.org/presentationml/2006/ole">
            <mc:AlternateContent xmlns:mc="http://schemas.openxmlformats.org/markup-compatibility/2006">
              <mc:Choice xmlns:v="urn:schemas-microsoft-com:vml" Requires="v">
                <p:oleObj spid="_x0000_s3114"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5"/>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4" y="3616325"/>
          <a:ext cx="3944689" cy="1930381"/>
        </p:xfrm>
        <a:graphic>
          <a:graphicData uri="http://schemas.openxmlformats.org/presentationml/2006/ole">
            <mc:AlternateContent xmlns:mc="http://schemas.openxmlformats.org/markup-compatibility/2006">
              <mc:Choice xmlns:v="urn:schemas-microsoft-com:vml" Requires="v">
                <p:oleObj spid="_x0000_s3115"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4"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5"/>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0"/>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8" y="6830836"/>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6"/>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8" y="6830836"/>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803" tIns="57401" rIns="114803" bIns="57401">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69"/>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48"/>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8080" indent="0">
              <a:buNone/>
              <a:defRPr sz="2000"/>
            </a:lvl3pPr>
            <a:lvl4pPr marL="1722120" indent="0">
              <a:buNone/>
              <a:defRPr sz="1800"/>
            </a:lvl4pPr>
            <a:lvl5pPr marL="2296160" indent="0">
              <a:buNone/>
              <a:defRPr sz="1800"/>
            </a:lvl5pPr>
            <a:lvl6pPr marL="2870200" indent="0">
              <a:buNone/>
              <a:defRPr sz="1800"/>
            </a:lvl6pPr>
            <a:lvl7pPr marL="3444240" indent="0">
              <a:buNone/>
              <a:defRPr sz="1800"/>
            </a:lvl7pPr>
            <a:lvl8pPr marL="4018280" indent="0">
              <a:buNone/>
              <a:defRPr sz="1800"/>
            </a:lvl8pPr>
            <a:lvl9pPr marL="459232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8"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8"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88"/>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88"/>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0"/>
            <a:ext cx="4230440" cy="4947334"/>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5"/>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8080" indent="0">
              <a:buNone/>
              <a:defRPr sz="3000"/>
            </a:lvl3pPr>
            <a:lvl4pPr marL="1722120" indent="0">
              <a:buNone/>
              <a:defRPr sz="2500"/>
            </a:lvl4pPr>
            <a:lvl5pPr marL="2296160" indent="0">
              <a:buNone/>
              <a:defRPr sz="2500"/>
            </a:lvl5pPr>
            <a:lvl6pPr marL="2870200" indent="0">
              <a:buNone/>
              <a:defRPr sz="2500"/>
            </a:lvl6pPr>
            <a:lvl7pPr marL="3444240" indent="0">
              <a:buNone/>
              <a:defRPr sz="2500"/>
            </a:lvl7pPr>
            <a:lvl8pPr marL="4018280" indent="0">
              <a:buNone/>
              <a:defRPr sz="2500"/>
            </a:lvl8pPr>
            <a:lvl9pPr marL="4592320" indent="0">
              <a:buNone/>
              <a:defRPr sz="2500"/>
            </a:lvl9pPr>
          </a:lstStyle>
          <a:p>
            <a:endParaRPr lang="zh-CN" altLang="en-US"/>
          </a:p>
        </p:txBody>
      </p:sp>
      <p:sp>
        <p:nvSpPr>
          <p:cNvPr id="4" name="文本占位符 3"/>
          <p:cNvSpPr>
            <a:spLocks noGrp="1"/>
          </p:cNvSpPr>
          <p:nvPr>
            <p:ph type="body" sz="half" idx="2"/>
          </p:nvPr>
        </p:nvSpPr>
        <p:spPr>
          <a:xfrm>
            <a:off x="2520405" y="5660554"/>
            <a:ext cx="7715250" cy="848831"/>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4" y="622812"/>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2"/>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8"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8" y="6750474"/>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3" Type="http://schemas.openxmlformats.org/officeDocument/2006/relationships/theme" Target="../theme/theme2.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3" Type="http://schemas.openxmlformats.org/officeDocument/2006/relationships/theme" Target="../theme/theme3.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75" tIns="57388" rIns="114775" bIns="5738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1485" algn="ctr" rtl="0" fontAlgn="base">
        <a:spcBef>
          <a:spcPct val="0"/>
        </a:spcBef>
        <a:spcAft>
          <a:spcPct val="0"/>
        </a:spcAft>
        <a:defRPr sz="4000" b="1">
          <a:solidFill>
            <a:schemeClr val="bg1"/>
          </a:solidFill>
          <a:latin typeface="Arial" panose="020B0604020202020204" pitchFamily="34" charset="0"/>
        </a:defRPr>
      </a:lvl8pPr>
      <a:lvl9pPr marL="2295525"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4040"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1485" algn="l" defTabSz="1147445" rtl="0" eaLnBrk="1" latinLnBrk="0" hangingPunct="1">
        <a:defRPr sz="2300" kern="1200">
          <a:solidFill>
            <a:schemeClr val="tx1"/>
          </a:solidFill>
          <a:latin typeface="+mn-lt"/>
          <a:ea typeface="+mn-ea"/>
          <a:cs typeface="+mn-cs"/>
        </a:defRPr>
      </a:lvl4pPr>
      <a:lvl5pPr marL="2295525" algn="l" defTabSz="1147445" rtl="0" eaLnBrk="1" latinLnBrk="0" hangingPunct="1">
        <a:defRPr sz="2300" kern="1200">
          <a:solidFill>
            <a:schemeClr val="tx1"/>
          </a:solidFill>
          <a:latin typeface="+mn-lt"/>
          <a:ea typeface="+mn-ea"/>
          <a:cs typeface="+mn-cs"/>
        </a:defRPr>
      </a:lvl5pPr>
      <a:lvl6pPr marL="2869565" algn="l" defTabSz="1147445" rtl="0" eaLnBrk="1" latinLnBrk="0" hangingPunct="1">
        <a:defRPr sz="2300" kern="1200">
          <a:solidFill>
            <a:schemeClr val="tx1"/>
          </a:solidFill>
          <a:latin typeface="+mn-lt"/>
          <a:ea typeface="+mn-ea"/>
          <a:cs typeface="+mn-cs"/>
        </a:defRPr>
      </a:lvl6pPr>
      <a:lvl7pPr marL="3442970" algn="l" defTabSz="1147445" rtl="0" eaLnBrk="1" latinLnBrk="0" hangingPunct="1">
        <a:defRPr sz="2300" kern="1200">
          <a:solidFill>
            <a:schemeClr val="tx1"/>
          </a:solidFill>
          <a:latin typeface="+mn-lt"/>
          <a:ea typeface="+mn-ea"/>
          <a:cs typeface="+mn-cs"/>
        </a:defRPr>
      </a:lvl7pPr>
      <a:lvl8pPr marL="4017010" algn="l" defTabSz="1147445" rtl="0" eaLnBrk="1" latinLnBrk="0" hangingPunct="1">
        <a:defRPr sz="2300" kern="1200">
          <a:solidFill>
            <a:schemeClr val="tx1"/>
          </a:solidFill>
          <a:latin typeface="+mn-lt"/>
          <a:ea typeface="+mn-ea"/>
          <a:cs typeface="+mn-cs"/>
        </a:defRPr>
      </a:lvl8pPr>
      <a:lvl9pPr marL="4591050" algn="l" defTabSz="1147445"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6"/>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8"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4"/>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803" tIns="57401" rIns="114803" bIns="57401"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8080" rtl="0" eaLnBrk="1" latinLnBrk="0" hangingPunct="1">
        <a:defRPr sz="2300" kern="1200">
          <a:solidFill>
            <a:schemeClr val="tx1"/>
          </a:solidFill>
          <a:latin typeface="+mn-lt"/>
          <a:ea typeface="+mn-ea"/>
          <a:cs typeface="+mn-cs"/>
        </a:defRPr>
      </a:lvl1pPr>
      <a:lvl2pPr marL="574040" algn="l" defTabSz="1148080" rtl="0" eaLnBrk="1" latinLnBrk="0" hangingPunct="1">
        <a:defRPr sz="2300" kern="1200">
          <a:solidFill>
            <a:schemeClr val="tx1"/>
          </a:solidFill>
          <a:latin typeface="+mn-lt"/>
          <a:ea typeface="+mn-ea"/>
          <a:cs typeface="+mn-cs"/>
        </a:defRPr>
      </a:lvl2pPr>
      <a:lvl3pPr marL="1148080" algn="l" defTabSz="1148080" rtl="0" eaLnBrk="1" latinLnBrk="0" hangingPunct="1">
        <a:defRPr sz="2300" kern="1200">
          <a:solidFill>
            <a:schemeClr val="tx1"/>
          </a:solidFill>
          <a:latin typeface="+mn-lt"/>
          <a:ea typeface="+mn-ea"/>
          <a:cs typeface="+mn-cs"/>
        </a:defRPr>
      </a:lvl3pPr>
      <a:lvl4pPr marL="1722120" algn="l" defTabSz="1148080" rtl="0" eaLnBrk="1" latinLnBrk="0" hangingPunct="1">
        <a:defRPr sz="2300" kern="1200">
          <a:solidFill>
            <a:schemeClr val="tx1"/>
          </a:solidFill>
          <a:latin typeface="+mn-lt"/>
          <a:ea typeface="+mn-ea"/>
          <a:cs typeface="+mn-cs"/>
        </a:defRPr>
      </a:lvl4pPr>
      <a:lvl5pPr marL="2296160" algn="l" defTabSz="1148080" rtl="0" eaLnBrk="1" latinLnBrk="0" hangingPunct="1">
        <a:defRPr sz="2300" kern="1200">
          <a:solidFill>
            <a:schemeClr val="tx1"/>
          </a:solidFill>
          <a:latin typeface="+mn-lt"/>
          <a:ea typeface="+mn-ea"/>
          <a:cs typeface="+mn-cs"/>
        </a:defRPr>
      </a:lvl5pPr>
      <a:lvl6pPr marL="2870200" algn="l" defTabSz="1148080" rtl="0" eaLnBrk="1" latinLnBrk="0" hangingPunct="1">
        <a:defRPr sz="2300" kern="1200">
          <a:solidFill>
            <a:schemeClr val="tx1"/>
          </a:solidFill>
          <a:latin typeface="+mn-lt"/>
          <a:ea typeface="+mn-ea"/>
          <a:cs typeface="+mn-cs"/>
        </a:defRPr>
      </a:lvl6pPr>
      <a:lvl7pPr marL="3444240" algn="l" defTabSz="1148080" rtl="0" eaLnBrk="1" latinLnBrk="0" hangingPunct="1">
        <a:defRPr sz="2300" kern="1200">
          <a:solidFill>
            <a:schemeClr val="tx1"/>
          </a:solidFill>
          <a:latin typeface="+mn-lt"/>
          <a:ea typeface="+mn-ea"/>
          <a:cs typeface="+mn-cs"/>
        </a:defRPr>
      </a:lvl7pPr>
      <a:lvl8pPr marL="4018280" algn="l" defTabSz="1148080" rtl="0" eaLnBrk="1" latinLnBrk="0" hangingPunct="1">
        <a:defRPr sz="2300" kern="1200">
          <a:solidFill>
            <a:schemeClr val="tx1"/>
          </a:solidFill>
          <a:latin typeface="+mn-lt"/>
          <a:ea typeface="+mn-ea"/>
          <a:cs typeface="+mn-cs"/>
        </a:defRPr>
      </a:lvl8pPr>
      <a:lvl9pPr marL="4592320" algn="l" defTabSz="114808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hyperlink" Target="http://www.mysql.com/downloads/mysql/"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hyperlink" Target="mk:@MSITStore:C:\Users\X40\AppData\Local\Temp\Rar$DI00.149\JDK_API_1_6_zh_CN.CHM::/java/sql/ResultSet.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6.xml"/><Relationship Id="rId1" Type="http://schemas.openxmlformats.org/officeDocument/2006/relationships/image" Target="../media/image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1.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997327" y="2896245"/>
            <a:ext cx="6016403" cy="649181"/>
          </a:xfrm>
          <a:prstGeom prst="rect">
            <a:avLst/>
          </a:prstGeom>
          <a:noFill/>
        </p:spPr>
        <p:txBody>
          <a:bodyPr wrap="square" lIns="128583" tIns="64291" rIns="128583" bIns="64291" rtlCol="0">
            <a:spAutoFit/>
          </a:bodyPr>
          <a:lstStyle/>
          <a:p>
            <a:pPr algn="ctr"/>
            <a:r>
              <a:rPr kumimoji="1" lang="en-US" altLang="zh-CN" sz="1700" dirty="0">
                <a:solidFill>
                  <a:schemeClr val="bg1">
                    <a:lumMod val="50000"/>
                  </a:schemeClr>
                </a:solidFill>
                <a:cs typeface="+mn-ea"/>
                <a:sym typeface="+mn-lt"/>
              </a:rPr>
              <a:t>JSP and  servlet  development  technology  and  typical application  course</a:t>
            </a:r>
            <a:endParaRPr kumimoji="1" lang="zh-CN" altLang="en-US" sz="1700" dirty="0">
              <a:solidFill>
                <a:schemeClr val="bg1">
                  <a:lumMod val="50000"/>
                </a:schemeClr>
              </a:solidFill>
              <a:cs typeface="+mn-ea"/>
              <a:sym typeface="+mn-lt"/>
            </a:endParaRPr>
          </a:p>
        </p:txBody>
      </p:sp>
      <p:sp>
        <p:nvSpPr>
          <p:cNvPr id="9" name="文本框 8"/>
          <p:cNvSpPr txBox="1"/>
          <p:nvPr/>
        </p:nvSpPr>
        <p:spPr>
          <a:xfrm rot="2679144">
            <a:off x="1518042" y="2942040"/>
            <a:ext cx="5266506" cy="558800"/>
          </a:xfrm>
          <a:prstGeom prst="rect">
            <a:avLst/>
          </a:prstGeom>
          <a:noFill/>
        </p:spPr>
        <p:txBody>
          <a:bodyPr wrap="square" lIns="128583" tIns="64291" rIns="128583" bIns="64291" rtlCol="0">
            <a:spAutoFit/>
          </a:bodyPr>
          <a:lstStyle/>
          <a:p>
            <a:pPr algn="ctr">
              <a:buNone/>
            </a:pPr>
            <a:r>
              <a:rPr kumimoji="1" lang="zh-CN" altLang="en-US" sz="2800" b="1" dirty="0">
                <a:solidFill>
                  <a:srgbClr val="526580"/>
                </a:solidFill>
                <a:latin typeface="+mn-ea"/>
                <a:cs typeface="+mn-ea"/>
              </a:rPr>
              <a:t>第八章    </a:t>
            </a:r>
            <a:r>
              <a:rPr kumimoji="1" lang="en-US" altLang="zh-CN" sz="2800" b="1" dirty="0">
                <a:solidFill>
                  <a:srgbClr val="526580"/>
                </a:solidFill>
                <a:latin typeface="+mn-ea"/>
                <a:cs typeface="+mn-ea"/>
              </a:rPr>
              <a:t>JDBC</a:t>
            </a:r>
            <a:r>
              <a:rPr kumimoji="1" lang="zh-CN" altLang="zh-CN" sz="2800" b="1" dirty="0">
                <a:solidFill>
                  <a:srgbClr val="526580"/>
                </a:solidFill>
                <a:latin typeface="+mn-ea"/>
                <a:cs typeface="+mn-ea"/>
              </a:rPr>
              <a:t>核心技术</a:t>
            </a:r>
            <a:endParaRPr kumimoji="1" lang="en-US" altLang="zh-CN" sz="2800" b="1" dirty="0">
              <a:solidFill>
                <a:srgbClr val="526580"/>
              </a:solidFill>
              <a:latin typeface="+mn-ea"/>
              <a:cs typeface="+mn-ea"/>
              <a:sym typeface="宋体" panose="02010600030101010101" pitchFamily="2" charset="-122"/>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1000" fill="hold"/>
                                        <p:tgtEl>
                                          <p:spTgt spid="16"/>
                                        </p:tgtEl>
                                        <p:attrNameLst>
                                          <p:attrName>ppt_x</p:attrName>
                                        </p:attrNameLst>
                                      </p:cBhvr>
                                      <p:tavLst>
                                        <p:tav tm="0">
                                          <p:val>
                                            <p:strVal val="#ppt_x"/>
                                          </p:val>
                                        </p:tav>
                                        <p:tav tm="100000">
                                          <p:val>
                                            <p:strVal val="#ppt_x"/>
                                          </p:val>
                                        </p:tav>
                                      </p:tavLst>
                                    </p:anim>
                                    <p:anim calcmode="lin" valueType="num">
                                      <p:cBhvr additive="base">
                                        <p:cTn id="25" dur="1000" fill="hold"/>
                                        <p:tgtEl>
                                          <p:spTgt spid="16"/>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ppt_x</p:attrName>
                                        </p:attrNameLst>
                                      </p:cBhvr>
                                      <p:tavLst>
                                        <p:tav tm="0">
                                          <p:val>
                                            <p:strVal val="#ppt_x"/>
                                          </p:val>
                                        </p:tav>
                                        <p:tav tm="100000">
                                          <p:val>
                                            <p:strVal val="#ppt_x"/>
                                          </p:val>
                                        </p:tav>
                                      </p:tavLst>
                                    </p:anim>
                                    <p:anim calcmode="lin" valueType="num">
                                      <p:cBhvr>
                                        <p:cTn id="35" dur="750" fill="hold"/>
                                        <p:tgtEl>
                                          <p:spTgt spid="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9" grpId="0"/>
      <p:bldP spid="12" grpId="0" animBg="1"/>
      <p:bldP spid="16"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536348" cy="537513"/>
          </a:xfrm>
          <a:prstGeom prst="rect">
            <a:avLst/>
          </a:prstGeom>
          <a:noFill/>
        </p:spPr>
        <p:txBody>
          <a:bodyPr wrap="square" lIns="128583" tIns="64291" rIns="128583" bIns="64291" rtlCol="0">
            <a:spAutoFit/>
          </a:bodyPr>
          <a:lstStyle/>
          <a:p>
            <a:pPr>
              <a:lnSpc>
                <a:spcPct val="120000"/>
              </a:lnSpc>
            </a:pPr>
            <a:r>
              <a:rPr lang="zh-CN" altLang="en-US" sz="2400" b="1" dirty="0" smtClean="0"/>
              <a:t>掌握</a:t>
            </a:r>
            <a:r>
              <a:rPr lang="en-US" altLang="zh-CN" sz="2400" b="1" dirty="0" smtClean="0"/>
              <a:t>JDBC</a:t>
            </a:r>
            <a:r>
              <a:rPr lang="zh-CN" altLang="en-US" sz="2400" b="1" dirty="0"/>
              <a:t>编程基本操作、</a:t>
            </a:r>
            <a:r>
              <a:rPr lang="en-US" altLang="zh-CN" sz="2400" b="1" dirty="0"/>
              <a:t>JDBC</a:t>
            </a:r>
            <a:r>
              <a:rPr lang="zh-CN" altLang="en-US" sz="2400" b="1" dirty="0"/>
              <a:t>事务操作、预处理操作</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311900" cy="499170"/>
          </a:xfrm>
          <a:prstGeom prst="rect">
            <a:avLst/>
          </a:prstGeom>
          <a:noFill/>
        </p:spPr>
        <p:txBody>
          <a:bodyPr wrap="square" lIns="128583" tIns="64291" rIns="128583" bIns="64291" rtlCol="0">
            <a:spAutoFit/>
          </a:bodyPr>
          <a:lstStyle/>
          <a:p>
            <a:r>
              <a:rPr lang="zh-CN" altLang="en-US" sz="2400" b="1" dirty="0" smtClean="0"/>
              <a:t>理解</a:t>
            </a:r>
            <a:r>
              <a:rPr lang="en-US" altLang="zh-CN" sz="2400" b="1" dirty="0" smtClean="0"/>
              <a:t>DAO</a:t>
            </a:r>
            <a:r>
              <a:rPr lang="zh-CN" altLang="en-US" sz="2400" b="1" dirty="0"/>
              <a:t>模式、结果集处理方式</a:t>
            </a:r>
            <a:endParaRPr kumimoji="1" lang="zh-CN" altLang="en-US" sz="2400" b="1" dirty="0">
              <a:cs typeface="+mn-ea"/>
              <a:sym typeface="Arial" panose="020B0604020202020204" pitchFamily="34" charset="0"/>
            </a:endParaRPr>
          </a:p>
        </p:txBody>
      </p:sp>
      <p:sp>
        <p:nvSpPr>
          <p:cNvPr id="33" name="文本框 32"/>
          <p:cNvSpPr txBox="1"/>
          <p:nvPr/>
        </p:nvSpPr>
        <p:spPr>
          <a:xfrm>
            <a:off x="7293610" y="4365625"/>
            <a:ext cx="5431790" cy="499170"/>
          </a:xfrm>
          <a:prstGeom prst="rect">
            <a:avLst/>
          </a:prstGeom>
          <a:noFill/>
        </p:spPr>
        <p:txBody>
          <a:bodyPr wrap="square" lIns="128583" tIns="64291" rIns="128583" bIns="64291" rtlCol="0">
            <a:spAutoFit/>
          </a:bodyPr>
          <a:lstStyle/>
          <a:p>
            <a:r>
              <a:rPr lang="zh-CN" altLang="zh-CN" sz="2400" b="1" dirty="0" smtClean="0"/>
              <a:t>了解</a:t>
            </a:r>
            <a:r>
              <a:rPr lang="en-US" altLang="zh-CN" sz="2400" b="1" dirty="0" smtClean="0"/>
              <a:t>JDBC</a:t>
            </a:r>
            <a:r>
              <a:rPr lang="zh-CN" altLang="zh-CN" sz="2400" b="1" dirty="0"/>
              <a:t>原理</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能力目标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2" grpId="0" animBg="1"/>
      <p:bldP spid="17" grpId="0" animBg="1"/>
      <p:bldP spid="26" grpId="0" animBg="1"/>
      <p:bldP spid="27" grpId="0"/>
      <p:bldP spid="29" grpId="0"/>
      <p:bldP spid="33"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77405" cy="543477"/>
          </a:xfrm>
          <a:prstGeom prst="rect">
            <a:avLst/>
          </a:prstGeom>
          <a:noFill/>
        </p:spPr>
        <p:txBody>
          <a:bodyPr wrap="square" lIns="128583" tIns="64291" rIns="128583" bIns="64291" rtlCol="0">
            <a:spAutoFit/>
          </a:bodyPr>
          <a:lstStyle/>
          <a:p>
            <a:pPr>
              <a:lnSpc>
                <a:spcPct val="120000"/>
              </a:lnSpc>
            </a:pPr>
            <a:r>
              <a:rPr lang="zh-CN" altLang="zh-CN" sz="2400" b="1" dirty="0"/>
              <a:t>培养严谨的逻辑思维能力</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311900" cy="868501"/>
          </a:xfrm>
          <a:prstGeom prst="rect">
            <a:avLst/>
          </a:prstGeom>
          <a:noFill/>
        </p:spPr>
        <p:txBody>
          <a:bodyPr wrap="square" lIns="128583" tIns="64291" rIns="128583" bIns="64291" rtlCol="0">
            <a:spAutoFit/>
          </a:bodyPr>
          <a:lstStyle/>
          <a:p>
            <a:r>
              <a:rPr lang="zh-CN" altLang="zh-CN" sz="2400" b="1" dirty="0"/>
              <a:t>提高编码、调试、排错</a:t>
            </a:r>
            <a:r>
              <a:rPr lang="zh-CN" altLang="zh-CN" sz="2400" b="1" dirty="0" smtClean="0"/>
              <a:t>能力</a:t>
            </a:r>
            <a:r>
              <a:rPr lang="zh-CN" altLang="en-US" sz="2400" b="1" dirty="0" smtClean="0"/>
              <a:t>；</a:t>
            </a:r>
            <a:r>
              <a:rPr lang="zh-CN" altLang="zh-CN" sz="2400" b="1" dirty="0"/>
              <a:t>培养整体架构的能力</a:t>
            </a:r>
            <a:endParaRPr kumimoji="1" lang="zh-CN" altLang="en-US" sz="2400" b="1" dirty="0">
              <a:cs typeface="+mn-ea"/>
              <a:sym typeface="Arial" panose="020B0604020202020204" pitchFamily="34" charset="0"/>
            </a:endParaRPr>
          </a:p>
        </p:txBody>
      </p:sp>
      <p:sp>
        <p:nvSpPr>
          <p:cNvPr id="33" name="文本框 32"/>
          <p:cNvSpPr txBox="1"/>
          <p:nvPr/>
        </p:nvSpPr>
        <p:spPr>
          <a:xfrm>
            <a:off x="7293610" y="4365625"/>
            <a:ext cx="5431790" cy="868501"/>
          </a:xfrm>
          <a:prstGeom prst="rect">
            <a:avLst/>
          </a:prstGeom>
          <a:noFill/>
        </p:spPr>
        <p:txBody>
          <a:bodyPr wrap="square" lIns="128583" tIns="64291" rIns="128583" bIns="64291" rtlCol="0">
            <a:spAutoFit/>
          </a:bodyPr>
          <a:lstStyle/>
          <a:p>
            <a:r>
              <a:rPr lang="zh-CN" altLang="zh-CN" sz="2400" b="1" dirty="0"/>
              <a:t>培养主动学习、主动思考、主动改进的能力</a:t>
            </a:r>
            <a:endParaRPr kumimoji="1" lang="zh-CN" altLang="en-US" sz="2400" b="1" dirty="0">
              <a:cs typeface="+mn-ea"/>
              <a:sym typeface="+mn-lt"/>
            </a:endParaRPr>
          </a:p>
        </p:txBody>
      </p:sp>
      <p:sp>
        <p:nvSpPr>
          <p:cNvPr id="35" name="文本框 34"/>
          <p:cNvSpPr txBox="1"/>
          <p:nvPr/>
        </p:nvSpPr>
        <p:spPr>
          <a:xfrm>
            <a:off x="2038717" y="147317"/>
            <a:ext cx="2260225" cy="730002"/>
          </a:xfrm>
          <a:prstGeom prst="rect">
            <a:avLst/>
          </a:prstGeom>
          <a:noFill/>
        </p:spPr>
        <p:txBody>
          <a:bodyPr wrap="none" lIns="128583" tIns="64291" rIns="128583" bIns="64291" rtlCol="0">
            <a:spAutoFit/>
          </a:bodyPr>
          <a:lstStyle/>
          <a:p>
            <a:pPr algn="ctr"/>
            <a:r>
              <a:rPr kumimoji="1" lang="en-US" altLang="zh-CN" sz="3900" dirty="0" smtClean="0">
                <a:solidFill>
                  <a:schemeClr val="bg1"/>
                </a:solidFill>
                <a:cs typeface="+mn-ea"/>
                <a:sym typeface="+mn-lt"/>
              </a:rPr>
              <a:t>素质目标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2" grpId="0" animBg="1"/>
      <p:bldP spid="17" grpId="0" animBg="1"/>
      <p:bldP spid="26" grpId="0" animBg="1"/>
      <p:bldP spid="27" grpId="0"/>
      <p:bldP spid="29" grpId="0"/>
      <p:bldP spid="33"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4436733" y="1672109"/>
            <a:ext cx="3967423" cy="868501"/>
          </a:xfrm>
          <a:prstGeom prst="rect">
            <a:avLst/>
          </a:prstGeom>
          <a:noFill/>
        </p:spPr>
        <p:txBody>
          <a:bodyPr wrap="none" lIns="128583" tIns="64291" rIns="128583" bIns="64291" rtlCol="0">
            <a:spAutoFit/>
          </a:bodyPr>
          <a:lstStyle/>
          <a:p>
            <a:pPr algn="ctr"/>
            <a:r>
              <a:rPr kumimoji="1" lang="en-US" altLang="zh-CN" sz="4800" b="1" dirty="0" smtClean="0">
                <a:solidFill>
                  <a:srgbClr val="43536A"/>
                </a:solidFill>
                <a:cs typeface="+mn-ea"/>
              </a:rPr>
              <a:t>8.1  </a:t>
            </a:r>
            <a:r>
              <a:rPr kumimoji="1" lang="en-US" altLang="zh-CN" sz="4800" b="1" dirty="0">
                <a:solidFill>
                  <a:srgbClr val="43536A"/>
                </a:solidFill>
                <a:cs typeface="+mn-ea"/>
              </a:rPr>
              <a:t>JDBC</a:t>
            </a:r>
            <a:r>
              <a:rPr kumimoji="1" lang="zh-CN" altLang="en-US" sz="4800" b="1" dirty="0">
                <a:solidFill>
                  <a:srgbClr val="43536A"/>
                </a:solidFill>
                <a:cs typeface="+mn-ea"/>
              </a:rPr>
              <a:t>基础 </a:t>
            </a:r>
            <a:endParaRPr kumimoji="1" lang="zh-CN" altLang="en-US" sz="48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684213" y="574675"/>
            <a:ext cx="8010525" cy="622300"/>
          </a:xfrm>
        </p:spPr>
        <p:txBody>
          <a:bodyPr/>
          <a:lstStyle/>
          <a:p>
            <a:r>
              <a:rPr lang="zh-CN" altLang="en-US" dirty="0" smtClean="0">
                <a:ea typeface="宋体" panose="02010600030101010101" pitchFamily="2" charset="-122"/>
              </a:rPr>
              <a:t>第八章    </a:t>
            </a:r>
            <a:r>
              <a:rPr lang="en-US" dirty="0">
                <a:ea typeface="宋体" panose="02010600030101010101" pitchFamily="2" charset="-122"/>
              </a:rPr>
              <a:t>Java</a:t>
            </a:r>
            <a:r>
              <a:rPr lang="zh-CN" altLang="en-US" dirty="0">
                <a:ea typeface="宋体" panose="02010600030101010101" pitchFamily="2" charset="-122"/>
              </a:rPr>
              <a:t>数据库连接 </a:t>
            </a:r>
            <a:endParaRPr lang="zh-CN" altLang="en-US" dirty="0">
              <a:ea typeface="宋体" panose="02010600030101010101" pitchFamily="2" charset="-122"/>
            </a:endParaRPr>
          </a:p>
        </p:txBody>
      </p:sp>
      <p:sp>
        <p:nvSpPr>
          <p:cNvPr id="8" name="Rectangle 3"/>
          <p:cNvSpPr txBox="1">
            <a:spLocks noChangeArrowheads="1"/>
          </p:cNvSpPr>
          <p:nvPr/>
        </p:nvSpPr>
        <p:spPr bwMode="auto">
          <a:xfrm>
            <a:off x="1238250" y="1484313"/>
            <a:ext cx="801370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ct val="200000"/>
              </a:lnSpc>
            </a:pPr>
            <a:r>
              <a:rPr lang="en-US" sz="2600" smtClean="0">
                <a:ea typeface="宋体" panose="02010600030101010101" pitchFamily="2" charset="-122"/>
              </a:rPr>
              <a:t>8.1  JDBC</a:t>
            </a:r>
            <a:r>
              <a:rPr lang="zh-CN" altLang="en-US" sz="2600" smtClean="0">
                <a:ea typeface="宋体" panose="02010600030101010101" pitchFamily="2" charset="-122"/>
              </a:rPr>
              <a:t>基础 </a:t>
            </a:r>
            <a:endParaRPr lang="zh-CN" altLang="en-US" sz="2600" smtClean="0">
              <a:ea typeface="宋体" panose="02010600030101010101" pitchFamily="2" charset="-122"/>
            </a:endParaRPr>
          </a:p>
          <a:p>
            <a:pPr marL="1075055" lvl="1" indent="-533400">
              <a:lnSpc>
                <a:spcPct val="200000"/>
              </a:lnSpc>
            </a:pPr>
            <a:r>
              <a:rPr lang="en-US" sz="2200" smtClean="0">
                <a:ea typeface="宋体" panose="02010600030101010101" pitchFamily="2" charset="-122"/>
              </a:rPr>
              <a:t>8.1.1  JDBC</a:t>
            </a:r>
            <a:r>
              <a:rPr lang="zh-CN" altLang="en-US" sz="2200" smtClean="0">
                <a:ea typeface="宋体" panose="02010600030101010101" pitchFamily="2" charset="-122"/>
              </a:rPr>
              <a:t>简介  </a:t>
            </a:r>
            <a:endParaRPr lang="zh-CN" altLang="en-US" sz="2200" smtClean="0">
              <a:ea typeface="宋体" panose="02010600030101010101" pitchFamily="2" charset="-122"/>
            </a:endParaRPr>
          </a:p>
          <a:p>
            <a:pPr marL="1075055" lvl="1" indent="-533400">
              <a:lnSpc>
                <a:spcPct val="200000"/>
              </a:lnSpc>
            </a:pPr>
            <a:r>
              <a:rPr lang="en-US" sz="2200" smtClean="0">
                <a:ea typeface="宋体" panose="02010600030101010101" pitchFamily="2" charset="-122"/>
              </a:rPr>
              <a:t>8.1.2  ODBC</a:t>
            </a:r>
            <a:r>
              <a:rPr lang="zh-CN" altLang="en-US" sz="2200" smtClean="0">
                <a:ea typeface="宋体" panose="02010600030101010101" pitchFamily="2" charset="-122"/>
              </a:rPr>
              <a:t>数据源的配置 </a:t>
            </a:r>
            <a:endParaRPr lang="zh-CN" altLang="en-US" sz="2200" smtClean="0">
              <a:ea typeface="宋体" panose="02010600030101010101" pitchFamily="2" charset="-122"/>
            </a:endParaRPr>
          </a:p>
          <a:p>
            <a:pPr marL="1075055" lvl="1" indent="-533400">
              <a:lnSpc>
                <a:spcPct val="200000"/>
              </a:lnSpc>
            </a:pPr>
            <a:r>
              <a:rPr lang="en-US" sz="2200" smtClean="0">
                <a:ea typeface="宋体" panose="02010600030101010101" pitchFamily="2" charset="-122"/>
              </a:rPr>
              <a:t>8.1.3  MYSQL</a:t>
            </a:r>
            <a:r>
              <a:rPr lang="zh-CN" altLang="en-US" sz="2200" smtClean="0">
                <a:ea typeface="宋体" panose="02010600030101010101" pitchFamily="2" charset="-122"/>
              </a:rPr>
              <a:t>数据库安装与驱动下载 </a:t>
            </a:r>
            <a:endParaRPr lang="zh-CN" altLang="en-US" sz="2200" smtClean="0">
              <a:ea typeface="宋体" panose="02010600030101010101" pitchFamily="2" charset="-122"/>
            </a:endParaRPr>
          </a:p>
          <a:p>
            <a:pPr marL="457200" indent="-457200">
              <a:buFont typeface="Wingdings" panose="05000000000000000000" pitchFamily="2" charset="2"/>
              <a:buNone/>
            </a:pPr>
            <a:endParaRPr lang="zh-CN" altLang="en-US" sz="2200" smtClean="0">
              <a:ea typeface="宋体" panose="02010600030101010101" pitchFamily="2" charset="-122"/>
            </a:endParaRPr>
          </a:p>
          <a:p>
            <a:pPr marL="1075055" lvl="1" indent="-533400"/>
            <a:endParaRPr lang="zh-CN" altLang="en-US">
              <a:ea typeface="宋体" panose="02010600030101010101" pitchFamily="2" charset="-122"/>
            </a:endParaRPr>
          </a:p>
        </p:txBody>
      </p:sp>
    </p:spTree>
  </p:cSld>
  <p:clrMapOvr>
    <a:masterClrMapping/>
  </p:clrMapOvr>
  <p:transition spd="med" advClick="0" advTm="0">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zh-CN" altLang="en-US" dirty="0" smtClean="0">
                <a:ea typeface="宋体" panose="02010600030101010101" pitchFamily="2" charset="-122"/>
              </a:rPr>
              <a:t>             第八章   </a:t>
            </a:r>
            <a:r>
              <a:rPr lang="en-US" altLang="zh-CN" dirty="0" smtClean="0">
                <a:ea typeface="宋体" panose="02010600030101010101" pitchFamily="2" charset="-122"/>
              </a:rPr>
              <a:t>JDBC</a:t>
            </a:r>
            <a:r>
              <a:rPr lang="zh-CN" altLang="en-US" dirty="0" smtClean="0">
                <a:ea typeface="宋体" panose="02010600030101010101" pitchFamily="2" charset="-122"/>
              </a:rPr>
              <a:t>核心技术</a:t>
            </a:r>
            <a:endParaRPr lang="zh-CN" altLang="en-US" dirty="0">
              <a:ea typeface="宋体" panose="02010600030101010101" pitchFamily="2" charset="-122"/>
            </a:endParaRPr>
          </a:p>
        </p:txBody>
      </p:sp>
      <p:sp>
        <p:nvSpPr>
          <p:cNvPr id="6" name="矩形 5"/>
          <p:cNvSpPr/>
          <p:nvPr/>
        </p:nvSpPr>
        <p:spPr>
          <a:xfrm>
            <a:off x="1100788" y="2104157"/>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7" name="Rectangle 3"/>
          <p:cNvSpPr txBox="1">
            <a:spLocks noChangeArrowheads="1"/>
          </p:cNvSpPr>
          <p:nvPr/>
        </p:nvSpPr>
        <p:spPr bwMode="auto">
          <a:xfrm>
            <a:off x="3537674" y="233072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ts val="4000"/>
              </a:lnSpc>
            </a:pPr>
            <a:r>
              <a:rPr lang="en-US" altLang="zh-CN" sz="2800" dirty="0"/>
              <a:t>JDBC</a:t>
            </a:r>
            <a:r>
              <a:rPr lang="zh-CN" altLang="zh-CN" sz="2800" dirty="0" smtClean="0"/>
              <a:t>基础</a:t>
            </a:r>
            <a:endParaRPr lang="zh-CN" altLang="en-US" sz="2600" dirty="0" smtClean="0">
              <a:ea typeface="宋体" panose="02010600030101010101" pitchFamily="2" charset="-122"/>
              <a:hlinkClick r:id="" action="ppaction://noaction"/>
            </a:endParaRPr>
          </a:p>
          <a:p>
            <a:pPr marL="1074420" lvl="1" indent="-533400">
              <a:lnSpc>
                <a:spcPts val="4000"/>
              </a:lnSpc>
            </a:pPr>
            <a:r>
              <a:rPr lang="zh-CN" altLang="zh-CN" sz="2400" dirty="0"/>
              <a:t>什么是</a:t>
            </a:r>
            <a:r>
              <a:rPr lang="en-US" altLang="zh-CN" sz="2400" dirty="0" smtClean="0"/>
              <a:t>JDBC</a:t>
            </a:r>
            <a:endParaRPr lang="zh-CN" altLang="en-US" sz="2400" dirty="0" smtClean="0"/>
          </a:p>
          <a:p>
            <a:pPr marL="1074420" lvl="1" indent="-533400">
              <a:lnSpc>
                <a:spcPts val="4000"/>
              </a:lnSpc>
            </a:pPr>
            <a:r>
              <a:rPr lang="en-US" altLang="zh-CN" sz="2400" dirty="0"/>
              <a:t>JDBC</a:t>
            </a:r>
            <a:r>
              <a:rPr lang="zh-CN" altLang="zh-CN" sz="2400" dirty="0"/>
              <a:t>核心接口</a:t>
            </a:r>
            <a:r>
              <a:rPr lang="zh-CN" altLang="zh-CN" sz="2400" dirty="0" smtClean="0"/>
              <a:t>介绍</a:t>
            </a:r>
            <a:endParaRPr lang="zh-CN" altLang="en-US" sz="2400" dirty="0" smtClean="0"/>
          </a:p>
          <a:p>
            <a:pPr marL="1074420" lvl="1" indent="-533400">
              <a:lnSpc>
                <a:spcPts val="4000"/>
              </a:lnSpc>
            </a:pPr>
            <a:r>
              <a:rPr lang="en-US" altLang="zh-CN" sz="2400" dirty="0" err="1"/>
              <a:t>Mysql</a:t>
            </a:r>
            <a:r>
              <a:rPr lang="zh-CN" altLang="zh-CN" sz="2400" dirty="0"/>
              <a:t>数据库安装与驱动</a:t>
            </a:r>
            <a:r>
              <a:rPr lang="zh-CN" altLang="zh-CN" sz="2400" dirty="0" smtClean="0"/>
              <a:t>下载</a:t>
            </a:r>
            <a:endParaRPr lang="zh-CN"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en-US" dirty="0">
                <a:ea typeface="宋体" panose="02010600030101010101" pitchFamily="2" charset="-122"/>
              </a:rPr>
              <a:t>8.1  JDBC</a:t>
            </a:r>
            <a:r>
              <a:rPr lang="zh-CN" altLang="en-US" dirty="0">
                <a:ea typeface="宋体" panose="02010600030101010101" pitchFamily="2" charset="-122"/>
              </a:rPr>
              <a:t>基础 </a:t>
            </a:r>
            <a:endParaRPr lang="zh-CN" altLang="en-US" dirty="0">
              <a:ea typeface="宋体" panose="02010600030101010101" pitchFamily="2" charset="-122"/>
            </a:endParaRPr>
          </a:p>
        </p:txBody>
      </p:sp>
      <p:sp>
        <p:nvSpPr>
          <p:cNvPr id="9" name="Rectangle 3"/>
          <p:cNvSpPr txBox="1">
            <a:spLocks noChangeArrowheads="1"/>
          </p:cNvSpPr>
          <p:nvPr/>
        </p:nvSpPr>
        <p:spPr bwMode="auto">
          <a:xfrm>
            <a:off x="611188" y="1412875"/>
            <a:ext cx="8013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dirty="0" smtClean="0">
                <a:ea typeface="宋体" panose="02010600030101010101" pitchFamily="2" charset="-122"/>
              </a:rPr>
              <a:t>8.1.1 </a:t>
            </a:r>
            <a:r>
              <a:rPr lang="zh-CN" altLang="zh-CN" dirty="0"/>
              <a:t> 什么是</a:t>
            </a:r>
            <a:r>
              <a:rPr lang="en-US" altLang="zh-CN" dirty="0"/>
              <a:t>JDBC</a:t>
            </a:r>
            <a:endParaRPr lang="zh-CN" altLang="en-US" dirty="0">
              <a:ea typeface="宋体" panose="02010600030101010101" pitchFamily="2" charset="-122"/>
            </a:endParaRPr>
          </a:p>
        </p:txBody>
      </p:sp>
      <p:sp>
        <p:nvSpPr>
          <p:cNvPr id="10" name="Text Box 4"/>
          <p:cNvSpPr txBox="1">
            <a:spLocks noChangeArrowheads="1"/>
          </p:cNvSpPr>
          <p:nvPr/>
        </p:nvSpPr>
        <p:spPr bwMode="auto">
          <a:xfrm>
            <a:off x="323850" y="2248173"/>
            <a:ext cx="125349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zh-CN" dirty="0"/>
              <a:t>百度百科是这样解释</a:t>
            </a:r>
            <a:r>
              <a:rPr lang="en-US" altLang="zh-CN" dirty="0"/>
              <a:t>JDBC</a:t>
            </a:r>
            <a:r>
              <a:rPr lang="zh-CN" altLang="zh-CN" dirty="0"/>
              <a:t>：</a:t>
            </a:r>
            <a:r>
              <a:rPr lang="en-US" altLang="zh-CN" dirty="0"/>
              <a:t>Java</a:t>
            </a:r>
            <a:r>
              <a:rPr lang="zh-CN" altLang="zh-CN" dirty="0"/>
              <a:t>数据库连接，（</a:t>
            </a:r>
            <a:r>
              <a:rPr lang="en-US" altLang="zh-CN" dirty="0"/>
              <a:t>Java Database Connectivity</a:t>
            </a:r>
            <a:r>
              <a:rPr lang="zh-CN" altLang="zh-CN" dirty="0"/>
              <a:t>，简称</a:t>
            </a:r>
            <a:r>
              <a:rPr lang="en-US" altLang="zh-CN" dirty="0"/>
              <a:t>JDBC</a:t>
            </a:r>
            <a:r>
              <a:rPr lang="zh-CN" altLang="zh-CN" dirty="0"/>
              <a:t>）是</a:t>
            </a:r>
            <a:r>
              <a:rPr lang="en-US" altLang="zh-CN" dirty="0"/>
              <a:t>Java语言</a:t>
            </a:r>
            <a:r>
              <a:rPr lang="zh-CN" altLang="zh-CN" dirty="0"/>
              <a:t>中用来规范客户端程序如何来访问数据库的</a:t>
            </a:r>
            <a:r>
              <a:rPr lang="en-US" altLang="zh-CN" dirty="0"/>
              <a:t>应用程序接口</a:t>
            </a:r>
            <a:r>
              <a:rPr lang="zh-CN" altLang="zh-CN" dirty="0"/>
              <a:t>，提供了诸如查询和更新数据库中数据的方法。我们通常说的</a:t>
            </a:r>
            <a:r>
              <a:rPr lang="en-US" altLang="zh-CN" dirty="0"/>
              <a:t>JDBC</a:t>
            </a:r>
            <a:r>
              <a:rPr lang="zh-CN" altLang="zh-CN" dirty="0"/>
              <a:t>是面向关系型数据库的</a:t>
            </a:r>
            <a:endParaRPr lang="zh-CN" altLang="en-US" dirty="0">
              <a:ea typeface="宋体" panose="02010600030101010101" pitchFamily="2" charset="-122"/>
            </a:endParaRPr>
          </a:p>
        </p:txBody>
      </p:sp>
      <p:pic>
        <p:nvPicPr>
          <p:cNvPr id="4098" name="Picture 2" descr="图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21063" y="3400301"/>
            <a:ext cx="5317222"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8.1  JDBC</a:t>
            </a:r>
            <a:r>
              <a:rPr lang="zh-CN" altLang="en-US">
                <a:ea typeface="宋体" panose="02010600030101010101" pitchFamily="2" charset="-122"/>
              </a:rPr>
              <a:t>基础</a:t>
            </a:r>
            <a:endParaRPr lang="zh-CN" altLang="en-US">
              <a:ea typeface="宋体" panose="02010600030101010101" pitchFamily="2" charset="-122"/>
            </a:endParaRPr>
          </a:p>
        </p:txBody>
      </p:sp>
      <p:sp>
        <p:nvSpPr>
          <p:cNvPr id="8" name="Rectangle 3"/>
          <p:cNvSpPr txBox="1">
            <a:spLocks noChangeArrowheads="1"/>
          </p:cNvSpPr>
          <p:nvPr/>
        </p:nvSpPr>
        <p:spPr bwMode="auto">
          <a:xfrm>
            <a:off x="668735" y="1600101"/>
            <a:ext cx="1116124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dirty="0" smtClean="0">
                <a:ea typeface="宋体" panose="02010600030101010101" pitchFamily="2" charset="-122"/>
              </a:rPr>
              <a:t>8.1.1</a:t>
            </a:r>
            <a:r>
              <a:rPr lang="zh-CN" altLang="zh-CN" dirty="0"/>
              <a:t>什么是</a:t>
            </a:r>
            <a:r>
              <a:rPr lang="en-US" altLang="zh-CN" dirty="0"/>
              <a:t>JDBC </a:t>
            </a:r>
            <a:endParaRPr lang="en-US" altLang="zh-CN" dirty="0" smtClean="0"/>
          </a:p>
          <a:p>
            <a:pPr>
              <a:lnSpc>
                <a:spcPct val="200000"/>
              </a:lnSpc>
            </a:pPr>
            <a:r>
              <a:rPr lang="en-US" altLang="zh-CN" sz="1800" dirty="0"/>
              <a:t>JDBC-ODBC</a:t>
            </a:r>
            <a:r>
              <a:rPr lang="zh-CN" altLang="zh-CN" sz="1800" dirty="0"/>
              <a:t>桥：使用</a:t>
            </a:r>
            <a:r>
              <a:rPr lang="en-US" altLang="zh-CN" sz="1800" dirty="0"/>
              <a:t>JDBC-ODBC</a:t>
            </a:r>
            <a:r>
              <a:rPr lang="zh-CN" altLang="zh-CN" sz="1800" dirty="0"/>
              <a:t>桥接方式到</a:t>
            </a:r>
            <a:r>
              <a:rPr lang="en-US" altLang="zh-CN" sz="1800" dirty="0"/>
              <a:t>ODBC</a:t>
            </a:r>
            <a:r>
              <a:rPr lang="zh-CN" altLang="zh-CN" sz="1800" dirty="0"/>
              <a:t>驱动程序进行数据库操作。</a:t>
            </a:r>
            <a:r>
              <a:rPr lang="en-US" altLang="zh-CN" sz="1800" dirty="0"/>
              <a:t>ODBC</a:t>
            </a:r>
            <a:r>
              <a:rPr lang="zh-CN" altLang="zh-CN" sz="1800" dirty="0"/>
              <a:t>出现的比较早，支持数据源广泛，简单便利，是一种使用普遍的驱动程序。</a:t>
            </a:r>
            <a:endParaRPr lang="zh-CN" altLang="zh-CN" sz="1800" dirty="0"/>
          </a:p>
          <a:p>
            <a:pPr>
              <a:lnSpc>
                <a:spcPct val="200000"/>
              </a:lnSpc>
            </a:pPr>
            <a:r>
              <a:rPr lang="zh-CN" altLang="zh-CN" sz="1800" dirty="0"/>
              <a:t>本地</a:t>
            </a:r>
            <a:r>
              <a:rPr lang="en-US" altLang="zh-CN" sz="1800" dirty="0"/>
              <a:t>API</a:t>
            </a:r>
            <a:r>
              <a:rPr lang="zh-CN" altLang="zh-CN" sz="1800" dirty="0"/>
              <a:t>驱动：直接使用各个数据库生产商提供的</a:t>
            </a:r>
            <a:r>
              <a:rPr lang="en-US" altLang="zh-CN" sz="1800" dirty="0"/>
              <a:t>JDBC</a:t>
            </a:r>
            <a:r>
              <a:rPr lang="zh-CN" altLang="zh-CN" sz="1800" dirty="0"/>
              <a:t>驱动程序，因为只能应用在特定的数据库上，会丧失程序的可移植性，不过性能很高。</a:t>
            </a:r>
            <a:endParaRPr lang="zh-CN" altLang="zh-CN" sz="1800" dirty="0"/>
          </a:p>
          <a:p>
            <a:pPr>
              <a:lnSpc>
                <a:spcPct val="200000"/>
              </a:lnSpc>
            </a:pPr>
            <a:r>
              <a:rPr lang="en-US" altLang="zh-CN" sz="1800" dirty="0"/>
              <a:t>网络协议</a:t>
            </a:r>
            <a:r>
              <a:rPr lang="zh-CN" altLang="zh-CN" sz="1800" dirty="0"/>
              <a:t>驱动：这种类型的驱动给客户端提供了一个网络</a:t>
            </a:r>
            <a:r>
              <a:rPr lang="en-US" altLang="zh-CN" sz="1800" dirty="0"/>
              <a:t>API</a:t>
            </a:r>
            <a:r>
              <a:rPr lang="zh-CN" altLang="zh-CN" sz="1800" dirty="0"/>
              <a:t>，客户端上的</a:t>
            </a:r>
            <a:r>
              <a:rPr lang="en-US" altLang="zh-CN" sz="1800" dirty="0"/>
              <a:t>JDBC驱动程序</a:t>
            </a:r>
            <a:r>
              <a:rPr lang="zh-CN" altLang="zh-CN" sz="1800" dirty="0"/>
              <a:t>使用</a:t>
            </a:r>
            <a:r>
              <a:rPr lang="en-US" altLang="zh-CN" sz="1800" dirty="0"/>
              <a:t>套接字</a:t>
            </a:r>
            <a:r>
              <a:rPr lang="zh-CN" altLang="zh-CN" sz="1800" dirty="0"/>
              <a:t>（</a:t>
            </a:r>
            <a:r>
              <a:rPr lang="en-US" altLang="zh-CN" sz="1800" dirty="0"/>
              <a:t>Socket</a:t>
            </a:r>
            <a:r>
              <a:rPr lang="zh-CN" altLang="zh-CN" sz="1800" dirty="0"/>
              <a:t>）来调用服务器上的</a:t>
            </a:r>
            <a:r>
              <a:rPr lang="en-US" altLang="zh-CN" sz="1800" dirty="0"/>
              <a:t>中间件</a:t>
            </a:r>
            <a:r>
              <a:rPr lang="zh-CN" altLang="zh-CN" sz="1800" dirty="0"/>
              <a:t>程序，后者在将其请求转化为所需的具体</a:t>
            </a:r>
            <a:r>
              <a:rPr lang="en-US" altLang="zh-CN" sz="1800" dirty="0"/>
              <a:t>API</a:t>
            </a:r>
            <a:r>
              <a:rPr lang="zh-CN" altLang="zh-CN" sz="1800" dirty="0"/>
              <a:t>调用。</a:t>
            </a:r>
            <a:endParaRPr lang="zh-CN" altLang="zh-CN" sz="1800" dirty="0"/>
          </a:p>
          <a:p>
            <a:pPr>
              <a:lnSpc>
                <a:spcPct val="200000"/>
              </a:lnSpc>
            </a:pPr>
            <a:r>
              <a:rPr lang="zh-CN" altLang="zh-CN" sz="1800" dirty="0"/>
              <a:t>本地协议驱动：这种类型的驱动使用</a:t>
            </a:r>
            <a:r>
              <a:rPr lang="en-US" altLang="zh-CN" sz="1800" dirty="0"/>
              <a:t>Socket</a:t>
            </a:r>
            <a:r>
              <a:rPr lang="zh-CN" altLang="zh-CN" sz="1800" dirty="0"/>
              <a:t>，直接在客户端和数据库间通信。设计上采用紧密耦合的方式，可发挥数据库的特定功能，提供较高的运行效率，此类驱动也一般被认定为是较好的一种驱动程序。</a:t>
            </a:r>
            <a:endParaRPr lang="zh-CN" altLang="en-US" sz="1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en-US">
                <a:ea typeface="宋体" panose="02010600030101010101" pitchFamily="2" charset="-122"/>
              </a:rPr>
              <a:t>8.1  JDBC</a:t>
            </a:r>
            <a:r>
              <a:rPr lang="zh-CN" altLang="en-US">
                <a:ea typeface="宋体" panose="02010600030101010101" pitchFamily="2" charset="-122"/>
              </a:rPr>
              <a:t>基础</a:t>
            </a:r>
            <a:endParaRPr lang="zh-CN" altLang="en-US">
              <a:ea typeface="宋体" panose="02010600030101010101" pitchFamily="2" charset="-122"/>
            </a:endParaRPr>
          </a:p>
        </p:txBody>
      </p:sp>
      <p:sp>
        <p:nvSpPr>
          <p:cNvPr id="9" name="Rectangle 3"/>
          <p:cNvSpPr txBox="1">
            <a:spLocks noChangeArrowheads="1"/>
          </p:cNvSpPr>
          <p:nvPr/>
        </p:nvSpPr>
        <p:spPr bwMode="auto">
          <a:xfrm>
            <a:off x="611188" y="1549400"/>
            <a:ext cx="8013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gn="just"/>
            <a:r>
              <a:rPr lang="en-US" dirty="0" smtClean="0">
                <a:ea typeface="宋体" panose="02010600030101010101" pitchFamily="2" charset="-122"/>
              </a:rPr>
              <a:t>8.1.2 </a:t>
            </a:r>
            <a:r>
              <a:rPr lang="en-US" altLang="zh-CN" dirty="0"/>
              <a:t>JDBC</a:t>
            </a:r>
            <a:r>
              <a:rPr lang="zh-CN" altLang="zh-CN" dirty="0"/>
              <a:t>核心接口</a:t>
            </a:r>
            <a:r>
              <a:rPr lang="zh-CN" altLang="zh-CN" dirty="0" smtClean="0"/>
              <a:t>介绍</a:t>
            </a:r>
            <a:endParaRPr lang="zh-CN" altLang="en-US" dirty="0" smtClean="0">
              <a:ea typeface="宋体" panose="02010600030101010101" pitchFamily="2" charset="-122"/>
            </a:endParaRPr>
          </a:p>
          <a:p>
            <a:pPr algn="just"/>
            <a:endParaRPr lang="zh-CN" altLang="en-US" dirty="0">
              <a:ea typeface="宋体" panose="02010600030101010101" pitchFamily="2" charset="-122"/>
            </a:endParaRPr>
          </a:p>
        </p:txBody>
      </p:sp>
      <p:sp>
        <p:nvSpPr>
          <p:cNvPr id="10" name="Rectangle 4"/>
          <p:cNvSpPr>
            <a:spLocks noChangeArrowheads="1"/>
          </p:cNvSpPr>
          <p:nvPr/>
        </p:nvSpPr>
        <p:spPr bwMode="auto">
          <a:xfrm>
            <a:off x="611187" y="2176165"/>
            <a:ext cx="11074771"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r>
              <a:rPr lang="en-US" altLang="zh-CN" sz="2000" dirty="0" smtClean="0">
                <a:latin typeface="+mn-ea"/>
                <a:ea typeface="+mn-ea"/>
              </a:rPr>
              <a:t> JDBC</a:t>
            </a:r>
            <a:r>
              <a:rPr lang="zh-CN" altLang="zh-CN" sz="2000" dirty="0">
                <a:latin typeface="+mn-ea"/>
                <a:ea typeface="+mn-ea"/>
              </a:rPr>
              <a:t>规范提供了若干接口，而掌握这些接口的使用方法是掌握</a:t>
            </a:r>
            <a:r>
              <a:rPr lang="en-US" altLang="zh-CN" sz="2000" dirty="0">
                <a:latin typeface="+mn-ea"/>
                <a:ea typeface="+mn-ea"/>
              </a:rPr>
              <a:t>JDBC</a:t>
            </a:r>
            <a:r>
              <a:rPr lang="zh-CN" altLang="zh-CN" sz="2000" dirty="0">
                <a:latin typeface="+mn-ea"/>
                <a:ea typeface="+mn-ea"/>
              </a:rPr>
              <a:t>技术的关键。</a:t>
            </a:r>
            <a:r>
              <a:rPr lang="en-US" altLang="zh-CN" sz="2000" dirty="0">
                <a:latin typeface="+mn-ea"/>
                <a:ea typeface="+mn-ea"/>
              </a:rPr>
              <a:t>JDBC</a:t>
            </a:r>
            <a:r>
              <a:rPr lang="zh-CN" altLang="zh-CN" sz="2000" dirty="0">
                <a:latin typeface="+mn-ea"/>
                <a:ea typeface="+mn-ea"/>
              </a:rPr>
              <a:t>中的核心接口是：</a:t>
            </a:r>
            <a:r>
              <a:rPr lang="en-US" altLang="zh-CN" sz="2000" dirty="0">
                <a:latin typeface="+mn-ea"/>
                <a:ea typeface="+mn-ea"/>
              </a:rPr>
              <a:t>Driver</a:t>
            </a:r>
            <a:r>
              <a:rPr lang="zh-CN" altLang="zh-CN" sz="2000" dirty="0">
                <a:latin typeface="+mn-ea"/>
                <a:ea typeface="+mn-ea"/>
              </a:rPr>
              <a:t>、</a:t>
            </a:r>
            <a:r>
              <a:rPr lang="en-US" altLang="zh-CN" sz="2000" dirty="0" err="1">
                <a:latin typeface="+mn-ea"/>
                <a:ea typeface="+mn-ea"/>
              </a:rPr>
              <a:t>DriverManager</a:t>
            </a:r>
            <a:r>
              <a:rPr lang="zh-CN" altLang="zh-CN" sz="2000" dirty="0">
                <a:latin typeface="+mn-ea"/>
                <a:ea typeface="+mn-ea"/>
              </a:rPr>
              <a:t>、</a:t>
            </a:r>
            <a:r>
              <a:rPr lang="en-US" altLang="zh-CN" sz="2000" dirty="0">
                <a:latin typeface="+mn-ea"/>
                <a:ea typeface="+mn-ea"/>
              </a:rPr>
              <a:t>Connection</a:t>
            </a:r>
            <a:r>
              <a:rPr lang="zh-CN" altLang="zh-CN" sz="2000" dirty="0">
                <a:latin typeface="+mn-ea"/>
                <a:ea typeface="+mn-ea"/>
              </a:rPr>
              <a:t>、</a:t>
            </a:r>
            <a:r>
              <a:rPr lang="en-US" altLang="zh-CN" sz="2000" dirty="0">
                <a:latin typeface="+mn-ea"/>
                <a:ea typeface="+mn-ea"/>
              </a:rPr>
              <a:t>Statement</a:t>
            </a:r>
            <a:r>
              <a:rPr lang="zh-CN" altLang="zh-CN" sz="2000" dirty="0">
                <a:latin typeface="+mn-ea"/>
                <a:ea typeface="+mn-ea"/>
              </a:rPr>
              <a:t>、</a:t>
            </a:r>
            <a:r>
              <a:rPr lang="en-US" altLang="zh-CN" sz="2000" dirty="0" err="1">
                <a:latin typeface="+mn-ea"/>
                <a:ea typeface="+mn-ea"/>
              </a:rPr>
              <a:t>PreparedStatement</a:t>
            </a:r>
            <a:r>
              <a:rPr lang="zh-CN" altLang="zh-CN" sz="2000" dirty="0">
                <a:latin typeface="+mn-ea"/>
                <a:ea typeface="+mn-ea"/>
              </a:rPr>
              <a:t>和</a:t>
            </a:r>
            <a:r>
              <a:rPr lang="en-US" altLang="zh-CN" sz="2000" dirty="0" err="1">
                <a:latin typeface="+mn-ea"/>
                <a:ea typeface="+mn-ea"/>
              </a:rPr>
              <a:t>ResultSet</a:t>
            </a:r>
            <a:r>
              <a:rPr lang="zh-CN" altLang="zh-CN" sz="2000" dirty="0">
                <a:latin typeface="+mn-ea"/>
                <a:ea typeface="+mn-ea"/>
              </a:rPr>
              <a:t>。</a:t>
            </a:r>
            <a:endParaRPr lang="zh-CN" altLang="zh-CN" sz="2000" dirty="0">
              <a:latin typeface="+mn-ea"/>
              <a:ea typeface="+mn-ea"/>
            </a:endParaRPr>
          </a:p>
          <a:p>
            <a:pPr>
              <a:lnSpc>
                <a:spcPct val="150000"/>
              </a:lnSpc>
            </a:pPr>
            <a:r>
              <a:rPr lang="zh-CN" altLang="zh-CN" sz="2000" b="1" dirty="0">
                <a:latin typeface="+mn-ea"/>
                <a:ea typeface="+mn-ea"/>
              </a:rPr>
              <a:t>（</a:t>
            </a:r>
            <a:r>
              <a:rPr lang="en-US" altLang="zh-CN" sz="2000" b="1" dirty="0">
                <a:latin typeface="+mn-ea"/>
                <a:ea typeface="+mn-ea"/>
              </a:rPr>
              <a:t>1</a:t>
            </a:r>
            <a:r>
              <a:rPr lang="zh-CN" altLang="zh-CN" sz="2000" b="1" dirty="0">
                <a:latin typeface="+mn-ea"/>
                <a:ea typeface="+mn-ea"/>
              </a:rPr>
              <a:t>）</a:t>
            </a:r>
            <a:r>
              <a:rPr lang="en-US" altLang="zh-CN" sz="2000" b="1" dirty="0">
                <a:latin typeface="+mn-ea"/>
                <a:ea typeface="+mn-ea"/>
              </a:rPr>
              <a:t>Driver</a:t>
            </a:r>
            <a:endParaRPr lang="zh-CN" altLang="zh-CN" sz="2000" b="1" dirty="0">
              <a:latin typeface="+mn-ea"/>
              <a:ea typeface="+mn-ea"/>
            </a:endParaRPr>
          </a:p>
          <a:p>
            <a:pPr>
              <a:lnSpc>
                <a:spcPct val="150000"/>
              </a:lnSpc>
            </a:pPr>
            <a:r>
              <a:rPr lang="zh-CN" altLang="zh-CN" sz="2000" dirty="0">
                <a:latin typeface="+mn-ea"/>
                <a:ea typeface="+mn-ea"/>
              </a:rPr>
              <a:t>驱动程序，会将自身加载到</a:t>
            </a:r>
            <a:r>
              <a:rPr lang="en-US" altLang="zh-CN" sz="2000" dirty="0" err="1">
                <a:latin typeface="+mn-ea"/>
                <a:ea typeface="+mn-ea"/>
              </a:rPr>
              <a:t>DriverManager</a:t>
            </a:r>
            <a:r>
              <a:rPr lang="zh-CN" altLang="zh-CN" sz="2000" dirty="0">
                <a:latin typeface="+mn-ea"/>
                <a:ea typeface="+mn-ea"/>
              </a:rPr>
              <a:t>中去，并处理相应的请求并返回相应的数据库连接（</a:t>
            </a:r>
            <a:r>
              <a:rPr lang="en-US" altLang="zh-CN" sz="2000" dirty="0">
                <a:latin typeface="+mn-ea"/>
                <a:ea typeface="+mn-ea"/>
              </a:rPr>
              <a:t>Connection</a:t>
            </a:r>
            <a:r>
              <a:rPr lang="zh-CN" altLang="zh-CN" sz="2000" dirty="0">
                <a:latin typeface="+mn-ea"/>
                <a:ea typeface="+mn-ea"/>
              </a:rPr>
              <a:t>）</a:t>
            </a:r>
            <a:endParaRPr lang="zh-CN" altLang="zh-CN" sz="2000" dirty="0">
              <a:latin typeface="+mn-ea"/>
              <a:ea typeface="+mn-ea"/>
            </a:endParaRPr>
          </a:p>
          <a:p>
            <a:pPr>
              <a:lnSpc>
                <a:spcPct val="150000"/>
              </a:lnSpc>
            </a:pPr>
            <a:r>
              <a:rPr lang="zh-CN" altLang="zh-CN" sz="2000" b="1" dirty="0">
                <a:latin typeface="+mn-ea"/>
                <a:ea typeface="+mn-ea"/>
              </a:rPr>
              <a:t>（</a:t>
            </a:r>
            <a:r>
              <a:rPr lang="en-US" altLang="zh-CN" sz="2000" b="1" dirty="0">
                <a:latin typeface="+mn-ea"/>
                <a:ea typeface="+mn-ea"/>
              </a:rPr>
              <a:t>2</a:t>
            </a:r>
            <a:r>
              <a:rPr lang="zh-CN" altLang="zh-CN" sz="2000" b="1" dirty="0">
                <a:latin typeface="+mn-ea"/>
                <a:ea typeface="+mn-ea"/>
              </a:rPr>
              <a:t>）</a:t>
            </a:r>
            <a:r>
              <a:rPr lang="en-US" altLang="zh-CN" sz="2000" b="1" dirty="0" err="1">
                <a:latin typeface="+mn-ea"/>
                <a:ea typeface="+mn-ea"/>
              </a:rPr>
              <a:t>DriverManger</a:t>
            </a:r>
            <a:endParaRPr lang="zh-CN" altLang="zh-CN" sz="2000" b="1" dirty="0">
              <a:latin typeface="+mn-ea"/>
              <a:ea typeface="+mn-ea"/>
            </a:endParaRPr>
          </a:p>
          <a:p>
            <a:pPr>
              <a:lnSpc>
                <a:spcPct val="150000"/>
              </a:lnSpc>
            </a:pPr>
            <a:r>
              <a:rPr lang="zh-CN" altLang="zh-CN" sz="2000" dirty="0">
                <a:latin typeface="+mn-ea"/>
                <a:ea typeface="+mn-ea"/>
              </a:rPr>
              <a:t>负责加载各种不同驱动程序（</a:t>
            </a:r>
            <a:r>
              <a:rPr lang="en-US" altLang="zh-CN" sz="2000" dirty="0">
                <a:latin typeface="+mn-ea"/>
                <a:ea typeface="+mn-ea"/>
              </a:rPr>
              <a:t>Driver</a:t>
            </a:r>
            <a:r>
              <a:rPr lang="zh-CN" altLang="zh-CN" sz="2000" dirty="0">
                <a:latin typeface="+mn-ea"/>
                <a:ea typeface="+mn-ea"/>
              </a:rPr>
              <a:t>），并根据不同的请求，向调用者返回相应的数据库连接。</a:t>
            </a:r>
            <a:endParaRPr lang="zh-CN" altLang="zh-CN" sz="2000" dirty="0">
              <a:latin typeface="+mn-ea"/>
              <a:ea typeface="+mn-ea"/>
            </a:endParaRPr>
          </a:p>
          <a:p>
            <a:pPr>
              <a:lnSpc>
                <a:spcPct val="150000"/>
              </a:lnSpc>
            </a:pPr>
            <a:r>
              <a:rPr lang="zh-CN" altLang="zh-CN" sz="2000" b="1" dirty="0">
                <a:latin typeface="+mn-ea"/>
                <a:ea typeface="+mn-ea"/>
              </a:rPr>
              <a:t>（</a:t>
            </a:r>
            <a:r>
              <a:rPr lang="en-US" altLang="zh-CN" sz="2000" b="1" dirty="0">
                <a:latin typeface="+mn-ea"/>
                <a:ea typeface="+mn-ea"/>
              </a:rPr>
              <a:t>3</a:t>
            </a:r>
            <a:r>
              <a:rPr lang="zh-CN" altLang="zh-CN" sz="2000" b="1" dirty="0">
                <a:latin typeface="+mn-ea"/>
                <a:ea typeface="+mn-ea"/>
              </a:rPr>
              <a:t>）</a:t>
            </a:r>
            <a:r>
              <a:rPr lang="en-US" altLang="zh-CN" sz="2000" b="1" dirty="0">
                <a:latin typeface="+mn-ea"/>
                <a:ea typeface="+mn-ea"/>
              </a:rPr>
              <a:t>Connection</a:t>
            </a:r>
            <a:endParaRPr lang="zh-CN" altLang="zh-CN" sz="2000" b="1" dirty="0">
              <a:latin typeface="+mn-ea"/>
              <a:ea typeface="+mn-ea"/>
            </a:endParaRPr>
          </a:p>
          <a:p>
            <a:pPr>
              <a:lnSpc>
                <a:spcPct val="150000"/>
              </a:lnSpc>
            </a:pPr>
            <a:r>
              <a:rPr lang="zh-CN" altLang="zh-CN" sz="2000" dirty="0">
                <a:latin typeface="+mn-ea"/>
                <a:ea typeface="+mn-ea"/>
              </a:rPr>
              <a:t>数据库连接，负责与进行数据库间通讯，</a:t>
            </a:r>
            <a:r>
              <a:rPr lang="en-US" altLang="zh-CN" sz="2000" dirty="0">
                <a:latin typeface="+mn-ea"/>
                <a:ea typeface="+mn-ea"/>
              </a:rPr>
              <a:t>SQL</a:t>
            </a:r>
            <a:r>
              <a:rPr lang="zh-CN" altLang="zh-CN" sz="2000" dirty="0">
                <a:latin typeface="+mn-ea"/>
                <a:ea typeface="+mn-ea"/>
              </a:rPr>
              <a:t>执行以及事务处理都是在某个特定</a:t>
            </a:r>
            <a:r>
              <a:rPr lang="en-US" altLang="zh-CN" sz="2000" dirty="0">
                <a:latin typeface="+mn-ea"/>
                <a:ea typeface="+mn-ea"/>
              </a:rPr>
              <a:t>Connection</a:t>
            </a:r>
            <a:r>
              <a:rPr lang="zh-CN" altLang="zh-CN" sz="2000" dirty="0">
                <a:latin typeface="+mn-ea"/>
                <a:ea typeface="+mn-ea"/>
              </a:rPr>
              <a:t>环境中进行的。可以产生用以执行</a:t>
            </a:r>
            <a:r>
              <a:rPr lang="en-US" altLang="zh-CN" sz="2000" dirty="0">
                <a:latin typeface="+mn-ea"/>
                <a:ea typeface="+mn-ea"/>
              </a:rPr>
              <a:t>SQL</a:t>
            </a:r>
            <a:r>
              <a:rPr lang="zh-CN" altLang="zh-CN" sz="2000" dirty="0">
                <a:latin typeface="+mn-ea"/>
                <a:ea typeface="+mn-ea"/>
              </a:rPr>
              <a:t>的</a:t>
            </a:r>
            <a:r>
              <a:rPr lang="en-US" altLang="zh-CN" sz="2000" dirty="0">
                <a:latin typeface="+mn-ea"/>
                <a:ea typeface="+mn-ea"/>
              </a:rPr>
              <a:t>Statement</a:t>
            </a:r>
            <a:r>
              <a:rPr lang="zh-CN" altLang="zh-CN" sz="2000" dirty="0">
                <a:latin typeface="+mn-ea"/>
                <a:ea typeface="+mn-ea"/>
              </a:rPr>
              <a:t>。</a:t>
            </a:r>
            <a:endParaRPr lang="zh-CN" altLang="en-US" sz="2000" dirty="0">
              <a:latin typeface="+mn-ea"/>
              <a:ea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en-US">
                <a:ea typeface="宋体" panose="02010600030101010101" pitchFamily="2" charset="-122"/>
              </a:rPr>
              <a:t>8.1  JDBC</a:t>
            </a:r>
            <a:r>
              <a:rPr lang="zh-CN" altLang="en-US">
                <a:ea typeface="宋体" panose="02010600030101010101" pitchFamily="2" charset="-122"/>
              </a:rPr>
              <a:t>基础</a:t>
            </a:r>
            <a:endParaRPr lang="zh-CN" altLang="en-US">
              <a:ea typeface="宋体" panose="02010600030101010101" pitchFamily="2" charset="-122"/>
            </a:endParaRPr>
          </a:p>
        </p:txBody>
      </p:sp>
      <p:sp>
        <p:nvSpPr>
          <p:cNvPr id="9" name="Rectangle 3"/>
          <p:cNvSpPr txBox="1">
            <a:spLocks noChangeArrowheads="1"/>
          </p:cNvSpPr>
          <p:nvPr/>
        </p:nvSpPr>
        <p:spPr bwMode="auto">
          <a:xfrm>
            <a:off x="611188" y="1549400"/>
            <a:ext cx="8013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gn="just"/>
            <a:r>
              <a:rPr lang="en-US" dirty="0" smtClean="0">
                <a:ea typeface="宋体" panose="02010600030101010101" pitchFamily="2" charset="-122"/>
              </a:rPr>
              <a:t>8.1.2 </a:t>
            </a:r>
            <a:r>
              <a:rPr lang="en-US" altLang="zh-CN" dirty="0"/>
              <a:t>JDBC</a:t>
            </a:r>
            <a:r>
              <a:rPr lang="zh-CN" altLang="zh-CN" dirty="0"/>
              <a:t>核心接口</a:t>
            </a:r>
            <a:r>
              <a:rPr lang="zh-CN" altLang="zh-CN" dirty="0" smtClean="0"/>
              <a:t>介绍</a:t>
            </a:r>
            <a:endParaRPr lang="zh-CN" altLang="en-US" dirty="0" smtClean="0">
              <a:ea typeface="宋体" panose="02010600030101010101" pitchFamily="2" charset="-122"/>
            </a:endParaRPr>
          </a:p>
          <a:p>
            <a:pPr algn="just"/>
            <a:endParaRPr lang="zh-CN" altLang="en-US" dirty="0">
              <a:ea typeface="宋体" panose="02010600030101010101" pitchFamily="2" charset="-122"/>
            </a:endParaRPr>
          </a:p>
        </p:txBody>
      </p:sp>
      <p:sp>
        <p:nvSpPr>
          <p:cNvPr id="10" name="Rectangle 4"/>
          <p:cNvSpPr>
            <a:spLocks noChangeArrowheads="1"/>
          </p:cNvSpPr>
          <p:nvPr/>
        </p:nvSpPr>
        <p:spPr bwMode="auto">
          <a:xfrm>
            <a:off x="611187" y="2176165"/>
            <a:ext cx="11074771"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r>
              <a:rPr lang="en-US" altLang="zh-CN" sz="2000" dirty="0" smtClean="0">
                <a:latin typeface="+mn-ea"/>
                <a:ea typeface="+mn-ea"/>
              </a:rPr>
              <a:t> JDBC</a:t>
            </a:r>
            <a:r>
              <a:rPr lang="zh-CN" altLang="zh-CN" sz="2000" dirty="0">
                <a:latin typeface="+mn-ea"/>
                <a:ea typeface="+mn-ea"/>
              </a:rPr>
              <a:t>规范提供了若干接口，而掌握这些接口的使用方法是掌握</a:t>
            </a:r>
            <a:r>
              <a:rPr lang="en-US" altLang="zh-CN" sz="2000" dirty="0">
                <a:latin typeface="+mn-ea"/>
                <a:ea typeface="+mn-ea"/>
              </a:rPr>
              <a:t>JDBC</a:t>
            </a:r>
            <a:r>
              <a:rPr lang="zh-CN" altLang="zh-CN" sz="2000" dirty="0">
                <a:latin typeface="+mn-ea"/>
                <a:ea typeface="+mn-ea"/>
              </a:rPr>
              <a:t>技术的关键。</a:t>
            </a:r>
            <a:r>
              <a:rPr lang="en-US" altLang="zh-CN" sz="2000" dirty="0">
                <a:latin typeface="+mn-ea"/>
                <a:ea typeface="+mn-ea"/>
              </a:rPr>
              <a:t>JDBC</a:t>
            </a:r>
            <a:r>
              <a:rPr lang="zh-CN" altLang="zh-CN" sz="2000" dirty="0">
                <a:latin typeface="+mn-ea"/>
                <a:ea typeface="+mn-ea"/>
              </a:rPr>
              <a:t>中的核心接口是：</a:t>
            </a:r>
            <a:r>
              <a:rPr lang="en-US" altLang="zh-CN" sz="2000" dirty="0">
                <a:latin typeface="+mn-ea"/>
                <a:ea typeface="+mn-ea"/>
              </a:rPr>
              <a:t>Driver</a:t>
            </a:r>
            <a:r>
              <a:rPr lang="zh-CN" altLang="zh-CN" sz="2000" dirty="0">
                <a:latin typeface="+mn-ea"/>
                <a:ea typeface="+mn-ea"/>
              </a:rPr>
              <a:t>、</a:t>
            </a:r>
            <a:r>
              <a:rPr lang="en-US" altLang="zh-CN" sz="2000" dirty="0" err="1">
                <a:latin typeface="+mn-ea"/>
                <a:ea typeface="+mn-ea"/>
              </a:rPr>
              <a:t>DriverManager</a:t>
            </a:r>
            <a:r>
              <a:rPr lang="zh-CN" altLang="zh-CN" sz="2000" dirty="0">
                <a:latin typeface="+mn-ea"/>
                <a:ea typeface="+mn-ea"/>
              </a:rPr>
              <a:t>、</a:t>
            </a:r>
            <a:r>
              <a:rPr lang="en-US" altLang="zh-CN" sz="2000" dirty="0">
                <a:latin typeface="+mn-ea"/>
                <a:ea typeface="+mn-ea"/>
              </a:rPr>
              <a:t>Connection</a:t>
            </a:r>
            <a:r>
              <a:rPr lang="zh-CN" altLang="zh-CN" sz="2000" dirty="0">
                <a:latin typeface="+mn-ea"/>
                <a:ea typeface="+mn-ea"/>
              </a:rPr>
              <a:t>、</a:t>
            </a:r>
            <a:r>
              <a:rPr lang="en-US" altLang="zh-CN" sz="2000" dirty="0">
                <a:latin typeface="+mn-ea"/>
                <a:ea typeface="+mn-ea"/>
              </a:rPr>
              <a:t>Statement</a:t>
            </a:r>
            <a:r>
              <a:rPr lang="zh-CN" altLang="zh-CN" sz="2000" dirty="0">
                <a:latin typeface="+mn-ea"/>
                <a:ea typeface="+mn-ea"/>
              </a:rPr>
              <a:t>、</a:t>
            </a:r>
            <a:r>
              <a:rPr lang="en-US" altLang="zh-CN" sz="2000" dirty="0" err="1">
                <a:latin typeface="+mn-ea"/>
                <a:ea typeface="+mn-ea"/>
              </a:rPr>
              <a:t>PreparedStatement</a:t>
            </a:r>
            <a:r>
              <a:rPr lang="zh-CN" altLang="zh-CN" sz="2000" dirty="0">
                <a:latin typeface="+mn-ea"/>
                <a:ea typeface="+mn-ea"/>
              </a:rPr>
              <a:t>和</a:t>
            </a:r>
            <a:r>
              <a:rPr lang="en-US" altLang="zh-CN" sz="2000" dirty="0" err="1">
                <a:latin typeface="+mn-ea"/>
                <a:ea typeface="+mn-ea"/>
              </a:rPr>
              <a:t>ResultSet</a:t>
            </a:r>
            <a:r>
              <a:rPr lang="zh-CN" altLang="zh-CN" sz="2000" dirty="0">
                <a:latin typeface="+mn-ea"/>
                <a:ea typeface="+mn-ea"/>
              </a:rPr>
              <a:t>。</a:t>
            </a:r>
            <a:endParaRPr lang="zh-CN" altLang="zh-CN" sz="2000" dirty="0">
              <a:latin typeface="+mn-ea"/>
              <a:ea typeface="+mn-ea"/>
            </a:endParaRPr>
          </a:p>
          <a:p>
            <a:pPr>
              <a:lnSpc>
                <a:spcPct val="150000"/>
              </a:lnSpc>
            </a:pPr>
            <a:r>
              <a:rPr lang="zh-CN" altLang="zh-CN" sz="2000" dirty="0"/>
              <a:t>（</a:t>
            </a:r>
            <a:r>
              <a:rPr lang="en-US" altLang="zh-CN" sz="2000" dirty="0"/>
              <a:t>4</a:t>
            </a:r>
            <a:r>
              <a:rPr lang="zh-CN" altLang="zh-CN" sz="2000" dirty="0"/>
              <a:t>）</a:t>
            </a:r>
            <a:r>
              <a:rPr lang="en-US" altLang="zh-CN" sz="2000" b="1" dirty="0"/>
              <a:t>Statement</a:t>
            </a:r>
            <a:endParaRPr lang="zh-CN" altLang="zh-CN" sz="2000" dirty="0"/>
          </a:p>
          <a:p>
            <a:pPr>
              <a:lnSpc>
                <a:spcPct val="150000"/>
              </a:lnSpc>
            </a:pPr>
            <a:r>
              <a:rPr lang="zh-CN" altLang="zh-CN" sz="2000" dirty="0"/>
              <a:t>用来向数据库发送</a:t>
            </a:r>
            <a:r>
              <a:rPr lang="en-US" altLang="zh-CN" sz="2000" dirty="0"/>
              <a:t>SQL</a:t>
            </a:r>
            <a:r>
              <a:rPr lang="zh-CN" altLang="zh-CN" sz="2000" dirty="0"/>
              <a:t>语句，这样数据库就会执行发送过来的</a:t>
            </a:r>
            <a:r>
              <a:rPr lang="en-US" altLang="zh-CN" sz="2000" dirty="0"/>
              <a:t>SQL</a:t>
            </a:r>
            <a:r>
              <a:rPr lang="zh-CN" altLang="zh-CN" sz="2000" dirty="0"/>
              <a:t>语句（针对静态</a:t>
            </a:r>
            <a:r>
              <a:rPr lang="en-US" altLang="zh-CN" sz="2000" dirty="0"/>
              <a:t>SQL</a:t>
            </a:r>
            <a:r>
              <a:rPr lang="zh-CN" altLang="zh-CN" sz="2000" dirty="0"/>
              <a:t>语句和单次执行）。</a:t>
            </a:r>
            <a:endParaRPr lang="zh-CN" altLang="zh-CN" sz="2000" dirty="0"/>
          </a:p>
          <a:p>
            <a:pPr>
              <a:lnSpc>
                <a:spcPct val="150000"/>
              </a:lnSpc>
            </a:pPr>
            <a:r>
              <a:rPr lang="zh-CN" altLang="zh-CN" sz="2000" dirty="0"/>
              <a:t>（</a:t>
            </a:r>
            <a:r>
              <a:rPr lang="en-US" altLang="zh-CN" sz="2000" dirty="0"/>
              <a:t>5</a:t>
            </a:r>
            <a:r>
              <a:rPr lang="zh-CN" altLang="zh-CN" sz="2000" dirty="0"/>
              <a:t>）</a:t>
            </a:r>
            <a:r>
              <a:rPr lang="en-US" altLang="zh-CN" sz="2000" b="1" dirty="0" err="1"/>
              <a:t>PreparedStatement</a:t>
            </a:r>
            <a:endParaRPr lang="zh-CN" altLang="zh-CN" sz="2000" dirty="0"/>
          </a:p>
          <a:p>
            <a:pPr>
              <a:lnSpc>
                <a:spcPct val="150000"/>
              </a:lnSpc>
            </a:pPr>
            <a:r>
              <a:rPr lang="zh-CN" altLang="zh-CN" sz="2000" dirty="0"/>
              <a:t>用来执行包含动态参数的</a:t>
            </a:r>
            <a:r>
              <a:rPr lang="en-US" altLang="zh-CN" sz="2000" dirty="0"/>
              <a:t>SQL</a:t>
            </a:r>
            <a:r>
              <a:rPr lang="zh-CN" altLang="zh-CN" sz="2000" dirty="0"/>
              <a:t>查询和更新（在服务器端编译，允许重复执行以提高效率）。</a:t>
            </a:r>
            <a:endParaRPr lang="zh-CN" altLang="zh-CN" sz="2000" dirty="0"/>
          </a:p>
          <a:p>
            <a:pPr>
              <a:lnSpc>
                <a:spcPct val="150000"/>
              </a:lnSpc>
            </a:pPr>
            <a:r>
              <a:rPr lang="zh-CN" altLang="zh-CN" sz="2000" dirty="0"/>
              <a:t>（</a:t>
            </a:r>
            <a:r>
              <a:rPr lang="en-US" altLang="zh-CN" sz="2000" dirty="0"/>
              <a:t>6</a:t>
            </a:r>
            <a:r>
              <a:rPr lang="zh-CN" altLang="zh-CN" sz="2000" dirty="0"/>
              <a:t>）</a:t>
            </a:r>
            <a:r>
              <a:rPr lang="en-US" altLang="zh-CN" sz="2000" b="1" dirty="0" err="1"/>
              <a:t>ResultSet</a:t>
            </a:r>
            <a:endParaRPr lang="zh-CN" altLang="zh-CN" sz="2000" dirty="0"/>
          </a:p>
          <a:p>
            <a:pPr>
              <a:lnSpc>
                <a:spcPct val="150000"/>
              </a:lnSpc>
            </a:pPr>
            <a:r>
              <a:rPr lang="zh-CN" altLang="zh-CN" sz="2000" dirty="0"/>
              <a:t>用来表示执行查询操作后产生的查询结果集，结果集是一个有行有列的二维的表格。操作结果集要移动</a:t>
            </a:r>
            <a:r>
              <a:rPr lang="en-US" altLang="zh-CN" sz="2000" dirty="0" err="1"/>
              <a:t>ResultSet</a:t>
            </a:r>
            <a:r>
              <a:rPr lang="zh-CN" altLang="zh-CN" sz="2000" dirty="0"/>
              <a:t>内部的游标，以及获取当前行上的每一列上的数据。</a:t>
            </a:r>
            <a:endParaRPr lang="zh-CN" altLang="zh-CN"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en-US">
                <a:ea typeface="宋体" panose="02010600030101010101" pitchFamily="2" charset="-122"/>
              </a:rPr>
              <a:t>8.1  JDBC</a:t>
            </a:r>
            <a:r>
              <a:rPr lang="zh-CN" altLang="en-US">
                <a:ea typeface="宋体" panose="02010600030101010101" pitchFamily="2" charset="-122"/>
              </a:rPr>
              <a:t>基础</a:t>
            </a:r>
            <a:endParaRPr lang="zh-CN" altLang="en-US">
              <a:ea typeface="宋体" panose="02010600030101010101" pitchFamily="2" charset="-122"/>
            </a:endParaRPr>
          </a:p>
        </p:txBody>
      </p:sp>
      <p:sp>
        <p:nvSpPr>
          <p:cNvPr id="9" name="Rectangle 3"/>
          <p:cNvSpPr txBox="1">
            <a:spLocks noChangeArrowheads="1"/>
          </p:cNvSpPr>
          <p:nvPr/>
        </p:nvSpPr>
        <p:spPr bwMode="auto">
          <a:xfrm>
            <a:off x="611188" y="1549400"/>
            <a:ext cx="8013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gn="just"/>
            <a:r>
              <a:rPr lang="en-US" dirty="0" smtClean="0">
                <a:ea typeface="宋体" panose="02010600030101010101" pitchFamily="2" charset="-122"/>
              </a:rPr>
              <a:t>8.1.3 </a:t>
            </a:r>
            <a:r>
              <a:rPr lang="zh-CN" altLang="zh-CN" dirty="0"/>
              <a:t> </a:t>
            </a:r>
            <a:r>
              <a:rPr lang="en-US" altLang="zh-CN" dirty="0" err="1"/>
              <a:t>Mysql</a:t>
            </a:r>
            <a:r>
              <a:rPr lang="zh-CN" altLang="zh-CN" dirty="0"/>
              <a:t>数据库安装与驱动</a:t>
            </a:r>
            <a:r>
              <a:rPr lang="zh-CN" altLang="zh-CN" dirty="0" smtClean="0"/>
              <a:t>下载</a:t>
            </a:r>
            <a:endParaRPr lang="zh-CN" altLang="en-US" dirty="0" smtClean="0">
              <a:ea typeface="宋体" panose="02010600030101010101" pitchFamily="2" charset="-122"/>
            </a:endParaRPr>
          </a:p>
          <a:p>
            <a:pPr algn="just"/>
            <a:endParaRPr lang="zh-CN" altLang="en-US" dirty="0">
              <a:ea typeface="宋体" panose="02010600030101010101" pitchFamily="2" charset="-122"/>
            </a:endParaRPr>
          </a:p>
        </p:txBody>
      </p:sp>
      <p:sp>
        <p:nvSpPr>
          <p:cNvPr id="10" name="Rectangle 4"/>
          <p:cNvSpPr>
            <a:spLocks noChangeArrowheads="1"/>
          </p:cNvSpPr>
          <p:nvPr/>
        </p:nvSpPr>
        <p:spPr bwMode="auto">
          <a:xfrm>
            <a:off x="611187" y="2176165"/>
            <a:ext cx="11074771"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50000"/>
              </a:lnSpc>
            </a:pPr>
            <a:r>
              <a:rPr lang="zh-CN" altLang="zh-CN" sz="2000" dirty="0"/>
              <a:t>下载</a:t>
            </a:r>
            <a:r>
              <a:rPr lang="en-US" altLang="zh-CN" sz="2000" dirty="0"/>
              <a:t>MySQL</a:t>
            </a:r>
            <a:r>
              <a:rPr lang="zh-CN" altLang="zh-CN" sz="2000" dirty="0"/>
              <a:t>安装文件。登录网址</a:t>
            </a:r>
            <a:r>
              <a:rPr lang="en-US" altLang="zh-CN" sz="2000" dirty="0">
                <a:hlinkClick r:id="rId1"/>
              </a:rPr>
              <a:t>http://www.mysql.com/downloads/mysql/</a:t>
            </a:r>
            <a:r>
              <a:rPr lang="zh-CN" altLang="zh-CN" sz="2000" dirty="0"/>
              <a:t>，会出现下载列表如图 </a:t>
            </a:r>
            <a:r>
              <a:rPr lang="en-US" altLang="zh-CN" sz="2000" dirty="0"/>
              <a:t>8-2 MySQL</a:t>
            </a:r>
            <a:r>
              <a:rPr lang="zh-CN" altLang="zh-CN" sz="2000" dirty="0"/>
              <a:t>下载列表所示，根据个人操作系统选择相应的下载项，这里下载的是</a:t>
            </a:r>
            <a:r>
              <a:rPr lang="en-US" altLang="zh-CN" sz="2000" dirty="0"/>
              <a:t>Windows</a:t>
            </a:r>
            <a:r>
              <a:rPr lang="zh-CN" altLang="zh-CN" sz="2000" dirty="0"/>
              <a:t>（</a:t>
            </a:r>
            <a:r>
              <a:rPr lang="en-US" altLang="zh-CN" sz="2000" dirty="0"/>
              <a:t>x86,64-bit</a:t>
            </a:r>
            <a:r>
              <a:rPr lang="zh-CN" altLang="zh-CN" sz="2000" dirty="0"/>
              <a:t>）</a:t>
            </a:r>
            <a:r>
              <a:rPr lang="en-US" altLang="zh-CN" sz="2000" dirty="0"/>
              <a:t>,MSI Installer</a:t>
            </a:r>
            <a:r>
              <a:rPr lang="zh-CN" altLang="zh-CN" sz="2000" dirty="0"/>
              <a:t>，注意首先需要登录</a:t>
            </a:r>
            <a:r>
              <a:rPr lang="en-US" altLang="zh-CN" sz="2000" dirty="0"/>
              <a:t>Oracle</a:t>
            </a:r>
            <a:r>
              <a:rPr lang="zh-CN" altLang="zh-CN" sz="2000" dirty="0"/>
              <a:t>账户</a:t>
            </a:r>
            <a:r>
              <a:rPr lang="zh-CN" altLang="zh-CN" sz="2000" dirty="0" smtClean="0"/>
              <a:t>。</a:t>
            </a:r>
            <a:endParaRPr lang="en-US" altLang="zh-CN" sz="2000" dirty="0" smtClean="0"/>
          </a:p>
          <a:p>
            <a:pPr>
              <a:lnSpc>
                <a:spcPct val="150000"/>
              </a:lnSpc>
            </a:pPr>
            <a:r>
              <a:rPr lang="zh-CN" altLang="zh-CN" sz="2000" dirty="0"/>
              <a:t>运行安装程序出现图</a:t>
            </a:r>
            <a:r>
              <a:rPr lang="en-US" altLang="zh-CN" sz="2000" dirty="0"/>
              <a:t> 8-3 </a:t>
            </a:r>
            <a:r>
              <a:rPr lang="zh-CN" altLang="zh-CN" sz="2000" dirty="0"/>
              <a:t>安装类型选择界面，选择</a:t>
            </a:r>
            <a:r>
              <a:rPr lang="en-US" altLang="zh-CN" sz="2000" dirty="0"/>
              <a:t>Custom</a:t>
            </a:r>
            <a:r>
              <a:rPr lang="zh-CN" altLang="zh-CN" sz="2000" dirty="0"/>
              <a:t>（自定义）安装，方便将</a:t>
            </a:r>
            <a:r>
              <a:rPr lang="en-US" altLang="zh-CN" sz="2000" dirty="0"/>
              <a:t>MySQL</a:t>
            </a:r>
            <a:r>
              <a:rPr lang="zh-CN" altLang="zh-CN" sz="2000" dirty="0"/>
              <a:t>安装到非系统盘。</a:t>
            </a:r>
            <a:endParaRPr lang="zh-CN" altLang="zh-CN" sz="2000" dirty="0"/>
          </a:p>
        </p:txBody>
      </p:sp>
      <p:pic>
        <p:nvPicPr>
          <p:cNvPr id="5122" name="Picture 2" descr="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927" y="4245435"/>
            <a:ext cx="3456384" cy="2897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3511" y="4336405"/>
            <a:ext cx="3625061" cy="273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3552446" y="1761854"/>
            <a:ext cx="5790037" cy="806946"/>
          </a:xfrm>
          <a:prstGeom prst="rect">
            <a:avLst/>
          </a:prstGeom>
          <a:noFill/>
        </p:spPr>
        <p:txBody>
          <a:bodyPr wrap="none" lIns="128583" tIns="64291" rIns="128583" bIns="64291" rtlCol="0">
            <a:spAutoFit/>
          </a:bodyPr>
          <a:lstStyle/>
          <a:p>
            <a:pPr algn="ctr"/>
            <a:r>
              <a:rPr kumimoji="1" lang="en-US" altLang="zh-CN" sz="4400" b="1" dirty="0" smtClean="0">
                <a:solidFill>
                  <a:srgbClr val="43536A"/>
                </a:solidFill>
                <a:cs typeface="+mn-ea"/>
              </a:rPr>
              <a:t>8.2  JDBC</a:t>
            </a:r>
            <a:r>
              <a:rPr kumimoji="1" lang="zh-CN" altLang="en-US" sz="4400" b="1" dirty="0" smtClean="0">
                <a:solidFill>
                  <a:srgbClr val="43536A"/>
                </a:solidFill>
                <a:cs typeface="+mn-ea"/>
              </a:rPr>
              <a:t>编程基本操作</a:t>
            </a:r>
            <a:endParaRPr kumimoji="1" lang="zh-CN" altLang="en-US" sz="44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1532831" y="1341437"/>
            <a:ext cx="8719517" cy="5443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ct val="180000"/>
              </a:lnSpc>
            </a:pPr>
            <a:r>
              <a:rPr lang="en-US" sz="2600" dirty="0" smtClean="0">
                <a:ea typeface="宋体" panose="02010600030101010101" pitchFamily="2" charset="-122"/>
              </a:rPr>
              <a:t>JDBC</a:t>
            </a:r>
            <a:r>
              <a:rPr lang="zh-CN" altLang="en-US" sz="2600" dirty="0" smtClean="0">
                <a:ea typeface="宋体" panose="02010600030101010101" pitchFamily="2" charset="-122"/>
              </a:rPr>
              <a:t>编程基本操作</a:t>
            </a:r>
            <a:r>
              <a:rPr lang="zh-CN" altLang="en-US" dirty="0" smtClean="0">
                <a:ea typeface="宋体" panose="02010600030101010101" pitchFamily="2" charset="-122"/>
              </a:rPr>
              <a:t> </a:t>
            </a:r>
            <a:endParaRPr lang="zh-CN" altLang="en-US" sz="3200" dirty="0" smtClean="0">
              <a:ea typeface="宋体" panose="02010600030101010101" pitchFamily="2" charset="-122"/>
            </a:endParaRPr>
          </a:p>
          <a:p>
            <a:pPr marL="1075055" lvl="1" indent="-533400">
              <a:lnSpc>
                <a:spcPct val="180000"/>
              </a:lnSpc>
            </a:pPr>
            <a:r>
              <a:rPr lang="zh-CN" altLang="zh-CN" sz="2400" dirty="0"/>
              <a:t>注册数据库</a:t>
            </a:r>
            <a:r>
              <a:rPr lang="zh-CN" altLang="zh-CN" sz="2400" dirty="0" smtClean="0"/>
              <a:t>驱动程</a:t>
            </a:r>
            <a:r>
              <a:rPr lang="zh-CN" altLang="en-US" sz="2200" dirty="0" smtClean="0">
                <a:ea typeface="宋体" panose="02010600030101010101" pitchFamily="2" charset="-122"/>
              </a:rPr>
              <a:t>序 </a:t>
            </a:r>
            <a:endParaRPr lang="zh-CN" altLang="en-US" sz="2200" dirty="0" smtClean="0">
              <a:ea typeface="宋体" panose="02010600030101010101" pitchFamily="2" charset="-122"/>
            </a:endParaRPr>
          </a:p>
          <a:p>
            <a:pPr marL="1075055" lvl="1" indent="-533400">
              <a:lnSpc>
                <a:spcPct val="180000"/>
              </a:lnSpc>
            </a:pPr>
            <a:r>
              <a:rPr lang="zh-CN" altLang="zh-CN" sz="2400" dirty="0"/>
              <a:t>建立数据库</a:t>
            </a:r>
            <a:r>
              <a:rPr lang="zh-CN" altLang="zh-CN" sz="2400" dirty="0" smtClean="0"/>
              <a:t>连接</a:t>
            </a:r>
            <a:endParaRPr lang="zh-CN" altLang="en-US" sz="2200" dirty="0" smtClean="0">
              <a:ea typeface="宋体" panose="02010600030101010101" pitchFamily="2" charset="-122"/>
            </a:endParaRPr>
          </a:p>
          <a:p>
            <a:pPr marL="1075055" lvl="1" indent="-533400">
              <a:lnSpc>
                <a:spcPct val="180000"/>
              </a:lnSpc>
            </a:pPr>
            <a:r>
              <a:rPr lang="zh-CN" altLang="zh-CN" sz="2400" dirty="0"/>
              <a:t>使用</a:t>
            </a:r>
            <a:r>
              <a:rPr lang="en-US" altLang="zh-CN" sz="2400" dirty="0"/>
              <a:t>Statement</a:t>
            </a:r>
            <a:r>
              <a:rPr lang="zh-CN" altLang="zh-CN" sz="2400" dirty="0"/>
              <a:t>接口实现添删改查</a:t>
            </a:r>
            <a:r>
              <a:rPr lang="zh-CN" altLang="zh-CN" sz="2400" dirty="0" smtClean="0"/>
              <a:t>操作</a:t>
            </a:r>
            <a:endParaRPr lang="zh-CN" altLang="en-US" sz="2200" dirty="0" smtClean="0">
              <a:ea typeface="宋体" panose="02010600030101010101" pitchFamily="2" charset="-122"/>
            </a:endParaRPr>
          </a:p>
          <a:p>
            <a:pPr marL="1075055" lvl="1" indent="-533400">
              <a:lnSpc>
                <a:spcPct val="180000"/>
              </a:lnSpc>
            </a:pPr>
            <a:r>
              <a:rPr lang="zh-CN" altLang="zh-CN" sz="2400" dirty="0"/>
              <a:t>使用</a:t>
            </a:r>
            <a:r>
              <a:rPr lang="en-US" altLang="zh-CN" sz="2400" dirty="0" err="1"/>
              <a:t>PreparedStatement</a:t>
            </a:r>
            <a:r>
              <a:rPr lang="zh-CN" altLang="zh-CN" sz="2400" dirty="0"/>
              <a:t>接口实现添删改查</a:t>
            </a:r>
            <a:r>
              <a:rPr lang="zh-CN" altLang="zh-CN" sz="2400" dirty="0" smtClean="0"/>
              <a:t>操作</a:t>
            </a:r>
            <a:endParaRPr lang="en-US" altLang="zh-CN" sz="2400" dirty="0" smtClean="0"/>
          </a:p>
          <a:p>
            <a:pPr marL="1075055" lvl="1" indent="-533400">
              <a:lnSpc>
                <a:spcPct val="180000"/>
              </a:lnSpc>
            </a:pPr>
            <a:r>
              <a:rPr lang="zh-CN" altLang="zh-CN" sz="2400" dirty="0"/>
              <a:t>可滚动结果集和可更新结果</a:t>
            </a:r>
            <a:r>
              <a:rPr lang="zh-CN" altLang="zh-CN" sz="2400" dirty="0" smtClean="0"/>
              <a:t>集</a:t>
            </a:r>
            <a:endParaRPr lang="en-US" altLang="zh-CN" sz="2400" dirty="0" smtClean="0"/>
          </a:p>
          <a:p>
            <a:pPr marL="1075055" lvl="1" indent="-533400">
              <a:lnSpc>
                <a:spcPct val="180000"/>
              </a:lnSpc>
            </a:pPr>
            <a:r>
              <a:rPr lang="zh-CN" altLang="zh-CN" sz="2400" dirty="0"/>
              <a:t>实现</a:t>
            </a:r>
            <a:r>
              <a:rPr lang="en-US" altLang="zh-CN" sz="2400" dirty="0"/>
              <a:t>Connection</a:t>
            </a:r>
            <a:r>
              <a:rPr lang="zh-CN" altLang="zh-CN" sz="2400" dirty="0"/>
              <a:t>工厂类</a:t>
            </a:r>
            <a:endParaRPr lang="zh-CN" altLang="en-US" sz="2200" dirty="0">
              <a:ea typeface="宋体" panose="02010600030101010101" pitchFamily="2" charset="-122"/>
            </a:endParaRPr>
          </a:p>
        </p:txBody>
      </p:sp>
      <p:sp>
        <p:nvSpPr>
          <p:cNvPr id="9" name="Rectangle 3"/>
          <p:cNvSpPr>
            <a:spLocks noGrp="1" noChangeArrowheads="1"/>
          </p:cNvSpPr>
          <p:nvPr>
            <p:ph type="title"/>
          </p:nvPr>
        </p:nvSpPr>
        <p:spPr>
          <a:xfrm>
            <a:off x="1515194" y="574675"/>
            <a:ext cx="8010525" cy="622300"/>
          </a:xfrm>
          <a:noFill/>
        </p:spPr>
        <p:txBody>
          <a:bodyPr/>
          <a:lstStyle/>
          <a:p>
            <a:r>
              <a:rPr lang="zh-CN" altLang="en-US" dirty="0" smtClean="0">
                <a:ea typeface="宋体" panose="02010600030101010101" pitchFamily="2" charset="-122"/>
              </a:rPr>
              <a:t>第八章    </a:t>
            </a:r>
            <a:r>
              <a:rPr lang="en-US" dirty="0" smtClean="0">
                <a:ea typeface="宋体" panose="02010600030101010101" pitchFamily="2" charset="-122"/>
              </a:rPr>
              <a:t>JDBC</a:t>
            </a:r>
            <a:r>
              <a:rPr lang="zh-CN" altLang="en-US" dirty="0" smtClean="0">
                <a:ea typeface="宋体" panose="02010600030101010101" pitchFamily="2" charset="-122"/>
              </a:rPr>
              <a:t>核心技术</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9750" y="620713"/>
            <a:ext cx="8010525" cy="622300"/>
          </a:xfrm>
        </p:spPr>
        <p:txBody>
          <a:bodyPr/>
          <a:lstStyle/>
          <a:p>
            <a:r>
              <a:rPr lang="en-US" dirty="0">
                <a:ea typeface="宋体" panose="02010600030101010101" pitchFamily="2" charset="-122"/>
              </a:rPr>
              <a:t>8.2  JDBC</a:t>
            </a:r>
            <a:r>
              <a:rPr lang="zh-CN" altLang="en-US" dirty="0">
                <a:ea typeface="宋体" panose="02010600030101010101" pitchFamily="2" charset="-122"/>
              </a:rPr>
              <a:t>编程基本操作 </a:t>
            </a:r>
            <a:endParaRPr lang="zh-CN" altLang="en-US" dirty="0">
              <a:ea typeface="宋体" panose="02010600030101010101" pitchFamily="2" charset="-122"/>
            </a:endParaRPr>
          </a:p>
        </p:txBody>
      </p:sp>
      <p:sp>
        <p:nvSpPr>
          <p:cNvPr id="9" name="Rectangle 3"/>
          <p:cNvSpPr txBox="1">
            <a:spLocks noChangeArrowheads="1"/>
          </p:cNvSpPr>
          <p:nvPr/>
        </p:nvSpPr>
        <p:spPr bwMode="auto">
          <a:xfrm>
            <a:off x="611187" y="1549400"/>
            <a:ext cx="10786739" cy="4443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dirty="0" smtClean="0">
                <a:ea typeface="宋体" panose="02010600030101010101" pitchFamily="2" charset="-122"/>
              </a:rPr>
              <a:t>8.2.1 </a:t>
            </a:r>
            <a:r>
              <a:rPr lang="zh-CN" altLang="en-US" dirty="0" smtClean="0">
                <a:ea typeface="宋体" panose="02010600030101010101" pitchFamily="2" charset="-122"/>
              </a:rPr>
              <a:t>注册数据库驱动程序</a:t>
            </a:r>
            <a:endParaRPr lang="zh-CN" altLang="en-US" dirty="0" smtClean="0">
              <a:ea typeface="宋体" panose="02010600030101010101" pitchFamily="2" charset="-122"/>
            </a:endParaRPr>
          </a:p>
          <a:p>
            <a:pPr marL="0" indent="0">
              <a:lnSpc>
                <a:spcPct val="150000"/>
              </a:lnSpc>
              <a:spcBef>
                <a:spcPct val="0"/>
              </a:spcBef>
              <a:buNone/>
            </a:pPr>
            <a:endParaRPr lang="en-US" altLang="zh-CN" sz="2000" dirty="0" smtClean="0">
              <a:latin typeface="Calibri" panose="020F0502020204030204" pitchFamily="34" charset="0"/>
              <a:ea typeface="宋体" panose="02010600030101010101" pitchFamily="2" charset="-122"/>
            </a:endParaRPr>
          </a:p>
          <a:p>
            <a:pPr marL="0" indent="0">
              <a:lnSpc>
                <a:spcPct val="150000"/>
              </a:lnSpc>
              <a:spcBef>
                <a:spcPct val="0"/>
              </a:spcBef>
              <a:buNone/>
            </a:pPr>
            <a:r>
              <a:rPr lang="en-US" altLang="zh-CN" sz="2400" dirty="0" smtClean="0">
                <a:latin typeface="Calibri" panose="020F0502020204030204" pitchFamily="34" charset="0"/>
                <a:ea typeface="宋体" panose="02010600030101010101" pitchFamily="2" charset="-122"/>
              </a:rPr>
              <a:t>JDBC</a:t>
            </a:r>
            <a:r>
              <a:rPr lang="zh-CN" altLang="zh-CN" sz="2400" dirty="0">
                <a:latin typeface="Calibri" panose="020F0502020204030204" pitchFamily="34" charset="0"/>
                <a:ea typeface="宋体" panose="02010600030101010101" pitchFamily="2" charset="-122"/>
              </a:rPr>
              <a:t>编程的准备工作是需要下载驱动包，解压后得到</a:t>
            </a:r>
            <a:r>
              <a:rPr lang="en-US" altLang="zh-CN" sz="2400" dirty="0">
                <a:latin typeface="Calibri" panose="020F0502020204030204" pitchFamily="34" charset="0"/>
                <a:ea typeface="宋体" panose="02010600030101010101" pitchFamily="2" charset="-122"/>
              </a:rPr>
              <a:t> jar </a:t>
            </a:r>
            <a:r>
              <a:rPr lang="zh-CN" altLang="zh-CN" sz="2400" dirty="0">
                <a:latin typeface="Calibri" panose="020F0502020204030204" pitchFamily="34" charset="0"/>
                <a:ea typeface="宋体" panose="02010600030101010101" pitchFamily="2" charset="-122"/>
              </a:rPr>
              <a:t>库文件，然后在对应的项目中导入该库文件。</a:t>
            </a:r>
            <a:endParaRPr lang="zh-CN" altLang="zh-CN" sz="2400" dirty="0">
              <a:latin typeface="Calibri" panose="020F0502020204030204" pitchFamily="34" charset="0"/>
              <a:ea typeface="宋体" panose="02010600030101010101" pitchFamily="2" charset="-122"/>
            </a:endParaRPr>
          </a:p>
          <a:p>
            <a:pPr marL="0" indent="0">
              <a:lnSpc>
                <a:spcPct val="150000"/>
              </a:lnSpc>
              <a:spcBef>
                <a:spcPct val="0"/>
              </a:spcBef>
              <a:buNone/>
            </a:pPr>
            <a:r>
              <a:rPr lang="en-US" altLang="zh-CN" sz="2400" dirty="0">
                <a:latin typeface="Calibri" panose="020F0502020204030204" pitchFamily="34" charset="0"/>
                <a:ea typeface="宋体" panose="02010600030101010101" pitchFamily="2" charset="-122"/>
              </a:rPr>
              <a:t>JDBC</a:t>
            </a:r>
            <a:r>
              <a:rPr lang="zh-CN" altLang="zh-CN" sz="2400" dirty="0">
                <a:latin typeface="Calibri" panose="020F0502020204030204" pitchFamily="34" charset="0"/>
                <a:ea typeface="宋体" panose="02010600030101010101" pitchFamily="2" charset="-122"/>
              </a:rPr>
              <a:t>编程的第一步是注册</a:t>
            </a:r>
            <a:r>
              <a:rPr lang="en-US" altLang="zh-CN" sz="2400" dirty="0">
                <a:latin typeface="Calibri" panose="020F0502020204030204" pitchFamily="34" charset="0"/>
                <a:ea typeface="宋体" panose="02010600030101010101" pitchFamily="2" charset="-122"/>
              </a:rPr>
              <a:t> JDBC </a:t>
            </a:r>
            <a:r>
              <a:rPr lang="zh-CN" altLang="zh-CN" sz="2400" dirty="0">
                <a:latin typeface="Calibri" panose="020F0502020204030204" pitchFamily="34" charset="0"/>
                <a:ea typeface="宋体" panose="02010600030101010101" pitchFamily="2" charset="-122"/>
              </a:rPr>
              <a:t>驱动程序，示例代码如下所示</a:t>
            </a:r>
            <a:r>
              <a:rPr lang="zh-CN" altLang="zh-CN" sz="2400" dirty="0" smtClean="0">
                <a:latin typeface="Calibri" panose="020F0502020204030204" pitchFamily="34" charset="0"/>
                <a:ea typeface="宋体" panose="02010600030101010101" pitchFamily="2" charset="-122"/>
              </a:rPr>
              <a:t>：</a:t>
            </a:r>
            <a:endParaRPr lang="en-US" altLang="zh-CN" sz="2400" dirty="0" smtClean="0">
              <a:latin typeface="Calibri" panose="020F0502020204030204" pitchFamily="34" charset="0"/>
              <a:ea typeface="宋体" panose="02010600030101010101" pitchFamily="2" charset="-122"/>
            </a:endParaRPr>
          </a:p>
          <a:p>
            <a:pPr marL="0" indent="0">
              <a:buNone/>
            </a:pPr>
            <a:r>
              <a:rPr lang="en-US" altLang="zh-CN" sz="2000" b="1" dirty="0"/>
              <a:t>try</a:t>
            </a:r>
            <a:r>
              <a:rPr lang="en-US" altLang="zh-CN" sz="2000" dirty="0"/>
              <a:t> {</a:t>
            </a:r>
            <a:endParaRPr lang="zh-CN" altLang="zh-CN" sz="2000" dirty="0"/>
          </a:p>
          <a:p>
            <a:pPr marL="0" indent="0">
              <a:buNone/>
            </a:pPr>
            <a:r>
              <a:rPr lang="en-US" altLang="zh-CN" sz="2000" dirty="0"/>
              <a:t>			</a:t>
            </a:r>
            <a:r>
              <a:rPr lang="en-US" altLang="zh-CN" sz="2000" dirty="0" err="1"/>
              <a:t>Class.</a:t>
            </a:r>
            <a:r>
              <a:rPr lang="en-US" altLang="zh-CN" sz="2000" i="1" dirty="0" err="1"/>
              <a:t>forName</a:t>
            </a:r>
            <a:r>
              <a:rPr lang="en-US" altLang="zh-CN" sz="2000" dirty="0"/>
              <a:t>("</a:t>
            </a:r>
            <a:r>
              <a:rPr lang="en-US" altLang="zh-CN" sz="2000" dirty="0" err="1"/>
              <a:t>com.mysql.jdbc.Driver</a:t>
            </a:r>
            <a:r>
              <a:rPr lang="en-US" altLang="zh-CN" sz="2000" dirty="0"/>
              <a:t>");</a:t>
            </a:r>
            <a:endParaRPr lang="zh-CN" altLang="zh-CN" sz="2000" dirty="0"/>
          </a:p>
          <a:p>
            <a:pPr marL="0" indent="0">
              <a:buNone/>
            </a:pPr>
            <a:r>
              <a:rPr lang="en-US" altLang="zh-CN" sz="2000" dirty="0"/>
              <a:t>		} </a:t>
            </a:r>
            <a:r>
              <a:rPr lang="en-US" altLang="zh-CN" sz="2000" b="1" dirty="0"/>
              <a:t>catch</a:t>
            </a:r>
            <a:r>
              <a:rPr lang="en-US" altLang="zh-CN" sz="2000" dirty="0"/>
              <a:t> (</a:t>
            </a:r>
            <a:r>
              <a:rPr lang="en-US" altLang="zh-CN" sz="2000" dirty="0" err="1"/>
              <a:t>ClassNotFoundException</a:t>
            </a:r>
            <a:r>
              <a:rPr lang="en-US" altLang="zh-CN" sz="2000" dirty="0"/>
              <a:t> e) {</a:t>
            </a:r>
            <a:endParaRPr lang="zh-CN" altLang="zh-CN" sz="2000" dirty="0"/>
          </a:p>
          <a:p>
            <a:pPr marL="0" indent="0">
              <a:buNone/>
            </a:pPr>
            <a:r>
              <a:rPr lang="en-US" altLang="zh-CN" sz="2000" dirty="0"/>
              <a:t>			</a:t>
            </a:r>
            <a:r>
              <a:rPr lang="en-US" altLang="zh-CN" sz="2000" dirty="0" err="1"/>
              <a:t>e.printStackTrace</a:t>
            </a:r>
            <a:r>
              <a:rPr lang="en-US" altLang="zh-CN" sz="2000" dirty="0"/>
              <a:t>();</a:t>
            </a:r>
            <a:endParaRPr lang="zh-CN" altLang="zh-CN" sz="2000" dirty="0"/>
          </a:p>
          <a:p>
            <a:pPr marL="0" indent="0">
              <a:buNone/>
            </a:pPr>
            <a:r>
              <a:rPr lang="en-US" altLang="zh-CN" sz="2000" dirty="0"/>
              <a:t>		}</a:t>
            </a:r>
            <a:endParaRPr lang="zh-CN" altLang="zh-CN" sz="2000" dirty="0"/>
          </a:p>
          <a:p>
            <a:pPr marL="0" indent="0">
              <a:buNone/>
            </a:pPr>
            <a:r>
              <a:rPr lang="en-US" altLang="zh-CN" sz="2000" dirty="0"/>
              <a:t>	}</a:t>
            </a:r>
            <a:endParaRPr lang="zh-CN" altLang="zh-CN" sz="2000" dirty="0"/>
          </a:p>
          <a:p>
            <a:pPr marL="0" indent="0">
              <a:lnSpc>
                <a:spcPct val="150000"/>
              </a:lnSpc>
              <a:spcBef>
                <a:spcPct val="0"/>
              </a:spcBef>
              <a:buNone/>
            </a:pPr>
            <a:endParaRPr lang="zh-CN" altLang="en-US" sz="2000" dirty="0">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sp>
        <p:nvSpPr>
          <p:cNvPr id="3" name="Rectangle 3"/>
          <p:cNvSpPr txBox="1">
            <a:spLocks noChangeArrowheads="1"/>
          </p:cNvSpPr>
          <p:nvPr/>
        </p:nvSpPr>
        <p:spPr bwMode="auto">
          <a:xfrm>
            <a:off x="663575" y="1495425"/>
            <a:ext cx="11598448"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dirty="0" smtClean="0">
                <a:ea typeface="宋体" panose="02010600030101010101" pitchFamily="2" charset="-122"/>
              </a:rPr>
              <a:t>8.2.2 </a:t>
            </a:r>
            <a:r>
              <a:rPr lang="zh-CN" altLang="en-US" dirty="0" smtClean="0">
                <a:ea typeface="宋体" panose="02010600030101010101" pitchFamily="2" charset="-122"/>
              </a:rPr>
              <a:t>建立数据库连接</a:t>
            </a:r>
            <a:endParaRPr lang="zh-CN" altLang="en-US" dirty="0" smtClean="0">
              <a:ea typeface="宋体" panose="02010600030101010101" pitchFamily="2" charset="-122"/>
            </a:endParaRPr>
          </a:p>
          <a:p>
            <a:pPr>
              <a:buFont typeface="Wingdings" panose="05000000000000000000" pitchFamily="2" charset="2"/>
              <a:buNone/>
            </a:pPr>
            <a:r>
              <a:rPr lang="en-US" sz="3200" dirty="0" smtClean="0">
                <a:ea typeface="宋体" panose="02010600030101010101" pitchFamily="2" charset="-122"/>
              </a:rPr>
              <a:t>	</a:t>
            </a:r>
            <a:endParaRPr lang="en-US" sz="3200" dirty="0" smtClean="0">
              <a:ea typeface="宋体" panose="02010600030101010101" pitchFamily="2" charset="-122"/>
            </a:endParaRPr>
          </a:p>
          <a:p>
            <a:pPr>
              <a:lnSpc>
                <a:spcPct val="160000"/>
              </a:lnSpc>
              <a:buFont typeface="Wingdings" panose="05000000000000000000" pitchFamily="2" charset="2"/>
              <a:buNone/>
            </a:pPr>
            <a:r>
              <a:rPr lang="en-US" sz="2000" dirty="0" smtClean="0">
                <a:ea typeface="宋体" panose="02010600030101010101" pitchFamily="2" charset="-122"/>
              </a:rPr>
              <a:t>	JDBC</a:t>
            </a:r>
            <a:r>
              <a:rPr lang="zh-CN" altLang="en-US" sz="2000" dirty="0" smtClean="0">
                <a:ea typeface="宋体" panose="02010600030101010101" pitchFamily="2" charset="-122"/>
              </a:rPr>
              <a:t>编程的第二步是建立数据库连接，前一节在</a:t>
            </a:r>
            <a:r>
              <a:rPr lang="en-US" sz="2000" dirty="0" smtClean="0">
                <a:ea typeface="宋体" panose="02010600030101010101" pitchFamily="2" charset="-122"/>
              </a:rPr>
              <a:t>JVM</a:t>
            </a:r>
            <a:r>
              <a:rPr lang="zh-CN" altLang="en-US" sz="2000" dirty="0" smtClean="0">
                <a:ea typeface="宋体" panose="02010600030101010101" pitchFamily="2" charset="-122"/>
              </a:rPr>
              <a:t>环境下注册了</a:t>
            </a:r>
            <a:r>
              <a:rPr lang="en-US" sz="2000" dirty="0" smtClean="0">
                <a:ea typeface="宋体" panose="02010600030101010101" pitchFamily="2" charset="-122"/>
              </a:rPr>
              <a:t>JDBC</a:t>
            </a:r>
            <a:r>
              <a:rPr lang="zh-CN" altLang="en-US" sz="2000" dirty="0" smtClean="0">
                <a:ea typeface="宋体" panose="02010600030101010101" pitchFamily="2" charset="-122"/>
              </a:rPr>
              <a:t>运行所需要的类库后，</a:t>
            </a:r>
            <a:r>
              <a:rPr lang="en-US" sz="2000" dirty="0" smtClean="0">
                <a:ea typeface="宋体" panose="02010600030101010101" pitchFamily="2" charset="-122"/>
              </a:rPr>
              <a:t>JVM</a:t>
            </a:r>
            <a:r>
              <a:rPr lang="zh-CN" altLang="en-US" sz="2000" dirty="0" smtClean="0">
                <a:ea typeface="宋体" panose="02010600030101010101" pitchFamily="2" charset="-122"/>
              </a:rPr>
              <a:t>和数据库之间并没有直接联系，只有通过本节操作后才能获得一个数据库连接对象</a:t>
            </a:r>
            <a:r>
              <a:rPr lang="en-US" sz="2000" dirty="0" smtClean="0">
                <a:ea typeface="宋体" panose="02010600030101010101" pitchFamily="2" charset="-122"/>
              </a:rPr>
              <a:t>Connection</a:t>
            </a:r>
            <a:r>
              <a:rPr lang="zh-CN" altLang="en-US" sz="2000" dirty="0" smtClean="0">
                <a:ea typeface="宋体" panose="02010600030101010101" pitchFamily="2" charset="-122"/>
              </a:rPr>
              <a:t>建立程序和数据库的联系。</a:t>
            </a:r>
            <a:endParaRPr lang="zh-CN" altLang="en-US" sz="2000" dirty="0" smtClean="0">
              <a:ea typeface="宋体" panose="02010600030101010101" pitchFamily="2" charset="-122"/>
            </a:endParaRPr>
          </a:p>
          <a:p>
            <a:pPr>
              <a:lnSpc>
                <a:spcPct val="160000"/>
              </a:lnSpc>
              <a:buFont typeface="Wingdings" panose="05000000000000000000" pitchFamily="2" charset="2"/>
              <a:buNone/>
            </a:pPr>
            <a:r>
              <a:rPr lang="zh-CN" altLang="en-US" sz="2000" dirty="0" smtClean="0">
                <a:ea typeface="宋体" panose="02010600030101010101" pitchFamily="2" charset="-122"/>
              </a:rPr>
              <a:t>	</a:t>
            </a:r>
            <a:endParaRPr lang="zh-CN" altLang="en-US" sz="2000" dirty="0" smtClean="0">
              <a:ea typeface="宋体" panose="02010600030101010101" pitchFamily="2" charset="-122"/>
            </a:endParaRPr>
          </a:p>
          <a:p>
            <a:pPr>
              <a:lnSpc>
                <a:spcPct val="160000"/>
              </a:lnSpc>
              <a:buFont typeface="Wingdings" panose="05000000000000000000" pitchFamily="2" charset="2"/>
              <a:buNone/>
            </a:pPr>
            <a:r>
              <a:rPr lang="zh-CN" altLang="en-US" sz="2000" dirty="0" smtClean="0">
                <a:ea typeface="宋体" panose="02010600030101010101" pitchFamily="2" charset="-122"/>
              </a:rPr>
              <a:t>	建立连接过程涉及两个主要</a:t>
            </a:r>
            <a:r>
              <a:rPr lang="en-US" sz="2000" dirty="0" smtClean="0">
                <a:ea typeface="宋体" panose="02010600030101010101" pitchFamily="2" charset="-122"/>
              </a:rPr>
              <a:t>API</a:t>
            </a:r>
            <a:r>
              <a:rPr lang="zh-CN" altLang="en-US" sz="2000" dirty="0" smtClean="0">
                <a:ea typeface="宋体" panose="02010600030101010101" pitchFamily="2" charset="-122"/>
              </a:rPr>
              <a:t>：</a:t>
            </a:r>
            <a:r>
              <a:rPr lang="en-US" sz="2000" dirty="0" err="1" smtClean="0">
                <a:ea typeface="宋体" panose="02010600030101010101" pitchFamily="2" charset="-122"/>
              </a:rPr>
              <a:t>java.sql.DriverManager</a:t>
            </a:r>
            <a:r>
              <a:rPr lang="zh-CN" altLang="en-US" sz="2000" dirty="0" smtClean="0">
                <a:ea typeface="宋体" panose="02010600030101010101" pitchFamily="2" charset="-122"/>
              </a:rPr>
              <a:t>类和</a:t>
            </a:r>
            <a:r>
              <a:rPr lang="en-US" sz="2000" dirty="0" err="1" smtClean="0">
                <a:ea typeface="宋体" panose="02010600030101010101" pitchFamily="2" charset="-122"/>
              </a:rPr>
              <a:t>java.sql.Connection</a:t>
            </a:r>
            <a:r>
              <a:rPr lang="zh-CN" altLang="en-US" sz="2000" dirty="0" smtClean="0">
                <a:ea typeface="宋体" panose="02010600030101010101" pitchFamily="2" charset="-122"/>
              </a:rPr>
              <a:t>接口。</a:t>
            </a:r>
            <a:r>
              <a:rPr lang="en-US" sz="2000" dirty="0" err="1" smtClean="0">
                <a:ea typeface="宋体" panose="02010600030101010101" pitchFamily="2" charset="-122"/>
              </a:rPr>
              <a:t>DriverManager</a:t>
            </a:r>
            <a:r>
              <a:rPr lang="zh-CN" altLang="en-US" sz="2000" dirty="0" smtClean="0">
                <a:ea typeface="宋体" panose="02010600030101010101" pitchFamily="2" charset="-122"/>
              </a:rPr>
              <a:t>是</a:t>
            </a:r>
            <a:r>
              <a:rPr lang="en-US" sz="2000" dirty="0" smtClean="0">
                <a:ea typeface="宋体" panose="02010600030101010101" pitchFamily="2" charset="-122"/>
              </a:rPr>
              <a:t>JDBC</a:t>
            </a:r>
            <a:r>
              <a:rPr lang="zh-CN" altLang="en-US" sz="2000" dirty="0" smtClean="0">
                <a:ea typeface="宋体" panose="02010600030101010101" pitchFamily="2" charset="-122"/>
              </a:rPr>
              <a:t>用于管理驱动程序的类，通过调用它的</a:t>
            </a:r>
            <a:r>
              <a:rPr lang="en-US" sz="2000" dirty="0" smtClean="0">
                <a:ea typeface="宋体" panose="02010600030101010101" pitchFamily="2" charset="-122"/>
              </a:rPr>
              <a:t>static</a:t>
            </a:r>
            <a:r>
              <a:rPr lang="zh-CN" altLang="en-US" sz="2000" dirty="0" smtClean="0">
                <a:ea typeface="宋体" panose="02010600030101010101" pitchFamily="2" charset="-122"/>
              </a:rPr>
              <a:t>方法</a:t>
            </a:r>
            <a:r>
              <a:rPr lang="en-US" sz="2000" dirty="0" err="1" smtClean="0">
                <a:ea typeface="宋体" panose="02010600030101010101" pitchFamily="2" charset="-122"/>
              </a:rPr>
              <a:t>getConnection</a:t>
            </a:r>
            <a:r>
              <a:rPr lang="en-US" sz="2000" dirty="0" smtClean="0">
                <a:ea typeface="宋体" panose="02010600030101010101" pitchFamily="2" charset="-122"/>
              </a:rPr>
              <a:t>( )</a:t>
            </a:r>
            <a:r>
              <a:rPr lang="zh-CN" altLang="en-US" sz="2000" dirty="0" smtClean="0">
                <a:ea typeface="宋体" panose="02010600030101010101" pitchFamily="2" charset="-122"/>
              </a:rPr>
              <a:t>可以返回一个数据库连接对象</a:t>
            </a:r>
            <a:r>
              <a:rPr lang="en-US" sz="2000" dirty="0" smtClean="0">
                <a:ea typeface="宋体" panose="02010600030101010101" pitchFamily="2" charset="-122"/>
              </a:rPr>
              <a:t>Connection</a:t>
            </a:r>
            <a:r>
              <a:rPr lang="zh-CN" altLang="en-US" sz="2000" dirty="0" smtClean="0">
                <a:ea typeface="宋体" panose="02010600030101010101" pitchFamily="2" charset="-122"/>
              </a:rPr>
              <a:t>。</a:t>
            </a:r>
            <a:endParaRPr lang="zh-CN" altLang="en-US"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graphicFrame>
        <p:nvGraphicFramePr>
          <p:cNvPr id="3" name="Group 3"/>
          <p:cNvGraphicFramePr>
            <a:graphicFrameLocks noGrp="1"/>
          </p:cNvGraphicFramePr>
          <p:nvPr>
            <p:ph idx="1"/>
          </p:nvPr>
        </p:nvGraphicFramePr>
        <p:xfrm>
          <a:off x="1676847" y="2464197"/>
          <a:ext cx="9865096" cy="4057970"/>
        </p:xfrm>
        <a:graphic>
          <a:graphicData uri="http://schemas.openxmlformats.org/drawingml/2006/table">
            <a:tbl>
              <a:tblPr/>
              <a:tblGrid>
                <a:gridCol w="4396957"/>
                <a:gridCol w="5468139"/>
              </a:tblGrid>
              <a:tr h="33496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方法</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描述</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Statement  createStatement( )</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创建一个</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Statement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对象来将</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语句发送到数据库</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391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DatabaseMetaData  getMetaData( )</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获取一个</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DatabaseMetaData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对象，该对象包含关于此</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Connection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对象所连接的数据库的元数据</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PreparedStatement  	preparedStatement(String sql)</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创建一个</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PreparedStatement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对象来将参数化的</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语句发送到数据库</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setAutoCommit(boolean autocommit)</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将此连接的自动提交模式设置为给定状态</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391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commit( )</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使所有上一次提交</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回滚后进行的更改成为持久更改，并释放此</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Connection</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对象当前持有的所有数据库锁</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rollback( )</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取消在当前事务中进行的所有更改，并释放此</a:t>
                      </a:r>
                      <a:r>
                        <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Connection </a:t>
                      </a: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对象当前持有的所有数据库锁</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Rectangle 29"/>
          <p:cNvSpPr>
            <a:spLocks noChangeArrowheads="1"/>
          </p:cNvSpPr>
          <p:nvPr/>
        </p:nvSpPr>
        <p:spPr bwMode="auto">
          <a:xfrm>
            <a:off x="1892871" y="1849715"/>
            <a:ext cx="29290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dirty="0" smtClean="0">
                <a:ea typeface="宋体" panose="02010600030101010101" pitchFamily="2" charset="-122"/>
              </a:rPr>
              <a:t>Connection</a:t>
            </a:r>
            <a:r>
              <a:rPr lang="zh-CN" altLang="en-US" dirty="0">
                <a:ea typeface="宋体" panose="02010600030101010101" pitchFamily="2" charset="-122"/>
              </a:rPr>
              <a:t>对象的常用方法 </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sp>
        <p:nvSpPr>
          <p:cNvPr id="5" name="内容占位符 4"/>
          <p:cNvSpPr>
            <a:spLocks noGrp="1"/>
          </p:cNvSpPr>
          <p:nvPr>
            <p:ph idx="1"/>
          </p:nvPr>
        </p:nvSpPr>
        <p:spPr>
          <a:xfrm>
            <a:off x="740743" y="1600101"/>
            <a:ext cx="12025336" cy="5303943"/>
          </a:xfrm>
        </p:spPr>
        <p:txBody>
          <a:bodyPr/>
          <a:lstStyle/>
          <a:p>
            <a:pPr marL="0" indent="0">
              <a:lnSpc>
                <a:spcPct val="150000"/>
              </a:lnSpc>
              <a:buNone/>
            </a:pPr>
            <a:r>
              <a:rPr lang="zh-CN" altLang="en-US" sz="2200" dirty="0" smtClean="0"/>
              <a:t>      获取</a:t>
            </a:r>
            <a:r>
              <a:rPr lang="zh-CN" altLang="en-US" sz="2200" dirty="0"/>
              <a:t>数据库连接的方法就是调用</a:t>
            </a:r>
            <a:r>
              <a:rPr lang="en-US" altLang="zh-CN" sz="2200" dirty="0" err="1"/>
              <a:t>DriverManager</a:t>
            </a:r>
            <a:r>
              <a:rPr lang="en-US" altLang="zh-CN" sz="2200" dirty="0"/>
              <a:t> </a:t>
            </a:r>
            <a:r>
              <a:rPr lang="zh-CN" altLang="en-US" sz="2200" dirty="0"/>
              <a:t>对象的静态方法 </a:t>
            </a:r>
            <a:r>
              <a:rPr lang="en-US" altLang="zh-CN" sz="2200" dirty="0" err="1"/>
              <a:t>getConnection</a:t>
            </a:r>
            <a:r>
              <a:rPr lang="en-US" altLang="zh-CN" sz="2200" dirty="0"/>
              <a:t>( )</a:t>
            </a:r>
            <a:r>
              <a:rPr lang="zh-CN" altLang="en-US" sz="2200" dirty="0"/>
              <a:t>。</a:t>
            </a:r>
            <a:endParaRPr lang="zh-CN" altLang="en-US" sz="2200" dirty="0"/>
          </a:p>
          <a:p>
            <a:pPr marL="0" indent="0">
              <a:lnSpc>
                <a:spcPct val="150000"/>
              </a:lnSpc>
              <a:buNone/>
            </a:pPr>
            <a:r>
              <a:rPr lang="en-US" altLang="zh-CN" sz="2200" dirty="0"/>
              <a:t>conn = </a:t>
            </a:r>
            <a:r>
              <a:rPr lang="en-US" altLang="zh-CN" sz="2200" dirty="0" err="1"/>
              <a:t>DriverManager.getConnection</a:t>
            </a:r>
            <a:endParaRPr lang="en-US" altLang="zh-CN" sz="2200" dirty="0"/>
          </a:p>
          <a:p>
            <a:pPr marL="0" indent="0">
              <a:lnSpc>
                <a:spcPct val="150000"/>
              </a:lnSpc>
              <a:buNone/>
            </a:pPr>
            <a:r>
              <a:rPr lang="en-US" altLang="zh-CN" sz="2200" dirty="0"/>
              <a:t>("</a:t>
            </a:r>
            <a:r>
              <a:rPr lang="en-US" altLang="zh-CN" sz="2200" dirty="0" err="1"/>
              <a:t>jdbc:mysql</a:t>
            </a:r>
            <a:r>
              <a:rPr lang="en-US" altLang="zh-CN" sz="2200" dirty="0"/>
              <a:t>://127.0.0.1:3306/</a:t>
            </a:r>
            <a:r>
              <a:rPr lang="en-US" altLang="zh-CN" sz="2200" dirty="0" err="1"/>
              <a:t>usertable</a:t>
            </a:r>
            <a:r>
              <a:rPr lang="en-US" altLang="zh-CN" sz="2200" dirty="0"/>
              <a:t>", "root", "123456");</a:t>
            </a:r>
            <a:endParaRPr lang="en-US" altLang="zh-CN" sz="2200" dirty="0"/>
          </a:p>
          <a:p>
            <a:pPr marL="0" indent="0">
              <a:lnSpc>
                <a:spcPct val="150000"/>
              </a:lnSpc>
              <a:buNone/>
            </a:pPr>
            <a:r>
              <a:rPr lang="zh-CN" altLang="en-US" sz="2200" dirty="0" smtClean="0"/>
              <a:t>      之前</a:t>
            </a:r>
            <a:r>
              <a:rPr lang="en-US" altLang="zh-CN" sz="2200" dirty="0" err="1"/>
              <a:t>Mysql</a:t>
            </a:r>
            <a:r>
              <a:rPr lang="zh-CN" altLang="en-US" sz="2200" dirty="0"/>
              <a:t>注册方式是基于 </a:t>
            </a:r>
            <a:r>
              <a:rPr lang="en-US" altLang="zh-CN" sz="2200" dirty="0"/>
              <a:t>jar </a:t>
            </a:r>
            <a:r>
              <a:rPr lang="zh-CN" altLang="en-US" sz="2200" dirty="0"/>
              <a:t>包：</a:t>
            </a:r>
            <a:r>
              <a:rPr lang="en-US" altLang="zh-CN" sz="2200" dirty="0"/>
              <a:t>mysql-connector-java-5.1.39-bin.jar</a:t>
            </a:r>
            <a:r>
              <a:rPr lang="zh-CN" altLang="en-US" sz="2200" dirty="0"/>
              <a:t>，现在如果所使用的</a:t>
            </a:r>
            <a:r>
              <a:rPr lang="en-US" altLang="zh-CN" sz="2200" dirty="0"/>
              <a:t>MySQL 8.0 </a:t>
            </a:r>
            <a:r>
              <a:rPr lang="zh-CN" altLang="en-US" sz="2200" dirty="0"/>
              <a:t>以上版本的数据库连接则有所不同：</a:t>
            </a:r>
            <a:endParaRPr lang="zh-CN" altLang="en-US" sz="2200" dirty="0"/>
          </a:p>
          <a:p>
            <a:pPr lvl="1">
              <a:lnSpc>
                <a:spcPct val="150000"/>
              </a:lnSpc>
            </a:pPr>
            <a:r>
              <a:rPr lang="zh-CN" altLang="en-US" sz="2000" dirty="0"/>
              <a:t>	</a:t>
            </a:r>
            <a:r>
              <a:rPr lang="en-US" altLang="zh-CN" sz="2000" dirty="0" err="1"/>
              <a:t>com.mysql.jdbc.Driver</a:t>
            </a:r>
            <a:r>
              <a:rPr lang="en-US" altLang="zh-CN" sz="2000" dirty="0"/>
              <a:t> </a:t>
            </a:r>
            <a:r>
              <a:rPr lang="zh-CN" altLang="en-US" sz="2000" dirty="0"/>
              <a:t>更换为 </a:t>
            </a:r>
            <a:r>
              <a:rPr lang="en-US" altLang="zh-CN" sz="2000" dirty="0" err="1"/>
              <a:t>com.mysql.cj.jdbc.Driver</a:t>
            </a:r>
            <a:r>
              <a:rPr lang="zh-CN" altLang="en-US" sz="2000" dirty="0"/>
              <a:t>。</a:t>
            </a:r>
            <a:endParaRPr lang="zh-CN" altLang="en-US" sz="2000" dirty="0"/>
          </a:p>
          <a:p>
            <a:pPr lvl="1">
              <a:lnSpc>
                <a:spcPct val="150000"/>
              </a:lnSpc>
            </a:pPr>
            <a:r>
              <a:rPr lang="zh-CN" altLang="en-US" sz="2000" dirty="0"/>
              <a:t>	</a:t>
            </a:r>
            <a:r>
              <a:rPr lang="en-US" altLang="zh-CN" sz="2000" dirty="0"/>
              <a:t>MySQL 8.0 </a:t>
            </a:r>
            <a:r>
              <a:rPr lang="zh-CN" altLang="en-US" sz="2000" dirty="0"/>
              <a:t>以上版本不需要建立 </a:t>
            </a:r>
            <a:r>
              <a:rPr lang="en-US" altLang="zh-CN" sz="2000" dirty="0"/>
              <a:t>SSL </a:t>
            </a:r>
            <a:r>
              <a:rPr lang="zh-CN" altLang="en-US" sz="2000" dirty="0"/>
              <a:t>连接的，需要显示关闭。</a:t>
            </a:r>
            <a:endParaRPr lang="zh-CN" altLang="en-US" sz="2000" dirty="0"/>
          </a:p>
          <a:p>
            <a:pPr lvl="1">
              <a:lnSpc>
                <a:spcPct val="150000"/>
              </a:lnSpc>
            </a:pPr>
            <a:r>
              <a:rPr lang="zh-CN" altLang="en-US" sz="2000" dirty="0"/>
              <a:t>	</a:t>
            </a:r>
            <a:r>
              <a:rPr lang="en-US" altLang="zh-CN" sz="2000" dirty="0" err="1"/>
              <a:t>allowPublicKeyRetrieval</a:t>
            </a:r>
            <a:r>
              <a:rPr lang="en-US" altLang="zh-CN" sz="2000" dirty="0"/>
              <a:t>=true </a:t>
            </a:r>
            <a:r>
              <a:rPr lang="zh-CN" altLang="en-US" sz="2000" dirty="0"/>
              <a:t>允许客户端从服务器获取公钥。</a:t>
            </a:r>
            <a:endParaRPr lang="zh-CN" altLang="en-US" sz="2000" dirty="0"/>
          </a:p>
          <a:p>
            <a:pPr lvl="1">
              <a:lnSpc>
                <a:spcPct val="150000"/>
              </a:lnSpc>
            </a:pPr>
            <a:r>
              <a:rPr lang="zh-CN" altLang="en-US" sz="2000" dirty="0"/>
              <a:t>	需要设置 </a:t>
            </a:r>
            <a:r>
              <a:rPr lang="en-US" altLang="zh-CN" sz="2000" dirty="0"/>
              <a:t>CST</a:t>
            </a:r>
            <a:r>
              <a:rPr lang="zh-CN" altLang="en-US" sz="2000" dirty="0"/>
              <a:t>。</a:t>
            </a:r>
            <a:endParaRPr lang="zh-CN" altLang="en-US" sz="2000" dirty="0"/>
          </a:p>
          <a:p>
            <a:endParaRPr lang="zh-CN"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sp>
        <p:nvSpPr>
          <p:cNvPr id="3" name="Rectangle 3"/>
          <p:cNvSpPr txBox="1">
            <a:spLocks noChangeArrowheads="1"/>
          </p:cNvSpPr>
          <p:nvPr/>
        </p:nvSpPr>
        <p:spPr bwMode="auto">
          <a:xfrm>
            <a:off x="740743" y="1672109"/>
            <a:ext cx="10879386"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sz="3200" dirty="0">
                <a:ea typeface="宋体" panose="02010600030101010101" pitchFamily="2" charset="-122"/>
              </a:rPr>
              <a:t>8.2.3</a:t>
            </a:r>
            <a:r>
              <a:rPr lang="zh-CN" altLang="zh-CN" sz="3200" dirty="0">
                <a:ea typeface="宋体" panose="02010600030101010101" pitchFamily="2" charset="-122"/>
              </a:rPr>
              <a:t>使用</a:t>
            </a:r>
            <a:r>
              <a:rPr lang="en-US" altLang="zh-CN" sz="3200" dirty="0">
                <a:ea typeface="宋体" panose="02010600030101010101" pitchFamily="2" charset="-122"/>
              </a:rPr>
              <a:t>Statement</a:t>
            </a:r>
            <a:r>
              <a:rPr lang="zh-CN" altLang="zh-CN" sz="3200" dirty="0">
                <a:ea typeface="宋体" panose="02010600030101010101" pitchFamily="2" charset="-122"/>
              </a:rPr>
              <a:t>接口实现添删改查操作</a:t>
            </a:r>
            <a:endParaRPr lang="zh-CN" altLang="en-US" sz="3200" dirty="0">
              <a:ea typeface="宋体" panose="02010600030101010101" pitchFamily="2" charset="-122"/>
            </a:endParaRPr>
          </a:p>
          <a:p>
            <a:pPr>
              <a:lnSpc>
                <a:spcPct val="200000"/>
              </a:lnSpc>
              <a:buFont typeface="Wingdings" panose="05000000000000000000" pitchFamily="2" charset="2"/>
              <a:buNone/>
            </a:pPr>
            <a:r>
              <a:rPr lang="en-US" sz="1800" dirty="0" smtClean="0">
                <a:ea typeface="宋体" panose="02010600030101010101" pitchFamily="2" charset="-122"/>
              </a:rPr>
              <a:t>	</a:t>
            </a:r>
            <a:endParaRPr lang="en-US" sz="1800" dirty="0" smtClean="0">
              <a:ea typeface="宋体" panose="02010600030101010101" pitchFamily="2" charset="-122"/>
            </a:endParaRPr>
          </a:p>
          <a:p>
            <a:pPr>
              <a:lnSpc>
                <a:spcPct val="200000"/>
              </a:lnSpc>
              <a:buFont typeface="Wingdings" panose="05000000000000000000" pitchFamily="2" charset="2"/>
              <a:buNone/>
            </a:pPr>
            <a:r>
              <a:rPr lang="en-US" sz="1800" dirty="0">
                <a:ea typeface="宋体" panose="02010600030101010101" pitchFamily="2" charset="-122"/>
              </a:rPr>
              <a:t> </a:t>
            </a:r>
            <a:r>
              <a:rPr lang="en-US" sz="1800" dirty="0" smtClean="0">
                <a:ea typeface="宋体" panose="02010600030101010101" pitchFamily="2" charset="-122"/>
              </a:rPr>
              <a:t>      JDBC</a:t>
            </a:r>
            <a:r>
              <a:rPr lang="zh-CN" altLang="en-US" sz="1800" dirty="0" smtClean="0">
                <a:ea typeface="宋体" panose="02010600030101010101" pitchFamily="2" charset="-122"/>
              </a:rPr>
              <a:t>编程的第三步，通过数据库操作代理对象（</a:t>
            </a:r>
            <a:r>
              <a:rPr lang="en-US" sz="1800" dirty="0" smtClean="0">
                <a:ea typeface="宋体" panose="02010600030101010101" pitchFamily="2" charset="-122"/>
              </a:rPr>
              <a:t>Statement</a:t>
            </a:r>
            <a:r>
              <a:rPr lang="zh-CN" altLang="en-US" sz="1800" dirty="0" smtClean="0">
                <a:ea typeface="宋体" panose="02010600030101010101" pitchFamily="2" charset="-122"/>
              </a:rPr>
              <a:t>）进行添加、删除、修改和查询操作可以分为两种情况：一种不会对数据库记录产生影响的操作（查询）和另一种可能会对数据库记录产生影响的操作（添加、删除、修改）。</a:t>
            </a:r>
            <a:endParaRPr lang="zh-CN" altLang="en-US" sz="1800" dirty="0" smtClean="0">
              <a:ea typeface="宋体" panose="02010600030101010101" pitchFamily="2" charset="-122"/>
            </a:endParaRPr>
          </a:p>
          <a:p>
            <a:pPr>
              <a:lnSpc>
                <a:spcPct val="200000"/>
              </a:lnSpc>
              <a:buFont typeface="Wingdings" panose="05000000000000000000" pitchFamily="2" charset="2"/>
              <a:buNone/>
            </a:pPr>
            <a:r>
              <a:rPr lang="en-US" sz="1800" dirty="0" smtClean="0">
                <a:ea typeface="宋体" panose="02010600030101010101" pitchFamily="2" charset="-122"/>
              </a:rPr>
              <a:t>	JDBC</a:t>
            </a:r>
            <a:r>
              <a:rPr lang="zh-CN" altLang="en-US" sz="1800" dirty="0" smtClean="0">
                <a:ea typeface="宋体" panose="02010600030101010101" pitchFamily="2" charset="-122"/>
              </a:rPr>
              <a:t>对数据库进行查询操作时，首先需要获得数据库代理接口</a:t>
            </a:r>
            <a:r>
              <a:rPr lang="en-US" sz="1800" dirty="0" err="1" smtClean="0">
                <a:ea typeface="宋体" panose="02010600030101010101" pitchFamily="2" charset="-122"/>
              </a:rPr>
              <a:t>java.sql.Statement</a:t>
            </a:r>
            <a:r>
              <a:rPr lang="zh-CN" altLang="en-US" sz="1800" dirty="0" smtClean="0">
                <a:ea typeface="宋体" panose="02010600030101010101" pitchFamily="2" charset="-122"/>
              </a:rPr>
              <a:t>的一个实现对象。</a:t>
            </a:r>
            <a:r>
              <a:rPr lang="en-US" sz="1800" dirty="0" smtClean="0">
                <a:ea typeface="宋体" panose="02010600030101010101" pitchFamily="2" charset="-122"/>
              </a:rPr>
              <a:t>Statement</a:t>
            </a:r>
            <a:r>
              <a:rPr lang="zh-CN" altLang="en-US" sz="1800" dirty="0" smtClean="0">
                <a:ea typeface="宋体" panose="02010600030101010101" pitchFamily="2" charset="-122"/>
              </a:rPr>
              <a:t>的实现类对象通过第二步中创建的</a:t>
            </a:r>
            <a:r>
              <a:rPr lang="en-US" sz="1800" dirty="0" smtClean="0">
                <a:ea typeface="宋体" panose="02010600030101010101" pitchFamily="2" charset="-122"/>
              </a:rPr>
              <a:t>Connection</a:t>
            </a:r>
            <a:r>
              <a:rPr lang="zh-CN" altLang="en-US" sz="1800" dirty="0" smtClean="0">
                <a:ea typeface="宋体" panose="02010600030101010101" pitchFamily="2" charset="-122"/>
              </a:rPr>
              <a:t>对象调用</a:t>
            </a:r>
            <a:r>
              <a:rPr lang="en-US" sz="1800" dirty="0" err="1" smtClean="0">
                <a:ea typeface="宋体" panose="02010600030101010101" pitchFamily="2" charset="-122"/>
              </a:rPr>
              <a:t>createStatement</a:t>
            </a:r>
            <a:r>
              <a:rPr lang="en-US" sz="1800" dirty="0" smtClean="0">
                <a:ea typeface="宋体" panose="02010600030101010101" pitchFamily="2" charset="-122"/>
              </a:rPr>
              <a:t>( )</a:t>
            </a:r>
            <a:r>
              <a:rPr lang="zh-CN" altLang="en-US" sz="1800" dirty="0" smtClean="0">
                <a:ea typeface="宋体" panose="02010600030101010101" pitchFamily="2" charset="-122"/>
              </a:rPr>
              <a:t>方法获得。</a:t>
            </a:r>
            <a:endParaRPr lang="zh-CN" altLang="en-US" sz="1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graphicFrame>
        <p:nvGraphicFramePr>
          <p:cNvPr id="3" name="Group 3"/>
          <p:cNvGraphicFramePr>
            <a:graphicFrameLocks noGrp="1"/>
          </p:cNvGraphicFramePr>
          <p:nvPr>
            <p:ph idx="1"/>
          </p:nvPr>
        </p:nvGraphicFramePr>
        <p:xfrm>
          <a:off x="1388815" y="3347497"/>
          <a:ext cx="11089232" cy="2573084"/>
        </p:xfrm>
        <a:graphic>
          <a:graphicData uri="http://schemas.openxmlformats.org/drawingml/2006/table">
            <a:tbl>
              <a:tblPr/>
              <a:tblGrid>
                <a:gridCol w="4767844"/>
                <a:gridCol w="6321388"/>
              </a:tblGrid>
              <a:tr h="334963">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方法</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描述</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executeQuery(String sql)</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执行给定的</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查询</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语句，该语句返回单个</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3913">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int  executeUpdate(String sql)</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执行给定</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语句，该语句可能为</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INSERT</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UPDATE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或</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DELETE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语句，或者不返回任何内容的</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语句（如</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DDL </a:t>
                      </a: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3863">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close( )</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2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立即释放此</a:t>
                      </a:r>
                      <a:r>
                        <a:rPr kumimoji="0" 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Statement </a:t>
                      </a: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对象的数据库和</a:t>
                      </a:r>
                      <a:r>
                        <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JDBC </a:t>
                      </a:r>
                      <a:r>
                        <a:rPr kumimoji="0" lang="zh-CN" altLang="en-US" sz="16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资源</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Rectangle 20"/>
          <p:cNvSpPr>
            <a:spLocks noChangeArrowheads="1"/>
          </p:cNvSpPr>
          <p:nvPr/>
        </p:nvSpPr>
        <p:spPr bwMode="auto">
          <a:xfrm>
            <a:off x="1388815" y="2636987"/>
            <a:ext cx="37063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400" dirty="0">
                <a:ea typeface="宋体" panose="02010600030101010101" pitchFamily="2" charset="-122"/>
              </a:rPr>
              <a:t>Statement</a:t>
            </a:r>
            <a:r>
              <a:rPr lang="zh-CN" altLang="en-US" sz="2400" dirty="0">
                <a:ea typeface="宋体" panose="02010600030101010101" pitchFamily="2" charset="-122"/>
              </a:rPr>
              <a:t>对象的常用方法 </a:t>
            </a:r>
            <a:endParaRPr lang="zh-CN" altLang="en-US" sz="2400" dirty="0">
              <a:ea typeface="宋体" panose="02010600030101010101" pitchFamily="2" charset="-122"/>
            </a:endParaRPr>
          </a:p>
        </p:txBody>
      </p:sp>
      <p:sp>
        <p:nvSpPr>
          <p:cNvPr id="5" name="矩形 4"/>
          <p:cNvSpPr/>
          <p:nvPr/>
        </p:nvSpPr>
        <p:spPr>
          <a:xfrm>
            <a:off x="1392166" y="1816125"/>
            <a:ext cx="8321830" cy="584775"/>
          </a:xfrm>
          <a:prstGeom prst="rect">
            <a:avLst/>
          </a:prstGeom>
        </p:spPr>
        <p:txBody>
          <a:bodyPr wrap="none">
            <a:spAutoFit/>
          </a:bodyPr>
          <a:lstStyle/>
          <a:p>
            <a:pPr marL="430530" indent="-430530">
              <a:spcBef>
                <a:spcPct val="20000"/>
              </a:spcBef>
              <a:buClr>
                <a:schemeClr val="tx2"/>
              </a:buClr>
              <a:buFont typeface="Wingdings" panose="05000000000000000000" pitchFamily="2" charset="2"/>
              <a:buChar char="v"/>
            </a:pPr>
            <a:r>
              <a:rPr lang="en-US" altLang="zh-CN" sz="3200" dirty="0">
                <a:latin typeface="+mn-lt"/>
              </a:rPr>
              <a:t>8.2.3</a:t>
            </a:r>
            <a:r>
              <a:rPr lang="zh-CN" altLang="zh-CN" sz="3200" dirty="0">
                <a:latin typeface="+mn-lt"/>
              </a:rPr>
              <a:t>使用</a:t>
            </a:r>
            <a:r>
              <a:rPr lang="en-US" altLang="zh-CN" sz="3200" dirty="0">
                <a:latin typeface="+mn-lt"/>
              </a:rPr>
              <a:t>Statement</a:t>
            </a:r>
            <a:r>
              <a:rPr lang="zh-CN" altLang="zh-CN" sz="3200" dirty="0">
                <a:latin typeface="+mn-lt"/>
              </a:rPr>
              <a:t>接口实现添删改查操作</a:t>
            </a:r>
            <a:endParaRPr lang="zh-CN" altLang="en-US" sz="3200" dirty="0">
              <a:latin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sp>
        <p:nvSpPr>
          <p:cNvPr id="3" name="Rectangle 3"/>
          <p:cNvSpPr txBox="1">
            <a:spLocks noChangeArrowheads="1"/>
          </p:cNvSpPr>
          <p:nvPr/>
        </p:nvSpPr>
        <p:spPr bwMode="auto">
          <a:xfrm>
            <a:off x="595458" y="2392569"/>
            <a:ext cx="5113837" cy="4535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90000"/>
              </a:lnSpc>
            </a:pPr>
            <a:endParaRPr lang="zh-CN" altLang="en-US" sz="2400" dirty="0" smtClean="0">
              <a:ea typeface="宋体" panose="02010600030101010101" pitchFamily="2" charset="-122"/>
            </a:endParaRPr>
          </a:p>
          <a:p>
            <a:pPr>
              <a:lnSpc>
                <a:spcPct val="200000"/>
              </a:lnSpc>
              <a:buFont typeface="Wingdings" panose="05000000000000000000" pitchFamily="2" charset="2"/>
              <a:buNone/>
            </a:pPr>
            <a:r>
              <a:rPr lang="zh-CN" altLang="en-US" sz="1800" dirty="0" smtClean="0">
                <a:ea typeface="宋体" panose="02010600030101010101" pitchFamily="2" charset="-122"/>
              </a:rPr>
              <a:t>	在获得了</a:t>
            </a:r>
            <a:r>
              <a:rPr lang="en-US" sz="1800" dirty="0" smtClean="0">
                <a:ea typeface="宋体" panose="02010600030101010101" pitchFamily="2" charset="-122"/>
              </a:rPr>
              <a:t>Statement</a:t>
            </a:r>
            <a:r>
              <a:rPr lang="zh-CN" altLang="en-US" sz="1800" dirty="0" smtClean="0">
                <a:ea typeface="宋体" panose="02010600030101010101" pitchFamily="2" charset="-122"/>
              </a:rPr>
              <a:t>类型的对象后，通过调用它的</a:t>
            </a:r>
            <a:r>
              <a:rPr lang="en-US" sz="1800" dirty="0" err="1" smtClean="0">
                <a:ea typeface="宋体" panose="02010600030101010101" pitchFamily="2" charset="-122"/>
              </a:rPr>
              <a:t>executeQuery</a:t>
            </a:r>
            <a:r>
              <a:rPr lang="en-US" sz="1800" dirty="0" smtClean="0">
                <a:ea typeface="宋体" panose="02010600030101010101" pitchFamily="2" charset="-122"/>
              </a:rPr>
              <a:t>( )</a:t>
            </a:r>
            <a:r>
              <a:rPr lang="zh-CN" altLang="en-US" sz="1800" dirty="0" smtClean="0">
                <a:ea typeface="宋体" panose="02010600030101010101" pitchFamily="2" charset="-122"/>
              </a:rPr>
              <a:t>方法可以进行数据库查询，</a:t>
            </a:r>
            <a:r>
              <a:rPr lang="en-US" sz="1800" dirty="0" smtClean="0">
                <a:ea typeface="宋体" panose="02010600030101010101" pitchFamily="2" charset="-122"/>
              </a:rPr>
              <a:t>JDBC</a:t>
            </a:r>
            <a:r>
              <a:rPr lang="zh-CN" altLang="en-US" sz="1800" dirty="0" smtClean="0">
                <a:ea typeface="宋体" panose="02010600030101010101" pitchFamily="2" charset="-122"/>
              </a:rPr>
              <a:t>会将返回的数据库查询结果封装成为</a:t>
            </a:r>
            <a:r>
              <a:rPr lang="en-US" sz="1800" dirty="0" err="1" smtClean="0">
                <a:ea typeface="宋体" panose="02010600030101010101" pitchFamily="2" charset="-122"/>
              </a:rPr>
              <a:t>java.sql.ResultSet</a:t>
            </a:r>
            <a:r>
              <a:rPr lang="zh-CN" altLang="en-US" sz="1800" dirty="0" smtClean="0">
                <a:ea typeface="宋体" panose="02010600030101010101" pitchFamily="2" charset="-122"/>
              </a:rPr>
              <a:t>接口类型的对象。</a:t>
            </a:r>
            <a:r>
              <a:rPr lang="zh-CN" altLang="en-US" sz="2400" dirty="0" smtClean="0">
                <a:ea typeface="宋体" panose="02010600030101010101" pitchFamily="2" charset="-122"/>
              </a:rPr>
              <a:t> </a:t>
            </a:r>
            <a:endParaRPr lang="zh-CN" altLang="en-US" sz="2400" dirty="0">
              <a:ea typeface="宋体" panose="02010600030101010101" pitchFamily="2" charset="-122"/>
            </a:endParaRPr>
          </a:p>
        </p:txBody>
      </p:sp>
      <p:sp>
        <p:nvSpPr>
          <p:cNvPr id="4" name="矩形 3"/>
          <p:cNvSpPr/>
          <p:nvPr/>
        </p:nvSpPr>
        <p:spPr>
          <a:xfrm>
            <a:off x="812751" y="1524509"/>
            <a:ext cx="8321830" cy="584775"/>
          </a:xfrm>
          <a:prstGeom prst="rect">
            <a:avLst/>
          </a:prstGeom>
        </p:spPr>
        <p:txBody>
          <a:bodyPr wrap="none">
            <a:spAutoFit/>
          </a:bodyPr>
          <a:lstStyle/>
          <a:p>
            <a:pPr marL="430530" indent="-430530">
              <a:spcBef>
                <a:spcPct val="20000"/>
              </a:spcBef>
              <a:buClr>
                <a:schemeClr val="tx2"/>
              </a:buClr>
              <a:buFont typeface="Wingdings" panose="05000000000000000000" pitchFamily="2" charset="2"/>
              <a:buChar char="v"/>
            </a:pPr>
            <a:r>
              <a:rPr lang="en-US" altLang="zh-CN" sz="3200" dirty="0">
                <a:latin typeface="+mn-lt"/>
              </a:rPr>
              <a:t>8.2.3</a:t>
            </a:r>
            <a:r>
              <a:rPr lang="zh-CN" altLang="zh-CN" sz="3200" dirty="0">
                <a:latin typeface="+mn-lt"/>
              </a:rPr>
              <a:t>使用</a:t>
            </a:r>
            <a:r>
              <a:rPr lang="en-US" altLang="zh-CN" sz="3200" dirty="0">
                <a:latin typeface="+mn-lt"/>
              </a:rPr>
              <a:t>Statement</a:t>
            </a:r>
            <a:r>
              <a:rPr lang="zh-CN" altLang="zh-CN" sz="3200" dirty="0">
                <a:latin typeface="+mn-lt"/>
              </a:rPr>
              <a:t>接口实现添删改查操作</a:t>
            </a:r>
            <a:endParaRPr lang="zh-CN" altLang="en-US" sz="3200" dirty="0">
              <a:latin typeface="+mn-lt"/>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3311" y="2248173"/>
            <a:ext cx="6159028" cy="410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a:ea typeface="宋体" panose="02010600030101010101" pitchFamily="2" charset="-122"/>
              </a:rPr>
              <a:t>8.2  JDBC</a:t>
            </a:r>
            <a:r>
              <a:rPr lang="zh-CN" altLang="en-US">
                <a:ea typeface="宋体" panose="02010600030101010101" pitchFamily="2" charset="-122"/>
              </a:rPr>
              <a:t>编程基本操作</a:t>
            </a:r>
            <a:endParaRPr lang="zh-CN" altLang="en-US">
              <a:ea typeface="宋体" panose="02010600030101010101" pitchFamily="2" charset="-122"/>
            </a:endParaRPr>
          </a:p>
        </p:txBody>
      </p:sp>
      <p:sp>
        <p:nvSpPr>
          <p:cNvPr id="3" name="Rectangle 3"/>
          <p:cNvSpPr txBox="1">
            <a:spLocks noChangeArrowheads="1"/>
          </p:cNvSpPr>
          <p:nvPr/>
        </p:nvSpPr>
        <p:spPr bwMode="auto">
          <a:xfrm>
            <a:off x="611090" y="1672109"/>
            <a:ext cx="11146779"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r>
              <a:rPr lang="en-US" altLang="zh-CN" sz="3600" dirty="0"/>
              <a:t>8.2.3</a:t>
            </a:r>
            <a:r>
              <a:rPr lang="zh-CN" altLang="zh-CN" sz="3600" dirty="0"/>
              <a:t>使用</a:t>
            </a:r>
            <a:r>
              <a:rPr lang="en-US" altLang="zh-CN" sz="3600" dirty="0"/>
              <a:t>Statement</a:t>
            </a:r>
            <a:r>
              <a:rPr lang="zh-CN" altLang="zh-CN" sz="3600" dirty="0"/>
              <a:t>接口实现添删改查操作</a:t>
            </a:r>
            <a:endParaRPr lang="zh-CN" altLang="en-US" sz="3600" dirty="0"/>
          </a:p>
          <a:p>
            <a:pPr>
              <a:lnSpc>
                <a:spcPct val="180000"/>
              </a:lnSpc>
              <a:buFont typeface="Wingdings" panose="05000000000000000000" pitchFamily="2" charset="2"/>
              <a:buNone/>
            </a:pPr>
            <a:r>
              <a:rPr lang="zh-CN" altLang="en-US" sz="1800" dirty="0" smtClean="0">
                <a:ea typeface="宋体" panose="02010600030101010101" pitchFamily="2" charset="-122"/>
              </a:rPr>
              <a:t>	</a:t>
            </a:r>
            <a:endParaRPr lang="en-US" altLang="zh-CN" sz="1800" dirty="0" smtClean="0">
              <a:ea typeface="宋体" panose="02010600030101010101" pitchFamily="2" charset="-122"/>
            </a:endParaRPr>
          </a:p>
          <a:p>
            <a:pPr>
              <a:lnSpc>
                <a:spcPct val="180000"/>
              </a:lnSpc>
              <a:buFont typeface="Wingdings" panose="05000000000000000000" pitchFamily="2" charset="2"/>
              <a:buNone/>
            </a:pPr>
            <a:r>
              <a:rPr lang="en-US" altLang="zh-CN" sz="1800" dirty="0">
                <a:ea typeface="宋体" panose="02010600030101010101" pitchFamily="2" charset="-122"/>
              </a:rPr>
              <a:t> </a:t>
            </a:r>
            <a:r>
              <a:rPr lang="en-US" altLang="zh-CN" sz="1800" dirty="0" smtClean="0">
                <a:ea typeface="宋体" panose="02010600030101010101" pitchFamily="2" charset="-122"/>
              </a:rPr>
              <a:t>      </a:t>
            </a:r>
            <a:r>
              <a:rPr lang="zh-CN" altLang="en-US" sz="1800" dirty="0" smtClean="0">
                <a:ea typeface="宋体" panose="02010600030101010101" pitchFamily="2" charset="-122"/>
              </a:rPr>
              <a:t>对数据库中的表进行添加、删除、修改操作时同样需要通过</a:t>
            </a:r>
            <a:r>
              <a:rPr lang="en-US" sz="1800" dirty="0" smtClean="0">
                <a:ea typeface="宋体" panose="02010600030101010101" pitchFamily="2" charset="-122"/>
              </a:rPr>
              <a:t>Statement</a:t>
            </a:r>
            <a:r>
              <a:rPr lang="zh-CN" altLang="en-US" sz="1800" dirty="0" smtClean="0">
                <a:ea typeface="宋体" panose="02010600030101010101" pitchFamily="2" charset="-122"/>
              </a:rPr>
              <a:t>对象进行，与前面的查询操作不同的地方在于，添删改操作不会返回一个查询结果集</a:t>
            </a:r>
            <a:r>
              <a:rPr lang="en-US" sz="1800" dirty="0" err="1" smtClean="0">
                <a:ea typeface="宋体" panose="02010600030101010101" pitchFamily="2" charset="-122"/>
              </a:rPr>
              <a:t>ResultSet</a:t>
            </a:r>
            <a:r>
              <a:rPr lang="zh-CN" altLang="en-US" sz="1800" dirty="0" smtClean="0">
                <a:ea typeface="宋体" panose="02010600030101010101" pitchFamily="2" charset="-122"/>
              </a:rPr>
              <a:t>，但是添删改操作会返回一个整数表示当前操作所影响的记录行数，所以添删改操作不能调用</a:t>
            </a:r>
            <a:r>
              <a:rPr lang="en-US" sz="1800" dirty="0" err="1" smtClean="0">
                <a:ea typeface="宋体" panose="02010600030101010101" pitchFamily="2" charset="-122"/>
              </a:rPr>
              <a:t>executeQuery</a:t>
            </a:r>
            <a:r>
              <a:rPr lang="en-US" sz="1800" dirty="0" smtClean="0">
                <a:ea typeface="宋体" panose="02010600030101010101" pitchFamily="2" charset="-122"/>
              </a:rPr>
              <a:t>( )</a:t>
            </a:r>
            <a:r>
              <a:rPr lang="zh-CN" altLang="en-US" sz="1800" dirty="0" smtClean="0">
                <a:ea typeface="宋体" panose="02010600030101010101" pitchFamily="2" charset="-122"/>
              </a:rPr>
              <a:t>方法，而需要调用</a:t>
            </a:r>
            <a:r>
              <a:rPr lang="en-US" sz="1800" dirty="0" err="1" smtClean="0">
                <a:ea typeface="宋体" panose="02010600030101010101" pitchFamily="2" charset="-122"/>
              </a:rPr>
              <a:t>executeUpdate</a:t>
            </a:r>
            <a:r>
              <a:rPr lang="en-US" sz="1800" dirty="0" smtClean="0">
                <a:ea typeface="宋体" panose="02010600030101010101" pitchFamily="2" charset="-122"/>
              </a:rPr>
              <a:t>( )</a:t>
            </a:r>
            <a:r>
              <a:rPr lang="zh-CN" altLang="en-US" sz="1800" dirty="0" smtClean="0">
                <a:ea typeface="宋体" panose="02010600030101010101" pitchFamily="2" charset="-122"/>
              </a:rPr>
              <a:t>方法（不要被方法名迷惑以为该方法只能执行</a:t>
            </a:r>
            <a:r>
              <a:rPr lang="en-US" sz="1800" dirty="0" smtClean="0">
                <a:ea typeface="宋体" panose="02010600030101010101" pitchFamily="2" charset="-122"/>
              </a:rPr>
              <a:t>update</a:t>
            </a:r>
            <a:r>
              <a:rPr lang="zh-CN" altLang="en-US" sz="1800" dirty="0" smtClean="0">
                <a:ea typeface="宋体" panose="02010600030101010101" pitchFamily="2" charset="-122"/>
              </a:rPr>
              <a:t>操作，实际上所有对数据库产生影响的操作都可以调用</a:t>
            </a:r>
            <a:r>
              <a:rPr lang="en-US" sz="1800" dirty="0" err="1" smtClean="0">
                <a:ea typeface="宋体" panose="02010600030101010101" pitchFamily="2" charset="-122"/>
              </a:rPr>
              <a:t>executeUpdate</a:t>
            </a:r>
            <a:r>
              <a:rPr lang="zh-CN" altLang="en-US" sz="1800" dirty="0" smtClean="0">
                <a:ea typeface="宋体" panose="02010600030101010101" pitchFamily="2" charset="-122"/>
              </a:rPr>
              <a:t>，包括添加、删除、修改、</a:t>
            </a:r>
            <a:r>
              <a:rPr lang="en-US" sz="1800" dirty="0" smtClean="0">
                <a:ea typeface="宋体" panose="02010600030101010101" pitchFamily="2" charset="-122"/>
              </a:rPr>
              <a:t>DDL</a:t>
            </a:r>
            <a:r>
              <a:rPr lang="zh-CN" altLang="en-US" sz="1800" dirty="0" smtClean="0">
                <a:ea typeface="宋体" panose="02010600030101010101" pitchFamily="2" charset="-122"/>
              </a:rPr>
              <a:t>命令）。</a:t>
            </a:r>
            <a:endParaRPr lang="zh-CN" altLang="en-US" sz="1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1885950" y="590550"/>
            <a:ext cx="5943600" cy="563563"/>
          </a:xfrm>
        </p:spPr>
        <p:txBody>
          <a:bodyPr/>
          <a:lstStyle/>
          <a:p>
            <a:r>
              <a:rPr lang="en-US" dirty="0">
                <a:ea typeface="宋体" panose="02010600030101010101" pitchFamily="2" charset="-122"/>
              </a:rPr>
              <a:t>8.2  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sp>
        <p:nvSpPr>
          <p:cNvPr id="10" name="Rectangle 3"/>
          <p:cNvSpPr>
            <a:spLocks noGrp="1" noChangeArrowheads="1"/>
          </p:cNvSpPr>
          <p:nvPr>
            <p:ph type="body" idx="1"/>
          </p:nvPr>
        </p:nvSpPr>
        <p:spPr>
          <a:xfrm>
            <a:off x="596727" y="1744117"/>
            <a:ext cx="11650836" cy="5029200"/>
          </a:xfrm>
        </p:spPr>
        <p:txBody>
          <a:bodyPr/>
          <a:lstStyle/>
          <a:p>
            <a:r>
              <a:rPr lang="en-US" altLang="zh-CN" sz="3600" dirty="0"/>
              <a:t>8.2.3</a:t>
            </a:r>
            <a:r>
              <a:rPr lang="zh-CN" altLang="zh-CN" sz="3600" dirty="0"/>
              <a:t>使用</a:t>
            </a:r>
            <a:r>
              <a:rPr lang="en-US" altLang="zh-CN" sz="3600" dirty="0"/>
              <a:t>Statement</a:t>
            </a:r>
            <a:r>
              <a:rPr lang="zh-CN" altLang="zh-CN" sz="3600" dirty="0"/>
              <a:t>接口实现添删改查操作</a:t>
            </a:r>
            <a:endParaRPr lang="zh-CN" altLang="en-US" sz="3600" dirty="0"/>
          </a:p>
          <a:p>
            <a:pPr>
              <a:lnSpc>
                <a:spcPct val="200000"/>
              </a:lnSpc>
              <a:buFont typeface="Wingdings" panose="05000000000000000000" pitchFamily="2" charset="2"/>
              <a:buNone/>
            </a:pPr>
            <a:r>
              <a:rPr lang="en-US" dirty="0">
                <a:ea typeface="宋体" panose="02010600030101010101" pitchFamily="2" charset="-122"/>
              </a:rPr>
              <a:t>	</a:t>
            </a:r>
            <a:r>
              <a:rPr lang="en-US" sz="1800" dirty="0">
                <a:ea typeface="宋体" panose="02010600030101010101" pitchFamily="2" charset="-122"/>
              </a:rPr>
              <a:t>JDBC</a:t>
            </a:r>
            <a:r>
              <a:rPr lang="zh-CN" altLang="en-US" sz="1800" dirty="0">
                <a:ea typeface="宋体" panose="02010600030101010101" pitchFamily="2" charset="-122"/>
              </a:rPr>
              <a:t>编程需要在</a:t>
            </a:r>
            <a:r>
              <a:rPr lang="en-US" sz="1800" dirty="0">
                <a:ea typeface="宋体" panose="02010600030101010101" pitchFamily="2" charset="-122"/>
              </a:rPr>
              <a:t>Java</a:t>
            </a:r>
            <a:r>
              <a:rPr lang="zh-CN" altLang="en-US" sz="1800" dirty="0">
                <a:ea typeface="宋体" panose="02010600030101010101" pitchFamily="2" charset="-122"/>
              </a:rPr>
              <a:t>程序和底层数据库中间建立连接，这些连接需要消耗系统资源，如果在使用完数据库后不关闭连接，随着操作次数增加系统资源会很快耗尽，因此需要在进行完相关操作后关闭连接，回收资源。</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smtClean="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sp>
        <p:nvSpPr>
          <p:cNvPr id="7" name="Rectangle 3"/>
          <p:cNvSpPr>
            <a:spLocks noGrp="1" noChangeArrowheads="1"/>
          </p:cNvSpPr>
          <p:nvPr>
            <p:ph type="body" idx="1"/>
          </p:nvPr>
        </p:nvSpPr>
        <p:spPr>
          <a:xfrm>
            <a:off x="596727" y="1816125"/>
            <a:ext cx="11938867" cy="5029200"/>
          </a:xfrm>
        </p:spPr>
        <p:txBody>
          <a:bodyPr/>
          <a:lstStyle/>
          <a:p>
            <a:r>
              <a:rPr lang="en-US" altLang="zh-CN" sz="3200" dirty="0"/>
              <a:t>8.2.4 </a:t>
            </a:r>
            <a:r>
              <a:rPr lang="zh-CN" altLang="zh-CN" sz="3200" dirty="0"/>
              <a:t>使用</a:t>
            </a:r>
            <a:r>
              <a:rPr lang="en-US" altLang="zh-CN" sz="3200" dirty="0" err="1"/>
              <a:t>PreparedStatement</a:t>
            </a:r>
            <a:r>
              <a:rPr lang="zh-CN" altLang="zh-CN" sz="3200" dirty="0"/>
              <a:t>接口实现添删改查</a:t>
            </a:r>
            <a:r>
              <a:rPr lang="zh-CN" altLang="zh-CN" sz="3200" dirty="0" smtClean="0"/>
              <a:t>操作</a:t>
            </a:r>
            <a:endParaRPr lang="zh-CN" altLang="en-US" sz="3200" dirty="0">
              <a:ea typeface="宋体" panose="02010600030101010101" pitchFamily="2" charset="-122"/>
            </a:endParaRPr>
          </a:p>
          <a:p>
            <a:pPr>
              <a:lnSpc>
                <a:spcPct val="200000"/>
              </a:lnSpc>
              <a:buFont typeface="Wingdings" panose="05000000000000000000" pitchFamily="2" charset="2"/>
              <a:buNone/>
            </a:pPr>
            <a:r>
              <a:rPr lang="zh-CN" altLang="en-US" dirty="0">
                <a:ea typeface="宋体" panose="02010600030101010101" pitchFamily="2" charset="-122"/>
              </a:rPr>
              <a:t>	</a:t>
            </a:r>
            <a:r>
              <a:rPr lang="zh-CN" altLang="en-US" sz="1800" dirty="0">
                <a:ea typeface="宋体" panose="02010600030101010101" pitchFamily="2" charset="-122"/>
              </a:rPr>
              <a:t>使用</a:t>
            </a:r>
            <a:r>
              <a:rPr lang="en-US" sz="1800" dirty="0">
                <a:ea typeface="宋体" panose="02010600030101010101" pitchFamily="2" charset="-122"/>
              </a:rPr>
              <a:t>Statement</a:t>
            </a:r>
            <a:r>
              <a:rPr lang="zh-CN" altLang="en-US" sz="1800" dirty="0">
                <a:ea typeface="宋体" panose="02010600030101010101" pitchFamily="2" charset="-122"/>
              </a:rPr>
              <a:t>进行数据库操作时，每次操作都会建立新的操作语句。</a:t>
            </a:r>
            <a:r>
              <a:rPr lang="en-US" sz="1800" dirty="0">
                <a:ea typeface="宋体" panose="02010600030101010101" pitchFamily="2" charset="-122"/>
              </a:rPr>
              <a:t>JDBC</a:t>
            </a:r>
            <a:r>
              <a:rPr lang="zh-CN" altLang="en-US" sz="1800" dirty="0">
                <a:ea typeface="宋体" panose="02010600030101010101" pitchFamily="2" charset="-122"/>
              </a:rPr>
              <a:t>提供预备语句（</a:t>
            </a:r>
            <a:r>
              <a:rPr lang="en-US" sz="1800" dirty="0">
                <a:ea typeface="宋体" panose="02010600030101010101" pitchFamily="2" charset="-122"/>
              </a:rPr>
              <a:t>Prepared  Statement</a:t>
            </a:r>
            <a:r>
              <a:rPr lang="zh-CN" altLang="en-US" sz="1800" dirty="0">
                <a:ea typeface="宋体" panose="02010600030101010101" pitchFamily="2" charset="-122"/>
              </a:rPr>
              <a:t>）建立一个带有参数的</a:t>
            </a:r>
            <a:r>
              <a:rPr lang="en-US" sz="1800" dirty="0">
                <a:ea typeface="宋体" panose="02010600030101010101" pitchFamily="2" charset="-122"/>
              </a:rPr>
              <a:t>SQL</a:t>
            </a:r>
            <a:r>
              <a:rPr lang="zh-CN" altLang="en-US" sz="1800" dirty="0">
                <a:ea typeface="宋体" panose="02010600030101010101" pitchFamily="2" charset="-122"/>
              </a:rPr>
              <a:t>语句，每次操作时只需要为变量赋值就可以反复使用这条语句，这种特性可以提高性能，同时可以简化开发。</a:t>
            </a:r>
            <a:r>
              <a:rPr lang="en-US" sz="1800" dirty="0" err="1">
                <a:ea typeface="宋体" panose="02010600030101010101" pitchFamily="2" charset="-122"/>
              </a:rPr>
              <a:t>PreparedStatement</a:t>
            </a:r>
            <a:r>
              <a:rPr lang="zh-CN" altLang="en-US" sz="1800" dirty="0">
                <a:ea typeface="宋体" panose="02010600030101010101" pitchFamily="2" charset="-122"/>
              </a:rPr>
              <a:t>对象可以通过</a:t>
            </a:r>
            <a:r>
              <a:rPr lang="en-US" sz="1800" dirty="0">
                <a:ea typeface="宋体" panose="02010600030101010101" pitchFamily="2" charset="-122"/>
              </a:rPr>
              <a:t>Connection</a:t>
            </a:r>
            <a:r>
              <a:rPr lang="zh-CN" altLang="en-US" sz="1800" dirty="0">
                <a:ea typeface="宋体" panose="02010600030101010101" pitchFamily="2" charset="-122"/>
              </a:rPr>
              <a:t>对象调用</a:t>
            </a:r>
            <a:r>
              <a:rPr lang="en-US" sz="1800" dirty="0" err="1">
                <a:ea typeface="宋体" panose="02010600030101010101" pitchFamily="2" charset="-122"/>
              </a:rPr>
              <a:t>preparedStatement</a:t>
            </a:r>
            <a:r>
              <a:rPr lang="en-US" sz="1800" dirty="0">
                <a:ea typeface="宋体" panose="02010600030101010101" pitchFamily="2" charset="-122"/>
              </a:rPr>
              <a:t>( )</a:t>
            </a:r>
            <a:r>
              <a:rPr lang="zh-CN" altLang="en-US" sz="1800" dirty="0">
                <a:ea typeface="宋体" panose="02010600030101010101" pitchFamily="2" charset="-122"/>
              </a:rPr>
              <a:t>方法获得。</a:t>
            </a:r>
            <a:endParaRPr lang="zh-CN" altLang="en-US" sz="1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graphicFrame>
        <p:nvGraphicFramePr>
          <p:cNvPr id="9" name="Group 3"/>
          <p:cNvGraphicFramePr>
            <a:graphicFrameLocks noGrp="1"/>
          </p:cNvGraphicFramePr>
          <p:nvPr>
            <p:ph idx="1"/>
          </p:nvPr>
        </p:nvGraphicFramePr>
        <p:xfrm>
          <a:off x="1028775" y="3040261"/>
          <a:ext cx="10729192" cy="3568701"/>
        </p:xfrm>
        <a:graphic>
          <a:graphicData uri="http://schemas.openxmlformats.org/drawingml/2006/table">
            <a:tbl>
              <a:tblPr/>
              <a:tblGrid>
                <a:gridCol w="4291676"/>
                <a:gridCol w="6437516"/>
              </a:tblGrid>
              <a:tr h="365125">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方法</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描述</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135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execute( )</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在此</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PreparedStatement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对象中执行</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语句，该语句可以是任何种类的</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语句</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976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executeQuery( )</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在此</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PreparedStatement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对象中执行</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查询，并返回该查询生成的</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89038">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int  executeUpdate( )</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在此</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PreparedStatement</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对象中执行</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语句，该语句必须是一个</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数据操作语言语句，比如</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INSERT</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UPDATE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或</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DELETE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语句；或者是无返回内容的</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SQL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语句，比如</a:t>
                      </a: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DDL </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语句</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setString(int  x,String value)</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将字符串</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value</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赋给第</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x</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个占位符，</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x</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从</a:t>
                      </a: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开始</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671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setInt(int  x,int value)</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将整形</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value</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赋给第</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x</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个占位符，</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x</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从</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开始</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 name="Rectangle 26"/>
          <p:cNvSpPr>
            <a:spLocks noChangeArrowheads="1"/>
          </p:cNvSpPr>
          <p:nvPr/>
        </p:nvSpPr>
        <p:spPr bwMode="auto">
          <a:xfrm>
            <a:off x="1026101" y="2392189"/>
            <a:ext cx="4850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400" dirty="0" err="1">
                <a:ea typeface="宋体" panose="02010600030101010101" pitchFamily="2" charset="-122"/>
              </a:rPr>
              <a:t>PreparedStatement</a:t>
            </a:r>
            <a:r>
              <a:rPr lang="zh-CN" altLang="en-US" sz="2400" dirty="0">
                <a:ea typeface="宋体" panose="02010600030101010101" pitchFamily="2" charset="-122"/>
              </a:rPr>
              <a:t>对象的常用方法 </a:t>
            </a:r>
            <a:endParaRPr lang="zh-CN" altLang="en-US" sz="2400" dirty="0">
              <a:ea typeface="宋体" panose="02010600030101010101" pitchFamily="2" charset="-122"/>
            </a:endParaRPr>
          </a:p>
        </p:txBody>
      </p:sp>
      <p:sp>
        <p:nvSpPr>
          <p:cNvPr id="5" name="矩形 4"/>
          <p:cNvSpPr/>
          <p:nvPr/>
        </p:nvSpPr>
        <p:spPr>
          <a:xfrm>
            <a:off x="812751" y="1524509"/>
            <a:ext cx="10120399" cy="584775"/>
          </a:xfrm>
          <a:prstGeom prst="rect">
            <a:avLst/>
          </a:prstGeom>
        </p:spPr>
        <p:txBody>
          <a:bodyPr wrap="none">
            <a:spAutoFit/>
          </a:bodyPr>
          <a:lstStyle/>
          <a:p>
            <a:pPr marL="430530" indent="-430530">
              <a:spcBef>
                <a:spcPct val="20000"/>
              </a:spcBef>
              <a:buClr>
                <a:schemeClr val="tx2"/>
              </a:buClr>
              <a:buFont typeface="Wingdings" panose="05000000000000000000" pitchFamily="2" charset="2"/>
              <a:buChar char="v"/>
            </a:pPr>
            <a:r>
              <a:rPr lang="en-US" altLang="zh-CN" sz="3200" dirty="0">
                <a:latin typeface="+mn-lt"/>
                <a:ea typeface="+mn-ea"/>
              </a:rPr>
              <a:t>8.2.4 </a:t>
            </a:r>
            <a:r>
              <a:rPr lang="zh-CN" altLang="zh-CN" sz="3200" dirty="0">
                <a:latin typeface="+mn-lt"/>
                <a:ea typeface="+mn-ea"/>
              </a:rPr>
              <a:t>使用</a:t>
            </a:r>
            <a:r>
              <a:rPr lang="en-US" altLang="zh-CN" sz="3200" dirty="0" err="1">
                <a:latin typeface="+mn-lt"/>
                <a:ea typeface="+mn-ea"/>
              </a:rPr>
              <a:t>PreparedStatement</a:t>
            </a:r>
            <a:r>
              <a:rPr lang="zh-CN" altLang="zh-CN" sz="3200" dirty="0">
                <a:latin typeface="+mn-lt"/>
                <a:ea typeface="+mn-ea"/>
              </a:rPr>
              <a:t>接口实现添删改查操作</a:t>
            </a:r>
            <a:endParaRPr lang="zh-CN" altLang="en-US" sz="3200" dirty="0">
              <a:latin typeface="+mn-lt"/>
              <a:ea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smtClean="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sp>
        <p:nvSpPr>
          <p:cNvPr id="9" name="Rectangle 3"/>
          <p:cNvSpPr txBox="1">
            <a:spLocks noChangeArrowheads="1"/>
          </p:cNvSpPr>
          <p:nvPr/>
        </p:nvSpPr>
        <p:spPr bwMode="auto">
          <a:xfrm>
            <a:off x="236687" y="1528093"/>
            <a:ext cx="11877401"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150000"/>
              </a:lnSpc>
              <a:buNone/>
            </a:pPr>
            <a:r>
              <a:rPr lang="en-US" altLang="zh-CN" dirty="0" smtClean="0"/>
              <a:t>   8.2.5 </a:t>
            </a:r>
            <a:r>
              <a:rPr lang="zh-CN" altLang="zh-CN" dirty="0"/>
              <a:t>可滚动结果集和可更新结果</a:t>
            </a:r>
            <a:r>
              <a:rPr lang="zh-CN" altLang="zh-CN" dirty="0" smtClean="0"/>
              <a:t>集</a:t>
            </a:r>
            <a:endParaRPr lang="en-US" altLang="zh-CN" sz="1800" dirty="0" smtClean="0">
              <a:ea typeface="宋体" panose="02010600030101010101" pitchFamily="2" charset="-122"/>
            </a:endParaRPr>
          </a:p>
          <a:p>
            <a:pPr>
              <a:lnSpc>
                <a:spcPct val="150000"/>
              </a:lnSpc>
              <a:buNone/>
            </a:pPr>
            <a:r>
              <a:rPr lang="en-US" sz="1800" dirty="0">
                <a:ea typeface="宋体" panose="02010600030101010101" pitchFamily="2" charset="-122"/>
              </a:rPr>
              <a:t> </a:t>
            </a:r>
            <a:r>
              <a:rPr lang="en-US" sz="1800" dirty="0" smtClean="0">
                <a:ea typeface="宋体" panose="02010600030101010101" pitchFamily="2" charset="-122"/>
              </a:rPr>
              <a:t>      </a:t>
            </a:r>
            <a:endParaRPr lang="en-US" sz="1800" dirty="0" smtClean="0">
              <a:ea typeface="宋体" panose="02010600030101010101" pitchFamily="2" charset="-122"/>
            </a:endParaRPr>
          </a:p>
          <a:p>
            <a:pPr>
              <a:lnSpc>
                <a:spcPct val="150000"/>
              </a:lnSpc>
              <a:buNone/>
            </a:pPr>
            <a:r>
              <a:rPr lang="en-US" sz="1800" dirty="0">
                <a:ea typeface="宋体" panose="02010600030101010101" pitchFamily="2" charset="-122"/>
              </a:rPr>
              <a:t> </a:t>
            </a:r>
            <a:r>
              <a:rPr lang="en-US" sz="1800" dirty="0" smtClean="0">
                <a:ea typeface="宋体" panose="02010600030101010101" pitchFamily="2" charset="-122"/>
              </a:rPr>
              <a:t>      </a:t>
            </a:r>
            <a:r>
              <a:rPr lang="en-US" sz="1800" dirty="0" err="1" smtClean="0">
                <a:ea typeface="宋体" panose="02010600030101010101" pitchFamily="2" charset="-122"/>
              </a:rPr>
              <a:t>ResultSet</a:t>
            </a:r>
            <a:r>
              <a:rPr lang="zh-CN" altLang="en-US" sz="1800" dirty="0">
                <a:ea typeface="宋体" panose="02010600030101010101" pitchFamily="2" charset="-122"/>
              </a:rPr>
              <a:t>默认只能按顺序遍历结果集中的所有行，并且结果集中的数据更改不会影响到数据库中的记录。如果希望在结果集上前后移动，并且能够通过结果集的变化更新数据库中的记录，则需要通过下面的方法得到</a:t>
            </a:r>
            <a:r>
              <a:rPr lang="en-US" sz="1800" dirty="0">
                <a:ea typeface="宋体" panose="02010600030101010101" pitchFamily="2" charset="-122"/>
              </a:rPr>
              <a:t>Statement</a:t>
            </a:r>
            <a:r>
              <a:rPr lang="zh-CN" altLang="en-US" sz="1800" dirty="0">
                <a:ea typeface="宋体" panose="02010600030101010101" pitchFamily="2" charset="-122"/>
              </a:rPr>
              <a:t>对象</a:t>
            </a:r>
            <a:r>
              <a:rPr lang="en-US" sz="1800" dirty="0">
                <a:ea typeface="宋体" panose="02010600030101010101" pitchFamily="2" charset="-122"/>
              </a:rPr>
              <a:t>:</a:t>
            </a:r>
            <a:endParaRPr lang="en-US" sz="1800" dirty="0">
              <a:ea typeface="宋体" panose="02010600030101010101" pitchFamily="2" charset="-122"/>
            </a:endParaRPr>
          </a:p>
          <a:p>
            <a:pPr>
              <a:lnSpc>
                <a:spcPct val="150000"/>
              </a:lnSpc>
              <a:buFont typeface="Wingdings" panose="05000000000000000000" pitchFamily="2" charset="2"/>
              <a:buNone/>
            </a:pPr>
            <a:r>
              <a:rPr lang="en-US" sz="1800" dirty="0" smtClean="0">
                <a:ea typeface="宋体" panose="02010600030101010101" pitchFamily="2" charset="-122"/>
              </a:rPr>
              <a:t>       Statement  stat = </a:t>
            </a:r>
            <a:r>
              <a:rPr lang="en-US" sz="1800" dirty="0" err="1" smtClean="0">
                <a:ea typeface="宋体" panose="02010600030101010101" pitchFamily="2" charset="-122"/>
              </a:rPr>
              <a:t>con.createStatement</a:t>
            </a:r>
            <a:r>
              <a:rPr lang="en-US" sz="1800" dirty="0" smtClean="0">
                <a:ea typeface="宋体" panose="02010600030101010101" pitchFamily="2" charset="-122"/>
              </a:rPr>
              <a:t>(</a:t>
            </a:r>
            <a:r>
              <a:rPr lang="en-US" sz="1800" dirty="0" err="1" smtClean="0">
                <a:ea typeface="宋体" panose="02010600030101010101" pitchFamily="2" charset="-122"/>
              </a:rPr>
              <a:t>type,concurrency</a:t>
            </a:r>
            <a:r>
              <a:rPr lang="en-US" sz="1800" dirty="0" smtClean="0">
                <a:ea typeface="宋体" panose="02010600030101010101" pitchFamily="2" charset="-122"/>
              </a:rPr>
              <a:t>);</a:t>
            </a:r>
            <a:endParaRPr lang="en-US" sz="1800" dirty="0" smtClean="0">
              <a:ea typeface="宋体" panose="02010600030101010101" pitchFamily="2" charset="-122"/>
            </a:endParaRPr>
          </a:p>
          <a:p>
            <a:pPr>
              <a:lnSpc>
                <a:spcPct val="150000"/>
              </a:lnSpc>
              <a:buFont typeface="Wingdings" panose="05000000000000000000" pitchFamily="2" charset="2"/>
              <a:buNone/>
            </a:pPr>
            <a:r>
              <a:rPr lang="zh-CN" altLang="en-US" sz="1800" dirty="0" smtClean="0">
                <a:ea typeface="宋体" panose="02010600030101010101" pitchFamily="2" charset="-122"/>
              </a:rPr>
              <a:t>	或者通过下面的方法得到一个</a:t>
            </a:r>
            <a:r>
              <a:rPr lang="en-US" sz="1800" dirty="0" err="1" smtClean="0">
                <a:ea typeface="宋体" panose="02010600030101010101" pitchFamily="2" charset="-122"/>
              </a:rPr>
              <a:t>PreparedStateme</a:t>
            </a:r>
            <a:r>
              <a:rPr lang="zh-CN" altLang="en-US" sz="1800" dirty="0" smtClean="0">
                <a:ea typeface="宋体" panose="02010600030101010101" pitchFamily="2" charset="-122"/>
              </a:rPr>
              <a:t>对象：</a:t>
            </a:r>
            <a:endParaRPr lang="zh-CN" altLang="en-US" sz="1800" dirty="0" smtClean="0">
              <a:ea typeface="宋体" panose="02010600030101010101" pitchFamily="2" charset="-122"/>
            </a:endParaRPr>
          </a:p>
          <a:p>
            <a:pPr>
              <a:lnSpc>
                <a:spcPct val="150000"/>
              </a:lnSpc>
              <a:buFont typeface="Wingdings" panose="05000000000000000000" pitchFamily="2" charset="2"/>
              <a:buNone/>
            </a:pPr>
            <a:r>
              <a:rPr lang="en-US" sz="1800" dirty="0" smtClean="0">
                <a:ea typeface="宋体" panose="02010600030101010101" pitchFamily="2" charset="-122"/>
              </a:rPr>
              <a:t>       </a:t>
            </a:r>
            <a:r>
              <a:rPr lang="en-US" sz="1800" dirty="0" err="1" smtClean="0">
                <a:ea typeface="宋体" panose="02010600030101010101" pitchFamily="2" charset="-122"/>
              </a:rPr>
              <a:t>PreparedStateme</a:t>
            </a:r>
            <a:r>
              <a:rPr lang="en-US" sz="1800" dirty="0" smtClean="0">
                <a:ea typeface="宋体" panose="02010600030101010101" pitchFamily="2" charset="-122"/>
              </a:rPr>
              <a:t>  </a:t>
            </a:r>
            <a:r>
              <a:rPr lang="en-US" sz="1800" dirty="0" err="1" smtClean="0">
                <a:ea typeface="宋体" panose="02010600030101010101" pitchFamily="2" charset="-122"/>
              </a:rPr>
              <a:t>ps</a:t>
            </a:r>
            <a:r>
              <a:rPr lang="en-US" sz="1800" dirty="0" smtClean="0">
                <a:ea typeface="宋体" panose="02010600030101010101" pitchFamily="2" charset="-122"/>
              </a:rPr>
              <a:t>=</a:t>
            </a:r>
            <a:r>
              <a:rPr lang="en-US" sz="1800" dirty="0" err="1" smtClean="0">
                <a:ea typeface="宋体" panose="02010600030101010101" pitchFamily="2" charset="-122"/>
              </a:rPr>
              <a:t>con.preparedStatement</a:t>
            </a:r>
            <a:r>
              <a:rPr lang="en-US" sz="1800" dirty="0" smtClean="0">
                <a:ea typeface="宋体" panose="02010600030101010101" pitchFamily="2" charset="-122"/>
              </a:rPr>
              <a:t>(</a:t>
            </a:r>
            <a:r>
              <a:rPr lang="en-US" sz="1800" dirty="0" err="1" smtClean="0">
                <a:ea typeface="宋体" panose="02010600030101010101" pitchFamily="2" charset="-122"/>
              </a:rPr>
              <a:t>cmd,type,concurrency</a:t>
            </a:r>
            <a:r>
              <a:rPr lang="en-US" sz="1800" dirty="0" smtClean="0">
                <a:ea typeface="宋体" panose="02010600030101010101" pitchFamily="2" charset="-122"/>
              </a:rPr>
              <a:t>);</a:t>
            </a:r>
            <a:endParaRPr lang="en-US" sz="1800" dirty="0" smtClean="0">
              <a:ea typeface="宋体" panose="02010600030101010101" pitchFamily="2" charset="-122"/>
            </a:endParaRPr>
          </a:p>
          <a:p>
            <a:pPr>
              <a:lnSpc>
                <a:spcPct val="150000"/>
              </a:lnSpc>
              <a:buFont typeface="Wingdings" panose="05000000000000000000" pitchFamily="2" charset="2"/>
              <a:buNone/>
            </a:pPr>
            <a:r>
              <a:rPr lang="en-US" sz="1800" dirty="0" smtClean="0">
                <a:ea typeface="宋体" panose="02010600030101010101" pitchFamily="2" charset="-122"/>
              </a:rPr>
              <a:t>	</a:t>
            </a:r>
            <a:r>
              <a:rPr lang="en-US" sz="1800" dirty="0" err="1" smtClean="0">
                <a:ea typeface="宋体" panose="02010600030101010101" pitchFamily="2" charset="-122"/>
              </a:rPr>
              <a:t>ResultSet</a:t>
            </a:r>
            <a:r>
              <a:rPr lang="zh-CN" altLang="en-US" sz="1800" dirty="0" smtClean="0">
                <a:ea typeface="宋体" panose="02010600030101010101" pitchFamily="2" charset="-122"/>
              </a:rPr>
              <a:t>类提供了一些静态常量来表示</a:t>
            </a:r>
            <a:r>
              <a:rPr lang="en-US" sz="1800" dirty="0" smtClean="0">
                <a:ea typeface="宋体" panose="02010600030101010101" pitchFamily="2" charset="-122"/>
              </a:rPr>
              <a:t>type</a:t>
            </a:r>
            <a:r>
              <a:rPr lang="zh-CN" altLang="en-US" sz="1800" dirty="0" smtClean="0">
                <a:ea typeface="宋体" panose="02010600030101010101" pitchFamily="2" charset="-122"/>
              </a:rPr>
              <a:t>和</a:t>
            </a:r>
            <a:r>
              <a:rPr lang="en-US" sz="1800" dirty="0" smtClean="0">
                <a:ea typeface="宋体" panose="02010600030101010101" pitchFamily="2" charset="-122"/>
              </a:rPr>
              <a:t>concurrency</a:t>
            </a:r>
            <a:r>
              <a:rPr lang="zh-CN" altLang="en-US" sz="1800" dirty="0" smtClean="0">
                <a:ea typeface="宋体" panose="02010600030101010101" pitchFamily="2" charset="-122"/>
              </a:rPr>
              <a:t>。</a:t>
            </a:r>
            <a:endParaRPr lang="zh-CN" altLang="en-US" sz="1800"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smtClean="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graphicFrame>
        <p:nvGraphicFramePr>
          <p:cNvPr id="10" name="Group 3"/>
          <p:cNvGraphicFramePr>
            <a:graphicFrameLocks noGrp="1"/>
          </p:cNvGraphicFramePr>
          <p:nvPr>
            <p:ph sz="half" idx="1"/>
          </p:nvPr>
        </p:nvGraphicFramePr>
        <p:xfrm>
          <a:off x="684213" y="1989138"/>
          <a:ext cx="8075612" cy="1439863"/>
        </p:xfrm>
        <a:graphic>
          <a:graphicData uri="http://schemas.openxmlformats.org/drawingml/2006/table">
            <a:tbl>
              <a:tblPr/>
              <a:tblGrid>
                <a:gridCol w="3038475"/>
                <a:gridCol w="5037137"/>
              </a:tblGrid>
              <a:tr h="5048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TYPE_FORWARD_ONLY</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结果集不能滚动</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32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TYPE_SCROLL_INSENSITIVE</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结果集可以滚动，对数据库变化不敏感</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TYPE_SCROLL_SENSITIVE</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结果集可以滚动，对数据可变化敏感</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1" name="Group 17"/>
          <p:cNvGraphicFramePr>
            <a:graphicFrameLocks noGrp="1"/>
          </p:cNvGraphicFramePr>
          <p:nvPr>
            <p:ph sz="half" idx="2"/>
          </p:nvPr>
        </p:nvGraphicFramePr>
        <p:xfrm>
          <a:off x="684213" y="4508500"/>
          <a:ext cx="8064500" cy="936626"/>
        </p:xfrm>
        <a:graphic>
          <a:graphicData uri="http://schemas.openxmlformats.org/drawingml/2006/table">
            <a:tbl>
              <a:tblPr/>
              <a:tblGrid>
                <a:gridCol w="2736850"/>
                <a:gridCol w="5327650"/>
              </a:tblGrid>
              <a:tr h="43338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CONCUR_READ_ONLY</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结果集只读</a:t>
                      </a:r>
                      <a:endPar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32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CONCUR_UPDATABLE</a:t>
                      </a:r>
                      <a:endParaRPr kumimoji="0" 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结果集可以更新数据库</a:t>
                      </a:r>
                      <a:endParaRPr kumimoji="0" lang="zh-CN" altLang="en-US"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2" name="Rectangle 28"/>
          <p:cNvSpPr>
            <a:spLocks noChangeArrowheads="1"/>
          </p:cNvSpPr>
          <p:nvPr/>
        </p:nvSpPr>
        <p:spPr bwMode="auto">
          <a:xfrm>
            <a:off x="3203575" y="1484313"/>
            <a:ext cx="2419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ea typeface="宋体" panose="02010600030101010101" pitchFamily="2" charset="-122"/>
              </a:rPr>
              <a:t> </a:t>
            </a:r>
            <a:r>
              <a:rPr lang="en-US">
                <a:ea typeface="宋体" panose="02010600030101010101" pitchFamily="2" charset="-122"/>
              </a:rPr>
              <a:t>ResultSet</a:t>
            </a:r>
            <a:r>
              <a:rPr lang="zh-CN" altLang="en-US">
                <a:ea typeface="宋体" panose="02010600030101010101" pitchFamily="2" charset="-122"/>
              </a:rPr>
              <a:t>类的</a:t>
            </a:r>
            <a:r>
              <a:rPr lang="en-US">
                <a:ea typeface="宋体" panose="02010600030101010101" pitchFamily="2" charset="-122"/>
              </a:rPr>
              <a:t>type</a:t>
            </a:r>
            <a:r>
              <a:rPr lang="zh-CN" altLang="en-US">
                <a:ea typeface="宋体" panose="02010600030101010101" pitchFamily="2" charset="-122"/>
              </a:rPr>
              <a:t>值 </a:t>
            </a:r>
            <a:endParaRPr lang="zh-CN" altLang="en-US">
              <a:ea typeface="宋体" panose="02010600030101010101" pitchFamily="2" charset="-122"/>
            </a:endParaRPr>
          </a:p>
        </p:txBody>
      </p:sp>
      <p:sp>
        <p:nvSpPr>
          <p:cNvPr id="13" name="Rectangle 29"/>
          <p:cNvSpPr>
            <a:spLocks noChangeArrowheads="1"/>
          </p:cNvSpPr>
          <p:nvPr/>
        </p:nvSpPr>
        <p:spPr bwMode="auto">
          <a:xfrm>
            <a:off x="2916238" y="3933825"/>
            <a:ext cx="316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ea typeface="宋体" panose="02010600030101010101" pitchFamily="2" charset="-122"/>
              </a:rPr>
              <a:t>ResultSet</a:t>
            </a:r>
            <a:r>
              <a:rPr lang="zh-CN" altLang="en-US">
                <a:ea typeface="宋体" panose="02010600030101010101" pitchFamily="2" charset="-122"/>
              </a:rPr>
              <a:t>类的</a:t>
            </a:r>
            <a:r>
              <a:rPr lang="en-US">
                <a:ea typeface="宋体" panose="02010600030101010101" pitchFamily="2" charset="-122"/>
              </a:rPr>
              <a:t>concurrency</a:t>
            </a:r>
            <a:r>
              <a:rPr lang="zh-CN" altLang="en-US">
                <a:ea typeface="宋体" panose="02010600030101010101" pitchFamily="2" charset="-122"/>
              </a:rPr>
              <a:t>值 </a:t>
            </a:r>
            <a:endParaRPr lang="zh-CN" altLang="en-US">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smtClean="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graphicFrame>
        <p:nvGraphicFramePr>
          <p:cNvPr id="7" name="Group 3"/>
          <p:cNvGraphicFramePr>
            <a:graphicFrameLocks noGrp="1"/>
          </p:cNvGraphicFramePr>
          <p:nvPr>
            <p:ph idx="1"/>
          </p:nvPr>
        </p:nvGraphicFramePr>
        <p:xfrm>
          <a:off x="611188" y="1623196"/>
          <a:ext cx="8229600" cy="5377505"/>
        </p:xfrm>
        <a:graphic>
          <a:graphicData uri="http://schemas.openxmlformats.org/drawingml/2006/table">
            <a:tbl>
              <a:tblPr/>
              <a:tblGrid>
                <a:gridCol w="2711450"/>
                <a:gridCol w="5518150"/>
              </a:tblGrid>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方法</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描述</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absolute( int   row)</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将游标移动到此</a:t>
                      </a:r>
                      <a:r>
                        <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对象的给定行编号</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int   getRow(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获取当前行编号，编号从</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开始</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absolutely( int n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将游标移动到第</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afterLast(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将游标移动到此</a:t>
                      </a:r>
                      <a:r>
                        <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对象的末尾，正好位于最后一行之后</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beforeFirst(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将游标移动到此</a:t>
                      </a:r>
                      <a:r>
                        <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对象的开头，正好位于第一行之前</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isFirst(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游标是否在第一行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isLast(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游标是否在最后一行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isBeforeFirst(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游标是否在第一行之前</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isAfterLast(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游标是否在最后一行之后</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first(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将游标移动到此</a:t>
                      </a:r>
                      <a:r>
                        <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对象的第一行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last(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将游标移动到此</a:t>
                      </a:r>
                      <a:r>
                        <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ResultSet </a:t>
                      </a: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对象的最后一行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next(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将游标从当前位置向后移一行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boolean   </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hlinkClick r:id="rId1"/>
                        </a:rPr>
                        <a:t>previous</a:t>
                      </a: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将游标从当前位置向前移一行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insertRow(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将插入行上的内容更新到数据库</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deleteRow(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删除数据库和结果集中的当前行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updateInt(int column,int data)</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更新结果集中当前行的某个字段值，其他数据类型格式相同</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updateRow(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将当前行上的更新发送到数据库中</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void  cancelRowUpdates( )</a:t>
                      </a:r>
                      <a:endParaRPr kumimoji="0" 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撤销对当前行的更新</a:t>
                      </a:r>
                      <a:endParaRPr kumimoji="0" lang="zh-CN" altLang="en-US"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Rectangle 65"/>
          <p:cNvSpPr>
            <a:spLocks noChangeArrowheads="1"/>
          </p:cNvSpPr>
          <p:nvPr/>
        </p:nvSpPr>
        <p:spPr bwMode="auto">
          <a:xfrm>
            <a:off x="3203575" y="1269184"/>
            <a:ext cx="22621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400">
                <a:ea typeface="宋体" panose="02010600030101010101" pitchFamily="2" charset="-122"/>
              </a:rPr>
              <a:t>ResultSet</a:t>
            </a:r>
            <a:r>
              <a:rPr lang="zh-CN" altLang="en-US" sz="1400">
                <a:ea typeface="宋体" panose="02010600030101010101" pitchFamily="2" charset="-122"/>
              </a:rPr>
              <a:t>对象的常用方法</a:t>
            </a:r>
            <a:r>
              <a:rPr lang="zh-CN" altLang="en-US">
                <a:ea typeface="宋体" panose="02010600030101010101" pitchFamily="2" charset="-122"/>
              </a:rPr>
              <a:t> </a:t>
            </a:r>
            <a:endParaRPr lang="zh-CN" altLang="en-US">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8.2  </a:t>
            </a:r>
            <a:r>
              <a:rPr lang="en-US" altLang="zh-CN" dirty="0" smtClean="0">
                <a:ea typeface="宋体" panose="02010600030101010101" pitchFamily="2" charset="-122"/>
              </a:rPr>
              <a:t>JDBC</a:t>
            </a:r>
            <a:r>
              <a:rPr lang="zh-CN" altLang="en-US" dirty="0">
                <a:ea typeface="宋体" panose="02010600030101010101" pitchFamily="2" charset="-122"/>
              </a:rPr>
              <a:t>编程基本操作</a:t>
            </a:r>
            <a:endParaRPr lang="zh-CN" altLang="en-US" dirty="0">
              <a:ea typeface="宋体" panose="02010600030101010101" pitchFamily="2" charset="-122"/>
            </a:endParaRPr>
          </a:p>
        </p:txBody>
      </p:sp>
      <p:sp>
        <p:nvSpPr>
          <p:cNvPr id="9" name="Rectangle 3"/>
          <p:cNvSpPr txBox="1">
            <a:spLocks noChangeArrowheads="1"/>
          </p:cNvSpPr>
          <p:nvPr/>
        </p:nvSpPr>
        <p:spPr bwMode="auto">
          <a:xfrm>
            <a:off x="236687" y="1528093"/>
            <a:ext cx="12313368"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150000"/>
              </a:lnSpc>
              <a:buNone/>
            </a:pPr>
            <a:r>
              <a:rPr lang="en-US" altLang="zh-CN" dirty="0" smtClean="0"/>
              <a:t>   </a:t>
            </a:r>
            <a:r>
              <a:rPr lang="en-US" altLang="zh-CN" dirty="0"/>
              <a:t>8.2.6 </a:t>
            </a:r>
            <a:r>
              <a:rPr lang="zh-CN" altLang="zh-CN" dirty="0"/>
              <a:t>实现</a:t>
            </a:r>
            <a:r>
              <a:rPr lang="en-US" altLang="zh-CN" dirty="0"/>
              <a:t>Connection</a:t>
            </a:r>
            <a:r>
              <a:rPr lang="zh-CN" altLang="zh-CN" dirty="0"/>
              <a:t>工厂</a:t>
            </a:r>
            <a:r>
              <a:rPr lang="zh-CN" altLang="zh-CN" dirty="0" smtClean="0"/>
              <a:t>类</a:t>
            </a:r>
            <a:endParaRPr lang="en-US" altLang="zh-CN" sz="1800" dirty="0" smtClean="0">
              <a:ea typeface="宋体" panose="02010600030101010101" pitchFamily="2" charset="-122"/>
            </a:endParaRPr>
          </a:p>
          <a:p>
            <a:pPr>
              <a:lnSpc>
                <a:spcPct val="150000"/>
              </a:lnSpc>
              <a:buNone/>
            </a:pPr>
            <a:r>
              <a:rPr lang="en-US" sz="1800" dirty="0">
                <a:ea typeface="宋体" panose="02010600030101010101" pitchFamily="2" charset="-122"/>
              </a:rPr>
              <a:t> </a:t>
            </a:r>
            <a:r>
              <a:rPr lang="en-US" sz="1800" dirty="0" smtClean="0">
                <a:ea typeface="宋体" panose="02010600030101010101" pitchFamily="2" charset="-122"/>
              </a:rPr>
              <a:t>      </a:t>
            </a:r>
            <a:endParaRPr lang="en-US" sz="1800" dirty="0" smtClean="0">
              <a:ea typeface="宋体" panose="02010600030101010101" pitchFamily="2" charset="-122"/>
            </a:endParaRPr>
          </a:p>
          <a:p>
            <a:pPr>
              <a:lnSpc>
                <a:spcPct val="150000"/>
              </a:lnSpc>
              <a:buNone/>
            </a:pPr>
            <a:r>
              <a:rPr lang="en-US" altLang="zh-CN" sz="1800" dirty="0" smtClean="0"/>
              <a:t>       </a:t>
            </a:r>
            <a:r>
              <a:rPr lang="zh-CN" altLang="zh-CN" sz="2400" dirty="0" smtClean="0"/>
              <a:t>在</a:t>
            </a:r>
            <a:r>
              <a:rPr lang="zh-CN" altLang="zh-CN" sz="2400" dirty="0"/>
              <a:t>实际数据库编程中，因为每次获得</a:t>
            </a:r>
            <a:r>
              <a:rPr lang="en-US" altLang="zh-CN" sz="2400" dirty="0"/>
              <a:t>Connection</a:t>
            </a:r>
            <a:r>
              <a:rPr lang="zh-CN" altLang="zh-CN" sz="2400" dirty="0"/>
              <a:t>都要重新创建一个</a:t>
            </a:r>
            <a:r>
              <a:rPr lang="en-US" altLang="zh-CN" sz="2400" dirty="0"/>
              <a:t>Connection</a:t>
            </a:r>
            <a:r>
              <a:rPr lang="zh-CN" altLang="zh-CN" sz="2400" dirty="0"/>
              <a:t>对象，所以代码中出现了大量重复，可以通过创建一个</a:t>
            </a:r>
            <a:r>
              <a:rPr lang="en-US" altLang="zh-CN" sz="2400" dirty="0"/>
              <a:t>Connection</a:t>
            </a:r>
            <a:r>
              <a:rPr lang="zh-CN" altLang="zh-CN" sz="2400" dirty="0"/>
              <a:t>工厂类封装创建</a:t>
            </a:r>
            <a:r>
              <a:rPr lang="en-US" altLang="zh-CN" sz="2400" dirty="0"/>
              <a:t>Connection</a:t>
            </a:r>
            <a:r>
              <a:rPr lang="zh-CN" altLang="zh-CN" sz="2400" dirty="0"/>
              <a:t>对象来解决这个问题</a:t>
            </a:r>
            <a:endParaRPr lang="zh-CN" altLang="en-US" sz="2400" dirty="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4911228" y="1761854"/>
            <a:ext cx="3372709" cy="806946"/>
          </a:xfrm>
          <a:prstGeom prst="rect">
            <a:avLst/>
          </a:prstGeom>
          <a:noFill/>
        </p:spPr>
        <p:txBody>
          <a:bodyPr wrap="none" lIns="128583" tIns="64291" rIns="128583" bIns="64291" rtlCol="0">
            <a:spAutoFit/>
          </a:bodyPr>
          <a:lstStyle/>
          <a:p>
            <a:pPr algn="ctr"/>
            <a:r>
              <a:rPr kumimoji="1" lang="en-US" altLang="zh-CN" sz="4400" b="1" dirty="0" smtClean="0">
                <a:solidFill>
                  <a:srgbClr val="43536A"/>
                </a:solidFill>
                <a:cs typeface="+mn-ea"/>
              </a:rPr>
              <a:t>8.3 </a:t>
            </a:r>
            <a:r>
              <a:rPr kumimoji="1" lang="zh-CN" altLang="zh-CN" sz="4400" b="1" dirty="0" smtClean="0">
                <a:solidFill>
                  <a:srgbClr val="43536A"/>
                </a:solidFill>
                <a:cs typeface="+mn-ea"/>
              </a:rPr>
              <a:t>事务处理</a:t>
            </a:r>
            <a:endParaRPr kumimoji="1" lang="zh-CN" altLang="en-US" sz="44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885949" y="590550"/>
            <a:ext cx="6729413" cy="563563"/>
          </a:xfrm>
        </p:spPr>
        <p:txBody>
          <a:bodyPr/>
          <a:lstStyle/>
          <a:p>
            <a:r>
              <a:rPr lang="zh-CN" altLang="en-US" dirty="0" smtClean="0">
                <a:ea typeface="宋体" panose="02010600030101010101" pitchFamily="2" charset="-122"/>
              </a:rPr>
              <a:t>第八章    </a:t>
            </a:r>
            <a:r>
              <a:rPr lang="en-US" dirty="0" smtClean="0">
                <a:ea typeface="宋体" panose="02010600030101010101" pitchFamily="2" charset="-122"/>
              </a:rPr>
              <a:t>JDBC</a:t>
            </a:r>
            <a:r>
              <a:rPr lang="zh-CN" altLang="en-US" dirty="0" smtClean="0">
                <a:ea typeface="宋体" panose="02010600030101010101" pitchFamily="2" charset="-122"/>
              </a:rPr>
              <a:t>核心技术</a:t>
            </a:r>
            <a:endParaRPr lang="zh-CN" altLang="en-US" dirty="0">
              <a:ea typeface="宋体" panose="02010600030101010101" pitchFamily="2" charset="-122"/>
            </a:endParaRPr>
          </a:p>
        </p:txBody>
      </p:sp>
      <p:sp>
        <p:nvSpPr>
          <p:cNvPr id="7" name="Rectangle 3"/>
          <p:cNvSpPr txBox="1">
            <a:spLocks noChangeArrowheads="1"/>
          </p:cNvSpPr>
          <p:nvPr/>
        </p:nvSpPr>
        <p:spPr bwMode="auto">
          <a:xfrm>
            <a:off x="2108895" y="2001741"/>
            <a:ext cx="7427913" cy="309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130000"/>
              </a:lnSpc>
            </a:pPr>
            <a:r>
              <a:rPr lang="zh-CN" altLang="en-US" sz="2600" dirty="0" smtClean="0">
                <a:ea typeface="宋体" panose="02010600030101010101" pitchFamily="2" charset="-122"/>
              </a:rPr>
              <a:t>事务处理</a:t>
            </a:r>
            <a:endParaRPr lang="zh-CN" altLang="en-US" dirty="0" smtClean="0">
              <a:ea typeface="宋体" panose="02010600030101010101" pitchFamily="2" charset="-122"/>
            </a:endParaRPr>
          </a:p>
          <a:p>
            <a:pPr lvl="1">
              <a:lnSpc>
                <a:spcPct val="130000"/>
              </a:lnSpc>
            </a:pPr>
            <a:r>
              <a:rPr lang="zh-CN" altLang="zh-CN" sz="2400" dirty="0"/>
              <a:t>在</a:t>
            </a:r>
            <a:r>
              <a:rPr lang="en-US" altLang="zh-CN" sz="2400" dirty="0"/>
              <a:t>JDBC</a:t>
            </a:r>
            <a:r>
              <a:rPr lang="zh-CN" altLang="zh-CN" sz="2400" dirty="0"/>
              <a:t>中处理数据库事务</a:t>
            </a:r>
            <a:endParaRPr lang="zh-CN" altLang="en-US" sz="2200" dirty="0" smtClean="0">
              <a:ea typeface="宋体" panose="02010600030101010101" pitchFamily="2" charset="-122"/>
            </a:endParaRPr>
          </a:p>
          <a:p>
            <a:pPr lvl="1">
              <a:lnSpc>
                <a:spcPct val="130000"/>
              </a:lnSpc>
            </a:pPr>
            <a:r>
              <a:rPr lang="zh-CN" altLang="zh-CN" sz="2400" dirty="0"/>
              <a:t> 事务并发</a:t>
            </a:r>
            <a:r>
              <a:rPr lang="zh-CN" altLang="zh-CN" sz="2400" dirty="0" smtClean="0"/>
              <a:t>问题</a:t>
            </a:r>
            <a:endParaRPr lang="en-US" altLang="zh-CN" sz="24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dirty="0">
                <a:ea typeface="宋体" panose="02010600030101010101" pitchFamily="2" charset="-122"/>
              </a:rPr>
              <a:t>8.3  </a:t>
            </a:r>
            <a:r>
              <a:rPr lang="zh-CN" altLang="en-US" dirty="0" smtClean="0">
                <a:ea typeface="宋体" panose="02010600030101010101" pitchFamily="2" charset="-122"/>
              </a:rPr>
              <a:t>事务处理</a:t>
            </a:r>
            <a:r>
              <a:rPr lang="zh-CN" altLang="en-US" sz="2800" dirty="0" smtClean="0">
                <a:ea typeface="宋体" panose="02010600030101010101" pitchFamily="2" charset="-122"/>
              </a:rPr>
              <a:t> </a:t>
            </a:r>
            <a:endParaRPr lang="zh-CN" altLang="en-US" sz="2800" dirty="0">
              <a:ea typeface="宋体" panose="02010600030101010101" pitchFamily="2" charset="-122"/>
            </a:endParaRPr>
          </a:p>
        </p:txBody>
      </p:sp>
      <p:sp>
        <p:nvSpPr>
          <p:cNvPr id="3" name="Rectangle 3"/>
          <p:cNvSpPr>
            <a:spLocks noGrp="1" noChangeArrowheads="1"/>
          </p:cNvSpPr>
          <p:nvPr>
            <p:ph type="body" idx="1"/>
          </p:nvPr>
        </p:nvSpPr>
        <p:spPr>
          <a:xfrm>
            <a:off x="1100783" y="1744117"/>
            <a:ext cx="10513168" cy="5029200"/>
          </a:xfrm>
        </p:spPr>
        <p:txBody>
          <a:bodyPr/>
          <a:lstStyle/>
          <a:p>
            <a:pPr>
              <a:lnSpc>
                <a:spcPct val="200000"/>
              </a:lnSpc>
            </a:pPr>
            <a:r>
              <a:rPr lang="en-US" dirty="0" smtClean="0">
                <a:ea typeface="宋体" panose="02010600030101010101" pitchFamily="2" charset="-122"/>
              </a:rPr>
              <a:t>8.3.1 </a:t>
            </a:r>
            <a:r>
              <a:rPr lang="zh-CN" altLang="zh-CN" dirty="0" smtClean="0"/>
              <a:t>在</a:t>
            </a:r>
            <a:r>
              <a:rPr lang="en-US" altLang="zh-CN" dirty="0"/>
              <a:t>JDBC</a:t>
            </a:r>
            <a:r>
              <a:rPr lang="zh-CN" altLang="zh-CN" dirty="0"/>
              <a:t>中处理数据库</a:t>
            </a:r>
            <a:r>
              <a:rPr lang="zh-CN" altLang="zh-CN" dirty="0" smtClean="0"/>
              <a:t>事务</a:t>
            </a:r>
            <a:endParaRPr lang="zh-CN" altLang="en-US" dirty="0">
              <a:ea typeface="宋体" panose="02010600030101010101" pitchFamily="2" charset="-122"/>
            </a:endParaRPr>
          </a:p>
          <a:p>
            <a:pPr>
              <a:lnSpc>
                <a:spcPct val="200000"/>
              </a:lnSpc>
              <a:buFont typeface="Wingdings" panose="05000000000000000000" pitchFamily="2" charset="2"/>
              <a:buNone/>
            </a:pPr>
            <a:r>
              <a:rPr lang="zh-CN" altLang="en-US" sz="1800" dirty="0">
                <a:ea typeface="宋体" panose="02010600030101010101" pitchFamily="2" charset="-122"/>
              </a:rPr>
              <a:t>	 事务是</a:t>
            </a:r>
            <a:r>
              <a:rPr lang="en-US" sz="1800" dirty="0">
                <a:ea typeface="宋体" panose="02010600030101010101" pitchFamily="2" charset="-122"/>
              </a:rPr>
              <a:t>SQL</a:t>
            </a:r>
            <a:r>
              <a:rPr lang="zh-CN" altLang="en-US" sz="1800" dirty="0">
                <a:ea typeface="宋体" panose="02010600030101010101" pitchFamily="2" charset="-122"/>
              </a:rPr>
              <a:t>提供的一种机制，用于强制数据库的完整性和维护数据的一致性。</a:t>
            </a:r>
            <a:endParaRPr lang="zh-CN" altLang="en-US" sz="1800" dirty="0">
              <a:ea typeface="宋体" panose="02010600030101010101" pitchFamily="2" charset="-122"/>
            </a:endParaRPr>
          </a:p>
          <a:p>
            <a:pPr>
              <a:lnSpc>
                <a:spcPct val="200000"/>
              </a:lnSpc>
              <a:buFont typeface="Wingdings" panose="05000000000000000000" pitchFamily="2" charset="2"/>
              <a:buNone/>
            </a:pPr>
            <a:r>
              <a:rPr lang="zh-CN" altLang="en-US" sz="1800" dirty="0">
                <a:ea typeface="宋体" panose="02010600030101010101" pitchFamily="2" charset="-122"/>
              </a:rPr>
              <a:t>    </a:t>
            </a:r>
            <a:r>
              <a:rPr lang="zh-CN" altLang="en-US" sz="1800" dirty="0" smtClean="0">
                <a:ea typeface="宋体" panose="02010600030101010101" pitchFamily="2" charset="-122"/>
              </a:rPr>
              <a:t>    事务</a:t>
            </a:r>
            <a:r>
              <a:rPr lang="zh-CN" altLang="en-US" sz="1800" dirty="0">
                <a:ea typeface="宋体" panose="02010600030101010101" pitchFamily="2" charset="-122"/>
              </a:rPr>
              <a:t>的思想是保证多步操作中的任何一步失败的话，则整个事务回滚，如果所有步骤都成功则这个事务可以提交，从而把所有的改变保存到数据库中。</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dirty="0" smtClean="0">
                <a:ea typeface="宋体" panose="02010600030101010101" pitchFamily="2" charset="-122"/>
              </a:rPr>
              <a:t>8.3 </a:t>
            </a:r>
            <a:r>
              <a:rPr lang="zh-CN" altLang="en-US" dirty="0" smtClean="0">
                <a:ea typeface="宋体" panose="02010600030101010101" pitchFamily="2" charset="-122"/>
              </a:rPr>
              <a:t>事务处理</a:t>
            </a:r>
            <a:endParaRPr lang="zh-CN" altLang="en-US" dirty="0">
              <a:ea typeface="宋体" panose="02010600030101010101" pitchFamily="2" charset="-122"/>
            </a:endParaRPr>
          </a:p>
        </p:txBody>
      </p:sp>
      <p:sp>
        <p:nvSpPr>
          <p:cNvPr id="3" name="Rectangle 3"/>
          <p:cNvSpPr>
            <a:spLocks noGrp="1" noChangeArrowheads="1"/>
          </p:cNvSpPr>
          <p:nvPr>
            <p:ph type="body" idx="1"/>
          </p:nvPr>
        </p:nvSpPr>
        <p:spPr>
          <a:xfrm>
            <a:off x="452711" y="1960141"/>
            <a:ext cx="11876832" cy="5029200"/>
          </a:xfrm>
        </p:spPr>
        <p:txBody>
          <a:bodyPr/>
          <a:lstStyle/>
          <a:p>
            <a:pPr>
              <a:lnSpc>
                <a:spcPct val="160000"/>
              </a:lnSpc>
              <a:buFont typeface="Wingdings" panose="05000000000000000000" pitchFamily="2" charset="2"/>
              <a:buNone/>
            </a:pPr>
            <a:r>
              <a:rPr lang="en-US" sz="1800" dirty="0">
                <a:ea typeface="宋体" panose="02010600030101010101" pitchFamily="2" charset="-122"/>
              </a:rPr>
              <a:t>	JDBC</a:t>
            </a:r>
            <a:r>
              <a:rPr lang="zh-CN" altLang="en-US" sz="1800" dirty="0">
                <a:ea typeface="宋体" panose="02010600030101010101" pitchFamily="2" charset="-122"/>
              </a:rPr>
              <a:t>提供对事务的支持，默认情况下事务是自动提交的，即每次执行</a:t>
            </a:r>
            <a:r>
              <a:rPr lang="en-US" sz="1800" dirty="0" err="1">
                <a:ea typeface="宋体" panose="02010600030101010101" pitchFamily="2" charset="-122"/>
              </a:rPr>
              <a:t>executeUpdate</a:t>
            </a:r>
            <a:r>
              <a:rPr lang="en-US" sz="1800" dirty="0">
                <a:ea typeface="宋体" panose="02010600030101010101" pitchFamily="2" charset="-122"/>
              </a:rPr>
              <a:t>( )</a:t>
            </a:r>
            <a:r>
              <a:rPr lang="zh-CN" altLang="en-US" sz="1800" dirty="0">
                <a:ea typeface="宋体" panose="02010600030101010101" pitchFamily="2" charset="-122"/>
              </a:rPr>
              <a:t>语句，相关操作都是即时保存到数据库中的。如果不想让这些</a:t>
            </a:r>
            <a:r>
              <a:rPr lang="en-US" sz="1800" dirty="0">
                <a:ea typeface="宋体" panose="02010600030101010101" pitchFamily="2" charset="-122"/>
              </a:rPr>
              <a:t>SQL</a:t>
            </a:r>
            <a:r>
              <a:rPr lang="zh-CN" altLang="en-US" sz="1800" dirty="0">
                <a:ea typeface="宋体" panose="02010600030101010101" pitchFamily="2" charset="-122"/>
              </a:rPr>
              <a:t>命令自动提交，可以在获得连接后使用下面的语句关闭自动提交：</a:t>
            </a:r>
            <a:endParaRPr lang="zh-CN" altLang="en-US" sz="1800" dirty="0">
              <a:ea typeface="宋体" panose="02010600030101010101" pitchFamily="2" charset="-122"/>
            </a:endParaRPr>
          </a:p>
          <a:p>
            <a:pPr>
              <a:lnSpc>
                <a:spcPct val="160000"/>
              </a:lnSpc>
              <a:buFont typeface="Wingdings" panose="05000000000000000000" pitchFamily="2" charset="2"/>
              <a:buNone/>
            </a:pPr>
            <a:r>
              <a:rPr lang="en-US" sz="1800" dirty="0">
                <a:ea typeface="宋体" panose="02010600030101010101" pitchFamily="2" charset="-122"/>
              </a:rPr>
              <a:t>		</a:t>
            </a:r>
            <a:r>
              <a:rPr lang="en-US" sz="1800" dirty="0" err="1">
                <a:ea typeface="宋体" panose="02010600030101010101" pitchFamily="2" charset="-122"/>
              </a:rPr>
              <a:t>con.setAutoCommit</a:t>
            </a:r>
            <a:r>
              <a:rPr lang="en-US" sz="1800" dirty="0">
                <a:ea typeface="宋体" panose="02010600030101010101" pitchFamily="2" charset="-122"/>
              </a:rPr>
              <a:t>(false);</a:t>
            </a:r>
            <a:endParaRPr lang="en-US" sz="1800" dirty="0">
              <a:ea typeface="宋体" panose="02010600030101010101" pitchFamily="2" charset="-122"/>
            </a:endParaRPr>
          </a:p>
          <a:p>
            <a:pPr>
              <a:lnSpc>
                <a:spcPct val="160000"/>
              </a:lnSpc>
              <a:buFont typeface="Wingdings" panose="05000000000000000000" pitchFamily="2" charset="2"/>
              <a:buNone/>
            </a:pPr>
            <a:r>
              <a:rPr lang="zh-CN" altLang="en-US" sz="1800" dirty="0">
                <a:ea typeface="宋体" panose="02010600030101010101" pitchFamily="2" charset="-122"/>
              </a:rPr>
              <a:t>	然后执行</a:t>
            </a:r>
            <a:r>
              <a:rPr lang="en-US" sz="1800" dirty="0">
                <a:ea typeface="宋体" panose="02010600030101010101" pitchFamily="2" charset="-122"/>
              </a:rPr>
              <a:t>JDBC</a:t>
            </a:r>
            <a:r>
              <a:rPr lang="zh-CN" altLang="en-US" sz="1800" dirty="0">
                <a:ea typeface="宋体" panose="02010600030101010101" pitchFamily="2" charset="-122"/>
              </a:rPr>
              <a:t>操作命令，假设所有操作都能正确执行，在操作语句后面加上下面的语句就能提交事务，所做的改动将保存到数据库中：</a:t>
            </a:r>
            <a:endParaRPr lang="zh-CN" altLang="en-US" sz="1800" dirty="0">
              <a:ea typeface="宋体" panose="02010600030101010101" pitchFamily="2" charset="-122"/>
            </a:endParaRPr>
          </a:p>
          <a:p>
            <a:pPr>
              <a:lnSpc>
                <a:spcPct val="160000"/>
              </a:lnSpc>
              <a:buFont typeface="Wingdings" panose="05000000000000000000" pitchFamily="2" charset="2"/>
              <a:buNone/>
            </a:pPr>
            <a:r>
              <a:rPr lang="en-US" sz="1800" dirty="0">
                <a:ea typeface="宋体" panose="02010600030101010101" pitchFamily="2" charset="-122"/>
              </a:rPr>
              <a:t>		</a:t>
            </a:r>
            <a:r>
              <a:rPr lang="en-US" sz="1800" dirty="0" err="1">
                <a:ea typeface="宋体" panose="02010600030101010101" pitchFamily="2" charset="-122"/>
              </a:rPr>
              <a:t>con.commit</a:t>
            </a:r>
            <a:r>
              <a:rPr lang="en-US" sz="1800" dirty="0">
                <a:ea typeface="宋体" panose="02010600030101010101" pitchFamily="2" charset="-122"/>
              </a:rPr>
              <a:t>( );</a:t>
            </a:r>
            <a:endParaRPr lang="en-US" sz="1800" dirty="0">
              <a:ea typeface="宋体" panose="02010600030101010101" pitchFamily="2" charset="-122"/>
            </a:endParaRPr>
          </a:p>
          <a:p>
            <a:pPr>
              <a:lnSpc>
                <a:spcPct val="160000"/>
              </a:lnSpc>
              <a:buFont typeface="Wingdings" panose="05000000000000000000" pitchFamily="2" charset="2"/>
              <a:buNone/>
            </a:pPr>
            <a:r>
              <a:rPr lang="zh-CN" altLang="en-US" sz="1800" dirty="0">
                <a:ea typeface="宋体" panose="02010600030101010101" pitchFamily="2" charset="-122"/>
              </a:rPr>
              <a:t>	如果在操作中出现异常，调用下面的语句可以使事务回滚，所做的改动不会保存到数据库中：</a:t>
            </a:r>
            <a:endParaRPr lang="zh-CN" altLang="en-US" sz="1800" dirty="0">
              <a:ea typeface="宋体" panose="02010600030101010101" pitchFamily="2" charset="-122"/>
            </a:endParaRPr>
          </a:p>
          <a:p>
            <a:pPr>
              <a:lnSpc>
                <a:spcPct val="160000"/>
              </a:lnSpc>
              <a:buFont typeface="Wingdings" panose="05000000000000000000" pitchFamily="2" charset="2"/>
              <a:buNone/>
            </a:pPr>
            <a:r>
              <a:rPr lang="en-US" sz="1800" dirty="0">
                <a:ea typeface="宋体" panose="02010600030101010101" pitchFamily="2" charset="-122"/>
              </a:rPr>
              <a:t>		</a:t>
            </a:r>
            <a:r>
              <a:rPr lang="en-US" sz="1800" dirty="0" err="1">
                <a:ea typeface="宋体" panose="02010600030101010101" pitchFamily="2" charset="-122"/>
              </a:rPr>
              <a:t>con.rollback</a:t>
            </a:r>
            <a:r>
              <a:rPr lang="en-US" sz="1800" dirty="0">
                <a:ea typeface="宋体" panose="02010600030101010101" pitchFamily="2" charset="-122"/>
              </a:rPr>
              <a:t>( );</a:t>
            </a:r>
            <a:endParaRPr lang="zh-CN" altLang="en-US" sz="1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dirty="0">
                <a:ea typeface="宋体" panose="02010600030101010101" pitchFamily="2" charset="-122"/>
              </a:rPr>
              <a:t>8.3  </a:t>
            </a:r>
            <a:r>
              <a:rPr lang="zh-CN" altLang="en-US" dirty="0" smtClean="0">
                <a:ea typeface="宋体" panose="02010600030101010101" pitchFamily="2" charset="-122"/>
              </a:rPr>
              <a:t>事务处理</a:t>
            </a:r>
            <a:r>
              <a:rPr lang="zh-CN" altLang="en-US" sz="2800" dirty="0" smtClean="0">
                <a:ea typeface="宋体" panose="02010600030101010101" pitchFamily="2" charset="-122"/>
              </a:rPr>
              <a:t> </a:t>
            </a:r>
            <a:endParaRPr lang="zh-CN" altLang="en-US" sz="2800" dirty="0">
              <a:ea typeface="宋体" panose="02010600030101010101" pitchFamily="2" charset="-122"/>
            </a:endParaRPr>
          </a:p>
        </p:txBody>
      </p:sp>
      <p:sp>
        <p:nvSpPr>
          <p:cNvPr id="3" name="Rectangle 3"/>
          <p:cNvSpPr>
            <a:spLocks noGrp="1" noChangeArrowheads="1"/>
          </p:cNvSpPr>
          <p:nvPr>
            <p:ph type="body" idx="1"/>
          </p:nvPr>
        </p:nvSpPr>
        <p:spPr>
          <a:xfrm>
            <a:off x="884759" y="1600101"/>
            <a:ext cx="11521280" cy="5029200"/>
          </a:xfrm>
        </p:spPr>
        <p:txBody>
          <a:bodyPr/>
          <a:lstStyle/>
          <a:p>
            <a:pPr>
              <a:lnSpc>
                <a:spcPct val="200000"/>
              </a:lnSpc>
            </a:pPr>
            <a:r>
              <a:rPr lang="en-US" altLang="zh-CN" dirty="0"/>
              <a:t>8.3.2 </a:t>
            </a:r>
            <a:r>
              <a:rPr lang="zh-CN" altLang="zh-CN" dirty="0" smtClean="0"/>
              <a:t>事务</a:t>
            </a:r>
            <a:r>
              <a:rPr lang="zh-CN" altLang="zh-CN" dirty="0"/>
              <a:t>并发</a:t>
            </a:r>
            <a:r>
              <a:rPr lang="zh-CN" altLang="zh-CN" dirty="0" smtClean="0"/>
              <a:t>问题</a:t>
            </a:r>
            <a:endParaRPr lang="en-US" altLang="zh-CN" dirty="0" smtClean="0"/>
          </a:p>
          <a:p>
            <a:pPr marL="0" indent="0">
              <a:lnSpc>
                <a:spcPct val="200000"/>
              </a:lnSpc>
              <a:buNone/>
            </a:pPr>
            <a:r>
              <a:rPr lang="zh-CN" altLang="zh-CN" sz="2000" dirty="0"/>
              <a:t>脏读是指在一个事务处理过程中读取了另一个未提交事务中的数据</a:t>
            </a:r>
            <a:r>
              <a:rPr lang="zh-CN" altLang="zh-CN" sz="2000" dirty="0" smtClean="0"/>
              <a:t>。</a:t>
            </a:r>
            <a:endParaRPr lang="en-US" altLang="zh-CN" sz="2000" dirty="0" smtClean="0"/>
          </a:p>
          <a:p>
            <a:pPr marL="0" indent="0">
              <a:lnSpc>
                <a:spcPct val="200000"/>
              </a:lnSpc>
              <a:buNone/>
            </a:pPr>
            <a:r>
              <a:rPr lang="zh-CN" altLang="zh-CN" sz="2000" dirty="0" smtClean="0"/>
              <a:t>可</a:t>
            </a:r>
            <a:r>
              <a:rPr lang="zh-CN" altLang="zh-CN" sz="2000" dirty="0"/>
              <a:t>重复读是指对于数据库中的某个数据，一个事务范围内多次查询返回了相同的数据值。</a:t>
            </a:r>
            <a:endParaRPr lang="zh-CN" altLang="zh-CN" sz="2000" dirty="0"/>
          </a:p>
          <a:p>
            <a:pPr marL="0" indent="0">
              <a:lnSpc>
                <a:spcPct val="200000"/>
              </a:lnSpc>
              <a:buNone/>
            </a:pPr>
            <a:r>
              <a:rPr lang="zh-CN" altLang="zh-CN" sz="2000" dirty="0"/>
              <a:t>不可重复读是指对于数据库中的某个数据，一个事务范围内多次查询返回了不同的数据值，这是由于在查询间隔被另一个事务修改并提交了。在某些情况下，不可重复读并不是问题，比如，多次查询某个数据记录，以最后一次查询结果为准。</a:t>
            </a:r>
            <a:endParaRPr lang="zh-CN" altLang="zh-CN" sz="2000" dirty="0"/>
          </a:p>
          <a:p>
            <a:pPr marL="0" indent="0">
              <a:lnSpc>
                <a:spcPct val="200000"/>
              </a:lnSpc>
              <a:buNone/>
            </a:pPr>
            <a:r>
              <a:rPr lang="zh-CN" altLang="zh-CN" sz="2000" dirty="0"/>
              <a:t>幻读是指是指当</a:t>
            </a:r>
            <a:r>
              <a:rPr lang="en-US" altLang="zh-CN" sz="2000" dirty="0"/>
              <a:t>事务</a:t>
            </a:r>
            <a:r>
              <a:rPr lang="zh-CN" altLang="zh-CN" sz="2000" dirty="0"/>
              <a:t>不是独立执行时发生的一种现象</a:t>
            </a:r>
            <a:r>
              <a:rPr lang="zh-CN" altLang="zh-CN" sz="2000" dirty="0" smtClean="0"/>
              <a:t>。</a:t>
            </a:r>
            <a:endParaRPr lang="zh-CN" altLang="en-US"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50" y="590550"/>
            <a:ext cx="5943600" cy="563563"/>
          </a:xfrm>
        </p:spPr>
        <p:txBody>
          <a:bodyPr/>
          <a:lstStyle/>
          <a:p>
            <a:r>
              <a:rPr lang="en-US" dirty="0">
                <a:ea typeface="宋体" panose="02010600030101010101" pitchFamily="2" charset="-122"/>
              </a:rPr>
              <a:t>8.3  </a:t>
            </a:r>
            <a:r>
              <a:rPr lang="zh-CN" altLang="en-US" dirty="0" smtClean="0">
                <a:ea typeface="宋体" panose="02010600030101010101" pitchFamily="2" charset="-122"/>
              </a:rPr>
              <a:t>事务处理</a:t>
            </a:r>
            <a:r>
              <a:rPr lang="zh-CN" altLang="en-US" sz="2800" dirty="0" smtClean="0">
                <a:ea typeface="宋体" panose="02010600030101010101" pitchFamily="2" charset="-122"/>
              </a:rPr>
              <a:t> </a:t>
            </a:r>
            <a:endParaRPr lang="zh-CN" altLang="en-US" sz="2800" dirty="0">
              <a:ea typeface="宋体" panose="02010600030101010101" pitchFamily="2" charset="-122"/>
            </a:endParaRPr>
          </a:p>
        </p:txBody>
      </p:sp>
      <p:sp>
        <p:nvSpPr>
          <p:cNvPr id="3" name="Rectangle 3"/>
          <p:cNvSpPr>
            <a:spLocks noGrp="1" noChangeArrowheads="1"/>
          </p:cNvSpPr>
          <p:nvPr>
            <p:ph type="body" idx="1"/>
          </p:nvPr>
        </p:nvSpPr>
        <p:spPr>
          <a:xfrm>
            <a:off x="668735" y="1312069"/>
            <a:ext cx="11521280" cy="792088"/>
          </a:xfrm>
        </p:spPr>
        <p:txBody>
          <a:bodyPr/>
          <a:lstStyle/>
          <a:p>
            <a:pPr>
              <a:lnSpc>
                <a:spcPct val="200000"/>
              </a:lnSpc>
            </a:pPr>
            <a:r>
              <a:rPr lang="en-US" altLang="zh-CN" dirty="0"/>
              <a:t>8.3.2 </a:t>
            </a:r>
            <a:r>
              <a:rPr lang="zh-CN" altLang="zh-CN" dirty="0" smtClean="0"/>
              <a:t>事务</a:t>
            </a:r>
            <a:r>
              <a:rPr lang="zh-CN" altLang="zh-CN" dirty="0"/>
              <a:t>并发</a:t>
            </a:r>
            <a:r>
              <a:rPr lang="zh-CN" altLang="zh-CN" dirty="0" smtClean="0"/>
              <a:t>问题</a:t>
            </a:r>
            <a:endParaRPr lang="en-US" altLang="zh-CN" dirty="0" smtClean="0"/>
          </a:p>
        </p:txBody>
      </p:sp>
      <p:sp>
        <p:nvSpPr>
          <p:cNvPr id="6" name="矩形 5"/>
          <p:cNvSpPr/>
          <p:nvPr/>
        </p:nvSpPr>
        <p:spPr>
          <a:xfrm>
            <a:off x="5182880" y="2680221"/>
            <a:ext cx="2492990" cy="369332"/>
          </a:xfrm>
          <a:prstGeom prst="rect">
            <a:avLst/>
          </a:prstGeom>
        </p:spPr>
        <p:txBody>
          <a:bodyPr wrap="none">
            <a:spAutoFit/>
          </a:bodyPr>
          <a:lstStyle/>
          <a:p>
            <a:r>
              <a:rPr lang="zh-CN" altLang="zh-CN" dirty="0"/>
              <a:t>数据库的四种</a:t>
            </a:r>
            <a:r>
              <a:rPr lang="en-US" altLang="zh-CN" dirty="0"/>
              <a:t>隔离级别</a:t>
            </a:r>
            <a:endParaRPr lang="zh-CN" altLang="en-US"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4799" y="3356449"/>
            <a:ext cx="10993030"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2527307" y="1761854"/>
            <a:ext cx="8140553" cy="806946"/>
          </a:xfrm>
          <a:prstGeom prst="rect">
            <a:avLst/>
          </a:prstGeom>
          <a:noFill/>
        </p:spPr>
        <p:txBody>
          <a:bodyPr wrap="none" lIns="128583" tIns="64291" rIns="128583" bIns="64291" rtlCol="0">
            <a:spAutoFit/>
          </a:bodyPr>
          <a:lstStyle/>
          <a:p>
            <a:pPr algn="ctr"/>
            <a:r>
              <a:rPr kumimoji="1" lang="en-US" altLang="zh-CN" sz="4400" b="1" dirty="0" smtClean="0">
                <a:solidFill>
                  <a:srgbClr val="43536A"/>
                </a:solidFill>
                <a:cs typeface="+mn-ea"/>
              </a:rPr>
              <a:t>8.4 </a:t>
            </a:r>
            <a:r>
              <a:rPr kumimoji="1" lang="zh-CN" altLang="en-US" sz="4400" b="1" dirty="0">
                <a:solidFill>
                  <a:srgbClr val="43536A"/>
                </a:solidFill>
                <a:cs typeface="+mn-ea"/>
              </a:rPr>
              <a:t>基于</a:t>
            </a:r>
            <a:r>
              <a:rPr kumimoji="1" lang="en-US" altLang="zh-CN" sz="4400" b="1" dirty="0">
                <a:solidFill>
                  <a:srgbClr val="43536A"/>
                </a:solidFill>
                <a:cs typeface="+mn-ea"/>
              </a:rPr>
              <a:t>MVC</a:t>
            </a:r>
            <a:r>
              <a:rPr kumimoji="1" lang="zh-CN" altLang="en-US" sz="4400" b="1" dirty="0">
                <a:solidFill>
                  <a:srgbClr val="43536A"/>
                </a:solidFill>
                <a:cs typeface="+mn-ea"/>
              </a:rPr>
              <a:t>模式的数据库访问  </a:t>
            </a:r>
            <a:endParaRPr kumimoji="1" lang="zh-CN" altLang="en-US" sz="44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885949" y="590550"/>
            <a:ext cx="6729413" cy="563563"/>
          </a:xfrm>
        </p:spPr>
        <p:txBody>
          <a:bodyPr/>
          <a:lstStyle/>
          <a:p>
            <a:r>
              <a:rPr lang="zh-CN" altLang="en-US" dirty="0" smtClean="0">
                <a:ea typeface="宋体" panose="02010600030101010101" pitchFamily="2" charset="-122"/>
              </a:rPr>
              <a:t>第八章    </a:t>
            </a:r>
            <a:r>
              <a:rPr lang="en-US" dirty="0" smtClean="0">
                <a:ea typeface="宋体" panose="02010600030101010101" pitchFamily="2" charset="-122"/>
              </a:rPr>
              <a:t>JDBC</a:t>
            </a:r>
            <a:r>
              <a:rPr lang="zh-CN" altLang="en-US" dirty="0" smtClean="0">
                <a:ea typeface="宋体" panose="02010600030101010101" pitchFamily="2" charset="-122"/>
              </a:rPr>
              <a:t>核心技术</a:t>
            </a:r>
            <a:endParaRPr lang="zh-CN" altLang="en-US" dirty="0">
              <a:ea typeface="宋体" panose="02010600030101010101" pitchFamily="2" charset="-122"/>
            </a:endParaRPr>
          </a:p>
        </p:txBody>
      </p:sp>
      <p:sp>
        <p:nvSpPr>
          <p:cNvPr id="7" name="Rectangle 3"/>
          <p:cNvSpPr txBox="1">
            <a:spLocks noChangeArrowheads="1"/>
          </p:cNvSpPr>
          <p:nvPr/>
        </p:nvSpPr>
        <p:spPr bwMode="auto">
          <a:xfrm>
            <a:off x="2108895" y="2001741"/>
            <a:ext cx="7427913" cy="309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130000"/>
              </a:lnSpc>
            </a:pPr>
            <a:r>
              <a:rPr lang="zh-CN" altLang="zh-CN" sz="2800" dirty="0"/>
              <a:t>基于</a:t>
            </a:r>
            <a:r>
              <a:rPr lang="en-US" altLang="zh-CN" sz="2800" dirty="0"/>
              <a:t>MVC</a:t>
            </a:r>
            <a:r>
              <a:rPr lang="zh-CN" altLang="zh-CN" sz="2800" dirty="0"/>
              <a:t>模式的数据库</a:t>
            </a:r>
            <a:r>
              <a:rPr lang="zh-CN" altLang="zh-CN" sz="2800" dirty="0" smtClean="0"/>
              <a:t>访问</a:t>
            </a:r>
            <a:endParaRPr lang="zh-CN" altLang="en-US" dirty="0" smtClean="0">
              <a:ea typeface="宋体" panose="02010600030101010101" pitchFamily="2" charset="-122"/>
            </a:endParaRPr>
          </a:p>
          <a:p>
            <a:pPr lvl="1">
              <a:lnSpc>
                <a:spcPct val="130000"/>
              </a:lnSpc>
            </a:pPr>
            <a:r>
              <a:rPr lang="zh-CN" altLang="zh-CN" sz="2400" dirty="0"/>
              <a:t>使用</a:t>
            </a:r>
            <a:r>
              <a:rPr lang="en-US" altLang="zh-CN" sz="2400" dirty="0"/>
              <a:t>DTO</a:t>
            </a:r>
            <a:r>
              <a:rPr lang="zh-CN" altLang="zh-CN" sz="2400" dirty="0"/>
              <a:t>、</a:t>
            </a:r>
            <a:r>
              <a:rPr lang="en-US" altLang="zh-CN" sz="2400" dirty="0"/>
              <a:t>ENTITY</a:t>
            </a:r>
            <a:r>
              <a:rPr lang="zh-CN" altLang="zh-CN" sz="2400" dirty="0"/>
              <a:t>和</a:t>
            </a:r>
            <a:r>
              <a:rPr lang="en-US" altLang="zh-CN" sz="2400" dirty="0" smtClean="0"/>
              <a:t>DAO</a:t>
            </a:r>
            <a:endParaRPr lang="zh-CN" altLang="en-US" sz="2200" dirty="0" smtClean="0">
              <a:ea typeface="宋体" panose="02010600030101010101" pitchFamily="2" charset="-122"/>
            </a:endParaRPr>
          </a:p>
          <a:p>
            <a:pPr lvl="1">
              <a:lnSpc>
                <a:spcPct val="130000"/>
              </a:lnSpc>
            </a:pPr>
            <a:r>
              <a:rPr lang="zh-CN" altLang="zh-CN" sz="2400" dirty="0"/>
              <a:t>一个基于</a:t>
            </a:r>
            <a:r>
              <a:rPr lang="en-US" altLang="zh-CN" sz="2400" dirty="0"/>
              <a:t>MVC</a:t>
            </a:r>
            <a:r>
              <a:rPr lang="zh-CN" altLang="zh-CN" sz="2400" dirty="0"/>
              <a:t>模式的数据库访问应用程序</a:t>
            </a:r>
            <a:r>
              <a:rPr lang="zh-CN" altLang="zh-CN" sz="2400" dirty="0" smtClean="0"/>
              <a:t>体验</a:t>
            </a:r>
            <a:endParaRPr lang="en-US" altLang="zh-CN" sz="24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49" y="590550"/>
            <a:ext cx="7999810" cy="563563"/>
          </a:xfrm>
        </p:spPr>
        <p:txBody>
          <a:bodyPr/>
          <a:lstStyle/>
          <a:p>
            <a:r>
              <a:rPr lang="en-US" dirty="0" smtClean="0">
                <a:ea typeface="宋体" panose="02010600030101010101" pitchFamily="2" charset="-122"/>
              </a:rPr>
              <a:t>8.4  </a:t>
            </a:r>
            <a:r>
              <a:rPr kumimoji="1" lang="zh-CN" altLang="en-US" dirty="0" smtClean="0">
                <a:cs typeface="+mn-ea"/>
              </a:rPr>
              <a:t>基于</a:t>
            </a:r>
            <a:r>
              <a:rPr kumimoji="1" lang="en-US" altLang="zh-CN" dirty="0">
                <a:cs typeface="+mn-ea"/>
              </a:rPr>
              <a:t>MVC</a:t>
            </a:r>
            <a:r>
              <a:rPr kumimoji="1" lang="zh-CN" altLang="en-US" dirty="0">
                <a:cs typeface="+mn-ea"/>
              </a:rPr>
              <a:t>模式的数据库访问</a:t>
            </a:r>
            <a:endParaRPr lang="zh-CN" altLang="en-US" dirty="0">
              <a:ea typeface="宋体" panose="02010600030101010101" pitchFamily="2" charset="-122"/>
            </a:endParaRPr>
          </a:p>
        </p:txBody>
      </p:sp>
      <p:sp>
        <p:nvSpPr>
          <p:cNvPr id="3" name="Rectangle 3"/>
          <p:cNvSpPr>
            <a:spLocks noGrp="1" noChangeArrowheads="1"/>
          </p:cNvSpPr>
          <p:nvPr>
            <p:ph type="body" idx="1"/>
          </p:nvPr>
        </p:nvSpPr>
        <p:spPr>
          <a:xfrm>
            <a:off x="452711" y="1456085"/>
            <a:ext cx="11665296" cy="5029200"/>
          </a:xfrm>
        </p:spPr>
        <p:txBody>
          <a:bodyPr/>
          <a:lstStyle/>
          <a:p>
            <a:r>
              <a:rPr lang="en-US" altLang="zh-CN" dirty="0" smtClean="0"/>
              <a:t>8.4.1 </a:t>
            </a:r>
            <a:r>
              <a:rPr lang="zh-CN" altLang="zh-CN" dirty="0" smtClean="0"/>
              <a:t>使用</a:t>
            </a:r>
            <a:r>
              <a:rPr lang="en-US" altLang="zh-CN" dirty="0"/>
              <a:t>DTO</a:t>
            </a:r>
            <a:r>
              <a:rPr lang="zh-CN" altLang="zh-CN" dirty="0"/>
              <a:t>、</a:t>
            </a:r>
            <a:r>
              <a:rPr lang="en-US" altLang="zh-CN" dirty="0"/>
              <a:t>ENTITY</a:t>
            </a:r>
            <a:r>
              <a:rPr lang="zh-CN" altLang="zh-CN" dirty="0"/>
              <a:t>和</a:t>
            </a:r>
            <a:r>
              <a:rPr lang="en-US" altLang="zh-CN" dirty="0" smtClean="0"/>
              <a:t>DAO</a:t>
            </a:r>
            <a:endParaRPr lang="zh-CN" altLang="en-US" dirty="0" smtClean="0">
              <a:ea typeface="宋体" panose="02010600030101010101" pitchFamily="2" charset="-122"/>
            </a:endParaRPr>
          </a:p>
          <a:p>
            <a:pPr>
              <a:lnSpc>
                <a:spcPct val="160000"/>
              </a:lnSpc>
              <a:buNone/>
            </a:pPr>
            <a:r>
              <a:rPr lang="en-US" dirty="0" smtClean="0">
                <a:ea typeface="宋体" panose="02010600030101010101" pitchFamily="2" charset="-122"/>
              </a:rPr>
              <a:t>	</a:t>
            </a:r>
            <a:r>
              <a:rPr lang="zh-CN" altLang="zh-CN" sz="2000" dirty="0"/>
              <a:t>在项目开发中，根据代码所起的作用可以分为界面显示代码、业务处理代码、逻辑控制代码、数据访问代码、数据传输代码</a:t>
            </a:r>
            <a:r>
              <a:rPr lang="zh-CN" altLang="zh-CN" sz="2000" dirty="0" smtClean="0"/>
              <a:t>等</a:t>
            </a:r>
            <a:r>
              <a:rPr lang="zh-CN" altLang="en-US" sz="2000" dirty="0" smtClean="0">
                <a:ea typeface="宋体" panose="02010600030101010101" pitchFamily="2" charset="-122"/>
              </a:rPr>
              <a:t>。</a:t>
            </a:r>
            <a:endParaRPr lang="en-US" altLang="zh-CN" sz="2000" dirty="0" smtClean="0">
              <a:ea typeface="宋体" panose="02010600030101010101" pitchFamily="2" charset="-122"/>
            </a:endParaRPr>
          </a:p>
          <a:p>
            <a:pPr>
              <a:lnSpc>
                <a:spcPct val="160000"/>
              </a:lnSpc>
              <a:buNone/>
            </a:pPr>
            <a:r>
              <a:rPr lang="en-US" altLang="zh-CN" sz="2000" dirty="0" smtClean="0"/>
              <a:t>      </a:t>
            </a:r>
            <a:r>
              <a:rPr lang="en-US" altLang="zh-CN" sz="2000" b="1" dirty="0" smtClean="0"/>
              <a:t>DTO</a:t>
            </a:r>
            <a:r>
              <a:rPr lang="zh-CN" altLang="zh-CN" sz="2000" b="1" dirty="0"/>
              <a:t>（数据传输对象）</a:t>
            </a:r>
            <a:r>
              <a:rPr lang="zh-CN" altLang="zh-CN" sz="2000" dirty="0"/>
              <a:t>主要的作用是在不同类中进行数据的交换，将大量数据放入一个</a:t>
            </a:r>
            <a:r>
              <a:rPr lang="en-US" altLang="zh-CN" sz="2000" dirty="0"/>
              <a:t>DTO</a:t>
            </a:r>
            <a:r>
              <a:rPr lang="zh-CN" altLang="zh-CN" sz="2000" dirty="0"/>
              <a:t>中便于整体传输</a:t>
            </a:r>
            <a:r>
              <a:rPr lang="zh-CN" altLang="zh-CN" sz="2000" dirty="0" smtClean="0"/>
              <a:t>。</a:t>
            </a:r>
            <a:endParaRPr lang="en-US" altLang="zh-CN" sz="2000" dirty="0" smtClean="0"/>
          </a:p>
          <a:p>
            <a:pPr>
              <a:lnSpc>
                <a:spcPct val="160000"/>
              </a:lnSpc>
              <a:buNone/>
            </a:pPr>
            <a:r>
              <a:rPr lang="en-US" altLang="zh-CN" sz="2000" b="1" dirty="0"/>
              <a:t> </a:t>
            </a:r>
            <a:r>
              <a:rPr lang="en-US" altLang="zh-CN" sz="2000" b="1" dirty="0" smtClean="0"/>
              <a:t>     ENTITY</a:t>
            </a:r>
            <a:r>
              <a:rPr lang="zh-CN" altLang="zh-CN" sz="2000" b="1" dirty="0"/>
              <a:t>（实体类）</a:t>
            </a:r>
            <a:r>
              <a:rPr lang="zh-CN" altLang="zh-CN" sz="2000" dirty="0"/>
              <a:t>与</a:t>
            </a:r>
            <a:r>
              <a:rPr lang="en-US" altLang="zh-CN" sz="2000" dirty="0"/>
              <a:t>DTO</a:t>
            </a:r>
            <a:r>
              <a:rPr lang="zh-CN" altLang="zh-CN" sz="2000" dirty="0"/>
              <a:t>在结构和作用方面非常相似，但又有着本质上的不同，</a:t>
            </a:r>
            <a:r>
              <a:rPr lang="en-US" altLang="zh-CN" sz="2000" dirty="0"/>
              <a:t>ENTITY</a:t>
            </a:r>
            <a:r>
              <a:rPr lang="zh-CN" altLang="zh-CN" sz="2000" dirty="0"/>
              <a:t>一般是和数据表做映射，</a:t>
            </a:r>
            <a:r>
              <a:rPr lang="en-US" altLang="zh-CN" sz="2000" dirty="0"/>
              <a:t>ENTITY</a:t>
            </a:r>
            <a:r>
              <a:rPr lang="zh-CN" altLang="zh-CN" sz="2000" dirty="0"/>
              <a:t>中的属性对应表中的列，</a:t>
            </a:r>
            <a:r>
              <a:rPr lang="en-US" altLang="zh-CN" sz="2000" dirty="0"/>
              <a:t>ENTITY</a:t>
            </a:r>
            <a:r>
              <a:rPr lang="zh-CN" altLang="zh-CN" sz="2000" dirty="0"/>
              <a:t>的名称与表名</a:t>
            </a:r>
            <a:r>
              <a:rPr lang="zh-CN" altLang="zh-CN" sz="2000" dirty="0" smtClean="0"/>
              <a:t>一致。</a:t>
            </a:r>
            <a:endParaRPr lang="en-US" altLang="zh-CN" sz="2000" dirty="0" smtClean="0"/>
          </a:p>
          <a:p>
            <a:pPr>
              <a:lnSpc>
                <a:spcPct val="160000"/>
              </a:lnSpc>
              <a:buNone/>
            </a:pPr>
            <a:r>
              <a:rPr lang="en-US" altLang="zh-CN" sz="2000" b="1" dirty="0"/>
              <a:t> </a:t>
            </a:r>
            <a:r>
              <a:rPr lang="en-US" altLang="zh-CN" sz="2000" b="1" dirty="0" smtClean="0"/>
              <a:t>     DAO</a:t>
            </a:r>
            <a:r>
              <a:rPr lang="zh-CN" altLang="zh-CN" sz="2000" b="1" dirty="0"/>
              <a:t>（数据访问对象）</a:t>
            </a:r>
            <a:r>
              <a:rPr lang="zh-CN" altLang="zh-CN" sz="2000" dirty="0"/>
              <a:t>主要的作用是封装对数据库操作的</a:t>
            </a:r>
            <a:r>
              <a:rPr lang="en-US" altLang="zh-CN" sz="2000" dirty="0"/>
              <a:t>JDBC</a:t>
            </a:r>
            <a:r>
              <a:rPr lang="zh-CN" altLang="zh-CN" sz="2000" dirty="0"/>
              <a:t>代码，把增删改查相关的</a:t>
            </a:r>
            <a:r>
              <a:rPr lang="en-US" altLang="zh-CN" sz="2000" dirty="0"/>
              <a:t>JDBC</a:t>
            </a:r>
            <a:r>
              <a:rPr lang="zh-CN" altLang="zh-CN" sz="2000" dirty="0"/>
              <a:t>代码放入</a:t>
            </a:r>
            <a:r>
              <a:rPr lang="en-US" altLang="zh-CN" sz="2000" dirty="0"/>
              <a:t>DAO</a:t>
            </a:r>
            <a:r>
              <a:rPr lang="zh-CN" altLang="zh-CN" sz="2000" dirty="0"/>
              <a:t>层中，对外提供操作数据库的添删改查方法，封装的优点是便于后期代码的维护与排错</a:t>
            </a:r>
            <a:r>
              <a:rPr lang="zh-CN" altLang="zh-CN" sz="2000" dirty="0" smtClean="0"/>
              <a:t>。</a:t>
            </a:r>
            <a:endParaRPr lang="zh-CN" altLang="en-US" sz="2000"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49" y="590550"/>
            <a:ext cx="7855793" cy="563563"/>
          </a:xfrm>
        </p:spPr>
        <p:txBody>
          <a:bodyPr/>
          <a:lstStyle/>
          <a:p>
            <a:r>
              <a:rPr lang="en-US" altLang="zh-CN" dirty="0">
                <a:ea typeface="宋体" panose="02010600030101010101" pitchFamily="2" charset="-122"/>
              </a:rPr>
              <a:t>8.4  </a:t>
            </a:r>
            <a:r>
              <a:rPr kumimoji="1" lang="zh-CN" altLang="en-US" dirty="0">
                <a:cs typeface="+mn-ea"/>
              </a:rPr>
              <a:t>基于</a:t>
            </a:r>
            <a:r>
              <a:rPr kumimoji="1" lang="en-US" altLang="zh-CN" dirty="0">
                <a:cs typeface="+mn-ea"/>
              </a:rPr>
              <a:t>MVC</a:t>
            </a:r>
            <a:r>
              <a:rPr kumimoji="1" lang="zh-CN" altLang="en-US" dirty="0">
                <a:cs typeface="+mn-ea"/>
              </a:rPr>
              <a:t>模式的数据库访问</a:t>
            </a:r>
            <a:endParaRPr lang="zh-CN" altLang="en-US" dirty="0">
              <a:ea typeface="宋体" panose="02010600030101010101" pitchFamily="2" charset="-122"/>
            </a:endParaRPr>
          </a:p>
        </p:txBody>
      </p:sp>
      <p:sp>
        <p:nvSpPr>
          <p:cNvPr id="3" name="Rectangle 3"/>
          <p:cNvSpPr>
            <a:spLocks noGrp="1" noChangeArrowheads="1"/>
          </p:cNvSpPr>
          <p:nvPr>
            <p:ph type="body" idx="1"/>
          </p:nvPr>
        </p:nvSpPr>
        <p:spPr>
          <a:xfrm>
            <a:off x="740743" y="1816125"/>
            <a:ext cx="11665296" cy="5029200"/>
          </a:xfrm>
        </p:spPr>
        <p:txBody>
          <a:bodyPr/>
          <a:lstStyle/>
          <a:p>
            <a:r>
              <a:rPr lang="en-US" altLang="zh-CN" dirty="0"/>
              <a:t>8.4.2 </a:t>
            </a:r>
            <a:r>
              <a:rPr lang="zh-CN" altLang="zh-CN" dirty="0"/>
              <a:t>一个基于</a:t>
            </a:r>
            <a:r>
              <a:rPr lang="en-US" altLang="zh-CN" dirty="0"/>
              <a:t>MVC</a:t>
            </a:r>
            <a:r>
              <a:rPr lang="zh-CN" altLang="zh-CN" dirty="0"/>
              <a:t>模式的数据库访问应用程序</a:t>
            </a:r>
            <a:r>
              <a:rPr lang="zh-CN" altLang="zh-CN" dirty="0" smtClean="0"/>
              <a:t>体验</a:t>
            </a:r>
            <a:endParaRPr lang="zh-CN" altLang="en-US" dirty="0">
              <a:ea typeface="宋体" panose="02010600030101010101" pitchFamily="2" charset="-122"/>
            </a:endParaRPr>
          </a:p>
          <a:p>
            <a:pPr>
              <a:lnSpc>
                <a:spcPct val="160000"/>
              </a:lnSpc>
              <a:buFont typeface="Wingdings" panose="05000000000000000000" pitchFamily="2" charset="2"/>
              <a:buNone/>
            </a:pPr>
            <a:r>
              <a:rPr lang="en-US" dirty="0">
                <a:ea typeface="宋体" panose="02010600030101010101" pitchFamily="2" charset="-122"/>
              </a:rPr>
              <a:t>	</a:t>
            </a:r>
            <a:r>
              <a:rPr lang="en-US" sz="2000" dirty="0">
                <a:ea typeface="宋体" panose="02010600030101010101" pitchFamily="2" charset="-122"/>
              </a:rPr>
              <a:t>DAO</a:t>
            </a:r>
            <a:r>
              <a:rPr lang="zh-CN" altLang="en-US" sz="2000" dirty="0">
                <a:ea typeface="宋体" panose="02010600030101010101" pitchFamily="2" charset="-122"/>
              </a:rPr>
              <a:t>是</a:t>
            </a:r>
            <a:r>
              <a:rPr lang="en-US" sz="2000" dirty="0">
                <a:ea typeface="宋体" panose="02010600030101010101" pitchFamily="2" charset="-122"/>
              </a:rPr>
              <a:t>Data Access Object</a:t>
            </a:r>
            <a:r>
              <a:rPr lang="zh-CN" altLang="en-US" sz="2000" dirty="0">
                <a:ea typeface="宋体" panose="02010600030101010101" pitchFamily="2" charset="-122"/>
              </a:rPr>
              <a:t>数据访问对象。数据访问是与数据库打交道，对数据库中的数据进行添删改查的操作，在项目开发中数据访问对象夹在业务逻辑与数据库资源中间。通过数据库访问对象可以将数据库的相关操作代码，如加载驱动、建立数据库连接、数据库添删改查、关闭连接等操作封装起来。上层代码需要对数据库访问时直接调用数据库访问对象中的相关方法，对于上层代码来说，数据库的操作是不可见的。</a:t>
            </a:r>
            <a:endParaRPr lang="zh-CN" altLang="en-US" sz="2000" dirty="0">
              <a:ea typeface="宋体" panose="02010600030101010101" pitchFamily="2" charset="-122"/>
            </a:endParaRPr>
          </a:p>
        </p:txBody>
      </p:sp>
      <p:sp>
        <p:nvSpPr>
          <p:cNvPr id="4" name="Rectangle 4"/>
          <p:cNvSpPr>
            <a:spLocks noChangeArrowheads="1"/>
          </p:cNvSpPr>
          <p:nvPr/>
        </p:nvSpPr>
        <p:spPr bwMode="auto">
          <a:xfrm>
            <a:off x="1172791" y="5488955"/>
            <a:ext cx="9324662"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30000"/>
              </a:lnSpc>
              <a:spcBef>
                <a:spcPct val="20000"/>
              </a:spcBef>
              <a:buClr>
                <a:schemeClr val="tx2"/>
              </a:buClr>
            </a:pPr>
            <a:r>
              <a:rPr lang="zh-CN" altLang="en-US" sz="2000" dirty="0" smtClean="0">
                <a:ea typeface="宋体" panose="02010600030101010101" pitchFamily="2" charset="-122"/>
              </a:rPr>
              <a:t>基于</a:t>
            </a:r>
            <a:r>
              <a:rPr lang="en-US" sz="2000" dirty="0">
                <a:ea typeface="宋体" panose="02010600030101010101" pitchFamily="2" charset="-122"/>
              </a:rPr>
              <a:t>MVC</a:t>
            </a:r>
            <a:r>
              <a:rPr lang="zh-CN" altLang="en-US" sz="2000" dirty="0">
                <a:ea typeface="宋体" panose="02010600030101010101" pitchFamily="2" charset="-122"/>
              </a:rPr>
              <a:t>模式的数据库访问 </a:t>
            </a:r>
            <a:r>
              <a:rPr lang="en-US" altLang="zh-CN" sz="2000" dirty="0" smtClean="0">
                <a:ea typeface="宋体" panose="02010600030101010101" pitchFamily="2" charset="-122"/>
              </a:rPr>
              <a:t>---</a:t>
            </a:r>
            <a:r>
              <a:rPr lang="zh-CN" altLang="en-US" sz="2000" dirty="0" smtClean="0">
                <a:ea typeface="宋体" panose="02010600030101010101" pitchFamily="2" charset="-122"/>
              </a:rPr>
              <a:t>一</a:t>
            </a:r>
            <a:r>
              <a:rPr lang="zh-CN" altLang="en-US" sz="2000" dirty="0">
                <a:ea typeface="宋体" panose="02010600030101010101" pitchFamily="2" charset="-122"/>
              </a:rPr>
              <a:t>个基于</a:t>
            </a:r>
            <a:r>
              <a:rPr lang="en-US" sz="2000" dirty="0">
                <a:ea typeface="宋体" panose="02010600030101010101" pitchFamily="2" charset="-122"/>
              </a:rPr>
              <a:t>MVC</a:t>
            </a:r>
            <a:r>
              <a:rPr lang="zh-CN" altLang="en-US" sz="2000" dirty="0">
                <a:ea typeface="宋体" panose="02010600030101010101" pitchFamily="2" charset="-122"/>
              </a:rPr>
              <a:t>模式的数据库访问应用程序体验</a:t>
            </a:r>
            <a:endParaRPr lang="zh-CN" altLang="en-US" sz="2000" dirty="0">
              <a:ea typeface="宋体" panose="02010600030101010101" pitchFamily="2" charset="-122"/>
            </a:endParaRPr>
          </a:p>
          <a:p>
            <a:pPr marL="342900" indent="-342900">
              <a:spcBef>
                <a:spcPct val="20000"/>
              </a:spcBef>
              <a:buClr>
                <a:schemeClr val="tx2"/>
              </a:buClr>
              <a:buFont typeface="Wingdings" panose="05000000000000000000" pitchFamily="2" charset="2"/>
              <a:buNone/>
            </a:pPr>
            <a:endParaRPr lang="zh-CN" altLang="en-US" sz="2200" dirty="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885949" y="590550"/>
            <a:ext cx="7855793" cy="563563"/>
          </a:xfrm>
        </p:spPr>
        <p:txBody>
          <a:bodyPr/>
          <a:lstStyle/>
          <a:p>
            <a:r>
              <a:rPr lang="en-US" dirty="0">
                <a:ea typeface="宋体" panose="02010600030101010101" pitchFamily="2" charset="-122"/>
              </a:rPr>
              <a:t>8.4 </a:t>
            </a:r>
            <a:r>
              <a:rPr lang="zh-CN" altLang="en-US" dirty="0">
                <a:ea typeface="宋体" panose="02010600030101010101" pitchFamily="2" charset="-122"/>
              </a:rPr>
              <a:t>基于</a:t>
            </a:r>
            <a:r>
              <a:rPr lang="en-US" dirty="0">
                <a:ea typeface="宋体" panose="02010600030101010101" pitchFamily="2" charset="-122"/>
              </a:rPr>
              <a:t>MVC</a:t>
            </a:r>
            <a:r>
              <a:rPr lang="zh-CN" altLang="en-US" dirty="0">
                <a:ea typeface="宋体" panose="02010600030101010101" pitchFamily="2" charset="-122"/>
              </a:rPr>
              <a:t>模式的数据库访问 </a:t>
            </a:r>
            <a:endParaRPr lang="zh-CN" altLang="en-US" dirty="0">
              <a:ea typeface="宋体" panose="02010600030101010101" pitchFamily="2" charset="-122"/>
            </a:endParaRPr>
          </a:p>
        </p:txBody>
      </p:sp>
      <p:graphicFrame>
        <p:nvGraphicFramePr>
          <p:cNvPr id="3" name="Group 3"/>
          <p:cNvGraphicFramePr>
            <a:graphicFrameLocks noGrp="1"/>
          </p:cNvGraphicFramePr>
          <p:nvPr>
            <p:ph idx="1"/>
          </p:nvPr>
        </p:nvGraphicFramePr>
        <p:xfrm>
          <a:off x="1967382" y="3688333"/>
          <a:ext cx="8362950" cy="2521585"/>
        </p:xfrm>
        <a:graphic>
          <a:graphicData uri="http://schemas.openxmlformats.org/drawingml/2006/table">
            <a:tbl>
              <a:tblPr/>
              <a:tblGrid>
                <a:gridCol w="1954213"/>
                <a:gridCol w="6408737"/>
              </a:tblGrid>
              <a:tr h="3651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文件名</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功能描述</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86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UserDAO.java</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数据访问组件，定义了对用户表的访问方法。</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User.java</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组件，定义了用户表的相关信息。</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UserServlet.java</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在整个程序中充当控制器的角色，用于程序转向。</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index.jsp</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页面，为用户提供了输入添加用户的界面和查询、删除界面。</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web.xml</a:t>
                      </a:r>
                      <a:endPara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配置</a:t>
                      </a:r>
                      <a:r>
                        <a:rPr kumimoji="0" 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servlet</a:t>
                      </a:r>
                      <a:r>
                        <a:rPr kumimoji="0" lang="zh-CN" altLang="en-US" sz="18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相关信息。</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Rectangle 26"/>
          <p:cNvSpPr>
            <a:spLocks noChangeArrowheads="1"/>
          </p:cNvSpPr>
          <p:nvPr/>
        </p:nvSpPr>
        <p:spPr bwMode="auto">
          <a:xfrm>
            <a:off x="539749" y="1873210"/>
            <a:ext cx="11218217"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800" dirty="0">
              <a:ea typeface="宋体" panose="02010600030101010101" pitchFamily="2" charset="-122"/>
            </a:endParaRPr>
          </a:p>
          <a:p>
            <a:pPr>
              <a:lnSpc>
                <a:spcPct val="150000"/>
              </a:lnSpc>
            </a:pPr>
            <a:r>
              <a:rPr lang="zh-CN" altLang="en-US" dirty="0">
                <a:ea typeface="宋体" panose="02010600030101010101" pitchFamily="2" charset="-122"/>
              </a:rPr>
              <a:t>基于</a:t>
            </a:r>
            <a:r>
              <a:rPr lang="en-US" dirty="0">
                <a:ea typeface="宋体" panose="02010600030101010101" pitchFamily="2" charset="-122"/>
              </a:rPr>
              <a:t>MVC</a:t>
            </a:r>
            <a:r>
              <a:rPr lang="zh-CN" altLang="en-US" dirty="0">
                <a:ea typeface="宋体" panose="02010600030101010101" pitchFamily="2" charset="-122"/>
              </a:rPr>
              <a:t>的数据库访问程序清单如下表所示，其中</a:t>
            </a:r>
            <a:r>
              <a:rPr lang="en-US" dirty="0">
                <a:ea typeface="宋体" panose="02010600030101010101" pitchFamily="2" charset="-122"/>
              </a:rPr>
              <a:t>UserDAO.java</a:t>
            </a:r>
            <a:r>
              <a:rPr lang="zh-CN" altLang="en-US" dirty="0">
                <a:ea typeface="宋体" panose="02010600030101010101" pitchFamily="2" charset="-122"/>
              </a:rPr>
              <a:t>、</a:t>
            </a:r>
            <a:r>
              <a:rPr lang="en-US" dirty="0">
                <a:ea typeface="宋体" panose="02010600030101010101" pitchFamily="2" charset="-122"/>
              </a:rPr>
              <a:t>User.java</a:t>
            </a:r>
            <a:r>
              <a:rPr lang="zh-CN" altLang="en-US" dirty="0">
                <a:ea typeface="宋体" panose="02010600030101010101" pitchFamily="2" charset="-122"/>
              </a:rPr>
              <a:t>共同组成了用户模型层（</a:t>
            </a:r>
            <a:r>
              <a:rPr lang="en-US" dirty="0">
                <a:ea typeface="宋体" panose="02010600030101010101" pitchFamily="2" charset="-122"/>
              </a:rPr>
              <a:t>M</a:t>
            </a:r>
            <a:r>
              <a:rPr lang="zh-CN" altLang="en-US" dirty="0">
                <a:ea typeface="宋体" panose="02010600030101010101" pitchFamily="2" charset="-122"/>
              </a:rPr>
              <a:t>），</a:t>
            </a:r>
            <a:r>
              <a:rPr lang="en-US" dirty="0">
                <a:ea typeface="宋体" panose="02010600030101010101" pitchFamily="2" charset="-122"/>
              </a:rPr>
              <a:t>UserServlet.java</a:t>
            </a:r>
            <a:r>
              <a:rPr lang="zh-CN" altLang="en-US" dirty="0">
                <a:ea typeface="宋体" panose="02010600030101010101" pitchFamily="2" charset="-122"/>
              </a:rPr>
              <a:t>充当了其中的控制层（</a:t>
            </a:r>
            <a:r>
              <a:rPr lang="en-US" dirty="0">
                <a:ea typeface="宋体" panose="02010600030101010101" pitchFamily="2" charset="-122"/>
              </a:rPr>
              <a:t>C</a:t>
            </a:r>
            <a:r>
              <a:rPr lang="zh-CN" altLang="en-US" dirty="0">
                <a:ea typeface="宋体" panose="02010600030101010101" pitchFamily="2" charset="-122"/>
              </a:rPr>
              <a:t>），</a:t>
            </a:r>
            <a:r>
              <a:rPr lang="en-US" dirty="0" err="1">
                <a:ea typeface="宋体" panose="02010600030101010101" pitchFamily="2" charset="-122"/>
              </a:rPr>
              <a:t>index.jsp</a:t>
            </a:r>
            <a:r>
              <a:rPr lang="zh-CN" altLang="en-US" dirty="0">
                <a:ea typeface="宋体" panose="02010600030101010101" pitchFamily="2" charset="-122"/>
              </a:rPr>
              <a:t>负责显示，充当了视图层。</a:t>
            </a:r>
            <a:endParaRPr lang="en-US" dirty="0">
              <a:ea typeface="宋体" panose="02010600030101010101" pitchFamily="2" charset="-122"/>
            </a:endParaRPr>
          </a:p>
        </p:txBody>
      </p:sp>
      <p:sp>
        <p:nvSpPr>
          <p:cNvPr id="5" name="Rectangle 27"/>
          <p:cNvSpPr>
            <a:spLocks noChangeArrowheads="1"/>
          </p:cNvSpPr>
          <p:nvPr/>
        </p:nvSpPr>
        <p:spPr bwMode="auto">
          <a:xfrm>
            <a:off x="452711" y="1620797"/>
            <a:ext cx="10930186"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30530" indent="-430530">
              <a:spcBef>
                <a:spcPct val="20000"/>
              </a:spcBef>
              <a:buClr>
                <a:schemeClr val="tx2"/>
              </a:buClr>
              <a:buFont typeface="Wingdings" panose="05000000000000000000" pitchFamily="2" charset="2"/>
              <a:buChar char="v"/>
            </a:pPr>
            <a:r>
              <a:rPr lang="en-US" altLang="zh-CN" sz="3500" dirty="0">
                <a:latin typeface="+mn-lt"/>
                <a:ea typeface="+mn-ea"/>
              </a:rPr>
              <a:t>8.4.2 </a:t>
            </a:r>
            <a:r>
              <a:rPr lang="zh-CN" altLang="zh-CN" sz="3500" dirty="0">
                <a:latin typeface="+mn-lt"/>
                <a:ea typeface="+mn-ea"/>
              </a:rPr>
              <a:t>一个基于</a:t>
            </a:r>
            <a:r>
              <a:rPr lang="en-US" altLang="zh-CN" sz="3500" dirty="0">
                <a:latin typeface="+mn-lt"/>
                <a:ea typeface="+mn-ea"/>
              </a:rPr>
              <a:t>MVC</a:t>
            </a:r>
            <a:r>
              <a:rPr lang="zh-CN" altLang="zh-CN" sz="3500" dirty="0">
                <a:latin typeface="+mn-lt"/>
                <a:ea typeface="+mn-ea"/>
              </a:rPr>
              <a:t>模式的数据库访问应用程序体验</a:t>
            </a:r>
            <a:endParaRPr lang="zh-CN" altLang="en-US" sz="3500" dirty="0">
              <a:latin typeface="+mn-lt"/>
              <a:ea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820863" y="622812"/>
            <a:ext cx="8358188" cy="594350"/>
          </a:xfrm>
        </p:spPr>
        <p:txBody>
          <a:bodyPr/>
          <a:lstStyle/>
          <a:p>
            <a:r>
              <a:rPr lang="zh-CN" altLang="en-US" dirty="0" smtClean="0">
                <a:ea typeface="宋体" panose="02010600030101010101" pitchFamily="2" charset="-122"/>
              </a:rPr>
              <a:t>本章小结</a:t>
            </a:r>
            <a:endParaRPr lang="zh-CN" altLang="en-US" dirty="0">
              <a:ea typeface="宋体" panose="02010600030101010101" pitchFamily="2" charset="-122"/>
            </a:endParaRPr>
          </a:p>
        </p:txBody>
      </p:sp>
      <p:sp>
        <p:nvSpPr>
          <p:cNvPr id="22531" name="Rectangle 3"/>
          <p:cNvSpPr>
            <a:spLocks noChangeArrowheads="1"/>
          </p:cNvSpPr>
          <p:nvPr/>
        </p:nvSpPr>
        <p:spPr bwMode="auto">
          <a:xfrm>
            <a:off x="236687" y="1431893"/>
            <a:ext cx="12529392" cy="5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4789" tIns="57394" rIns="114789" bIns="57394" anchor="ctr">
            <a:spAutoFit/>
          </a:bodyPr>
          <a:lstStyle/>
          <a:p>
            <a:pPr>
              <a:lnSpc>
                <a:spcPct val="150000"/>
              </a:lnSpc>
            </a:pPr>
            <a:r>
              <a:rPr lang="en-US" altLang="zh-CN" sz="2000" dirty="0" smtClean="0"/>
              <a:t>Java </a:t>
            </a:r>
            <a:r>
              <a:rPr lang="en-US" altLang="zh-CN" sz="2000" dirty="0"/>
              <a:t>Web</a:t>
            </a:r>
            <a:r>
              <a:rPr lang="zh-CN" altLang="zh-CN" sz="2000" dirty="0"/>
              <a:t>应用通过</a:t>
            </a:r>
            <a:r>
              <a:rPr lang="en-US" altLang="zh-CN" sz="2000" dirty="0"/>
              <a:t>JDBC</a:t>
            </a:r>
            <a:r>
              <a:rPr lang="zh-CN" altLang="zh-CN" sz="2000" dirty="0"/>
              <a:t>对数据库中的数据进行查询和更新。</a:t>
            </a:r>
            <a:r>
              <a:rPr lang="en-US" altLang="zh-CN" sz="2000" dirty="0"/>
              <a:t>JDBC</a:t>
            </a:r>
            <a:r>
              <a:rPr lang="zh-CN" altLang="zh-CN" sz="2000" dirty="0"/>
              <a:t>由基于</a:t>
            </a:r>
            <a:r>
              <a:rPr lang="en-US" altLang="zh-CN" sz="2000" dirty="0"/>
              <a:t>Java</a:t>
            </a:r>
            <a:r>
              <a:rPr lang="zh-CN" altLang="zh-CN" sz="2000" dirty="0"/>
              <a:t>语言的通用</a:t>
            </a:r>
            <a:r>
              <a:rPr lang="en-US" altLang="zh-CN" sz="2000" dirty="0"/>
              <a:t>JDBC API</a:t>
            </a:r>
            <a:r>
              <a:rPr lang="zh-CN" altLang="zh-CN" sz="2000" dirty="0"/>
              <a:t>和数据库专用</a:t>
            </a:r>
            <a:r>
              <a:rPr lang="en-US" altLang="zh-CN" sz="2000" dirty="0"/>
              <a:t>JDBC</a:t>
            </a:r>
            <a:r>
              <a:rPr lang="zh-CN" altLang="zh-CN" sz="2000" dirty="0"/>
              <a:t>驱动程序组成。对于</a:t>
            </a:r>
            <a:r>
              <a:rPr lang="en-US" altLang="zh-CN" sz="2000" dirty="0"/>
              <a:t>JDBC</a:t>
            </a:r>
            <a:r>
              <a:rPr lang="zh-CN" altLang="zh-CN" sz="2000" dirty="0"/>
              <a:t>数据库编程来说，其基本的编程过程包含四个基本步骤：注册数据库驱动程序，建立数据库连接，通过数据库操作代理对象（</a:t>
            </a:r>
            <a:r>
              <a:rPr lang="en-US" altLang="zh-CN" sz="2000" dirty="0"/>
              <a:t>Statement</a:t>
            </a:r>
            <a:r>
              <a:rPr lang="zh-CN" altLang="zh-CN" sz="2000" dirty="0"/>
              <a:t>）进行添加、删除、修改、查询操作，关闭数据库连接资源。</a:t>
            </a:r>
            <a:endParaRPr lang="zh-CN" altLang="zh-CN" sz="2000" dirty="0"/>
          </a:p>
          <a:p>
            <a:pPr>
              <a:lnSpc>
                <a:spcPct val="150000"/>
              </a:lnSpc>
            </a:pPr>
            <a:r>
              <a:rPr lang="zh-CN" altLang="zh-CN" sz="2000" dirty="0"/>
              <a:t>通过</a:t>
            </a:r>
            <a:r>
              <a:rPr lang="en-US" altLang="zh-CN" sz="2000" dirty="0"/>
              <a:t>DAO</a:t>
            </a:r>
            <a:r>
              <a:rPr lang="zh-CN" altLang="zh-CN" sz="2000" dirty="0"/>
              <a:t>对象可以将数据库的相关操作代码，如加载驱动、建立数据库连接、数据库添删改查、关闭连接等操作封装起来。这样的设计模式可以提高系统的可维护性并且增加代码的可重用性。</a:t>
            </a:r>
            <a:endParaRPr lang="zh-CN" altLang="zh-CN" sz="2000" dirty="0"/>
          </a:p>
          <a:p>
            <a:pPr>
              <a:lnSpc>
                <a:spcPct val="150000"/>
              </a:lnSpc>
            </a:pPr>
            <a:r>
              <a:rPr lang="zh-CN" altLang="zh-CN" sz="2000" dirty="0"/>
              <a:t>事务是</a:t>
            </a:r>
            <a:r>
              <a:rPr lang="en-US" altLang="zh-CN" sz="2000" dirty="0"/>
              <a:t>SQL</a:t>
            </a:r>
            <a:r>
              <a:rPr lang="zh-CN" altLang="zh-CN" sz="2000" dirty="0"/>
              <a:t>提供的一种机制，用于强制数据库的完整性和维护数据的一致性。在</a:t>
            </a:r>
            <a:r>
              <a:rPr lang="en-US" altLang="zh-CN" sz="2000" dirty="0"/>
              <a:t>JDBC</a:t>
            </a:r>
            <a:r>
              <a:rPr lang="zh-CN" altLang="zh-CN" sz="2000" dirty="0"/>
              <a:t>中提供了对事务的支持，可以根据需要对事务进行自动提交、手动提交和回滚处理。</a:t>
            </a:r>
            <a:endParaRPr lang="zh-CN" altLang="zh-CN" sz="2000" dirty="0"/>
          </a:p>
          <a:p>
            <a:pPr>
              <a:lnSpc>
                <a:spcPct val="150000"/>
              </a:lnSpc>
            </a:pPr>
            <a:r>
              <a:rPr lang="en-US" altLang="zh-CN" sz="2000" dirty="0" err="1"/>
              <a:t>Mysql</a:t>
            </a:r>
            <a:r>
              <a:rPr lang="zh-CN" altLang="zh-CN" sz="2000" dirty="0"/>
              <a:t>的事务四种隔离级别读未提交（</a:t>
            </a:r>
            <a:r>
              <a:rPr lang="en-US" altLang="zh-CN" sz="2000" dirty="0"/>
              <a:t>read-uncommitted</a:t>
            </a:r>
            <a:r>
              <a:rPr lang="zh-CN" altLang="zh-CN" sz="2000" dirty="0"/>
              <a:t>）、不可重复读（</a:t>
            </a:r>
            <a:r>
              <a:rPr lang="en-US" altLang="zh-CN" sz="2000" dirty="0"/>
              <a:t>read-committed</a:t>
            </a:r>
            <a:r>
              <a:rPr lang="zh-CN" altLang="zh-CN" sz="2000" dirty="0"/>
              <a:t>）、可重复读（</a:t>
            </a:r>
            <a:r>
              <a:rPr lang="en-US" altLang="zh-CN" sz="2000" dirty="0"/>
              <a:t>repeatable-read</a:t>
            </a:r>
            <a:r>
              <a:rPr lang="zh-CN" altLang="zh-CN" sz="2000" dirty="0"/>
              <a:t>）、可串行化（</a:t>
            </a:r>
            <a:r>
              <a:rPr lang="en-US" altLang="zh-CN" sz="2000" dirty="0" err="1"/>
              <a:t>serializable</a:t>
            </a:r>
            <a:r>
              <a:rPr lang="zh-CN" altLang="zh-CN" sz="2000" dirty="0"/>
              <a:t>）。</a:t>
            </a:r>
            <a:endParaRPr lang="zh-CN" altLang="zh-CN" sz="2000" dirty="0"/>
          </a:p>
          <a:p>
            <a:pPr>
              <a:lnSpc>
                <a:spcPct val="150000"/>
              </a:lnSpc>
            </a:pPr>
            <a:r>
              <a:rPr lang="zh-CN" altLang="zh-CN" sz="2000" dirty="0"/>
              <a:t>在本章学习过程中，需要对书上的代码善用“拿来主义”，并知其然知其所以然，细细研究分析</a:t>
            </a:r>
            <a:r>
              <a:rPr lang="en-US" altLang="zh-CN" sz="2000" dirty="0"/>
              <a:t>JDBC</a:t>
            </a:r>
            <a:r>
              <a:rPr lang="zh-CN" altLang="zh-CN" sz="2000" dirty="0"/>
              <a:t>代码，不断重构完善自己的代码，是对所学知识达到融会贯通最简洁的途径。理无专在，而学无止境也，然则问可少耶。</a:t>
            </a:r>
            <a:endParaRPr lang="zh-CN" altLang="en-US" sz="2000"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885950" y="590550"/>
            <a:ext cx="5943600" cy="563563"/>
          </a:xfrm>
          <a:prstGeom prst="rect">
            <a:avLst/>
          </a:prstGeom>
        </p:spPr>
        <p:txBody>
          <a:bodyPr/>
          <a:lst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a:lstStyle>
          <a:p>
            <a:r>
              <a:rPr lang="zh-CN" altLang="en-US" smtClean="0">
                <a:ea typeface="宋体" panose="02010600030101010101" pitchFamily="2" charset="-122"/>
              </a:rPr>
              <a:t>实战演练</a:t>
            </a:r>
            <a:r>
              <a:rPr lang="zh-CN" altLang="en-US" sz="2800" smtClean="0">
                <a:ea typeface="宋体" panose="02010600030101010101" pitchFamily="2" charset="-122"/>
              </a:rPr>
              <a:t> </a:t>
            </a:r>
            <a:endParaRPr lang="zh-CN" altLang="en-US" sz="2800">
              <a:ea typeface="宋体" panose="02010600030101010101" pitchFamily="2" charset="-122"/>
            </a:endParaRPr>
          </a:p>
        </p:txBody>
      </p:sp>
      <p:sp>
        <p:nvSpPr>
          <p:cNvPr id="5" name="Rectangle 3"/>
          <p:cNvSpPr txBox="1">
            <a:spLocks noChangeArrowheads="1"/>
          </p:cNvSpPr>
          <p:nvPr/>
        </p:nvSpPr>
        <p:spPr>
          <a:xfrm>
            <a:off x="468313" y="1828800"/>
            <a:ext cx="10641582" cy="5029200"/>
          </a:xfrm>
          <a:prstGeom prst="rect">
            <a:avLst/>
          </a:prstGeom>
        </p:spPr>
        <p:txBody>
          <a:bodyPr/>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a:lnSpc>
                <a:spcPct val="200000"/>
              </a:lnSpc>
            </a:pPr>
            <a:r>
              <a:rPr lang="en-US" altLang="zh-CN" sz="2000" dirty="0"/>
              <a:t>[</a:t>
            </a:r>
            <a:r>
              <a:rPr lang="zh-CN" altLang="zh-CN" sz="2000" dirty="0"/>
              <a:t>实战</a:t>
            </a:r>
            <a:r>
              <a:rPr lang="en-US" altLang="zh-CN" sz="2000" dirty="0"/>
              <a:t> 8-1] </a:t>
            </a:r>
            <a:r>
              <a:rPr lang="zh-CN" altLang="zh-CN" sz="2000" dirty="0"/>
              <a:t>完善例程</a:t>
            </a:r>
            <a:r>
              <a:rPr lang="en-US" altLang="zh-CN" sz="2000" dirty="0"/>
              <a:t>8-2</a:t>
            </a:r>
            <a:r>
              <a:rPr lang="zh-CN" altLang="zh-CN" sz="2000" dirty="0"/>
              <a:t>，完成代码中查询显示指定</a:t>
            </a:r>
            <a:r>
              <a:rPr lang="en-US" altLang="zh-CN" sz="2000" dirty="0"/>
              <a:t>id</a:t>
            </a:r>
            <a:r>
              <a:rPr lang="zh-CN" altLang="zh-CN" sz="2000" dirty="0"/>
              <a:t>记录详细值的功能。</a:t>
            </a:r>
            <a:endParaRPr lang="zh-CN" altLang="zh-CN" sz="2000" dirty="0"/>
          </a:p>
          <a:p>
            <a:pPr>
              <a:lnSpc>
                <a:spcPct val="200000"/>
              </a:lnSpc>
            </a:pPr>
            <a:r>
              <a:rPr lang="en-US" altLang="zh-CN" sz="2000" dirty="0"/>
              <a:t>[</a:t>
            </a:r>
            <a:r>
              <a:rPr lang="zh-CN" altLang="zh-CN" sz="2000" dirty="0"/>
              <a:t>实战</a:t>
            </a:r>
            <a:r>
              <a:rPr lang="en-US" altLang="zh-CN" sz="2000" dirty="0"/>
              <a:t> 8-2] </a:t>
            </a:r>
            <a:r>
              <a:rPr lang="zh-CN" altLang="zh-CN" sz="2000" dirty="0"/>
              <a:t>完善例程</a:t>
            </a:r>
            <a:r>
              <a:rPr lang="en-US" altLang="zh-CN" sz="2000" dirty="0"/>
              <a:t>8-3</a:t>
            </a:r>
            <a:r>
              <a:rPr lang="zh-CN" altLang="zh-CN" sz="2000" dirty="0"/>
              <a:t>，完成代码中查询指定</a:t>
            </a:r>
            <a:r>
              <a:rPr lang="en-US" altLang="zh-CN" sz="2000" dirty="0"/>
              <a:t>id</a:t>
            </a:r>
            <a:r>
              <a:rPr lang="zh-CN" altLang="zh-CN" sz="2000" dirty="0"/>
              <a:t>记录值的功能。</a:t>
            </a:r>
            <a:endParaRPr lang="zh-CN" altLang="zh-CN" sz="2000" dirty="0"/>
          </a:p>
          <a:p>
            <a:pPr>
              <a:lnSpc>
                <a:spcPct val="200000"/>
              </a:lnSpc>
            </a:pPr>
            <a:r>
              <a:rPr lang="en-US" altLang="zh-CN" sz="2000" dirty="0"/>
              <a:t>[</a:t>
            </a:r>
            <a:r>
              <a:rPr lang="zh-CN" altLang="zh-CN" sz="2000" dirty="0"/>
              <a:t>实战 </a:t>
            </a:r>
            <a:r>
              <a:rPr lang="en-US" altLang="zh-CN" sz="2000" dirty="0"/>
              <a:t>8-3] </a:t>
            </a:r>
            <a:r>
              <a:rPr lang="zh-CN" altLang="zh-CN" sz="2000" dirty="0"/>
              <a:t>完善例程</a:t>
            </a:r>
            <a:r>
              <a:rPr lang="en-US" altLang="zh-CN" sz="2000" dirty="0"/>
              <a:t>8-9</a:t>
            </a:r>
            <a:r>
              <a:rPr lang="zh-CN" altLang="zh-CN" sz="2000" dirty="0"/>
              <a:t>，使用</a:t>
            </a:r>
            <a:r>
              <a:rPr lang="en-US" altLang="zh-CN" sz="2000" dirty="0"/>
              <a:t>Connection</a:t>
            </a:r>
            <a:r>
              <a:rPr lang="zh-CN" altLang="zh-CN" sz="2000" dirty="0"/>
              <a:t>工厂类修改一个基于</a:t>
            </a:r>
            <a:r>
              <a:rPr lang="en-US" altLang="zh-CN" sz="2000" dirty="0"/>
              <a:t>MVC</a:t>
            </a:r>
            <a:r>
              <a:rPr lang="zh-CN" altLang="zh-CN" sz="2000" dirty="0"/>
              <a:t>模式的数据库访问应用程序体验，实现分层操作。</a:t>
            </a:r>
            <a:endParaRPr lang="zh-CN" altLang="zh-CN"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709295" y="2896245"/>
            <a:ext cx="6016403" cy="560725"/>
          </a:xfrm>
          <a:prstGeom prst="rect">
            <a:avLst/>
          </a:prstGeom>
          <a:noFill/>
        </p:spPr>
        <p:txBody>
          <a:bodyPr wrap="square" lIns="128583" tIns="64291" rIns="128583" bIns="64291" rtlCol="0">
            <a:spAutoFit/>
          </a:bodyPr>
          <a:lstStyle/>
          <a:p>
            <a:pPr algn="ctr"/>
            <a:r>
              <a:rPr kumimoji="1" lang="zh-CN" altLang="en-US" sz="2800" dirty="0">
                <a:solidFill>
                  <a:prstClr val="white">
                    <a:lumMod val="50000"/>
                  </a:prstClr>
                </a:solidFill>
                <a:cs typeface="+mn-ea"/>
                <a:sym typeface="+mn-lt"/>
              </a:rPr>
              <a:t>感谢观看 </a:t>
            </a:r>
            <a:r>
              <a:rPr kumimoji="1" lang="en-US" altLang="zh-CN" sz="2800" dirty="0">
                <a:solidFill>
                  <a:prstClr val="white">
                    <a:lumMod val="50000"/>
                  </a:prstClr>
                </a:solidFill>
                <a:cs typeface="+mn-ea"/>
                <a:sym typeface="+mn-lt"/>
              </a:rPr>
              <a:t>THANK YOU!</a:t>
            </a:r>
            <a:endParaRPr kumimoji="1" lang="zh-CN" altLang="en-US" sz="2800" dirty="0">
              <a:solidFill>
                <a:prstClr val="white">
                  <a:lumMod val="50000"/>
                </a:prstClr>
              </a:solidFill>
              <a:cs typeface="+mn-ea"/>
              <a:sym typeface="+mn-lt"/>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
        <p:nvSpPr>
          <p:cNvPr id="10" name="文本框 8"/>
          <p:cNvSpPr txBox="1"/>
          <p:nvPr/>
        </p:nvSpPr>
        <p:spPr>
          <a:xfrm rot="2679144">
            <a:off x="1518042" y="2942040"/>
            <a:ext cx="5266506" cy="560725"/>
          </a:xfrm>
          <a:prstGeom prst="rect">
            <a:avLst/>
          </a:prstGeom>
          <a:noFill/>
        </p:spPr>
        <p:txBody>
          <a:bodyPr wrap="square" lIns="128583" tIns="64291" rIns="128583" bIns="64291" rtlCol="0">
            <a:spAutoFit/>
          </a:bodyPr>
          <a:lstStyle/>
          <a:p>
            <a:pPr algn="ctr">
              <a:buNone/>
            </a:pPr>
            <a:r>
              <a:rPr kumimoji="1" lang="zh-CN" altLang="en-US" sz="2800" b="1" dirty="0" smtClean="0">
                <a:solidFill>
                  <a:srgbClr val="526580"/>
                </a:solidFill>
                <a:latin typeface="+mn-ea"/>
                <a:ea typeface="+mn-ea"/>
                <a:cs typeface="+mn-ea"/>
              </a:rPr>
              <a:t>第八章    </a:t>
            </a:r>
            <a:r>
              <a:rPr kumimoji="1" lang="en-US" altLang="zh-CN" sz="2800" b="1" dirty="0" smtClean="0">
                <a:solidFill>
                  <a:srgbClr val="526580"/>
                </a:solidFill>
                <a:latin typeface="+mn-ea"/>
                <a:ea typeface="+mn-ea"/>
                <a:cs typeface="+mn-ea"/>
              </a:rPr>
              <a:t>JDBC</a:t>
            </a:r>
            <a:r>
              <a:rPr kumimoji="1" lang="zh-CN" altLang="en-US" sz="2800" b="1" dirty="0" smtClean="0">
                <a:solidFill>
                  <a:srgbClr val="526580"/>
                </a:solidFill>
                <a:latin typeface="+mn-ea"/>
                <a:ea typeface="+mn-ea"/>
                <a:cs typeface="+mn-ea"/>
              </a:rPr>
              <a:t>核心技术</a:t>
            </a:r>
            <a:endParaRPr kumimoji="1" lang="zh-CN" altLang="en-US" sz="2800" b="1" dirty="0">
              <a:solidFill>
                <a:srgbClr val="526580"/>
              </a:solidFill>
              <a:latin typeface="+mn-ea"/>
              <a:ea typeface="+mn-ea"/>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ppt_x"/>
                                          </p:val>
                                        </p:tav>
                                        <p:tav tm="100000">
                                          <p:val>
                                            <p:strVal val="#ppt_x"/>
                                          </p:val>
                                        </p:tav>
                                      </p:tavLst>
                                    </p:anim>
                                    <p:anim calcmode="lin" valueType="num">
                                      <p:cBhvr additive="base">
                                        <p:cTn id="21" dur="1000" fill="hold"/>
                                        <p:tgtEl>
                                          <p:spTgt spid="16"/>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12" grpId="0" animBg="1"/>
      <p:bldP spid="16" grpId="0" animBg="1"/>
      <p:bldP spid="4" grpId="0"/>
      <p:bldP spid="10" grpId="0"/>
    </p:bldLst>
  </p:timing>
</p:sld>
</file>

<file path=ppt/tags/tag1.xml><?xml version="1.0" encoding="utf-8"?>
<p:tagLst xmlns:p="http://schemas.openxmlformats.org/presentationml/2006/main">
  <p:tag name="ISPRING_PRESENTATION_TITLE" val="bt026.pptx"/>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9206</Words>
  <Application>WPS 演示</Application>
  <PresentationFormat>自定义</PresentationFormat>
  <Paragraphs>498</Paragraphs>
  <Slides>42</Slides>
  <Notes>6</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0</vt:i4>
      </vt:variant>
      <vt:variant>
        <vt:lpstr>幻灯片标题</vt:lpstr>
      </vt:variant>
      <vt:variant>
        <vt:i4>42</vt:i4>
      </vt:variant>
    </vt:vector>
  </HeadingPairs>
  <TitlesOfParts>
    <vt:vector size="57" baseType="lpstr">
      <vt:lpstr>Arial</vt:lpstr>
      <vt:lpstr>宋体</vt:lpstr>
      <vt:lpstr>Wingdings</vt:lpstr>
      <vt:lpstr>Calibri</vt:lpstr>
      <vt:lpstr>方正正黑简体</vt:lpstr>
      <vt:lpstr>黑体</vt:lpstr>
      <vt:lpstr>Arial</vt:lpstr>
      <vt:lpstr>楷体_GB2312</vt:lpstr>
      <vt:lpstr>新宋体</vt:lpstr>
      <vt:lpstr>微软雅黑</vt:lpstr>
      <vt:lpstr>Arial Unicode MS</vt:lpstr>
      <vt:lpstr>Times New Roman</vt:lpstr>
      <vt:lpstr>自定义设计方案</vt:lpstr>
      <vt:lpstr>1_灰白简约科技PPT模板</vt:lpstr>
      <vt:lpstr>2_灰白简约科技PPT模板</vt:lpstr>
      <vt:lpstr>PowerPoint 演示文稿</vt:lpstr>
      <vt:lpstr>PowerPoint 演示文稿</vt:lpstr>
      <vt:lpstr>PowerPoint 演示文稿</vt:lpstr>
      <vt:lpstr>PowerPoint 演示文稿</vt:lpstr>
      <vt:lpstr>第八章    Java数据库连接 </vt:lpstr>
      <vt:lpstr>             第八章   JDBC核心技术</vt:lpstr>
      <vt:lpstr>8.1  JDBC基础 </vt:lpstr>
      <vt:lpstr>8.1  JDBC基础</vt:lpstr>
      <vt:lpstr>8.1  JDBC基础</vt:lpstr>
      <vt:lpstr>8.1  JDBC基础</vt:lpstr>
      <vt:lpstr>8.1  JDBC基础</vt:lpstr>
      <vt:lpstr>PowerPoint 演示文稿</vt:lpstr>
      <vt:lpstr>第八章    JDBC核心技术</vt:lpstr>
      <vt:lpstr>8.2  JDBC编程基本操作 </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8.2  JDBC编程基本操作</vt:lpstr>
      <vt:lpstr>PowerPoint 演示文稿</vt:lpstr>
      <vt:lpstr>第八章    JDBC核心技术</vt:lpstr>
      <vt:lpstr>8.3  事务处理 </vt:lpstr>
      <vt:lpstr>8.3 事务处理</vt:lpstr>
      <vt:lpstr>8.3  事务处理 </vt:lpstr>
      <vt:lpstr>8.3  事务处理 </vt:lpstr>
      <vt:lpstr>PowerPoint 演示文稿</vt:lpstr>
      <vt:lpstr>第八章    JDBC核心技术</vt:lpstr>
      <vt:lpstr>8.4  基于MVC模式的数据库访问</vt:lpstr>
      <vt:lpstr>8.4  基于MVC模式的数据库访问</vt:lpstr>
      <vt:lpstr>8.4 基于MVC模式的数据库访问 </vt:lpstr>
      <vt:lpstr>本章小结</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bt026.pptx</dc:title>
  <dc:creator/>
  <cp:lastModifiedBy>fx</cp:lastModifiedBy>
  <cp:revision>3</cp:revision>
  <dcterms:created xsi:type="dcterms:W3CDTF">2016-09-20T02:06:00Z</dcterms:created>
  <dcterms:modified xsi:type="dcterms:W3CDTF">2026-07-21T11:23:01Z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2DC7E0C99EA644FBB7531DD94007D4D1_12</vt:lpwstr>
  </property>
  <property fmtid="{D5CDD505-2E9C-101B-9397-08002B2CF9AE}" pid="3" name="KSOProductBuildVer">
    <vt:lpwstr>2052-12.1.0.26895</vt:lpwstr>
  </property>
</Properties>
</file>