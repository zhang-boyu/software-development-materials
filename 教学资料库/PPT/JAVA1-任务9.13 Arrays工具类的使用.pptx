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2" r:id="rId3"/>
    <p:sldId id="373" r:id="rId5"/>
    <p:sldId id="374" r:id="rId6"/>
    <p:sldId id="521" r:id="rId7"/>
    <p:sldId id="340" r:id="rId8"/>
    <p:sldId id="503" r:id="rId9"/>
    <p:sldId id="522" r:id="rId10"/>
    <p:sldId id="523" r:id="rId11"/>
    <p:sldId id="524" r:id="rId12"/>
    <p:sldId id="505" r:id="rId13"/>
    <p:sldId id="525" r:id="rId14"/>
    <p:sldId id="456" r:id="rId15"/>
    <p:sldId id="526" r:id="rId16"/>
    <p:sldId id="458" r:id="rId17"/>
    <p:sldId id="518" r:id="rId18"/>
    <p:sldId id="527" r:id="rId19"/>
    <p:sldId id="520" r:id="rId20"/>
    <p:sldId id="528" r:id="rId21"/>
    <p:sldId id="529" r:id="rId22"/>
    <p:sldId id="530" r:id="rId23"/>
    <p:sldId id="531" r:id="rId24"/>
    <p:sldId id="532" r:id="rId25"/>
    <p:sldId id="347" r:id="rId26"/>
  </p:sldIdLst>
  <p:sldSz cx="12198350" cy="6858000"/>
  <p:notesSz cx="6858000" cy="9144000"/>
  <p:custDataLst>
    <p:tags r:id="rId30"/>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4" userDrawn="1">
          <p15:clr>
            <a:srgbClr val="A4A3A4"/>
          </p15:clr>
        </p15:guide>
        <p15:guide id="2" pos="3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14"/>
        <p:guide pos="391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44.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27.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43.xml"/><Relationship Id="rId1" Type="http://schemas.openxmlformats.org/officeDocument/2006/relationships/tags" Target="../tags/tag4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50435" y="3500755"/>
            <a:ext cx="7016115" cy="2584450"/>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：创建一个整型数组，调用集合</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Array</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sort(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方法对该整型数组元素进行排序；定义一个输出数组元素的方法；输出排序前的数组元素和排序后的数组元素。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：在子任务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的基础上，利用二分法查找出集合中某个元素的索引并输出。</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667375" y="4797425"/>
            <a:ext cx="5594350" cy="506730"/>
          </a:xfrm>
          <a:prstGeom prst="rect">
            <a:avLst/>
          </a:prstGeom>
        </p:spPr>
        <p:txBody>
          <a:bodyPr wrap="square">
            <a:spAutoFit/>
          </a:bodyPr>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par>
                                <p:cTn id="15" presetID="5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3"/>
                                        </p:tgtEl>
                                        <p:attrNameLst>
                                          <p:attrName>ppt_x</p:attrName>
                                          <p:attrName>ppt_y</p:attrName>
                                        </p:attrNameLst>
                                      </p:cBhvr>
                                    </p:animMotion>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50435" y="3500755"/>
            <a:ext cx="7016115" cy="2168525"/>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：创建一个整型数组</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int[]arr ={11</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32</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94</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29</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88</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41</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52</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69</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77}</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，复制该整型数组元素索引从</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到</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的元素到新的数组</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arr2</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中，并输出数组</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arr2</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的所有数组元素。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：定义一个输出数组元素的方法；创建一个整型数组并输出，用一个指定元素替换该整型数组中的元素并输出。</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667375" y="4797425"/>
            <a:ext cx="5594350" cy="506730"/>
          </a:xfrm>
          <a:prstGeom prst="rect">
            <a:avLst/>
          </a:prstGeom>
        </p:spPr>
        <p:txBody>
          <a:bodyPr wrap="square">
            <a:spAutoFit/>
          </a:bodyPr>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par>
                                <p:cTn id="15" presetID="5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3"/>
                                        </p:tgtEl>
                                        <p:attrNameLst>
                                          <p:attrName>ppt_x</p:attrName>
                                          <p:attrName>ppt_y</p:attrName>
                                        </p:attrNameLst>
                                      </p:cBhvr>
                                    </p:animMotion>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buClrTx/>
              <a:buSzTx/>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Arrays</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工具类简介</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2"/>
          <p:cNvSpPr>
            <a:spLocks noChangeArrowheads="1"/>
          </p:cNvSpPr>
          <p:nvPr/>
        </p:nvSpPr>
        <p:spPr bwMode="auto">
          <a:xfrm>
            <a:off x="6605588" y="422116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buClrTx/>
              <a:buSzTx/>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常用方法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1" nodeType="with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
                                        </p:tgtEl>
                                        <p:attrNameLst>
                                          <p:attrName>ppt_x</p:attrName>
                                          <p:attrName>ppt_y</p:attrName>
                                        </p:attrNameLst>
                                      </p:cBhvr>
                                    </p:animMotion>
                                    <p:animEffect transition="in" filter="fade">
                                      <p:cBhvr>
                                        <p:cTn id="19" dur="1000"/>
                                        <p:tgtEl>
                                          <p:spTgt spid="2"/>
                                        </p:tgtEl>
                                      </p:cBhvr>
                                    </p:animEffect>
                                  </p:childTnLst>
                                </p:cTn>
                              </p:par>
                              <p:par>
                                <p:cTn id="20" presetID="5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6"/>
                                        </p:tgtEl>
                                        <p:attrNameLst>
                                          <p:attrName>ppt_x</p:attrName>
                                          <p:attrName>ppt_y</p:attrName>
                                        </p:attrNameLst>
                                      </p:cBhvr>
                                      <p:rCtr x="0" y="0"/>
                                    </p:animMotion>
                                    <p:animEffect>
                                      <p:cBhvr>
                                        <p:cTn id="24" dur="1000"/>
                                        <p:tgtEl>
                                          <p:spTgt spid="6"/>
                                        </p:tgtEl>
                                      </p:cBhvr>
                                    </p:animEffect>
                                  </p:childTnLst>
                                </p:cTn>
                              </p:par>
                              <p:par>
                                <p:cTn id="25" presetID="52" presetClass="entr"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visible"/>
                                      </p:to>
                                    </p:set>
                                    <p:animScale>
                                      <p:cBhvr>
                                        <p:cTn id="2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6"/>
                                        </p:tgtEl>
                                        <p:attrNameLst>
                                          <p:attrName>ppt_x</p:attrName>
                                          <p:attrName>ppt_y</p:attrName>
                                        </p:attrNameLst>
                                      </p:cBhvr>
                                    </p:animMotion>
                                    <p:animEffect transition="in" filter="fade">
                                      <p:cBhvr>
                                        <p:cTn id="2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2" grpId="1"/>
      <p:bldP spid="6" grpId="0" bldLvl="0" autoUpdateAnimBg="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a:t>
            </a:r>
            <a:r>
              <a:rPr lang="zh-CN" altLang="en-US" sz="2600" dirty="0">
                <a:solidFill>
                  <a:srgbClr val="1369B2"/>
                </a:solidFill>
                <a:latin typeface="微软雅黑" panose="020B0503020204020204" pitchFamily="34" charset="-122"/>
                <a:ea typeface="微软雅黑" panose="020B0503020204020204" pitchFamily="34" charset="-122"/>
                <a:sym typeface="+mn-ea"/>
              </a:rPr>
              <a:t>常用方法</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2805" cy="2437765"/>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en-US" altLang="zh-CN" sz="2000">
                <a:latin typeface="宋体" panose="02010600030101010101" pitchFamily="2" charset="-122"/>
                <a:cs typeface="宋体" panose="02010600030101010101" pitchFamily="2" charset="-122"/>
              </a:rPr>
              <a:t>1.</a:t>
            </a:r>
            <a:r>
              <a:rPr lang="zh-CN" altLang="en-US" sz="2000">
                <a:latin typeface="宋体" panose="02010600030101010101" pitchFamily="2" charset="-122"/>
                <a:cs typeface="宋体" panose="02010600030101010101" pitchFamily="2" charset="-122"/>
              </a:rPr>
              <a:t>使用</a:t>
            </a:r>
            <a:r>
              <a:rPr lang="en-US" altLang="zh-CN" sz="2000">
                <a:latin typeface="宋体" panose="02010600030101010101" pitchFamily="2" charset="-122"/>
                <a:cs typeface="宋体" panose="02010600030101010101" pitchFamily="2" charset="-122"/>
              </a:rPr>
              <a:t>sort( )</a:t>
            </a:r>
            <a:r>
              <a:rPr lang="zh-CN" altLang="en-US" sz="2000">
                <a:latin typeface="宋体" panose="02010600030101010101" pitchFamily="2" charset="-122"/>
                <a:cs typeface="宋体" panose="02010600030101010101" pitchFamily="2" charset="-122"/>
              </a:rPr>
              <a:t>方法排序</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在前面学习数组时，要想对数组进行排序就需要自定义一个排序方法，其实也可以使用</a:t>
            </a:r>
            <a:r>
              <a:rPr lang="en-US" altLang="zh-CN" sz="2000">
                <a:latin typeface="宋体" panose="02010600030101010101" pitchFamily="2" charset="-122"/>
                <a:cs typeface="宋体" panose="02010600030101010101" pitchFamily="2" charset="-122"/>
              </a:rPr>
              <a:t>Arrays</a:t>
            </a:r>
            <a:r>
              <a:rPr lang="zh-CN" altLang="en-US" sz="2000">
                <a:latin typeface="宋体" panose="02010600030101010101" pitchFamily="2" charset="-122"/>
                <a:cs typeface="宋体" panose="02010600030101010101" pitchFamily="2" charset="-122"/>
              </a:rPr>
              <a:t>工具类中的静态方法</a:t>
            </a:r>
            <a:r>
              <a:rPr lang="en-US" altLang="zh-CN" sz="2000">
                <a:latin typeface="宋体" panose="02010600030101010101" pitchFamily="2" charset="-122"/>
                <a:cs typeface="宋体" panose="02010600030101010101" pitchFamily="2" charset="-122"/>
              </a:rPr>
              <a:t>sort</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）来实现这个功能，格式如下：</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cs typeface="宋体" panose="02010600030101010101" pitchFamily="2" charset="-122"/>
              </a:rPr>
              <a:t>Arrays.sort</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arr</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a:t>
            </a:r>
            <a:endParaRPr lang="en-US" altLang="zh-CN"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lang="en-US" altLang="zh-CN" sz="2000">
              <a:latin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a:t>
            </a:r>
            <a:r>
              <a:rPr lang="zh-CN" altLang="en-US" sz="2600" dirty="0">
                <a:solidFill>
                  <a:srgbClr val="1369B2"/>
                </a:solidFill>
                <a:latin typeface="微软雅黑" panose="020B0503020204020204" pitchFamily="34" charset="-122"/>
                <a:ea typeface="微软雅黑" panose="020B0503020204020204" pitchFamily="34" charset="-122"/>
                <a:sym typeface="+mn-ea"/>
              </a:rPr>
              <a:t>常用方法</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2805" cy="2437765"/>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lang="en-US" altLang="zh-CN" sz="2000">
                <a:latin typeface="宋体" panose="02010600030101010101" pitchFamily="2" charset="-122"/>
                <a:cs typeface="宋体" panose="02010600030101010101" pitchFamily="2" charset="-122"/>
                <a:sym typeface="+mn-ea"/>
              </a:rPr>
              <a:t>2.</a:t>
            </a:r>
            <a:r>
              <a:rPr lang="zh-CN" altLang="en-US" sz="2000">
                <a:latin typeface="宋体" panose="02010600030101010101" pitchFamily="2" charset="-122"/>
                <a:cs typeface="宋体" panose="02010600030101010101" pitchFamily="2" charset="-122"/>
                <a:sym typeface="+mn-ea"/>
              </a:rPr>
              <a:t>使用</a:t>
            </a:r>
            <a:r>
              <a:rPr lang="en-US" altLang="zh-CN" sz="2000">
                <a:latin typeface="宋体" panose="02010600030101010101" pitchFamily="2" charset="-122"/>
                <a:cs typeface="宋体" panose="02010600030101010101" pitchFamily="2" charset="-122"/>
                <a:sym typeface="+mn-ea"/>
              </a:rPr>
              <a:t>binarySearch( )</a:t>
            </a:r>
            <a:r>
              <a:rPr lang="zh-CN" altLang="en-US" sz="2000">
                <a:latin typeface="宋体" panose="02010600030101010101" pitchFamily="2" charset="-122"/>
                <a:cs typeface="宋体" panose="02010600030101010101" pitchFamily="2" charset="-122"/>
                <a:sym typeface="+mn-ea"/>
              </a:rPr>
              <a:t>方法查找元素</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sym typeface="+mn-ea"/>
              </a:rPr>
              <a:t>在程序开发中，经常会在数组中查找某些特定的元素，如果数组中元素较多时查找某个元素，效率会非常低。为此，</a:t>
            </a:r>
            <a:r>
              <a:rPr lang="en-US" altLang="zh-CN" sz="2000">
                <a:latin typeface="宋体" panose="02010600030101010101" pitchFamily="2" charset="-122"/>
                <a:cs typeface="宋体" panose="02010600030101010101" pitchFamily="2" charset="-122"/>
                <a:sym typeface="+mn-ea"/>
              </a:rPr>
              <a:t>Arrays</a:t>
            </a:r>
            <a:r>
              <a:rPr lang="zh-CN" altLang="en-US" sz="2000">
                <a:latin typeface="宋体" panose="02010600030101010101" pitchFamily="2" charset="-122"/>
                <a:cs typeface="宋体" panose="02010600030101010101" pitchFamily="2" charset="-122"/>
                <a:sym typeface="+mn-ea"/>
              </a:rPr>
              <a:t>工具类中提供了一个</a:t>
            </a:r>
            <a:r>
              <a:rPr lang="en-US" altLang="zh-CN" sz="2000">
                <a:latin typeface="宋体" panose="02010600030101010101" pitchFamily="2" charset="-122"/>
                <a:cs typeface="宋体" panose="02010600030101010101" pitchFamily="2" charset="-122"/>
                <a:sym typeface="+mn-ea"/>
              </a:rPr>
              <a:t>binarySearch( )</a:t>
            </a:r>
            <a:r>
              <a:rPr lang="zh-CN" altLang="en-US" sz="2000">
                <a:latin typeface="宋体" panose="02010600030101010101" pitchFamily="2" charset="-122"/>
                <a:cs typeface="宋体" panose="02010600030101010101" pitchFamily="2" charset="-122"/>
                <a:sym typeface="+mn-ea"/>
              </a:rPr>
              <a:t>方法用于查找元素。</a:t>
            </a:r>
            <a:r>
              <a:rPr lang="en-US" altLang="zh-CN" sz="2000">
                <a:latin typeface="宋体" panose="02010600030101010101" pitchFamily="2" charset="-122"/>
                <a:cs typeface="宋体" panose="02010600030101010101" pitchFamily="2" charset="-122"/>
                <a:sym typeface="+mn-ea"/>
              </a:rPr>
              <a:t>binarySearch( )</a:t>
            </a:r>
            <a:r>
              <a:rPr lang="zh-CN" altLang="en-US" sz="2000">
                <a:latin typeface="宋体" panose="02010600030101010101" pitchFamily="2" charset="-122"/>
                <a:cs typeface="宋体" panose="02010600030101010101" pitchFamily="2" charset="-122"/>
                <a:sym typeface="+mn-ea"/>
              </a:rPr>
              <a:t>方法声明的格式如下：</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cs typeface="宋体" panose="02010600030101010101" pitchFamily="2" charset="-122"/>
                <a:sym typeface="+mn-ea"/>
              </a:rPr>
              <a:t>binarySearch</a:t>
            </a:r>
            <a:r>
              <a:rPr lang="zh-CN" altLang="en-US" sz="2000">
                <a:latin typeface="宋体" panose="02010600030101010101" pitchFamily="2" charset="-122"/>
                <a:cs typeface="宋体" panose="02010600030101010101" pitchFamily="2" charset="-122"/>
                <a:sym typeface="+mn-ea"/>
              </a:rPr>
              <a:t>（</a:t>
            </a:r>
            <a:r>
              <a:rPr lang="en-US" altLang="zh-CN" sz="2000">
                <a:latin typeface="宋体" panose="02010600030101010101" pitchFamily="2" charset="-122"/>
                <a:cs typeface="宋体" panose="02010600030101010101" pitchFamily="2" charset="-122"/>
                <a:sym typeface="+mn-ea"/>
              </a:rPr>
              <a:t>Object[] a</a:t>
            </a:r>
            <a:r>
              <a:rPr lang="zh-CN" altLang="en-US" sz="2000">
                <a:latin typeface="宋体" panose="02010600030101010101" pitchFamily="2" charset="-122"/>
                <a:cs typeface="宋体" panose="02010600030101010101" pitchFamily="2" charset="-122"/>
                <a:sym typeface="+mn-ea"/>
              </a:rPr>
              <a:t>，</a:t>
            </a:r>
            <a:r>
              <a:rPr lang="en-US" altLang="zh-CN" sz="2000">
                <a:latin typeface="宋体" panose="02010600030101010101" pitchFamily="2" charset="-122"/>
                <a:cs typeface="宋体" panose="02010600030101010101" pitchFamily="2" charset="-122"/>
                <a:sym typeface="+mn-ea"/>
              </a:rPr>
              <a:t> Object key</a:t>
            </a:r>
            <a:r>
              <a:rPr lang="zh-CN" altLang="en-US" sz="2000">
                <a:latin typeface="宋体" panose="02010600030101010101" pitchFamily="2" charset="-122"/>
                <a:cs typeface="宋体" panose="02010600030101010101" pitchFamily="2" charset="-122"/>
                <a:sym typeface="+mn-ea"/>
              </a:rPr>
              <a:t>）</a:t>
            </a:r>
            <a:r>
              <a:rPr lang="en-US" altLang="zh-CN" sz="2000">
                <a:latin typeface="宋体" panose="02010600030101010101" pitchFamily="2" charset="-122"/>
                <a:cs typeface="宋体" panose="02010600030101010101" pitchFamily="2" charset="-122"/>
                <a:sym typeface="+mn-ea"/>
              </a:rPr>
              <a:t>;</a:t>
            </a:r>
            <a:endParaRPr lang="en-US" altLang="zh-CN"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sym typeface="+mn-ea"/>
              </a:rPr>
              <a:t>在上述语法中，参数</a:t>
            </a:r>
            <a:r>
              <a:rPr lang="en-US" altLang="zh-CN" sz="2000">
                <a:latin typeface="宋体" panose="02010600030101010101" pitchFamily="2" charset="-122"/>
                <a:cs typeface="宋体" panose="02010600030101010101" pitchFamily="2" charset="-122"/>
                <a:sym typeface="+mn-ea"/>
              </a:rPr>
              <a:t>a</a:t>
            </a:r>
            <a:r>
              <a:rPr lang="zh-CN" altLang="en-US" sz="2000">
                <a:latin typeface="宋体" panose="02010600030101010101" pitchFamily="2" charset="-122"/>
                <a:cs typeface="宋体" panose="02010600030101010101" pitchFamily="2" charset="-122"/>
                <a:sym typeface="+mn-ea"/>
              </a:rPr>
              <a:t>是指被查询的集合，参数</a:t>
            </a:r>
            <a:r>
              <a:rPr lang="en-US" altLang="zh-CN" sz="2000">
                <a:latin typeface="宋体" panose="02010600030101010101" pitchFamily="2" charset="-122"/>
                <a:cs typeface="宋体" panose="02010600030101010101" pitchFamily="2" charset="-122"/>
                <a:sym typeface="+mn-ea"/>
              </a:rPr>
              <a:t>key</a:t>
            </a:r>
            <a:r>
              <a:rPr lang="zh-CN" altLang="en-US" sz="2000">
                <a:latin typeface="宋体" panose="02010600030101010101" pitchFamily="2" charset="-122"/>
                <a:cs typeface="宋体" panose="02010600030101010101" pitchFamily="2" charset="-122"/>
                <a:sym typeface="+mn-ea"/>
              </a:rPr>
              <a:t>指被查询的元素值。</a:t>
            </a:r>
            <a:r>
              <a:rPr lang="en-US" altLang="zh-CN" sz="2000">
                <a:latin typeface="宋体" panose="02010600030101010101" pitchFamily="2" charset="-122"/>
                <a:cs typeface="宋体" panose="02010600030101010101" pitchFamily="2" charset="-122"/>
                <a:sym typeface="+mn-ea"/>
              </a:rPr>
              <a:t>binarySearch( )</a:t>
            </a:r>
            <a:r>
              <a:rPr lang="zh-CN" altLang="en-US" sz="2000">
                <a:latin typeface="宋体" panose="02010600030101010101" pitchFamily="2" charset="-122"/>
                <a:cs typeface="宋体" panose="02010600030101010101" pitchFamily="2" charset="-122"/>
                <a:sym typeface="+mn-ea"/>
              </a:rPr>
              <a:t>方法只能针对有序数组进行元素查找，因为该方法采用的是二分查找。所谓二分法查找就是每次将指定元素和数组中间位置的元素进行比较，从而排除掉其中的一半元素，这样的查找是非常高效的。</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lang="zh-CN" altLang="en-US" sz="2000">
              <a:latin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a:t>
            </a:r>
            <a:r>
              <a:rPr lang="zh-CN" altLang="en-US" sz="2600" dirty="0">
                <a:solidFill>
                  <a:srgbClr val="1369B2"/>
                </a:solidFill>
                <a:latin typeface="微软雅黑" panose="020B0503020204020204" pitchFamily="34" charset="-122"/>
                <a:ea typeface="微软雅黑" panose="020B0503020204020204" pitchFamily="34" charset="-122"/>
                <a:sym typeface="+mn-ea"/>
              </a:rPr>
              <a:t>常用方法</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2805" cy="2437765"/>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lang="en-US" altLang="zh-CN" sz="2000">
                <a:latin typeface="宋体" panose="02010600030101010101" pitchFamily="2" charset="-122"/>
                <a:cs typeface="宋体" panose="02010600030101010101" pitchFamily="2" charset="-122"/>
              </a:rPr>
              <a:t>3.</a:t>
            </a:r>
            <a:r>
              <a:rPr lang="zh-CN" altLang="en-US" sz="2000">
                <a:latin typeface="宋体" panose="02010600030101010101" pitchFamily="2" charset="-122"/>
                <a:cs typeface="宋体" panose="02010600030101010101" pitchFamily="2" charset="-122"/>
              </a:rPr>
              <a:t>使用</a:t>
            </a:r>
            <a:r>
              <a:rPr lang="en-US" altLang="zh-CN" sz="2000">
                <a:latin typeface="宋体" panose="02010600030101010101" pitchFamily="2" charset="-122"/>
                <a:cs typeface="宋体" panose="02010600030101010101" pitchFamily="2" charset="-122"/>
              </a:rPr>
              <a:t>copyOfRange</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）方法复制元素</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在程序开发中，经常需要在不破坏原数组的情况下使用数组中的部分元素，这时可以使用</a:t>
            </a:r>
            <a:r>
              <a:rPr lang="en-US" altLang="zh-CN" sz="2000">
                <a:latin typeface="宋体" panose="02010600030101010101" pitchFamily="2" charset="-122"/>
                <a:cs typeface="宋体" panose="02010600030101010101" pitchFamily="2" charset="-122"/>
              </a:rPr>
              <a:t>Arrays</a:t>
            </a:r>
            <a:r>
              <a:rPr lang="zh-CN" altLang="en-US" sz="2000">
                <a:latin typeface="宋体" panose="02010600030101010101" pitchFamily="2" charset="-122"/>
                <a:cs typeface="宋体" panose="02010600030101010101" pitchFamily="2" charset="-122"/>
              </a:rPr>
              <a:t>工具类的</a:t>
            </a:r>
            <a:r>
              <a:rPr lang="en-US" altLang="zh-CN" sz="2000">
                <a:latin typeface="宋体" panose="02010600030101010101" pitchFamily="2" charset="-122"/>
                <a:cs typeface="宋体" panose="02010600030101010101" pitchFamily="2" charset="-122"/>
              </a:rPr>
              <a:t>copyOfRange( )</a:t>
            </a:r>
            <a:r>
              <a:rPr lang="zh-CN" altLang="en-US" sz="2000">
                <a:latin typeface="宋体" panose="02010600030101010101" pitchFamily="2" charset="-122"/>
                <a:cs typeface="宋体" panose="02010600030101010101" pitchFamily="2" charset="-122"/>
              </a:rPr>
              <a:t>方法，</a:t>
            </a:r>
            <a:r>
              <a:rPr lang="en-US" altLang="zh-CN" sz="2000">
                <a:latin typeface="宋体" panose="02010600030101010101" pitchFamily="2" charset="-122"/>
                <a:cs typeface="宋体" panose="02010600030101010101" pitchFamily="2" charset="-122"/>
              </a:rPr>
              <a:t>copyOfRange( )</a:t>
            </a:r>
            <a:r>
              <a:rPr lang="zh-CN" altLang="en-US" sz="2000">
                <a:latin typeface="宋体" panose="02010600030101010101" pitchFamily="2" charset="-122"/>
                <a:cs typeface="宋体" panose="02010600030101010101" pitchFamily="2" charset="-122"/>
              </a:rPr>
              <a:t>方法可以将数组中指定范围的元素复制到一个新的数组中。</a:t>
            </a:r>
            <a:r>
              <a:rPr lang="en-US" altLang="zh-CN" sz="2000">
                <a:latin typeface="宋体" panose="02010600030101010101" pitchFamily="2" charset="-122"/>
                <a:cs typeface="宋体" panose="02010600030101010101" pitchFamily="2" charset="-122"/>
              </a:rPr>
              <a:t>copyOfRange( )</a:t>
            </a:r>
            <a:r>
              <a:rPr lang="zh-CN" altLang="en-US" sz="2000">
                <a:latin typeface="宋体" panose="02010600030101010101" pitchFamily="2" charset="-122"/>
                <a:cs typeface="宋体" panose="02010600030101010101" pitchFamily="2" charset="-122"/>
              </a:rPr>
              <a:t>方法声明格式如下所示。</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cs typeface="宋体" panose="02010600030101010101" pitchFamily="2" charset="-122"/>
              </a:rPr>
              <a:t>copyOfRange</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int[] original</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 int from</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int to</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a:t>
            </a:r>
            <a:endParaRPr lang="en-US" altLang="zh-CN"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在上述语法中，参数</a:t>
            </a:r>
            <a:r>
              <a:rPr lang="en-US" altLang="zh-CN" sz="2000">
                <a:latin typeface="宋体" panose="02010600030101010101" pitchFamily="2" charset="-122"/>
                <a:cs typeface="宋体" panose="02010600030101010101" pitchFamily="2" charset="-122"/>
              </a:rPr>
              <a:t>original</a:t>
            </a:r>
            <a:r>
              <a:rPr lang="zh-CN" altLang="en-US" sz="2000">
                <a:latin typeface="宋体" panose="02010600030101010101" pitchFamily="2" charset="-122"/>
                <a:cs typeface="宋体" panose="02010600030101010101" pitchFamily="2" charset="-122"/>
              </a:rPr>
              <a:t>表示被复制的数组，</a:t>
            </a:r>
            <a:r>
              <a:rPr lang="en-US" altLang="zh-CN" sz="2000">
                <a:latin typeface="宋体" panose="02010600030101010101" pitchFamily="2" charset="-122"/>
                <a:cs typeface="宋体" panose="02010600030101010101" pitchFamily="2" charset="-122"/>
              </a:rPr>
              <a:t>from</a:t>
            </a:r>
            <a:r>
              <a:rPr lang="zh-CN" altLang="en-US" sz="2000">
                <a:latin typeface="宋体" panose="02010600030101010101" pitchFamily="2" charset="-122"/>
                <a:cs typeface="宋体" panose="02010600030101010101" pitchFamily="2" charset="-122"/>
              </a:rPr>
              <a:t>表示被复制元素的初始索引（包括），</a:t>
            </a:r>
            <a:r>
              <a:rPr lang="en-US" altLang="zh-CN" sz="2000">
                <a:latin typeface="宋体" panose="02010600030101010101" pitchFamily="2" charset="-122"/>
                <a:cs typeface="宋体" panose="02010600030101010101" pitchFamily="2" charset="-122"/>
              </a:rPr>
              <a:t>to</a:t>
            </a:r>
            <a:r>
              <a:rPr lang="zh-CN" altLang="en-US" sz="2000">
                <a:latin typeface="宋体" panose="02010600030101010101" pitchFamily="2" charset="-122"/>
                <a:cs typeface="宋体" panose="02010600030101010101" pitchFamily="2" charset="-122"/>
              </a:rPr>
              <a:t>表示被复制元素的最后索引（不包括）。</a:t>
            </a:r>
            <a:endParaRPr lang="zh-CN" altLang="en-US" sz="2000">
              <a:latin typeface="宋体" panose="02010600030101010101" pitchFamily="2" charset="-122"/>
              <a:cs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a:t>
            </a:r>
            <a:r>
              <a:rPr lang="zh-CN" altLang="en-US" sz="2600" dirty="0">
                <a:solidFill>
                  <a:srgbClr val="1369B2"/>
                </a:solidFill>
                <a:latin typeface="微软雅黑" panose="020B0503020204020204" pitchFamily="34" charset="-122"/>
                <a:ea typeface="微软雅黑" panose="020B0503020204020204" pitchFamily="34" charset="-122"/>
                <a:sym typeface="+mn-ea"/>
              </a:rPr>
              <a:t>常用方法</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2805" cy="2437765"/>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lang="en-US" altLang="zh-CN" sz="2000">
                <a:latin typeface="宋体" panose="02010600030101010101" pitchFamily="2" charset="-122"/>
                <a:cs typeface="宋体" panose="02010600030101010101" pitchFamily="2" charset="-122"/>
              </a:rPr>
              <a:t>4.</a:t>
            </a:r>
            <a:r>
              <a:rPr lang="zh-CN" altLang="en-US" sz="2000">
                <a:latin typeface="宋体" panose="02010600030101010101" pitchFamily="2" charset="-122"/>
                <a:cs typeface="宋体" panose="02010600030101010101" pitchFamily="2" charset="-122"/>
              </a:rPr>
              <a:t>使用</a:t>
            </a:r>
            <a:r>
              <a:rPr lang="en-US" altLang="zh-CN" sz="2000">
                <a:latin typeface="宋体" panose="02010600030101010101" pitchFamily="2" charset="-122"/>
                <a:cs typeface="宋体" panose="02010600030101010101" pitchFamily="2" charset="-122"/>
              </a:rPr>
              <a:t>fill</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）方法替换元素</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程序开发中，可能会需要将一个数组中的所有元素替换成同一个元素，此时可以使用</a:t>
            </a:r>
            <a:r>
              <a:rPr lang="en-US" altLang="zh-CN" sz="2000">
                <a:latin typeface="宋体" panose="02010600030101010101" pitchFamily="2" charset="-122"/>
                <a:cs typeface="宋体" panose="02010600030101010101" pitchFamily="2" charset="-122"/>
              </a:rPr>
              <a:t>Arrays</a:t>
            </a:r>
            <a:r>
              <a:rPr lang="zh-CN" altLang="en-US" sz="2000">
                <a:latin typeface="宋体" panose="02010600030101010101" pitchFamily="2" charset="-122"/>
                <a:cs typeface="宋体" panose="02010600030101010101" pitchFamily="2" charset="-122"/>
              </a:rPr>
              <a:t>工具类的</a:t>
            </a:r>
            <a:r>
              <a:rPr lang="en-US" altLang="zh-CN" sz="2000">
                <a:latin typeface="宋体" panose="02010600030101010101" pitchFamily="2" charset="-122"/>
                <a:cs typeface="宋体" panose="02010600030101010101" pitchFamily="2" charset="-122"/>
              </a:rPr>
              <a:t>fill( )</a:t>
            </a:r>
            <a:r>
              <a:rPr lang="zh-CN" altLang="en-US" sz="2000">
                <a:latin typeface="宋体" panose="02010600030101010101" pitchFamily="2" charset="-122"/>
                <a:cs typeface="宋体" panose="02010600030101010101" pitchFamily="2" charset="-122"/>
              </a:rPr>
              <a:t>方法，该方法可以将指定的值赋给数组中的每一个元素，</a:t>
            </a:r>
            <a:r>
              <a:rPr lang="en-US" altLang="zh-CN" sz="2000">
                <a:latin typeface="宋体" panose="02010600030101010101" pitchFamily="2" charset="-122"/>
                <a:cs typeface="宋体" panose="02010600030101010101" pitchFamily="2" charset="-122"/>
              </a:rPr>
              <a:t>fill( )</a:t>
            </a:r>
            <a:r>
              <a:rPr lang="zh-CN" altLang="en-US" sz="2000">
                <a:latin typeface="宋体" panose="02010600030101010101" pitchFamily="2" charset="-122"/>
                <a:cs typeface="宋体" panose="02010600030101010101" pitchFamily="2" charset="-122"/>
              </a:rPr>
              <a:t>方法声明如下所示。</a:t>
            </a:r>
            <a:endParaRPr lang="zh-CN" altLang="en-US"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cs typeface="宋体" panose="02010600030101010101" pitchFamily="2" charset="-122"/>
              </a:rPr>
              <a:t>fill</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Object[] a</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Object val</a:t>
            </a:r>
            <a:r>
              <a:rPr lang="zh-CN" altLang="en-US" sz="2000">
                <a:latin typeface="宋体" panose="02010600030101010101" pitchFamily="2" charset="-122"/>
                <a:cs typeface="宋体" panose="02010600030101010101" pitchFamily="2" charset="-122"/>
              </a:rPr>
              <a:t>）</a:t>
            </a:r>
            <a:r>
              <a:rPr lang="en-US" altLang="zh-CN" sz="2000">
                <a:latin typeface="宋体" panose="02010600030101010101" pitchFamily="2" charset="-122"/>
                <a:cs typeface="宋体" panose="02010600030101010101" pitchFamily="2" charset="-122"/>
              </a:rPr>
              <a:t>;</a:t>
            </a:r>
            <a:endParaRPr lang="en-US" altLang="zh-CN"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在上述语法中，参数</a:t>
            </a:r>
            <a:r>
              <a:rPr lang="en-US" altLang="zh-CN" sz="2000">
                <a:latin typeface="宋体" panose="02010600030101010101" pitchFamily="2" charset="-122"/>
                <a:cs typeface="宋体" panose="02010600030101010101" pitchFamily="2" charset="-122"/>
              </a:rPr>
              <a:t>a</a:t>
            </a:r>
            <a:r>
              <a:rPr lang="zh-CN" altLang="en-US" sz="2000">
                <a:latin typeface="宋体" panose="02010600030101010101" pitchFamily="2" charset="-122"/>
                <a:cs typeface="宋体" panose="02010600030101010101" pitchFamily="2" charset="-122"/>
              </a:rPr>
              <a:t>表示被修改的数组，</a:t>
            </a:r>
            <a:r>
              <a:rPr lang="en-US" altLang="zh-CN" sz="2000">
                <a:latin typeface="宋体" panose="02010600030101010101" pitchFamily="2" charset="-122"/>
                <a:cs typeface="宋体" panose="02010600030101010101" pitchFamily="2" charset="-122"/>
              </a:rPr>
              <a:t>val</a:t>
            </a:r>
            <a:r>
              <a:rPr lang="zh-CN" altLang="en-US" sz="2000">
                <a:latin typeface="宋体" panose="02010600030101010101" pitchFamily="2" charset="-122"/>
                <a:cs typeface="宋体" panose="02010600030101010101" pitchFamily="2" charset="-122"/>
              </a:rPr>
              <a:t>表示需要被替换成的元素。</a:t>
            </a:r>
            <a:endParaRPr lang="zh-CN" altLang="en-US" sz="2000">
              <a:latin typeface="宋体" panose="02010600030101010101" pitchFamily="2" charset="-122"/>
              <a:cs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4708525" y="3500755"/>
            <a:ext cx="692658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：创建一个整型数组，调用集合</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Array</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sort(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方法对该整型数组元素进行排序；定义一个输出数组元素的方法；输出排序前的数组元素和排序后的数组元素。</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：在子任务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的基础上，利用二分法查找出集合中某个元素的索引并输出。</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2635885" y="3213100"/>
            <a:ext cx="692658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：创建一个整型数组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int[]arr ={11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32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94</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29</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88</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41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52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69</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77}</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，复制该整型数组元素索引从</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到</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的元素到新的数组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arr2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中，并输出数组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arr2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的所有数组元素。</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：定义一个输出数组元素的方法；创建一个整型数组并输出，用一个指定元素替换该整型数组中的元素并输出。</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1</a:t>
            </a:r>
            <a:r>
              <a:rPr lang="zh-CN" altLang="en-US" sz="2000">
                <a:latin typeface="+mn-ea"/>
                <a:ea typeface="+mn-ea"/>
                <a:cs typeface="+mn-ea"/>
                <a:sym typeface="+mn-ea"/>
              </a:rPr>
              <a:t>：根据任务描述以及</a:t>
            </a:r>
            <a:r>
              <a:rPr lang="en-US" altLang="zh-CN" sz="2000">
                <a:latin typeface="+mn-ea"/>
                <a:ea typeface="+mn-ea"/>
                <a:cs typeface="+mn-ea"/>
                <a:sym typeface="+mn-ea"/>
              </a:rPr>
              <a:t>sort( )</a:t>
            </a:r>
            <a:r>
              <a:rPr lang="zh-CN" altLang="en-US" sz="2000">
                <a:latin typeface="+mn-ea"/>
                <a:ea typeface="+mn-ea"/>
                <a:cs typeface="+mn-ea"/>
                <a:sym typeface="+mn-ea"/>
              </a:rPr>
              <a:t>方法排序知识点可以得到文件</a:t>
            </a:r>
            <a:r>
              <a:rPr lang="en-US" altLang="zh-CN" sz="2000">
                <a:latin typeface="+mn-ea"/>
                <a:ea typeface="+mn-ea"/>
                <a:cs typeface="+mn-ea"/>
                <a:sym typeface="+mn-ea"/>
              </a:rPr>
              <a:t>9-23</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9-23 Example22.java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rPr>
              <a:t>1import java.util.Arrays;</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2public class Example22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3public static void main</a:t>
            </a:r>
            <a:r>
              <a:rPr lang="zh-CN" altLang="en-US" sz="2000">
                <a:latin typeface="Times New Roman" panose="02020603050405020304"/>
              </a:rPr>
              <a:t>（</a:t>
            </a:r>
            <a:r>
              <a:rPr lang="en-US" altLang="zh-CN" sz="2000">
                <a:latin typeface="Times New Roman" panose="02020603050405020304"/>
              </a:rPr>
              <a:t>String[] args</a:t>
            </a:r>
            <a:r>
              <a:rPr lang="zh-CN" altLang="en-US" sz="2000">
                <a:latin typeface="Times New Roman" panose="02020603050405020304"/>
              </a:rPr>
              <a:t>）</a:t>
            </a:r>
            <a:r>
              <a:rPr lang="en-US" altLang="zh-CN" sz="2000">
                <a:latin typeface="Times New Roman" panose="02020603050405020304"/>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4   int[]arr ={11</a:t>
            </a:r>
            <a:r>
              <a:rPr lang="zh-CN" altLang="en-US" sz="2000">
                <a:latin typeface="Times New Roman" panose="02020603050405020304"/>
              </a:rPr>
              <a:t>，</a:t>
            </a:r>
            <a:r>
              <a:rPr lang="en-US" altLang="zh-CN" sz="2000">
                <a:latin typeface="Times New Roman" panose="02020603050405020304"/>
              </a:rPr>
              <a:t>32</a:t>
            </a:r>
            <a:r>
              <a:rPr lang="zh-CN" altLang="en-US" sz="2000">
                <a:latin typeface="Times New Roman" panose="02020603050405020304"/>
              </a:rPr>
              <a:t>，</a:t>
            </a:r>
            <a:r>
              <a:rPr lang="en-US" altLang="zh-CN" sz="2000">
                <a:latin typeface="Times New Roman" panose="02020603050405020304"/>
              </a:rPr>
              <a:t>94</a:t>
            </a:r>
            <a:r>
              <a:rPr lang="zh-CN" altLang="en-US" sz="2000">
                <a:latin typeface="Times New Roman" panose="02020603050405020304"/>
              </a:rPr>
              <a:t>，</a:t>
            </a:r>
            <a:r>
              <a:rPr lang="en-US" altLang="zh-CN" sz="2000">
                <a:latin typeface="Times New Roman" panose="02020603050405020304"/>
              </a:rPr>
              <a:t>29</a:t>
            </a:r>
            <a:r>
              <a:rPr lang="zh-CN" altLang="en-US" sz="2000">
                <a:latin typeface="Times New Roman" panose="02020603050405020304"/>
              </a:rPr>
              <a:t>，</a:t>
            </a:r>
            <a:r>
              <a:rPr lang="en-US" altLang="zh-CN" sz="2000">
                <a:latin typeface="Times New Roman" panose="02020603050405020304"/>
              </a:rPr>
              <a:t>88</a:t>
            </a:r>
            <a:r>
              <a:rPr lang="zh-CN" altLang="en-US" sz="2000">
                <a:latin typeface="Times New Roman" panose="02020603050405020304"/>
              </a:rPr>
              <a:t>，</a:t>
            </a:r>
            <a:r>
              <a:rPr lang="en-US" altLang="zh-CN" sz="2000">
                <a:latin typeface="Times New Roman" panose="02020603050405020304"/>
              </a:rPr>
              <a:t>41</a:t>
            </a:r>
            <a:r>
              <a:rPr lang="zh-CN" altLang="en-US" sz="2000">
                <a:latin typeface="Times New Roman" panose="02020603050405020304"/>
              </a:rPr>
              <a:t>，</a:t>
            </a:r>
            <a:r>
              <a:rPr lang="en-US" altLang="zh-CN" sz="2000">
                <a:latin typeface="Times New Roman" panose="02020603050405020304"/>
              </a:rPr>
              <a:t>52</a:t>
            </a:r>
            <a:r>
              <a:rPr lang="zh-CN" altLang="en-US" sz="2000">
                <a:latin typeface="Times New Roman" panose="02020603050405020304"/>
              </a:rPr>
              <a:t>，</a:t>
            </a:r>
            <a:r>
              <a:rPr lang="en-US" altLang="zh-CN" sz="2000">
                <a:latin typeface="Times New Roman" panose="02020603050405020304"/>
              </a:rPr>
              <a:t>69</a:t>
            </a:r>
            <a:r>
              <a:rPr lang="zh-CN" altLang="en-US" sz="2000">
                <a:latin typeface="Times New Roman" panose="02020603050405020304"/>
              </a:rPr>
              <a:t>，</a:t>
            </a:r>
            <a:r>
              <a:rPr lang="en-US" altLang="zh-CN" sz="2000">
                <a:latin typeface="Times New Roman" panose="02020603050405020304"/>
              </a:rPr>
              <a:t>77};</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5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排序前：</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6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7   Arrays.sort</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8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排序后：</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9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10 }</a:t>
            </a:r>
            <a:endParaRPr lang="en-US" altLang="zh-CN" sz="2000">
              <a:latin typeface="Times New Roman" panose="02020603050405020304"/>
            </a:endParaRPr>
          </a:p>
          <a:p>
            <a:pPr marL="0" indent="266700" algn="just" defTabSz="266700" latinLnBrk="0">
              <a:lnSpc>
                <a:spcPct val="100000"/>
              </a:lnSpc>
              <a:spcBef>
                <a:spcPct val="0"/>
              </a:spcBef>
              <a:spcAft>
                <a:spcPct val="0"/>
              </a:spcAft>
            </a:pPr>
            <a:endParaRPr lang="en-US" altLang="zh-CN" sz="2000">
              <a:latin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1</a:t>
            </a:r>
            <a:r>
              <a:rPr lang="zh-CN" altLang="en-US" sz="2000">
                <a:latin typeface="+mn-ea"/>
                <a:ea typeface="+mn-ea"/>
                <a:cs typeface="+mn-ea"/>
                <a:sym typeface="+mn-ea"/>
              </a:rPr>
              <a:t>：根据任务描述以及</a:t>
            </a:r>
            <a:r>
              <a:rPr lang="en-US" altLang="zh-CN" sz="2000">
                <a:latin typeface="+mn-ea"/>
                <a:ea typeface="+mn-ea"/>
                <a:cs typeface="+mn-ea"/>
                <a:sym typeface="+mn-ea"/>
              </a:rPr>
              <a:t>sort( )</a:t>
            </a:r>
            <a:r>
              <a:rPr lang="zh-CN" altLang="en-US" sz="2000">
                <a:latin typeface="+mn-ea"/>
                <a:ea typeface="+mn-ea"/>
                <a:cs typeface="+mn-ea"/>
                <a:sym typeface="+mn-ea"/>
              </a:rPr>
              <a:t>方法排序知识点可以得到文件</a:t>
            </a:r>
            <a:r>
              <a:rPr lang="en-US" altLang="zh-CN" sz="2000">
                <a:latin typeface="+mn-ea"/>
                <a:ea typeface="+mn-ea"/>
                <a:cs typeface="+mn-ea"/>
                <a:sym typeface="+mn-ea"/>
              </a:rPr>
              <a:t>9-23</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9-23 Example22.java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sym typeface="+mn-ea"/>
              </a:rPr>
              <a:t>11  public static void printArray</a:t>
            </a:r>
            <a:r>
              <a:rPr lang="zh-CN" altLang="en-US" sz="2000">
                <a:latin typeface="Times New Roman" panose="02020603050405020304"/>
                <a:sym typeface="+mn-ea"/>
              </a:rPr>
              <a:t>（</a:t>
            </a:r>
            <a:r>
              <a:rPr lang="en-US" altLang="zh-CN" sz="2000">
                <a:latin typeface="Times New Roman" panose="02020603050405020304"/>
                <a:sym typeface="+mn-ea"/>
              </a:rPr>
              <a:t>int[] arr</a:t>
            </a:r>
            <a:r>
              <a:rPr lang="zh-CN" altLang="en-US" sz="2000">
                <a:latin typeface="Times New Roman" panose="02020603050405020304"/>
                <a:sym typeface="+mn-ea"/>
              </a:rPr>
              <a:t>）</a:t>
            </a:r>
            <a:r>
              <a:rPr lang="en-US" altLang="zh-CN" sz="2000">
                <a:latin typeface="Times New Roman" panose="02020603050405020304"/>
                <a:sym typeface="+mn-ea"/>
              </a:rPr>
              <a:t>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12  System.out.print</a:t>
            </a:r>
            <a:r>
              <a:rPr lang="zh-CN" altLang="en-US" sz="2000">
                <a:latin typeface="Times New Roman" panose="02020603050405020304"/>
                <a:sym typeface="+mn-ea"/>
              </a:rPr>
              <a:t>（</a:t>
            </a:r>
            <a:r>
              <a:rPr lang="en-US" altLang="zh-CN" sz="2000">
                <a:latin typeface="Times New Roman" panose="02020603050405020304"/>
                <a:sym typeface="+mn-ea"/>
              </a:rPr>
              <a:t>"["</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13  for </a:t>
            </a:r>
            <a:r>
              <a:rPr lang="zh-CN" altLang="en-US" sz="2000">
                <a:latin typeface="Times New Roman" panose="02020603050405020304"/>
                <a:sym typeface="+mn-ea"/>
              </a:rPr>
              <a:t>（</a:t>
            </a:r>
            <a:r>
              <a:rPr lang="en-US" altLang="zh-CN" sz="2000">
                <a:latin typeface="Times New Roman" panose="02020603050405020304"/>
                <a:sym typeface="+mn-ea"/>
              </a:rPr>
              <a:t>int x = 0; x &lt; arr.length; x++</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14  if </a:t>
            </a:r>
            <a:r>
              <a:rPr lang="zh-CN" altLang="en-US" sz="2000">
                <a:latin typeface="Times New Roman" panose="02020603050405020304"/>
                <a:sym typeface="+mn-ea"/>
              </a:rPr>
              <a:t>（</a:t>
            </a:r>
            <a:r>
              <a:rPr lang="en-US" altLang="zh-CN" sz="2000">
                <a:latin typeface="Times New Roman" panose="02020603050405020304"/>
                <a:sym typeface="+mn-ea"/>
              </a:rPr>
              <a:t>x != arr.length - 1</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15  System.out.print</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16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16 else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17 System.out.println</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18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19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20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21 }</a:t>
            </a:r>
            <a:endParaRPr lang="en-US" altLang="zh-CN" sz="2000">
              <a:latin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49730" y="2132965"/>
            <a:ext cx="5080000" cy="475615"/>
          </a:xfrm>
          <a:prstGeom prst="rect">
            <a:avLst/>
          </a:prstGeom>
        </p:spPr>
        <p:txBody>
          <a:bodyPr>
            <a:spAutoFit/>
          </a:bodyPr>
          <a:p>
            <a:pPr marL="0" indent="266700" algn="l" defTabSz="266700">
              <a:lnSpc>
                <a:spcPct val="125000"/>
              </a:lnSpc>
              <a:spcBef>
                <a:spcPct val="0"/>
              </a:spcBef>
              <a:spcAft>
                <a:spcPct val="0"/>
              </a:spcAft>
            </a:pPr>
            <a:r>
              <a:rPr lang="zh-CN" altLang="en-US" sz="2000">
                <a:latin typeface="Times New Roman" panose="02020603050405020304"/>
                <a:ea typeface="宋体" panose="02010600030101010101" pitchFamily="2" charset="-122"/>
              </a:rPr>
              <a:t>文件</a:t>
            </a:r>
            <a:r>
              <a:rPr lang="en-US" altLang="zh-CN" sz="2000">
                <a:latin typeface="Times New Roman" panose="02020603050405020304"/>
                <a:ea typeface="宋体" panose="02010600030101010101" pitchFamily="2" charset="-122"/>
              </a:rPr>
              <a:t>9-23</a:t>
            </a:r>
            <a:r>
              <a:rPr lang="zh-CN" altLang="en-US" sz="2000">
                <a:latin typeface="Times New Roman" panose="02020603050405020304"/>
                <a:ea typeface="宋体" panose="02010600030101010101" pitchFamily="2" charset="-122"/>
              </a:rPr>
              <a:t>的运行结果如图</a:t>
            </a:r>
            <a:r>
              <a:rPr lang="en-US" altLang="zh-CN" sz="2000">
                <a:latin typeface="Times New Roman" panose="02020603050405020304"/>
                <a:ea typeface="宋体" panose="02010600030101010101" pitchFamily="2" charset="-122"/>
              </a:rPr>
              <a:t>9-32</a:t>
            </a:r>
            <a:r>
              <a:rPr lang="zh-CN" altLang="en-US" sz="2000">
                <a:latin typeface="Times New Roman" panose="02020603050405020304"/>
                <a:ea typeface="宋体" panose="02010600030101010101" pitchFamily="2" charset="-122"/>
              </a:rPr>
              <a:t>所示。</a:t>
            </a:r>
            <a:endParaRPr lang="zh-CN" altLang="en-US" sz="2000">
              <a:latin typeface="Times New Roman" panose="02020603050405020304"/>
              <a:ea typeface="宋体" panose="02010600030101010101" pitchFamily="2" charset="-122"/>
            </a:endParaRPr>
          </a:p>
        </p:txBody>
      </p:sp>
      <p:sp>
        <p:nvSpPr>
          <p:cNvPr id="8" name="文本框 7"/>
          <p:cNvSpPr txBox="1"/>
          <p:nvPr/>
        </p:nvSpPr>
        <p:spPr>
          <a:xfrm>
            <a:off x="2426970" y="4436745"/>
            <a:ext cx="5080000" cy="437515"/>
          </a:xfrm>
          <a:prstGeom prst="rect">
            <a:avLst/>
          </a:prstGeom>
        </p:spPr>
        <p:txBody>
          <a:bodyPr>
            <a:spAutoFit/>
          </a:bodyPr>
          <a:p>
            <a:pPr marL="0" indent="266700" algn="ctr" defTabSz="266700">
              <a:lnSpc>
                <a:spcPct val="125000"/>
              </a:lnSpc>
              <a:spcBef>
                <a:spcPct val="0"/>
              </a:spcBef>
              <a:spcAft>
                <a:spcPct val="0"/>
              </a:spcAft>
            </a:pPr>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9-32 </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9-23</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pic>
        <p:nvPicPr>
          <p:cNvPr id="171" name="图片 1"/>
          <p:cNvPicPr>
            <a:picLocks noChangeAspect="1"/>
          </p:cNvPicPr>
          <p:nvPr/>
        </p:nvPicPr>
        <p:blipFill>
          <a:blip r:embed="rId3"/>
          <a:stretch>
            <a:fillRect/>
          </a:stretch>
        </p:blipFill>
        <p:spPr>
          <a:xfrm>
            <a:off x="2354580" y="2977515"/>
            <a:ext cx="7074535" cy="916940"/>
          </a:xfrm>
          <a:prstGeom prst="rect">
            <a:avLst/>
          </a:prstGeom>
          <a:noFill/>
          <a:ln>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2</a:t>
            </a:r>
            <a:r>
              <a:rPr lang="zh-CN" altLang="en-US" sz="2000">
                <a:latin typeface="+mn-ea"/>
                <a:ea typeface="+mn-ea"/>
                <a:cs typeface="+mn-ea"/>
                <a:sym typeface="+mn-ea"/>
              </a:rPr>
              <a:t>：根据任务描述以及使用</a:t>
            </a:r>
            <a:r>
              <a:rPr lang="en-US" altLang="zh-CN" sz="2000">
                <a:latin typeface="+mn-ea"/>
                <a:ea typeface="+mn-ea"/>
                <a:cs typeface="+mn-ea"/>
                <a:sym typeface="+mn-ea"/>
              </a:rPr>
              <a:t>binarySearch( )</a:t>
            </a:r>
            <a:r>
              <a:rPr lang="zh-CN" altLang="en-US" sz="2000">
                <a:latin typeface="+mn-ea"/>
                <a:ea typeface="+mn-ea"/>
                <a:cs typeface="+mn-ea"/>
                <a:sym typeface="+mn-ea"/>
              </a:rPr>
              <a:t>方法查找元素知识点可以得到文件</a:t>
            </a:r>
            <a:r>
              <a:rPr lang="en-US" altLang="zh-CN" sz="2000">
                <a:latin typeface="+mn-ea"/>
                <a:ea typeface="+mn-ea"/>
                <a:cs typeface="+mn-ea"/>
                <a:sym typeface="+mn-ea"/>
              </a:rPr>
              <a:t>9-24</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9-24 Example23.java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rPr>
              <a:t>1import java.util.Arrays;</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2public class Example23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3  public static void main</a:t>
            </a:r>
            <a:r>
              <a:rPr lang="zh-CN" altLang="en-US" sz="2000">
                <a:latin typeface="Times New Roman" panose="02020603050405020304"/>
              </a:rPr>
              <a:t>（</a:t>
            </a:r>
            <a:r>
              <a:rPr lang="en-US" altLang="zh-CN" sz="2000">
                <a:latin typeface="Times New Roman" panose="02020603050405020304"/>
              </a:rPr>
              <a:t>String[] args</a:t>
            </a:r>
            <a:r>
              <a:rPr lang="zh-CN" altLang="en-US" sz="2000">
                <a:latin typeface="Times New Roman" panose="02020603050405020304"/>
              </a:rPr>
              <a:t>）</a:t>
            </a:r>
            <a:r>
              <a:rPr lang="en-US" altLang="zh-CN" sz="2000">
                <a:latin typeface="Times New Roman" panose="02020603050405020304"/>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4    int[]arr ={11</a:t>
            </a:r>
            <a:r>
              <a:rPr lang="zh-CN" altLang="en-US" sz="2000">
                <a:latin typeface="Times New Roman" panose="02020603050405020304"/>
              </a:rPr>
              <a:t>，</a:t>
            </a:r>
            <a:r>
              <a:rPr lang="en-US" altLang="zh-CN" sz="2000">
                <a:latin typeface="Times New Roman" panose="02020603050405020304"/>
              </a:rPr>
              <a:t>32</a:t>
            </a:r>
            <a:r>
              <a:rPr lang="zh-CN" altLang="en-US" sz="2000">
                <a:latin typeface="Times New Roman" panose="02020603050405020304"/>
              </a:rPr>
              <a:t>，</a:t>
            </a:r>
            <a:r>
              <a:rPr lang="en-US" altLang="zh-CN" sz="2000">
                <a:latin typeface="Times New Roman" panose="02020603050405020304"/>
              </a:rPr>
              <a:t>94</a:t>
            </a:r>
            <a:r>
              <a:rPr lang="zh-CN" altLang="en-US" sz="2000">
                <a:latin typeface="Times New Roman" panose="02020603050405020304"/>
              </a:rPr>
              <a:t>，</a:t>
            </a:r>
            <a:r>
              <a:rPr lang="en-US" altLang="zh-CN" sz="2000">
                <a:latin typeface="Times New Roman" panose="02020603050405020304"/>
              </a:rPr>
              <a:t>29</a:t>
            </a:r>
            <a:r>
              <a:rPr lang="zh-CN" altLang="en-US" sz="2000">
                <a:latin typeface="Times New Roman" panose="02020603050405020304"/>
              </a:rPr>
              <a:t>，</a:t>
            </a:r>
            <a:r>
              <a:rPr lang="en-US" altLang="zh-CN" sz="2000">
                <a:latin typeface="Times New Roman" panose="02020603050405020304"/>
              </a:rPr>
              <a:t>88</a:t>
            </a:r>
            <a:r>
              <a:rPr lang="zh-CN" altLang="en-US" sz="2000">
                <a:latin typeface="Times New Roman" panose="02020603050405020304"/>
              </a:rPr>
              <a:t>，</a:t>
            </a:r>
            <a:r>
              <a:rPr lang="en-US" altLang="zh-CN" sz="2000">
                <a:latin typeface="Times New Roman" panose="02020603050405020304"/>
              </a:rPr>
              <a:t>41</a:t>
            </a:r>
            <a:r>
              <a:rPr lang="zh-CN" altLang="en-US" sz="2000">
                <a:latin typeface="Times New Roman" panose="02020603050405020304"/>
              </a:rPr>
              <a:t>，</a:t>
            </a:r>
            <a:r>
              <a:rPr lang="en-US" altLang="zh-CN" sz="2000">
                <a:latin typeface="Times New Roman" panose="02020603050405020304"/>
              </a:rPr>
              <a:t>52</a:t>
            </a:r>
            <a:r>
              <a:rPr lang="zh-CN" altLang="en-US" sz="2000">
                <a:latin typeface="Times New Roman" panose="02020603050405020304"/>
              </a:rPr>
              <a:t>，</a:t>
            </a:r>
            <a:r>
              <a:rPr lang="en-US" altLang="zh-CN" sz="2000">
                <a:latin typeface="Times New Roman" panose="02020603050405020304"/>
              </a:rPr>
              <a:t>69</a:t>
            </a:r>
            <a:r>
              <a:rPr lang="zh-CN" altLang="en-US" sz="2000">
                <a:latin typeface="Times New Roman" panose="02020603050405020304"/>
              </a:rPr>
              <a:t>，</a:t>
            </a:r>
            <a:r>
              <a:rPr lang="en-US" altLang="zh-CN" sz="2000">
                <a:latin typeface="Times New Roman" panose="02020603050405020304"/>
              </a:rPr>
              <a:t>77};</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5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排序前：</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6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7    Arrays.sort</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8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排序后：</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9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 // </a:t>
            </a:r>
            <a:r>
              <a:rPr lang="zh-CN" altLang="en-US" sz="2000">
                <a:latin typeface="Times New Roman" panose="02020603050405020304"/>
              </a:rPr>
              <a:t>对数组进行排序</a:t>
            </a:r>
            <a:endParaRPr lang="zh-CN" altLang="en-US"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10   int index=Arrays.binarySearch</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 41</a:t>
            </a:r>
            <a:r>
              <a:rPr lang="zh-CN" altLang="en-US" sz="2000">
                <a:latin typeface="Times New Roman" panose="02020603050405020304"/>
              </a:rPr>
              <a:t>）</a:t>
            </a:r>
            <a:r>
              <a:rPr lang="en-US" altLang="zh-CN" sz="2000">
                <a:latin typeface="Times New Roman" panose="02020603050405020304"/>
              </a:rPr>
              <a:t>; // </a:t>
            </a:r>
            <a:r>
              <a:rPr lang="zh-CN" altLang="en-US" sz="2000">
                <a:latin typeface="Times New Roman" panose="02020603050405020304"/>
              </a:rPr>
              <a:t>查找指定元素</a:t>
            </a:r>
            <a:r>
              <a:rPr lang="en-US" altLang="zh-CN" sz="2000">
                <a:latin typeface="Times New Roman" panose="02020603050405020304"/>
              </a:rPr>
              <a:t>41</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11   System.out.println</a:t>
            </a:r>
            <a:r>
              <a:rPr lang="zh-CN" altLang="en-US" sz="2000">
                <a:latin typeface="Times New Roman" panose="02020603050405020304"/>
                <a:sym typeface="+mn-ea"/>
              </a:rPr>
              <a:t>（</a:t>
            </a:r>
            <a:r>
              <a:rPr lang="en-US" altLang="zh-CN" sz="2000">
                <a:latin typeface="Times New Roman" panose="02020603050405020304"/>
                <a:sym typeface="+mn-ea"/>
              </a:rPr>
              <a:t>"</a:t>
            </a:r>
            <a:r>
              <a:rPr lang="zh-CN" altLang="en-US" sz="2000">
                <a:latin typeface="Times New Roman" panose="02020603050405020304"/>
                <a:sym typeface="+mn-ea"/>
              </a:rPr>
              <a:t>元素</a:t>
            </a:r>
            <a:r>
              <a:rPr lang="en-US" altLang="zh-CN" sz="2000">
                <a:latin typeface="Times New Roman" panose="02020603050405020304"/>
                <a:sym typeface="+mn-ea"/>
              </a:rPr>
              <a:t>41</a:t>
            </a:r>
            <a:r>
              <a:rPr lang="zh-CN" altLang="en-US" sz="2000">
                <a:latin typeface="Times New Roman" panose="02020603050405020304"/>
                <a:sym typeface="+mn-ea"/>
              </a:rPr>
              <a:t>的索引是：</a:t>
            </a:r>
            <a:r>
              <a:rPr lang="en-US" altLang="zh-CN" sz="2000">
                <a:latin typeface="Times New Roman" panose="02020603050405020304"/>
                <a:sym typeface="+mn-ea"/>
              </a:rPr>
              <a:t>" + index</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12 }</a:t>
            </a:r>
            <a:endParaRPr lang="en-US" altLang="zh-CN" sz="2000">
              <a:latin typeface="Times New Roman" panose="02020603050405020304"/>
            </a:endParaRPr>
          </a:p>
          <a:p>
            <a:pPr marL="0" indent="266700" algn="just" defTabSz="266700" latinLnBrk="0">
              <a:lnSpc>
                <a:spcPct val="100000"/>
              </a:lnSpc>
              <a:spcBef>
                <a:spcPct val="0"/>
              </a:spcBef>
              <a:spcAft>
                <a:spcPct val="0"/>
              </a:spcAft>
            </a:pPr>
            <a:endParaRPr lang="en-US" altLang="zh-CN" sz="2000">
              <a:latin typeface="Times New Roman" panose="02020603050405020304"/>
            </a:endParaRPr>
          </a:p>
          <a:p>
            <a:pPr marL="0" indent="266700" algn="just" defTabSz="266700" latinLnBrk="0">
              <a:lnSpc>
                <a:spcPct val="100000"/>
              </a:lnSpc>
              <a:spcBef>
                <a:spcPct val="0"/>
              </a:spcBef>
              <a:spcAft>
                <a:spcPct val="0"/>
              </a:spcAft>
            </a:pPr>
            <a:endParaRPr lang="en-US" altLang="zh-CN" sz="2000">
              <a:latin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2</a:t>
            </a:r>
            <a:r>
              <a:rPr lang="zh-CN" altLang="en-US" sz="2000">
                <a:latin typeface="+mn-ea"/>
                <a:ea typeface="+mn-ea"/>
                <a:cs typeface="+mn-ea"/>
                <a:sym typeface="+mn-ea"/>
              </a:rPr>
              <a:t>：根据任务描述以及使用</a:t>
            </a:r>
            <a:r>
              <a:rPr lang="en-US" altLang="zh-CN" sz="2000">
                <a:latin typeface="+mn-ea"/>
                <a:ea typeface="+mn-ea"/>
                <a:cs typeface="+mn-ea"/>
                <a:sym typeface="+mn-ea"/>
              </a:rPr>
              <a:t>binarySearch( )</a:t>
            </a:r>
            <a:r>
              <a:rPr lang="zh-CN" altLang="en-US" sz="2000">
                <a:latin typeface="+mn-ea"/>
                <a:ea typeface="+mn-ea"/>
                <a:cs typeface="+mn-ea"/>
                <a:sym typeface="+mn-ea"/>
              </a:rPr>
              <a:t>方法查找元素知识点可以得到文件</a:t>
            </a:r>
            <a:r>
              <a:rPr lang="en-US" altLang="zh-CN" sz="2000">
                <a:latin typeface="+mn-ea"/>
                <a:ea typeface="+mn-ea"/>
                <a:cs typeface="+mn-ea"/>
                <a:sym typeface="+mn-ea"/>
              </a:rPr>
              <a:t>9-24</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9-24 Example23.java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sym typeface="+mn-ea"/>
              </a:rPr>
              <a:t>13 public static void printArray</a:t>
            </a:r>
            <a:r>
              <a:rPr lang="zh-CN" altLang="en-US" sz="2000">
                <a:latin typeface="Times New Roman" panose="02020603050405020304"/>
                <a:sym typeface="+mn-ea"/>
              </a:rPr>
              <a:t>（</a:t>
            </a:r>
            <a:r>
              <a:rPr lang="en-US" altLang="zh-CN" sz="2000">
                <a:latin typeface="Times New Roman" panose="02020603050405020304"/>
                <a:sym typeface="+mn-ea"/>
              </a:rPr>
              <a:t>int[] arr</a:t>
            </a:r>
            <a:r>
              <a:rPr lang="zh-CN" altLang="en-US" sz="2000">
                <a:latin typeface="Times New Roman" panose="02020603050405020304"/>
                <a:sym typeface="+mn-ea"/>
              </a:rPr>
              <a:t>）</a:t>
            </a:r>
            <a:r>
              <a:rPr lang="en-US" altLang="zh-CN" sz="2000">
                <a:latin typeface="Times New Roman" panose="02020603050405020304"/>
                <a:sym typeface="+mn-ea"/>
              </a:rPr>
              <a:t>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14   System.out.print</a:t>
            </a:r>
            <a:r>
              <a:rPr lang="zh-CN" altLang="en-US" sz="2000">
                <a:latin typeface="Times New Roman" panose="02020603050405020304"/>
                <a:sym typeface="+mn-ea"/>
              </a:rPr>
              <a:t>（</a:t>
            </a:r>
            <a:r>
              <a:rPr lang="en-US" altLang="zh-CN" sz="2000">
                <a:latin typeface="Times New Roman" panose="02020603050405020304"/>
                <a:sym typeface="+mn-ea"/>
              </a:rPr>
              <a:t>"["</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15   for </a:t>
            </a:r>
            <a:r>
              <a:rPr lang="zh-CN" altLang="en-US" sz="2000">
                <a:latin typeface="Times New Roman" panose="02020603050405020304"/>
                <a:sym typeface="+mn-ea"/>
              </a:rPr>
              <a:t>（</a:t>
            </a:r>
            <a:r>
              <a:rPr lang="en-US" altLang="zh-CN" sz="2000">
                <a:latin typeface="Times New Roman" panose="02020603050405020304"/>
                <a:sym typeface="+mn-ea"/>
              </a:rPr>
              <a:t>int x = 0; x &lt; arr.length; x++</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16        if </a:t>
            </a:r>
            <a:r>
              <a:rPr lang="zh-CN" altLang="en-US" sz="2000">
                <a:latin typeface="Times New Roman" panose="02020603050405020304"/>
                <a:sym typeface="+mn-ea"/>
              </a:rPr>
              <a:t>（</a:t>
            </a:r>
            <a:r>
              <a:rPr lang="en-US" altLang="zh-CN" sz="2000">
                <a:latin typeface="Times New Roman" panose="02020603050405020304"/>
                <a:sym typeface="+mn-ea"/>
              </a:rPr>
              <a:t>x != arr.length - 1</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17            System.out.print</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18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19        else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20            System.out.println</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21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22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23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24 }</a:t>
            </a:r>
            <a:endParaRPr lang="en-US" altLang="zh-CN" sz="2000">
              <a:latin typeface="Times New Roman" panose="02020603050405020304"/>
            </a:endParaRPr>
          </a:p>
          <a:p>
            <a:pPr marL="0" indent="266700" algn="just" defTabSz="266700" latinLnBrk="0">
              <a:lnSpc>
                <a:spcPct val="100000"/>
              </a:lnSpc>
              <a:spcBef>
                <a:spcPct val="0"/>
              </a:spcBef>
              <a:spcAft>
                <a:spcPct val="0"/>
              </a:spcAft>
            </a:pPr>
            <a:endParaRPr lang="en-US" altLang="zh-CN" sz="2000">
              <a:latin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49730" y="2132965"/>
            <a:ext cx="5080000" cy="475615"/>
          </a:xfrm>
          <a:prstGeom prst="rect">
            <a:avLst/>
          </a:prstGeom>
        </p:spPr>
        <p:txBody>
          <a:bodyPr>
            <a:spAutoFit/>
          </a:bodyPr>
          <a:p>
            <a:pPr marL="0" indent="266700" algn="l" defTabSz="266700">
              <a:lnSpc>
                <a:spcPct val="125000"/>
              </a:lnSpc>
              <a:spcBef>
                <a:spcPct val="0"/>
              </a:spcBef>
              <a:spcAft>
                <a:spcPct val="0"/>
              </a:spcAft>
            </a:pPr>
            <a:r>
              <a:rPr lang="zh-CN" altLang="en-US" sz="2000">
                <a:latin typeface="Times New Roman" panose="02020603050405020304"/>
                <a:ea typeface="宋体" panose="02010600030101010101" pitchFamily="2" charset="-122"/>
              </a:rPr>
              <a:t>文件</a:t>
            </a:r>
            <a:r>
              <a:rPr lang="en-US" altLang="zh-CN" sz="2000">
                <a:latin typeface="Times New Roman" panose="02020603050405020304"/>
                <a:ea typeface="宋体" panose="02010600030101010101" pitchFamily="2" charset="-122"/>
              </a:rPr>
              <a:t>9-24</a:t>
            </a:r>
            <a:r>
              <a:rPr lang="zh-CN" altLang="en-US" sz="2000">
                <a:latin typeface="Times New Roman" panose="02020603050405020304"/>
                <a:ea typeface="宋体" panose="02010600030101010101" pitchFamily="2" charset="-122"/>
              </a:rPr>
              <a:t>的运行结果如图</a:t>
            </a:r>
            <a:r>
              <a:rPr lang="en-US" altLang="zh-CN" sz="2000">
                <a:latin typeface="Times New Roman" panose="02020603050405020304"/>
                <a:ea typeface="宋体" panose="02010600030101010101" pitchFamily="2" charset="-122"/>
              </a:rPr>
              <a:t>9-33</a:t>
            </a:r>
            <a:r>
              <a:rPr lang="zh-CN" altLang="en-US" sz="2000">
                <a:latin typeface="Times New Roman" panose="02020603050405020304"/>
                <a:ea typeface="宋体" panose="02010600030101010101" pitchFamily="2" charset="-122"/>
              </a:rPr>
              <a:t>所示。</a:t>
            </a:r>
            <a:endParaRPr lang="zh-CN" altLang="en-US" sz="2000">
              <a:latin typeface="Times New Roman" panose="02020603050405020304"/>
              <a:ea typeface="宋体" panose="02010600030101010101" pitchFamily="2" charset="-122"/>
            </a:endParaRPr>
          </a:p>
        </p:txBody>
      </p:sp>
      <p:sp>
        <p:nvSpPr>
          <p:cNvPr id="8" name="文本框 7"/>
          <p:cNvSpPr txBox="1"/>
          <p:nvPr/>
        </p:nvSpPr>
        <p:spPr>
          <a:xfrm>
            <a:off x="2066925" y="4220845"/>
            <a:ext cx="5080000" cy="437515"/>
          </a:xfrm>
          <a:prstGeom prst="rect">
            <a:avLst/>
          </a:prstGeom>
        </p:spPr>
        <p:txBody>
          <a:bodyPr>
            <a:spAutoFit/>
          </a:bodyPr>
          <a:p>
            <a:pPr marL="0" indent="266700" algn="ctr" defTabSz="266700">
              <a:lnSpc>
                <a:spcPct val="125000"/>
              </a:lnSpc>
              <a:spcBef>
                <a:spcPct val="0"/>
              </a:spcBef>
              <a:spcAft>
                <a:spcPct val="0"/>
              </a:spcAft>
            </a:pPr>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9-33</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9-24</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pic>
        <p:nvPicPr>
          <p:cNvPr id="172" name="图片 12"/>
          <p:cNvPicPr>
            <a:picLocks noChangeAspect="1"/>
          </p:cNvPicPr>
          <p:nvPr/>
        </p:nvPicPr>
        <p:blipFill>
          <a:blip r:embed="rId3"/>
          <a:stretch>
            <a:fillRect/>
          </a:stretch>
        </p:blipFill>
        <p:spPr>
          <a:xfrm>
            <a:off x="2383155" y="2780665"/>
            <a:ext cx="5617210" cy="936625"/>
          </a:xfrm>
          <a:prstGeom prst="rect">
            <a:avLst/>
          </a:prstGeom>
          <a:noFill/>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3</a:t>
            </a:r>
            <a:r>
              <a:rPr lang="zh-CN" altLang="en-US" sz="2000">
                <a:latin typeface="+mn-ea"/>
                <a:ea typeface="+mn-ea"/>
                <a:cs typeface="+mn-ea"/>
                <a:sym typeface="+mn-ea"/>
              </a:rPr>
              <a:t>：根据任务描述以及使用</a:t>
            </a:r>
            <a:r>
              <a:rPr lang="en-US" altLang="zh-CN" sz="2000">
                <a:latin typeface="+mn-ea"/>
                <a:ea typeface="+mn-ea"/>
                <a:cs typeface="+mn-ea"/>
                <a:sym typeface="+mn-ea"/>
              </a:rPr>
              <a:t>copyOfRange( )</a:t>
            </a:r>
            <a:r>
              <a:rPr lang="zh-CN" altLang="en-US" sz="2000">
                <a:latin typeface="+mn-ea"/>
                <a:ea typeface="+mn-ea"/>
                <a:cs typeface="+mn-ea"/>
                <a:sym typeface="+mn-ea"/>
              </a:rPr>
              <a:t>方法复制元素知识点可以得到文件</a:t>
            </a:r>
            <a:r>
              <a:rPr lang="en-US" altLang="zh-CN" sz="2000">
                <a:latin typeface="+mn-ea"/>
                <a:ea typeface="+mn-ea"/>
                <a:cs typeface="+mn-ea"/>
                <a:sym typeface="+mn-ea"/>
              </a:rPr>
              <a:t>9-25</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9-25 Example24.java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rPr>
              <a:t>1public class Example24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2public static void main</a:t>
            </a:r>
            <a:r>
              <a:rPr lang="zh-CN" altLang="en-US" sz="2000">
                <a:latin typeface="Times New Roman" panose="02020603050405020304"/>
              </a:rPr>
              <a:t>（</a:t>
            </a:r>
            <a:r>
              <a:rPr lang="en-US" altLang="zh-CN" sz="2000">
                <a:latin typeface="Times New Roman" panose="02020603050405020304"/>
              </a:rPr>
              <a:t>String[] args</a:t>
            </a:r>
            <a:r>
              <a:rPr lang="zh-CN" altLang="en-US" sz="2000">
                <a:latin typeface="Times New Roman" panose="02020603050405020304"/>
              </a:rPr>
              <a:t>）</a:t>
            </a:r>
            <a:r>
              <a:rPr lang="en-US" altLang="zh-CN" sz="2000">
                <a:latin typeface="Times New Roman" panose="02020603050405020304"/>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3   int[]arr ={11</a:t>
            </a:r>
            <a:r>
              <a:rPr lang="zh-CN" altLang="en-US" sz="2000">
                <a:latin typeface="Times New Roman" panose="02020603050405020304"/>
              </a:rPr>
              <a:t>，</a:t>
            </a:r>
            <a:r>
              <a:rPr lang="en-US" altLang="zh-CN" sz="2000">
                <a:latin typeface="Times New Roman" panose="02020603050405020304"/>
              </a:rPr>
              <a:t>32</a:t>
            </a:r>
            <a:r>
              <a:rPr lang="zh-CN" altLang="en-US" sz="2000">
                <a:latin typeface="Times New Roman" panose="02020603050405020304"/>
              </a:rPr>
              <a:t>，</a:t>
            </a:r>
            <a:r>
              <a:rPr lang="en-US" altLang="zh-CN" sz="2000">
                <a:latin typeface="Times New Roman" panose="02020603050405020304"/>
              </a:rPr>
              <a:t>94</a:t>
            </a:r>
            <a:r>
              <a:rPr lang="zh-CN" altLang="en-US" sz="2000">
                <a:latin typeface="Times New Roman" panose="02020603050405020304"/>
              </a:rPr>
              <a:t>，</a:t>
            </a:r>
            <a:r>
              <a:rPr lang="en-US" altLang="zh-CN" sz="2000">
                <a:latin typeface="Times New Roman" panose="02020603050405020304"/>
              </a:rPr>
              <a:t>29</a:t>
            </a:r>
            <a:r>
              <a:rPr lang="zh-CN" altLang="en-US" sz="2000">
                <a:latin typeface="Times New Roman" panose="02020603050405020304"/>
              </a:rPr>
              <a:t>，</a:t>
            </a:r>
            <a:r>
              <a:rPr lang="en-US" altLang="zh-CN" sz="2000">
                <a:latin typeface="Times New Roman" panose="02020603050405020304"/>
              </a:rPr>
              <a:t>88</a:t>
            </a:r>
            <a:r>
              <a:rPr lang="zh-CN" altLang="en-US" sz="2000">
                <a:latin typeface="Times New Roman" panose="02020603050405020304"/>
              </a:rPr>
              <a:t>，</a:t>
            </a:r>
            <a:r>
              <a:rPr lang="en-US" altLang="zh-CN" sz="2000">
                <a:latin typeface="Times New Roman" panose="02020603050405020304"/>
              </a:rPr>
              <a:t>41</a:t>
            </a:r>
            <a:r>
              <a:rPr lang="zh-CN" altLang="en-US" sz="2000">
                <a:latin typeface="Times New Roman" panose="02020603050405020304"/>
              </a:rPr>
              <a:t>，</a:t>
            </a:r>
            <a:r>
              <a:rPr lang="en-US" altLang="zh-CN" sz="2000">
                <a:latin typeface="Times New Roman" panose="02020603050405020304"/>
              </a:rPr>
              <a:t>52</a:t>
            </a:r>
            <a:r>
              <a:rPr lang="zh-CN" altLang="en-US" sz="2000">
                <a:latin typeface="Times New Roman" panose="02020603050405020304"/>
              </a:rPr>
              <a:t>，</a:t>
            </a:r>
            <a:r>
              <a:rPr lang="en-US" altLang="zh-CN" sz="2000">
                <a:latin typeface="Times New Roman" panose="02020603050405020304"/>
              </a:rPr>
              <a:t>69</a:t>
            </a:r>
            <a:r>
              <a:rPr lang="zh-CN" altLang="en-US" sz="2000">
                <a:latin typeface="Times New Roman" panose="02020603050405020304"/>
              </a:rPr>
              <a:t>，</a:t>
            </a:r>
            <a:r>
              <a:rPr lang="en-US" altLang="zh-CN" sz="2000">
                <a:latin typeface="Times New Roman" panose="02020603050405020304"/>
              </a:rPr>
              <a:t>77};</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 </a:t>
            </a:r>
            <a:r>
              <a:rPr lang="zh-CN" altLang="en-US" sz="2000">
                <a:latin typeface="Times New Roman" panose="02020603050405020304"/>
              </a:rPr>
              <a:t>复制一个指定范围索引</a:t>
            </a:r>
            <a:r>
              <a:rPr lang="en-US" altLang="zh-CN" sz="2000">
                <a:latin typeface="Times New Roman" panose="02020603050405020304"/>
              </a:rPr>
              <a:t>3-10</a:t>
            </a:r>
            <a:r>
              <a:rPr lang="zh-CN" altLang="en-US" sz="2000">
                <a:latin typeface="Times New Roman" panose="02020603050405020304"/>
              </a:rPr>
              <a:t>的数组元素到</a:t>
            </a:r>
            <a:r>
              <a:rPr lang="en-US" altLang="zh-CN" sz="2000">
                <a:latin typeface="Times New Roman" panose="02020603050405020304"/>
              </a:rPr>
              <a:t>arr2</a:t>
            </a:r>
            <a:r>
              <a:rPr lang="zh-CN" altLang="en-US" sz="2000">
                <a:latin typeface="Times New Roman" panose="02020603050405020304"/>
              </a:rPr>
              <a:t>中</a:t>
            </a:r>
            <a:endParaRPr lang="zh-CN" altLang="en-US"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4   int[] arr2 = Arrays.copyOfRange</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 3</a:t>
            </a:r>
            <a:r>
              <a:rPr lang="zh-CN" altLang="en-US" sz="2000">
                <a:latin typeface="Times New Roman" panose="02020603050405020304"/>
              </a:rPr>
              <a:t>，</a:t>
            </a:r>
            <a:r>
              <a:rPr lang="en-US" altLang="zh-CN" sz="2000">
                <a:latin typeface="Times New Roman" panose="02020603050405020304"/>
              </a:rPr>
              <a:t> 10</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5   for </a:t>
            </a:r>
            <a:r>
              <a:rPr lang="zh-CN" altLang="en-US" sz="2000">
                <a:latin typeface="Times New Roman" panose="02020603050405020304"/>
              </a:rPr>
              <a:t>（</a:t>
            </a:r>
            <a:r>
              <a:rPr lang="en-US" altLang="zh-CN" sz="2000">
                <a:latin typeface="Times New Roman" panose="02020603050405020304"/>
              </a:rPr>
              <a:t>int i = 0; i &lt; arr2.length; i++</a:t>
            </a:r>
            <a:r>
              <a:rPr lang="zh-CN" altLang="en-US" sz="2000">
                <a:latin typeface="Times New Roman" panose="02020603050405020304"/>
              </a:rPr>
              <a:t>）</a:t>
            </a:r>
            <a:r>
              <a:rPr lang="en-US" altLang="zh-CN" sz="2000">
                <a:latin typeface="Times New Roman" panose="02020603050405020304"/>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6      System.out.print</a:t>
            </a:r>
            <a:r>
              <a:rPr lang="zh-CN" altLang="en-US" sz="2000">
                <a:latin typeface="Times New Roman" panose="02020603050405020304"/>
              </a:rPr>
              <a:t>（</a:t>
            </a:r>
            <a:r>
              <a:rPr lang="en-US" altLang="zh-CN" sz="2000">
                <a:latin typeface="Times New Roman" panose="02020603050405020304"/>
              </a:rPr>
              <a:t>arr2[i] + " "</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7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8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9}</a:t>
            </a:r>
            <a:endParaRPr lang="en-US" altLang="zh-CN" sz="2000">
              <a:latin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49730" y="2132965"/>
            <a:ext cx="5080000" cy="475615"/>
          </a:xfrm>
          <a:prstGeom prst="rect">
            <a:avLst/>
          </a:prstGeom>
        </p:spPr>
        <p:txBody>
          <a:bodyPr>
            <a:spAutoFit/>
          </a:bodyPr>
          <a:p>
            <a:pPr marL="0" indent="266700" algn="l" defTabSz="266700">
              <a:lnSpc>
                <a:spcPct val="125000"/>
              </a:lnSpc>
              <a:spcBef>
                <a:spcPct val="0"/>
              </a:spcBef>
              <a:spcAft>
                <a:spcPct val="0"/>
              </a:spcAft>
            </a:pPr>
            <a:r>
              <a:rPr lang="zh-CN" altLang="en-US" sz="2000">
                <a:latin typeface="Times New Roman" panose="02020603050405020304"/>
                <a:ea typeface="宋体" panose="02010600030101010101" pitchFamily="2" charset="-122"/>
              </a:rPr>
              <a:t>文件</a:t>
            </a:r>
            <a:r>
              <a:rPr lang="en-US" altLang="zh-CN" sz="2000">
                <a:latin typeface="Times New Roman" panose="02020603050405020304"/>
                <a:ea typeface="宋体" panose="02010600030101010101" pitchFamily="2" charset="-122"/>
              </a:rPr>
              <a:t>9-25</a:t>
            </a:r>
            <a:r>
              <a:rPr lang="zh-CN" altLang="en-US" sz="2000">
                <a:latin typeface="Times New Roman" panose="02020603050405020304"/>
                <a:ea typeface="宋体" panose="02010600030101010101" pitchFamily="2" charset="-122"/>
              </a:rPr>
              <a:t>的运行结果如图</a:t>
            </a:r>
            <a:r>
              <a:rPr lang="en-US" altLang="zh-CN" sz="2000">
                <a:latin typeface="Times New Roman" panose="02020603050405020304"/>
                <a:ea typeface="宋体" panose="02010600030101010101" pitchFamily="2" charset="-122"/>
              </a:rPr>
              <a:t>9-33</a:t>
            </a:r>
            <a:r>
              <a:rPr lang="zh-CN" altLang="en-US" sz="2000">
                <a:latin typeface="Times New Roman" panose="02020603050405020304"/>
                <a:ea typeface="宋体" panose="02010600030101010101" pitchFamily="2" charset="-122"/>
              </a:rPr>
              <a:t>所示。</a:t>
            </a:r>
            <a:endParaRPr lang="zh-CN" altLang="en-US" sz="2000">
              <a:latin typeface="Times New Roman" panose="02020603050405020304"/>
              <a:ea typeface="宋体" panose="02010600030101010101" pitchFamily="2" charset="-122"/>
            </a:endParaRPr>
          </a:p>
        </p:txBody>
      </p:sp>
      <p:sp>
        <p:nvSpPr>
          <p:cNvPr id="8" name="文本框 7"/>
          <p:cNvSpPr txBox="1"/>
          <p:nvPr/>
        </p:nvSpPr>
        <p:spPr>
          <a:xfrm>
            <a:off x="2066925" y="3860800"/>
            <a:ext cx="5080000" cy="437515"/>
          </a:xfrm>
          <a:prstGeom prst="rect">
            <a:avLst/>
          </a:prstGeom>
        </p:spPr>
        <p:txBody>
          <a:bodyPr>
            <a:spAutoFit/>
          </a:bodyPr>
          <a:p>
            <a:pPr marL="0" indent="266700" algn="ctr" defTabSz="266700">
              <a:lnSpc>
                <a:spcPct val="125000"/>
              </a:lnSpc>
              <a:spcBef>
                <a:spcPct val="0"/>
              </a:spcBef>
              <a:spcAft>
                <a:spcPct val="0"/>
              </a:spcAft>
            </a:pPr>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9-33 </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9-25</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pic>
        <p:nvPicPr>
          <p:cNvPr id="173" name="图片 5"/>
          <p:cNvPicPr>
            <a:picLocks noChangeAspect="1"/>
          </p:cNvPicPr>
          <p:nvPr/>
        </p:nvPicPr>
        <p:blipFill>
          <a:blip r:embed="rId3"/>
          <a:stretch>
            <a:fillRect/>
          </a:stretch>
        </p:blipFill>
        <p:spPr>
          <a:xfrm>
            <a:off x="2426970" y="2853055"/>
            <a:ext cx="4786630" cy="662305"/>
          </a:xfrm>
          <a:prstGeom prst="rect">
            <a:avLst/>
          </a:prstGeom>
          <a:noFill/>
          <a:ln>
            <a:solidFill>
              <a:schemeClr val="tx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4</a:t>
            </a:r>
            <a:r>
              <a:rPr lang="zh-CN" altLang="en-US" sz="2000">
                <a:latin typeface="+mn-ea"/>
                <a:ea typeface="+mn-ea"/>
                <a:cs typeface="+mn-ea"/>
                <a:sym typeface="+mn-ea"/>
              </a:rPr>
              <a:t>：根据任务描述以及使用</a:t>
            </a:r>
            <a:r>
              <a:rPr lang="en-US" altLang="zh-CN" sz="2000">
                <a:latin typeface="+mn-ea"/>
                <a:ea typeface="+mn-ea"/>
                <a:cs typeface="+mn-ea"/>
                <a:sym typeface="+mn-ea"/>
              </a:rPr>
              <a:t>fill( )</a:t>
            </a:r>
            <a:r>
              <a:rPr lang="zh-CN" altLang="en-US" sz="2000">
                <a:latin typeface="+mn-ea"/>
                <a:ea typeface="+mn-ea"/>
                <a:cs typeface="+mn-ea"/>
                <a:sym typeface="+mn-ea"/>
              </a:rPr>
              <a:t>方法替换元素知识点可以得到文件</a:t>
            </a:r>
            <a:r>
              <a:rPr lang="en-US" altLang="zh-CN" sz="2000">
                <a:latin typeface="+mn-ea"/>
                <a:ea typeface="+mn-ea"/>
                <a:cs typeface="+mn-ea"/>
                <a:sym typeface="+mn-ea"/>
              </a:rPr>
              <a:t>9-26</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9-26 Example25.java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rPr>
              <a:t>1import java.util.Arrays;</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2public class Example25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3  public static void main</a:t>
            </a:r>
            <a:r>
              <a:rPr lang="zh-CN" altLang="en-US" sz="2000">
                <a:latin typeface="Times New Roman" panose="02020603050405020304"/>
              </a:rPr>
              <a:t>（</a:t>
            </a:r>
            <a:r>
              <a:rPr lang="en-US" altLang="zh-CN" sz="2000">
                <a:latin typeface="Times New Roman" panose="02020603050405020304"/>
              </a:rPr>
              <a:t>String[] args</a:t>
            </a:r>
            <a:r>
              <a:rPr lang="zh-CN" altLang="en-US" sz="2000">
                <a:latin typeface="Times New Roman" panose="02020603050405020304"/>
              </a:rPr>
              <a:t>）</a:t>
            </a:r>
            <a:r>
              <a:rPr lang="en-US" altLang="zh-CN" sz="2000">
                <a:latin typeface="Times New Roman" panose="02020603050405020304"/>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4    int[]arr ={11</a:t>
            </a:r>
            <a:r>
              <a:rPr lang="zh-CN" altLang="en-US" sz="2000">
                <a:latin typeface="Times New Roman" panose="02020603050405020304"/>
              </a:rPr>
              <a:t>，</a:t>
            </a:r>
            <a:r>
              <a:rPr lang="en-US" altLang="zh-CN" sz="2000">
                <a:latin typeface="Times New Roman" panose="02020603050405020304"/>
              </a:rPr>
              <a:t>32</a:t>
            </a:r>
            <a:r>
              <a:rPr lang="zh-CN" altLang="en-US" sz="2000">
                <a:latin typeface="Times New Roman" panose="02020603050405020304"/>
              </a:rPr>
              <a:t>，</a:t>
            </a:r>
            <a:r>
              <a:rPr lang="en-US" altLang="zh-CN" sz="2000">
                <a:latin typeface="Times New Roman" panose="02020603050405020304"/>
              </a:rPr>
              <a:t>94</a:t>
            </a:r>
            <a:r>
              <a:rPr lang="zh-CN" altLang="en-US" sz="2000">
                <a:latin typeface="Times New Roman" panose="02020603050405020304"/>
              </a:rPr>
              <a:t>，</a:t>
            </a:r>
            <a:r>
              <a:rPr lang="en-US" altLang="zh-CN" sz="2000">
                <a:latin typeface="Times New Roman" panose="02020603050405020304"/>
              </a:rPr>
              <a:t>29</a:t>
            </a:r>
            <a:r>
              <a:rPr lang="zh-CN" altLang="en-US" sz="2000">
                <a:latin typeface="Times New Roman" panose="02020603050405020304"/>
              </a:rPr>
              <a:t>，</a:t>
            </a:r>
            <a:r>
              <a:rPr lang="en-US" altLang="zh-CN" sz="2000">
                <a:latin typeface="Times New Roman" panose="02020603050405020304"/>
              </a:rPr>
              <a:t>88</a:t>
            </a:r>
            <a:r>
              <a:rPr lang="zh-CN" altLang="en-US" sz="2000">
                <a:latin typeface="Times New Roman" panose="02020603050405020304"/>
              </a:rPr>
              <a:t>，</a:t>
            </a:r>
            <a:r>
              <a:rPr lang="en-US" altLang="zh-CN" sz="2000">
                <a:latin typeface="Times New Roman" panose="02020603050405020304"/>
              </a:rPr>
              <a:t>41</a:t>
            </a:r>
            <a:r>
              <a:rPr lang="zh-CN" altLang="en-US" sz="2000">
                <a:latin typeface="Times New Roman" panose="02020603050405020304"/>
              </a:rPr>
              <a:t>，</a:t>
            </a:r>
            <a:r>
              <a:rPr lang="en-US" altLang="zh-CN" sz="2000">
                <a:latin typeface="Times New Roman" panose="02020603050405020304"/>
              </a:rPr>
              <a:t>52</a:t>
            </a:r>
            <a:r>
              <a:rPr lang="zh-CN" altLang="en-US" sz="2000">
                <a:latin typeface="Times New Roman" panose="02020603050405020304"/>
              </a:rPr>
              <a:t>，</a:t>
            </a:r>
            <a:r>
              <a:rPr lang="en-US" altLang="zh-CN" sz="2000">
                <a:latin typeface="Times New Roman" panose="02020603050405020304"/>
              </a:rPr>
              <a:t>69</a:t>
            </a:r>
            <a:r>
              <a:rPr lang="zh-CN" altLang="en-US" sz="2000">
                <a:latin typeface="Times New Roman" panose="02020603050405020304"/>
              </a:rPr>
              <a:t>，</a:t>
            </a:r>
            <a:r>
              <a:rPr lang="en-US" altLang="zh-CN" sz="2000">
                <a:latin typeface="Times New Roman" panose="02020603050405020304"/>
              </a:rPr>
              <a:t>77};</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5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替换前的数组：</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6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7    Arrays.fill</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 18</a:t>
            </a:r>
            <a:r>
              <a:rPr lang="zh-CN" altLang="en-US" sz="2000">
                <a:latin typeface="Times New Roman" panose="02020603050405020304"/>
              </a:rPr>
              <a:t>）</a:t>
            </a:r>
            <a:r>
              <a:rPr lang="en-US" altLang="zh-CN" sz="2000">
                <a:latin typeface="Times New Roman" panose="02020603050405020304"/>
              </a:rPr>
              <a:t>; // </a:t>
            </a:r>
            <a:r>
              <a:rPr lang="zh-CN" altLang="en-US" sz="2000">
                <a:latin typeface="Times New Roman" panose="02020603050405020304"/>
              </a:rPr>
              <a:t>用</a:t>
            </a:r>
            <a:r>
              <a:rPr lang="en-US" altLang="zh-CN" sz="2000">
                <a:latin typeface="Times New Roman" panose="02020603050405020304"/>
              </a:rPr>
              <a:t>18</a:t>
            </a:r>
            <a:r>
              <a:rPr lang="zh-CN" altLang="en-US" sz="2000">
                <a:latin typeface="Times New Roman" panose="02020603050405020304"/>
              </a:rPr>
              <a:t>替换数组中的每个元素</a:t>
            </a:r>
            <a:endParaRPr lang="zh-CN" altLang="en-US"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8    System.out.print</a:t>
            </a:r>
            <a:r>
              <a:rPr lang="zh-CN" altLang="en-US" sz="2000">
                <a:latin typeface="Times New Roman" panose="02020603050405020304"/>
              </a:rPr>
              <a:t>（</a:t>
            </a:r>
            <a:r>
              <a:rPr lang="en-US" altLang="zh-CN" sz="2000">
                <a:latin typeface="Times New Roman" panose="02020603050405020304"/>
              </a:rPr>
              <a:t>"</a:t>
            </a:r>
            <a:r>
              <a:rPr lang="zh-CN" altLang="en-US" sz="2000">
                <a:latin typeface="Times New Roman" panose="02020603050405020304"/>
              </a:rPr>
              <a:t>替换后的数组：</a:t>
            </a:r>
            <a:r>
              <a:rPr lang="en-US" altLang="zh-CN" sz="2000">
                <a:latin typeface="Times New Roman" panose="02020603050405020304"/>
              </a:rPr>
              <a:t>"</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9    printArray</a:t>
            </a:r>
            <a:r>
              <a:rPr lang="zh-CN" altLang="en-US" sz="2000">
                <a:latin typeface="Times New Roman" panose="02020603050405020304"/>
              </a:rPr>
              <a:t>（</a:t>
            </a:r>
            <a:r>
              <a:rPr lang="en-US" altLang="zh-CN" sz="2000">
                <a:latin typeface="Times New Roman" panose="02020603050405020304"/>
              </a:rPr>
              <a:t>arr</a:t>
            </a:r>
            <a:r>
              <a:rPr lang="zh-CN" altLang="en-US" sz="2000">
                <a:latin typeface="Times New Roman" panose="02020603050405020304"/>
              </a:rPr>
              <a:t>）</a:t>
            </a:r>
            <a:r>
              <a:rPr lang="en-US" altLang="zh-CN" sz="2000">
                <a:latin typeface="Times New Roman" panose="02020603050405020304"/>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rPr>
              <a:t>10  }</a:t>
            </a:r>
            <a:endParaRPr lang="en-US" altLang="zh-CN" sz="2000">
              <a:latin typeface="Times New Roman" panose="02020603050405020304"/>
            </a:endParaRPr>
          </a:p>
          <a:p>
            <a:pPr marL="0" indent="266700" algn="just" defTabSz="266700" latinLnBrk="0">
              <a:lnSpc>
                <a:spcPct val="100000"/>
              </a:lnSpc>
              <a:spcBef>
                <a:spcPct val="0"/>
              </a:spcBef>
              <a:spcAft>
                <a:spcPct val="0"/>
              </a:spcAft>
            </a:pPr>
            <a:endParaRPr lang="en-US" altLang="zh-CN" sz="2000">
              <a:latin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695960" y="2060575"/>
            <a:ext cx="11172825" cy="1238885"/>
          </a:xfrm>
          <a:prstGeom prst="rect">
            <a:avLst/>
          </a:prstGeom>
          <a:noFill/>
        </p:spPr>
        <p:txBody>
          <a:bodyPr wrap="square" rtlCol="0" anchor="t">
            <a:noAutofit/>
          </a:bodyPr>
          <a:lstStyle/>
          <a:p>
            <a:r>
              <a:rPr lang="zh-CN" altLang="en-US" sz="2000">
                <a:latin typeface="+mn-ea"/>
                <a:ea typeface="+mn-ea"/>
                <a:cs typeface="+mn-ea"/>
                <a:sym typeface="+mn-ea"/>
              </a:rPr>
              <a:t>子任务</a:t>
            </a:r>
            <a:r>
              <a:rPr lang="en-US" altLang="zh-CN" sz="2000">
                <a:latin typeface="+mn-ea"/>
                <a:ea typeface="+mn-ea"/>
                <a:cs typeface="+mn-ea"/>
                <a:sym typeface="+mn-ea"/>
              </a:rPr>
              <a:t>4</a:t>
            </a:r>
            <a:r>
              <a:rPr lang="zh-CN" altLang="en-US" sz="2000">
                <a:latin typeface="+mn-ea"/>
                <a:ea typeface="+mn-ea"/>
                <a:cs typeface="+mn-ea"/>
                <a:sym typeface="+mn-ea"/>
              </a:rPr>
              <a:t>：根据任务描述以及使用</a:t>
            </a:r>
            <a:r>
              <a:rPr lang="en-US" altLang="zh-CN" sz="2000">
                <a:latin typeface="+mn-ea"/>
                <a:ea typeface="+mn-ea"/>
                <a:cs typeface="+mn-ea"/>
                <a:sym typeface="+mn-ea"/>
              </a:rPr>
              <a:t>fill( )</a:t>
            </a:r>
            <a:r>
              <a:rPr lang="zh-CN" altLang="en-US" sz="2000">
                <a:latin typeface="+mn-ea"/>
                <a:ea typeface="+mn-ea"/>
                <a:cs typeface="+mn-ea"/>
                <a:sym typeface="+mn-ea"/>
              </a:rPr>
              <a:t>方法替换元素知识点可以得到文件</a:t>
            </a:r>
            <a:r>
              <a:rPr lang="en-US" altLang="zh-CN" sz="2000">
                <a:latin typeface="+mn-ea"/>
                <a:ea typeface="+mn-ea"/>
                <a:cs typeface="+mn-ea"/>
                <a:sym typeface="+mn-ea"/>
              </a:rPr>
              <a:t>9-26</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9-26 Example25.java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8590" y="292481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sym typeface="+mn-ea"/>
              </a:rPr>
              <a:t>11  public static void printArray</a:t>
            </a:r>
            <a:r>
              <a:rPr lang="zh-CN" altLang="en-US" sz="2000">
                <a:latin typeface="Times New Roman" panose="02020603050405020304"/>
                <a:sym typeface="+mn-ea"/>
              </a:rPr>
              <a:t>（</a:t>
            </a:r>
            <a:r>
              <a:rPr lang="en-US" altLang="zh-CN" sz="2000">
                <a:latin typeface="Times New Roman" panose="02020603050405020304"/>
                <a:sym typeface="+mn-ea"/>
              </a:rPr>
              <a:t>int[] arr</a:t>
            </a:r>
            <a:r>
              <a:rPr lang="zh-CN" altLang="en-US" sz="2000">
                <a:latin typeface="Times New Roman" panose="02020603050405020304"/>
                <a:sym typeface="+mn-ea"/>
              </a:rPr>
              <a:t>）</a:t>
            </a:r>
            <a:r>
              <a:rPr lang="en-US" altLang="zh-CN" sz="2000">
                <a:latin typeface="Times New Roman" panose="02020603050405020304"/>
                <a:sym typeface="+mn-ea"/>
              </a:rPr>
              <a:t>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12    System.out.print</a:t>
            </a:r>
            <a:r>
              <a:rPr lang="zh-CN" altLang="en-US" sz="2000">
                <a:latin typeface="Times New Roman" panose="02020603050405020304"/>
                <a:sym typeface="+mn-ea"/>
              </a:rPr>
              <a:t>（</a:t>
            </a:r>
            <a:r>
              <a:rPr lang="en-US" altLang="zh-CN" sz="2000">
                <a:latin typeface="Times New Roman" panose="02020603050405020304"/>
                <a:sym typeface="+mn-ea"/>
              </a:rPr>
              <a:t>"["</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13    for </a:t>
            </a:r>
            <a:r>
              <a:rPr lang="zh-CN" altLang="en-US" sz="2000">
                <a:latin typeface="Times New Roman" panose="02020603050405020304"/>
                <a:sym typeface="+mn-ea"/>
              </a:rPr>
              <a:t>（</a:t>
            </a:r>
            <a:r>
              <a:rPr lang="en-US" altLang="zh-CN" sz="2000">
                <a:latin typeface="Times New Roman" panose="02020603050405020304"/>
                <a:sym typeface="+mn-ea"/>
              </a:rPr>
              <a:t>int x = 0; x &lt; arr.length; x++</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14      if </a:t>
            </a:r>
            <a:r>
              <a:rPr lang="zh-CN" altLang="en-US" sz="2000">
                <a:latin typeface="Times New Roman" panose="02020603050405020304"/>
                <a:sym typeface="+mn-ea"/>
              </a:rPr>
              <a:t>（</a:t>
            </a:r>
            <a:r>
              <a:rPr lang="en-US" altLang="zh-CN" sz="2000">
                <a:latin typeface="Times New Roman" panose="02020603050405020304"/>
                <a:sym typeface="+mn-ea"/>
              </a:rPr>
              <a:t>x != arr.length - 1</a:t>
            </a:r>
            <a:r>
              <a:rPr lang="zh-CN" altLang="en-US" sz="2000">
                <a:latin typeface="Times New Roman" panose="02020603050405020304"/>
                <a:sym typeface="+mn-ea"/>
              </a:rPr>
              <a:t>）</a:t>
            </a:r>
            <a:r>
              <a:rPr lang="en-US" altLang="zh-CN" sz="2000">
                <a:latin typeface="Times New Roman" panose="02020603050405020304"/>
                <a:sym typeface="+mn-ea"/>
              </a:rPr>
              <a:t>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15         System.out.print</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16      }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17      else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18        System.out.println</a:t>
            </a:r>
            <a:r>
              <a:rPr lang="zh-CN" altLang="en-US" sz="2000">
                <a:latin typeface="Times New Roman" panose="02020603050405020304"/>
                <a:sym typeface="+mn-ea"/>
              </a:rPr>
              <a:t>（</a:t>
            </a:r>
            <a:r>
              <a:rPr lang="en-US" altLang="zh-CN" sz="2000">
                <a:latin typeface="Times New Roman" panose="02020603050405020304"/>
                <a:sym typeface="+mn-ea"/>
              </a:rPr>
              <a:t>arr[x] + "]"</a:t>
            </a:r>
            <a:r>
              <a:rPr lang="zh-CN" altLang="en-US" sz="2000">
                <a:latin typeface="Times New Roman" panose="02020603050405020304"/>
                <a:sym typeface="+mn-ea"/>
              </a:rPr>
              <a:t>）</a:t>
            </a:r>
            <a:r>
              <a:rPr lang="en-US" altLang="zh-CN" sz="2000">
                <a:latin typeface="Times New Roman" panose="02020603050405020304"/>
                <a:sym typeface="+mn-ea"/>
              </a:rPr>
              <a:t>;</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19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20 }</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21}</a:t>
            </a:r>
            <a:endParaRPr lang="en-US" altLang="zh-CN" sz="2000">
              <a:latin typeface="Times New Roman" panose="02020603050405020304"/>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22}</a:t>
            </a:r>
            <a:endParaRPr lang="en-US" altLang="zh-CN" sz="2000">
              <a:latin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49730" y="2132965"/>
            <a:ext cx="5080000" cy="475615"/>
          </a:xfrm>
          <a:prstGeom prst="rect">
            <a:avLst/>
          </a:prstGeom>
        </p:spPr>
        <p:txBody>
          <a:bodyPr>
            <a:spAutoFit/>
          </a:bodyPr>
          <a:p>
            <a:pPr marL="0" indent="266700" algn="l" defTabSz="266700">
              <a:lnSpc>
                <a:spcPct val="125000"/>
              </a:lnSpc>
              <a:spcBef>
                <a:spcPct val="0"/>
              </a:spcBef>
              <a:spcAft>
                <a:spcPct val="0"/>
              </a:spcAft>
            </a:pPr>
            <a:r>
              <a:rPr lang="zh-CN" altLang="en-US" sz="2000">
                <a:latin typeface="Times New Roman" panose="02020603050405020304"/>
                <a:ea typeface="宋体" panose="02010600030101010101" pitchFamily="2" charset="-122"/>
              </a:rPr>
              <a:t>文件</a:t>
            </a:r>
            <a:r>
              <a:rPr lang="en-US" altLang="zh-CN" sz="2000">
                <a:latin typeface="Times New Roman" panose="02020603050405020304"/>
                <a:ea typeface="宋体" panose="02010600030101010101" pitchFamily="2" charset="-122"/>
              </a:rPr>
              <a:t>9-26</a:t>
            </a:r>
            <a:r>
              <a:rPr lang="zh-CN" altLang="en-US" sz="2000">
                <a:latin typeface="Times New Roman" panose="02020603050405020304"/>
                <a:ea typeface="宋体" panose="02010600030101010101" pitchFamily="2" charset="-122"/>
              </a:rPr>
              <a:t>的运行结果如图</a:t>
            </a:r>
            <a:r>
              <a:rPr lang="en-US" altLang="zh-CN" sz="2000">
                <a:latin typeface="Times New Roman" panose="02020603050405020304"/>
                <a:ea typeface="宋体" panose="02010600030101010101" pitchFamily="2" charset="-122"/>
              </a:rPr>
              <a:t>9-34</a:t>
            </a:r>
            <a:r>
              <a:rPr lang="zh-CN" altLang="en-US" sz="2000">
                <a:latin typeface="Times New Roman" panose="02020603050405020304"/>
                <a:ea typeface="宋体" panose="02010600030101010101" pitchFamily="2" charset="-122"/>
              </a:rPr>
              <a:t>所示。</a:t>
            </a:r>
            <a:endParaRPr lang="zh-CN" altLang="en-US" sz="2000">
              <a:latin typeface="Times New Roman" panose="02020603050405020304"/>
              <a:ea typeface="宋体" panose="02010600030101010101" pitchFamily="2" charset="-122"/>
            </a:endParaRPr>
          </a:p>
        </p:txBody>
      </p:sp>
      <p:sp>
        <p:nvSpPr>
          <p:cNvPr id="8" name="文本框 7"/>
          <p:cNvSpPr txBox="1"/>
          <p:nvPr/>
        </p:nvSpPr>
        <p:spPr>
          <a:xfrm>
            <a:off x="2066925" y="3860800"/>
            <a:ext cx="5080000" cy="437515"/>
          </a:xfrm>
          <a:prstGeom prst="rect">
            <a:avLst/>
          </a:prstGeom>
        </p:spPr>
        <p:txBody>
          <a:bodyPr>
            <a:spAutoFit/>
          </a:bodyPr>
          <a:p>
            <a:pPr marL="0" indent="266700" algn="ctr" defTabSz="266700">
              <a:lnSpc>
                <a:spcPct val="125000"/>
              </a:lnSpc>
              <a:spcBef>
                <a:spcPct val="0"/>
              </a:spcBef>
              <a:spcAft>
                <a:spcPct val="0"/>
              </a:spcAft>
            </a:pPr>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9-34 </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9-26</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pic>
        <p:nvPicPr>
          <p:cNvPr id="174" name="图片 6"/>
          <p:cNvPicPr>
            <a:picLocks noChangeAspect="1"/>
          </p:cNvPicPr>
          <p:nvPr/>
        </p:nvPicPr>
        <p:blipFill>
          <a:blip r:embed="rId3"/>
          <a:stretch>
            <a:fillRect/>
          </a:stretch>
        </p:blipFill>
        <p:spPr>
          <a:xfrm>
            <a:off x="2210435" y="2714625"/>
            <a:ext cx="7679690" cy="1040130"/>
          </a:xfrm>
          <a:prstGeom prst="rect">
            <a:avLst/>
          </a:prstGeom>
          <a:noFill/>
          <a:ln>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KSO_WM_DIAGRAM_VIRTUALLY_FRAME" val="{&quot;height&quot;:185.62503937007872,&quot;left&quot;:0,&quot;top&quot;:174,&quot;width&quot;:960.6250393700788}"/>
</p:tagLst>
</file>

<file path=ppt/tags/tag31.xml><?xml version="1.0" encoding="utf-8"?>
<p:tagLst xmlns:p="http://schemas.openxmlformats.org/presentationml/2006/main">
  <p:tag name="KSO_WM_DIAGRAM_VIRTUALLY_FRAME" val="{&quot;height&quot;:185.62503937007872,&quot;left&quot;:0,&quot;top&quot;:174,&quot;width&quot;:960.6250393700788}"/>
</p:tagLst>
</file>

<file path=ppt/tags/tag32.xml><?xml version="1.0" encoding="utf-8"?>
<p:tagLst xmlns:p="http://schemas.openxmlformats.org/presentationml/2006/main">
  <p:tag name="KSO_WM_DIAGRAM_VIRTUALLY_FRAME" val="{&quot;height&quot;:185.62503937007872,&quot;left&quot;:0,&quot;top&quot;:174,&quot;width&quot;:960.6250393700788}"/>
</p:tagLst>
</file>

<file path=ppt/tags/tag33.xml><?xml version="1.0" encoding="utf-8"?>
<p:tagLst xmlns:p="http://schemas.openxmlformats.org/presentationml/2006/main">
  <p:tag name="KSO_WM_DIAGRAM_VIRTUALLY_FRAME" val="{&quot;height&quot;:185.62503937007872,&quot;left&quot;:0,&quot;top&quot;:174,&quot;width&quot;:960.6250393700788}"/>
</p:tagLst>
</file>

<file path=ppt/tags/tag34.xml><?xml version="1.0" encoding="utf-8"?>
<p:tagLst xmlns:p="http://schemas.openxmlformats.org/presentationml/2006/main">
  <p:tag name="KSO_WM_DIAGRAM_VIRTUALLY_FRAME" val="{&quot;height&quot;:185.62503937007872,&quot;left&quot;:0,&quot;top&quot;:174,&quot;width&quot;:960.6250393700788}"/>
</p:tagLst>
</file>

<file path=ppt/tags/tag35.xml><?xml version="1.0" encoding="utf-8"?>
<p:tagLst xmlns:p="http://schemas.openxmlformats.org/presentationml/2006/main">
  <p:tag name="KSO_WM_DIAGRAM_VIRTUALLY_FRAME" val="{&quot;height&quot;:185.62503937007872,&quot;left&quot;:0,&quot;top&quot;:174,&quot;width&quot;:960.6250393700788}"/>
</p:tagLst>
</file>

<file path=ppt/tags/tag36.xml><?xml version="1.0" encoding="utf-8"?>
<p:tagLst xmlns:p="http://schemas.openxmlformats.org/presentationml/2006/main">
  <p:tag name="KSO_WM_DIAGRAM_VIRTUALLY_FRAME" val="{&quot;height&quot;:185.62503937007872,&quot;left&quot;:0,&quot;top&quot;:174,&quot;width&quot;:960.6250393700788}"/>
</p:tagLst>
</file>

<file path=ppt/tags/tag37.xml><?xml version="1.0" encoding="utf-8"?>
<p:tagLst xmlns:p="http://schemas.openxmlformats.org/presentationml/2006/main">
  <p:tag name="KSO_WM_DIAGRAM_VIRTUALLY_FRAME" val="{&quot;height&quot;:185.62503937007872,&quot;left&quot;:0,&quot;top&quot;:174,&quot;width&quot;:960.6250393700788}"/>
</p:tagLst>
</file>

<file path=ppt/tags/tag38.xml><?xml version="1.0" encoding="utf-8"?>
<p:tagLst xmlns:p="http://schemas.openxmlformats.org/presentationml/2006/main">
  <p:tag name="KSO_WM_DIAGRAM_VIRTUALLY_FRAME" val="{&quot;height&quot;:185.62503937007872,&quot;left&quot;:0,&quot;top&quot;:174,&quot;width&quot;:960.6250393700788}"/>
</p:tagLst>
</file>

<file path=ppt/tags/tag39.xml><?xml version="1.0" encoding="utf-8"?>
<p:tagLst xmlns:p="http://schemas.openxmlformats.org/presentationml/2006/main">
  <p:tag name="KSO_WM_DIAGRAM_VIRTUALLY_FRAME" val="{&quot;height&quot;:185.62503937007872,&quot;left&quot;:0,&quot;top&quot;:174,&quot;width&quot;:960.6250393700788}"/>
</p:tagLst>
</file>

<file path=ppt/tags/tag40.xml><?xml version="1.0" encoding="utf-8"?>
<p:tagLst xmlns:p="http://schemas.openxmlformats.org/presentationml/2006/main">
  <p:tag name="KSO_WM_DIAGRAM_VIRTUALLY_FRAME" val="{&quot;height&quot;:185.62503937007872,&quot;left&quot;:0,&quot;top&quot;:174,&quot;width&quot;:960.6250393700788}"/>
</p:tagLst>
</file>

<file path=ppt/tags/tag41.xml><?xml version="1.0" encoding="utf-8"?>
<p:tagLst xmlns:p="http://schemas.openxmlformats.org/presentationml/2006/main">
  <p:tag name="KSO_WM_DIAGRAM_VIRTUALLY_FRAME" val="{&quot;height&quot;:185.62503937007872,&quot;left&quot;:0,&quot;top&quot;:174,&quot;width&quot;:960.6250393700788}"/>
</p:tagLst>
</file>

<file path=ppt/tags/tag42.xml><?xml version="1.0" encoding="utf-8"?>
<p:tagLst xmlns:p="http://schemas.openxmlformats.org/presentationml/2006/main">
  <p:tag name="KSO_WM_DIAGRAM_VIRTUALLY_FRAME" val="{&quot;height&quot;:185.62503937007872,&quot;left&quot;:0,&quot;top&quot;:174,&quot;width&quot;:960.6250393700788}"/>
</p:tagLst>
</file>

<file path=ppt/tags/tag43.xml><?xml version="1.0" encoding="utf-8"?>
<p:tagLst xmlns:p="http://schemas.openxmlformats.org/presentationml/2006/main">
  <p:tag name="KSO_WM_DIAGRAM_VIRTUALLY_FRAME" val="{&quot;height&quot;:185.62503937007872,&quot;left&quot;:0,&quot;top&quot;:174,&quot;width&quot;:960.6250393700788}"/>
</p:tagLst>
</file>

<file path=ppt/tags/tag44.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4532</Words>
  <Application>WPS 演示</Application>
  <PresentationFormat>自定义</PresentationFormat>
  <Paragraphs>364</Paragraphs>
  <Slides>23</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Times New Roman</vt:lpstr>
      <vt:lpstr>Arial Unicode MS</vt:lpstr>
      <vt:lpstr>等线</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573</cp:revision>
  <dcterms:created xsi:type="dcterms:W3CDTF">2015-03-26T06:11:00Z</dcterms:created>
  <dcterms:modified xsi:type="dcterms:W3CDTF">2025-07-12T03:15:49Z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9EF2DA00C3BB461AB793B379B870C94A_13</vt:lpwstr>
  </property>
</Properties>
</file>