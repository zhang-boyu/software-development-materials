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8" r:id="rId3"/>
    <p:sldId id="341" r:id="rId4"/>
    <p:sldId id="406" r:id="rId6"/>
    <p:sldId id="1055" r:id="rId7"/>
    <p:sldId id="1059" r:id="rId8"/>
    <p:sldId id="1056" r:id="rId9"/>
    <p:sldId id="1057" r:id="rId10"/>
    <p:sldId id="1058" r:id="rId11"/>
    <p:sldId id="1060" r:id="rId12"/>
    <p:sldId id="1063" r:id="rId13"/>
    <p:sldId id="1064" r:id="rId14"/>
    <p:sldId id="1061" r:id="rId15"/>
    <p:sldId id="1062" r:id="rId16"/>
    <p:sldId id="1065" r:id="rId17"/>
    <p:sldId id="1066" r:id="rId18"/>
    <p:sldId id="1067" r:id="rId19"/>
    <p:sldId id="1068" r:id="rId20"/>
    <p:sldId id="1069" r:id="rId21"/>
    <p:sldId id="1074" r:id="rId22"/>
    <p:sldId id="1075" r:id="rId23"/>
    <p:sldId id="1076" r:id="rId24"/>
    <p:sldId id="1077" r:id="rId25"/>
    <p:sldId id="1078" r:id="rId26"/>
    <p:sldId id="1079" r:id="rId27"/>
    <p:sldId id="1080" r:id="rId28"/>
    <p:sldId id="1081" r:id="rId29"/>
    <p:sldId id="1082" r:id="rId30"/>
    <p:sldId id="1083" r:id="rId31"/>
    <p:sldId id="1084" r:id="rId32"/>
    <p:sldId id="1085" r:id="rId33"/>
    <p:sldId id="1086" r:id="rId34"/>
    <p:sldId id="1087" r:id="rId35"/>
    <p:sldId id="1088" r:id="rId36"/>
    <p:sldId id="1089" r:id="rId37"/>
    <p:sldId id="1090" r:id="rId38"/>
    <p:sldId id="1091" r:id="rId39"/>
    <p:sldId id="1092" r:id="rId40"/>
    <p:sldId id="1094" r:id="rId41"/>
    <p:sldId id="1095" r:id="rId42"/>
    <p:sldId id="1096" r:id="rId43"/>
    <p:sldId id="1097" r:id="rId44"/>
    <p:sldId id="1098" r:id="rId45"/>
    <p:sldId id="1099" r:id="rId46"/>
    <p:sldId id="1100" r:id="rId47"/>
    <p:sldId id="1101" r:id="rId48"/>
    <p:sldId id="1102" r:id="rId49"/>
    <p:sldId id="1103" r:id="rId50"/>
    <p:sldId id="1104" r:id="rId51"/>
    <p:sldId id="1105" r:id="rId52"/>
    <p:sldId id="1106" r:id="rId53"/>
    <p:sldId id="1107" r:id="rId54"/>
    <p:sldId id="1108" r:id="rId55"/>
    <p:sldId id="1109" r:id="rId56"/>
    <p:sldId id="1110" r:id="rId57"/>
    <p:sldId id="1111" r:id="rId58"/>
    <p:sldId id="1112" r:id="rId59"/>
    <p:sldId id="1113" r:id="rId60"/>
    <p:sldId id="1114" r:id="rId61"/>
    <p:sldId id="1115" r:id="rId62"/>
    <p:sldId id="1152" r:id="rId63"/>
    <p:sldId id="1153" r:id="rId64"/>
    <p:sldId id="1154" r:id="rId65"/>
    <p:sldId id="1155" r:id="rId66"/>
    <p:sldId id="1156" r:id="rId67"/>
    <p:sldId id="1157" r:id="rId68"/>
    <p:sldId id="1158" r:id="rId69"/>
    <p:sldId id="1159" r:id="rId70"/>
    <p:sldId id="1160" r:id="rId71"/>
    <p:sldId id="1161" r:id="rId72"/>
    <p:sldId id="1162" r:id="rId73"/>
    <p:sldId id="1163" r:id="rId74"/>
    <p:sldId id="1164" r:id="rId75"/>
    <p:sldId id="1165" r:id="rId76"/>
    <p:sldId id="1166" r:id="rId77"/>
    <p:sldId id="1167" r:id="rId78"/>
    <p:sldId id="1134" r:id="rId79"/>
    <p:sldId id="1133" r:id="rId80"/>
    <p:sldId id="1116" r:id="rId81"/>
    <p:sldId id="1117" r:id="rId82"/>
    <p:sldId id="1118" r:id="rId83"/>
    <p:sldId id="1119" r:id="rId84"/>
    <p:sldId id="1120" r:id="rId85"/>
    <p:sldId id="1121" r:id="rId86"/>
    <p:sldId id="1122" r:id="rId87"/>
    <p:sldId id="1123" r:id="rId88"/>
    <p:sldId id="1124" r:id="rId89"/>
    <p:sldId id="1125" r:id="rId90"/>
    <p:sldId id="1126" r:id="rId91"/>
    <p:sldId id="1127" r:id="rId92"/>
    <p:sldId id="1128" r:id="rId93"/>
    <p:sldId id="1129" r:id="rId94"/>
    <p:sldId id="1130" r:id="rId95"/>
    <p:sldId id="1131" r:id="rId96"/>
    <p:sldId id="1198" r:id="rId97"/>
    <p:sldId id="1169" r:id="rId98"/>
    <p:sldId id="1170" r:id="rId99"/>
    <p:sldId id="1171" r:id="rId100"/>
    <p:sldId id="1172" r:id="rId101"/>
    <p:sldId id="1173" r:id="rId102"/>
    <p:sldId id="1174" r:id="rId103"/>
    <p:sldId id="1175" r:id="rId104"/>
    <p:sldId id="1176" r:id="rId105"/>
    <p:sldId id="1177" r:id="rId106"/>
    <p:sldId id="1178" r:id="rId107"/>
    <p:sldId id="1179" r:id="rId108"/>
    <p:sldId id="1180" r:id="rId109"/>
    <p:sldId id="1181" r:id="rId110"/>
    <p:sldId id="1182" r:id="rId111"/>
    <p:sldId id="1183" r:id="rId112"/>
    <p:sldId id="1184" r:id="rId113"/>
    <p:sldId id="1185" r:id="rId114"/>
    <p:sldId id="1186" r:id="rId115"/>
    <p:sldId id="1187" r:id="rId116"/>
    <p:sldId id="1188" r:id="rId117"/>
    <p:sldId id="1189" r:id="rId118"/>
    <p:sldId id="1190" r:id="rId119"/>
    <p:sldId id="1191" r:id="rId120"/>
    <p:sldId id="1192" r:id="rId121"/>
    <p:sldId id="1193" r:id="rId122"/>
    <p:sldId id="1194" r:id="rId123"/>
    <p:sldId id="1195" r:id="rId124"/>
    <p:sldId id="1196" r:id="rId125"/>
    <p:sldId id="1197" r:id="rId126"/>
    <p:sldId id="1214" r:id="rId127"/>
    <p:sldId id="1199" r:id="rId128"/>
    <p:sldId id="1200" r:id="rId129"/>
    <p:sldId id="1201" r:id="rId130"/>
    <p:sldId id="1202" r:id="rId131"/>
    <p:sldId id="1203" r:id="rId132"/>
    <p:sldId id="1204" r:id="rId133"/>
    <p:sldId id="1205" r:id="rId134"/>
    <p:sldId id="1206" r:id="rId135"/>
    <p:sldId id="1207" r:id="rId136"/>
    <p:sldId id="1208" r:id="rId137"/>
    <p:sldId id="1209" r:id="rId138"/>
    <p:sldId id="1210" r:id="rId139"/>
    <p:sldId id="1211" r:id="rId140"/>
    <p:sldId id="1212" r:id="rId141"/>
  </p:sldIdLst>
  <p:sldSz cx="12192000" cy="6858000"/>
  <p:notesSz cx="6858000" cy="9144000"/>
  <p:custDataLst>
    <p:tags r:id="rId14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3" userDrawn="1">
          <p15:clr>
            <a:srgbClr val="A4A3A4"/>
          </p15:clr>
        </p15:guide>
        <p15:guide id="2" pos="382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F2DCDB"/>
    <a:srgbClr val="ED7D31"/>
    <a:srgbClr val="FFC000"/>
    <a:srgbClr val="808080"/>
    <a:srgbClr val="E7E7E7"/>
    <a:srgbClr val="182028"/>
    <a:srgbClr val="5B5B59"/>
    <a:srgbClr val="484847"/>
    <a:srgbClr val="3636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90" d="100"/>
          <a:sy n="90" d="100"/>
        </p:scale>
        <p:origin x="528" y="84"/>
      </p:cViewPr>
      <p:guideLst>
        <p:guide orient="horz" pos="2323"/>
        <p:guide pos="3822"/>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5" Type="http://schemas.openxmlformats.org/officeDocument/2006/relationships/tags" Target="tags/tag51.xml"/><Relationship Id="rId144" Type="http://schemas.openxmlformats.org/officeDocument/2006/relationships/tableStyles" Target="tableStyles.xml"/><Relationship Id="rId143" Type="http://schemas.openxmlformats.org/officeDocument/2006/relationships/viewProps" Target="viewProps.xml"/><Relationship Id="rId142" Type="http://schemas.openxmlformats.org/officeDocument/2006/relationships/presProps" Target="presProps.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B0BA89-EBEE-4922-8FEA-58535B6D7C7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A0E37B-33BA-4D46-9E1B-CBC288661C4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E94DBC1-2A95-4A71-A1D5-28FEDFD9CF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A8FE53-55C0-41F9-8266-CAC9071067F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E94DBC1-2A95-4A71-A1D5-28FEDFD9CF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A8FE53-55C0-41F9-8266-CAC9071067F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5E94DBC1-2A95-4A71-A1D5-28FEDFD9CF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A8FE53-55C0-41F9-8266-CAC9071067F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E94DBC1-2A95-4A71-A1D5-28FEDFD9CF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A8FE53-55C0-41F9-8266-CAC9071067F6}" type="slidenum">
              <a:rPr lang="zh-CN" altLang="en-US" smtClean="0"/>
            </a:fld>
            <a:endParaRPr lang="zh-CN" altLang="en-US"/>
          </a:p>
        </p:txBody>
      </p:sp>
      <p:sp>
        <p:nvSpPr>
          <p:cNvPr id="9" name="矩形 8"/>
          <p:cNvSpPr/>
          <p:nvPr userDrawn="1"/>
        </p:nvSpPr>
        <p:spPr>
          <a:xfrm>
            <a:off x="8733453" y="6414793"/>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E94DBC1-2A95-4A71-A1D5-28FEDFD9CFB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6A8FE53-55C0-41F9-8266-CAC9071067F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E94DBC1-2A95-4A71-A1D5-28FEDFD9CFB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A8FE53-55C0-41F9-8266-CAC9071067F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E94DBC1-2A95-4A71-A1D5-28FEDFD9CFB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A8FE53-55C0-41F9-8266-CAC9071067F6}" type="slidenum">
              <a:rPr lang="zh-CN" altLang="en-US" smtClean="0"/>
            </a:fld>
            <a:endParaRPr lang="zh-CN" altLang="en-US"/>
          </a:p>
        </p:txBody>
      </p:sp>
      <p:sp>
        <p:nvSpPr>
          <p:cNvPr id="1026" name="矩形 6"/>
          <p:cNvSpPr>
            <a:spLocks noChangeArrowheads="1"/>
          </p:cNvSpPr>
          <p:nvPr userDrawn="1"/>
        </p:nvSpPr>
        <p:spPr bwMode="auto">
          <a:xfrm>
            <a:off x="5080" y="-14605"/>
            <a:ext cx="12181205" cy="6887210"/>
          </a:xfrm>
          <a:prstGeom prst="rect">
            <a:avLst/>
          </a:prstGeom>
          <a:blipFill dpi="0" rotWithShape="1">
            <a:blip r:embed="rId2">
              <a:alphaModFix amt="60000"/>
            </a:blip>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eaLnBrk="0" hangingPunct="0">
              <a:defRPr sz="1300">
                <a:solidFill>
                  <a:schemeClr val="tx1"/>
                </a:solidFill>
                <a:latin typeface="Arial" panose="020B0604020202020204" pitchFamily="34" charset="0"/>
                <a:ea typeface="宋体" panose="02010600030101010101" pitchFamily="2" charset="-122"/>
              </a:defRPr>
            </a:lvl1pPr>
            <a:lvl2pPr marL="742950" indent="-285750" eaLnBrk="0" hangingPunct="0">
              <a:defRPr sz="1300">
                <a:solidFill>
                  <a:schemeClr val="tx1"/>
                </a:solidFill>
                <a:latin typeface="Arial" panose="020B0604020202020204" pitchFamily="34" charset="0"/>
                <a:ea typeface="宋体" panose="02010600030101010101" pitchFamily="2" charset="-122"/>
              </a:defRPr>
            </a:lvl2pPr>
            <a:lvl3pPr marL="1143000" indent="-228600" eaLnBrk="0" hangingPunct="0">
              <a:defRPr sz="1300">
                <a:solidFill>
                  <a:schemeClr val="tx1"/>
                </a:solidFill>
                <a:latin typeface="Arial" panose="020B0604020202020204" pitchFamily="34" charset="0"/>
                <a:ea typeface="宋体" panose="02010600030101010101" pitchFamily="2" charset="-122"/>
              </a:defRPr>
            </a:lvl3pPr>
            <a:lvl4pPr marL="1600200" indent="-228600" eaLnBrk="0" hangingPunct="0">
              <a:defRPr sz="1300">
                <a:solidFill>
                  <a:schemeClr val="tx1"/>
                </a:solidFill>
                <a:latin typeface="Arial" panose="020B0604020202020204" pitchFamily="34" charset="0"/>
                <a:ea typeface="宋体" panose="02010600030101010101" pitchFamily="2" charset="-122"/>
              </a:defRPr>
            </a:lvl4pPr>
            <a:lvl5pPr marL="2057400" indent="-228600" eaLnBrk="0" hangingPunct="0">
              <a:defRPr sz="13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13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13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13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13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300" b="0" i="0" u="none" strike="noStrike" kern="1200" cap="none" spc="0" normalizeH="0" baseline="0" noProof="0">
              <a:ln>
                <a:noFill/>
              </a:ln>
              <a:solidFill>
                <a:srgbClr val="FFFFFF"/>
              </a:solidFill>
              <a:effectLst/>
              <a:uLnTx/>
              <a:uFillTx/>
              <a:latin typeface="宋体" panose="02010600030101010101" pitchFamily="2" charset="-122"/>
              <a:ea typeface="宋体" panose="02010600030101010101" pitchFamily="2" charset="-122"/>
              <a:cs typeface="+mn-cs"/>
              <a:sym typeface="宋体" panose="02010600030101010101" pitchFamily="2" charset="-122"/>
            </a:endParaRPr>
          </a:p>
        </p:txBody>
      </p:sp>
      <p:cxnSp>
        <p:nvCxnSpPr>
          <p:cNvPr id="5" name="直接连接符 4"/>
          <p:cNvCxnSpPr/>
          <p:nvPr userDrawn="1"/>
        </p:nvCxnSpPr>
        <p:spPr>
          <a:xfrm>
            <a:off x="10795" y="798830"/>
            <a:ext cx="12201525" cy="9525"/>
          </a:xfrm>
          <a:prstGeom prst="line">
            <a:avLst/>
          </a:prstGeom>
          <a:ln w="44450" cmpd="sng">
            <a:solidFill>
              <a:srgbClr val="ED7D31"/>
            </a:solidFill>
            <a:prstDash val="solid"/>
          </a:ln>
        </p:spPr>
        <p:style>
          <a:lnRef idx="1">
            <a:schemeClr val="accent1"/>
          </a:lnRef>
          <a:fillRef idx="0">
            <a:schemeClr val="accent1"/>
          </a:fillRef>
          <a:effectRef idx="0">
            <a:schemeClr val="accent1"/>
          </a:effectRef>
          <a:fontRef idx="minor">
            <a:schemeClr val="tx1"/>
          </a:fontRef>
        </p:style>
      </p:cxnSp>
      <p:sp>
        <p:nvSpPr>
          <p:cNvPr id="39939" name="Freeform 5"/>
          <p:cNvSpPr/>
          <p:nvPr userDrawn="1"/>
        </p:nvSpPr>
        <p:spPr>
          <a:xfrm>
            <a:off x="202565" y="71755"/>
            <a:ext cx="1284605" cy="641350"/>
          </a:xfrm>
          <a:custGeom>
            <a:avLst/>
            <a:gdLst>
              <a:gd name="txL" fmla="*/ 0 w 1889"/>
              <a:gd name="txT" fmla="*/ 0 h 638"/>
              <a:gd name="txR" fmla="*/ 1889 w 1889"/>
              <a:gd name="txB" fmla="*/ 638 h 638"/>
            </a:gdLst>
            <a:ahLst/>
            <a:cxnLst>
              <a:cxn ang="0">
                <a:pos x="2147483647" y="0"/>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0"/>
              </a:cxn>
            </a:cxnLst>
            <a:rect l="txL" t="txT" r="txR" b="txB"/>
            <a:pathLst>
              <a:path w="1889" h="638">
                <a:moveTo>
                  <a:pt x="83" y="0"/>
                </a:moveTo>
                <a:lnTo>
                  <a:pt x="1665" y="0"/>
                </a:lnTo>
                <a:cubicBezTo>
                  <a:pt x="1711" y="0"/>
                  <a:pt x="1749" y="37"/>
                  <a:pt x="1749" y="83"/>
                </a:cubicBezTo>
                <a:lnTo>
                  <a:pt x="1749" y="193"/>
                </a:lnTo>
                <a:lnTo>
                  <a:pt x="1812" y="249"/>
                </a:lnTo>
                <a:lnTo>
                  <a:pt x="1889" y="319"/>
                </a:lnTo>
                <a:lnTo>
                  <a:pt x="1812" y="389"/>
                </a:lnTo>
                <a:lnTo>
                  <a:pt x="1749" y="446"/>
                </a:lnTo>
                <a:lnTo>
                  <a:pt x="1749" y="555"/>
                </a:lnTo>
                <a:cubicBezTo>
                  <a:pt x="1749" y="601"/>
                  <a:pt x="1711" y="638"/>
                  <a:pt x="1665" y="638"/>
                </a:cubicBezTo>
                <a:lnTo>
                  <a:pt x="83" y="638"/>
                </a:lnTo>
                <a:cubicBezTo>
                  <a:pt x="37" y="638"/>
                  <a:pt x="0" y="601"/>
                  <a:pt x="0" y="555"/>
                </a:cubicBezTo>
                <a:lnTo>
                  <a:pt x="0" y="83"/>
                </a:lnTo>
                <a:cubicBezTo>
                  <a:pt x="0" y="37"/>
                  <a:pt x="37" y="0"/>
                  <a:pt x="83" y="0"/>
                </a:cubicBezTo>
                <a:close/>
              </a:path>
            </a:pathLst>
          </a:custGeom>
          <a:solidFill>
            <a:srgbClr val="ED7D31"/>
          </a:solidFill>
          <a:ln w="9525">
            <a:noFill/>
          </a:ln>
        </p:spPr>
        <p:txBody>
          <a:bodyPr/>
          <a:lstStyle/>
          <a:p>
            <a:endParaRPr lang="zh-CN" altLang="en-US"/>
          </a:p>
        </p:txBody>
      </p:sp>
      <p:grpSp>
        <p:nvGrpSpPr>
          <p:cNvPr id="5131" name="组合 5130"/>
          <p:cNvGrpSpPr>
            <a:grpSpLocks noChangeAspect="1"/>
          </p:cNvGrpSpPr>
          <p:nvPr userDrawn="1"/>
        </p:nvGrpSpPr>
        <p:grpSpPr>
          <a:xfrm>
            <a:off x="10894695" y="6336030"/>
            <a:ext cx="404813" cy="406400"/>
            <a:chOff x="0" y="0"/>
            <a:chExt cx="675745" cy="675745"/>
          </a:xfrm>
        </p:grpSpPr>
        <p:sp>
          <p:nvSpPr>
            <p:cNvPr id="5132" name="矩形: 圆角 35"/>
            <p:cNvSpPr>
              <a:spLocks noChangeAspect="1"/>
            </p:cNvSpPr>
            <p:nvPr/>
          </p:nvSpPr>
          <p:spPr>
            <a:xfrm>
              <a:off x="0" y="0"/>
              <a:ext cx="675745" cy="675745"/>
            </a:xfrm>
            <a:prstGeom prst="roundRect">
              <a:avLst>
                <a:gd name="adj" fmla="val 50000"/>
              </a:avLst>
            </a:prstGeom>
            <a:solidFill>
              <a:schemeClr val="accent2"/>
            </a:solidFill>
            <a:ln w="9525">
              <a:noFill/>
            </a:ln>
          </p:spPr>
          <p:txBody>
            <a:bodyPr anchor="ctr"/>
            <a:lstStyle/>
            <a:p>
              <a:pPr lvl="0" algn="ctr" eaLnBrk="1" hangingPunct="1"/>
              <a:endParaRPr lang="zh-CN" altLang="en-US" sz="2400" b="1" dirty="0">
                <a:solidFill>
                  <a:srgbClr val="FFFFFF"/>
                </a:solidFill>
                <a:latin typeface="Futura Md BT" pitchFamily="2" charset="0"/>
              </a:endParaRPr>
            </a:p>
          </p:txBody>
        </p:sp>
        <p:sp>
          <p:nvSpPr>
            <p:cNvPr id="5133" name="Freeform 9"/>
            <p:cNvSpPr>
              <a:spLocks noChangeAspect="1" noEditPoints="1"/>
            </p:cNvSpPr>
            <p:nvPr/>
          </p:nvSpPr>
          <p:spPr>
            <a:xfrm>
              <a:off x="121899" y="155739"/>
              <a:ext cx="431947" cy="364269"/>
            </a:xfrm>
            <a:custGeom>
              <a:avLst/>
              <a:gdLst>
                <a:gd name="txL" fmla="*/ 0 w 2908"/>
                <a:gd name="txT" fmla="*/ 0 h 2464"/>
                <a:gd name="txR" fmla="*/ 2908 w 2908"/>
                <a:gd name="txB" fmla="*/ 2464 h 2464"/>
              </a:gdLst>
              <a:ahLst/>
              <a:cxnLst>
                <a:cxn ang="0">
                  <a:pos x="2022064435" y="2147483647"/>
                </a:cxn>
                <a:cxn ang="0">
                  <a:pos x="1150318145" y="2147483647"/>
                </a:cxn>
                <a:cxn ang="0">
                  <a:pos x="2022064435" y="2147483647"/>
                </a:cxn>
                <a:cxn ang="0">
                  <a:pos x="2147483647" y="2147483647"/>
                </a:cxn>
                <a:cxn ang="0">
                  <a:pos x="2022064435" y="2147483647"/>
                </a:cxn>
                <a:cxn ang="0">
                  <a:pos x="2147483647" y="2147483647"/>
                </a:cxn>
                <a:cxn ang="0">
                  <a:pos x="2147483647" y="2147483647"/>
                </a:cxn>
                <a:cxn ang="0">
                  <a:pos x="2147483647" y="2147483647"/>
                </a:cxn>
                <a:cxn ang="0">
                  <a:pos x="2147483647" y="2147483647"/>
                </a:cxn>
                <a:cxn ang="0">
                  <a:pos x="2147483647" y="2147483647"/>
                </a:cxn>
                <a:cxn ang="0">
                  <a:pos x="2147483647" y="672059777"/>
                </a:cxn>
                <a:cxn ang="0">
                  <a:pos x="2147483647" y="1134109392"/>
                </a:cxn>
                <a:cxn ang="0">
                  <a:pos x="2147483647" y="2147483647"/>
                </a:cxn>
                <a:cxn ang="0">
                  <a:pos x="2147483647" y="2147483647"/>
                </a:cxn>
                <a:cxn ang="0">
                  <a:pos x="2147483647" y="2147483647"/>
                </a:cxn>
                <a:cxn ang="0">
                  <a:pos x="2147483647" y="2147483647"/>
                </a:cxn>
                <a:cxn ang="0">
                  <a:pos x="2147483647" y="1169646303"/>
                </a:cxn>
                <a:cxn ang="0">
                  <a:pos x="2147483647" y="1134109392"/>
                </a:cxn>
                <a:cxn ang="0">
                  <a:pos x="2147483647" y="1134109392"/>
                </a:cxn>
                <a:cxn ang="0">
                  <a:pos x="2147483647" y="620371445"/>
                </a:cxn>
                <a:cxn ang="0">
                  <a:pos x="2147483647" y="0"/>
                </a:cxn>
                <a:cxn ang="0">
                  <a:pos x="612854605" y="0"/>
                </a:cxn>
                <a:cxn ang="0">
                  <a:pos x="0" y="568661086"/>
                </a:cxn>
                <a:cxn ang="0">
                  <a:pos x="612854605" y="1134109392"/>
                </a:cxn>
                <a:cxn ang="0">
                  <a:pos x="2147483647" y="1134109392"/>
                </a:cxn>
                <a:cxn ang="0">
                  <a:pos x="2147483647" y="2147483647"/>
                </a:cxn>
                <a:cxn ang="0">
                  <a:pos x="2147483647" y="2147483647"/>
                </a:cxn>
                <a:cxn ang="0">
                  <a:pos x="2147483647" y="2147483647"/>
                </a:cxn>
                <a:cxn ang="0">
                  <a:pos x="2147483647" y="2147483647"/>
                </a:cxn>
                <a:cxn ang="0">
                  <a:pos x="2147483647" y="1453965536"/>
                </a:cxn>
                <a:cxn ang="0">
                  <a:pos x="2147483647" y="672059777"/>
                </a:cxn>
                <a:cxn ang="0">
                  <a:pos x="2147483647" y="1134109392"/>
                </a:cxn>
                <a:cxn ang="0">
                  <a:pos x="2147483647" y="1134109392"/>
                </a:cxn>
                <a:cxn ang="0">
                  <a:pos x="2147483647" y="2147483647"/>
                </a:cxn>
                <a:cxn ang="0">
                  <a:pos x="2147483647" y="2147483647"/>
                </a:cxn>
                <a:cxn ang="0">
                  <a:pos x="2147483647" y="1134109392"/>
                </a:cxn>
              </a:cxnLst>
              <a:rect l="txL" t="txT" r="txR" b="txB"/>
              <a:pathLst>
                <a:path w="2908" h="2464">
                  <a:moveTo>
                    <a:pt x="617" y="1931"/>
                  </a:moveTo>
                  <a:cubicBezTo>
                    <a:pt x="470" y="1931"/>
                    <a:pt x="351" y="2051"/>
                    <a:pt x="351" y="2198"/>
                  </a:cubicBezTo>
                  <a:cubicBezTo>
                    <a:pt x="351" y="2344"/>
                    <a:pt x="470" y="2464"/>
                    <a:pt x="617" y="2464"/>
                  </a:cubicBezTo>
                  <a:cubicBezTo>
                    <a:pt x="764" y="2464"/>
                    <a:pt x="883" y="2344"/>
                    <a:pt x="883" y="2198"/>
                  </a:cubicBezTo>
                  <a:cubicBezTo>
                    <a:pt x="883" y="2051"/>
                    <a:pt x="764" y="1931"/>
                    <a:pt x="617" y="1931"/>
                  </a:cubicBezTo>
                  <a:close/>
                  <a:moveTo>
                    <a:pt x="2203" y="1931"/>
                  </a:moveTo>
                  <a:cubicBezTo>
                    <a:pt x="2056" y="1931"/>
                    <a:pt x="1937" y="2051"/>
                    <a:pt x="1937" y="2198"/>
                  </a:cubicBezTo>
                  <a:cubicBezTo>
                    <a:pt x="1937" y="2344"/>
                    <a:pt x="2056" y="2464"/>
                    <a:pt x="2203" y="2464"/>
                  </a:cubicBezTo>
                  <a:cubicBezTo>
                    <a:pt x="2350" y="2464"/>
                    <a:pt x="2469" y="2344"/>
                    <a:pt x="2469" y="2198"/>
                  </a:cubicBezTo>
                  <a:cubicBezTo>
                    <a:pt x="2469" y="2051"/>
                    <a:pt x="2350" y="1931"/>
                    <a:pt x="2203" y="1931"/>
                  </a:cubicBezTo>
                  <a:close/>
                  <a:moveTo>
                    <a:pt x="2722" y="208"/>
                  </a:moveTo>
                  <a:cubicBezTo>
                    <a:pt x="2535" y="165"/>
                    <a:pt x="2480" y="351"/>
                    <a:pt x="2480" y="351"/>
                  </a:cubicBezTo>
                  <a:cubicBezTo>
                    <a:pt x="2480" y="351"/>
                    <a:pt x="2329" y="930"/>
                    <a:pt x="2251" y="1229"/>
                  </a:cubicBezTo>
                  <a:cubicBezTo>
                    <a:pt x="2191" y="1463"/>
                    <a:pt x="2096" y="1405"/>
                    <a:pt x="2096" y="1405"/>
                  </a:cubicBezTo>
                  <a:cubicBezTo>
                    <a:pt x="2096" y="1405"/>
                    <a:pt x="1438" y="1405"/>
                    <a:pt x="1240" y="1405"/>
                  </a:cubicBezTo>
                  <a:cubicBezTo>
                    <a:pt x="1059" y="1405"/>
                    <a:pt x="1063" y="1229"/>
                    <a:pt x="1063" y="1229"/>
                  </a:cubicBezTo>
                  <a:cubicBezTo>
                    <a:pt x="1054" y="362"/>
                    <a:pt x="1054" y="362"/>
                    <a:pt x="1054" y="362"/>
                  </a:cubicBezTo>
                  <a:cubicBezTo>
                    <a:pt x="988" y="351"/>
                    <a:pt x="988" y="351"/>
                    <a:pt x="988" y="351"/>
                  </a:cubicBezTo>
                  <a:cubicBezTo>
                    <a:pt x="1064" y="351"/>
                    <a:pt x="1064" y="351"/>
                    <a:pt x="1064" y="351"/>
                  </a:cubicBezTo>
                  <a:cubicBezTo>
                    <a:pt x="1064" y="351"/>
                    <a:pt x="1064" y="274"/>
                    <a:pt x="1064" y="192"/>
                  </a:cubicBezTo>
                  <a:cubicBezTo>
                    <a:pt x="1064" y="2"/>
                    <a:pt x="872" y="0"/>
                    <a:pt x="872" y="0"/>
                  </a:cubicBezTo>
                  <a:cubicBezTo>
                    <a:pt x="187" y="0"/>
                    <a:pt x="187" y="0"/>
                    <a:pt x="187" y="0"/>
                  </a:cubicBezTo>
                  <a:cubicBezTo>
                    <a:pt x="187" y="0"/>
                    <a:pt x="0" y="5"/>
                    <a:pt x="0" y="176"/>
                  </a:cubicBezTo>
                  <a:cubicBezTo>
                    <a:pt x="0" y="346"/>
                    <a:pt x="187" y="351"/>
                    <a:pt x="187" y="351"/>
                  </a:cubicBezTo>
                  <a:cubicBezTo>
                    <a:pt x="713" y="351"/>
                    <a:pt x="713" y="351"/>
                    <a:pt x="713" y="351"/>
                  </a:cubicBezTo>
                  <a:cubicBezTo>
                    <a:pt x="713" y="1580"/>
                    <a:pt x="713" y="1580"/>
                    <a:pt x="713" y="1580"/>
                  </a:cubicBezTo>
                  <a:cubicBezTo>
                    <a:pt x="713" y="1749"/>
                    <a:pt x="900" y="1756"/>
                    <a:pt x="900" y="1756"/>
                  </a:cubicBezTo>
                  <a:cubicBezTo>
                    <a:pt x="2283" y="1756"/>
                    <a:pt x="2283" y="1756"/>
                    <a:pt x="2283" y="1756"/>
                  </a:cubicBezTo>
                  <a:cubicBezTo>
                    <a:pt x="2283" y="1756"/>
                    <a:pt x="2466" y="1761"/>
                    <a:pt x="2513" y="1574"/>
                  </a:cubicBezTo>
                  <a:cubicBezTo>
                    <a:pt x="2605" y="1193"/>
                    <a:pt x="2842" y="450"/>
                    <a:pt x="2842" y="450"/>
                  </a:cubicBezTo>
                  <a:cubicBezTo>
                    <a:pt x="2842" y="450"/>
                    <a:pt x="2908" y="252"/>
                    <a:pt x="2722" y="208"/>
                  </a:cubicBezTo>
                  <a:close/>
                  <a:moveTo>
                    <a:pt x="2294" y="351"/>
                  </a:moveTo>
                  <a:cubicBezTo>
                    <a:pt x="1240" y="351"/>
                    <a:pt x="1240" y="351"/>
                    <a:pt x="1240" y="351"/>
                  </a:cubicBezTo>
                  <a:cubicBezTo>
                    <a:pt x="1240" y="1229"/>
                    <a:pt x="1240" y="1229"/>
                    <a:pt x="1240" y="1229"/>
                  </a:cubicBezTo>
                  <a:cubicBezTo>
                    <a:pt x="2118" y="1229"/>
                    <a:pt x="2118" y="1229"/>
                    <a:pt x="2118" y="1229"/>
                  </a:cubicBezTo>
                  <a:cubicBezTo>
                    <a:pt x="2294" y="351"/>
                    <a:pt x="2294" y="351"/>
                    <a:pt x="2294" y="351"/>
                  </a:cubicBezTo>
                  <a:close/>
                </a:path>
              </a:pathLst>
            </a:custGeom>
            <a:solidFill>
              <a:srgbClr val="FFFFFF">
                <a:alpha val="100000"/>
              </a:srgbClr>
            </a:solidFill>
            <a:ln w="9525">
              <a:noFill/>
            </a:ln>
          </p:spPr>
          <p:txBody>
            <a:bodyPr/>
            <a:lstStyle/>
            <a:p>
              <a:endParaRPr lang="zh-CN" altLang="en-US"/>
            </a:p>
          </p:txBody>
        </p:sp>
      </p:grpSp>
      <p:grpSp>
        <p:nvGrpSpPr>
          <p:cNvPr id="5134" name="组合 5133"/>
          <p:cNvGrpSpPr>
            <a:grpSpLocks noChangeAspect="1"/>
          </p:cNvGrpSpPr>
          <p:nvPr userDrawn="1"/>
        </p:nvGrpSpPr>
        <p:grpSpPr>
          <a:xfrm>
            <a:off x="11353483" y="6336030"/>
            <a:ext cx="404812" cy="406400"/>
            <a:chOff x="0" y="0"/>
            <a:chExt cx="675745" cy="675745"/>
          </a:xfrm>
        </p:grpSpPr>
        <p:sp>
          <p:nvSpPr>
            <p:cNvPr id="5135" name="矩形: 圆角 37"/>
            <p:cNvSpPr>
              <a:spLocks noChangeAspect="1"/>
            </p:cNvSpPr>
            <p:nvPr/>
          </p:nvSpPr>
          <p:spPr>
            <a:xfrm>
              <a:off x="0" y="0"/>
              <a:ext cx="675745" cy="675745"/>
            </a:xfrm>
            <a:prstGeom prst="roundRect">
              <a:avLst>
                <a:gd name="adj" fmla="val 50000"/>
              </a:avLst>
            </a:prstGeom>
            <a:solidFill>
              <a:schemeClr val="accent2"/>
            </a:solidFill>
            <a:ln w="9525">
              <a:noFill/>
            </a:ln>
          </p:spPr>
          <p:txBody>
            <a:bodyPr anchor="ctr"/>
            <a:lstStyle/>
            <a:p>
              <a:pPr lvl="0" algn="ctr" eaLnBrk="1" hangingPunct="1"/>
              <a:endParaRPr lang="zh-CN" altLang="en-US" sz="2400" b="1" dirty="0">
                <a:solidFill>
                  <a:srgbClr val="FFFFFF"/>
                </a:solidFill>
                <a:latin typeface="Futura Md BT" pitchFamily="2" charset="0"/>
              </a:endParaRPr>
            </a:p>
          </p:txBody>
        </p:sp>
        <p:sp>
          <p:nvSpPr>
            <p:cNvPr id="5136" name="Freeform 13"/>
            <p:cNvSpPr>
              <a:spLocks noChangeAspect="1" noEditPoints="1"/>
            </p:cNvSpPr>
            <p:nvPr/>
          </p:nvSpPr>
          <p:spPr>
            <a:xfrm>
              <a:off x="121899" y="187414"/>
              <a:ext cx="431947" cy="300918"/>
            </a:xfrm>
            <a:custGeom>
              <a:avLst/>
              <a:gdLst>
                <a:gd name="txL" fmla="*/ 0 w 4048"/>
                <a:gd name="txT" fmla="*/ 0 h 2795"/>
                <a:gd name="txR" fmla="*/ 4048 w 4048"/>
                <a:gd name="txB" fmla="*/ 2795 h 2795"/>
              </a:gdLst>
              <a:ahLst/>
              <a:cxnLst>
                <a:cxn ang="0">
                  <a:pos x="351128543" y="2044151302"/>
                </a:cxn>
                <a:cxn ang="0">
                  <a:pos x="2147483647" y="2044151302"/>
                </a:cxn>
                <a:cxn ang="0">
                  <a:pos x="2147483647" y="240855867"/>
                </a:cxn>
                <a:cxn ang="0">
                  <a:pos x="2147483647" y="0"/>
                </a:cxn>
                <a:cxn ang="0">
                  <a:pos x="341404616" y="0"/>
                </a:cxn>
                <a:cxn ang="0">
                  <a:pos x="116640547" y="240855867"/>
                </a:cxn>
                <a:cxn ang="0">
                  <a:pos x="116640547" y="1804546585"/>
                </a:cxn>
                <a:cxn ang="0">
                  <a:pos x="351128543" y="2044151302"/>
                </a:cxn>
                <a:cxn ang="0">
                  <a:pos x="702257086" y="2147483647"/>
                </a:cxn>
                <a:cxn ang="0">
                  <a:pos x="234487942" y="2147483647"/>
                </a:cxn>
                <a:cxn ang="0">
                  <a:pos x="0" y="2147483647"/>
                </a:cxn>
                <a:cxn ang="0">
                  <a:pos x="0" y="2147483647"/>
                </a:cxn>
                <a:cxn ang="0">
                  <a:pos x="234487942" y="2147483647"/>
                </a:cxn>
                <a:cxn ang="0">
                  <a:pos x="351128543" y="2147483647"/>
                </a:cxn>
                <a:cxn ang="0">
                  <a:pos x="702257086" y="2147483647"/>
                </a:cxn>
                <a:cxn ang="0">
                  <a:pos x="1171244069" y="2147483647"/>
                </a:cxn>
                <a:cxn ang="0">
                  <a:pos x="585616486" y="2147483647"/>
                </a:cxn>
                <a:cxn ang="0">
                  <a:pos x="1171244069" y="2147483647"/>
                </a:cxn>
                <a:cxn ang="0">
                  <a:pos x="1756860768" y="2147483647"/>
                </a:cxn>
                <a:cxn ang="0">
                  <a:pos x="1171244069" y="2147483647"/>
                </a:cxn>
                <a:cxn ang="0">
                  <a:pos x="2147483647" y="2147483647"/>
                </a:cxn>
                <a:cxn ang="0">
                  <a:pos x="2147483647" y="1322835066"/>
                </a:cxn>
                <a:cxn ang="0">
                  <a:pos x="2147483647" y="240855867"/>
                </a:cxn>
                <a:cxn ang="0">
                  <a:pos x="2147483647" y="240855867"/>
                </a:cxn>
                <a:cxn ang="0">
                  <a:pos x="2147483647" y="481711735"/>
                </a:cxn>
                <a:cxn ang="0">
                  <a:pos x="2147483647" y="2147483647"/>
                </a:cxn>
                <a:cxn ang="0">
                  <a:pos x="1639013533" y="2147483647"/>
                </a:cxn>
                <a:cxn ang="0">
                  <a:pos x="1990142396" y="2147483647"/>
                </a:cxn>
                <a:cxn ang="0">
                  <a:pos x="2147483647" y="2147483647"/>
                </a:cxn>
                <a:cxn ang="0">
                  <a:pos x="2147483647" y="2147483647"/>
                </a:cxn>
                <a:cxn ang="0">
                  <a:pos x="2147483647" y="2044151302"/>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4048" h="2795">
                  <a:moveTo>
                    <a:pt x="289" y="1638"/>
                  </a:moveTo>
                  <a:cubicBezTo>
                    <a:pt x="2409" y="1638"/>
                    <a:pt x="2409" y="1638"/>
                    <a:pt x="2409" y="1638"/>
                  </a:cubicBezTo>
                  <a:cubicBezTo>
                    <a:pt x="2409" y="193"/>
                    <a:pt x="2409" y="193"/>
                    <a:pt x="2409" y="193"/>
                  </a:cubicBezTo>
                  <a:cubicBezTo>
                    <a:pt x="2409" y="78"/>
                    <a:pt x="2379" y="0"/>
                    <a:pt x="2217" y="0"/>
                  </a:cubicBezTo>
                  <a:cubicBezTo>
                    <a:pt x="281" y="0"/>
                    <a:pt x="281" y="0"/>
                    <a:pt x="281" y="0"/>
                  </a:cubicBezTo>
                  <a:cubicBezTo>
                    <a:pt x="168" y="0"/>
                    <a:pt x="96" y="78"/>
                    <a:pt x="96" y="193"/>
                  </a:cubicBezTo>
                  <a:cubicBezTo>
                    <a:pt x="96" y="1446"/>
                    <a:pt x="96" y="1446"/>
                    <a:pt x="96" y="1446"/>
                  </a:cubicBezTo>
                  <a:cubicBezTo>
                    <a:pt x="96" y="1643"/>
                    <a:pt x="115" y="1638"/>
                    <a:pt x="289" y="1638"/>
                  </a:cubicBezTo>
                  <a:close/>
                  <a:moveTo>
                    <a:pt x="578" y="1822"/>
                  </a:moveTo>
                  <a:cubicBezTo>
                    <a:pt x="193" y="1822"/>
                    <a:pt x="193" y="1822"/>
                    <a:pt x="193" y="1822"/>
                  </a:cubicBezTo>
                  <a:cubicBezTo>
                    <a:pt x="1" y="1822"/>
                    <a:pt x="0" y="1828"/>
                    <a:pt x="0" y="2015"/>
                  </a:cubicBezTo>
                  <a:cubicBezTo>
                    <a:pt x="0" y="2207"/>
                    <a:pt x="0" y="2207"/>
                    <a:pt x="0" y="2207"/>
                  </a:cubicBezTo>
                  <a:cubicBezTo>
                    <a:pt x="0" y="2293"/>
                    <a:pt x="0" y="2303"/>
                    <a:pt x="193" y="2303"/>
                  </a:cubicBezTo>
                  <a:cubicBezTo>
                    <a:pt x="289" y="2303"/>
                    <a:pt x="289" y="2303"/>
                    <a:pt x="289" y="2303"/>
                  </a:cubicBezTo>
                  <a:cubicBezTo>
                    <a:pt x="289" y="2303"/>
                    <a:pt x="250" y="1938"/>
                    <a:pt x="578" y="1822"/>
                  </a:cubicBezTo>
                  <a:close/>
                  <a:moveTo>
                    <a:pt x="964" y="1831"/>
                  </a:moveTo>
                  <a:cubicBezTo>
                    <a:pt x="697" y="1831"/>
                    <a:pt x="482" y="2047"/>
                    <a:pt x="482" y="2313"/>
                  </a:cubicBezTo>
                  <a:cubicBezTo>
                    <a:pt x="482" y="2579"/>
                    <a:pt x="697" y="2795"/>
                    <a:pt x="964" y="2795"/>
                  </a:cubicBezTo>
                  <a:cubicBezTo>
                    <a:pt x="1230" y="2795"/>
                    <a:pt x="1446" y="2579"/>
                    <a:pt x="1446" y="2313"/>
                  </a:cubicBezTo>
                  <a:cubicBezTo>
                    <a:pt x="1446" y="2047"/>
                    <a:pt x="1230" y="1831"/>
                    <a:pt x="964" y="1831"/>
                  </a:cubicBezTo>
                  <a:close/>
                  <a:moveTo>
                    <a:pt x="3951" y="1831"/>
                  </a:moveTo>
                  <a:cubicBezTo>
                    <a:pt x="3951" y="1060"/>
                    <a:pt x="3951" y="1060"/>
                    <a:pt x="3951" y="1060"/>
                  </a:cubicBezTo>
                  <a:cubicBezTo>
                    <a:pt x="3373" y="193"/>
                    <a:pt x="3373" y="193"/>
                    <a:pt x="3373" y="193"/>
                  </a:cubicBezTo>
                  <a:cubicBezTo>
                    <a:pt x="2795" y="193"/>
                    <a:pt x="2795" y="193"/>
                    <a:pt x="2795" y="193"/>
                  </a:cubicBezTo>
                  <a:cubicBezTo>
                    <a:pt x="2641" y="193"/>
                    <a:pt x="2602" y="245"/>
                    <a:pt x="2602" y="386"/>
                  </a:cubicBezTo>
                  <a:cubicBezTo>
                    <a:pt x="2602" y="1831"/>
                    <a:pt x="2602" y="1831"/>
                    <a:pt x="2602" y="1831"/>
                  </a:cubicBezTo>
                  <a:cubicBezTo>
                    <a:pt x="1349" y="1831"/>
                    <a:pt x="1349" y="1831"/>
                    <a:pt x="1349" y="1831"/>
                  </a:cubicBezTo>
                  <a:cubicBezTo>
                    <a:pt x="1673" y="1919"/>
                    <a:pt x="1638" y="2313"/>
                    <a:pt x="1638" y="2313"/>
                  </a:cubicBezTo>
                  <a:cubicBezTo>
                    <a:pt x="1638" y="2313"/>
                    <a:pt x="2506" y="2313"/>
                    <a:pt x="2506" y="2313"/>
                  </a:cubicBezTo>
                  <a:cubicBezTo>
                    <a:pt x="2506" y="2136"/>
                    <a:pt x="2576" y="1938"/>
                    <a:pt x="2699" y="1831"/>
                  </a:cubicBezTo>
                  <a:cubicBezTo>
                    <a:pt x="2800" y="1742"/>
                    <a:pt x="2921" y="1638"/>
                    <a:pt x="3180" y="1638"/>
                  </a:cubicBezTo>
                  <a:cubicBezTo>
                    <a:pt x="3380" y="1638"/>
                    <a:pt x="3561" y="1742"/>
                    <a:pt x="3662" y="1831"/>
                  </a:cubicBezTo>
                  <a:cubicBezTo>
                    <a:pt x="3784" y="1938"/>
                    <a:pt x="3855" y="2136"/>
                    <a:pt x="3855" y="2313"/>
                  </a:cubicBezTo>
                  <a:cubicBezTo>
                    <a:pt x="3855" y="2418"/>
                    <a:pt x="4048" y="2412"/>
                    <a:pt x="4048" y="2313"/>
                  </a:cubicBezTo>
                  <a:cubicBezTo>
                    <a:pt x="4048" y="2024"/>
                    <a:pt x="4048" y="2024"/>
                    <a:pt x="4048" y="2024"/>
                  </a:cubicBezTo>
                  <a:cubicBezTo>
                    <a:pt x="4048" y="1958"/>
                    <a:pt x="4016" y="1831"/>
                    <a:pt x="3951" y="1831"/>
                  </a:cubicBezTo>
                  <a:close/>
                  <a:moveTo>
                    <a:pt x="3180" y="1831"/>
                  </a:moveTo>
                  <a:cubicBezTo>
                    <a:pt x="2914" y="1831"/>
                    <a:pt x="2699" y="2047"/>
                    <a:pt x="2699" y="2313"/>
                  </a:cubicBezTo>
                  <a:cubicBezTo>
                    <a:pt x="2699" y="2579"/>
                    <a:pt x="2914" y="2795"/>
                    <a:pt x="3180" y="2795"/>
                  </a:cubicBezTo>
                  <a:cubicBezTo>
                    <a:pt x="3447" y="2795"/>
                    <a:pt x="3662" y="2579"/>
                    <a:pt x="3662" y="2313"/>
                  </a:cubicBezTo>
                  <a:cubicBezTo>
                    <a:pt x="3662" y="2047"/>
                    <a:pt x="3447" y="1831"/>
                    <a:pt x="3180" y="1831"/>
                  </a:cubicBezTo>
                  <a:close/>
                </a:path>
              </a:pathLst>
            </a:custGeom>
            <a:solidFill>
              <a:srgbClr val="FFFFFF">
                <a:alpha val="100000"/>
              </a:srgbClr>
            </a:solidFill>
            <a:ln w="9525">
              <a:noFill/>
            </a:ln>
          </p:spPr>
          <p:txBody>
            <a:bodyPr/>
            <a:lstStyle/>
            <a:p>
              <a:endParaRPr lang="zh-CN" altLang="en-US"/>
            </a:p>
          </p:txBody>
        </p:sp>
      </p:grpSp>
      <p:grpSp>
        <p:nvGrpSpPr>
          <p:cNvPr id="5137" name="组合 5136"/>
          <p:cNvGrpSpPr/>
          <p:nvPr userDrawn="1"/>
        </p:nvGrpSpPr>
        <p:grpSpPr>
          <a:xfrm>
            <a:off x="10389870" y="6301105"/>
            <a:ext cx="452438" cy="458788"/>
            <a:chOff x="0" y="0"/>
            <a:chExt cx="288925" cy="292100"/>
          </a:xfrm>
        </p:grpSpPr>
        <p:sp>
          <p:nvSpPr>
            <p:cNvPr id="5138" name="Oval 123"/>
            <p:cNvSpPr/>
            <p:nvPr/>
          </p:nvSpPr>
          <p:spPr>
            <a:xfrm>
              <a:off x="0" y="0"/>
              <a:ext cx="288925" cy="292100"/>
            </a:xfrm>
            <a:prstGeom prst="ellipse">
              <a:avLst/>
            </a:prstGeom>
            <a:solidFill>
              <a:schemeClr val="accent2"/>
            </a:solidFill>
            <a:ln w="9525">
              <a:noFill/>
            </a:ln>
          </p:spPr>
          <p:txBody>
            <a:bodyPr/>
            <a:lstStyle/>
            <a:p>
              <a:pPr lvl="0" eaLnBrk="1" hangingPunct="1"/>
              <a:endParaRPr lang="zh-CN" altLang="en-US" sz="1800" dirty="0">
                <a:solidFill>
                  <a:schemeClr val="accent2"/>
                </a:solidFill>
                <a:latin typeface="Arial" panose="020B0604020202020204" pitchFamily="34" charset="0"/>
                <a:ea typeface="宋体" panose="02010600030101010101" pitchFamily="2" charset="-122"/>
              </a:endParaRPr>
            </a:p>
          </p:txBody>
        </p:sp>
        <p:sp>
          <p:nvSpPr>
            <p:cNvPr id="5139" name="Freeform 135"/>
            <p:cNvSpPr>
              <a:spLocks noEditPoints="1"/>
            </p:cNvSpPr>
            <p:nvPr/>
          </p:nvSpPr>
          <p:spPr>
            <a:xfrm>
              <a:off x="92253" y="55590"/>
              <a:ext cx="128749" cy="177888"/>
            </a:xfrm>
            <a:custGeom>
              <a:avLst/>
              <a:gdLst>
                <a:gd name="txL" fmla="*/ 0 w 350"/>
                <a:gd name="txT" fmla="*/ 0 h 484"/>
                <a:gd name="txR" fmla="*/ 350 w 350"/>
                <a:gd name="txB" fmla="*/ 484 h 484"/>
              </a:gdLst>
              <a:ahLst/>
              <a:cxnLst>
                <a:cxn ang="0">
                  <a:pos x="2147483647" y="2147483647"/>
                </a:cxn>
                <a:cxn ang="0">
                  <a:pos x="0" y="2147483647"/>
                </a:cxn>
                <a:cxn ang="0">
                  <a:pos x="0"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350" h="484">
                  <a:moveTo>
                    <a:pt x="27" y="88"/>
                  </a:moveTo>
                  <a:cubicBezTo>
                    <a:pt x="12" y="88"/>
                    <a:pt x="0" y="100"/>
                    <a:pt x="0" y="115"/>
                  </a:cubicBezTo>
                  <a:lnTo>
                    <a:pt x="0" y="159"/>
                  </a:lnTo>
                  <a:lnTo>
                    <a:pt x="0" y="412"/>
                  </a:lnTo>
                  <a:lnTo>
                    <a:pt x="0" y="457"/>
                  </a:lnTo>
                  <a:cubicBezTo>
                    <a:pt x="0" y="472"/>
                    <a:pt x="12" y="484"/>
                    <a:pt x="27" y="484"/>
                  </a:cubicBezTo>
                  <a:lnTo>
                    <a:pt x="233" y="484"/>
                  </a:lnTo>
                  <a:cubicBezTo>
                    <a:pt x="248" y="484"/>
                    <a:pt x="260" y="472"/>
                    <a:pt x="260" y="457"/>
                  </a:cubicBezTo>
                  <a:lnTo>
                    <a:pt x="260" y="412"/>
                  </a:lnTo>
                  <a:lnTo>
                    <a:pt x="260" y="159"/>
                  </a:lnTo>
                  <a:lnTo>
                    <a:pt x="260" y="115"/>
                  </a:lnTo>
                  <a:cubicBezTo>
                    <a:pt x="260" y="100"/>
                    <a:pt x="248" y="88"/>
                    <a:pt x="233" y="88"/>
                  </a:cubicBezTo>
                  <a:lnTo>
                    <a:pt x="27" y="88"/>
                  </a:lnTo>
                  <a:close/>
                  <a:moveTo>
                    <a:pt x="100" y="108"/>
                  </a:moveTo>
                  <a:lnTo>
                    <a:pt x="100" y="108"/>
                  </a:lnTo>
                  <a:lnTo>
                    <a:pt x="160" y="108"/>
                  </a:lnTo>
                  <a:cubicBezTo>
                    <a:pt x="167" y="108"/>
                    <a:pt x="173" y="113"/>
                    <a:pt x="173" y="120"/>
                  </a:cubicBezTo>
                  <a:cubicBezTo>
                    <a:pt x="173" y="127"/>
                    <a:pt x="167" y="133"/>
                    <a:pt x="160" y="133"/>
                  </a:cubicBezTo>
                  <a:lnTo>
                    <a:pt x="100" y="133"/>
                  </a:lnTo>
                  <a:cubicBezTo>
                    <a:pt x="93" y="133"/>
                    <a:pt x="88" y="127"/>
                    <a:pt x="88" y="120"/>
                  </a:cubicBezTo>
                  <a:cubicBezTo>
                    <a:pt x="88" y="113"/>
                    <a:pt x="93" y="108"/>
                    <a:pt x="100" y="108"/>
                  </a:cubicBezTo>
                  <a:close/>
                  <a:moveTo>
                    <a:pt x="130" y="470"/>
                  </a:moveTo>
                  <a:lnTo>
                    <a:pt x="130" y="470"/>
                  </a:lnTo>
                  <a:cubicBezTo>
                    <a:pt x="122" y="470"/>
                    <a:pt x="115" y="463"/>
                    <a:pt x="115" y="455"/>
                  </a:cubicBezTo>
                  <a:cubicBezTo>
                    <a:pt x="115" y="446"/>
                    <a:pt x="122" y="439"/>
                    <a:pt x="130" y="439"/>
                  </a:cubicBezTo>
                  <a:cubicBezTo>
                    <a:pt x="139" y="439"/>
                    <a:pt x="146" y="446"/>
                    <a:pt x="146" y="455"/>
                  </a:cubicBezTo>
                  <a:cubicBezTo>
                    <a:pt x="146" y="463"/>
                    <a:pt x="139" y="470"/>
                    <a:pt x="130" y="470"/>
                  </a:cubicBezTo>
                  <a:close/>
                  <a:moveTo>
                    <a:pt x="242" y="159"/>
                  </a:moveTo>
                  <a:lnTo>
                    <a:pt x="242" y="159"/>
                  </a:lnTo>
                  <a:lnTo>
                    <a:pt x="242" y="412"/>
                  </a:lnTo>
                  <a:cubicBezTo>
                    <a:pt x="242" y="417"/>
                    <a:pt x="238" y="421"/>
                    <a:pt x="233" y="421"/>
                  </a:cubicBezTo>
                  <a:lnTo>
                    <a:pt x="27" y="421"/>
                  </a:lnTo>
                  <a:cubicBezTo>
                    <a:pt x="22" y="421"/>
                    <a:pt x="18" y="417"/>
                    <a:pt x="18" y="412"/>
                  </a:cubicBezTo>
                  <a:lnTo>
                    <a:pt x="18" y="159"/>
                  </a:lnTo>
                  <a:cubicBezTo>
                    <a:pt x="18" y="154"/>
                    <a:pt x="22" y="150"/>
                    <a:pt x="27" y="150"/>
                  </a:cubicBezTo>
                  <a:lnTo>
                    <a:pt x="233" y="150"/>
                  </a:lnTo>
                  <a:cubicBezTo>
                    <a:pt x="238" y="150"/>
                    <a:pt x="242" y="154"/>
                    <a:pt x="242" y="159"/>
                  </a:cubicBezTo>
                  <a:close/>
                  <a:moveTo>
                    <a:pt x="238" y="0"/>
                  </a:moveTo>
                  <a:lnTo>
                    <a:pt x="238" y="23"/>
                  </a:lnTo>
                  <a:cubicBezTo>
                    <a:pt x="287" y="23"/>
                    <a:pt x="327" y="63"/>
                    <a:pt x="327" y="112"/>
                  </a:cubicBezTo>
                  <a:cubicBezTo>
                    <a:pt x="327" y="113"/>
                    <a:pt x="327" y="113"/>
                    <a:pt x="327" y="114"/>
                  </a:cubicBezTo>
                  <a:lnTo>
                    <a:pt x="350" y="114"/>
                  </a:lnTo>
                  <a:cubicBezTo>
                    <a:pt x="350" y="113"/>
                    <a:pt x="350" y="113"/>
                    <a:pt x="350" y="112"/>
                  </a:cubicBezTo>
                  <a:cubicBezTo>
                    <a:pt x="350" y="97"/>
                    <a:pt x="347" y="82"/>
                    <a:pt x="341" y="69"/>
                  </a:cubicBezTo>
                  <a:cubicBezTo>
                    <a:pt x="336" y="55"/>
                    <a:pt x="328" y="43"/>
                    <a:pt x="317" y="33"/>
                  </a:cubicBezTo>
                  <a:cubicBezTo>
                    <a:pt x="307" y="22"/>
                    <a:pt x="295" y="14"/>
                    <a:pt x="281" y="8"/>
                  </a:cubicBezTo>
                  <a:cubicBezTo>
                    <a:pt x="267" y="3"/>
                    <a:pt x="253" y="0"/>
                    <a:pt x="238" y="0"/>
                  </a:cubicBezTo>
                  <a:close/>
                  <a:moveTo>
                    <a:pt x="304" y="114"/>
                  </a:moveTo>
                  <a:cubicBezTo>
                    <a:pt x="304" y="113"/>
                    <a:pt x="304" y="113"/>
                    <a:pt x="304" y="112"/>
                  </a:cubicBezTo>
                  <a:cubicBezTo>
                    <a:pt x="304" y="76"/>
                    <a:pt x="274" y="46"/>
                    <a:pt x="238" y="46"/>
                  </a:cubicBezTo>
                  <a:lnTo>
                    <a:pt x="238" y="69"/>
                  </a:lnTo>
                  <a:cubicBezTo>
                    <a:pt x="262" y="69"/>
                    <a:pt x="281" y="88"/>
                    <a:pt x="281" y="112"/>
                  </a:cubicBezTo>
                  <a:cubicBezTo>
                    <a:pt x="281" y="113"/>
                    <a:pt x="281" y="113"/>
                    <a:pt x="281" y="114"/>
                  </a:cubicBezTo>
                  <a:lnTo>
                    <a:pt x="304" y="114"/>
                  </a:lnTo>
                  <a:close/>
                </a:path>
              </a:pathLst>
            </a:custGeom>
            <a:solidFill>
              <a:srgbClr val="FFFFFF">
                <a:alpha val="100000"/>
              </a:srgbClr>
            </a:solidFill>
            <a:ln w="9525">
              <a:noFill/>
            </a:ln>
          </p:spPr>
          <p:txBody>
            <a:bodyPr/>
            <a:lstStyle/>
            <a:p>
              <a:endParaRPr lang="zh-CN" altLang="en-US"/>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1484"/>
            <a:ext cx="10363200" cy="1468967"/>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609600" indent="0" algn="ctr">
              <a:buNone/>
              <a:defRPr/>
            </a:lvl2pPr>
            <a:lvl3pPr marL="1219200" indent="0" algn="ctr">
              <a:buNone/>
              <a:defRPr/>
            </a:lvl3pPr>
            <a:lvl4pPr marL="1828800" indent="0" algn="ctr">
              <a:buNone/>
              <a:defRPr/>
            </a:lvl4pPr>
            <a:lvl5pPr marL="2438400" indent="0" algn="ctr">
              <a:buNone/>
              <a:defRPr/>
            </a:lvl5pPr>
            <a:lvl6pPr marL="3048000" indent="0" algn="ctr">
              <a:buNone/>
              <a:defRPr/>
            </a:lvl6pPr>
            <a:lvl7pPr marL="3657600" indent="0" algn="ctr">
              <a:buNone/>
              <a:defRPr/>
            </a:lvl7pPr>
            <a:lvl8pPr marL="4267200" indent="0" algn="ctr">
              <a:buNone/>
              <a:defRPr/>
            </a:lvl8pPr>
            <a:lvl9pPr marL="48768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E94DBC1-2A95-4A71-A1D5-28FEDFD9CF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A8FE53-55C0-41F9-8266-CAC9071067F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E94DBC1-2A95-4A71-A1D5-28FEDFD9CF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A8FE53-55C0-41F9-8266-CAC9071067F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E94DBC1-2A95-4A71-A1D5-28FEDFD9CF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A8FE53-55C0-41F9-8266-CAC9071067F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E94DBC1-2A95-4A71-A1D5-28FEDFD9CF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A8FE53-55C0-41F9-8266-CAC9071067F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自定义版式">
    <p:bg>
      <p:bgPr>
        <a:solidFill>
          <a:srgbClr val="FCFBF9"/>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94DBC1-2A95-4A71-A1D5-28FEDFD9CFB8}"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A8FE53-55C0-41F9-8266-CAC9071067F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tags" Target="../tags/tag5.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tags" Target="../tags/tag8.xml"/><Relationship Id="rId3" Type="http://schemas.openxmlformats.org/officeDocument/2006/relationships/image" Target="../media/image3.png"/><Relationship Id="rId2" Type="http://schemas.openxmlformats.org/officeDocument/2006/relationships/tags" Target="../tags/tag7.xml"/><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oleObject" Target="../embeddings/oleObject3.bin"/><Relationship Id="rId4" Type="http://schemas.openxmlformats.org/officeDocument/2006/relationships/image" Target="../media/image11.wmf"/><Relationship Id="rId3" Type="http://schemas.openxmlformats.org/officeDocument/2006/relationships/oleObject" Target="../embeddings/oleObject2.bin"/><Relationship Id="rId2" Type="http://schemas.openxmlformats.org/officeDocument/2006/relationships/image" Target="../media/image10.wmf"/><Relationship Id="rId1" Type="http://schemas.openxmlformats.org/officeDocument/2006/relationships/oleObject" Target="../embeddings/oleObject1.bin"/></Relationships>
</file>

<file path=ppt/slides/_rels/slide42.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1.xml"/><Relationship Id="rId3" Type="http://schemas.openxmlformats.org/officeDocument/2006/relationships/oleObject" Target="../embeddings/oleObject5.bin"/><Relationship Id="rId2" Type="http://schemas.openxmlformats.org/officeDocument/2006/relationships/image" Target="../media/image10.wmf"/><Relationship Id="rId1" Type="http://schemas.openxmlformats.org/officeDocument/2006/relationships/oleObject" Target="../embeddings/oleObject4.bin"/></Relationships>
</file>

<file path=ppt/slides/_rels/slide43.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1.xml"/><Relationship Id="rId4" Type="http://schemas.openxmlformats.org/officeDocument/2006/relationships/tags" Target="../tags/tag11.xml"/><Relationship Id="rId3" Type="http://schemas.openxmlformats.org/officeDocument/2006/relationships/oleObject" Target="../embeddings/oleObject7.bin"/><Relationship Id="rId2" Type="http://schemas.openxmlformats.org/officeDocument/2006/relationships/image" Target="../media/image10.wmf"/><Relationship Id="rId1" Type="http://schemas.openxmlformats.org/officeDocument/2006/relationships/oleObject" Target="../embeddings/oleObject6.bin"/></Relationships>
</file>

<file path=ppt/slides/_rels/slide44.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1.xml"/><Relationship Id="rId4" Type="http://schemas.openxmlformats.org/officeDocument/2006/relationships/tags" Target="../tags/tag12.xml"/><Relationship Id="rId3" Type="http://schemas.openxmlformats.org/officeDocument/2006/relationships/oleObject" Target="../embeddings/oleObject9.bin"/><Relationship Id="rId2" Type="http://schemas.openxmlformats.org/officeDocument/2006/relationships/image" Target="../media/image10.wmf"/><Relationship Id="rId1" Type="http://schemas.openxmlformats.org/officeDocument/2006/relationships/oleObject" Target="../embeddings/oleObject8.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1.xml"/><Relationship Id="rId3" Type="http://schemas.openxmlformats.org/officeDocument/2006/relationships/oleObject" Target="../embeddings/oleObject11.bin"/><Relationship Id="rId2" Type="http://schemas.openxmlformats.org/officeDocument/2006/relationships/image" Target="../media/image10.wmf"/><Relationship Id="rId1" Type="http://schemas.openxmlformats.org/officeDocument/2006/relationships/oleObject" Target="../embeddings/oleObject10.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jpe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6.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7.xml"/></Relationships>
</file>

<file path=ppt/slides/_rels/slide76.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4" Type="http://schemas.openxmlformats.org/officeDocument/2006/relationships/notesSlide" Target="../notesSlides/notesSlide22.xml"/><Relationship Id="rId13" Type="http://schemas.openxmlformats.org/officeDocument/2006/relationships/slideLayout" Target="../slideLayouts/slideLayout7.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slide" Target="slide17.xml"/><Relationship Id="rId2" Type="http://schemas.openxmlformats.org/officeDocument/2006/relationships/slide" Target="slide16.xml"/><Relationship Id="rId1" Type="http://schemas.openxmlformats.org/officeDocument/2006/relationships/slide" Target="slide15.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9.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tags" Target="../tags/tag32.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4.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5.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6.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7.xml"/></Relationships>
</file>

<file path=ppt/slides/_rels/slide1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9.xml"/><Relationship Id="rId1" Type="http://schemas.openxmlformats.org/officeDocument/2006/relationships/tags" Target="../tags/tag38.xml"/></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1.xml"/><Relationship Id="rId1" Type="http://schemas.openxmlformats.org/officeDocument/2006/relationships/tags" Target="../tags/tag40.xml"/></Relationships>
</file>

<file path=ppt/slides/_rels/slide1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3.xml"/><Relationship Id="rId1" Type="http://schemas.openxmlformats.org/officeDocument/2006/relationships/tags" Target="../tags/tag42.xml"/></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5.xml"/><Relationship Id="rId1" Type="http://schemas.openxmlformats.org/officeDocument/2006/relationships/tags" Target="../tags/tag44.xml"/></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7.xml"/><Relationship Id="rId1" Type="http://schemas.openxmlformats.org/officeDocument/2006/relationships/tags" Target="../tags/tag46.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0.png"/></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0.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9.xml"/></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0480" y="-7620"/>
            <a:ext cx="12742545" cy="7472680"/>
          </a:xfrm>
          <a:prstGeom prst="rect">
            <a:avLst/>
          </a:prstGeom>
          <a:blipFill dpi="0" rotWithShape="1">
            <a:blip r:embed="rId1"/>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22"/>
          <p:cNvSpPr/>
          <p:nvPr/>
        </p:nvSpPr>
        <p:spPr>
          <a:xfrm rot="222105">
            <a:off x="2004449" y="5397611"/>
            <a:ext cx="1518234" cy="1524635"/>
          </a:xfrm>
          <a:custGeom>
            <a:avLst/>
            <a:gdLst>
              <a:gd name="connsiteX0" fmla="*/ 0 w 1511300"/>
              <a:gd name="connsiteY0" fmla="*/ 1435100 h 1435100"/>
              <a:gd name="connsiteX1" fmla="*/ 755650 w 1511300"/>
              <a:gd name="connsiteY1" fmla="*/ 0 h 1435100"/>
              <a:gd name="connsiteX2" fmla="*/ 1511300 w 1511300"/>
              <a:gd name="connsiteY2" fmla="*/ 1435100 h 1435100"/>
              <a:gd name="connsiteX3" fmla="*/ 0 w 1511300"/>
              <a:gd name="connsiteY3" fmla="*/ 1435100 h 1435100"/>
              <a:gd name="connsiteX0-1" fmla="*/ 0 w 1518234"/>
              <a:gd name="connsiteY0-2" fmla="*/ 1524635 h 1524635"/>
              <a:gd name="connsiteX1-3" fmla="*/ 762584 w 1518234"/>
              <a:gd name="connsiteY1-4" fmla="*/ 0 h 1524635"/>
              <a:gd name="connsiteX2-5" fmla="*/ 1518234 w 1518234"/>
              <a:gd name="connsiteY2-6" fmla="*/ 1435100 h 1524635"/>
              <a:gd name="connsiteX3-7" fmla="*/ 0 w 1518234"/>
              <a:gd name="connsiteY3-8" fmla="*/ 1524635 h 1524635"/>
            </a:gdLst>
            <a:ahLst/>
            <a:cxnLst>
              <a:cxn ang="0">
                <a:pos x="connsiteX0-1" y="connsiteY0-2"/>
              </a:cxn>
              <a:cxn ang="0">
                <a:pos x="connsiteX1-3" y="connsiteY1-4"/>
              </a:cxn>
              <a:cxn ang="0">
                <a:pos x="connsiteX2-5" y="connsiteY2-6"/>
              </a:cxn>
              <a:cxn ang="0">
                <a:pos x="connsiteX3-7" y="connsiteY3-8"/>
              </a:cxn>
            </a:cxnLst>
            <a:rect l="l" t="t" r="r" b="b"/>
            <a:pathLst>
              <a:path w="1518234" h="1524635">
                <a:moveTo>
                  <a:pt x="0" y="1524635"/>
                </a:moveTo>
                <a:lnTo>
                  <a:pt x="762584" y="0"/>
                </a:lnTo>
                <a:lnTo>
                  <a:pt x="1518234" y="1435100"/>
                </a:lnTo>
                <a:lnTo>
                  <a:pt x="0" y="1524635"/>
                </a:lnTo>
                <a:close/>
              </a:path>
            </a:pathLst>
          </a:custGeom>
          <a:solidFill>
            <a:srgbClr val="484847">
              <a:alpha val="3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22"/>
          <p:cNvSpPr/>
          <p:nvPr/>
        </p:nvSpPr>
        <p:spPr>
          <a:xfrm rot="4304482">
            <a:off x="355417" y="4040205"/>
            <a:ext cx="1115714" cy="1120418"/>
          </a:xfrm>
          <a:custGeom>
            <a:avLst/>
            <a:gdLst>
              <a:gd name="connsiteX0" fmla="*/ 0 w 1511300"/>
              <a:gd name="connsiteY0" fmla="*/ 1435100 h 1435100"/>
              <a:gd name="connsiteX1" fmla="*/ 755650 w 1511300"/>
              <a:gd name="connsiteY1" fmla="*/ 0 h 1435100"/>
              <a:gd name="connsiteX2" fmla="*/ 1511300 w 1511300"/>
              <a:gd name="connsiteY2" fmla="*/ 1435100 h 1435100"/>
              <a:gd name="connsiteX3" fmla="*/ 0 w 1511300"/>
              <a:gd name="connsiteY3" fmla="*/ 1435100 h 1435100"/>
              <a:gd name="connsiteX0-1" fmla="*/ 0 w 1518234"/>
              <a:gd name="connsiteY0-2" fmla="*/ 1524635 h 1524635"/>
              <a:gd name="connsiteX1-3" fmla="*/ 762584 w 1518234"/>
              <a:gd name="connsiteY1-4" fmla="*/ 0 h 1524635"/>
              <a:gd name="connsiteX2-5" fmla="*/ 1518234 w 1518234"/>
              <a:gd name="connsiteY2-6" fmla="*/ 1435100 h 1524635"/>
              <a:gd name="connsiteX3-7" fmla="*/ 0 w 1518234"/>
              <a:gd name="connsiteY3-8" fmla="*/ 1524635 h 1524635"/>
            </a:gdLst>
            <a:ahLst/>
            <a:cxnLst>
              <a:cxn ang="0">
                <a:pos x="connsiteX0-1" y="connsiteY0-2"/>
              </a:cxn>
              <a:cxn ang="0">
                <a:pos x="connsiteX1-3" y="connsiteY1-4"/>
              </a:cxn>
              <a:cxn ang="0">
                <a:pos x="connsiteX2-5" y="connsiteY2-6"/>
              </a:cxn>
              <a:cxn ang="0">
                <a:pos x="connsiteX3-7" y="connsiteY3-8"/>
              </a:cxn>
            </a:cxnLst>
            <a:rect l="l" t="t" r="r" b="b"/>
            <a:pathLst>
              <a:path w="1518234" h="1524635">
                <a:moveTo>
                  <a:pt x="0" y="1524635"/>
                </a:moveTo>
                <a:lnTo>
                  <a:pt x="762584" y="0"/>
                </a:lnTo>
                <a:lnTo>
                  <a:pt x="1518234" y="1435100"/>
                </a:lnTo>
                <a:lnTo>
                  <a:pt x="0" y="1524635"/>
                </a:lnTo>
                <a:close/>
              </a:path>
            </a:pathLst>
          </a:custGeom>
          <a:gradFill>
            <a:gsLst>
              <a:gs pos="0">
                <a:srgbClr val="363635">
                  <a:alpha val="23000"/>
                </a:srgbClr>
              </a:gs>
              <a:gs pos="100000">
                <a:srgbClr val="484847"/>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22"/>
          <p:cNvSpPr/>
          <p:nvPr/>
        </p:nvSpPr>
        <p:spPr>
          <a:xfrm rot="5248205">
            <a:off x="375695" y="834566"/>
            <a:ext cx="2012216" cy="2020700"/>
          </a:xfrm>
          <a:custGeom>
            <a:avLst/>
            <a:gdLst>
              <a:gd name="connsiteX0" fmla="*/ 0 w 1511300"/>
              <a:gd name="connsiteY0" fmla="*/ 1435100 h 1435100"/>
              <a:gd name="connsiteX1" fmla="*/ 755650 w 1511300"/>
              <a:gd name="connsiteY1" fmla="*/ 0 h 1435100"/>
              <a:gd name="connsiteX2" fmla="*/ 1511300 w 1511300"/>
              <a:gd name="connsiteY2" fmla="*/ 1435100 h 1435100"/>
              <a:gd name="connsiteX3" fmla="*/ 0 w 1511300"/>
              <a:gd name="connsiteY3" fmla="*/ 1435100 h 1435100"/>
              <a:gd name="connsiteX0-1" fmla="*/ 0 w 1518234"/>
              <a:gd name="connsiteY0-2" fmla="*/ 1524635 h 1524635"/>
              <a:gd name="connsiteX1-3" fmla="*/ 762584 w 1518234"/>
              <a:gd name="connsiteY1-4" fmla="*/ 0 h 1524635"/>
              <a:gd name="connsiteX2-5" fmla="*/ 1518234 w 1518234"/>
              <a:gd name="connsiteY2-6" fmla="*/ 1435100 h 1524635"/>
              <a:gd name="connsiteX3-7" fmla="*/ 0 w 1518234"/>
              <a:gd name="connsiteY3-8" fmla="*/ 1524635 h 1524635"/>
            </a:gdLst>
            <a:ahLst/>
            <a:cxnLst>
              <a:cxn ang="0">
                <a:pos x="connsiteX0-1" y="connsiteY0-2"/>
              </a:cxn>
              <a:cxn ang="0">
                <a:pos x="connsiteX1-3" y="connsiteY1-4"/>
              </a:cxn>
              <a:cxn ang="0">
                <a:pos x="connsiteX2-5" y="connsiteY2-6"/>
              </a:cxn>
              <a:cxn ang="0">
                <a:pos x="connsiteX3-7" y="connsiteY3-8"/>
              </a:cxn>
            </a:cxnLst>
            <a:rect l="l" t="t" r="r" b="b"/>
            <a:pathLst>
              <a:path w="1518234" h="1524635">
                <a:moveTo>
                  <a:pt x="0" y="1524635"/>
                </a:moveTo>
                <a:lnTo>
                  <a:pt x="762584" y="0"/>
                </a:lnTo>
                <a:lnTo>
                  <a:pt x="1518234" y="1435100"/>
                </a:lnTo>
                <a:lnTo>
                  <a:pt x="0" y="1524635"/>
                </a:lnTo>
                <a:close/>
              </a:path>
            </a:pathLst>
          </a:custGeom>
          <a:gradFill>
            <a:gsLst>
              <a:gs pos="0">
                <a:srgbClr val="363635">
                  <a:alpha val="30000"/>
                </a:srgbClr>
              </a:gs>
              <a:gs pos="100000">
                <a:srgbClr val="5B5B59"/>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菱形 16"/>
          <p:cNvSpPr/>
          <p:nvPr/>
        </p:nvSpPr>
        <p:spPr>
          <a:xfrm>
            <a:off x="4445000" y="1610084"/>
            <a:ext cx="3302000" cy="2334884"/>
          </a:xfrm>
          <a:prstGeom prst="diamond">
            <a:avLst/>
          </a:prstGeom>
          <a:solidFill>
            <a:schemeClr val="tx1">
              <a:lumMod val="85000"/>
              <a:lumOff val="15000"/>
            </a:schemeClr>
          </a:solid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091940" y="4013200"/>
            <a:ext cx="4213225" cy="1014730"/>
          </a:xfrm>
          <a:prstGeom prst="rect">
            <a:avLst/>
          </a:prstGeom>
        </p:spPr>
        <p:txBody>
          <a:bodyPr wrap="square">
            <a:spAutoFit/>
          </a:bodyPr>
          <a:lstStyle/>
          <a:p>
            <a:pPr algn="ctr">
              <a:lnSpc>
                <a:spcPct val="150000"/>
              </a:lnSpc>
            </a:pPr>
            <a:r>
              <a:rPr lang="zh-CN" altLang="en-US" sz="40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功能测试</a:t>
            </a:r>
            <a:endParaRPr lang="zh-CN" altLang="en-US" sz="40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文本框 1"/>
          <p:cNvSpPr txBox="1"/>
          <p:nvPr/>
        </p:nvSpPr>
        <p:spPr>
          <a:xfrm>
            <a:off x="5234940" y="2424430"/>
            <a:ext cx="1926590" cy="706755"/>
          </a:xfrm>
          <a:prstGeom prst="rect">
            <a:avLst/>
          </a:prstGeom>
          <a:noFill/>
        </p:spPr>
        <p:txBody>
          <a:bodyPr wrap="square" rtlCol="0">
            <a:spAutoFit/>
          </a:bodyPr>
          <a:lstStyle/>
          <a:p>
            <a:r>
              <a:rPr lang="zh-CN" altLang="en-US" sz="4000">
                <a:solidFill>
                  <a:schemeClr val="bg1"/>
                </a:solidFill>
                <a:latin typeface="微软雅黑" panose="020B0503020204020204" pitchFamily="34" charset="-122"/>
                <a:ea typeface="微软雅黑" panose="020B0503020204020204" pitchFamily="34" charset="-122"/>
              </a:rPr>
              <a:t>第二章</a:t>
            </a:r>
            <a:endParaRPr lang="zh-CN" altLang="en-US" sz="40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5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p:tgtEl>
                                          <p:spTgt spid="18"/>
                                        </p:tgtEl>
                                        <p:attrNameLst>
                                          <p:attrName>ppt_x</p:attrName>
                                        </p:attrNameLst>
                                      </p:cBhvr>
                                      <p:tavLst>
                                        <p:tav tm="0">
                                          <p:val>
                                            <p:strVal val="#ppt_x-#ppt_w*1.125000"/>
                                          </p:val>
                                        </p:tav>
                                        <p:tav tm="100000">
                                          <p:val>
                                            <p:strVal val="#ppt_x"/>
                                          </p:val>
                                        </p:tav>
                                      </p:tavLst>
                                    </p:anim>
                                    <p:animEffect transition="in" filter="wipe(right)">
                                      <p:cBhvr>
                                        <p:cTn id="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0025" y="161925"/>
            <a:ext cx="1294765" cy="460375"/>
          </a:xfrm>
          <a:prstGeom prst="rect">
            <a:avLst/>
          </a:prstGeom>
          <a:noFill/>
        </p:spPr>
        <p:txBody>
          <a:bodyPr wrap="square" rtlCol="0">
            <a:spAutoFit/>
          </a:bodyPr>
          <a:lstStyle/>
          <a:p>
            <a:r>
              <a:rPr lang="zh-CN" altLang="en-US" sz="2400" b="1">
                <a:latin typeface="微软雅黑" panose="020B0503020204020204" pitchFamily="34" charset="-122"/>
                <a:ea typeface="微软雅黑" panose="020B0503020204020204" pitchFamily="34" charset="-122"/>
              </a:rPr>
              <a:t>第二章</a:t>
            </a:r>
            <a:endParaRPr lang="zh-CN" altLang="en-US" sz="2400" b="1">
              <a:latin typeface="微软雅黑" panose="020B0503020204020204" pitchFamily="34" charset="-122"/>
              <a:ea typeface="微软雅黑" panose="020B0503020204020204" pitchFamily="34" charset="-122"/>
            </a:endParaRPr>
          </a:p>
        </p:txBody>
      </p:sp>
      <p:sp>
        <p:nvSpPr>
          <p:cNvPr id="15" name="Freeform 5"/>
          <p:cNvSpPr/>
          <p:nvPr/>
        </p:nvSpPr>
        <p:spPr bwMode="auto">
          <a:xfrm>
            <a:off x="4904740" y="4967605"/>
            <a:ext cx="1444625" cy="1501140"/>
          </a:xfrm>
          <a:custGeom>
            <a:avLst/>
            <a:gdLst>
              <a:gd name="T0" fmla="*/ 727 w 727"/>
              <a:gd name="T1" fmla="*/ 559 h 755"/>
              <a:gd name="T2" fmla="*/ 553 w 727"/>
              <a:gd name="T3" fmla="*/ 525 h 755"/>
              <a:gd name="T4" fmla="*/ 326 w 727"/>
              <a:gd name="T5" fmla="*/ 313 h 755"/>
              <a:gd name="T6" fmla="*/ 403 w 727"/>
              <a:gd name="T7" fmla="*/ 310 h 755"/>
              <a:gd name="T8" fmla="*/ 413 w 727"/>
              <a:gd name="T9" fmla="*/ 274 h 755"/>
              <a:gd name="T10" fmla="*/ 245 w 727"/>
              <a:gd name="T11" fmla="*/ 26 h 755"/>
              <a:gd name="T12" fmla="*/ 203 w 727"/>
              <a:gd name="T13" fmla="*/ 26 h 755"/>
              <a:gd name="T14" fmla="*/ 15 w 727"/>
              <a:gd name="T15" fmla="*/ 280 h 755"/>
              <a:gd name="T16" fmla="*/ 24 w 727"/>
              <a:gd name="T17" fmla="*/ 310 h 755"/>
              <a:gd name="T18" fmla="*/ 114 w 727"/>
              <a:gd name="T19" fmla="*/ 315 h 755"/>
              <a:gd name="T20" fmla="*/ 567 w 727"/>
              <a:gd name="T21" fmla="*/ 747 h 755"/>
              <a:gd name="T22" fmla="*/ 727 w 727"/>
              <a:gd name="T23" fmla="*/ 559 h 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27" h="755">
                <a:moveTo>
                  <a:pt x="727" y="559"/>
                </a:moveTo>
                <a:cubicBezTo>
                  <a:pt x="715" y="515"/>
                  <a:pt x="651" y="517"/>
                  <a:pt x="553" y="525"/>
                </a:cubicBezTo>
                <a:cubicBezTo>
                  <a:pt x="479" y="533"/>
                  <a:pt x="309" y="547"/>
                  <a:pt x="326" y="313"/>
                </a:cubicBezTo>
                <a:cubicBezTo>
                  <a:pt x="403" y="310"/>
                  <a:pt x="403" y="310"/>
                  <a:pt x="403" y="310"/>
                </a:cubicBezTo>
                <a:cubicBezTo>
                  <a:pt x="429" y="310"/>
                  <a:pt x="428" y="295"/>
                  <a:pt x="413" y="274"/>
                </a:cubicBezTo>
                <a:cubicBezTo>
                  <a:pt x="413" y="274"/>
                  <a:pt x="297" y="101"/>
                  <a:pt x="245" y="26"/>
                </a:cubicBezTo>
                <a:cubicBezTo>
                  <a:pt x="231" y="6"/>
                  <a:pt x="220" y="0"/>
                  <a:pt x="203" y="26"/>
                </a:cubicBezTo>
                <a:cubicBezTo>
                  <a:pt x="144" y="97"/>
                  <a:pt x="55" y="225"/>
                  <a:pt x="15" y="280"/>
                </a:cubicBezTo>
                <a:cubicBezTo>
                  <a:pt x="12" y="284"/>
                  <a:pt x="0" y="307"/>
                  <a:pt x="24" y="310"/>
                </a:cubicBezTo>
                <a:cubicBezTo>
                  <a:pt x="52" y="313"/>
                  <a:pt x="114" y="315"/>
                  <a:pt x="114" y="315"/>
                </a:cubicBezTo>
                <a:cubicBezTo>
                  <a:pt x="93" y="749"/>
                  <a:pt x="350" y="749"/>
                  <a:pt x="567" y="747"/>
                </a:cubicBezTo>
                <a:cubicBezTo>
                  <a:pt x="606" y="755"/>
                  <a:pt x="723" y="704"/>
                  <a:pt x="727" y="559"/>
                </a:cubicBezTo>
                <a:close/>
              </a:path>
            </a:pathLst>
          </a:custGeom>
          <a:solidFill>
            <a:schemeClr val="accent3"/>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6"/>
          <p:cNvSpPr/>
          <p:nvPr/>
        </p:nvSpPr>
        <p:spPr bwMode="auto">
          <a:xfrm>
            <a:off x="5813425" y="2878455"/>
            <a:ext cx="1444625" cy="1503045"/>
          </a:xfrm>
          <a:custGeom>
            <a:avLst/>
            <a:gdLst>
              <a:gd name="T0" fmla="*/ 0 w 727"/>
              <a:gd name="T1" fmla="*/ 559 h 756"/>
              <a:gd name="T2" fmla="*/ 173 w 727"/>
              <a:gd name="T3" fmla="*/ 526 h 756"/>
              <a:gd name="T4" fmla="*/ 401 w 727"/>
              <a:gd name="T5" fmla="*/ 314 h 756"/>
              <a:gd name="T6" fmla="*/ 324 w 727"/>
              <a:gd name="T7" fmla="*/ 311 h 756"/>
              <a:gd name="T8" fmla="*/ 314 w 727"/>
              <a:gd name="T9" fmla="*/ 275 h 756"/>
              <a:gd name="T10" fmla="*/ 482 w 727"/>
              <a:gd name="T11" fmla="*/ 27 h 756"/>
              <a:gd name="T12" fmla="*/ 524 w 727"/>
              <a:gd name="T13" fmla="*/ 27 h 756"/>
              <a:gd name="T14" fmla="*/ 712 w 727"/>
              <a:gd name="T15" fmla="*/ 280 h 756"/>
              <a:gd name="T16" fmla="*/ 703 w 727"/>
              <a:gd name="T17" fmla="*/ 311 h 756"/>
              <a:gd name="T18" fmla="*/ 613 w 727"/>
              <a:gd name="T19" fmla="*/ 316 h 756"/>
              <a:gd name="T20" fmla="*/ 160 w 727"/>
              <a:gd name="T21" fmla="*/ 748 h 756"/>
              <a:gd name="T22" fmla="*/ 0 w 727"/>
              <a:gd name="T23" fmla="*/ 559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27" h="756">
                <a:moveTo>
                  <a:pt x="0" y="559"/>
                </a:moveTo>
                <a:cubicBezTo>
                  <a:pt x="11" y="516"/>
                  <a:pt x="76" y="518"/>
                  <a:pt x="173" y="526"/>
                </a:cubicBezTo>
                <a:cubicBezTo>
                  <a:pt x="248" y="534"/>
                  <a:pt x="418" y="548"/>
                  <a:pt x="401" y="314"/>
                </a:cubicBezTo>
                <a:cubicBezTo>
                  <a:pt x="324" y="311"/>
                  <a:pt x="324" y="311"/>
                  <a:pt x="324" y="311"/>
                </a:cubicBezTo>
                <a:cubicBezTo>
                  <a:pt x="297" y="311"/>
                  <a:pt x="298" y="296"/>
                  <a:pt x="314" y="275"/>
                </a:cubicBezTo>
                <a:cubicBezTo>
                  <a:pt x="314" y="275"/>
                  <a:pt x="429" y="102"/>
                  <a:pt x="482" y="27"/>
                </a:cubicBezTo>
                <a:cubicBezTo>
                  <a:pt x="496" y="7"/>
                  <a:pt x="507" y="0"/>
                  <a:pt x="524" y="27"/>
                </a:cubicBezTo>
                <a:cubicBezTo>
                  <a:pt x="583" y="98"/>
                  <a:pt x="672" y="225"/>
                  <a:pt x="712" y="280"/>
                </a:cubicBezTo>
                <a:cubicBezTo>
                  <a:pt x="714" y="285"/>
                  <a:pt x="727" y="308"/>
                  <a:pt x="703" y="311"/>
                </a:cubicBezTo>
                <a:cubicBezTo>
                  <a:pt x="675" y="314"/>
                  <a:pt x="613" y="316"/>
                  <a:pt x="613" y="316"/>
                </a:cubicBezTo>
                <a:cubicBezTo>
                  <a:pt x="634" y="750"/>
                  <a:pt x="376" y="750"/>
                  <a:pt x="160" y="748"/>
                </a:cubicBezTo>
                <a:cubicBezTo>
                  <a:pt x="121" y="756"/>
                  <a:pt x="4" y="705"/>
                  <a:pt x="0" y="559"/>
                </a:cubicBezTo>
                <a:close/>
              </a:path>
            </a:pathLst>
          </a:custGeom>
          <a:solidFill>
            <a:schemeClr val="accent1"/>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7"/>
          <p:cNvSpPr/>
          <p:nvPr/>
        </p:nvSpPr>
        <p:spPr bwMode="auto">
          <a:xfrm>
            <a:off x="4819015" y="2055495"/>
            <a:ext cx="1445895" cy="1503045"/>
          </a:xfrm>
          <a:custGeom>
            <a:avLst/>
            <a:gdLst>
              <a:gd name="T0" fmla="*/ 727 w 727"/>
              <a:gd name="T1" fmla="*/ 559 h 756"/>
              <a:gd name="T2" fmla="*/ 554 w 727"/>
              <a:gd name="T3" fmla="*/ 526 h 756"/>
              <a:gd name="T4" fmla="*/ 326 w 727"/>
              <a:gd name="T5" fmla="*/ 314 h 756"/>
              <a:gd name="T6" fmla="*/ 403 w 727"/>
              <a:gd name="T7" fmla="*/ 311 h 756"/>
              <a:gd name="T8" fmla="*/ 413 w 727"/>
              <a:gd name="T9" fmla="*/ 275 h 756"/>
              <a:gd name="T10" fmla="*/ 245 w 727"/>
              <a:gd name="T11" fmla="*/ 27 h 756"/>
              <a:gd name="T12" fmla="*/ 203 w 727"/>
              <a:gd name="T13" fmla="*/ 27 h 756"/>
              <a:gd name="T14" fmla="*/ 15 w 727"/>
              <a:gd name="T15" fmla="*/ 280 h 756"/>
              <a:gd name="T16" fmla="*/ 24 w 727"/>
              <a:gd name="T17" fmla="*/ 311 h 756"/>
              <a:gd name="T18" fmla="*/ 114 w 727"/>
              <a:gd name="T19" fmla="*/ 316 h 756"/>
              <a:gd name="T20" fmla="*/ 567 w 727"/>
              <a:gd name="T21" fmla="*/ 748 h 756"/>
              <a:gd name="T22" fmla="*/ 727 w 727"/>
              <a:gd name="T23" fmla="*/ 559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27" h="756">
                <a:moveTo>
                  <a:pt x="727" y="559"/>
                </a:moveTo>
                <a:cubicBezTo>
                  <a:pt x="716" y="516"/>
                  <a:pt x="651" y="518"/>
                  <a:pt x="554" y="526"/>
                </a:cubicBezTo>
                <a:cubicBezTo>
                  <a:pt x="479" y="534"/>
                  <a:pt x="309" y="548"/>
                  <a:pt x="326" y="314"/>
                </a:cubicBezTo>
                <a:cubicBezTo>
                  <a:pt x="403" y="311"/>
                  <a:pt x="403" y="311"/>
                  <a:pt x="403" y="311"/>
                </a:cubicBezTo>
                <a:cubicBezTo>
                  <a:pt x="430" y="311"/>
                  <a:pt x="429" y="296"/>
                  <a:pt x="413" y="275"/>
                </a:cubicBezTo>
                <a:cubicBezTo>
                  <a:pt x="413" y="275"/>
                  <a:pt x="298" y="102"/>
                  <a:pt x="245" y="27"/>
                </a:cubicBezTo>
                <a:cubicBezTo>
                  <a:pt x="231" y="7"/>
                  <a:pt x="220" y="0"/>
                  <a:pt x="203" y="27"/>
                </a:cubicBezTo>
                <a:cubicBezTo>
                  <a:pt x="144" y="98"/>
                  <a:pt x="55" y="226"/>
                  <a:pt x="15" y="280"/>
                </a:cubicBezTo>
                <a:cubicBezTo>
                  <a:pt x="13" y="285"/>
                  <a:pt x="0" y="308"/>
                  <a:pt x="24" y="311"/>
                </a:cubicBezTo>
                <a:cubicBezTo>
                  <a:pt x="52" y="314"/>
                  <a:pt x="114" y="316"/>
                  <a:pt x="114" y="316"/>
                </a:cubicBezTo>
                <a:cubicBezTo>
                  <a:pt x="93" y="750"/>
                  <a:pt x="351" y="750"/>
                  <a:pt x="567" y="748"/>
                </a:cubicBezTo>
                <a:cubicBezTo>
                  <a:pt x="606" y="756"/>
                  <a:pt x="723" y="705"/>
                  <a:pt x="727" y="559"/>
                </a:cubicBezTo>
                <a:close/>
              </a:path>
            </a:pathLst>
          </a:custGeom>
          <a:solidFill>
            <a:schemeClr val="accent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8"/>
          <p:cNvSpPr/>
          <p:nvPr/>
        </p:nvSpPr>
        <p:spPr bwMode="auto">
          <a:xfrm>
            <a:off x="5895340" y="2143125"/>
            <a:ext cx="88900" cy="3806825"/>
          </a:xfrm>
          <a:custGeom>
            <a:avLst/>
            <a:gdLst>
              <a:gd name="T0" fmla="*/ 94 w 106"/>
              <a:gd name="T1" fmla="*/ 4529 h 4529"/>
              <a:gd name="T2" fmla="*/ 0 w 106"/>
              <a:gd name="T3" fmla="*/ 4484 h 4529"/>
              <a:gd name="T4" fmla="*/ 12 w 106"/>
              <a:gd name="T5" fmla="*/ 0 h 4529"/>
              <a:gd name="T6" fmla="*/ 106 w 106"/>
              <a:gd name="T7" fmla="*/ 0 h 4529"/>
              <a:gd name="T8" fmla="*/ 94 w 106"/>
              <a:gd name="T9" fmla="*/ 4529 h 4529"/>
            </a:gdLst>
            <a:ahLst/>
            <a:cxnLst>
              <a:cxn ang="0">
                <a:pos x="T0" y="T1"/>
              </a:cxn>
              <a:cxn ang="0">
                <a:pos x="T2" y="T3"/>
              </a:cxn>
              <a:cxn ang="0">
                <a:pos x="T4" y="T5"/>
              </a:cxn>
              <a:cxn ang="0">
                <a:pos x="T6" y="T7"/>
              </a:cxn>
              <a:cxn ang="0">
                <a:pos x="T8" y="T9"/>
              </a:cxn>
            </a:cxnLst>
            <a:rect l="0" t="0" r="r" b="b"/>
            <a:pathLst>
              <a:path w="106" h="4529">
                <a:moveTo>
                  <a:pt x="94" y="4529"/>
                </a:moveTo>
                <a:lnTo>
                  <a:pt x="0" y="4484"/>
                </a:lnTo>
                <a:lnTo>
                  <a:pt x="12" y="0"/>
                </a:lnTo>
                <a:lnTo>
                  <a:pt x="106" y="0"/>
                </a:lnTo>
                <a:lnTo>
                  <a:pt x="94" y="4529"/>
                </a:lnTo>
                <a:close/>
              </a:path>
            </a:pathLst>
          </a:custGeom>
          <a:solidFill>
            <a:srgbClr val="878787"/>
          </a:solidFill>
          <a:ln>
            <a:noFill/>
          </a:ln>
          <a:extLst>
            <a:ext uri="{91240B29-F687-4F45-9708-019B960494DF}">
              <a14:hiddenLine xmlns:a14="http://schemas.microsoft.com/office/drawing/2010/main" w="9525">
                <a:solidFill>
                  <a:srgbClr val="000000"/>
                </a:solidFill>
                <a:round/>
              </a14:hiddenLine>
            </a:ext>
          </a:extLst>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9"/>
          <p:cNvSpPr/>
          <p:nvPr/>
        </p:nvSpPr>
        <p:spPr bwMode="auto">
          <a:xfrm>
            <a:off x="6111875" y="2143125"/>
            <a:ext cx="87630" cy="3809365"/>
          </a:xfrm>
          <a:custGeom>
            <a:avLst/>
            <a:gdLst>
              <a:gd name="T0" fmla="*/ 87 w 104"/>
              <a:gd name="T1" fmla="*/ 4498 h 4532"/>
              <a:gd name="T2" fmla="*/ 0 w 104"/>
              <a:gd name="T3" fmla="*/ 4532 h 4532"/>
              <a:gd name="T4" fmla="*/ 11 w 104"/>
              <a:gd name="T5" fmla="*/ 0 h 4532"/>
              <a:gd name="T6" fmla="*/ 104 w 104"/>
              <a:gd name="T7" fmla="*/ 3 h 4532"/>
              <a:gd name="T8" fmla="*/ 87 w 104"/>
              <a:gd name="T9" fmla="*/ 4498 h 4532"/>
            </a:gdLst>
            <a:ahLst/>
            <a:cxnLst>
              <a:cxn ang="0">
                <a:pos x="T0" y="T1"/>
              </a:cxn>
              <a:cxn ang="0">
                <a:pos x="T2" y="T3"/>
              </a:cxn>
              <a:cxn ang="0">
                <a:pos x="T4" y="T5"/>
              </a:cxn>
              <a:cxn ang="0">
                <a:pos x="T6" y="T7"/>
              </a:cxn>
              <a:cxn ang="0">
                <a:pos x="T8" y="T9"/>
              </a:cxn>
            </a:cxnLst>
            <a:rect l="0" t="0" r="r" b="b"/>
            <a:pathLst>
              <a:path w="104" h="4532">
                <a:moveTo>
                  <a:pt x="87" y="4498"/>
                </a:moveTo>
                <a:lnTo>
                  <a:pt x="0" y="4532"/>
                </a:lnTo>
                <a:lnTo>
                  <a:pt x="11" y="0"/>
                </a:lnTo>
                <a:lnTo>
                  <a:pt x="104" y="3"/>
                </a:lnTo>
                <a:lnTo>
                  <a:pt x="87" y="4498"/>
                </a:lnTo>
                <a:close/>
              </a:path>
            </a:pathLst>
          </a:custGeom>
          <a:solidFill>
            <a:srgbClr val="878787"/>
          </a:solidFill>
          <a:ln>
            <a:noFill/>
          </a:ln>
          <a:extLst>
            <a:ext uri="{91240B29-F687-4F45-9708-019B960494DF}">
              <a14:hiddenLine xmlns:a14="http://schemas.microsoft.com/office/drawing/2010/main" w="9525">
                <a:solidFill>
                  <a:srgbClr val="000000"/>
                </a:solidFill>
                <a:round/>
              </a14:hiddenLine>
            </a:ext>
          </a:extLst>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10"/>
          <p:cNvSpPr/>
          <p:nvPr/>
        </p:nvSpPr>
        <p:spPr bwMode="auto">
          <a:xfrm>
            <a:off x="5970905" y="2143125"/>
            <a:ext cx="154940" cy="3809365"/>
          </a:xfrm>
          <a:custGeom>
            <a:avLst/>
            <a:gdLst>
              <a:gd name="T0" fmla="*/ 172 w 184"/>
              <a:gd name="T1" fmla="*/ 4532 h 4532"/>
              <a:gd name="T2" fmla="*/ 0 w 184"/>
              <a:gd name="T3" fmla="*/ 4529 h 4532"/>
              <a:gd name="T4" fmla="*/ 11 w 184"/>
              <a:gd name="T5" fmla="*/ 0 h 4532"/>
              <a:gd name="T6" fmla="*/ 184 w 184"/>
              <a:gd name="T7" fmla="*/ 0 h 4532"/>
              <a:gd name="T8" fmla="*/ 172 w 184"/>
              <a:gd name="T9" fmla="*/ 4532 h 4532"/>
            </a:gdLst>
            <a:ahLst/>
            <a:cxnLst>
              <a:cxn ang="0">
                <a:pos x="T0" y="T1"/>
              </a:cxn>
              <a:cxn ang="0">
                <a:pos x="T2" y="T3"/>
              </a:cxn>
              <a:cxn ang="0">
                <a:pos x="T4" y="T5"/>
              </a:cxn>
              <a:cxn ang="0">
                <a:pos x="T6" y="T7"/>
              </a:cxn>
              <a:cxn ang="0">
                <a:pos x="T8" y="T9"/>
              </a:cxn>
            </a:cxnLst>
            <a:rect l="0" t="0" r="r" b="b"/>
            <a:pathLst>
              <a:path w="184" h="4532">
                <a:moveTo>
                  <a:pt x="172" y="4532"/>
                </a:moveTo>
                <a:lnTo>
                  <a:pt x="0" y="4529"/>
                </a:lnTo>
                <a:lnTo>
                  <a:pt x="11" y="0"/>
                </a:lnTo>
                <a:lnTo>
                  <a:pt x="184" y="0"/>
                </a:lnTo>
                <a:lnTo>
                  <a:pt x="172" y="4532"/>
                </a:lnTo>
                <a:close/>
              </a:path>
            </a:pathLst>
          </a:custGeom>
          <a:solidFill>
            <a:srgbClr val="B3B3B3"/>
          </a:solidFill>
          <a:ln>
            <a:noFill/>
          </a:ln>
          <a:extLst>
            <a:ext uri="{91240B29-F687-4F45-9708-019B960494DF}">
              <a14:hiddenLine xmlns:a14="http://schemas.microsoft.com/office/drawing/2010/main" w="9525">
                <a:solidFill>
                  <a:srgbClr val="000000"/>
                </a:solidFill>
                <a:round/>
              </a14:hiddenLine>
            </a:ext>
          </a:extLst>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11"/>
          <p:cNvSpPr/>
          <p:nvPr/>
        </p:nvSpPr>
        <p:spPr bwMode="auto">
          <a:xfrm>
            <a:off x="5895340" y="5846445"/>
            <a:ext cx="294005" cy="614680"/>
          </a:xfrm>
          <a:custGeom>
            <a:avLst/>
            <a:gdLst>
              <a:gd name="T0" fmla="*/ 38 w 148"/>
              <a:gd name="T1" fmla="*/ 52 h 309"/>
              <a:gd name="T2" fmla="*/ 70 w 148"/>
              <a:gd name="T3" fmla="*/ 17 h 309"/>
              <a:gd name="T4" fmla="*/ 107 w 148"/>
              <a:gd name="T5" fmla="*/ 45 h 309"/>
              <a:gd name="T6" fmla="*/ 134 w 148"/>
              <a:gd name="T7" fmla="*/ 18 h 309"/>
              <a:gd name="T8" fmla="*/ 148 w 148"/>
              <a:gd name="T9" fmla="*/ 34 h 309"/>
              <a:gd name="T10" fmla="*/ 78 w 148"/>
              <a:gd name="T11" fmla="*/ 309 h 309"/>
              <a:gd name="T12" fmla="*/ 0 w 148"/>
              <a:gd name="T13" fmla="*/ 33 h 309"/>
              <a:gd name="T14" fmla="*/ 38 w 148"/>
              <a:gd name="T15" fmla="*/ 52 h 30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 h="309">
                <a:moveTo>
                  <a:pt x="38" y="52"/>
                </a:moveTo>
                <a:cubicBezTo>
                  <a:pt x="38" y="52"/>
                  <a:pt x="57" y="13"/>
                  <a:pt x="70" y="17"/>
                </a:cubicBezTo>
                <a:cubicBezTo>
                  <a:pt x="84" y="21"/>
                  <a:pt x="103" y="15"/>
                  <a:pt x="107" y="45"/>
                </a:cubicBezTo>
                <a:cubicBezTo>
                  <a:pt x="111" y="42"/>
                  <a:pt x="122" y="19"/>
                  <a:pt x="134" y="18"/>
                </a:cubicBezTo>
                <a:cubicBezTo>
                  <a:pt x="145" y="18"/>
                  <a:pt x="148" y="34"/>
                  <a:pt x="148" y="34"/>
                </a:cubicBezTo>
                <a:cubicBezTo>
                  <a:pt x="78" y="309"/>
                  <a:pt x="78" y="309"/>
                  <a:pt x="78" y="309"/>
                </a:cubicBezTo>
                <a:cubicBezTo>
                  <a:pt x="0" y="33"/>
                  <a:pt x="0" y="33"/>
                  <a:pt x="0" y="33"/>
                </a:cubicBezTo>
                <a:cubicBezTo>
                  <a:pt x="0" y="33"/>
                  <a:pt x="24" y="0"/>
                  <a:pt x="38" y="52"/>
                </a:cubicBezTo>
                <a:close/>
              </a:path>
            </a:pathLst>
          </a:custGeom>
          <a:solidFill>
            <a:srgbClr val="F3E1D1"/>
          </a:solidFill>
          <a:ln>
            <a:noFill/>
          </a:ln>
          <a:extLst>
            <a:ext uri="{91240B29-F687-4F45-9708-019B960494DF}">
              <a14:hiddenLine xmlns:a14="http://schemas.microsoft.com/office/drawing/2010/main" w="9525">
                <a:solidFill>
                  <a:srgbClr val="000000"/>
                </a:solidFill>
                <a:round/>
              </a14:hiddenLine>
            </a:ext>
          </a:extLst>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12"/>
          <p:cNvSpPr/>
          <p:nvPr/>
        </p:nvSpPr>
        <p:spPr bwMode="auto">
          <a:xfrm>
            <a:off x="5994400" y="6216650"/>
            <a:ext cx="107315" cy="244475"/>
          </a:xfrm>
          <a:custGeom>
            <a:avLst/>
            <a:gdLst>
              <a:gd name="T0" fmla="*/ 0 w 54"/>
              <a:gd name="T1" fmla="*/ 23 h 123"/>
              <a:gd name="T2" fmla="*/ 28 w 54"/>
              <a:gd name="T3" fmla="*/ 123 h 123"/>
              <a:gd name="T4" fmla="*/ 54 w 54"/>
              <a:gd name="T5" fmla="*/ 23 h 123"/>
              <a:gd name="T6" fmla="*/ 0 w 54"/>
              <a:gd name="T7" fmla="*/ 23 h 123"/>
            </a:gdLst>
            <a:ahLst/>
            <a:cxnLst>
              <a:cxn ang="0">
                <a:pos x="T0" y="T1"/>
              </a:cxn>
              <a:cxn ang="0">
                <a:pos x="T2" y="T3"/>
              </a:cxn>
              <a:cxn ang="0">
                <a:pos x="T4" y="T5"/>
              </a:cxn>
              <a:cxn ang="0">
                <a:pos x="T6" y="T7"/>
              </a:cxn>
            </a:cxnLst>
            <a:rect l="0" t="0" r="r" b="b"/>
            <a:pathLst>
              <a:path w="54" h="123">
                <a:moveTo>
                  <a:pt x="0" y="23"/>
                </a:moveTo>
                <a:cubicBezTo>
                  <a:pt x="28" y="123"/>
                  <a:pt x="28" y="123"/>
                  <a:pt x="28" y="123"/>
                </a:cubicBezTo>
                <a:cubicBezTo>
                  <a:pt x="54" y="23"/>
                  <a:pt x="54" y="23"/>
                  <a:pt x="54" y="23"/>
                </a:cubicBezTo>
                <a:cubicBezTo>
                  <a:pt x="54" y="23"/>
                  <a:pt x="27" y="0"/>
                  <a:pt x="0" y="23"/>
                </a:cubicBez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Rectangle 13"/>
          <p:cNvSpPr>
            <a:spLocks noChangeArrowheads="1"/>
          </p:cNvSpPr>
          <p:nvPr/>
        </p:nvSpPr>
        <p:spPr bwMode="auto">
          <a:xfrm>
            <a:off x="5905500" y="2143125"/>
            <a:ext cx="297815" cy="267970"/>
          </a:xfrm>
          <a:prstGeom prst="rect">
            <a:avLst/>
          </a:pr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14"/>
          <p:cNvSpPr/>
          <p:nvPr/>
        </p:nvSpPr>
        <p:spPr bwMode="auto">
          <a:xfrm>
            <a:off x="5895340" y="3166745"/>
            <a:ext cx="373380" cy="2785745"/>
          </a:xfrm>
          <a:custGeom>
            <a:avLst/>
            <a:gdLst>
              <a:gd name="T0" fmla="*/ 38 w 188"/>
              <a:gd name="T1" fmla="*/ 1401 h 1401"/>
              <a:gd name="T2" fmla="*/ 40 w 188"/>
              <a:gd name="T3" fmla="*/ 246 h 1401"/>
              <a:gd name="T4" fmla="*/ 188 w 188"/>
              <a:gd name="T5" fmla="*/ 187 h 1401"/>
              <a:gd name="T6" fmla="*/ 186 w 188"/>
              <a:gd name="T7" fmla="*/ 0 h 1401"/>
              <a:gd name="T8" fmla="*/ 3 w 188"/>
              <a:gd name="T9" fmla="*/ 226 h 1401"/>
              <a:gd name="T10" fmla="*/ 0 w 188"/>
              <a:gd name="T11" fmla="*/ 1381 h 1401"/>
              <a:gd name="T12" fmla="*/ 38 w 188"/>
              <a:gd name="T13" fmla="*/ 1401 h 1401"/>
            </a:gdLst>
            <a:ahLst/>
            <a:cxnLst>
              <a:cxn ang="0">
                <a:pos x="T0" y="T1"/>
              </a:cxn>
              <a:cxn ang="0">
                <a:pos x="T2" y="T3"/>
              </a:cxn>
              <a:cxn ang="0">
                <a:pos x="T4" y="T5"/>
              </a:cxn>
              <a:cxn ang="0">
                <a:pos x="T6" y="T7"/>
              </a:cxn>
              <a:cxn ang="0">
                <a:pos x="T8" y="T9"/>
              </a:cxn>
              <a:cxn ang="0">
                <a:pos x="T10" y="T11"/>
              </a:cxn>
              <a:cxn ang="0">
                <a:pos x="T12" y="T13"/>
              </a:cxn>
            </a:cxnLst>
            <a:rect l="0" t="0" r="r" b="b"/>
            <a:pathLst>
              <a:path w="188" h="1401">
                <a:moveTo>
                  <a:pt x="38" y="1401"/>
                </a:moveTo>
                <a:cubicBezTo>
                  <a:pt x="40" y="246"/>
                  <a:pt x="40" y="246"/>
                  <a:pt x="40" y="246"/>
                </a:cubicBezTo>
                <a:cubicBezTo>
                  <a:pt x="131" y="218"/>
                  <a:pt x="182" y="213"/>
                  <a:pt x="188" y="187"/>
                </a:cubicBezTo>
                <a:cubicBezTo>
                  <a:pt x="186" y="0"/>
                  <a:pt x="186" y="0"/>
                  <a:pt x="186" y="0"/>
                </a:cubicBezTo>
                <a:cubicBezTo>
                  <a:pt x="171" y="93"/>
                  <a:pt x="3" y="184"/>
                  <a:pt x="3" y="226"/>
                </a:cubicBezTo>
                <a:cubicBezTo>
                  <a:pt x="0" y="1381"/>
                  <a:pt x="0" y="1381"/>
                  <a:pt x="0" y="1381"/>
                </a:cubicBezTo>
                <a:cubicBezTo>
                  <a:pt x="14" y="1364"/>
                  <a:pt x="30" y="1368"/>
                  <a:pt x="38" y="1401"/>
                </a:cubicBezTo>
                <a:close/>
              </a:path>
            </a:pathLst>
          </a:custGeom>
          <a:solidFill>
            <a:schemeClr val="accent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15"/>
          <p:cNvSpPr/>
          <p:nvPr/>
        </p:nvSpPr>
        <p:spPr bwMode="auto">
          <a:xfrm>
            <a:off x="5809615" y="3989705"/>
            <a:ext cx="381635" cy="1957070"/>
          </a:xfrm>
          <a:custGeom>
            <a:avLst/>
            <a:gdLst>
              <a:gd name="T0" fmla="*/ 151 w 192"/>
              <a:gd name="T1" fmla="*/ 984 h 984"/>
              <a:gd name="T2" fmla="*/ 154 w 192"/>
              <a:gd name="T3" fmla="*/ 256 h 984"/>
              <a:gd name="T4" fmla="*/ 0 w 192"/>
              <a:gd name="T5" fmla="*/ 195 h 984"/>
              <a:gd name="T6" fmla="*/ 2 w 192"/>
              <a:gd name="T7" fmla="*/ 0 h 984"/>
              <a:gd name="T8" fmla="*/ 192 w 192"/>
              <a:gd name="T9" fmla="*/ 235 h 984"/>
              <a:gd name="T10" fmla="*/ 191 w 192"/>
              <a:gd name="T11" fmla="*/ 968 h 984"/>
              <a:gd name="T12" fmla="*/ 151 w 192"/>
              <a:gd name="T13" fmla="*/ 984 h 984"/>
            </a:gdLst>
            <a:ahLst/>
            <a:cxnLst>
              <a:cxn ang="0">
                <a:pos x="T0" y="T1"/>
              </a:cxn>
              <a:cxn ang="0">
                <a:pos x="T2" y="T3"/>
              </a:cxn>
              <a:cxn ang="0">
                <a:pos x="T4" y="T5"/>
              </a:cxn>
              <a:cxn ang="0">
                <a:pos x="T6" y="T7"/>
              </a:cxn>
              <a:cxn ang="0">
                <a:pos x="T8" y="T9"/>
              </a:cxn>
              <a:cxn ang="0">
                <a:pos x="T10" y="T11"/>
              </a:cxn>
              <a:cxn ang="0">
                <a:pos x="T12" y="T13"/>
              </a:cxn>
            </a:cxnLst>
            <a:rect l="0" t="0" r="r" b="b"/>
            <a:pathLst>
              <a:path w="192" h="984">
                <a:moveTo>
                  <a:pt x="151" y="984"/>
                </a:moveTo>
                <a:cubicBezTo>
                  <a:pt x="154" y="256"/>
                  <a:pt x="154" y="256"/>
                  <a:pt x="154" y="256"/>
                </a:cubicBezTo>
                <a:cubicBezTo>
                  <a:pt x="59" y="227"/>
                  <a:pt x="6" y="221"/>
                  <a:pt x="0" y="195"/>
                </a:cubicBezTo>
                <a:cubicBezTo>
                  <a:pt x="2" y="0"/>
                  <a:pt x="2" y="0"/>
                  <a:pt x="2" y="0"/>
                </a:cubicBezTo>
                <a:cubicBezTo>
                  <a:pt x="18" y="97"/>
                  <a:pt x="192" y="192"/>
                  <a:pt x="192" y="235"/>
                </a:cubicBezTo>
                <a:cubicBezTo>
                  <a:pt x="191" y="968"/>
                  <a:pt x="191" y="968"/>
                  <a:pt x="191" y="968"/>
                </a:cubicBezTo>
                <a:cubicBezTo>
                  <a:pt x="186" y="945"/>
                  <a:pt x="164" y="947"/>
                  <a:pt x="151" y="984"/>
                </a:cubicBezTo>
                <a:close/>
              </a:path>
            </a:pathLst>
          </a:custGeom>
          <a:solidFill>
            <a:schemeClr val="accent1"/>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7" name="Freeform 56"/>
          <p:cNvSpPr/>
          <p:nvPr/>
        </p:nvSpPr>
        <p:spPr bwMode="auto">
          <a:xfrm>
            <a:off x="6017895" y="3099435"/>
            <a:ext cx="78105" cy="51435"/>
          </a:xfrm>
          <a:custGeom>
            <a:avLst/>
            <a:gdLst>
              <a:gd name="T0" fmla="*/ 10 w 39"/>
              <a:gd name="T1" fmla="*/ 6 h 26"/>
              <a:gd name="T2" fmla="*/ 3 w 39"/>
              <a:gd name="T3" fmla="*/ 14 h 26"/>
              <a:gd name="T4" fmla="*/ 9 w 39"/>
              <a:gd name="T5" fmla="*/ 21 h 26"/>
              <a:gd name="T6" fmla="*/ 27 w 39"/>
              <a:gd name="T7" fmla="*/ 0 h 26"/>
              <a:gd name="T8" fmla="*/ 39 w 39"/>
              <a:gd name="T9" fmla="*/ 13 h 26"/>
              <a:gd name="T10" fmla="*/ 29 w 39"/>
              <a:gd name="T11" fmla="*/ 26 h 26"/>
              <a:gd name="T12" fmla="*/ 27 w 39"/>
              <a:gd name="T13" fmla="*/ 23 h 26"/>
              <a:gd name="T14" fmla="*/ 35 w 39"/>
              <a:gd name="T15" fmla="*/ 13 h 26"/>
              <a:gd name="T16" fmla="*/ 28 w 39"/>
              <a:gd name="T17" fmla="*/ 4 h 26"/>
              <a:gd name="T18" fmla="*/ 10 w 39"/>
              <a:gd name="T19" fmla="*/ 26 h 26"/>
              <a:gd name="T20" fmla="*/ 0 w 39"/>
              <a:gd name="T21" fmla="*/ 14 h 26"/>
              <a:gd name="T22" fmla="*/ 9 w 39"/>
              <a:gd name="T23" fmla="*/ 2 h 26"/>
              <a:gd name="T24" fmla="*/ 10 w 39"/>
              <a:gd name="T25" fmla="*/ 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26">
                <a:moveTo>
                  <a:pt x="10" y="6"/>
                </a:moveTo>
                <a:cubicBezTo>
                  <a:pt x="6" y="7"/>
                  <a:pt x="3" y="10"/>
                  <a:pt x="3" y="14"/>
                </a:cubicBezTo>
                <a:cubicBezTo>
                  <a:pt x="3" y="19"/>
                  <a:pt x="5" y="21"/>
                  <a:pt x="9" y="21"/>
                </a:cubicBezTo>
                <a:cubicBezTo>
                  <a:pt x="17" y="22"/>
                  <a:pt x="15" y="0"/>
                  <a:pt x="27" y="0"/>
                </a:cubicBezTo>
                <a:cubicBezTo>
                  <a:pt x="33" y="0"/>
                  <a:pt x="39" y="3"/>
                  <a:pt x="39" y="13"/>
                </a:cubicBezTo>
                <a:cubicBezTo>
                  <a:pt x="39" y="21"/>
                  <a:pt x="33" y="24"/>
                  <a:pt x="29" y="26"/>
                </a:cubicBezTo>
                <a:cubicBezTo>
                  <a:pt x="27" y="23"/>
                  <a:pt x="27" y="23"/>
                  <a:pt x="27" y="23"/>
                </a:cubicBezTo>
                <a:cubicBezTo>
                  <a:pt x="31" y="21"/>
                  <a:pt x="35" y="18"/>
                  <a:pt x="35" y="13"/>
                </a:cubicBezTo>
                <a:cubicBezTo>
                  <a:pt x="35" y="7"/>
                  <a:pt x="32" y="4"/>
                  <a:pt x="28" y="4"/>
                </a:cubicBezTo>
                <a:cubicBezTo>
                  <a:pt x="19" y="4"/>
                  <a:pt x="21" y="26"/>
                  <a:pt x="10" y="26"/>
                </a:cubicBezTo>
                <a:cubicBezTo>
                  <a:pt x="4" y="26"/>
                  <a:pt x="0" y="21"/>
                  <a:pt x="0" y="14"/>
                </a:cubicBezTo>
                <a:cubicBezTo>
                  <a:pt x="0" y="8"/>
                  <a:pt x="3" y="4"/>
                  <a:pt x="9" y="2"/>
                </a:cubicBezTo>
                <a:lnTo>
                  <a:pt x="10" y="6"/>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8" name="Freeform 57"/>
          <p:cNvSpPr>
            <a:spLocks noEditPoints="1"/>
          </p:cNvSpPr>
          <p:nvPr/>
        </p:nvSpPr>
        <p:spPr bwMode="auto">
          <a:xfrm>
            <a:off x="6017895" y="3031490"/>
            <a:ext cx="75565" cy="59690"/>
          </a:xfrm>
          <a:custGeom>
            <a:avLst/>
            <a:gdLst>
              <a:gd name="T0" fmla="*/ 90 w 90"/>
              <a:gd name="T1" fmla="*/ 71 h 71"/>
              <a:gd name="T2" fmla="*/ 0 w 90"/>
              <a:gd name="T3" fmla="*/ 43 h 71"/>
              <a:gd name="T4" fmla="*/ 0 w 90"/>
              <a:gd name="T5" fmla="*/ 29 h 71"/>
              <a:gd name="T6" fmla="*/ 90 w 90"/>
              <a:gd name="T7" fmla="*/ 0 h 71"/>
              <a:gd name="T8" fmla="*/ 90 w 90"/>
              <a:gd name="T9" fmla="*/ 12 h 71"/>
              <a:gd name="T10" fmla="*/ 62 w 90"/>
              <a:gd name="T11" fmla="*/ 19 h 71"/>
              <a:gd name="T12" fmla="*/ 62 w 90"/>
              <a:gd name="T13" fmla="*/ 52 h 71"/>
              <a:gd name="T14" fmla="*/ 90 w 90"/>
              <a:gd name="T15" fmla="*/ 59 h 71"/>
              <a:gd name="T16" fmla="*/ 90 w 90"/>
              <a:gd name="T17" fmla="*/ 71 h 71"/>
              <a:gd name="T18" fmla="*/ 55 w 90"/>
              <a:gd name="T19" fmla="*/ 50 h 71"/>
              <a:gd name="T20" fmla="*/ 55 w 90"/>
              <a:gd name="T21" fmla="*/ 22 h 71"/>
              <a:gd name="T22" fmla="*/ 7 w 90"/>
              <a:gd name="T23" fmla="*/ 36 h 71"/>
              <a:gd name="T24" fmla="*/ 7 w 90"/>
              <a:gd name="T25" fmla="*/ 36 h 71"/>
              <a:gd name="T26" fmla="*/ 55 w 90"/>
              <a:gd name="T27" fmla="*/ 5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71">
                <a:moveTo>
                  <a:pt x="90" y="71"/>
                </a:moveTo>
                <a:lnTo>
                  <a:pt x="0" y="43"/>
                </a:lnTo>
                <a:lnTo>
                  <a:pt x="0" y="29"/>
                </a:lnTo>
                <a:lnTo>
                  <a:pt x="90" y="0"/>
                </a:lnTo>
                <a:lnTo>
                  <a:pt x="90" y="12"/>
                </a:lnTo>
                <a:lnTo>
                  <a:pt x="62" y="19"/>
                </a:lnTo>
                <a:lnTo>
                  <a:pt x="62" y="52"/>
                </a:lnTo>
                <a:lnTo>
                  <a:pt x="90" y="59"/>
                </a:lnTo>
                <a:lnTo>
                  <a:pt x="90" y="71"/>
                </a:lnTo>
                <a:close/>
                <a:moveTo>
                  <a:pt x="55" y="50"/>
                </a:moveTo>
                <a:lnTo>
                  <a:pt x="55" y="22"/>
                </a:lnTo>
                <a:lnTo>
                  <a:pt x="7" y="36"/>
                </a:lnTo>
                <a:lnTo>
                  <a:pt x="7" y="36"/>
                </a:lnTo>
                <a:lnTo>
                  <a:pt x="55" y="50"/>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9" name="Freeform 58"/>
          <p:cNvSpPr/>
          <p:nvPr/>
        </p:nvSpPr>
        <p:spPr bwMode="auto">
          <a:xfrm>
            <a:off x="6017895" y="2954020"/>
            <a:ext cx="75565" cy="64135"/>
          </a:xfrm>
          <a:custGeom>
            <a:avLst/>
            <a:gdLst>
              <a:gd name="T0" fmla="*/ 90 w 90"/>
              <a:gd name="T1" fmla="*/ 10 h 76"/>
              <a:gd name="T2" fmla="*/ 10 w 90"/>
              <a:gd name="T3" fmla="*/ 10 h 76"/>
              <a:gd name="T4" fmla="*/ 10 w 90"/>
              <a:gd name="T5" fmla="*/ 10 h 76"/>
              <a:gd name="T6" fmla="*/ 90 w 90"/>
              <a:gd name="T7" fmla="*/ 36 h 76"/>
              <a:gd name="T8" fmla="*/ 90 w 90"/>
              <a:gd name="T9" fmla="*/ 43 h 76"/>
              <a:gd name="T10" fmla="*/ 10 w 90"/>
              <a:gd name="T11" fmla="*/ 69 h 76"/>
              <a:gd name="T12" fmla="*/ 10 w 90"/>
              <a:gd name="T13" fmla="*/ 69 h 76"/>
              <a:gd name="T14" fmla="*/ 90 w 90"/>
              <a:gd name="T15" fmla="*/ 69 h 76"/>
              <a:gd name="T16" fmla="*/ 90 w 90"/>
              <a:gd name="T17" fmla="*/ 76 h 76"/>
              <a:gd name="T18" fmla="*/ 0 w 90"/>
              <a:gd name="T19" fmla="*/ 76 h 76"/>
              <a:gd name="T20" fmla="*/ 0 w 90"/>
              <a:gd name="T21" fmla="*/ 62 h 76"/>
              <a:gd name="T22" fmla="*/ 74 w 90"/>
              <a:gd name="T23" fmla="*/ 38 h 76"/>
              <a:gd name="T24" fmla="*/ 74 w 90"/>
              <a:gd name="T25" fmla="*/ 38 h 76"/>
              <a:gd name="T26" fmla="*/ 0 w 90"/>
              <a:gd name="T27" fmla="*/ 17 h 76"/>
              <a:gd name="T28" fmla="*/ 0 w 90"/>
              <a:gd name="T29" fmla="*/ 0 h 76"/>
              <a:gd name="T30" fmla="*/ 90 w 90"/>
              <a:gd name="T31" fmla="*/ 0 h 76"/>
              <a:gd name="T32" fmla="*/ 90 w 90"/>
              <a:gd name="T33" fmla="*/ 1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0" h="76">
                <a:moveTo>
                  <a:pt x="90" y="10"/>
                </a:moveTo>
                <a:lnTo>
                  <a:pt x="10" y="10"/>
                </a:lnTo>
                <a:lnTo>
                  <a:pt x="10" y="10"/>
                </a:lnTo>
                <a:lnTo>
                  <a:pt x="90" y="36"/>
                </a:lnTo>
                <a:lnTo>
                  <a:pt x="90" y="43"/>
                </a:lnTo>
                <a:lnTo>
                  <a:pt x="10" y="69"/>
                </a:lnTo>
                <a:lnTo>
                  <a:pt x="10" y="69"/>
                </a:lnTo>
                <a:lnTo>
                  <a:pt x="90" y="69"/>
                </a:lnTo>
                <a:lnTo>
                  <a:pt x="90" y="76"/>
                </a:lnTo>
                <a:lnTo>
                  <a:pt x="0" y="76"/>
                </a:lnTo>
                <a:lnTo>
                  <a:pt x="0" y="62"/>
                </a:lnTo>
                <a:lnTo>
                  <a:pt x="74" y="38"/>
                </a:lnTo>
                <a:lnTo>
                  <a:pt x="74" y="38"/>
                </a:lnTo>
                <a:lnTo>
                  <a:pt x="0" y="17"/>
                </a:lnTo>
                <a:lnTo>
                  <a:pt x="0" y="0"/>
                </a:lnTo>
                <a:lnTo>
                  <a:pt x="90" y="0"/>
                </a:lnTo>
                <a:lnTo>
                  <a:pt x="90" y="10"/>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0" name="Freeform 59"/>
          <p:cNvSpPr>
            <a:spLocks noEditPoints="1"/>
          </p:cNvSpPr>
          <p:nvPr/>
        </p:nvSpPr>
        <p:spPr bwMode="auto">
          <a:xfrm>
            <a:off x="6017895" y="2884805"/>
            <a:ext cx="75565" cy="47625"/>
          </a:xfrm>
          <a:custGeom>
            <a:avLst/>
            <a:gdLst>
              <a:gd name="T0" fmla="*/ 38 w 38"/>
              <a:gd name="T1" fmla="*/ 24 h 24"/>
              <a:gd name="T2" fmla="*/ 0 w 38"/>
              <a:gd name="T3" fmla="*/ 24 h 24"/>
              <a:gd name="T4" fmla="*/ 0 w 38"/>
              <a:gd name="T5" fmla="*/ 11 h 24"/>
              <a:gd name="T6" fmla="*/ 11 w 38"/>
              <a:gd name="T7" fmla="*/ 0 h 24"/>
              <a:gd name="T8" fmla="*/ 21 w 38"/>
              <a:gd name="T9" fmla="*/ 13 h 24"/>
              <a:gd name="T10" fmla="*/ 21 w 38"/>
              <a:gd name="T11" fmla="*/ 20 h 24"/>
              <a:gd name="T12" fmla="*/ 38 w 38"/>
              <a:gd name="T13" fmla="*/ 20 h 24"/>
              <a:gd name="T14" fmla="*/ 38 w 38"/>
              <a:gd name="T15" fmla="*/ 24 h 24"/>
              <a:gd name="T16" fmla="*/ 18 w 38"/>
              <a:gd name="T17" fmla="*/ 20 h 24"/>
              <a:gd name="T18" fmla="*/ 18 w 38"/>
              <a:gd name="T19" fmla="*/ 13 h 24"/>
              <a:gd name="T20" fmla="*/ 11 w 38"/>
              <a:gd name="T21" fmla="*/ 4 h 24"/>
              <a:gd name="T22" fmla="*/ 4 w 38"/>
              <a:gd name="T23" fmla="*/ 12 h 24"/>
              <a:gd name="T24" fmla="*/ 4 w 38"/>
              <a:gd name="T25" fmla="*/ 20 h 24"/>
              <a:gd name="T26" fmla="*/ 18 w 38"/>
              <a:gd name="T27"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 h="24">
                <a:moveTo>
                  <a:pt x="38" y="24"/>
                </a:moveTo>
                <a:cubicBezTo>
                  <a:pt x="0" y="24"/>
                  <a:pt x="0" y="24"/>
                  <a:pt x="0" y="24"/>
                </a:cubicBezTo>
                <a:cubicBezTo>
                  <a:pt x="0" y="11"/>
                  <a:pt x="0" y="11"/>
                  <a:pt x="0" y="11"/>
                </a:cubicBezTo>
                <a:cubicBezTo>
                  <a:pt x="0" y="3"/>
                  <a:pt x="5" y="0"/>
                  <a:pt x="11" y="0"/>
                </a:cubicBezTo>
                <a:cubicBezTo>
                  <a:pt x="17" y="0"/>
                  <a:pt x="21" y="4"/>
                  <a:pt x="21" y="13"/>
                </a:cubicBezTo>
                <a:cubicBezTo>
                  <a:pt x="21" y="20"/>
                  <a:pt x="21" y="20"/>
                  <a:pt x="21" y="20"/>
                </a:cubicBezTo>
                <a:cubicBezTo>
                  <a:pt x="38" y="20"/>
                  <a:pt x="38" y="20"/>
                  <a:pt x="38" y="20"/>
                </a:cubicBezTo>
                <a:lnTo>
                  <a:pt x="38" y="24"/>
                </a:lnTo>
                <a:close/>
                <a:moveTo>
                  <a:pt x="18" y="20"/>
                </a:moveTo>
                <a:cubicBezTo>
                  <a:pt x="18" y="13"/>
                  <a:pt x="18" y="13"/>
                  <a:pt x="18" y="13"/>
                </a:cubicBezTo>
                <a:cubicBezTo>
                  <a:pt x="18" y="6"/>
                  <a:pt x="15" y="4"/>
                  <a:pt x="11" y="4"/>
                </a:cubicBezTo>
                <a:cubicBezTo>
                  <a:pt x="6" y="4"/>
                  <a:pt x="4" y="6"/>
                  <a:pt x="4" y="12"/>
                </a:cubicBezTo>
                <a:cubicBezTo>
                  <a:pt x="4" y="20"/>
                  <a:pt x="4" y="20"/>
                  <a:pt x="4" y="20"/>
                </a:cubicBezTo>
                <a:lnTo>
                  <a:pt x="18" y="20"/>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1" name="Freeform 60"/>
          <p:cNvSpPr/>
          <p:nvPr/>
        </p:nvSpPr>
        <p:spPr bwMode="auto">
          <a:xfrm>
            <a:off x="6017895" y="2825115"/>
            <a:ext cx="75565" cy="43815"/>
          </a:xfrm>
          <a:custGeom>
            <a:avLst/>
            <a:gdLst>
              <a:gd name="T0" fmla="*/ 90 w 90"/>
              <a:gd name="T1" fmla="*/ 52 h 52"/>
              <a:gd name="T2" fmla="*/ 0 w 90"/>
              <a:gd name="T3" fmla="*/ 52 h 52"/>
              <a:gd name="T4" fmla="*/ 0 w 90"/>
              <a:gd name="T5" fmla="*/ 43 h 52"/>
              <a:gd name="T6" fmla="*/ 81 w 90"/>
              <a:gd name="T7" fmla="*/ 43 h 52"/>
              <a:gd name="T8" fmla="*/ 81 w 90"/>
              <a:gd name="T9" fmla="*/ 0 h 52"/>
              <a:gd name="T10" fmla="*/ 90 w 90"/>
              <a:gd name="T11" fmla="*/ 0 h 52"/>
              <a:gd name="T12" fmla="*/ 90 w 90"/>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90" h="52">
                <a:moveTo>
                  <a:pt x="90" y="52"/>
                </a:moveTo>
                <a:lnTo>
                  <a:pt x="0" y="52"/>
                </a:lnTo>
                <a:lnTo>
                  <a:pt x="0" y="43"/>
                </a:lnTo>
                <a:lnTo>
                  <a:pt x="81" y="43"/>
                </a:lnTo>
                <a:lnTo>
                  <a:pt x="81" y="0"/>
                </a:lnTo>
                <a:lnTo>
                  <a:pt x="90" y="0"/>
                </a:lnTo>
                <a:lnTo>
                  <a:pt x="90" y="52"/>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2" name="Freeform 61"/>
          <p:cNvSpPr/>
          <p:nvPr/>
        </p:nvSpPr>
        <p:spPr bwMode="auto">
          <a:xfrm>
            <a:off x="6017895" y="2763520"/>
            <a:ext cx="75565" cy="47625"/>
          </a:xfrm>
          <a:custGeom>
            <a:avLst/>
            <a:gdLst>
              <a:gd name="T0" fmla="*/ 0 w 90"/>
              <a:gd name="T1" fmla="*/ 2 h 57"/>
              <a:gd name="T2" fmla="*/ 10 w 90"/>
              <a:gd name="T3" fmla="*/ 2 h 57"/>
              <a:gd name="T4" fmla="*/ 10 w 90"/>
              <a:gd name="T5" fmla="*/ 47 h 57"/>
              <a:gd name="T6" fmla="*/ 41 w 90"/>
              <a:gd name="T7" fmla="*/ 47 h 57"/>
              <a:gd name="T8" fmla="*/ 41 w 90"/>
              <a:gd name="T9" fmla="*/ 17 h 57"/>
              <a:gd name="T10" fmla="*/ 48 w 90"/>
              <a:gd name="T11" fmla="*/ 17 h 57"/>
              <a:gd name="T12" fmla="*/ 48 w 90"/>
              <a:gd name="T13" fmla="*/ 47 h 57"/>
              <a:gd name="T14" fmla="*/ 81 w 90"/>
              <a:gd name="T15" fmla="*/ 47 h 57"/>
              <a:gd name="T16" fmla="*/ 81 w 90"/>
              <a:gd name="T17" fmla="*/ 0 h 57"/>
              <a:gd name="T18" fmla="*/ 90 w 90"/>
              <a:gd name="T19" fmla="*/ 0 h 57"/>
              <a:gd name="T20" fmla="*/ 90 w 90"/>
              <a:gd name="T21" fmla="*/ 57 h 57"/>
              <a:gd name="T22" fmla="*/ 0 w 90"/>
              <a:gd name="T23" fmla="*/ 57 h 57"/>
              <a:gd name="T24" fmla="*/ 0 w 90"/>
              <a:gd name="T25"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57">
                <a:moveTo>
                  <a:pt x="0" y="2"/>
                </a:moveTo>
                <a:lnTo>
                  <a:pt x="10" y="2"/>
                </a:lnTo>
                <a:lnTo>
                  <a:pt x="10" y="47"/>
                </a:lnTo>
                <a:lnTo>
                  <a:pt x="41" y="47"/>
                </a:lnTo>
                <a:lnTo>
                  <a:pt x="41" y="17"/>
                </a:lnTo>
                <a:lnTo>
                  <a:pt x="48" y="17"/>
                </a:lnTo>
                <a:lnTo>
                  <a:pt x="48" y="47"/>
                </a:lnTo>
                <a:lnTo>
                  <a:pt x="81" y="47"/>
                </a:lnTo>
                <a:lnTo>
                  <a:pt x="81" y="0"/>
                </a:lnTo>
                <a:lnTo>
                  <a:pt x="90" y="0"/>
                </a:lnTo>
                <a:lnTo>
                  <a:pt x="90" y="57"/>
                </a:lnTo>
                <a:lnTo>
                  <a:pt x="0" y="57"/>
                </a:lnTo>
                <a:lnTo>
                  <a:pt x="0" y="2"/>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3" name="Freeform 62"/>
          <p:cNvSpPr/>
          <p:nvPr/>
        </p:nvSpPr>
        <p:spPr bwMode="auto">
          <a:xfrm>
            <a:off x="6017895" y="2672080"/>
            <a:ext cx="75565" cy="52070"/>
          </a:xfrm>
          <a:custGeom>
            <a:avLst/>
            <a:gdLst>
              <a:gd name="T0" fmla="*/ 10 w 90"/>
              <a:gd name="T1" fmla="*/ 26 h 62"/>
              <a:gd name="T2" fmla="*/ 90 w 90"/>
              <a:gd name="T3" fmla="*/ 26 h 62"/>
              <a:gd name="T4" fmla="*/ 90 w 90"/>
              <a:gd name="T5" fmla="*/ 36 h 62"/>
              <a:gd name="T6" fmla="*/ 10 w 90"/>
              <a:gd name="T7" fmla="*/ 36 h 62"/>
              <a:gd name="T8" fmla="*/ 10 w 90"/>
              <a:gd name="T9" fmla="*/ 62 h 62"/>
              <a:gd name="T10" fmla="*/ 0 w 90"/>
              <a:gd name="T11" fmla="*/ 62 h 62"/>
              <a:gd name="T12" fmla="*/ 0 w 90"/>
              <a:gd name="T13" fmla="*/ 0 h 62"/>
              <a:gd name="T14" fmla="*/ 10 w 90"/>
              <a:gd name="T15" fmla="*/ 0 h 62"/>
              <a:gd name="T16" fmla="*/ 10 w 90"/>
              <a:gd name="T17"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62">
                <a:moveTo>
                  <a:pt x="10" y="26"/>
                </a:moveTo>
                <a:lnTo>
                  <a:pt x="90" y="26"/>
                </a:lnTo>
                <a:lnTo>
                  <a:pt x="90" y="36"/>
                </a:lnTo>
                <a:lnTo>
                  <a:pt x="10" y="36"/>
                </a:lnTo>
                <a:lnTo>
                  <a:pt x="10" y="62"/>
                </a:lnTo>
                <a:lnTo>
                  <a:pt x="0" y="62"/>
                </a:lnTo>
                <a:lnTo>
                  <a:pt x="0" y="0"/>
                </a:lnTo>
                <a:lnTo>
                  <a:pt x="10" y="0"/>
                </a:lnTo>
                <a:lnTo>
                  <a:pt x="10" y="26"/>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4" name="Freeform 63"/>
          <p:cNvSpPr/>
          <p:nvPr/>
        </p:nvSpPr>
        <p:spPr bwMode="auto">
          <a:xfrm>
            <a:off x="6017895" y="2610485"/>
            <a:ext cx="75565" cy="47625"/>
          </a:xfrm>
          <a:custGeom>
            <a:avLst/>
            <a:gdLst>
              <a:gd name="T0" fmla="*/ 0 w 90"/>
              <a:gd name="T1" fmla="*/ 2 h 57"/>
              <a:gd name="T2" fmla="*/ 10 w 90"/>
              <a:gd name="T3" fmla="*/ 2 h 57"/>
              <a:gd name="T4" fmla="*/ 10 w 90"/>
              <a:gd name="T5" fmla="*/ 47 h 57"/>
              <a:gd name="T6" fmla="*/ 41 w 90"/>
              <a:gd name="T7" fmla="*/ 47 h 57"/>
              <a:gd name="T8" fmla="*/ 41 w 90"/>
              <a:gd name="T9" fmla="*/ 17 h 57"/>
              <a:gd name="T10" fmla="*/ 48 w 90"/>
              <a:gd name="T11" fmla="*/ 17 h 57"/>
              <a:gd name="T12" fmla="*/ 48 w 90"/>
              <a:gd name="T13" fmla="*/ 47 h 57"/>
              <a:gd name="T14" fmla="*/ 81 w 90"/>
              <a:gd name="T15" fmla="*/ 47 h 57"/>
              <a:gd name="T16" fmla="*/ 81 w 90"/>
              <a:gd name="T17" fmla="*/ 0 h 57"/>
              <a:gd name="T18" fmla="*/ 90 w 90"/>
              <a:gd name="T19" fmla="*/ 0 h 57"/>
              <a:gd name="T20" fmla="*/ 90 w 90"/>
              <a:gd name="T21" fmla="*/ 57 h 57"/>
              <a:gd name="T22" fmla="*/ 0 w 90"/>
              <a:gd name="T23" fmla="*/ 57 h 57"/>
              <a:gd name="T24" fmla="*/ 0 w 90"/>
              <a:gd name="T25"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57">
                <a:moveTo>
                  <a:pt x="0" y="2"/>
                </a:moveTo>
                <a:lnTo>
                  <a:pt x="10" y="2"/>
                </a:lnTo>
                <a:lnTo>
                  <a:pt x="10" y="47"/>
                </a:lnTo>
                <a:lnTo>
                  <a:pt x="41" y="47"/>
                </a:lnTo>
                <a:lnTo>
                  <a:pt x="41" y="17"/>
                </a:lnTo>
                <a:lnTo>
                  <a:pt x="48" y="17"/>
                </a:lnTo>
                <a:lnTo>
                  <a:pt x="48" y="47"/>
                </a:lnTo>
                <a:lnTo>
                  <a:pt x="81" y="47"/>
                </a:lnTo>
                <a:lnTo>
                  <a:pt x="81" y="0"/>
                </a:lnTo>
                <a:lnTo>
                  <a:pt x="90" y="0"/>
                </a:lnTo>
                <a:lnTo>
                  <a:pt x="90" y="57"/>
                </a:lnTo>
                <a:lnTo>
                  <a:pt x="0" y="57"/>
                </a:lnTo>
                <a:lnTo>
                  <a:pt x="0" y="2"/>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5" name="Freeform 64"/>
          <p:cNvSpPr/>
          <p:nvPr/>
        </p:nvSpPr>
        <p:spPr bwMode="auto">
          <a:xfrm>
            <a:off x="6017895" y="2548890"/>
            <a:ext cx="75565" cy="55245"/>
          </a:xfrm>
          <a:custGeom>
            <a:avLst/>
            <a:gdLst>
              <a:gd name="T0" fmla="*/ 90 w 90"/>
              <a:gd name="T1" fmla="*/ 54 h 66"/>
              <a:gd name="T2" fmla="*/ 90 w 90"/>
              <a:gd name="T3" fmla="*/ 66 h 66"/>
              <a:gd name="T4" fmla="*/ 43 w 90"/>
              <a:gd name="T5" fmla="*/ 40 h 66"/>
              <a:gd name="T6" fmla="*/ 0 w 90"/>
              <a:gd name="T7" fmla="*/ 64 h 66"/>
              <a:gd name="T8" fmla="*/ 0 w 90"/>
              <a:gd name="T9" fmla="*/ 52 h 66"/>
              <a:gd name="T10" fmla="*/ 33 w 90"/>
              <a:gd name="T11" fmla="*/ 33 h 66"/>
              <a:gd name="T12" fmla="*/ 0 w 90"/>
              <a:gd name="T13" fmla="*/ 14 h 66"/>
              <a:gd name="T14" fmla="*/ 0 w 90"/>
              <a:gd name="T15" fmla="*/ 4 h 66"/>
              <a:gd name="T16" fmla="*/ 43 w 90"/>
              <a:gd name="T17" fmla="*/ 28 h 66"/>
              <a:gd name="T18" fmla="*/ 90 w 90"/>
              <a:gd name="T19" fmla="*/ 0 h 66"/>
              <a:gd name="T20" fmla="*/ 90 w 90"/>
              <a:gd name="T21" fmla="*/ 11 h 66"/>
              <a:gd name="T22" fmla="*/ 52 w 90"/>
              <a:gd name="T23" fmla="*/ 33 h 66"/>
              <a:gd name="T24" fmla="*/ 90 w 90"/>
              <a:gd name="T25" fmla="*/ 5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66">
                <a:moveTo>
                  <a:pt x="90" y="54"/>
                </a:moveTo>
                <a:lnTo>
                  <a:pt x="90" y="66"/>
                </a:lnTo>
                <a:lnTo>
                  <a:pt x="43" y="40"/>
                </a:lnTo>
                <a:lnTo>
                  <a:pt x="0" y="64"/>
                </a:lnTo>
                <a:lnTo>
                  <a:pt x="0" y="52"/>
                </a:lnTo>
                <a:lnTo>
                  <a:pt x="33" y="33"/>
                </a:lnTo>
                <a:lnTo>
                  <a:pt x="0" y="14"/>
                </a:lnTo>
                <a:lnTo>
                  <a:pt x="0" y="4"/>
                </a:lnTo>
                <a:lnTo>
                  <a:pt x="43" y="28"/>
                </a:lnTo>
                <a:lnTo>
                  <a:pt x="90" y="0"/>
                </a:lnTo>
                <a:lnTo>
                  <a:pt x="90" y="11"/>
                </a:lnTo>
                <a:lnTo>
                  <a:pt x="52" y="33"/>
                </a:lnTo>
                <a:lnTo>
                  <a:pt x="90" y="54"/>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6" name="Freeform 65"/>
          <p:cNvSpPr/>
          <p:nvPr/>
        </p:nvSpPr>
        <p:spPr bwMode="auto">
          <a:xfrm>
            <a:off x="6017895" y="2493010"/>
            <a:ext cx="75565" cy="52070"/>
          </a:xfrm>
          <a:custGeom>
            <a:avLst/>
            <a:gdLst>
              <a:gd name="T0" fmla="*/ 10 w 90"/>
              <a:gd name="T1" fmla="*/ 26 h 62"/>
              <a:gd name="T2" fmla="*/ 90 w 90"/>
              <a:gd name="T3" fmla="*/ 26 h 62"/>
              <a:gd name="T4" fmla="*/ 90 w 90"/>
              <a:gd name="T5" fmla="*/ 36 h 62"/>
              <a:gd name="T6" fmla="*/ 10 w 90"/>
              <a:gd name="T7" fmla="*/ 36 h 62"/>
              <a:gd name="T8" fmla="*/ 10 w 90"/>
              <a:gd name="T9" fmla="*/ 62 h 62"/>
              <a:gd name="T10" fmla="*/ 0 w 90"/>
              <a:gd name="T11" fmla="*/ 62 h 62"/>
              <a:gd name="T12" fmla="*/ 0 w 90"/>
              <a:gd name="T13" fmla="*/ 0 h 62"/>
              <a:gd name="T14" fmla="*/ 10 w 90"/>
              <a:gd name="T15" fmla="*/ 0 h 62"/>
              <a:gd name="T16" fmla="*/ 10 w 90"/>
              <a:gd name="T17"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62">
                <a:moveTo>
                  <a:pt x="10" y="26"/>
                </a:moveTo>
                <a:lnTo>
                  <a:pt x="90" y="26"/>
                </a:lnTo>
                <a:lnTo>
                  <a:pt x="90" y="36"/>
                </a:lnTo>
                <a:lnTo>
                  <a:pt x="10" y="36"/>
                </a:lnTo>
                <a:lnTo>
                  <a:pt x="10" y="62"/>
                </a:lnTo>
                <a:lnTo>
                  <a:pt x="0" y="62"/>
                </a:lnTo>
                <a:lnTo>
                  <a:pt x="0" y="0"/>
                </a:lnTo>
                <a:lnTo>
                  <a:pt x="10" y="0"/>
                </a:lnTo>
                <a:lnTo>
                  <a:pt x="10" y="26"/>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9" name="Freeform 78"/>
          <p:cNvSpPr/>
          <p:nvPr/>
        </p:nvSpPr>
        <p:spPr bwMode="auto">
          <a:xfrm>
            <a:off x="5174615" y="2393315"/>
            <a:ext cx="167005" cy="365760"/>
          </a:xfrm>
          <a:custGeom>
            <a:avLst/>
            <a:gdLst>
              <a:gd name="T0" fmla="*/ 4 w 84"/>
              <a:gd name="T1" fmla="*/ 184 h 184"/>
              <a:gd name="T2" fmla="*/ 4 w 84"/>
              <a:gd name="T3" fmla="*/ 168 h 184"/>
              <a:gd name="T4" fmla="*/ 35 w 84"/>
              <a:gd name="T5" fmla="*/ 168 h 184"/>
              <a:gd name="T6" fmla="*/ 35 w 84"/>
              <a:gd name="T7" fmla="*/ 21 h 184"/>
              <a:gd name="T8" fmla="*/ 0 w 84"/>
              <a:gd name="T9" fmla="*/ 25 h 184"/>
              <a:gd name="T10" fmla="*/ 0 w 84"/>
              <a:gd name="T11" fmla="*/ 13 h 184"/>
              <a:gd name="T12" fmla="*/ 35 w 84"/>
              <a:gd name="T13" fmla="*/ 0 h 184"/>
              <a:gd name="T14" fmla="*/ 53 w 84"/>
              <a:gd name="T15" fmla="*/ 0 h 184"/>
              <a:gd name="T16" fmla="*/ 53 w 84"/>
              <a:gd name="T17" fmla="*/ 168 h 184"/>
              <a:gd name="T18" fmla="*/ 84 w 84"/>
              <a:gd name="T19" fmla="*/ 168 h 184"/>
              <a:gd name="T20" fmla="*/ 84 w 84"/>
              <a:gd name="T21" fmla="*/ 184 h 184"/>
              <a:gd name="T22" fmla="*/ 4 w 84"/>
              <a:gd name="T23" fmla="*/ 18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4" h="184">
                <a:moveTo>
                  <a:pt x="4" y="184"/>
                </a:moveTo>
                <a:cubicBezTo>
                  <a:pt x="4" y="168"/>
                  <a:pt x="4" y="168"/>
                  <a:pt x="4" y="168"/>
                </a:cubicBezTo>
                <a:cubicBezTo>
                  <a:pt x="35" y="168"/>
                  <a:pt x="35" y="168"/>
                  <a:pt x="35" y="168"/>
                </a:cubicBezTo>
                <a:cubicBezTo>
                  <a:pt x="35" y="21"/>
                  <a:pt x="35" y="21"/>
                  <a:pt x="35" y="21"/>
                </a:cubicBezTo>
                <a:cubicBezTo>
                  <a:pt x="0" y="25"/>
                  <a:pt x="0" y="25"/>
                  <a:pt x="0" y="25"/>
                </a:cubicBezTo>
                <a:cubicBezTo>
                  <a:pt x="0" y="13"/>
                  <a:pt x="0" y="13"/>
                  <a:pt x="0" y="13"/>
                </a:cubicBezTo>
                <a:cubicBezTo>
                  <a:pt x="13" y="9"/>
                  <a:pt x="27" y="5"/>
                  <a:pt x="35" y="0"/>
                </a:cubicBezTo>
                <a:cubicBezTo>
                  <a:pt x="53" y="0"/>
                  <a:pt x="53" y="0"/>
                  <a:pt x="53" y="0"/>
                </a:cubicBezTo>
                <a:cubicBezTo>
                  <a:pt x="53" y="168"/>
                  <a:pt x="53" y="168"/>
                  <a:pt x="53" y="168"/>
                </a:cubicBezTo>
                <a:cubicBezTo>
                  <a:pt x="84" y="168"/>
                  <a:pt x="84" y="168"/>
                  <a:pt x="84" y="168"/>
                </a:cubicBezTo>
                <a:cubicBezTo>
                  <a:pt x="84" y="184"/>
                  <a:pt x="84" y="184"/>
                  <a:pt x="84" y="184"/>
                </a:cubicBezTo>
                <a:lnTo>
                  <a:pt x="4" y="184"/>
                </a:lnTo>
                <a:close/>
              </a:path>
            </a:pathLst>
          </a:custGeom>
          <a:solidFill>
            <a:schemeClr val="bg1"/>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0" name="Freeform 79"/>
          <p:cNvSpPr/>
          <p:nvPr/>
        </p:nvSpPr>
        <p:spPr bwMode="auto">
          <a:xfrm>
            <a:off x="6706235" y="3226435"/>
            <a:ext cx="233045" cy="363855"/>
          </a:xfrm>
          <a:custGeom>
            <a:avLst/>
            <a:gdLst>
              <a:gd name="T0" fmla="*/ 117 w 117"/>
              <a:gd name="T1" fmla="*/ 183 h 183"/>
              <a:gd name="T2" fmla="*/ 0 w 117"/>
              <a:gd name="T3" fmla="*/ 183 h 183"/>
              <a:gd name="T4" fmla="*/ 0 w 117"/>
              <a:gd name="T5" fmla="*/ 164 h 183"/>
              <a:gd name="T6" fmla="*/ 98 w 117"/>
              <a:gd name="T7" fmla="*/ 48 h 183"/>
              <a:gd name="T8" fmla="*/ 62 w 117"/>
              <a:gd name="T9" fmla="*/ 15 h 183"/>
              <a:gd name="T10" fmla="*/ 19 w 117"/>
              <a:gd name="T11" fmla="*/ 54 h 183"/>
              <a:gd name="T12" fmla="*/ 1 w 117"/>
              <a:gd name="T13" fmla="*/ 50 h 183"/>
              <a:gd name="T14" fmla="*/ 62 w 117"/>
              <a:gd name="T15" fmla="*/ 0 h 183"/>
              <a:gd name="T16" fmla="*/ 117 w 117"/>
              <a:gd name="T17" fmla="*/ 48 h 183"/>
              <a:gd name="T18" fmla="*/ 19 w 117"/>
              <a:gd name="T19" fmla="*/ 167 h 183"/>
              <a:gd name="T20" fmla="*/ 117 w 117"/>
              <a:gd name="T21" fmla="*/ 167 h 183"/>
              <a:gd name="T22" fmla="*/ 117 w 117"/>
              <a:gd name="T23" fmla="*/ 183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7" h="183">
                <a:moveTo>
                  <a:pt x="117" y="183"/>
                </a:moveTo>
                <a:cubicBezTo>
                  <a:pt x="0" y="183"/>
                  <a:pt x="0" y="183"/>
                  <a:pt x="0" y="183"/>
                </a:cubicBezTo>
                <a:cubicBezTo>
                  <a:pt x="0" y="164"/>
                  <a:pt x="0" y="164"/>
                  <a:pt x="0" y="164"/>
                </a:cubicBezTo>
                <a:cubicBezTo>
                  <a:pt x="31" y="100"/>
                  <a:pt x="98" y="97"/>
                  <a:pt x="98" y="48"/>
                </a:cubicBezTo>
                <a:cubicBezTo>
                  <a:pt x="98" y="27"/>
                  <a:pt x="85" y="15"/>
                  <a:pt x="62" y="15"/>
                </a:cubicBezTo>
                <a:cubicBezTo>
                  <a:pt x="36" y="15"/>
                  <a:pt x="22" y="36"/>
                  <a:pt x="19" y="54"/>
                </a:cubicBezTo>
                <a:cubicBezTo>
                  <a:pt x="1" y="50"/>
                  <a:pt x="1" y="50"/>
                  <a:pt x="1" y="50"/>
                </a:cubicBezTo>
                <a:cubicBezTo>
                  <a:pt x="7" y="25"/>
                  <a:pt x="22" y="0"/>
                  <a:pt x="62" y="0"/>
                </a:cubicBezTo>
                <a:cubicBezTo>
                  <a:pt x="92" y="0"/>
                  <a:pt x="117" y="17"/>
                  <a:pt x="117" y="48"/>
                </a:cubicBezTo>
                <a:cubicBezTo>
                  <a:pt x="117" y="103"/>
                  <a:pt x="38" y="118"/>
                  <a:pt x="19" y="167"/>
                </a:cubicBezTo>
                <a:cubicBezTo>
                  <a:pt x="117" y="167"/>
                  <a:pt x="117" y="167"/>
                  <a:pt x="117" y="167"/>
                </a:cubicBezTo>
                <a:lnTo>
                  <a:pt x="117" y="183"/>
                </a:lnTo>
                <a:close/>
              </a:path>
            </a:pathLst>
          </a:custGeom>
          <a:solidFill>
            <a:schemeClr val="bg1"/>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1" name="Freeform 80"/>
          <p:cNvSpPr/>
          <p:nvPr/>
        </p:nvSpPr>
        <p:spPr bwMode="auto">
          <a:xfrm>
            <a:off x="5174615" y="3989705"/>
            <a:ext cx="358140" cy="488950"/>
          </a:xfrm>
          <a:custGeom>
            <a:avLst/>
            <a:gdLst>
              <a:gd name="T0" fmla="*/ 14 w 125"/>
              <a:gd name="T1" fmla="*/ 140 h 186"/>
              <a:gd name="T2" fmla="*/ 64 w 125"/>
              <a:gd name="T3" fmla="*/ 170 h 186"/>
              <a:gd name="T4" fmla="*/ 106 w 125"/>
              <a:gd name="T5" fmla="*/ 135 h 186"/>
              <a:gd name="T6" fmla="*/ 55 w 125"/>
              <a:gd name="T7" fmla="*/ 94 h 186"/>
              <a:gd name="T8" fmla="*/ 38 w 125"/>
              <a:gd name="T9" fmla="*/ 94 h 186"/>
              <a:gd name="T10" fmla="*/ 38 w 125"/>
              <a:gd name="T11" fmla="*/ 79 h 186"/>
              <a:gd name="T12" fmla="*/ 48 w 125"/>
              <a:gd name="T13" fmla="*/ 79 h 186"/>
              <a:gd name="T14" fmla="*/ 100 w 125"/>
              <a:gd name="T15" fmla="*/ 45 h 186"/>
              <a:gd name="T16" fmla="*/ 67 w 125"/>
              <a:gd name="T17" fmla="*/ 15 h 186"/>
              <a:gd name="T18" fmla="*/ 23 w 125"/>
              <a:gd name="T19" fmla="*/ 40 h 186"/>
              <a:gd name="T20" fmla="*/ 9 w 125"/>
              <a:gd name="T21" fmla="*/ 30 h 186"/>
              <a:gd name="T22" fmla="*/ 67 w 125"/>
              <a:gd name="T23" fmla="*/ 0 h 186"/>
              <a:gd name="T24" fmla="*/ 119 w 125"/>
              <a:gd name="T25" fmla="*/ 45 h 186"/>
              <a:gd name="T26" fmla="*/ 91 w 125"/>
              <a:gd name="T27" fmla="*/ 85 h 186"/>
              <a:gd name="T28" fmla="*/ 125 w 125"/>
              <a:gd name="T29" fmla="*/ 133 h 186"/>
              <a:gd name="T30" fmla="*/ 64 w 125"/>
              <a:gd name="T31" fmla="*/ 186 h 186"/>
              <a:gd name="T32" fmla="*/ 0 w 125"/>
              <a:gd name="T33" fmla="*/ 150 h 186"/>
              <a:gd name="T34" fmla="*/ 14 w 125"/>
              <a:gd name="T35" fmla="*/ 14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5" h="186">
                <a:moveTo>
                  <a:pt x="14" y="140"/>
                </a:moveTo>
                <a:cubicBezTo>
                  <a:pt x="28" y="159"/>
                  <a:pt x="45" y="170"/>
                  <a:pt x="64" y="170"/>
                </a:cubicBezTo>
                <a:cubicBezTo>
                  <a:pt x="90" y="170"/>
                  <a:pt x="106" y="157"/>
                  <a:pt x="106" y="135"/>
                </a:cubicBezTo>
                <a:cubicBezTo>
                  <a:pt x="106" y="110"/>
                  <a:pt x="91" y="94"/>
                  <a:pt x="55" y="94"/>
                </a:cubicBezTo>
                <a:cubicBezTo>
                  <a:pt x="38" y="94"/>
                  <a:pt x="38" y="94"/>
                  <a:pt x="38" y="94"/>
                </a:cubicBezTo>
                <a:cubicBezTo>
                  <a:pt x="38" y="79"/>
                  <a:pt x="38" y="79"/>
                  <a:pt x="38" y="79"/>
                </a:cubicBezTo>
                <a:cubicBezTo>
                  <a:pt x="48" y="79"/>
                  <a:pt x="48" y="79"/>
                  <a:pt x="48" y="79"/>
                </a:cubicBezTo>
                <a:cubicBezTo>
                  <a:pt x="84" y="79"/>
                  <a:pt x="100" y="67"/>
                  <a:pt x="100" y="45"/>
                </a:cubicBezTo>
                <a:cubicBezTo>
                  <a:pt x="100" y="27"/>
                  <a:pt x="84" y="15"/>
                  <a:pt x="67" y="15"/>
                </a:cubicBezTo>
                <a:cubicBezTo>
                  <a:pt x="45" y="15"/>
                  <a:pt x="35" y="25"/>
                  <a:pt x="23" y="40"/>
                </a:cubicBezTo>
                <a:cubicBezTo>
                  <a:pt x="9" y="30"/>
                  <a:pt x="9" y="30"/>
                  <a:pt x="9" y="30"/>
                </a:cubicBezTo>
                <a:cubicBezTo>
                  <a:pt x="21" y="13"/>
                  <a:pt x="38" y="0"/>
                  <a:pt x="67" y="0"/>
                </a:cubicBezTo>
                <a:cubicBezTo>
                  <a:pt x="99" y="0"/>
                  <a:pt x="119" y="16"/>
                  <a:pt x="119" y="45"/>
                </a:cubicBezTo>
                <a:cubicBezTo>
                  <a:pt x="119" y="67"/>
                  <a:pt x="105" y="79"/>
                  <a:pt x="91" y="85"/>
                </a:cubicBezTo>
                <a:cubicBezTo>
                  <a:pt x="119" y="96"/>
                  <a:pt x="125" y="116"/>
                  <a:pt x="125" y="133"/>
                </a:cubicBezTo>
                <a:cubicBezTo>
                  <a:pt x="125" y="164"/>
                  <a:pt x="102" y="186"/>
                  <a:pt x="64" y="186"/>
                </a:cubicBezTo>
                <a:cubicBezTo>
                  <a:pt x="29" y="186"/>
                  <a:pt x="8" y="164"/>
                  <a:pt x="0" y="150"/>
                </a:cubicBezTo>
                <a:lnTo>
                  <a:pt x="14" y="140"/>
                </a:lnTo>
                <a:close/>
              </a:path>
            </a:pathLst>
          </a:custGeom>
          <a:solidFill>
            <a:schemeClr val="bg1"/>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4" name="Group 3"/>
          <p:cNvGrpSpPr/>
          <p:nvPr/>
        </p:nvGrpSpPr>
        <p:grpSpPr>
          <a:xfrm>
            <a:off x="4834439" y="2055728"/>
            <a:ext cx="2439306" cy="4413250"/>
            <a:chOff x="4665731" y="1530069"/>
            <a:chExt cx="2860538" cy="5175357"/>
          </a:xfrm>
        </p:grpSpPr>
        <p:sp>
          <p:nvSpPr>
            <p:cNvPr id="6" name="Freeform 6"/>
            <p:cNvSpPr/>
            <p:nvPr/>
          </p:nvSpPr>
          <p:spPr bwMode="auto">
            <a:xfrm>
              <a:off x="5831829" y="2495082"/>
              <a:ext cx="1694440" cy="1762454"/>
            </a:xfrm>
            <a:custGeom>
              <a:avLst/>
              <a:gdLst>
                <a:gd name="T0" fmla="*/ 0 w 727"/>
                <a:gd name="T1" fmla="*/ 559 h 756"/>
                <a:gd name="T2" fmla="*/ 173 w 727"/>
                <a:gd name="T3" fmla="*/ 526 h 756"/>
                <a:gd name="T4" fmla="*/ 401 w 727"/>
                <a:gd name="T5" fmla="*/ 314 h 756"/>
                <a:gd name="T6" fmla="*/ 324 w 727"/>
                <a:gd name="T7" fmla="*/ 311 h 756"/>
                <a:gd name="T8" fmla="*/ 314 w 727"/>
                <a:gd name="T9" fmla="*/ 275 h 756"/>
                <a:gd name="T10" fmla="*/ 482 w 727"/>
                <a:gd name="T11" fmla="*/ 27 h 756"/>
                <a:gd name="T12" fmla="*/ 524 w 727"/>
                <a:gd name="T13" fmla="*/ 27 h 756"/>
                <a:gd name="T14" fmla="*/ 712 w 727"/>
                <a:gd name="T15" fmla="*/ 280 h 756"/>
                <a:gd name="T16" fmla="*/ 703 w 727"/>
                <a:gd name="T17" fmla="*/ 311 h 756"/>
                <a:gd name="T18" fmla="*/ 613 w 727"/>
                <a:gd name="T19" fmla="*/ 316 h 756"/>
                <a:gd name="T20" fmla="*/ 160 w 727"/>
                <a:gd name="T21" fmla="*/ 748 h 756"/>
                <a:gd name="T22" fmla="*/ 0 w 727"/>
                <a:gd name="T23" fmla="*/ 559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27" h="756">
                  <a:moveTo>
                    <a:pt x="0" y="559"/>
                  </a:moveTo>
                  <a:cubicBezTo>
                    <a:pt x="11" y="516"/>
                    <a:pt x="76" y="518"/>
                    <a:pt x="173" y="526"/>
                  </a:cubicBezTo>
                  <a:cubicBezTo>
                    <a:pt x="248" y="534"/>
                    <a:pt x="418" y="548"/>
                    <a:pt x="401" y="314"/>
                  </a:cubicBezTo>
                  <a:cubicBezTo>
                    <a:pt x="324" y="311"/>
                    <a:pt x="324" y="311"/>
                    <a:pt x="324" y="311"/>
                  </a:cubicBezTo>
                  <a:cubicBezTo>
                    <a:pt x="297" y="311"/>
                    <a:pt x="298" y="296"/>
                    <a:pt x="314" y="275"/>
                  </a:cubicBezTo>
                  <a:cubicBezTo>
                    <a:pt x="314" y="275"/>
                    <a:pt x="429" y="102"/>
                    <a:pt x="482" y="27"/>
                  </a:cubicBezTo>
                  <a:cubicBezTo>
                    <a:pt x="496" y="7"/>
                    <a:pt x="507" y="0"/>
                    <a:pt x="524" y="27"/>
                  </a:cubicBezTo>
                  <a:cubicBezTo>
                    <a:pt x="583" y="98"/>
                    <a:pt x="672" y="225"/>
                    <a:pt x="712" y="280"/>
                  </a:cubicBezTo>
                  <a:cubicBezTo>
                    <a:pt x="714" y="285"/>
                    <a:pt x="727" y="308"/>
                    <a:pt x="703" y="311"/>
                  </a:cubicBezTo>
                  <a:cubicBezTo>
                    <a:pt x="675" y="314"/>
                    <a:pt x="613" y="316"/>
                    <a:pt x="613" y="316"/>
                  </a:cubicBezTo>
                  <a:cubicBezTo>
                    <a:pt x="634" y="750"/>
                    <a:pt x="376" y="750"/>
                    <a:pt x="160" y="748"/>
                  </a:cubicBezTo>
                  <a:cubicBezTo>
                    <a:pt x="121" y="756"/>
                    <a:pt x="4" y="705"/>
                    <a:pt x="0" y="559"/>
                  </a:cubicBezTo>
                  <a:close/>
                </a:path>
              </a:pathLst>
            </a:custGeom>
            <a:solidFill>
              <a:schemeClr val="accent1"/>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Freeform 7"/>
            <p:cNvSpPr/>
            <p:nvPr/>
          </p:nvSpPr>
          <p:spPr bwMode="auto">
            <a:xfrm>
              <a:off x="4665731" y="1530069"/>
              <a:ext cx="1695426" cy="1762454"/>
            </a:xfrm>
            <a:custGeom>
              <a:avLst/>
              <a:gdLst>
                <a:gd name="T0" fmla="*/ 727 w 727"/>
                <a:gd name="T1" fmla="*/ 559 h 756"/>
                <a:gd name="T2" fmla="*/ 554 w 727"/>
                <a:gd name="T3" fmla="*/ 526 h 756"/>
                <a:gd name="T4" fmla="*/ 326 w 727"/>
                <a:gd name="T5" fmla="*/ 314 h 756"/>
                <a:gd name="T6" fmla="*/ 403 w 727"/>
                <a:gd name="T7" fmla="*/ 311 h 756"/>
                <a:gd name="T8" fmla="*/ 413 w 727"/>
                <a:gd name="T9" fmla="*/ 275 h 756"/>
                <a:gd name="T10" fmla="*/ 245 w 727"/>
                <a:gd name="T11" fmla="*/ 27 h 756"/>
                <a:gd name="T12" fmla="*/ 203 w 727"/>
                <a:gd name="T13" fmla="*/ 27 h 756"/>
                <a:gd name="T14" fmla="*/ 15 w 727"/>
                <a:gd name="T15" fmla="*/ 280 h 756"/>
                <a:gd name="T16" fmla="*/ 24 w 727"/>
                <a:gd name="T17" fmla="*/ 311 h 756"/>
                <a:gd name="T18" fmla="*/ 114 w 727"/>
                <a:gd name="T19" fmla="*/ 316 h 756"/>
                <a:gd name="T20" fmla="*/ 567 w 727"/>
                <a:gd name="T21" fmla="*/ 748 h 756"/>
                <a:gd name="T22" fmla="*/ 727 w 727"/>
                <a:gd name="T23" fmla="*/ 559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27" h="756">
                  <a:moveTo>
                    <a:pt x="727" y="559"/>
                  </a:moveTo>
                  <a:cubicBezTo>
                    <a:pt x="716" y="516"/>
                    <a:pt x="651" y="518"/>
                    <a:pt x="554" y="526"/>
                  </a:cubicBezTo>
                  <a:cubicBezTo>
                    <a:pt x="479" y="534"/>
                    <a:pt x="309" y="548"/>
                    <a:pt x="326" y="314"/>
                  </a:cubicBezTo>
                  <a:cubicBezTo>
                    <a:pt x="403" y="311"/>
                    <a:pt x="403" y="311"/>
                    <a:pt x="403" y="311"/>
                  </a:cubicBezTo>
                  <a:cubicBezTo>
                    <a:pt x="430" y="311"/>
                    <a:pt x="429" y="296"/>
                    <a:pt x="413" y="275"/>
                  </a:cubicBezTo>
                  <a:cubicBezTo>
                    <a:pt x="413" y="275"/>
                    <a:pt x="298" y="102"/>
                    <a:pt x="245" y="27"/>
                  </a:cubicBezTo>
                  <a:cubicBezTo>
                    <a:pt x="231" y="7"/>
                    <a:pt x="220" y="0"/>
                    <a:pt x="203" y="27"/>
                  </a:cubicBezTo>
                  <a:cubicBezTo>
                    <a:pt x="144" y="98"/>
                    <a:pt x="55" y="226"/>
                    <a:pt x="15" y="280"/>
                  </a:cubicBezTo>
                  <a:cubicBezTo>
                    <a:pt x="13" y="285"/>
                    <a:pt x="0" y="308"/>
                    <a:pt x="24" y="311"/>
                  </a:cubicBezTo>
                  <a:cubicBezTo>
                    <a:pt x="52" y="314"/>
                    <a:pt x="114" y="316"/>
                    <a:pt x="114" y="316"/>
                  </a:cubicBezTo>
                  <a:cubicBezTo>
                    <a:pt x="93" y="750"/>
                    <a:pt x="351" y="750"/>
                    <a:pt x="567" y="748"/>
                  </a:cubicBezTo>
                  <a:cubicBezTo>
                    <a:pt x="606" y="756"/>
                    <a:pt x="723" y="705"/>
                    <a:pt x="727" y="559"/>
                  </a:cubicBezTo>
                  <a:close/>
                </a:path>
              </a:pathLst>
            </a:custGeom>
            <a:solidFill>
              <a:schemeClr val="accent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Freeform 8"/>
            <p:cNvSpPr/>
            <p:nvPr/>
          </p:nvSpPr>
          <p:spPr bwMode="auto">
            <a:xfrm>
              <a:off x="5927443" y="1632584"/>
              <a:ext cx="104486" cy="4464293"/>
            </a:xfrm>
            <a:custGeom>
              <a:avLst/>
              <a:gdLst>
                <a:gd name="T0" fmla="*/ 94 w 106"/>
                <a:gd name="T1" fmla="*/ 4529 h 4529"/>
                <a:gd name="T2" fmla="*/ 0 w 106"/>
                <a:gd name="T3" fmla="*/ 4484 h 4529"/>
                <a:gd name="T4" fmla="*/ 12 w 106"/>
                <a:gd name="T5" fmla="*/ 0 h 4529"/>
                <a:gd name="T6" fmla="*/ 106 w 106"/>
                <a:gd name="T7" fmla="*/ 0 h 4529"/>
                <a:gd name="T8" fmla="*/ 94 w 106"/>
                <a:gd name="T9" fmla="*/ 4529 h 4529"/>
              </a:gdLst>
              <a:ahLst/>
              <a:cxnLst>
                <a:cxn ang="0">
                  <a:pos x="T0" y="T1"/>
                </a:cxn>
                <a:cxn ang="0">
                  <a:pos x="T2" y="T3"/>
                </a:cxn>
                <a:cxn ang="0">
                  <a:pos x="T4" y="T5"/>
                </a:cxn>
                <a:cxn ang="0">
                  <a:pos x="T6" y="T7"/>
                </a:cxn>
                <a:cxn ang="0">
                  <a:pos x="T8" y="T9"/>
                </a:cxn>
              </a:cxnLst>
              <a:rect l="0" t="0" r="r" b="b"/>
              <a:pathLst>
                <a:path w="106" h="4529">
                  <a:moveTo>
                    <a:pt x="94" y="4529"/>
                  </a:moveTo>
                  <a:lnTo>
                    <a:pt x="0" y="4484"/>
                  </a:lnTo>
                  <a:lnTo>
                    <a:pt x="12" y="0"/>
                  </a:lnTo>
                  <a:lnTo>
                    <a:pt x="106" y="0"/>
                  </a:lnTo>
                  <a:lnTo>
                    <a:pt x="94" y="4529"/>
                  </a:lnTo>
                  <a:close/>
                </a:path>
              </a:pathLst>
            </a:custGeom>
            <a:solidFill>
              <a:srgbClr val="878787"/>
            </a:solidFill>
            <a:ln>
              <a:noFill/>
            </a:ln>
            <a:extLst>
              <a:ext uri="{91240B29-F687-4F45-9708-019B960494DF}">
                <a14:hiddenLine xmlns:a14="http://schemas.microsoft.com/office/drawing/2010/main" w="9525">
                  <a:solidFill>
                    <a:srgbClr val="000000"/>
                  </a:solidFill>
                  <a:round/>
                </a14:hiddenLine>
              </a:ext>
            </a:extLst>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Freeform 9"/>
            <p:cNvSpPr/>
            <p:nvPr/>
          </p:nvSpPr>
          <p:spPr bwMode="auto">
            <a:xfrm>
              <a:off x="6181757" y="1632584"/>
              <a:ext cx="102514" cy="4467250"/>
            </a:xfrm>
            <a:custGeom>
              <a:avLst/>
              <a:gdLst>
                <a:gd name="T0" fmla="*/ 87 w 104"/>
                <a:gd name="T1" fmla="*/ 4498 h 4532"/>
                <a:gd name="T2" fmla="*/ 0 w 104"/>
                <a:gd name="T3" fmla="*/ 4532 h 4532"/>
                <a:gd name="T4" fmla="*/ 11 w 104"/>
                <a:gd name="T5" fmla="*/ 0 h 4532"/>
                <a:gd name="T6" fmla="*/ 104 w 104"/>
                <a:gd name="T7" fmla="*/ 3 h 4532"/>
                <a:gd name="T8" fmla="*/ 87 w 104"/>
                <a:gd name="T9" fmla="*/ 4498 h 4532"/>
              </a:gdLst>
              <a:ahLst/>
              <a:cxnLst>
                <a:cxn ang="0">
                  <a:pos x="T0" y="T1"/>
                </a:cxn>
                <a:cxn ang="0">
                  <a:pos x="T2" y="T3"/>
                </a:cxn>
                <a:cxn ang="0">
                  <a:pos x="T4" y="T5"/>
                </a:cxn>
                <a:cxn ang="0">
                  <a:pos x="T6" y="T7"/>
                </a:cxn>
                <a:cxn ang="0">
                  <a:pos x="T8" y="T9"/>
                </a:cxn>
              </a:cxnLst>
              <a:rect l="0" t="0" r="r" b="b"/>
              <a:pathLst>
                <a:path w="104" h="4532">
                  <a:moveTo>
                    <a:pt x="87" y="4498"/>
                  </a:moveTo>
                  <a:lnTo>
                    <a:pt x="0" y="4532"/>
                  </a:lnTo>
                  <a:lnTo>
                    <a:pt x="11" y="0"/>
                  </a:lnTo>
                  <a:lnTo>
                    <a:pt x="104" y="3"/>
                  </a:lnTo>
                  <a:lnTo>
                    <a:pt x="87" y="4498"/>
                  </a:lnTo>
                  <a:close/>
                </a:path>
              </a:pathLst>
            </a:custGeom>
            <a:solidFill>
              <a:srgbClr val="878787"/>
            </a:solidFill>
            <a:ln>
              <a:noFill/>
            </a:ln>
            <a:extLst>
              <a:ext uri="{91240B29-F687-4F45-9708-019B960494DF}">
                <a14:hiddenLine xmlns:a14="http://schemas.microsoft.com/office/drawing/2010/main" w="9525">
                  <a:solidFill>
                    <a:srgbClr val="000000"/>
                  </a:solidFill>
                  <a:round/>
                </a14:hiddenLine>
              </a:ext>
            </a:extLst>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Freeform 10"/>
            <p:cNvSpPr/>
            <p:nvPr/>
          </p:nvSpPr>
          <p:spPr bwMode="auto">
            <a:xfrm>
              <a:off x="6016157" y="1632584"/>
              <a:ext cx="181371" cy="4467250"/>
            </a:xfrm>
            <a:custGeom>
              <a:avLst/>
              <a:gdLst>
                <a:gd name="T0" fmla="*/ 172 w 184"/>
                <a:gd name="T1" fmla="*/ 4532 h 4532"/>
                <a:gd name="T2" fmla="*/ 0 w 184"/>
                <a:gd name="T3" fmla="*/ 4529 h 4532"/>
                <a:gd name="T4" fmla="*/ 11 w 184"/>
                <a:gd name="T5" fmla="*/ 0 h 4532"/>
                <a:gd name="T6" fmla="*/ 184 w 184"/>
                <a:gd name="T7" fmla="*/ 0 h 4532"/>
                <a:gd name="T8" fmla="*/ 172 w 184"/>
                <a:gd name="T9" fmla="*/ 4532 h 4532"/>
              </a:gdLst>
              <a:ahLst/>
              <a:cxnLst>
                <a:cxn ang="0">
                  <a:pos x="T0" y="T1"/>
                </a:cxn>
                <a:cxn ang="0">
                  <a:pos x="T2" y="T3"/>
                </a:cxn>
                <a:cxn ang="0">
                  <a:pos x="T4" y="T5"/>
                </a:cxn>
                <a:cxn ang="0">
                  <a:pos x="T6" y="T7"/>
                </a:cxn>
                <a:cxn ang="0">
                  <a:pos x="T8" y="T9"/>
                </a:cxn>
              </a:cxnLst>
              <a:rect l="0" t="0" r="r" b="b"/>
              <a:pathLst>
                <a:path w="184" h="4532">
                  <a:moveTo>
                    <a:pt x="172" y="4532"/>
                  </a:moveTo>
                  <a:lnTo>
                    <a:pt x="0" y="4529"/>
                  </a:lnTo>
                  <a:lnTo>
                    <a:pt x="11" y="0"/>
                  </a:lnTo>
                  <a:lnTo>
                    <a:pt x="184" y="0"/>
                  </a:lnTo>
                  <a:lnTo>
                    <a:pt x="172" y="4532"/>
                  </a:lnTo>
                  <a:close/>
                </a:path>
              </a:pathLst>
            </a:custGeom>
            <a:solidFill>
              <a:srgbClr val="B3B3B3"/>
            </a:solidFill>
            <a:ln>
              <a:noFill/>
            </a:ln>
            <a:extLst>
              <a:ext uri="{91240B29-F687-4F45-9708-019B960494DF}">
                <a14:hiddenLine xmlns:a14="http://schemas.microsoft.com/office/drawing/2010/main" w="9525">
                  <a:solidFill>
                    <a:srgbClr val="000000"/>
                  </a:solidFill>
                  <a:round/>
                </a14:hiddenLine>
              </a:ext>
            </a:extLst>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Freeform 11"/>
            <p:cNvSpPr/>
            <p:nvPr/>
          </p:nvSpPr>
          <p:spPr bwMode="auto">
            <a:xfrm>
              <a:off x="5927443" y="5975634"/>
              <a:ext cx="344999" cy="720556"/>
            </a:xfrm>
            <a:custGeom>
              <a:avLst/>
              <a:gdLst>
                <a:gd name="T0" fmla="*/ 38 w 148"/>
                <a:gd name="T1" fmla="*/ 52 h 309"/>
                <a:gd name="T2" fmla="*/ 70 w 148"/>
                <a:gd name="T3" fmla="*/ 17 h 309"/>
                <a:gd name="T4" fmla="*/ 107 w 148"/>
                <a:gd name="T5" fmla="*/ 45 h 309"/>
                <a:gd name="T6" fmla="*/ 134 w 148"/>
                <a:gd name="T7" fmla="*/ 18 h 309"/>
                <a:gd name="T8" fmla="*/ 148 w 148"/>
                <a:gd name="T9" fmla="*/ 34 h 309"/>
                <a:gd name="T10" fmla="*/ 78 w 148"/>
                <a:gd name="T11" fmla="*/ 309 h 309"/>
                <a:gd name="T12" fmla="*/ 0 w 148"/>
                <a:gd name="T13" fmla="*/ 33 h 309"/>
                <a:gd name="T14" fmla="*/ 38 w 148"/>
                <a:gd name="T15" fmla="*/ 52 h 30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 h="309">
                  <a:moveTo>
                    <a:pt x="38" y="52"/>
                  </a:moveTo>
                  <a:cubicBezTo>
                    <a:pt x="38" y="52"/>
                    <a:pt x="57" y="13"/>
                    <a:pt x="70" y="17"/>
                  </a:cubicBezTo>
                  <a:cubicBezTo>
                    <a:pt x="84" y="21"/>
                    <a:pt x="103" y="15"/>
                    <a:pt x="107" y="45"/>
                  </a:cubicBezTo>
                  <a:cubicBezTo>
                    <a:pt x="111" y="42"/>
                    <a:pt x="122" y="19"/>
                    <a:pt x="134" y="18"/>
                  </a:cubicBezTo>
                  <a:cubicBezTo>
                    <a:pt x="145" y="18"/>
                    <a:pt x="148" y="34"/>
                    <a:pt x="148" y="34"/>
                  </a:cubicBezTo>
                  <a:cubicBezTo>
                    <a:pt x="78" y="309"/>
                    <a:pt x="78" y="309"/>
                    <a:pt x="78" y="309"/>
                  </a:cubicBezTo>
                  <a:cubicBezTo>
                    <a:pt x="0" y="33"/>
                    <a:pt x="0" y="33"/>
                    <a:pt x="0" y="33"/>
                  </a:cubicBezTo>
                  <a:cubicBezTo>
                    <a:pt x="0" y="33"/>
                    <a:pt x="24" y="0"/>
                    <a:pt x="38" y="52"/>
                  </a:cubicBezTo>
                  <a:close/>
                </a:path>
              </a:pathLst>
            </a:custGeom>
            <a:solidFill>
              <a:srgbClr val="F3E1D1"/>
            </a:solidFill>
            <a:ln>
              <a:noFill/>
            </a:ln>
            <a:extLst>
              <a:ext uri="{91240B29-F687-4F45-9708-019B960494DF}">
                <a14:hiddenLine xmlns:a14="http://schemas.microsoft.com/office/drawing/2010/main" w="9525">
                  <a:solidFill>
                    <a:srgbClr val="000000"/>
                  </a:solidFill>
                  <a:round/>
                </a14:hiddenLine>
              </a:ext>
            </a:extLst>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Freeform 12"/>
            <p:cNvSpPr/>
            <p:nvPr/>
          </p:nvSpPr>
          <p:spPr bwMode="auto">
            <a:xfrm>
              <a:off x="6043757" y="6409348"/>
              <a:ext cx="126171" cy="286842"/>
            </a:xfrm>
            <a:custGeom>
              <a:avLst/>
              <a:gdLst>
                <a:gd name="T0" fmla="*/ 0 w 54"/>
                <a:gd name="T1" fmla="*/ 23 h 123"/>
                <a:gd name="T2" fmla="*/ 28 w 54"/>
                <a:gd name="T3" fmla="*/ 123 h 123"/>
                <a:gd name="T4" fmla="*/ 54 w 54"/>
                <a:gd name="T5" fmla="*/ 23 h 123"/>
                <a:gd name="T6" fmla="*/ 0 w 54"/>
                <a:gd name="T7" fmla="*/ 23 h 123"/>
              </a:gdLst>
              <a:ahLst/>
              <a:cxnLst>
                <a:cxn ang="0">
                  <a:pos x="T0" y="T1"/>
                </a:cxn>
                <a:cxn ang="0">
                  <a:pos x="T2" y="T3"/>
                </a:cxn>
                <a:cxn ang="0">
                  <a:pos x="T4" y="T5"/>
                </a:cxn>
                <a:cxn ang="0">
                  <a:pos x="T6" y="T7"/>
                </a:cxn>
              </a:cxnLst>
              <a:rect l="0" t="0" r="r" b="b"/>
              <a:pathLst>
                <a:path w="54" h="123">
                  <a:moveTo>
                    <a:pt x="0" y="23"/>
                  </a:moveTo>
                  <a:cubicBezTo>
                    <a:pt x="28" y="123"/>
                    <a:pt x="28" y="123"/>
                    <a:pt x="28" y="123"/>
                  </a:cubicBezTo>
                  <a:cubicBezTo>
                    <a:pt x="54" y="23"/>
                    <a:pt x="54" y="23"/>
                    <a:pt x="54" y="23"/>
                  </a:cubicBezTo>
                  <a:cubicBezTo>
                    <a:pt x="54" y="23"/>
                    <a:pt x="27" y="0"/>
                    <a:pt x="0" y="23"/>
                  </a:cubicBez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Rectangle 13"/>
            <p:cNvSpPr>
              <a:spLocks noChangeArrowheads="1"/>
            </p:cNvSpPr>
            <p:nvPr/>
          </p:nvSpPr>
          <p:spPr bwMode="auto">
            <a:xfrm>
              <a:off x="5939271" y="1632584"/>
              <a:ext cx="348942" cy="314442"/>
            </a:xfrm>
            <a:prstGeom prst="rect">
              <a:avLst/>
            </a:pr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14"/>
            <p:cNvSpPr/>
            <p:nvPr/>
          </p:nvSpPr>
          <p:spPr bwMode="auto">
            <a:xfrm>
              <a:off x="5927443" y="2833182"/>
              <a:ext cx="437656" cy="3266652"/>
            </a:xfrm>
            <a:custGeom>
              <a:avLst/>
              <a:gdLst>
                <a:gd name="T0" fmla="*/ 38 w 188"/>
                <a:gd name="T1" fmla="*/ 1401 h 1401"/>
                <a:gd name="T2" fmla="*/ 40 w 188"/>
                <a:gd name="T3" fmla="*/ 246 h 1401"/>
                <a:gd name="T4" fmla="*/ 188 w 188"/>
                <a:gd name="T5" fmla="*/ 187 h 1401"/>
                <a:gd name="T6" fmla="*/ 186 w 188"/>
                <a:gd name="T7" fmla="*/ 0 h 1401"/>
                <a:gd name="T8" fmla="*/ 3 w 188"/>
                <a:gd name="T9" fmla="*/ 226 h 1401"/>
                <a:gd name="T10" fmla="*/ 0 w 188"/>
                <a:gd name="T11" fmla="*/ 1381 h 1401"/>
                <a:gd name="T12" fmla="*/ 38 w 188"/>
                <a:gd name="T13" fmla="*/ 1401 h 1401"/>
              </a:gdLst>
              <a:ahLst/>
              <a:cxnLst>
                <a:cxn ang="0">
                  <a:pos x="T0" y="T1"/>
                </a:cxn>
                <a:cxn ang="0">
                  <a:pos x="T2" y="T3"/>
                </a:cxn>
                <a:cxn ang="0">
                  <a:pos x="T4" y="T5"/>
                </a:cxn>
                <a:cxn ang="0">
                  <a:pos x="T6" y="T7"/>
                </a:cxn>
                <a:cxn ang="0">
                  <a:pos x="T8" y="T9"/>
                </a:cxn>
                <a:cxn ang="0">
                  <a:pos x="T10" y="T11"/>
                </a:cxn>
                <a:cxn ang="0">
                  <a:pos x="T12" y="T13"/>
                </a:cxn>
              </a:cxnLst>
              <a:rect l="0" t="0" r="r" b="b"/>
              <a:pathLst>
                <a:path w="188" h="1401">
                  <a:moveTo>
                    <a:pt x="38" y="1401"/>
                  </a:moveTo>
                  <a:cubicBezTo>
                    <a:pt x="40" y="246"/>
                    <a:pt x="40" y="246"/>
                    <a:pt x="40" y="246"/>
                  </a:cubicBezTo>
                  <a:cubicBezTo>
                    <a:pt x="131" y="218"/>
                    <a:pt x="182" y="213"/>
                    <a:pt x="188" y="187"/>
                  </a:cubicBezTo>
                  <a:cubicBezTo>
                    <a:pt x="186" y="0"/>
                    <a:pt x="186" y="0"/>
                    <a:pt x="186" y="0"/>
                  </a:cubicBezTo>
                  <a:cubicBezTo>
                    <a:pt x="171" y="93"/>
                    <a:pt x="3" y="184"/>
                    <a:pt x="3" y="226"/>
                  </a:cubicBezTo>
                  <a:cubicBezTo>
                    <a:pt x="0" y="1381"/>
                    <a:pt x="0" y="1381"/>
                    <a:pt x="0" y="1381"/>
                  </a:cubicBezTo>
                  <a:cubicBezTo>
                    <a:pt x="14" y="1364"/>
                    <a:pt x="30" y="1368"/>
                    <a:pt x="38" y="1401"/>
                  </a:cubicBezTo>
                  <a:close/>
                </a:path>
              </a:pathLst>
            </a:custGeom>
            <a:solidFill>
              <a:schemeClr val="accent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15"/>
            <p:cNvSpPr/>
            <p:nvPr/>
          </p:nvSpPr>
          <p:spPr bwMode="auto">
            <a:xfrm>
              <a:off x="5826900" y="3798195"/>
              <a:ext cx="447513" cy="2294739"/>
            </a:xfrm>
            <a:custGeom>
              <a:avLst/>
              <a:gdLst>
                <a:gd name="T0" fmla="*/ 151 w 192"/>
                <a:gd name="T1" fmla="*/ 984 h 984"/>
                <a:gd name="T2" fmla="*/ 154 w 192"/>
                <a:gd name="T3" fmla="*/ 256 h 984"/>
                <a:gd name="T4" fmla="*/ 0 w 192"/>
                <a:gd name="T5" fmla="*/ 195 h 984"/>
                <a:gd name="T6" fmla="*/ 2 w 192"/>
                <a:gd name="T7" fmla="*/ 0 h 984"/>
                <a:gd name="T8" fmla="*/ 192 w 192"/>
                <a:gd name="T9" fmla="*/ 235 h 984"/>
                <a:gd name="T10" fmla="*/ 191 w 192"/>
                <a:gd name="T11" fmla="*/ 968 h 984"/>
                <a:gd name="T12" fmla="*/ 151 w 192"/>
                <a:gd name="T13" fmla="*/ 984 h 984"/>
              </a:gdLst>
              <a:ahLst/>
              <a:cxnLst>
                <a:cxn ang="0">
                  <a:pos x="T0" y="T1"/>
                </a:cxn>
                <a:cxn ang="0">
                  <a:pos x="T2" y="T3"/>
                </a:cxn>
                <a:cxn ang="0">
                  <a:pos x="T4" y="T5"/>
                </a:cxn>
                <a:cxn ang="0">
                  <a:pos x="T6" y="T7"/>
                </a:cxn>
                <a:cxn ang="0">
                  <a:pos x="T8" y="T9"/>
                </a:cxn>
                <a:cxn ang="0">
                  <a:pos x="T10" y="T11"/>
                </a:cxn>
                <a:cxn ang="0">
                  <a:pos x="T12" y="T13"/>
                </a:cxn>
              </a:cxnLst>
              <a:rect l="0" t="0" r="r" b="b"/>
              <a:pathLst>
                <a:path w="192" h="984">
                  <a:moveTo>
                    <a:pt x="151" y="984"/>
                  </a:moveTo>
                  <a:cubicBezTo>
                    <a:pt x="154" y="256"/>
                    <a:pt x="154" y="256"/>
                    <a:pt x="154" y="256"/>
                  </a:cubicBezTo>
                  <a:cubicBezTo>
                    <a:pt x="59" y="227"/>
                    <a:pt x="6" y="221"/>
                    <a:pt x="0" y="195"/>
                  </a:cubicBezTo>
                  <a:cubicBezTo>
                    <a:pt x="2" y="0"/>
                    <a:pt x="2" y="0"/>
                    <a:pt x="2" y="0"/>
                  </a:cubicBezTo>
                  <a:cubicBezTo>
                    <a:pt x="18" y="97"/>
                    <a:pt x="192" y="192"/>
                    <a:pt x="192" y="235"/>
                  </a:cubicBezTo>
                  <a:cubicBezTo>
                    <a:pt x="191" y="968"/>
                    <a:pt x="191" y="968"/>
                    <a:pt x="191" y="968"/>
                  </a:cubicBezTo>
                  <a:cubicBezTo>
                    <a:pt x="186" y="945"/>
                    <a:pt x="164" y="947"/>
                    <a:pt x="151" y="984"/>
                  </a:cubicBezTo>
                  <a:close/>
                </a:path>
              </a:pathLst>
            </a:custGeom>
            <a:solidFill>
              <a:schemeClr val="accent1"/>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16"/>
            <p:cNvSpPr/>
            <p:nvPr/>
          </p:nvSpPr>
          <p:spPr bwMode="auto">
            <a:xfrm>
              <a:off x="6013557" y="6266824"/>
              <a:ext cx="428921" cy="438602"/>
            </a:xfrm>
            <a:custGeom>
              <a:avLst/>
              <a:gdLst>
                <a:gd name="T0" fmla="*/ 71 w 194"/>
                <a:gd name="T1" fmla="*/ 620 h 622"/>
                <a:gd name="T2" fmla="*/ 74 w 194"/>
                <a:gd name="T3" fmla="*/ 246 h 622"/>
                <a:gd name="T4" fmla="*/ 194 w 194"/>
                <a:gd name="T5" fmla="*/ 194 h 622"/>
                <a:gd name="T6" fmla="*/ 192 w 194"/>
                <a:gd name="T7" fmla="*/ 0 h 622"/>
                <a:gd name="T8" fmla="*/ 0 w 194"/>
                <a:gd name="T9" fmla="*/ 234 h 622"/>
                <a:gd name="T10" fmla="*/ 1 w 194"/>
                <a:gd name="T11" fmla="*/ 622 h 622"/>
                <a:gd name="T12" fmla="*/ 71 w 194"/>
                <a:gd name="T13" fmla="*/ 620 h 622"/>
              </a:gdLst>
              <a:ahLst/>
              <a:cxnLst>
                <a:cxn ang="0">
                  <a:pos x="T0" y="T1"/>
                </a:cxn>
                <a:cxn ang="0">
                  <a:pos x="T2" y="T3"/>
                </a:cxn>
                <a:cxn ang="0">
                  <a:pos x="T4" y="T5"/>
                </a:cxn>
                <a:cxn ang="0">
                  <a:pos x="T6" y="T7"/>
                </a:cxn>
                <a:cxn ang="0">
                  <a:pos x="T8" y="T9"/>
                </a:cxn>
                <a:cxn ang="0">
                  <a:pos x="T10" y="T11"/>
                </a:cxn>
                <a:cxn ang="0">
                  <a:pos x="T12" y="T13"/>
                </a:cxn>
              </a:cxnLst>
              <a:rect l="0" t="0" r="r" b="b"/>
              <a:pathLst>
                <a:path w="194" h="622">
                  <a:moveTo>
                    <a:pt x="71" y="620"/>
                  </a:moveTo>
                  <a:cubicBezTo>
                    <a:pt x="74" y="246"/>
                    <a:pt x="74" y="246"/>
                    <a:pt x="74" y="246"/>
                  </a:cubicBezTo>
                  <a:cubicBezTo>
                    <a:pt x="169" y="217"/>
                    <a:pt x="188" y="221"/>
                    <a:pt x="194" y="194"/>
                  </a:cubicBezTo>
                  <a:cubicBezTo>
                    <a:pt x="192" y="0"/>
                    <a:pt x="192" y="0"/>
                    <a:pt x="192" y="0"/>
                  </a:cubicBezTo>
                  <a:cubicBezTo>
                    <a:pt x="176" y="96"/>
                    <a:pt x="0" y="191"/>
                    <a:pt x="0" y="234"/>
                  </a:cubicBezTo>
                  <a:cubicBezTo>
                    <a:pt x="1" y="622"/>
                    <a:pt x="1" y="622"/>
                    <a:pt x="1" y="622"/>
                  </a:cubicBezTo>
                  <a:cubicBezTo>
                    <a:pt x="21" y="582"/>
                    <a:pt x="59" y="583"/>
                    <a:pt x="71" y="620"/>
                  </a:cubicBezTo>
                  <a:close/>
                </a:path>
              </a:pathLst>
            </a:custGeom>
            <a:solidFill>
              <a:schemeClr val="accent3"/>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56"/>
            <p:cNvSpPr/>
            <p:nvPr/>
          </p:nvSpPr>
          <p:spPr bwMode="auto">
            <a:xfrm>
              <a:off x="6071357" y="2754325"/>
              <a:ext cx="91671" cy="60128"/>
            </a:xfrm>
            <a:custGeom>
              <a:avLst/>
              <a:gdLst>
                <a:gd name="T0" fmla="*/ 10 w 39"/>
                <a:gd name="T1" fmla="*/ 6 h 26"/>
                <a:gd name="T2" fmla="*/ 3 w 39"/>
                <a:gd name="T3" fmla="*/ 14 h 26"/>
                <a:gd name="T4" fmla="*/ 9 w 39"/>
                <a:gd name="T5" fmla="*/ 21 h 26"/>
                <a:gd name="T6" fmla="*/ 27 w 39"/>
                <a:gd name="T7" fmla="*/ 0 h 26"/>
                <a:gd name="T8" fmla="*/ 39 w 39"/>
                <a:gd name="T9" fmla="*/ 13 h 26"/>
                <a:gd name="T10" fmla="*/ 29 w 39"/>
                <a:gd name="T11" fmla="*/ 26 h 26"/>
                <a:gd name="T12" fmla="*/ 27 w 39"/>
                <a:gd name="T13" fmla="*/ 23 h 26"/>
                <a:gd name="T14" fmla="*/ 35 w 39"/>
                <a:gd name="T15" fmla="*/ 13 h 26"/>
                <a:gd name="T16" fmla="*/ 28 w 39"/>
                <a:gd name="T17" fmla="*/ 4 h 26"/>
                <a:gd name="T18" fmla="*/ 10 w 39"/>
                <a:gd name="T19" fmla="*/ 26 h 26"/>
                <a:gd name="T20" fmla="*/ 0 w 39"/>
                <a:gd name="T21" fmla="*/ 14 h 26"/>
                <a:gd name="T22" fmla="*/ 9 w 39"/>
                <a:gd name="T23" fmla="*/ 2 h 26"/>
                <a:gd name="T24" fmla="*/ 10 w 39"/>
                <a:gd name="T25" fmla="*/ 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26">
                  <a:moveTo>
                    <a:pt x="10" y="6"/>
                  </a:moveTo>
                  <a:cubicBezTo>
                    <a:pt x="6" y="7"/>
                    <a:pt x="3" y="10"/>
                    <a:pt x="3" y="14"/>
                  </a:cubicBezTo>
                  <a:cubicBezTo>
                    <a:pt x="3" y="19"/>
                    <a:pt x="5" y="21"/>
                    <a:pt x="9" y="21"/>
                  </a:cubicBezTo>
                  <a:cubicBezTo>
                    <a:pt x="17" y="22"/>
                    <a:pt x="15" y="0"/>
                    <a:pt x="27" y="0"/>
                  </a:cubicBezTo>
                  <a:cubicBezTo>
                    <a:pt x="33" y="0"/>
                    <a:pt x="39" y="3"/>
                    <a:pt x="39" y="13"/>
                  </a:cubicBezTo>
                  <a:cubicBezTo>
                    <a:pt x="39" y="21"/>
                    <a:pt x="33" y="24"/>
                    <a:pt x="29" y="26"/>
                  </a:cubicBezTo>
                  <a:cubicBezTo>
                    <a:pt x="27" y="23"/>
                    <a:pt x="27" y="23"/>
                    <a:pt x="27" y="23"/>
                  </a:cubicBezTo>
                  <a:cubicBezTo>
                    <a:pt x="31" y="21"/>
                    <a:pt x="35" y="18"/>
                    <a:pt x="35" y="13"/>
                  </a:cubicBezTo>
                  <a:cubicBezTo>
                    <a:pt x="35" y="7"/>
                    <a:pt x="32" y="4"/>
                    <a:pt x="28" y="4"/>
                  </a:cubicBezTo>
                  <a:cubicBezTo>
                    <a:pt x="19" y="4"/>
                    <a:pt x="21" y="26"/>
                    <a:pt x="10" y="26"/>
                  </a:cubicBezTo>
                  <a:cubicBezTo>
                    <a:pt x="4" y="26"/>
                    <a:pt x="0" y="21"/>
                    <a:pt x="0" y="14"/>
                  </a:cubicBezTo>
                  <a:cubicBezTo>
                    <a:pt x="0" y="8"/>
                    <a:pt x="3" y="4"/>
                    <a:pt x="9" y="2"/>
                  </a:cubicBezTo>
                  <a:lnTo>
                    <a:pt x="10" y="6"/>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57"/>
            <p:cNvSpPr>
              <a:spLocks noEditPoints="1"/>
            </p:cNvSpPr>
            <p:nvPr/>
          </p:nvSpPr>
          <p:spPr bwMode="auto">
            <a:xfrm>
              <a:off x="6071357" y="2674482"/>
              <a:ext cx="88714" cy="69986"/>
            </a:xfrm>
            <a:custGeom>
              <a:avLst/>
              <a:gdLst>
                <a:gd name="T0" fmla="*/ 90 w 90"/>
                <a:gd name="T1" fmla="*/ 71 h 71"/>
                <a:gd name="T2" fmla="*/ 0 w 90"/>
                <a:gd name="T3" fmla="*/ 43 h 71"/>
                <a:gd name="T4" fmla="*/ 0 w 90"/>
                <a:gd name="T5" fmla="*/ 29 h 71"/>
                <a:gd name="T6" fmla="*/ 90 w 90"/>
                <a:gd name="T7" fmla="*/ 0 h 71"/>
                <a:gd name="T8" fmla="*/ 90 w 90"/>
                <a:gd name="T9" fmla="*/ 12 h 71"/>
                <a:gd name="T10" fmla="*/ 62 w 90"/>
                <a:gd name="T11" fmla="*/ 19 h 71"/>
                <a:gd name="T12" fmla="*/ 62 w 90"/>
                <a:gd name="T13" fmla="*/ 52 h 71"/>
                <a:gd name="T14" fmla="*/ 90 w 90"/>
                <a:gd name="T15" fmla="*/ 59 h 71"/>
                <a:gd name="T16" fmla="*/ 90 w 90"/>
                <a:gd name="T17" fmla="*/ 71 h 71"/>
                <a:gd name="T18" fmla="*/ 55 w 90"/>
                <a:gd name="T19" fmla="*/ 50 h 71"/>
                <a:gd name="T20" fmla="*/ 55 w 90"/>
                <a:gd name="T21" fmla="*/ 22 h 71"/>
                <a:gd name="T22" fmla="*/ 7 w 90"/>
                <a:gd name="T23" fmla="*/ 36 h 71"/>
                <a:gd name="T24" fmla="*/ 7 w 90"/>
                <a:gd name="T25" fmla="*/ 36 h 71"/>
                <a:gd name="T26" fmla="*/ 55 w 90"/>
                <a:gd name="T27" fmla="*/ 5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71">
                  <a:moveTo>
                    <a:pt x="90" y="71"/>
                  </a:moveTo>
                  <a:lnTo>
                    <a:pt x="0" y="43"/>
                  </a:lnTo>
                  <a:lnTo>
                    <a:pt x="0" y="29"/>
                  </a:lnTo>
                  <a:lnTo>
                    <a:pt x="90" y="0"/>
                  </a:lnTo>
                  <a:lnTo>
                    <a:pt x="90" y="12"/>
                  </a:lnTo>
                  <a:lnTo>
                    <a:pt x="62" y="19"/>
                  </a:lnTo>
                  <a:lnTo>
                    <a:pt x="62" y="52"/>
                  </a:lnTo>
                  <a:lnTo>
                    <a:pt x="90" y="59"/>
                  </a:lnTo>
                  <a:lnTo>
                    <a:pt x="90" y="71"/>
                  </a:lnTo>
                  <a:close/>
                  <a:moveTo>
                    <a:pt x="55" y="50"/>
                  </a:moveTo>
                  <a:lnTo>
                    <a:pt x="55" y="22"/>
                  </a:lnTo>
                  <a:lnTo>
                    <a:pt x="7" y="36"/>
                  </a:lnTo>
                  <a:lnTo>
                    <a:pt x="7" y="36"/>
                  </a:lnTo>
                  <a:lnTo>
                    <a:pt x="55" y="50"/>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8"/>
            <p:cNvSpPr/>
            <p:nvPr/>
          </p:nvSpPr>
          <p:spPr bwMode="auto">
            <a:xfrm>
              <a:off x="6071357" y="2583796"/>
              <a:ext cx="88714" cy="74914"/>
            </a:xfrm>
            <a:custGeom>
              <a:avLst/>
              <a:gdLst>
                <a:gd name="T0" fmla="*/ 90 w 90"/>
                <a:gd name="T1" fmla="*/ 10 h 76"/>
                <a:gd name="T2" fmla="*/ 10 w 90"/>
                <a:gd name="T3" fmla="*/ 10 h 76"/>
                <a:gd name="T4" fmla="*/ 10 w 90"/>
                <a:gd name="T5" fmla="*/ 10 h 76"/>
                <a:gd name="T6" fmla="*/ 90 w 90"/>
                <a:gd name="T7" fmla="*/ 36 h 76"/>
                <a:gd name="T8" fmla="*/ 90 w 90"/>
                <a:gd name="T9" fmla="*/ 43 h 76"/>
                <a:gd name="T10" fmla="*/ 10 w 90"/>
                <a:gd name="T11" fmla="*/ 69 h 76"/>
                <a:gd name="T12" fmla="*/ 10 w 90"/>
                <a:gd name="T13" fmla="*/ 69 h 76"/>
                <a:gd name="T14" fmla="*/ 90 w 90"/>
                <a:gd name="T15" fmla="*/ 69 h 76"/>
                <a:gd name="T16" fmla="*/ 90 w 90"/>
                <a:gd name="T17" fmla="*/ 76 h 76"/>
                <a:gd name="T18" fmla="*/ 0 w 90"/>
                <a:gd name="T19" fmla="*/ 76 h 76"/>
                <a:gd name="T20" fmla="*/ 0 w 90"/>
                <a:gd name="T21" fmla="*/ 62 h 76"/>
                <a:gd name="T22" fmla="*/ 74 w 90"/>
                <a:gd name="T23" fmla="*/ 38 h 76"/>
                <a:gd name="T24" fmla="*/ 74 w 90"/>
                <a:gd name="T25" fmla="*/ 38 h 76"/>
                <a:gd name="T26" fmla="*/ 0 w 90"/>
                <a:gd name="T27" fmla="*/ 17 h 76"/>
                <a:gd name="T28" fmla="*/ 0 w 90"/>
                <a:gd name="T29" fmla="*/ 0 h 76"/>
                <a:gd name="T30" fmla="*/ 90 w 90"/>
                <a:gd name="T31" fmla="*/ 0 h 76"/>
                <a:gd name="T32" fmla="*/ 90 w 90"/>
                <a:gd name="T33" fmla="*/ 1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0" h="76">
                  <a:moveTo>
                    <a:pt x="90" y="10"/>
                  </a:moveTo>
                  <a:lnTo>
                    <a:pt x="10" y="10"/>
                  </a:lnTo>
                  <a:lnTo>
                    <a:pt x="10" y="10"/>
                  </a:lnTo>
                  <a:lnTo>
                    <a:pt x="90" y="36"/>
                  </a:lnTo>
                  <a:lnTo>
                    <a:pt x="90" y="43"/>
                  </a:lnTo>
                  <a:lnTo>
                    <a:pt x="10" y="69"/>
                  </a:lnTo>
                  <a:lnTo>
                    <a:pt x="10" y="69"/>
                  </a:lnTo>
                  <a:lnTo>
                    <a:pt x="90" y="69"/>
                  </a:lnTo>
                  <a:lnTo>
                    <a:pt x="90" y="76"/>
                  </a:lnTo>
                  <a:lnTo>
                    <a:pt x="0" y="76"/>
                  </a:lnTo>
                  <a:lnTo>
                    <a:pt x="0" y="62"/>
                  </a:lnTo>
                  <a:lnTo>
                    <a:pt x="74" y="38"/>
                  </a:lnTo>
                  <a:lnTo>
                    <a:pt x="74" y="38"/>
                  </a:lnTo>
                  <a:lnTo>
                    <a:pt x="0" y="17"/>
                  </a:lnTo>
                  <a:lnTo>
                    <a:pt x="0" y="0"/>
                  </a:lnTo>
                  <a:lnTo>
                    <a:pt x="90" y="0"/>
                  </a:lnTo>
                  <a:lnTo>
                    <a:pt x="90" y="10"/>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Freeform 59"/>
            <p:cNvSpPr>
              <a:spLocks noEditPoints="1"/>
            </p:cNvSpPr>
            <p:nvPr/>
          </p:nvSpPr>
          <p:spPr bwMode="auto">
            <a:xfrm>
              <a:off x="6071357" y="2501982"/>
              <a:ext cx="88714" cy="56186"/>
            </a:xfrm>
            <a:custGeom>
              <a:avLst/>
              <a:gdLst>
                <a:gd name="T0" fmla="*/ 38 w 38"/>
                <a:gd name="T1" fmla="*/ 24 h 24"/>
                <a:gd name="T2" fmla="*/ 0 w 38"/>
                <a:gd name="T3" fmla="*/ 24 h 24"/>
                <a:gd name="T4" fmla="*/ 0 w 38"/>
                <a:gd name="T5" fmla="*/ 11 h 24"/>
                <a:gd name="T6" fmla="*/ 11 w 38"/>
                <a:gd name="T7" fmla="*/ 0 h 24"/>
                <a:gd name="T8" fmla="*/ 21 w 38"/>
                <a:gd name="T9" fmla="*/ 13 h 24"/>
                <a:gd name="T10" fmla="*/ 21 w 38"/>
                <a:gd name="T11" fmla="*/ 20 h 24"/>
                <a:gd name="T12" fmla="*/ 38 w 38"/>
                <a:gd name="T13" fmla="*/ 20 h 24"/>
                <a:gd name="T14" fmla="*/ 38 w 38"/>
                <a:gd name="T15" fmla="*/ 24 h 24"/>
                <a:gd name="T16" fmla="*/ 18 w 38"/>
                <a:gd name="T17" fmla="*/ 20 h 24"/>
                <a:gd name="T18" fmla="*/ 18 w 38"/>
                <a:gd name="T19" fmla="*/ 13 h 24"/>
                <a:gd name="T20" fmla="*/ 11 w 38"/>
                <a:gd name="T21" fmla="*/ 4 h 24"/>
                <a:gd name="T22" fmla="*/ 4 w 38"/>
                <a:gd name="T23" fmla="*/ 12 h 24"/>
                <a:gd name="T24" fmla="*/ 4 w 38"/>
                <a:gd name="T25" fmla="*/ 20 h 24"/>
                <a:gd name="T26" fmla="*/ 18 w 38"/>
                <a:gd name="T27"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 h="24">
                  <a:moveTo>
                    <a:pt x="38" y="24"/>
                  </a:moveTo>
                  <a:cubicBezTo>
                    <a:pt x="0" y="24"/>
                    <a:pt x="0" y="24"/>
                    <a:pt x="0" y="24"/>
                  </a:cubicBezTo>
                  <a:cubicBezTo>
                    <a:pt x="0" y="11"/>
                    <a:pt x="0" y="11"/>
                    <a:pt x="0" y="11"/>
                  </a:cubicBezTo>
                  <a:cubicBezTo>
                    <a:pt x="0" y="3"/>
                    <a:pt x="5" y="0"/>
                    <a:pt x="11" y="0"/>
                  </a:cubicBezTo>
                  <a:cubicBezTo>
                    <a:pt x="17" y="0"/>
                    <a:pt x="21" y="4"/>
                    <a:pt x="21" y="13"/>
                  </a:cubicBezTo>
                  <a:cubicBezTo>
                    <a:pt x="21" y="20"/>
                    <a:pt x="21" y="20"/>
                    <a:pt x="21" y="20"/>
                  </a:cubicBezTo>
                  <a:cubicBezTo>
                    <a:pt x="38" y="20"/>
                    <a:pt x="38" y="20"/>
                    <a:pt x="38" y="20"/>
                  </a:cubicBezTo>
                  <a:lnTo>
                    <a:pt x="38" y="24"/>
                  </a:lnTo>
                  <a:close/>
                  <a:moveTo>
                    <a:pt x="18" y="20"/>
                  </a:moveTo>
                  <a:cubicBezTo>
                    <a:pt x="18" y="13"/>
                    <a:pt x="18" y="13"/>
                    <a:pt x="18" y="13"/>
                  </a:cubicBezTo>
                  <a:cubicBezTo>
                    <a:pt x="18" y="6"/>
                    <a:pt x="15" y="4"/>
                    <a:pt x="11" y="4"/>
                  </a:cubicBezTo>
                  <a:cubicBezTo>
                    <a:pt x="6" y="4"/>
                    <a:pt x="4" y="6"/>
                    <a:pt x="4" y="12"/>
                  </a:cubicBezTo>
                  <a:cubicBezTo>
                    <a:pt x="4" y="20"/>
                    <a:pt x="4" y="20"/>
                    <a:pt x="4" y="20"/>
                  </a:cubicBezTo>
                  <a:lnTo>
                    <a:pt x="18" y="20"/>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Freeform 60"/>
            <p:cNvSpPr/>
            <p:nvPr/>
          </p:nvSpPr>
          <p:spPr bwMode="auto">
            <a:xfrm>
              <a:off x="6071357" y="2431997"/>
              <a:ext cx="88714" cy="51257"/>
            </a:xfrm>
            <a:custGeom>
              <a:avLst/>
              <a:gdLst>
                <a:gd name="T0" fmla="*/ 90 w 90"/>
                <a:gd name="T1" fmla="*/ 52 h 52"/>
                <a:gd name="T2" fmla="*/ 0 w 90"/>
                <a:gd name="T3" fmla="*/ 52 h 52"/>
                <a:gd name="T4" fmla="*/ 0 w 90"/>
                <a:gd name="T5" fmla="*/ 43 h 52"/>
                <a:gd name="T6" fmla="*/ 81 w 90"/>
                <a:gd name="T7" fmla="*/ 43 h 52"/>
                <a:gd name="T8" fmla="*/ 81 w 90"/>
                <a:gd name="T9" fmla="*/ 0 h 52"/>
                <a:gd name="T10" fmla="*/ 90 w 90"/>
                <a:gd name="T11" fmla="*/ 0 h 52"/>
                <a:gd name="T12" fmla="*/ 90 w 90"/>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90" h="52">
                  <a:moveTo>
                    <a:pt x="90" y="52"/>
                  </a:moveTo>
                  <a:lnTo>
                    <a:pt x="0" y="52"/>
                  </a:lnTo>
                  <a:lnTo>
                    <a:pt x="0" y="43"/>
                  </a:lnTo>
                  <a:lnTo>
                    <a:pt x="81" y="43"/>
                  </a:lnTo>
                  <a:lnTo>
                    <a:pt x="81" y="0"/>
                  </a:lnTo>
                  <a:lnTo>
                    <a:pt x="90" y="0"/>
                  </a:lnTo>
                  <a:lnTo>
                    <a:pt x="90" y="52"/>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Freeform 61"/>
            <p:cNvSpPr/>
            <p:nvPr/>
          </p:nvSpPr>
          <p:spPr bwMode="auto">
            <a:xfrm>
              <a:off x="6071357" y="2360040"/>
              <a:ext cx="88714" cy="56186"/>
            </a:xfrm>
            <a:custGeom>
              <a:avLst/>
              <a:gdLst>
                <a:gd name="T0" fmla="*/ 0 w 90"/>
                <a:gd name="T1" fmla="*/ 2 h 57"/>
                <a:gd name="T2" fmla="*/ 10 w 90"/>
                <a:gd name="T3" fmla="*/ 2 h 57"/>
                <a:gd name="T4" fmla="*/ 10 w 90"/>
                <a:gd name="T5" fmla="*/ 47 h 57"/>
                <a:gd name="T6" fmla="*/ 41 w 90"/>
                <a:gd name="T7" fmla="*/ 47 h 57"/>
                <a:gd name="T8" fmla="*/ 41 w 90"/>
                <a:gd name="T9" fmla="*/ 17 h 57"/>
                <a:gd name="T10" fmla="*/ 48 w 90"/>
                <a:gd name="T11" fmla="*/ 17 h 57"/>
                <a:gd name="T12" fmla="*/ 48 w 90"/>
                <a:gd name="T13" fmla="*/ 47 h 57"/>
                <a:gd name="T14" fmla="*/ 81 w 90"/>
                <a:gd name="T15" fmla="*/ 47 h 57"/>
                <a:gd name="T16" fmla="*/ 81 w 90"/>
                <a:gd name="T17" fmla="*/ 0 h 57"/>
                <a:gd name="T18" fmla="*/ 90 w 90"/>
                <a:gd name="T19" fmla="*/ 0 h 57"/>
                <a:gd name="T20" fmla="*/ 90 w 90"/>
                <a:gd name="T21" fmla="*/ 57 h 57"/>
                <a:gd name="T22" fmla="*/ 0 w 90"/>
                <a:gd name="T23" fmla="*/ 57 h 57"/>
                <a:gd name="T24" fmla="*/ 0 w 90"/>
                <a:gd name="T25"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57">
                  <a:moveTo>
                    <a:pt x="0" y="2"/>
                  </a:moveTo>
                  <a:lnTo>
                    <a:pt x="10" y="2"/>
                  </a:lnTo>
                  <a:lnTo>
                    <a:pt x="10" y="47"/>
                  </a:lnTo>
                  <a:lnTo>
                    <a:pt x="41" y="47"/>
                  </a:lnTo>
                  <a:lnTo>
                    <a:pt x="41" y="17"/>
                  </a:lnTo>
                  <a:lnTo>
                    <a:pt x="48" y="17"/>
                  </a:lnTo>
                  <a:lnTo>
                    <a:pt x="48" y="47"/>
                  </a:lnTo>
                  <a:lnTo>
                    <a:pt x="81" y="47"/>
                  </a:lnTo>
                  <a:lnTo>
                    <a:pt x="81" y="0"/>
                  </a:lnTo>
                  <a:lnTo>
                    <a:pt x="90" y="0"/>
                  </a:lnTo>
                  <a:lnTo>
                    <a:pt x="90" y="57"/>
                  </a:lnTo>
                  <a:lnTo>
                    <a:pt x="0" y="57"/>
                  </a:lnTo>
                  <a:lnTo>
                    <a:pt x="0" y="2"/>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Freeform 62"/>
            <p:cNvSpPr/>
            <p:nvPr/>
          </p:nvSpPr>
          <p:spPr bwMode="auto">
            <a:xfrm>
              <a:off x="6071357" y="2252597"/>
              <a:ext cx="88714" cy="61114"/>
            </a:xfrm>
            <a:custGeom>
              <a:avLst/>
              <a:gdLst>
                <a:gd name="T0" fmla="*/ 10 w 90"/>
                <a:gd name="T1" fmla="*/ 26 h 62"/>
                <a:gd name="T2" fmla="*/ 90 w 90"/>
                <a:gd name="T3" fmla="*/ 26 h 62"/>
                <a:gd name="T4" fmla="*/ 90 w 90"/>
                <a:gd name="T5" fmla="*/ 36 h 62"/>
                <a:gd name="T6" fmla="*/ 10 w 90"/>
                <a:gd name="T7" fmla="*/ 36 h 62"/>
                <a:gd name="T8" fmla="*/ 10 w 90"/>
                <a:gd name="T9" fmla="*/ 62 h 62"/>
                <a:gd name="T10" fmla="*/ 0 w 90"/>
                <a:gd name="T11" fmla="*/ 62 h 62"/>
                <a:gd name="T12" fmla="*/ 0 w 90"/>
                <a:gd name="T13" fmla="*/ 0 h 62"/>
                <a:gd name="T14" fmla="*/ 10 w 90"/>
                <a:gd name="T15" fmla="*/ 0 h 62"/>
                <a:gd name="T16" fmla="*/ 10 w 90"/>
                <a:gd name="T17"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62">
                  <a:moveTo>
                    <a:pt x="10" y="26"/>
                  </a:moveTo>
                  <a:lnTo>
                    <a:pt x="90" y="26"/>
                  </a:lnTo>
                  <a:lnTo>
                    <a:pt x="90" y="36"/>
                  </a:lnTo>
                  <a:lnTo>
                    <a:pt x="10" y="36"/>
                  </a:lnTo>
                  <a:lnTo>
                    <a:pt x="10" y="62"/>
                  </a:lnTo>
                  <a:lnTo>
                    <a:pt x="0" y="62"/>
                  </a:lnTo>
                  <a:lnTo>
                    <a:pt x="0" y="0"/>
                  </a:lnTo>
                  <a:lnTo>
                    <a:pt x="10" y="0"/>
                  </a:lnTo>
                  <a:lnTo>
                    <a:pt x="10" y="26"/>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Freeform 63"/>
            <p:cNvSpPr/>
            <p:nvPr/>
          </p:nvSpPr>
          <p:spPr bwMode="auto">
            <a:xfrm>
              <a:off x="6071357" y="2180640"/>
              <a:ext cx="88714" cy="56186"/>
            </a:xfrm>
            <a:custGeom>
              <a:avLst/>
              <a:gdLst>
                <a:gd name="T0" fmla="*/ 0 w 90"/>
                <a:gd name="T1" fmla="*/ 2 h 57"/>
                <a:gd name="T2" fmla="*/ 10 w 90"/>
                <a:gd name="T3" fmla="*/ 2 h 57"/>
                <a:gd name="T4" fmla="*/ 10 w 90"/>
                <a:gd name="T5" fmla="*/ 47 h 57"/>
                <a:gd name="T6" fmla="*/ 41 w 90"/>
                <a:gd name="T7" fmla="*/ 47 h 57"/>
                <a:gd name="T8" fmla="*/ 41 w 90"/>
                <a:gd name="T9" fmla="*/ 17 h 57"/>
                <a:gd name="T10" fmla="*/ 48 w 90"/>
                <a:gd name="T11" fmla="*/ 17 h 57"/>
                <a:gd name="T12" fmla="*/ 48 w 90"/>
                <a:gd name="T13" fmla="*/ 47 h 57"/>
                <a:gd name="T14" fmla="*/ 81 w 90"/>
                <a:gd name="T15" fmla="*/ 47 h 57"/>
                <a:gd name="T16" fmla="*/ 81 w 90"/>
                <a:gd name="T17" fmla="*/ 0 h 57"/>
                <a:gd name="T18" fmla="*/ 90 w 90"/>
                <a:gd name="T19" fmla="*/ 0 h 57"/>
                <a:gd name="T20" fmla="*/ 90 w 90"/>
                <a:gd name="T21" fmla="*/ 57 h 57"/>
                <a:gd name="T22" fmla="*/ 0 w 90"/>
                <a:gd name="T23" fmla="*/ 57 h 57"/>
                <a:gd name="T24" fmla="*/ 0 w 90"/>
                <a:gd name="T25" fmla="*/ 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57">
                  <a:moveTo>
                    <a:pt x="0" y="2"/>
                  </a:moveTo>
                  <a:lnTo>
                    <a:pt x="10" y="2"/>
                  </a:lnTo>
                  <a:lnTo>
                    <a:pt x="10" y="47"/>
                  </a:lnTo>
                  <a:lnTo>
                    <a:pt x="41" y="47"/>
                  </a:lnTo>
                  <a:lnTo>
                    <a:pt x="41" y="17"/>
                  </a:lnTo>
                  <a:lnTo>
                    <a:pt x="48" y="17"/>
                  </a:lnTo>
                  <a:lnTo>
                    <a:pt x="48" y="47"/>
                  </a:lnTo>
                  <a:lnTo>
                    <a:pt x="81" y="47"/>
                  </a:lnTo>
                  <a:lnTo>
                    <a:pt x="81" y="0"/>
                  </a:lnTo>
                  <a:lnTo>
                    <a:pt x="90" y="0"/>
                  </a:lnTo>
                  <a:lnTo>
                    <a:pt x="90" y="57"/>
                  </a:lnTo>
                  <a:lnTo>
                    <a:pt x="0" y="57"/>
                  </a:lnTo>
                  <a:lnTo>
                    <a:pt x="0" y="2"/>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Freeform 64"/>
            <p:cNvSpPr/>
            <p:nvPr/>
          </p:nvSpPr>
          <p:spPr bwMode="auto">
            <a:xfrm>
              <a:off x="6071357" y="2108683"/>
              <a:ext cx="88714" cy="65057"/>
            </a:xfrm>
            <a:custGeom>
              <a:avLst/>
              <a:gdLst>
                <a:gd name="T0" fmla="*/ 90 w 90"/>
                <a:gd name="T1" fmla="*/ 54 h 66"/>
                <a:gd name="T2" fmla="*/ 90 w 90"/>
                <a:gd name="T3" fmla="*/ 66 h 66"/>
                <a:gd name="T4" fmla="*/ 43 w 90"/>
                <a:gd name="T5" fmla="*/ 40 h 66"/>
                <a:gd name="T6" fmla="*/ 0 w 90"/>
                <a:gd name="T7" fmla="*/ 64 h 66"/>
                <a:gd name="T8" fmla="*/ 0 w 90"/>
                <a:gd name="T9" fmla="*/ 52 h 66"/>
                <a:gd name="T10" fmla="*/ 33 w 90"/>
                <a:gd name="T11" fmla="*/ 33 h 66"/>
                <a:gd name="T12" fmla="*/ 0 w 90"/>
                <a:gd name="T13" fmla="*/ 14 h 66"/>
                <a:gd name="T14" fmla="*/ 0 w 90"/>
                <a:gd name="T15" fmla="*/ 4 h 66"/>
                <a:gd name="T16" fmla="*/ 43 w 90"/>
                <a:gd name="T17" fmla="*/ 28 h 66"/>
                <a:gd name="T18" fmla="*/ 90 w 90"/>
                <a:gd name="T19" fmla="*/ 0 h 66"/>
                <a:gd name="T20" fmla="*/ 90 w 90"/>
                <a:gd name="T21" fmla="*/ 11 h 66"/>
                <a:gd name="T22" fmla="*/ 52 w 90"/>
                <a:gd name="T23" fmla="*/ 33 h 66"/>
                <a:gd name="T24" fmla="*/ 90 w 90"/>
                <a:gd name="T25" fmla="*/ 5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66">
                  <a:moveTo>
                    <a:pt x="90" y="54"/>
                  </a:moveTo>
                  <a:lnTo>
                    <a:pt x="90" y="66"/>
                  </a:lnTo>
                  <a:lnTo>
                    <a:pt x="43" y="40"/>
                  </a:lnTo>
                  <a:lnTo>
                    <a:pt x="0" y="64"/>
                  </a:lnTo>
                  <a:lnTo>
                    <a:pt x="0" y="52"/>
                  </a:lnTo>
                  <a:lnTo>
                    <a:pt x="33" y="33"/>
                  </a:lnTo>
                  <a:lnTo>
                    <a:pt x="0" y="14"/>
                  </a:lnTo>
                  <a:lnTo>
                    <a:pt x="0" y="4"/>
                  </a:lnTo>
                  <a:lnTo>
                    <a:pt x="43" y="28"/>
                  </a:lnTo>
                  <a:lnTo>
                    <a:pt x="90" y="0"/>
                  </a:lnTo>
                  <a:lnTo>
                    <a:pt x="90" y="11"/>
                  </a:lnTo>
                  <a:lnTo>
                    <a:pt x="52" y="33"/>
                  </a:lnTo>
                  <a:lnTo>
                    <a:pt x="90" y="54"/>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Freeform 65"/>
            <p:cNvSpPr/>
            <p:nvPr/>
          </p:nvSpPr>
          <p:spPr bwMode="auto">
            <a:xfrm>
              <a:off x="6071357" y="2042640"/>
              <a:ext cx="88714" cy="61114"/>
            </a:xfrm>
            <a:custGeom>
              <a:avLst/>
              <a:gdLst>
                <a:gd name="T0" fmla="*/ 10 w 90"/>
                <a:gd name="T1" fmla="*/ 26 h 62"/>
                <a:gd name="T2" fmla="*/ 90 w 90"/>
                <a:gd name="T3" fmla="*/ 26 h 62"/>
                <a:gd name="T4" fmla="*/ 90 w 90"/>
                <a:gd name="T5" fmla="*/ 36 h 62"/>
                <a:gd name="T6" fmla="*/ 10 w 90"/>
                <a:gd name="T7" fmla="*/ 36 h 62"/>
                <a:gd name="T8" fmla="*/ 10 w 90"/>
                <a:gd name="T9" fmla="*/ 62 h 62"/>
                <a:gd name="T10" fmla="*/ 0 w 90"/>
                <a:gd name="T11" fmla="*/ 62 h 62"/>
                <a:gd name="T12" fmla="*/ 0 w 90"/>
                <a:gd name="T13" fmla="*/ 0 h 62"/>
                <a:gd name="T14" fmla="*/ 10 w 90"/>
                <a:gd name="T15" fmla="*/ 0 h 62"/>
                <a:gd name="T16" fmla="*/ 10 w 90"/>
                <a:gd name="T17"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62">
                  <a:moveTo>
                    <a:pt x="10" y="26"/>
                  </a:moveTo>
                  <a:lnTo>
                    <a:pt x="90" y="26"/>
                  </a:lnTo>
                  <a:lnTo>
                    <a:pt x="90" y="36"/>
                  </a:lnTo>
                  <a:lnTo>
                    <a:pt x="10" y="36"/>
                  </a:lnTo>
                  <a:lnTo>
                    <a:pt x="10" y="62"/>
                  </a:lnTo>
                  <a:lnTo>
                    <a:pt x="0" y="62"/>
                  </a:lnTo>
                  <a:lnTo>
                    <a:pt x="0" y="0"/>
                  </a:lnTo>
                  <a:lnTo>
                    <a:pt x="10" y="0"/>
                  </a:lnTo>
                  <a:lnTo>
                    <a:pt x="10" y="26"/>
                  </a:lnTo>
                  <a:close/>
                </a:path>
              </a:pathLst>
            </a:custGeom>
            <a:solidFill>
              <a:schemeClr val="tx2"/>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Freeform 78"/>
            <p:cNvSpPr/>
            <p:nvPr/>
          </p:nvSpPr>
          <p:spPr bwMode="auto">
            <a:xfrm>
              <a:off x="6896397" y="2832960"/>
              <a:ext cx="196157" cy="428785"/>
            </a:xfrm>
            <a:custGeom>
              <a:avLst/>
              <a:gdLst>
                <a:gd name="T0" fmla="*/ 4 w 84"/>
                <a:gd name="T1" fmla="*/ 184 h 184"/>
                <a:gd name="T2" fmla="*/ 4 w 84"/>
                <a:gd name="T3" fmla="*/ 168 h 184"/>
                <a:gd name="T4" fmla="*/ 35 w 84"/>
                <a:gd name="T5" fmla="*/ 168 h 184"/>
                <a:gd name="T6" fmla="*/ 35 w 84"/>
                <a:gd name="T7" fmla="*/ 21 h 184"/>
                <a:gd name="T8" fmla="*/ 0 w 84"/>
                <a:gd name="T9" fmla="*/ 25 h 184"/>
                <a:gd name="T10" fmla="*/ 0 w 84"/>
                <a:gd name="T11" fmla="*/ 13 h 184"/>
                <a:gd name="T12" fmla="*/ 35 w 84"/>
                <a:gd name="T13" fmla="*/ 0 h 184"/>
                <a:gd name="T14" fmla="*/ 53 w 84"/>
                <a:gd name="T15" fmla="*/ 0 h 184"/>
                <a:gd name="T16" fmla="*/ 53 w 84"/>
                <a:gd name="T17" fmla="*/ 168 h 184"/>
                <a:gd name="T18" fmla="*/ 84 w 84"/>
                <a:gd name="T19" fmla="*/ 168 h 184"/>
                <a:gd name="T20" fmla="*/ 84 w 84"/>
                <a:gd name="T21" fmla="*/ 184 h 184"/>
                <a:gd name="T22" fmla="*/ 4 w 84"/>
                <a:gd name="T23" fmla="*/ 18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4" h="184">
                  <a:moveTo>
                    <a:pt x="4" y="184"/>
                  </a:moveTo>
                  <a:cubicBezTo>
                    <a:pt x="4" y="168"/>
                    <a:pt x="4" y="168"/>
                    <a:pt x="4" y="168"/>
                  </a:cubicBezTo>
                  <a:cubicBezTo>
                    <a:pt x="35" y="168"/>
                    <a:pt x="35" y="168"/>
                    <a:pt x="35" y="168"/>
                  </a:cubicBezTo>
                  <a:cubicBezTo>
                    <a:pt x="35" y="21"/>
                    <a:pt x="35" y="21"/>
                    <a:pt x="35" y="21"/>
                  </a:cubicBezTo>
                  <a:cubicBezTo>
                    <a:pt x="0" y="25"/>
                    <a:pt x="0" y="25"/>
                    <a:pt x="0" y="25"/>
                  </a:cubicBezTo>
                  <a:cubicBezTo>
                    <a:pt x="0" y="13"/>
                    <a:pt x="0" y="13"/>
                    <a:pt x="0" y="13"/>
                  </a:cubicBezTo>
                  <a:cubicBezTo>
                    <a:pt x="13" y="9"/>
                    <a:pt x="27" y="5"/>
                    <a:pt x="35" y="0"/>
                  </a:cubicBezTo>
                  <a:cubicBezTo>
                    <a:pt x="53" y="0"/>
                    <a:pt x="53" y="0"/>
                    <a:pt x="53" y="0"/>
                  </a:cubicBezTo>
                  <a:cubicBezTo>
                    <a:pt x="53" y="168"/>
                    <a:pt x="53" y="168"/>
                    <a:pt x="53" y="168"/>
                  </a:cubicBezTo>
                  <a:cubicBezTo>
                    <a:pt x="84" y="168"/>
                    <a:pt x="84" y="168"/>
                    <a:pt x="84" y="168"/>
                  </a:cubicBezTo>
                  <a:cubicBezTo>
                    <a:pt x="84" y="184"/>
                    <a:pt x="84" y="184"/>
                    <a:pt x="84" y="184"/>
                  </a:cubicBezTo>
                  <a:lnTo>
                    <a:pt x="4" y="184"/>
                  </a:lnTo>
                  <a:close/>
                </a:path>
              </a:pathLst>
            </a:custGeom>
            <a:solidFill>
              <a:schemeClr val="bg1"/>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0" name="Freeform 79"/>
            <p:cNvSpPr/>
            <p:nvPr/>
          </p:nvSpPr>
          <p:spPr bwMode="auto">
            <a:xfrm>
              <a:off x="4987231" y="1887457"/>
              <a:ext cx="273042" cy="426814"/>
            </a:xfrm>
            <a:custGeom>
              <a:avLst/>
              <a:gdLst>
                <a:gd name="T0" fmla="*/ 117 w 117"/>
                <a:gd name="T1" fmla="*/ 183 h 183"/>
                <a:gd name="T2" fmla="*/ 0 w 117"/>
                <a:gd name="T3" fmla="*/ 183 h 183"/>
                <a:gd name="T4" fmla="*/ 0 w 117"/>
                <a:gd name="T5" fmla="*/ 164 h 183"/>
                <a:gd name="T6" fmla="*/ 98 w 117"/>
                <a:gd name="T7" fmla="*/ 48 h 183"/>
                <a:gd name="T8" fmla="*/ 62 w 117"/>
                <a:gd name="T9" fmla="*/ 15 h 183"/>
                <a:gd name="T10" fmla="*/ 19 w 117"/>
                <a:gd name="T11" fmla="*/ 54 h 183"/>
                <a:gd name="T12" fmla="*/ 1 w 117"/>
                <a:gd name="T13" fmla="*/ 50 h 183"/>
                <a:gd name="T14" fmla="*/ 62 w 117"/>
                <a:gd name="T15" fmla="*/ 0 h 183"/>
                <a:gd name="T16" fmla="*/ 117 w 117"/>
                <a:gd name="T17" fmla="*/ 48 h 183"/>
                <a:gd name="T18" fmla="*/ 19 w 117"/>
                <a:gd name="T19" fmla="*/ 167 h 183"/>
                <a:gd name="T20" fmla="*/ 117 w 117"/>
                <a:gd name="T21" fmla="*/ 167 h 183"/>
                <a:gd name="T22" fmla="*/ 117 w 117"/>
                <a:gd name="T23" fmla="*/ 183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7" h="183">
                  <a:moveTo>
                    <a:pt x="117" y="183"/>
                  </a:moveTo>
                  <a:cubicBezTo>
                    <a:pt x="0" y="183"/>
                    <a:pt x="0" y="183"/>
                    <a:pt x="0" y="183"/>
                  </a:cubicBezTo>
                  <a:cubicBezTo>
                    <a:pt x="0" y="164"/>
                    <a:pt x="0" y="164"/>
                    <a:pt x="0" y="164"/>
                  </a:cubicBezTo>
                  <a:cubicBezTo>
                    <a:pt x="31" y="100"/>
                    <a:pt x="98" y="97"/>
                    <a:pt x="98" y="48"/>
                  </a:cubicBezTo>
                  <a:cubicBezTo>
                    <a:pt x="98" y="27"/>
                    <a:pt x="85" y="15"/>
                    <a:pt x="62" y="15"/>
                  </a:cubicBezTo>
                  <a:cubicBezTo>
                    <a:pt x="36" y="15"/>
                    <a:pt x="22" y="36"/>
                    <a:pt x="19" y="54"/>
                  </a:cubicBezTo>
                  <a:cubicBezTo>
                    <a:pt x="1" y="50"/>
                    <a:pt x="1" y="50"/>
                    <a:pt x="1" y="50"/>
                  </a:cubicBezTo>
                  <a:cubicBezTo>
                    <a:pt x="7" y="25"/>
                    <a:pt x="22" y="0"/>
                    <a:pt x="62" y="0"/>
                  </a:cubicBezTo>
                  <a:cubicBezTo>
                    <a:pt x="92" y="0"/>
                    <a:pt x="117" y="17"/>
                    <a:pt x="117" y="48"/>
                  </a:cubicBezTo>
                  <a:cubicBezTo>
                    <a:pt x="117" y="103"/>
                    <a:pt x="38" y="118"/>
                    <a:pt x="19" y="167"/>
                  </a:cubicBezTo>
                  <a:cubicBezTo>
                    <a:pt x="117" y="167"/>
                    <a:pt x="117" y="167"/>
                    <a:pt x="117" y="167"/>
                  </a:cubicBezTo>
                  <a:lnTo>
                    <a:pt x="117" y="183"/>
                  </a:lnTo>
                  <a:close/>
                </a:path>
              </a:pathLst>
            </a:custGeom>
            <a:solidFill>
              <a:schemeClr val="bg1"/>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Freeform 80"/>
            <p:cNvSpPr/>
            <p:nvPr/>
          </p:nvSpPr>
          <p:spPr bwMode="auto">
            <a:xfrm>
              <a:off x="5082738" y="5306186"/>
              <a:ext cx="419985" cy="573385"/>
            </a:xfrm>
            <a:custGeom>
              <a:avLst/>
              <a:gdLst>
                <a:gd name="T0" fmla="*/ 14 w 125"/>
                <a:gd name="T1" fmla="*/ 140 h 186"/>
                <a:gd name="T2" fmla="*/ 64 w 125"/>
                <a:gd name="T3" fmla="*/ 170 h 186"/>
                <a:gd name="T4" fmla="*/ 106 w 125"/>
                <a:gd name="T5" fmla="*/ 135 h 186"/>
                <a:gd name="T6" fmla="*/ 55 w 125"/>
                <a:gd name="T7" fmla="*/ 94 h 186"/>
                <a:gd name="T8" fmla="*/ 38 w 125"/>
                <a:gd name="T9" fmla="*/ 94 h 186"/>
                <a:gd name="T10" fmla="*/ 38 w 125"/>
                <a:gd name="T11" fmla="*/ 79 h 186"/>
                <a:gd name="T12" fmla="*/ 48 w 125"/>
                <a:gd name="T13" fmla="*/ 79 h 186"/>
                <a:gd name="T14" fmla="*/ 100 w 125"/>
                <a:gd name="T15" fmla="*/ 45 h 186"/>
                <a:gd name="T16" fmla="*/ 67 w 125"/>
                <a:gd name="T17" fmla="*/ 15 h 186"/>
                <a:gd name="T18" fmla="*/ 23 w 125"/>
                <a:gd name="T19" fmla="*/ 40 h 186"/>
                <a:gd name="T20" fmla="*/ 9 w 125"/>
                <a:gd name="T21" fmla="*/ 30 h 186"/>
                <a:gd name="T22" fmla="*/ 67 w 125"/>
                <a:gd name="T23" fmla="*/ 0 h 186"/>
                <a:gd name="T24" fmla="*/ 119 w 125"/>
                <a:gd name="T25" fmla="*/ 45 h 186"/>
                <a:gd name="T26" fmla="*/ 91 w 125"/>
                <a:gd name="T27" fmla="*/ 85 h 186"/>
                <a:gd name="T28" fmla="*/ 125 w 125"/>
                <a:gd name="T29" fmla="*/ 133 h 186"/>
                <a:gd name="T30" fmla="*/ 64 w 125"/>
                <a:gd name="T31" fmla="*/ 186 h 186"/>
                <a:gd name="T32" fmla="*/ 0 w 125"/>
                <a:gd name="T33" fmla="*/ 150 h 186"/>
                <a:gd name="T34" fmla="*/ 14 w 125"/>
                <a:gd name="T35" fmla="*/ 14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5" h="186">
                  <a:moveTo>
                    <a:pt x="14" y="140"/>
                  </a:moveTo>
                  <a:cubicBezTo>
                    <a:pt x="28" y="159"/>
                    <a:pt x="45" y="170"/>
                    <a:pt x="64" y="170"/>
                  </a:cubicBezTo>
                  <a:cubicBezTo>
                    <a:pt x="90" y="170"/>
                    <a:pt x="106" y="157"/>
                    <a:pt x="106" y="135"/>
                  </a:cubicBezTo>
                  <a:cubicBezTo>
                    <a:pt x="106" y="110"/>
                    <a:pt x="91" y="94"/>
                    <a:pt x="55" y="94"/>
                  </a:cubicBezTo>
                  <a:cubicBezTo>
                    <a:pt x="38" y="94"/>
                    <a:pt x="38" y="94"/>
                    <a:pt x="38" y="94"/>
                  </a:cubicBezTo>
                  <a:cubicBezTo>
                    <a:pt x="38" y="79"/>
                    <a:pt x="38" y="79"/>
                    <a:pt x="38" y="79"/>
                  </a:cubicBezTo>
                  <a:cubicBezTo>
                    <a:pt x="48" y="79"/>
                    <a:pt x="48" y="79"/>
                    <a:pt x="48" y="79"/>
                  </a:cubicBezTo>
                  <a:cubicBezTo>
                    <a:pt x="84" y="79"/>
                    <a:pt x="100" y="67"/>
                    <a:pt x="100" y="45"/>
                  </a:cubicBezTo>
                  <a:cubicBezTo>
                    <a:pt x="100" y="27"/>
                    <a:pt x="84" y="15"/>
                    <a:pt x="67" y="15"/>
                  </a:cubicBezTo>
                  <a:cubicBezTo>
                    <a:pt x="45" y="15"/>
                    <a:pt x="35" y="25"/>
                    <a:pt x="23" y="40"/>
                  </a:cubicBezTo>
                  <a:cubicBezTo>
                    <a:pt x="9" y="30"/>
                    <a:pt x="9" y="30"/>
                    <a:pt x="9" y="30"/>
                  </a:cubicBezTo>
                  <a:cubicBezTo>
                    <a:pt x="21" y="13"/>
                    <a:pt x="38" y="0"/>
                    <a:pt x="67" y="0"/>
                  </a:cubicBezTo>
                  <a:cubicBezTo>
                    <a:pt x="99" y="0"/>
                    <a:pt x="119" y="16"/>
                    <a:pt x="119" y="45"/>
                  </a:cubicBezTo>
                  <a:cubicBezTo>
                    <a:pt x="119" y="67"/>
                    <a:pt x="105" y="79"/>
                    <a:pt x="91" y="85"/>
                  </a:cubicBezTo>
                  <a:cubicBezTo>
                    <a:pt x="119" y="96"/>
                    <a:pt x="125" y="116"/>
                    <a:pt x="125" y="133"/>
                  </a:cubicBezTo>
                  <a:cubicBezTo>
                    <a:pt x="125" y="164"/>
                    <a:pt x="102" y="186"/>
                    <a:pt x="64" y="186"/>
                  </a:cubicBezTo>
                  <a:cubicBezTo>
                    <a:pt x="29" y="186"/>
                    <a:pt x="8" y="164"/>
                    <a:pt x="0" y="150"/>
                  </a:cubicBezTo>
                  <a:lnTo>
                    <a:pt x="14" y="140"/>
                  </a:lnTo>
                  <a:close/>
                </a:path>
              </a:pathLst>
            </a:custGeom>
            <a:solidFill>
              <a:schemeClr val="bg1"/>
            </a:solidFill>
            <a:ln>
              <a:noFill/>
            </a:ln>
          </p:spPr>
          <p:txBody>
            <a:bodyPr vert="horz" wrap="square" lIns="96430" tIns="48216" rIns="96430" bIns="48216" numCol="1" anchor="t" anchorCtr="0" compatLnSpc="1"/>
            <a:lstStyle/>
            <a:p>
              <a:pPr algn="just">
                <a:lnSpc>
                  <a:spcPct val="120000"/>
                </a:lnSpc>
              </a:pPr>
              <a:endParaRPr lang="en-GB" sz="95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42" name="文本框 41"/>
          <p:cNvSpPr txBox="1"/>
          <p:nvPr/>
        </p:nvSpPr>
        <p:spPr>
          <a:xfrm>
            <a:off x="7411720" y="850265"/>
            <a:ext cx="4528820" cy="5618480"/>
          </a:xfrm>
          <a:prstGeom prst="rect">
            <a:avLst/>
          </a:prstGeom>
          <a:noFill/>
          <a:ln w="28575" cmpd="sng">
            <a:solidFill>
              <a:srgbClr val="ED7D31"/>
            </a:solidFill>
            <a:prstDash val="solid"/>
          </a:ln>
        </p:spPr>
        <p:txBody>
          <a:bodyPr wrap="square" rtlCol="0">
            <a:noAutofit/>
          </a:bodyPr>
          <a:lstStyle/>
          <a:p>
            <a:pPr indent="457200" fontAlgn="auto">
              <a:lnSpc>
                <a:spcPct val="150000"/>
              </a:lnSpc>
            </a:pPr>
            <a:r>
              <a:rPr lang="zh-CN" altLang="en-US" sz="2000" b="1" dirty="0">
                <a:latin typeface="微软雅黑" panose="020B0503020204020204" pitchFamily="34" charset="-122"/>
                <a:ea typeface="微软雅黑" panose="020B0503020204020204" pitchFamily="34" charset="-122"/>
              </a:rPr>
              <a:t>学习目标</a:t>
            </a:r>
            <a:endParaRPr lang="en-US" altLang="zh-CN" sz="2000" b="1" dirty="0">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err="1">
                <a:latin typeface="微软雅黑" panose="020B0503020204020204" pitchFamily="34" charset="-122"/>
                <a:ea typeface="微软雅黑" panose="020B0503020204020204" pitchFamily="34" charset="-122"/>
              </a:rPr>
              <a:t>分析系统的</a:t>
            </a:r>
            <a:r>
              <a:rPr lang="en-US" altLang="zh-CN" sz="2000" dirty="0" err="1">
                <a:latin typeface="微软雅黑" panose="020B0503020204020204" pitchFamily="34" charset="-122"/>
                <a:ea typeface="微软雅黑" panose="020B0503020204020204" pitchFamily="34" charset="-122"/>
              </a:rPr>
              <a:t>UI</a:t>
            </a:r>
            <a:r>
              <a:rPr lang="zh-CN" altLang="en-US" sz="2000" dirty="0" err="1">
                <a:latin typeface="微软雅黑" panose="020B0503020204020204" pitchFamily="34" charset="-122"/>
                <a:ea typeface="微软雅黑" panose="020B0503020204020204" pitchFamily="34" charset="-122"/>
              </a:rPr>
              <a:t>界面、业务逻辑、一致性、交互性、易用性、用户体验，并通过分析确定功能测试点；</a:t>
            </a:r>
            <a:endParaRPr lang="en-US" altLang="zh-CN" sz="2000" dirty="0">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err="1">
                <a:latin typeface="微软雅黑" panose="020B0503020204020204" pitchFamily="34" charset="-122"/>
                <a:ea typeface="微软雅黑" panose="020B0503020204020204" pitchFamily="34" charset="-122"/>
              </a:rPr>
              <a:t>根据测试用例元素设计测试用例；</a:t>
            </a:r>
            <a:endParaRPr lang="zh-CN" altLang="en-US" sz="2000" dirty="0" err="1">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err="1">
                <a:latin typeface="微软雅黑" panose="020B0503020204020204" pitchFamily="34" charset="-122"/>
                <a:ea typeface="微软雅黑" panose="020B0503020204020204" pitchFamily="34" charset="-122"/>
              </a:rPr>
              <a:t>掌握等价划分、边界值法、因果图</a:t>
            </a:r>
            <a:r>
              <a:rPr lang="en-US" altLang="zh-CN" sz="2000" dirty="0" err="1">
                <a:latin typeface="微软雅黑" panose="020B0503020204020204" pitchFamily="34" charset="-122"/>
                <a:ea typeface="微软雅黑" panose="020B0503020204020204" pitchFamily="34" charset="-122"/>
              </a:rPr>
              <a:t>/</a:t>
            </a:r>
            <a:r>
              <a:rPr lang="zh-CN" altLang="en-US" sz="2000" dirty="0" err="1">
                <a:latin typeface="微软雅黑" panose="020B0503020204020204" pitchFamily="34" charset="-122"/>
                <a:ea typeface="微软雅黑" panose="020B0503020204020204" pitchFamily="34" charset="-122"/>
              </a:rPr>
              <a:t>决策表法使用场景；</a:t>
            </a:r>
            <a:endParaRPr lang="zh-CN" altLang="en-US" sz="2000" dirty="0" err="1">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err="1">
                <a:latin typeface="微软雅黑" panose="020B0503020204020204" pitchFamily="34" charset="-122"/>
                <a:ea typeface="微软雅黑" panose="020B0503020204020204" pitchFamily="34" charset="-122"/>
              </a:rPr>
              <a:t>在系统中执行测试用例并发现缺陷；</a:t>
            </a:r>
            <a:endParaRPr lang="zh-CN" altLang="en-US" sz="2000" dirty="0" err="1">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err="1">
                <a:latin typeface="微软雅黑" panose="020B0503020204020204" pitchFamily="34" charset="-122"/>
                <a:ea typeface="微软雅黑" panose="020B0503020204020204" pitchFamily="34" charset="-122"/>
              </a:rPr>
              <a:t>根据缺陷属性编写缺陷；</a:t>
            </a:r>
            <a:endParaRPr lang="zh-CN" altLang="en-US" sz="2000" dirty="0" err="1">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err="1">
                <a:latin typeface="微软雅黑" panose="020B0503020204020204" pitchFamily="34" charset="-122"/>
                <a:ea typeface="微软雅黑" panose="020B0503020204020204" pitchFamily="34" charset="-122"/>
              </a:rPr>
              <a:t>跟踪缺陷并进行回归测试；</a:t>
            </a:r>
            <a:endParaRPr lang="zh-CN" altLang="en-US" sz="2000" dirty="0" err="1">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err="1">
                <a:latin typeface="微软雅黑" panose="020B0503020204020204" pitchFamily="34" charset="-122"/>
                <a:ea typeface="微软雅黑" panose="020B0503020204020204" pitchFamily="34" charset="-122"/>
              </a:rPr>
              <a:t>设计测试计划；</a:t>
            </a:r>
            <a:endParaRPr lang="zh-CN" altLang="en-US" sz="2000" dirty="0" err="1">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err="1">
                <a:latin typeface="微软雅黑" panose="020B0503020204020204" pitchFamily="34" charset="-122"/>
                <a:ea typeface="微软雅黑" panose="020B0503020204020204" pitchFamily="34" charset="-122"/>
              </a:rPr>
              <a:t>设计测试总结报告。</a:t>
            </a:r>
            <a:endParaRPr lang="en-US" altLang="zh-CN" sz="2000"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553085" y="1620520"/>
            <a:ext cx="4170045" cy="1938020"/>
          </a:xfrm>
          <a:prstGeom prst="rect">
            <a:avLst/>
          </a:prstGeom>
          <a:noFill/>
          <a:ln w="28575" cmpd="sng">
            <a:solidFill>
              <a:srgbClr val="4472C4"/>
            </a:solidFill>
            <a:prstDash val="solid"/>
          </a:ln>
        </p:spPr>
        <p:txBody>
          <a:bodyPr wrap="square" rtlCol="0">
            <a:spAutoFit/>
          </a:bodyPr>
          <a:lstStyle/>
          <a:p>
            <a:pPr indent="457200" fontAlgn="auto">
              <a:lnSpc>
                <a:spcPct val="150000"/>
              </a:lnSpc>
            </a:pPr>
            <a:r>
              <a:rPr lang="zh-CN" altLang="en-US" sz="2000" b="1" dirty="0">
                <a:latin typeface="微软雅黑" panose="020B0503020204020204" pitchFamily="34" charset="-122"/>
                <a:ea typeface="微软雅黑" panose="020B0503020204020204" pitchFamily="34" charset="-122"/>
              </a:rPr>
              <a:t>知识重点</a:t>
            </a:r>
            <a:endParaRPr lang="en-US" altLang="zh-CN" sz="2000" b="1" dirty="0">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err="1">
                <a:latin typeface="微软雅黑" panose="020B0503020204020204" pitchFamily="34" charset="-122"/>
                <a:ea typeface="微软雅黑" panose="020B0503020204020204" pitchFamily="34" charset="-122"/>
                <a:sym typeface="+mn-ea"/>
              </a:rPr>
              <a:t>根据测试用例元素设计测试用例；</a:t>
            </a:r>
            <a:endParaRPr lang="zh-CN" altLang="en-US" sz="2000" dirty="0" err="1">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err="1">
                <a:latin typeface="微软雅黑" panose="020B0503020204020204" pitchFamily="34" charset="-122"/>
                <a:ea typeface="微软雅黑" panose="020B0503020204020204" pitchFamily="34" charset="-122"/>
                <a:sym typeface="+mn-ea"/>
              </a:rPr>
              <a:t>掌握等价划分、边界值法、因果图</a:t>
            </a:r>
            <a:r>
              <a:rPr lang="en-US" altLang="zh-CN" sz="2000" dirty="0" err="1">
                <a:latin typeface="微软雅黑" panose="020B0503020204020204" pitchFamily="34" charset="-122"/>
                <a:ea typeface="微软雅黑" panose="020B0503020204020204" pitchFamily="34" charset="-122"/>
                <a:sym typeface="+mn-ea"/>
              </a:rPr>
              <a:t>/</a:t>
            </a:r>
            <a:r>
              <a:rPr lang="zh-CN" altLang="en-US" sz="2000" dirty="0" err="1">
                <a:latin typeface="微软雅黑" panose="020B0503020204020204" pitchFamily="34" charset="-122"/>
                <a:ea typeface="微软雅黑" panose="020B0503020204020204" pitchFamily="34" charset="-122"/>
                <a:sym typeface="+mn-ea"/>
              </a:rPr>
              <a:t>决策表法使用场景；</a:t>
            </a:r>
            <a:endParaRPr lang="en-US" altLang="zh-CN" sz="2000" dirty="0">
              <a:latin typeface="微软雅黑" panose="020B0503020204020204" pitchFamily="34" charset="-122"/>
              <a:ea typeface="微软雅黑" panose="020B0503020204020204" pitchFamily="34" charset="-122"/>
            </a:endParaRPr>
          </a:p>
        </p:txBody>
      </p:sp>
      <p:sp>
        <p:nvSpPr>
          <p:cNvPr id="44" name="文本框 43"/>
          <p:cNvSpPr txBox="1"/>
          <p:nvPr/>
        </p:nvSpPr>
        <p:spPr>
          <a:xfrm>
            <a:off x="553085" y="4381500"/>
            <a:ext cx="4169410" cy="1938020"/>
          </a:xfrm>
          <a:prstGeom prst="rect">
            <a:avLst/>
          </a:prstGeom>
          <a:noFill/>
          <a:ln w="28575" cmpd="sng">
            <a:solidFill>
              <a:srgbClr val="A5A5A5"/>
            </a:solidFill>
            <a:prstDash val="solid"/>
          </a:ln>
        </p:spPr>
        <p:txBody>
          <a:bodyPr wrap="square" rtlCol="0">
            <a:spAutoFit/>
          </a:bodyPr>
          <a:lstStyle/>
          <a:p>
            <a:pPr indent="457200" fontAlgn="auto">
              <a:lnSpc>
                <a:spcPct val="150000"/>
              </a:lnSpc>
            </a:pPr>
            <a:r>
              <a:rPr lang="zh-CN" altLang="en-US" sz="2000" b="1" dirty="0">
                <a:latin typeface="微软雅黑" panose="020B0503020204020204" pitchFamily="34" charset="-122"/>
                <a:ea typeface="微软雅黑" panose="020B0503020204020204" pitchFamily="34" charset="-122"/>
              </a:rPr>
              <a:t>知识难点</a:t>
            </a:r>
            <a:endParaRPr lang="en-US" altLang="zh-CN" sz="2000" b="1" dirty="0">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err="1">
                <a:latin typeface="微软雅黑" panose="020B0503020204020204" pitchFamily="34" charset="-122"/>
                <a:ea typeface="微软雅黑" panose="020B0503020204020204" pitchFamily="34" charset="-122"/>
                <a:sym typeface="+mn-ea"/>
              </a:rPr>
              <a:t>在系统中执行测试用例并发现缺陷；</a:t>
            </a:r>
            <a:endParaRPr lang="zh-CN" altLang="en-US" sz="2000" dirty="0" err="1">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err="1">
                <a:latin typeface="微软雅黑" panose="020B0503020204020204" pitchFamily="34" charset="-122"/>
                <a:ea typeface="微软雅黑" panose="020B0503020204020204" pitchFamily="34" charset="-122"/>
                <a:sym typeface="+mn-ea"/>
              </a:rPr>
              <a:t>根据缺陷属性编写缺陷；</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2.1</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功能需求</a:t>
            </a:r>
            <a:r>
              <a:rPr lang="zh-CN" altLang="en-US" sz="2800">
                <a:latin typeface="微软雅黑" panose="020B0503020204020204" pitchFamily="34" charset="-122"/>
                <a:ea typeface="微软雅黑" panose="020B0503020204020204" pitchFamily="34" charset="-122"/>
              </a:rPr>
              <a:t>分析</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a:t>
            </a:r>
            <a:r>
              <a:rPr lang="en-US" altLang="zh-CN" sz="2000" b="1">
                <a:latin typeface="微软雅黑" panose="020B0503020204020204" pitchFamily="34" charset="-122"/>
                <a:ea typeface="微软雅黑" panose="020B0503020204020204" pitchFamily="34" charset="-122"/>
              </a:rPr>
              <a:t>1.1 </a:t>
            </a:r>
            <a:r>
              <a:rPr lang="zh-CN" altLang="en-US" sz="2000" b="1">
                <a:latin typeface="微软雅黑" panose="020B0503020204020204" pitchFamily="34" charset="-122"/>
                <a:ea typeface="微软雅黑" panose="020B0503020204020204" pitchFamily="34" charset="-122"/>
              </a:rPr>
              <a:t>了解需求说明书</a:t>
            </a:r>
            <a:r>
              <a:rPr lang="en-US" altLang="zh-CN" sz="2000" b="1">
                <a:latin typeface="微软雅黑" panose="020B0503020204020204" pitchFamily="34" charset="-122"/>
                <a:ea typeface="微软雅黑" panose="020B0503020204020204" pitchFamily="34" charset="-122"/>
              </a:rPr>
              <a:t>/</a:t>
            </a:r>
            <a:r>
              <a:rPr lang="zh-CN" altLang="en-US" sz="2000" b="1">
                <a:latin typeface="微软雅黑" panose="020B0503020204020204" pitchFamily="34" charset="-122"/>
                <a:ea typeface="微软雅黑" panose="020B0503020204020204" pitchFamily="34" charset="-122"/>
              </a:rPr>
              <a:t>原型图</a:t>
            </a:r>
            <a:endParaRPr lang="zh-CN" altLang="en-US" sz="2000" b="1">
              <a:latin typeface="微软雅黑" panose="020B0503020204020204" pitchFamily="34" charset="-122"/>
              <a:ea typeface="微软雅黑" panose="020B0503020204020204" pitchFamily="34" charset="-122"/>
            </a:endParaRPr>
          </a:p>
        </p:txBody>
      </p:sp>
      <p:sp>
        <p:nvSpPr>
          <p:cNvPr id="4" name="文本框 3"/>
          <p:cNvSpPr txBox="1"/>
          <p:nvPr/>
        </p:nvSpPr>
        <p:spPr>
          <a:xfrm>
            <a:off x="645160" y="1887855"/>
            <a:ext cx="10901045" cy="1377315"/>
          </a:xfrm>
          <a:prstGeom prst="rect">
            <a:avLst/>
          </a:prstGeom>
          <a:noFill/>
        </p:spPr>
        <p:txBody>
          <a:bodyPr wrap="square" rtlCol="0">
            <a:no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任务介绍：</a:t>
            </a:r>
            <a:endParaRPr lang="zh-CN" altLang="en-US" sz="2000" b="1">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软件需求说明书的作用在于便于用户、开发工程师进行理解和交流，反映出用户问题的结构，</a:t>
            </a:r>
            <a:endParaRPr lang="zh-CN" altLang="en-US" sz="2000">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可以作为软件开发工作的基础和依据，并作为测试和验收的</a:t>
            </a:r>
            <a:r>
              <a:rPr lang="zh-CN" altLang="en-US" sz="2000">
                <a:latin typeface="微软雅黑" panose="020B0503020204020204" pitchFamily="34" charset="-122"/>
                <a:ea typeface="微软雅黑" panose="020B0503020204020204" pitchFamily="34" charset="-122"/>
              </a:rPr>
              <a:t>依据。</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2.1</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功能需求</a:t>
            </a:r>
            <a:r>
              <a:rPr lang="zh-CN" altLang="en-US" sz="2800">
                <a:latin typeface="微软雅黑" panose="020B0503020204020204" pitchFamily="34" charset="-122"/>
                <a:ea typeface="微软雅黑" panose="020B0503020204020204" pitchFamily="34" charset="-122"/>
              </a:rPr>
              <a:t>分析</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a:t>
            </a:r>
            <a:r>
              <a:rPr lang="en-US" altLang="zh-CN" sz="2000" b="1">
                <a:latin typeface="微软雅黑" panose="020B0503020204020204" pitchFamily="34" charset="-122"/>
                <a:ea typeface="微软雅黑" panose="020B0503020204020204" pitchFamily="34" charset="-122"/>
              </a:rPr>
              <a:t>1.1 </a:t>
            </a:r>
            <a:r>
              <a:rPr lang="zh-CN" altLang="en-US" sz="2000" b="1">
                <a:latin typeface="微软雅黑" panose="020B0503020204020204" pitchFamily="34" charset="-122"/>
                <a:ea typeface="微软雅黑" panose="020B0503020204020204" pitchFamily="34" charset="-122"/>
              </a:rPr>
              <a:t>了解需求说明书</a:t>
            </a:r>
            <a:r>
              <a:rPr lang="en-US" altLang="zh-CN" sz="2000" b="1">
                <a:latin typeface="微软雅黑" panose="020B0503020204020204" pitchFamily="34" charset="-122"/>
                <a:ea typeface="微软雅黑" panose="020B0503020204020204" pitchFamily="34" charset="-122"/>
              </a:rPr>
              <a:t>/</a:t>
            </a:r>
            <a:r>
              <a:rPr lang="zh-CN" altLang="en-US" sz="2000" b="1">
                <a:latin typeface="微软雅黑" panose="020B0503020204020204" pitchFamily="34" charset="-122"/>
                <a:ea typeface="微软雅黑" panose="020B0503020204020204" pitchFamily="34" charset="-122"/>
              </a:rPr>
              <a:t>原型图</a:t>
            </a:r>
            <a:endParaRPr lang="zh-CN" altLang="en-US" sz="2000" b="1">
              <a:latin typeface="微软雅黑" panose="020B0503020204020204" pitchFamily="34" charset="-122"/>
              <a:ea typeface="微软雅黑" panose="020B0503020204020204" pitchFamily="34" charset="-122"/>
            </a:endParaRPr>
          </a:p>
        </p:txBody>
      </p:sp>
      <p:sp>
        <p:nvSpPr>
          <p:cNvPr id="5" name="文本框 4"/>
          <p:cNvSpPr txBox="1"/>
          <p:nvPr>
            <p:custDataLst>
              <p:tags r:id="rId1"/>
            </p:custDataLst>
          </p:nvPr>
        </p:nvSpPr>
        <p:spPr>
          <a:xfrm>
            <a:off x="666750" y="1859280"/>
            <a:ext cx="10945495" cy="3391535"/>
          </a:xfrm>
          <a:prstGeom prst="rect">
            <a:avLst/>
          </a:prstGeom>
          <a:noFill/>
        </p:spPr>
        <p:txBody>
          <a:bodyPr wrap="square" rtlCol="0">
            <a:noAutofit/>
          </a:bodyPr>
          <a:p>
            <a:pPr indent="457200" fontAlgn="auto">
              <a:lnSpc>
                <a:spcPct val="150000"/>
              </a:lnSpc>
            </a:pPr>
            <a:r>
              <a:rPr lang="zh-CN" altLang="en-US" sz="2000" b="1">
                <a:latin typeface="微软雅黑" panose="020B0503020204020204" pitchFamily="34" charset="-122"/>
                <a:ea typeface="微软雅黑" panose="020B0503020204020204" pitchFamily="34" charset="-122"/>
              </a:rPr>
              <a:t>知识储备：</a:t>
            </a:r>
            <a:endParaRPr lang="zh-CN" altLang="en-US" sz="2000" b="1">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功能模块：系统都存在哪些模块，各个模块中有哪些</a:t>
            </a:r>
            <a:r>
              <a:rPr lang="zh-CN" altLang="en-US" sz="2000">
                <a:latin typeface="微软雅黑" panose="020B0503020204020204" pitchFamily="34" charset="-122"/>
                <a:ea typeface="微软雅黑" panose="020B0503020204020204" pitchFamily="34" charset="-122"/>
              </a:rPr>
              <a:t>功能。</a:t>
            </a:r>
            <a:endParaRPr lang="zh-CN" altLang="en-US" sz="2000">
              <a:latin typeface="微软雅黑" panose="020B0503020204020204" pitchFamily="34" charset="-122"/>
              <a:ea typeface="微软雅黑" panose="020B0503020204020204" pitchFamily="34" charset="-122"/>
            </a:endParaRPr>
          </a:p>
          <a:p>
            <a:pPr indent="457200" fontAlgn="auto">
              <a:lnSpc>
                <a:spcPct val="150000"/>
              </a:lnSpc>
            </a:pPr>
            <a:r>
              <a:rPr lang="en-US" altLang="zh-CN" sz="2000">
                <a:latin typeface="微软雅黑" panose="020B0503020204020204" pitchFamily="34" charset="-122"/>
                <a:ea typeface="微软雅黑" panose="020B0503020204020204" pitchFamily="34" charset="-122"/>
              </a:rPr>
              <a:t>UI</a:t>
            </a:r>
            <a:r>
              <a:rPr lang="zh-CN" altLang="en-US" sz="2000">
                <a:latin typeface="微软雅黑" panose="020B0503020204020204" pitchFamily="34" charset="-122"/>
                <a:ea typeface="微软雅黑" panose="020B0503020204020204" pitchFamily="34" charset="-122"/>
              </a:rPr>
              <a:t>界面：系统模块的</a:t>
            </a:r>
            <a:r>
              <a:rPr lang="en-US" altLang="zh-CN" sz="2000">
                <a:latin typeface="微软雅黑" panose="020B0503020204020204" pitchFamily="34" charset="-122"/>
                <a:ea typeface="微软雅黑" panose="020B0503020204020204" pitchFamily="34" charset="-122"/>
              </a:rPr>
              <a:t>UI</a:t>
            </a:r>
            <a:r>
              <a:rPr lang="zh-CN" altLang="en-US" sz="2000">
                <a:latin typeface="微软雅黑" panose="020B0503020204020204" pitchFamily="34" charset="-122"/>
                <a:ea typeface="微软雅黑" panose="020B0503020204020204" pitchFamily="34" charset="-122"/>
              </a:rPr>
              <a:t>布局、排版、文字等如何设计</a:t>
            </a:r>
            <a:r>
              <a:rPr lang="zh-CN" altLang="en-US" sz="2000">
                <a:latin typeface="微软雅黑" panose="020B0503020204020204" pitchFamily="34" charset="-122"/>
                <a:ea typeface="微软雅黑" panose="020B0503020204020204" pitchFamily="34" charset="-122"/>
              </a:rPr>
              <a:t>的。</a:t>
            </a:r>
            <a:endParaRPr lang="zh-CN" altLang="en-US" sz="2000">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逻辑规则：不同的功能存在不同的规则，明确规则及</a:t>
            </a:r>
            <a:r>
              <a:rPr lang="zh-CN" altLang="en-US" sz="2000">
                <a:latin typeface="微软雅黑" panose="020B0503020204020204" pitchFamily="34" charset="-122"/>
                <a:ea typeface="微软雅黑" panose="020B0503020204020204" pitchFamily="34" charset="-122"/>
              </a:rPr>
              <a:t>逻辑。</a:t>
            </a:r>
            <a:endParaRPr lang="zh-CN" altLang="en-US" sz="2000">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模块关联：模块间功能间存在关联关系是测试的</a:t>
            </a:r>
            <a:r>
              <a:rPr lang="zh-CN" altLang="en-US" sz="2000">
                <a:latin typeface="微软雅黑" panose="020B0503020204020204" pitchFamily="34" charset="-122"/>
                <a:ea typeface="微软雅黑" panose="020B0503020204020204" pitchFamily="34" charset="-122"/>
              </a:rPr>
              <a:t>重中之重。</a:t>
            </a:r>
            <a:endParaRPr lang="zh-CN" altLang="en-US" sz="2000">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权限差别：不同角色有着不同的权限，不同的权限有着不同的</a:t>
            </a:r>
            <a:r>
              <a:rPr lang="zh-CN" altLang="en-US" sz="2000">
                <a:latin typeface="微软雅黑" panose="020B0503020204020204" pitchFamily="34" charset="-122"/>
                <a:ea typeface="微软雅黑" panose="020B0503020204020204" pitchFamily="34" charset="-122"/>
              </a:rPr>
              <a:t>功能。</a:t>
            </a:r>
            <a:endParaRPr lang="zh-CN" altLang="en-US" sz="2000">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数据状态：某些字段有可用</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不可用的状态区别，在与其他模块数据交互时要</a:t>
            </a:r>
            <a:r>
              <a:rPr lang="zh-CN" altLang="en-US" sz="2000">
                <a:latin typeface="微软雅黑" panose="020B0503020204020204" pitchFamily="34" charset="-122"/>
                <a:ea typeface="微软雅黑" panose="020B0503020204020204" pitchFamily="34" charset="-122"/>
              </a:rPr>
              <a:t>注意。</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2.1</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功能需求</a:t>
            </a:r>
            <a:r>
              <a:rPr lang="zh-CN" altLang="en-US" sz="2800">
                <a:latin typeface="微软雅黑" panose="020B0503020204020204" pitchFamily="34" charset="-122"/>
                <a:ea typeface="微软雅黑" panose="020B0503020204020204" pitchFamily="34" charset="-122"/>
              </a:rPr>
              <a:t>分析</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a:t>
            </a:r>
            <a:r>
              <a:rPr lang="en-US" altLang="zh-CN" sz="2000" b="1">
                <a:latin typeface="微软雅黑" panose="020B0503020204020204" pitchFamily="34" charset="-122"/>
                <a:ea typeface="微软雅黑" panose="020B0503020204020204" pitchFamily="34" charset="-122"/>
              </a:rPr>
              <a:t>1.1 </a:t>
            </a:r>
            <a:r>
              <a:rPr lang="zh-CN" altLang="en-US" sz="2000" b="1">
                <a:latin typeface="微软雅黑" panose="020B0503020204020204" pitchFamily="34" charset="-122"/>
                <a:ea typeface="微软雅黑" panose="020B0503020204020204" pitchFamily="34" charset="-122"/>
              </a:rPr>
              <a:t>了解需求说明书</a:t>
            </a:r>
            <a:r>
              <a:rPr lang="en-US" altLang="zh-CN" sz="2000" b="1">
                <a:latin typeface="微软雅黑" panose="020B0503020204020204" pitchFamily="34" charset="-122"/>
                <a:ea typeface="微软雅黑" panose="020B0503020204020204" pitchFamily="34" charset="-122"/>
              </a:rPr>
              <a:t>/</a:t>
            </a:r>
            <a:r>
              <a:rPr lang="zh-CN" altLang="en-US" sz="2000" b="1">
                <a:latin typeface="微软雅黑" panose="020B0503020204020204" pitchFamily="34" charset="-122"/>
                <a:ea typeface="微软雅黑" panose="020B0503020204020204" pitchFamily="34" charset="-122"/>
              </a:rPr>
              <a:t>原型图</a:t>
            </a:r>
            <a:endParaRPr lang="zh-CN" altLang="en-US" sz="2000" b="1">
              <a:latin typeface="微软雅黑" panose="020B0503020204020204" pitchFamily="34" charset="-122"/>
              <a:ea typeface="微软雅黑" panose="020B0503020204020204" pitchFamily="34" charset="-122"/>
            </a:endParaRPr>
          </a:p>
        </p:txBody>
      </p:sp>
      <p:sp>
        <p:nvSpPr>
          <p:cNvPr id="5" name="文本框 4"/>
          <p:cNvSpPr txBox="1"/>
          <p:nvPr>
            <p:custDataLst>
              <p:tags r:id="rId1"/>
            </p:custDataLst>
          </p:nvPr>
        </p:nvSpPr>
        <p:spPr>
          <a:xfrm>
            <a:off x="666750" y="1859280"/>
            <a:ext cx="10945495" cy="3391535"/>
          </a:xfrm>
          <a:prstGeom prst="rect">
            <a:avLst/>
          </a:prstGeom>
          <a:noFill/>
        </p:spPr>
        <p:txBody>
          <a:bodyPr wrap="square" rtlCol="0">
            <a:noAutofit/>
          </a:bodyPr>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a:t>
            </a:r>
            <a:r>
              <a:rPr lang="zh-CN" altLang="en-US" sz="2000" b="1">
                <a:latin typeface="微软雅黑" panose="020B0503020204020204" pitchFamily="34" charset="-122"/>
                <a:ea typeface="微软雅黑" panose="020B0503020204020204" pitchFamily="34" charset="-122"/>
              </a:rPr>
              <a:t>实施：</a:t>
            </a:r>
            <a:endParaRPr lang="zh-CN" altLang="en-US" sz="2000" b="1">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《人力资源</a:t>
            </a:r>
            <a:r>
              <a:rPr lang="zh-CN" altLang="en-US" sz="2000">
                <a:latin typeface="微软雅黑" panose="020B0503020204020204" pitchFamily="34" charset="-122"/>
                <a:ea typeface="微软雅黑" panose="020B0503020204020204" pitchFamily="34" charset="-122"/>
              </a:rPr>
              <a:t>管理系统需求</a:t>
            </a:r>
            <a:r>
              <a:rPr lang="zh-CN" altLang="en-US" sz="2000">
                <a:latin typeface="微软雅黑" panose="020B0503020204020204" pitchFamily="34" charset="-122"/>
                <a:ea typeface="微软雅黑" panose="020B0503020204020204" pitchFamily="34" charset="-122"/>
              </a:rPr>
              <a:t>说明书》</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2.1</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功能需求</a:t>
            </a:r>
            <a:r>
              <a:rPr lang="zh-CN" altLang="en-US" sz="2800">
                <a:latin typeface="微软雅黑" panose="020B0503020204020204" pitchFamily="34" charset="-122"/>
                <a:ea typeface="微软雅黑" panose="020B0503020204020204" pitchFamily="34" charset="-122"/>
              </a:rPr>
              <a:t>分析</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a:t>
            </a:r>
            <a:r>
              <a:rPr lang="en-US" altLang="zh-CN" sz="2000" b="1">
                <a:latin typeface="微软雅黑" panose="020B0503020204020204" pitchFamily="34" charset="-122"/>
                <a:ea typeface="微软雅黑" panose="020B0503020204020204" pitchFamily="34" charset="-122"/>
              </a:rPr>
              <a:t>1.2 </a:t>
            </a:r>
            <a:r>
              <a:rPr lang="zh-CN" altLang="en-US" sz="2000" b="1">
                <a:latin typeface="微软雅黑" panose="020B0503020204020204" pitchFamily="34" charset="-122"/>
                <a:ea typeface="微软雅黑" panose="020B0503020204020204" pitchFamily="34" charset="-122"/>
              </a:rPr>
              <a:t>用户界面分析</a:t>
            </a:r>
            <a:endParaRPr lang="zh-CN" altLang="en-US" sz="2000" b="1">
              <a:latin typeface="微软雅黑" panose="020B0503020204020204" pitchFamily="34" charset="-122"/>
              <a:ea typeface="微软雅黑" panose="020B0503020204020204" pitchFamily="34" charset="-122"/>
            </a:endParaRPr>
          </a:p>
        </p:txBody>
      </p:sp>
      <p:sp>
        <p:nvSpPr>
          <p:cNvPr id="4" name="文本框 3"/>
          <p:cNvSpPr txBox="1"/>
          <p:nvPr/>
        </p:nvSpPr>
        <p:spPr>
          <a:xfrm>
            <a:off x="645160" y="1887855"/>
            <a:ext cx="10901045" cy="1377315"/>
          </a:xfrm>
          <a:prstGeom prst="rect">
            <a:avLst/>
          </a:prstGeom>
          <a:noFill/>
        </p:spPr>
        <p:txBody>
          <a:bodyPr wrap="square" rtlCol="0">
            <a:no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任务介绍：</a:t>
            </a:r>
            <a:endParaRPr lang="zh-CN" altLang="en-US" sz="2000" b="1">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用户界面是用户使用系统的第一直观感受，测试UI的功能模块布局是否合理，整体风格是否一致，各个控件的放置位置是否符合用户使用习惯，操作是否便捷，导航是否简单易用，中文字是否正确，命名是否统一，页面是否美观，文字、图片组合是否完美等，都属于UI测试。</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2.1</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功能需求</a:t>
            </a:r>
            <a:r>
              <a:rPr lang="zh-CN" altLang="en-US" sz="2800">
                <a:latin typeface="微软雅黑" panose="020B0503020204020204" pitchFamily="34" charset="-122"/>
                <a:ea typeface="微软雅黑" panose="020B0503020204020204" pitchFamily="34" charset="-122"/>
              </a:rPr>
              <a:t>分析</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a:t>
            </a:r>
            <a:r>
              <a:rPr lang="en-US" altLang="zh-CN" sz="2000" b="1">
                <a:latin typeface="微软雅黑" panose="020B0503020204020204" pitchFamily="34" charset="-122"/>
                <a:ea typeface="微软雅黑" panose="020B0503020204020204" pitchFamily="34" charset="-122"/>
              </a:rPr>
              <a:t>1.2 </a:t>
            </a:r>
            <a:r>
              <a:rPr lang="zh-CN" altLang="en-US" sz="2000" b="1">
                <a:latin typeface="微软雅黑" panose="020B0503020204020204" pitchFamily="34" charset="-122"/>
                <a:ea typeface="微软雅黑" panose="020B0503020204020204" pitchFamily="34" charset="-122"/>
                <a:sym typeface="+mn-ea"/>
              </a:rPr>
              <a:t>用户界面分析</a:t>
            </a:r>
            <a:endParaRPr lang="zh-CN" altLang="en-US" sz="2000" b="1">
              <a:latin typeface="微软雅黑" panose="020B0503020204020204" pitchFamily="34" charset="-122"/>
              <a:ea typeface="微软雅黑" panose="020B0503020204020204" pitchFamily="34" charset="-122"/>
            </a:endParaRPr>
          </a:p>
        </p:txBody>
      </p:sp>
      <p:sp>
        <p:nvSpPr>
          <p:cNvPr id="5" name="文本框 4"/>
          <p:cNvSpPr txBox="1"/>
          <p:nvPr>
            <p:custDataLst>
              <p:tags r:id="rId1"/>
            </p:custDataLst>
          </p:nvPr>
        </p:nvSpPr>
        <p:spPr>
          <a:xfrm>
            <a:off x="666750" y="1859280"/>
            <a:ext cx="10945495" cy="3391535"/>
          </a:xfrm>
          <a:prstGeom prst="rect">
            <a:avLst/>
          </a:prstGeom>
          <a:noFill/>
        </p:spPr>
        <p:txBody>
          <a:bodyPr wrap="square" rtlCol="0">
            <a:noAutofit/>
          </a:bodyPr>
          <a:p>
            <a:pPr indent="457200" fontAlgn="auto">
              <a:lnSpc>
                <a:spcPct val="150000"/>
              </a:lnSpc>
            </a:pPr>
            <a:r>
              <a:rPr lang="zh-CN" altLang="en-US" sz="2000" b="1">
                <a:latin typeface="微软雅黑" panose="020B0503020204020204" pitchFamily="34" charset="-122"/>
                <a:ea typeface="微软雅黑" panose="020B0503020204020204" pitchFamily="34" charset="-122"/>
              </a:rPr>
              <a:t>知识储备：</a:t>
            </a:r>
            <a:endParaRPr lang="zh-CN" altLang="en-US" sz="2000" b="1">
              <a:latin typeface="微软雅黑" panose="020B0503020204020204" pitchFamily="34" charset="-122"/>
              <a:ea typeface="微软雅黑" panose="020B0503020204020204" pitchFamily="34" charset="-122"/>
            </a:endParaRPr>
          </a:p>
          <a:p>
            <a:pPr lvl="1" indent="457200" fontAlgn="auto">
              <a:lnSpc>
                <a:spcPct val="150000"/>
              </a:lnSpc>
            </a:pPr>
            <a:r>
              <a:rPr lang="en-US" altLang="zh-CN" sz="2000">
                <a:latin typeface="微软雅黑" panose="020B0503020204020204" pitchFamily="34" charset="-122"/>
                <a:ea typeface="微软雅黑" panose="020B0503020204020204" pitchFamily="34" charset="-122"/>
              </a:rPr>
              <a:t>1. </a:t>
            </a:r>
            <a:r>
              <a:rPr lang="zh-CN" altLang="en-US" sz="2000">
                <a:latin typeface="微软雅黑" panose="020B0503020204020204" pitchFamily="34" charset="-122"/>
                <a:ea typeface="微软雅黑" panose="020B0503020204020204" pitchFamily="34" charset="-122"/>
              </a:rPr>
              <a:t>一致性</a:t>
            </a:r>
            <a:endParaRPr lang="zh-CN" altLang="en-US" sz="2000">
              <a:latin typeface="微软雅黑" panose="020B0503020204020204" pitchFamily="34" charset="-122"/>
              <a:ea typeface="微软雅黑" panose="020B0503020204020204" pitchFamily="34" charset="-122"/>
            </a:endParaRPr>
          </a:p>
          <a:p>
            <a:pPr lvl="1" indent="457200" fontAlgn="auto">
              <a:lnSpc>
                <a:spcPct val="150000"/>
              </a:lnSpc>
            </a:pPr>
            <a:r>
              <a:rPr lang="en-US" altLang="zh-CN" sz="2000">
                <a:latin typeface="微软雅黑" panose="020B0503020204020204" pitchFamily="34" charset="-122"/>
                <a:ea typeface="微软雅黑" panose="020B0503020204020204" pitchFamily="34" charset="-122"/>
              </a:rPr>
              <a:t>2. </a:t>
            </a:r>
            <a:r>
              <a:rPr lang="zh-CN" altLang="en-US" sz="2000">
                <a:latin typeface="微软雅黑" panose="020B0503020204020204" pitchFamily="34" charset="-122"/>
                <a:ea typeface="微软雅黑" panose="020B0503020204020204" pitchFamily="34" charset="-122"/>
              </a:rPr>
              <a:t>准确性</a:t>
            </a:r>
            <a:endParaRPr lang="zh-CN" altLang="en-US" sz="2000">
              <a:latin typeface="微软雅黑" panose="020B0503020204020204" pitchFamily="34" charset="-122"/>
              <a:ea typeface="微软雅黑" panose="020B0503020204020204" pitchFamily="34" charset="-122"/>
            </a:endParaRPr>
          </a:p>
          <a:p>
            <a:pPr lvl="1" indent="457200" fontAlgn="auto">
              <a:lnSpc>
                <a:spcPct val="150000"/>
              </a:lnSpc>
            </a:pPr>
            <a:r>
              <a:rPr lang="en-US" altLang="zh-CN" sz="2000">
                <a:latin typeface="微软雅黑" panose="020B0503020204020204" pitchFamily="34" charset="-122"/>
                <a:ea typeface="微软雅黑" panose="020B0503020204020204" pitchFamily="34" charset="-122"/>
              </a:rPr>
              <a:t>3. </a:t>
            </a:r>
            <a:r>
              <a:rPr lang="zh-CN" altLang="en-US" sz="2000">
                <a:latin typeface="微软雅黑" panose="020B0503020204020204" pitchFamily="34" charset="-122"/>
                <a:ea typeface="微软雅黑" panose="020B0503020204020204" pitchFamily="34" charset="-122"/>
              </a:rPr>
              <a:t>布局</a:t>
            </a:r>
            <a:endParaRPr lang="zh-CN" altLang="en-US" sz="2000">
              <a:latin typeface="微软雅黑" panose="020B0503020204020204" pitchFamily="34" charset="-122"/>
              <a:ea typeface="微软雅黑" panose="020B0503020204020204" pitchFamily="34" charset="-122"/>
            </a:endParaRPr>
          </a:p>
          <a:p>
            <a:pPr lvl="1" indent="457200" fontAlgn="auto">
              <a:lnSpc>
                <a:spcPct val="150000"/>
              </a:lnSpc>
            </a:pPr>
            <a:r>
              <a:rPr lang="en-US" altLang="zh-CN" sz="2000">
                <a:latin typeface="微软雅黑" panose="020B0503020204020204" pitchFamily="34" charset="-122"/>
                <a:ea typeface="微软雅黑" panose="020B0503020204020204" pitchFamily="34" charset="-122"/>
              </a:rPr>
              <a:t>4. </a:t>
            </a:r>
            <a:r>
              <a:rPr lang="zh-CN" altLang="en-US" sz="2000">
                <a:latin typeface="微软雅黑" panose="020B0503020204020204" pitchFamily="34" charset="-122"/>
                <a:ea typeface="微软雅黑" panose="020B0503020204020204" pitchFamily="34" charset="-122"/>
              </a:rPr>
              <a:t>系统操作</a:t>
            </a:r>
            <a:endParaRPr lang="zh-CN" altLang="en-US" sz="2000">
              <a:latin typeface="微软雅黑" panose="020B0503020204020204" pitchFamily="34" charset="-122"/>
              <a:ea typeface="微软雅黑" panose="020B0503020204020204" pitchFamily="34" charset="-122"/>
            </a:endParaRPr>
          </a:p>
          <a:p>
            <a:pPr lvl="1" indent="457200" fontAlgn="auto">
              <a:lnSpc>
                <a:spcPct val="150000"/>
              </a:lnSpc>
            </a:pPr>
            <a:r>
              <a:rPr lang="en-US" altLang="zh-CN" sz="2000">
                <a:latin typeface="微软雅黑" panose="020B0503020204020204" pitchFamily="34" charset="-122"/>
                <a:ea typeface="微软雅黑" panose="020B0503020204020204" pitchFamily="34" charset="-122"/>
              </a:rPr>
              <a:t>5. </a:t>
            </a:r>
            <a:r>
              <a:rPr lang="zh-CN" altLang="en-US" sz="2000">
                <a:latin typeface="微软雅黑" panose="020B0503020204020204" pitchFamily="34" charset="-122"/>
                <a:ea typeface="微软雅黑" panose="020B0503020204020204" pitchFamily="34" charset="-122"/>
              </a:rPr>
              <a:t>系统响应</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2.1</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功能需求</a:t>
            </a:r>
            <a:r>
              <a:rPr lang="zh-CN" altLang="en-US" sz="2800">
                <a:latin typeface="微软雅黑" panose="020B0503020204020204" pitchFamily="34" charset="-122"/>
                <a:ea typeface="微软雅黑" panose="020B0503020204020204" pitchFamily="34" charset="-122"/>
              </a:rPr>
              <a:t>分析</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a:t>
            </a:r>
            <a:r>
              <a:rPr lang="en-US" altLang="zh-CN" sz="2000" b="1">
                <a:latin typeface="微软雅黑" panose="020B0503020204020204" pitchFamily="34" charset="-122"/>
                <a:ea typeface="微软雅黑" panose="020B0503020204020204" pitchFamily="34" charset="-122"/>
              </a:rPr>
              <a:t>1.3 </a:t>
            </a:r>
            <a:r>
              <a:rPr lang="zh-CN" altLang="en-US" sz="2000" b="1">
                <a:latin typeface="微软雅黑" panose="020B0503020204020204" pitchFamily="34" charset="-122"/>
                <a:ea typeface="微软雅黑" panose="020B0503020204020204" pitchFamily="34" charset="-122"/>
              </a:rPr>
              <a:t>逻辑规则</a:t>
            </a:r>
            <a:r>
              <a:rPr lang="zh-CN" altLang="en-US" sz="2000" b="1">
                <a:latin typeface="微软雅黑" panose="020B0503020204020204" pitchFamily="34" charset="-122"/>
                <a:ea typeface="微软雅黑" panose="020B0503020204020204" pitchFamily="34" charset="-122"/>
              </a:rPr>
              <a:t>分析</a:t>
            </a:r>
            <a:endParaRPr lang="zh-CN" altLang="en-US" sz="2000" b="1">
              <a:latin typeface="微软雅黑" panose="020B0503020204020204" pitchFamily="34" charset="-122"/>
              <a:ea typeface="微软雅黑" panose="020B0503020204020204" pitchFamily="34" charset="-122"/>
            </a:endParaRPr>
          </a:p>
        </p:txBody>
      </p:sp>
      <p:sp>
        <p:nvSpPr>
          <p:cNvPr id="4" name="文本框 3"/>
          <p:cNvSpPr txBox="1"/>
          <p:nvPr/>
        </p:nvSpPr>
        <p:spPr>
          <a:xfrm>
            <a:off x="645160" y="1887855"/>
            <a:ext cx="10901045" cy="1377315"/>
          </a:xfrm>
          <a:prstGeom prst="rect">
            <a:avLst/>
          </a:prstGeom>
          <a:noFill/>
        </p:spPr>
        <p:txBody>
          <a:bodyPr wrap="square" rtlCol="0">
            <a:no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任务介绍：</a:t>
            </a:r>
            <a:endParaRPr lang="zh-CN" altLang="en-US" sz="2000" b="1">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系统由若干模块组成，模块由若干功能组成，功能由若干字段和按钮组成。在进行需求分析的过程中，除了对UI的确认，更重要的是对功能逻辑的确认。根据需求说明书中的一个字段，一个功能，一个模块的逻辑规则说明，判断出测试过程中可能会发生的情况。判断的有效情况越多，测试覆盖率就越大，系统测试完毕后，可能隐藏的问题也就越少。</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2.1</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功能需求分析</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sym typeface="+mn-ea"/>
              </a:rPr>
              <a:t>任务</a:t>
            </a:r>
            <a:r>
              <a:rPr lang="en-US" altLang="zh-CN" sz="2000" b="1">
                <a:latin typeface="微软雅黑" panose="020B0503020204020204" pitchFamily="34" charset="-122"/>
                <a:ea typeface="微软雅黑" panose="020B0503020204020204" pitchFamily="34" charset="-122"/>
                <a:sym typeface="+mn-ea"/>
              </a:rPr>
              <a:t>1.3 </a:t>
            </a:r>
            <a:r>
              <a:rPr lang="zh-CN" altLang="en-US" sz="2000" b="1">
                <a:latin typeface="微软雅黑" panose="020B0503020204020204" pitchFamily="34" charset="-122"/>
                <a:ea typeface="微软雅黑" panose="020B0503020204020204" pitchFamily="34" charset="-122"/>
                <a:sym typeface="+mn-ea"/>
              </a:rPr>
              <a:t>逻辑规则分析</a:t>
            </a:r>
            <a:endParaRPr lang="zh-CN" altLang="en-US" sz="2000" b="1">
              <a:latin typeface="微软雅黑" panose="020B0503020204020204" pitchFamily="34" charset="-122"/>
              <a:ea typeface="微软雅黑" panose="020B0503020204020204" pitchFamily="34" charset="-122"/>
            </a:endParaRPr>
          </a:p>
        </p:txBody>
      </p:sp>
      <p:sp>
        <p:nvSpPr>
          <p:cNvPr id="5" name="文本框 4"/>
          <p:cNvSpPr txBox="1"/>
          <p:nvPr>
            <p:custDataLst>
              <p:tags r:id="rId1"/>
            </p:custDataLst>
          </p:nvPr>
        </p:nvSpPr>
        <p:spPr>
          <a:xfrm>
            <a:off x="666750" y="1859280"/>
            <a:ext cx="10945495" cy="3391535"/>
          </a:xfrm>
          <a:prstGeom prst="rect">
            <a:avLst/>
          </a:prstGeom>
          <a:noFill/>
        </p:spPr>
        <p:txBody>
          <a:bodyPr wrap="square" rtlCol="0">
            <a:noAutofit/>
          </a:bodyPr>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任务实施：</a:t>
            </a:r>
            <a:endParaRPr lang="zh-CN" altLang="en-US" sz="2000" b="1">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逻辑规则分析：资产管理系统</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学</a:t>
            </a:r>
            <a:r>
              <a:rPr lang="zh-CN" altLang="en-US" sz="2000">
                <a:latin typeface="微软雅黑" panose="020B0503020204020204" pitchFamily="34" charset="-122"/>
                <a:ea typeface="微软雅黑" panose="020B0503020204020204" pitchFamily="34" charset="-122"/>
              </a:rPr>
              <a:t>院管理</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创建学院</a:t>
            </a:r>
            <a:endParaRPr lang="zh-CN" altLang="en-US" sz="2000">
              <a:latin typeface="微软雅黑" panose="020B0503020204020204" pitchFamily="34" charset="-122"/>
              <a:ea typeface="微软雅黑" panose="020B0503020204020204" pitchFamily="34" charset="-122"/>
            </a:endParaRPr>
          </a:p>
        </p:txBody>
      </p:sp>
      <p:pic>
        <p:nvPicPr>
          <p:cNvPr id="3" name="图片 14"/>
          <p:cNvPicPr>
            <a:picLocks noChangeAspect="1"/>
          </p:cNvPicPr>
          <p:nvPr>
            <p:custDataLst>
              <p:tags r:id="rId2"/>
            </p:custDataLst>
          </p:nvPr>
        </p:nvPicPr>
        <p:blipFill>
          <a:blip r:embed="rId3"/>
          <a:stretch>
            <a:fillRect/>
          </a:stretch>
        </p:blipFill>
        <p:spPr>
          <a:xfrm>
            <a:off x="2815590" y="3101975"/>
            <a:ext cx="6033135" cy="344360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2.1</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功能需求</a:t>
            </a:r>
            <a:r>
              <a:rPr lang="zh-CN" altLang="en-US" sz="2800">
                <a:latin typeface="微软雅黑" panose="020B0503020204020204" pitchFamily="34" charset="-122"/>
                <a:ea typeface="微软雅黑" panose="020B0503020204020204" pitchFamily="34" charset="-122"/>
              </a:rPr>
              <a:t>分析</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a:t>
            </a:r>
            <a:r>
              <a:rPr lang="en-US" altLang="zh-CN" sz="2000" b="1">
                <a:latin typeface="微软雅黑" panose="020B0503020204020204" pitchFamily="34" charset="-122"/>
                <a:ea typeface="微软雅黑" panose="020B0503020204020204" pitchFamily="34" charset="-122"/>
              </a:rPr>
              <a:t>1.4 </a:t>
            </a:r>
            <a:r>
              <a:rPr lang="zh-CN" altLang="en-US" sz="2000" b="1">
                <a:latin typeface="微软雅黑" panose="020B0503020204020204" pitchFamily="34" charset="-122"/>
                <a:ea typeface="微软雅黑" panose="020B0503020204020204" pitchFamily="34" charset="-122"/>
              </a:rPr>
              <a:t>数据</a:t>
            </a:r>
            <a:r>
              <a:rPr lang="zh-CN" altLang="en-US" sz="2000" b="1">
                <a:latin typeface="微软雅黑" panose="020B0503020204020204" pitchFamily="34" charset="-122"/>
                <a:ea typeface="微软雅黑" panose="020B0503020204020204" pitchFamily="34" charset="-122"/>
              </a:rPr>
              <a:t>状态分析</a:t>
            </a:r>
            <a:endParaRPr lang="zh-CN" altLang="en-US" sz="2000" b="1">
              <a:latin typeface="微软雅黑" panose="020B0503020204020204" pitchFamily="34" charset="-122"/>
              <a:ea typeface="微软雅黑" panose="020B0503020204020204" pitchFamily="34" charset="-122"/>
            </a:endParaRPr>
          </a:p>
        </p:txBody>
      </p:sp>
      <p:sp>
        <p:nvSpPr>
          <p:cNvPr id="4" name="文本框 3"/>
          <p:cNvSpPr txBox="1"/>
          <p:nvPr/>
        </p:nvSpPr>
        <p:spPr>
          <a:xfrm>
            <a:off x="645160" y="1887855"/>
            <a:ext cx="10901045" cy="1377315"/>
          </a:xfrm>
          <a:prstGeom prst="rect">
            <a:avLst/>
          </a:prstGeom>
          <a:noFill/>
        </p:spPr>
        <p:txBody>
          <a:bodyPr wrap="square" rtlCol="0">
            <a:no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任务介绍：</a:t>
            </a:r>
            <a:endParaRPr lang="zh-CN" altLang="en-US" sz="2000" b="1">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单独的字段比较容易判断测试的情况，但是当字段组成数据，数据就可能会存在状态之分，比如在日常生活中常见的外卖软件，收货地址可以存在多条数据，但并不是所有的数据都是有效数据，如果超出了配送范围，那么收货地址就会变成为不可选取的状态。</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2.1</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功能需求</a:t>
            </a:r>
            <a:r>
              <a:rPr lang="zh-CN" altLang="en-US" sz="2800">
                <a:latin typeface="微软雅黑" panose="020B0503020204020204" pitchFamily="34" charset="-122"/>
                <a:ea typeface="微软雅黑" panose="020B0503020204020204" pitchFamily="34" charset="-122"/>
              </a:rPr>
              <a:t>分析</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a:t>
            </a:r>
            <a:r>
              <a:rPr lang="en-US" altLang="zh-CN" sz="2000" b="1">
                <a:latin typeface="微软雅黑" panose="020B0503020204020204" pitchFamily="34" charset="-122"/>
                <a:ea typeface="微软雅黑" panose="020B0503020204020204" pitchFamily="34" charset="-122"/>
              </a:rPr>
              <a:t>1.4 </a:t>
            </a:r>
            <a:r>
              <a:rPr lang="zh-CN" altLang="en-US" sz="2000" b="1">
                <a:latin typeface="微软雅黑" panose="020B0503020204020204" pitchFamily="34" charset="-122"/>
                <a:ea typeface="微软雅黑" panose="020B0503020204020204" pitchFamily="34" charset="-122"/>
                <a:sym typeface="+mn-ea"/>
              </a:rPr>
              <a:t>数据状态分析</a:t>
            </a:r>
            <a:endParaRPr lang="zh-CN" altLang="en-US" sz="2000" b="1">
              <a:latin typeface="微软雅黑" panose="020B0503020204020204" pitchFamily="34" charset="-122"/>
              <a:ea typeface="微软雅黑" panose="020B0503020204020204" pitchFamily="34" charset="-122"/>
            </a:endParaRPr>
          </a:p>
        </p:txBody>
      </p:sp>
      <p:sp>
        <p:nvSpPr>
          <p:cNvPr id="4" name="文本框 3"/>
          <p:cNvSpPr txBox="1"/>
          <p:nvPr/>
        </p:nvSpPr>
        <p:spPr>
          <a:xfrm>
            <a:off x="645160" y="1887855"/>
            <a:ext cx="10901045" cy="1377315"/>
          </a:xfrm>
          <a:prstGeom prst="rect">
            <a:avLst/>
          </a:prstGeom>
          <a:noFill/>
        </p:spPr>
        <p:txBody>
          <a:bodyPr wrap="square" rtlCol="0">
            <a:no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知识储备：</a:t>
            </a:r>
            <a:endParaRPr lang="zh-CN" altLang="en-US" sz="2000" b="1">
              <a:latin typeface="微软雅黑" panose="020B0503020204020204" pitchFamily="34" charset="-122"/>
              <a:ea typeface="微软雅黑" panose="020B0503020204020204" pitchFamily="34" charset="-122"/>
            </a:endParaRPr>
          </a:p>
          <a:p>
            <a:pPr indent="457200" fontAlgn="auto">
              <a:lnSpc>
                <a:spcPct val="150000"/>
              </a:lnSpc>
            </a:pPr>
            <a:r>
              <a:rPr sz="2000">
                <a:latin typeface="微软雅黑" panose="020B0503020204020204" pitchFamily="34" charset="-122"/>
                <a:ea typeface="微软雅黑" panose="020B0503020204020204" pitchFamily="34" charset="-122"/>
              </a:rPr>
              <a:t>例如资产管理系统存在资产报废-报废登记功能，报废登记是对正常状态的资产进行报废，报废后资产状态变为已报废;存在资产借还-借还登记功能，借还登记是对正常状态的资产进行借出，借出后资产状态变为已借出，归还后资产转为状态变为正常。</a:t>
            </a:r>
            <a:endParaRPr sz="2000">
              <a:latin typeface="微软雅黑" panose="020B0503020204020204" pitchFamily="34" charset="-122"/>
              <a:ea typeface="微软雅黑" panose="020B0503020204020204" pitchFamily="34" charset="-122"/>
            </a:endParaRPr>
          </a:p>
          <a:p>
            <a:pPr indent="457200" fontAlgn="auto">
              <a:lnSpc>
                <a:spcPct val="150000"/>
              </a:lnSpc>
            </a:pPr>
            <a:r>
              <a:rPr sz="2000">
                <a:latin typeface="微软雅黑" panose="020B0503020204020204" pitchFamily="34" charset="-122"/>
                <a:ea typeface="微软雅黑" panose="020B0503020204020204" pitchFamily="34" charset="-122"/>
              </a:rPr>
              <a:t>当数据的状态发生变化时，通常会跟随规则限制，例如上文提到的资产管理系统-资产报废-报废登记，将正常的资产变为已报废状态的资产后，已报废的资产是否可以再次报废？同理，已借出的资产是否可以再次借出？这些数据状态的变化，以及对应的限制需求说明书中通常会说明清楚，若未说明，则需根据测试工程师的经验进行质疑，反馈给产品经理进行确认。</a:t>
            </a:r>
            <a:endParaRPr sz="2000">
              <a:latin typeface="微软雅黑" panose="020B0503020204020204" pitchFamily="34" charset="-122"/>
              <a:ea typeface="微软雅黑" panose="020B0503020204020204" pitchFamily="34" charset="-122"/>
            </a:endParaRPr>
          </a:p>
          <a:p>
            <a:pPr indent="457200" fontAlgn="auto">
              <a:lnSpc>
                <a:spcPct val="150000"/>
              </a:lnSpc>
            </a:pPr>
            <a:endParaRPr sz="20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2.1</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功能需求</a:t>
            </a:r>
            <a:r>
              <a:rPr lang="zh-CN" altLang="en-US" sz="2800">
                <a:latin typeface="微软雅黑" panose="020B0503020204020204" pitchFamily="34" charset="-122"/>
                <a:ea typeface="微软雅黑" panose="020B0503020204020204" pitchFamily="34" charset="-122"/>
              </a:rPr>
              <a:t>分析</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a:t>
            </a:r>
            <a:r>
              <a:rPr lang="en-US" altLang="zh-CN" sz="2000" b="1">
                <a:latin typeface="微软雅黑" panose="020B0503020204020204" pitchFamily="34" charset="-122"/>
                <a:ea typeface="微软雅黑" panose="020B0503020204020204" pitchFamily="34" charset="-122"/>
              </a:rPr>
              <a:t>1.5 </a:t>
            </a:r>
            <a:r>
              <a:rPr lang="zh-CN" altLang="en-US" sz="2000" b="1">
                <a:latin typeface="微软雅黑" panose="020B0503020204020204" pitchFamily="34" charset="-122"/>
                <a:ea typeface="微软雅黑" panose="020B0503020204020204" pitchFamily="34" charset="-122"/>
              </a:rPr>
              <a:t>模块</a:t>
            </a:r>
            <a:r>
              <a:rPr lang="zh-CN" altLang="en-US" sz="2000" b="1">
                <a:latin typeface="微软雅黑" panose="020B0503020204020204" pitchFamily="34" charset="-122"/>
                <a:ea typeface="微软雅黑" panose="020B0503020204020204" pitchFamily="34" charset="-122"/>
              </a:rPr>
              <a:t>关联分析</a:t>
            </a:r>
            <a:endParaRPr lang="zh-CN" altLang="en-US" sz="2000" b="1">
              <a:latin typeface="微软雅黑" panose="020B0503020204020204" pitchFamily="34" charset="-122"/>
              <a:ea typeface="微软雅黑" panose="020B0503020204020204" pitchFamily="34" charset="-122"/>
            </a:endParaRPr>
          </a:p>
        </p:txBody>
      </p:sp>
      <p:sp>
        <p:nvSpPr>
          <p:cNvPr id="4" name="文本框 3"/>
          <p:cNvSpPr txBox="1"/>
          <p:nvPr/>
        </p:nvSpPr>
        <p:spPr>
          <a:xfrm>
            <a:off x="645160" y="1887855"/>
            <a:ext cx="10901045" cy="1377315"/>
          </a:xfrm>
          <a:prstGeom prst="rect">
            <a:avLst/>
          </a:prstGeom>
          <a:noFill/>
        </p:spPr>
        <p:txBody>
          <a:bodyPr wrap="square" rtlCol="0">
            <a:no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任务介绍：</a:t>
            </a:r>
            <a:endParaRPr lang="zh-CN" altLang="en-US" sz="2000" b="1">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模块之间的关联主要体现在数据的交互，例如A模块中的数据会在后续的B模块中进行使用，这时就要仔细分析测试情况。</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2.1</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功能需求</a:t>
            </a:r>
            <a:r>
              <a:rPr lang="zh-CN" altLang="en-US" sz="2800">
                <a:latin typeface="微软雅黑" panose="020B0503020204020204" pitchFamily="34" charset="-122"/>
                <a:ea typeface="微软雅黑" panose="020B0503020204020204" pitchFamily="34" charset="-122"/>
              </a:rPr>
              <a:t>分析</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a:t>
            </a:r>
            <a:r>
              <a:rPr lang="en-US" altLang="zh-CN" sz="2000" b="1">
                <a:latin typeface="微软雅黑" panose="020B0503020204020204" pitchFamily="34" charset="-122"/>
                <a:ea typeface="微软雅黑" panose="020B0503020204020204" pitchFamily="34" charset="-122"/>
              </a:rPr>
              <a:t>1.5 </a:t>
            </a:r>
            <a:r>
              <a:rPr lang="zh-CN" altLang="en-US" sz="2000" b="1">
                <a:latin typeface="微软雅黑" panose="020B0503020204020204" pitchFamily="34" charset="-122"/>
                <a:ea typeface="微软雅黑" panose="020B0503020204020204" pitchFamily="34" charset="-122"/>
              </a:rPr>
              <a:t>模块</a:t>
            </a:r>
            <a:r>
              <a:rPr lang="zh-CN" altLang="en-US" sz="2000" b="1">
                <a:latin typeface="微软雅黑" panose="020B0503020204020204" pitchFamily="34" charset="-122"/>
                <a:ea typeface="微软雅黑" panose="020B0503020204020204" pitchFamily="34" charset="-122"/>
              </a:rPr>
              <a:t>关联分析</a:t>
            </a:r>
            <a:endParaRPr lang="zh-CN" altLang="en-US" sz="2000" b="1">
              <a:latin typeface="微软雅黑" panose="020B0503020204020204" pitchFamily="34" charset="-122"/>
              <a:ea typeface="微软雅黑" panose="020B0503020204020204" pitchFamily="34" charset="-122"/>
            </a:endParaRPr>
          </a:p>
        </p:txBody>
      </p:sp>
      <p:sp>
        <p:nvSpPr>
          <p:cNvPr id="4" name="文本框 3"/>
          <p:cNvSpPr txBox="1"/>
          <p:nvPr/>
        </p:nvSpPr>
        <p:spPr>
          <a:xfrm>
            <a:off x="509270" y="1586230"/>
            <a:ext cx="11036935" cy="4727575"/>
          </a:xfrm>
          <a:prstGeom prst="rect">
            <a:avLst/>
          </a:prstGeom>
          <a:noFill/>
        </p:spPr>
        <p:txBody>
          <a:bodyPr wrap="square" rtlCol="0">
            <a:no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知识储备：</a:t>
            </a:r>
            <a:endParaRPr lang="zh-CN" altLang="en-US" sz="2000" b="1">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若</a:t>
            </a:r>
            <a:r>
              <a:rPr lang="en-US" altLang="zh-CN" sz="2000">
                <a:latin typeface="微软雅黑" panose="020B0503020204020204" pitchFamily="34" charset="-122"/>
                <a:ea typeface="微软雅黑" panose="020B0503020204020204" pitchFamily="34" charset="-122"/>
              </a:rPr>
              <a:t>A</a:t>
            </a:r>
            <a:r>
              <a:rPr lang="zh-CN" altLang="en-US" sz="2000">
                <a:latin typeface="微软雅黑" panose="020B0503020204020204" pitchFamily="34" charset="-122"/>
                <a:ea typeface="微软雅黑" panose="020B0503020204020204" pitchFamily="34" charset="-122"/>
              </a:rPr>
              <a:t>模块的数据进行修改，删除状态的变化等操作，</a:t>
            </a:r>
            <a:r>
              <a:rPr lang="en-US" altLang="zh-CN" sz="2000">
                <a:latin typeface="微软雅黑" panose="020B0503020204020204" pitchFamily="34" charset="-122"/>
                <a:ea typeface="微软雅黑" panose="020B0503020204020204" pitchFamily="34" charset="-122"/>
              </a:rPr>
              <a:t>B</a:t>
            </a:r>
            <a:r>
              <a:rPr lang="zh-CN" altLang="en-US" sz="2000">
                <a:latin typeface="微软雅黑" panose="020B0503020204020204" pitchFamily="34" charset="-122"/>
                <a:ea typeface="微软雅黑" panose="020B0503020204020204" pitchFamily="34" charset="-122"/>
              </a:rPr>
              <a:t>模块会对应产生什么影响？</a:t>
            </a:r>
            <a:endParaRPr lang="zh-CN" altLang="en-US" sz="2000">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通常修改造成的影响最小，</a:t>
            </a:r>
            <a:r>
              <a:rPr lang="en-US" altLang="zh-CN" sz="2000">
                <a:latin typeface="微软雅黑" panose="020B0503020204020204" pitchFamily="34" charset="-122"/>
                <a:ea typeface="微软雅黑" panose="020B0503020204020204" pitchFamily="34" charset="-122"/>
              </a:rPr>
              <a:t>A</a:t>
            </a:r>
            <a:r>
              <a:rPr lang="zh-CN" altLang="en-US" sz="2000">
                <a:latin typeface="微软雅黑" panose="020B0503020204020204" pitchFamily="34" charset="-122"/>
                <a:ea typeface="微软雅黑" panose="020B0503020204020204" pitchFamily="34" charset="-122"/>
              </a:rPr>
              <a:t>模块的数据进行部分字段的修改，</a:t>
            </a:r>
            <a:r>
              <a:rPr lang="en-US" altLang="zh-CN" sz="2000">
                <a:latin typeface="微软雅黑" panose="020B0503020204020204" pitchFamily="34" charset="-122"/>
                <a:ea typeface="微软雅黑" panose="020B0503020204020204" pitchFamily="34" charset="-122"/>
              </a:rPr>
              <a:t>B</a:t>
            </a:r>
            <a:r>
              <a:rPr lang="zh-CN" altLang="en-US" sz="2000">
                <a:latin typeface="微软雅黑" panose="020B0503020204020204" pitchFamily="34" charset="-122"/>
                <a:ea typeface="微软雅黑" panose="020B0503020204020204" pitchFamily="34" charset="-122"/>
              </a:rPr>
              <a:t>模块中的数据也要进行对应修改。</a:t>
            </a:r>
            <a:endParaRPr lang="zh-CN" altLang="en-US" sz="2000">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删除可能会对</a:t>
            </a:r>
            <a:r>
              <a:rPr lang="en-US" altLang="zh-CN" sz="2000">
                <a:latin typeface="微软雅黑" panose="020B0503020204020204" pitchFamily="34" charset="-122"/>
                <a:ea typeface="微软雅黑" panose="020B0503020204020204" pitchFamily="34" charset="-122"/>
              </a:rPr>
              <a:t>B</a:t>
            </a:r>
            <a:r>
              <a:rPr lang="zh-CN" altLang="en-US" sz="2000">
                <a:latin typeface="微软雅黑" panose="020B0503020204020204" pitchFamily="34" charset="-122"/>
                <a:ea typeface="微软雅黑" panose="020B0503020204020204" pitchFamily="34" charset="-122"/>
              </a:rPr>
              <a:t>模块造成一定的影响，如</a:t>
            </a:r>
            <a:r>
              <a:rPr lang="en-US" altLang="zh-CN" sz="2000">
                <a:latin typeface="微软雅黑" panose="020B0503020204020204" pitchFamily="34" charset="-122"/>
                <a:ea typeface="微软雅黑" panose="020B0503020204020204" pitchFamily="34" charset="-122"/>
              </a:rPr>
              <a:t>A</a:t>
            </a:r>
            <a:r>
              <a:rPr lang="zh-CN" altLang="en-US" sz="2000">
                <a:latin typeface="微软雅黑" panose="020B0503020204020204" pitchFamily="34" charset="-122"/>
                <a:ea typeface="微软雅黑" panose="020B0503020204020204" pitchFamily="34" charset="-122"/>
              </a:rPr>
              <a:t>模块是政治面貌管理，</a:t>
            </a:r>
            <a:r>
              <a:rPr lang="en-US" altLang="zh-CN" sz="2000">
                <a:latin typeface="微软雅黑" panose="020B0503020204020204" pitchFamily="34" charset="-122"/>
                <a:ea typeface="微软雅黑" panose="020B0503020204020204" pitchFamily="34" charset="-122"/>
              </a:rPr>
              <a:t>B</a:t>
            </a:r>
            <a:r>
              <a:rPr lang="zh-CN" altLang="en-US" sz="2000">
                <a:latin typeface="微软雅黑" panose="020B0503020204020204" pitchFamily="34" charset="-122"/>
                <a:ea typeface="微软雅黑" panose="020B0503020204020204" pitchFamily="34" charset="-122"/>
              </a:rPr>
              <a:t>模块为人员信息管理，</a:t>
            </a:r>
            <a:r>
              <a:rPr lang="en-US" altLang="zh-CN" sz="2000">
                <a:latin typeface="微软雅黑" panose="020B0503020204020204" pitchFamily="34" charset="-122"/>
                <a:ea typeface="微软雅黑" panose="020B0503020204020204" pitchFamily="34" charset="-122"/>
              </a:rPr>
              <a:t>B</a:t>
            </a:r>
            <a:r>
              <a:rPr lang="zh-CN" altLang="en-US" sz="2000">
                <a:latin typeface="微软雅黑" panose="020B0503020204020204" pitchFamily="34" charset="-122"/>
                <a:ea typeface="微软雅黑" panose="020B0503020204020204" pitchFamily="34" charset="-122"/>
              </a:rPr>
              <a:t>模块中存在已创建的人员数据</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张三，政治面貌为团员，此时若准备在</a:t>
            </a:r>
            <a:r>
              <a:rPr lang="en-US" altLang="zh-CN" sz="2000">
                <a:latin typeface="微软雅黑" panose="020B0503020204020204" pitchFamily="34" charset="-122"/>
                <a:ea typeface="微软雅黑" panose="020B0503020204020204" pitchFamily="34" charset="-122"/>
              </a:rPr>
              <a:t>A</a:t>
            </a:r>
            <a:r>
              <a:rPr lang="zh-CN" altLang="en-US" sz="2000">
                <a:latin typeface="微软雅黑" panose="020B0503020204020204" pitchFamily="34" charset="-122"/>
                <a:ea typeface="微软雅黑" panose="020B0503020204020204" pitchFamily="34" charset="-122"/>
              </a:rPr>
              <a:t>模块中将团员这一条政治面貌数据删除，通常会出现下面几种情况：</a:t>
            </a:r>
            <a:endParaRPr lang="zh-CN" altLang="en-US" sz="2000">
              <a:latin typeface="微软雅黑" panose="020B0503020204020204" pitchFamily="34" charset="-122"/>
              <a:ea typeface="微软雅黑" panose="020B0503020204020204" pitchFamily="34" charset="-122"/>
            </a:endParaRPr>
          </a:p>
          <a:p>
            <a:pPr indent="457200" fontAlgn="auto">
              <a:lnSpc>
                <a:spcPct val="150000"/>
              </a:lnSpc>
            </a:pPr>
            <a:r>
              <a:rPr lang="en-US" altLang="zh-CN" sz="2000">
                <a:latin typeface="微软雅黑" panose="020B0503020204020204" pitchFamily="34" charset="-122"/>
                <a:ea typeface="微软雅黑" panose="020B0503020204020204" pitchFamily="34" charset="-122"/>
              </a:rPr>
              <a:t>1</a:t>
            </a:r>
            <a:r>
              <a:rPr lang="zh-CN" altLang="en-US" sz="2000">
                <a:latin typeface="微软雅黑" panose="020B0503020204020204" pitchFamily="34" charset="-122"/>
                <a:ea typeface="微软雅黑" panose="020B0503020204020204" pitchFamily="34" charset="-122"/>
              </a:rPr>
              <a:t>）提示已有数据使用，此政治面貌不允许删除；</a:t>
            </a:r>
            <a:endParaRPr lang="zh-CN" altLang="en-US" sz="2000">
              <a:latin typeface="微软雅黑" panose="020B0503020204020204" pitchFamily="34" charset="-122"/>
              <a:ea typeface="微软雅黑" panose="020B0503020204020204" pitchFamily="34" charset="-122"/>
            </a:endParaRPr>
          </a:p>
          <a:p>
            <a:pPr indent="457200" fontAlgn="auto">
              <a:lnSpc>
                <a:spcPct val="150000"/>
              </a:lnSpc>
            </a:pPr>
            <a:r>
              <a:rPr lang="en-US" altLang="zh-CN" sz="2000">
                <a:latin typeface="微软雅黑" panose="020B0503020204020204" pitchFamily="34" charset="-122"/>
                <a:ea typeface="微软雅黑" panose="020B0503020204020204" pitchFamily="34" charset="-122"/>
              </a:rPr>
              <a:t>2</a:t>
            </a:r>
            <a:r>
              <a:rPr lang="zh-CN" altLang="en-US" sz="2000">
                <a:latin typeface="微软雅黑" panose="020B0503020204020204" pitchFamily="34" charset="-122"/>
                <a:ea typeface="微软雅黑" panose="020B0503020204020204" pitchFamily="34" charset="-122"/>
              </a:rPr>
              <a:t>）允许删除，成功删除。B模块中张三的政治面貌</a:t>
            </a:r>
            <a:r>
              <a:rPr lang="zh-CN" altLang="en-US" sz="2000">
                <a:latin typeface="微软雅黑" panose="020B0503020204020204" pitchFamily="34" charset="-122"/>
                <a:ea typeface="微软雅黑" panose="020B0503020204020204" pitchFamily="34" charset="-122"/>
              </a:rPr>
              <a:t>项留存快照，依然显示</a:t>
            </a:r>
            <a:r>
              <a:rPr lang="zh-CN" altLang="en-US" sz="2000">
                <a:latin typeface="微软雅黑" panose="020B0503020204020204" pitchFamily="34" charset="-122"/>
                <a:ea typeface="微软雅黑" panose="020B0503020204020204" pitchFamily="34" charset="-122"/>
              </a:rPr>
              <a:t>团员；</a:t>
            </a:r>
            <a:endParaRPr lang="zh-CN" altLang="en-US" sz="2000">
              <a:latin typeface="微软雅黑" panose="020B0503020204020204" pitchFamily="34" charset="-122"/>
              <a:ea typeface="微软雅黑" panose="020B0503020204020204" pitchFamily="34" charset="-122"/>
            </a:endParaRPr>
          </a:p>
          <a:p>
            <a:pPr indent="457200" fontAlgn="auto">
              <a:lnSpc>
                <a:spcPct val="150000"/>
              </a:lnSpc>
            </a:pPr>
            <a:r>
              <a:rPr lang="en-US" altLang="zh-CN" sz="2000">
                <a:latin typeface="微软雅黑" panose="020B0503020204020204" pitchFamily="34" charset="-122"/>
                <a:ea typeface="微软雅黑" panose="020B0503020204020204" pitchFamily="34" charset="-122"/>
              </a:rPr>
              <a:t>3</a:t>
            </a:r>
            <a:r>
              <a:rPr lang="zh-CN" altLang="en-US" sz="2000">
                <a:latin typeface="微软雅黑" panose="020B0503020204020204" pitchFamily="34" charset="-122"/>
                <a:ea typeface="微软雅黑" panose="020B0503020204020204" pitchFamily="34" charset="-122"/>
              </a:rPr>
              <a:t>）允许删除，成功删除。</a:t>
            </a:r>
            <a:r>
              <a:rPr lang="en-US" altLang="zh-CN" sz="2000">
                <a:latin typeface="微软雅黑" panose="020B0503020204020204" pitchFamily="34" charset="-122"/>
                <a:ea typeface="微软雅黑" panose="020B0503020204020204" pitchFamily="34" charset="-122"/>
              </a:rPr>
              <a:t>B</a:t>
            </a:r>
            <a:r>
              <a:rPr lang="zh-CN" altLang="en-US" sz="2000">
                <a:latin typeface="微软雅黑" panose="020B0503020204020204" pitchFamily="34" charset="-122"/>
                <a:ea typeface="微软雅黑" panose="020B0503020204020204" pitchFamily="34" charset="-122"/>
              </a:rPr>
              <a:t>模块中张三的政治面貌变为空。</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2.1</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功能需求</a:t>
            </a:r>
            <a:r>
              <a:rPr lang="zh-CN" altLang="en-US" sz="2800">
                <a:latin typeface="微软雅黑" panose="020B0503020204020204" pitchFamily="34" charset="-122"/>
                <a:ea typeface="微软雅黑" panose="020B0503020204020204" pitchFamily="34" charset="-122"/>
              </a:rPr>
              <a:t>分析</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a:t>
            </a:r>
            <a:r>
              <a:rPr lang="en-US" altLang="zh-CN" sz="2000" b="1">
                <a:latin typeface="微软雅黑" panose="020B0503020204020204" pitchFamily="34" charset="-122"/>
                <a:ea typeface="微软雅黑" panose="020B0503020204020204" pitchFamily="34" charset="-122"/>
              </a:rPr>
              <a:t>1.5 </a:t>
            </a:r>
            <a:r>
              <a:rPr lang="zh-CN" altLang="en-US" sz="2000" b="1">
                <a:latin typeface="微软雅黑" panose="020B0503020204020204" pitchFamily="34" charset="-122"/>
                <a:ea typeface="微软雅黑" panose="020B0503020204020204" pitchFamily="34" charset="-122"/>
              </a:rPr>
              <a:t>模块</a:t>
            </a:r>
            <a:r>
              <a:rPr lang="zh-CN" altLang="en-US" sz="2000" b="1">
                <a:latin typeface="微软雅黑" panose="020B0503020204020204" pitchFamily="34" charset="-122"/>
                <a:ea typeface="微软雅黑" panose="020B0503020204020204" pitchFamily="34" charset="-122"/>
              </a:rPr>
              <a:t>关联分析</a:t>
            </a:r>
            <a:endParaRPr lang="zh-CN" altLang="en-US" sz="2000" b="1">
              <a:latin typeface="微软雅黑" panose="020B0503020204020204" pitchFamily="34" charset="-122"/>
              <a:ea typeface="微软雅黑" panose="020B0503020204020204" pitchFamily="34" charset="-122"/>
            </a:endParaRPr>
          </a:p>
        </p:txBody>
      </p:sp>
      <p:sp>
        <p:nvSpPr>
          <p:cNvPr id="4" name="文本框 3"/>
          <p:cNvSpPr txBox="1"/>
          <p:nvPr/>
        </p:nvSpPr>
        <p:spPr>
          <a:xfrm>
            <a:off x="509270" y="1586230"/>
            <a:ext cx="11036935" cy="4727575"/>
          </a:xfrm>
          <a:prstGeom prst="rect">
            <a:avLst/>
          </a:prstGeom>
          <a:noFill/>
        </p:spPr>
        <p:txBody>
          <a:bodyPr wrap="square" rtlCol="0">
            <a:no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知识储备：</a:t>
            </a:r>
            <a:endParaRPr lang="zh-CN" altLang="en-US" sz="2000" b="1">
              <a:latin typeface="微软雅黑" panose="020B0503020204020204" pitchFamily="34" charset="-122"/>
              <a:ea typeface="微软雅黑" panose="020B0503020204020204" pitchFamily="34" charset="-122"/>
            </a:endParaRPr>
          </a:p>
          <a:p>
            <a:pPr indent="457200" fontAlgn="auto">
              <a:lnSpc>
                <a:spcPct val="150000"/>
              </a:lnSpc>
            </a:pPr>
            <a:r>
              <a:rPr sz="2000">
                <a:latin typeface="微软雅黑" panose="020B0503020204020204" pitchFamily="34" charset="-122"/>
                <a:ea typeface="微软雅黑" panose="020B0503020204020204" pitchFamily="34" charset="-122"/>
              </a:rPr>
              <a:t>状态变化在模块关联中隐藏的很深，通常是测试工程师容易遗漏的测试点</a:t>
            </a:r>
            <a:r>
              <a:rPr lang="zh-CN" sz="2000">
                <a:latin typeface="微软雅黑" panose="020B0503020204020204" pitchFamily="34" charset="-122"/>
                <a:ea typeface="微软雅黑" panose="020B0503020204020204" pitchFamily="34" charset="-122"/>
              </a:rPr>
              <a:t>。</a:t>
            </a:r>
            <a:r>
              <a:rPr sz="2000">
                <a:latin typeface="微软雅黑" panose="020B0503020204020204" pitchFamily="34" charset="-122"/>
                <a:ea typeface="微软雅黑" panose="020B0503020204020204" pitchFamily="34" charset="-122"/>
              </a:rPr>
              <a:t>之前提到资产管理系统中存在资产报废和资产借还两个模块。资产报废可以将正常状态的资产变为已报废状态的资产，不可再次报废资产</a:t>
            </a:r>
            <a:r>
              <a:rPr lang="zh-CN" sz="2000">
                <a:latin typeface="微软雅黑" panose="020B0503020204020204" pitchFamily="34" charset="-122"/>
                <a:ea typeface="微软雅黑" panose="020B0503020204020204" pitchFamily="34" charset="-122"/>
              </a:rPr>
              <a:t>。</a:t>
            </a:r>
            <a:r>
              <a:rPr sz="2000">
                <a:latin typeface="微软雅黑" panose="020B0503020204020204" pitchFamily="34" charset="-122"/>
                <a:ea typeface="微软雅黑" panose="020B0503020204020204" pitchFamily="34" charset="-122"/>
              </a:rPr>
              <a:t>借还可以将正常状态的资产变为已借出状态的资产，归还后可以再次借出。这些都是状态变化对自身模块的影响，在模块关联中需要考虑两个模块中间的关联。情况如下</a:t>
            </a:r>
            <a:r>
              <a:rPr lang="zh-CN" sz="2000">
                <a:latin typeface="微软雅黑" panose="020B0503020204020204" pitchFamily="34" charset="-122"/>
                <a:ea typeface="微软雅黑" panose="020B0503020204020204" pitchFamily="34" charset="-122"/>
              </a:rPr>
              <a:t>：</a:t>
            </a:r>
            <a:endParaRPr lang="zh-CN" sz="2000">
              <a:latin typeface="微软雅黑" panose="020B0503020204020204" pitchFamily="34" charset="-122"/>
              <a:ea typeface="微软雅黑" panose="020B0503020204020204" pitchFamily="34" charset="-122"/>
            </a:endParaRPr>
          </a:p>
          <a:p>
            <a:pPr indent="457200" fontAlgn="auto">
              <a:lnSpc>
                <a:spcPct val="150000"/>
              </a:lnSpc>
            </a:pPr>
            <a:r>
              <a:rPr lang="en-US" sz="2000">
                <a:latin typeface="微软雅黑" panose="020B0503020204020204" pitchFamily="34" charset="-122"/>
                <a:ea typeface="微软雅黑" panose="020B0503020204020204" pitchFamily="34" charset="-122"/>
              </a:rPr>
              <a:t>1</a:t>
            </a:r>
            <a:r>
              <a:rPr lang="zh-CN" altLang="en-US" sz="2000">
                <a:latin typeface="微软雅黑" panose="020B0503020204020204" pitchFamily="34" charset="-122"/>
                <a:ea typeface="微软雅黑" panose="020B0503020204020204" pitchFamily="34" charset="-122"/>
              </a:rPr>
              <a:t>）</a:t>
            </a:r>
            <a:r>
              <a:rPr sz="2000">
                <a:latin typeface="微软雅黑" panose="020B0503020204020204" pitchFamily="34" charset="-122"/>
                <a:ea typeface="微软雅黑" panose="020B0503020204020204" pitchFamily="34" charset="-122"/>
              </a:rPr>
              <a:t>已报废的资产是否可以借出</a:t>
            </a:r>
            <a:r>
              <a:rPr lang="zh-CN" sz="2000">
                <a:latin typeface="微软雅黑" panose="020B0503020204020204" pitchFamily="34" charset="-122"/>
                <a:ea typeface="微软雅黑" panose="020B0503020204020204" pitchFamily="34" charset="-122"/>
              </a:rPr>
              <a:t>；</a:t>
            </a:r>
            <a:endParaRPr lang="zh-CN" sz="2000">
              <a:latin typeface="微软雅黑" panose="020B0503020204020204" pitchFamily="34" charset="-122"/>
              <a:ea typeface="微软雅黑" panose="020B0503020204020204" pitchFamily="34" charset="-122"/>
            </a:endParaRPr>
          </a:p>
          <a:p>
            <a:pPr indent="457200" fontAlgn="auto">
              <a:lnSpc>
                <a:spcPct val="150000"/>
              </a:lnSpc>
            </a:pPr>
            <a:r>
              <a:rPr lang="en-US" sz="2000">
                <a:latin typeface="微软雅黑" panose="020B0503020204020204" pitchFamily="34" charset="-122"/>
                <a:ea typeface="微软雅黑" panose="020B0503020204020204" pitchFamily="34" charset="-122"/>
              </a:rPr>
              <a:t>2</a:t>
            </a:r>
            <a:r>
              <a:rPr lang="zh-CN" altLang="en-US" sz="2000">
                <a:latin typeface="微软雅黑" panose="020B0503020204020204" pitchFamily="34" charset="-122"/>
                <a:ea typeface="微软雅黑" panose="020B0503020204020204" pitchFamily="34" charset="-122"/>
              </a:rPr>
              <a:t>）</a:t>
            </a:r>
            <a:r>
              <a:rPr sz="2000">
                <a:latin typeface="微软雅黑" panose="020B0503020204020204" pitchFamily="34" charset="-122"/>
                <a:ea typeface="微软雅黑" panose="020B0503020204020204" pitchFamily="34" charset="-122"/>
              </a:rPr>
              <a:t>已借出的资产是否可以报废</a:t>
            </a:r>
            <a:r>
              <a:rPr lang="zh-CN" sz="2000">
                <a:latin typeface="微软雅黑" panose="020B0503020204020204" pitchFamily="34" charset="-122"/>
                <a:ea typeface="微软雅黑" panose="020B0503020204020204" pitchFamily="34" charset="-122"/>
              </a:rPr>
              <a:t>；</a:t>
            </a:r>
            <a:endParaRPr lang="zh-CN" sz="2000">
              <a:latin typeface="微软雅黑" panose="020B0503020204020204" pitchFamily="34" charset="-122"/>
              <a:ea typeface="微软雅黑" panose="020B0503020204020204" pitchFamily="34" charset="-122"/>
            </a:endParaRPr>
          </a:p>
          <a:p>
            <a:pPr indent="457200" fontAlgn="auto">
              <a:lnSpc>
                <a:spcPct val="150000"/>
              </a:lnSpc>
            </a:pPr>
            <a:r>
              <a:rPr lang="en-US" altLang="zh-CN" sz="2000">
                <a:latin typeface="微软雅黑" panose="020B0503020204020204" pitchFamily="34" charset="-122"/>
                <a:ea typeface="微软雅黑" panose="020B0503020204020204" pitchFamily="34" charset="-122"/>
              </a:rPr>
              <a:t>3</a:t>
            </a:r>
            <a:r>
              <a:rPr lang="zh-CN" altLang="en-US" sz="2000">
                <a:latin typeface="微软雅黑" panose="020B0503020204020204" pitchFamily="34" charset="-122"/>
                <a:ea typeface="微软雅黑" panose="020B0503020204020204" pitchFamily="34" charset="-122"/>
              </a:rPr>
              <a:t>）</a:t>
            </a:r>
            <a:r>
              <a:rPr lang="zh-CN" sz="2000">
                <a:latin typeface="微软雅黑" panose="020B0503020204020204" pitchFamily="34" charset="-122"/>
                <a:ea typeface="微软雅黑" panose="020B0503020204020204" pitchFamily="34" charset="-122"/>
              </a:rPr>
              <a:t>已归还的资产是否可以报废。</a:t>
            </a:r>
            <a:endParaRPr lang="zh-CN" sz="20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2.1</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功能需求</a:t>
            </a:r>
            <a:r>
              <a:rPr lang="zh-CN" altLang="en-US" sz="2800">
                <a:latin typeface="微软雅黑" panose="020B0503020204020204" pitchFamily="34" charset="-122"/>
                <a:ea typeface="微软雅黑" panose="020B0503020204020204" pitchFamily="34" charset="-122"/>
              </a:rPr>
              <a:t>分析</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a:t>
            </a:r>
            <a:r>
              <a:rPr lang="en-US" altLang="zh-CN" sz="2000" b="1">
                <a:latin typeface="微软雅黑" panose="020B0503020204020204" pitchFamily="34" charset="-122"/>
                <a:ea typeface="微软雅黑" panose="020B0503020204020204" pitchFamily="34" charset="-122"/>
              </a:rPr>
              <a:t>1.6 </a:t>
            </a:r>
            <a:r>
              <a:rPr lang="zh-CN" altLang="en-US" sz="2000" b="1">
                <a:latin typeface="微软雅黑" panose="020B0503020204020204" pitchFamily="34" charset="-122"/>
                <a:ea typeface="微软雅黑" panose="020B0503020204020204" pitchFamily="34" charset="-122"/>
              </a:rPr>
              <a:t>权限</a:t>
            </a:r>
            <a:r>
              <a:rPr lang="zh-CN" altLang="en-US" sz="2000" b="1">
                <a:latin typeface="微软雅黑" panose="020B0503020204020204" pitchFamily="34" charset="-122"/>
                <a:ea typeface="微软雅黑" panose="020B0503020204020204" pitchFamily="34" charset="-122"/>
              </a:rPr>
              <a:t>差别分析</a:t>
            </a:r>
            <a:endParaRPr lang="zh-CN" altLang="en-US" sz="2000" b="1">
              <a:latin typeface="微软雅黑" panose="020B0503020204020204" pitchFamily="34" charset="-122"/>
              <a:ea typeface="微软雅黑" panose="020B0503020204020204" pitchFamily="34" charset="-122"/>
            </a:endParaRPr>
          </a:p>
        </p:txBody>
      </p:sp>
      <p:sp>
        <p:nvSpPr>
          <p:cNvPr id="4" name="文本框 3"/>
          <p:cNvSpPr txBox="1"/>
          <p:nvPr/>
        </p:nvSpPr>
        <p:spPr>
          <a:xfrm>
            <a:off x="645160" y="1887855"/>
            <a:ext cx="10901045" cy="1377315"/>
          </a:xfrm>
          <a:prstGeom prst="rect">
            <a:avLst/>
          </a:prstGeom>
          <a:noFill/>
        </p:spPr>
        <p:txBody>
          <a:bodyPr wrap="square" rtlCol="0">
            <a:no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任务介绍：</a:t>
            </a:r>
            <a:endParaRPr lang="zh-CN" altLang="en-US" sz="2000" b="1">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权限管理一般只根据系统设置的安全规定或者安全策略，用户可以访问，而且只能访问自己被授权的资源。</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2.1</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功能需求</a:t>
            </a:r>
            <a:r>
              <a:rPr lang="zh-CN" altLang="en-US" sz="2800">
                <a:latin typeface="微软雅黑" panose="020B0503020204020204" pitchFamily="34" charset="-122"/>
                <a:ea typeface="微软雅黑" panose="020B0503020204020204" pitchFamily="34" charset="-122"/>
              </a:rPr>
              <a:t>分析</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sym typeface="+mn-ea"/>
              </a:rPr>
              <a:t>任务</a:t>
            </a:r>
            <a:r>
              <a:rPr lang="en-US" altLang="zh-CN" sz="2000" b="1">
                <a:latin typeface="微软雅黑" panose="020B0503020204020204" pitchFamily="34" charset="-122"/>
                <a:ea typeface="微软雅黑" panose="020B0503020204020204" pitchFamily="34" charset="-122"/>
                <a:sym typeface="+mn-ea"/>
              </a:rPr>
              <a:t>1.6 </a:t>
            </a:r>
            <a:r>
              <a:rPr lang="zh-CN" altLang="en-US" sz="2000" b="1">
                <a:latin typeface="微软雅黑" panose="020B0503020204020204" pitchFamily="34" charset="-122"/>
                <a:ea typeface="微软雅黑" panose="020B0503020204020204" pitchFamily="34" charset="-122"/>
                <a:sym typeface="+mn-ea"/>
              </a:rPr>
              <a:t>权限差别分析</a:t>
            </a:r>
            <a:endParaRPr lang="zh-CN" altLang="en-US" sz="2000" b="1">
              <a:latin typeface="微软雅黑" panose="020B0503020204020204" pitchFamily="34" charset="-122"/>
              <a:ea typeface="微软雅黑" panose="020B0503020204020204" pitchFamily="34" charset="-122"/>
            </a:endParaRPr>
          </a:p>
        </p:txBody>
      </p:sp>
      <p:sp>
        <p:nvSpPr>
          <p:cNvPr id="4" name="文本框 3"/>
          <p:cNvSpPr txBox="1"/>
          <p:nvPr/>
        </p:nvSpPr>
        <p:spPr>
          <a:xfrm>
            <a:off x="509270" y="1586230"/>
            <a:ext cx="11036935" cy="4727575"/>
          </a:xfrm>
          <a:prstGeom prst="rect">
            <a:avLst/>
          </a:prstGeom>
          <a:noFill/>
        </p:spPr>
        <p:txBody>
          <a:bodyPr wrap="square" rtlCol="0">
            <a:no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知识储备：</a:t>
            </a:r>
            <a:endParaRPr lang="zh-CN" altLang="en-US" sz="2000" b="1">
              <a:latin typeface="微软雅黑" panose="020B0503020204020204" pitchFamily="34" charset="-122"/>
              <a:ea typeface="微软雅黑" panose="020B0503020204020204" pitchFamily="34" charset="-122"/>
            </a:endParaRPr>
          </a:p>
          <a:p>
            <a:pPr indent="457200" fontAlgn="auto">
              <a:lnSpc>
                <a:spcPct val="150000"/>
              </a:lnSpc>
            </a:pPr>
            <a:r>
              <a:rPr sz="2000">
                <a:latin typeface="微软雅黑" panose="020B0503020204020204" pitchFamily="34" charset="-122"/>
                <a:ea typeface="微软雅黑" panose="020B0503020204020204" pitchFamily="34" charset="-122"/>
              </a:rPr>
              <a:t>从控制力度来看，可以将权限管理分为两大类</a:t>
            </a:r>
            <a:r>
              <a:rPr lang="zh-CN" sz="2000">
                <a:latin typeface="微软雅黑" panose="020B0503020204020204" pitchFamily="34" charset="-122"/>
                <a:ea typeface="微软雅黑" panose="020B0503020204020204" pitchFamily="34" charset="-122"/>
              </a:rPr>
              <a:t>：</a:t>
            </a:r>
            <a:endParaRPr lang="zh-CN" sz="2000">
              <a:latin typeface="微软雅黑" panose="020B0503020204020204" pitchFamily="34" charset="-122"/>
              <a:ea typeface="微软雅黑" panose="020B0503020204020204" pitchFamily="34" charset="-122"/>
            </a:endParaRPr>
          </a:p>
          <a:p>
            <a:pPr indent="457200" fontAlgn="auto">
              <a:lnSpc>
                <a:spcPct val="150000"/>
              </a:lnSpc>
            </a:pPr>
            <a:r>
              <a:rPr lang="en-US" sz="2000">
                <a:latin typeface="微软雅黑" panose="020B0503020204020204" pitchFamily="34" charset="-122"/>
                <a:ea typeface="微软雅黑" panose="020B0503020204020204" pitchFamily="34" charset="-122"/>
              </a:rPr>
              <a:t>1</a:t>
            </a:r>
            <a:r>
              <a:rPr lang="zh-CN" altLang="en-US" sz="2000">
                <a:latin typeface="微软雅黑" panose="020B0503020204020204" pitchFamily="34" charset="-122"/>
                <a:ea typeface="微软雅黑" panose="020B0503020204020204" pitchFamily="34" charset="-122"/>
              </a:rPr>
              <a:t>）</a:t>
            </a:r>
            <a:r>
              <a:rPr sz="2000">
                <a:latin typeface="微软雅黑" panose="020B0503020204020204" pitchFamily="34" charset="-122"/>
                <a:ea typeface="微软雅黑" panose="020B0503020204020204" pitchFamily="34" charset="-122"/>
              </a:rPr>
              <a:t>功能</a:t>
            </a:r>
            <a:r>
              <a:rPr lang="zh-CN" sz="2000">
                <a:latin typeface="微软雅黑" panose="020B0503020204020204" pitchFamily="34" charset="-122"/>
                <a:ea typeface="微软雅黑" panose="020B0503020204020204" pitchFamily="34" charset="-122"/>
              </a:rPr>
              <a:t>级</a:t>
            </a:r>
            <a:r>
              <a:rPr sz="2000">
                <a:latin typeface="微软雅黑" panose="020B0503020204020204" pitchFamily="34" charset="-122"/>
                <a:ea typeface="微软雅黑" panose="020B0503020204020204" pitchFamily="34" charset="-122"/>
              </a:rPr>
              <a:t>权限管理</a:t>
            </a:r>
            <a:r>
              <a:rPr lang="zh-CN" sz="2000">
                <a:latin typeface="微软雅黑" panose="020B0503020204020204" pitchFamily="34" charset="-122"/>
                <a:ea typeface="微软雅黑" panose="020B0503020204020204" pitchFamily="34" charset="-122"/>
              </a:rPr>
              <a:t>；</a:t>
            </a:r>
            <a:endParaRPr sz="2000">
              <a:latin typeface="微软雅黑" panose="020B0503020204020204" pitchFamily="34" charset="-122"/>
              <a:ea typeface="微软雅黑" panose="020B0503020204020204" pitchFamily="34" charset="-122"/>
            </a:endParaRPr>
          </a:p>
          <a:p>
            <a:pPr indent="457200" fontAlgn="auto">
              <a:lnSpc>
                <a:spcPct val="150000"/>
              </a:lnSpc>
            </a:pPr>
            <a:r>
              <a:rPr lang="en-US" sz="2000">
                <a:latin typeface="微软雅黑" panose="020B0503020204020204" pitchFamily="34" charset="-122"/>
                <a:ea typeface="微软雅黑" panose="020B0503020204020204" pitchFamily="34" charset="-122"/>
              </a:rPr>
              <a:t>2</a:t>
            </a:r>
            <a:r>
              <a:rPr lang="zh-CN" altLang="en-US" sz="2000">
                <a:latin typeface="微软雅黑" panose="020B0503020204020204" pitchFamily="34" charset="-122"/>
                <a:ea typeface="微软雅黑" panose="020B0503020204020204" pitchFamily="34" charset="-122"/>
              </a:rPr>
              <a:t>）</a:t>
            </a:r>
            <a:r>
              <a:rPr sz="2000">
                <a:latin typeface="微软雅黑" panose="020B0503020204020204" pitchFamily="34" charset="-122"/>
                <a:ea typeface="微软雅黑" panose="020B0503020204020204" pitchFamily="34" charset="-122"/>
              </a:rPr>
              <a:t>数据</a:t>
            </a:r>
            <a:r>
              <a:rPr lang="zh-CN" sz="2000">
                <a:latin typeface="微软雅黑" panose="020B0503020204020204" pitchFamily="34" charset="-122"/>
                <a:ea typeface="微软雅黑" panose="020B0503020204020204" pitchFamily="34" charset="-122"/>
              </a:rPr>
              <a:t>级</a:t>
            </a:r>
            <a:r>
              <a:rPr sz="2000">
                <a:latin typeface="微软雅黑" panose="020B0503020204020204" pitchFamily="34" charset="-122"/>
                <a:ea typeface="微软雅黑" panose="020B0503020204020204" pitchFamily="34" charset="-122"/>
              </a:rPr>
              <a:t>权限管理。</a:t>
            </a:r>
            <a:endParaRPr sz="2000">
              <a:latin typeface="微软雅黑" panose="020B0503020204020204" pitchFamily="34" charset="-122"/>
              <a:ea typeface="微软雅黑" panose="020B0503020204020204" pitchFamily="34" charset="-122"/>
            </a:endParaRPr>
          </a:p>
          <a:p>
            <a:pPr indent="457200" fontAlgn="auto">
              <a:lnSpc>
                <a:spcPct val="150000"/>
              </a:lnSpc>
            </a:pPr>
            <a:r>
              <a:rPr sz="2000">
                <a:latin typeface="微软雅黑" panose="020B0503020204020204" pitchFamily="34" charset="-122"/>
                <a:ea typeface="微软雅黑" panose="020B0503020204020204" pitchFamily="34" charset="-122"/>
              </a:rPr>
              <a:t>从控制方向来看，也可以将权限管理分为两大类</a:t>
            </a:r>
            <a:r>
              <a:rPr lang="zh-CN" sz="2000">
                <a:latin typeface="微软雅黑" panose="020B0503020204020204" pitchFamily="34" charset="-122"/>
                <a:ea typeface="微软雅黑" panose="020B0503020204020204" pitchFamily="34" charset="-122"/>
              </a:rPr>
              <a:t>：</a:t>
            </a:r>
            <a:endParaRPr lang="zh-CN" sz="2000">
              <a:latin typeface="微软雅黑" panose="020B0503020204020204" pitchFamily="34" charset="-122"/>
              <a:ea typeface="微软雅黑" panose="020B0503020204020204" pitchFamily="34" charset="-122"/>
            </a:endParaRPr>
          </a:p>
          <a:p>
            <a:pPr indent="457200" fontAlgn="auto">
              <a:lnSpc>
                <a:spcPct val="150000"/>
              </a:lnSpc>
            </a:pPr>
            <a:r>
              <a:rPr lang="en-US" sz="2000">
                <a:latin typeface="微软雅黑" panose="020B0503020204020204" pitchFamily="34" charset="-122"/>
                <a:ea typeface="微软雅黑" panose="020B0503020204020204" pitchFamily="34" charset="-122"/>
              </a:rPr>
              <a:t>1</a:t>
            </a:r>
            <a:r>
              <a:rPr lang="zh-CN" altLang="en-US" sz="2000">
                <a:latin typeface="微软雅黑" panose="020B0503020204020204" pitchFamily="34" charset="-122"/>
                <a:ea typeface="微软雅黑" panose="020B0503020204020204" pitchFamily="34" charset="-122"/>
              </a:rPr>
              <a:t>）</a:t>
            </a:r>
            <a:r>
              <a:rPr sz="2000">
                <a:latin typeface="微软雅黑" panose="020B0503020204020204" pitchFamily="34" charset="-122"/>
                <a:ea typeface="微软雅黑" panose="020B0503020204020204" pitchFamily="34" charset="-122"/>
              </a:rPr>
              <a:t>从系统获取数据，比如查询订单，查询客户资料</a:t>
            </a:r>
            <a:r>
              <a:rPr lang="zh-CN" sz="2000">
                <a:latin typeface="微软雅黑" panose="020B0503020204020204" pitchFamily="34" charset="-122"/>
                <a:ea typeface="微软雅黑" panose="020B0503020204020204" pitchFamily="34" charset="-122"/>
              </a:rPr>
              <a:t>；</a:t>
            </a:r>
            <a:endParaRPr lang="zh-CN" sz="2000">
              <a:latin typeface="微软雅黑" panose="020B0503020204020204" pitchFamily="34" charset="-122"/>
              <a:ea typeface="微软雅黑" panose="020B0503020204020204" pitchFamily="34" charset="-122"/>
            </a:endParaRPr>
          </a:p>
          <a:p>
            <a:pPr indent="457200" fontAlgn="auto">
              <a:lnSpc>
                <a:spcPct val="150000"/>
              </a:lnSpc>
            </a:pPr>
            <a:r>
              <a:rPr lang="en-US" sz="2000">
                <a:latin typeface="微软雅黑" panose="020B0503020204020204" pitchFamily="34" charset="-122"/>
                <a:ea typeface="微软雅黑" panose="020B0503020204020204" pitchFamily="34" charset="-122"/>
              </a:rPr>
              <a:t>2</a:t>
            </a:r>
            <a:r>
              <a:rPr lang="zh-CN" altLang="en-US" sz="2000">
                <a:latin typeface="微软雅黑" panose="020B0503020204020204" pitchFamily="34" charset="-122"/>
                <a:ea typeface="微软雅黑" panose="020B0503020204020204" pitchFamily="34" charset="-122"/>
              </a:rPr>
              <a:t>）</a:t>
            </a:r>
            <a:r>
              <a:rPr sz="2000">
                <a:latin typeface="微软雅黑" panose="020B0503020204020204" pitchFamily="34" charset="-122"/>
                <a:ea typeface="微软雅黑" panose="020B0503020204020204" pitchFamily="34" charset="-122"/>
              </a:rPr>
              <a:t>向系统提交数据，比如删除订单，新增，修改客户资料。</a:t>
            </a:r>
            <a:endParaRPr sz="20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2.1</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功能需求</a:t>
            </a:r>
            <a:r>
              <a:rPr lang="zh-CN" altLang="en-US" sz="2800">
                <a:latin typeface="微软雅黑" panose="020B0503020204020204" pitchFamily="34" charset="-122"/>
                <a:ea typeface="微软雅黑" panose="020B0503020204020204" pitchFamily="34" charset="-122"/>
              </a:rPr>
              <a:t>分析</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a:t>
            </a:r>
            <a:r>
              <a:rPr lang="en-US" altLang="zh-CN" sz="2000" b="1">
                <a:latin typeface="微软雅黑" panose="020B0503020204020204" pitchFamily="34" charset="-122"/>
                <a:ea typeface="微软雅黑" panose="020B0503020204020204" pitchFamily="34" charset="-122"/>
              </a:rPr>
              <a:t>1.7 </a:t>
            </a:r>
            <a:r>
              <a:rPr lang="zh-CN" altLang="en-US" sz="2000" b="1">
                <a:latin typeface="微软雅黑" panose="020B0503020204020204" pitchFamily="34" charset="-122"/>
                <a:ea typeface="微软雅黑" panose="020B0503020204020204" pitchFamily="34" charset="-122"/>
              </a:rPr>
              <a:t>思维导图分析</a:t>
            </a:r>
            <a:endParaRPr lang="zh-CN" altLang="en-US" sz="2000" b="1">
              <a:latin typeface="微软雅黑" panose="020B0503020204020204" pitchFamily="34" charset="-122"/>
              <a:ea typeface="微软雅黑" panose="020B0503020204020204" pitchFamily="34" charset="-122"/>
            </a:endParaRPr>
          </a:p>
        </p:txBody>
      </p:sp>
      <p:sp>
        <p:nvSpPr>
          <p:cNvPr id="4" name="文本框 3"/>
          <p:cNvSpPr txBox="1"/>
          <p:nvPr/>
        </p:nvSpPr>
        <p:spPr>
          <a:xfrm>
            <a:off x="645160" y="1887855"/>
            <a:ext cx="10901045" cy="1377315"/>
          </a:xfrm>
          <a:prstGeom prst="rect">
            <a:avLst/>
          </a:prstGeom>
          <a:noFill/>
        </p:spPr>
        <p:txBody>
          <a:bodyPr wrap="square" rtlCol="0">
            <a:no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任务介绍：</a:t>
            </a:r>
            <a:endParaRPr lang="zh-CN" altLang="en-US" sz="2000" b="1">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当需求较多的时候，只在头脑中进行勾勒，就会容易出现漏洞，这时就需要借助工具来将思路整理出来，成为思维导图，将抽象的思维实体化。</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2.1</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功能需求分析</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sym typeface="+mn-ea"/>
              </a:rPr>
              <a:t>任务</a:t>
            </a:r>
            <a:r>
              <a:rPr lang="en-US" altLang="zh-CN" sz="2000" b="1">
                <a:latin typeface="微软雅黑" panose="020B0503020204020204" pitchFamily="34" charset="-122"/>
                <a:ea typeface="微软雅黑" panose="020B0503020204020204" pitchFamily="34" charset="-122"/>
                <a:sym typeface="+mn-ea"/>
              </a:rPr>
              <a:t>1.7 </a:t>
            </a:r>
            <a:r>
              <a:rPr lang="zh-CN" altLang="en-US" sz="2000" b="1">
                <a:latin typeface="微软雅黑" panose="020B0503020204020204" pitchFamily="34" charset="-122"/>
                <a:ea typeface="微软雅黑" panose="020B0503020204020204" pitchFamily="34" charset="-122"/>
                <a:sym typeface="+mn-ea"/>
              </a:rPr>
              <a:t>思维导图分析</a:t>
            </a:r>
            <a:endParaRPr lang="zh-CN" altLang="en-US" sz="2000" b="1">
              <a:latin typeface="微软雅黑" panose="020B0503020204020204" pitchFamily="34" charset="-122"/>
              <a:ea typeface="微软雅黑" panose="020B0503020204020204" pitchFamily="34" charset="-122"/>
            </a:endParaRPr>
          </a:p>
        </p:txBody>
      </p:sp>
      <p:sp>
        <p:nvSpPr>
          <p:cNvPr id="5" name="文本框 4"/>
          <p:cNvSpPr txBox="1"/>
          <p:nvPr>
            <p:custDataLst>
              <p:tags r:id="rId1"/>
            </p:custDataLst>
          </p:nvPr>
        </p:nvSpPr>
        <p:spPr>
          <a:xfrm>
            <a:off x="264795" y="1859280"/>
            <a:ext cx="11347450" cy="4885055"/>
          </a:xfrm>
          <a:prstGeom prst="rect">
            <a:avLst/>
          </a:prstGeom>
          <a:noFill/>
        </p:spPr>
        <p:txBody>
          <a:bodyPr wrap="square" rtlCol="0">
            <a:noAutofit/>
          </a:bodyPr>
          <a:p>
            <a:pPr indent="457200" fontAlgn="auto">
              <a:lnSpc>
                <a:spcPct val="150000"/>
              </a:lnSpc>
            </a:pPr>
            <a:r>
              <a:rPr lang="zh-CN" altLang="en-US" sz="2000" b="1">
                <a:latin typeface="微软雅黑" panose="020B0503020204020204" pitchFamily="34" charset="-122"/>
                <a:ea typeface="微软雅黑" panose="020B0503020204020204" pitchFamily="34" charset="-122"/>
              </a:rPr>
              <a:t>任务实施：</a:t>
            </a:r>
            <a:endParaRPr lang="zh-CN" altLang="en-US" sz="2000" b="1">
              <a:latin typeface="微软雅黑" panose="020B0503020204020204" pitchFamily="34" charset="-122"/>
              <a:ea typeface="微软雅黑" panose="020B0503020204020204" pitchFamily="34" charset="-122"/>
            </a:endParaRPr>
          </a:p>
          <a:p>
            <a:pPr indent="457200" fontAlgn="auto">
              <a:lnSpc>
                <a:spcPct val="150000"/>
              </a:lnSpc>
            </a:pPr>
            <a:r>
              <a:rPr lang="zh-CN" altLang="en-US" sz="2000">
                <a:latin typeface="微软雅黑" panose="020B0503020204020204" pitchFamily="34" charset="-122"/>
                <a:ea typeface="微软雅黑" panose="020B0503020204020204" pitchFamily="34" charset="-122"/>
              </a:rPr>
              <a:t>针对以下需求进行思维导图</a:t>
            </a:r>
            <a:r>
              <a:rPr lang="zh-CN" altLang="en-US" sz="2000">
                <a:latin typeface="微软雅黑" panose="020B0503020204020204" pitchFamily="34" charset="-122"/>
                <a:ea typeface="微软雅黑" panose="020B0503020204020204" pitchFamily="34" charset="-122"/>
              </a:rPr>
              <a:t>设计：资产管理系统</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学</a:t>
            </a:r>
            <a:r>
              <a:rPr lang="zh-CN" altLang="en-US" sz="2000">
                <a:latin typeface="微软雅黑" panose="020B0503020204020204" pitchFamily="34" charset="-122"/>
                <a:ea typeface="微软雅黑" panose="020B0503020204020204" pitchFamily="34" charset="-122"/>
              </a:rPr>
              <a:t>院管理</a:t>
            </a:r>
            <a:r>
              <a:rPr lang="en-US" altLang="zh-CN" sz="2000">
                <a:latin typeface="微软雅黑" panose="020B0503020204020204" pitchFamily="34" charset="-122"/>
                <a:ea typeface="微软雅黑" panose="020B0503020204020204" pitchFamily="34" charset="-122"/>
              </a:rPr>
              <a:t>—</a:t>
            </a:r>
            <a:r>
              <a:rPr lang="zh-CN" altLang="en-US" sz="2000">
                <a:latin typeface="微软雅黑" panose="020B0503020204020204" pitchFamily="34" charset="-122"/>
                <a:ea typeface="微软雅黑" panose="020B0503020204020204" pitchFamily="34" charset="-122"/>
              </a:rPr>
              <a:t>创建学院</a:t>
            </a:r>
            <a:endParaRPr lang="zh-CN" altLang="en-US" sz="2000">
              <a:latin typeface="微软雅黑" panose="020B0503020204020204" pitchFamily="34" charset="-122"/>
              <a:ea typeface="微软雅黑" panose="020B0503020204020204" pitchFamily="34" charset="-122"/>
            </a:endParaRPr>
          </a:p>
        </p:txBody>
      </p:sp>
      <p:pic>
        <p:nvPicPr>
          <p:cNvPr id="3" name="图片 14"/>
          <p:cNvPicPr>
            <a:picLocks noChangeAspect="1"/>
          </p:cNvPicPr>
          <p:nvPr>
            <p:custDataLst>
              <p:tags r:id="rId2"/>
            </p:custDataLst>
          </p:nvPr>
        </p:nvPicPr>
        <p:blipFill>
          <a:blip r:embed="rId3"/>
          <a:stretch>
            <a:fillRect/>
          </a:stretch>
        </p:blipFill>
        <p:spPr>
          <a:xfrm>
            <a:off x="768985" y="3252470"/>
            <a:ext cx="4791075" cy="2734945"/>
          </a:xfrm>
          <a:prstGeom prst="rect">
            <a:avLst/>
          </a:prstGeom>
          <a:noFill/>
          <a:ln w="9525">
            <a:noFill/>
          </a:ln>
        </p:spPr>
      </p:pic>
      <p:pic>
        <p:nvPicPr>
          <p:cNvPr id="4" name="图片 3"/>
          <p:cNvPicPr>
            <a:picLocks noChangeAspect="1"/>
          </p:cNvPicPr>
          <p:nvPr>
            <p:custDataLst>
              <p:tags r:id="rId4"/>
            </p:custDataLst>
          </p:nvPr>
        </p:nvPicPr>
        <p:blipFill>
          <a:blip r:embed="rId5"/>
          <a:stretch>
            <a:fillRect/>
          </a:stretch>
        </p:blipFill>
        <p:spPr>
          <a:xfrm>
            <a:off x="6033135" y="4053205"/>
            <a:ext cx="5667375" cy="11334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2.2</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功能测试用例</a:t>
            </a:r>
            <a:r>
              <a:rPr lang="zh-CN" altLang="en-US" sz="2800">
                <a:latin typeface="微软雅黑" panose="020B0503020204020204" pitchFamily="34" charset="-122"/>
                <a:ea typeface="微软雅黑" panose="020B0503020204020204" pitchFamily="34" charset="-122"/>
              </a:rPr>
              <a:t>设计</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sym typeface="+mn-ea"/>
              </a:rPr>
              <a:t>任务</a:t>
            </a:r>
            <a:r>
              <a:rPr lang="en-US" altLang="zh-CN" sz="2000" b="1">
                <a:latin typeface="微软雅黑" panose="020B0503020204020204" pitchFamily="34" charset="-122"/>
                <a:ea typeface="微软雅黑" panose="020B0503020204020204" pitchFamily="34" charset="-122"/>
                <a:sym typeface="+mn-ea"/>
              </a:rPr>
              <a:t>2.1 </a:t>
            </a:r>
            <a:r>
              <a:rPr lang="zh-CN" altLang="en-US" sz="2000" b="1">
                <a:latin typeface="微软雅黑" panose="020B0503020204020204" pitchFamily="34" charset="-122"/>
                <a:ea typeface="微软雅黑" panose="020B0503020204020204" pitchFamily="34" charset="-122"/>
                <a:sym typeface="+mn-ea"/>
              </a:rPr>
              <a:t>等价划分法</a:t>
            </a:r>
            <a:r>
              <a:rPr lang="zh-CN" altLang="en-US" sz="2000" b="1">
                <a:latin typeface="微软雅黑" panose="020B0503020204020204" pitchFamily="34" charset="-122"/>
                <a:ea typeface="微软雅黑" panose="020B0503020204020204" pitchFamily="34" charset="-122"/>
                <a:sym typeface="+mn-ea"/>
              </a:rPr>
              <a:t>运用</a:t>
            </a:r>
            <a:endParaRPr lang="zh-CN" altLang="en-US" sz="2000" b="1">
              <a:latin typeface="微软雅黑" panose="020B0503020204020204" pitchFamily="34" charset="-122"/>
              <a:ea typeface="微软雅黑" panose="020B0503020204020204" pitchFamily="34" charset="-122"/>
              <a:sym typeface="+mn-ea"/>
            </a:endParaRPr>
          </a:p>
        </p:txBody>
      </p:sp>
      <p:grpSp>
        <p:nvGrpSpPr>
          <p:cNvPr id="9" name="组合 8"/>
          <p:cNvGrpSpPr/>
          <p:nvPr/>
        </p:nvGrpSpPr>
        <p:grpSpPr>
          <a:xfrm>
            <a:off x="3889375" y="1931035"/>
            <a:ext cx="6047740" cy="3428365"/>
            <a:chOff x="7182" y="2866"/>
            <a:chExt cx="9524" cy="5399"/>
          </a:xfrm>
        </p:grpSpPr>
        <p:grpSp>
          <p:nvGrpSpPr>
            <p:cNvPr id="6" name="组合 5"/>
            <p:cNvGrpSpPr/>
            <p:nvPr/>
          </p:nvGrpSpPr>
          <p:grpSpPr>
            <a:xfrm>
              <a:off x="7182" y="2866"/>
              <a:ext cx="1878" cy="1049"/>
              <a:chOff x="2215144" y="927951"/>
              <a:chExt cx="1244730" cy="915925"/>
            </a:xfrm>
          </p:grpSpPr>
          <p:sp>
            <p:nvSpPr>
              <p:cNvPr id="7" name="平行四边形 6"/>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47" name="文本框 9"/>
              <p:cNvSpPr txBox="1"/>
              <p:nvPr/>
            </p:nvSpPr>
            <p:spPr>
              <a:xfrm>
                <a:off x="2393075" y="927951"/>
                <a:ext cx="1066799" cy="915925"/>
              </a:xfrm>
              <a:prstGeom prst="rect">
                <a:avLst/>
              </a:prstGeom>
              <a:noFill/>
            </p:spPr>
            <p:txBody>
              <a:bodyPr wrap="square" rtlCol="0">
                <a:spAutoFit/>
              </a:bodyPr>
              <a:p>
                <a:r>
                  <a:rPr lang="en-US" altLang="zh-CN" sz="3735" dirty="0">
                    <a:solidFill>
                      <a:schemeClr val="bg1"/>
                    </a:solidFill>
                    <a:latin typeface="Impact" panose="020B0806030902050204" pitchFamily="34" charset="0"/>
                  </a:rPr>
                  <a:t>01</a:t>
                </a:r>
                <a:endParaRPr lang="zh-CN" altLang="en-US" sz="3735" dirty="0">
                  <a:solidFill>
                    <a:schemeClr val="bg1"/>
                  </a:solidFill>
                  <a:latin typeface="Impact" panose="020B0806030902050204" pitchFamily="34" charset="0"/>
                </a:endParaRPr>
              </a:p>
            </p:txBody>
          </p:sp>
        </p:grpSp>
        <p:grpSp>
          <p:nvGrpSpPr>
            <p:cNvPr id="48" name="组合 47"/>
            <p:cNvGrpSpPr/>
            <p:nvPr/>
          </p:nvGrpSpPr>
          <p:grpSpPr>
            <a:xfrm>
              <a:off x="7182" y="4293"/>
              <a:ext cx="1878" cy="1059"/>
              <a:chOff x="2215144" y="1952311"/>
              <a:chExt cx="1244730" cy="924318"/>
            </a:xfrm>
          </p:grpSpPr>
          <p:sp>
            <p:nvSpPr>
              <p:cNvPr id="49" name="平行四边形 48"/>
              <p:cNvSpPr/>
              <p:nvPr/>
            </p:nvSpPr>
            <p:spPr>
              <a:xfrm>
                <a:off x="2215144" y="2033848"/>
                <a:ext cx="1120898" cy="842781"/>
              </a:xfrm>
              <a:prstGeom prst="parallelogram">
                <a:avLst>
                  <a:gd name="adj" fmla="val 4820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50" name="文本框 10"/>
              <p:cNvSpPr txBox="1"/>
              <p:nvPr/>
            </p:nvSpPr>
            <p:spPr>
              <a:xfrm>
                <a:off x="2393075" y="1952311"/>
                <a:ext cx="1066799" cy="915927"/>
              </a:xfrm>
              <a:prstGeom prst="rect">
                <a:avLst/>
              </a:prstGeom>
              <a:noFill/>
            </p:spPr>
            <p:txBody>
              <a:bodyPr wrap="square" rtlCol="0">
                <a:spAutoFit/>
              </a:bodyPr>
              <a:p>
                <a:r>
                  <a:rPr lang="en-US" altLang="zh-CN" sz="3735" dirty="0">
                    <a:solidFill>
                      <a:schemeClr val="bg1"/>
                    </a:solidFill>
                    <a:latin typeface="Impact" panose="020B0806030902050204" pitchFamily="34" charset="0"/>
                  </a:rPr>
                  <a:t>02</a:t>
                </a:r>
                <a:endParaRPr lang="zh-CN" altLang="en-US" sz="3735" dirty="0">
                  <a:solidFill>
                    <a:schemeClr val="bg1"/>
                  </a:solidFill>
                  <a:latin typeface="Impact" panose="020B0806030902050204" pitchFamily="34" charset="0"/>
                </a:endParaRPr>
              </a:p>
            </p:txBody>
          </p:sp>
        </p:grpSp>
        <p:grpSp>
          <p:nvGrpSpPr>
            <p:cNvPr id="51" name="组合 50"/>
            <p:cNvGrpSpPr/>
            <p:nvPr/>
          </p:nvGrpSpPr>
          <p:grpSpPr>
            <a:xfrm>
              <a:off x="7182" y="5766"/>
              <a:ext cx="1878" cy="1049"/>
              <a:chOff x="2215144" y="3018134"/>
              <a:chExt cx="1244730" cy="915925"/>
            </a:xfrm>
          </p:grpSpPr>
          <p:sp>
            <p:nvSpPr>
              <p:cNvPr id="52" name="平行四边形 51"/>
              <p:cNvSpPr/>
              <p:nvPr/>
            </p:nvSpPr>
            <p:spPr>
              <a:xfrm>
                <a:off x="2215144" y="3084852"/>
                <a:ext cx="1120898" cy="842781"/>
              </a:xfrm>
              <a:prstGeom prst="parallelogram">
                <a:avLst>
                  <a:gd name="adj" fmla="val 4820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53" name="文本框 11"/>
              <p:cNvSpPr txBox="1"/>
              <p:nvPr/>
            </p:nvSpPr>
            <p:spPr>
              <a:xfrm>
                <a:off x="2393075" y="3018134"/>
                <a:ext cx="1066799" cy="915925"/>
              </a:xfrm>
              <a:prstGeom prst="rect">
                <a:avLst/>
              </a:prstGeom>
              <a:noFill/>
            </p:spPr>
            <p:txBody>
              <a:bodyPr wrap="square" rtlCol="0">
                <a:spAutoFit/>
              </a:bodyPr>
              <a:p>
                <a:r>
                  <a:rPr lang="en-US" altLang="zh-CN" sz="3735" dirty="0">
                    <a:solidFill>
                      <a:schemeClr val="bg1"/>
                    </a:solidFill>
                    <a:latin typeface="Impact" panose="020B0806030902050204" pitchFamily="34" charset="0"/>
                  </a:rPr>
                  <a:t>03</a:t>
                </a:r>
                <a:endParaRPr lang="zh-CN" altLang="en-US" sz="3735" dirty="0">
                  <a:solidFill>
                    <a:schemeClr val="bg1"/>
                  </a:solidFill>
                  <a:latin typeface="Impact" panose="020B0806030902050204" pitchFamily="34" charset="0"/>
                </a:endParaRPr>
              </a:p>
            </p:txBody>
          </p:sp>
        </p:grpSp>
        <p:grpSp>
          <p:nvGrpSpPr>
            <p:cNvPr id="54" name="组合 53"/>
            <p:cNvGrpSpPr/>
            <p:nvPr/>
          </p:nvGrpSpPr>
          <p:grpSpPr>
            <a:xfrm>
              <a:off x="7182" y="7199"/>
              <a:ext cx="1878" cy="1067"/>
              <a:chOff x="2215144" y="4047039"/>
              <a:chExt cx="1244730" cy="931598"/>
            </a:xfrm>
          </p:grpSpPr>
          <p:sp>
            <p:nvSpPr>
              <p:cNvPr id="55" name="平行四边形 54"/>
              <p:cNvSpPr/>
              <p:nvPr/>
            </p:nvSpPr>
            <p:spPr>
              <a:xfrm>
                <a:off x="2215144" y="4135856"/>
                <a:ext cx="1120898" cy="842781"/>
              </a:xfrm>
              <a:prstGeom prst="parallelogram">
                <a:avLst>
                  <a:gd name="adj" fmla="val 4820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56" name="文本框 12"/>
              <p:cNvSpPr txBox="1"/>
              <p:nvPr/>
            </p:nvSpPr>
            <p:spPr>
              <a:xfrm>
                <a:off x="2393075" y="4047039"/>
                <a:ext cx="1066799" cy="915927"/>
              </a:xfrm>
              <a:prstGeom prst="rect">
                <a:avLst/>
              </a:prstGeom>
              <a:noFill/>
            </p:spPr>
            <p:txBody>
              <a:bodyPr wrap="square" rtlCol="0">
                <a:spAutoFit/>
              </a:bodyPr>
              <a:p>
                <a:r>
                  <a:rPr lang="en-US" altLang="zh-CN" sz="3735" dirty="0">
                    <a:solidFill>
                      <a:schemeClr val="bg1"/>
                    </a:solidFill>
                    <a:latin typeface="Impact" panose="020B0806030902050204" pitchFamily="34" charset="0"/>
                  </a:rPr>
                  <a:t>04</a:t>
                </a:r>
                <a:endParaRPr lang="zh-CN" altLang="en-US" sz="3735" dirty="0">
                  <a:solidFill>
                    <a:schemeClr val="bg1"/>
                  </a:solidFill>
                  <a:latin typeface="Impact" panose="020B0806030902050204" pitchFamily="34" charset="0"/>
                </a:endParaRPr>
              </a:p>
            </p:txBody>
          </p:sp>
        </p:grpSp>
        <p:grpSp>
          <p:nvGrpSpPr>
            <p:cNvPr id="60" name="组合 59"/>
            <p:cNvGrpSpPr/>
            <p:nvPr/>
          </p:nvGrpSpPr>
          <p:grpSpPr>
            <a:xfrm>
              <a:off x="8608" y="2894"/>
              <a:ext cx="8099" cy="965"/>
              <a:chOff x="4315150" y="953426"/>
              <a:chExt cx="3857250" cy="540057"/>
            </a:xfrm>
          </p:grpSpPr>
          <p:sp>
            <p:nvSpPr>
              <p:cNvPr id="61" name="矩形 60"/>
              <p:cNvSpPr/>
              <p:nvPr/>
            </p:nvSpPr>
            <p:spPr>
              <a:xfrm>
                <a:off x="4841196" y="1036090"/>
                <a:ext cx="2827147" cy="405646"/>
              </a:xfrm>
              <a:prstGeom prst="rect">
                <a:avLst/>
              </a:prstGeom>
              <a:ln w="15875">
                <a:noFill/>
              </a:ln>
            </p:spPr>
            <p:txBody>
              <a:bodyPr wrap="square" lIns="91440" tIns="45720" rIns="91440" bIns="45720">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等价类划分</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endParaRPr lang="zh-CN" altLang="en-US" sz="2135" b="1">
                  <a:solidFill>
                    <a:schemeClr val="tx1">
                      <a:lumMod val="75000"/>
                      <a:lumOff val="25000"/>
                    </a:schemeClr>
                  </a:solidFill>
                </a:endParaRPr>
              </a:p>
            </p:txBody>
          </p:sp>
        </p:grpSp>
        <p:grpSp>
          <p:nvGrpSpPr>
            <p:cNvPr id="63" name="组合 62"/>
            <p:cNvGrpSpPr/>
            <p:nvPr/>
          </p:nvGrpSpPr>
          <p:grpSpPr>
            <a:xfrm>
              <a:off x="8608" y="4351"/>
              <a:ext cx="8099" cy="965"/>
              <a:chOff x="4315150" y="1647579"/>
              <a:chExt cx="3857250" cy="540057"/>
            </a:xfrm>
          </p:grpSpPr>
          <p:sp>
            <p:nvSpPr>
              <p:cNvPr id="64" name="矩形 63"/>
              <p:cNvSpPr/>
              <p:nvPr/>
            </p:nvSpPr>
            <p:spPr>
              <a:xfrm>
                <a:off x="4841196" y="1730243"/>
                <a:ext cx="2827147" cy="405646"/>
              </a:xfrm>
              <a:prstGeom prst="rect">
                <a:avLst/>
              </a:prstGeom>
              <a:ln w="15875">
                <a:noFill/>
              </a:ln>
            </p:spPr>
            <p:txBody>
              <a:bodyPr wrap="square" lIns="91440" tIns="45720" rIns="91440" bIns="45720">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等价类测试的分类</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endParaRPr lang="zh-CN" altLang="en-US" sz="2135" b="1">
                  <a:solidFill>
                    <a:schemeClr val="tx1">
                      <a:lumMod val="75000"/>
                      <a:lumOff val="25000"/>
                    </a:schemeClr>
                  </a:solidFill>
                </a:endParaRPr>
              </a:p>
            </p:txBody>
          </p:sp>
        </p:grpSp>
        <p:grpSp>
          <p:nvGrpSpPr>
            <p:cNvPr id="66" name="组合 65"/>
            <p:cNvGrpSpPr/>
            <p:nvPr/>
          </p:nvGrpSpPr>
          <p:grpSpPr>
            <a:xfrm>
              <a:off x="8608" y="5809"/>
              <a:ext cx="8099" cy="965"/>
              <a:chOff x="4315150" y="2341731"/>
              <a:chExt cx="3857250" cy="540057"/>
            </a:xfrm>
          </p:grpSpPr>
          <p:sp>
            <p:nvSpPr>
              <p:cNvPr id="67" name="矩形 66"/>
              <p:cNvSpPr/>
              <p:nvPr/>
            </p:nvSpPr>
            <p:spPr>
              <a:xfrm>
                <a:off x="4841406" y="2424539"/>
                <a:ext cx="3028474" cy="405646"/>
              </a:xfrm>
              <a:prstGeom prst="rect">
                <a:avLst/>
              </a:prstGeom>
              <a:ln w="15875">
                <a:noFill/>
              </a:ln>
            </p:spPr>
            <p:txBody>
              <a:bodyPr wrap="square" lIns="91440" tIns="45720" rIns="91440" bIns="45720">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等价类设计测试用例的步骤</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endParaRPr lang="zh-CN" altLang="en-US" sz="2135" b="1">
                  <a:solidFill>
                    <a:schemeClr val="tx1">
                      <a:lumMod val="75000"/>
                      <a:lumOff val="25000"/>
                    </a:schemeClr>
                  </a:solidFill>
                </a:endParaRPr>
              </a:p>
            </p:txBody>
          </p:sp>
        </p:grpSp>
        <p:grpSp>
          <p:nvGrpSpPr>
            <p:cNvPr id="69" name="组合 68"/>
            <p:cNvGrpSpPr/>
            <p:nvPr/>
          </p:nvGrpSpPr>
          <p:grpSpPr>
            <a:xfrm>
              <a:off x="8608" y="7266"/>
              <a:ext cx="8099" cy="965"/>
              <a:chOff x="4315150" y="3035884"/>
              <a:chExt cx="3857250" cy="540057"/>
            </a:xfrm>
          </p:grpSpPr>
          <p:sp>
            <p:nvSpPr>
              <p:cNvPr id="70" name="矩形 69"/>
              <p:cNvSpPr/>
              <p:nvPr/>
            </p:nvSpPr>
            <p:spPr>
              <a:xfrm>
                <a:off x="4841196" y="3118548"/>
                <a:ext cx="2827147" cy="405646"/>
              </a:xfrm>
              <a:prstGeom prst="rect">
                <a:avLst/>
              </a:prstGeom>
              <a:ln w="15875">
                <a:noFill/>
              </a:ln>
            </p:spPr>
            <p:txBody>
              <a:bodyPr wrap="square" lIns="91440" tIns="45720" rIns="91440" bIns="45720">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等价类设计测试用例举例</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endParaRPr lang="zh-CN" altLang="en-US" sz="2135" b="1">
                  <a:solidFill>
                    <a:schemeClr val="tx1">
                      <a:lumMod val="75000"/>
                      <a:lumOff val="25000"/>
                    </a:schemeClr>
                  </a:solidFill>
                </a:endParaRPr>
              </a:p>
            </p:txBody>
          </p:sp>
        </p:grpSp>
      </p:gr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902" y="1593655"/>
            <a:ext cx="2812747" cy="2101740"/>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4806950" y="2883535"/>
            <a:ext cx="4141470" cy="829945"/>
          </a:xfrm>
          <a:prstGeom prst="rect">
            <a:avLst/>
          </a:prstGeom>
          <a:noFill/>
        </p:spPr>
        <p:txBody>
          <a:bodyPr wrap="squar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等价类划分</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747" y="2655849"/>
            <a:ext cx="2069408" cy="1546303"/>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6508" y="2327919"/>
            <a:ext cx="3458403" cy="2584187"/>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7928" y="2883669"/>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01</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177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等价类划分</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9" name="Rounded Rectangle 11"/>
          <p:cNvSpPr>
            <a:spLocks noChangeAspect="1"/>
          </p:cNvSpPr>
          <p:nvPr/>
        </p:nvSpPr>
        <p:spPr>
          <a:xfrm>
            <a:off x="676275" y="787400"/>
            <a:ext cx="720725" cy="721360"/>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6694" tIns="43347" rIns="86694" bIns="43347" rtlCol="0" anchor="ctr" anchorCtr="0"/>
          <a:p>
            <a:pPr algn="ctr">
              <a:lnSpc>
                <a:spcPct val="120000"/>
              </a:lnSpc>
            </a:pPr>
            <a:r>
              <a:rPr lang="en-US" sz="2000" dirty="0">
                <a:solidFill>
                  <a:schemeClr val="tx1"/>
                </a:solidFill>
                <a:latin typeface="Arial" panose="020B0604020202020204" pitchFamily="34" charset="0"/>
                <a:ea typeface="微软雅黑" panose="020B0503020204020204" pitchFamily="34" charset="-122"/>
                <a:sym typeface="Arial" panose="020B0604020202020204" pitchFamily="34" charset="0"/>
              </a:rPr>
              <a:t> 1</a:t>
            </a:r>
            <a:r>
              <a:rPr lang="zh-CN" altLang="en-US" sz="2000" dirty="0">
                <a:solidFill>
                  <a:schemeClr val="tx1"/>
                </a:solidFill>
                <a:latin typeface="Arial" panose="020B0604020202020204" pitchFamily="34" charset="0"/>
                <a:ea typeface="微软雅黑" panose="020B0503020204020204" pitchFamily="34" charset="-122"/>
                <a:sym typeface="Arial" panose="020B0604020202020204" pitchFamily="34" charset="0"/>
              </a:rPr>
              <a:t>、</a:t>
            </a:r>
            <a:endParaRPr lang="zh-CN" altLang="en-US" sz="20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56" name="文本框 55"/>
          <p:cNvSpPr txBox="1"/>
          <p:nvPr/>
        </p:nvSpPr>
        <p:spPr>
          <a:xfrm>
            <a:off x="1633855" y="963930"/>
            <a:ext cx="2011680" cy="460375"/>
          </a:xfrm>
          <a:prstGeom prst="rect">
            <a:avLst/>
          </a:prstGeom>
          <a:noFill/>
        </p:spPr>
        <p:txBody>
          <a:bodyPr wrap="none" rtlCol="0" anchor="t">
            <a:spAutoFit/>
          </a:bodyPr>
          <a:p>
            <a:r>
              <a:rPr lang="zh-CN" altLang="en-US" sz="2400">
                <a:sym typeface="+mn-ea"/>
              </a:rPr>
              <a:t>等价类的定义</a:t>
            </a:r>
            <a:endParaRPr lang="zh-CN" altLang="en-US" sz="2400">
              <a:sym typeface="+mn-ea"/>
            </a:endParaRPr>
          </a:p>
        </p:txBody>
      </p:sp>
      <p:sp>
        <p:nvSpPr>
          <p:cNvPr id="100" name="文本框 99"/>
          <p:cNvSpPr txBox="1"/>
          <p:nvPr/>
        </p:nvSpPr>
        <p:spPr>
          <a:xfrm>
            <a:off x="1498600" y="1641475"/>
            <a:ext cx="6827520" cy="1322070"/>
          </a:xfrm>
          <a:prstGeom prst="rect">
            <a:avLst/>
          </a:prstGeom>
          <a:noFill/>
          <a:ln w="9525">
            <a:noFill/>
          </a:ln>
        </p:spPr>
        <p:txBody>
          <a:bodyPr wrap="square">
            <a:spAutoFit/>
          </a:bodyPr>
          <a:p>
            <a:pPr indent="457200"/>
            <a:r>
              <a:rPr lang="zh-CN" sz="2000" b="0">
                <a:latin typeface="Times New Roman" panose="02020603050405020304" charset="0"/>
                <a:ea typeface="宋体" panose="02010600030101010101" pitchFamily="2" charset="-122"/>
              </a:rPr>
              <a:t>等价类划分把程序的输入域划分成若干不相交的子集，称之为等价类。所谓等价类，是指输入域的某个子集合，所有等价类的并集便是整个输入域。</a:t>
            </a:r>
            <a:endParaRPr lang="zh-CN" sz="2000" b="0">
              <a:latin typeface="Times New Roman" panose="02020603050405020304" charset="0"/>
              <a:ea typeface="宋体" panose="02010600030101010101" pitchFamily="2" charset="-122"/>
            </a:endParaRPr>
          </a:p>
          <a:p>
            <a:pPr indent="0"/>
            <a:endParaRPr lang="zh-CN" altLang="en-US" sz="2000"/>
          </a:p>
        </p:txBody>
      </p:sp>
      <p:sp>
        <p:nvSpPr>
          <p:cNvPr id="57" name="文本框 56"/>
          <p:cNvSpPr txBox="1"/>
          <p:nvPr/>
        </p:nvSpPr>
        <p:spPr>
          <a:xfrm>
            <a:off x="1723390" y="3093720"/>
            <a:ext cx="6470015" cy="1630045"/>
          </a:xfrm>
          <a:prstGeom prst="rect">
            <a:avLst/>
          </a:prstGeom>
          <a:noFill/>
          <a:ln w="9525">
            <a:noFill/>
          </a:ln>
        </p:spPr>
        <p:txBody>
          <a:bodyPr wrap="square">
            <a:spAutoFit/>
          </a:bodyPr>
          <a:p>
            <a:pPr indent="0"/>
            <a:r>
              <a:rPr lang="zh-CN" altLang="en-US" sz="2000" b="0">
                <a:latin typeface="Times New Roman" panose="02020603050405020304" charset="0"/>
                <a:ea typeface="宋体" panose="02010600030101010101" pitchFamily="2" charset="-122"/>
              </a:rPr>
              <a:t>意义：</a:t>
            </a:r>
            <a:endParaRPr lang="en-US" altLang="zh-CN" sz="2000" b="0">
              <a:latin typeface="Times New Roman" panose="02020603050405020304" charset="0"/>
              <a:ea typeface="宋体" panose="02010600030101010101" pitchFamily="2" charset="-122"/>
            </a:endParaRPr>
          </a:p>
          <a:p>
            <a:pPr indent="0"/>
            <a:r>
              <a:rPr lang="en-US" altLang="zh-CN" sz="2000" b="0">
                <a:latin typeface="Times New Roman" panose="02020603050405020304" charset="0"/>
                <a:ea typeface="宋体" panose="02010600030101010101" pitchFamily="2" charset="-122"/>
              </a:rPr>
              <a:t>1</a:t>
            </a:r>
            <a:r>
              <a:rPr lang="zh-CN" altLang="en-US" sz="2000" b="0">
                <a:latin typeface="Times New Roman" panose="02020603050405020304" charset="0"/>
                <a:ea typeface="宋体" panose="02010600030101010101" pitchFamily="2" charset="-122"/>
              </a:rPr>
              <a:t>、</a:t>
            </a:r>
            <a:r>
              <a:rPr lang="zh-CN" sz="2000" b="0">
                <a:latin typeface="Times New Roman" panose="02020603050405020304" charset="0"/>
                <a:ea typeface="宋体" panose="02010600030101010101" pitchFamily="2" charset="-122"/>
              </a:rPr>
              <a:t>完备性</a:t>
            </a:r>
            <a:endParaRPr lang="zh-CN" sz="2000" b="0">
              <a:latin typeface="Times New Roman" panose="02020603050405020304" charset="0"/>
              <a:ea typeface="宋体" panose="02010600030101010101" pitchFamily="2" charset="-122"/>
            </a:endParaRPr>
          </a:p>
          <a:p>
            <a:pPr indent="0"/>
            <a:r>
              <a:rPr lang="zh-CN" sz="2000" b="0">
                <a:latin typeface="Times New Roman" panose="02020603050405020304" charset="0"/>
                <a:ea typeface="宋体" panose="02010600030101010101" pitchFamily="2" charset="-122"/>
              </a:rPr>
              <a:t>表示整个输入域提供了一种形式的完备性</a:t>
            </a:r>
            <a:endParaRPr lang="zh-CN" sz="2000" b="0">
              <a:latin typeface="Times New Roman" panose="02020603050405020304" charset="0"/>
              <a:ea typeface="宋体" panose="02010600030101010101" pitchFamily="2" charset="-122"/>
            </a:endParaRPr>
          </a:p>
          <a:p>
            <a:pPr indent="0"/>
            <a:r>
              <a:rPr lang="en-US" altLang="zh-CN" sz="2000" b="0">
                <a:latin typeface="Times New Roman" panose="02020603050405020304" charset="0"/>
                <a:ea typeface="宋体" panose="02010600030101010101" pitchFamily="2" charset="-122"/>
              </a:rPr>
              <a:t>2</a:t>
            </a:r>
            <a:r>
              <a:rPr lang="zh-CN" altLang="en-US" sz="2000" b="0">
                <a:latin typeface="Times New Roman" panose="02020603050405020304" charset="0"/>
                <a:ea typeface="宋体" panose="02010600030101010101" pitchFamily="2" charset="-122"/>
              </a:rPr>
              <a:t>、</a:t>
            </a:r>
            <a:r>
              <a:rPr lang="zh-CN" sz="2000" b="0">
                <a:latin typeface="Times New Roman" panose="02020603050405020304" charset="0"/>
                <a:ea typeface="宋体" panose="02010600030101010101" pitchFamily="2" charset="-122"/>
              </a:rPr>
              <a:t>无冗余性</a:t>
            </a:r>
            <a:endParaRPr lang="zh-CN" sz="2000" b="0">
              <a:latin typeface="Times New Roman" panose="02020603050405020304" charset="0"/>
              <a:ea typeface="宋体" panose="02010600030101010101" pitchFamily="2" charset="-122"/>
            </a:endParaRPr>
          </a:p>
          <a:p>
            <a:pPr indent="0"/>
            <a:r>
              <a:rPr lang="zh-CN" altLang="en-US" sz="2000"/>
              <a:t>互不相交则保证一种形式的无冗余性</a:t>
            </a:r>
            <a:endParaRPr lang="zh-CN" altLang="en-US" sz="2000"/>
          </a:p>
        </p:txBody>
      </p:sp>
    </p:spTree>
  </p:cSld>
  <p:clrMapOvr>
    <a:masterClrMapping/>
  </p:clrMapOvr>
  <p:transition advTm="6599">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9"/>
                                        </p:tgtEl>
                                        <p:attrNameLst>
                                          <p:attrName>style.visibility</p:attrName>
                                        </p:attrNameLst>
                                      </p:cBhvr>
                                      <p:to>
                                        <p:strVal val="visible"/>
                                      </p:to>
                                    </p:set>
                                    <p:anim calcmode="lin" valueType="num">
                                      <p:cBhvr>
                                        <p:cTn id="7" dur="500" fill="hold"/>
                                        <p:tgtEl>
                                          <p:spTgt spid="49"/>
                                        </p:tgtEl>
                                        <p:attrNameLst>
                                          <p:attrName>ppt_w</p:attrName>
                                        </p:attrNameLst>
                                      </p:cBhvr>
                                      <p:tavLst>
                                        <p:tav tm="0">
                                          <p:val>
                                            <p:fltVal val="0"/>
                                          </p:val>
                                        </p:tav>
                                        <p:tav tm="100000">
                                          <p:val>
                                            <p:strVal val="#ppt_w"/>
                                          </p:val>
                                        </p:tav>
                                      </p:tavLst>
                                    </p:anim>
                                    <p:anim calcmode="lin" valueType="num">
                                      <p:cBhvr>
                                        <p:cTn id="8" dur="500" fill="hold"/>
                                        <p:tgtEl>
                                          <p:spTgt spid="49"/>
                                        </p:tgtEl>
                                        <p:attrNameLst>
                                          <p:attrName>ppt_h</p:attrName>
                                        </p:attrNameLst>
                                      </p:cBhvr>
                                      <p:tavLst>
                                        <p:tav tm="0">
                                          <p:val>
                                            <p:fltVal val="0"/>
                                          </p:val>
                                        </p:tav>
                                        <p:tav tm="100000">
                                          <p:val>
                                            <p:strVal val="#ppt_h"/>
                                          </p:val>
                                        </p:tav>
                                      </p:tavLst>
                                    </p:anim>
                                    <p:animEffect transition="in" filter="fade">
                                      <p:cBhvr>
                                        <p:cTn id="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sym typeface="+mn-ea"/>
              </a:rPr>
              <a:t>等价类划分</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9" name="Text Placeholder 7"/>
          <p:cNvSpPr txBox="1"/>
          <p:nvPr/>
        </p:nvSpPr>
        <p:spPr>
          <a:xfrm>
            <a:off x="6873310" y="5698683"/>
            <a:ext cx="582762" cy="480955"/>
          </a:xfrm>
          <a:prstGeom prst="rect">
            <a:avLst/>
          </a:prstGeom>
        </p:spPr>
        <p:txBody>
          <a:bodyPr vert="horz" lIns="0" tIns="98492" rIns="0" bIns="98492" anchor="ctr" anchorCtr="0"/>
          <a:lstStyle>
            <a:lvl1pPr marL="0" indent="0" algn="ctr" defTabSz="914400" rtl="0" eaLnBrk="1" latinLnBrk="0" hangingPunct="1">
              <a:lnSpc>
                <a:spcPct val="100000"/>
              </a:lnSpc>
              <a:spcBef>
                <a:spcPts val="0"/>
              </a:spcBef>
              <a:buFont typeface="Arial" panose="020B0604020202020204" pitchFamily="34" charset="0"/>
              <a:buNone/>
              <a:defRPr sz="2110" b="1" kern="1200">
                <a:solidFill>
                  <a:schemeClr val="bg1"/>
                </a:solidFill>
                <a:latin typeface="FontAwesome"/>
                <a:ea typeface="+mn-ea"/>
                <a:cs typeface="FontAwesom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es-ES_tradnl" dirty="0">
                <a:latin typeface="Arial" panose="020B0604020202020204" pitchFamily="34" charset="0"/>
                <a:ea typeface="微软雅黑" panose="020B0503020204020204" pitchFamily="34" charset="-122"/>
                <a:sym typeface="Arial" panose="020B0604020202020204" pitchFamily="34" charset="0"/>
              </a:rPr>
              <a:t>04</a:t>
            </a:r>
            <a:endParaRPr lang="es-ES_tradnl" dirty="0">
              <a:latin typeface="Arial" panose="020B0604020202020204" pitchFamily="34" charset="0"/>
              <a:ea typeface="微软雅黑" panose="020B0503020204020204" pitchFamily="34" charset="-122"/>
              <a:sym typeface="Arial" panose="020B0604020202020204" pitchFamily="34" charset="0"/>
            </a:endParaRPr>
          </a:p>
        </p:txBody>
      </p:sp>
      <p:sp>
        <p:nvSpPr>
          <p:cNvPr id="52" name="Rounded Rectangle 11"/>
          <p:cNvSpPr>
            <a:spLocks noChangeAspect="1"/>
          </p:cNvSpPr>
          <p:nvPr/>
        </p:nvSpPr>
        <p:spPr>
          <a:xfrm>
            <a:off x="636791" y="614800"/>
            <a:ext cx="719905" cy="720645"/>
          </a:xfrm>
          <a:prstGeom prst="roundRect">
            <a:avLst>
              <a:gd name="adj" fmla="val 50000"/>
            </a:avLst>
          </a:pr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6694" tIns="43347" rIns="86694" bIns="43347" rtlCol="0" anchor="ctr" anchorCtr="0"/>
          <a:p>
            <a:pPr algn="ctr">
              <a:lnSpc>
                <a:spcPct val="120000"/>
              </a:lnSpc>
            </a:pPr>
            <a:r>
              <a:rPr lang="en-US" sz="2000" dirty="0">
                <a:solidFill>
                  <a:schemeClr val="tx1"/>
                </a:solidFill>
                <a:latin typeface="Arial" panose="020B0604020202020204" pitchFamily="34" charset="0"/>
                <a:ea typeface="微软雅黑" panose="020B0503020204020204" pitchFamily="34" charset="-122"/>
                <a:sym typeface="Arial" panose="020B0604020202020204" pitchFamily="34" charset="0"/>
              </a:rPr>
              <a:t>2</a:t>
            </a:r>
            <a:endParaRPr lang="en-US" sz="20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53" name="文本框 52"/>
          <p:cNvSpPr txBox="1"/>
          <p:nvPr/>
        </p:nvSpPr>
        <p:spPr>
          <a:xfrm>
            <a:off x="1709420" y="790575"/>
            <a:ext cx="3243580" cy="460375"/>
          </a:xfrm>
          <a:prstGeom prst="rect">
            <a:avLst/>
          </a:prstGeom>
          <a:noFill/>
        </p:spPr>
        <p:txBody>
          <a:bodyPr wrap="square" rtlCol="0" anchor="t">
            <a:spAutoFit/>
          </a:bodyPr>
          <a:p>
            <a:r>
              <a:rPr lang="zh-CN" altLang="en-US" sz="2400">
                <a:sym typeface="+mn-ea"/>
              </a:rPr>
              <a:t>等价类的两种情况</a:t>
            </a:r>
            <a:endParaRPr lang="zh-CN" altLang="en-US" sz="2400">
              <a:sym typeface="+mn-ea"/>
            </a:endParaRPr>
          </a:p>
        </p:txBody>
      </p:sp>
      <p:sp>
        <p:nvSpPr>
          <p:cNvPr id="2" name="文本框 1"/>
          <p:cNvSpPr txBox="1"/>
          <p:nvPr/>
        </p:nvSpPr>
        <p:spPr>
          <a:xfrm>
            <a:off x="1709420" y="1605915"/>
            <a:ext cx="7564755" cy="3169285"/>
          </a:xfrm>
          <a:prstGeom prst="rect">
            <a:avLst/>
          </a:prstGeom>
          <a:noFill/>
          <a:ln w="9525">
            <a:noFill/>
          </a:ln>
        </p:spPr>
        <p:txBody>
          <a:bodyPr wrap="square">
            <a:spAutoFit/>
          </a:bodyPr>
          <a:p>
            <a:pPr indent="295275"/>
            <a:r>
              <a:rPr lang="en-US" sz="2000" b="0">
                <a:latin typeface="Times New Roman" panose="02020603050405020304" charset="0"/>
              </a:rPr>
              <a:t>1</a:t>
            </a:r>
            <a:r>
              <a:rPr lang="zh-CN" sz="2000" b="0">
                <a:latin typeface="Times New Roman" panose="02020603050405020304" charset="0"/>
                <a:ea typeface="宋体" panose="02010600030101010101" pitchFamily="2" charset="-122"/>
              </a:rPr>
              <a:t>）有效等价类有效等价类是指对软件规格说明书而言，是有意义的、合理的输入数据所构成的集合。利用有效等价类可以检验程序是否实现了规格说明预先规定的功能和性能。在具体问题中，有效等价类可以是一个，也可以是多个。</a:t>
            </a:r>
            <a:r>
              <a:rPr lang="en-US" sz="2000" b="0">
                <a:latin typeface="Times New Roman" panose="02020603050405020304" charset="0"/>
              </a:rPr>
              <a:t>    2</a:t>
            </a:r>
            <a:r>
              <a:rPr lang="zh-CN" sz="2000" b="0">
                <a:latin typeface="Times New Roman" panose="02020603050405020304" charset="0"/>
                <a:ea typeface="宋体" panose="02010600030101010101" pitchFamily="2" charset="-122"/>
              </a:rPr>
              <a:t>）无效等价类无效等价类是指软件规格说明而言，是不合理或无意义的输入数据所构成的集合。利用无效等价类可以检查软件功能和性能的实现是否有不符合规格说明要求的地方。对于具体的问题，无效等价类至少应有一个，也可以有多个。</a:t>
            </a:r>
            <a:endParaRPr lang="zh-CN" altLang="en-US" sz="2000"/>
          </a:p>
        </p:txBody>
      </p:sp>
    </p:spTree>
  </p:cSld>
  <p:clrMapOvr>
    <a:masterClrMapping/>
  </p:clrMapOvr>
  <p:transition advTm="5335">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9">
                                            <p:txEl>
                                              <p:pRg st="0" end="0"/>
                                            </p:txEl>
                                          </p:spTgt>
                                        </p:tgtEl>
                                        <p:attrNameLst>
                                          <p:attrName>style.visibility</p:attrName>
                                        </p:attrNameLst>
                                      </p:cBhvr>
                                      <p:to>
                                        <p:strVal val="visible"/>
                                      </p:to>
                                    </p:set>
                                    <p:anim calcmode="lin" valueType="num">
                                      <p:cBhvr>
                                        <p:cTn id="7" dur="500" fill="hold"/>
                                        <p:tgtEl>
                                          <p:spTgt spid="4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9">
                                            <p:txEl>
                                              <p:pRg st="0" end="0"/>
                                            </p:txEl>
                                          </p:spTgt>
                                        </p:tgtEl>
                                      </p:cBhvr>
                                    </p:animEffect>
                                  </p:childTnLst>
                                </p:cTn>
                              </p:par>
                              <p:par>
                                <p:cTn id="10" presetID="53" presetClass="entr" presetSubtype="16" fill="hold" grpId="0" nodeType="withEffect">
                                  <p:stCondLst>
                                    <p:cond delay="200"/>
                                  </p:stCondLst>
                                  <p:childTnLst>
                                    <p:set>
                                      <p:cBhvr>
                                        <p:cTn id="11" dur="1" fill="hold">
                                          <p:stCondLst>
                                            <p:cond delay="0"/>
                                          </p:stCondLst>
                                        </p:cTn>
                                        <p:tgtEl>
                                          <p:spTgt spid="52"/>
                                        </p:tgtEl>
                                        <p:attrNameLst>
                                          <p:attrName>style.visibility</p:attrName>
                                        </p:attrNameLst>
                                      </p:cBhvr>
                                      <p:to>
                                        <p:strVal val="visible"/>
                                      </p:to>
                                    </p:set>
                                    <p:anim calcmode="lin" valueType="num">
                                      <p:cBhvr>
                                        <p:cTn id="12" dur="500" fill="hold"/>
                                        <p:tgtEl>
                                          <p:spTgt spid="52"/>
                                        </p:tgtEl>
                                        <p:attrNameLst>
                                          <p:attrName>ppt_w</p:attrName>
                                        </p:attrNameLst>
                                      </p:cBhvr>
                                      <p:tavLst>
                                        <p:tav tm="0">
                                          <p:val>
                                            <p:fltVal val="0"/>
                                          </p:val>
                                        </p:tav>
                                        <p:tav tm="100000">
                                          <p:val>
                                            <p:strVal val="#ppt_w"/>
                                          </p:val>
                                        </p:tav>
                                      </p:tavLst>
                                    </p:anim>
                                    <p:anim calcmode="lin" valueType="num">
                                      <p:cBhvr>
                                        <p:cTn id="13" dur="500" fill="hold"/>
                                        <p:tgtEl>
                                          <p:spTgt spid="52"/>
                                        </p:tgtEl>
                                        <p:attrNameLst>
                                          <p:attrName>ppt_h</p:attrName>
                                        </p:attrNameLst>
                                      </p:cBhvr>
                                      <p:tavLst>
                                        <p:tav tm="0">
                                          <p:val>
                                            <p:fltVal val="0"/>
                                          </p:val>
                                        </p:tav>
                                        <p:tav tm="100000">
                                          <p:val>
                                            <p:strVal val="#ppt_h"/>
                                          </p:val>
                                        </p:tav>
                                      </p:tavLst>
                                    </p:anim>
                                    <p:animEffect transition="in" filter="fade">
                                      <p:cBhvr>
                                        <p:cTn id="14"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build="p">
        <p:tmplLst>
          <p:tmpl lvl="1">
            <p:tnLst>
              <p:par>
                <p:cTn presetID="53" presetClass="entr" presetSubtype="16" fill="hold" nodeType="withEffect">
                  <p:stCondLst>
                    <p:cond delay="200"/>
                  </p:stCondLst>
                  <p:childTnLst>
                    <p:set>
                      <p:cBhvr>
                        <p:cTn dur="1" fill="hold">
                          <p:stCondLst>
                            <p:cond delay="0"/>
                          </p:stCondLst>
                        </p:cTn>
                        <p:tgtEl>
                          <p:spTgt spid="49"/>
                        </p:tgtEl>
                        <p:attrNameLst>
                          <p:attrName>style.visibility</p:attrName>
                        </p:attrNameLst>
                      </p:cBhvr>
                      <p:to>
                        <p:strVal val="visible"/>
                      </p:to>
                    </p:set>
                    <p:anim calcmode="lin" valueType="num">
                      <p:cBhvr>
                        <p:cTn dur="500" fill="hold"/>
                        <p:tgtEl>
                          <p:spTgt spid="49"/>
                        </p:tgtEl>
                        <p:attrNameLst>
                          <p:attrName>ppt_w</p:attrName>
                        </p:attrNameLst>
                      </p:cBhvr>
                      <p:tavLst>
                        <p:tav tm="0">
                          <p:val>
                            <p:fltVal val="0"/>
                          </p:val>
                        </p:tav>
                        <p:tav tm="100000">
                          <p:val>
                            <p:strVal val="#ppt_w"/>
                          </p:val>
                        </p:tav>
                      </p:tavLst>
                    </p:anim>
                    <p:anim calcmode="lin" valueType="num">
                      <p:cBhvr>
                        <p:cTn dur="500" fill="hold"/>
                        <p:tgtEl>
                          <p:spTgt spid="49"/>
                        </p:tgtEl>
                        <p:attrNameLst>
                          <p:attrName>ppt_h</p:attrName>
                        </p:attrNameLst>
                      </p:cBhvr>
                      <p:tavLst>
                        <p:tav tm="0">
                          <p:val>
                            <p:fltVal val="0"/>
                          </p:val>
                        </p:tav>
                        <p:tav tm="100000">
                          <p:val>
                            <p:strVal val="#ppt_h"/>
                          </p:val>
                        </p:tav>
                      </p:tavLst>
                    </p:anim>
                    <p:animEffect transition="in" filter="fade">
                      <p:cBhvr>
                        <p:cTn dur="500"/>
                        <p:tgtEl>
                          <p:spTgt spid="49"/>
                        </p:tgtEl>
                      </p:cBhvr>
                    </p:animEffect>
                  </p:childTnLst>
                </p:cTn>
              </p:par>
            </p:tnLst>
          </p:tmpl>
        </p:tmplLst>
      </p:bldP>
      <p:bldP spid="52"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等价类划分</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51" name="Rounded Rectangle 11"/>
          <p:cNvSpPr>
            <a:spLocks noChangeAspect="1"/>
          </p:cNvSpPr>
          <p:nvPr/>
        </p:nvSpPr>
        <p:spPr>
          <a:xfrm>
            <a:off x="479946" y="614800"/>
            <a:ext cx="719905" cy="720645"/>
          </a:xfrm>
          <a:prstGeom prst="roundRect">
            <a:avLst>
              <a:gd name="adj" fmla="val 50000"/>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6694" tIns="43347" rIns="86694" bIns="43347" rtlCol="0" anchor="ctr" anchorCtr="0"/>
          <a:p>
            <a:pPr algn="ctr">
              <a:lnSpc>
                <a:spcPct val="120000"/>
              </a:lnSpc>
            </a:pPr>
            <a:r>
              <a:rPr lang="en-US" sz="2000" dirty="0">
                <a:solidFill>
                  <a:schemeClr val="tx1"/>
                </a:solidFill>
                <a:latin typeface="Arial" panose="020B0604020202020204" pitchFamily="34" charset="0"/>
                <a:ea typeface="微软雅黑" panose="020B0503020204020204" pitchFamily="34" charset="-122"/>
                <a:sym typeface="Arial" panose="020B0604020202020204" pitchFamily="34" charset="0"/>
              </a:rPr>
              <a:t>3</a:t>
            </a:r>
            <a:endParaRPr lang="en-US" sz="2000"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54" name="文本框 53"/>
          <p:cNvSpPr txBox="1"/>
          <p:nvPr/>
        </p:nvSpPr>
        <p:spPr>
          <a:xfrm>
            <a:off x="1275715" y="744855"/>
            <a:ext cx="2621280" cy="460375"/>
          </a:xfrm>
          <a:prstGeom prst="rect">
            <a:avLst/>
          </a:prstGeom>
          <a:noFill/>
        </p:spPr>
        <p:txBody>
          <a:bodyPr wrap="none" rtlCol="0" anchor="t">
            <a:spAutoFit/>
          </a:bodyPr>
          <a:p>
            <a:r>
              <a:rPr lang="zh-CN" altLang="en-US" sz="2400">
                <a:sym typeface="+mn-ea"/>
              </a:rPr>
              <a:t>等价类的划分原则</a:t>
            </a:r>
            <a:endParaRPr lang="zh-CN" altLang="en-US" sz="2400">
              <a:sym typeface="+mn-ea"/>
            </a:endParaRPr>
          </a:p>
        </p:txBody>
      </p:sp>
      <p:sp>
        <p:nvSpPr>
          <p:cNvPr id="100" name="文本框 99"/>
          <p:cNvSpPr txBox="1"/>
          <p:nvPr/>
        </p:nvSpPr>
        <p:spPr>
          <a:xfrm>
            <a:off x="1335405" y="1205230"/>
            <a:ext cx="9113520" cy="3169285"/>
          </a:xfrm>
          <a:prstGeom prst="rect">
            <a:avLst/>
          </a:prstGeom>
          <a:noFill/>
          <a:ln w="9525">
            <a:noFill/>
          </a:ln>
        </p:spPr>
        <p:txBody>
          <a:bodyPr wrap="square">
            <a:spAutoFit/>
          </a:bodyPr>
          <a:p>
            <a:pPr indent="295275"/>
            <a:r>
              <a:rPr lang="en-US" altLang="zh-CN" sz="2000" b="0">
                <a:latin typeface="Times New Roman" panose="02020603050405020304" charset="0"/>
                <a:ea typeface="宋体" panose="02010600030101010101" pitchFamily="2" charset="-122"/>
              </a:rPr>
              <a:t>1</a:t>
            </a:r>
            <a:r>
              <a:rPr lang="zh-CN" altLang="en-US" sz="2000" b="0">
                <a:latin typeface="Times New Roman" panose="02020603050405020304" charset="0"/>
                <a:ea typeface="宋体" panose="02010600030101010101" pitchFamily="2" charset="-122"/>
              </a:rPr>
              <a:t>）</a:t>
            </a:r>
            <a:r>
              <a:rPr lang="zh-CN" sz="2000" b="0">
                <a:latin typeface="Times New Roman" panose="02020603050405020304" charset="0"/>
                <a:ea typeface="宋体" panose="02010600030101010101" pitchFamily="2" charset="-122"/>
              </a:rPr>
              <a:t>如果规定了输入条件的取值范围或者个数，则可以确定一个有效等价类和两个无效等价类。</a:t>
            </a:r>
            <a:r>
              <a:rPr lang="en-US" sz="2000" b="0">
                <a:latin typeface="Times New Roman" panose="02020603050405020304" charset="0"/>
                <a:ea typeface="宋体" panose="02010600030101010101" pitchFamily="2" charset="-122"/>
                <a:cs typeface="Times New Roman" panose="02020603050405020304" charset="0"/>
              </a:rPr>
              <a:t>    2</a:t>
            </a:r>
            <a:r>
              <a:rPr lang="zh-CN" sz="2000" b="0">
                <a:latin typeface="Times New Roman" panose="02020603050405020304" charset="0"/>
                <a:ea typeface="宋体" panose="02010600030101010101" pitchFamily="2" charset="-122"/>
              </a:rPr>
              <a:t>）如果规定了输入值的集合，则可以确定一个有效等价类和一个无效等价类。</a:t>
            </a:r>
            <a:r>
              <a:rPr lang="en-US" sz="2000" b="0">
                <a:latin typeface="Times New Roman" panose="02020603050405020304" charset="0"/>
              </a:rPr>
              <a:t>    3</a:t>
            </a:r>
            <a:r>
              <a:rPr lang="zh-CN" sz="2000" b="0">
                <a:latin typeface="Times New Roman" panose="02020603050405020304" charset="0"/>
                <a:ea typeface="宋体" panose="02010600030101010101" pitchFamily="2" charset="-122"/>
              </a:rPr>
              <a:t>）如果规定了输入数据的一组值，并且程序要求每一个输入值分别进行处理，则可以为每一个确定一个有效等价类，此外根据这组值确定一个无效等价类，即所有不允许的输入值的集合。</a:t>
            </a:r>
            <a:endParaRPr lang="zh-CN" sz="2000" b="0">
              <a:latin typeface="Times New Roman" panose="02020603050405020304" charset="0"/>
              <a:ea typeface="宋体" panose="02010600030101010101" pitchFamily="2" charset="-122"/>
            </a:endParaRPr>
          </a:p>
          <a:p>
            <a:pPr indent="295275"/>
            <a:r>
              <a:rPr lang="zh-CN" altLang="en-US" sz="2000"/>
              <a:t>4）如果规定了输入数据必须遵守的规则，则可以确定一个有效等价类和若干个无效等价类。</a:t>
            </a:r>
            <a:endParaRPr lang="zh-CN" altLang="en-US" sz="2000"/>
          </a:p>
          <a:p>
            <a:pPr indent="295275"/>
            <a:r>
              <a:rPr lang="zh-CN" altLang="en-US" sz="2000"/>
              <a:t>5）如果已知的等价类中各个元素在程序中的处理方式不同，则应将等价类进一步划分成更小的等价类。</a:t>
            </a:r>
            <a:endParaRPr lang="zh-CN" altLang="en-US" sz="2000"/>
          </a:p>
        </p:txBody>
      </p:sp>
      <p:graphicFrame>
        <p:nvGraphicFramePr>
          <p:cNvPr id="17" name="表格 16"/>
          <p:cNvGraphicFramePr/>
          <p:nvPr>
            <p:custDataLst>
              <p:tags r:id="rId1"/>
            </p:custDataLst>
          </p:nvPr>
        </p:nvGraphicFramePr>
        <p:xfrm>
          <a:off x="1797685" y="5069840"/>
          <a:ext cx="7583170" cy="1295400"/>
        </p:xfrm>
        <a:graphic>
          <a:graphicData uri="http://schemas.openxmlformats.org/drawingml/2006/table">
            <a:tbl>
              <a:tblPr firstRow="1" bandRow="1">
                <a:tableStyleId>{5940675A-B579-460E-94D1-54222C63F5DA}</a:tableStyleId>
              </a:tblPr>
              <a:tblGrid>
                <a:gridCol w="1388110"/>
                <a:gridCol w="1627505"/>
                <a:gridCol w="1318895"/>
                <a:gridCol w="1938655"/>
                <a:gridCol w="1310005"/>
              </a:tblGrid>
              <a:tr h="86423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输入条件</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有效等价类</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编号</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无效等价类</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编号</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1165">
                <a:tc>
                  <a:txBody>
                    <a:bodyPr/>
                    <a:p>
                      <a:pPr indent="0" algn="ctr">
                        <a:buNone/>
                      </a:pPr>
                      <a:r>
                        <a:rPr lang="en-US" sz="2000" b="0">
                          <a:latin typeface="Times New Roman" panose="02020603050405020304" charset="0"/>
                          <a:cs typeface="Times New Roman" panose="02020603050405020304" charset="0"/>
                        </a:rPr>
                        <a:t> </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 </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 </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 </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8" name="文本框 17"/>
          <p:cNvSpPr txBox="1"/>
          <p:nvPr/>
        </p:nvSpPr>
        <p:spPr>
          <a:xfrm>
            <a:off x="1707515" y="4374515"/>
            <a:ext cx="8110855" cy="706755"/>
          </a:xfrm>
          <a:prstGeom prst="rect">
            <a:avLst/>
          </a:prstGeom>
          <a:noFill/>
          <a:ln w="9525">
            <a:noFill/>
          </a:ln>
        </p:spPr>
        <p:txBody>
          <a:bodyPr wrap="square">
            <a:spAutoFit/>
          </a:bodyPr>
          <a:p>
            <a:pPr indent="295275"/>
            <a:r>
              <a:rPr lang="zh-CN" sz="2000" b="0">
                <a:latin typeface="Times New Roman" panose="02020603050405020304" charset="0"/>
                <a:ea typeface="宋体" panose="02010600030101010101" pitchFamily="2" charset="-122"/>
              </a:rPr>
              <a:t>确定了等价类之后，可按表的形式列出所有划分出来的等价类。                                          </a:t>
            </a:r>
            <a:r>
              <a:rPr lang="en-US" sz="2000" b="0">
                <a:latin typeface="Times New Roman" panose="02020603050405020304" charset="0"/>
              </a:rPr>
              <a:t> </a:t>
            </a:r>
            <a:r>
              <a:rPr lang="zh-CN" sz="2000" b="0">
                <a:latin typeface="Times New Roman" panose="02020603050405020304" charset="0"/>
                <a:ea typeface="宋体" panose="02010600030101010101" pitchFamily="2" charset="-122"/>
              </a:rPr>
              <a:t>等价类表</a:t>
            </a:r>
            <a:endParaRPr lang="zh-CN" altLang="en-US" sz="2000"/>
          </a:p>
        </p:txBody>
      </p:sp>
    </p:spTree>
  </p:cSld>
  <p:clrMapOvr>
    <a:masterClrMapping/>
  </p:clrMapOvr>
  <p:transition advTm="1310">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51"/>
                                        </p:tgtEl>
                                        <p:attrNameLst>
                                          <p:attrName>style.visibility</p:attrName>
                                        </p:attrNameLst>
                                      </p:cBhvr>
                                      <p:to>
                                        <p:strVal val="visible"/>
                                      </p:to>
                                    </p:set>
                                    <p:anim calcmode="lin" valueType="num">
                                      <p:cBhvr>
                                        <p:cTn id="7" dur="500" fill="hold"/>
                                        <p:tgtEl>
                                          <p:spTgt spid="51"/>
                                        </p:tgtEl>
                                        <p:attrNameLst>
                                          <p:attrName>ppt_w</p:attrName>
                                        </p:attrNameLst>
                                      </p:cBhvr>
                                      <p:tavLst>
                                        <p:tav tm="0">
                                          <p:val>
                                            <p:fltVal val="0"/>
                                          </p:val>
                                        </p:tav>
                                        <p:tav tm="100000">
                                          <p:val>
                                            <p:strVal val="#ppt_w"/>
                                          </p:val>
                                        </p:tav>
                                      </p:tavLst>
                                    </p:anim>
                                    <p:anim calcmode="lin" valueType="num">
                                      <p:cBhvr>
                                        <p:cTn id="8" dur="500" fill="hold"/>
                                        <p:tgtEl>
                                          <p:spTgt spid="51"/>
                                        </p:tgtEl>
                                        <p:attrNameLst>
                                          <p:attrName>ppt_h</p:attrName>
                                        </p:attrNameLst>
                                      </p:cBhvr>
                                      <p:tavLst>
                                        <p:tav tm="0">
                                          <p:val>
                                            <p:fltVal val="0"/>
                                          </p:val>
                                        </p:tav>
                                        <p:tav tm="100000">
                                          <p:val>
                                            <p:strVal val="#ppt_h"/>
                                          </p:val>
                                        </p:tav>
                                      </p:tavLst>
                                    </p:anim>
                                    <p:animEffect transition="in" filter="fade">
                                      <p:cBhvr>
                                        <p:cTn id="9"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902" y="1593655"/>
            <a:ext cx="2812747" cy="2101740"/>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3912604" y="2883812"/>
            <a:ext cx="5059680" cy="829945"/>
          </a:xfrm>
          <a:prstGeom prst="rect">
            <a:avLst/>
          </a:prstGeom>
          <a:noFill/>
        </p:spPr>
        <p:txBody>
          <a:bodyPr wrap="non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等价类测试的分类</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747" y="2655849"/>
            <a:ext cx="2069408" cy="1546303"/>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6508" y="2327919"/>
            <a:ext cx="3458403" cy="2584187"/>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7928" y="2883669"/>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02</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1731">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79947" y="4228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等价类的分类</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266825" y="1230630"/>
            <a:ext cx="8926195" cy="2245360"/>
          </a:xfrm>
          <a:prstGeom prst="rect">
            <a:avLst/>
          </a:prstGeom>
          <a:noFill/>
          <a:ln w="9525">
            <a:noFill/>
          </a:ln>
        </p:spPr>
        <p:txBody>
          <a:bodyPr wrap="square">
            <a:spAutoFit/>
          </a:bodyPr>
          <a:p>
            <a:pPr indent="295275"/>
            <a:r>
              <a:rPr lang="en-US" altLang="zh-CN"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根据对等价类的覆盖程度可分为以下两种。弱组合形式：测试用例仅需满足对有效等价类的完全覆盖。强组合形式：测试用例不仅应满足对有效等价类的完全覆盖，而且应覆盖所有的等价类组合。</a:t>
            </a:r>
            <a:endParaRPr lang="zh-CN" sz="2000" b="0">
              <a:latin typeface="Times New Roman" panose="02020603050405020304" charset="0"/>
              <a:ea typeface="宋体" panose="02010600030101010101" pitchFamily="2" charset="-122"/>
            </a:endParaRPr>
          </a:p>
          <a:p>
            <a:pPr indent="295275"/>
            <a:r>
              <a:rPr lang="en-US" altLang="zh-CN"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根据是否对无效数据进行检测，可以将等价类分为以下两种。一般等价类测试：只考虑有效等价类。健壮等价类测试：考虑有效、无效等价类。</a:t>
            </a:r>
            <a:endParaRPr lang="zh-CN" altLang="en-US" sz="2000"/>
          </a:p>
        </p:txBody>
      </p:sp>
      <p:sp>
        <p:nvSpPr>
          <p:cNvPr id="2" name="文本框 1"/>
          <p:cNvSpPr txBox="1"/>
          <p:nvPr/>
        </p:nvSpPr>
        <p:spPr>
          <a:xfrm>
            <a:off x="1266825" y="3648710"/>
            <a:ext cx="7153910" cy="1630045"/>
          </a:xfrm>
          <a:prstGeom prst="rect">
            <a:avLst/>
          </a:prstGeom>
          <a:noFill/>
          <a:ln w="9525">
            <a:noFill/>
          </a:ln>
        </p:spPr>
        <p:txBody>
          <a:bodyPr wrap="square">
            <a:spAutoFit/>
          </a:bodyPr>
          <a:p>
            <a:pPr indent="295275"/>
            <a:r>
              <a:rPr lang="en-US" altLang="zh-CN"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将以上两种加以组合，可以得到以下几种测试类。</a:t>
            </a:r>
            <a:r>
              <a:rPr lang="en-US" sz="2000" b="0">
                <a:latin typeface="Wingdings" panose="05000000000000000000" charset="0"/>
                <a:ea typeface="宋体" panose="02010600030101010101" pitchFamily="2" charset="-122"/>
              </a:rPr>
              <a:t>Ø </a:t>
            </a:r>
            <a:r>
              <a:rPr lang="zh-CN" sz="2000" b="0">
                <a:latin typeface="Times New Roman" panose="02020603050405020304" charset="0"/>
                <a:ea typeface="宋体" panose="02010600030101010101" pitchFamily="2" charset="-122"/>
              </a:rPr>
              <a:t>弱一般等价类测试。</a:t>
            </a:r>
            <a:r>
              <a:rPr lang="en-US" sz="2000" b="0">
                <a:latin typeface="Wingdings" panose="05000000000000000000" charset="0"/>
                <a:ea typeface="宋体" panose="02010600030101010101" pitchFamily="2" charset="-122"/>
              </a:rPr>
              <a:t>Ø </a:t>
            </a:r>
            <a:r>
              <a:rPr lang="zh-CN" sz="2000" b="0">
                <a:latin typeface="Times New Roman" panose="02020603050405020304" charset="0"/>
                <a:ea typeface="宋体" panose="02010600030101010101" pitchFamily="2" charset="-122"/>
              </a:rPr>
              <a:t>强一般等价类测试。</a:t>
            </a:r>
            <a:r>
              <a:rPr lang="en-US" sz="2000" b="0">
                <a:latin typeface="Wingdings" panose="05000000000000000000" charset="0"/>
                <a:ea typeface="宋体" panose="02010600030101010101" pitchFamily="2" charset="-122"/>
              </a:rPr>
              <a:t>Ø </a:t>
            </a:r>
            <a:r>
              <a:rPr lang="zh-CN" sz="2000" b="0">
                <a:latin typeface="Times New Roman" panose="02020603050405020304" charset="0"/>
                <a:ea typeface="宋体" panose="02010600030101010101" pitchFamily="2" charset="-122"/>
              </a:rPr>
              <a:t>弱健壮等价类测试。</a:t>
            </a:r>
            <a:r>
              <a:rPr lang="en-US" sz="2000" b="0">
                <a:latin typeface="Wingdings" panose="05000000000000000000" charset="0"/>
                <a:ea typeface="宋体" panose="02010600030101010101" pitchFamily="2" charset="-122"/>
              </a:rPr>
              <a:t>Ø </a:t>
            </a:r>
            <a:r>
              <a:rPr lang="zh-CN" sz="2000" b="0">
                <a:latin typeface="Times New Roman" panose="02020603050405020304" charset="0"/>
                <a:ea typeface="宋体" panose="02010600030101010101" pitchFamily="2" charset="-122"/>
              </a:rPr>
              <a:t>强健壮等价类测试。</a:t>
            </a:r>
            <a:endParaRPr lang="zh-CN" altLang="en-US" sz="2000"/>
          </a:p>
        </p:txBody>
      </p:sp>
      <p:sp>
        <p:nvSpPr>
          <p:cNvPr id="3" name="十字星 2"/>
          <p:cNvSpPr/>
          <p:nvPr/>
        </p:nvSpPr>
        <p:spPr>
          <a:xfrm>
            <a:off x="1148080" y="1638935"/>
            <a:ext cx="198755" cy="219075"/>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十字星 3"/>
          <p:cNvSpPr/>
          <p:nvPr/>
        </p:nvSpPr>
        <p:spPr>
          <a:xfrm flipH="1" flipV="1">
            <a:off x="1148080" y="1917700"/>
            <a:ext cx="194310" cy="174625"/>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十字星 4"/>
          <p:cNvSpPr/>
          <p:nvPr/>
        </p:nvSpPr>
        <p:spPr>
          <a:xfrm>
            <a:off x="1143635" y="3117850"/>
            <a:ext cx="198755" cy="219075"/>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十字星 5"/>
          <p:cNvSpPr/>
          <p:nvPr/>
        </p:nvSpPr>
        <p:spPr>
          <a:xfrm>
            <a:off x="1143635" y="2807335"/>
            <a:ext cx="198755" cy="219075"/>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advTm="6038">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sym typeface="+mn-ea"/>
              </a:rPr>
              <a:t>等价类的分类</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480060" y="857885"/>
            <a:ext cx="7146925" cy="1938020"/>
          </a:xfrm>
          <a:prstGeom prst="rect">
            <a:avLst/>
          </a:prstGeom>
          <a:noFill/>
          <a:ln w="9525">
            <a:noFill/>
          </a:ln>
        </p:spPr>
        <p:txBody>
          <a:bodyPr wrap="square">
            <a:spAutoFit/>
          </a:bodyPr>
          <a:p>
            <a:pPr indent="0"/>
            <a:r>
              <a:rPr lang="en-US" altLang="zh-CN"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以一个有两个变量</a:t>
            </a:r>
            <a:r>
              <a:rPr lang="en-US" sz="2000" b="0">
                <a:latin typeface="Times New Roman" panose="02020603050405020304" charset="0"/>
                <a:ea typeface="宋体" panose="02010600030101010101" pitchFamily="2" charset="-122"/>
              </a:rPr>
              <a:t>x1</a:t>
            </a:r>
            <a:r>
              <a:rPr lang="zh-CN" sz="2000" b="0">
                <a:latin typeface="Times New Roman" panose="02020603050405020304" charset="0"/>
                <a:ea typeface="宋体" panose="02010600030101010101" pitchFamily="2" charset="-122"/>
              </a:rPr>
              <a:t>和</a:t>
            </a:r>
            <a:r>
              <a:rPr lang="en-US" sz="2000" b="0">
                <a:latin typeface="Times New Roman" panose="02020603050405020304" charset="0"/>
                <a:ea typeface="宋体" panose="02010600030101010101" pitchFamily="2" charset="-122"/>
              </a:rPr>
              <a:t>x2</a:t>
            </a:r>
            <a:r>
              <a:rPr lang="zh-CN" sz="2000" b="0">
                <a:latin typeface="Times New Roman" panose="02020603050405020304" charset="0"/>
                <a:ea typeface="宋体" panose="02010600030101010101" pitchFamily="2" charset="-122"/>
              </a:rPr>
              <a:t>的程序</a:t>
            </a:r>
            <a:r>
              <a:rPr lang="en-US" sz="2000" b="0">
                <a:latin typeface="Times New Roman" panose="02020603050405020304" charset="0"/>
                <a:ea typeface="宋体" panose="02010600030101010101" pitchFamily="2" charset="-122"/>
              </a:rPr>
              <a:t>F</a:t>
            </a:r>
            <a:r>
              <a:rPr lang="zh-CN" sz="2000" b="0">
                <a:latin typeface="Times New Roman" panose="02020603050405020304" charset="0"/>
                <a:ea typeface="宋体" panose="02010600030101010101" pitchFamily="2" charset="-122"/>
              </a:rPr>
              <a:t>为例：</a:t>
            </a:r>
            <a:endParaRPr lang="zh-CN" sz="2000" b="0">
              <a:latin typeface="Times New Roman" panose="02020603050405020304" charset="0"/>
              <a:ea typeface="宋体" panose="02010600030101010101" pitchFamily="2" charset="-122"/>
            </a:endParaRPr>
          </a:p>
          <a:p>
            <a:pPr indent="0"/>
            <a:r>
              <a:rPr lang="zh-CN" altLang="en-US" sz="2000"/>
              <a:t>    假设以一个有两个输入变量x1和x2的程序F为例，说明上述的四种等价类测试。</a:t>
            </a:r>
            <a:endParaRPr lang="zh-CN" altLang="en-US" sz="2000"/>
          </a:p>
          <a:p>
            <a:pPr indent="0"/>
            <a:r>
              <a:rPr lang="zh-CN" altLang="en-US" sz="2000"/>
              <a:t>    假设，F的输入变量x1和x2的边界以及边界内的区间为</a:t>
            </a:r>
            <a:endParaRPr lang="zh-CN" altLang="en-US" sz="2000"/>
          </a:p>
          <a:p>
            <a:pPr indent="0"/>
            <a:r>
              <a:rPr lang="zh-CN" altLang="en-US" sz="2000"/>
              <a:t>a ≤ x1≤ d，区间为[a, b)，[b, c)，[c, d] </a:t>
            </a:r>
            <a:endParaRPr lang="zh-CN" altLang="en-US" sz="2000"/>
          </a:p>
          <a:p>
            <a:pPr indent="0"/>
            <a:r>
              <a:rPr lang="zh-CN" altLang="en-US" sz="2000"/>
              <a:t>e ≤ x2≤ g，区间为[e, f)， [f, g]</a:t>
            </a:r>
            <a:endParaRPr lang="zh-CN" altLang="en-US" sz="2000"/>
          </a:p>
        </p:txBody>
      </p:sp>
      <p:sp>
        <p:nvSpPr>
          <p:cNvPr id="2" name="文本框 1"/>
          <p:cNvSpPr txBox="1"/>
          <p:nvPr/>
        </p:nvSpPr>
        <p:spPr>
          <a:xfrm>
            <a:off x="480060" y="2979420"/>
            <a:ext cx="5080000" cy="1630045"/>
          </a:xfrm>
          <a:prstGeom prst="rect">
            <a:avLst/>
          </a:prstGeom>
          <a:noFill/>
          <a:ln w="9525">
            <a:noFill/>
          </a:ln>
        </p:spPr>
        <p:txBody>
          <a:bodyPr>
            <a:spAutoFit/>
          </a:bodyPr>
          <a:p>
            <a:pPr indent="295275"/>
            <a:r>
              <a:rPr lang="zh-CN" sz="2000" b="0">
                <a:latin typeface="Times New Roman" panose="02020603050405020304" charset="0"/>
                <a:ea typeface="宋体" panose="02010600030101010101" pitchFamily="2" charset="-122"/>
              </a:rPr>
              <a:t>变量</a:t>
            </a:r>
            <a:r>
              <a:rPr lang="en-US" sz="2000" b="0">
                <a:latin typeface="Times New Roman" panose="02020603050405020304" charset="0"/>
              </a:rPr>
              <a:t>x1</a:t>
            </a:r>
            <a:r>
              <a:rPr lang="zh-CN" sz="2000" b="0">
                <a:latin typeface="Times New Roman" panose="02020603050405020304" charset="0"/>
                <a:ea typeface="宋体" panose="02010600030101010101" pitchFamily="2" charset="-122"/>
              </a:rPr>
              <a:t>和</a:t>
            </a:r>
            <a:r>
              <a:rPr lang="en-US" sz="2000" b="0">
                <a:latin typeface="Times New Roman" panose="02020603050405020304" charset="0"/>
              </a:rPr>
              <a:t>x2</a:t>
            </a:r>
            <a:r>
              <a:rPr lang="zh-CN" sz="2000" b="0">
                <a:latin typeface="Times New Roman" panose="02020603050405020304" charset="0"/>
                <a:ea typeface="宋体" panose="02010600030101010101" pitchFamily="2" charset="-122"/>
              </a:rPr>
              <a:t>的等价类分别为：</a:t>
            </a:r>
            <a:r>
              <a:rPr lang="en-US" sz="2000" b="0">
                <a:latin typeface="Times New Roman" panose="02020603050405020304" charset="0"/>
                <a:ea typeface="宋体" panose="02010600030101010101" pitchFamily="2" charset="-122"/>
                <a:cs typeface="宋体" panose="02010600030101010101" pitchFamily="2" charset="-122"/>
              </a:rPr>
              <a:t>x1</a:t>
            </a:r>
            <a:r>
              <a:rPr lang="zh-CN" sz="2000" b="0">
                <a:ea typeface="宋体" panose="02010600030101010101" pitchFamily="2" charset="-122"/>
              </a:rPr>
              <a:t>的有效等价类： </a:t>
            </a:r>
            <a:r>
              <a:rPr lang="en-US" sz="2000" b="0">
                <a:latin typeface="Times New Roman" panose="02020603050405020304" charset="0"/>
                <a:ea typeface="宋体" panose="02010600030101010101" pitchFamily="2" charset="-122"/>
              </a:rPr>
              <a:t>[a, b)</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[b, c)</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[c, d] </a:t>
            </a:r>
            <a:r>
              <a:rPr lang="en-US" sz="2000" b="0">
                <a:latin typeface="Times New Roman" panose="02020603050405020304" charset="0"/>
                <a:ea typeface="宋体" panose="02010600030101010101" pitchFamily="2" charset="-122"/>
                <a:cs typeface="宋体" panose="02010600030101010101" pitchFamily="2" charset="-122"/>
              </a:rPr>
              <a:t>x1</a:t>
            </a:r>
            <a:r>
              <a:rPr lang="zh-CN" sz="2000" b="0">
                <a:ea typeface="宋体" panose="02010600030101010101" pitchFamily="2" charset="-122"/>
              </a:rPr>
              <a:t>的无效等价类： </a:t>
            </a:r>
            <a:r>
              <a:rPr lang="en-US" sz="2000" b="0">
                <a:latin typeface="Times New Roman" panose="02020603050405020304" charset="0"/>
                <a:ea typeface="宋体" panose="02010600030101010101" pitchFamily="2" charset="-122"/>
              </a:rPr>
              <a:t>(-∞, a)</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(d , +∞)</a:t>
            </a:r>
            <a:r>
              <a:rPr lang="en-US" sz="2000" b="0">
                <a:latin typeface="Times New Roman" panose="02020603050405020304" charset="0"/>
                <a:ea typeface="宋体" panose="02010600030101010101" pitchFamily="2" charset="-122"/>
                <a:cs typeface="宋体" panose="02010600030101010101" pitchFamily="2" charset="-122"/>
              </a:rPr>
              <a:t>x2</a:t>
            </a:r>
            <a:r>
              <a:rPr lang="zh-CN" sz="2000" b="0">
                <a:ea typeface="宋体" panose="02010600030101010101" pitchFamily="2" charset="-122"/>
              </a:rPr>
              <a:t>的有效等价类： </a:t>
            </a:r>
            <a:r>
              <a:rPr lang="en-US" sz="2000" b="0">
                <a:latin typeface="Times New Roman" panose="02020603050405020304" charset="0"/>
                <a:ea typeface="宋体" panose="02010600030101010101" pitchFamily="2" charset="-122"/>
              </a:rPr>
              <a:t>[e, f)</a:t>
            </a:r>
            <a:r>
              <a:rPr lang="zh-CN" sz="2000" b="0">
                <a:ea typeface="宋体" panose="02010600030101010101" pitchFamily="2" charset="-122"/>
              </a:rPr>
              <a:t>， </a:t>
            </a:r>
            <a:r>
              <a:rPr lang="en-US" sz="2000" b="0">
                <a:latin typeface="Times New Roman" panose="02020603050405020304" charset="0"/>
                <a:ea typeface="宋体" panose="02010600030101010101" pitchFamily="2" charset="-122"/>
              </a:rPr>
              <a:t>[f, g]</a:t>
            </a:r>
            <a:r>
              <a:rPr lang="en-US" sz="2000" b="0">
                <a:latin typeface="Times New Roman" panose="02020603050405020304" charset="0"/>
                <a:ea typeface="宋体" panose="02010600030101010101" pitchFamily="2" charset="-122"/>
                <a:cs typeface="宋体" panose="02010600030101010101" pitchFamily="2" charset="-122"/>
              </a:rPr>
              <a:t>x2</a:t>
            </a:r>
            <a:r>
              <a:rPr lang="zh-CN" sz="2000" b="0">
                <a:ea typeface="宋体" panose="02010600030101010101" pitchFamily="2" charset="-122"/>
              </a:rPr>
              <a:t>的无效等价类</a:t>
            </a:r>
            <a:r>
              <a:rPr lang="zh-CN" sz="2000" b="0">
                <a:latin typeface="Times New Roman" panose="02020603050405020304" charset="0"/>
                <a:ea typeface="宋体" panose="02010600030101010101" pitchFamily="2" charset="-122"/>
              </a:rPr>
              <a:t>：</a:t>
            </a:r>
            <a:r>
              <a:rPr lang="en-US" sz="2000" b="0">
                <a:latin typeface="Times New Roman" panose="02020603050405020304" charset="0"/>
              </a:rPr>
              <a:t> (-∞, e)</a:t>
            </a:r>
            <a:r>
              <a:rPr lang="zh-CN" sz="2000" b="0">
                <a:latin typeface="Times New Roman" panose="02020603050405020304" charset="0"/>
                <a:ea typeface="宋体" panose="02010600030101010101" pitchFamily="2" charset="-122"/>
              </a:rPr>
              <a:t>，</a:t>
            </a:r>
            <a:r>
              <a:rPr lang="en-US" sz="2000" b="0">
                <a:latin typeface="Times New Roman" panose="02020603050405020304" charset="0"/>
              </a:rPr>
              <a:t>(g , +∞)</a:t>
            </a:r>
            <a:endParaRPr lang="zh-CN" altLang="en-US" sz="2000"/>
          </a:p>
        </p:txBody>
      </p:sp>
      <p:pic>
        <p:nvPicPr>
          <p:cNvPr id="33798" name="图片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7383780" y="1781810"/>
            <a:ext cx="4631055" cy="3203575"/>
          </a:xfrm>
          <a:prstGeom prst="rect">
            <a:avLst/>
          </a:prstGeom>
          <a:noFill/>
          <a:ln>
            <a:noFill/>
          </a:ln>
        </p:spPr>
      </p:pic>
      <p:sp>
        <p:nvSpPr>
          <p:cNvPr id="3" name="文本框 2"/>
          <p:cNvSpPr txBox="1"/>
          <p:nvPr/>
        </p:nvSpPr>
        <p:spPr>
          <a:xfrm>
            <a:off x="8674100" y="5141595"/>
            <a:ext cx="3351530" cy="398780"/>
          </a:xfrm>
          <a:prstGeom prst="rect">
            <a:avLst/>
          </a:prstGeom>
          <a:noFill/>
          <a:ln w="9525">
            <a:noFill/>
          </a:ln>
        </p:spPr>
        <p:txBody>
          <a:bodyPr wrap="square">
            <a:spAutoFit/>
          </a:bodyPr>
          <a:p>
            <a:pPr indent="0"/>
            <a:r>
              <a:rPr lang="zh-CN" sz="2000" b="0">
                <a:latin typeface="Times New Roman" panose="02020603050405020304" charset="0"/>
                <a:ea typeface="宋体" panose="02010600030101010101" pitchFamily="2" charset="-122"/>
              </a:rPr>
              <a:t>等价类划分</a:t>
            </a:r>
            <a:endParaRPr lang="zh-CN" altLang="en-US" sz="2000"/>
          </a:p>
        </p:txBody>
      </p:sp>
      <p:sp>
        <p:nvSpPr>
          <p:cNvPr id="4" name="文本框 3"/>
          <p:cNvSpPr txBox="1"/>
          <p:nvPr/>
        </p:nvSpPr>
        <p:spPr>
          <a:xfrm>
            <a:off x="732790" y="4832350"/>
            <a:ext cx="6083300" cy="1014730"/>
          </a:xfrm>
          <a:prstGeom prst="rect">
            <a:avLst/>
          </a:prstGeom>
          <a:noFill/>
          <a:ln w="9525">
            <a:noFill/>
          </a:ln>
        </p:spPr>
        <p:txBody>
          <a:bodyPr wrap="square">
            <a:spAutoFit/>
          </a:bodyPr>
          <a:p>
            <a:pPr indent="0"/>
            <a:r>
              <a:rPr lang="zh-CN" sz="2000" b="0">
                <a:latin typeface="Times New Roman" panose="02020603050405020304" charset="0"/>
                <a:ea typeface="宋体" panose="02010600030101010101" pitchFamily="2" charset="-122"/>
              </a:rPr>
              <a:t>以上划分可以用图表示，其中深色矩形内部为有效输入区，外部为无效输入区。每一个小格子表示一种</a:t>
            </a:r>
            <a:r>
              <a:rPr lang="en-US" sz="2000" b="0">
                <a:latin typeface="Times New Roman" panose="02020603050405020304" charset="0"/>
                <a:ea typeface="宋体" panose="02010600030101010101" pitchFamily="2" charset="-122"/>
              </a:rPr>
              <a:t>x1</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x2</a:t>
            </a:r>
            <a:r>
              <a:rPr lang="zh-CN" sz="2000" b="0">
                <a:latin typeface="Times New Roman" panose="02020603050405020304" charset="0"/>
                <a:ea typeface="宋体" panose="02010600030101010101" pitchFamily="2" charset="-122"/>
              </a:rPr>
              <a:t>的组合情形。</a:t>
            </a:r>
            <a:endParaRPr lang="zh-CN" altLang="en-US" sz="2000"/>
          </a:p>
        </p:txBody>
      </p:sp>
    </p:spTree>
  </p:cSld>
  <p:clrMapOvr>
    <a:masterClrMapping/>
  </p:clrMapOvr>
  <p:transition advTm="6038">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sym typeface="+mn-ea"/>
              </a:rPr>
              <a:t>等价类的分类</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588010" y="1536065"/>
            <a:ext cx="5080000" cy="460375"/>
          </a:xfrm>
          <a:prstGeom prst="rect">
            <a:avLst/>
          </a:prstGeom>
          <a:noFill/>
          <a:ln w="9525">
            <a:noFill/>
          </a:ln>
        </p:spPr>
        <p:txBody>
          <a:bodyPr>
            <a:spAutoFit/>
          </a:bodyPr>
          <a:p>
            <a:pPr indent="295275"/>
            <a:r>
              <a:rPr lang="en-US" sz="2400" b="0">
                <a:latin typeface="Times New Roman" panose="02020603050405020304" charset="0"/>
              </a:rPr>
              <a:t>  </a:t>
            </a:r>
            <a:r>
              <a:rPr lang="zh-CN" sz="2400" b="0">
                <a:latin typeface="Times New Roman" panose="02020603050405020304" charset="0"/>
                <a:ea typeface="宋体" panose="02010600030101010101" pitchFamily="2" charset="-122"/>
              </a:rPr>
              <a:t>弱一般等价类测试</a:t>
            </a:r>
            <a:endParaRPr lang="zh-CN" altLang="en-US" sz="2400"/>
          </a:p>
        </p:txBody>
      </p:sp>
      <p:sp>
        <p:nvSpPr>
          <p:cNvPr id="2" name="等腰三角形 1"/>
          <p:cNvSpPr/>
          <p:nvPr/>
        </p:nvSpPr>
        <p:spPr>
          <a:xfrm>
            <a:off x="687705" y="1642110"/>
            <a:ext cx="301625" cy="24828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34822"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6587490" y="1442720"/>
            <a:ext cx="5193665" cy="3686810"/>
          </a:xfrm>
          <a:prstGeom prst="rect">
            <a:avLst/>
          </a:prstGeom>
          <a:noFill/>
          <a:ln>
            <a:noFill/>
          </a:ln>
        </p:spPr>
      </p:pic>
      <p:sp>
        <p:nvSpPr>
          <p:cNvPr id="3" name="文本框 2"/>
          <p:cNvSpPr txBox="1"/>
          <p:nvPr/>
        </p:nvSpPr>
        <p:spPr>
          <a:xfrm>
            <a:off x="480060" y="2317115"/>
            <a:ext cx="5845175" cy="1938020"/>
          </a:xfrm>
          <a:prstGeom prst="rect">
            <a:avLst/>
          </a:prstGeom>
          <a:noFill/>
          <a:ln w="9525">
            <a:noFill/>
          </a:ln>
        </p:spPr>
        <p:txBody>
          <a:bodyPr wrap="square">
            <a:spAutoFit/>
          </a:bodyPr>
          <a:p>
            <a:pPr indent="0"/>
            <a:r>
              <a:rPr lang="zh-CN" sz="2000" b="0">
                <a:ea typeface="宋体" panose="02010600030101010101" pitchFamily="2" charset="-122"/>
              </a:rPr>
              <a:t>一般：只考虑有效等价类；</a:t>
            </a:r>
            <a:endParaRPr lang="zh-CN" sz="2000" b="0">
              <a:ea typeface="宋体" panose="02010600030101010101" pitchFamily="2" charset="-122"/>
            </a:endParaRPr>
          </a:p>
          <a:p>
            <a:pPr indent="0"/>
            <a:r>
              <a:rPr lang="zh-CN" sz="2000" b="0">
                <a:ea typeface="宋体" panose="02010600030101010101" pitchFamily="2" charset="-122"/>
              </a:rPr>
              <a:t>弱：测试用例只需覆盖两个输入的所有的有效等价类即可。</a:t>
            </a:r>
            <a:endParaRPr lang="zh-CN" sz="2000" b="0">
              <a:ea typeface="宋体" panose="02010600030101010101" pitchFamily="2" charset="-122"/>
            </a:endParaRPr>
          </a:p>
          <a:p>
            <a:pPr indent="0"/>
            <a:r>
              <a:rPr lang="en-US" altLang="zh-CN" sz="2000"/>
              <a:t>	</a:t>
            </a:r>
            <a:r>
              <a:rPr lang="zh-CN" altLang="en-US" sz="2000"/>
              <a:t>如图所示，选取3个（P1，P2，P3）即可，其中P1覆盖了[a, b)，[e, f)，P2覆盖了[b, c)，[f, g]，P3覆盖了[c, d]，[e, f)。</a:t>
            </a:r>
            <a:endParaRPr lang="zh-CN" altLang="en-US" sz="2000"/>
          </a:p>
        </p:txBody>
      </p:sp>
    </p:spTree>
  </p:cSld>
  <p:clrMapOvr>
    <a:masterClrMapping/>
  </p:clrMapOvr>
  <p:transition advTm="6038">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sym typeface="+mn-ea"/>
              </a:rPr>
              <a:t>等价类的分类</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等腰三角形 1"/>
          <p:cNvSpPr/>
          <p:nvPr/>
        </p:nvSpPr>
        <p:spPr>
          <a:xfrm>
            <a:off x="687705" y="1642110"/>
            <a:ext cx="301625" cy="24828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0" name="文本框 99"/>
          <p:cNvSpPr txBox="1"/>
          <p:nvPr/>
        </p:nvSpPr>
        <p:spPr>
          <a:xfrm>
            <a:off x="588010" y="1536065"/>
            <a:ext cx="5080000" cy="460375"/>
          </a:xfrm>
          <a:prstGeom prst="rect">
            <a:avLst/>
          </a:prstGeom>
          <a:noFill/>
          <a:ln w="9525">
            <a:noFill/>
          </a:ln>
        </p:spPr>
        <p:txBody>
          <a:bodyPr>
            <a:spAutoFit/>
          </a:bodyPr>
          <a:p>
            <a:pPr indent="295275"/>
            <a:r>
              <a:rPr lang="en-US" sz="2400" b="0">
                <a:latin typeface="Times New Roman" panose="02020603050405020304" charset="0"/>
              </a:rPr>
              <a:t>  </a:t>
            </a:r>
            <a:r>
              <a:rPr lang="zh-CN" sz="2400" b="0">
                <a:latin typeface="Times New Roman" panose="02020603050405020304" charset="0"/>
                <a:ea typeface="宋体" panose="02010600030101010101" pitchFamily="2" charset="-122"/>
              </a:rPr>
              <a:t>强一般等价类测试</a:t>
            </a:r>
            <a:endParaRPr lang="zh-CN" sz="2400" b="0">
              <a:latin typeface="Times New Roman" panose="02020603050405020304" charset="0"/>
              <a:ea typeface="宋体" panose="02010600030101010101" pitchFamily="2" charset="-122"/>
            </a:endParaRPr>
          </a:p>
        </p:txBody>
      </p:sp>
      <p:sp>
        <p:nvSpPr>
          <p:cNvPr id="3" name="文本框 2"/>
          <p:cNvSpPr txBox="1"/>
          <p:nvPr/>
        </p:nvSpPr>
        <p:spPr>
          <a:xfrm>
            <a:off x="775335" y="1996440"/>
            <a:ext cx="5240655" cy="1938020"/>
          </a:xfrm>
          <a:prstGeom prst="rect">
            <a:avLst/>
          </a:prstGeom>
          <a:noFill/>
          <a:ln w="9525">
            <a:noFill/>
          </a:ln>
        </p:spPr>
        <p:txBody>
          <a:bodyPr wrap="square">
            <a:spAutoFit/>
          </a:bodyPr>
          <a:p>
            <a:pPr indent="0"/>
            <a:r>
              <a:rPr lang="zh-CN" sz="2000" b="0">
                <a:ea typeface="宋体" panose="02010600030101010101" pitchFamily="2" charset="-122"/>
              </a:rPr>
              <a:t>一般：只考虑有效等价类；</a:t>
            </a:r>
            <a:endParaRPr lang="zh-CN" sz="2000" b="0">
              <a:ea typeface="宋体" panose="02010600030101010101" pitchFamily="2" charset="-122"/>
            </a:endParaRPr>
          </a:p>
          <a:p>
            <a:pPr indent="0"/>
            <a:r>
              <a:rPr lang="zh-CN" sz="2000" b="0">
                <a:ea typeface="宋体" panose="02010600030101010101" pitchFamily="2" charset="-122"/>
              </a:rPr>
              <a:t>强：测试用例需覆盖两个输入的所有有效等价类的可能组合。</a:t>
            </a:r>
            <a:endParaRPr lang="zh-CN" sz="2000" b="0">
              <a:ea typeface="宋体" panose="02010600030101010101" pitchFamily="2" charset="-122"/>
            </a:endParaRPr>
          </a:p>
          <a:p>
            <a:pPr indent="0"/>
            <a:r>
              <a:rPr lang="en-US" altLang="zh-CN" sz="2000">
                <a:sym typeface="+mn-ea"/>
              </a:rPr>
              <a:t>	</a:t>
            </a:r>
            <a:r>
              <a:rPr lang="zh-CN" altLang="en-US" sz="2000">
                <a:sym typeface="+mn-ea"/>
              </a:rPr>
              <a:t>如图所示，</a:t>
            </a:r>
            <a:r>
              <a:rPr lang="zh-CN" altLang="en-US" sz="2000"/>
              <a:t>x1有3个有效等价类，x2有2个有效等价类，因此最少需要6个测试用例才可以满足强一般等价类测试的要求。</a:t>
            </a:r>
            <a:endParaRPr lang="zh-CN" altLang="en-US" sz="2000"/>
          </a:p>
        </p:txBody>
      </p:sp>
      <p:pic>
        <p:nvPicPr>
          <p:cNvPr id="35846" name="Picture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6015990" y="1536065"/>
            <a:ext cx="5963920" cy="4062730"/>
          </a:xfrm>
          <a:prstGeom prst="rect">
            <a:avLst/>
          </a:prstGeom>
          <a:noFill/>
          <a:ln>
            <a:noFill/>
          </a:ln>
        </p:spPr>
      </p:pic>
    </p:spTree>
  </p:cSld>
  <p:clrMapOvr>
    <a:masterClrMapping/>
  </p:clrMapOvr>
  <p:transition advTm="6038">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sym typeface="+mn-ea"/>
              </a:rPr>
              <a:t>等价类的分类</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588010" y="1536065"/>
            <a:ext cx="5080000" cy="460375"/>
          </a:xfrm>
          <a:prstGeom prst="rect">
            <a:avLst/>
          </a:prstGeom>
          <a:noFill/>
          <a:ln w="9525">
            <a:noFill/>
          </a:ln>
        </p:spPr>
        <p:txBody>
          <a:bodyPr>
            <a:spAutoFit/>
          </a:bodyPr>
          <a:p>
            <a:pPr indent="295275"/>
            <a:r>
              <a:rPr lang="en-US" sz="2400" b="0">
                <a:latin typeface="Times New Roman" panose="02020603050405020304" charset="0"/>
              </a:rPr>
              <a:t>  </a:t>
            </a:r>
            <a:r>
              <a:rPr lang="zh-CN" sz="2400" b="0">
                <a:latin typeface="Times New Roman" panose="02020603050405020304" charset="0"/>
                <a:ea typeface="宋体" panose="02010600030101010101" pitchFamily="2" charset="-122"/>
              </a:rPr>
              <a:t>弱健壮等价类测试</a:t>
            </a:r>
            <a:endParaRPr lang="zh-CN" sz="2400" b="0">
              <a:latin typeface="Times New Roman" panose="02020603050405020304" charset="0"/>
              <a:ea typeface="宋体" panose="02010600030101010101" pitchFamily="2" charset="-122"/>
            </a:endParaRPr>
          </a:p>
        </p:txBody>
      </p:sp>
      <p:sp>
        <p:nvSpPr>
          <p:cNvPr id="2" name="等腰三角形 1"/>
          <p:cNvSpPr/>
          <p:nvPr/>
        </p:nvSpPr>
        <p:spPr>
          <a:xfrm>
            <a:off x="687705" y="1642110"/>
            <a:ext cx="301625" cy="248285"/>
          </a:xfrm>
          <a:prstGeom prst="triangle">
            <a:avLst/>
          </a:prstGeom>
        </p:spPr>
        <p:style>
          <a:lnRef idx="1">
            <a:schemeClr val="accent5"/>
          </a:lnRef>
          <a:fillRef idx="2">
            <a:schemeClr val="accent5"/>
          </a:fillRef>
          <a:effectRef idx="1">
            <a:schemeClr val="accent5"/>
          </a:effectRef>
          <a:fontRef idx="minor">
            <a:schemeClr val="dk1"/>
          </a:fontRef>
        </p:style>
        <p:txBody>
          <a:bodyPr rtlCol="0" anchor="ctr"/>
          <a:p>
            <a:pPr algn="ctr"/>
            <a:endParaRPr lang="zh-CN" altLang="en-US"/>
          </a:p>
        </p:txBody>
      </p:sp>
      <p:sp>
        <p:nvSpPr>
          <p:cNvPr id="3" name="文本框 2"/>
          <p:cNvSpPr txBox="1"/>
          <p:nvPr/>
        </p:nvSpPr>
        <p:spPr>
          <a:xfrm>
            <a:off x="588010" y="2155190"/>
            <a:ext cx="5772150" cy="1938020"/>
          </a:xfrm>
          <a:prstGeom prst="rect">
            <a:avLst/>
          </a:prstGeom>
          <a:noFill/>
          <a:ln w="9525">
            <a:noFill/>
          </a:ln>
        </p:spPr>
        <p:txBody>
          <a:bodyPr wrap="square">
            <a:spAutoFit/>
          </a:bodyPr>
          <a:p>
            <a:pPr indent="0"/>
            <a:r>
              <a:rPr lang="zh-CN" sz="2000" b="0">
                <a:ea typeface="宋体" panose="02010600030101010101" pitchFamily="2" charset="-122"/>
              </a:rPr>
              <a:t>健壮</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不仅考虑有效等价类还要考虑无效等价类；</a:t>
            </a:r>
            <a:endParaRPr lang="zh-CN" sz="2000" b="0">
              <a:ea typeface="宋体" panose="02010600030101010101" pitchFamily="2" charset="-122"/>
            </a:endParaRPr>
          </a:p>
          <a:p>
            <a:pPr indent="0"/>
            <a:r>
              <a:rPr lang="zh-CN" sz="2000" b="0">
                <a:ea typeface="宋体" panose="02010600030101010101" pitchFamily="2" charset="-122"/>
              </a:rPr>
              <a:t>弱</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测试用例只需覆盖两个输入的所有等价类即可，无需考虑它们之间的组合情况。</a:t>
            </a:r>
            <a:endParaRPr lang="zh-CN" sz="2000" b="0">
              <a:ea typeface="宋体" panose="02010600030101010101" pitchFamily="2" charset="-122"/>
            </a:endParaRPr>
          </a:p>
          <a:p>
            <a:pPr indent="0"/>
            <a:r>
              <a:rPr lang="en-US" altLang="zh-CN" sz="2000">
                <a:sym typeface="+mn-ea"/>
              </a:rPr>
              <a:t>	</a:t>
            </a:r>
            <a:r>
              <a:rPr lang="zh-CN" altLang="en-US" sz="2000">
                <a:sym typeface="+mn-ea"/>
              </a:rPr>
              <a:t>如图所示，</a:t>
            </a:r>
            <a:r>
              <a:rPr lang="zh-CN" altLang="en-US" sz="2000"/>
              <a:t>在弱一般等价类测试用例的基础上，增加4个针对无效等价类的测试用例，方能满足弱健壮等价类测试的要求。</a:t>
            </a:r>
            <a:endParaRPr lang="zh-CN" altLang="en-US" sz="2000"/>
          </a:p>
        </p:txBody>
      </p:sp>
      <p:pic>
        <p:nvPicPr>
          <p:cNvPr id="36870"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6473825" y="1823720"/>
            <a:ext cx="5622290" cy="4010660"/>
          </a:xfrm>
          <a:prstGeom prst="rect">
            <a:avLst/>
          </a:prstGeom>
          <a:noFill/>
          <a:ln>
            <a:noFill/>
          </a:ln>
        </p:spPr>
      </p:pic>
      <p:sp>
        <p:nvSpPr>
          <p:cNvPr id="4" name="云形标注 3"/>
          <p:cNvSpPr/>
          <p:nvPr/>
        </p:nvSpPr>
        <p:spPr>
          <a:xfrm>
            <a:off x="526415" y="5234305"/>
            <a:ext cx="3923665" cy="1121410"/>
          </a:xfrm>
          <a:prstGeom prst="cloudCallou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zh-CN" altLang="en-US"/>
              <a:t>注意，在编写测试用例时，一个测试用例只能覆盖一个无效等价类。</a:t>
            </a:r>
            <a:endParaRPr lang="zh-CN" altLang="en-US"/>
          </a:p>
        </p:txBody>
      </p:sp>
    </p:spTree>
  </p:cSld>
  <p:clrMapOvr>
    <a:masterClrMapping/>
  </p:clrMapOvr>
  <p:transition advTm="6038">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sym typeface="+mn-ea"/>
              </a:rPr>
              <a:t>等价类的分类</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等腰三角形 1"/>
          <p:cNvSpPr/>
          <p:nvPr/>
        </p:nvSpPr>
        <p:spPr>
          <a:xfrm>
            <a:off x="687705" y="1642110"/>
            <a:ext cx="301625" cy="248285"/>
          </a:xfrm>
          <a:prstGeom prst="triangle">
            <a:avLst/>
          </a:prstGeom>
        </p:spPr>
        <p:style>
          <a:lnRef idx="1">
            <a:schemeClr val="accent5"/>
          </a:lnRef>
          <a:fillRef idx="2">
            <a:schemeClr val="accent5"/>
          </a:fillRef>
          <a:effectRef idx="1">
            <a:schemeClr val="accent5"/>
          </a:effectRef>
          <a:fontRef idx="minor">
            <a:schemeClr val="dk1"/>
          </a:fontRef>
        </p:style>
        <p:txBody>
          <a:bodyPr rtlCol="0" anchor="ctr"/>
          <a:p>
            <a:pPr algn="ctr"/>
            <a:endParaRPr lang="zh-CN" altLang="en-US"/>
          </a:p>
        </p:txBody>
      </p:sp>
      <p:sp>
        <p:nvSpPr>
          <p:cNvPr id="100" name="文本框 99"/>
          <p:cNvSpPr txBox="1"/>
          <p:nvPr/>
        </p:nvSpPr>
        <p:spPr>
          <a:xfrm>
            <a:off x="588010" y="1536065"/>
            <a:ext cx="5080000" cy="460375"/>
          </a:xfrm>
          <a:prstGeom prst="rect">
            <a:avLst/>
          </a:prstGeom>
          <a:noFill/>
          <a:ln w="9525">
            <a:noFill/>
          </a:ln>
        </p:spPr>
        <p:txBody>
          <a:bodyPr>
            <a:spAutoFit/>
          </a:bodyPr>
          <a:p>
            <a:pPr indent="295275"/>
            <a:r>
              <a:rPr lang="en-US" sz="2400" b="0">
                <a:latin typeface="Times New Roman" panose="02020603050405020304" charset="0"/>
              </a:rPr>
              <a:t>  </a:t>
            </a:r>
            <a:r>
              <a:rPr lang="zh-CN" sz="2400" b="0">
                <a:latin typeface="Times New Roman" panose="02020603050405020304" charset="0"/>
                <a:ea typeface="宋体" panose="02010600030101010101" pitchFamily="2" charset="-122"/>
              </a:rPr>
              <a:t>强健壮等价类测试</a:t>
            </a:r>
            <a:endParaRPr lang="zh-CN" sz="2400" b="0">
              <a:latin typeface="Times New Roman" panose="02020603050405020304" charset="0"/>
              <a:ea typeface="宋体" panose="02010600030101010101" pitchFamily="2" charset="-122"/>
            </a:endParaRPr>
          </a:p>
        </p:txBody>
      </p:sp>
      <p:pic>
        <p:nvPicPr>
          <p:cNvPr id="38918"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6727190" y="1649730"/>
            <a:ext cx="5255895" cy="3559175"/>
          </a:xfrm>
          <a:prstGeom prst="rect">
            <a:avLst/>
          </a:prstGeom>
          <a:noFill/>
          <a:ln>
            <a:noFill/>
          </a:ln>
        </p:spPr>
      </p:pic>
      <p:sp>
        <p:nvSpPr>
          <p:cNvPr id="3" name="文本框 2"/>
          <p:cNvSpPr txBox="1"/>
          <p:nvPr/>
        </p:nvSpPr>
        <p:spPr>
          <a:xfrm>
            <a:off x="687705" y="2187575"/>
            <a:ext cx="6039485" cy="1938020"/>
          </a:xfrm>
          <a:prstGeom prst="rect">
            <a:avLst/>
          </a:prstGeom>
          <a:noFill/>
          <a:ln w="9525">
            <a:noFill/>
          </a:ln>
        </p:spPr>
        <p:txBody>
          <a:bodyPr wrap="square">
            <a:spAutoFit/>
          </a:bodyPr>
          <a:p>
            <a:pPr indent="0"/>
            <a:r>
              <a:rPr lang="zh-CN" sz="2000" b="0">
                <a:ea typeface="宋体" panose="02010600030101010101" pitchFamily="2" charset="-122"/>
              </a:rPr>
              <a:t>健壮</a:t>
            </a:r>
            <a:r>
              <a:rPr lang="en-US" sz="2000" b="0">
                <a:latin typeface="Times New Roman" panose="02020603050405020304" charset="0"/>
                <a:ea typeface="宋体" panose="02010600030101010101" pitchFamily="2" charset="-122"/>
              </a:rPr>
              <a:t>:</a:t>
            </a:r>
            <a:r>
              <a:rPr lang="zh-CN" sz="2000" b="0">
                <a:ea typeface="宋体" panose="02010600030101010101" pitchFamily="2" charset="-122"/>
              </a:rPr>
              <a:t>不仅考虑有效等价类还要考虑无效等价类</a:t>
            </a:r>
            <a:r>
              <a:rPr lang="en-US" sz="2000" b="0">
                <a:ea typeface="宋体" panose="02010600030101010101" pitchFamily="2" charset="-122"/>
              </a:rPr>
              <a:t>;</a:t>
            </a:r>
            <a:endParaRPr lang="en-US" sz="2000" b="0">
              <a:ea typeface="宋体" panose="02010600030101010101" pitchFamily="2" charset="-122"/>
            </a:endParaRPr>
          </a:p>
          <a:p>
            <a:pPr indent="0"/>
            <a:r>
              <a:rPr lang="zh-CN" sz="2000" b="0">
                <a:ea typeface="宋体" panose="02010600030101010101" pitchFamily="2" charset="-122"/>
              </a:rPr>
              <a:t>强</a:t>
            </a:r>
            <a:r>
              <a:rPr lang="en-US" sz="2000" b="0">
                <a:latin typeface="Times New Roman" panose="02020603050405020304" charset="0"/>
                <a:ea typeface="宋体" panose="02010600030101010101" pitchFamily="2" charset="-122"/>
              </a:rPr>
              <a:t>:</a:t>
            </a:r>
            <a:r>
              <a:rPr lang="zh-CN" sz="2000" b="0">
                <a:ea typeface="宋体" panose="02010600030101010101" pitchFamily="2" charset="-122"/>
              </a:rPr>
              <a:t>测试用例需覆盖两个输入的所有等价类的可能组合。</a:t>
            </a:r>
            <a:endParaRPr lang="zh-CN" sz="2000" b="0">
              <a:ea typeface="宋体" panose="02010600030101010101" pitchFamily="2" charset="-122"/>
            </a:endParaRPr>
          </a:p>
          <a:p>
            <a:pPr indent="0"/>
            <a:r>
              <a:rPr lang="en-US" altLang="zh-CN" sz="2000">
                <a:sym typeface="+mn-ea"/>
              </a:rPr>
              <a:t>	</a:t>
            </a:r>
            <a:r>
              <a:rPr lang="zh-CN" altLang="en-US" sz="2000">
                <a:sym typeface="+mn-ea"/>
              </a:rPr>
              <a:t>如图所示</a:t>
            </a:r>
            <a:r>
              <a:rPr lang="en-US" altLang="zh-CN" sz="2000">
                <a:sym typeface="+mn-ea"/>
              </a:rPr>
              <a:t>,</a:t>
            </a:r>
            <a:r>
              <a:rPr lang="zh-CN" altLang="en-US" sz="2000"/>
              <a:t>x1有5个有效等价类，x2有4个有效等价类，因此最少需要20个测试用例可以满足强健壮等价类测试的要求。</a:t>
            </a:r>
            <a:endParaRPr lang="zh-CN" altLang="en-US" sz="2000"/>
          </a:p>
        </p:txBody>
      </p:sp>
    </p:spTree>
  </p:cSld>
  <p:clrMapOvr>
    <a:masterClrMapping/>
  </p:clrMapOvr>
  <p:transition advTm="6038">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902" y="1593655"/>
            <a:ext cx="2812747" cy="2101740"/>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2771140" y="2883535"/>
            <a:ext cx="8639810" cy="829945"/>
          </a:xfrm>
          <a:prstGeom prst="rect">
            <a:avLst/>
          </a:prstGeom>
          <a:noFill/>
        </p:spPr>
        <p:txBody>
          <a:bodyPr wrap="squar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等价类设计测试用例的步骤</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747" y="2655849"/>
            <a:ext cx="2069408" cy="1546303"/>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6508" y="2327919"/>
            <a:ext cx="3458403" cy="2584187"/>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7928" y="2883669"/>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03</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280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561975" y="43180"/>
            <a:ext cx="3639185"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等价类设计测试用例的步骤</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2122805" y="1885950"/>
            <a:ext cx="7946390" cy="2953385"/>
          </a:xfrm>
          <a:prstGeom prst="rect">
            <a:avLst/>
          </a:prstGeom>
          <a:noFill/>
          <a:ln w="9525">
            <a:noFill/>
          </a:ln>
        </p:spPr>
        <p:txBody>
          <a:bodyPr wrap="square">
            <a:spAutoFit/>
          </a:bodyPr>
          <a:p>
            <a:pPr indent="295275" fontAlgn="auto">
              <a:lnSpc>
                <a:spcPct val="150000"/>
              </a:lnSpc>
            </a:pPr>
            <a:r>
              <a:rPr lang="zh-CN" sz="2400" b="0">
                <a:latin typeface="Times New Roman" panose="02020603050405020304" charset="0"/>
                <a:ea typeface="宋体" panose="02010600030101010101" pitchFamily="2" charset="-122"/>
              </a:rPr>
              <a:t>按以下步骤确定测试用例：</a:t>
            </a:r>
            <a:r>
              <a:rPr lang="en-US" sz="2000" b="0">
                <a:latin typeface="Times New Roman" panose="02020603050405020304" charset="0"/>
              </a:rPr>
              <a:t>1.</a:t>
            </a:r>
            <a:r>
              <a:rPr lang="en-US" sz="2000" b="0">
                <a:latin typeface="Times New Roman" panose="02020603050405020304" charset="0"/>
                <a:ea typeface="宋体" panose="02010600030101010101" pitchFamily="2" charset="-122"/>
                <a:cs typeface="宋体" panose="02010600030101010101" pitchFamily="2" charset="-122"/>
              </a:rPr>
              <a:t> </a:t>
            </a:r>
            <a:r>
              <a:rPr lang="zh-CN" sz="2000" b="0">
                <a:latin typeface="Times New Roman" panose="02020603050405020304" charset="0"/>
                <a:ea typeface="宋体" panose="02010600030101010101" pitchFamily="2" charset="-122"/>
              </a:rPr>
              <a:t>划分等价类，形成等价类，为每一个等价类规定一个唯一的编号。</a:t>
            </a:r>
            <a:r>
              <a:rPr lang="en-US" sz="2000" b="0">
                <a:latin typeface="Times New Roman" panose="02020603050405020304" charset="0"/>
              </a:rPr>
              <a:t>2.</a:t>
            </a:r>
            <a:r>
              <a:rPr lang="en-US" sz="2000" b="0">
                <a:latin typeface="Times New Roman" panose="02020603050405020304" charset="0"/>
                <a:ea typeface="宋体" panose="02010600030101010101" pitchFamily="2" charset="-122"/>
                <a:cs typeface="宋体" panose="02010600030101010101" pitchFamily="2" charset="-122"/>
              </a:rPr>
              <a:t> </a:t>
            </a:r>
            <a:r>
              <a:rPr lang="zh-CN" sz="2000" b="0">
                <a:latin typeface="Times New Roman" panose="02020603050405020304" charset="0"/>
                <a:ea typeface="宋体" panose="02010600030101010101" pitchFamily="2" charset="-122"/>
              </a:rPr>
              <a:t>设计一个新的测试用例，使它能够尽量覆盖尚未覆盖的有效等价类。重复这个步骤，直到所有的有效等价类均被测试用例所覆盖。</a:t>
            </a:r>
            <a:r>
              <a:rPr lang="en-US" sz="2000" b="0">
                <a:latin typeface="Times New Roman" panose="02020603050405020304" charset="0"/>
              </a:rPr>
              <a:t>3.</a:t>
            </a:r>
            <a:r>
              <a:rPr lang="en-US" sz="2000" b="0">
                <a:latin typeface="Times New Roman" panose="02020603050405020304" charset="0"/>
                <a:ea typeface="宋体" panose="02010600030101010101" pitchFamily="2" charset="-122"/>
                <a:cs typeface="宋体" panose="02010600030101010101" pitchFamily="2" charset="-122"/>
              </a:rPr>
              <a:t> </a:t>
            </a:r>
            <a:r>
              <a:rPr lang="zh-CN" sz="2000" b="0">
                <a:latin typeface="Times New Roman" panose="02020603050405020304" charset="0"/>
                <a:ea typeface="宋体" panose="02010600030101010101" pitchFamily="2" charset="-122"/>
              </a:rPr>
              <a:t>设计一个新的测试用例，使它仅覆盖一个尚未覆盖的无效等价类。重复这一步骤，直到所有的无效等价类均被测试用例所覆盖。</a:t>
            </a:r>
            <a:endParaRPr lang="zh-CN" altLang="en-US" sz="2000"/>
          </a:p>
        </p:txBody>
      </p:sp>
    </p:spTree>
  </p:cSld>
  <p:clrMapOvr>
    <a:masterClrMapping/>
  </p:clrMapOvr>
  <p:transition advTm="6038">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800" y="56515"/>
            <a:ext cx="3412490"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sym typeface="+mn-ea"/>
              </a:rPr>
              <a:t>等价类设计测试用例的步骤</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680845" y="856615"/>
            <a:ext cx="5241290" cy="1630045"/>
          </a:xfrm>
          <a:prstGeom prst="rect">
            <a:avLst/>
          </a:prstGeom>
          <a:noFill/>
          <a:ln w="9525">
            <a:noFill/>
          </a:ln>
        </p:spPr>
        <p:txBody>
          <a:bodyPr wrap="square">
            <a:spAutoFit/>
          </a:bodyPr>
          <a:p>
            <a:pPr indent="0"/>
            <a:r>
              <a:rPr lang="zh-CN" sz="2000" b="0">
                <a:latin typeface="Times New Roman" panose="02020603050405020304" charset="0"/>
                <a:ea typeface="宋体" panose="02010600030101010101" pitchFamily="2" charset="-122"/>
              </a:rPr>
              <a:t>为什么每次只覆盖一个无效等价类？</a:t>
            </a:r>
            <a:endParaRPr lang="zh-CN" sz="2000" b="0">
              <a:latin typeface="Times New Roman" panose="02020603050405020304" charset="0"/>
              <a:ea typeface="宋体" panose="02010600030101010101" pitchFamily="2" charset="-122"/>
            </a:endParaRPr>
          </a:p>
          <a:p>
            <a:pPr indent="0"/>
            <a:r>
              <a:rPr lang="en-US" altLang="zh-CN" sz="2000"/>
              <a:t>1</a:t>
            </a:r>
            <a:r>
              <a:rPr lang="zh-CN" altLang="en-US" sz="2000"/>
              <a:t>、若用一个测试用例检测多个无效等价类，那么某些无效等价类可能永远不会被检测到，</a:t>
            </a:r>
            <a:r>
              <a:rPr lang="en-US" altLang="zh-CN" sz="2000"/>
              <a:t>2</a:t>
            </a:r>
            <a:r>
              <a:rPr lang="zh-CN" altLang="en-US" sz="2000"/>
              <a:t>、第一个无效等价类的测试可能会屏蔽或终止其他无效等价类的测试执行。</a:t>
            </a:r>
            <a:endParaRPr lang="zh-CN" altLang="en-US" sz="2000"/>
          </a:p>
        </p:txBody>
      </p:sp>
      <p:sp>
        <p:nvSpPr>
          <p:cNvPr id="2" name="文本框 1"/>
          <p:cNvSpPr txBox="1"/>
          <p:nvPr/>
        </p:nvSpPr>
        <p:spPr>
          <a:xfrm>
            <a:off x="1761490" y="2946717"/>
            <a:ext cx="5080000" cy="1322070"/>
          </a:xfrm>
          <a:prstGeom prst="rect">
            <a:avLst/>
          </a:prstGeom>
          <a:noFill/>
          <a:ln w="9525">
            <a:noFill/>
          </a:ln>
        </p:spPr>
        <p:txBody>
          <a:bodyPr>
            <a:spAutoFit/>
          </a:bodyPr>
          <a:p>
            <a:pPr indent="295275"/>
            <a:r>
              <a:rPr lang="zh-CN" sz="2000" b="0">
                <a:latin typeface="Times New Roman" panose="02020603050405020304" charset="0"/>
                <a:ea typeface="宋体" panose="02010600030101010101" pitchFamily="2" charset="-122"/>
              </a:rPr>
              <a:t>例如，软件规格说明规定“每类科技参考书</a:t>
            </a:r>
            <a:r>
              <a:rPr lang="en-US" sz="2000" b="0">
                <a:latin typeface="Times New Roman" panose="02020603050405020304" charset="0"/>
              </a:rPr>
              <a:t>50~100</a:t>
            </a:r>
            <a:r>
              <a:rPr lang="zh-CN" sz="2000" b="0">
                <a:latin typeface="Times New Roman" panose="02020603050405020304" charset="0"/>
                <a:ea typeface="宋体" panose="02010600030101010101" pitchFamily="2" charset="-122"/>
              </a:rPr>
              <a:t>册”，若一个测试用例为“文艺书籍</a:t>
            </a:r>
            <a:r>
              <a:rPr lang="en-US" sz="2000" b="0">
                <a:latin typeface="Times New Roman" panose="02020603050405020304" charset="0"/>
              </a:rPr>
              <a:t>10</a:t>
            </a:r>
            <a:r>
              <a:rPr lang="zh-CN" sz="2000" b="0">
                <a:latin typeface="Times New Roman" panose="02020603050405020304" charset="0"/>
                <a:ea typeface="宋体" panose="02010600030101010101" pitchFamily="2" charset="-122"/>
              </a:rPr>
              <a:t>册”，在测试中，很可能检测出书的类型错误，而忽视了书的册数错误。</a:t>
            </a:r>
            <a:endParaRPr lang="zh-CN" altLang="en-US" sz="2000"/>
          </a:p>
        </p:txBody>
      </p:sp>
      <p:sp>
        <p:nvSpPr>
          <p:cNvPr id="3" name="波形 2"/>
          <p:cNvSpPr/>
          <p:nvPr/>
        </p:nvSpPr>
        <p:spPr>
          <a:xfrm>
            <a:off x="6530340" y="4436110"/>
            <a:ext cx="5163820" cy="2080260"/>
          </a:xfrm>
          <a:prstGeom prst="wave">
            <a:avLst/>
          </a:prstGeom>
        </p:spPr>
        <p:style>
          <a:lnRef idx="1">
            <a:schemeClr val="accent2"/>
          </a:lnRef>
          <a:fillRef idx="2">
            <a:schemeClr val="accent2"/>
          </a:fillRef>
          <a:effectRef idx="1">
            <a:schemeClr val="accent2"/>
          </a:effectRef>
          <a:fontRef idx="minor">
            <a:schemeClr val="dk1"/>
          </a:fontRef>
        </p:style>
        <p:txBody>
          <a:bodyPr rtlCol="0" anchor="ctr"/>
          <a:p>
            <a:pPr algn="ctr"/>
            <a:r>
              <a:rPr lang="zh-CN" altLang="en-US"/>
              <a:t>注意：预期结果也是测试用例的一个必要组成部分，对采取无效输入的测试也是如此。</a:t>
            </a:r>
            <a:endParaRPr lang="zh-CN" altLang="en-US"/>
          </a:p>
        </p:txBody>
      </p:sp>
    </p:spTree>
  </p:cSld>
  <p:clrMapOvr>
    <a:masterClrMapping/>
  </p:clrMapOvr>
  <p:transition advTm="6038">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等腰三角形 22"/>
          <p:cNvSpPr/>
          <p:nvPr/>
        </p:nvSpPr>
        <p:spPr>
          <a:xfrm rot="5400000">
            <a:off x="-354902" y="1593655"/>
            <a:ext cx="2812747" cy="2101740"/>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 name="文本框 4"/>
          <p:cNvSpPr txBox="1"/>
          <p:nvPr/>
        </p:nvSpPr>
        <p:spPr>
          <a:xfrm>
            <a:off x="3188335" y="2812415"/>
            <a:ext cx="7588885" cy="829945"/>
          </a:xfrm>
          <a:prstGeom prst="rect">
            <a:avLst/>
          </a:prstGeom>
          <a:noFill/>
        </p:spPr>
        <p:txBody>
          <a:bodyPr wrap="squar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等价类设计测试用例举例</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等腰三角形 21"/>
          <p:cNvSpPr/>
          <p:nvPr/>
        </p:nvSpPr>
        <p:spPr>
          <a:xfrm rot="16200000" flipH="1">
            <a:off x="10384747" y="2655849"/>
            <a:ext cx="2069408" cy="1546303"/>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1" name="等腰三角形 20"/>
          <p:cNvSpPr/>
          <p:nvPr/>
        </p:nvSpPr>
        <p:spPr>
          <a:xfrm rot="5400000">
            <a:off x="-436508" y="2327919"/>
            <a:ext cx="3458403" cy="2584187"/>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文本框 3"/>
          <p:cNvSpPr txBox="1"/>
          <p:nvPr/>
        </p:nvSpPr>
        <p:spPr>
          <a:xfrm>
            <a:off x="47928" y="2883669"/>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04</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177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Effect transition="in" filter="fade">
                                      <p:cBhvr>
                                        <p:cTn id="14" dur="500"/>
                                        <p:tgtEl>
                                          <p:spTgt spid="2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fltVal val="0"/>
                                          </p:val>
                                        </p:tav>
                                        <p:tav tm="100000">
                                          <p:val>
                                            <p:strVal val="#ppt_w"/>
                                          </p:val>
                                        </p:tav>
                                      </p:tavLst>
                                    </p:anim>
                                    <p:anim calcmode="lin" valueType="num">
                                      <p:cBhvr>
                                        <p:cTn id="23" dur="500" fill="hold"/>
                                        <p:tgtEl>
                                          <p:spTgt spid="4"/>
                                        </p:tgtEl>
                                        <p:attrNameLst>
                                          <p:attrName>ppt_h</p:attrName>
                                        </p:attrNameLst>
                                      </p:cBhvr>
                                      <p:tavLst>
                                        <p:tav tm="0">
                                          <p:val>
                                            <p:fltVal val="0"/>
                                          </p:val>
                                        </p:tav>
                                        <p:tav tm="100000">
                                          <p:val>
                                            <p:strVal val="#ppt_h"/>
                                          </p:val>
                                        </p:tav>
                                      </p:tavLst>
                                    </p:anim>
                                    <p:animEffect transition="in" filter="fade">
                                      <p:cBhvr>
                                        <p:cTn id="24" dur="500"/>
                                        <p:tgtEl>
                                          <p:spTgt spid="4"/>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0-#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5" grpId="0"/>
      <p:bldP spid="22" grpId="0" bldLvl="0" animBg="1"/>
      <p:bldP spid="21" grpId="0" bldLvl="0" animBg="1"/>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等价类设计测试用例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流程图: 文档 1"/>
          <p:cNvSpPr/>
          <p:nvPr/>
        </p:nvSpPr>
        <p:spPr>
          <a:xfrm>
            <a:off x="849630" y="793115"/>
            <a:ext cx="7190105" cy="1401445"/>
          </a:xfrm>
          <a:prstGeom prst="flowChartDocument">
            <a:avLst/>
          </a:prstGeom>
        </p:spPr>
        <p:style>
          <a:lnRef idx="2">
            <a:schemeClr val="accent5"/>
          </a:lnRef>
          <a:fillRef idx="1">
            <a:schemeClr val="lt1"/>
          </a:fillRef>
          <a:effectRef idx="0">
            <a:schemeClr val="accent5"/>
          </a:effectRef>
          <a:fontRef idx="minor">
            <a:schemeClr val="dk1"/>
          </a:fontRef>
        </p:style>
        <p:txBody>
          <a:bodyPr rtlCol="0" anchor="ctr"/>
          <a:p>
            <a:pPr algn="ctr"/>
            <a:r>
              <a:rPr lang="en-US" altLang="zh-CN">
                <a:latin typeface="Times New Roman" panose="02020603050405020304" charset="0"/>
                <a:ea typeface="宋体" panose="02010600030101010101" pitchFamily="2" charset="-122"/>
                <a:sym typeface="+mn-ea"/>
              </a:rPr>
              <a:t>	</a:t>
            </a:r>
            <a:r>
              <a:rPr lang="zh-CN">
                <a:latin typeface="Times New Roman" panose="02020603050405020304" charset="0"/>
                <a:ea typeface="宋体" panose="02010600030101010101" pitchFamily="2" charset="-122"/>
                <a:sym typeface="+mn-ea"/>
              </a:rPr>
              <a:t>设有一个档案管理系统，要求用户输入以年月表示的日期。假设日期限定在</a:t>
            </a:r>
            <a:r>
              <a:rPr lang="en-US">
                <a:latin typeface="Times New Roman" panose="02020603050405020304" charset="0"/>
                <a:sym typeface="+mn-ea"/>
              </a:rPr>
              <a:t>1990</a:t>
            </a:r>
            <a:r>
              <a:rPr lang="zh-CN">
                <a:latin typeface="Times New Roman" panose="02020603050405020304" charset="0"/>
                <a:ea typeface="宋体" panose="02010600030101010101" pitchFamily="2" charset="-122"/>
                <a:sym typeface="+mn-ea"/>
              </a:rPr>
              <a:t>年</a:t>
            </a:r>
            <a:r>
              <a:rPr lang="en-US">
                <a:latin typeface="Times New Roman" panose="02020603050405020304" charset="0"/>
                <a:sym typeface="+mn-ea"/>
              </a:rPr>
              <a:t>1</a:t>
            </a:r>
            <a:r>
              <a:rPr lang="zh-CN">
                <a:latin typeface="Times New Roman" panose="02020603050405020304" charset="0"/>
                <a:ea typeface="宋体" panose="02010600030101010101" pitchFamily="2" charset="-122"/>
                <a:sym typeface="+mn-ea"/>
              </a:rPr>
              <a:t>月</a:t>
            </a:r>
            <a:r>
              <a:rPr lang="en-US">
                <a:latin typeface="Times New Roman" panose="02020603050405020304" charset="0"/>
                <a:sym typeface="+mn-ea"/>
              </a:rPr>
              <a:t>~2049</a:t>
            </a:r>
            <a:r>
              <a:rPr lang="zh-CN">
                <a:latin typeface="Times New Roman" panose="02020603050405020304" charset="0"/>
                <a:ea typeface="宋体" panose="02010600030101010101" pitchFamily="2" charset="-122"/>
                <a:sym typeface="+mn-ea"/>
              </a:rPr>
              <a:t>年</a:t>
            </a:r>
            <a:r>
              <a:rPr lang="en-US">
                <a:latin typeface="Times New Roman" panose="02020603050405020304" charset="0"/>
                <a:sym typeface="+mn-ea"/>
              </a:rPr>
              <a:t>12</a:t>
            </a:r>
            <a:r>
              <a:rPr lang="zh-CN">
                <a:latin typeface="Times New Roman" panose="02020603050405020304" charset="0"/>
                <a:ea typeface="宋体" panose="02010600030101010101" pitchFamily="2" charset="-122"/>
                <a:sym typeface="+mn-ea"/>
              </a:rPr>
              <a:t>月，并规定日期由</a:t>
            </a:r>
            <a:r>
              <a:rPr lang="en-US">
                <a:latin typeface="Times New Roman" panose="02020603050405020304" charset="0"/>
                <a:sym typeface="+mn-ea"/>
              </a:rPr>
              <a:t>6</a:t>
            </a:r>
            <a:r>
              <a:rPr lang="zh-CN">
                <a:latin typeface="Times New Roman" panose="02020603050405020304" charset="0"/>
                <a:ea typeface="宋体" panose="02010600030101010101" pitchFamily="2" charset="-122"/>
                <a:sym typeface="+mn-ea"/>
              </a:rPr>
              <a:t>位数字字符组成，前</a:t>
            </a:r>
            <a:r>
              <a:rPr lang="en-US">
                <a:latin typeface="Times New Roman" panose="02020603050405020304" charset="0"/>
                <a:sym typeface="+mn-ea"/>
              </a:rPr>
              <a:t>4</a:t>
            </a:r>
            <a:r>
              <a:rPr lang="zh-CN">
                <a:latin typeface="Times New Roman" panose="02020603050405020304" charset="0"/>
                <a:ea typeface="宋体" panose="02010600030101010101" pitchFamily="2" charset="-122"/>
                <a:sym typeface="+mn-ea"/>
              </a:rPr>
              <a:t>位表示年，后</a:t>
            </a:r>
            <a:r>
              <a:rPr lang="en-US">
                <a:latin typeface="Times New Roman" panose="02020603050405020304" charset="0"/>
                <a:sym typeface="+mn-ea"/>
              </a:rPr>
              <a:t>2</a:t>
            </a:r>
            <a:r>
              <a:rPr lang="zh-CN">
                <a:latin typeface="Times New Roman" panose="02020603050405020304" charset="0"/>
                <a:ea typeface="宋体" panose="02010600030101010101" pitchFamily="2" charset="-122"/>
                <a:sym typeface="+mn-ea"/>
              </a:rPr>
              <a:t>位表示月。现用等价类划分法设计测试用例，来测试程序的“日期检查功能”。</a:t>
            </a:r>
            <a:endParaRPr lang="zh-CN" altLang="en-US"/>
          </a:p>
        </p:txBody>
      </p:sp>
      <p:sp>
        <p:nvSpPr>
          <p:cNvPr id="3" name="文本框 2"/>
          <p:cNvSpPr txBox="1"/>
          <p:nvPr/>
        </p:nvSpPr>
        <p:spPr>
          <a:xfrm>
            <a:off x="849630" y="2515870"/>
            <a:ext cx="6923405" cy="398780"/>
          </a:xfrm>
          <a:prstGeom prst="rect">
            <a:avLst/>
          </a:prstGeom>
          <a:noFill/>
          <a:ln w="9525">
            <a:noFill/>
          </a:ln>
        </p:spPr>
        <p:txBody>
          <a:bodyPr wrap="square">
            <a:spAutoFit/>
          </a:bodyPr>
          <a:p>
            <a:pPr indent="295275"/>
            <a:r>
              <a:rPr lang="en-US" sz="2000" b="0">
                <a:latin typeface="Times New Roman" panose="02020603050405020304" charset="0"/>
                <a:ea typeface="宋体" panose="02010600030101010101" pitchFamily="2" charset="-122"/>
                <a:cs typeface="宋体" panose="02010600030101010101" pitchFamily="2" charset="-122"/>
              </a:rPr>
              <a:t>1. </a:t>
            </a:r>
            <a:r>
              <a:rPr lang="zh-CN" sz="2000" b="0">
                <a:latin typeface="Times New Roman" panose="02020603050405020304" charset="0"/>
                <a:ea typeface="宋体" panose="02010600030101010101" pitchFamily="2" charset="-122"/>
              </a:rPr>
              <a:t>划分等价类并编号，下表所示等价类划分的结果</a:t>
            </a:r>
            <a:endParaRPr lang="zh-CN" altLang="en-US" sz="2000"/>
          </a:p>
        </p:txBody>
      </p:sp>
      <p:graphicFrame>
        <p:nvGraphicFramePr>
          <p:cNvPr id="4" name="表格 3"/>
          <p:cNvGraphicFramePr/>
          <p:nvPr>
            <p:custDataLst>
              <p:tags r:id="rId1"/>
            </p:custDataLst>
          </p:nvPr>
        </p:nvGraphicFramePr>
        <p:xfrm>
          <a:off x="1024255" y="3313430"/>
          <a:ext cx="9378315" cy="3225800"/>
        </p:xfrm>
        <a:graphic>
          <a:graphicData uri="http://schemas.openxmlformats.org/drawingml/2006/table">
            <a:tbl>
              <a:tblPr firstRow="1" bandRow="1">
                <a:tableStyleId>{5940675A-B579-460E-94D1-54222C63F5DA}</a:tableStyleId>
              </a:tblPr>
              <a:tblGrid>
                <a:gridCol w="1984375"/>
                <a:gridCol w="2807970"/>
                <a:gridCol w="832485"/>
                <a:gridCol w="2911475"/>
                <a:gridCol w="842010"/>
              </a:tblGrid>
              <a:tr h="403225">
                <a:tc>
                  <a:txBody>
                    <a:bodyPr/>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输入等价类</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有效等价类</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编号</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无效等价类</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编号</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03225">
                <a:tc rowSpan="3">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日期类型与长度</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3">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6位数字字符</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3">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①</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有非数字字符</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②</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0322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小于6位数字字符</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③</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0322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多余6位数字字符</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④</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03225">
                <a:tc rowSpan="2">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年份范围</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2">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在1990-2049之间</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2">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⑤</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小于19</a:t>
                      </a:r>
                      <a:r>
                        <a:rPr lang="en-US" sz="2000" b="0">
                          <a:latin typeface="Times New Roman" panose="02020603050405020304" charset="0"/>
                          <a:cs typeface="Times New Roman" panose="02020603050405020304" charset="0"/>
                        </a:rPr>
                        <a:t>90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⑥</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0322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大于2049</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⑦</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03225">
                <a:tc rowSpan="2">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月份范围</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2">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在01-12之间</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2">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⑧</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等于00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⑨</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0322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大于12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⑩</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advTm="6038">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p:tgtEl>
                                          <p:spTgt spid="4"/>
                                        </p:tgtEl>
                                        <p:attrNameLst>
                                          <p:attrName>ppt_y</p:attrName>
                                        </p:attrNameLst>
                                      </p:cBhvr>
                                      <p:tavLst>
                                        <p:tav tm="0">
                                          <p:val>
                                            <p:strVal val="#ppt_y+#ppt_h*1.125000"/>
                                          </p:val>
                                        </p:tav>
                                        <p:tav tm="100000">
                                          <p:val>
                                            <p:strVal val="#ppt_y"/>
                                          </p:val>
                                        </p:tav>
                                      </p:tavLst>
                                    </p:anim>
                                    <p:animEffect transition="in" filter="wipe(up)">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P spid="3" grpId="0"/>
      <p:bldP spid="3"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79947" y="42919"/>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sym typeface="+mn-ea"/>
              </a:rPr>
              <a:t>等价类设计测试用例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572895" y="990600"/>
            <a:ext cx="8841740" cy="3784600"/>
          </a:xfrm>
          <a:prstGeom prst="rect">
            <a:avLst/>
          </a:prstGeom>
          <a:noFill/>
          <a:ln w="9525">
            <a:noFill/>
          </a:ln>
        </p:spPr>
        <p:txBody>
          <a:bodyPr wrap="square">
            <a:spAutoFit/>
          </a:bodyPr>
          <a:p>
            <a:pPr indent="295275"/>
            <a:r>
              <a:rPr lang="en-US" sz="2000" b="0">
                <a:latin typeface="Times New Roman" panose="02020603050405020304" charset="0"/>
                <a:ea typeface="宋体" panose="02010600030101010101" pitchFamily="2" charset="-122"/>
                <a:cs typeface="宋体" panose="02010600030101010101" pitchFamily="2" charset="-122"/>
              </a:rPr>
              <a:t>2. </a:t>
            </a:r>
            <a:r>
              <a:rPr lang="zh-CN" sz="2000" b="0">
                <a:latin typeface="Times New Roman" panose="02020603050405020304" charset="0"/>
                <a:ea typeface="宋体" panose="02010600030101010101" pitchFamily="2" charset="-122"/>
              </a:rPr>
              <a:t>设计测试用例，以便覆盖所有的有效等价类在表中列出了</a:t>
            </a:r>
            <a:r>
              <a:rPr lang="en-US" sz="2000" b="0">
                <a:latin typeface="Times New Roman" panose="02020603050405020304" charset="0"/>
              </a:rPr>
              <a:t>3</a:t>
            </a:r>
            <a:r>
              <a:rPr lang="zh-CN" sz="2000" b="0">
                <a:latin typeface="Times New Roman" panose="02020603050405020304" charset="0"/>
                <a:ea typeface="宋体" panose="02010600030101010101" pitchFamily="2" charset="-122"/>
              </a:rPr>
              <a:t>个有效等价类，编号分别为①、⑤、⑧，设计的测试用例如下：测试数据期望结果覆盖的有效等价类</a:t>
            </a:r>
            <a:r>
              <a:rPr lang="en-US" sz="2000" b="0">
                <a:latin typeface="Times New Roman" panose="02020603050405020304" charset="0"/>
              </a:rPr>
              <a:t>:200211 </a:t>
            </a:r>
            <a:r>
              <a:rPr lang="zh-CN" sz="2000" b="0">
                <a:latin typeface="Times New Roman" panose="02020603050405020304" charset="0"/>
                <a:ea typeface="宋体" panose="02010600030101010101" pitchFamily="2" charset="-122"/>
              </a:rPr>
              <a:t>输入有效①、⑤、⑧</a:t>
            </a:r>
            <a:r>
              <a:rPr lang="en-US" sz="2000" b="0">
                <a:latin typeface="Times New Roman" panose="02020603050405020304" charset="0"/>
                <a:ea typeface="宋体" panose="02010600030101010101" pitchFamily="2" charset="-122"/>
                <a:cs typeface="宋体" panose="02010600030101010101" pitchFamily="2" charset="-122"/>
              </a:rPr>
              <a:t>    3. </a:t>
            </a:r>
            <a:r>
              <a:rPr lang="zh-CN" sz="2000" b="0">
                <a:latin typeface="Times New Roman" panose="02020603050405020304" charset="0"/>
                <a:ea typeface="宋体" panose="02010600030101010101" pitchFamily="2" charset="-122"/>
              </a:rPr>
              <a:t>为每一个无效等价类设计一个测试用例，设计结果如下：</a:t>
            </a:r>
            <a:r>
              <a:rPr lang="en-US" sz="2000" b="0">
                <a:latin typeface="Times New Roman" panose="02020603050405020304" charset="0"/>
              </a:rPr>
              <a:t>95June </a:t>
            </a:r>
            <a:r>
              <a:rPr lang="zh-CN" sz="2000" b="0">
                <a:latin typeface="Times New Roman" panose="02020603050405020304" charset="0"/>
                <a:ea typeface="宋体" panose="02010600030101010101" pitchFamily="2" charset="-122"/>
              </a:rPr>
              <a:t>无效输入②</a:t>
            </a:r>
            <a:r>
              <a:rPr lang="en-US" sz="2000" b="0">
                <a:latin typeface="Times New Roman" panose="02020603050405020304" charset="0"/>
              </a:rPr>
              <a:t>20036 </a:t>
            </a:r>
            <a:r>
              <a:rPr lang="zh-CN" sz="2000" b="0">
                <a:latin typeface="Times New Roman" panose="02020603050405020304" charset="0"/>
                <a:ea typeface="宋体" panose="02010600030101010101" pitchFamily="2" charset="-122"/>
              </a:rPr>
              <a:t>无效输入③</a:t>
            </a:r>
            <a:r>
              <a:rPr lang="en-US" sz="2000" b="0">
                <a:latin typeface="Times New Roman" panose="02020603050405020304" charset="0"/>
              </a:rPr>
              <a:t>2001006 </a:t>
            </a:r>
            <a:r>
              <a:rPr lang="zh-CN" sz="2000" b="0">
                <a:latin typeface="Times New Roman" panose="02020603050405020304" charset="0"/>
                <a:ea typeface="宋体" panose="02010600030101010101" pitchFamily="2" charset="-122"/>
              </a:rPr>
              <a:t>无效输入④</a:t>
            </a:r>
            <a:r>
              <a:rPr lang="en-US" sz="2000" b="0">
                <a:latin typeface="Times New Roman" panose="02020603050405020304" charset="0"/>
              </a:rPr>
              <a:t>198912 </a:t>
            </a:r>
            <a:r>
              <a:rPr lang="zh-CN" sz="2000" b="0">
                <a:latin typeface="Times New Roman" panose="02020603050405020304" charset="0"/>
                <a:ea typeface="宋体" panose="02010600030101010101" pitchFamily="2" charset="-122"/>
              </a:rPr>
              <a:t>无效输入⑥</a:t>
            </a:r>
            <a:r>
              <a:rPr lang="en-US" sz="2000" b="0">
                <a:latin typeface="Times New Roman" panose="02020603050405020304" charset="0"/>
              </a:rPr>
              <a:t>205001 </a:t>
            </a:r>
            <a:r>
              <a:rPr lang="zh-CN" sz="2000" b="0">
                <a:latin typeface="Times New Roman" panose="02020603050405020304" charset="0"/>
                <a:ea typeface="宋体" panose="02010600030101010101" pitchFamily="2" charset="-122"/>
              </a:rPr>
              <a:t>无效输入⑦</a:t>
            </a:r>
            <a:r>
              <a:rPr lang="en-US" sz="2000" b="0">
                <a:latin typeface="Times New Roman" panose="02020603050405020304" charset="0"/>
              </a:rPr>
              <a:t>200100 </a:t>
            </a:r>
            <a:r>
              <a:rPr lang="zh-CN" sz="2000" b="0">
                <a:latin typeface="Times New Roman" panose="02020603050405020304" charset="0"/>
                <a:ea typeface="宋体" panose="02010600030101010101" pitchFamily="2" charset="-122"/>
              </a:rPr>
              <a:t>无效输入⑨</a:t>
            </a:r>
            <a:r>
              <a:rPr lang="en-US" sz="2000" b="0">
                <a:latin typeface="Times New Roman" panose="02020603050405020304" charset="0"/>
              </a:rPr>
              <a:t>200113 </a:t>
            </a:r>
            <a:r>
              <a:rPr lang="zh-CN" sz="2000" b="0">
                <a:latin typeface="Times New Roman" panose="02020603050405020304" charset="0"/>
                <a:ea typeface="宋体" panose="02010600030101010101" pitchFamily="2" charset="-122"/>
              </a:rPr>
              <a:t>无效输入⑩</a:t>
            </a:r>
            <a:endParaRPr lang="zh-CN" altLang="en-US" sz="2000"/>
          </a:p>
        </p:txBody>
      </p:sp>
    </p:spTree>
  </p:cSld>
  <p:clrMapOvr>
    <a:masterClrMapping/>
  </p:clrMapOvr>
  <p:transition advTm="6038">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2.2</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功能测试用例</a:t>
            </a:r>
            <a:r>
              <a:rPr lang="zh-CN" altLang="en-US" sz="2800">
                <a:latin typeface="微软雅黑" panose="020B0503020204020204" pitchFamily="34" charset="-122"/>
                <a:ea typeface="微软雅黑" panose="020B0503020204020204" pitchFamily="34" charset="-122"/>
              </a:rPr>
              <a:t>设计</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sym typeface="+mn-ea"/>
              </a:rPr>
              <a:t>任务</a:t>
            </a:r>
            <a:r>
              <a:rPr lang="en-US" altLang="zh-CN" sz="2000" b="1">
                <a:latin typeface="微软雅黑" panose="020B0503020204020204" pitchFamily="34" charset="-122"/>
                <a:ea typeface="微软雅黑" panose="020B0503020204020204" pitchFamily="34" charset="-122"/>
                <a:sym typeface="+mn-ea"/>
              </a:rPr>
              <a:t>2.2 </a:t>
            </a:r>
            <a:r>
              <a:rPr lang="zh-CN" altLang="en-US" sz="2000" b="1">
                <a:latin typeface="微软雅黑" panose="020B0503020204020204" pitchFamily="34" charset="-122"/>
                <a:ea typeface="微软雅黑" panose="020B0503020204020204" pitchFamily="34" charset="-122"/>
                <a:sym typeface="+mn-ea"/>
              </a:rPr>
              <a:t>边界值</a:t>
            </a:r>
            <a:r>
              <a:rPr lang="zh-CN" altLang="en-US" sz="2000" b="1">
                <a:latin typeface="微软雅黑" panose="020B0503020204020204" pitchFamily="34" charset="-122"/>
                <a:ea typeface="微软雅黑" panose="020B0503020204020204" pitchFamily="34" charset="-122"/>
                <a:sym typeface="+mn-ea"/>
              </a:rPr>
              <a:t>法运用</a:t>
            </a:r>
            <a:endParaRPr lang="zh-CN" altLang="en-US" sz="2000" b="1">
              <a:latin typeface="微软雅黑" panose="020B0503020204020204" pitchFamily="34" charset="-122"/>
              <a:ea typeface="微软雅黑" panose="020B0503020204020204" pitchFamily="34" charset="-122"/>
              <a:sym typeface="+mn-ea"/>
            </a:endParaRPr>
          </a:p>
        </p:txBody>
      </p:sp>
      <p:grpSp>
        <p:nvGrpSpPr>
          <p:cNvPr id="30" name="组合 29"/>
          <p:cNvGrpSpPr/>
          <p:nvPr/>
        </p:nvGrpSpPr>
        <p:grpSpPr>
          <a:xfrm>
            <a:off x="3548380" y="2065020"/>
            <a:ext cx="6706870" cy="3975450"/>
            <a:chOff x="5386" y="2171"/>
            <a:chExt cx="7144" cy="4030"/>
          </a:xfrm>
        </p:grpSpPr>
        <p:grpSp>
          <p:nvGrpSpPr>
            <p:cNvPr id="3" name="组合 2"/>
            <p:cNvGrpSpPr/>
            <p:nvPr/>
          </p:nvGrpSpPr>
          <p:grpSpPr>
            <a:xfrm>
              <a:off x="5386" y="2197"/>
              <a:ext cx="1408" cy="724"/>
              <a:chOff x="2215144" y="982844"/>
              <a:chExt cx="1244730" cy="842780"/>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latin typeface="Impact" panose="020B0806030902050204" pitchFamily="34" charset="0"/>
                </a:endParaRPr>
              </a:p>
            </p:txBody>
          </p:sp>
          <p:sp>
            <p:nvSpPr>
              <p:cNvPr id="5" name="文本框 9"/>
              <p:cNvSpPr txBox="1"/>
              <p:nvPr/>
            </p:nvSpPr>
            <p:spPr>
              <a:xfrm>
                <a:off x="2393075" y="1087162"/>
                <a:ext cx="1066799" cy="688628"/>
              </a:xfrm>
              <a:prstGeom prst="rect">
                <a:avLst/>
              </a:prstGeom>
              <a:noFill/>
            </p:spPr>
            <p:txBody>
              <a:bodyPr wrap="square" rtlCol="0">
                <a:spAutoFit/>
              </a:bodyPr>
              <a:p>
                <a:r>
                  <a:rPr lang="en-US" altLang="zh-CN" sz="3200" dirty="0">
                    <a:solidFill>
                      <a:schemeClr val="bg1"/>
                    </a:solidFill>
                    <a:latin typeface="Impact" panose="020B0806030902050204" pitchFamily="34" charset="0"/>
                  </a:rPr>
                  <a:t>01</a:t>
                </a:r>
                <a:endParaRPr lang="zh-CN" altLang="en-US" sz="2800" dirty="0">
                  <a:solidFill>
                    <a:schemeClr val="bg1"/>
                  </a:solidFill>
                  <a:latin typeface="Impact" panose="020B0806030902050204" pitchFamily="34" charset="0"/>
                </a:endParaRPr>
              </a:p>
            </p:txBody>
          </p:sp>
        </p:grpSp>
        <p:grpSp>
          <p:nvGrpSpPr>
            <p:cNvPr id="8" name="组合 7"/>
            <p:cNvGrpSpPr/>
            <p:nvPr/>
          </p:nvGrpSpPr>
          <p:grpSpPr>
            <a:xfrm>
              <a:off x="5386" y="3290"/>
              <a:ext cx="1408" cy="724"/>
              <a:chOff x="2215144" y="2033848"/>
              <a:chExt cx="1244730" cy="842781"/>
            </a:xfrm>
          </p:grpSpPr>
          <p:sp>
            <p:nvSpPr>
              <p:cNvPr id="10" name="平行四边形 9"/>
              <p:cNvSpPr/>
              <p:nvPr/>
            </p:nvSpPr>
            <p:spPr>
              <a:xfrm>
                <a:off x="2215144" y="2033848"/>
                <a:ext cx="1120898" cy="842781"/>
              </a:xfrm>
              <a:prstGeom prst="parallelogram">
                <a:avLst>
                  <a:gd name="adj" fmla="val 4820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latin typeface="Impact" panose="020B0806030902050204" pitchFamily="34" charset="0"/>
                </a:endParaRPr>
              </a:p>
            </p:txBody>
          </p:sp>
          <p:sp>
            <p:nvSpPr>
              <p:cNvPr id="11" name="文本框 10"/>
              <p:cNvSpPr txBox="1"/>
              <p:nvPr/>
            </p:nvSpPr>
            <p:spPr>
              <a:xfrm>
                <a:off x="2393075" y="2131102"/>
                <a:ext cx="1066799" cy="688629"/>
              </a:xfrm>
              <a:prstGeom prst="rect">
                <a:avLst/>
              </a:prstGeom>
              <a:noFill/>
            </p:spPr>
            <p:txBody>
              <a:bodyPr wrap="square" rtlCol="0">
                <a:spAutoFit/>
              </a:bodyPr>
              <a:p>
                <a:r>
                  <a:rPr lang="en-US" altLang="zh-CN" sz="3200" dirty="0">
                    <a:solidFill>
                      <a:schemeClr val="bg1"/>
                    </a:solidFill>
                    <a:latin typeface="Impact" panose="020B0806030902050204" pitchFamily="34" charset="0"/>
                  </a:rPr>
                  <a:t>02</a:t>
                </a:r>
                <a:endParaRPr lang="zh-CN" altLang="en-US" sz="2800" dirty="0">
                  <a:solidFill>
                    <a:schemeClr val="bg1"/>
                  </a:solidFill>
                  <a:latin typeface="Impact" panose="020B0806030902050204" pitchFamily="34" charset="0"/>
                </a:endParaRPr>
              </a:p>
            </p:txBody>
          </p:sp>
        </p:grpSp>
        <p:grpSp>
          <p:nvGrpSpPr>
            <p:cNvPr id="12" name="组合 11"/>
            <p:cNvGrpSpPr/>
            <p:nvPr/>
          </p:nvGrpSpPr>
          <p:grpSpPr>
            <a:xfrm>
              <a:off x="5386" y="4383"/>
              <a:ext cx="1408" cy="724"/>
              <a:chOff x="2215144" y="3084852"/>
              <a:chExt cx="1244730" cy="842781"/>
            </a:xfrm>
          </p:grpSpPr>
          <p:sp>
            <p:nvSpPr>
              <p:cNvPr id="13" name="平行四边形 12"/>
              <p:cNvSpPr/>
              <p:nvPr/>
            </p:nvSpPr>
            <p:spPr>
              <a:xfrm>
                <a:off x="2215144" y="3084852"/>
                <a:ext cx="1120898" cy="842781"/>
              </a:xfrm>
              <a:prstGeom prst="parallelogram">
                <a:avLst>
                  <a:gd name="adj" fmla="val 4820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latin typeface="Impact" panose="020B0806030902050204" pitchFamily="34" charset="0"/>
                </a:endParaRPr>
              </a:p>
            </p:txBody>
          </p:sp>
          <p:sp>
            <p:nvSpPr>
              <p:cNvPr id="14" name="文本框 11"/>
              <p:cNvSpPr txBox="1"/>
              <p:nvPr/>
            </p:nvSpPr>
            <p:spPr>
              <a:xfrm>
                <a:off x="2393075" y="3215400"/>
                <a:ext cx="1066799" cy="688628"/>
              </a:xfrm>
              <a:prstGeom prst="rect">
                <a:avLst/>
              </a:prstGeom>
              <a:noFill/>
            </p:spPr>
            <p:txBody>
              <a:bodyPr wrap="square" rtlCol="0">
                <a:spAutoFit/>
              </a:bodyPr>
              <a:p>
                <a:r>
                  <a:rPr lang="en-US" altLang="zh-CN" sz="3200" dirty="0">
                    <a:solidFill>
                      <a:schemeClr val="bg1"/>
                    </a:solidFill>
                    <a:latin typeface="Impact" panose="020B0806030902050204" pitchFamily="34" charset="0"/>
                  </a:rPr>
                  <a:t>03</a:t>
                </a:r>
                <a:endParaRPr lang="zh-CN" altLang="en-US" sz="2800" dirty="0">
                  <a:solidFill>
                    <a:schemeClr val="bg1"/>
                  </a:solidFill>
                  <a:latin typeface="Impact" panose="020B0806030902050204" pitchFamily="34" charset="0"/>
                </a:endParaRPr>
              </a:p>
            </p:txBody>
          </p:sp>
        </p:grpSp>
        <p:grpSp>
          <p:nvGrpSpPr>
            <p:cNvPr id="15" name="组合 14"/>
            <p:cNvGrpSpPr/>
            <p:nvPr/>
          </p:nvGrpSpPr>
          <p:grpSpPr>
            <a:xfrm>
              <a:off x="5386" y="5477"/>
              <a:ext cx="1408" cy="724"/>
              <a:chOff x="2215144" y="4135856"/>
              <a:chExt cx="1244730" cy="842781"/>
            </a:xfrm>
          </p:grpSpPr>
          <p:sp>
            <p:nvSpPr>
              <p:cNvPr id="16" name="平行四边形 15"/>
              <p:cNvSpPr/>
              <p:nvPr/>
            </p:nvSpPr>
            <p:spPr>
              <a:xfrm>
                <a:off x="2215144" y="4135856"/>
                <a:ext cx="1120898" cy="842781"/>
              </a:xfrm>
              <a:prstGeom prst="parallelogram">
                <a:avLst>
                  <a:gd name="adj" fmla="val 4820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latin typeface="Impact" panose="020B0806030902050204" pitchFamily="34" charset="0"/>
                </a:endParaRPr>
              </a:p>
            </p:txBody>
          </p:sp>
          <p:sp>
            <p:nvSpPr>
              <p:cNvPr id="17" name="文本框 12"/>
              <p:cNvSpPr txBox="1"/>
              <p:nvPr/>
            </p:nvSpPr>
            <p:spPr>
              <a:xfrm>
                <a:off x="2393075" y="4285809"/>
                <a:ext cx="1066799" cy="688629"/>
              </a:xfrm>
              <a:prstGeom prst="rect">
                <a:avLst/>
              </a:prstGeom>
              <a:noFill/>
            </p:spPr>
            <p:txBody>
              <a:bodyPr wrap="square" rtlCol="0">
                <a:spAutoFit/>
              </a:bodyPr>
              <a:p>
                <a:r>
                  <a:rPr lang="en-US" altLang="zh-CN" sz="3200" dirty="0">
                    <a:solidFill>
                      <a:schemeClr val="bg1"/>
                    </a:solidFill>
                    <a:latin typeface="Impact" panose="020B0806030902050204" pitchFamily="34" charset="0"/>
                  </a:rPr>
                  <a:t>04</a:t>
                </a:r>
                <a:endParaRPr lang="zh-CN" altLang="en-US" sz="2800" dirty="0">
                  <a:solidFill>
                    <a:schemeClr val="bg1"/>
                  </a:solidFill>
                  <a:latin typeface="Impact" panose="020B0806030902050204" pitchFamily="34" charset="0"/>
                </a:endParaRPr>
              </a:p>
            </p:txBody>
          </p:sp>
        </p:grpSp>
        <p:grpSp>
          <p:nvGrpSpPr>
            <p:cNvPr id="18" name="组合 17"/>
            <p:cNvGrpSpPr/>
            <p:nvPr/>
          </p:nvGrpSpPr>
          <p:grpSpPr>
            <a:xfrm>
              <a:off x="6456" y="2171"/>
              <a:ext cx="6074" cy="724"/>
              <a:chOff x="4315150" y="953426"/>
              <a:chExt cx="3857250" cy="540057"/>
            </a:xfrm>
          </p:grpSpPr>
          <p:sp>
            <p:nvSpPr>
              <p:cNvPr id="19" name="矩形 18"/>
              <p:cNvSpPr/>
              <p:nvPr/>
            </p:nvSpPr>
            <p:spPr>
              <a:xfrm>
                <a:off x="4841196" y="1036090"/>
                <a:ext cx="2827147" cy="330836"/>
              </a:xfrm>
              <a:prstGeom prst="rect">
                <a:avLst/>
              </a:prstGeom>
              <a:ln w="15875">
                <a:noFill/>
              </a:ln>
            </p:spPr>
            <p:txBody>
              <a:bodyPr wrap="square" lIns="68580" tIns="34290" rIns="68580" bIns="34290">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边界值分析法基本原理</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平行四边形 19"/>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1600" b="1">
                  <a:solidFill>
                    <a:schemeClr val="tx1">
                      <a:lumMod val="75000"/>
                      <a:lumOff val="25000"/>
                    </a:schemeClr>
                  </a:solidFill>
                </a:endParaRPr>
              </a:p>
            </p:txBody>
          </p:sp>
        </p:grpSp>
        <p:grpSp>
          <p:nvGrpSpPr>
            <p:cNvPr id="21" name="组合 20"/>
            <p:cNvGrpSpPr/>
            <p:nvPr/>
          </p:nvGrpSpPr>
          <p:grpSpPr>
            <a:xfrm>
              <a:off x="6456" y="3264"/>
              <a:ext cx="6074" cy="724"/>
              <a:chOff x="4315150" y="1647579"/>
              <a:chExt cx="3857250" cy="540057"/>
            </a:xfrm>
          </p:grpSpPr>
          <p:sp>
            <p:nvSpPr>
              <p:cNvPr id="22" name="矩形 21"/>
              <p:cNvSpPr/>
              <p:nvPr/>
            </p:nvSpPr>
            <p:spPr>
              <a:xfrm>
                <a:off x="4841406" y="1730387"/>
                <a:ext cx="3117533" cy="330836"/>
              </a:xfrm>
              <a:prstGeom prst="rect">
                <a:avLst/>
              </a:prstGeom>
              <a:ln w="15875">
                <a:noFill/>
              </a:ln>
            </p:spPr>
            <p:txBody>
              <a:bodyPr wrap="square" lIns="68580" tIns="34290" rIns="68580" bIns="34290">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边界值设计测试用例的原则</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3" name="平行四边形 22"/>
              <p:cNvSpPr/>
              <p:nvPr/>
            </p:nvSpPr>
            <p:spPr>
              <a:xfrm>
                <a:off x="4315150" y="1647579"/>
                <a:ext cx="3857250" cy="540057"/>
              </a:xfrm>
              <a:prstGeom prst="parallelogram">
                <a:avLst>
                  <a:gd name="adj" fmla="val 48207"/>
                </a:avLst>
              </a:pr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1600" b="1">
                  <a:solidFill>
                    <a:schemeClr val="tx1">
                      <a:lumMod val="75000"/>
                      <a:lumOff val="25000"/>
                    </a:schemeClr>
                  </a:solidFill>
                </a:endParaRPr>
              </a:p>
            </p:txBody>
          </p:sp>
        </p:grpSp>
        <p:grpSp>
          <p:nvGrpSpPr>
            <p:cNvPr id="24" name="组合 23"/>
            <p:cNvGrpSpPr/>
            <p:nvPr/>
          </p:nvGrpSpPr>
          <p:grpSpPr>
            <a:xfrm>
              <a:off x="6456" y="4357"/>
              <a:ext cx="6074" cy="724"/>
              <a:chOff x="4315150" y="2341731"/>
              <a:chExt cx="3857250" cy="540057"/>
            </a:xfrm>
          </p:grpSpPr>
          <p:sp>
            <p:nvSpPr>
              <p:cNvPr id="25" name="矩形 24"/>
              <p:cNvSpPr/>
              <p:nvPr/>
            </p:nvSpPr>
            <p:spPr>
              <a:xfrm>
                <a:off x="4841406" y="2424539"/>
                <a:ext cx="3005138" cy="330836"/>
              </a:xfrm>
              <a:prstGeom prst="rect">
                <a:avLst/>
              </a:prstGeom>
              <a:ln w="15875">
                <a:noFill/>
              </a:ln>
            </p:spPr>
            <p:txBody>
              <a:bodyPr wrap="square" lIns="68580" tIns="34290" rIns="68580" bIns="34290">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边界值设计测试用例的方法</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 name="平行四边形 25"/>
              <p:cNvSpPr/>
              <p:nvPr/>
            </p:nvSpPr>
            <p:spPr>
              <a:xfrm>
                <a:off x="4315150" y="2341731"/>
                <a:ext cx="3857250" cy="540057"/>
              </a:xfrm>
              <a:prstGeom prst="parallelogram">
                <a:avLst>
                  <a:gd name="adj" fmla="val 48207"/>
                </a:avLst>
              </a:prstGeom>
              <a:noFill/>
              <a:ln w="158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1600" b="1">
                  <a:solidFill>
                    <a:schemeClr val="tx1">
                      <a:lumMod val="75000"/>
                      <a:lumOff val="25000"/>
                    </a:schemeClr>
                  </a:solidFill>
                </a:endParaRPr>
              </a:p>
            </p:txBody>
          </p:sp>
        </p:grpSp>
        <p:grpSp>
          <p:nvGrpSpPr>
            <p:cNvPr id="27" name="组合 26"/>
            <p:cNvGrpSpPr/>
            <p:nvPr/>
          </p:nvGrpSpPr>
          <p:grpSpPr>
            <a:xfrm>
              <a:off x="6456" y="5450"/>
              <a:ext cx="6074" cy="724"/>
              <a:chOff x="4315150" y="3035884"/>
              <a:chExt cx="3857250" cy="540057"/>
            </a:xfrm>
          </p:grpSpPr>
          <p:sp>
            <p:nvSpPr>
              <p:cNvPr id="28" name="矩形 27"/>
              <p:cNvSpPr/>
              <p:nvPr/>
            </p:nvSpPr>
            <p:spPr>
              <a:xfrm>
                <a:off x="4841196" y="3118548"/>
                <a:ext cx="2827147" cy="330836"/>
              </a:xfrm>
              <a:prstGeom prst="rect">
                <a:avLst/>
              </a:prstGeom>
              <a:ln w="15875">
                <a:noFill/>
              </a:ln>
            </p:spPr>
            <p:txBody>
              <a:bodyPr wrap="square" lIns="68580" tIns="34290" rIns="68580" bIns="34290">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边界值设计测试用例举例</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9" name="平行四边形 28"/>
              <p:cNvSpPr/>
              <p:nvPr/>
            </p:nvSpPr>
            <p:spPr>
              <a:xfrm>
                <a:off x="4315150" y="3035884"/>
                <a:ext cx="3857250" cy="540057"/>
              </a:xfrm>
              <a:prstGeom prst="parallelogram">
                <a:avLst>
                  <a:gd name="adj" fmla="val 48207"/>
                </a:avLst>
              </a:prstGeom>
              <a:noFill/>
              <a:ln w="158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1600" b="1">
                  <a:solidFill>
                    <a:schemeClr val="tx1">
                      <a:lumMod val="75000"/>
                      <a:lumOff val="25000"/>
                    </a:schemeClr>
                  </a:solidFill>
                </a:endParaRPr>
              </a:p>
            </p:txBody>
          </p:sp>
        </p:grpSp>
      </p:gr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知识准备</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2207105" y="1629174"/>
            <a:ext cx="7777790" cy="3599815"/>
          </a:xfrm>
          <a:prstGeom prst="rect">
            <a:avLst/>
          </a:prstGeom>
          <a:noFill/>
        </p:spPr>
        <p:txBody>
          <a:bodyPr wrap="square" rtlCol="0">
            <a:spAutoFit/>
          </a:bodyPr>
          <a:p>
            <a:pPr indent="457200" fontAlgn="auto">
              <a:lnSpc>
                <a:spcPct val="150000"/>
              </a:lnSpc>
            </a:pPr>
            <a:r>
              <a:rPr lang="zh-CN" altLang="en-US" sz="3200">
                <a:solidFill>
                  <a:srgbClr val="FF0000"/>
                </a:solidFill>
              </a:rPr>
              <a:t>产生的原因：</a:t>
            </a:r>
            <a:endParaRPr lang="zh-CN" altLang="en-US" sz="3200">
              <a:solidFill>
                <a:srgbClr val="FF0000"/>
              </a:solidFill>
            </a:endParaRPr>
          </a:p>
          <a:p>
            <a:pPr marL="342900" indent="-342900" fontAlgn="auto">
              <a:lnSpc>
                <a:spcPct val="150000"/>
              </a:lnSpc>
              <a:buFont typeface="Wingdings" panose="05000000000000000000" charset="0"/>
              <a:buChar char="l"/>
            </a:pPr>
            <a:r>
              <a:rPr lang="zh-CN" altLang="en-US" sz="2400">
                <a:solidFill>
                  <a:schemeClr val="tx1"/>
                </a:solidFill>
              </a:rPr>
              <a:t>经过长期的测试工作经验表明，大量的错误是发生在输入或输出范围的边界上，而不是发生在输入输出范围的内部。</a:t>
            </a:r>
            <a:endParaRPr lang="zh-CN" altLang="en-US" sz="2400">
              <a:solidFill>
                <a:schemeClr val="tx1"/>
              </a:solidFill>
            </a:endParaRPr>
          </a:p>
          <a:p>
            <a:pPr marL="342900" indent="-342900" fontAlgn="auto">
              <a:lnSpc>
                <a:spcPct val="150000"/>
              </a:lnSpc>
              <a:buFont typeface="Wingdings" panose="05000000000000000000" charset="0"/>
              <a:buChar char="l"/>
            </a:pPr>
            <a:r>
              <a:rPr lang="zh-CN" altLang="en-US" sz="2400">
                <a:solidFill>
                  <a:schemeClr val="tx1"/>
                </a:solidFill>
              </a:rPr>
              <a:t>在软件设计和程序编写中，常常对规格说明书的输入域边界或输出域边界设计测试用例。</a:t>
            </a:r>
            <a:endParaRPr lang="zh-CN" altLang="en-US" sz="2400">
              <a:solidFill>
                <a:schemeClr val="tx1"/>
              </a:solidFill>
            </a:endParaRPr>
          </a:p>
        </p:txBody>
      </p:sp>
    </p:spTree>
  </p:cSld>
  <p:clrMapOvr>
    <a:masterClrMapping/>
  </p:clrMapOvr>
  <p:transition advTm="1310">
    <p:rand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105" y="1594058"/>
            <a:ext cx="2812399" cy="2101481"/>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3336365" y="3142469"/>
            <a:ext cx="6278880" cy="829945"/>
          </a:xfrm>
          <a:prstGeom prst="rect">
            <a:avLst/>
          </a:prstGeom>
          <a:noFill/>
        </p:spPr>
        <p:txBody>
          <a:bodyPr wrap="non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边界值分析法基本原理</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217" y="2656121"/>
            <a:ext cx="2069153" cy="1546112"/>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5702" y="2328231"/>
            <a:ext cx="3457976" cy="2583868"/>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8675" y="2883913"/>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01</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177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边界分析法的基本原理</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2275042" y="1869175"/>
            <a:ext cx="7641917" cy="3415030"/>
          </a:xfrm>
          <a:prstGeom prst="rect">
            <a:avLst/>
          </a:prstGeom>
          <a:noFill/>
        </p:spPr>
        <p:txBody>
          <a:bodyPr wrap="square" rtlCol="0">
            <a:spAutoFit/>
          </a:bodyPr>
          <a:p>
            <a:pPr indent="457200" fontAlgn="auto">
              <a:lnSpc>
                <a:spcPct val="150000"/>
              </a:lnSpc>
            </a:pPr>
            <a:r>
              <a:rPr lang="zh-CN" altLang="en-US" sz="2400" b="1">
                <a:latin typeface="微软雅黑" panose="020B0503020204020204" pitchFamily="34" charset="-122"/>
                <a:ea typeface="微软雅黑" panose="020B0503020204020204" pitchFamily="34" charset="-122"/>
              </a:rPr>
              <a:t>设计方法：</a:t>
            </a:r>
            <a:endParaRPr lang="zh-CN" altLang="en-US" sz="2400" b="1">
              <a:latin typeface="微软雅黑" panose="020B0503020204020204" pitchFamily="34" charset="-122"/>
              <a:ea typeface="微软雅黑" panose="020B0503020204020204" pitchFamily="34" charset="-122"/>
            </a:endParaRPr>
          </a:p>
          <a:p>
            <a:pPr indent="457200" fontAlgn="auto">
              <a:lnSpc>
                <a:spcPct val="150000"/>
              </a:lnSpc>
            </a:pPr>
            <a:r>
              <a:rPr lang="zh-CN" altLang="en-US" sz="2400">
                <a:latin typeface="微软雅黑" panose="020B0503020204020204" pitchFamily="34" charset="-122"/>
                <a:ea typeface="微软雅黑" panose="020B0503020204020204" pitchFamily="34" charset="-122"/>
              </a:rPr>
              <a:t>使用边界值分析方法设计测试用例，首先应</a:t>
            </a:r>
            <a:r>
              <a:rPr lang="zh-CN" altLang="en-US" sz="2400">
                <a:solidFill>
                  <a:srgbClr val="FF0000"/>
                </a:solidFill>
                <a:latin typeface="微软雅黑" panose="020B0503020204020204" pitchFamily="34" charset="-122"/>
                <a:ea typeface="微软雅黑" panose="020B0503020204020204" pitchFamily="34" charset="-122"/>
              </a:rPr>
              <a:t>确定边界情况</a:t>
            </a:r>
            <a:r>
              <a:rPr lang="zh-CN" altLang="en-US" sz="2400">
                <a:latin typeface="微软雅黑" panose="020B0503020204020204" pitchFamily="34" charset="-122"/>
                <a:ea typeface="微软雅黑" panose="020B0503020204020204" pitchFamily="34" charset="-122"/>
              </a:rPr>
              <a:t>。通常输入和输出等价类的边界，就是应着重测试的边界情况。应当选取</a:t>
            </a:r>
            <a:r>
              <a:rPr lang="zh-CN" altLang="en-US" sz="2400">
                <a:solidFill>
                  <a:srgbClr val="FF0000"/>
                </a:solidFill>
                <a:latin typeface="微软雅黑" panose="020B0503020204020204" pitchFamily="34" charset="-122"/>
                <a:ea typeface="微软雅黑" panose="020B0503020204020204" pitchFamily="34" charset="-122"/>
              </a:rPr>
              <a:t>正好等于，刚刚大于或刚刚小于</a:t>
            </a:r>
            <a:r>
              <a:rPr lang="zh-CN" altLang="en-US" sz="2400">
                <a:latin typeface="微软雅黑" panose="020B0503020204020204" pitchFamily="34" charset="-122"/>
                <a:ea typeface="微软雅黑" panose="020B0503020204020204" pitchFamily="34" charset="-122"/>
              </a:rPr>
              <a:t>边界的值作为测试数据，而不是选取等价类中的典型值或任意值作为测试数据。</a:t>
            </a:r>
            <a:endParaRPr lang="zh-CN" altLang="en-US" sz="2400">
              <a:latin typeface="微软雅黑" panose="020B0503020204020204" pitchFamily="34" charset="-122"/>
              <a:ea typeface="微软雅黑" panose="020B0503020204020204" pitchFamily="34" charset="-122"/>
            </a:endParaRPr>
          </a:p>
        </p:txBody>
      </p:sp>
    </p:spTree>
  </p:cSld>
  <p:clrMapOvr>
    <a:masterClrMapping/>
  </p:clrMapOvr>
  <p:transition advTm="1310">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边界值分析法的基本原理</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aphicFrame>
        <p:nvGraphicFramePr>
          <p:cNvPr id="2" name="对象 1">
            <a:hlinkClick r:id="" action="ppaction://ole?verb="/>
          </p:cNvPr>
          <p:cNvGraphicFramePr>
            <a:graphicFrameLocks noChangeAspect="1"/>
          </p:cNvGraphicFramePr>
          <p:nvPr/>
        </p:nvGraphicFramePr>
        <p:xfrm>
          <a:off x="5638856" y="3321239"/>
          <a:ext cx="914287" cy="215873"/>
        </p:xfrm>
        <a:graphic>
          <a:graphicData uri="http://schemas.openxmlformats.org/presentationml/2006/ole">
            <mc:AlternateContent xmlns:mc="http://schemas.openxmlformats.org/markup-compatibility/2006">
              <mc:Choice xmlns:v="urn:schemas-microsoft-com:vml" Requires="v">
                <p:oleObj spid="_x0000_s1025" name="" r:id="rId1" imgW="914400" imgH="215900" progId="Equation.KSEE3">
                  <p:embed/>
                </p:oleObj>
              </mc:Choice>
              <mc:Fallback>
                <p:oleObj name="" r:id="rId1" imgW="914400" imgH="215900" progId="Equation.KSEE3">
                  <p:embed/>
                  <p:pic>
                    <p:nvPicPr>
                      <p:cNvPr id="0" name="图片 1024"/>
                      <p:cNvPicPr/>
                      <p:nvPr/>
                    </p:nvPicPr>
                    <p:blipFill>
                      <a:blip r:embed="rId2"/>
                      <a:stretch>
                        <a:fillRect/>
                      </a:stretch>
                    </p:blipFill>
                    <p:spPr>
                      <a:xfrm>
                        <a:off x="5638856" y="3321239"/>
                        <a:ext cx="914287" cy="215873"/>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1605834" y="1516793"/>
          <a:ext cx="2702226" cy="1335240"/>
        </p:xfrm>
        <a:graphic>
          <a:graphicData uri="http://schemas.openxmlformats.org/presentationml/2006/ole">
            <mc:AlternateContent xmlns:mc="http://schemas.openxmlformats.org/markup-compatibility/2006">
              <mc:Choice xmlns:v="urn:schemas-microsoft-com:vml" Requires="v">
                <p:oleObj spid="_x0000_s1026" name="" r:id="rId3" imgW="2592070" imgH="1296035" progId="Equation.KSEE3">
                  <p:embed/>
                </p:oleObj>
              </mc:Choice>
              <mc:Fallback>
                <p:oleObj name="" r:id="rId3" imgW="2592070" imgH="1296035" progId="Equation.KSEE3">
                  <p:embed/>
                  <p:pic>
                    <p:nvPicPr>
                      <p:cNvPr id="0" name="图片 1025"/>
                      <p:cNvPicPr/>
                      <p:nvPr/>
                    </p:nvPicPr>
                    <p:blipFill>
                      <a:blip r:embed="rId4"/>
                      <a:stretch>
                        <a:fillRect/>
                      </a:stretch>
                    </p:blipFill>
                    <p:spPr>
                      <a:xfrm>
                        <a:off x="1605834" y="1516793"/>
                        <a:ext cx="2702226" cy="1335240"/>
                      </a:xfrm>
                      <a:prstGeom prst="rect">
                        <a:avLst/>
                      </a:prstGeom>
                    </p:spPr>
                  </p:pic>
                </p:oleObj>
              </mc:Fallback>
            </mc:AlternateContent>
          </a:graphicData>
        </a:graphic>
      </p:graphicFrame>
      <p:sp>
        <p:nvSpPr>
          <p:cNvPr id="6" name="文本框 5"/>
          <p:cNvSpPr txBox="1"/>
          <p:nvPr/>
        </p:nvSpPr>
        <p:spPr>
          <a:xfrm>
            <a:off x="6021080" y="1121871"/>
            <a:ext cx="5543501" cy="4615815"/>
          </a:xfrm>
          <a:prstGeom prst="rect">
            <a:avLst/>
          </a:prstGeom>
          <a:noFill/>
        </p:spPr>
        <p:txBody>
          <a:bodyPr wrap="square" rtlCol="0">
            <a:spAutoFit/>
          </a:bodyPr>
          <a:p>
            <a:pPr indent="457200" fontAlgn="auto">
              <a:lnSpc>
                <a:spcPct val="150000"/>
              </a:lnSpc>
            </a:pPr>
            <a:r>
              <a:rPr lang="zh-CN" altLang="en-US" sz="2800">
                <a:latin typeface="微软雅黑" panose="020B0503020204020204" pitchFamily="34" charset="-122"/>
                <a:ea typeface="微软雅黑" panose="020B0503020204020204" pitchFamily="34" charset="-122"/>
                <a:cs typeface="微软雅黑" panose="020B0503020204020204" pitchFamily="34" charset="-122"/>
              </a:rPr>
              <a:t>在开平方测试中，在遵循项目要求</a:t>
            </a:r>
            <a:r>
              <a:rPr lang="en-US" altLang="zh-CN" sz="2800">
                <a:latin typeface="微软雅黑" panose="020B0503020204020204" pitchFamily="34" charset="-122"/>
                <a:ea typeface="微软雅黑" panose="020B0503020204020204" pitchFamily="34" charset="-122"/>
                <a:cs typeface="微软雅黑" panose="020B0503020204020204" pitchFamily="34" charset="-122"/>
              </a:rPr>
              <a:t>0&lt;=x&lt;=100</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，整个输入域确定两个边界</a:t>
            </a:r>
            <a:r>
              <a:rPr lang="en-US" altLang="zh-CN" sz="280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a:latin typeface="微软雅黑" panose="020B0503020204020204" pitchFamily="34" charset="-122"/>
                <a:ea typeface="微软雅黑" panose="020B0503020204020204" pitchFamily="34" charset="-122"/>
                <a:cs typeface="微软雅黑" panose="020B0503020204020204" pitchFamily="34" charset="-122"/>
              </a:rPr>
              <a:t>100</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，延续等价类的健壮性测试，取无效等价类和有效等价类，对于边界</a:t>
            </a:r>
            <a:r>
              <a:rPr lang="en-US" altLang="zh-CN" sz="280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，取</a:t>
            </a:r>
            <a:r>
              <a:rPr lang="en-US" altLang="zh-CN" sz="2800">
                <a:latin typeface="微软雅黑" panose="020B0503020204020204" pitchFamily="34" charset="-122"/>
                <a:ea typeface="微软雅黑" panose="020B0503020204020204" pitchFamily="34" charset="-122"/>
                <a:cs typeface="微软雅黑" panose="020B0503020204020204" pitchFamily="34" charset="-122"/>
              </a:rPr>
              <a:t>-1,0,1</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，对于边界</a:t>
            </a:r>
            <a:r>
              <a:rPr lang="en-US" altLang="zh-CN" sz="2800">
                <a:latin typeface="微软雅黑" panose="020B0503020204020204" pitchFamily="34" charset="-122"/>
                <a:ea typeface="微软雅黑" panose="020B0503020204020204" pitchFamily="34" charset="-122"/>
                <a:cs typeface="微软雅黑" panose="020B0503020204020204" pitchFamily="34" charset="-122"/>
              </a:rPr>
              <a:t>100</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，取</a:t>
            </a:r>
            <a:r>
              <a:rPr lang="en-US" altLang="zh-CN" sz="2800">
                <a:latin typeface="微软雅黑" panose="020B0503020204020204" pitchFamily="34" charset="-122"/>
                <a:ea typeface="微软雅黑" panose="020B0503020204020204" pitchFamily="34" charset="-122"/>
                <a:cs typeface="微软雅黑" panose="020B0503020204020204" pitchFamily="34" charset="-122"/>
              </a:rPr>
              <a:t>99,100,101.</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避免了等价类的缺陷。</a:t>
            </a:r>
            <a:endParaRPr lang="zh-CN" altLang="en-US" sz="280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1" name="对象 30">
            <a:hlinkClick r:id="" action="ppaction://ole?verb="/>
          </p:cNvPr>
          <p:cNvGraphicFramePr>
            <a:graphicFrameLocks noChangeAspect="1"/>
          </p:cNvGraphicFramePr>
          <p:nvPr/>
        </p:nvGraphicFramePr>
        <p:xfrm>
          <a:off x="5638856" y="3321239"/>
          <a:ext cx="914287" cy="215873"/>
        </p:xfrm>
        <a:graphic>
          <a:graphicData uri="http://schemas.openxmlformats.org/presentationml/2006/ole">
            <mc:AlternateContent xmlns:mc="http://schemas.openxmlformats.org/markup-compatibility/2006">
              <mc:Choice xmlns:v="urn:schemas-microsoft-com:vml" Requires="v">
                <p:oleObj spid="_x0000_s1027" name="" r:id="rId5" imgW="914400" imgH="215900" progId="Equation.KSEE3">
                  <p:embed/>
                </p:oleObj>
              </mc:Choice>
              <mc:Fallback>
                <p:oleObj name="" r:id="rId5" imgW="914400" imgH="215900" progId="Equation.KSEE3">
                  <p:embed/>
                  <p:pic>
                    <p:nvPicPr>
                      <p:cNvPr id="0" name="图片 1026"/>
                      <p:cNvPicPr/>
                      <p:nvPr/>
                    </p:nvPicPr>
                    <p:blipFill>
                      <a:blip r:embed="rId2"/>
                      <a:stretch>
                        <a:fillRect/>
                      </a:stretch>
                    </p:blipFill>
                    <p:spPr>
                      <a:xfrm>
                        <a:off x="5638856" y="3321239"/>
                        <a:ext cx="914287" cy="215873"/>
                      </a:xfrm>
                      <a:prstGeom prst="rect">
                        <a:avLst/>
                      </a:prstGeom>
                    </p:spPr>
                  </p:pic>
                </p:oleObj>
              </mc:Fallback>
            </mc:AlternateContent>
          </a:graphicData>
        </a:graphic>
      </p:graphicFrame>
      <p:pic>
        <p:nvPicPr>
          <p:cNvPr id="44" name="图片 43"/>
          <p:cNvPicPr>
            <a:picLocks noChangeAspect="1"/>
          </p:cNvPicPr>
          <p:nvPr/>
        </p:nvPicPr>
        <p:blipFill>
          <a:blip r:embed="rId6"/>
          <a:stretch>
            <a:fillRect/>
          </a:stretch>
        </p:blipFill>
        <p:spPr>
          <a:xfrm>
            <a:off x="617262" y="3827907"/>
            <a:ext cx="5021380" cy="1475818"/>
          </a:xfrm>
          <a:prstGeom prst="rect">
            <a:avLst/>
          </a:prstGeom>
        </p:spPr>
      </p:pic>
    </p:spTree>
  </p:cSld>
  <p:clrMapOvr>
    <a:masterClrMapping/>
  </p:clrMapOvr>
  <p:transition advTm="1310">
    <p:rand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边界值</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aphicFrame>
        <p:nvGraphicFramePr>
          <p:cNvPr id="2" name="对象 1">
            <a:hlinkClick r:id="" action="ppaction://ole?verb="/>
          </p:cNvPr>
          <p:cNvGraphicFramePr>
            <a:graphicFrameLocks noChangeAspect="1"/>
          </p:cNvGraphicFramePr>
          <p:nvPr/>
        </p:nvGraphicFramePr>
        <p:xfrm>
          <a:off x="5638856" y="3321239"/>
          <a:ext cx="914287" cy="215873"/>
        </p:xfrm>
        <a:graphic>
          <a:graphicData uri="http://schemas.openxmlformats.org/presentationml/2006/ole">
            <mc:AlternateContent xmlns:mc="http://schemas.openxmlformats.org/markup-compatibility/2006">
              <mc:Choice xmlns:v="urn:schemas-microsoft-com:vml" Requires="v">
                <p:oleObj spid="_x0000_s1025" name="" r:id="rId1" imgW="914400" imgH="215900" progId="Equation.KSEE3">
                  <p:embed/>
                </p:oleObj>
              </mc:Choice>
              <mc:Fallback>
                <p:oleObj name="" r:id="rId1" imgW="914400" imgH="215900" progId="Equation.KSEE3">
                  <p:embed/>
                  <p:pic>
                    <p:nvPicPr>
                      <p:cNvPr id="0" name="图片 1024"/>
                      <p:cNvPicPr/>
                      <p:nvPr/>
                    </p:nvPicPr>
                    <p:blipFill>
                      <a:blip r:embed="rId2"/>
                      <a:stretch>
                        <a:fillRect/>
                      </a:stretch>
                    </p:blipFill>
                    <p:spPr>
                      <a:xfrm>
                        <a:off x="5638856" y="3321239"/>
                        <a:ext cx="914287" cy="215873"/>
                      </a:xfrm>
                      <a:prstGeom prst="rect">
                        <a:avLst/>
                      </a:prstGeom>
                    </p:spPr>
                  </p:pic>
                </p:oleObj>
              </mc:Fallback>
            </mc:AlternateContent>
          </a:graphicData>
        </a:graphic>
      </p:graphicFrame>
      <p:graphicFrame>
        <p:nvGraphicFramePr>
          <p:cNvPr id="31" name="对象 30">
            <a:hlinkClick r:id="" action="ppaction://ole?verb="/>
          </p:cNvPr>
          <p:cNvGraphicFramePr>
            <a:graphicFrameLocks noChangeAspect="1"/>
          </p:cNvGraphicFramePr>
          <p:nvPr/>
        </p:nvGraphicFramePr>
        <p:xfrm>
          <a:off x="5638856" y="3321239"/>
          <a:ext cx="914287" cy="215873"/>
        </p:xfrm>
        <a:graphic>
          <a:graphicData uri="http://schemas.openxmlformats.org/presentationml/2006/ole">
            <mc:AlternateContent xmlns:mc="http://schemas.openxmlformats.org/markup-compatibility/2006">
              <mc:Choice xmlns:v="urn:schemas-microsoft-com:vml" Requires="v">
                <p:oleObj spid="_x0000_s1027" name="" r:id="rId3" imgW="914400" imgH="215900" progId="Equation.KSEE3">
                  <p:embed/>
                </p:oleObj>
              </mc:Choice>
              <mc:Fallback>
                <p:oleObj name="" r:id="rId3" imgW="914400" imgH="215900" progId="Equation.KSEE3">
                  <p:embed/>
                  <p:pic>
                    <p:nvPicPr>
                      <p:cNvPr id="0" name="图片 1026"/>
                      <p:cNvPicPr/>
                      <p:nvPr/>
                    </p:nvPicPr>
                    <p:blipFill>
                      <a:blip r:embed="rId2"/>
                      <a:stretch>
                        <a:fillRect/>
                      </a:stretch>
                    </p:blipFill>
                    <p:spPr>
                      <a:xfrm>
                        <a:off x="5638856" y="3321239"/>
                        <a:ext cx="914287" cy="215873"/>
                      </a:xfrm>
                      <a:prstGeom prst="rect">
                        <a:avLst/>
                      </a:prstGeom>
                    </p:spPr>
                  </p:pic>
                </p:oleObj>
              </mc:Fallback>
            </mc:AlternateContent>
          </a:graphicData>
        </a:graphic>
      </p:graphicFrame>
      <p:sp>
        <p:nvSpPr>
          <p:cNvPr id="4" name="文本框 3"/>
          <p:cNvSpPr txBox="1"/>
          <p:nvPr/>
        </p:nvSpPr>
        <p:spPr>
          <a:xfrm>
            <a:off x="1062341" y="749208"/>
            <a:ext cx="10525307" cy="4154170"/>
          </a:xfrm>
          <a:prstGeom prst="rect">
            <a:avLst/>
          </a:prstGeom>
          <a:noFill/>
        </p:spPr>
        <p:txBody>
          <a:bodyPr wrap="square" rtlCol="0">
            <a:spAutoFit/>
          </a:bodyPr>
          <a:p>
            <a:pPr indent="0" fontAlgn="auto">
              <a:lnSpc>
                <a:spcPts val="2880"/>
              </a:lnSpc>
            </a:pPr>
            <a:r>
              <a:rPr sz="2135">
                <a:latin typeface="微软雅黑" panose="020B0503020204020204" pitchFamily="34" charset="-122"/>
                <a:ea typeface="微软雅黑" panose="020B0503020204020204" pitchFamily="34" charset="-122"/>
                <a:cs typeface="微软雅黑" panose="020B0503020204020204" pitchFamily="34" charset="-122"/>
              </a:rPr>
              <a:t>1. 边界值</a:t>
            </a:r>
            <a:endParaRPr sz="2135">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880"/>
              </a:lnSpc>
            </a:pPr>
            <a:r>
              <a:rPr sz="2135">
                <a:latin typeface="微软雅黑" panose="020B0503020204020204" pitchFamily="34" charset="-122"/>
                <a:ea typeface="微软雅黑" panose="020B0503020204020204" pitchFamily="34" charset="-122"/>
                <a:cs typeface="微软雅黑" panose="020B0503020204020204" pitchFamily="34" charset="-122"/>
              </a:rPr>
              <a:t>下面举一些常见的边界类型：</a:t>
            </a:r>
            <a:endParaRPr sz="2135">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880"/>
              </a:lnSpc>
            </a:pPr>
            <a:r>
              <a:rPr sz="2135">
                <a:latin typeface="微软雅黑" panose="020B0503020204020204" pitchFamily="34" charset="-122"/>
                <a:ea typeface="微软雅黑" panose="020B0503020204020204" pitchFamily="34" charset="-122"/>
                <a:cs typeface="微软雅黑" panose="020B0503020204020204" pitchFamily="34" charset="-122"/>
              </a:rPr>
              <a:t>1）对16-bit 的整数而言32767 和-32768 是边界；</a:t>
            </a:r>
            <a:endParaRPr sz="2135">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880"/>
              </a:lnSpc>
            </a:pPr>
            <a:r>
              <a:rPr sz="2135">
                <a:latin typeface="微软雅黑" panose="020B0503020204020204" pitchFamily="34" charset="-122"/>
                <a:ea typeface="微软雅黑" panose="020B0503020204020204" pitchFamily="34" charset="-122"/>
                <a:cs typeface="微软雅黑" panose="020B0503020204020204" pitchFamily="34" charset="-122"/>
              </a:rPr>
              <a:t>2）屏幕上光标在最左上、最右下位置；</a:t>
            </a:r>
            <a:endParaRPr sz="2135">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880"/>
              </a:lnSpc>
            </a:pPr>
            <a:r>
              <a:rPr sz="2135">
                <a:latin typeface="微软雅黑" panose="020B0503020204020204" pitchFamily="34" charset="-122"/>
                <a:ea typeface="微软雅黑" panose="020B0503020204020204" pitchFamily="34" charset="-122"/>
                <a:cs typeface="微软雅黑" panose="020B0503020204020204" pitchFamily="34" charset="-122"/>
              </a:rPr>
              <a:t>3）报表的第一行和最后一行；</a:t>
            </a:r>
            <a:endParaRPr sz="2135">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880"/>
              </a:lnSpc>
            </a:pPr>
            <a:r>
              <a:rPr sz="2135">
                <a:latin typeface="微软雅黑" panose="020B0503020204020204" pitchFamily="34" charset="-122"/>
                <a:ea typeface="微软雅黑" panose="020B0503020204020204" pitchFamily="34" charset="-122"/>
                <a:cs typeface="微软雅黑" panose="020B0503020204020204" pitchFamily="34" charset="-122"/>
              </a:rPr>
              <a:t>4）数组元素的第一个和最后一个；</a:t>
            </a:r>
            <a:endParaRPr sz="2135">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880"/>
              </a:lnSpc>
            </a:pPr>
            <a:r>
              <a:rPr sz="2135">
                <a:latin typeface="微软雅黑" panose="020B0503020204020204" pitchFamily="34" charset="-122"/>
                <a:ea typeface="微软雅黑" panose="020B0503020204020204" pitchFamily="34" charset="-122"/>
                <a:cs typeface="微软雅黑" panose="020B0503020204020204" pitchFamily="34" charset="-122"/>
              </a:rPr>
              <a:t>一些可能与边界有关的数据类型有</a:t>
            </a:r>
            <a:r>
              <a:rPr sz="2135">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数值、速度、字符、地址、位置</a:t>
            </a:r>
            <a:r>
              <a:rPr sz="2135">
                <a:latin typeface="微软雅黑" panose="020B0503020204020204" pitchFamily="34" charset="-122"/>
                <a:ea typeface="微软雅黑" panose="020B0503020204020204" pitchFamily="34" charset="-122"/>
                <a:cs typeface="微软雅黑" panose="020B0503020204020204" pitchFamily="34" charset="-122"/>
              </a:rPr>
              <a:t>等。同时考虑这些类型特征：</a:t>
            </a:r>
            <a:r>
              <a:rPr sz="2135">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第一个/最后一个，最大/最小、首位/末位、上/下、最快/最慢、最高/最低、最短/最长、空/满</a:t>
            </a:r>
            <a:r>
              <a:rPr sz="2135">
                <a:latin typeface="微软雅黑" panose="020B0503020204020204" pitchFamily="34" charset="-122"/>
                <a:ea typeface="微软雅黑" panose="020B0503020204020204" pitchFamily="34" charset="-122"/>
                <a:cs typeface="微软雅黑" panose="020B0503020204020204" pitchFamily="34" charset="-122"/>
              </a:rPr>
              <a:t>等情况下。</a:t>
            </a:r>
            <a:endParaRPr sz="2135">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880"/>
              </a:lnSpc>
            </a:pPr>
            <a:r>
              <a:rPr sz="2135">
                <a:latin typeface="微软雅黑" panose="020B0503020204020204" pitchFamily="34" charset="-122"/>
                <a:ea typeface="微软雅黑" panose="020B0503020204020204" pitchFamily="34" charset="-122"/>
                <a:cs typeface="微软雅黑" panose="020B0503020204020204" pitchFamily="34" charset="-122"/>
              </a:rPr>
              <a:t>在多数情况下，边界值条件是基于应用程序的功能设计而需要考虑的因素，可以从软件的规格说明或常识中得到，也是最终用户可以很容易发现问题的。</a:t>
            </a:r>
            <a:endParaRPr sz="2135">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1310">
    <p:rand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边界值</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aphicFrame>
        <p:nvGraphicFramePr>
          <p:cNvPr id="2" name="对象 1">
            <a:hlinkClick r:id="" action="ppaction://ole?verb="/>
          </p:cNvPr>
          <p:cNvGraphicFramePr>
            <a:graphicFrameLocks noChangeAspect="1"/>
          </p:cNvGraphicFramePr>
          <p:nvPr/>
        </p:nvGraphicFramePr>
        <p:xfrm>
          <a:off x="5638856" y="3321239"/>
          <a:ext cx="914287" cy="215873"/>
        </p:xfrm>
        <a:graphic>
          <a:graphicData uri="http://schemas.openxmlformats.org/presentationml/2006/ole">
            <mc:AlternateContent xmlns:mc="http://schemas.openxmlformats.org/markup-compatibility/2006">
              <mc:Choice xmlns:v="urn:schemas-microsoft-com:vml" Requires="v">
                <p:oleObj spid="_x0000_s1025" name="" r:id="rId1" imgW="914400" imgH="215900" progId="Equation.KSEE3">
                  <p:embed/>
                </p:oleObj>
              </mc:Choice>
              <mc:Fallback>
                <p:oleObj name="" r:id="rId1" imgW="914400" imgH="215900" progId="Equation.KSEE3">
                  <p:embed/>
                  <p:pic>
                    <p:nvPicPr>
                      <p:cNvPr id="0" name="图片 1024"/>
                      <p:cNvPicPr/>
                      <p:nvPr/>
                    </p:nvPicPr>
                    <p:blipFill>
                      <a:blip r:embed="rId2"/>
                      <a:stretch>
                        <a:fillRect/>
                      </a:stretch>
                    </p:blipFill>
                    <p:spPr>
                      <a:xfrm>
                        <a:off x="5638856" y="3321239"/>
                        <a:ext cx="914287" cy="215873"/>
                      </a:xfrm>
                      <a:prstGeom prst="rect">
                        <a:avLst/>
                      </a:prstGeom>
                    </p:spPr>
                  </p:pic>
                </p:oleObj>
              </mc:Fallback>
            </mc:AlternateContent>
          </a:graphicData>
        </a:graphic>
      </p:graphicFrame>
      <p:graphicFrame>
        <p:nvGraphicFramePr>
          <p:cNvPr id="31" name="对象 30">
            <a:hlinkClick r:id="" action="ppaction://ole?verb="/>
          </p:cNvPr>
          <p:cNvGraphicFramePr>
            <a:graphicFrameLocks noChangeAspect="1"/>
          </p:cNvGraphicFramePr>
          <p:nvPr/>
        </p:nvGraphicFramePr>
        <p:xfrm>
          <a:off x="5638856" y="3321239"/>
          <a:ext cx="914287" cy="215873"/>
        </p:xfrm>
        <a:graphic>
          <a:graphicData uri="http://schemas.openxmlformats.org/presentationml/2006/ole">
            <mc:AlternateContent xmlns:mc="http://schemas.openxmlformats.org/markup-compatibility/2006">
              <mc:Choice xmlns:v="urn:schemas-microsoft-com:vml" Requires="v">
                <p:oleObj spid="_x0000_s1027" name="" r:id="rId3" imgW="914400" imgH="215900" progId="Equation.KSEE3">
                  <p:embed/>
                </p:oleObj>
              </mc:Choice>
              <mc:Fallback>
                <p:oleObj name="" r:id="rId3" imgW="914400" imgH="215900" progId="Equation.KSEE3">
                  <p:embed/>
                  <p:pic>
                    <p:nvPicPr>
                      <p:cNvPr id="0" name="图片 1026"/>
                      <p:cNvPicPr/>
                      <p:nvPr/>
                    </p:nvPicPr>
                    <p:blipFill>
                      <a:blip r:embed="rId2"/>
                      <a:stretch>
                        <a:fillRect/>
                      </a:stretch>
                    </p:blipFill>
                    <p:spPr>
                      <a:xfrm>
                        <a:off x="5638856" y="3321239"/>
                        <a:ext cx="914287" cy="215873"/>
                      </a:xfrm>
                      <a:prstGeom prst="rect">
                        <a:avLst/>
                      </a:prstGeom>
                    </p:spPr>
                  </p:pic>
                </p:oleObj>
              </mc:Fallback>
            </mc:AlternateContent>
          </a:graphicData>
        </a:graphic>
      </p:graphicFrame>
      <p:sp>
        <p:nvSpPr>
          <p:cNvPr id="4" name="文本框 3"/>
          <p:cNvSpPr txBox="1"/>
          <p:nvPr/>
        </p:nvSpPr>
        <p:spPr>
          <a:xfrm>
            <a:off x="1339167" y="615204"/>
            <a:ext cx="9513665" cy="3096895"/>
          </a:xfrm>
          <a:prstGeom prst="rect">
            <a:avLst/>
          </a:prstGeom>
          <a:noFill/>
        </p:spPr>
        <p:txBody>
          <a:bodyPr wrap="square" rtlCol="0">
            <a:spAutoFit/>
          </a:bodyPr>
          <a:p>
            <a:pPr fontAlgn="auto">
              <a:lnSpc>
                <a:spcPts val="2880"/>
              </a:lnSpc>
            </a:pPr>
            <a:r>
              <a:rPr lang="en-US" sz="2135">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135">
                <a:latin typeface="微软雅黑" panose="020B0503020204020204" pitchFamily="34" charset="-122"/>
                <a:ea typeface="微软雅黑" panose="020B0503020204020204" pitchFamily="34" charset="-122"/>
                <a:cs typeface="微软雅黑" panose="020B0503020204020204" pitchFamily="34" charset="-122"/>
              </a:rPr>
              <a:t>次边界或者内部边界</a:t>
            </a:r>
            <a:endParaRPr sz="2135">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ts val="2880"/>
              </a:lnSpc>
            </a:pPr>
            <a:r>
              <a:rPr sz="2135">
                <a:latin typeface="微软雅黑" panose="020B0503020204020204" pitchFamily="34" charset="-122"/>
                <a:ea typeface="微软雅黑" panose="020B0503020204020204" pitchFamily="34" charset="-122"/>
                <a:cs typeface="微软雅黑" panose="020B0503020204020204" pitchFamily="34" charset="-122"/>
              </a:rPr>
              <a:t>在测试用例设计过程中，某些边界值条件是不需要呈现给用户的，或者说用户是很难注意到的，但同时确实属于检验范畴内的边界条件，称为内部边界值条件或子边界值条件。</a:t>
            </a:r>
            <a:endParaRPr sz="2135">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ts val="2880"/>
              </a:lnSpc>
            </a:pPr>
            <a:r>
              <a:rPr sz="2135">
                <a:latin typeface="微软雅黑" panose="020B0503020204020204" pitchFamily="34" charset="-122"/>
                <a:ea typeface="微软雅黑" panose="020B0503020204020204" pitchFamily="34" charset="-122"/>
                <a:cs typeface="微软雅黑" panose="020B0503020204020204" pitchFamily="34" charset="-122"/>
              </a:rPr>
              <a:t>内部边界值条件主要有下面</a:t>
            </a:r>
            <a:r>
              <a:rPr lang="en-US" sz="2135">
                <a:latin typeface="微软雅黑" panose="020B0503020204020204" pitchFamily="34" charset="-122"/>
                <a:ea typeface="微软雅黑" panose="020B0503020204020204" pitchFamily="34" charset="-122"/>
                <a:cs typeface="微软雅黑" panose="020B0503020204020204" pitchFamily="34" charset="-122"/>
              </a:rPr>
              <a:t>3</a:t>
            </a:r>
            <a:r>
              <a:rPr sz="2135">
                <a:latin typeface="微软雅黑" panose="020B0503020204020204" pitchFamily="34" charset="-122"/>
                <a:ea typeface="微软雅黑" panose="020B0503020204020204" pitchFamily="34" charset="-122"/>
                <a:cs typeface="微软雅黑" panose="020B0503020204020204" pitchFamily="34" charset="-122"/>
              </a:rPr>
              <a:t>种：</a:t>
            </a:r>
            <a:endParaRPr sz="2135">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ts val="2880"/>
              </a:lnSpc>
            </a:pPr>
            <a:r>
              <a:rPr sz="2135">
                <a:latin typeface="微软雅黑" panose="020B0503020204020204" pitchFamily="34" charset="-122"/>
                <a:ea typeface="微软雅黑" panose="020B0503020204020204" pitchFamily="34" charset="-122"/>
                <a:cs typeface="微软雅黑" panose="020B0503020204020204" pitchFamily="34" charset="-122"/>
              </a:rPr>
              <a:t>1）数值的边界值检验：计算机是基于二进制进行工作的，因此，软件的任何数值运算都有一定的范围限制。如表3-12所示。</a:t>
            </a:r>
            <a:endParaRPr sz="2135">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ts val="3280"/>
              </a:lnSpc>
            </a:pPr>
            <a:endParaRPr sz="2135">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表格 2"/>
          <p:cNvGraphicFramePr/>
          <p:nvPr>
            <p:custDataLst>
              <p:tags r:id="rId4"/>
            </p:custDataLst>
          </p:nvPr>
        </p:nvGraphicFramePr>
        <p:xfrm>
          <a:off x="2601074" y="4146427"/>
          <a:ext cx="7466330" cy="2169160"/>
        </p:xfrm>
        <a:graphic>
          <a:graphicData uri="http://schemas.openxmlformats.org/drawingml/2006/table">
            <a:tbl>
              <a:tblPr firstRow="1" bandRow="1">
                <a:tableStyleId>{5940675A-B579-460E-94D1-54222C63F5DA}</a:tableStyleId>
              </a:tblPr>
              <a:tblGrid>
                <a:gridCol w="2455545"/>
                <a:gridCol w="5010785"/>
              </a:tblGrid>
              <a:tr h="309880">
                <a:tc>
                  <a:txBody>
                    <a:bodyPr/>
                    <a:p>
                      <a:pPr indent="0" algn="ctr">
                        <a:buNone/>
                      </a:pPr>
                      <a:r>
                        <a:rPr lang="en-US" sz="2000" b="1">
                          <a:solidFill>
                            <a:srgbClr val="FFFFFF"/>
                          </a:solidFill>
                          <a:latin typeface="宋体" panose="02010600030101010101" pitchFamily="2" charset="-122"/>
                          <a:ea typeface="宋体" panose="02010600030101010101" pitchFamily="2" charset="-122"/>
                          <a:cs typeface="宋体" panose="02010600030101010101" pitchFamily="2" charset="-122"/>
                        </a:rPr>
                        <a:t>项</a:t>
                      </a:r>
                      <a:endParaRPr lang="en-US" altLang="en-US" sz="2000" b="1">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9050" cap="rnd">
                      <a:solidFill>
                        <a:srgbClr val="1784C7"/>
                      </a:solidFill>
                      <a:prstDash val="solid"/>
                    </a:lnL>
                    <a:lnR w="3175">
                      <a:solidFill>
                        <a:srgbClr val="FFFFFF"/>
                      </a:solidFill>
                      <a:prstDash val="dot"/>
                    </a:lnR>
                    <a:lnT w="19050" cap="rnd">
                      <a:solidFill>
                        <a:srgbClr val="1784C7"/>
                      </a:solidFill>
                      <a:prstDash val="solid"/>
                    </a:lnT>
                    <a:lnB w="19050">
                      <a:solidFill>
                        <a:srgbClr val="1784C7"/>
                      </a:solidFill>
                      <a:prstDash val="solid"/>
                    </a:lnB>
                    <a:lnTlToBr>
                      <a:noFill/>
                    </a:lnTlToBr>
                    <a:lnBlToTr>
                      <a:noFill/>
                    </a:lnBlToTr>
                    <a:solidFill>
                      <a:srgbClr val="1784C7"/>
                    </a:solidFill>
                  </a:tcPr>
                </a:tc>
                <a:tc>
                  <a:txBody>
                    <a:bodyPr/>
                    <a:p>
                      <a:pPr indent="0">
                        <a:buNone/>
                      </a:pPr>
                      <a:r>
                        <a:rPr lang="en-US" sz="2000" b="1">
                          <a:solidFill>
                            <a:srgbClr val="FFFFFF"/>
                          </a:solidFill>
                          <a:latin typeface="宋体" panose="02010600030101010101" pitchFamily="2" charset="-122"/>
                          <a:ea typeface="宋体" panose="02010600030101010101" pitchFamily="2" charset="-122"/>
                          <a:cs typeface="宋体" panose="02010600030101010101" pitchFamily="2" charset="-122"/>
                        </a:rPr>
                        <a:t>范围或值</a:t>
                      </a:r>
                      <a:endParaRPr lang="en-US" altLang="en-US" sz="2000" b="1">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3175">
                      <a:solidFill>
                        <a:srgbClr val="FFFFFF"/>
                      </a:solidFill>
                      <a:prstDash val="dot"/>
                    </a:lnL>
                    <a:lnR w="19050" cap="rnd">
                      <a:solidFill>
                        <a:srgbClr val="1784C7"/>
                      </a:solidFill>
                      <a:prstDash val="solid"/>
                    </a:lnR>
                    <a:lnT w="19050" cap="rnd">
                      <a:solidFill>
                        <a:srgbClr val="1784C7"/>
                      </a:solidFill>
                      <a:prstDash val="solid"/>
                    </a:lnT>
                    <a:lnB w="19050">
                      <a:solidFill>
                        <a:srgbClr val="1784C7"/>
                      </a:solidFill>
                      <a:prstDash val="solid"/>
                    </a:lnB>
                    <a:lnTlToBr>
                      <a:noFill/>
                    </a:lnTlToBr>
                    <a:lnBlToTr>
                      <a:noFill/>
                    </a:lnBlToTr>
                    <a:solidFill>
                      <a:srgbClr val="1784C7"/>
                    </a:solidFill>
                  </a:tcPr>
                </a:tc>
              </a:tr>
              <a:tr h="309880">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位（bit）</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9050" cap="rnd">
                      <a:solidFill>
                        <a:srgbClr val="1784C7"/>
                      </a:solidFill>
                      <a:prstDash val="solid"/>
                    </a:lnL>
                    <a:lnR w="3175">
                      <a:solidFill>
                        <a:srgbClr val="1784C7"/>
                      </a:solidFill>
                      <a:prstDash val="dot"/>
                    </a:lnR>
                    <a:lnT w="19050">
                      <a:solidFill>
                        <a:srgbClr val="1784C7"/>
                      </a:solidFill>
                      <a:prstDash val="solid"/>
                    </a:lnT>
                    <a:lnB w="3175">
                      <a:solidFill>
                        <a:srgbClr val="1784C7"/>
                      </a:solidFill>
                      <a:prstDash val="dot"/>
                    </a:lnB>
                    <a:lnTlToBr>
                      <a:noFill/>
                    </a:lnTlToBr>
                    <a:lnBlToTr>
                      <a:noFill/>
                    </a:lnBlToTr>
                    <a:solidFill>
                      <a:srgbClr val="F2F2F2"/>
                    </a:solidFill>
                  </a:tcPr>
                </a:tc>
                <a:tc>
                  <a:txBody>
                    <a:bodyPr/>
                    <a:p>
                      <a:pPr indent="0">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0或1</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3175">
                      <a:solidFill>
                        <a:srgbClr val="1784C7"/>
                      </a:solidFill>
                      <a:prstDash val="dot"/>
                    </a:lnL>
                    <a:lnR w="19050" cap="rnd">
                      <a:solidFill>
                        <a:srgbClr val="1784C7"/>
                      </a:solidFill>
                      <a:prstDash val="solid"/>
                    </a:lnR>
                    <a:lnT w="19050">
                      <a:solidFill>
                        <a:srgbClr val="1784C7"/>
                      </a:solidFill>
                      <a:prstDash val="solid"/>
                    </a:lnT>
                    <a:lnB w="3175">
                      <a:solidFill>
                        <a:srgbClr val="1784C7"/>
                      </a:solidFill>
                      <a:prstDash val="dot"/>
                    </a:lnB>
                    <a:lnTlToBr>
                      <a:noFill/>
                    </a:lnTlToBr>
                    <a:lnBlToTr>
                      <a:noFill/>
                    </a:lnBlToTr>
                    <a:solidFill>
                      <a:srgbClr val="F2F2F2"/>
                    </a:solidFill>
                  </a:tcPr>
                </a:tc>
              </a:tr>
              <a:tr h="309880">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字节（byte）</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9050" cap="rnd">
                      <a:solidFill>
                        <a:srgbClr val="1784C7"/>
                      </a:solidFill>
                      <a:prstDash val="solid"/>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0~</a:t>
                      </a:r>
                      <a:r>
                        <a:rPr lang="en-US" sz="2000" b="0">
                          <a:solidFill>
                            <a:srgbClr val="404040"/>
                          </a:solidFill>
                          <a:latin typeface="Times New Roman" panose="02020603050405020304" charset="0"/>
                          <a:cs typeface="Times New Roman" panose="02020603050405020304" charset="0"/>
                        </a:rPr>
                        <a:t>255</a:t>
                      </a:r>
                      <a:endParaRPr lang="en-US" altLang="en-US" sz="2000" b="0">
                        <a:solidFill>
                          <a:srgbClr val="404040"/>
                        </a:solidFill>
                        <a:latin typeface="Times New Roman" panose="02020603050405020304" charset="0"/>
                        <a:ea typeface="宋体" panose="02010600030101010101" pitchFamily="2" charset="-122"/>
                        <a:cs typeface="Times New Roman" panose="02020603050405020304" charset="0"/>
                      </a:endParaRPr>
                    </a:p>
                  </a:txBody>
                  <a:tcPr marL="68571" marR="68571" marT="0" marB="0" vert="horz" anchor="t">
                    <a:lnL w="3175">
                      <a:solidFill>
                        <a:srgbClr val="1784C7"/>
                      </a:solidFill>
                      <a:prstDash val="dot"/>
                    </a:lnL>
                    <a:lnR w="19050" cap="rnd">
                      <a:solidFill>
                        <a:srgbClr val="1784C7"/>
                      </a:solidFill>
                      <a:prstDash val="solid"/>
                    </a:lnR>
                    <a:lnT w="3175">
                      <a:solidFill>
                        <a:srgbClr val="1784C7"/>
                      </a:solidFill>
                      <a:prstDash val="dot"/>
                    </a:lnT>
                    <a:lnB w="3175">
                      <a:solidFill>
                        <a:srgbClr val="1784C7"/>
                      </a:solidFill>
                      <a:prstDash val="dot"/>
                    </a:lnB>
                    <a:lnTlToBr>
                      <a:noFill/>
                    </a:lnTlToBr>
                    <a:lnBlToTr>
                      <a:noFill/>
                    </a:lnBlToTr>
                    <a:solidFill>
                      <a:srgbClr val="FFFFFF"/>
                    </a:solidFill>
                  </a:tcPr>
                </a:tc>
              </a:tr>
              <a:tr h="309880">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字（word）</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9050" cap="rnd">
                      <a:solidFill>
                        <a:srgbClr val="1784C7"/>
                      </a:solidFill>
                      <a:prstDash val="solid"/>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0~</a:t>
                      </a:r>
                      <a:r>
                        <a:rPr lang="en-US" sz="2000" b="0">
                          <a:solidFill>
                            <a:srgbClr val="404040"/>
                          </a:solidFill>
                          <a:latin typeface="Times New Roman" panose="02020603050405020304" charset="0"/>
                          <a:cs typeface="Times New Roman" panose="02020603050405020304" charset="0"/>
                        </a:rPr>
                        <a:t>65535</a:t>
                      </a: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或0~</a:t>
                      </a:r>
                      <a:r>
                        <a:rPr lang="en-US" sz="2000" b="0">
                          <a:solidFill>
                            <a:srgbClr val="404040"/>
                          </a:solidFill>
                          <a:latin typeface="Times New Roman" panose="02020603050405020304" charset="0"/>
                          <a:cs typeface="Times New Roman" panose="02020603050405020304" charset="0"/>
                        </a:rPr>
                        <a:t>4294967295</a:t>
                      </a:r>
                      <a:endParaRPr lang="en-US" altLang="en-US" sz="2000" b="0">
                        <a:solidFill>
                          <a:srgbClr val="404040"/>
                        </a:solidFill>
                        <a:latin typeface="Times New Roman" panose="02020603050405020304" charset="0"/>
                        <a:ea typeface="宋体" panose="02010600030101010101" pitchFamily="2" charset="-122"/>
                        <a:cs typeface="Times New Roman" panose="02020603050405020304" charset="0"/>
                      </a:endParaRPr>
                    </a:p>
                  </a:txBody>
                  <a:tcPr marL="68571" marR="68571" marT="0" marB="0" vert="horz" anchor="t">
                    <a:lnL w="3175">
                      <a:solidFill>
                        <a:srgbClr val="1784C7"/>
                      </a:solidFill>
                      <a:prstDash val="dot"/>
                    </a:lnL>
                    <a:lnR w="19050" cap="rnd">
                      <a:solidFill>
                        <a:srgbClr val="1784C7"/>
                      </a:solidFill>
                      <a:prstDash val="solid"/>
                    </a:lnR>
                    <a:lnT w="3175">
                      <a:solidFill>
                        <a:srgbClr val="1784C7"/>
                      </a:solidFill>
                      <a:prstDash val="dot"/>
                    </a:lnT>
                    <a:lnB w="3175">
                      <a:solidFill>
                        <a:srgbClr val="1784C7"/>
                      </a:solidFill>
                      <a:prstDash val="dot"/>
                    </a:lnB>
                    <a:lnTlToBr>
                      <a:noFill/>
                    </a:lnTlToBr>
                    <a:lnBlToTr>
                      <a:noFill/>
                    </a:lnBlToTr>
                    <a:solidFill>
                      <a:srgbClr val="F2F2F2"/>
                    </a:solidFill>
                  </a:tcPr>
                </a:tc>
              </a:tr>
              <a:tr h="309880">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千（KB）</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9050" cap="rnd">
                      <a:solidFill>
                        <a:srgbClr val="1784C7"/>
                      </a:solidFill>
                      <a:prstDash val="solid"/>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1024</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3175">
                      <a:solidFill>
                        <a:srgbClr val="1784C7"/>
                      </a:solidFill>
                      <a:prstDash val="dot"/>
                    </a:lnL>
                    <a:lnR w="19050" cap="rnd">
                      <a:solidFill>
                        <a:srgbClr val="1784C7"/>
                      </a:solidFill>
                      <a:prstDash val="solid"/>
                    </a:lnR>
                    <a:lnT w="3175">
                      <a:solidFill>
                        <a:srgbClr val="1784C7"/>
                      </a:solidFill>
                      <a:prstDash val="dot"/>
                    </a:lnT>
                    <a:lnB w="3175">
                      <a:solidFill>
                        <a:srgbClr val="1784C7"/>
                      </a:solidFill>
                      <a:prstDash val="dot"/>
                    </a:lnB>
                    <a:lnTlToBr>
                      <a:noFill/>
                    </a:lnTlToBr>
                    <a:lnBlToTr>
                      <a:noFill/>
                    </a:lnBlToTr>
                    <a:solidFill>
                      <a:srgbClr val="FFFFFF"/>
                    </a:solidFill>
                  </a:tcPr>
                </a:tc>
              </a:tr>
              <a:tr h="309880">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兆（MB）</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9050" cap="rnd">
                      <a:solidFill>
                        <a:srgbClr val="1784C7"/>
                      </a:solidFill>
                      <a:prstDash val="solid"/>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1048576</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3175">
                      <a:solidFill>
                        <a:srgbClr val="1784C7"/>
                      </a:solidFill>
                      <a:prstDash val="dot"/>
                    </a:lnL>
                    <a:lnR w="19050" cap="rnd">
                      <a:solidFill>
                        <a:srgbClr val="1784C7"/>
                      </a:solidFill>
                      <a:prstDash val="solid"/>
                    </a:lnR>
                    <a:lnT w="3175">
                      <a:solidFill>
                        <a:srgbClr val="1784C7"/>
                      </a:solidFill>
                      <a:prstDash val="dot"/>
                    </a:lnT>
                    <a:lnB w="3175">
                      <a:solidFill>
                        <a:srgbClr val="1784C7"/>
                      </a:solidFill>
                      <a:prstDash val="dot"/>
                    </a:lnB>
                    <a:lnTlToBr>
                      <a:noFill/>
                    </a:lnTlToBr>
                    <a:lnBlToTr>
                      <a:noFill/>
                    </a:lnBlToTr>
                    <a:solidFill>
                      <a:srgbClr val="F2F2F2"/>
                    </a:solidFill>
                  </a:tcPr>
                </a:tc>
              </a:tr>
              <a:tr h="309880">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吉（GB）</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9050" cap="rnd">
                      <a:solidFill>
                        <a:srgbClr val="1784C7"/>
                      </a:solidFill>
                      <a:prstDash val="solid"/>
                    </a:lnL>
                    <a:lnR w="3175">
                      <a:solidFill>
                        <a:srgbClr val="1784C7"/>
                      </a:solidFill>
                      <a:prstDash val="dot"/>
                    </a:lnR>
                    <a:lnT w="3175">
                      <a:solidFill>
                        <a:srgbClr val="1784C7"/>
                      </a:solidFill>
                      <a:prstDash val="dot"/>
                    </a:lnT>
                    <a:lnB w="19050" cap="rnd">
                      <a:solidFill>
                        <a:srgbClr val="1784C7"/>
                      </a:solidFill>
                      <a:prstDash val="solid"/>
                    </a:lnB>
                    <a:lnTlToBr>
                      <a:noFill/>
                    </a:lnTlToBr>
                    <a:lnBlToTr>
                      <a:noFill/>
                    </a:lnBlToTr>
                    <a:solidFill>
                      <a:srgbClr val="FFFFFF"/>
                    </a:solidFill>
                  </a:tcPr>
                </a:tc>
                <a:tc>
                  <a:txBody>
                    <a:bodyPr/>
                    <a:p>
                      <a:pPr indent="0">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1073741824</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3175">
                      <a:solidFill>
                        <a:srgbClr val="1784C7"/>
                      </a:solidFill>
                      <a:prstDash val="dot"/>
                    </a:lnL>
                    <a:lnR w="19050" cap="rnd">
                      <a:solidFill>
                        <a:srgbClr val="1784C7"/>
                      </a:solidFill>
                      <a:prstDash val="solid"/>
                    </a:lnR>
                    <a:lnT w="3175">
                      <a:solidFill>
                        <a:srgbClr val="1784C7"/>
                      </a:solidFill>
                      <a:prstDash val="dot"/>
                    </a:lnT>
                    <a:lnB w="19050" cap="rnd">
                      <a:solidFill>
                        <a:srgbClr val="1784C7"/>
                      </a:solidFill>
                      <a:prstDash val="solid"/>
                    </a:lnB>
                    <a:lnTlToBr>
                      <a:noFill/>
                    </a:lnTlToBr>
                    <a:lnBlToTr>
                      <a:noFill/>
                    </a:lnBlToTr>
                    <a:solidFill>
                      <a:srgbClr val="FFFFFF"/>
                    </a:solidFill>
                  </a:tcPr>
                </a:tc>
              </a:tr>
            </a:tbl>
          </a:graphicData>
        </a:graphic>
      </p:graphicFrame>
      <p:sp>
        <p:nvSpPr>
          <p:cNvPr id="100" name="文本框 99"/>
          <p:cNvSpPr txBox="1"/>
          <p:nvPr/>
        </p:nvSpPr>
        <p:spPr>
          <a:xfrm>
            <a:off x="3267001" y="6294366"/>
            <a:ext cx="5079373" cy="368300"/>
          </a:xfrm>
          <a:prstGeom prst="rect">
            <a:avLst/>
          </a:prstGeom>
          <a:noFill/>
          <a:ln w="9525">
            <a:noFill/>
          </a:ln>
        </p:spPr>
        <p:txBody>
          <a:bodyPr>
            <a:spAutoFit/>
          </a:bodyPr>
          <a:p>
            <a:pPr indent="295275" algn="ctr"/>
            <a:r>
              <a:rPr lang="zh-CN" b="0">
                <a:latin typeface="Times New Roman" panose="02020603050405020304" charset="0"/>
                <a:ea typeface="宋体" panose="02010600030101010101" pitchFamily="2" charset="-122"/>
              </a:rPr>
              <a:t>表</a:t>
            </a:r>
            <a:r>
              <a:rPr lang="en-US" b="0">
                <a:latin typeface="Times New Roman" panose="02020603050405020304" charset="0"/>
                <a:ea typeface="宋体" panose="02010600030101010101" pitchFamily="2" charset="-122"/>
                <a:cs typeface="宋体" panose="02010600030101010101" pitchFamily="2" charset="-122"/>
              </a:rPr>
              <a:t>3</a:t>
            </a:r>
            <a:r>
              <a:rPr lang="en-US" b="0">
                <a:latin typeface="Times New Roman" panose="02020603050405020304" charset="0"/>
              </a:rPr>
              <a:t>-</a:t>
            </a:r>
            <a:r>
              <a:rPr lang="en-US" b="0">
                <a:latin typeface="Times New Roman" panose="02020603050405020304" charset="0"/>
                <a:ea typeface="宋体" panose="02010600030101010101" pitchFamily="2" charset="-122"/>
                <a:cs typeface="宋体" panose="02010600030101010101" pitchFamily="2" charset="-122"/>
              </a:rPr>
              <a:t>12 </a:t>
            </a:r>
            <a:r>
              <a:rPr lang="zh-CN" b="0">
                <a:latin typeface="Times New Roman" panose="02020603050405020304" charset="0"/>
                <a:ea typeface="宋体" panose="02010600030101010101" pitchFamily="2" charset="-122"/>
              </a:rPr>
              <a:t>数值的边界情况</a:t>
            </a:r>
            <a:endParaRPr lang="zh-CN" altLang="en-US"/>
          </a:p>
        </p:txBody>
      </p:sp>
    </p:spTree>
  </p:cSld>
  <p:clrMapOvr>
    <a:masterClrMapping/>
  </p:clrMapOvr>
  <p:transition advTm="1310">
    <p:rand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边界值</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aphicFrame>
        <p:nvGraphicFramePr>
          <p:cNvPr id="2" name="对象 1">
            <a:hlinkClick r:id="" action="ppaction://ole?verb="/>
          </p:cNvPr>
          <p:cNvGraphicFramePr>
            <a:graphicFrameLocks noChangeAspect="1"/>
          </p:cNvGraphicFramePr>
          <p:nvPr/>
        </p:nvGraphicFramePr>
        <p:xfrm>
          <a:off x="5638856" y="3321239"/>
          <a:ext cx="914287" cy="215873"/>
        </p:xfrm>
        <a:graphic>
          <a:graphicData uri="http://schemas.openxmlformats.org/presentationml/2006/ole">
            <mc:AlternateContent xmlns:mc="http://schemas.openxmlformats.org/markup-compatibility/2006">
              <mc:Choice xmlns:v="urn:schemas-microsoft-com:vml" Requires="v">
                <p:oleObj spid="_x0000_s1025" name="" r:id="rId1" imgW="914400" imgH="215900" progId="Equation.KSEE3">
                  <p:embed/>
                </p:oleObj>
              </mc:Choice>
              <mc:Fallback>
                <p:oleObj name="" r:id="rId1" imgW="914400" imgH="215900" progId="Equation.KSEE3">
                  <p:embed/>
                  <p:pic>
                    <p:nvPicPr>
                      <p:cNvPr id="0" name="图片 1024"/>
                      <p:cNvPicPr/>
                      <p:nvPr/>
                    </p:nvPicPr>
                    <p:blipFill>
                      <a:blip r:embed="rId2"/>
                      <a:stretch>
                        <a:fillRect/>
                      </a:stretch>
                    </p:blipFill>
                    <p:spPr>
                      <a:xfrm>
                        <a:off x="5638856" y="3321239"/>
                        <a:ext cx="914287" cy="215873"/>
                      </a:xfrm>
                      <a:prstGeom prst="rect">
                        <a:avLst/>
                      </a:prstGeom>
                    </p:spPr>
                  </p:pic>
                </p:oleObj>
              </mc:Fallback>
            </mc:AlternateContent>
          </a:graphicData>
        </a:graphic>
      </p:graphicFrame>
      <p:graphicFrame>
        <p:nvGraphicFramePr>
          <p:cNvPr id="31" name="对象 30">
            <a:hlinkClick r:id="" action="ppaction://ole?verb="/>
          </p:cNvPr>
          <p:cNvGraphicFramePr>
            <a:graphicFrameLocks noChangeAspect="1"/>
          </p:cNvGraphicFramePr>
          <p:nvPr/>
        </p:nvGraphicFramePr>
        <p:xfrm>
          <a:off x="5638856" y="3321239"/>
          <a:ext cx="914287" cy="215873"/>
        </p:xfrm>
        <a:graphic>
          <a:graphicData uri="http://schemas.openxmlformats.org/presentationml/2006/ole">
            <mc:AlternateContent xmlns:mc="http://schemas.openxmlformats.org/markup-compatibility/2006">
              <mc:Choice xmlns:v="urn:schemas-microsoft-com:vml" Requires="v">
                <p:oleObj spid="_x0000_s1027" name="" r:id="rId3" imgW="914400" imgH="215900" progId="Equation.KSEE3">
                  <p:embed/>
                </p:oleObj>
              </mc:Choice>
              <mc:Fallback>
                <p:oleObj name="" r:id="rId3" imgW="914400" imgH="215900" progId="Equation.KSEE3">
                  <p:embed/>
                  <p:pic>
                    <p:nvPicPr>
                      <p:cNvPr id="0" name="图片 1026"/>
                      <p:cNvPicPr/>
                      <p:nvPr/>
                    </p:nvPicPr>
                    <p:blipFill>
                      <a:blip r:embed="rId2"/>
                      <a:stretch>
                        <a:fillRect/>
                      </a:stretch>
                    </p:blipFill>
                    <p:spPr>
                      <a:xfrm>
                        <a:off x="5638856" y="3321239"/>
                        <a:ext cx="914287" cy="215873"/>
                      </a:xfrm>
                      <a:prstGeom prst="rect">
                        <a:avLst/>
                      </a:prstGeom>
                    </p:spPr>
                  </p:pic>
                </p:oleObj>
              </mc:Fallback>
            </mc:AlternateContent>
          </a:graphicData>
        </a:graphic>
      </p:graphicFrame>
      <p:sp>
        <p:nvSpPr>
          <p:cNvPr id="4" name="文本框 3"/>
          <p:cNvSpPr txBox="1"/>
          <p:nvPr/>
        </p:nvSpPr>
        <p:spPr>
          <a:xfrm>
            <a:off x="1339167" y="516791"/>
            <a:ext cx="9513665" cy="1753235"/>
          </a:xfrm>
          <a:prstGeom prst="rect">
            <a:avLst/>
          </a:prstGeom>
          <a:noFill/>
        </p:spPr>
        <p:txBody>
          <a:bodyPr wrap="square" rtlCol="0">
            <a:spAutoFit/>
          </a:bodyPr>
          <a:p>
            <a:pPr fontAlgn="auto">
              <a:lnSpc>
                <a:spcPct val="150000"/>
              </a:lnSpc>
            </a:pPr>
            <a:r>
              <a:rPr sz="2400">
                <a:latin typeface="微软雅黑" panose="020B0503020204020204" pitchFamily="34" charset="-122"/>
                <a:ea typeface="微软雅黑" panose="020B0503020204020204" pitchFamily="34" charset="-122"/>
                <a:cs typeface="微软雅黑" panose="020B0503020204020204" pitchFamily="34" charset="-122"/>
              </a:rPr>
              <a:t>2)字符的边界值检验：在计算机软件中，字符也是很重要的表示元素，其中ASCII和Unicode是常见的编码方式。下表中列出了一些常用字符对应的ASCII码值。如表7-2所示。</a:t>
            </a:r>
            <a:endParaRPr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3303615" y="5220925"/>
            <a:ext cx="5079373" cy="368300"/>
          </a:xfrm>
          <a:prstGeom prst="rect">
            <a:avLst/>
          </a:prstGeom>
          <a:noFill/>
          <a:ln w="9525">
            <a:noFill/>
          </a:ln>
        </p:spPr>
        <p:txBody>
          <a:bodyPr>
            <a:spAutoFit/>
          </a:bodyPr>
          <a:p>
            <a:pPr indent="295275" algn="ctr"/>
            <a:r>
              <a:rPr b="0">
                <a:latin typeface="Times New Roman" panose="02020603050405020304" charset="0"/>
              </a:rPr>
              <a:t>表3-13 字符的边界情况</a:t>
            </a:r>
            <a:endParaRPr b="0">
              <a:latin typeface="Times New Roman" panose="02020603050405020304" charset="0"/>
            </a:endParaRPr>
          </a:p>
        </p:txBody>
      </p:sp>
      <p:graphicFrame>
        <p:nvGraphicFramePr>
          <p:cNvPr id="5" name="表格 4"/>
          <p:cNvGraphicFramePr/>
          <p:nvPr>
            <p:custDataLst>
              <p:tags r:id="rId4"/>
            </p:custDataLst>
          </p:nvPr>
        </p:nvGraphicFramePr>
        <p:xfrm>
          <a:off x="1606786" y="2370762"/>
          <a:ext cx="8121650" cy="2694305"/>
        </p:xfrm>
        <a:graphic>
          <a:graphicData uri="http://schemas.openxmlformats.org/drawingml/2006/table">
            <a:tbl>
              <a:tblPr firstRow="1" bandRow="1">
                <a:tableStyleId>{5940675A-B579-460E-94D1-54222C63F5DA}</a:tableStyleId>
              </a:tblPr>
              <a:tblGrid>
                <a:gridCol w="2030095"/>
                <a:gridCol w="2030095"/>
                <a:gridCol w="2028825"/>
                <a:gridCol w="2032635"/>
              </a:tblGrid>
              <a:tr h="331470">
                <a:tc>
                  <a:txBody>
                    <a:bodyPr/>
                    <a:p>
                      <a:pPr indent="0" algn="ctr">
                        <a:buNone/>
                      </a:pPr>
                      <a:r>
                        <a:rPr lang="en-US" sz="2000" b="1">
                          <a:solidFill>
                            <a:srgbClr val="FFFFFF"/>
                          </a:solidFill>
                          <a:latin typeface="宋体" panose="02010600030101010101" pitchFamily="2" charset="-122"/>
                          <a:ea typeface="宋体" panose="02010600030101010101" pitchFamily="2" charset="-122"/>
                          <a:cs typeface="宋体" panose="02010600030101010101" pitchFamily="2" charset="-122"/>
                        </a:rPr>
                        <a:t>字符</a:t>
                      </a:r>
                      <a:endParaRPr lang="en-US" altLang="en-US" sz="2000" b="1">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9050" cap="rnd">
                      <a:solidFill>
                        <a:srgbClr val="1784C7"/>
                      </a:solidFill>
                      <a:prstDash val="solid"/>
                    </a:lnL>
                    <a:lnR w="3175">
                      <a:solidFill>
                        <a:srgbClr val="FFFFFF"/>
                      </a:solidFill>
                      <a:prstDash val="dot"/>
                    </a:lnR>
                    <a:lnT w="19050" cap="rnd">
                      <a:solidFill>
                        <a:srgbClr val="1784C7"/>
                      </a:solidFill>
                      <a:prstDash val="solid"/>
                    </a:lnT>
                    <a:lnB w="19050">
                      <a:solidFill>
                        <a:srgbClr val="1784C7"/>
                      </a:solidFill>
                      <a:prstDash val="solid"/>
                    </a:lnB>
                    <a:lnTlToBr>
                      <a:noFill/>
                    </a:lnTlToBr>
                    <a:lnBlToTr>
                      <a:noFill/>
                    </a:lnBlToTr>
                    <a:solidFill>
                      <a:srgbClr val="1784C7"/>
                    </a:solidFill>
                  </a:tcPr>
                </a:tc>
                <a:tc>
                  <a:txBody>
                    <a:bodyPr/>
                    <a:p>
                      <a:pPr indent="0" algn="ctr">
                        <a:buNone/>
                      </a:pPr>
                      <a:r>
                        <a:rPr lang="en-US" sz="2000" b="1">
                          <a:solidFill>
                            <a:srgbClr val="FFFFFF"/>
                          </a:solidFill>
                          <a:latin typeface="宋体" panose="02010600030101010101" pitchFamily="2" charset="-122"/>
                          <a:ea typeface="宋体" panose="02010600030101010101" pitchFamily="2" charset="-122"/>
                          <a:cs typeface="宋体" panose="02010600030101010101" pitchFamily="2" charset="-122"/>
                        </a:rPr>
                        <a:t>ASCII码值</a:t>
                      </a:r>
                      <a:endParaRPr lang="en-US" altLang="en-US" sz="2000" b="1">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3175">
                      <a:solidFill>
                        <a:srgbClr val="FFFFFF"/>
                      </a:solidFill>
                      <a:prstDash val="dot"/>
                    </a:lnL>
                    <a:lnR w="3175">
                      <a:solidFill>
                        <a:srgbClr val="FFFFFF"/>
                      </a:solidFill>
                      <a:prstDash val="dot"/>
                    </a:lnR>
                    <a:lnT w="19050" cap="rnd">
                      <a:solidFill>
                        <a:srgbClr val="1784C7"/>
                      </a:solidFill>
                      <a:prstDash val="solid"/>
                    </a:lnT>
                    <a:lnB w="19050">
                      <a:solidFill>
                        <a:srgbClr val="1784C7"/>
                      </a:solidFill>
                      <a:prstDash val="solid"/>
                    </a:lnB>
                    <a:lnTlToBr>
                      <a:noFill/>
                    </a:lnTlToBr>
                    <a:lnBlToTr>
                      <a:noFill/>
                    </a:lnBlToTr>
                    <a:solidFill>
                      <a:srgbClr val="1784C7"/>
                    </a:solidFill>
                  </a:tcPr>
                </a:tc>
                <a:tc>
                  <a:txBody>
                    <a:bodyPr/>
                    <a:p>
                      <a:pPr indent="0" algn="ctr">
                        <a:buNone/>
                      </a:pPr>
                      <a:r>
                        <a:rPr lang="en-US" sz="2000" b="1">
                          <a:solidFill>
                            <a:srgbClr val="FFFFFF"/>
                          </a:solidFill>
                          <a:latin typeface="宋体" panose="02010600030101010101" pitchFamily="2" charset="-122"/>
                          <a:ea typeface="宋体" panose="02010600030101010101" pitchFamily="2" charset="-122"/>
                          <a:cs typeface="宋体" panose="02010600030101010101" pitchFamily="2" charset="-122"/>
                        </a:rPr>
                        <a:t>字符</a:t>
                      </a:r>
                      <a:endParaRPr lang="en-US" altLang="en-US" sz="2000" b="1">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3175">
                      <a:solidFill>
                        <a:srgbClr val="FFFFFF"/>
                      </a:solidFill>
                      <a:prstDash val="dot"/>
                    </a:lnL>
                    <a:lnR w="3175">
                      <a:solidFill>
                        <a:srgbClr val="FFFFFF"/>
                      </a:solidFill>
                      <a:prstDash val="dot"/>
                    </a:lnR>
                    <a:lnT w="19050" cap="rnd">
                      <a:solidFill>
                        <a:srgbClr val="1784C7"/>
                      </a:solidFill>
                      <a:prstDash val="solid"/>
                    </a:lnT>
                    <a:lnB w="19050">
                      <a:solidFill>
                        <a:srgbClr val="1784C7"/>
                      </a:solidFill>
                      <a:prstDash val="solid"/>
                    </a:lnB>
                    <a:lnTlToBr>
                      <a:noFill/>
                    </a:lnTlToBr>
                    <a:lnBlToTr>
                      <a:noFill/>
                    </a:lnBlToTr>
                    <a:solidFill>
                      <a:srgbClr val="1784C7"/>
                    </a:solidFill>
                  </a:tcPr>
                </a:tc>
                <a:tc>
                  <a:txBody>
                    <a:bodyPr/>
                    <a:p>
                      <a:pPr indent="0" algn="ctr">
                        <a:buNone/>
                      </a:pPr>
                      <a:r>
                        <a:rPr lang="en-US" sz="2000" b="1">
                          <a:solidFill>
                            <a:srgbClr val="FFFFFF"/>
                          </a:solidFill>
                          <a:latin typeface="宋体" panose="02010600030101010101" pitchFamily="2" charset="-122"/>
                          <a:ea typeface="宋体" panose="02010600030101010101" pitchFamily="2" charset="-122"/>
                          <a:cs typeface="宋体" panose="02010600030101010101" pitchFamily="2" charset="-122"/>
                        </a:rPr>
                        <a:t>ASCII码值</a:t>
                      </a:r>
                      <a:endParaRPr lang="en-US" altLang="en-US" sz="2000" b="1">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3175">
                      <a:solidFill>
                        <a:srgbClr val="FFFFFF"/>
                      </a:solidFill>
                      <a:prstDash val="dot"/>
                    </a:lnL>
                    <a:lnR w="19050" cap="rnd">
                      <a:solidFill>
                        <a:srgbClr val="1784C7"/>
                      </a:solidFill>
                      <a:prstDash val="solid"/>
                    </a:lnR>
                    <a:lnT w="19050" cap="rnd">
                      <a:solidFill>
                        <a:srgbClr val="1784C7"/>
                      </a:solidFill>
                      <a:prstDash val="solid"/>
                    </a:lnT>
                    <a:lnB w="19050">
                      <a:solidFill>
                        <a:srgbClr val="1784C7"/>
                      </a:solidFill>
                      <a:prstDash val="solid"/>
                    </a:lnB>
                    <a:lnTlToBr>
                      <a:noFill/>
                    </a:lnTlToBr>
                    <a:lnBlToTr>
                      <a:noFill/>
                    </a:lnBlToTr>
                    <a:solidFill>
                      <a:srgbClr val="1784C7"/>
                    </a:solidFill>
                  </a:tcPr>
                </a:tc>
              </a:tr>
              <a:tr h="374015">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空（null）</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1784C7"/>
                      </a:solidFill>
                      <a:prstDash val="dot"/>
                    </a:lnR>
                    <a:lnT w="19050">
                      <a:solidFill>
                        <a:srgbClr val="1784C7"/>
                      </a:solidFill>
                      <a:prstDash val="solid"/>
                    </a:lnT>
                    <a:lnB w="3175">
                      <a:solidFill>
                        <a:srgbClr val="1784C7"/>
                      </a:solidFill>
                      <a:prstDash val="dot"/>
                    </a:lnB>
                    <a:lnTlToBr>
                      <a:noFill/>
                    </a:lnTlToBr>
                    <a:lnBlToTr>
                      <a:noFill/>
                    </a:lnBlToTr>
                    <a:solidFill>
                      <a:srgbClr val="F2F2F2"/>
                    </a:solidFill>
                  </a:tcPr>
                </a:tc>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19050">
                      <a:solidFill>
                        <a:srgbClr val="1784C7"/>
                      </a:solidFill>
                      <a:prstDash val="solid"/>
                    </a:lnT>
                    <a:lnB w="3175">
                      <a:solidFill>
                        <a:srgbClr val="1784C7"/>
                      </a:solidFill>
                      <a:prstDash val="dot"/>
                    </a:lnB>
                    <a:lnTlToBr>
                      <a:noFill/>
                    </a:lnTlToBr>
                    <a:lnBlToTr>
                      <a:noFill/>
                    </a:lnBlToTr>
                    <a:solidFill>
                      <a:srgbClr val="F2F2F2"/>
                    </a:solidFill>
                  </a:tcPr>
                </a:tc>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A</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19050">
                      <a:solidFill>
                        <a:srgbClr val="1784C7"/>
                      </a:solidFill>
                      <a:prstDash val="solid"/>
                    </a:lnT>
                    <a:lnB w="3175">
                      <a:solidFill>
                        <a:srgbClr val="1784C7"/>
                      </a:solidFill>
                      <a:prstDash val="dot"/>
                    </a:lnB>
                    <a:lnTlToBr>
                      <a:noFill/>
                    </a:lnTlToBr>
                    <a:lnBlToTr>
                      <a:noFill/>
                    </a:lnBlToTr>
                    <a:solidFill>
                      <a:srgbClr val="F2F2F2"/>
                    </a:solidFill>
                  </a:tcPr>
                </a:tc>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65</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19050" cap="rnd">
                      <a:solidFill>
                        <a:srgbClr val="1784C7"/>
                      </a:solidFill>
                      <a:prstDash val="solid"/>
                    </a:lnR>
                    <a:lnT w="19050">
                      <a:solidFill>
                        <a:srgbClr val="1784C7"/>
                      </a:solidFill>
                      <a:prstDash val="solid"/>
                    </a:lnT>
                    <a:lnB w="3175">
                      <a:solidFill>
                        <a:srgbClr val="1784C7"/>
                      </a:solidFill>
                      <a:prstDash val="dot"/>
                    </a:lnB>
                    <a:lnTlToBr>
                      <a:noFill/>
                    </a:lnTlToBr>
                    <a:lnBlToTr>
                      <a:noFill/>
                    </a:lnBlToTr>
                    <a:solidFill>
                      <a:srgbClr val="F2F2F2"/>
                    </a:solidFill>
                  </a:tcPr>
                </a:tc>
              </a:tr>
              <a:tr h="662940">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空格（space）</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32</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a</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97</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19050" cap="rnd">
                      <a:solidFill>
                        <a:srgbClr val="1784C7"/>
                      </a:solidFill>
                      <a:prstDash val="solid"/>
                    </a:lnR>
                    <a:lnT w="3175">
                      <a:solidFill>
                        <a:srgbClr val="1784C7"/>
                      </a:solidFill>
                      <a:prstDash val="dot"/>
                    </a:lnT>
                    <a:lnB w="3175">
                      <a:solidFill>
                        <a:srgbClr val="1784C7"/>
                      </a:solidFill>
                      <a:prstDash val="dot"/>
                    </a:lnB>
                    <a:lnTlToBr>
                      <a:noFill/>
                    </a:lnTlToBr>
                    <a:lnBlToTr>
                      <a:noFill/>
                    </a:lnBlToTr>
                    <a:solidFill>
                      <a:srgbClr val="FFFFFF"/>
                    </a:solidFill>
                  </a:tcPr>
                </a:tc>
              </a:tr>
              <a:tr h="331470">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斜杠（/）</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47</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Z</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90</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19050" cap="rnd">
                      <a:solidFill>
                        <a:srgbClr val="1784C7"/>
                      </a:solidFill>
                      <a:prstDash val="solid"/>
                    </a:lnR>
                    <a:lnT w="3175">
                      <a:solidFill>
                        <a:srgbClr val="1784C7"/>
                      </a:solidFill>
                      <a:prstDash val="dot"/>
                    </a:lnT>
                    <a:lnB w="3175">
                      <a:solidFill>
                        <a:srgbClr val="1784C7"/>
                      </a:solidFill>
                      <a:prstDash val="dot"/>
                    </a:lnB>
                    <a:lnTlToBr>
                      <a:noFill/>
                    </a:lnTlToBr>
                    <a:lnBlToTr>
                      <a:noFill/>
                    </a:lnBlToTr>
                    <a:solidFill>
                      <a:srgbClr val="F2F2F2"/>
                    </a:solidFill>
                  </a:tcPr>
                </a:tc>
              </a:tr>
              <a:tr h="331470">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48</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z</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122</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19050" cap="rnd">
                      <a:solidFill>
                        <a:srgbClr val="1784C7"/>
                      </a:solidFill>
                      <a:prstDash val="solid"/>
                    </a:lnR>
                    <a:lnT w="3175">
                      <a:solidFill>
                        <a:srgbClr val="1784C7"/>
                      </a:solidFill>
                      <a:prstDash val="dot"/>
                    </a:lnT>
                    <a:lnB w="3175">
                      <a:solidFill>
                        <a:srgbClr val="1784C7"/>
                      </a:solidFill>
                      <a:prstDash val="dot"/>
                    </a:lnB>
                    <a:lnTlToBr>
                      <a:noFill/>
                    </a:lnTlToBr>
                    <a:lnBlToTr>
                      <a:noFill/>
                    </a:lnBlToTr>
                    <a:solidFill>
                      <a:srgbClr val="FFFFFF"/>
                    </a:solidFill>
                  </a:tcPr>
                </a:tc>
              </a:tr>
              <a:tr h="331470">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冒号（：）</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58</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单引号（‘）</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96</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19050" cap="rnd">
                      <a:solidFill>
                        <a:srgbClr val="1784C7"/>
                      </a:solidFill>
                      <a:prstDash val="solid"/>
                    </a:lnR>
                    <a:lnT w="3175">
                      <a:solidFill>
                        <a:srgbClr val="1784C7"/>
                      </a:solidFill>
                      <a:prstDash val="dot"/>
                    </a:lnT>
                    <a:lnB w="3175">
                      <a:solidFill>
                        <a:srgbClr val="1784C7"/>
                      </a:solidFill>
                      <a:prstDash val="dot"/>
                    </a:lnB>
                    <a:lnTlToBr>
                      <a:noFill/>
                    </a:lnTlToBr>
                    <a:lnBlToTr>
                      <a:noFill/>
                    </a:lnBlToTr>
                    <a:solidFill>
                      <a:srgbClr val="F2F2F2"/>
                    </a:solidFill>
                  </a:tcPr>
                </a:tc>
              </a:tr>
              <a:tr h="331470">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1784C7"/>
                      </a:solidFill>
                      <a:prstDash val="dot"/>
                    </a:lnR>
                    <a:lnT w="3175">
                      <a:solidFill>
                        <a:srgbClr val="1784C7"/>
                      </a:solidFill>
                      <a:prstDash val="dot"/>
                    </a:lnT>
                    <a:lnB w="19050" cap="rnd">
                      <a:solidFill>
                        <a:srgbClr val="1784C7"/>
                      </a:solidFill>
                      <a:prstDash val="solid"/>
                    </a:lnB>
                    <a:lnTlToBr>
                      <a:noFill/>
                    </a:lnTlToBr>
                    <a:lnBlToTr>
                      <a:noFill/>
                    </a:lnBlToTr>
                    <a:solidFill>
                      <a:srgbClr val="FFFFFF"/>
                    </a:solidFill>
                  </a:tcPr>
                </a:tc>
                <a:tc>
                  <a:txBody>
                    <a:bodyPr/>
                    <a:p>
                      <a:pPr indent="0" algn="ctr">
                        <a:buNone/>
                      </a:pPr>
                      <a:r>
                        <a:rPr lang="en-US" sz="2000" b="0">
                          <a:solidFill>
                            <a:srgbClr val="404040"/>
                          </a:solidFill>
                          <a:latin typeface="宋体" panose="02010600030101010101" pitchFamily="2" charset="-122"/>
                          <a:ea typeface="宋体" panose="02010600030101010101" pitchFamily="2" charset="-122"/>
                          <a:cs typeface="宋体" panose="02010600030101010101" pitchFamily="2" charset="-122"/>
                        </a:rPr>
                        <a:t>64</a:t>
                      </a:r>
                      <a:endParaRPr lang="en-US" altLang="en-US" sz="20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19050" cap="rnd">
                      <a:solidFill>
                        <a:srgbClr val="1784C7"/>
                      </a:solidFill>
                      <a:prstDash val="solid"/>
                    </a:lnB>
                    <a:lnTlToBr>
                      <a:noFill/>
                    </a:lnTlToBr>
                    <a:lnBlToTr>
                      <a:noFill/>
                    </a:lnBlToTr>
                    <a:solidFill>
                      <a:srgbClr val="FFFFFF"/>
                    </a:solidFill>
                  </a:tcPr>
                </a:tc>
                <a:tc>
                  <a:txBody>
                    <a:bodyPr/>
                    <a:p>
                      <a:pPr indent="0" algn="ctr">
                        <a:buNone/>
                      </a:pPr>
                      <a:r>
                        <a:rPr lang="en-US" sz="2000" b="0">
                          <a:solidFill>
                            <a:srgbClr val="404040"/>
                          </a:solidFill>
                          <a:latin typeface="Times New Roman" panose="02020603050405020304" charset="0"/>
                          <a:cs typeface="Times New Roman" panose="02020603050405020304" charset="0"/>
                        </a:rPr>
                        <a:t> </a:t>
                      </a:r>
                      <a:endParaRPr lang="en-US" altLang="en-US" sz="2000" b="0">
                        <a:solidFill>
                          <a:srgbClr val="404040"/>
                        </a:solidFill>
                        <a:latin typeface="Times New Roman" panose="02020603050405020304" charset="0"/>
                        <a:ea typeface="Times New Roman" panose="02020603050405020304" charset="0"/>
                        <a:cs typeface="Times New Roman" panose="02020603050405020304" charset="0"/>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19050" cap="rnd">
                      <a:solidFill>
                        <a:srgbClr val="1784C7"/>
                      </a:solidFill>
                      <a:prstDash val="solid"/>
                    </a:lnB>
                    <a:lnTlToBr>
                      <a:noFill/>
                    </a:lnTlToBr>
                    <a:lnBlToTr>
                      <a:noFill/>
                    </a:lnBlToTr>
                    <a:solidFill>
                      <a:srgbClr val="FFFFFF"/>
                    </a:solidFill>
                  </a:tcPr>
                </a:tc>
                <a:tc>
                  <a:txBody>
                    <a:bodyPr/>
                    <a:p>
                      <a:pPr indent="0" algn="ctr">
                        <a:buNone/>
                      </a:pPr>
                      <a:endParaRPr lang="en-US" altLang="en-US" sz="2000" b="0">
                        <a:solidFill>
                          <a:srgbClr val="404040"/>
                        </a:solidFill>
                        <a:latin typeface="Times New Roman" panose="02020603050405020304" charset="0"/>
                        <a:ea typeface="Times New Roman" panose="02020603050405020304" charset="0"/>
                        <a:cs typeface="Times New Roman" panose="02020603050405020304" charset="0"/>
                      </a:endParaRPr>
                    </a:p>
                  </a:txBody>
                  <a:tcPr marL="68571" marR="68571" marT="0" marB="0" vert="horz" anchor="ctr">
                    <a:lnL w="3175">
                      <a:solidFill>
                        <a:srgbClr val="1784C7"/>
                      </a:solidFill>
                      <a:prstDash val="dot"/>
                    </a:lnL>
                    <a:lnR w="19050" cap="rnd">
                      <a:solidFill>
                        <a:srgbClr val="1784C7"/>
                      </a:solidFill>
                      <a:prstDash val="solid"/>
                    </a:lnR>
                    <a:lnT w="3175">
                      <a:solidFill>
                        <a:srgbClr val="1784C7"/>
                      </a:solidFill>
                      <a:prstDash val="dot"/>
                    </a:lnT>
                    <a:lnB w="19050" cap="rnd">
                      <a:solidFill>
                        <a:srgbClr val="1784C7"/>
                      </a:solidFill>
                      <a:prstDash val="solid"/>
                    </a:lnB>
                    <a:lnTlToBr>
                      <a:noFill/>
                    </a:lnTlToBr>
                    <a:lnBlToTr>
                      <a:noFill/>
                    </a:lnBlToTr>
                    <a:solidFill>
                      <a:srgbClr val="FFFFFF"/>
                    </a:solidFill>
                  </a:tcPr>
                </a:tc>
              </a:tr>
            </a:tbl>
          </a:graphicData>
        </a:graphic>
      </p:graphicFrame>
      <p:sp>
        <p:nvSpPr>
          <p:cNvPr id="6" name="文本框 5"/>
          <p:cNvSpPr txBox="1"/>
          <p:nvPr/>
        </p:nvSpPr>
        <p:spPr>
          <a:xfrm>
            <a:off x="1339167" y="5619868"/>
            <a:ext cx="5079373" cy="460375"/>
          </a:xfrm>
          <a:prstGeom prst="rect">
            <a:avLst/>
          </a:prstGeom>
          <a:noFill/>
          <a:ln w="9525">
            <a:noFill/>
          </a:ln>
        </p:spPr>
        <p:txBody>
          <a:bodyPr>
            <a:spAutoFit/>
          </a:bodyPr>
          <a:p>
            <a:pPr indent="295275"/>
            <a:r>
              <a:rPr lang="en-US" sz="2400" b="0">
                <a:latin typeface="微软雅黑" panose="020B0503020204020204" pitchFamily="34" charset="-122"/>
                <a:ea typeface="微软雅黑" panose="020B0503020204020204" pitchFamily="34" charset="-122"/>
                <a:cs typeface="微软雅黑" panose="020B0503020204020204" pitchFamily="34" charset="-122"/>
              </a:rPr>
              <a:t>3)</a:t>
            </a:r>
            <a:r>
              <a:rPr lang="zh-CN" sz="2400" b="0">
                <a:latin typeface="微软雅黑" panose="020B0503020204020204" pitchFamily="34" charset="-122"/>
                <a:ea typeface="微软雅黑" panose="020B0503020204020204" pitchFamily="34" charset="-122"/>
                <a:cs typeface="微软雅黑" panose="020B0503020204020204" pitchFamily="34" charset="-122"/>
              </a:rPr>
              <a:t>其它边界值检验</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1310">
    <p:rand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105" y="1594058"/>
            <a:ext cx="2812399" cy="2101481"/>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2899539" y="3014215"/>
            <a:ext cx="7498080" cy="829945"/>
          </a:xfrm>
          <a:prstGeom prst="rect">
            <a:avLst/>
          </a:prstGeom>
          <a:noFill/>
        </p:spPr>
        <p:txBody>
          <a:bodyPr wrap="non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边界值设计测试用例的原则</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217" y="2656121"/>
            <a:ext cx="2069153" cy="1546112"/>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5702" y="2328231"/>
            <a:ext cx="3457976" cy="2583868"/>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8675" y="2883913"/>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02</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1731">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499" y="57108"/>
            <a:ext cx="3536514" cy="55809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边界值设计测试用例的原则</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aphicFrame>
        <p:nvGraphicFramePr>
          <p:cNvPr id="2" name="对象 1">
            <a:hlinkClick r:id="" action="ppaction://ole?verb="/>
          </p:cNvPr>
          <p:cNvGraphicFramePr>
            <a:graphicFrameLocks noChangeAspect="1"/>
          </p:cNvGraphicFramePr>
          <p:nvPr/>
        </p:nvGraphicFramePr>
        <p:xfrm>
          <a:off x="5638856" y="3321239"/>
          <a:ext cx="914287" cy="215873"/>
        </p:xfrm>
        <a:graphic>
          <a:graphicData uri="http://schemas.openxmlformats.org/presentationml/2006/ole">
            <mc:AlternateContent xmlns:mc="http://schemas.openxmlformats.org/markup-compatibility/2006">
              <mc:Choice xmlns:v="urn:schemas-microsoft-com:vml" Requires="v">
                <p:oleObj spid="_x0000_s1025" name="" r:id="rId1" imgW="914400" imgH="215900" progId="Equation.KSEE3">
                  <p:embed/>
                </p:oleObj>
              </mc:Choice>
              <mc:Fallback>
                <p:oleObj name="" r:id="rId1" imgW="914400" imgH="215900" progId="Equation.KSEE3">
                  <p:embed/>
                  <p:pic>
                    <p:nvPicPr>
                      <p:cNvPr id="0" name="图片 1024"/>
                      <p:cNvPicPr/>
                      <p:nvPr/>
                    </p:nvPicPr>
                    <p:blipFill>
                      <a:blip r:embed="rId2"/>
                      <a:stretch>
                        <a:fillRect/>
                      </a:stretch>
                    </p:blipFill>
                    <p:spPr>
                      <a:xfrm>
                        <a:off x="5638856" y="3321239"/>
                        <a:ext cx="914287" cy="215873"/>
                      </a:xfrm>
                      <a:prstGeom prst="rect">
                        <a:avLst/>
                      </a:prstGeom>
                    </p:spPr>
                  </p:pic>
                </p:oleObj>
              </mc:Fallback>
            </mc:AlternateContent>
          </a:graphicData>
        </a:graphic>
      </p:graphicFrame>
      <p:graphicFrame>
        <p:nvGraphicFramePr>
          <p:cNvPr id="31" name="对象 30">
            <a:hlinkClick r:id="" action="ppaction://ole?verb="/>
          </p:cNvPr>
          <p:cNvGraphicFramePr>
            <a:graphicFrameLocks noChangeAspect="1"/>
          </p:cNvGraphicFramePr>
          <p:nvPr/>
        </p:nvGraphicFramePr>
        <p:xfrm>
          <a:off x="5638856" y="3321239"/>
          <a:ext cx="914287" cy="215873"/>
        </p:xfrm>
        <a:graphic>
          <a:graphicData uri="http://schemas.openxmlformats.org/presentationml/2006/ole">
            <mc:AlternateContent xmlns:mc="http://schemas.openxmlformats.org/markup-compatibility/2006">
              <mc:Choice xmlns:v="urn:schemas-microsoft-com:vml" Requires="v">
                <p:oleObj spid="_x0000_s1027" name="" r:id="rId3" imgW="914400" imgH="215900" progId="Equation.KSEE3">
                  <p:embed/>
                </p:oleObj>
              </mc:Choice>
              <mc:Fallback>
                <p:oleObj name="" r:id="rId3" imgW="914400" imgH="215900" progId="Equation.KSEE3">
                  <p:embed/>
                  <p:pic>
                    <p:nvPicPr>
                      <p:cNvPr id="0" name="图片 1026"/>
                      <p:cNvPicPr/>
                      <p:nvPr/>
                    </p:nvPicPr>
                    <p:blipFill>
                      <a:blip r:embed="rId2"/>
                      <a:stretch>
                        <a:fillRect/>
                      </a:stretch>
                    </p:blipFill>
                    <p:spPr>
                      <a:xfrm>
                        <a:off x="5638856" y="3321239"/>
                        <a:ext cx="914287" cy="215873"/>
                      </a:xfrm>
                      <a:prstGeom prst="rect">
                        <a:avLst/>
                      </a:prstGeom>
                    </p:spPr>
                  </p:pic>
                </p:oleObj>
              </mc:Fallback>
            </mc:AlternateContent>
          </a:graphicData>
        </a:graphic>
      </p:graphicFrame>
      <p:sp>
        <p:nvSpPr>
          <p:cNvPr id="3" name="文本框 2"/>
          <p:cNvSpPr txBox="1"/>
          <p:nvPr/>
        </p:nvSpPr>
        <p:spPr>
          <a:xfrm>
            <a:off x="1728374" y="864728"/>
            <a:ext cx="8735252" cy="5631180"/>
          </a:xfrm>
          <a:prstGeom prst="rect">
            <a:avLst/>
          </a:prstGeom>
          <a:noFill/>
          <a:ln w="3175">
            <a:noFill/>
            <a:prstDash val="dash"/>
          </a:ln>
          <a:effectLst>
            <a:softEdge rad="12700"/>
          </a:effectLst>
          <a:extLst>
            <a:ext uri="{909E8E84-426E-40DD-AFC4-6F175D3DCCD1}">
              <a14:hiddenFill xmlns:a14="http://schemas.microsoft.com/office/drawing/2010/main">
                <a:solidFill>
                  <a:schemeClr val="tx2">
                    <a:lumMod val="20000"/>
                    <a:lumOff val="80000"/>
                  </a:schemeClr>
                </a:solidFill>
              </a14:hiddenFill>
            </a:ext>
          </a:extLst>
        </p:spPr>
        <p:style>
          <a:lnRef idx="2">
            <a:schemeClr val="dk1"/>
          </a:lnRef>
          <a:fillRef idx="1">
            <a:schemeClr val="lt1"/>
          </a:fillRef>
          <a:effectRef idx="0">
            <a:schemeClr val="dk1"/>
          </a:effectRef>
          <a:fontRef idx="minor">
            <a:schemeClr val="dk1"/>
          </a:fontRef>
        </p:style>
        <p:txBody>
          <a:bodyPr wrap="square" rtlCol="0">
            <a:spAutoFit/>
          </a:bodyPr>
          <a:p>
            <a:pPr marL="457200" indent="-457200" fontAlgn="auto">
              <a:lnSpc>
                <a:spcPct val="150000"/>
              </a:lnSpc>
              <a:buFont typeface="+mj-lt"/>
              <a:buAutoNum type="arabicPeriod"/>
            </a:pPr>
            <a:r>
              <a:rPr lang="zh-CN" altLang="en-US" sz="2400">
                <a:solidFill>
                  <a:srgbClr val="0070C0"/>
                </a:solidFill>
                <a:latin typeface="+mn-ea"/>
                <a:cs typeface="+mn-ea"/>
              </a:rPr>
              <a:t>如果输入条件规定了值的范围,则应取刚达到这个范围的边界的值,以及刚刚超越这个范围边界的值作为测试输入数据。</a:t>
            </a:r>
            <a:endParaRPr lang="zh-CN" altLang="en-US" sz="2400">
              <a:solidFill>
                <a:srgbClr val="0070C0"/>
              </a:solidFill>
              <a:latin typeface="+mn-ea"/>
              <a:cs typeface="+mn-ea"/>
            </a:endParaRPr>
          </a:p>
          <a:p>
            <a:pPr marL="457200" indent="-457200" fontAlgn="auto">
              <a:lnSpc>
                <a:spcPct val="150000"/>
              </a:lnSpc>
              <a:buFont typeface="Wingdings" panose="05000000000000000000" charset="0"/>
              <a:buAutoNum type="arabicPeriod"/>
            </a:pPr>
            <a:r>
              <a:rPr lang="zh-CN" altLang="en-US" sz="2400">
                <a:solidFill>
                  <a:srgbClr val="0070C0"/>
                </a:solidFill>
                <a:latin typeface="+mn-ea"/>
                <a:cs typeface="+mn-ea"/>
              </a:rPr>
              <a:t>如果输入条件规定了值的个数,则用最大个数,最小个数,比最小个数少一,比最大个数多一的数作为测试数据。</a:t>
            </a:r>
            <a:endParaRPr lang="zh-CN" altLang="en-US" sz="2400">
              <a:solidFill>
                <a:srgbClr val="0070C0"/>
              </a:solidFill>
              <a:latin typeface="+mn-ea"/>
              <a:cs typeface="+mn-ea"/>
            </a:endParaRPr>
          </a:p>
          <a:p>
            <a:pPr marL="457200" indent="-457200" fontAlgn="auto">
              <a:lnSpc>
                <a:spcPct val="150000"/>
              </a:lnSpc>
              <a:buFont typeface="Wingdings" panose="05000000000000000000" charset="0"/>
              <a:buAutoNum type="arabicPeriod"/>
            </a:pPr>
            <a:r>
              <a:rPr lang="zh-CN" altLang="en-US" sz="2400">
                <a:solidFill>
                  <a:srgbClr val="0070C0"/>
                </a:solidFill>
                <a:latin typeface="+mn-ea"/>
                <a:cs typeface="+mn-ea"/>
              </a:rPr>
              <a:t>将规则1和2应用于输出条件，即设计测试用例使输出值达到边界值及其左右的值。</a:t>
            </a:r>
            <a:endParaRPr lang="zh-CN" altLang="en-US" sz="2400">
              <a:solidFill>
                <a:srgbClr val="0070C0"/>
              </a:solidFill>
              <a:latin typeface="+mn-ea"/>
              <a:cs typeface="+mn-ea"/>
            </a:endParaRPr>
          </a:p>
          <a:p>
            <a:pPr marL="457200" indent="-457200" fontAlgn="auto">
              <a:lnSpc>
                <a:spcPct val="150000"/>
              </a:lnSpc>
              <a:buFont typeface="Wingdings" panose="05000000000000000000" charset="0"/>
              <a:buAutoNum type="arabicPeriod"/>
            </a:pPr>
            <a:r>
              <a:rPr lang="zh-CN" altLang="en-US" sz="2400">
                <a:solidFill>
                  <a:srgbClr val="0070C0"/>
                </a:solidFill>
                <a:latin typeface="+mn-ea"/>
                <a:cs typeface="+mn-ea"/>
              </a:rPr>
              <a:t>如果程序的规格说明给出的输入域或输出域是有序集合,则应选取集合的第一个元素和最后一个元素作为测试用例。</a:t>
            </a:r>
            <a:endParaRPr lang="zh-CN" altLang="en-US" sz="2400">
              <a:solidFill>
                <a:srgbClr val="0070C0"/>
              </a:solidFill>
              <a:latin typeface="+mn-ea"/>
              <a:cs typeface="+mn-ea"/>
            </a:endParaRPr>
          </a:p>
          <a:p>
            <a:pPr marL="457200" indent="-457200" fontAlgn="auto">
              <a:lnSpc>
                <a:spcPct val="150000"/>
              </a:lnSpc>
              <a:buFont typeface="Wingdings" panose="05000000000000000000" charset="0"/>
              <a:buAutoNum type="arabicPeriod"/>
            </a:pPr>
            <a:r>
              <a:rPr lang="zh-CN" altLang="en-US" sz="2400">
                <a:solidFill>
                  <a:srgbClr val="0070C0"/>
                </a:solidFill>
                <a:latin typeface="+mn-ea"/>
                <a:cs typeface="+mn-ea"/>
              </a:rPr>
              <a:t>如果程序中使用了一个内部数据结构,则应当选择这个内部数据结构的边界上的值作为测试用例。</a:t>
            </a:r>
            <a:endParaRPr lang="zh-CN" altLang="en-US" sz="2400">
              <a:solidFill>
                <a:srgbClr val="0070C0"/>
              </a:solidFill>
              <a:latin typeface="+mn-ea"/>
              <a:cs typeface="+mn-ea"/>
            </a:endParaRPr>
          </a:p>
        </p:txBody>
      </p:sp>
    </p:spTree>
  </p:cSld>
  <p:clrMapOvr>
    <a:masterClrMapping/>
  </p:clrMapOvr>
  <p:transition advTm="1310">
    <p:rand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105" y="1594058"/>
            <a:ext cx="2812399" cy="2101481"/>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3373825" y="3092945"/>
            <a:ext cx="6278880" cy="829945"/>
          </a:xfrm>
          <a:prstGeom prst="rect">
            <a:avLst/>
          </a:prstGeom>
          <a:noFill/>
        </p:spPr>
        <p:txBody>
          <a:bodyPr wrap="non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边界值测试用例的方法</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217" y="2656121"/>
            <a:ext cx="2069153" cy="1546112"/>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5702" y="2328231"/>
            <a:ext cx="3457976" cy="2583868"/>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8675" y="2883913"/>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03</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280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499" y="57108"/>
            <a:ext cx="3666673" cy="55809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边界值设计测试用例的方法</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83611" y="1079648"/>
            <a:ext cx="5079373" cy="5077460"/>
          </a:xfrm>
          <a:prstGeom prst="rect">
            <a:avLst/>
          </a:prstGeom>
          <a:noFill/>
          <a:ln w="9525">
            <a:noFill/>
          </a:ln>
        </p:spPr>
        <p:txBody>
          <a:bodyPr>
            <a:spAutoFit/>
          </a:bodyPr>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为了便于理解，这里讨论一个有两个变量x1和x2的程序F，其中x1∈[a,b]和x2∈[c,d]。强类型语言允许显式地定义这种变量值域。事实上，边界值测试更适用于采用非强类型语言编写的程序。程序F的输入空间（定义域）如图3-35所示。其中，带阴影矩形中的任何点都是F的有效输入。</a:t>
            </a:r>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8" name="图片 2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6338223" y="1557428"/>
            <a:ext cx="5111000" cy="3743538"/>
          </a:xfrm>
          <a:prstGeom prst="rect">
            <a:avLst/>
          </a:prstGeom>
          <a:noFill/>
          <a:ln>
            <a:noFill/>
          </a:ln>
        </p:spPr>
      </p:pic>
      <p:sp>
        <p:nvSpPr>
          <p:cNvPr id="17" name="文本框 16"/>
          <p:cNvSpPr txBox="1"/>
          <p:nvPr/>
        </p:nvSpPr>
        <p:spPr>
          <a:xfrm>
            <a:off x="6338541" y="5507909"/>
            <a:ext cx="5079373" cy="337185"/>
          </a:xfrm>
          <a:prstGeom prst="rect">
            <a:avLst/>
          </a:prstGeom>
          <a:noFill/>
          <a:ln w="9525">
            <a:noFill/>
          </a:ln>
        </p:spPr>
        <p:txBody>
          <a:bodyPr>
            <a:spAutoFit/>
          </a:bodyPr>
          <a:p>
            <a:pPr indent="295275" algn="ctr"/>
            <a:r>
              <a:rPr lang="zh-CN" sz="1600" b="0">
                <a:ea typeface="宋体" panose="02010600030101010101" pitchFamily="2" charset="-122"/>
              </a:rPr>
              <a:t>图3-35 两个变量程序的输入空间</a:t>
            </a:r>
            <a:endParaRPr lang="zh-CN" altLang="en-US" sz="1600" b="0">
              <a:ea typeface="宋体" panose="02010600030101010101" pitchFamily="2" charset="-122"/>
            </a:endParaRPr>
          </a:p>
        </p:txBody>
      </p:sp>
    </p:spTree>
  </p:cSld>
  <p:clrMapOvr>
    <a:masterClrMapping/>
  </p:clrMapOvr>
  <p:transition advTm="1310">
    <p:rand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499" y="57108"/>
            <a:ext cx="3666673" cy="55809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边界值设计测试用例的方法</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541706" y="974569"/>
            <a:ext cx="6126358" cy="4425950"/>
          </a:xfrm>
          <a:prstGeom prst="rect">
            <a:avLst/>
          </a:prstGeom>
          <a:noFill/>
          <a:ln w="9525">
            <a:noFill/>
          </a:ln>
        </p:spPr>
        <p:txBody>
          <a:bodyPr wrap="square">
            <a:spAutoFit/>
          </a:bodyPr>
          <a:p>
            <a:pPr indent="0" fontAlgn="auto">
              <a:lnSpc>
                <a:spcPts val="2600"/>
              </a:lnSpc>
            </a:pPr>
            <a:r>
              <a:rPr lang="en-US" altLang="zh-CN" sz="2135">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sz="2135">
                <a:latin typeface="微软雅黑" panose="020B0503020204020204" pitchFamily="34" charset="-122"/>
                <a:ea typeface="微软雅黑" panose="020B0503020204020204" pitchFamily="34" charset="-122"/>
                <a:cs typeface="微软雅黑" panose="020B0503020204020204" pitchFamily="34" charset="-122"/>
                <a:sym typeface="+mn-ea"/>
              </a:rPr>
              <a:t>.两个变量程序的边界值分析测试</a:t>
            </a:r>
            <a:endParaRPr lang="zh-CN" sz="2135" b="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600"/>
              </a:lnSpc>
            </a:pPr>
            <a:r>
              <a:rPr lang="zh-CN" sz="2135">
                <a:latin typeface="微软雅黑" panose="020B0503020204020204" pitchFamily="34" charset="-122"/>
                <a:ea typeface="微软雅黑" panose="020B0503020204020204" pitchFamily="34" charset="-122"/>
                <a:cs typeface="微软雅黑" panose="020B0503020204020204" pitchFamily="34" charset="-122"/>
                <a:sym typeface="+mn-ea"/>
              </a:rPr>
              <a:t>边界值分析利用输入变量的最小值（min）、稍大于最小值（min+）、域内任何值（nom）、稍小于最大值（max-）和最大值（max）来设计测试用例。</a:t>
            </a:r>
            <a:endParaRPr lang="zh-CN" sz="2135" b="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600"/>
              </a:lnSpc>
            </a:pPr>
            <a:r>
              <a:rPr lang="zh-CN" sz="2135" b="0">
                <a:latin typeface="微软雅黑" panose="020B0503020204020204" pitchFamily="34" charset="-122"/>
                <a:ea typeface="微软雅黑" panose="020B0503020204020204" pitchFamily="34" charset="-122"/>
                <a:cs typeface="微软雅黑" panose="020B0503020204020204" pitchFamily="34" charset="-122"/>
              </a:rPr>
              <a:t>一个变量分别取</a:t>
            </a:r>
            <a:r>
              <a:rPr lang="zh-CN" sz="2135"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min、min+、nom、max-、max</a:t>
            </a:r>
            <a:r>
              <a:rPr lang="zh-CN" sz="2135" b="0">
                <a:latin typeface="微软雅黑" panose="020B0503020204020204" pitchFamily="34" charset="-122"/>
                <a:ea typeface="微软雅黑" panose="020B0503020204020204" pitchFamily="34" charset="-122"/>
                <a:cs typeface="微软雅黑" panose="020B0503020204020204" pitchFamily="34" charset="-122"/>
              </a:rPr>
              <a:t>。有两个输入变量的程序F的边界值分析测试用例是（如图3-36）所示：                         {&lt;x1nom,x2min&gt;,&lt;x1nom,x2min&gt;,</a:t>
            </a:r>
            <a:endParaRPr lang="zh-CN" sz="2135" b="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600"/>
              </a:lnSpc>
            </a:pPr>
            <a:r>
              <a:rPr lang="zh-CN" sz="2135" b="0">
                <a:latin typeface="微软雅黑" panose="020B0503020204020204" pitchFamily="34" charset="-122"/>
                <a:ea typeface="微软雅黑" panose="020B0503020204020204" pitchFamily="34" charset="-122"/>
                <a:cs typeface="微软雅黑" panose="020B0503020204020204" pitchFamily="34" charset="-122"/>
              </a:rPr>
              <a:t>&lt;x1nom,x2nom&gt;,&lt;x1nom,x2max&gt;,</a:t>
            </a:r>
            <a:endParaRPr lang="zh-CN" sz="2135" b="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600"/>
              </a:lnSpc>
            </a:pPr>
            <a:r>
              <a:rPr lang="zh-CN" sz="2135" b="0">
                <a:latin typeface="微软雅黑" panose="020B0503020204020204" pitchFamily="34" charset="-122"/>
                <a:ea typeface="微软雅黑" panose="020B0503020204020204" pitchFamily="34" charset="-122"/>
                <a:cs typeface="微软雅黑" panose="020B0503020204020204" pitchFamily="34" charset="-122"/>
              </a:rPr>
              <a:t>&lt;x1nom,x2max&gt;,&lt;x1min,x2nom&gt;,</a:t>
            </a:r>
            <a:endParaRPr lang="zh-CN" sz="2135" b="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600"/>
              </a:lnSpc>
            </a:pPr>
            <a:r>
              <a:rPr lang="zh-CN" sz="2135" b="0">
                <a:latin typeface="微软雅黑" panose="020B0503020204020204" pitchFamily="34" charset="-122"/>
                <a:ea typeface="微软雅黑" panose="020B0503020204020204" pitchFamily="34" charset="-122"/>
                <a:cs typeface="微软雅黑" panose="020B0503020204020204" pitchFamily="34" charset="-122"/>
              </a:rPr>
              <a:t>&lt;x1min+,x2nom&gt;,&lt;x1max,x2nom&gt;,</a:t>
            </a:r>
            <a:endParaRPr lang="zh-CN" sz="2135" b="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ts val="2600"/>
              </a:lnSpc>
            </a:pPr>
            <a:r>
              <a:rPr lang="zh-CN" sz="2135" b="0">
                <a:latin typeface="微软雅黑" panose="020B0503020204020204" pitchFamily="34" charset="-122"/>
                <a:ea typeface="微软雅黑" panose="020B0503020204020204" pitchFamily="34" charset="-122"/>
                <a:cs typeface="微软雅黑" panose="020B0503020204020204" pitchFamily="34" charset="-122"/>
              </a:rPr>
              <a:t>&lt;x1max,x2nom&gt;}</a:t>
            </a:r>
            <a:endParaRPr lang="zh-CN" sz="2135" b="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6338541" y="5478069"/>
            <a:ext cx="5079373" cy="337185"/>
          </a:xfrm>
          <a:prstGeom prst="rect">
            <a:avLst/>
          </a:prstGeom>
          <a:noFill/>
          <a:ln w="9525">
            <a:noFill/>
          </a:ln>
        </p:spPr>
        <p:txBody>
          <a:bodyPr>
            <a:spAutoFit/>
          </a:bodyPr>
          <a:p>
            <a:pPr indent="295275" algn="ctr"/>
            <a:r>
              <a:rPr lang="zh-CN" sz="1600" b="0">
                <a:ea typeface="宋体" panose="02010600030101010101" pitchFamily="2" charset="-122"/>
              </a:rPr>
              <a:t>图3-36 有两个变量程序的边界值分析测试用例</a:t>
            </a:r>
            <a:endParaRPr lang="zh-CN" sz="1600" b="0">
              <a:ea typeface="宋体" panose="02010600030101010101" pitchFamily="2" charset="-122"/>
            </a:endParaRPr>
          </a:p>
        </p:txBody>
      </p:sp>
      <p:pic>
        <p:nvPicPr>
          <p:cNvPr id="20" name="图片 2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6824890" y="1592666"/>
            <a:ext cx="5142792" cy="3671547"/>
          </a:xfrm>
          <a:prstGeom prst="rect">
            <a:avLst/>
          </a:prstGeom>
          <a:noFill/>
          <a:ln>
            <a:noFill/>
          </a:ln>
        </p:spPr>
      </p:pic>
    </p:spTree>
  </p:cSld>
  <p:clrMapOvr>
    <a:masterClrMapping/>
  </p:clrMapOvr>
  <p:transition advTm="1310">
    <p:random/>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499" y="57108"/>
            <a:ext cx="3666673" cy="55809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边界值设计测试用例的方法</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669325" y="1592983"/>
            <a:ext cx="5440008" cy="3969385"/>
          </a:xfrm>
          <a:prstGeom prst="rect">
            <a:avLst/>
          </a:prstGeom>
          <a:noFill/>
          <a:ln w="9525">
            <a:noFill/>
          </a:ln>
        </p:spPr>
        <p:txBody>
          <a:bodyPr wrap="square">
            <a:spAutoFit/>
          </a:bodyPr>
          <a:p>
            <a:pPr indent="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对于一个含有n个变量的程序，保留其中一个变量，让其余变量取正常值，这样被保留的变量取值</a:t>
            </a:r>
            <a:r>
              <a:rPr lang="zh-CN" sz="24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min、min+、nom、max-、max</a:t>
            </a:r>
            <a:r>
              <a:rPr lang="zh-CN" sz="2400" b="0">
                <a:latin typeface="微软雅黑" panose="020B0503020204020204" pitchFamily="34" charset="-122"/>
                <a:ea typeface="微软雅黑" panose="020B0503020204020204" pitchFamily="34" charset="-122"/>
                <a:cs typeface="微软雅黑" panose="020B0503020204020204" pitchFamily="34" charset="-122"/>
              </a:rPr>
              <a:t>，对每个变量重复进行。这样，对于一个n变量的程序，边界值分析测试会产生4n+1个测试用例。</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6338541" y="5478069"/>
            <a:ext cx="5079373" cy="337185"/>
          </a:xfrm>
          <a:prstGeom prst="rect">
            <a:avLst/>
          </a:prstGeom>
          <a:noFill/>
          <a:ln w="9525">
            <a:noFill/>
          </a:ln>
        </p:spPr>
        <p:txBody>
          <a:bodyPr>
            <a:spAutoFit/>
          </a:bodyPr>
          <a:p>
            <a:pPr indent="295275" algn="ctr"/>
            <a:r>
              <a:rPr lang="zh-CN" sz="1600" b="0">
                <a:ea typeface="宋体" panose="02010600030101010101" pitchFamily="2" charset="-122"/>
              </a:rPr>
              <a:t>图3-36 有两个变量程序的边界值分析测试用例</a:t>
            </a:r>
            <a:endParaRPr lang="zh-CN" sz="1600" b="0">
              <a:ea typeface="宋体" panose="02010600030101010101" pitchFamily="2" charset="-122"/>
            </a:endParaRPr>
          </a:p>
        </p:txBody>
      </p:sp>
      <p:pic>
        <p:nvPicPr>
          <p:cNvPr id="20" name="图片 2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6824890" y="1592666"/>
            <a:ext cx="5142792" cy="3671547"/>
          </a:xfrm>
          <a:prstGeom prst="rect">
            <a:avLst/>
          </a:prstGeom>
          <a:noFill/>
          <a:ln>
            <a:noFill/>
          </a:ln>
        </p:spPr>
      </p:pic>
    </p:spTree>
  </p:cSld>
  <p:clrMapOvr>
    <a:masterClrMapping/>
  </p:clrMapOvr>
  <p:transition advTm="1310">
    <p:random/>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499" y="57108"/>
            <a:ext cx="3666673" cy="55809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边界值设计测试用例的方法</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669325" y="1592983"/>
            <a:ext cx="5440008" cy="3969385"/>
          </a:xfrm>
          <a:prstGeom prst="rect">
            <a:avLst/>
          </a:prstGeom>
          <a:noFill/>
          <a:ln w="9525">
            <a:noFill/>
          </a:ln>
        </p:spPr>
        <p:txBody>
          <a:bodyPr wrap="square">
            <a:spAutoFit/>
          </a:bodyPr>
          <a:p>
            <a:pPr indent="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2.边界值健壮性测试：</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健壮性是指在异常情况下，软件还能正常运行的能力。健壮性测试是边界值分析的一种简单扩展，如:3-37所示。除了使用5个边界值分析取值，还采用：</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一个略大于最大值（max+）的值。</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一个略小于最小值（min-）的值。</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6338541" y="5457752"/>
            <a:ext cx="5079373" cy="337185"/>
          </a:xfrm>
          <a:prstGeom prst="rect">
            <a:avLst/>
          </a:prstGeom>
          <a:noFill/>
          <a:ln w="9525">
            <a:noFill/>
          </a:ln>
        </p:spPr>
        <p:txBody>
          <a:bodyPr>
            <a:spAutoFit/>
          </a:bodyPr>
          <a:p>
            <a:pPr indent="295275" algn="ctr"/>
            <a:r>
              <a:rPr lang="zh-CN" sz="1600" b="0">
                <a:ea typeface="宋体" panose="02010600030101010101" pitchFamily="2" charset="-122"/>
              </a:rPr>
              <a:t>图3-37 两个变量程序的健壮性测试用例</a:t>
            </a:r>
            <a:endParaRPr lang="zh-CN" sz="1600" b="0">
              <a:ea typeface="宋体" panose="02010600030101010101" pitchFamily="2" charset="-122"/>
            </a:endParaRPr>
          </a:p>
        </p:txBody>
      </p:sp>
      <p:pic>
        <p:nvPicPr>
          <p:cNvPr id="21" name="图片 21" descr="https://timgsa.baidu.com/timg?image&amp;quality=80&amp;size=b9999_10000&amp;sec=1496199672737&amp;di=8f3c736f220bd7f381a7bcefa2443bb5&amp;imgtype=0&amp;src=http%3A%2F%2Fs10.sinaimg.cn%2Fbmiddle%2F44f64c70tc5b63f5ab359%2669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6206794" y="1831397"/>
            <a:ext cx="5343146" cy="3491569"/>
          </a:xfrm>
          <a:prstGeom prst="rect">
            <a:avLst/>
          </a:prstGeom>
          <a:noFill/>
          <a:ln>
            <a:noFill/>
          </a:ln>
        </p:spPr>
      </p:pic>
    </p:spTree>
  </p:cSld>
  <p:clrMapOvr>
    <a:masterClrMapping/>
  </p:clrMapOvr>
  <p:transition advTm="1310">
    <p:random/>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499" y="57108"/>
            <a:ext cx="3666673" cy="55809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边界值设计测试用例的方法</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2309327" y="1444411"/>
            <a:ext cx="7815250" cy="3969385"/>
          </a:xfrm>
          <a:prstGeom prst="rect">
            <a:avLst/>
          </a:prstGeom>
          <a:noFill/>
          <a:ln w="9525">
            <a:noFill/>
          </a:ln>
        </p:spPr>
        <p:txBody>
          <a:bodyPr wrap="square">
            <a:spAutoFit/>
          </a:bodyPr>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健壮性测试的主要价值是观察异常情况的处理，从而考察：</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4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软件质量要素的衡量标准：软件的容错性。</a:t>
            </a:r>
            <a:endParaRPr lang="zh-CN" sz="24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4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软件容错性的度量：从非法输入中恢复。</a:t>
            </a:r>
            <a:endParaRPr lang="zh-CN" sz="24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观察超过极限值时系统会出现什么情况。边界值分析的大部分讨论都可直接用于健壮性测试。健壮性测试最有意义的部分不是输入，而是预期的输出。</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1310">
    <p:random/>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499" y="57108"/>
            <a:ext cx="3518736" cy="55809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边界值设计测试用例的方法</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5" name="Freeform 10"/>
          <p:cNvSpPr/>
          <p:nvPr/>
        </p:nvSpPr>
        <p:spPr bwMode="auto">
          <a:xfrm>
            <a:off x="5580772" y="3301570"/>
            <a:ext cx="1301933" cy="1314286"/>
          </a:xfrm>
          <a:custGeom>
            <a:avLst/>
            <a:gdLst/>
            <a:ahLst/>
            <a:cxnLst>
              <a:cxn ang="0">
                <a:pos x="0" y="397"/>
              </a:cxn>
              <a:cxn ang="0">
                <a:pos x="0" y="345"/>
              </a:cxn>
              <a:cxn ang="0">
                <a:pos x="46" y="299"/>
              </a:cxn>
              <a:cxn ang="0">
                <a:pos x="46" y="98"/>
              </a:cxn>
              <a:cxn ang="0">
                <a:pos x="145" y="0"/>
              </a:cxn>
              <a:cxn ang="0">
                <a:pos x="394" y="0"/>
              </a:cxn>
              <a:cxn ang="0">
                <a:pos x="394" y="52"/>
              </a:cxn>
              <a:cxn ang="0">
                <a:pos x="145" y="52"/>
              </a:cxn>
              <a:cxn ang="0">
                <a:pos x="98" y="98"/>
              </a:cxn>
              <a:cxn ang="0">
                <a:pos x="98" y="299"/>
              </a:cxn>
              <a:cxn ang="0">
                <a:pos x="0" y="397"/>
              </a:cxn>
            </a:cxnLst>
            <a:rect l="0" t="0" r="r" b="b"/>
            <a:pathLst>
              <a:path w="394" h="397">
                <a:moveTo>
                  <a:pt x="0" y="397"/>
                </a:moveTo>
                <a:cubicBezTo>
                  <a:pt x="0" y="345"/>
                  <a:pt x="0" y="345"/>
                  <a:pt x="0" y="345"/>
                </a:cubicBezTo>
                <a:cubicBezTo>
                  <a:pt x="26" y="345"/>
                  <a:pt x="46" y="324"/>
                  <a:pt x="46" y="299"/>
                </a:cubicBezTo>
                <a:cubicBezTo>
                  <a:pt x="46" y="98"/>
                  <a:pt x="46" y="98"/>
                  <a:pt x="46" y="98"/>
                </a:cubicBezTo>
                <a:cubicBezTo>
                  <a:pt x="46" y="44"/>
                  <a:pt x="90" y="0"/>
                  <a:pt x="145" y="0"/>
                </a:cubicBezTo>
                <a:cubicBezTo>
                  <a:pt x="394" y="0"/>
                  <a:pt x="394" y="0"/>
                  <a:pt x="394" y="0"/>
                </a:cubicBezTo>
                <a:cubicBezTo>
                  <a:pt x="394" y="52"/>
                  <a:pt x="394" y="52"/>
                  <a:pt x="394" y="52"/>
                </a:cubicBezTo>
                <a:cubicBezTo>
                  <a:pt x="145" y="52"/>
                  <a:pt x="145" y="52"/>
                  <a:pt x="145" y="52"/>
                </a:cubicBezTo>
                <a:cubicBezTo>
                  <a:pt x="119" y="52"/>
                  <a:pt x="98" y="73"/>
                  <a:pt x="98" y="98"/>
                </a:cubicBezTo>
                <a:cubicBezTo>
                  <a:pt x="98" y="299"/>
                  <a:pt x="98" y="299"/>
                  <a:pt x="98" y="299"/>
                </a:cubicBezTo>
                <a:cubicBezTo>
                  <a:pt x="98" y="353"/>
                  <a:pt x="54" y="397"/>
                  <a:pt x="0" y="397"/>
                </a:cubicBezTo>
              </a:path>
            </a:pathLst>
          </a:custGeom>
          <a:solidFill>
            <a:schemeClr val="accent2"/>
          </a:solidFill>
          <a:ln w="9525">
            <a:noFill/>
            <a:round/>
          </a:ln>
        </p:spPr>
        <p:txBody>
          <a:bodyPr vert="horz" wrap="square" lIns="79390" tIns="39695" rIns="79390" bIns="39695" numCol="1" anchor="t" anchorCtr="0" compatLnSpc="1"/>
          <a:lstStyle/>
          <a:p>
            <a:pPr algn="just">
              <a:lnSpc>
                <a:spcPct val="120000"/>
              </a:lnSpc>
            </a:pPr>
            <a:endParaRPr lang="en-US" sz="8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Freeform 14"/>
          <p:cNvSpPr/>
          <p:nvPr/>
        </p:nvSpPr>
        <p:spPr bwMode="auto">
          <a:xfrm>
            <a:off x="7938883" y="3418530"/>
            <a:ext cx="1058332" cy="761549"/>
          </a:xfrm>
          <a:custGeom>
            <a:avLst/>
            <a:gdLst/>
            <a:ahLst/>
            <a:cxnLst>
              <a:cxn ang="0">
                <a:pos x="0" y="230"/>
              </a:cxn>
              <a:cxn ang="0">
                <a:pos x="0" y="178"/>
              </a:cxn>
              <a:cxn ang="0">
                <a:pos x="46" y="132"/>
              </a:cxn>
              <a:cxn ang="0">
                <a:pos x="46" y="98"/>
              </a:cxn>
              <a:cxn ang="0">
                <a:pos x="144" y="0"/>
              </a:cxn>
              <a:cxn ang="0">
                <a:pos x="320" y="0"/>
              </a:cxn>
              <a:cxn ang="0">
                <a:pos x="320" y="52"/>
              </a:cxn>
              <a:cxn ang="0">
                <a:pos x="144" y="52"/>
              </a:cxn>
              <a:cxn ang="0">
                <a:pos x="98" y="98"/>
              </a:cxn>
              <a:cxn ang="0">
                <a:pos x="98" y="132"/>
              </a:cxn>
              <a:cxn ang="0">
                <a:pos x="0" y="230"/>
              </a:cxn>
            </a:cxnLst>
            <a:rect l="0" t="0" r="r" b="b"/>
            <a:pathLst>
              <a:path w="320" h="230">
                <a:moveTo>
                  <a:pt x="0" y="230"/>
                </a:moveTo>
                <a:cubicBezTo>
                  <a:pt x="0" y="178"/>
                  <a:pt x="0" y="178"/>
                  <a:pt x="0" y="178"/>
                </a:cubicBezTo>
                <a:cubicBezTo>
                  <a:pt x="25" y="178"/>
                  <a:pt x="46" y="157"/>
                  <a:pt x="46" y="132"/>
                </a:cubicBezTo>
                <a:cubicBezTo>
                  <a:pt x="46" y="98"/>
                  <a:pt x="46" y="98"/>
                  <a:pt x="46" y="98"/>
                </a:cubicBezTo>
                <a:cubicBezTo>
                  <a:pt x="46" y="44"/>
                  <a:pt x="90" y="0"/>
                  <a:pt x="144" y="0"/>
                </a:cubicBezTo>
                <a:cubicBezTo>
                  <a:pt x="320" y="0"/>
                  <a:pt x="320" y="0"/>
                  <a:pt x="320" y="0"/>
                </a:cubicBezTo>
                <a:cubicBezTo>
                  <a:pt x="320" y="52"/>
                  <a:pt x="320" y="52"/>
                  <a:pt x="320" y="52"/>
                </a:cubicBezTo>
                <a:cubicBezTo>
                  <a:pt x="144" y="52"/>
                  <a:pt x="144" y="52"/>
                  <a:pt x="144" y="52"/>
                </a:cubicBezTo>
                <a:cubicBezTo>
                  <a:pt x="119" y="52"/>
                  <a:pt x="98" y="73"/>
                  <a:pt x="98" y="98"/>
                </a:cubicBezTo>
                <a:cubicBezTo>
                  <a:pt x="98" y="132"/>
                  <a:pt x="98" y="132"/>
                  <a:pt x="98" y="132"/>
                </a:cubicBezTo>
                <a:cubicBezTo>
                  <a:pt x="98" y="186"/>
                  <a:pt x="54" y="230"/>
                  <a:pt x="0" y="230"/>
                </a:cubicBezTo>
              </a:path>
            </a:pathLst>
          </a:custGeom>
          <a:solidFill>
            <a:schemeClr val="accent3"/>
          </a:solidFill>
          <a:ln w="9525">
            <a:noFill/>
            <a:round/>
          </a:ln>
        </p:spPr>
        <p:txBody>
          <a:bodyPr vert="horz" wrap="square" lIns="79390" tIns="39695" rIns="79390" bIns="39695" numCol="1" anchor="t" anchorCtr="0" compatLnSpc="1"/>
          <a:lstStyle/>
          <a:p>
            <a:pPr algn="just">
              <a:lnSpc>
                <a:spcPct val="120000"/>
              </a:lnSpc>
            </a:pPr>
            <a:endParaRPr lang="en-US" sz="8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Freeform 18"/>
          <p:cNvSpPr/>
          <p:nvPr/>
        </p:nvSpPr>
        <p:spPr bwMode="auto">
          <a:xfrm>
            <a:off x="6878506" y="3306013"/>
            <a:ext cx="1060377" cy="870050"/>
          </a:xfrm>
          <a:custGeom>
            <a:avLst/>
            <a:gdLst/>
            <a:ahLst/>
            <a:cxnLst>
              <a:cxn ang="0">
                <a:pos x="321" y="263"/>
              </a:cxn>
              <a:cxn ang="0">
                <a:pos x="145" y="263"/>
              </a:cxn>
              <a:cxn ang="0">
                <a:pos x="47" y="165"/>
              </a:cxn>
              <a:cxn ang="0">
                <a:pos x="47" y="98"/>
              </a:cxn>
              <a:cxn ang="0">
                <a:pos x="0" y="52"/>
              </a:cxn>
              <a:cxn ang="0">
                <a:pos x="0" y="0"/>
              </a:cxn>
              <a:cxn ang="0">
                <a:pos x="99" y="98"/>
              </a:cxn>
              <a:cxn ang="0">
                <a:pos x="99" y="165"/>
              </a:cxn>
              <a:cxn ang="0">
                <a:pos x="145" y="211"/>
              </a:cxn>
              <a:cxn ang="0">
                <a:pos x="321" y="211"/>
              </a:cxn>
              <a:cxn ang="0">
                <a:pos x="321" y="263"/>
              </a:cxn>
            </a:cxnLst>
            <a:rect l="0" t="0" r="r" b="b"/>
            <a:pathLst>
              <a:path w="321" h="263">
                <a:moveTo>
                  <a:pt x="321" y="263"/>
                </a:moveTo>
                <a:cubicBezTo>
                  <a:pt x="145" y="263"/>
                  <a:pt x="145" y="263"/>
                  <a:pt x="145" y="263"/>
                </a:cubicBezTo>
                <a:cubicBezTo>
                  <a:pt x="91" y="263"/>
                  <a:pt x="47" y="219"/>
                  <a:pt x="47" y="165"/>
                </a:cubicBezTo>
                <a:cubicBezTo>
                  <a:pt x="47" y="98"/>
                  <a:pt x="47" y="98"/>
                  <a:pt x="47" y="98"/>
                </a:cubicBezTo>
                <a:cubicBezTo>
                  <a:pt x="47" y="73"/>
                  <a:pt x="26" y="52"/>
                  <a:pt x="0" y="52"/>
                </a:cubicBezTo>
                <a:cubicBezTo>
                  <a:pt x="0" y="0"/>
                  <a:pt x="0" y="0"/>
                  <a:pt x="0" y="0"/>
                </a:cubicBezTo>
                <a:cubicBezTo>
                  <a:pt x="55" y="0"/>
                  <a:pt x="99" y="44"/>
                  <a:pt x="99" y="98"/>
                </a:cubicBezTo>
                <a:cubicBezTo>
                  <a:pt x="99" y="165"/>
                  <a:pt x="99" y="165"/>
                  <a:pt x="99" y="165"/>
                </a:cubicBezTo>
                <a:cubicBezTo>
                  <a:pt x="99" y="190"/>
                  <a:pt x="119" y="211"/>
                  <a:pt x="145" y="211"/>
                </a:cubicBezTo>
                <a:cubicBezTo>
                  <a:pt x="321" y="211"/>
                  <a:pt x="321" y="211"/>
                  <a:pt x="321" y="211"/>
                </a:cubicBezTo>
                <a:cubicBezTo>
                  <a:pt x="321" y="263"/>
                  <a:pt x="321" y="263"/>
                  <a:pt x="321" y="263"/>
                </a:cubicBezTo>
              </a:path>
            </a:pathLst>
          </a:custGeom>
          <a:solidFill>
            <a:schemeClr val="accent3"/>
          </a:solidFill>
          <a:ln w="9525">
            <a:noFill/>
            <a:round/>
          </a:ln>
        </p:spPr>
        <p:txBody>
          <a:bodyPr vert="horz" wrap="square" lIns="79390" tIns="39695" rIns="79390" bIns="39695" numCol="1" anchor="t" anchorCtr="0" compatLnSpc="1"/>
          <a:lstStyle/>
          <a:p>
            <a:pPr algn="just">
              <a:lnSpc>
                <a:spcPct val="120000"/>
              </a:lnSpc>
            </a:pPr>
            <a:endParaRPr lang="en-US" sz="8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Freeform 10"/>
          <p:cNvSpPr/>
          <p:nvPr/>
        </p:nvSpPr>
        <p:spPr bwMode="auto">
          <a:xfrm>
            <a:off x="3464108" y="3751110"/>
            <a:ext cx="1058332" cy="1377749"/>
          </a:xfrm>
          <a:custGeom>
            <a:avLst/>
            <a:gdLst/>
            <a:ahLst/>
            <a:cxnLst>
              <a:cxn ang="0">
                <a:pos x="0" y="417"/>
              </a:cxn>
              <a:cxn ang="0">
                <a:pos x="0" y="365"/>
              </a:cxn>
              <a:cxn ang="0">
                <a:pos x="46" y="319"/>
              </a:cxn>
              <a:cxn ang="0">
                <a:pos x="46" y="98"/>
              </a:cxn>
              <a:cxn ang="0">
                <a:pos x="145" y="0"/>
              </a:cxn>
              <a:cxn ang="0">
                <a:pos x="320" y="0"/>
              </a:cxn>
              <a:cxn ang="0">
                <a:pos x="320" y="52"/>
              </a:cxn>
              <a:cxn ang="0">
                <a:pos x="145" y="52"/>
              </a:cxn>
              <a:cxn ang="0">
                <a:pos x="98" y="98"/>
              </a:cxn>
              <a:cxn ang="0">
                <a:pos x="98" y="319"/>
              </a:cxn>
              <a:cxn ang="0">
                <a:pos x="0" y="417"/>
              </a:cxn>
            </a:cxnLst>
            <a:rect l="0" t="0" r="r" b="b"/>
            <a:pathLst>
              <a:path w="320" h="417">
                <a:moveTo>
                  <a:pt x="0" y="417"/>
                </a:moveTo>
                <a:cubicBezTo>
                  <a:pt x="0" y="365"/>
                  <a:pt x="0" y="365"/>
                  <a:pt x="0" y="365"/>
                </a:cubicBezTo>
                <a:cubicBezTo>
                  <a:pt x="26" y="365"/>
                  <a:pt x="46" y="344"/>
                  <a:pt x="46" y="319"/>
                </a:cubicBezTo>
                <a:cubicBezTo>
                  <a:pt x="46" y="98"/>
                  <a:pt x="46" y="98"/>
                  <a:pt x="46" y="98"/>
                </a:cubicBezTo>
                <a:cubicBezTo>
                  <a:pt x="46" y="44"/>
                  <a:pt x="90" y="0"/>
                  <a:pt x="145" y="0"/>
                </a:cubicBezTo>
                <a:cubicBezTo>
                  <a:pt x="320" y="0"/>
                  <a:pt x="320" y="0"/>
                  <a:pt x="320" y="0"/>
                </a:cubicBezTo>
                <a:cubicBezTo>
                  <a:pt x="320" y="52"/>
                  <a:pt x="320" y="52"/>
                  <a:pt x="320" y="52"/>
                </a:cubicBezTo>
                <a:cubicBezTo>
                  <a:pt x="145" y="52"/>
                  <a:pt x="145" y="52"/>
                  <a:pt x="145" y="52"/>
                </a:cubicBezTo>
                <a:cubicBezTo>
                  <a:pt x="119" y="52"/>
                  <a:pt x="98" y="73"/>
                  <a:pt x="98" y="98"/>
                </a:cubicBezTo>
                <a:cubicBezTo>
                  <a:pt x="98" y="319"/>
                  <a:pt x="98" y="319"/>
                  <a:pt x="98" y="319"/>
                </a:cubicBezTo>
                <a:cubicBezTo>
                  <a:pt x="98" y="373"/>
                  <a:pt x="54" y="417"/>
                  <a:pt x="0" y="417"/>
                </a:cubicBezTo>
              </a:path>
            </a:pathLst>
          </a:custGeom>
          <a:solidFill>
            <a:schemeClr val="accent1"/>
          </a:solidFill>
          <a:ln w="9525">
            <a:noFill/>
            <a:round/>
          </a:ln>
        </p:spPr>
        <p:txBody>
          <a:bodyPr vert="horz" wrap="square" lIns="79390" tIns="39695" rIns="79390" bIns="39695" numCol="1" anchor="t" anchorCtr="0" compatLnSpc="1"/>
          <a:lstStyle/>
          <a:p>
            <a:pPr algn="just">
              <a:lnSpc>
                <a:spcPct val="120000"/>
              </a:lnSpc>
            </a:pPr>
            <a:endParaRPr lang="en-US" sz="8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Freeform 30"/>
          <p:cNvSpPr>
            <a:spLocks noEditPoints="1"/>
          </p:cNvSpPr>
          <p:nvPr/>
        </p:nvSpPr>
        <p:spPr bwMode="auto">
          <a:xfrm>
            <a:off x="1530061" y="4558895"/>
            <a:ext cx="945742" cy="945794"/>
          </a:xfrm>
          <a:custGeom>
            <a:avLst/>
            <a:gdLst/>
            <a:ahLst/>
            <a:cxnLst>
              <a:cxn ang="0">
                <a:pos x="143" y="286"/>
              </a:cxn>
              <a:cxn ang="0">
                <a:pos x="0" y="143"/>
              </a:cxn>
              <a:cxn ang="0">
                <a:pos x="143" y="0"/>
              </a:cxn>
              <a:cxn ang="0">
                <a:pos x="286" y="143"/>
              </a:cxn>
              <a:cxn ang="0">
                <a:pos x="143" y="286"/>
              </a:cxn>
              <a:cxn ang="0">
                <a:pos x="143" y="52"/>
              </a:cxn>
              <a:cxn ang="0">
                <a:pos x="52" y="143"/>
              </a:cxn>
              <a:cxn ang="0">
                <a:pos x="143" y="234"/>
              </a:cxn>
              <a:cxn ang="0">
                <a:pos x="234" y="143"/>
              </a:cxn>
              <a:cxn ang="0">
                <a:pos x="143" y="52"/>
              </a:cxn>
            </a:cxnLst>
            <a:rect l="0" t="0" r="r" b="b"/>
            <a:pathLst>
              <a:path w="286" h="286">
                <a:moveTo>
                  <a:pt x="143" y="286"/>
                </a:moveTo>
                <a:cubicBezTo>
                  <a:pt x="65" y="286"/>
                  <a:pt x="0" y="222"/>
                  <a:pt x="0" y="143"/>
                </a:cubicBezTo>
                <a:cubicBezTo>
                  <a:pt x="0" y="64"/>
                  <a:pt x="65" y="0"/>
                  <a:pt x="143" y="0"/>
                </a:cubicBezTo>
                <a:cubicBezTo>
                  <a:pt x="222" y="0"/>
                  <a:pt x="286" y="64"/>
                  <a:pt x="286" y="143"/>
                </a:cubicBezTo>
                <a:cubicBezTo>
                  <a:pt x="286" y="222"/>
                  <a:pt x="222" y="286"/>
                  <a:pt x="143" y="286"/>
                </a:cubicBezTo>
                <a:moveTo>
                  <a:pt x="143" y="52"/>
                </a:moveTo>
                <a:cubicBezTo>
                  <a:pt x="93" y="52"/>
                  <a:pt x="52" y="93"/>
                  <a:pt x="52" y="143"/>
                </a:cubicBezTo>
                <a:cubicBezTo>
                  <a:pt x="52" y="193"/>
                  <a:pt x="93" y="234"/>
                  <a:pt x="143" y="234"/>
                </a:cubicBezTo>
                <a:cubicBezTo>
                  <a:pt x="193" y="234"/>
                  <a:pt x="234" y="193"/>
                  <a:pt x="234" y="143"/>
                </a:cubicBezTo>
                <a:cubicBezTo>
                  <a:pt x="234" y="93"/>
                  <a:pt x="193" y="52"/>
                  <a:pt x="143" y="52"/>
                </a:cubicBezTo>
              </a:path>
            </a:pathLst>
          </a:custGeom>
          <a:solidFill>
            <a:schemeClr val="accent1"/>
          </a:solidFill>
          <a:ln w="9525">
            <a:noFill/>
            <a:round/>
          </a:ln>
        </p:spPr>
        <p:txBody>
          <a:bodyPr vert="horz" wrap="square" lIns="79390" tIns="39695" rIns="79390" bIns="39695" numCol="1" anchor="t" anchorCtr="0" compatLnSpc="1"/>
          <a:lstStyle/>
          <a:p>
            <a:pPr algn="just">
              <a:lnSpc>
                <a:spcPct val="120000"/>
              </a:lnSpc>
            </a:pPr>
            <a:endParaRPr lang="en-US" sz="8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Rectangle 13"/>
          <p:cNvSpPr/>
          <p:nvPr/>
        </p:nvSpPr>
        <p:spPr>
          <a:xfrm>
            <a:off x="3889126" y="3368158"/>
            <a:ext cx="299720" cy="233680"/>
          </a:xfrm>
          <a:prstGeom prst="rect">
            <a:avLst/>
          </a:prstGeom>
        </p:spPr>
        <p:txBody>
          <a:bodyPr wrap="none" lIns="86682" tIns="43341" rIns="86682" bIns="43341">
            <a:spAutoFit/>
          </a:bodyPr>
          <a:lstStyle/>
          <a:p>
            <a:pPr algn="just">
              <a:lnSpc>
                <a:spcPct val="120000"/>
              </a:lnSpc>
            </a:pPr>
            <a:endParaRPr lang="en-US" sz="8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Rectangle 14"/>
          <p:cNvSpPr/>
          <p:nvPr/>
        </p:nvSpPr>
        <p:spPr>
          <a:xfrm>
            <a:off x="2458448" y="4961066"/>
            <a:ext cx="1005661" cy="16567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86682" tIns="43341" rIns="86682" bIns="43341" rtlCol="0" anchor="ctr"/>
          <a:lstStyle/>
          <a:p>
            <a:pPr algn="just">
              <a:lnSpc>
                <a:spcPct val="120000"/>
              </a:lnSpc>
            </a:pPr>
            <a:endParaRPr lang="id-ID" sz="80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18"/>
          <p:cNvSpPr/>
          <p:nvPr/>
        </p:nvSpPr>
        <p:spPr bwMode="auto">
          <a:xfrm>
            <a:off x="4520341" y="3751056"/>
            <a:ext cx="1060377" cy="876646"/>
          </a:xfrm>
          <a:custGeom>
            <a:avLst/>
            <a:gdLst/>
            <a:ahLst/>
            <a:cxnLst>
              <a:cxn ang="0">
                <a:pos x="321" y="263"/>
              </a:cxn>
              <a:cxn ang="0">
                <a:pos x="145" y="263"/>
              </a:cxn>
              <a:cxn ang="0">
                <a:pos x="47" y="165"/>
              </a:cxn>
              <a:cxn ang="0">
                <a:pos x="47" y="98"/>
              </a:cxn>
              <a:cxn ang="0">
                <a:pos x="0" y="52"/>
              </a:cxn>
              <a:cxn ang="0">
                <a:pos x="0" y="0"/>
              </a:cxn>
              <a:cxn ang="0">
                <a:pos x="99" y="98"/>
              </a:cxn>
              <a:cxn ang="0">
                <a:pos x="99" y="165"/>
              </a:cxn>
              <a:cxn ang="0">
                <a:pos x="145" y="211"/>
              </a:cxn>
              <a:cxn ang="0">
                <a:pos x="321" y="211"/>
              </a:cxn>
              <a:cxn ang="0">
                <a:pos x="321" y="263"/>
              </a:cxn>
            </a:cxnLst>
            <a:rect l="0" t="0" r="r" b="b"/>
            <a:pathLst>
              <a:path w="321" h="263">
                <a:moveTo>
                  <a:pt x="321" y="263"/>
                </a:moveTo>
                <a:cubicBezTo>
                  <a:pt x="145" y="263"/>
                  <a:pt x="145" y="263"/>
                  <a:pt x="145" y="263"/>
                </a:cubicBezTo>
                <a:cubicBezTo>
                  <a:pt x="91" y="263"/>
                  <a:pt x="47" y="219"/>
                  <a:pt x="47" y="165"/>
                </a:cubicBezTo>
                <a:cubicBezTo>
                  <a:pt x="47" y="98"/>
                  <a:pt x="47" y="98"/>
                  <a:pt x="47" y="98"/>
                </a:cubicBezTo>
                <a:cubicBezTo>
                  <a:pt x="47" y="73"/>
                  <a:pt x="26" y="52"/>
                  <a:pt x="0" y="52"/>
                </a:cubicBezTo>
                <a:cubicBezTo>
                  <a:pt x="0" y="0"/>
                  <a:pt x="0" y="0"/>
                  <a:pt x="0" y="0"/>
                </a:cubicBezTo>
                <a:cubicBezTo>
                  <a:pt x="55" y="0"/>
                  <a:pt x="99" y="44"/>
                  <a:pt x="99" y="98"/>
                </a:cubicBezTo>
                <a:cubicBezTo>
                  <a:pt x="99" y="165"/>
                  <a:pt x="99" y="165"/>
                  <a:pt x="99" y="165"/>
                </a:cubicBezTo>
                <a:cubicBezTo>
                  <a:pt x="99" y="190"/>
                  <a:pt x="119" y="211"/>
                  <a:pt x="145" y="211"/>
                </a:cubicBezTo>
                <a:cubicBezTo>
                  <a:pt x="321" y="211"/>
                  <a:pt x="321" y="211"/>
                  <a:pt x="321" y="211"/>
                </a:cubicBezTo>
                <a:cubicBezTo>
                  <a:pt x="321" y="263"/>
                  <a:pt x="321" y="263"/>
                  <a:pt x="321" y="263"/>
                </a:cubicBezTo>
              </a:path>
            </a:pathLst>
          </a:custGeom>
          <a:solidFill>
            <a:schemeClr val="accent2"/>
          </a:solidFill>
          <a:ln w="9525">
            <a:noFill/>
            <a:round/>
          </a:ln>
        </p:spPr>
        <p:txBody>
          <a:bodyPr vert="horz" wrap="square" lIns="79390" tIns="39695" rIns="79390" bIns="39695" numCol="1" anchor="t" anchorCtr="0" compatLnSpc="1"/>
          <a:lstStyle/>
          <a:p>
            <a:pPr algn="just">
              <a:lnSpc>
                <a:spcPct val="120000"/>
              </a:lnSpc>
            </a:pPr>
            <a:endParaRPr lang="en-US" sz="8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16"/>
          <p:cNvSpPr/>
          <p:nvPr/>
        </p:nvSpPr>
        <p:spPr bwMode="auto">
          <a:xfrm>
            <a:off x="8990220" y="2206120"/>
            <a:ext cx="1058332" cy="1377749"/>
          </a:xfrm>
          <a:custGeom>
            <a:avLst/>
            <a:gdLst/>
            <a:ahLst/>
            <a:cxnLst>
              <a:cxn ang="0">
                <a:pos x="0" y="417"/>
              </a:cxn>
              <a:cxn ang="0">
                <a:pos x="0" y="365"/>
              </a:cxn>
              <a:cxn ang="0">
                <a:pos x="46" y="319"/>
              </a:cxn>
              <a:cxn ang="0">
                <a:pos x="46" y="98"/>
              </a:cxn>
              <a:cxn ang="0">
                <a:pos x="145" y="0"/>
              </a:cxn>
              <a:cxn ang="0">
                <a:pos x="320" y="0"/>
              </a:cxn>
              <a:cxn ang="0">
                <a:pos x="320" y="52"/>
              </a:cxn>
              <a:cxn ang="0">
                <a:pos x="145" y="52"/>
              </a:cxn>
              <a:cxn ang="0">
                <a:pos x="98" y="98"/>
              </a:cxn>
              <a:cxn ang="0">
                <a:pos x="98" y="319"/>
              </a:cxn>
              <a:cxn ang="0">
                <a:pos x="0" y="417"/>
              </a:cxn>
            </a:cxnLst>
            <a:rect l="0" t="0" r="r" b="b"/>
            <a:pathLst>
              <a:path w="320" h="417">
                <a:moveTo>
                  <a:pt x="0" y="417"/>
                </a:moveTo>
                <a:cubicBezTo>
                  <a:pt x="0" y="365"/>
                  <a:pt x="0" y="365"/>
                  <a:pt x="0" y="365"/>
                </a:cubicBezTo>
                <a:cubicBezTo>
                  <a:pt x="26" y="365"/>
                  <a:pt x="46" y="344"/>
                  <a:pt x="46" y="319"/>
                </a:cubicBezTo>
                <a:cubicBezTo>
                  <a:pt x="46" y="98"/>
                  <a:pt x="46" y="98"/>
                  <a:pt x="46" y="98"/>
                </a:cubicBezTo>
                <a:cubicBezTo>
                  <a:pt x="46" y="44"/>
                  <a:pt x="90" y="0"/>
                  <a:pt x="145" y="0"/>
                </a:cubicBezTo>
                <a:cubicBezTo>
                  <a:pt x="320" y="0"/>
                  <a:pt x="320" y="0"/>
                  <a:pt x="320" y="0"/>
                </a:cubicBezTo>
                <a:cubicBezTo>
                  <a:pt x="320" y="52"/>
                  <a:pt x="320" y="52"/>
                  <a:pt x="320" y="52"/>
                </a:cubicBezTo>
                <a:cubicBezTo>
                  <a:pt x="145" y="52"/>
                  <a:pt x="145" y="52"/>
                  <a:pt x="145" y="52"/>
                </a:cubicBezTo>
                <a:cubicBezTo>
                  <a:pt x="119" y="52"/>
                  <a:pt x="98" y="73"/>
                  <a:pt x="98" y="98"/>
                </a:cubicBezTo>
                <a:cubicBezTo>
                  <a:pt x="98" y="319"/>
                  <a:pt x="98" y="319"/>
                  <a:pt x="98" y="319"/>
                </a:cubicBezTo>
                <a:cubicBezTo>
                  <a:pt x="98" y="373"/>
                  <a:pt x="54" y="417"/>
                  <a:pt x="0" y="417"/>
                </a:cubicBezTo>
              </a:path>
            </a:pathLst>
          </a:custGeom>
          <a:solidFill>
            <a:schemeClr val="accent4"/>
          </a:solidFill>
          <a:ln w="9525">
            <a:noFill/>
            <a:round/>
          </a:ln>
        </p:spPr>
        <p:txBody>
          <a:bodyPr vert="horz" wrap="square" lIns="79390" tIns="39695" rIns="79390" bIns="39695" numCol="1" anchor="t" anchorCtr="0" compatLnSpc="1"/>
          <a:lstStyle/>
          <a:p>
            <a:pPr algn="just">
              <a:lnSpc>
                <a:spcPct val="120000"/>
              </a:lnSpc>
            </a:pPr>
            <a:endParaRPr lang="en-US" sz="800" dirty="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Right Arrow 17"/>
          <p:cNvSpPr/>
          <p:nvPr/>
        </p:nvSpPr>
        <p:spPr>
          <a:xfrm>
            <a:off x="9448997" y="2114156"/>
            <a:ext cx="1140626" cy="359486"/>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86682" tIns="43341" rIns="86682" bIns="43341" rtlCol="0" anchor="ctr"/>
          <a:lstStyle/>
          <a:p>
            <a:pPr algn="just">
              <a:lnSpc>
                <a:spcPct val="120000"/>
              </a:lnSpc>
            </a:pPr>
            <a:endParaRPr lang="id-ID" sz="800">
              <a:solidFill>
                <a:schemeClr val="tx1">
                  <a:lumMod val="65000"/>
                  <a:lumOff val="3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4" name="Title 13"/>
          <p:cNvSpPr txBox="1"/>
          <p:nvPr/>
        </p:nvSpPr>
        <p:spPr>
          <a:xfrm>
            <a:off x="4453457" y="4774576"/>
            <a:ext cx="2729528" cy="1475105"/>
          </a:xfrm>
          <a:prstGeom prst="rect">
            <a:avLst/>
          </a:prstGeom>
        </p:spPr>
        <p:txBody>
          <a:bodyPr wrap="square" lIns="91379" tIns="45690" rIns="91379" bIns="45690">
            <a:spAutoFit/>
          </a:bodyPr>
          <a:lstStyle>
            <a:defPPr>
              <a:defRPr lang="zh-CN"/>
            </a:defPPr>
            <a:lvl1pPr>
              <a:lnSpc>
                <a:spcPct val="150000"/>
              </a:lnSpc>
              <a:defRPr sz="1400">
                <a:solidFill>
                  <a:schemeClr val="tx1">
                    <a:lumMod val="50000"/>
                    <a:lumOff val="50000"/>
                  </a:schemeClr>
                </a:solidFill>
                <a:latin typeface="微软雅黑" panose="020B0503020204020204" pitchFamily="34" charset="-122"/>
                <a:ea typeface="微软雅黑" panose="020B0503020204020204" pitchFamily="34" charset="-122"/>
                <a:cs typeface="Segoe UI Semilight" panose="020B0402040204020203" pitchFamily="34" charset="0"/>
              </a:defRPr>
            </a:lvl1pPr>
          </a:lstStyle>
          <a:p>
            <a:pPr algn="l"/>
            <a:r>
              <a:rPr lang="en-US" altLang="zh-CN" sz="2000" dirty="0">
                <a:solidFill>
                  <a:schemeClr val="tx1"/>
                </a:solidFill>
                <a:sym typeface="Arial" panose="020B0604020202020204" pitchFamily="34" charset="0"/>
              </a:rPr>
              <a:t>2.</a:t>
            </a:r>
            <a:r>
              <a:rPr lang="zh-CN" altLang="en-US" sz="2000" dirty="0">
                <a:solidFill>
                  <a:schemeClr val="tx1"/>
                </a:solidFill>
                <a:sym typeface="Arial" panose="020B0604020202020204" pitchFamily="34" charset="0"/>
              </a:rPr>
              <a:t>按照</a:t>
            </a:r>
            <a:r>
              <a:rPr lang="en-US" altLang="zh-CN" sz="2000" dirty="0">
                <a:solidFill>
                  <a:schemeClr val="tx1"/>
                </a:solidFill>
                <a:sym typeface="Arial" panose="020B0604020202020204" pitchFamily="34" charset="0"/>
              </a:rPr>
              <a:t>min-,min,min+,nom</a:t>
            </a:r>
            <a:r>
              <a:rPr lang="zh-CN" altLang="en-US" sz="2000" dirty="0">
                <a:solidFill>
                  <a:schemeClr val="tx1"/>
                </a:solidFill>
                <a:sym typeface="Arial" panose="020B0604020202020204" pitchFamily="34" charset="0"/>
              </a:rPr>
              <a:t>、</a:t>
            </a:r>
            <a:r>
              <a:rPr lang="en-US" altLang="zh-CN" sz="2000" dirty="0">
                <a:solidFill>
                  <a:schemeClr val="tx1"/>
                </a:solidFill>
                <a:sym typeface="Arial" panose="020B0604020202020204" pitchFamily="34" charset="0"/>
              </a:rPr>
              <a:t>max-,max,max+</a:t>
            </a:r>
            <a:r>
              <a:rPr lang="zh-CN" altLang="en-US" sz="2000" dirty="0">
                <a:solidFill>
                  <a:schemeClr val="tx1"/>
                </a:solidFill>
                <a:sym typeface="Arial" panose="020B0604020202020204" pitchFamily="34" charset="0"/>
              </a:rPr>
              <a:t>取值</a:t>
            </a:r>
            <a:endParaRPr lang="zh-CN" altLang="en-US" sz="2000" dirty="0">
              <a:solidFill>
                <a:schemeClr val="tx1"/>
              </a:solidFill>
              <a:sym typeface="Arial" panose="020B0604020202020204" pitchFamily="34" charset="0"/>
            </a:endParaRPr>
          </a:p>
        </p:txBody>
      </p:sp>
      <p:sp>
        <p:nvSpPr>
          <p:cNvPr id="53" name="Title 13"/>
          <p:cNvSpPr txBox="1"/>
          <p:nvPr/>
        </p:nvSpPr>
        <p:spPr>
          <a:xfrm>
            <a:off x="5750603" y="675522"/>
            <a:ext cx="3316196" cy="2398395"/>
          </a:xfrm>
          <a:prstGeom prst="rect">
            <a:avLst/>
          </a:prstGeom>
        </p:spPr>
        <p:txBody>
          <a:bodyPr wrap="square" lIns="91379" tIns="45690" rIns="91379" bIns="45690">
            <a:spAutoFit/>
          </a:bodyPr>
          <a:lstStyle>
            <a:defPPr>
              <a:defRPr lang="zh-CN"/>
            </a:defPPr>
            <a:lvl1pPr>
              <a:lnSpc>
                <a:spcPct val="150000"/>
              </a:lnSpc>
              <a:defRPr sz="1400">
                <a:solidFill>
                  <a:schemeClr val="tx1">
                    <a:lumMod val="50000"/>
                    <a:lumOff val="50000"/>
                  </a:schemeClr>
                </a:solidFill>
                <a:latin typeface="微软雅黑" panose="020B0503020204020204" pitchFamily="34" charset="-122"/>
                <a:ea typeface="微软雅黑" panose="020B0503020204020204" pitchFamily="34" charset="-122"/>
                <a:cs typeface="Segoe UI Semilight" panose="020B0402040204020203" pitchFamily="34" charset="0"/>
              </a:defRPr>
            </a:lvl1pPr>
          </a:lstStyle>
          <a:p>
            <a:r>
              <a:rPr lang="en-US" altLang="zh-CN" sz="2000" dirty="0">
                <a:solidFill>
                  <a:schemeClr val="tx1"/>
                </a:solidFill>
                <a:sym typeface="Arial" panose="020B0604020202020204" pitchFamily="34" charset="0"/>
              </a:rPr>
              <a:t>3.</a:t>
            </a:r>
            <a:r>
              <a:rPr lang="zh-CN" sz="2000" dirty="0">
                <a:solidFill>
                  <a:schemeClr val="tx1"/>
                </a:solidFill>
                <a:sym typeface="Arial" panose="020B0604020202020204" pitchFamily="34" charset="0"/>
              </a:rPr>
              <a:t>设计测试用例</a:t>
            </a:r>
            <a:endParaRPr lang="zh-CN" sz="2000" dirty="0">
              <a:solidFill>
                <a:schemeClr val="tx1"/>
              </a:solidFill>
              <a:sym typeface="Arial" panose="020B0604020202020204" pitchFamily="34" charset="0"/>
            </a:endParaRPr>
          </a:p>
          <a:p>
            <a:r>
              <a:rPr lang="zh-CN" sz="1600" dirty="0">
                <a:solidFill>
                  <a:schemeClr val="tx1"/>
                </a:solidFill>
                <a:sym typeface="Arial" panose="020B0604020202020204" pitchFamily="34" charset="0"/>
              </a:rPr>
              <a:t>对于一个含有</a:t>
            </a:r>
            <a:r>
              <a:rPr lang="en-US" altLang="zh-CN" sz="1600" dirty="0">
                <a:solidFill>
                  <a:schemeClr val="tx1"/>
                </a:solidFill>
                <a:sym typeface="Arial" panose="020B0604020202020204" pitchFamily="34" charset="0"/>
              </a:rPr>
              <a:t>n</a:t>
            </a:r>
            <a:r>
              <a:rPr lang="zh-CN" altLang="en-US" sz="1600" dirty="0">
                <a:solidFill>
                  <a:schemeClr val="tx1"/>
                </a:solidFill>
                <a:sym typeface="Arial" panose="020B0604020202020204" pitchFamily="34" charset="0"/>
              </a:rPr>
              <a:t>个变量的程序，保留其中一个变量，让其变量取正常值，这样被保留的变量取值</a:t>
            </a:r>
            <a:r>
              <a:rPr lang="en-US" altLang="zh-CN" sz="1600" dirty="0">
                <a:solidFill>
                  <a:schemeClr val="tx1"/>
                </a:solidFill>
                <a:sym typeface="Arial" panose="020B0604020202020204" pitchFamily="34" charset="0"/>
              </a:rPr>
              <a:t>min-</a:t>
            </a:r>
            <a:r>
              <a:rPr lang="zh-CN" altLang="en-US" sz="1600" dirty="0">
                <a:solidFill>
                  <a:schemeClr val="tx1"/>
                </a:solidFill>
                <a:sym typeface="Arial" panose="020B0604020202020204" pitchFamily="34" charset="0"/>
              </a:rPr>
              <a:t>、</a:t>
            </a:r>
            <a:r>
              <a:rPr lang="en-US" altLang="zh-CN" sz="1600" dirty="0">
                <a:solidFill>
                  <a:schemeClr val="tx1"/>
                </a:solidFill>
                <a:sym typeface="Arial" panose="020B0604020202020204" pitchFamily="34" charset="0"/>
              </a:rPr>
              <a:t>min</a:t>
            </a:r>
            <a:r>
              <a:rPr lang="zh-CN" altLang="en-US" sz="1600" dirty="0">
                <a:solidFill>
                  <a:schemeClr val="tx1"/>
                </a:solidFill>
                <a:sym typeface="Arial" panose="020B0604020202020204" pitchFamily="34" charset="0"/>
              </a:rPr>
              <a:t>、</a:t>
            </a:r>
            <a:r>
              <a:rPr lang="en-US" altLang="zh-CN" sz="1600" dirty="0">
                <a:solidFill>
                  <a:schemeClr val="tx1"/>
                </a:solidFill>
                <a:sym typeface="Arial" panose="020B0604020202020204" pitchFamily="34" charset="0"/>
              </a:rPr>
              <a:t>min+</a:t>
            </a:r>
            <a:r>
              <a:rPr lang="zh-CN" altLang="en-US" sz="1600" dirty="0">
                <a:solidFill>
                  <a:schemeClr val="tx1"/>
                </a:solidFill>
                <a:sym typeface="Arial" panose="020B0604020202020204" pitchFamily="34" charset="0"/>
              </a:rPr>
              <a:t>、</a:t>
            </a:r>
            <a:r>
              <a:rPr lang="en-US" altLang="zh-CN" sz="1600" dirty="0">
                <a:solidFill>
                  <a:schemeClr val="tx1"/>
                </a:solidFill>
                <a:sym typeface="Arial" panose="020B0604020202020204" pitchFamily="34" charset="0"/>
              </a:rPr>
              <a:t>nom</a:t>
            </a:r>
            <a:r>
              <a:rPr lang="zh-CN" altLang="en-US" sz="1600" dirty="0">
                <a:solidFill>
                  <a:schemeClr val="tx1"/>
                </a:solidFill>
                <a:sym typeface="Arial" panose="020B0604020202020204" pitchFamily="34" charset="0"/>
              </a:rPr>
              <a:t>、</a:t>
            </a:r>
            <a:r>
              <a:rPr lang="en-US" altLang="zh-CN" sz="1600" dirty="0">
                <a:solidFill>
                  <a:schemeClr val="tx1"/>
                </a:solidFill>
                <a:sym typeface="Arial" panose="020B0604020202020204" pitchFamily="34" charset="0"/>
              </a:rPr>
              <a:t>max-</a:t>
            </a:r>
            <a:r>
              <a:rPr lang="zh-CN" altLang="en-US" sz="1600" dirty="0">
                <a:solidFill>
                  <a:schemeClr val="tx1"/>
                </a:solidFill>
                <a:sym typeface="Arial" panose="020B0604020202020204" pitchFamily="34" charset="0"/>
              </a:rPr>
              <a:t>、</a:t>
            </a:r>
            <a:r>
              <a:rPr lang="en-US" altLang="zh-CN" sz="1600" dirty="0">
                <a:solidFill>
                  <a:schemeClr val="tx1"/>
                </a:solidFill>
                <a:sym typeface="Arial" panose="020B0604020202020204" pitchFamily="34" charset="0"/>
              </a:rPr>
              <a:t>max</a:t>
            </a:r>
            <a:r>
              <a:rPr lang="zh-CN" altLang="en-US" sz="1600" dirty="0">
                <a:solidFill>
                  <a:schemeClr val="tx1"/>
                </a:solidFill>
                <a:sym typeface="Arial" panose="020B0604020202020204" pitchFamily="34" charset="0"/>
              </a:rPr>
              <a:t>、</a:t>
            </a:r>
            <a:r>
              <a:rPr lang="en-US" altLang="zh-CN" sz="1600" dirty="0">
                <a:solidFill>
                  <a:schemeClr val="tx1"/>
                </a:solidFill>
                <a:sym typeface="Arial" panose="020B0604020202020204" pitchFamily="34" charset="0"/>
              </a:rPr>
              <a:t>max+,</a:t>
            </a:r>
            <a:r>
              <a:rPr lang="zh-CN" altLang="en-US" sz="1600" dirty="0">
                <a:solidFill>
                  <a:schemeClr val="tx1"/>
                </a:solidFill>
                <a:sym typeface="Arial" panose="020B0604020202020204" pitchFamily="34" charset="0"/>
              </a:rPr>
              <a:t>对每一个变量重复进行。</a:t>
            </a:r>
            <a:endParaRPr lang="zh-CN" altLang="en-US" sz="1600" dirty="0">
              <a:solidFill>
                <a:schemeClr val="tx1"/>
              </a:solidFill>
              <a:sym typeface="Arial" panose="020B0604020202020204" pitchFamily="34" charset="0"/>
            </a:endParaRPr>
          </a:p>
        </p:txBody>
      </p:sp>
      <p:sp>
        <p:nvSpPr>
          <p:cNvPr id="38" name="Title 13"/>
          <p:cNvSpPr txBox="1"/>
          <p:nvPr/>
        </p:nvSpPr>
        <p:spPr>
          <a:xfrm>
            <a:off x="1006468" y="3140922"/>
            <a:ext cx="2370798" cy="1475105"/>
          </a:xfrm>
          <a:prstGeom prst="rect">
            <a:avLst/>
          </a:prstGeom>
        </p:spPr>
        <p:txBody>
          <a:bodyPr wrap="square" lIns="91379" tIns="45690" rIns="91379" bIns="45690">
            <a:spAutoFit/>
          </a:bodyPr>
          <a:lstStyle>
            <a:defPPr>
              <a:defRPr lang="zh-CN"/>
            </a:defPPr>
            <a:lvl1pPr>
              <a:lnSpc>
                <a:spcPct val="150000"/>
              </a:lnSpc>
              <a:defRPr sz="1400">
                <a:solidFill>
                  <a:schemeClr val="tx1">
                    <a:lumMod val="50000"/>
                    <a:lumOff val="50000"/>
                  </a:schemeClr>
                </a:solidFill>
                <a:latin typeface="微软雅黑" panose="020B0503020204020204" pitchFamily="34" charset="-122"/>
                <a:ea typeface="微软雅黑" panose="020B0503020204020204" pitchFamily="34" charset="-122"/>
                <a:cs typeface="Segoe UI Semilight" panose="020B0402040204020203" pitchFamily="34" charset="0"/>
              </a:defRPr>
            </a:lvl1pPr>
          </a:lstStyle>
          <a:p>
            <a:r>
              <a:rPr lang="en-US" altLang="zh-CN" sz="2000" dirty="0">
                <a:solidFill>
                  <a:schemeClr val="tx1"/>
                </a:solidFill>
                <a:sym typeface="Arial" panose="020B0604020202020204" pitchFamily="34" charset="0"/>
              </a:rPr>
              <a:t>1.</a:t>
            </a:r>
            <a:r>
              <a:rPr lang="zh-CN" sz="2000" dirty="0">
                <a:solidFill>
                  <a:schemeClr val="tx1"/>
                </a:solidFill>
                <a:sym typeface="Arial" panose="020B0604020202020204" pitchFamily="34" charset="0"/>
              </a:rPr>
              <a:t>找准功能测试点的输入域，需求边界和次边界。</a:t>
            </a:r>
            <a:endParaRPr lang="zh-CN" sz="2000" dirty="0">
              <a:solidFill>
                <a:schemeClr val="tx1"/>
              </a:solidFill>
              <a:sym typeface="Arial" panose="020B0604020202020204" pitchFamily="34" charset="0"/>
            </a:endParaRPr>
          </a:p>
        </p:txBody>
      </p:sp>
      <p:sp>
        <p:nvSpPr>
          <p:cNvPr id="2" name="双波形 1"/>
          <p:cNvSpPr/>
          <p:nvPr/>
        </p:nvSpPr>
        <p:spPr>
          <a:xfrm>
            <a:off x="480753" y="914252"/>
            <a:ext cx="4332705" cy="1440637"/>
          </a:xfrm>
          <a:prstGeom prst="doubleWave">
            <a:avLst/>
          </a:prstGeom>
        </p:spPr>
        <p:style>
          <a:lnRef idx="1">
            <a:schemeClr val="accent1"/>
          </a:lnRef>
          <a:fillRef idx="2">
            <a:schemeClr val="accent1"/>
          </a:fillRef>
          <a:effectRef idx="1">
            <a:schemeClr val="accent1"/>
          </a:effectRef>
          <a:fontRef idx="minor">
            <a:schemeClr val="dk1"/>
          </a:fontRef>
        </p:style>
        <p:txBody>
          <a:bodyPr rtlCol="0" anchor="ctr"/>
          <a:p>
            <a:pPr algn="ctr"/>
            <a:r>
              <a:rPr lang="zh-CN" altLang="en-US" sz="2800"/>
              <a:t>总结实施步骤</a:t>
            </a:r>
            <a:endParaRPr lang="zh-CN" altLang="en-US" sz="2800"/>
          </a:p>
        </p:txBody>
      </p:sp>
    </p:spTree>
  </p:cSld>
  <p:clrMapOvr>
    <a:masterClrMapping/>
  </p:clrMapOvr>
  <p:transition advTm="8846">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145">
                                          <p:stCondLst>
                                            <p:cond delay="0"/>
                                          </p:stCondLst>
                                        </p:cTn>
                                        <p:tgtEl>
                                          <p:spTgt spid="12"/>
                                        </p:tgtEl>
                                      </p:cBhvr>
                                    </p:animEffect>
                                    <p:anim calcmode="lin" valueType="num">
                                      <p:cBhvr>
                                        <p:cTn id="8" dur="456"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9" dur="166"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0" dur="166" tmFilter="0, 0; 0.125,0.2665; 0.25,0.4; 0.375,0.465; 0.5,0.5;  0.625,0.535; 0.75,0.6; 0.875,0.7335; 1,1">
                                          <p:stCondLst>
                                            <p:cond delay="166"/>
                                          </p:stCondLst>
                                        </p:cTn>
                                        <p:tgtEl>
                                          <p:spTgt spid="12"/>
                                        </p:tgtEl>
                                        <p:attrNameLst>
                                          <p:attrName>ppt_y</p:attrName>
                                        </p:attrNameLst>
                                      </p:cBhvr>
                                      <p:tavLst>
                                        <p:tav tm="0" fmla="#ppt_y-sin(pi*$)/9">
                                          <p:val>
                                            <p:fltVal val="0"/>
                                          </p:val>
                                        </p:tav>
                                        <p:tav tm="100000">
                                          <p:val>
                                            <p:fltVal val="1"/>
                                          </p:val>
                                        </p:tav>
                                      </p:tavLst>
                                    </p:anim>
                                    <p:anim calcmode="lin" valueType="num">
                                      <p:cBhvr>
                                        <p:cTn id="11" dur="83" tmFilter="0, 0; 0.125,0.2665; 0.25,0.4; 0.375,0.465; 0.5,0.5;  0.625,0.535; 0.75,0.6; 0.875,0.7335; 1,1">
                                          <p:stCondLst>
                                            <p:cond delay="331"/>
                                          </p:stCondLst>
                                        </p:cTn>
                                        <p:tgtEl>
                                          <p:spTgt spid="12"/>
                                        </p:tgtEl>
                                        <p:attrNameLst>
                                          <p:attrName>ppt_y</p:attrName>
                                        </p:attrNameLst>
                                      </p:cBhvr>
                                      <p:tavLst>
                                        <p:tav tm="0" fmla="#ppt_y-sin(pi*$)/27">
                                          <p:val>
                                            <p:fltVal val="0"/>
                                          </p:val>
                                        </p:tav>
                                        <p:tav tm="100000">
                                          <p:val>
                                            <p:fltVal val="1"/>
                                          </p:val>
                                        </p:tav>
                                      </p:tavLst>
                                    </p:anim>
                                    <p:anim calcmode="lin" valueType="num">
                                      <p:cBhvr>
                                        <p:cTn id="12" dur="41" tmFilter="0, 0; 0.125,0.2665; 0.25,0.4; 0.375,0.465; 0.5,0.5;  0.625,0.535; 0.75,0.6; 0.875,0.7335; 1,1">
                                          <p:stCondLst>
                                            <p:cond delay="414"/>
                                          </p:stCondLst>
                                        </p:cTn>
                                        <p:tgtEl>
                                          <p:spTgt spid="12"/>
                                        </p:tgtEl>
                                        <p:attrNameLst>
                                          <p:attrName>ppt_y</p:attrName>
                                        </p:attrNameLst>
                                      </p:cBhvr>
                                      <p:tavLst>
                                        <p:tav tm="0" fmla="#ppt_y-sin(pi*$)/81">
                                          <p:val>
                                            <p:fltVal val="0"/>
                                          </p:val>
                                        </p:tav>
                                        <p:tav tm="100000">
                                          <p:val>
                                            <p:fltVal val="1"/>
                                          </p:val>
                                        </p:tav>
                                      </p:tavLst>
                                    </p:anim>
                                    <p:animScale>
                                      <p:cBhvr>
                                        <p:cTn id="13" dur="7">
                                          <p:stCondLst>
                                            <p:cond delay="162"/>
                                          </p:stCondLst>
                                        </p:cTn>
                                        <p:tgtEl>
                                          <p:spTgt spid="12"/>
                                        </p:tgtEl>
                                      </p:cBhvr>
                                      <p:to x="100000" y="60000"/>
                                    </p:animScale>
                                    <p:animScale>
                                      <p:cBhvr>
                                        <p:cTn id="14" dur="41" decel="50000">
                                          <p:stCondLst>
                                            <p:cond delay="169"/>
                                          </p:stCondLst>
                                        </p:cTn>
                                        <p:tgtEl>
                                          <p:spTgt spid="12"/>
                                        </p:tgtEl>
                                      </p:cBhvr>
                                      <p:to x="100000" y="100000"/>
                                    </p:animScale>
                                    <p:animScale>
                                      <p:cBhvr>
                                        <p:cTn id="15" dur="7">
                                          <p:stCondLst>
                                            <p:cond delay="328"/>
                                          </p:stCondLst>
                                        </p:cTn>
                                        <p:tgtEl>
                                          <p:spTgt spid="12"/>
                                        </p:tgtEl>
                                      </p:cBhvr>
                                      <p:to x="100000" y="80000"/>
                                    </p:animScale>
                                    <p:animScale>
                                      <p:cBhvr>
                                        <p:cTn id="16" dur="41" decel="50000">
                                          <p:stCondLst>
                                            <p:cond delay="335"/>
                                          </p:stCondLst>
                                        </p:cTn>
                                        <p:tgtEl>
                                          <p:spTgt spid="12"/>
                                        </p:tgtEl>
                                      </p:cBhvr>
                                      <p:to x="100000" y="100000"/>
                                    </p:animScale>
                                    <p:animScale>
                                      <p:cBhvr>
                                        <p:cTn id="17" dur="7">
                                          <p:stCondLst>
                                            <p:cond delay="410"/>
                                          </p:stCondLst>
                                        </p:cTn>
                                        <p:tgtEl>
                                          <p:spTgt spid="12"/>
                                        </p:tgtEl>
                                      </p:cBhvr>
                                      <p:to x="100000" y="90000"/>
                                    </p:animScale>
                                    <p:animScale>
                                      <p:cBhvr>
                                        <p:cTn id="18" dur="41" decel="50000">
                                          <p:stCondLst>
                                            <p:cond delay="417"/>
                                          </p:stCondLst>
                                        </p:cTn>
                                        <p:tgtEl>
                                          <p:spTgt spid="12"/>
                                        </p:tgtEl>
                                      </p:cBhvr>
                                      <p:to x="100000" y="100000"/>
                                    </p:animScale>
                                    <p:animScale>
                                      <p:cBhvr>
                                        <p:cTn id="19" dur="7">
                                          <p:stCondLst>
                                            <p:cond delay="452"/>
                                          </p:stCondLst>
                                        </p:cTn>
                                        <p:tgtEl>
                                          <p:spTgt spid="12"/>
                                        </p:tgtEl>
                                      </p:cBhvr>
                                      <p:to x="100000" y="95000"/>
                                    </p:animScale>
                                    <p:animScale>
                                      <p:cBhvr>
                                        <p:cTn id="20" dur="41" decel="50000">
                                          <p:stCondLst>
                                            <p:cond delay="458"/>
                                          </p:stCondLst>
                                        </p:cTn>
                                        <p:tgtEl>
                                          <p:spTgt spid="12"/>
                                        </p:tgtEl>
                                      </p:cBhvr>
                                      <p:to x="100000" y="100000"/>
                                    </p:animScale>
                                  </p:childTnLst>
                                </p:cTn>
                              </p:par>
                              <p:par>
                                <p:cTn id="21" presetID="22" presetClass="entr" presetSubtype="8" fill="hold" grpId="0" nodeType="withEffect">
                                  <p:stCondLst>
                                    <p:cond delay="100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par>
                                <p:cTn id="24" presetID="22" presetClass="entr" presetSubtype="8" fill="hold" grpId="0" nodeType="withEffect">
                                  <p:stCondLst>
                                    <p:cond delay="150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par>
                                <p:cTn id="27" presetID="22" presetClass="entr" presetSubtype="8" fill="hold" grpId="0" nodeType="withEffect">
                                  <p:stCondLst>
                                    <p:cond delay="2000"/>
                                  </p:stCondLst>
                                  <p:childTnLst>
                                    <p:set>
                                      <p:cBhvr>
                                        <p:cTn id="28" dur="1" fill="hold">
                                          <p:stCondLst>
                                            <p:cond delay="0"/>
                                          </p:stCondLst>
                                        </p:cTn>
                                        <p:tgtEl>
                                          <p:spTgt spid="16"/>
                                        </p:tgtEl>
                                        <p:attrNameLst>
                                          <p:attrName>style.visibility</p:attrName>
                                        </p:attrNameLst>
                                      </p:cBhvr>
                                      <p:to>
                                        <p:strVal val="visible"/>
                                      </p:to>
                                    </p:set>
                                    <p:animEffect transition="in" filter="wipe(left)">
                                      <p:cBhvr>
                                        <p:cTn id="29" dur="500"/>
                                        <p:tgtEl>
                                          <p:spTgt spid="16"/>
                                        </p:tgtEl>
                                      </p:cBhvr>
                                    </p:animEffect>
                                  </p:childTnLst>
                                </p:cTn>
                              </p:par>
                              <p:par>
                                <p:cTn id="30" presetID="22" presetClass="entr" presetSubtype="8" fill="hold" grpId="0" nodeType="withEffect">
                                  <p:stCondLst>
                                    <p:cond delay="250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par>
                                <p:cTn id="33" presetID="22" presetClass="entr" presetSubtype="8" fill="hold" grpId="0" nodeType="withEffect">
                                  <p:stCondLst>
                                    <p:cond delay="300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par>
                                <p:cTn id="36" presetID="22" presetClass="entr" presetSubtype="8" fill="hold" grpId="0" nodeType="withEffect">
                                  <p:stCondLst>
                                    <p:cond delay="350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500"/>
                                        <p:tgtEl>
                                          <p:spTgt spid="9"/>
                                        </p:tgtEl>
                                      </p:cBhvr>
                                    </p:animEffect>
                                  </p:childTnLst>
                                </p:cTn>
                              </p:par>
                            </p:childTnLst>
                          </p:cTn>
                        </p:par>
                        <p:par>
                          <p:cTn id="39" fill="hold">
                            <p:stCondLst>
                              <p:cond delay="500"/>
                            </p:stCondLst>
                            <p:childTnLst>
                              <p:par>
                                <p:cTn id="40" presetID="22" presetClass="entr" presetSubtype="4" fill="hold" grpId="0" nodeType="after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down)">
                                      <p:cBhvr>
                                        <p:cTn id="42" dur="500"/>
                                        <p:tgtEl>
                                          <p:spTgt spid="17"/>
                                        </p:tgtEl>
                                      </p:cBhvr>
                                    </p:animEffect>
                                  </p:childTnLst>
                                </p:cTn>
                              </p:par>
                            </p:childTnLst>
                          </p:cTn>
                        </p:par>
                        <p:par>
                          <p:cTn id="43" fill="hold">
                            <p:stCondLst>
                              <p:cond delay="1000"/>
                            </p:stCondLst>
                            <p:childTnLst>
                              <p:par>
                                <p:cTn id="44" presetID="22" presetClass="entr" presetSubtype="8" fill="hold" grpId="0" nodeType="afterEffect">
                                  <p:stCondLst>
                                    <p:cond delay="1000"/>
                                  </p:stCondLst>
                                  <p:childTnLst>
                                    <p:set>
                                      <p:cBhvr>
                                        <p:cTn id="45" dur="1" fill="hold">
                                          <p:stCondLst>
                                            <p:cond delay="0"/>
                                          </p:stCondLst>
                                        </p:cTn>
                                        <p:tgtEl>
                                          <p:spTgt spid="18"/>
                                        </p:tgtEl>
                                        <p:attrNameLst>
                                          <p:attrName>style.visibility</p:attrName>
                                        </p:attrNameLst>
                                      </p:cBhvr>
                                      <p:to>
                                        <p:strVal val="visible"/>
                                      </p:to>
                                    </p:set>
                                    <p:animEffect transition="in" filter="wipe(left)">
                                      <p:cBhvr>
                                        <p:cTn id="46" dur="500"/>
                                        <p:tgtEl>
                                          <p:spTgt spid="18"/>
                                        </p:tgtEl>
                                      </p:cBhvr>
                                    </p:animEffect>
                                  </p:childTnLst>
                                </p:cTn>
                              </p:par>
                              <p:par>
                                <p:cTn id="47" presetID="2" presetClass="entr" presetSubtype="8"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additive="base">
                                        <p:cTn id="49" dur="500" fill="hold"/>
                                        <p:tgtEl>
                                          <p:spTgt spid="2"/>
                                        </p:tgtEl>
                                        <p:attrNameLst>
                                          <p:attrName>ppt_x</p:attrName>
                                        </p:attrNameLst>
                                      </p:cBhvr>
                                      <p:tavLst>
                                        <p:tav tm="0">
                                          <p:val>
                                            <p:strVal val="0-#ppt_w/2"/>
                                          </p:val>
                                        </p:tav>
                                        <p:tav tm="100000">
                                          <p:val>
                                            <p:strVal val="#ppt_x"/>
                                          </p:val>
                                        </p:tav>
                                      </p:tavLst>
                                    </p:anim>
                                    <p:anim calcmode="lin" valueType="num">
                                      <p:cBhvr additive="base">
                                        <p:cTn id="50" dur="500" fill="hold"/>
                                        <p:tgtEl>
                                          <p:spTgt spid="2"/>
                                        </p:tgtEl>
                                        <p:attrNameLst>
                                          <p:attrName>ppt_y</p:attrName>
                                        </p:attrNameLst>
                                      </p:cBhvr>
                                      <p:tavLst>
                                        <p:tav tm="0">
                                          <p:val>
                                            <p:strVal val="#ppt_y"/>
                                          </p:val>
                                        </p:tav>
                                        <p:tav tm="100000">
                                          <p:val>
                                            <p:strVal val="#ppt_y"/>
                                          </p:val>
                                        </p:tav>
                                      </p:tavLst>
                                    </p:anim>
                                  </p:childTnLst>
                                </p:cTn>
                              </p:par>
                            </p:childTnLst>
                          </p:cTn>
                        </p:par>
                        <p:par>
                          <p:cTn id="51" fill="hold">
                            <p:stCondLst>
                              <p:cond delay="2500"/>
                            </p:stCondLst>
                            <p:childTnLst>
                              <p:par>
                                <p:cTn id="52" presetID="47" presetClass="entr" presetSubtype="0" fill="hold" grpId="0" nodeType="after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fade">
                                      <p:cBhvr>
                                        <p:cTn id="54" dur="1000"/>
                                        <p:tgtEl>
                                          <p:spTgt spid="38"/>
                                        </p:tgtEl>
                                      </p:cBhvr>
                                    </p:animEffect>
                                    <p:anim calcmode="lin" valueType="num">
                                      <p:cBhvr>
                                        <p:cTn id="55" dur="1000" fill="hold"/>
                                        <p:tgtEl>
                                          <p:spTgt spid="38"/>
                                        </p:tgtEl>
                                        <p:attrNameLst>
                                          <p:attrName>ppt_x</p:attrName>
                                        </p:attrNameLst>
                                      </p:cBhvr>
                                      <p:tavLst>
                                        <p:tav tm="0">
                                          <p:val>
                                            <p:strVal val="#ppt_x"/>
                                          </p:val>
                                        </p:tav>
                                        <p:tav tm="100000">
                                          <p:val>
                                            <p:strVal val="#ppt_x"/>
                                          </p:val>
                                        </p:tav>
                                      </p:tavLst>
                                    </p:anim>
                                    <p:anim calcmode="lin" valueType="num">
                                      <p:cBhvr>
                                        <p:cTn id="56" dur="1000" fill="hold"/>
                                        <p:tgtEl>
                                          <p:spTgt spid="38"/>
                                        </p:tgtEl>
                                        <p:attrNameLst>
                                          <p:attrName>ppt_y</p:attrName>
                                        </p:attrNameLst>
                                      </p:cBhvr>
                                      <p:tavLst>
                                        <p:tav tm="0">
                                          <p:val>
                                            <p:strVal val="#ppt_y-.1"/>
                                          </p:val>
                                        </p:tav>
                                        <p:tav tm="100000">
                                          <p:val>
                                            <p:strVal val="#ppt_y"/>
                                          </p:val>
                                        </p:tav>
                                      </p:tavLst>
                                    </p:anim>
                                  </p:childTnLst>
                                </p:cTn>
                              </p:par>
                            </p:childTnLst>
                          </p:cTn>
                        </p:par>
                        <p:par>
                          <p:cTn id="57" fill="hold">
                            <p:stCondLst>
                              <p:cond delay="3500"/>
                            </p:stCondLst>
                            <p:childTnLst>
                              <p:par>
                                <p:cTn id="58" presetID="2" presetClass="entr" presetSubtype="4" fill="hold" grpId="0" nodeType="afterEffect">
                                  <p:stCondLst>
                                    <p:cond delay="0"/>
                                  </p:stCondLst>
                                  <p:childTnLst>
                                    <p:set>
                                      <p:cBhvr>
                                        <p:cTn id="59" dur="1" fill="hold">
                                          <p:stCondLst>
                                            <p:cond delay="0"/>
                                          </p:stCondLst>
                                        </p:cTn>
                                        <p:tgtEl>
                                          <p:spTgt spid="44"/>
                                        </p:tgtEl>
                                        <p:attrNameLst>
                                          <p:attrName>style.visibility</p:attrName>
                                        </p:attrNameLst>
                                      </p:cBhvr>
                                      <p:to>
                                        <p:strVal val="visible"/>
                                      </p:to>
                                    </p:set>
                                    <p:anim calcmode="lin" valueType="num">
                                      <p:cBhvr additive="base">
                                        <p:cTn id="60" dur="500" fill="hold"/>
                                        <p:tgtEl>
                                          <p:spTgt spid="44"/>
                                        </p:tgtEl>
                                        <p:attrNameLst>
                                          <p:attrName>ppt_x</p:attrName>
                                        </p:attrNameLst>
                                      </p:cBhvr>
                                      <p:tavLst>
                                        <p:tav tm="0">
                                          <p:val>
                                            <p:strVal val="#ppt_x"/>
                                          </p:val>
                                        </p:tav>
                                        <p:tav tm="100000">
                                          <p:val>
                                            <p:strVal val="#ppt_x"/>
                                          </p:val>
                                        </p:tav>
                                      </p:tavLst>
                                    </p:anim>
                                    <p:anim calcmode="lin" valueType="num">
                                      <p:cBhvr additive="base">
                                        <p:cTn id="61" dur="500" fill="hold"/>
                                        <p:tgtEl>
                                          <p:spTgt spid="44"/>
                                        </p:tgtEl>
                                        <p:attrNameLst>
                                          <p:attrName>ppt_y</p:attrName>
                                        </p:attrNameLst>
                                      </p:cBhvr>
                                      <p:tavLst>
                                        <p:tav tm="0">
                                          <p:val>
                                            <p:strVal val="1+#ppt_h/2"/>
                                          </p:val>
                                        </p:tav>
                                        <p:tav tm="100000">
                                          <p:val>
                                            <p:strVal val="#ppt_y"/>
                                          </p:val>
                                        </p:tav>
                                      </p:tavLst>
                                    </p:anim>
                                  </p:childTnLst>
                                </p:cTn>
                              </p:par>
                            </p:childTnLst>
                          </p:cTn>
                        </p:par>
                        <p:par>
                          <p:cTn id="62" fill="hold">
                            <p:stCondLst>
                              <p:cond delay="4000"/>
                            </p:stCondLst>
                            <p:childTnLst>
                              <p:par>
                                <p:cTn id="63" presetID="47" presetClass="entr" presetSubtype="0" fill="hold" grpId="0" nodeType="afterEffect">
                                  <p:stCondLst>
                                    <p:cond delay="0"/>
                                  </p:stCondLst>
                                  <p:childTnLst>
                                    <p:set>
                                      <p:cBhvr>
                                        <p:cTn id="64" dur="1" fill="hold">
                                          <p:stCondLst>
                                            <p:cond delay="0"/>
                                          </p:stCondLst>
                                        </p:cTn>
                                        <p:tgtEl>
                                          <p:spTgt spid="53"/>
                                        </p:tgtEl>
                                        <p:attrNameLst>
                                          <p:attrName>style.visibility</p:attrName>
                                        </p:attrNameLst>
                                      </p:cBhvr>
                                      <p:to>
                                        <p:strVal val="visible"/>
                                      </p:to>
                                    </p:set>
                                    <p:animEffect transition="in" filter="fade">
                                      <p:cBhvr>
                                        <p:cTn id="65" dur="1000"/>
                                        <p:tgtEl>
                                          <p:spTgt spid="53"/>
                                        </p:tgtEl>
                                      </p:cBhvr>
                                    </p:animEffect>
                                    <p:anim calcmode="lin" valueType="num">
                                      <p:cBhvr>
                                        <p:cTn id="66" dur="1000" fill="hold"/>
                                        <p:tgtEl>
                                          <p:spTgt spid="53"/>
                                        </p:tgtEl>
                                        <p:attrNameLst>
                                          <p:attrName>ppt_x</p:attrName>
                                        </p:attrNameLst>
                                      </p:cBhvr>
                                      <p:tavLst>
                                        <p:tav tm="0">
                                          <p:val>
                                            <p:strVal val="#ppt_x"/>
                                          </p:val>
                                        </p:tav>
                                        <p:tav tm="100000">
                                          <p:val>
                                            <p:strVal val="#ppt_x"/>
                                          </p:val>
                                        </p:tav>
                                      </p:tavLst>
                                    </p:anim>
                                    <p:anim calcmode="lin" valueType="num">
                                      <p:cBhvr>
                                        <p:cTn id="67"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9" grpId="0" bldLvl="0" animBg="1"/>
      <p:bldP spid="10" grpId="0" bldLvl="0" animBg="1"/>
      <p:bldP spid="11" grpId="0" bldLvl="0" animBg="1"/>
      <p:bldP spid="12" grpId="0" bldLvl="0" animBg="1"/>
      <p:bldP spid="15" grpId="0" bldLvl="0" animBg="1"/>
      <p:bldP spid="16" grpId="0" bldLvl="0" animBg="1"/>
      <p:bldP spid="17" grpId="0" bldLvl="0" animBg="1"/>
      <p:bldP spid="18" grpId="0" bldLvl="0" animBg="1"/>
      <p:bldP spid="2" grpId="0" bldLvl="0" animBg="1"/>
      <p:bldP spid="38" grpId="0"/>
      <p:bldP spid="44" grpId="0"/>
      <p:bldP spid="5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等腰三角形 22"/>
          <p:cNvSpPr/>
          <p:nvPr/>
        </p:nvSpPr>
        <p:spPr>
          <a:xfrm rot="5400000">
            <a:off x="-354105" y="1594058"/>
            <a:ext cx="2812399" cy="2101481"/>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 name="文本框 4"/>
          <p:cNvSpPr txBox="1"/>
          <p:nvPr/>
        </p:nvSpPr>
        <p:spPr>
          <a:xfrm>
            <a:off x="3171285" y="3014849"/>
            <a:ext cx="6888480" cy="829945"/>
          </a:xfrm>
          <a:prstGeom prst="rect">
            <a:avLst/>
          </a:prstGeom>
          <a:noFill/>
        </p:spPr>
        <p:txBody>
          <a:bodyPr wrap="non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边界值设计测试用例案例</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等腰三角形 21"/>
          <p:cNvSpPr/>
          <p:nvPr/>
        </p:nvSpPr>
        <p:spPr>
          <a:xfrm rot="16200000" flipH="1">
            <a:off x="10384217" y="2656121"/>
            <a:ext cx="2069153" cy="1546112"/>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1" name="等腰三角形 20"/>
          <p:cNvSpPr/>
          <p:nvPr/>
        </p:nvSpPr>
        <p:spPr>
          <a:xfrm rot="5400000">
            <a:off x="-435702" y="2328231"/>
            <a:ext cx="3457976" cy="2583868"/>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文本框 3"/>
          <p:cNvSpPr txBox="1"/>
          <p:nvPr/>
        </p:nvSpPr>
        <p:spPr>
          <a:xfrm>
            <a:off x="48675" y="2883913"/>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04</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177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Effect transition="in" filter="fade">
                                      <p:cBhvr>
                                        <p:cTn id="14" dur="500"/>
                                        <p:tgtEl>
                                          <p:spTgt spid="2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fltVal val="0"/>
                                          </p:val>
                                        </p:tav>
                                        <p:tav tm="100000">
                                          <p:val>
                                            <p:strVal val="#ppt_w"/>
                                          </p:val>
                                        </p:tav>
                                      </p:tavLst>
                                    </p:anim>
                                    <p:anim calcmode="lin" valueType="num">
                                      <p:cBhvr>
                                        <p:cTn id="23" dur="500" fill="hold"/>
                                        <p:tgtEl>
                                          <p:spTgt spid="4"/>
                                        </p:tgtEl>
                                        <p:attrNameLst>
                                          <p:attrName>ppt_h</p:attrName>
                                        </p:attrNameLst>
                                      </p:cBhvr>
                                      <p:tavLst>
                                        <p:tav tm="0">
                                          <p:val>
                                            <p:fltVal val="0"/>
                                          </p:val>
                                        </p:tav>
                                        <p:tav tm="100000">
                                          <p:val>
                                            <p:strVal val="#ppt_h"/>
                                          </p:val>
                                        </p:tav>
                                      </p:tavLst>
                                    </p:anim>
                                    <p:animEffect transition="in" filter="fade">
                                      <p:cBhvr>
                                        <p:cTn id="24" dur="500"/>
                                        <p:tgtEl>
                                          <p:spTgt spid="4"/>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0-#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5" grpId="0"/>
      <p:bldP spid="22" grpId="0" bldLvl="0" animBg="1"/>
      <p:bldP spid="21" grpId="0" bldLvl="0" animBg="1"/>
      <p:bldP spid="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案例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2170915" y="1167585"/>
            <a:ext cx="7850805" cy="4523105"/>
          </a:xfrm>
          <a:prstGeom prst="rect">
            <a:avLst/>
          </a:prstGeom>
          <a:noFill/>
          <a:ln w="9525">
            <a:noFill/>
          </a:ln>
        </p:spPr>
        <p:txBody>
          <a:bodyPr wrap="square">
            <a:spAutoFit/>
          </a:bodyPr>
          <a:p>
            <a:pPr indent="457200" fontAlgn="auto">
              <a:lnSpc>
                <a:spcPct val="150000"/>
              </a:lnSpc>
            </a:pPr>
            <a:r>
              <a:rPr lang="zh-CN" sz="2400" b="0">
                <a:ea typeface="宋体" panose="02010600030101010101" pitchFamily="2" charset="-122"/>
              </a:rPr>
              <a:t>某酒水销售公司指派销售员销售各种酒水,其中白酒卖168元/瓶，红酒卖120元/瓶，啤酒卖5元每瓶。对于每个销售员，白酒每月的最高供应量为5000瓶，红酒为3000瓶，啤酒为30000瓶，各销售员每月至少需售出白酒50瓶，红酒30瓶，啤酒300瓶。奖金计算方法如下：</a:t>
            </a:r>
            <a:endParaRPr lang="zh-CN" sz="2400" b="0">
              <a:ea typeface="宋体" panose="02010600030101010101" pitchFamily="2" charset="-122"/>
            </a:endParaRPr>
          </a:p>
          <a:p>
            <a:pPr indent="457200" fontAlgn="auto">
              <a:lnSpc>
                <a:spcPct val="150000"/>
              </a:lnSpc>
            </a:pPr>
            <a:r>
              <a:rPr lang="en-US" altLang="zh-CN" sz="2400" b="0">
                <a:ea typeface="宋体" panose="02010600030101010101" pitchFamily="2" charset="-122"/>
              </a:rPr>
              <a:t>	</a:t>
            </a:r>
            <a:r>
              <a:rPr lang="zh-CN" sz="2400" b="0">
                <a:ea typeface="宋体" panose="02010600030101010101" pitchFamily="2" charset="-122"/>
              </a:rPr>
              <a:t>2万元以下（含）：4%</a:t>
            </a:r>
            <a:endParaRPr lang="zh-CN" sz="2400" b="0">
              <a:ea typeface="宋体" panose="02010600030101010101" pitchFamily="2" charset="-122"/>
            </a:endParaRPr>
          </a:p>
          <a:p>
            <a:pPr indent="457200" fontAlgn="auto">
              <a:lnSpc>
                <a:spcPct val="150000"/>
              </a:lnSpc>
            </a:pPr>
            <a:r>
              <a:rPr lang="en-US" altLang="zh-CN" sz="2400" b="0">
                <a:ea typeface="宋体" panose="02010600030101010101" pitchFamily="2" charset="-122"/>
              </a:rPr>
              <a:t>	</a:t>
            </a:r>
            <a:r>
              <a:rPr lang="zh-CN" sz="2400" b="0">
                <a:ea typeface="宋体" panose="02010600030101010101" pitchFamily="2" charset="-122"/>
              </a:rPr>
              <a:t>2万元（不含）到4.5万（含）：1%</a:t>
            </a:r>
            <a:endParaRPr lang="zh-CN" sz="2400" b="0">
              <a:ea typeface="宋体" panose="02010600030101010101" pitchFamily="2" charset="-122"/>
            </a:endParaRPr>
          </a:p>
          <a:p>
            <a:pPr indent="457200" fontAlgn="auto">
              <a:lnSpc>
                <a:spcPct val="150000"/>
              </a:lnSpc>
            </a:pPr>
            <a:r>
              <a:rPr lang="en-US" altLang="zh-CN" sz="2400" b="0">
                <a:ea typeface="宋体" panose="02010600030101010101" pitchFamily="2" charset="-122"/>
              </a:rPr>
              <a:t>	</a:t>
            </a:r>
            <a:r>
              <a:rPr lang="zh-CN" sz="2400" b="0">
                <a:ea typeface="宋体" panose="02010600030101010101" pitchFamily="2" charset="-122"/>
              </a:rPr>
              <a:t>4.5万元以上（不含）：0.5%</a:t>
            </a:r>
            <a:endParaRPr lang="zh-CN" altLang="en-US" sz="2400" b="0">
              <a:ea typeface="宋体" panose="02010600030101010101" pitchFamily="2" charset="-122"/>
            </a:endParaRPr>
          </a:p>
        </p:txBody>
      </p:sp>
    </p:spTree>
  </p:cSld>
  <p:clrMapOvr>
    <a:masterClrMapping/>
  </p:clrMapOvr>
  <p:transition advTm="1310">
    <p:random/>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案例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857898" y="613934"/>
            <a:ext cx="8476204" cy="5631180"/>
          </a:xfrm>
          <a:prstGeom prst="rect">
            <a:avLst/>
          </a:prstGeom>
          <a:noFill/>
          <a:ln w="9525">
            <a:noFill/>
          </a:ln>
        </p:spPr>
        <p:txBody>
          <a:bodyPr wrap="square">
            <a:spAutoFit/>
          </a:bodyPr>
          <a:p>
            <a:pPr indent="457200" fontAlgn="auto">
              <a:lnSpc>
                <a:spcPct val="150000"/>
              </a:lnSpc>
            </a:pPr>
            <a:r>
              <a:rPr lang="zh-CN" sz="2400" b="0">
                <a:ea typeface="宋体" panose="02010600030101010101" pitchFamily="2" charset="-122"/>
              </a:rPr>
              <a:t>案例分析：</a:t>
            </a:r>
            <a:endParaRPr lang="zh-CN" sz="2400" b="0">
              <a:ea typeface="宋体" panose="02010600030101010101" pitchFamily="2" charset="-122"/>
            </a:endParaRPr>
          </a:p>
          <a:p>
            <a:pPr indent="457200" fontAlgn="auto">
              <a:lnSpc>
                <a:spcPct val="150000"/>
              </a:lnSpc>
            </a:pPr>
            <a:r>
              <a:rPr lang="zh-CN" sz="2400" b="0">
                <a:ea typeface="宋体" panose="02010600030101010101" pitchFamily="2" charset="-122"/>
              </a:rPr>
              <a:t>从输入角度分析该问题。该问题的输入有3个，其对应的等价类划分为：</a:t>
            </a:r>
            <a:endParaRPr lang="zh-CN" sz="2400" b="0">
              <a:ea typeface="宋体" panose="02010600030101010101" pitchFamily="2" charset="-122"/>
            </a:endParaRPr>
          </a:p>
          <a:p>
            <a:pPr indent="457200" fontAlgn="auto">
              <a:lnSpc>
                <a:spcPct val="150000"/>
              </a:lnSpc>
            </a:pPr>
            <a:r>
              <a:rPr lang="zh-CN" sz="2400" b="0">
                <a:ea typeface="宋体" panose="02010600030101010101" pitchFamily="2" charset="-122"/>
              </a:rPr>
              <a:t>白酒数，有效等价类[50，5000]</a:t>
            </a:r>
            <a:endParaRPr lang="zh-CN" sz="2400" b="0">
              <a:ea typeface="宋体" panose="02010600030101010101" pitchFamily="2" charset="-122"/>
            </a:endParaRPr>
          </a:p>
          <a:p>
            <a:pPr indent="457200" fontAlgn="auto">
              <a:lnSpc>
                <a:spcPct val="150000"/>
              </a:lnSpc>
            </a:pPr>
            <a:r>
              <a:rPr lang="zh-CN" sz="2400" b="0">
                <a:ea typeface="宋体" panose="02010600030101010101" pitchFamily="2" charset="-122"/>
              </a:rPr>
              <a:t>红酒数，有效等价类[30，3000]</a:t>
            </a:r>
            <a:endParaRPr lang="zh-CN" sz="2400" b="0">
              <a:ea typeface="宋体" panose="02010600030101010101" pitchFamily="2" charset="-122"/>
            </a:endParaRPr>
          </a:p>
          <a:p>
            <a:pPr indent="457200" fontAlgn="auto">
              <a:lnSpc>
                <a:spcPct val="150000"/>
              </a:lnSpc>
            </a:pPr>
            <a:r>
              <a:rPr lang="zh-CN" sz="2400" b="0">
                <a:ea typeface="宋体" panose="02010600030101010101" pitchFamily="2" charset="-122"/>
              </a:rPr>
              <a:t>啤酒数，有效等价类[300，30000]</a:t>
            </a:r>
            <a:endParaRPr lang="zh-CN" sz="2400" b="0">
              <a:ea typeface="宋体" panose="02010600030101010101" pitchFamily="2" charset="-122"/>
            </a:endParaRPr>
          </a:p>
          <a:p>
            <a:pPr indent="457200" fontAlgn="auto">
              <a:lnSpc>
                <a:spcPct val="150000"/>
              </a:lnSpc>
            </a:pPr>
            <a:r>
              <a:rPr lang="zh-CN" sz="2400" b="0">
                <a:ea typeface="宋体" panose="02010600030101010101" pitchFamily="2" charset="-122"/>
              </a:rPr>
              <a:t>按照边界值取值方法，对每个输入分别取7个值。</a:t>
            </a:r>
            <a:endParaRPr lang="zh-CN" sz="2400" b="0">
              <a:ea typeface="宋体" panose="02010600030101010101" pitchFamily="2" charset="-122"/>
            </a:endParaRPr>
          </a:p>
          <a:p>
            <a:pPr indent="457200" fontAlgn="auto">
              <a:lnSpc>
                <a:spcPct val="150000"/>
              </a:lnSpc>
            </a:pPr>
            <a:r>
              <a:rPr lang="zh-CN" sz="2400" b="0">
                <a:ea typeface="宋体" panose="02010600030101010101" pitchFamily="2" charset="-122"/>
              </a:rPr>
              <a:t>白酒数，{49，50，51，2500，4999，5000，5001}</a:t>
            </a:r>
            <a:endParaRPr lang="zh-CN" sz="2400" b="0">
              <a:ea typeface="宋体" panose="02010600030101010101" pitchFamily="2" charset="-122"/>
            </a:endParaRPr>
          </a:p>
          <a:p>
            <a:pPr indent="457200" fontAlgn="auto">
              <a:lnSpc>
                <a:spcPct val="150000"/>
              </a:lnSpc>
            </a:pPr>
            <a:r>
              <a:rPr lang="zh-CN" sz="2400" b="0">
                <a:ea typeface="宋体" panose="02010600030101010101" pitchFamily="2" charset="-122"/>
              </a:rPr>
              <a:t>红酒数，{29，30，31，1500，2999，3000，3001}</a:t>
            </a:r>
            <a:endParaRPr lang="zh-CN" sz="2400" b="0">
              <a:ea typeface="宋体" panose="02010600030101010101" pitchFamily="2" charset="-122"/>
            </a:endParaRPr>
          </a:p>
          <a:p>
            <a:pPr indent="457200" fontAlgn="auto">
              <a:lnSpc>
                <a:spcPct val="150000"/>
              </a:lnSpc>
            </a:pPr>
            <a:r>
              <a:rPr lang="zh-CN" sz="2400" b="0">
                <a:ea typeface="宋体" panose="02010600030101010101" pitchFamily="2" charset="-122"/>
              </a:rPr>
              <a:t>啤酒数，{299，300，301，15000，29999，30000，30001}</a:t>
            </a:r>
            <a:endParaRPr lang="zh-CN" sz="2400" b="0">
              <a:ea typeface="宋体" panose="02010600030101010101" pitchFamily="2" charset="-122"/>
            </a:endParaRPr>
          </a:p>
        </p:txBody>
      </p:sp>
    </p:spTree>
  </p:cSld>
  <p:clrMapOvr>
    <a:masterClrMapping/>
  </p:clrMapOvr>
  <p:transition advTm="1310">
    <p:random/>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案例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857898" y="613934"/>
            <a:ext cx="8476204" cy="2306955"/>
          </a:xfrm>
          <a:prstGeom prst="rect">
            <a:avLst/>
          </a:prstGeom>
          <a:noFill/>
          <a:ln w="9525">
            <a:noFill/>
          </a:ln>
        </p:spPr>
        <p:txBody>
          <a:bodyPr wrap="square">
            <a:spAutoFit/>
          </a:bodyPr>
          <a:p>
            <a:pPr indent="457200" fontAlgn="auto">
              <a:lnSpc>
                <a:spcPct val="150000"/>
              </a:lnSpc>
            </a:pPr>
            <a:r>
              <a:rPr lang="zh-CN" sz="2400" b="0">
                <a:ea typeface="宋体" panose="02010600030101010101" pitchFamily="2" charset="-122"/>
              </a:rPr>
              <a:t>根据边界值组合测试用例规则，保留其中一个变量，让其余变量取正常值，共可以得到6*3+1=19个测试用例。</a:t>
            </a:r>
            <a:endParaRPr lang="zh-CN" sz="2400" b="0">
              <a:ea typeface="宋体" panose="02010600030101010101" pitchFamily="2" charset="-122"/>
            </a:endParaRPr>
          </a:p>
          <a:p>
            <a:pPr indent="457200" fontAlgn="auto">
              <a:lnSpc>
                <a:spcPct val="150000"/>
              </a:lnSpc>
            </a:pPr>
            <a:r>
              <a:rPr lang="zh-CN" sz="2400" b="0">
                <a:ea typeface="宋体" panose="02010600030101010101" pitchFamily="2" charset="-122"/>
              </a:rPr>
              <a:t>得到的测试用例如下表3-14所示：</a:t>
            </a:r>
            <a:endParaRPr lang="zh-CN" sz="2400" b="0">
              <a:ea typeface="宋体" panose="02010600030101010101" pitchFamily="2" charset="-122"/>
            </a:endParaRPr>
          </a:p>
          <a:p>
            <a:pPr indent="457200" fontAlgn="auto">
              <a:lnSpc>
                <a:spcPct val="150000"/>
              </a:lnSpc>
            </a:pPr>
            <a:endParaRPr lang="zh-CN" sz="2400" b="0">
              <a:ea typeface="宋体" panose="02010600030101010101" pitchFamily="2" charset="-122"/>
            </a:endParaRPr>
          </a:p>
        </p:txBody>
      </p:sp>
      <p:graphicFrame>
        <p:nvGraphicFramePr>
          <p:cNvPr id="2" name="表格 1"/>
          <p:cNvGraphicFramePr/>
          <p:nvPr>
            <p:custDataLst>
              <p:tags r:id="rId1"/>
            </p:custDataLst>
          </p:nvPr>
        </p:nvGraphicFramePr>
        <p:xfrm>
          <a:off x="2002660" y="2521874"/>
          <a:ext cx="7689850" cy="3237230"/>
        </p:xfrm>
        <a:graphic>
          <a:graphicData uri="http://schemas.openxmlformats.org/drawingml/2006/table">
            <a:tbl>
              <a:tblPr firstRow="1" bandRow="1">
                <a:tableStyleId>{5940675A-B579-460E-94D1-54222C63F5DA}</a:tableStyleId>
              </a:tblPr>
              <a:tblGrid>
                <a:gridCol w="1263015"/>
                <a:gridCol w="981075"/>
                <a:gridCol w="1125855"/>
                <a:gridCol w="1123950"/>
                <a:gridCol w="1404620"/>
                <a:gridCol w="1791335"/>
              </a:tblGrid>
              <a:tr h="382270">
                <a:tc>
                  <a:txBody>
                    <a:bodyPr/>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测试用例</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白酒</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红酒</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啤酒</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销售额雇</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1">
                          <a:latin typeface="宋体" panose="02010600030101010101" pitchFamily="2" charset="-122"/>
                          <a:ea typeface="宋体" panose="02010600030101010101" pitchFamily="2" charset="-122"/>
                          <a:cs typeface="宋体" panose="02010600030101010101" pitchFamily="2" charset="-122"/>
                        </a:rPr>
                        <a:t>预期输出</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1432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Test1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49</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1500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15000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263232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输入非法</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82270">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Test2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50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1500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15000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263400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佣金: 2142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82270">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Test3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51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1500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15000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263568</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佣金: 2142.84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82270">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Test4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2500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1500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15000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675000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佣金: 4200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82270">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Test5</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4999</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1500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15000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1094832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佣金: 6299.16</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8290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Test6</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5000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1500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15000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1095000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佣金: 6300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1432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Test7</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5001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1500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15000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1095168</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输入非法</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14325">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 </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 </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 </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 </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3" name="文本框 2"/>
          <p:cNvSpPr txBox="1"/>
          <p:nvPr/>
        </p:nvSpPr>
        <p:spPr>
          <a:xfrm>
            <a:off x="3556314" y="5547275"/>
            <a:ext cx="5079373" cy="368300"/>
          </a:xfrm>
          <a:prstGeom prst="rect">
            <a:avLst/>
          </a:prstGeom>
          <a:noFill/>
          <a:ln w="9525">
            <a:noFill/>
          </a:ln>
        </p:spPr>
        <p:txBody>
          <a:bodyPr>
            <a:spAutoFit/>
          </a:bodyPr>
          <a:p>
            <a:pPr indent="295275" algn="ctr"/>
            <a:r>
              <a:rPr lang="zh-CN" b="0">
                <a:ea typeface="宋体" panose="02010600030101010101" pitchFamily="2" charset="-122"/>
              </a:rPr>
              <a:t>表3-14 边界值组合测试用例情况</a:t>
            </a:r>
            <a:endParaRPr lang="zh-CN" altLang="en-US" b="0">
              <a:ea typeface="宋体" panose="02010600030101010101" pitchFamily="2" charset="-122"/>
            </a:endParaRPr>
          </a:p>
        </p:txBody>
      </p:sp>
    </p:spTree>
  </p:cSld>
  <p:clrMapOvr>
    <a:masterClrMapping/>
  </p:clrMapOvr>
  <p:transition advTm="1310">
    <p:random/>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案例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03929" y="711288"/>
            <a:ext cx="10184143" cy="4436110"/>
          </a:xfrm>
          <a:prstGeom prst="rect">
            <a:avLst/>
          </a:prstGeom>
          <a:noFill/>
          <a:ln w="9525">
            <a:noFill/>
          </a:ln>
        </p:spPr>
        <p:txBody>
          <a:bodyPr wrap="square">
            <a:spAutoFit/>
          </a:bodyPr>
          <a:p>
            <a:pPr indent="457200" fontAlgn="auto">
              <a:lnSpc>
                <a:spcPts val="3080"/>
              </a:lnSpc>
            </a:pPr>
            <a:r>
              <a:rPr lang="zh-CN" sz="2135" b="0">
                <a:ea typeface="宋体" panose="02010600030101010101" pitchFamily="2" charset="-122"/>
              </a:rPr>
              <a:t>从输出角度对该程序进行测试。因为销售员每月至少需售出白酒50瓶，红酒30瓶，啤酒300瓶，此时销售额为1.35万。至少需售出白酒5000瓶，红酒3000瓶，啤酒30000瓶，此时销售额为135万。销售额等价类划分为：</a:t>
            </a:r>
            <a:endParaRPr lang="zh-CN" sz="2135" b="0">
              <a:ea typeface="宋体" panose="02010600030101010101" pitchFamily="2" charset="-122"/>
            </a:endParaRPr>
          </a:p>
          <a:p>
            <a:pPr indent="457200" fontAlgn="auto">
              <a:lnSpc>
                <a:spcPts val="3080"/>
              </a:lnSpc>
            </a:pPr>
            <a:r>
              <a:rPr lang="zh-CN" sz="2135" b="0">
                <a:ea typeface="宋体" panose="02010600030101010101" pitchFamily="2" charset="-122"/>
              </a:rPr>
              <a:t>         [1.35，2]、（2，4.5]、（4.5，135]</a:t>
            </a:r>
            <a:endParaRPr lang="zh-CN" sz="2135" b="0">
              <a:ea typeface="宋体" panose="02010600030101010101" pitchFamily="2" charset="-122"/>
            </a:endParaRPr>
          </a:p>
          <a:p>
            <a:pPr indent="457200" fontAlgn="auto">
              <a:lnSpc>
                <a:spcPts val="3080"/>
              </a:lnSpc>
            </a:pPr>
            <a:r>
              <a:rPr lang="zh-CN" sz="2135" b="0">
                <a:ea typeface="宋体" panose="02010600030101010101" pitchFamily="2" charset="-122"/>
              </a:rPr>
              <a:t>对此等价类分别取边界值为：</a:t>
            </a:r>
            <a:endParaRPr lang="zh-CN" sz="2135" b="0">
              <a:ea typeface="宋体" panose="02010600030101010101" pitchFamily="2" charset="-122"/>
            </a:endParaRPr>
          </a:p>
          <a:p>
            <a:pPr indent="457200" fontAlgn="auto">
              <a:lnSpc>
                <a:spcPts val="3080"/>
              </a:lnSpc>
            </a:pPr>
            <a:r>
              <a:rPr lang="zh-CN" sz="2135" b="0">
                <a:ea typeface="宋体" panose="02010600030101010101" pitchFamily="2" charset="-122"/>
              </a:rPr>
              <a:t>{  	</a:t>
            </a:r>
            <a:endParaRPr lang="zh-CN" sz="2135" b="0">
              <a:ea typeface="宋体" panose="02010600030101010101" pitchFamily="2" charset="-122"/>
            </a:endParaRPr>
          </a:p>
          <a:p>
            <a:pPr indent="457200" fontAlgn="auto">
              <a:lnSpc>
                <a:spcPts val="3080"/>
              </a:lnSpc>
            </a:pPr>
            <a:r>
              <a:rPr lang="zh-CN" sz="2135" b="0">
                <a:ea typeface="宋体" panose="02010600030101010101" pitchFamily="2" charset="-122"/>
              </a:rPr>
              <a:t>      略小于1.35，1.35，略大于1.35，1.7，</a:t>
            </a:r>
            <a:endParaRPr lang="zh-CN" sz="2135" b="0">
              <a:ea typeface="宋体" panose="02010600030101010101" pitchFamily="2" charset="-122"/>
            </a:endParaRPr>
          </a:p>
          <a:p>
            <a:pPr indent="457200" fontAlgn="auto">
              <a:lnSpc>
                <a:spcPts val="3080"/>
              </a:lnSpc>
            </a:pPr>
            <a:r>
              <a:rPr lang="zh-CN" sz="2135" b="0">
                <a:ea typeface="宋体" panose="02010600030101010101" pitchFamily="2" charset="-122"/>
              </a:rPr>
              <a:t>   	略小于2，2，略大于2，3.5</a:t>
            </a:r>
            <a:endParaRPr lang="zh-CN" sz="2135" b="0">
              <a:ea typeface="宋体" panose="02010600030101010101" pitchFamily="2" charset="-122"/>
            </a:endParaRPr>
          </a:p>
          <a:p>
            <a:pPr indent="457200" fontAlgn="auto">
              <a:lnSpc>
                <a:spcPts val="3080"/>
              </a:lnSpc>
            </a:pPr>
            <a:r>
              <a:rPr lang="zh-CN" sz="2135" b="0">
                <a:ea typeface="宋体" panose="02010600030101010101" pitchFamily="2" charset="-122"/>
              </a:rPr>
              <a:t>   	略小于4.5，4.5，略大于4.5，70</a:t>
            </a:r>
            <a:endParaRPr lang="zh-CN" sz="2135" b="0">
              <a:ea typeface="宋体" panose="02010600030101010101" pitchFamily="2" charset="-122"/>
            </a:endParaRPr>
          </a:p>
          <a:p>
            <a:pPr indent="457200" fontAlgn="auto">
              <a:lnSpc>
                <a:spcPts val="3080"/>
              </a:lnSpc>
            </a:pPr>
            <a:r>
              <a:rPr lang="zh-CN" sz="2135" b="0">
                <a:ea typeface="宋体" panose="02010600030101010101" pitchFamily="2" charset="-122"/>
              </a:rPr>
              <a:t>   	略小于135，135，略大于135，</a:t>
            </a:r>
            <a:endParaRPr lang="zh-CN" sz="2135" b="0">
              <a:ea typeface="宋体" panose="02010600030101010101" pitchFamily="2" charset="-122"/>
            </a:endParaRPr>
          </a:p>
          <a:p>
            <a:pPr indent="457200" fontAlgn="auto">
              <a:lnSpc>
                <a:spcPts val="3080"/>
              </a:lnSpc>
            </a:pPr>
            <a:r>
              <a:rPr lang="zh-CN" sz="2135" b="0">
                <a:ea typeface="宋体" panose="02010600030101010101" pitchFamily="2" charset="-122"/>
              </a:rPr>
              <a:t>}</a:t>
            </a:r>
            <a:endParaRPr lang="zh-CN" sz="2135" b="0">
              <a:ea typeface="宋体" panose="02010600030101010101" pitchFamily="2" charset="-122"/>
            </a:endParaRPr>
          </a:p>
        </p:txBody>
      </p:sp>
    </p:spTree>
  </p:cSld>
  <p:clrMapOvr>
    <a:masterClrMapping/>
  </p:clrMapOvr>
  <p:transition advTm="1310">
    <p:random/>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案例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466786" y="920601"/>
            <a:ext cx="8475568" cy="958215"/>
          </a:xfrm>
          <a:prstGeom prst="rect">
            <a:avLst/>
          </a:prstGeom>
          <a:noFill/>
          <a:ln w="9525">
            <a:noFill/>
          </a:ln>
        </p:spPr>
        <p:txBody>
          <a:bodyPr wrap="square">
            <a:spAutoFit/>
          </a:bodyPr>
          <a:p>
            <a:pPr indent="457200" fontAlgn="auto">
              <a:lnSpc>
                <a:spcPts val="3380"/>
              </a:lnSpc>
            </a:pPr>
            <a:r>
              <a:rPr lang="zh-CN" sz="2400" b="0">
                <a:ea typeface="宋体" panose="02010600030101010101" pitchFamily="2" charset="-122"/>
              </a:rPr>
              <a:t>考虑到的次边界情况选择的测试用例如下表3-15所示：</a:t>
            </a:r>
            <a:endParaRPr lang="zh-CN" sz="2400" b="0">
              <a:ea typeface="宋体" panose="02010600030101010101" pitchFamily="2" charset="-122"/>
            </a:endParaRPr>
          </a:p>
          <a:p>
            <a:pPr indent="457200" fontAlgn="auto">
              <a:lnSpc>
                <a:spcPts val="3380"/>
              </a:lnSpc>
            </a:pPr>
            <a:endParaRPr lang="zh-CN" sz="2400" b="0">
              <a:ea typeface="宋体" panose="02010600030101010101" pitchFamily="2" charset="-122"/>
            </a:endParaRPr>
          </a:p>
        </p:txBody>
      </p:sp>
      <p:sp>
        <p:nvSpPr>
          <p:cNvPr id="2" name="文本框 1"/>
          <p:cNvSpPr txBox="1"/>
          <p:nvPr/>
        </p:nvSpPr>
        <p:spPr>
          <a:xfrm>
            <a:off x="3029964" y="5110766"/>
            <a:ext cx="5079373" cy="337185"/>
          </a:xfrm>
          <a:prstGeom prst="rect">
            <a:avLst/>
          </a:prstGeom>
          <a:noFill/>
          <a:ln w="9525">
            <a:noFill/>
          </a:ln>
        </p:spPr>
        <p:txBody>
          <a:bodyPr>
            <a:spAutoFit/>
          </a:bodyPr>
          <a:p>
            <a:pPr indent="295275" algn="ctr"/>
            <a:r>
              <a:rPr lang="zh-CN" sz="1600" b="0">
                <a:ea typeface="宋体" panose="02010600030101010101" pitchFamily="2" charset="-122"/>
              </a:rPr>
              <a:t>表3-15 考虑次边界选择的测试用例</a:t>
            </a:r>
            <a:endParaRPr lang="zh-CN" altLang="en-US" sz="1600" b="0">
              <a:ea typeface="宋体" panose="02010600030101010101" pitchFamily="2" charset="-122"/>
            </a:endParaRPr>
          </a:p>
        </p:txBody>
      </p:sp>
      <p:graphicFrame>
        <p:nvGraphicFramePr>
          <p:cNvPr id="3" name="表格 2"/>
          <p:cNvGraphicFramePr/>
          <p:nvPr>
            <p:custDataLst>
              <p:tags r:id="rId1"/>
            </p:custDataLst>
          </p:nvPr>
        </p:nvGraphicFramePr>
        <p:xfrm>
          <a:off x="1967104" y="1699016"/>
          <a:ext cx="7475855" cy="3344545"/>
        </p:xfrm>
        <a:graphic>
          <a:graphicData uri="http://schemas.openxmlformats.org/drawingml/2006/table">
            <a:tbl>
              <a:tblPr firstRow="1" bandRow="1">
                <a:tableStyleId>{5940675A-B579-460E-94D1-54222C63F5DA}</a:tableStyleId>
              </a:tblPr>
              <a:tblGrid>
                <a:gridCol w="1380490"/>
                <a:gridCol w="1130300"/>
                <a:gridCol w="1005840"/>
                <a:gridCol w="1003300"/>
                <a:gridCol w="1334770"/>
                <a:gridCol w="1621155"/>
              </a:tblGrid>
              <a:tr h="283845">
                <a:tc>
                  <a:txBody>
                    <a:bodyPr/>
                    <a:p>
                      <a:pPr indent="0" algn="ctr">
                        <a:buNone/>
                      </a:pPr>
                      <a:r>
                        <a:rPr lang="en-US" sz="1800" b="1">
                          <a:latin typeface="宋体" panose="02010600030101010101" pitchFamily="2" charset="-122"/>
                          <a:ea typeface="宋体" panose="02010600030101010101" pitchFamily="2" charset="-122"/>
                          <a:cs typeface="宋体" panose="02010600030101010101" pitchFamily="2" charset="-122"/>
                        </a:rPr>
                        <a:t>测试用例</a:t>
                      </a:r>
                      <a:endParaRPr lang="en-US" altLang="en-US" sz="1800" b="1">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1">
                          <a:latin typeface="宋体" panose="02010600030101010101" pitchFamily="2" charset="-122"/>
                          <a:ea typeface="宋体" panose="02010600030101010101" pitchFamily="2" charset="-122"/>
                          <a:cs typeface="宋体" panose="02010600030101010101" pitchFamily="2" charset="-122"/>
                        </a:rPr>
                        <a:t>白酒</a:t>
                      </a:r>
                      <a:endParaRPr lang="en-US" altLang="en-US" sz="1800" b="1">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1">
                          <a:latin typeface="宋体" panose="02010600030101010101" pitchFamily="2" charset="-122"/>
                          <a:ea typeface="宋体" panose="02010600030101010101" pitchFamily="2" charset="-122"/>
                          <a:cs typeface="宋体" panose="02010600030101010101" pitchFamily="2" charset="-122"/>
                        </a:rPr>
                        <a:t>红酒</a:t>
                      </a:r>
                      <a:endParaRPr lang="en-US" altLang="en-US" sz="1800" b="1">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1">
                          <a:latin typeface="宋体" panose="02010600030101010101" pitchFamily="2" charset="-122"/>
                          <a:ea typeface="宋体" panose="02010600030101010101" pitchFamily="2" charset="-122"/>
                          <a:cs typeface="宋体" panose="02010600030101010101" pitchFamily="2" charset="-122"/>
                        </a:rPr>
                        <a:t>啤酒</a:t>
                      </a:r>
                      <a:endParaRPr lang="en-US" altLang="en-US" sz="1800" b="1">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1">
                          <a:latin typeface="宋体" panose="02010600030101010101" pitchFamily="2" charset="-122"/>
                          <a:ea typeface="宋体" panose="02010600030101010101" pitchFamily="2" charset="-122"/>
                          <a:cs typeface="宋体" panose="02010600030101010101" pitchFamily="2" charset="-122"/>
                        </a:rPr>
                        <a:t>销售额雇</a:t>
                      </a:r>
                      <a:endParaRPr lang="en-US" altLang="en-US" sz="1800" b="1">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1">
                          <a:latin typeface="宋体" panose="02010600030101010101" pitchFamily="2" charset="-122"/>
                          <a:ea typeface="宋体" panose="02010600030101010101" pitchFamily="2" charset="-122"/>
                          <a:cs typeface="宋体" panose="02010600030101010101" pitchFamily="2" charset="-122"/>
                        </a:rPr>
                        <a:t>预期输出</a:t>
                      </a:r>
                      <a:endParaRPr lang="en-US" altLang="en-US" sz="1800" b="1">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83845">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Test1</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50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30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299</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13495</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输入非法</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83845">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Test2</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50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30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300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13500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佣金: 540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22605">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Test3</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50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30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301</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13505</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佣金: 540.2</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83845">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Test4</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50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50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520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17000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佣金: 680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23240">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Test5</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60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60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543</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19995</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佣金: 799.8</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283845">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Test6</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60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60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544</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20000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佣金: 800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23240">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Test7</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60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60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545</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20005</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佣金: 800.05</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56235">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 </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 </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 </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800" b="0">
                          <a:latin typeface="宋体" panose="02010600030101010101" pitchFamily="2" charset="-122"/>
                          <a:ea typeface="宋体" panose="02010600030101010101" pitchFamily="2" charset="-122"/>
                          <a:cs typeface="宋体" panose="02010600030101010101" pitchFamily="2" charset="-122"/>
                        </a:rPr>
                        <a:t> </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17776" marR="17776" marT="9522"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advTm="1310">
    <p:random/>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2.2</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功能测试用例</a:t>
            </a:r>
            <a:r>
              <a:rPr lang="zh-CN" altLang="en-US" sz="2800">
                <a:latin typeface="微软雅黑" panose="020B0503020204020204" pitchFamily="34" charset="-122"/>
                <a:ea typeface="微软雅黑" panose="020B0503020204020204" pitchFamily="34" charset="-122"/>
              </a:rPr>
              <a:t>设计</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sym typeface="+mn-ea"/>
              </a:rPr>
              <a:t>任务</a:t>
            </a:r>
            <a:r>
              <a:rPr lang="en-US" altLang="zh-CN" sz="2000" b="1">
                <a:latin typeface="微软雅黑" panose="020B0503020204020204" pitchFamily="34" charset="-122"/>
                <a:ea typeface="微软雅黑" panose="020B0503020204020204" pitchFamily="34" charset="-122"/>
                <a:sym typeface="+mn-ea"/>
              </a:rPr>
              <a:t>2.3 </a:t>
            </a:r>
            <a:r>
              <a:rPr lang="zh-CN" altLang="en-US" sz="2000" b="1">
                <a:latin typeface="微软雅黑" panose="020B0503020204020204" pitchFamily="34" charset="-122"/>
                <a:ea typeface="微软雅黑" panose="020B0503020204020204" pitchFamily="34" charset="-122"/>
                <a:sym typeface="+mn-ea"/>
              </a:rPr>
              <a:t>决策表运用</a:t>
            </a:r>
            <a:endParaRPr lang="zh-CN" altLang="en-US" sz="2000" b="1">
              <a:latin typeface="微软雅黑" panose="020B0503020204020204" pitchFamily="34" charset="-122"/>
              <a:ea typeface="微软雅黑" panose="020B0503020204020204" pitchFamily="34" charset="-122"/>
              <a:sym typeface="+mn-ea"/>
            </a:endParaRPr>
          </a:p>
        </p:txBody>
      </p:sp>
      <p:grpSp>
        <p:nvGrpSpPr>
          <p:cNvPr id="24" name="组合 23"/>
          <p:cNvGrpSpPr/>
          <p:nvPr/>
        </p:nvGrpSpPr>
        <p:grpSpPr>
          <a:xfrm>
            <a:off x="3163399" y="1819644"/>
            <a:ext cx="7445886" cy="4049404"/>
            <a:chOff x="7182" y="2866"/>
            <a:chExt cx="9525" cy="5401"/>
          </a:xfrm>
        </p:grpSpPr>
        <p:grpSp>
          <p:nvGrpSpPr>
            <p:cNvPr id="3" name="组合 2"/>
            <p:cNvGrpSpPr/>
            <p:nvPr/>
          </p:nvGrpSpPr>
          <p:grpSpPr>
            <a:xfrm>
              <a:off x="7182" y="2866"/>
              <a:ext cx="1878" cy="1028"/>
              <a:chOff x="2215144" y="927951"/>
              <a:chExt cx="1244730" cy="897673"/>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5" name="文本框 9"/>
              <p:cNvSpPr txBox="1"/>
              <p:nvPr/>
            </p:nvSpPr>
            <p:spPr>
              <a:xfrm>
                <a:off x="2393075" y="927951"/>
                <a:ext cx="1066799" cy="775699"/>
              </a:xfrm>
              <a:prstGeom prst="rect">
                <a:avLst/>
              </a:prstGeom>
              <a:noFill/>
            </p:spPr>
            <p:txBody>
              <a:bodyPr wrap="square" rtlCol="0">
                <a:spAutoFit/>
              </a:bodyPr>
              <a:p>
                <a:r>
                  <a:rPr lang="en-US" altLang="zh-CN" sz="3735" dirty="0">
                    <a:solidFill>
                      <a:schemeClr val="bg1"/>
                    </a:solidFill>
                    <a:latin typeface="Impact" panose="020B0806030902050204" pitchFamily="34" charset="0"/>
                  </a:rPr>
                  <a:t>01</a:t>
                </a:r>
                <a:endParaRPr lang="zh-CN" altLang="en-US" sz="3735" dirty="0">
                  <a:solidFill>
                    <a:schemeClr val="bg1"/>
                  </a:solidFill>
                  <a:latin typeface="Impact" panose="020B0806030902050204" pitchFamily="34" charset="0"/>
                </a:endParaRPr>
              </a:p>
            </p:txBody>
          </p:sp>
        </p:grpSp>
        <p:grpSp>
          <p:nvGrpSpPr>
            <p:cNvPr id="8" name="组合 7"/>
            <p:cNvGrpSpPr/>
            <p:nvPr/>
          </p:nvGrpSpPr>
          <p:grpSpPr>
            <a:xfrm>
              <a:off x="7182" y="4293"/>
              <a:ext cx="1878" cy="1059"/>
              <a:chOff x="2215144" y="1952311"/>
              <a:chExt cx="1244730" cy="924318"/>
            </a:xfrm>
          </p:grpSpPr>
          <p:sp>
            <p:nvSpPr>
              <p:cNvPr id="10" name="平行四边形 9"/>
              <p:cNvSpPr/>
              <p:nvPr/>
            </p:nvSpPr>
            <p:spPr>
              <a:xfrm>
                <a:off x="2215144" y="2033848"/>
                <a:ext cx="1120898" cy="842781"/>
              </a:xfrm>
              <a:prstGeom prst="parallelogram">
                <a:avLst>
                  <a:gd name="adj" fmla="val 4820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11" name="文本框 10"/>
              <p:cNvSpPr txBox="1"/>
              <p:nvPr/>
            </p:nvSpPr>
            <p:spPr>
              <a:xfrm>
                <a:off x="2393075" y="1952311"/>
                <a:ext cx="1066799" cy="775701"/>
              </a:xfrm>
              <a:prstGeom prst="rect">
                <a:avLst/>
              </a:prstGeom>
              <a:noFill/>
            </p:spPr>
            <p:txBody>
              <a:bodyPr wrap="square" rtlCol="0">
                <a:spAutoFit/>
              </a:bodyPr>
              <a:p>
                <a:r>
                  <a:rPr lang="en-US" altLang="zh-CN" sz="3735" dirty="0">
                    <a:solidFill>
                      <a:schemeClr val="bg1"/>
                    </a:solidFill>
                    <a:latin typeface="Impact" panose="020B0806030902050204" pitchFamily="34" charset="0"/>
                  </a:rPr>
                  <a:t>02</a:t>
                </a:r>
                <a:endParaRPr lang="zh-CN" altLang="en-US" sz="3735" dirty="0">
                  <a:solidFill>
                    <a:schemeClr val="bg1"/>
                  </a:solidFill>
                  <a:latin typeface="Impact" panose="020B0806030902050204" pitchFamily="34" charset="0"/>
                </a:endParaRPr>
              </a:p>
            </p:txBody>
          </p:sp>
        </p:grpSp>
        <p:grpSp>
          <p:nvGrpSpPr>
            <p:cNvPr id="12" name="组合 11"/>
            <p:cNvGrpSpPr/>
            <p:nvPr/>
          </p:nvGrpSpPr>
          <p:grpSpPr>
            <a:xfrm>
              <a:off x="7182" y="5766"/>
              <a:ext cx="1878" cy="1042"/>
              <a:chOff x="2215144" y="3018134"/>
              <a:chExt cx="1244730" cy="909499"/>
            </a:xfrm>
          </p:grpSpPr>
          <p:sp>
            <p:nvSpPr>
              <p:cNvPr id="13" name="平行四边形 12"/>
              <p:cNvSpPr/>
              <p:nvPr/>
            </p:nvSpPr>
            <p:spPr>
              <a:xfrm>
                <a:off x="2215144" y="3084852"/>
                <a:ext cx="1120898" cy="842781"/>
              </a:xfrm>
              <a:prstGeom prst="parallelogram">
                <a:avLst>
                  <a:gd name="adj" fmla="val 4820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14" name="文本框 11"/>
              <p:cNvSpPr txBox="1"/>
              <p:nvPr/>
            </p:nvSpPr>
            <p:spPr>
              <a:xfrm>
                <a:off x="2393075" y="3018134"/>
                <a:ext cx="1066799" cy="775699"/>
              </a:xfrm>
              <a:prstGeom prst="rect">
                <a:avLst/>
              </a:prstGeom>
              <a:noFill/>
            </p:spPr>
            <p:txBody>
              <a:bodyPr wrap="square" rtlCol="0">
                <a:spAutoFit/>
              </a:bodyPr>
              <a:p>
                <a:r>
                  <a:rPr lang="en-US" altLang="zh-CN" sz="3735" dirty="0">
                    <a:solidFill>
                      <a:schemeClr val="bg1"/>
                    </a:solidFill>
                    <a:latin typeface="Impact" panose="020B0806030902050204" pitchFamily="34" charset="0"/>
                  </a:rPr>
                  <a:t>03</a:t>
                </a:r>
                <a:endParaRPr lang="zh-CN" altLang="en-US" sz="3735" dirty="0">
                  <a:solidFill>
                    <a:schemeClr val="bg1"/>
                  </a:solidFill>
                  <a:latin typeface="Impact" panose="020B0806030902050204" pitchFamily="34" charset="0"/>
                </a:endParaRPr>
              </a:p>
            </p:txBody>
          </p:sp>
        </p:grpSp>
        <p:grpSp>
          <p:nvGrpSpPr>
            <p:cNvPr id="54" name="组合 53"/>
            <p:cNvGrpSpPr/>
            <p:nvPr/>
          </p:nvGrpSpPr>
          <p:grpSpPr>
            <a:xfrm>
              <a:off x="7182" y="7199"/>
              <a:ext cx="1878" cy="1067"/>
              <a:chOff x="2215144" y="4047039"/>
              <a:chExt cx="1244730" cy="931598"/>
            </a:xfrm>
          </p:grpSpPr>
          <p:sp>
            <p:nvSpPr>
              <p:cNvPr id="55" name="平行四边形 54"/>
              <p:cNvSpPr/>
              <p:nvPr/>
            </p:nvSpPr>
            <p:spPr>
              <a:xfrm>
                <a:off x="2215144" y="4135856"/>
                <a:ext cx="1120898" cy="842781"/>
              </a:xfrm>
              <a:prstGeom prst="parallelogram">
                <a:avLst>
                  <a:gd name="adj" fmla="val 4820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56" name="文本框 12"/>
              <p:cNvSpPr txBox="1"/>
              <p:nvPr/>
            </p:nvSpPr>
            <p:spPr>
              <a:xfrm>
                <a:off x="2393075" y="4047039"/>
                <a:ext cx="1066799" cy="775700"/>
              </a:xfrm>
              <a:prstGeom prst="rect">
                <a:avLst/>
              </a:prstGeom>
              <a:noFill/>
            </p:spPr>
            <p:txBody>
              <a:bodyPr wrap="square" rtlCol="0">
                <a:spAutoFit/>
              </a:bodyPr>
              <a:p>
                <a:r>
                  <a:rPr lang="en-US" altLang="zh-CN" sz="3735" dirty="0">
                    <a:solidFill>
                      <a:schemeClr val="bg1"/>
                    </a:solidFill>
                    <a:latin typeface="Impact" panose="020B0806030902050204" pitchFamily="34" charset="0"/>
                  </a:rPr>
                  <a:t>04</a:t>
                </a:r>
                <a:endParaRPr lang="zh-CN" altLang="en-US" sz="3735" dirty="0">
                  <a:solidFill>
                    <a:schemeClr val="bg1"/>
                  </a:solidFill>
                  <a:latin typeface="Impact" panose="020B0806030902050204" pitchFamily="34" charset="0"/>
                </a:endParaRPr>
              </a:p>
            </p:txBody>
          </p:sp>
        </p:grpSp>
        <p:grpSp>
          <p:nvGrpSpPr>
            <p:cNvPr id="15" name="组合 14"/>
            <p:cNvGrpSpPr/>
            <p:nvPr/>
          </p:nvGrpSpPr>
          <p:grpSpPr>
            <a:xfrm>
              <a:off x="8608" y="2894"/>
              <a:ext cx="8099" cy="965"/>
              <a:chOff x="4315150" y="953426"/>
              <a:chExt cx="3857250" cy="540057"/>
            </a:xfrm>
          </p:grpSpPr>
          <p:sp>
            <p:nvSpPr>
              <p:cNvPr id="16" name="矩形 15"/>
              <p:cNvSpPr/>
              <p:nvPr/>
            </p:nvSpPr>
            <p:spPr>
              <a:xfrm>
                <a:off x="4841196" y="1036090"/>
                <a:ext cx="2827147" cy="343543"/>
              </a:xfrm>
              <a:prstGeom prst="rect">
                <a:avLst/>
              </a:prstGeom>
              <a:ln w="15875">
                <a:noFill/>
              </a:ln>
            </p:spPr>
            <p:txBody>
              <a:bodyPr wrap="square" lIns="91440" tIns="45720" rIns="91440" bIns="45720">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决策表的组成</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7" name="平行四边形 16"/>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endParaRPr lang="zh-CN" altLang="en-US" sz="2135" b="1">
                  <a:solidFill>
                    <a:schemeClr val="tx1">
                      <a:lumMod val="75000"/>
                      <a:lumOff val="25000"/>
                    </a:schemeClr>
                  </a:solidFill>
                </a:endParaRPr>
              </a:p>
            </p:txBody>
          </p:sp>
        </p:grpSp>
        <p:grpSp>
          <p:nvGrpSpPr>
            <p:cNvPr id="18" name="组合 17"/>
            <p:cNvGrpSpPr/>
            <p:nvPr/>
          </p:nvGrpSpPr>
          <p:grpSpPr>
            <a:xfrm>
              <a:off x="8608" y="4351"/>
              <a:ext cx="8099" cy="965"/>
              <a:chOff x="4315150" y="1647579"/>
              <a:chExt cx="3857250" cy="540057"/>
            </a:xfrm>
          </p:grpSpPr>
          <p:sp>
            <p:nvSpPr>
              <p:cNvPr id="19" name="矩形 18"/>
              <p:cNvSpPr/>
              <p:nvPr/>
            </p:nvSpPr>
            <p:spPr>
              <a:xfrm>
                <a:off x="4841196" y="1730243"/>
                <a:ext cx="2827147" cy="343543"/>
              </a:xfrm>
              <a:prstGeom prst="rect">
                <a:avLst/>
              </a:prstGeom>
              <a:ln w="15875">
                <a:noFill/>
              </a:ln>
            </p:spPr>
            <p:txBody>
              <a:bodyPr wrap="square" lIns="91440" tIns="45720" rIns="91440" bIns="45720">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决策标的简化</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平行四边形 19"/>
              <p:cNvSpPr/>
              <p:nvPr/>
            </p:nvSpPr>
            <p:spPr>
              <a:xfrm>
                <a:off x="4315150" y="1647579"/>
                <a:ext cx="3857250" cy="540057"/>
              </a:xfrm>
              <a:prstGeom prst="parallelogram">
                <a:avLst>
                  <a:gd name="adj" fmla="val 48207"/>
                </a:avLst>
              </a:pr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endParaRPr lang="zh-CN" altLang="en-US" sz="2135" b="1">
                  <a:solidFill>
                    <a:schemeClr val="tx1">
                      <a:lumMod val="75000"/>
                      <a:lumOff val="25000"/>
                    </a:schemeClr>
                  </a:solidFill>
                </a:endParaRPr>
              </a:p>
            </p:txBody>
          </p:sp>
        </p:grpSp>
        <p:grpSp>
          <p:nvGrpSpPr>
            <p:cNvPr id="21" name="组合 20"/>
            <p:cNvGrpSpPr/>
            <p:nvPr/>
          </p:nvGrpSpPr>
          <p:grpSpPr>
            <a:xfrm>
              <a:off x="8608" y="5809"/>
              <a:ext cx="8099" cy="965"/>
              <a:chOff x="4315150" y="2341731"/>
              <a:chExt cx="3857250" cy="540057"/>
            </a:xfrm>
          </p:grpSpPr>
          <p:sp>
            <p:nvSpPr>
              <p:cNvPr id="22" name="矩形 21"/>
              <p:cNvSpPr/>
              <p:nvPr/>
            </p:nvSpPr>
            <p:spPr>
              <a:xfrm>
                <a:off x="4841406" y="2424539"/>
                <a:ext cx="3101340" cy="343543"/>
              </a:xfrm>
              <a:prstGeom prst="rect">
                <a:avLst/>
              </a:prstGeom>
              <a:ln w="15875">
                <a:noFill/>
              </a:ln>
            </p:spPr>
            <p:txBody>
              <a:bodyPr wrap="square" lIns="91440" tIns="45720" rIns="91440" bIns="45720">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决策表设计测试用例的方法</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3" name="平行四边形 22"/>
              <p:cNvSpPr/>
              <p:nvPr/>
            </p:nvSpPr>
            <p:spPr>
              <a:xfrm>
                <a:off x="4315150" y="2341731"/>
                <a:ext cx="3857250" cy="540057"/>
              </a:xfrm>
              <a:prstGeom prst="parallelogram">
                <a:avLst>
                  <a:gd name="adj" fmla="val 48207"/>
                </a:avLst>
              </a:prstGeom>
              <a:noFill/>
              <a:ln w="158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endParaRPr lang="zh-CN" altLang="en-US" sz="2135" b="1">
                  <a:solidFill>
                    <a:schemeClr val="tx1">
                      <a:lumMod val="75000"/>
                      <a:lumOff val="25000"/>
                    </a:schemeClr>
                  </a:solidFill>
                </a:endParaRPr>
              </a:p>
            </p:txBody>
          </p:sp>
        </p:grpSp>
        <p:grpSp>
          <p:nvGrpSpPr>
            <p:cNvPr id="69" name="组合 68"/>
            <p:cNvGrpSpPr/>
            <p:nvPr/>
          </p:nvGrpSpPr>
          <p:grpSpPr>
            <a:xfrm>
              <a:off x="8608" y="7266"/>
              <a:ext cx="8099" cy="965"/>
              <a:chOff x="4315150" y="3035884"/>
              <a:chExt cx="3857250" cy="540057"/>
            </a:xfrm>
          </p:grpSpPr>
          <p:sp>
            <p:nvSpPr>
              <p:cNvPr id="70" name="矩形 69"/>
              <p:cNvSpPr/>
              <p:nvPr/>
            </p:nvSpPr>
            <p:spPr>
              <a:xfrm>
                <a:off x="4841196" y="3118548"/>
                <a:ext cx="2827147" cy="343543"/>
              </a:xfrm>
              <a:prstGeom prst="rect">
                <a:avLst/>
              </a:prstGeom>
              <a:ln w="15875">
                <a:noFill/>
              </a:ln>
            </p:spPr>
            <p:txBody>
              <a:bodyPr wrap="square" lIns="91440" tIns="45720" rIns="91440" bIns="45720">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决策表设计测试用例举例</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endParaRPr lang="zh-CN" altLang="en-US" sz="2135" b="1">
                  <a:solidFill>
                    <a:schemeClr val="tx1">
                      <a:lumMod val="75000"/>
                      <a:lumOff val="25000"/>
                    </a:schemeClr>
                  </a:solidFill>
                </a:endParaRPr>
              </a:p>
            </p:txBody>
          </p:sp>
        </p:grpSp>
      </p:gr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902" y="1593655"/>
            <a:ext cx="2812747" cy="2101740"/>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4554220" y="2883535"/>
            <a:ext cx="4200525" cy="829945"/>
          </a:xfrm>
          <a:prstGeom prst="rect">
            <a:avLst/>
          </a:prstGeom>
          <a:noFill/>
        </p:spPr>
        <p:txBody>
          <a:bodyPr wrap="squar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决策表的组成</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747" y="2655849"/>
            <a:ext cx="2069408" cy="1546303"/>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6508" y="2327919"/>
            <a:ext cx="3458403" cy="2584187"/>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7928" y="2883669"/>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01</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177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决策表的组成</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828675" y="1103630"/>
            <a:ext cx="10307320" cy="2306955"/>
          </a:xfrm>
          <a:prstGeom prst="rect">
            <a:avLst/>
          </a:prstGeom>
          <a:noFill/>
          <a:ln w="9525">
            <a:noFill/>
          </a:ln>
        </p:spPr>
        <p:txBody>
          <a:bodyPr wrap="square">
            <a:spAutoFit/>
          </a:bodyPr>
          <a:p>
            <a:pPr indent="295275"/>
            <a:r>
              <a:rPr lang="en-US" altLang="zh-CN" sz="2400" b="0">
                <a:latin typeface="Times New Roman" panose="02020603050405020304" charset="0"/>
                <a:ea typeface="宋体" panose="02010600030101010101" pitchFamily="2" charset="-122"/>
              </a:rPr>
              <a:t>1</a:t>
            </a:r>
            <a:r>
              <a:rPr lang="zh-CN" altLang="en-US" sz="2400" b="0">
                <a:latin typeface="Times New Roman" panose="02020603050405020304" charset="0"/>
                <a:ea typeface="宋体" panose="02010600030101010101" pitchFamily="2" charset="-122"/>
              </a:rPr>
              <a:t>、</a:t>
            </a:r>
            <a:r>
              <a:rPr lang="zh-CN" sz="2400" b="0">
                <a:latin typeface="Times New Roman" panose="02020603050405020304" charset="0"/>
                <a:ea typeface="宋体" panose="02010600030101010101" pitchFamily="2" charset="-122"/>
              </a:rPr>
              <a:t>什么是决策表？</a:t>
            </a:r>
            <a:endParaRPr lang="zh-CN" sz="2000" b="0">
              <a:latin typeface="Times New Roman" panose="02020603050405020304" charset="0"/>
              <a:ea typeface="宋体" panose="02010600030101010101" pitchFamily="2" charset="-122"/>
            </a:endParaRPr>
          </a:p>
          <a:p>
            <a:pPr indent="295275"/>
            <a:r>
              <a:rPr lang="zh-CN" altLang="en-US" sz="2000"/>
              <a:t>举一个简单的实例，表</a:t>
            </a:r>
            <a:r>
              <a:rPr lang="en-US" altLang="zh-CN" sz="2000"/>
              <a:t>8-1</a:t>
            </a:r>
            <a:r>
              <a:rPr lang="zh-CN" altLang="en-US" sz="2000"/>
              <a:t>是一张名为“阅读指南”的表，表中列举了读者读书时可能遇到的5个问题，若读者的回答是肯定的（判定取真值），标以字母“Y”；若回答是否定的（判断取假值），标以字母“N”。3个判定条件，共有8种取值情况。该表还是读者提供了4条建议，但不需要每种情况都实施。要实施的建议在相应栏内标以“√”，其他建议栏内则什么也不标。例如，表中的第三种情况，当读者已经疲劳，对内容又不感兴趣，并且还没读懂，这时建议读者去休息。</a:t>
            </a:r>
            <a:endParaRPr lang="zh-CN" altLang="en-US" sz="2000"/>
          </a:p>
        </p:txBody>
      </p:sp>
      <p:pic>
        <p:nvPicPr>
          <p:cNvPr id="2" name="图片 -2147482619"/>
          <p:cNvPicPr>
            <a:picLocks noChangeAspect="1"/>
          </p:cNvPicPr>
          <p:nvPr/>
        </p:nvPicPr>
        <p:blipFill>
          <a:blip r:embed="rId1"/>
          <a:stretch>
            <a:fillRect/>
          </a:stretch>
        </p:blipFill>
        <p:spPr>
          <a:xfrm>
            <a:off x="2831465" y="3410585"/>
            <a:ext cx="6839585" cy="3056255"/>
          </a:xfrm>
          <a:prstGeom prst="rect">
            <a:avLst/>
          </a:prstGeom>
          <a:noFill/>
          <a:ln w="9525">
            <a:noFill/>
          </a:ln>
        </p:spPr>
      </p:pic>
    </p:spTree>
  </p:cSld>
  <p:clrMapOvr>
    <a:masterClrMapping/>
  </p:clrMapOvr>
  <p:transition advTm="6599">
    <p:random/>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sym typeface="+mn-ea"/>
              </a:rPr>
              <a:t>决策表的组成</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480060" y="770255"/>
            <a:ext cx="9520555" cy="3169285"/>
          </a:xfrm>
          <a:prstGeom prst="rect">
            <a:avLst/>
          </a:prstGeom>
          <a:noFill/>
          <a:ln w="9525">
            <a:noFill/>
          </a:ln>
        </p:spPr>
        <p:txBody>
          <a:bodyPr wrap="square">
            <a:spAutoFit/>
          </a:bodyPr>
          <a:p>
            <a:pPr indent="295275"/>
            <a:r>
              <a:rPr lang="zh-CN" sz="2000" b="0">
                <a:latin typeface="Times New Roman" panose="02020603050405020304" charset="0"/>
                <a:ea typeface="宋体" panose="02010600030101010101" pitchFamily="2" charset="-122"/>
              </a:rPr>
              <a:t>决策表通常由</a:t>
            </a:r>
            <a:r>
              <a:rPr lang="en-US" sz="2000" b="0">
                <a:latin typeface="Times New Roman" panose="02020603050405020304" charset="0"/>
              </a:rPr>
              <a:t>4</a:t>
            </a:r>
            <a:r>
              <a:rPr lang="zh-CN" sz="2000" b="0">
                <a:latin typeface="Times New Roman" panose="02020603050405020304" charset="0"/>
                <a:ea typeface="宋体" panose="02010600030101010101" pitchFamily="2" charset="-122"/>
              </a:rPr>
              <a:t>个部分组成，如图</a:t>
            </a:r>
            <a:r>
              <a:rPr lang="en-US" sz="2000" b="0">
                <a:latin typeface="Times New Roman" panose="02020603050405020304" charset="0"/>
                <a:ea typeface="宋体" panose="02010600030101010101" pitchFamily="2" charset="-122"/>
                <a:cs typeface="宋体" panose="02010600030101010101" pitchFamily="2" charset="-122"/>
              </a:rPr>
              <a:t>8</a:t>
            </a:r>
            <a:r>
              <a:rPr lang="en-US" sz="2000" b="0">
                <a:latin typeface="Times New Roman" panose="02020603050405020304" charset="0"/>
              </a:rPr>
              <a:t>-1</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    条件桩：列出了问题的所有条件</a:t>
            </a:r>
            <a:r>
              <a:rPr lang="zh-CN" sz="2000" b="0">
                <a:latin typeface="Times New Roman" panose="02020603050405020304" charset="0"/>
                <a:ea typeface="宋体" panose="02010600030101010101" pitchFamily="2" charset="-122"/>
              </a:rPr>
              <a:t>，除了某些问题对条件的先后次序有特定的要求外，通常在这里列出的条件其先后次序无关紧要</a:t>
            </a:r>
            <a:r>
              <a:rPr lang="zh-CN" sz="2000" b="0">
                <a:ea typeface="宋体" panose="02010600030101010101" pitchFamily="2" charset="-122"/>
              </a:rPr>
              <a:t>。     动作桩：列出了问题规定可能采取的操作</a:t>
            </a:r>
            <a:r>
              <a:rPr lang="zh-CN" sz="2000" b="0">
                <a:latin typeface="Times New Roman" panose="02020603050405020304" charset="0"/>
                <a:ea typeface="宋体" panose="02010600030101010101" pitchFamily="2" charset="-122"/>
              </a:rPr>
              <a:t>，这些操作的排列顺序一般没有什么约束，但为了便于阅读也可令其按适当的顺序排列</a:t>
            </a:r>
            <a:r>
              <a:rPr lang="zh-CN" sz="2000" b="0">
                <a:ea typeface="宋体" panose="02010600030101010101" pitchFamily="2" charset="-122"/>
              </a:rPr>
              <a:t>。     条件项：列出针对它所列条件的取值，在所有可能情况下的真假值。     动作项：列出在条件项的各种取值情况下应该采取的动作。</a:t>
            </a:r>
            <a:endParaRPr lang="zh-CN" sz="2000" b="0">
              <a:ea typeface="宋体" panose="02010600030101010101" pitchFamily="2" charset="-122"/>
            </a:endParaRPr>
          </a:p>
          <a:p>
            <a:pPr indent="295275"/>
            <a:r>
              <a:rPr lang="zh-CN" altLang="en-US" sz="2000"/>
              <a:t>规则：任何一个条件组合的特定取值及其相应要执行的操作。在决策表中贯穿条件项和动作项的一列就是一条规则。显然，决策表中列出多少组条件取值，就有多少条规则。</a:t>
            </a:r>
            <a:endParaRPr lang="zh-CN" altLang="en-US" sz="2000"/>
          </a:p>
        </p:txBody>
      </p:sp>
      <p:pic>
        <p:nvPicPr>
          <p:cNvPr id="2" name="图片 -2147482622"/>
          <p:cNvPicPr>
            <a:picLocks noChangeAspect="1"/>
          </p:cNvPicPr>
          <p:nvPr/>
        </p:nvPicPr>
        <p:blipFill>
          <a:blip r:embed="rId1"/>
          <a:stretch>
            <a:fillRect/>
          </a:stretch>
        </p:blipFill>
        <p:spPr>
          <a:xfrm>
            <a:off x="5930900" y="3588385"/>
            <a:ext cx="4906645" cy="3209290"/>
          </a:xfrm>
          <a:prstGeom prst="rect">
            <a:avLst/>
          </a:prstGeom>
          <a:noFill/>
          <a:ln w="9525">
            <a:noFill/>
          </a:ln>
        </p:spPr>
      </p:pic>
      <p:sp>
        <p:nvSpPr>
          <p:cNvPr id="3" name="文本框 2"/>
          <p:cNvSpPr txBox="1"/>
          <p:nvPr/>
        </p:nvSpPr>
        <p:spPr>
          <a:xfrm>
            <a:off x="2047240" y="6398895"/>
            <a:ext cx="5080000" cy="398780"/>
          </a:xfrm>
          <a:prstGeom prst="rect">
            <a:avLst/>
          </a:prstGeom>
          <a:noFill/>
          <a:ln w="9525">
            <a:noFill/>
          </a:ln>
        </p:spPr>
        <p:txBody>
          <a:bodyPr>
            <a:spAutoFit/>
          </a:bodyPr>
          <a:p>
            <a:pPr indent="295275" algn="ctr"/>
            <a:r>
              <a:rPr lang="zh-CN" sz="2000" b="0">
                <a:latin typeface="Times New Roman" panose="02020603050405020304" charset="0"/>
                <a:ea typeface="宋体" panose="02010600030101010101" pitchFamily="2" charset="-122"/>
              </a:rPr>
              <a:t>图</a:t>
            </a:r>
            <a:r>
              <a:rPr lang="en-US" sz="2000" b="0">
                <a:latin typeface="Times New Roman" panose="02020603050405020304" charset="0"/>
                <a:ea typeface="宋体" panose="02010600030101010101" pitchFamily="2" charset="-122"/>
                <a:cs typeface="宋体" panose="02010600030101010101" pitchFamily="2" charset="-122"/>
              </a:rPr>
              <a:t>8</a:t>
            </a:r>
            <a:r>
              <a:rPr lang="en-US" sz="2000" b="0">
                <a:latin typeface="Times New Roman" panose="02020603050405020304" charset="0"/>
              </a:rPr>
              <a:t>-1 </a:t>
            </a:r>
            <a:r>
              <a:rPr lang="zh-CN" sz="2000" b="0">
                <a:latin typeface="Times New Roman" panose="02020603050405020304" charset="0"/>
                <a:ea typeface="宋体" panose="02010600030101010101" pitchFamily="2" charset="-122"/>
              </a:rPr>
              <a:t>决策表的组成</a:t>
            </a:r>
            <a:endParaRPr lang="zh-CN" altLang="en-US" sz="2000"/>
          </a:p>
        </p:txBody>
      </p:sp>
    </p:spTree>
  </p:cSld>
  <p:clrMapOvr>
    <a:masterClrMapping/>
  </p:clrMapOvr>
  <p:transition advTm="5335">
    <p:random/>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902" y="1593655"/>
            <a:ext cx="2812747" cy="2101740"/>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3912604" y="2883812"/>
            <a:ext cx="3840480" cy="829945"/>
          </a:xfrm>
          <a:prstGeom prst="rect">
            <a:avLst/>
          </a:prstGeom>
          <a:noFill/>
        </p:spPr>
        <p:txBody>
          <a:bodyPr wrap="non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决策表的简化</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747" y="2655849"/>
            <a:ext cx="2069408" cy="1546303"/>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6508" y="2327919"/>
            <a:ext cx="3458403" cy="2584187"/>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7928" y="2883669"/>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02</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1731">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决策表的简化</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581025" y="840740"/>
            <a:ext cx="8301990" cy="3476625"/>
          </a:xfrm>
          <a:prstGeom prst="rect">
            <a:avLst/>
          </a:prstGeom>
          <a:noFill/>
          <a:ln w="9525">
            <a:noFill/>
          </a:ln>
        </p:spPr>
        <p:txBody>
          <a:bodyPr wrap="square">
            <a:spAutoFit/>
          </a:bodyPr>
          <a:p>
            <a:pPr indent="0"/>
            <a:r>
              <a:rPr lang="en-US" altLang="zh-CN"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简化是以合并相似规则为目标的。若表中有两条或多条规则具有相同的动作，并且在条件项之间存在着极为相似的关系，便可以设法将其合并。</a:t>
            </a:r>
            <a:endParaRPr lang="zh-CN" sz="2000" b="0">
              <a:latin typeface="Times New Roman" panose="02020603050405020304" charset="0"/>
              <a:ea typeface="宋体" panose="02010600030101010101" pitchFamily="2" charset="-122"/>
            </a:endParaRPr>
          </a:p>
          <a:p>
            <a:pPr indent="0"/>
            <a:r>
              <a:rPr lang="en-US" altLang="zh-CN" sz="2000"/>
              <a:t>	</a:t>
            </a:r>
            <a:r>
              <a:rPr lang="zh-CN" altLang="en-US" sz="2000"/>
              <a:t>例如，在上面决策表中，第1、2条规则其动作项一致，条件项中前两个条件取值一致，只是第三个条件取值不同，这一情况表明，前两个条件分别取真值和假值时，无论第3个条件取什么值，都要执行同一操作，即要执行的动作与第三个条件的取值无关。于是，便将这两个规则合并。</a:t>
            </a:r>
            <a:endParaRPr lang="zh-CN" altLang="en-US" sz="2000"/>
          </a:p>
          <a:p>
            <a:pPr indent="0"/>
            <a:r>
              <a:rPr lang="en-US" altLang="zh-CN" sz="2000"/>
              <a:t>	</a:t>
            </a:r>
            <a:r>
              <a:rPr lang="zh-CN" altLang="en-US" sz="2000"/>
              <a:t>合并后的第三个条件项目符号用“-”表示与取值无关，称为“无关条件”或“不关心条件”。依此类推，具有相同动作的规则还可进一步合并，如图8-2所示。</a:t>
            </a:r>
            <a:endParaRPr lang="zh-CN" altLang="en-US" sz="2000"/>
          </a:p>
        </p:txBody>
      </p:sp>
      <p:pic>
        <p:nvPicPr>
          <p:cNvPr id="2" name="图片 35840"/>
          <p:cNvPicPr>
            <a:picLocks noChangeAspect="1"/>
          </p:cNvPicPr>
          <p:nvPr/>
        </p:nvPicPr>
        <p:blipFill>
          <a:blip r:embed="rId1"/>
          <a:stretch>
            <a:fillRect/>
          </a:stretch>
        </p:blipFill>
        <p:spPr>
          <a:xfrm>
            <a:off x="3277235" y="3931285"/>
            <a:ext cx="5829935" cy="2489835"/>
          </a:xfrm>
          <a:prstGeom prst="rect">
            <a:avLst/>
          </a:prstGeom>
          <a:noFill/>
          <a:ln w="9525">
            <a:noFill/>
          </a:ln>
        </p:spPr>
      </p:pic>
      <p:sp>
        <p:nvSpPr>
          <p:cNvPr id="36" name="文本框 35"/>
          <p:cNvSpPr txBox="1"/>
          <p:nvPr/>
        </p:nvSpPr>
        <p:spPr>
          <a:xfrm>
            <a:off x="3651885" y="6421120"/>
            <a:ext cx="5080000" cy="398780"/>
          </a:xfrm>
          <a:prstGeom prst="rect">
            <a:avLst/>
          </a:prstGeom>
          <a:noFill/>
          <a:ln w="9525">
            <a:noFill/>
          </a:ln>
        </p:spPr>
        <p:txBody>
          <a:bodyPr>
            <a:spAutoFit/>
          </a:bodyPr>
          <a:p>
            <a:pPr indent="0" algn="ctr"/>
            <a:r>
              <a:rPr lang="zh-CN" sz="2000" b="0">
                <a:latin typeface="Times New Roman" panose="02020603050405020304" charset="0"/>
                <a:ea typeface="宋体" panose="02010600030101010101" pitchFamily="2" charset="-122"/>
              </a:rPr>
              <a:t>图</a:t>
            </a:r>
            <a:r>
              <a:rPr lang="en-US" sz="2000" b="0">
                <a:latin typeface="Times New Roman" panose="02020603050405020304" charset="0"/>
                <a:ea typeface="宋体" panose="02010600030101010101" pitchFamily="2" charset="-122"/>
                <a:cs typeface="宋体" panose="02010600030101010101" pitchFamily="2" charset="-122"/>
              </a:rPr>
              <a:t>8</a:t>
            </a:r>
            <a:r>
              <a:rPr lang="en-US" sz="2000" b="0">
                <a:latin typeface="Times New Roman" panose="02020603050405020304" charset="0"/>
                <a:ea typeface="宋体" panose="02010600030101010101" pitchFamily="2" charset="-122"/>
              </a:rPr>
              <a:t>-2 </a:t>
            </a:r>
            <a:r>
              <a:rPr lang="zh-CN" sz="2000" b="0">
                <a:latin typeface="Times New Roman" panose="02020603050405020304" charset="0"/>
                <a:ea typeface="宋体" panose="02010600030101010101" pitchFamily="2" charset="-122"/>
              </a:rPr>
              <a:t>两条规则合并成一条</a:t>
            </a:r>
            <a:endParaRPr lang="zh-CN" altLang="en-US" sz="2000"/>
          </a:p>
        </p:txBody>
      </p:sp>
    </p:spTree>
  </p:cSld>
  <p:clrMapOvr>
    <a:masterClrMapping/>
  </p:clrMapOvr>
  <p:transition advTm="4727">
    <p:random/>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sym typeface="+mn-ea"/>
              </a:rPr>
              <a:t>决策表的简化</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786130" y="838835"/>
            <a:ext cx="7849870" cy="706755"/>
          </a:xfrm>
          <a:prstGeom prst="rect">
            <a:avLst/>
          </a:prstGeom>
          <a:noFill/>
          <a:ln w="9525">
            <a:noFill/>
          </a:ln>
        </p:spPr>
        <p:txBody>
          <a:bodyPr wrap="square">
            <a:spAutoFit/>
          </a:bodyPr>
          <a:p>
            <a:pPr indent="304800"/>
            <a:r>
              <a:rPr lang="zh-CN" sz="2000" b="0">
                <a:latin typeface="Times New Roman" panose="02020603050405020304" charset="0"/>
                <a:ea typeface="宋体" panose="02010600030101010101" pitchFamily="2" charset="-122"/>
              </a:rPr>
              <a:t>按照上述合并规则，可将“读书指南”决策表加以简化，简化后的决策表如图</a:t>
            </a:r>
            <a:r>
              <a:rPr lang="en-US" sz="2000" b="0">
                <a:latin typeface="Times New Roman" panose="02020603050405020304" charset="0"/>
                <a:ea typeface="宋体" panose="02010600030101010101" pitchFamily="2" charset="-122"/>
                <a:cs typeface="宋体" panose="02010600030101010101" pitchFamily="2" charset="-122"/>
              </a:rPr>
              <a:t>8</a:t>
            </a:r>
            <a:r>
              <a:rPr lang="en-US"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cs typeface="宋体" panose="02010600030101010101" pitchFamily="2" charset="-122"/>
              </a:rPr>
              <a:t>3</a:t>
            </a:r>
            <a:r>
              <a:rPr lang="zh-CN" sz="2000" b="0">
                <a:latin typeface="Times New Roman" panose="02020603050405020304" charset="0"/>
                <a:ea typeface="宋体" panose="02010600030101010101" pitchFamily="2" charset="-122"/>
              </a:rPr>
              <a:t>所示。</a:t>
            </a:r>
            <a:endParaRPr lang="zh-CN" altLang="en-US" sz="2000"/>
          </a:p>
        </p:txBody>
      </p:sp>
      <p:pic>
        <p:nvPicPr>
          <p:cNvPr id="8" name="图片 7"/>
          <p:cNvPicPr/>
          <p:nvPr/>
        </p:nvPicPr>
        <p:blipFill>
          <a:blip r:embed="rId1"/>
          <a:stretch>
            <a:fillRect/>
          </a:stretch>
        </p:blipFill>
        <p:spPr>
          <a:xfrm>
            <a:off x="2392680" y="1545590"/>
            <a:ext cx="5835650" cy="2957195"/>
          </a:xfrm>
          <a:prstGeom prst="rect">
            <a:avLst/>
          </a:prstGeom>
          <a:noFill/>
          <a:ln w="9525">
            <a:noFill/>
          </a:ln>
        </p:spPr>
      </p:pic>
      <p:sp>
        <p:nvSpPr>
          <p:cNvPr id="104" name="文本框 103"/>
          <p:cNvSpPr txBox="1"/>
          <p:nvPr/>
        </p:nvSpPr>
        <p:spPr>
          <a:xfrm>
            <a:off x="2960370" y="4502785"/>
            <a:ext cx="5080000" cy="398780"/>
          </a:xfrm>
          <a:prstGeom prst="rect">
            <a:avLst/>
          </a:prstGeom>
          <a:noFill/>
          <a:ln w="9525">
            <a:noFill/>
          </a:ln>
        </p:spPr>
        <p:txBody>
          <a:bodyPr wrap="square">
            <a:spAutoFit/>
          </a:bodyPr>
          <a:p>
            <a:pPr indent="0" algn="ctr"/>
            <a:r>
              <a:rPr lang="zh-CN" sz="2000" b="0">
                <a:latin typeface="Times New Roman" panose="02020603050405020304" charset="0"/>
                <a:ea typeface="宋体" panose="02010600030101010101" pitchFamily="2" charset="-122"/>
              </a:rPr>
              <a:t>图</a:t>
            </a:r>
            <a:r>
              <a:rPr lang="en-US" sz="2000" b="0">
                <a:latin typeface="Times New Roman" panose="02020603050405020304" charset="0"/>
                <a:ea typeface="宋体" panose="02010600030101010101" pitchFamily="2" charset="-122"/>
                <a:cs typeface="宋体" panose="02010600030101010101" pitchFamily="2" charset="-122"/>
              </a:rPr>
              <a:t>8-3</a:t>
            </a:r>
            <a:r>
              <a:rPr lang="en-US"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简化后的阅读指南决策表</a:t>
            </a:r>
            <a:endParaRPr lang="zh-CN" altLang="en-US" sz="2000"/>
          </a:p>
        </p:txBody>
      </p:sp>
    </p:spTree>
  </p:cSld>
  <p:clrMapOvr>
    <a:masterClrMapping/>
  </p:clrMapOvr>
  <p:transition advTm="6599">
    <p:random/>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902" y="1593655"/>
            <a:ext cx="2812747" cy="2101740"/>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2910840" y="2883535"/>
            <a:ext cx="8500110" cy="829945"/>
          </a:xfrm>
          <a:prstGeom prst="rect">
            <a:avLst/>
          </a:prstGeom>
          <a:noFill/>
        </p:spPr>
        <p:txBody>
          <a:bodyPr wrap="squar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决策表设计测试用例的方法</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747" y="2655849"/>
            <a:ext cx="2069408" cy="1546303"/>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6508" y="2327919"/>
            <a:ext cx="3458403" cy="2584187"/>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7928" y="2883669"/>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03</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280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800" y="56515"/>
            <a:ext cx="3994785"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决策表设计测试用例的方法</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4" name="文本框 103"/>
          <p:cNvSpPr txBox="1"/>
          <p:nvPr/>
        </p:nvSpPr>
        <p:spPr>
          <a:xfrm>
            <a:off x="624205" y="614680"/>
            <a:ext cx="8011795" cy="2861310"/>
          </a:xfrm>
          <a:prstGeom prst="rect">
            <a:avLst/>
          </a:prstGeom>
          <a:noFill/>
          <a:ln w="9525">
            <a:noFill/>
          </a:ln>
        </p:spPr>
        <p:txBody>
          <a:bodyPr wrap="square">
            <a:spAutoFit/>
          </a:bodyPr>
          <a:p>
            <a:pPr indent="304800"/>
            <a:r>
              <a:rPr lang="zh-CN" sz="2000" b="0">
                <a:latin typeface="Times New Roman" panose="02020603050405020304" charset="0"/>
                <a:ea typeface="宋体" panose="02010600030101010101" pitchFamily="2" charset="-122"/>
              </a:rPr>
              <a:t>根据软件规格说明，构造决策表的</a:t>
            </a:r>
            <a:r>
              <a:rPr lang="en-US" sz="2000" b="0">
                <a:latin typeface="Times New Roman" panose="02020603050405020304" charset="0"/>
                <a:ea typeface="宋体" panose="02010600030101010101" pitchFamily="2" charset="-122"/>
              </a:rPr>
              <a:t>5</a:t>
            </a:r>
            <a:r>
              <a:rPr lang="zh-CN" sz="2000" b="0">
                <a:latin typeface="Times New Roman" panose="02020603050405020304" charset="0"/>
                <a:ea typeface="宋体" panose="02010600030101010101" pitchFamily="2" charset="-122"/>
              </a:rPr>
              <a:t>个步骤如下：</a:t>
            </a:r>
            <a:endParaRPr lang="zh-CN" sz="2000" b="0">
              <a:latin typeface="Times New Roman" panose="02020603050405020304" charset="0"/>
              <a:ea typeface="宋体" panose="02010600030101010101" pitchFamily="2" charset="-122"/>
            </a:endParaRPr>
          </a:p>
          <a:p>
            <a:pPr indent="304800"/>
            <a:r>
              <a:rPr lang="zh-CN" altLang="en-US" sz="2000"/>
              <a:t>1.列出所有的条件桩和动作桩：</a:t>
            </a:r>
            <a:endParaRPr lang="zh-CN" altLang="en-US" sz="2000"/>
          </a:p>
          <a:p>
            <a:pPr indent="304800"/>
            <a:r>
              <a:rPr lang="zh-CN" altLang="en-US" sz="2000"/>
              <a:t> 分析输入域，对输入域进行等价类划分；</a:t>
            </a:r>
            <a:endParaRPr lang="zh-CN" altLang="en-US" sz="2000"/>
          </a:p>
          <a:p>
            <a:pPr indent="304800"/>
            <a:r>
              <a:rPr lang="zh-CN" altLang="en-US" sz="2000"/>
              <a:t> 分析输出域，对输出进行细化，以指导具体的输出动作；</a:t>
            </a:r>
            <a:endParaRPr lang="zh-CN" altLang="en-US" sz="2000"/>
          </a:p>
          <a:p>
            <a:pPr indent="304800"/>
            <a:r>
              <a:rPr lang="zh-CN" altLang="en-US" sz="2000"/>
              <a:t>2.确定规则的个数；假如有n个条件，每个条件有两个取值（0,1）,则有2n种规则；</a:t>
            </a:r>
            <a:endParaRPr lang="zh-CN" altLang="en-US" sz="2000"/>
          </a:p>
          <a:p>
            <a:pPr indent="304800"/>
            <a:r>
              <a:rPr lang="zh-CN" altLang="en-US" sz="2000"/>
              <a:t>3.填入条件项；4.填入动作项，得到初始决策表；</a:t>
            </a:r>
            <a:endParaRPr lang="zh-CN" altLang="en-US" sz="2000"/>
          </a:p>
          <a:p>
            <a:pPr indent="304800"/>
            <a:r>
              <a:rPr lang="zh-CN" altLang="en-US" sz="2000"/>
              <a:t>5.简化，合并相似规则（相同动作）；</a:t>
            </a:r>
            <a:endParaRPr lang="zh-CN" altLang="en-US" sz="2000"/>
          </a:p>
          <a:p>
            <a:pPr indent="304800"/>
            <a:r>
              <a:rPr lang="zh-CN" altLang="en-US" sz="2000"/>
              <a:t>6.依据判定表，选择测试数据，设计测试用例。</a:t>
            </a:r>
            <a:endParaRPr lang="zh-CN" altLang="en-US" sz="2000"/>
          </a:p>
        </p:txBody>
      </p:sp>
      <p:sp>
        <p:nvSpPr>
          <p:cNvPr id="2" name="十字星 1"/>
          <p:cNvSpPr/>
          <p:nvPr/>
        </p:nvSpPr>
        <p:spPr>
          <a:xfrm>
            <a:off x="784860" y="1278255"/>
            <a:ext cx="302260" cy="279400"/>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十字星 2"/>
          <p:cNvSpPr/>
          <p:nvPr/>
        </p:nvSpPr>
        <p:spPr>
          <a:xfrm>
            <a:off x="784860" y="1557655"/>
            <a:ext cx="302260" cy="279400"/>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advTm="6599">
    <p:random/>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800" y="56515"/>
            <a:ext cx="3563620"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sym typeface="+mn-ea"/>
              </a:rPr>
              <a:t>决策表设计测试用例的方法</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4" name="文本框 103"/>
          <p:cNvSpPr txBox="1"/>
          <p:nvPr/>
        </p:nvSpPr>
        <p:spPr>
          <a:xfrm>
            <a:off x="1950720" y="1260475"/>
            <a:ext cx="7450455" cy="2553335"/>
          </a:xfrm>
          <a:prstGeom prst="rect">
            <a:avLst/>
          </a:prstGeom>
          <a:noFill/>
          <a:ln w="9525">
            <a:noFill/>
          </a:ln>
        </p:spPr>
        <p:txBody>
          <a:bodyPr wrap="square">
            <a:spAutoFit/>
          </a:bodyPr>
          <a:p>
            <a:pPr indent="304800"/>
            <a:r>
              <a:rPr lang="zh-CN" sz="2000" b="0">
                <a:ea typeface="宋体" panose="02010600030101010101" pitchFamily="2" charset="-122"/>
              </a:rPr>
              <a:t>使用决策表测试的</a:t>
            </a:r>
            <a:r>
              <a:rPr lang="en-US" sz="2000" b="0">
                <a:latin typeface="Times New Roman" panose="02020603050405020304" charset="0"/>
                <a:ea typeface="宋体" panose="02010600030101010101" pitchFamily="2" charset="-122"/>
                <a:cs typeface="宋体" panose="02010600030101010101" pitchFamily="2" charset="-122"/>
              </a:rPr>
              <a:t>Beizer</a:t>
            </a:r>
            <a:r>
              <a:rPr lang="zh-CN" sz="2000" b="0">
                <a:ea typeface="宋体" panose="02010600030101010101" pitchFamily="2" charset="-122"/>
              </a:rPr>
              <a:t>条件：</a:t>
            </a:r>
            <a:r>
              <a:rPr lang="en-US" sz="2000" b="0">
                <a:latin typeface="Wingdings" panose="05000000000000000000" charset="0"/>
                <a:ea typeface="宋体" panose="02010600030101010101" pitchFamily="2" charset="-122"/>
              </a:rPr>
              <a:t>Ø </a:t>
            </a:r>
            <a:r>
              <a:rPr lang="zh-CN" sz="2000" b="0">
                <a:ea typeface="宋体" panose="02010600030101010101" pitchFamily="2" charset="-122"/>
              </a:rPr>
              <a:t>规格说明以决策表形式给出，或是很容易转换成判定表；</a:t>
            </a:r>
            <a:r>
              <a:rPr lang="en-US" sz="2000" b="0">
                <a:latin typeface="Wingdings" panose="05000000000000000000" charset="0"/>
                <a:ea typeface="宋体" panose="02010600030101010101" pitchFamily="2" charset="-122"/>
              </a:rPr>
              <a:t>Ø </a:t>
            </a:r>
            <a:r>
              <a:rPr lang="zh-CN" sz="2000" b="0">
                <a:ea typeface="宋体" panose="02010600030101010101" pitchFamily="2" charset="-122"/>
              </a:rPr>
              <a:t>条件的排列顺序不会也不应影响执行哪些动作；</a:t>
            </a:r>
            <a:r>
              <a:rPr lang="en-US" sz="2000" b="0">
                <a:latin typeface="Wingdings" panose="05000000000000000000" charset="0"/>
                <a:ea typeface="宋体" panose="02010600030101010101" pitchFamily="2" charset="-122"/>
              </a:rPr>
              <a:t>Ø </a:t>
            </a:r>
            <a:r>
              <a:rPr lang="zh-CN" sz="2000" b="0">
                <a:ea typeface="宋体" panose="02010600030101010101" pitchFamily="2" charset="-122"/>
              </a:rPr>
              <a:t>规则的排列顺序不会也不应影响执行哪些动作；</a:t>
            </a:r>
            <a:r>
              <a:rPr lang="en-US" sz="2000" b="0">
                <a:latin typeface="Wingdings" panose="05000000000000000000" charset="0"/>
                <a:ea typeface="宋体" panose="02010600030101010101" pitchFamily="2" charset="-122"/>
              </a:rPr>
              <a:t>Ø </a:t>
            </a:r>
            <a:r>
              <a:rPr lang="zh-CN" sz="2000" b="0">
                <a:ea typeface="宋体" panose="02010600030101010101" pitchFamily="2" charset="-122"/>
              </a:rPr>
              <a:t>每当某一规则的条件已经满足，并确定要执行的动作后，不必检验别的规则；</a:t>
            </a:r>
            <a:r>
              <a:rPr lang="en-US" sz="2000" b="0">
                <a:latin typeface="Wingdings" panose="05000000000000000000" charset="0"/>
                <a:ea typeface="宋体" panose="02010600030101010101" pitchFamily="2" charset="-122"/>
              </a:rPr>
              <a:t>Ø </a:t>
            </a:r>
            <a:r>
              <a:rPr lang="zh-CN" sz="2000" b="0">
                <a:ea typeface="宋体" panose="02010600030101010101" pitchFamily="2" charset="-122"/>
              </a:rPr>
              <a:t>如果某一规则得到满足要执行多个动作，这些动作的执行顺序无关紧要。</a:t>
            </a:r>
            <a:endParaRPr lang="zh-CN" altLang="en-US" sz="2000"/>
          </a:p>
        </p:txBody>
      </p:sp>
    </p:spTree>
  </p:cSld>
  <p:clrMapOvr>
    <a:masterClrMapping/>
  </p:clrMapOvr>
  <p:transition advTm="6599">
    <p:random/>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等腰三角形 22"/>
          <p:cNvSpPr/>
          <p:nvPr/>
        </p:nvSpPr>
        <p:spPr>
          <a:xfrm rot="5400000">
            <a:off x="-354902" y="1593655"/>
            <a:ext cx="2812747" cy="2101740"/>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 name="文本框 4"/>
          <p:cNvSpPr txBox="1"/>
          <p:nvPr/>
        </p:nvSpPr>
        <p:spPr>
          <a:xfrm>
            <a:off x="3018790" y="2883535"/>
            <a:ext cx="7782560" cy="829945"/>
          </a:xfrm>
          <a:prstGeom prst="rect">
            <a:avLst/>
          </a:prstGeom>
          <a:noFill/>
        </p:spPr>
        <p:txBody>
          <a:bodyPr wrap="squar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决策表设计测试用例举例</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等腰三角形 21"/>
          <p:cNvSpPr/>
          <p:nvPr/>
        </p:nvSpPr>
        <p:spPr>
          <a:xfrm rot="16200000" flipH="1">
            <a:off x="10384747" y="2655849"/>
            <a:ext cx="2069408" cy="1546303"/>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1" name="等腰三角形 20"/>
          <p:cNvSpPr/>
          <p:nvPr/>
        </p:nvSpPr>
        <p:spPr>
          <a:xfrm rot="5400000">
            <a:off x="-436508" y="2327919"/>
            <a:ext cx="3458403" cy="2584187"/>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文本框 3"/>
          <p:cNvSpPr txBox="1"/>
          <p:nvPr/>
        </p:nvSpPr>
        <p:spPr>
          <a:xfrm>
            <a:off x="47928" y="2883669"/>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04</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177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Effect transition="in" filter="fade">
                                      <p:cBhvr>
                                        <p:cTn id="14" dur="500"/>
                                        <p:tgtEl>
                                          <p:spTgt spid="2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fltVal val="0"/>
                                          </p:val>
                                        </p:tav>
                                        <p:tav tm="100000">
                                          <p:val>
                                            <p:strVal val="#ppt_w"/>
                                          </p:val>
                                        </p:tav>
                                      </p:tavLst>
                                    </p:anim>
                                    <p:anim calcmode="lin" valueType="num">
                                      <p:cBhvr>
                                        <p:cTn id="23" dur="500" fill="hold"/>
                                        <p:tgtEl>
                                          <p:spTgt spid="4"/>
                                        </p:tgtEl>
                                        <p:attrNameLst>
                                          <p:attrName>ppt_h</p:attrName>
                                        </p:attrNameLst>
                                      </p:cBhvr>
                                      <p:tavLst>
                                        <p:tav tm="0">
                                          <p:val>
                                            <p:fltVal val="0"/>
                                          </p:val>
                                        </p:tav>
                                        <p:tav tm="100000">
                                          <p:val>
                                            <p:strVal val="#ppt_h"/>
                                          </p:val>
                                        </p:tav>
                                      </p:tavLst>
                                    </p:anim>
                                    <p:animEffect transition="in" filter="fade">
                                      <p:cBhvr>
                                        <p:cTn id="24" dur="500"/>
                                        <p:tgtEl>
                                          <p:spTgt spid="4"/>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0-#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5" grpId="0"/>
      <p:bldP spid="22" grpId="0" bldLvl="0" animBg="1"/>
      <p:bldP spid="21" grpId="0" bldLvl="0" animBg="1"/>
      <p:bldP spid="4"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决策表设计测试用例举例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波形 1"/>
          <p:cNvSpPr/>
          <p:nvPr/>
        </p:nvSpPr>
        <p:spPr>
          <a:xfrm>
            <a:off x="1281430" y="706755"/>
            <a:ext cx="8375015" cy="1649095"/>
          </a:xfrm>
          <a:prstGeom prst="wave">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NextDate (int month, int day, int year)函数规定：输入三个整数：month、day和year，函数的输出为输入日期后一天的日期。例如，输入为2006年3月7日，则函数的输出为2006年3月8日，year满足1920≤year≤2050。</a:t>
            </a:r>
            <a:endParaRPr lang="zh-CN" altLang="en-US"/>
          </a:p>
        </p:txBody>
      </p:sp>
      <p:sp>
        <p:nvSpPr>
          <p:cNvPr id="104" name="文本框 103"/>
          <p:cNvSpPr txBox="1"/>
          <p:nvPr/>
        </p:nvSpPr>
        <p:spPr>
          <a:xfrm>
            <a:off x="742315" y="2199640"/>
            <a:ext cx="5025390" cy="3784600"/>
          </a:xfrm>
          <a:prstGeom prst="rect">
            <a:avLst/>
          </a:prstGeom>
          <a:noFill/>
          <a:ln w="9525">
            <a:noFill/>
          </a:ln>
        </p:spPr>
        <p:txBody>
          <a:bodyPr wrap="square">
            <a:spAutoFit/>
          </a:bodyPr>
          <a:p>
            <a:pPr indent="266700"/>
            <a:r>
              <a:rPr lang="zh-CN" sz="2000" b="0">
                <a:latin typeface="Times New Roman" panose="02020603050405020304" charset="0"/>
                <a:ea typeface="宋体" panose="02010600030101010101" pitchFamily="2" charset="-122"/>
              </a:rPr>
              <a:t>案例分析：步骤如下：</a:t>
            </a:r>
            <a:r>
              <a:rPr lang="en-US" sz="2000" b="0">
                <a:latin typeface="Times New Roman" panose="02020603050405020304" charset="0"/>
                <a:ea typeface="宋体" panose="02010600030101010101" pitchFamily="2" charset="-122"/>
                <a:cs typeface="宋体" panose="02010600030101010101" pitchFamily="2" charset="-122"/>
              </a:rPr>
              <a:t>1. </a:t>
            </a:r>
            <a:r>
              <a:rPr lang="zh-CN" sz="2000" b="0">
                <a:latin typeface="Times New Roman" panose="02020603050405020304" charset="0"/>
                <a:ea typeface="宋体" panose="02010600030101010101" pitchFamily="2" charset="-122"/>
              </a:rPr>
              <a:t>列出所有的条件桩和动作桩</a:t>
            </a:r>
            <a:r>
              <a:rPr lang="en-US" sz="2000" b="0">
                <a:latin typeface="Times New Roman" panose="02020603050405020304" charset="0"/>
                <a:ea typeface="宋体" panose="02010600030101010101" pitchFamily="2" charset="-122"/>
              </a:rPr>
              <a:t>●M1={</a:t>
            </a:r>
            <a:r>
              <a:rPr lang="zh-CN" sz="2000" b="0">
                <a:latin typeface="Times New Roman" panose="02020603050405020304" charset="0"/>
                <a:ea typeface="宋体" panose="02010600030101010101" pitchFamily="2" charset="-122"/>
              </a:rPr>
              <a:t>月份</a:t>
            </a:r>
            <a:r>
              <a:rPr lang="en-US" sz="2000" b="0">
                <a:latin typeface="Times New Roman" panose="02020603050405020304" charset="0"/>
                <a:ea typeface="宋体" panose="02010600030101010101" pitchFamily="2" charset="-122"/>
              </a:rPr>
              <a:t>:30</a:t>
            </a:r>
            <a:r>
              <a:rPr lang="zh-CN" sz="2000" b="0">
                <a:latin typeface="Times New Roman" panose="02020603050405020304" charset="0"/>
                <a:ea typeface="宋体" panose="02010600030101010101" pitchFamily="2" charset="-122"/>
              </a:rPr>
              <a:t>天</a:t>
            </a:r>
            <a:r>
              <a:rPr lang="en-US" sz="2000" b="0">
                <a:latin typeface="Times New Roman" panose="02020603050405020304" charset="0"/>
                <a:ea typeface="宋体" panose="02010600030101010101" pitchFamily="2" charset="-122"/>
              </a:rPr>
              <a:t>/</a:t>
            </a:r>
            <a:r>
              <a:rPr lang="zh-CN" sz="2000" b="0">
                <a:latin typeface="Times New Roman" panose="02020603050405020304" charset="0"/>
                <a:ea typeface="宋体" panose="02010600030101010101" pitchFamily="2" charset="-122"/>
              </a:rPr>
              <a:t>月</a:t>
            </a:r>
            <a:r>
              <a:rPr lang="en-US" sz="2000" b="0">
                <a:latin typeface="Times New Roman" panose="02020603050405020304" charset="0"/>
                <a:ea typeface="宋体" panose="02010600030101010101" pitchFamily="2" charset="-122"/>
              </a:rPr>
              <a:t>}</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M2={</a:t>
            </a:r>
            <a:r>
              <a:rPr lang="zh-CN" sz="2000" b="0">
                <a:latin typeface="Times New Roman" panose="02020603050405020304" charset="0"/>
                <a:ea typeface="宋体" panose="02010600030101010101" pitchFamily="2" charset="-122"/>
              </a:rPr>
              <a:t>月份</a:t>
            </a:r>
            <a:r>
              <a:rPr lang="en-US" sz="2000" b="0">
                <a:latin typeface="Times New Roman" panose="02020603050405020304" charset="0"/>
                <a:ea typeface="宋体" panose="02010600030101010101" pitchFamily="2" charset="-122"/>
              </a:rPr>
              <a:t>: 31</a:t>
            </a:r>
            <a:r>
              <a:rPr lang="zh-CN" sz="2000" b="0">
                <a:latin typeface="Times New Roman" panose="02020603050405020304" charset="0"/>
                <a:ea typeface="宋体" panose="02010600030101010101" pitchFamily="2" charset="-122"/>
              </a:rPr>
              <a:t>天</a:t>
            </a:r>
            <a:r>
              <a:rPr lang="en-US" sz="2000" b="0">
                <a:latin typeface="Times New Roman" panose="02020603050405020304" charset="0"/>
                <a:ea typeface="宋体" panose="02010600030101010101" pitchFamily="2" charset="-122"/>
              </a:rPr>
              <a:t>/</a:t>
            </a:r>
            <a:r>
              <a:rPr lang="zh-CN" sz="2000" b="0">
                <a:latin typeface="Times New Roman" panose="02020603050405020304" charset="0"/>
                <a:ea typeface="宋体" panose="02010600030101010101" pitchFamily="2" charset="-122"/>
              </a:rPr>
              <a:t>月</a:t>
            </a:r>
            <a:r>
              <a:rPr lang="en-US" sz="2000" b="0">
                <a:latin typeface="Times New Roman" panose="02020603050405020304" charset="0"/>
                <a:ea typeface="宋体" panose="02010600030101010101" pitchFamily="2" charset="-122"/>
              </a:rPr>
              <a:t>,12</a:t>
            </a:r>
            <a:r>
              <a:rPr lang="zh-CN" sz="2000" b="0">
                <a:latin typeface="Times New Roman" panose="02020603050405020304" charset="0"/>
                <a:ea typeface="宋体" panose="02010600030101010101" pitchFamily="2" charset="-122"/>
              </a:rPr>
              <a:t>月除外</a:t>
            </a:r>
            <a:r>
              <a:rPr lang="en-US" sz="2000" b="0">
                <a:latin typeface="Times New Roman" panose="02020603050405020304" charset="0"/>
                <a:ea typeface="宋体" panose="02010600030101010101" pitchFamily="2" charset="-122"/>
              </a:rPr>
              <a:t>}</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M3={</a:t>
            </a:r>
            <a:r>
              <a:rPr lang="zh-CN" sz="2000" b="0">
                <a:latin typeface="Times New Roman" panose="02020603050405020304" charset="0"/>
                <a:ea typeface="宋体" panose="02010600030101010101" pitchFamily="2" charset="-122"/>
              </a:rPr>
              <a:t>月份</a:t>
            </a:r>
            <a:r>
              <a:rPr lang="en-US" sz="2000" b="0">
                <a:latin typeface="Times New Roman" panose="02020603050405020304" charset="0"/>
                <a:ea typeface="宋体" panose="02010600030101010101" pitchFamily="2" charset="-122"/>
              </a:rPr>
              <a:t>: 12</a:t>
            </a:r>
            <a:r>
              <a:rPr lang="zh-CN" sz="2000" b="0">
                <a:latin typeface="Times New Roman" panose="02020603050405020304" charset="0"/>
                <a:ea typeface="宋体" panose="02010600030101010101" pitchFamily="2" charset="-122"/>
              </a:rPr>
              <a:t>月</a:t>
            </a:r>
            <a:r>
              <a:rPr lang="en-US" sz="2000" b="0">
                <a:latin typeface="Times New Roman" panose="02020603050405020304" charset="0"/>
                <a:ea typeface="宋体" panose="02010600030101010101" pitchFamily="2" charset="-122"/>
              </a:rPr>
              <a:t>}</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M4={</a:t>
            </a:r>
            <a:r>
              <a:rPr lang="zh-CN" sz="2000" b="0">
                <a:latin typeface="Times New Roman" panose="02020603050405020304" charset="0"/>
                <a:ea typeface="宋体" panose="02010600030101010101" pitchFamily="2" charset="-122"/>
              </a:rPr>
              <a:t>月份</a:t>
            </a:r>
            <a:r>
              <a:rPr lang="en-US" sz="2000" b="0">
                <a:latin typeface="Times New Roman" panose="02020603050405020304" charset="0"/>
                <a:ea typeface="宋体" panose="02010600030101010101" pitchFamily="2" charset="-122"/>
              </a:rPr>
              <a:t>: 2</a:t>
            </a:r>
            <a:r>
              <a:rPr lang="zh-CN" sz="2000" b="0">
                <a:latin typeface="Times New Roman" panose="02020603050405020304" charset="0"/>
                <a:ea typeface="宋体" panose="02010600030101010101" pitchFamily="2" charset="-122"/>
              </a:rPr>
              <a:t>月</a:t>
            </a:r>
            <a:r>
              <a:rPr lang="en-US" sz="2000" b="0">
                <a:latin typeface="Times New Roman" panose="02020603050405020304" charset="0"/>
                <a:ea typeface="宋体" panose="02010600030101010101" pitchFamily="2" charset="-122"/>
              </a:rPr>
              <a:t>}●D1={</a:t>
            </a:r>
            <a:r>
              <a:rPr lang="zh-CN" sz="2000" b="0">
                <a:latin typeface="Times New Roman" panose="02020603050405020304" charset="0"/>
                <a:ea typeface="宋体" panose="02010600030101010101" pitchFamily="2" charset="-122"/>
              </a:rPr>
              <a:t>日期</a:t>
            </a:r>
            <a:r>
              <a:rPr lang="en-US" sz="2000" b="0">
                <a:latin typeface="Times New Roman" panose="02020603050405020304" charset="0"/>
                <a:ea typeface="宋体" panose="02010600030101010101" pitchFamily="2" charset="-122"/>
              </a:rPr>
              <a:t>:1&lt;=</a:t>
            </a:r>
            <a:r>
              <a:rPr lang="zh-CN" sz="2000" b="0">
                <a:latin typeface="Times New Roman" panose="02020603050405020304" charset="0"/>
                <a:ea typeface="宋体" panose="02010600030101010101" pitchFamily="2" charset="-122"/>
              </a:rPr>
              <a:t>日</a:t>
            </a:r>
            <a:r>
              <a:rPr lang="en-US" sz="2000" b="0">
                <a:latin typeface="Times New Roman" panose="02020603050405020304" charset="0"/>
                <a:ea typeface="宋体" panose="02010600030101010101" pitchFamily="2" charset="-122"/>
              </a:rPr>
              <a:t>&lt;=27}</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D2={</a:t>
            </a:r>
            <a:r>
              <a:rPr lang="zh-CN" sz="2000" b="0">
                <a:latin typeface="Times New Roman" panose="02020603050405020304" charset="0"/>
                <a:ea typeface="宋体" panose="02010600030101010101" pitchFamily="2" charset="-122"/>
              </a:rPr>
              <a:t>日期</a:t>
            </a:r>
            <a:r>
              <a:rPr lang="en-US" sz="2000" b="0">
                <a:latin typeface="Times New Roman" panose="02020603050405020304" charset="0"/>
                <a:ea typeface="宋体" panose="02010600030101010101" pitchFamily="2" charset="-122"/>
              </a:rPr>
              <a:t>:</a:t>
            </a:r>
            <a:r>
              <a:rPr lang="zh-CN" sz="2000" b="0">
                <a:latin typeface="Times New Roman" panose="02020603050405020304" charset="0"/>
                <a:ea typeface="宋体" panose="02010600030101010101" pitchFamily="2" charset="-122"/>
              </a:rPr>
              <a:t>日</a:t>
            </a:r>
            <a:r>
              <a:rPr lang="en-US" sz="2000" b="0">
                <a:latin typeface="Times New Roman" panose="02020603050405020304" charset="0"/>
                <a:ea typeface="宋体" panose="02010600030101010101" pitchFamily="2" charset="-122"/>
              </a:rPr>
              <a:t>=28}</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D3={</a:t>
            </a:r>
            <a:r>
              <a:rPr lang="zh-CN" sz="2000" b="0">
                <a:latin typeface="Times New Roman" panose="02020603050405020304" charset="0"/>
                <a:ea typeface="宋体" panose="02010600030101010101" pitchFamily="2" charset="-122"/>
              </a:rPr>
              <a:t>日期</a:t>
            </a:r>
            <a:r>
              <a:rPr lang="en-US" sz="2000" b="0">
                <a:latin typeface="Times New Roman" panose="02020603050405020304" charset="0"/>
                <a:ea typeface="宋体" panose="02010600030101010101" pitchFamily="2" charset="-122"/>
              </a:rPr>
              <a:t>:</a:t>
            </a:r>
            <a:r>
              <a:rPr lang="zh-CN" sz="2000" b="0">
                <a:latin typeface="Times New Roman" panose="02020603050405020304" charset="0"/>
                <a:ea typeface="宋体" panose="02010600030101010101" pitchFamily="2" charset="-122"/>
              </a:rPr>
              <a:t>日</a:t>
            </a:r>
            <a:r>
              <a:rPr lang="en-US" sz="2000" b="0">
                <a:latin typeface="Times New Roman" panose="02020603050405020304" charset="0"/>
                <a:ea typeface="宋体" panose="02010600030101010101" pitchFamily="2" charset="-122"/>
              </a:rPr>
              <a:t>=29} </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D4={</a:t>
            </a:r>
            <a:r>
              <a:rPr lang="zh-CN" sz="2000" b="0">
                <a:latin typeface="Times New Roman" panose="02020603050405020304" charset="0"/>
                <a:ea typeface="宋体" panose="02010600030101010101" pitchFamily="2" charset="-122"/>
              </a:rPr>
              <a:t>日期</a:t>
            </a:r>
            <a:r>
              <a:rPr lang="en-US" sz="2000" b="0">
                <a:latin typeface="Times New Roman" panose="02020603050405020304" charset="0"/>
                <a:ea typeface="宋体" panose="02010600030101010101" pitchFamily="2" charset="-122"/>
              </a:rPr>
              <a:t>:</a:t>
            </a:r>
            <a:r>
              <a:rPr lang="zh-CN" sz="2000" b="0">
                <a:latin typeface="Times New Roman" panose="02020603050405020304" charset="0"/>
                <a:ea typeface="宋体" panose="02010600030101010101" pitchFamily="2" charset="-122"/>
              </a:rPr>
              <a:t>日</a:t>
            </a:r>
            <a:r>
              <a:rPr lang="en-US" sz="2000" b="0">
                <a:latin typeface="Times New Roman" panose="02020603050405020304" charset="0"/>
                <a:ea typeface="宋体" panose="02010600030101010101" pitchFamily="2" charset="-122"/>
              </a:rPr>
              <a:t>=30}</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rPr>
              <a:t>D5={</a:t>
            </a:r>
            <a:r>
              <a:rPr lang="zh-CN" sz="2000" b="0">
                <a:latin typeface="Times New Roman" panose="02020603050405020304" charset="0"/>
                <a:ea typeface="宋体" panose="02010600030101010101" pitchFamily="2" charset="-122"/>
              </a:rPr>
              <a:t>日期</a:t>
            </a:r>
            <a:r>
              <a:rPr lang="en-US" sz="2000" b="0">
                <a:latin typeface="Times New Roman" panose="02020603050405020304" charset="0"/>
                <a:ea typeface="宋体" panose="02010600030101010101" pitchFamily="2" charset="-122"/>
              </a:rPr>
              <a:t>:</a:t>
            </a:r>
            <a:r>
              <a:rPr lang="zh-CN" sz="2000" b="0">
                <a:latin typeface="Times New Roman" panose="02020603050405020304" charset="0"/>
                <a:ea typeface="宋体" panose="02010600030101010101" pitchFamily="2" charset="-122"/>
              </a:rPr>
              <a:t>日</a:t>
            </a:r>
            <a:r>
              <a:rPr lang="en-US" sz="2000" b="0">
                <a:latin typeface="Times New Roman" panose="02020603050405020304" charset="0"/>
                <a:ea typeface="宋体" panose="02010600030101010101" pitchFamily="2" charset="-122"/>
              </a:rPr>
              <a:t>=31}</a:t>
            </a:r>
            <a:endParaRPr lang="en-US" sz="2000" b="0">
              <a:latin typeface="Times New Roman" panose="02020603050405020304" charset="0"/>
              <a:ea typeface="宋体" panose="02010600030101010101" pitchFamily="2" charset="-122"/>
            </a:endParaRPr>
          </a:p>
          <a:p>
            <a:endParaRPr lang="zh-CN" altLang="en-US" sz="2000"/>
          </a:p>
        </p:txBody>
      </p:sp>
      <p:sp>
        <p:nvSpPr>
          <p:cNvPr id="3" name="文本框 2"/>
          <p:cNvSpPr txBox="1"/>
          <p:nvPr/>
        </p:nvSpPr>
        <p:spPr>
          <a:xfrm>
            <a:off x="5532120" y="3037840"/>
            <a:ext cx="3952240" cy="3692525"/>
          </a:xfrm>
          <a:prstGeom prst="rect">
            <a:avLst/>
          </a:prstGeom>
          <a:noFill/>
        </p:spPr>
        <p:txBody>
          <a:bodyPr wrap="none" rtlCol="0" anchor="t">
            <a:spAutoFit/>
          </a:bodyPr>
          <a:p>
            <a:pPr indent="266700"/>
            <a:r>
              <a:rPr lang="en-US">
                <a:latin typeface="Times New Roman" panose="02020603050405020304" charset="0"/>
                <a:ea typeface="宋体" panose="02010600030101010101" pitchFamily="2" charset="-122"/>
                <a:sym typeface="+mn-ea"/>
              </a:rPr>
              <a:t>●Y1={</a:t>
            </a:r>
            <a:r>
              <a:rPr lang="zh-CN">
                <a:latin typeface="Times New Roman" panose="02020603050405020304" charset="0"/>
                <a:ea typeface="宋体" panose="02010600030101010101" pitchFamily="2" charset="-122"/>
                <a:sym typeface="+mn-ea"/>
              </a:rPr>
              <a:t>年</a:t>
            </a:r>
            <a:r>
              <a:rPr lang="en-US">
                <a:latin typeface="Times New Roman" panose="02020603050405020304" charset="0"/>
                <a:ea typeface="宋体" panose="02010600030101010101" pitchFamily="2" charset="-122"/>
                <a:sym typeface="+mn-ea"/>
              </a:rPr>
              <a:t>:</a:t>
            </a:r>
            <a:r>
              <a:rPr lang="zh-CN">
                <a:latin typeface="Times New Roman" panose="02020603050405020304" charset="0"/>
                <a:ea typeface="宋体" panose="02010600030101010101" pitchFamily="2" charset="-122"/>
                <a:sym typeface="+mn-ea"/>
              </a:rPr>
              <a:t>闰年</a:t>
            </a:r>
            <a:r>
              <a:rPr lang="en-US">
                <a:latin typeface="Times New Roman" panose="02020603050405020304" charset="0"/>
                <a:ea typeface="宋体" panose="02010600030101010101" pitchFamily="2" charset="-122"/>
                <a:sym typeface="+mn-ea"/>
              </a:rPr>
              <a:t>}</a:t>
            </a:r>
            <a:r>
              <a:rPr lang="zh-CN">
                <a:latin typeface="Times New Roman" panose="02020603050405020304" charset="0"/>
                <a:ea typeface="宋体" panose="02010600030101010101" pitchFamily="2" charset="-122"/>
                <a:sym typeface="+mn-ea"/>
              </a:rPr>
              <a:t>，</a:t>
            </a:r>
            <a:r>
              <a:rPr lang="en-US">
                <a:latin typeface="Times New Roman" panose="02020603050405020304" charset="0"/>
                <a:ea typeface="宋体" panose="02010600030101010101" pitchFamily="2" charset="-122"/>
                <a:sym typeface="+mn-ea"/>
              </a:rPr>
              <a:t>Y2={</a:t>
            </a:r>
            <a:r>
              <a:rPr lang="zh-CN">
                <a:latin typeface="Times New Roman" panose="02020603050405020304" charset="0"/>
                <a:ea typeface="宋体" panose="02010600030101010101" pitchFamily="2" charset="-122"/>
                <a:sym typeface="+mn-ea"/>
              </a:rPr>
              <a:t>年</a:t>
            </a:r>
            <a:r>
              <a:rPr lang="en-US">
                <a:latin typeface="Times New Roman" panose="02020603050405020304" charset="0"/>
                <a:ea typeface="宋体" panose="02010600030101010101" pitchFamily="2" charset="-122"/>
                <a:sym typeface="+mn-ea"/>
              </a:rPr>
              <a:t>:</a:t>
            </a:r>
            <a:r>
              <a:rPr lang="zh-CN">
                <a:latin typeface="Times New Roman" panose="02020603050405020304" charset="0"/>
                <a:ea typeface="宋体" panose="02010600030101010101" pitchFamily="2" charset="-122"/>
                <a:sym typeface="+mn-ea"/>
              </a:rPr>
              <a:t>平年</a:t>
            </a:r>
            <a:r>
              <a:rPr lang="en-US">
                <a:latin typeface="Times New Roman" panose="02020603050405020304" charset="0"/>
                <a:ea typeface="宋体" panose="02010600030101010101" pitchFamily="2" charset="-122"/>
                <a:sym typeface="+mn-ea"/>
              </a:rPr>
              <a:t>}  </a:t>
            </a:r>
            <a:r>
              <a:rPr lang="zh-CN">
                <a:latin typeface="Times New Roman" panose="02020603050405020304" charset="0"/>
                <a:ea typeface="宋体" panose="02010600030101010101" pitchFamily="2" charset="-122"/>
                <a:sym typeface="+mn-ea"/>
              </a:rPr>
              <a:t>注：二月：平年</a:t>
            </a:r>
            <a:r>
              <a:rPr lang="en-US">
                <a:latin typeface="Times New Roman" panose="02020603050405020304" charset="0"/>
                <a:ea typeface="宋体" panose="02010600030101010101" pitchFamily="2" charset="-122"/>
                <a:sym typeface="+mn-ea"/>
              </a:rPr>
              <a:t>28</a:t>
            </a:r>
            <a:r>
              <a:rPr lang="zh-CN">
                <a:latin typeface="Times New Roman" panose="02020603050405020304" charset="0"/>
                <a:ea typeface="宋体" panose="02010600030101010101" pitchFamily="2" charset="-122"/>
                <a:sym typeface="+mn-ea"/>
              </a:rPr>
              <a:t>天，闰年</a:t>
            </a:r>
            <a:r>
              <a:rPr lang="en-US">
                <a:latin typeface="Times New Roman" panose="02020603050405020304" charset="0"/>
                <a:ea typeface="宋体" panose="02010600030101010101" pitchFamily="2" charset="-122"/>
                <a:sym typeface="+mn-ea"/>
              </a:rPr>
              <a:t>29</a:t>
            </a:r>
            <a:r>
              <a:rPr lang="zh-CN">
                <a:latin typeface="Times New Roman" panose="02020603050405020304" charset="0"/>
                <a:ea typeface="宋体" panose="02010600030101010101" pitchFamily="2" charset="-122"/>
                <a:sym typeface="+mn-ea"/>
              </a:rPr>
              <a:t>天条件桩：</a:t>
            </a:r>
            <a:r>
              <a:rPr lang="en-US">
                <a:latin typeface="Times New Roman" panose="02020603050405020304" charset="0"/>
                <a:ea typeface="宋体" panose="02010600030101010101" pitchFamily="2" charset="-122"/>
                <a:sym typeface="+mn-ea"/>
              </a:rPr>
              <a:t>C1</a:t>
            </a:r>
            <a:r>
              <a:rPr lang="zh-CN">
                <a:latin typeface="Times New Roman" panose="02020603050405020304" charset="0"/>
                <a:ea typeface="宋体" panose="02010600030101010101" pitchFamily="2" charset="-122"/>
                <a:sym typeface="+mn-ea"/>
              </a:rPr>
              <a:t>：月份在</a:t>
            </a:r>
            <a:r>
              <a:rPr lang="en-US">
                <a:latin typeface="Times New Roman" panose="02020603050405020304" charset="0"/>
                <a:ea typeface="宋体" panose="02010600030101010101" pitchFamily="2" charset="-122"/>
                <a:sym typeface="+mn-ea"/>
              </a:rPr>
              <a:t>{M1,M2,M3,M4}</a:t>
            </a:r>
            <a:r>
              <a:rPr lang="zh-CN">
                <a:latin typeface="Times New Roman" panose="02020603050405020304" charset="0"/>
                <a:ea typeface="宋体" panose="02010600030101010101" pitchFamily="2" charset="-122"/>
                <a:sym typeface="+mn-ea"/>
              </a:rPr>
              <a:t>中之一</a:t>
            </a:r>
            <a:r>
              <a:rPr lang="en-US">
                <a:latin typeface="Times New Roman" panose="02020603050405020304" charset="0"/>
                <a:ea typeface="宋体" panose="02010600030101010101" pitchFamily="2" charset="-122"/>
                <a:sym typeface="+mn-ea"/>
              </a:rPr>
              <a:t>C2</a:t>
            </a:r>
            <a:r>
              <a:rPr lang="zh-CN">
                <a:latin typeface="Times New Roman" panose="02020603050405020304" charset="0"/>
                <a:ea typeface="宋体" panose="02010600030101010101" pitchFamily="2" charset="-122"/>
                <a:sym typeface="+mn-ea"/>
              </a:rPr>
              <a:t>：日期在</a:t>
            </a:r>
            <a:r>
              <a:rPr lang="en-US">
                <a:latin typeface="Times New Roman" panose="02020603050405020304" charset="0"/>
                <a:ea typeface="宋体" panose="02010600030101010101" pitchFamily="2" charset="-122"/>
                <a:sym typeface="+mn-ea"/>
              </a:rPr>
              <a:t>{D1,D2,D3,D4 ,D5}</a:t>
            </a:r>
            <a:r>
              <a:rPr lang="zh-CN">
                <a:latin typeface="Times New Roman" panose="02020603050405020304" charset="0"/>
                <a:ea typeface="宋体" panose="02010600030101010101" pitchFamily="2" charset="-122"/>
                <a:sym typeface="+mn-ea"/>
              </a:rPr>
              <a:t>中之一</a:t>
            </a:r>
            <a:r>
              <a:rPr lang="en-US">
                <a:latin typeface="Times New Roman" panose="02020603050405020304" charset="0"/>
                <a:ea typeface="宋体" panose="02010600030101010101" pitchFamily="2" charset="-122"/>
                <a:sym typeface="+mn-ea"/>
              </a:rPr>
              <a:t>C3</a:t>
            </a:r>
            <a:r>
              <a:rPr lang="zh-CN">
                <a:latin typeface="Times New Roman" panose="02020603050405020304" charset="0"/>
                <a:ea typeface="宋体" panose="02010600030101010101" pitchFamily="2" charset="-122"/>
                <a:sym typeface="+mn-ea"/>
              </a:rPr>
              <a:t>：年在</a:t>
            </a:r>
            <a:r>
              <a:rPr lang="en-US">
                <a:latin typeface="Times New Roman" panose="02020603050405020304" charset="0"/>
                <a:ea typeface="宋体" panose="02010600030101010101" pitchFamily="2" charset="-122"/>
                <a:sym typeface="+mn-ea"/>
              </a:rPr>
              <a:t>{Y1,Y2}</a:t>
            </a:r>
            <a:r>
              <a:rPr lang="zh-CN">
                <a:latin typeface="Times New Roman" panose="02020603050405020304" charset="0"/>
                <a:ea typeface="宋体" panose="02010600030101010101" pitchFamily="2" charset="-122"/>
                <a:sym typeface="+mn-ea"/>
              </a:rPr>
              <a:t>中之一动作桩：</a:t>
            </a:r>
            <a:r>
              <a:rPr lang="en-US">
                <a:latin typeface="Times New Roman" panose="02020603050405020304" charset="0"/>
                <a:ea typeface="宋体" panose="02010600030101010101" pitchFamily="2" charset="-122"/>
                <a:sym typeface="+mn-ea"/>
              </a:rPr>
              <a:t>A1</a:t>
            </a:r>
            <a:r>
              <a:rPr lang="zh-CN">
                <a:latin typeface="Times New Roman" panose="02020603050405020304" charset="0"/>
                <a:ea typeface="宋体" panose="02010600030101010101" pitchFamily="2" charset="-122"/>
                <a:sym typeface="+mn-ea"/>
              </a:rPr>
              <a:t>：不可能</a:t>
            </a:r>
            <a:r>
              <a:rPr lang="en-US">
                <a:latin typeface="Times New Roman" panose="02020603050405020304" charset="0"/>
                <a:ea typeface="宋体" panose="02010600030101010101" pitchFamily="2" charset="-122"/>
                <a:sym typeface="+mn-ea"/>
              </a:rPr>
              <a:t>A2</a:t>
            </a:r>
            <a:r>
              <a:rPr lang="zh-CN">
                <a:latin typeface="Times New Roman" panose="02020603050405020304" charset="0"/>
                <a:ea typeface="宋体" panose="02010600030101010101" pitchFamily="2" charset="-122"/>
                <a:sym typeface="+mn-ea"/>
              </a:rPr>
              <a:t>：日期增</a:t>
            </a:r>
            <a:r>
              <a:rPr lang="en-US">
                <a:latin typeface="Times New Roman" panose="02020603050405020304" charset="0"/>
                <a:ea typeface="宋体" panose="02010600030101010101" pitchFamily="2" charset="-122"/>
                <a:sym typeface="+mn-ea"/>
              </a:rPr>
              <a:t>1A3</a:t>
            </a:r>
            <a:r>
              <a:rPr lang="zh-CN">
                <a:latin typeface="Times New Roman" panose="02020603050405020304" charset="0"/>
                <a:ea typeface="宋体" panose="02010600030101010101" pitchFamily="2" charset="-122"/>
                <a:sym typeface="+mn-ea"/>
              </a:rPr>
              <a:t>：日期复位</a:t>
            </a:r>
            <a:r>
              <a:rPr lang="en-US">
                <a:latin typeface="Times New Roman" panose="02020603050405020304" charset="0"/>
                <a:ea typeface="宋体" panose="02010600030101010101" pitchFamily="2" charset="-122"/>
                <a:sym typeface="+mn-ea"/>
              </a:rPr>
              <a:t>(</a:t>
            </a:r>
            <a:r>
              <a:rPr lang="zh-CN">
                <a:latin typeface="Times New Roman" panose="02020603050405020304" charset="0"/>
                <a:ea typeface="宋体" panose="02010600030101010101" pitchFamily="2" charset="-122"/>
                <a:sym typeface="+mn-ea"/>
              </a:rPr>
              <a:t>置</a:t>
            </a:r>
            <a:r>
              <a:rPr lang="en-US">
                <a:latin typeface="Times New Roman" panose="02020603050405020304" charset="0"/>
                <a:ea typeface="宋体" panose="02010600030101010101" pitchFamily="2" charset="-122"/>
                <a:sym typeface="+mn-ea"/>
              </a:rPr>
              <a:t>1)A4</a:t>
            </a:r>
            <a:r>
              <a:rPr lang="zh-CN">
                <a:latin typeface="Times New Roman" panose="02020603050405020304" charset="0"/>
                <a:ea typeface="宋体" panose="02010600030101010101" pitchFamily="2" charset="-122"/>
                <a:sym typeface="+mn-ea"/>
              </a:rPr>
              <a:t>：月份增</a:t>
            </a:r>
            <a:r>
              <a:rPr lang="en-US">
                <a:latin typeface="Times New Roman" panose="02020603050405020304" charset="0"/>
                <a:ea typeface="宋体" panose="02010600030101010101" pitchFamily="2" charset="-122"/>
                <a:sym typeface="+mn-ea"/>
              </a:rPr>
              <a:t>1A5</a:t>
            </a:r>
            <a:r>
              <a:rPr lang="zh-CN">
                <a:latin typeface="Times New Roman" panose="02020603050405020304" charset="0"/>
                <a:ea typeface="宋体" panose="02010600030101010101" pitchFamily="2" charset="-122"/>
                <a:sym typeface="+mn-ea"/>
              </a:rPr>
              <a:t>：月份复位</a:t>
            </a:r>
            <a:r>
              <a:rPr lang="en-US">
                <a:latin typeface="Times New Roman" panose="02020603050405020304" charset="0"/>
                <a:ea typeface="宋体" panose="02010600030101010101" pitchFamily="2" charset="-122"/>
                <a:sym typeface="+mn-ea"/>
              </a:rPr>
              <a:t>(</a:t>
            </a:r>
            <a:r>
              <a:rPr lang="zh-CN">
                <a:latin typeface="Times New Roman" panose="02020603050405020304" charset="0"/>
                <a:ea typeface="宋体" panose="02010600030101010101" pitchFamily="2" charset="-122"/>
                <a:sym typeface="+mn-ea"/>
              </a:rPr>
              <a:t>置</a:t>
            </a:r>
            <a:r>
              <a:rPr lang="en-US">
                <a:latin typeface="Times New Roman" panose="02020603050405020304" charset="0"/>
                <a:ea typeface="宋体" panose="02010600030101010101" pitchFamily="2" charset="-122"/>
                <a:sym typeface="+mn-ea"/>
              </a:rPr>
              <a:t>1)A6</a:t>
            </a:r>
            <a:r>
              <a:rPr lang="zh-CN">
                <a:latin typeface="Times New Roman" panose="02020603050405020304" charset="0"/>
                <a:ea typeface="宋体" panose="02010600030101010101" pitchFamily="2" charset="-122"/>
                <a:sym typeface="+mn-ea"/>
              </a:rPr>
              <a:t>：年增</a:t>
            </a:r>
            <a:r>
              <a:rPr lang="en-US">
                <a:latin typeface="Times New Roman" panose="02020603050405020304" charset="0"/>
                <a:ea typeface="宋体" panose="02010600030101010101" pitchFamily="2" charset="-122"/>
                <a:sym typeface="+mn-ea"/>
              </a:rPr>
              <a:t>1</a:t>
            </a:r>
            <a:endParaRPr lang="zh-CN" altLang="en-US"/>
          </a:p>
        </p:txBody>
      </p:sp>
    </p:spTree>
  </p:cSld>
  <p:clrMapOvr>
    <a:masterClrMapping/>
  </p:clrMapOvr>
  <p:transition advTm="6599">
    <p:random/>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决策表设计测试用例举例</a:t>
            </a:r>
            <a:endParaRPr kumimoji="1"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104" name="文本框 103"/>
          <p:cNvSpPr txBox="1"/>
          <p:nvPr/>
        </p:nvSpPr>
        <p:spPr>
          <a:xfrm>
            <a:off x="2284095" y="1557020"/>
            <a:ext cx="6351905" cy="1938020"/>
          </a:xfrm>
          <a:prstGeom prst="rect">
            <a:avLst/>
          </a:prstGeom>
          <a:noFill/>
          <a:ln w="9525">
            <a:noFill/>
          </a:ln>
        </p:spPr>
        <p:txBody>
          <a:bodyPr wrap="square">
            <a:spAutoFit/>
          </a:bodyPr>
          <a:p>
            <a:pPr indent="266700"/>
            <a:r>
              <a:rPr lang="en-US" sz="2000" b="0">
                <a:latin typeface="Times New Roman" panose="02020603050405020304" charset="0"/>
                <a:ea typeface="宋体" panose="02010600030101010101" pitchFamily="2" charset="-122"/>
                <a:cs typeface="宋体" panose="02010600030101010101" pitchFamily="2" charset="-122"/>
              </a:rPr>
              <a:t>2. </a:t>
            </a:r>
            <a:r>
              <a:rPr lang="zh-CN" sz="2000" b="0">
                <a:latin typeface="Times New Roman" panose="02020603050405020304" charset="0"/>
                <a:ea typeface="宋体" panose="02010600030101010101" pitchFamily="2" charset="-122"/>
              </a:rPr>
              <a:t>确定规则的个数这个案例中，条件的取值并不是取</a:t>
            </a:r>
            <a:r>
              <a:rPr lang="en-US" sz="2000" b="0">
                <a:latin typeface="Times New Roman" panose="02020603050405020304" charset="0"/>
                <a:ea typeface="宋体" panose="02010600030101010101" pitchFamily="2" charset="-122"/>
              </a:rPr>
              <a:t>0,1</a:t>
            </a:r>
            <a:r>
              <a:rPr lang="zh-CN" sz="2000" b="0">
                <a:latin typeface="Times New Roman" panose="02020603050405020304" charset="0"/>
                <a:ea typeface="宋体" panose="02010600030101010101" pitchFamily="2" charset="-122"/>
              </a:rPr>
              <a:t>，在此情形下，规则的个数有每一个条件中的项的个数来确定；另外月份取</a:t>
            </a:r>
            <a:r>
              <a:rPr lang="en-US" sz="2000" b="0">
                <a:latin typeface="Times New Roman" panose="02020603050405020304" charset="0"/>
                <a:ea typeface="宋体" panose="02010600030101010101" pitchFamily="2" charset="-122"/>
              </a:rPr>
              <a:t>28,29</a:t>
            </a:r>
            <a:r>
              <a:rPr lang="zh-CN" sz="2000" b="0">
                <a:latin typeface="Times New Roman" panose="02020603050405020304" charset="0"/>
                <a:ea typeface="宋体" panose="02010600030101010101" pitchFamily="2" charset="-122"/>
              </a:rPr>
              <a:t>时只有两种情况，所以在</a:t>
            </a:r>
            <a:r>
              <a:rPr lang="en-US" sz="2000" b="0">
                <a:latin typeface="Times New Roman" panose="02020603050405020304" charset="0"/>
                <a:ea typeface="宋体" panose="02010600030101010101" pitchFamily="2" charset="-122"/>
              </a:rPr>
              <a:t>C</a:t>
            </a:r>
            <a:r>
              <a:rPr lang="en-US" sz="2000" b="0">
                <a:latin typeface="Times New Roman" panose="02020603050405020304" charset="0"/>
                <a:ea typeface="宋体" panose="02010600030101010101" pitchFamily="2" charset="-122"/>
                <a:cs typeface="宋体" panose="02010600030101010101" pitchFamily="2" charset="-122"/>
              </a:rPr>
              <a:t>1</a:t>
            </a:r>
            <a:r>
              <a:rPr lang="zh-CN" sz="2000" b="0">
                <a:latin typeface="Times New Roman" panose="02020603050405020304" charset="0"/>
                <a:ea typeface="宋体" panose="02010600030101010101" pitchFamily="2" charset="-122"/>
              </a:rPr>
              <a:t>中取</a:t>
            </a:r>
            <a:r>
              <a:rPr lang="en-US" sz="2000" b="0">
                <a:latin typeface="Times New Roman" panose="02020603050405020304" charset="0"/>
                <a:ea typeface="宋体" panose="02010600030101010101" pitchFamily="2" charset="-122"/>
              </a:rPr>
              <a:t>M4</a:t>
            </a:r>
            <a:r>
              <a:rPr lang="zh-CN" sz="2000" b="0">
                <a:latin typeface="Times New Roman" panose="02020603050405020304" charset="0"/>
                <a:ea typeface="宋体" panose="02010600030101010101" pitchFamily="2" charset="-122"/>
              </a:rPr>
              <a:t>时会去考虑闰年和平年问题。经过仔细计算总的规则数为</a:t>
            </a:r>
            <a:r>
              <a:rPr lang="en-US" sz="2000" b="0">
                <a:latin typeface="Times New Roman" panose="02020603050405020304" charset="0"/>
                <a:ea typeface="宋体" panose="02010600030101010101" pitchFamily="2" charset="-122"/>
              </a:rPr>
              <a:t>4*</a:t>
            </a:r>
            <a:r>
              <a:rPr lang="en-US" sz="2000" b="0">
                <a:latin typeface="Times New Roman" panose="02020603050405020304" charset="0"/>
                <a:ea typeface="宋体" panose="02010600030101010101" pitchFamily="2" charset="-122"/>
                <a:cs typeface="宋体" panose="02010600030101010101" pitchFamily="2" charset="-122"/>
              </a:rPr>
              <a:t>5</a:t>
            </a:r>
            <a:r>
              <a:rPr lang="en-US"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cs typeface="宋体" panose="02010600030101010101" pitchFamily="2" charset="-122"/>
              </a:rPr>
              <a:t>2</a:t>
            </a:r>
            <a:r>
              <a:rPr lang="en-US"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cs typeface="宋体" panose="02010600030101010101" pitchFamily="2" charset="-122"/>
              </a:rPr>
              <a:t>22</a:t>
            </a:r>
            <a:r>
              <a:rPr lang="zh-CN" sz="2000" b="0">
                <a:latin typeface="Times New Roman" panose="02020603050405020304" charset="0"/>
                <a:ea typeface="宋体" panose="02010600030101010101" pitchFamily="2" charset="-122"/>
              </a:rPr>
              <a:t>便可以。</a:t>
            </a:r>
            <a:endParaRPr lang="zh-CN" altLang="en-US" sz="2000"/>
          </a:p>
        </p:txBody>
      </p:sp>
    </p:spTree>
  </p:cSld>
  <p:clrMapOvr>
    <a:masterClrMapping/>
  </p:clrMapOvr>
  <p:transition advTm="6599">
    <p:random/>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决策表设计测试用例举例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4" name="文本框 103"/>
          <p:cNvSpPr txBox="1"/>
          <p:nvPr/>
        </p:nvSpPr>
        <p:spPr>
          <a:xfrm>
            <a:off x="760095" y="736600"/>
            <a:ext cx="7731760" cy="1014730"/>
          </a:xfrm>
          <a:prstGeom prst="rect">
            <a:avLst/>
          </a:prstGeom>
          <a:noFill/>
          <a:ln w="9525">
            <a:noFill/>
          </a:ln>
        </p:spPr>
        <p:txBody>
          <a:bodyPr wrap="square">
            <a:spAutoFit/>
          </a:bodyPr>
          <a:p>
            <a:pPr indent="266700"/>
            <a:r>
              <a:rPr lang="en-US" sz="2000" b="0">
                <a:latin typeface="Times New Roman" panose="02020603050405020304" charset="0"/>
                <a:ea typeface="宋体" panose="02010600030101010101" pitchFamily="2" charset="-122"/>
              </a:rPr>
              <a:t>3. </a:t>
            </a:r>
            <a:r>
              <a:rPr lang="zh-CN" sz="2000" b="0">
                <a:latin typeface="Times New Roman" panose="02020603050405020304" charset="0"/>
                <a:ea typeface="宋体" panose="02010600030101010101" pitchFamily="2" charset="-122"/>
              </a:rPr>
              <a:t>填入条件项和动作项，形成初始决策表并简化，得到如表</a:t>
            </a:r>
            <a:r>
              <a:rPr lang="en-US" sz="2000" b="0">
                <a:latin typeface="Times New Roman" panose="02020603050405020304" charset="0"/>
                <a:ea typeface="宋体" panose="02010600030101010101" pitchFamily="2" charset="-122"/>
                <a:cs typeface="宋体" panose="02010600030101010101" pitchFamily="2" charset="-122"/>
              </a:rPr>
              <a:t>8</a:t>
            </a:r>
            <a:r>
              <a:rPr lang="en-US"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cs typeface="宋体" panose="02010600030101010101" pitchFamily="2" charset="-122"/>
              </a:rPr>
              <a:t>2</a:t>
            </a:r>
            <a:r>
              <a:rPr lang="zh-CN" sz="2000" b="0">
                <a:latin typeface="Times New Roman" panose="02020603050405020304" charset="0"/>
                <a:ea typeface="宋体" panose="02010600030101010101" pitchFamily="2" charset="-122"/>
              </a:rPr>
              <a:t>所示的决策表。</a:t>
            </a:r>
            <a:endParaRPr lang="zh-CN" sz="2000" b="0">
              <a:latin typeface="Times New Roman" panose="02020603050405020304" charset="0"/>
              <a:ea typeface="宋体" panose="02010600030101010101" pitchFamily="2" charset="-122"/>
            </a:endParaRPr>
          </a:p>
          <a:p>
            <a:endParaRPr lang="zh-CN" altLang="en-US" sz="2000"/>
          </a:p>
        </p:txBody>
      </p:sp>
      <p:graphicFrame>
        <p:nvGraphicFramePr>
          <p:cNvPr id="2" name="表格 1"/>
          <p:cNvGraphicFramePr/>
          <p:nvPr>
            <p:custDataLst>
              <p:tags r:id="rId1"/>
            </p:custDataLst>
          </p:nvPr>
        </p:nvGraphicFramePr>
        <p:xfrm>
          <a:off x="1697355" y="1617038"/>
          <a:ext cx="8169275" cy="4517390"/>
        </p:xfrm>
        <a:graphic>
          <a:graphicData uri="http://schemas.openxmlformats.org/drawingml/2006/table">
            <a:tbl>
              <a:tblPr firstRow="1" bandRow="1">
                <a:tableStyleId>{5940675A-B579-460E-94D1-54222C63F5DA}</a:tableStyleId>
              </a:tblPr>
              <a:tblGrid>
                <a:gridCol w="1587500"/>
                <a:gridCol w="638810"/>
                <a:gridCol w="657225"/>
                <a:gridCol w="695960"/>
                <a:gridCol w="640715"/>
                <a:gridCol w="647065"/>
                <a:gridCol w="633095"/>
                <a:gridCol w="728345"/>
                <a:gridCol w="657225"/>
                <a:gridCol w="597535"/>
                <a:gridCol w="685800"/>
              </a:tblGrid>
              <a:tr h="377190">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5</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6</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7</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8</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9</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10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5285">
                <a:tc>
                  <a:txBody>
                    <a:bodyPr/>
                    <a:p>
                      <a:pPr indent="0" algn="ctr">
                        <a:buNone/>
                      </a:pPr>
                      <a:r>
                        <a:rPr lang="en-US" sz="2000" b="0">
                          <a:latin typeface="Calibri" panose="020F0502020204030204" charset="0"/>
                          <a:cs typeface="Calibri" panose="020F0502020204030204" charset="0"/>
                        </a:rPr>
                        <a:t>C</a:t>
                      </a:r>
                      <a:r>
                        <a:rPr lang="en-US" sz="2000" b="0">
                          <a:latin typeface="宋体" panose="02010600030101010101" pitchFamily="2" charset="-122"/>
                          <a:ea typeface="宋体" panose="02010600030101010101" pitchFamily="2" charset="-122"/>
                          <a:cs typeface="宋体" panose="02010600030101010101" pitchFamily="2" charset="-122"/>
                        </a:rPr>
                        <a:t>1:月</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7190">
                <a:tc>
                  <a:txBody>
                    <a:bodyPr/>
                    <a:p>
                      <a:pPr indent="0" algn="ctr">
                        <a:buNone/>
                      </a:pPr>
                      <a:r>
                        <a:rPr lang="en-US" sz="2000" b="0">
                          <a:latin typeface="Calibri" panose="020F0502020204030204" charset="0"/>
                          <a:cs typeface="Calibri" panose="020F0502020204030204" charset="0"/>
                        </a:rPr>
                        <a:t>C</a:t>
                      </a:r>
                      <a:r>
                        <a:rPr lang="en-US" sz="2000" b="0">
                          <a:latin typeface="宋体" panose="02010600030101010101" pitchFamily="2" charset="-122"/>
                          <a:ea typeface="宋体" panose="02010600030101010101" pitchFamily="2" charset="-122"/>
                          <a:cs typeface="宋体" panose="02010600030101010101" pitchFamily="2" charset="-122"/>
                        </a:rPr>
                        <a:t>2:日</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D5</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D5</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6555">
                <a:tc>
                  <a:txBody>
                    <a:bodyPr/>
                    <a:p>
                      <a:pPr indent="0" algn="ctr">
                        <a:buNone/>
                      </a:pPr>
                      <a:r>
                        <a:rPr lang="en-US" sz="2000" b="0">
                          <a:latin typeface="Calibri" panose="020F0502020204030204" charset="0"/>
                          <a:cs typeface="Calibri" panose="020F0502020204030204" charset="0"/>
                        </a:rPr>
                        <a:t>C</a:t>
                      </a:r>
                      <a:r>
                        <a:rPr lang="en-US" sz="2000" b="0">
                          <a:latin typeface="宋体" panose="02010600030101010101" pitchFamily="2" charset="-122"/>
                          <a:ea typeface="宋体" panose="02010600030101010101" pitchFamily="2" charset="-122"/>
                          <a:cs typeface="宋体" panose="02010600030101010101" pitchFamily="2" charset="-122"/>
                        </a:rPr>
                        <a:t>3:年</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5920">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A1不可能</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782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A2日期+1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5120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A3日期复位（置1）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655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A4月份+1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5247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A5月份复位（置1）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7190">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A6年+1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3" name="文本框 2"/>
          <p:cNvSpPr txBox="1"/>
          <p:nvPr/>
        </p:nvSpPr>
        <p:spPr>
          <a:xfrm>
            <a:off x="904240" y="3568700"/>
            <a:ext cx="7731760" cy="414020"/>
          </a:xfrm>
          <a:prstGeom prst="rect">
            <a:avLst/>
          </a:prstGeom>
          <a:noFill/>
          <a:ln w="9525">
            <a:noFill/>
          </a:ln>
        </p:spPr>
        <p:txBody>
          <a:bodyPr wrap="square">
            <a:spAutoFit/>
          </a:bodyPr>
          <a:p>
            <a:pPr indent="0"/>
            <a:r>
              <a:rPr lang="en-US" sz="1050" b="0">
                <a:latin typeface="Calibri" panose="020F0502020204030204" charset="0"/>
                <a:ea typeface="宋体" panose="02010600030101010101" pitchFamily="2" charset="-122"/>
                <a:cs typeface="Times New Roman" panose="02020603050405020304" charset="0"/>
              </a:rPr>
              <a:t> </a:t>
            </a:r>
            <a:endParaRPr lang="zh-CN" altLang="en-US"/>
          </a:p>
        </p:txBody>
      </p:sp>
      <p:sp>
        <p:nvSpPr>
          <p:cNvPr id="6" name="文本框 5"/>
          <p:cNvSpPr txBox="1"/>
          <p:nvPr/>
        </p:nvSpPr>
        <p:spPr>
          <a:xfrm>
            <a:off x="3135630" y="6134735"/>
            <a:ext cx="5080000" cy="398780"/>
          </a:xfrm>
          <a:prstGeom prst="rect">
            <a:avLst/>
          </a:prstGeom>
          <a:noFill/>
          <a:ln w="9525">
            <a:noFill/>
          </a:ln>
        </p:spPr>
        <p:txBody>
          <a:bodyPr>
            <a:spAutoFit/>
          </a:bodyPr>
          <a:p>
            <a:pPr indent="266700" algn="ctr"/>
            <a:r>
              <a:rPr lang="zh-CN" sz="2000" b="0">
                <a:latin typeface="Times New Roman" panose="02020603050405020304" charset="0"/>
                <a:ea typeface="宋体" panose="02010600030101010101" pitchFamily="2" charset="-122"/>
              </a:rPr>
              <a:t>表</a:t>
            </a:r>
            <a:r>
              <a:rPr lang="en-US" sz="2000" b="0">
                <a:latin typeface="Times New Roman" panose="02020603050405020304" charset="0"/>
                <a:ea typeface="宋体" panose="02010600030101010101" pitchFamily="2" charset="-122"/>
                <a:cs typeface="宋体" panose="02010600030101010101" pitchFamily="2" charset="-122"/>
              </a:rPr>
              <a:t>8</a:t>
            </a:r>
            <a:r>
              <a:rPr lang="en-US"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cs typeface="宋体" panose="02010600030101010101" pitchFamily="2" charset="-122"/>
              </a:rPr>
              <a:t>2 </a:t>
            </a:r>
            <a:r>
              <a:rPr lang="en-US" sz="2000" b="0">
                <a:latin typeface="Times New Roman" panose="02020603050405020304" charset="0"/>
                <a:ea typeface="宋体" panose="02010600030101010101" pitchFamily="2" charset="-122"/>
              </a:rPr>
              <a:t>NextDate</a:t>
            </a:r>
            <a:r>
              <a:rPr lang="zh-CN" sz="2000" b="0">
                <a:latin typeface="Times New Roman" panose="02020603050405020304" charset="0"/>
                <a:ea typeface="宋体" panose="02010600030101010101" pitchFamily="2" charset="-122"/>
              </a:rPr>
              <a:t>的决策表</a:t>
            </a:r>
            <a:endParaRPr lang="zh-CN" altLang="en-US" sz="2000"/>
          </a:p>
        </p:txBody>
      </p:sp>
    </p:spTree>
  </p:cSld>
  <p:clrMapOvr>
    <a:masterClrMapping/>
  </p:clrMapOvr>
  <p:transition advTm="6599">
    <p:random/>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决策表设计测试用例举例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aphicFrame>
        <p:nvGraphicFramePr>
          <p:cNvPr id="5" name="表格 4"/>
          <p:cNvGraphicFramePr/>
          <p:nvPr>
            <p:custDataLst>
              <p:tags r:id="rId1"/>
            </p:custDataLst>
          </p:nvPr>
        </p:nvGraphicFramePr>
        <p:xfrm>
          <a:off x="1697990" y="1382874"/>
          <a:ext cx="8651875" cy="3877310"/>
        </p:xfrm>
        <a:graphic>
          <a:graphicData uri="http://schemas.openxmlformats.org/drawingml/2006/table">
            <a:tbl>
              <a:tblPr firstRow="1" bandRow="1">
                <a:tableStyleId>{5940675A-B579-460E-94D1-54222C63F5DA}</a:tableStyleId>
              </a:tblPr>
              <a:tblGrid>
                <a:gridCol w="2026285"/>
                <a:gridCol w="577215"/>
                <a:gridCol w="576580"/>
                <a:gridCol w="518160"/>
                <a:gridCol w="512445"/>
                <a:gridCol w="530860"/>
                <a:gridCol w="514985"/>
                <a:gridCol w="516255"/>
                <a:gridCol w="553720"/>
                <a:gridCol w="582295"/>
                <a:gridCol w="579120"/>
                <a:gridCol w="582930"/>
                <a:gridCol w="581025"/>
              </a:tblGrid>
              <a:tr h="323215">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11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12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13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14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15</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16</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17</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18</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19</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20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21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22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215">
                <a:tc>
                  <a:txBody>
                    <a:bodyPr/>
                    <a:p>
                      <a:pPr indent="0" algn="ctr">
                        <a:buNone/>
                      </a:pPr>
                      <a:r>
                        <a:rPr lang="en-US" sz="2000" b="0">
                          <a:latin typeface="Calibri" panose="020F0502020204030204" charset="0"/>
                          <a:cs typeface="Calibri" panose="020F0502020204030204" charset="0"/>
                        </a:rPr>
                        <a:t>C</a:t>
                      </a:r>
                      <a:r>
                        <a:rPr lang="en-US" sz="2000" b="0">
                          <a:latin typeface="宋体" panose="02010600030101010101" pitchFamily="2" charset="-122"/>
                          <a:ea typeface="宋体" panose="02010600030101010101" pitchFamily="2" charset="-122"/>
                          <a:cs typeface="宋体" panose="02010600030101010101" pitchFamily="2" charset="-122"/>
                        </a:rPr>
                        <a:t>1:月</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M4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215">
                <a:tc>
                  <a:txBody>
                    <a:bodyPr/>
                    <a:p>
                      <a:pPr indent="0" algn="ctr">
                        <a:buNone/>
                      </a:pPr>
                      <a:r>
                        <a:rPr lang="en-US" sz="2000" b="0">
                          <a:latin typeface="Calibri" panose="020F0502020204030204" charset="0"/>
                          <a:cs typeface="Calibri" panose="020F0502020204030204" charset="0"/>
                        </a:rPr>
                        <a:t>C</a:t>
                      </a:r>
                      <a:r>
                        <a:rPr lang="en-US" sz="2000" b="0">
                          <a:latin typeface="宋体" panose="02010600030101010101" pitchFamily="2" charset="-122"/>
                          <a:ea typeface="宋体" panose="02010600030101010101" pitchFamily="2" charset="-122"/>
                          <a:cs typeface="宋体" panose="02010600030101010101" pitchFamily="2" charset="-122"/>
                        </a:rPr>
                        <a:t>2:日</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D5</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D5</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2580">
                <a:tc>
                  <a:txBody>
                    <a:bodyPr/>
                    <a:p>
                      <a:pPr indent="0" algn="ctr">
                        <a:buNone/>
                      </a:pPr>
                      <a:r>
                        <a:rPr lang="en-US" sz="2000" b="0">
                          <a:latin typeface="Calibri" panose="020F0502020204030204" charset="0"/>
                          <a:cs typeface="Calibri" panose="020F0502020204030204" charset="0"/>
                        </a:rPr>
                        <a:t>C</a:t>
                      </a:r>
                      <a:r>
                        <a:rPr lang="en-US" sz="2000" b="0">
                          <a:latin typeface="宋体" panose="02010600030101010101" pitchFamily="2" charset="-122"/>
                          <a:ea typeface="宋体" panose="02010600030101010101" pitchFamily="2" charset="-122"/>
                          <a:cs typeface="宋体" panose="02010600030101010101" pitchFamily="2" charset="-122"/>
                        </a:rPr>
                        <a:t>3:年</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Y1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Y2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Y1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Y2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 </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 </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21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A1不可能</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21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A2日期+1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46430">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A3日期复位（置1）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21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A4月份+1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4579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A5月份复位（置1 ）</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21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A6年+1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Calibri" panose="020F0502020204030204" charset="0"/>
                          <a:cs typeface="Calibri" panose="020F0502020204030204" charset="0"/>
                        </a:rPr>
                        <a:t> </a:t>
                      </a: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endParaRPr lang="en-US" altLang="en-US" sz="2000" b="0">
                        <a:latin typeface="Calibri" panose="020F0502020204030204" charset="0"/>
                        <a:ea typeface="Calibri" panose="020F0502020204030204" charset="0"/>
                        <a:cs typeface="Calibri" panose="020F0502020204030204" charset="0"/>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04" name="文本框 103"/>
          <p:cNvSpPr txBox="1"/>
          <p:nvPr/>
        </p:nvSpPr>
        <p:spPr>
          <a:xfrm>
            <a:off x="3243580" y="5404485"/>
            <a:ext cx="5080000" cy="398780"/>
          </a:xfrm>
          <a:prstGeom prst="rect">
            <a:avLst/>
          </a:prstGeom>
          <a:noFill/>
          <a:ln w="9525">
            <a:noFill/>
          </a:ln>
        </p:spPr>
        <p:txBody>
          <a:bodyPr>
            <a:spAutoFit/>
          </a:bodyPr>
          <a:p>
            <a:pPr indent="266700" algn="ctr"/>
            <a:r>
              <a:rPr lang="zh-CN" sz="2000" b="0">
                <a:latin typeface="Times New Roman" panose="02020603050405020304" charset="0"/>
                <a:ea typeface="宋体" panose="02010600030101010101" pitchFamily="2" charset="-122"/>
              </a:rPr>
              <a:t>表</a:t>
            </a:r>
            <a:r>
              <a:rPr lang="en-US" sz="2000" b="0">
                <a:latin typeface="Times New Roman" panose="02020603050405020304" charset="0"/>
                <a:ea typeface="宋体" panose="02010600030101010101" pitchFamily="2" charset="-122"/>
                <a:cs typeface="宋体" panose="02010600030101010101" pitchFamily="2" charset="-122"/>
              </a:rPr>
              <a:t>8</a:t>
            </a:r>
            <a:r>
              <a:rPr lang="en-US"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cs typeface="宋体" panose="02010600030101010101" pitchFamily="2" charset="-122"/>
              </a:rPr>
              <a:t>2 </a:t>
            </a:r>
            <a:r>
              <a:rPr lang="en-US" sz="2000" b="0">
                <a:latin typeface="Times New Roman" panose="02020603050405020304" charset="0"/>
                <a:ea typeface="宋体" panose="02010600030101010101" pitchFamily="2" charset="-122"/>
              </a:rPr>
              <a:t>NextDate</a:t>
            </a:r>
            <a:r>
              <a:rPr lang="zh-CN" sz="2000" b="0">
                <a:latin typeface="Times New Roman" panose="02020603050405020304" charset="0"/>
                <a:ea typeface="宋体" panose="02010600030101010101" pitchFamily="2" charset="-122"/>
              </a:rPr>
              <a:t>的决策表</a:t>
            </a:r>
            <a:endParaRPr lang="zh-CN" altLang="en-US" sz="2000"/>
          </a:p>
        </p:txBody>
      </p:sp>
    </p:spTree>
  </p:cSld>
  <p:clrMapOvr>
    <a:masterClrMapping/>
  </p:clrMapOvr>
  <p:transition advTm="6599">
    <p:random/>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决策表设计测试用例举例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4" name="文本框 103"/>
          <p:cNvSpPr txBox="1"/>
          <p:nvPr/>
        </p:nvSpPr>
        <p:spPr>
          <a:xfrm>
            <a:off x="1777365" y="569595"/>
            <a:ext cx="7925435" cy="398780"/>
          </a:xfrm>
          <a:prstGeom prst="rect">
            <a:avLst/>
          </a:prstGeom>
          <a:noFill/>
          <a:ln w="9525">
            <a:noFill/>
          </a:ln>
        </p:spPr>
        <p:txBody>
          <a:bodyPr wrap="square">
            <a:spAutoFit/>
          </a:bodyPr>
          <a:p>
            <a:pPr indent="266700"/>
            <a:r>
              <a:rPr lang="en-US" sz="2000" b="0">
                <a:latin typeface="Times New Roman" panose="02020603050405020304" charset="0"/>
                <a:ea typeface="宋体" panose="02010600030101010101" pitchFamily="2" charset="-122"/>
                <a:cs typeface="宋体" panose="02010600030101010101" pitchFamily="2" charset="-122"/>
              </a:rPr>
              <a:t>4.</a:t>
            </a:r>
            <a:r>
              <a:rPr lang="zh-CN" sz="2000" b="0">
                <a:latin typeface="Times New Roman" panose="02020603050405020304" charset="0"/>
                <a:ea typeface="宋体" panose="02010600030101010101" pitchFamily="2" charset="-122"/>
              </a:rPr>
              <a:t>由决策表设计测试用例，得测试用例表，如表</a:t>
            </a:r>
            <a:r>
              <a:rPr lang="en-US" sz="2000" b="0">
                <a:latin typeface="Times New Roman" panose="02020603050405020304" charset="0"/>
                <a:ea typeface="宋体" panose="02010600030101010101" pitchFamily="2" charset="-122"/>
                <a:cs typeface="宋体" panose="02010600030101010101" pitchFamily="2" charset="-122"/>
              </a:rPr>
              <a:t>8</a:t>
            </a:r>
            <a:r>
              <a:rPr lang="en-US"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cs typeface="宋体" panose="02010600030101010101" pitchFamily="2" charset="-122"/>
              </a:rPr>
              <a:t>3</a:t>
            </a:r>
            <a:r>
              <a:rPr lang="zh-CN" sz="2000" b="0">
                <a:latin typeface="Times New Roman" panose="02020603050405020304" charset="0"/>
                <a:ea typeface="宋体" panose="02010600030101010101" pitchFamily="2" charset="-122"/>
              </a:rPr>
              <a:t>所示。</a:t>
            </a:r>
            <a:endParaRPr lang="zh-CN" altLang="en-US" sz="2000"/>
          </a:p>
        </p:txBody>
      </p:sp>
      <p:graphicFrame>
        <p:nvGraphicFramePr>
          <p:cNvPr id="2" name="表格 1"/>
          <p:cNvGraphicFramePr/>
          <p:nvPr>
            <p:custDataLst>
              <p:tags r:id="rId1"/>
            </p:custDataLst>
          </p:nvPr>
        </p:nvGraphicFramePr>
        <p:xfrm>
          <a:off x="1630685" y="958215"/>
          <a:ext cx="9345930" cy="5450840"/>
        </p:xfrm>
        <a:graphic>
          <a:graphicData uri="http://schemas.openxmlformats.org/drawingml/2006/table">
            <a:tbl>
              <a:tblPr firstRow="1" bandRow="1">
                <a:tableStyleId>{5940675A-B579-460E-94D1-54222C63F5DA}</a:tableStyleId>
              </a:tblPr>
              <a:tblGrid>
                <a:gridCol w="1552575"/>
                <a:gridCol w="1136650"/>
                <a:gridCol w="1762760"/>
                <a:gridCol w="1527810"/>
                <a:gridCol w="3366135"/>
              </a:tblGrid>
              <a:tr h="600710">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用例编号</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月</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日</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年</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预期输出</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00710">
                <a:tc>
                  <a:txBody>
                    <a:bodyPr/>
                    <a:p>
                      <a:pPr indent="0" algn="ctr">
                        <a:buNone/>
                      </a:pPr>
                      <a:r>
                        <a:rPr lang="en-US" sz="2000" b="0">
                          <a:latin typeface="Times New Roman" panose="02020603050405020304" charset="0"/>
                          <a:cs typeface="Times New Roman" panose="02020603050405020304" charset="0"/>
                        </a:rPr>
                        <a:t>1--3</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4</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12/28/29</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charset="0"/>
                          <a:cs typeface="Times New Roman" panose="02020603050405020304" charset="0"/>
                        </a:rPr>
                        <a:t>2001</a:t>
                      </a:r>
                      <a:r>
                        <a:rPr lang="en-US" sz="2000" b="0">
                          <a:latin typeface="宋体" panose="02010600030101010101" pitchFamily="2" charset="-122"/>
                          <a:ea typeface="宋体" panose="02010600030101010101" pitchFamily="2" charset="-122"/>
                          <a:cs typeface="宋体" panose="02010600030101010101" pitchFamily="2" charset="-122"/>
                        </a:rPr>
                        <a:t>年</a:t>
                      </a:r>
                      <a:r>
                        <a:rPr lang="en-US" sz="2000" b="0">
                          <a:latin typeface="Times New Roman" panose="02020603050405020304" charset="0"/>
                          <a:cs typeface="Times New Roman" panose="02020603050405020304" charset="0"/>
                        </a:rPr>
                        <a:t>4</a:t>
                      </a:r>
                      <a:r>
                        <a:rPr lang="en-US" sz="2000" b="0">
                          <a:latin typeface="宋体" panose="02010600030101010101" pitchFamily="2" charset="-122"/>
                          <a:ea typeface="宋体" panose="02010600030101010101" pitchFamily="2" charset="-122"/>
                          <a:cs typeface="宋体" panose="02010600030101010101" pitchFamily="2" charset="-122"/>
                        </a:rPr>
                        <a:t>月</a:t>
                      </a:r>
                      <a:r>
                        <a:rPr lang="en-US" sz="2000" b="0">
                          <a:latin typeface="Times New Roman" panose="02020603050405020304" charset="0"/>
                          <a:cs typeface="Times New Roman" panose="02020603050405020304" charset="0"/>
                        </a:rPr>
                        <a:t>13/29/30</a:t>
                      </a:r>
                      <a:r>
                        <a:rPr lang="en-US" sz="2000" b="0">
                          <a:latin typeface="宋体" panose="02010600030101010101" pitchFamily="2" charset="-122"/>
                          <a:ea typeface="宋体" panose="02010600030101010101" pitchFamily="2" charset="-122"/>
                          <a:cs typeface="宋体" panose="02010600030101010101" pitchFamily="2" charset="-122"/>
                        </a:rPr>
                        <a:t>日</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4800">
                <a:tc>
                  <a:txBody>
                    <a:bodyPr/>
                    <a:p>
                      <a:pPr indent="0" algn="ctr">
                        <a:buNone/>
                      </a:pPr>
                      <a:r>
                        <a:rPr lang="en-US" sz="2000" b="0">
                          <a:latin typeface="Times New Roman" panose="02020603050405020304" charset="0"/>
                          <a:cs typeface="Times New Roman" panose="02020603050405020304" charset="0"/>
                        </a:rPr>
                        <a:t>4</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4</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30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charset="0"/>
                          <a:cs typeface="Times New Roman" panose="02020603050405020304" charset="0"/>
                        </a:rPr>
                        <a:t>2001</a:t>
                      </a:r>
                      <a:r>
                        <a:rPr lang="en-US" sz="2000" b="0">
                          <a:latin typeface="宋体" panose="02010600030101010101" pitchFamily="2" charset="-122"/>
                          <a:ea typeface="宋体" panose="02010600030101010101" pitchFamily="2" charset="-122"/>
                          <a:cs typeface="宋体" panose="02010600030101010101" pitchFamily="2" charset="-122"/>
                        </a:rPr>
                        <a:t>年</a:t>
                      </a:r>
                      <a:r>
                        <a:rPr lang="en-US" sz="2000" b="0">
                          <a:latin typeface="Times New Roman" panose="02020603050405020304" charset="0"/>
                          <a:cs typeface="Times New Roman" panose="02020603050405020304" charset="0"/>
                        </a:rPr>
                        <a:t>5</a:t>
                      </a:r>
                      <a:r>
                        <a:rPr lang="en-US" sz="2000" b="0">
                          <a:latin typeface="宋体" panose="02010600030101010101" pitchFamily="2" charset="-122"/>
                          <a:ea typeface="宋体" panose="02010600030101010101" pitchFamily="2" charset="-122"/>
                          <a:cs typeface="宋体" panose="02010600030101010101" pitchFamily="2" charset="-122"/>
                        </a:rPr>
                        <a:t>月</a:t>
                      </a:r>
                      <a:r>
                        <a:rPr lang="en-US" sz="2000" b="0">
                          <a:latin typeface="Times New Roman" panose="02020603050405020304" charset="0"/>
                          <a:cs typeface="Times New Roman" panose="02020603050405020304" charset="0"/>
                        </a:rPr>
                        <a:t>1</a:t>
                      </a:r>
                      <a:r>
                        <a:rPr lang="en-US" sz="2000" b="0">
                          <a:latin typeface="宋体" panose="02010600030101010101" pitchFamily="2" charset="-122"/>
                          <a:ea typeface="宋体" panose="02010600030101010101" pitchFamily="2" charset="-122"/>
                          <a:cs typeface="宋体" panose="02010600030101010101" pitchFamily="2" charset="-122"/>
                        </a:rPr>
                        <a:t>日</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4800">
                <a:tc>
                  <a:txBody>
                    <a:bodyPr/>
                    <a:p>
                      <a:pPr indent="0" algn="ctr">
                        <a:buNone/>
                      </a:pPr>
                      <a:r>
                        <a:rPr lang="en-US" sz="2000" b="0">
                          <a:latin typeface="Times New Roman" panose="02020603050405020304" charset="0"/>
                          <a:cs typeface="Times New Roman" panose="02020603050405020304" charset="0"/>
                        </a:rPr>
                        <a:t>5</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4</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31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不可能</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00710">
                <a:tc>
                  <a:txBody>
                    <a:bodyPr/>
                    <a:p>
                      <a:pPr indent="0" algn="ctr">
                        <a:buNone/>
                      </a:pPr>
                      <a:r>
                        <a:rPr lang="en-US" sz="2000" b="0">
                          <a:latin typeface="Times New Roman" panose="02020603050405020304" charset="0"/>
                          <a:cs typeface="Times New Roman" panose="02020603050405020304" charset="0"/>
                        </a:rPr>
                        <a:t>6--9</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15/28/29/30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charset="0"/>
                          <a:cs typeface="Times New Roman" panose="02020603050405020304" charset="0"/>
                        </a:rPr>
                        <a:t>2001</a:t>
                      </a:r>
                      <a:r>
                        <a:rPr lang="en-US" sz="2000" b="0">
                          <a:latin typeface="宋体" panose="02010600030101010101" pitchFamily="2" charset="-122"/>
                          <a:ea typeface="宋体" panose="02010600030101010101" pitchFamily="2" charset="-122"/>
                          <a:cs typeface="宋体" panose="02010600030101010101" pitchFamily="2" charset="-122"/>
                        </a:rPr>
                        <a:t>年</a:t>
                      </a:r>
                      <a:r>
                        <a:rPr lang="en-US" sz="2000" b="0">
                          <a:latin typeface="Times New Roman" panose="02020603050405020304" charset="0"/>
                          <a:cs typeface="Times New Roman" panose="02020603050405020304" charset="0"/>
                        </a:rPr>
                        <a:t>1</a:t>
                      </a:r>
                      <a:r>
                        <a:rPr lang="en-US" sz="2000" b="0">
                          <a:latin typeface="宋体" panose="02010600030101010101" pitchFamily="2" charset="-122"/>
                          <a:ea typeface="宋体" panose="02010600030101010101" pitchFamily="2" charset="-122"/>
                          <a:cs typeface="宋体" panose="02010600030101010101" pitchFamily="2" charset="-122"/>
                        </a:rPr>
                        <a:t>月</a:t>
                      </a:r>
                      <a:r>
                        <a:rPr lang="en-US" sz="2000" b="0">
                          <a:latin typeface="Times New Roman" panose="02020603050405020304" charset="0"/>
                          <a:cs typeface="Times New Roman" panose="02020603050405020304" charset="0"/>
                        </a:rPr>
                        <a:t>16/29/30/31</a:t>
                      </a:r>
                      <a:r>
                        <a:rPr lang="en-US" sz="2000" b="0">
                          <a:latin typeface="宋体" panose="02010600030101010101" pitchFamily="2" charset="-122"/>
                          <a:ea typeface="宋体" panose="02010600030101010101" pitchFamily="2" charset="-122"/>
                          <a:cs typeface="宋体" panose="02010600030101010101" pitchFamily="2" charset="-122"/>
                        </a:rPr>
                        <a:t>日</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4800">
                <a:tc>
                  <a:txBody>
                    <a:bodyPr/>
                    <a:p>
                      <a:pPr indent="0" algn="ctr">
                        <a:buNone/>
                      </a:pPr>
                      <a:r>
                        <a:rPr lang="en-US" sz="2000" b="0">
                          <a:latin typeface="Times New Roman" panose="02020603050405020304" charset="0"/>
                          <a:cs typeface="Times New Roman" panose="02020603050405020304" charset="0"/>
                        </a:rPr>
                        <a:t>10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31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charset="0"/>
                          <a:cs typeface="Times New Roman" panose="02020603050405020304" charset="0"/>
                        </a:rPr>
                        <a:t>2001</a:t>
                      </a:r>
                      <a:r>
                        <a:rPr lang="en-US" sz="2000" b="0">
                          <a:latin typeface="宋体" panose="02010600030101010101" pitchFamily="2" charset="-122"/>
                          <a:ea typeface="宋体" panose="02010600030101010101" pitchFamily="2" charset="-122"/>
                          <a:cs typeface="宋体" panose="02010600030101010101" pitchFamily="2" charset="-122"/>
                        </a:rPr>
                        <a:t>年</a:t>
                      </a:r>
                      <a:r>
                        <a:rPr lang="en-US" sz="2000" b="0">
                          <a:latin typeface="Times New Roman" panose="02020603050405020304" charset="0"/>
                          <a:cs typeface="Times New Roman" panose="02020603050405020304" charset="0"/>
                        </a:rPr>
                        <a:t>2</a:t>
                      </a:r>
                      <a:r>
                        <a:rPr lang="en-US" sz="2000" b="0">
                          <a:latin typeface="宋体" panose="02010600030101010101" pitchFamily="2" charset="-122"/>
                          <a:ea typeface="宋体" panose="02010600030101010101" pitchFamily="2" charset="-122"/>
                          <a:cs typeface="宋体" panose="02010600030101010101" pitchFamily="2" charset="-122"/>
                        </a:rPr>
                        <a:t>月</a:t>
                      </a:r>
                      <a:r>
                        <a:rPr lang="en-US" sz="2000" b="0">
                          <a:latin typeface="Times New Roman" panose="02020603050405020304" charset="0"/>
                          <a:cs typeface="Times New Roman" panose="02020603050405020304" charset="0"/>
                        </a:rPr>
                        <a:t>1</a:t>
                      </a:r>
                      <a:r>
                        <a:rPr lang="en-US" sz="2000" b="0">
                          <a:latin typeface="宋体" panose="02010600030101010101" pitchFamily="2" charset="-122"/>
                          <a:ea typeface="宋体" panose="02010600030101010101" pitchFamily="2" charset="-122"/>
                          <a:cs typeface="宋体" panose="02010600030101010101" pitchFamily="2" charset="-122"/>
                        </a:rPr>
                        <a:t>日</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00710">
                <a:tc>
                  <a:txBody>
                    <a:bodyPr/>
                    <a:p>
                      <a:pPr indent="0" algn="ctr">
                        <a:buNone/>
                      </a:pPr>
                      <a:r>
                        <a:rPr lang="en-US" sz="2000" b="0">
                          <a:latin typeface="Times New Roman" panose="02020603050405020304" charset="0"/>
                          <a:cs typeface="Times New Roman" panose="02020603050405020304" charset="0"/>
                        </a:rPr>
                        <a:t>11-14</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12</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15/28/29/30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charset="0"/>
                          <a:cs typeface="Times New Roman" panose="02020603050405020304" charset="0"/>
                        </a:rPr>
                        <a:t>2001</a:t>
                      </a:r>
                      <a:r>
                        <a:rPr lang="en-US" sz="2000" b="0">
                          <a:latin typeface="宋体" panose="02010600030101010101" pitchFamily="2" charset="-122"/>
                          <a:ea typeface="宋体" panose="02010600030101010101" pitchFamily="2" charset="-122"/>
                          <a:cs typeface="宋体" panose="02010600030101010101" pitchFamily="2" charset="-122"/>
                        </a:rPr>
                        <a:t>年</a:t>
                      </a:r>
                      <a:r>
                        <a:rPr lang="en-US" sz="2000" b="0">
                          <a:latin typeface="Times New Roman" panose="02020603050405020304" charset="0"/>
                          <a:cs typeface="Times New Roman" panose="02020603050405020304" charset="0"/>
                        </a:rPr>
                        <a:t>12</a:t>
                      </a:r>
                      <a:r>
                        <a:rPr lang="en-US" sz="2000" b="0">
                          <a:latin typeface="宋体" panose="02010600030101010101" pitchFamily="2" charset="-122"/>
                          <a:ea typeface="宋体" panose="02010600030101010101" pitchFamily="2" charset="-122"/>
                          <a:cs typeface="宋体" panose="02010600030101010101" pitchFamily="2" charset="-122"/>
                        </a:rPr>
                        <a:t>月</a:t>
                      </a:r>
                      <a:r>
                        <a:rPr lang="en-US" sz="2000" b="0">
                          <a:latin typeface="Times New Roman" panose="02020603050405020304" charset="0"/>
                          <a:cs typeface="Times New Roman" panose="02020603050405020304" charset="0"/>
                        </a:rPr>
                        <a:t>16/29/30/31</a:t>
                      </a:r>
                      <a:r>
                        <a:rPr lang="en-US" sz="2000" b="0">
                          <a:latin typeface="宋体" panose="02010600030101010101" pitchFamily="2" charset="-122"/>
                          <a:ea typeface="宋体" panose="02010600030101010101" pitchFamily="2" charset="-122"/>
                          <a:cs typeface="宋体" panose="02010600030101010101" pitchFamily="2" charset="-122"/>
                        </a:rPr>
                        <a:t>日</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4800">
                <a:tc>
                  <a:txBody>
                    <a:bodyPr/>
                    <a:p>
                      <a:pPr indent="0" algn="ctr">
                        <a:buNone/>
                      </a:pPr>
                      <a:r>
                        <a:rPr lang="en-US" sz="2000" b="0">
                          <a:latin typeface="Times New Roman" panose="02020603050405020304" charset="0"/>
                          <a:cs typeface="Times New Roman" panose="02020603050405020304" charset="0"/>
                        </a:rPr>
                        <a:t>15</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12</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31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charset="0"/>
                          <a:cs typeface="Times New Roman" panose="02020603050405020304" charset="0"/>
                        </a:rPr>
                        <a:t>2002</a:t>
                      </a:r>
                      <a:r>
                        <a:rPr lang="en-US" sz="2000" b="0">
                          <a:latin typeface="宋体" panose="02010600030101010101" pitchFamily="2" charset="-122"/>
                          <a:ea typeface="宋体" panose="02010600030101010101" pitchFamily="2" charset="-122"/>
                          <a:cs typeface="宋体" panose="02010600030101010101" pitchFamily="2" charset="-122"/>
                        </a:rPr>
                        <a:t>年</a:t>
                      </a:r>
                      <a:r>
                        <a:rPr lang="en-US" sz="2000" b="0">
                          <a:latin typeface="Times New Roman" panose="02020603050405020304" charset="0"/>
                          <a:cs typeface="Times New Roman" panose="02020603050405020304" charset="0"/>
                        </a:rPr>
                        <a:t>1</a:t>
                      </a:r>
                      <a:r>
                        <a:rPr lang="en-US" sz="2000" b="0">
                          <a:latin typeface="宋体" panose="02010600030101010101" pitchFamily="2" charset="-122"/>
                          <a:ea typeface="宋体" panose="02010600030101010101" pitchFamily="2" charset="-122"/>
                          <a:cs typeface="宋体" panose="02010600030101010101" pitchFamily="2" charset="-122"/>
                        </a:rPr>
                        <a:t>月</a:t>
                      </a:r>
                      <a:r>
                        <a:rPr lang="en-US" sz="2000" b="0">
                          <a:latin typeface="Times New Roman" panose="02020603050405020304" charset="0"/>
                          <a:cs typeface="Times New Roman" panose="02020603050405020304" charset="0"/>
                        </a:rPr>
                        <a:t>1</a:t>
                      </a:r>
                      <a:r>
                        <a:rPr lang="en-US" sz="2000" b="0">
                          <a:latin typeface="宋体" panose="02010600030101010101" pitchFamily="2" charset="-122"/>
                          <a:ea typeface="宋体" panose="02010600030101010101" pitchFamily="2" charset="-122"/>
                          <a:cs typeface="宋体" panose="02010600030101010101" pitchFamily="2" charset="-122"/>
                        </a:rPr>
                        <a:t>日</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4800">
                <a:tc>
                  <a:txBody>
                    <a:bodyPr/>
                    <a:p>
                      <a:pPr indent="0" algn="ctr">
                        <a:buNone/>
                      </a:pPr>
                      <a:r>
                        <a:rPr lang="en-US" sz="2000" b="0">
                          <a:latin typeface="Times New Roman" panose="02020603050405020304" charset="0"/>
                          <a:cs typeface="Times New Roman" panose="02020603050405020304" charset="0"/>
                        </a:rPr>
                        <a:t>16</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15</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charset="0"/>
                          <a:cs typeface="Times New Roman" panose="02020603050405020304" charset="0"/>
                        </a:rPr>
                        <a:t>2001</a:t>
                      </a:r>
                      <a:r>
                        <a:rPr lang="en-US" sz="2000" b="0">
                          <a:latin typeface="宋体" panose="02010600030101010101" pitchFamily="2" charset="-122"/>
                          <a:ea typeface="宋体" panose="02010600030101010101" pitchFamily="2" charset="-122"/>
                          <a:cs typeface="宋体" panose="02010600030101010101" pitchFamily="2" charset="-122"/>
                        </a:rPr>
                        <a:t>年</a:t>
                      </a:r>
                      <a:r>
                        <a:rPr lang="en-US" sz="2000" b="0">
                          <a:latin typeface="Times New Roman" panose="02020603050405020304" charset="0"/>
                          <a:cs typeface="Times New Roman" panose="02020603050405020304" charset="0"/>
                        </a:rPr>
                        <a:t>2</a:t>
                      </a:r>
                      <a:r>
                        <a:rPr lang="en-US" sz="2000" b="0">
                          <a:latin typeface="宋体" panose="02010600030101010101" pitchFamily="2" charset="-122"/>
                          <a:ea typeface="宋体" panose="02010600030101010101" pitchFamily="2" charset="-122"/>
                          <a:cs typeface="宋体" panose="02010600030101010101" pitchFamily="2" charset="-122"/>
                        </a:rPr>
                        <a:t>月</a:t>
                      </a:r>
                      <a:r>
                        <a:rPr lang="en-US" sz="2000" b="0">
                          <a:latin typeface="Times New Roman" panose="02020603050405020304" charset="0"/>
                          <a:cs typeface="Times New Roman" panose="02020603050405020304" charset="0"/>
                        </a:rPr>
                        <a:t>16</a:t>
                      </a:r>
                      <a:r>
                        <a:rPr lang="en-US" sz="2000" b="0">
                          <a:latin typeface="宋体" panose="02010600030101010101" pitchFamily="2" charset="-122"/>
                          <a:ea typeface="宋体" panose="02010600030101010101" pitchFamily="2" charset="-122"/>
                          <a:cs typeface="宋体" panose="02010600030101010101" pitchFamily="2" charset="-122"/>
                        </a:rPr>
                        <a:t>日</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4800">
                <a:tc>
                  <a:txBody>
                    <a:bodyPr/>
                    <a:p>
                      <a:pPr indent="0" algn="ctr">
                        <a:buNone/>
                      </a:pPr>
                      <a:r>
                        <a:rPr lang="en-US" sz="2000" b="0">
                          <a:latin typeface="Times New Roman" panose="02020603050405020304" charset="0"/>
                          <a:cs typeface="Times New Roman" panose="02020603050405020304" charset="0"/>
                        </a:rPr>
                        <a:t>17</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28</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2004</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charset="0"/>
                          <a:cs typeface="Times New Roman" panose="02020603050405020304" charset="0"/>
                        </a:rPr>
                        <a:t>2004</a:t>
                      </a:r>
                      <a:r>
                        <a:rPr lang="en-US" sz="2000" b="0">
                          <a:latin typeface="宋体" panose="02010600030101010101" pitchFamily="2" charset="-122"/>
                          <a:ea typeface="宋体" panose="02010600030101010101" pitchFamily="2" charset="-122"/>
                          <a:cs typeface="宋体" panose="02010600030101010101" pitchFamily="2" charset="-122"/>
                        </a:rPr>
                        <a:t>年</a:t>
                      </a:r>
                      <a:r>
                        <a:rPr lang="en-US" sz="2000" b="0">
                          <a:latin typeface="Times New Roman" panose="02020603050405020304" charset="0"/>
                          <a:cs typeface="Times New Roman" panose="02020603050405020304" charset="0"/>
                        </a:rPr>
                        <a:t>2</a:t>
                      </a:r>
                      <a:r>
                        <a:rPr lang="en-US" sz="2000" b="0">
                          <a:latin typeface="宋体" panose="02010600030101010101" pitchFamily="2" charset="-122"/>
                          <a:ea typeface="宋体" panose="02010600030101010101" pitchFamily="2" charset="-122"/>
                          <a:cs typeface="宋体" panose="02010600030101010101" pitchFamily="2" charset="-122"/>
                        </a:rPr>
                        <a:t>月</a:t>
                      </a:r>
                      <a:r>
                        <a:rPr lang="en-US" sz="2000" b="0">
                          <a:latin typeface="Times New Roman" panose="02020603050405020304" charset="0"/>
                          <a:cs typeface="Times New Roman" panose="02020603050405020304" charset="0"/>
                        </a:rPr>
                        <a:t>29</a:t>
                      </a:r>
                      <a:r>
                        <a:rPr lang="en-US" sz="2000" b="0">
                          <a:latin typeface="宋体" panose="02010600030101010101" pitchFamily="2" charset="-122"/>
                          <a:ea typeface="宋体" panose="02010600030101010101" pitchFamily="2" charset="-122"/>
                          <a:cs typeface="宋体" panose="02010600030101010101" pitchFamily="2" charset="-122"/>
                        </a:rPr>
                        <a:t>日</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4800">
                <a:tc>
                  <a:txBody>
                    <a:bodyPr/>
                    <a:p>
                      <a:pPr indent="0" algn="ctr">
                        <a:buNone/>
                      </a:pPr>
                      <a:r>
                        <a:rPr lang="en-US" sz="2000" b="0">
                          <a:latin typeface="Times New Roman" panose="02020603050405020304" charset="0"/>
                          <a:cs typeface="Times New Roman" panose="02020603050405020304" charset="0"/>
                        </a:rPr>
                        <a:t>18</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28</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charset="0"/>
                          <a:cs typeface="Times New Roman" panose="02020603050405020304" charset="0"/>
                        </a:rPr>
                        <a:t>2001</a:t>
                      </a:r>
                      <a:r>
                        <a:rPr lang="en-US" sz="2000" b="0">
                          <a:latin typeface="宋体" panose="02010600030101010101" pitchFamily="2" charset="-122"/>
                          <a:ea typeface="宋体" panose="02010600030101010101" pitchFamily="2" charset="-122"/>
                          <a:cs typeface="宋体" panose="02010600030101010101" pitchFamily="2" charset="-122"/>
                        </a:rPr>
                        <a:t>年</a:t>
                      </a:r>
                      <a:r>
                        <a:rPr lang="en-US" sz="2000" b="0">
                          <a:latin typeface="Times New Roman" panose="02020603050405020304" charset="0"/>
                          <a:cs typeface="Times New Roman" panose="02020603050405020304" charset="0"/>
                        </a:rPr>
                        <a:t>3</a:t>
                      </a:r>
                      <a:r>
                        <a:rPr lang="en-US" sz="2000" b="0">
                          <a:latin typeface="宋体" panose="02010600030101010101" pitchFamily="2" charset="-122"/>
                          <a:ea typeface="宋体" panose="02010600030101010101" pitchFamily="2" charset="-122"/>
                          <a:cs typeface="宋体" panose="02010600030101010101" pitchFamily="2" charset="-122"/>
                        </a:rPr>
                        <a:t>月</a:t>
                      </a:r>
                      <a:r>
                        <a:rPr lang="en-US" sz="2000" b="0">
                          <a:latin typeface="Times New Roman" panose="02020603050405020304" charset="0"/>
                          <a:cs typeface="Times New Roman" panose="02020603050405020304" charset="0"/>
                        </a:rPr>
                        <a:t>1</a:t>
                      </a:r>
                      <a:r>
                        <a:rPr lang="en-US" sz="2000" b="0">
                          <a:latin typeface="宋体" panose="02010600030101010101" pitchFamily="2" charset="-122"/>
                          <a:ea typeface="宋体" panose="02010600030101010101" pitchFamily="2" charset="-122"/>
                          <a:cs typeface="宋体" panose="02010600030101010101" pitchFamily="2" charset="-122"/>
                        </a:rPr>
                        <a:t>日</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4800">
                <a:tc>
                  <a:txBody>
                    <a:bodyPr/>
                    <a:p>
                      <a:pPr indent="0" algn="ctr">
                        <a:buNone/>
                      </a:pPr>
                      <a:r>
                        <a:rPr lang="en-US" sz="2000" b="0">
                          <a:latin typeface="Times New Roman" panose="02020603050405020304" charset="0"/>
                          <a:cs typeface="Times New Roman" panose="02020603050405020304" charset="0"/>
                        </a:rPr>
                        <a:t>19</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29</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a:t>
                      </a:r>
                      <a:r>
                        <a:rPr lang="en-US" sz="2000" b="0">
                          <a:latin typeface="宋体" panose="02010600030101010101" pitchFamily="2" charset="-122"/>
                          <a:ea typeface="宋体" panose="02010600030101010101" pitchFamily="2" charset="-122"/>
                          <a:cs typeface="宋体" panose="02010600030101010101" pitchFamily="2" charset="-122"/>
                        </a:rPr>
                        <a:t>5</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Times New Roman" panose="02020603050405020304" charset="0"/>
                          <a:cs typeface="Times New Roman" panose="02020603050405020304" charset="0"/>
                        </a:rPr>
                        <a:t>2005</a:t>
                      </a:r>
                      <a:r>
                        <a:rPr lang="en-US" sz="2000" b="0">
                          <a:latin typeface="宋体" panose="02010600030101010101" pitchFamily="2" charset="-122"/>
                          <a:ea typeface="宋体" panose="02010600030101010101" pitchFamily="2" charset="-122"/>
                          <a:cs typeface="宋体" panose="02010600030101010101" pitchFamily="2" charset="-122"/>
                        </a:rPr>
                        <a:t>年</a:t>
                      </a:r>
                      <a:r>
                        <a:rPr lang="en-US" sz="2000" b="0">
                          <a:latin typeface="Times New Roman" panose="02020603050405020304" charset="0"/>
                          <a:cs typeface="Times New Roman" panose="02020603050405020304" charset="0"/>
                        </a:rPr>
                        <a:t>3</a:t>
                      </a:r>
                      <a:r>
                        <a:rPr lang="en-US" sz="2000" b="0">
                          <a:latin typeface="宋体" panose="02010600030101010101" pitchFamily="2" charset="-122"/>
                          <a:ea typeface="宋体" panose="02010600030101010101" pitchFamily="2" charset="-122"/>
                          <a:cs typeface="宋体" panose="02010600030101010101" pitchFamily="2" charset="-122"/>
                        </a:rPr>
                        <a:t>月</a:t>
                      </a:r>
                      <a:r>
                        <a:rPr lang="en-US" sz="2000" b="0">
                          <a:latin typeface="Times New Roman" panose="02020603050405020304" charset="0"/>
                          <a:cs typeface="Times New Roman" panose="02020603050405020304" charset="0"/>
                        </a:rPr>
                        <a:t>1</a:t>
                      </a:r>
                      <a:r>
                        <a:rPr lang="en-US" sz="2000" b="0">
                          <a:latin typeface="宋体" panose="02010600030101010101" pitchFamily="2" charset="-122"/>
                          <a:ea typeface="宋体" panose="02010600030101010101" pitchFamily="2" charset="-122"/>
                          <a:cs typeface="宋体" panose="02010600030101010101" pitchFamily="2" charset="-122"/>
                        </a:rPr>
                        <a:t>日</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4800">
                <a:tc>
                  <a:txBody>
                    <a:bodyPr/>
                    <a:p>
                      <a:pPr indent="0" algn="ctr">
                        <a:buNone/>
                      </a:pPr>
                      <a:r>
                        <a:rPr lang="en-US" sz="2000" b="0">
                          <a:latin typeface="Times New Roman" panose="02020603050405020304" charset="0"/>
                          <a:cs typeface="Times New Roman" panose="02020603050405020304" charset="0"/>
                        </a:rPr>
                        <a:t>20</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29</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不可能</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04800">
                <a:tc>
                  <a:txBody>
                    <a:bodyPr/>
                    <a:p>
                      <a:pPr indent="0" algn="ctr">
                        <a:buNone/>
                      </a:pPr>
                      <a:r>
                        <a:rPr lang="en-US" sz="2000" b="0">
                          <a:latin typeface="Times New Roman" panose="02020603050405020304" charset="0"/>
                          <a:cs typeface="Times New Roman" panose="02020603050405020304" charset="0"/>
                        </a:rPr>
                        <a:t>21,22</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30/31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Times New Roman" panose="02020603050405020304" charset="0"/>
                          <a:cs typeface="Times New Roman" panose="02020603050405020304" charset="0"/>
                        </a:rPr>
                        <a:t>2001</a:t>
                      </a:r>
                      <a:endParaRPr lang="en-US" altLang="en-US" sz="2000" b="0">
                        <a:latin typeface="Times New Roman" panose="02020603050405020304" charset="0"/>
                        <a:ea typeface="Times New Roman" panose="02020603050405020304" charset="0"/>
                        <a:cs typeface="Times New Roman" panose="02020603050405020304" charset="0"/>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不可能</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3" name="文本框 2"/>
          <p:cNvSpPr txBox="1"/>
          <p:nvPr/>
        </p:nvSpPr>
        <p:spPr>
          <a:xfrm>
            <a:off x="4318000" y="6489700"/>
            <a:ext cx="2564130" cy="368300"/>
          </a:xfrm>
          <a:prstGeom prst="rect">
            <a:avLst/>
          </a:prstGeom>
          <a:noFill/>
        </p:spPr>
        <p:txBody>
          <a:bodyPr wrap="none" rtlCol="0" anchor="t">
            <a:spAutoFit/>
          </a:bodyPr>
          <a:p>
            <a:r>
              <a:rPr lang="zh-CN">
                <a:latin typeface="Times New Roman" panose="02020603050405020304" charset="0"/>
                <a:ea typeface="宋体" panose="02010600030101010101" pitchFamily="2" charset="-122"/>
                <a:sym typeface="+mn-ea"/>
              </a:rPr>
              <a:t>表</a:t>
            </a:r>
            <a:r>
              <a:rPr lang="en-US">
                <a:latin typeface="Times New Roman" panose="02020603050405020304" charset="0"/>
                <a:ea typeface="宋体" panose="02010600030101010101" pitchFamily="2" charset="-122"/>
                <a:cs typeface="宋体" panose="02010600030101010101" pitchFamily="2" charset="-122"/>
                <a:sym typeface="+mn-ea"/>
              </a:rPr>
              <a:t>8</a:t>
            </a:r>
            <a:r>
              <a:rPr lang="en-US">
                <a:latin typeface="Times New Roman" panose="02020603050405020304" charset="0"/>
                <a:ea typeface="宋体" panose="02010600030101010101" pitchFamily="2" charset="-122"/>
                <a:sym typeface="+mn-ea"/>
              </a:rPr>
              <a:t>-</a:t>
            </a:r>
            <a:r>
              <a:rPr lang="en-US">
                <a:latin typeface="Times New Roman" panose="02020603050405020304" charset="0"/>
                <a:ea typeface="宋体" panose="02010600030101010101" pitchFamily="2" charset="-122"/>
                <a:cs typeface="宋体" panose="02010600030101010101" pitchFamily="2" charset="-122"/>
                <a:sym typeface="+mn-ea"/>
              </a:rPr>
              <a:t>3 </a:t>
            </a:r>
            <a:r>
              <a:rPr lang="en-US">
                <a:latin typeface="Times New Roman" panose="02020603050405020304" charset="0"/>
                <a:ea typeface="宋体" panose="02010600030101010101" pitchFamily="2" charset="-122"/>
                <a:sym typeface="+mn-ea"/>
              </a:rPr>
              <a:t>NextDate</a:t>
            </a:r>
            <a:r>
              <a:rPr lang="zh-CN">
                <a:latin typeface="Times New Roman" panose="02020603050405020304" charset="0"/>
                <a:ea typeface="宋体" panose="02010600030101010101" pitchFamily="2" charset="-122"/>
                <a:sym typeface="+mn-ea"/>
              </a:rPr>
              <a:t>测试用例</a:t>
            </a:r>
            <a:endParaRPr lang="zh-CN" altLang="en-US"/>
          </a:p>
        </p:txBody>
      </p:sp>
    </p:spTree>
  </p:cSld>
  <p:clrMapOvr>
    <a:masterClrMapping/>
  </p:clrMapOvr>
  <p:transition advTm="6599">
    <p:random/>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2.2</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功能测试用例</a:t>
            </a:r>
            <a:r>
              <a:rPr lang="zh-CN" altLang="en-US" sz="2800">
                <a:latin typeface="微软雅黑" panose="020B0503020204020204" pitchFamily="34" charset="-122"/>
                <a:ea typeface="微软雅黑" panose="020B0503020204020204" pitchFamily="34" charset="-122"/>
              </a:rPr>
              <a:t>设计</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sym typeface="+mn-ea"/>
              </a:rPr>
              <a:t>任务</a:t>
            </a:r>
            <a:r>
              <a:rPr lang="en-US" altLang="zh-CN" sz="2000" b="1">
                <a:latin typeface="微软雅黑" panose="020B0503020204020204" pitchFamily="34" charset="-122"/>
                <a:ea typeface="微软雅黑" panose="020B0503020204020204" pitchFamily="34" charset="-122"/>
                <a:sym typeface="+mn-ea"/>
              </a:rPr>
              <a:t>2.4 </a:t>
            </a:r>
            <a:r>
              <a:rPr lang="zh-CN" altLang="en-US" sz="2000" b="1">
                <a:latin typeface="微软雅黑" panose="020B0503020204020204" pitchFamily="34" charset="-122"/>
                <a:ea typeface="微软雅黑" panose="020B0503020204020204" pitchFamily="34" charset="-122"/>
                <a:sym typeface="+mn-ea"/>
              </a:rPr>
              <a:t>因果图运用</a:t>
            </a:r>
            <a:endParaRPr lang="zh-CN" altLang="en-US" sz="2000" b="1">
              <a:latin typeface="微软雅黑" panose="020B0503020204020204" pitchFamily="34" charset="-122"/>
              <a:ea typeface="微软雅黑" panose="020B0503020204020204" pitchFamily="34" charset="-122"/>
              <a:sym typeface="+mn-ea"/>
            </a:endParaRPr>
          </a:p>
        </p:txBody>
      </p:sp>
      <p:grpSp>
        <p:nvGrpSpPr>
          <p:cNvPr id="6" name="组合 5"/>
          <p:cNvGrpSpPr/>
          <p:nvPr/>
        </p:nvGrpSpPr>
        <p:grpSpPr>
          <a:xfrm>
            <a:off x="3151505" y="2221449"/>
            <a:ext cx="7035800" cy="3226583"/>
            <a:chOff x="7182" y="2894"/>
            <a:chExt cx="9524" cy="3915"/>
          </a:xfrm>
        </p:grpSpPr>
        <p:grpSp>
          <p:nvGrpSpPr>
            <p:cNvPr id="7" name="组合 6"/>
            <p:cNvGrpSpPr/>
            <p:nvPr/>
          </p:nvGrpSpPr>
          <p:grpSpPr>
            <a:xfrm>
              <a:off x="7182" y="2929"/>
              <a:ext cx="1877" cy="965"/>
              <a:chOff x="2215144" y="982844"/>
              <a:chExt cx="1244730" cy="842780"/>
            </a:xfrm>
          </p:grpSpPr>
          <p:sp>
            <p:nvSpPr>
              <p:cNvPr id="9" name="平行四边形 8"/>
              <p:cNvSpPr/>
              <p:nvPr>
                <p:custDataLst>
                  <p:tags r:id="rId1"/>
                </p:custDataLst>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47" name="文本框 9"/>
              <p:cNvSpPr txBox="1"/>
              <p:nvPr>
                <p:custDataLst>
                  <p:tags r:id="rId2"/>
                </p:custDataLst>
              </p:nvPr>
            </p:nvSpPr>
            <p:spPr>
              <a:xfrm>
                <a:off x="2393075" y="1030207"/>
                <a:ext cx="1066799" cy="705703"/>
              </a:xfrm>
              <a:prstGeom prst="rect">
                <a:avLst/>
              </a:prstGeom>
              <a:noFill/>
            </p:spPr>
            <p:txBody>
              <a:bodyPr wrap="square" rtlCol="0">
                <a:spAutoFit/>
              </a:bodyPr>
              <a:p>
                <a:r>
                  <a:rPr lang="en-US" altLang="zh-CN" sz="3735" dirty="0">
                    <a:solidFill>
                      <a:schemeClr val="bg1"/>
                    </a:solidFill>
                    <a:latin typeface="Impact" panose="020B0806030902050204" pitchFamily="34" charset="0"/>
                  </a:rPr>
                  <a:t>01</a:t>
                </a:r>
                <a:endParaRPr lang="zh-CN" altLang="en-US" sz="3735" dirty="0">
                  <a:solidFill>
                    <a:schemeClr val="bg1"/>
                  </a:solidFill>
                  <a:latin typeface="Impact" panose="020B0806030902050204" pitchFamily="34" charset="0"/>
                </a:endParaRPr>
              </a:p>
            </p:txBody>
          </p:sp>
        </p:grpSp>
        <p:grpSp>
          <p:nvGrpSpPr>
            <p:cNvPr id="48" name="组合 47"/>
            <p:cNvGrpSpPr/>
            <p:nvPr/>
          </p:nvGrpSpPr>
          <p:grpSpPr>
            <a:xfrm>
              <a:off x="7182" y="4386"/>
              <a:ext cx="1877" cy="965"/>
              <a:chOff x="2215144" y="2033848"/>
              <a:chExt cx="1244730" cy="842781"/>
            </a:xfrm>
          </p:grpSpPr>
          <p:sp>
            <p:nvSpPr>
              <p:cNvPr id="49" name="平行四边形 48"/>
              <p:cNvSpPr/>
              <p:nvPr>
                <p:custDataLst>
                  <p:tags r:id="rId3"/>
                </p:custDataLst>
              </p:nvPr>
            </p:nvSpPr>
            <p:spPr>
              <a:xfrm>
                <a:off x="2215144" y="2033848"/>
                <a:ext cx="1120898" cy="842781"/>
              </a:xfrm>
              <a:prstGeom prst="parallelogram">
                <a:avLst>
                  <a:gd name="adj" fmla="val 4820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50" name="文本框 10"/>
              <p:cNvSpPr txBox="1"/>
              <p:nvPr>
                <p:custDataLst>
                  <p:tags r:id="rId4"/>
                </p:custDataLst>
              </p:nvPr>
            </p:nvSpPr>
            <p:spPr>
              <a:xfrm>
                <a:off x="2393075" y="2086920"/>
                <a:ext cx="1066799" cy="706024"/>
              </a:xfrm>
              <a:prstGeom prst="rect">
                <a:avLst/>
              </a:prstGeom>
              <a:noFill/>
            </p:spPr>
            <p:txBody>
              <a:bodyPr wrap="square" rtlCol="0">
                <a:spAutoFit/>
              </a:bodyPr>
              <a:p>
                <a:r>
                  <a:rPr lang="en-US" altLang="zh-CN" sz="3735" dirty="0">
                    <a:solidFill>
                      <a:schemeClr val="bg1"/>
                    </a:solidFill>
                    <a:latin typeface="Impact" panose="020B0806030902050204" pitchFamily="34" charset="0"/>
                  </a:rPr>
                  <a:t>02</a:t>
                </a:r>
                <a:endParaRPr lang="zh-CN" altLang="en-US" sz="3735" dirty="0">
                  <a:solidFill>
                    <a:schemeClr val="bg1"/>
                  </a:solidFill>
                  <a:latin typeface="Impact" panose="020B0806030902050204" pitchFamily="34" charset="0"/>
                </a:endParaRPr>
              </a:p>
            </p:txBody>
          </p:sp>
        </p:grpSp>
        <p:grpSp>
          <p:nvGrpSpPr>
            <p:cNvPr id="51" name="组合 50"/>
            <p:cNvGrpSpPr/>
            <p:nvPr/>
          </p:nvGrpSpPr>
          <p:grpSpPr>
            <a:xfrm>
              <a:off x="7182" y="5843"/>
              <a:ext cx="1877" cy="965"/>
              <a:chOff x="2215144" y="3084852"/>
              <a:chExt cx="1244730" cy="842781"/>
            </a:xfrm>
          </p:grpSpPr>
          <p:sp>
            <p:nvSpPr>
              <p:cNvPr id="52" name="平行四边形 51"/>
              <p:cNvSpPr/>
              <p:nvPr>
                <p:custDataLst>
                  <p:tags r:id="rId5"/>
                </p:custDataLst>
              </p:nvPr>
            </p:nvSpPr>
            <p:spPr>
              <a:xfrm>
                <a:off x="2215144" y="3084852"/>
                <a:ext cx="1120898" cy="842781"/>
              </a:xfrm>
              <a:prstGeom prst="parallelogram">
                <a:avLst>
                  <a:gd name="adj" fmla="val 4820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53" name="文本框 11"/>
              <p:cNvSpPr txBox="1"/>
              <p:nvPr>
                <p:custDataLst>
                  <p:tags r:id="rId6"/>
                </p:custDataLst>
              </p:nvPr>
            </p:nvSpPr>
            <p:spPr>
              <a:xfrm>
                <a:off x="2393075" y="3143263"/>
                <a:ext cx="1066799" cy="705703"/>
              </a:xfrm>
              <a:prstGeom prst="rect">
                <a:avLst/>
              </a:prstGeom>
              <a:noFill/>
            </p:spPr>
            <p:txBody>
              <a:bodyPr wrap="square" rtlCol="0">
                <a:spAutoFit/>
              </a:bodyPr>
              <a:p>
                <a:r>
                  <a:rPr lang="en-US" altLang="zh-CN" sz="3735" dirty="0">
                    <a:solidFill>
                      <a:schemeClr val="bg1"/>
                    </a:solidFill>
                    <a:latin typeface="Impact" panose="020B0806030902050204" pitchFamily="34" charset="0"/>
                  </a:rPr>
                  <a:t>03</a:t>
                </a:r>
                <a:endParaRPr lang="zh-CN" altLang="en-US" sz="3735" dirty="0">
                  <a:solidFill>
                    <a:schemeClr val="bg1"/>
                  </a:solidFill>
                  <a:latin typeface="Impact" panose="020B0806030902050204" pitchFamily="34" charset="0"/>
                </a:endParaRPr>
              </a:p>
            </p:txBody>
          </p:sp>
        </p:grpSp>
        <p:grpSp>
          <p:nvGrpSpPr>
            <p:cNvPr id="60" name="组合 59"/>
            <p:cNvGrpSpPr/>
            <p:nvPr/>
          </p:nvGrpSpPr>
          <p:grpSpPr>
            <a:xfrm>
              <a:off x="8608" y="2894"/>
              <a:ext cx="8098" cy="965"/>
              <a:chOff x="4315150" y="953426"/>
              <a:chExt cx="3857250" cy="540057"/>
            </a:xfrm>
          </p:grpSpPr>
          <p:sp>
            <p:nvSpPr>
              <p:cNvPr id="61" name="矩形 60"/>
              <p:cNvSpPr/>
              <p:nvPr>
                <p:custDataLst>
                  <p:tags r:id="rId7"/>
                </p:custDataLst>
              </p:nvPr>
            </p:nvSpPr>
            <p:spPr>
              <a:xfrm>
                <a:off x="4841196" y="1036090"/>
                <a:ext cx="2827147" cy="311716"/>
              </a:xfrm>
              <a:prstGeom prst="rect">
                <a:avLst/>
              </a:prstGeom>
              <a:ln w="15875">
                <a:noFill/>
              </a:ln>
            </p:spPr>
            <p:txBody>
              <a:bodyPr wrap="square" lIns="91428" tIns="45714" rIns="91428" bIns="45714">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因果图基本符号</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2" name="平行四边形 61"/>
              <p:cNvSpPr/>
              <p:nvPr>
                <p:custDataLst>
                  <p:tags r:id="rId8"/>
                </p:custDataLst>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28" tIns="45714" rIns="91428" bIns="45714" rtlCol="0" anchor="ctr"/>
              <a:p>
                <a:endParaRPr lang="zh-CN" altLang="en-US" sz="2135" b="1">
                  <a:solidFill>
                    <a:schemeClr val="tx1">
                      <a:lumMod val="75000"/>
                      <a:lumOff val="25000"/>
                    </a:schemeClr>
                  </a:solidFill>
                </a:endParaRPr>
              </a:p>
            </p:txBody>
          </p:sp>
        </p:grpSp>
        <p:grpSp>
          <p:nvGrpSpPr>
            <p:cNvPr id="63" name="组合 62"/>
            <p:cNvGrpSpPr/>
            <p:nvPr/>
          </p:nvGrpSpPr>
          <p:grpSpPr>
            <a:xfrm>
              <a:off x="8608" y="4352"/>
              <a:ext cx="8098" cy="965"/>
              <a:chOff x="4315150" y="1647579"/>
              <a:chExt cx="3857250" cy="540057"/>
            </a:xfrm>
          </p:grpSpPr>
          <p:sp>
            <p:nvSpPr>
              <p:cNvPr id="64" name="矩形 63"/>
              <p:cNvSpPr/>
              <p:nvPr>
                <p:custDataLst>
                  <p:tags r:id="rId9"/>
                </p:custDataLst>
              </p:nvPr>
            </p:nvSpPr>
            <p:spPr>
              <a:xfrm>
                <a:off x="4841406" y="1730387"/>
                <a:ext cx="3087053" cy="311716"/>
              </a:xfrm>
              <a:prstGeom prst="rect">
                <a:avLst/>
              </a:prstGeom>
              <a:ln w="15875">
                <a:noFill/>
              </a:ln>
            </p:spPr>
            <p:txBody>
              <a:bodyPr wrap="square" lIns="91428" tIns="45714" rIns="91428" bIns="45714">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因果图生成测试用例的步骤</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5" name="平行四边形 64"/>
              <p:cNvSpPr/>
              <p:nvPr>
                <p:custDataLst>
                  <p:tags r:id="rId10"/>
                </p:custDataLst>
              </p:nvPr>
            </p:nvSpPr>
            <p:spPr>
              <a:xfrm>
                <a:off x="4315150" y="1647579"/>
                <a:ext cx="3857250" cy="540057"/>
              </a:xfrm>
              <a:prstGeom prst="parallelogram">
                <a:avLst>
                  <a:gd name="adj" fmla="val 48207"/>
                </a:avLst>
              </a:pr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28" tIns="45714" rIns="91428" bIns="45714" rtlCol="0" anchor="ctr"/>
              <a:p>
                <a:endParaRPr lang="zh-CN" altLang="en-US" sz="2135" b="1">
                  <a:solidFill>
                    <a:schemeClr val="tx1">
                      <a:lumMod val="75000"/>
                      <a:lumOff val="25000"/>
                    </a:schemeClr>
                  </a:solidFill>
                </a:endParaRPr>
              </a:p>
            </p:txBody>
          </p:sp>
        </p:grpSp>
        <p:grpSp>
          <p:nvGrpSpPr>
            <p:cNvPr id="66" name="组合 65"/>
            <p:cNvGrpSpPr/>
            <p:nvPr/>
          </p:nvGrpSpPr>
          <p:grpSpPr>
            <a:xfrm>
              <a:off x="8608" y="5809"/>
              <a:ext cx="8098" cy="965"/>
              <a:chOff x="4315150" y="2341731"/>
              <a:chExt cx="3857250" cy="540057"/>
            </a:xfrm>
          </p:grpSpPr>
          <p:sp>
            <p:nvSpPr>
              <p:cNvPr id="67" name="矩形 66"/>
              <p:cNvSpPr/>
              <p:nvPr>
                <p:custDataLst>
                  <p:tags r:id="rId11"/>
                </p:custDataLst>
              </p:nvPr>
            </p:nvSpPr>
            <p:spPr>
              <a:xfrm>
                <a:off x="4841197" y="2424395"/>
                <a:ext cx="2827146" cy="311716"/>
              </a:xfrm>
              <a:prstGeom prst="rect">
                <a:avLst/>
              </a:prstGeom>
              <a:ln w="15875">
                <a:noFill/>
              </a:ln>
            </p:spPr>
            <p:txBody>
              <a:bodyPr wrap="square" lIns="91428" tIns="45714" rIns="91428" bIns="45714">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因果图设计测试用例举例</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8" name="平行四边形 67"/>
              <p:cNvSpPr/>
              <p:nvPr>
                <p:custDataLst>
                  <p:tags r:id="rId12"/>
                </p:custDataLst>
              </p:nvPr>
            </p:nvSpPr>
            <p:spPr>
              <a:xfrm>
                <a:off x="4315150" y="2341731"/>
                <a:ext cx="3857250" cy="540057"/>
              </a:xfrm>
              <a:prstGeom prst="parallelogram">
                <a:avLst>
                  <a:gd name="adj" fmla="val 48207"/>
                </a:avLst>
              </a:prstGeom>
              <a:noFill/>
              <a:ln w="158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28" tIns="45714" rIns="91428" bIns="45714" rtlCol="0" anchor="ctr"/>
              <a:p>
                <a:endParaRPr lang="zh-CN" altLang="en-US" sz="2135" b="1">
                  <a:solidFill>
                    <a:schemeClr val="tx1">
                      <a:lumMod val="75000"/>
                      <a:lumOff val="25000"/>
                    </a:schemeClr>
                  </a:solidFill>
                </a:endParaRPr>
              </a:p>
            </p:txBody>
          </p:sp>
        </p:grpSp>
      </p:gr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原因</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2209645" y="1167585"/>
            <a:ext cx="8228584" cy="4523105"/>
          </a:xfrm>
          <a:prstGeom prst="rect">
            <a:avLst/>
          </a:prstGeom>
          <a:noFill/>
          <a:ln w="9525">
            <a:noFill/>
          </a:ln>
        </p:spPr>
        <p:txBody>
          <a:bodyPr wrap="square">
            <a:spAutoFit/>
          </a:bodyPr>
          <a:p>
            <a:pPr indent="457200" fontAlgn="auto">
              <a:lnSpc>
                <a:spcPct val="150000"/>
              </a:lnSpc>
            </a:pPr>
            <a:r>
              <a:rPr lang="zh-CN" sz="2400" b="0">
                <a:latin typeface="微软雅黑" panose="020B0503020204020204" pitchFamily="34" charset="-122"/>
                <a:ea typeface="微软雅黑" panose="020B0503020204020204" pitchFamily="34" charset="-122"/>
              </a:rPr>
              <a:t>等价类划分法和边界值分析法只是孤立地考虑各个输入数据的测试效果，没有考虑输入数据的组合及相互制约关系。这样虽然各种输入条件可能出错的情况已经测试到了，但多个输入条件组合起来可能出错的情况却被忽视了。如果在测试时必须考虑输入条件的各种组合，则可能的组合数目将是天文数字，因此必须考虑采取一种适合于描述多种条件的组合、相应产生多个动作的形式，来进行测试用例的设计，这就需要利用因果图（逻辑模型）。</a:t>
            </a:r>
            <a:endParaRPr lang="zh-CN" altLang="en-US" sz="2400" b="0">
              <a:latin typeface="微软雅黑" panose="020B0503020204020204" pitchFamily="34" charset="-122"/>
              <a:ea typeface="微软雅黑" panose="020B0503020204020204" pitchFamily="34" charset="-122"/>
            </a:endParaRPr>
          </a:p>
        </p:txBody>
      </p:sp>
    </p:spTree>
  </p:cSld>
  <p:clrMapOvr>
    <a:masterClrMapping/>
  </p:clrMapOvr>
  <p:transition advTm="1310">
    <p:random/>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105" y="1594058"/>
            <a:ext cx="2812399" cy="2101481"/>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3928746" y="3014215"/>
            <a:ext cx="4450080" cy="829945"/>
          </a:xfrm>
          <a:prstGeom prst="rect">
            <a:avLst/>
          </a:prstGeom>
          <a:noFill/>
        </p:spPr>
        <p:txBody>
          <a:bodyPr wrap="non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因果图基本符号</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217" y="2656121"/>
            <a:ext cx="2069153" cy="1546112"/>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5702" y="2328231"/>
            <a:ext cx="3457976" cy="2583868"/>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8675" y="2883913"/>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01</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177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因果图基本符号</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743612" y="929491"/>
            <a:ext cx="8824141" cy="1938020"/>
          </a:xfrm>
          <a:prstGeom prst="rect">
            <a:avLst/>
          </a:prstGeom>
          <a:noFill/>
          <a:ln w="9525">
            <a:noFill/>
          </a:ln>
        </p:spPr>
        <p:txBody>
          <a:bodyPr wrap="square">
            <a:spAutoFit/>
          </a:bodyPr>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因果图使用简单的逻辑符号，以直线连接左右结点。左结点表示输入状态（原因），右结点表示输出状态（结果）。图9-1表示规格说明中的4种因果关系，其中Ci表示原因，通常置于图的左部；ei表示结果，通常在图的右部。Ci和ei均可取值0或1（0表示某状态不出现，1表示某状态出现）。</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5843" name="图片 3584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2581393" y="3015208"/>
            <a:ext cx="7726798" cy="2735662"/>
          </a:xfrm>
          <a:prstGeom prst="rect">
            <a:avLst/>
          </a:prstGeom>
          <a:noFill/>
          <a:ln>
            <a:noFill/>
          </a:ln>
        </p:spPr>
      </p:pic>
      <p:sp>
        <p:nvSpPr>
          <p:cNvPr id="100" name="文本框 99"/>
          <p:cNvSpPr txBox="1"/>
          <p:nvPr/>
        </p:nvSpPr>
        <p:spPr>
          <a:xfrm>
            <a:off x="4290918" y="6014577"/>
            <a:ext cx="5079373" cy="337185"/>
          </a:xfrm>
          <a:prstGeom prst="rect">
            <a:avLst/>
          </a:prstGeom>
          <a:noFill/>
          <a:ln w="9525">
            <a:noFill/>
          </a:ln>
        </p:spPr>
        <p:txBody>
          <a:bodyPr>
            <a:spAutoFit/>
          </a:bodyPr>
          <a:p>
            <a:pPr indent="304800" algn="ctr"/>
            <a:r>
              <a:rPr lang="zh-CN" sz="1600" b="0">
                <a:ea typeface="宋体" panose="02010600030101010101" pitchFamily="2" charset="-122"/>
              </a:rPr>
              <a:t>图9-1 因果图基本结构</a:t>
            </a:r>
            <a:endParaRPr lang="zh-CN" altLang="en-US" sz="1600" b="0">
              <a:ea typeface="宋体" panose="02010600030101010101" pitchFamily="2" charset="-122"/>
            </a:endParaRPr>
          </a:p>
        </p:txBody>
      </p:sp>
    </p:spTree>
  </p:cSld>
  <p:clrMapOvr>
    <a:masterClrMapping/>
  </p:clrMapOvr>
  <p:transition advTm="1310">
    <p:random/>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因果图基本符号</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2369645" y="3224731"/>
            <a:ext cx="8824141" cy="3322955"/>
          </a:xfrm>
          <a:prstGeom prst="rect">
            <a:avLst/>
          </a:prstGeom>
          <a:noFill/>
          <a:ln w="9525">
            <a:noFill/>
          </a:ln>
        </p:spPr>
        <p:txBody>
          <a:bodyPr wrap="square">
            <a:spAutoFit/>
          </a:bodyPr>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其中：</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(a)表示“恒等”关系，即若Ci是1，则ei也是1；若Ci是0，则ei为0；</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(b)表示“非”关系，即若Ci是1，则ei是0；若Ci是0，则ei为1；</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(c)表示“或”关系，“或”可有任意个输入，若C1或C2或C3是1，则ei是1.否则ei为0；</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(d)表示“与”关系，也可以有任意个输入，若c1和c2都是1，则ei为1,；否则ei为0。</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5843" name="图片 3584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2740757" y="252663"/>
            <a:ext cx="7726798" cy="2735662"/>
          </a:xfrm>
          <a:prstGeom prst="rect">
            <a:avLst/>
          </a:prstGeom>
          <a:noFill/>
          <a:ln>
            <a:noFill/>
          </a:ln>
        </p:spPr>
      </p:pic>
    </p:spTree>
  </p:cSld>
  <p:clrMapOvr>
    <a:masterClrMapping/>
  </p:clrMapOvr>
  <p:transition advTm="1310">
    <p:random/>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因果图基本符号</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2419169" y="5301560"/>
            <a:ext cx="8824141" cy="1014730"/>
          </a:xfrm>
          <a:prstGeom prst="rect">
            <a:avLst/>
          </a:prstGeom>
          <a:noFill/>
          <a:ln w="9525">
            <a:noFill/>
          </a:ln>
        </p:spPr>
        <p:txBody>
          <a:bodyPr wrap="square">
            <a:spAutoFit/>
          </a:bodyPr>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在输入输出状态之间存在的某些依赖关系，称为约束。例如，某些输入条件不可能同时出现，如图</a:t>
            </a:r>
            <a:r>
              <a:rPr lang="en-US" altLang="zh-CN" sz="2000" b="0">
                <a:latin typeface="微软雅黑" panose="020B0503020204020204" pitchFamily="34" charset="-122"/>
                <a:ea typeface="微软雅黑" panose="020B0503020204020204" pitchFamily="34" charset="-122"/>
                <a:cs typeface="微软雅黑" panose="020B0503020204020204" pitchFamily="34" charset="-122"/>
              </a:rPr>
              <a:t>9</a:t>
            </a:r>
            <a:r>
              <a:rPr lang="zh-CN" sz="2000" b="0">
                <a:latin typeface="微软雅黑" panose="020B0503020204020204" pitchFamily="34" charset="-122"/>
                <a:ea typeface="微软雅黑" panose="020B0503020204020204" pitchFamily="34" charset="-122"/>
                <a:cs typeface="微软雅黑" panose="020B0503020204020204" pitchFamily="34" charset="-122"/>
              </a:rPr>
              <a:t>-2所示。</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5844" name="图片 3584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2158851" y="1590444"/>
            <a:ext cx="8440889" cy="2735662"/>
          </a:xfrm>
          <a:prstGeom prst="rect">
            <a:avLst/>
          </a:prstGeom>
          <a:noFill/>
          <a:ln>
            <a:noFill/>
          </a:ln>
        </p:spPr>
      </p:pic>
      <p:sp>
        <p:nvSpPr>
          <p:cNvPr id="100" name="文本框 99"/>
          <p:cNvSpPr txBox="1"/>
          <p:nvPr/>
        </p:nvSpPr>
        <p:spPr>
          <a:xfrm>
            <a:off x="3940441" y="4556797"/>
            <a:ext cx="5079373" cy="337185"/>
          </a:xfrm>
          <a:prstGeom prst="rect">
            <a:avLst/>
          </a:prstGeom>
          <a:noFill/>
          <a:ln w="9525">
            <a:noFill/>
          </a:ln>
        </p:spPr>
        <p:txBody>
          <a:bodyPr>
            <a:spAutoFit/>
          </a:bodyPr>
          <a:p>
            <a:pPr indent="304800" algn="ctr"/>
            <a:r>
              <a:rPr lang="zh-CN" sz="1600" b="0">
                <a:ea typeface="宋体" panose="02010600030101010101" pitchFamily="2" charset="-122"/>
              </a:rPr>
              <a:t>图9-2 约束形式</a:t>
            </a:r>
            <a:endParaRPr lang="zh-CN" altLang="en-US" sz="1600" b="0">
              <a:ea typeface="宋体" panose="02010600030101010101" pitchFamily="2" charset="-122"/>
            </a:endParaRPr>
          </a:p>
        </p:txBody>
      </p:sp>
    </p:spTree>
  </p:cSld>
  <p:clrMapOvr>
    <a:masterClrMapping/>
  </p:clrMapOvr>
  <p:transition advTm="1310">
    <p:random/>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因果图基本符号</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2118851" y="3244414"/>
            <a:ext cx="8824141" cy="3322955"/>
          </a:xfrm>
          <a:prstGeom prst="rect">
            <a:avLst/>
          </a:prstGeom>
          <a:noFill/>
          <a:ln w="9525">
            <a:noFill/>
          </a:ln>
        </p:spPr>
        <p:txBody>
          <a:bodyPr wrap="square">
            <a:spAutoFit/>
          </a:bodyPr>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于输入条件的约束有4种：</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E约束（异</a:t>
            </a:r>
            <a:r>
              <a:rPr lang="zh-CN" sz="2000" b="0">
                <a:latin typeface="微软雅黑" panose="020B0503020204020204" pitchFamily="34" charset="-122"/>
                <a:ea typeface="微软雅黑" panose="020B0503020204020204" pitchFamily="34" charset="-122"/>
                <a:cs typeface="微软雅黑" panose="020B0503020204020204" pitchFamily="34" charset="-122"/>
              </a:rPr>
              <a:t>）：a和b中最多有一个可能为1，即a和b不能同时为1；</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I约束（或）</a:t>
            </a:r>
            <a:r>
              <a:rPr lang="zh-CN" sz="2000" b="0">
                <a:latin typeface="微软雅黑" panose="020B0503020204020204" pitchFamily="34" charset="-122"/>
                <a:ea typeface="微软雅黑" panose="020B0503020204020204" pitchFamily="34" charset="-122"/>
                <a:cs typeface="微软雅黑" panose="020B0503020204020204" pitchFamily="34" charset="-122"/>
              </a:rPr>
              <a:t>：a、b、c中至少有一个必须是1，即a、b、c不能同时为0；</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O约束（唯一）</a:t>
            </a:r>
            <a:r>
              <a:rPr lang="zh-CN" sz="2000" b="0">
                <a:latin typeface="微软雅黑" panose="020B0503020204020204" pitchFamily="34" charset="-122"/>
                <a:ea typeface="微软雅黑" panose="020B0503020204020204" pitchFamily="34" charset="-122"/>
                <a:cs typeface="微软雅黑" panose="020B0503020204020204" pitchFamily="34" charset="-122"/>
              </a:rPr>
              <a:t>：a和b必须有一个且仅有一个为1；</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R约束（要求）</a:t>
            </a:r>
            <a:r>
              <a:rPr lang="zh-CN" sz="2000" b="0">
                <a:latin typeface="微软雅黑" panose="020B0503020204020204" pitchFamily="34" charset="-122"/>
                <a:ea typeface="微软雅黑" panose="020B0503020204020204" pitchFamily="34" charset="-122"/>
                <a:cs typeface="微软雅黑" panose="020B0503020204020204" pitchFamily="34" charset="-122"/>
              </a:rPr>
              <a:t>：当a是1时，b必须是1。</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M约束（强制）</a:t>
            </a:r>
            <a:r>
              <a:rPr lang="zh-CN" sz="2000" b="0">
                <a:latin typeface="微软雅黑" panose="020B0503020204020204" pitchFamily="34" charset="-122"/>
                <a:ea typeface="微软雅黑" panose="020B0503020204020204" pitchFamily="34" charset="-122"/>
                <a:cs typeface="微软雅黑" panose="020B0503020204020204" pitchFamily="34" charset="-122"/>
              </a:rPr>
              <a:t>：若结果a是1，则结果b强制为0。</a:t>
            </a:r>
            <a:r>
              <a:rPr lang="zh-CN" sz="2000">
                <a:latin typeface="微软雅黑" panose="020B0503020204020204" pitchFamily="34" charset="-122"/>
                <a:ea typeface="微软雅黑" panose="020B0503020204020204" pitchFamily="34" charset="-122"/>
                <a:cs typeface="微软雅黑" panose="020B0503020204020204" pitchFamily="34" charset="-122"/>
                <a:sym typeface="+mn-ea"/>
              </a:rPr>
              <a:t>对于输出条件的约束只有M约束。</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5844" name="图片 3584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2834408" y="516791"/>
            <a:ext cx="7559067" cy="2449867"/>
          </a:xfrm>
          <a:prstGeom prst="rect">
            <a:avLst/>
          </a:prstGeom>
          <a:noFill/>
          <a:ln>
            <a:noFill/>
          </a:ln>
        </p:spPr>
      </p:pic>
    </p:spTree>
  </p:cSld>
  <p:clrMapOvr>
    <a:masterClrMapping/>
  </p:clrMapOvr>
  <p:transition advTm="1310">
    <p:random/>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105" y="1594058"/>
            <a:ext cx="2812399" cy="2101481"/>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2909063" y="3014849"/>
            <a:ext cx="7498080" cy="829945"/>
          </a:xfrm>
          <a:prstGeom prst="rect">
            <a:avLst/>
          </a:prstGeom>
          <a:noFill/>
        </p:spPr>
        <p:txBody>
          <a:bodyPr wrap="non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因果图生成测试用例的步骤</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217" y="2656121"/>
            <a:ext cx="2069153" cy="1546112"/>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5702" y="2328231"/>
            <a:ext cx="3457976" cy="2583868"/>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8675" y="2883913"/>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02</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1731">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499" y="57108"/>
            <a:ext cx="3389847" cy="55809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因果图生成测试用例的步骤</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2" name="Content Placeholder 2"/>
          <p:cNvSpPr txBox="1"/>
          <p:nvPr/>
        </p:nvSpPr>
        <p:spPr>
          <a:xfrm>
            <a:off x="1496808" y="3286326"/>
            <a:ext cx="1997299" cy="1751965"/>
          </a:xfrm>
          <a:prstGeom prst="rect">
            <a:avLst/>
          </a:prstGeom>
        </p:spPr>
        <p:txBody>
          <a:bodyPr wrap="square" lIns="91379" tIns="45690" rIns="91379" bIns="45690">
            <a:spAutoFit/>
          </a:bodyPr>
          <a:lstStyle>
            <a:defPPr>
              <a:defRPr lang="zh-CN"/>
            </a:defPPr>
            <a:lvl1pPr>
              <a:lnSpc>
                <a:spcPct val="150000"/>
              </a:lnSpc>
              <a:defRPr sz="1400">
                <a:solidFill>
                  <a:schemeClr val="tx1">
                    <a:lumMod val="50000"/>
                    <a:lumOff val="50000"/>
                  </a:schemeClr>
                </a:solidFill>
                <a:latin typeface="微软雅黑" panose="020B0503020204020204" pitchFamily="34" charset="-122"/>
                <a:ea typeface="微软雅黑" panose="020B0503020204020204" pitchFamily="34" charset="-122"/>
                <a:cs typeface="Segoe UI Semilight" panose="020B0402040204020203" pitchFamily="34" charset="0"/>
              </a:defRPr>
            </a:lvl1pPr>
          </a:lstStyle>
          <a:p>
            <a:r>
              <a:rPr lang="zh-CN" sz="1800" dirty="0">
                <a:solidFill>
                  <a:schemeClr val="tx1"/>
                </a:solidFill>
                <a:sym typeface="Arial" panose="020B0604020202020204" pitchFamily="34" charset="0"/>
              </a:rPr>
              <a:t>分析软件规格说明书，给每个原因和结果赋予标识符。</a:t>
            </a:r>
            <a:endParaRPr lang="zh-CN" sz="1800" dirty="0">
              <a:solidFill>
                <a:schemeClr val="tx1"/>
              </a:solidFill>
              <a:sym typeface="Arial" panose="020B0604020202020204" pitchFamily="34" charset="0"/>
            </a:endParaRPr>
          </a:p>
        </p:txBody>
      </p:sp>
      <p:sp>
        <p:nvSpPr>
          <p:cNvPr id="13" name="Content Placeholder 2"/>
          <p:cNvSpPr txBox="1"/>
          <p:nvPr/>
        </p:nvSpPr>
        <p:spPr>
          <a:xfrm>
            <a:off x="3610283" y="3771014"/>
            <a:ext cx="1990410" cy="2167255"/>
          </a:xfrm>
          <a:prstGeom prst="rect">
            <a:avLst/>
          </a:prstGeom>
        </p:spPr>
        <p:txBody>
          <a:bodyPr wrap="square" lIns="91379" tIns="45690" rIns="91379" bIns="45690">
            <a:spAutoFit/>
          </a:bodyPr>
          <a:lstStyle>
            <a:defPPr>
              <a:defRPr lang="zh-CN"/>
            </a:defPPr>
            <a:lvl1pPr>
              <a:lnSpc>
                <a:spcPct val="150000"/>
              </a:lnSpc>
              <a:defRPr sz="1400">
                <a:solidFill>
                  <a:schemeClr val="tx1">
                    <a:lumMod val="50000"/>
                    <a:lumOff val="50000"/>
                  </a:schemeClr>
                </a:solidFill>
                <a:latin typeface="微软雅黑" panose="020B0503020204020204" pitchFamily="34" charset="-122"/>
                <a:ea typeface="微软雅黑" panose="020B0503020204020204" pitchFamily="34" charset="-122"/>
                <a:cs typeface="Segoe UI Semilight" panose="020B0402040204020203" pitchFamily="34" charset="0"/>
              </a:defRPr>
            </a:lvl1pPr>
          </a:lstStyle>
          <a:p>
            <a:r>
              <a:rPr sz="1800" dirty="0">
                <a:solidFill>
                  <a:schemeClr val="tx1"/>
                </a:solidFill>
                <a:sym typeface="Arial" panose="020B0604020202020204" pitchFamily="34" charset="0"/>
              </a:rPr>
              <a:t>分析原因与结果之间，原因与原因之间的逻辑关系，用因果图的方式表示。</a:t>
            </a:r>
            <a:endParaRPr lang="en-US" altLang="zh-CN" sz="1800" dirty="0">
              <a:solidFill>
                <a:schemeClr val="tx1"/>
              </a:solidFill>
              <a:sym typeface="Arial" panose="020B0604020202020204" pitchFamily="34" charset="0"/>
            </a:endParaRPr>
          </a:p>
        </p:txBody>
      </p:sp>
      <p:sp>
        <p:nvSpPr>
          <p:cNvPr id="14" name="Content Placeholder 2"/>
          <p:cNvSpPr txBox="1"/>
          <p:nvPr/>
        </p:nvSpPr>
        <p:spPr>
          <a:xfrm>
            <a:off x="5717003" y="4140301"/>
            <a:ext cx="1990410" cy="920750"/>
          </a:xfrm>
          <a:prstGeom prst="rect">
            <a:avLst/>
          </a:prstGeom>
        </p:spPr>
        <p:txBody>
          <a:bodyPr wrap="square" lIns="91379" tIns="45690" rIns="91379" bIns="45690">
            <a:spAutoFit/>
          </a:bodyPr>
          <a:lstStyle>
            <a:defPPr>
              <a:defRPr lang="zh-CN"/>
            </a:defPPr>
            <a:lvl1pPr>
              <a:lnSpc>
                <a:spcPct val="150000"/>
              </a:lnSpc>
              <a:defRPr sz="1400">
                <a:solidFill>
                  <a:schemeClr val="tx1">
                    <a:lumMod val="50000"/>
                    <a:lumOff val="50000"/>
                  </a:schemeClr>
                </a:solidFill>
                <a:latin typeface="微软雅黑" panose="020B0503020204020204" pitchFamily="34" charset="-122"/>
                <a:ea typeface="微软雅黑" panose="020B0503020204020204" pitchFamily="34" charset="-122"/>
                <a:cs typeface="Segoe UI Semilight" panose="020B0402040204020203" pitchFamily="34" charset="0"/>
              </a:defRPr>
            </a:lvl1pPr>
          </a:lstStyle>
          <a:p>
            <a:r>
              <a:rPr sz="1800" dirty="0">
                <a:solidFill>
                  <a:schemeClr val="tx1"/>
                </a:solidFill>
                <a:sym typeface="Arial" panose="020B0604020202020204" pitchFamily="34" charset="0"/>
              </a:rPr>
              <a:t>因果图转换成决策表。</a:t>
            </a:r>
            <a:endParaRPr sz="1800" dirty="0">
              <a:solidFill>
                <a:schemeClr val="tx1"/>
              </a:solidFill>
              <a:sym typeface="Arial" panose="020B0604020202020204" pitchFamily="34" charset="0"/>
            </a:endParaRPr>
          </a:p>
        </p:txBody>
      </p:sp>
      <p:sp>
        <p:nvSpPr>
          <p:cNvPr id="15" name="Content Placeholder 2"/>
          <p:cNvSpPr txBox="1"/>
          <p:nvPr/>
        </p:nvSpPr>
        <p:spPr>
          <a:xfrm>
            <a:off x="7822535" y="4624989"/>
            <a:ext cx="2052501" cy="920750"/>
          </a:xfrm>
          <a:prstGeom prst="rect">
            <a:avLst/>
          </a:prstGeom>
        </p:spPr>
        <p:txBody>
          <a:bodyPr wrap="square" lIns="91379" tIns="45690" rIns="91379" bIns="45690">
            <a:spAutoFit/>
          </a:bodyPr>
          <a:lstStyle>
            <a:defPPr>
              <a:defRPr lang="zh-CN"/>
            </a:defPPr>
            <a:lvl1pPr>
              <a:lnSpc>
                <a:spcPct val="150000"/>
              </a:lnSpc>
              <a:defRPr sz="1400">
                <a:solidFill>
                  <a:schemeClr val="tx1">
                    <a:lumMod val="50000"/>
                    <a:lumOff val="50000"/>
                  </a:schemeClr>
                </a:solidFill>
                <a:latin typeface="微软雅黑" panose="020B0503020204020204" pitchFamily="34" charset="-122"/>
                <a:ea typeface="微软雅黑" panose="020B0503020204020204" pitchFamily="34" charset="-122"/>
                <a:cs typeface="Segoe UI Semilight" panose="020B0402040204020203" pitchFamily="34" charset="0"/>
              </a:defRPr>
            </a:lvl1pPr>
          </a:lstStyle>
          <a:p>
            <a:r>
              <a:rPr sz="1800" dirty="0">
                <a:solidFill>
                  <a:schemeClr val="tx1"/>
                </a:solidFill>
                <a:sym typeface="Arial" panose="020B0604020202020204" pitchFamily="34" charset="0"/>
              </a:rPr>
              <a:t>从决策表的每一列产生出测试用例。</a:t>
            </a:r>
            <a:endParaRPr lang="en-US" altLang="zh-CN" sz="1800" dirty="0">
              <a:solidFill>
                <a:schemeClr val="tx1"/>
              </a:solidFill>
              <a:sym typeface="Arial" panose="020B0604020202020204" pitchFamily="34" charset="0"/>
            </a:endParaRPr>
          </a:p>
        </p:txBody>
      </p:sp>
      <p:sp>
        <p:nvSpPr>
          <p:cNvPr id="5" name="任意多边形 4"/>
          <p:cNvSpPr/>
          <p:nvPr/>
        </p:nvSpPr>
        <p:spPr>
          <a:xfrm>
            <a:off x="1568208" y="2177397"/>
            <a:ext cx="9083409" cy="1322521"/>
          </a:xfrm>
          <a:custGeom>
            <a:avLst/>
            <a:gdLst>
              <a:gd name="connsiteX0" fmla="*/ 0 w 9581341"/>
              <a:gd name="connsiteY0" fmla="*/ 348736 h 1394942"/>
              <a:gd name="connsiteX1" fmla="*/ 8883870 w 9581341"/>
              <a:gd name="connsiteY1" fmla="*/ 348736 h 1394942"/>
              <a:gd name="connsiteX2" fmla="*/ 8883870 w 9581341"/>
              <a:gd name="connsiteY2" fmla="*/ 0 h 1394942"/>
              <a:gd name="connsiteX3" fmla="*/ 9581341 w 9581341"/>
              <a:gd name="connsiteY3" fmla="*/ 697471 h 1394942"/>
              <a:gd name="connsiteX4" fmla="*/ 8883870 w 9581341"/>
              <a:gd name="connsiteY4" fmla="*/ 1394942 h 1394942"/>
              <a:gd name="connsiteX5" fmla="*/ 8883870 w 9581341"/>
              <a:gd name="connsiteY5" fmla="*/ 1046207 h 1394942"/>
              <a:gd name="connsiteX6" fmla="*/ 0 w 9581341"/>
              <a:gd name="connsiteY6" fmla="*/ 1046207 h 1394942"/>
              <a:gd name="connsiteX7" fmla="*/ 0 w 9581341"/>
              <a:gd name="connsiteY7" fmla="*/ 348736 h 139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81341" h="1394942">
                <a:moveTo>
                  <a:pt x="0" y="348736"/>
                </a:moveTo>
                <a:lnTo>
                  <a:pt x="8883870" y="348736"/>
                </a:lnTo>
                <a:lnTo>
                  <a:pt x="8883870" y="0"/>
                </a:lnTo>
                <a:lnTo>
                  <a:pt x="9581341" y="697471"/>
                </a:lnTo>
                <a:lnTo>
                  <a:pt x="8883870" y="1394942"/>
                </a:lnTo>
                <a:lnTo>
                  <a:pt x="8883870" y="1046207"/>
                </a:lnTo>
                <a:lnTo>
                  <a:pt x="0" y="1046207"/>
                </a:lnTo>
                <a:lnTo>
                  <a:pt x="0" y="348736"/>
                </a:lnTo>
                <a:close/>
              </a:path>
            </a:pathLst>
          </a:custGeom>
          <a:ln>
            <a:noFill/>
          </a:ln>
        </p:spPr>
        <p:style>
          <a:lnRef idx="2">
            <a:scrgbClr r="0" g="0" b="0"/>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511910" tIns="359490" rIns="571381" bIns="540522" numCol="1" spcCol="1204" anchor="ctr" anchorCtr="0">
            <a:noAutofit/>
          </a:bodyPr>
          <a:lstStyle/>
          <a:p>
            <a:pPr algn="ctr" defTabSz="336550">
              <a:lnSpc>
                <a:spcPct val="120000"/>
              </a:lnSpc>
            </a:pPr>
            <a:r>
              <a:rPr lang="zh-CN" sz="20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步骤一</a:t>
            </a:r>
            <a:endParaRPr lang="zh-CN" sz="20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任意多边形 6"/>
          <p:cNvSpPr/>
          <p:nvPr/>
        </p:nvSpPr>
        <p:spPr>
          <a:xfrm>
            <a:off x="3661934" y="2705019"/>
            <a:ext cx="6989684" cy="1322521"/>
          </a:xfrm>
          <a:custGeom>
            <a:avLst/>
            <a:gdLst>
              <a:gd name="connsiteX0" fmla="*/ 0 w 7372841"/>
              <a:gd name="connsiteY0" fmla="*/ 348736 h 1394942"/>
              <a:gd name="connsiteX1" fmla="*/ 6675370 w 7372841"/>
              <a:gd name="connsiteY1" fmla="*/ 348736 h 1394942"/>
              <a:gd name="connsiteX2" fmla="*/ 6675370 w 7372841"/>
              <a:gd name="connsiteY2" fmla="*/ 0 h 1394942"/>
              <a:gd name="connsiteX3" fmla="*/ 7372841 w 7372841"/>
              <a:gd name="connsiteY3" fmla="*/ 697471 h 1394942"/>
              <a:gd name="connsiteX4" fmla="*/ 6675370 w 7372841"/>
              <a:gd name="connsiteY4" fmla="*/ 1394942 h 1394942"/>
              <a:gd name="connsiteX5" fmla="*/ 6675370 w 7372841"/>
              <a:gd name="connsiteY5" fmla="*/ 1046207 h 1394942"/>
              <a:gd name="connsiteX6" fmla="*/ 0 w 7372841"/>
              <a:gd name="connsiteY6" fmla="*/ 1046207 h 1394942"/>
              <a:gd name="connsiteX7" fmla="*/ 0 w 7372841"/>
              <a:gd name="connsiteY7" fmla="*/ 348736 h 139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72841" h="1394942">
                <a:moveTo>
                  <a:pt x="0" y="348736"/>
                </a:moveTo>
                <a:lnTo>
                  <a:pt x="6675370" y="348736"/>
                </a:lnTo>
                <a:lnTo>
                  <a:pt x="6675370" y="0"/>
                </a:lnTo>
                <a:lnTo>
                  <a:pt x="7372841" y="697471"/>
                </a:lnTo>
                <a:lnTo>
                  <a:pt x="6675370" y="1394942"/>
                </a:lnTo>
                <a:lnTo>
                  <a:pt x="6675370" y="1046207"/>
                </a:lnTo>
                <a:lnTo>
                  <a:pt x="0" y="1046207"/>
                </a:lnTo>
                <a:lnTo>
                  <a:pt x="0" y="348736"/>
                </a:lnTo>
                <a:close/>
              </a:path>
            </a:pathLst>
          </a:custGeom>
          <a:ln>
            <a:noFill/>
          </a:ln>
        </p:spPr>
        <p:style>
          <a:lnRef idx="2">
            <a:scrgbClr r="0" g="0" b="0"/>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511910" tIns="359490" rIns="571381" bIns="540522" numCol="1" spcCol="1204" anchor="ctr" anchorCtr="0">
            <a:noAutofit/>
          </a:bodyPr>
          <a:lstStyle/>
          <a:p>
            <a:pPr algn="ctr" defTabSz="336550">
              <a:lnSpc>
                <a:spcPct val="120000"/>
              </a:lnSpc>
            </a:pPr>
            <a:r>
              <a:rPr lang="zh-CN"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步骤二</a:t>
            </a:r>
            <a:endParaRPr lang="zh-CN"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任意多边形 7"/>
          <p:cNvSpPr/>
          <p:nvPr/>
        </p:nvSpPr>
        <p:spPr>
          <a:xfrm>
            <a:off x="5755659" y="3087828"/>
            <a:ext cx="4895957" cy="1322521"/>
          </a:xfrm>
          <a:custGeom>
            <a:avLst/>
            <a:gdLst>
              <a:gd name="connsiteX0" fmla="*/ 0 w 5164342"/>
              <a:gd name="connsiteY0" fmla="*/ 348736 h 1394942"/>
              <a:gd name="connsiteX1" fmla="*/ 4466871 w 5164342"/>
              <a:gd name="connsiteY1" fmla="*/ 348736 h 1394942"/>
              <a:gd name="connsiteX2" fmla="*/ 4466871 w 5164342"/>
              <a:gd name="connsiteY2" fmla="*/ 0 h 1394942"/>
              <a:gd name="connsiteX3" fmla="*/ 5164342 w 5164342"/>
              <a:gd name="connsiteY3" fmla="*/ 697471 h 1394942"/>
              <a:gd name="connsiteX4" fmla="*/ 4466871 w 5164342"/>
              <a:gd name="connsiteY4" fmla="*/ 1394942 h 1394942"/>
              <a:gd name="connsiteX5" fmla="*/ 4466871 w 5164342"/>
              <a:gd name="connsiteY5" fmla="*/ 1046207 h 1394942"/>
              <a:gd name="connsiteX6" fmla="*/ 0 w 5164342"/>
              <a:gd name="connsiteY6" fmla="*/ 1046207 h 1394942"/>
              <a:gd name="connsiteX7" fmla="*/ 0 w 5164342"/>
              <a:gd name="connsiteY7" fmla="*/ 348736 h 139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64342" h="1394942">
                <a:moveTo>
                  <a:pt x="0" y="348736"/>
                </a:moveTo>
                <a:lnTo>
                  <a:pt x="4466871" y="348736"/>
                </a:lnTo>
                <a:lnTo>
                  <a:pt x="4466871" y="0"/>
                </a:lnTo>
                <a:lnTo>
                  <a:pt x="5164342" y="697471"/>
                </a:lnTo>
                <a:lnTo>
                  <a:pt x="4466871" y="1394942"/>
                </a:lnTo>
                <a:lnTo>
                  <a:pt x="4466871" y="1046207"/>
                </a:lnTo>
                <a:lnTo>
                  <a:pt x="0" y="1046207"/>
                </a:lnTo>
                <a:lnTo>
                  <a:pt x="0" y="348736"/>
                </a:lnTo>
                <a:close/>
              </a:path>
            </a:pathLst>
          </a:custGeom>
          <a:ln>
            <a:noFill/>
          </a:ln>
        </p:spPr>
        <p:style>
          <a:lnRef idx="2">
            <a:scrgbClr r="0" g="0" b="0"/>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511910" tIns="359490" rIns="571381" bIns="540522" numCol="1" spcCol="1204" anchor="ctr" anchorCtr="0">
            <a:noAutofit/>
          </a:bodyPr>
          <a:lstStyle/>
          <a:p>
            <a:pPr algn="ctr" defTabSz="336550">
              <a:lnSpc>
                <a:spcPct val="120000"/>
              </a:lnSpc>
            </a:pPr>
            <a:r>
              <a:rPr lang="zh-CN"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步骤三</a:t>
            </a:r>
            <a:endParaRPr lang="zh-CN"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任意多边形 8"/>
          <p:cNvSpPr/>
          <p:nvPr/>
        </p:nvSpPr>
        <p:spPr>
          <a:xfrm>
            <a:off x="7849385" y="3528406"/>
            <a:ext cx="2802231" cy="1322521"/>
          </a:xfrm>
          <a:custGeom>
            <a:avLst/>
            <a:gdLst>
              <a:gd name="connsiteX0" fmla="*/ 0 w 2955843"/>
              <a:gd name="connsiteY0" fmla="*/ 348736 h 1394942"/>
              <a:gd name="connsiteX1" fmla="*/ 2258372 w 2955843"/>
              <a:gd name="connsiteY1" fmla="*/ 348736 h 1394942"/>
              <a:gd name="connsiteX2" fmla="*/ 2258372 w 2955843"/>
              <a:gd name="connsiteY2" fmla="*/ 0 h 1394942"/>
              <a:gd name="connsiteX3" fmla="*/ 2955843 w 2955843"/>
              <a:gd name="connsiteY3" fmla="*/ 697471 h 1394942"/>
              <a:gd name="connsiteX4" fmla="*/ 2258372 w 2955843"/>
              <a:gd name="connsiteY4" fmla="*/ 1394942 h 1394942"/>
              <a:gd name="connsiteX5" fmla="*/ 2258372 w 2955843"/>
              <a:gd name="connsiteY5" fmla="*/ 1046207 h 1394942"/>
              <a:gd name="connsiteX6" fmla="*/ 0 w 2955843"/>
              <a:gd name="connsiteY6" fmla="*/ 1046207 h 1394942"/>
              <a:gd name="connsiteX7" fmla="*/ 0 w 2955843"/>
              <a:gd name="connsiteY7" fmla="*/ 348736 h 139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843" h="1394942">
                <a:moveTo>
                  <a:pt x="0" y="348736"/>
                </a:moveTo>
                <a:lnTo>
                  <a:pt x="2258372" y="348736"/>
                </a:lnTo>
                <a:lnTo>
                  <a:pt x="2258372" y="0"/>
                </a:lnTo>
                <a:lnTo>
                  <a:pt x="2955843" y="697471"/>
                </a:lnTo>
                <a:lnTo>
                  <a:pt x="2258372" y="1394942"/>
                </a:lnTo>
                <a:lnTo>
                  <a:pt x="2258372" y="1046207"/>
                </a:lnTo>
                <a:lnTo>
                  <a:pt x="0" y="1046207"/>
                </a:lnTo>
                <a:lnTo>
                  <a:pt x="0" y="348736"/>
                </a:lnTo>
                <a:close/>
              </a:path>
            </a:pathLst>
          </a:custGeom>
          <a:ln>
            <a:no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511910" tIns="359490" rIns="571381" bIns="540522" numCol="1" spcCol="1204" anchor="ctr" anchorCtr="0">
            <a:noAutofit/>
          </a:bodyPr>
          <a:lstStyle/>
          <a:p>
            <a:pPr algn="ctr" defTabSz="336550">
              <a:lnSpc>
                <a:spcPct val="120000"/>
              </a:lnSpc>
            </a:pPr>
            <a:r>
              <a:rPr lang="zh-CN" sz="20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步骤四</a:t>
            </a:r>
            <a:endParaRPr lang="zh-CN" sz="20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26"/>
          <p:cNvSpPr/>
          <p:nvPr/>
        </p:nvSpPr>
        <p:spPr bwMode="auto">
          <a:xfrm>
            <a:off x="7940240" y="3986822"/>
            <a:ext cx="359937" cy="359956"/>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solidFill>
            <a:schemeClr val="bg1"/>
          </a:solidFill>
          <a:ln>
            <a:noFill/>
          </a:ln>
        </p:spPr>
        <p:txBody>
          <a:bodyPr vert="horz" wrap="square" lIns="91418" tIns="45709" rIns="91418" bIns="45709" numCol="1" anchor="t" anchorCtr="0" compatLnSpc="1"/>
          <a:lstStyle/>
          <a:p>
            <a:pPr algn="just">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7" name="Group 16"/>
          <p:cNvGrpSpPr/>
          <p:nvPr/>
        </p:nvGrpSpPr>
        <p:grpSpPr>
          <a:xfrm>
            <a:off x="5890196" y="3577786"/>
            <a:ext cx="359937" cy="359956"/>
            <a:chOff x="3526798" y="4057329"/>
            <a:chExt cx="284519" cy="359394"/>
          </a:xfrm>
          <a:solidFill>
            <a:schemeClr val="bg1"/>
          </a:solidFill>
        </p:grpSpPr>
        <p:sp>
          <p:nvSpPr>
            <p:cNvPr id="18" name="Freeform 107"/>
            <p:cNvSpPr/>
            <p:nvPr/>
          </p:nvSpPr>
          <p:spPr bwMode="auto">
            <a:xfrm>
              <a:off x="3561739" y="4092269"/>
              <a:ext cx="214637" cy="289511"/>
            </a:xfrm>
            <a:custGeom>
              <a:avLst/>
              <a:gdLst>
                <a:gd name="T0" fmla="*/ 0 w 86"/>
                <a:gd name="T1" fmla="*/ 10 h 116"/>
                <a:gd name="T2" fmla="*/ 76 w 86"/>
                <a:gd name="T3" fmla="*/ 10 h 116"/>
                <a:gd name="T4" fmla="*/ 76 w 86"/>
                <a:gd name="T5" fmla="*/ 116 h 116"/>
                <a:gd name="T6" fmla="*/ 86 w 86"/>
                <a:gd name="T7" fmla="*/ 116 h 116"/>
                <a:gd name="T8" fmla="*/ 86 w 86"/>
                <a:gd name="T9" fmla="*/ 0 h 116"/>
                <a:gd name="T10" fmla="*/ 0 w 86"/>
                <a:gd name="T11" fmla="*/ 0 h 116"/>
                <a:gd name="T12" fmla="*/ 0 w 86"/>
                <a:gd name="T13" fmla="*/ 10 h 116"/>
              </a:gdLst>
              <a:ahLst/>
              <a:cxnLst>
                <a:cxn ang="0">
                  <a:pos x="T0" y="T1"/>
                </a:cxn>
                <a:cxn ang="0">
                  <a:pos x="T2" y="T3"/>
                </a:cxn>
                <a:cxn ang="0">
                  <a:pos x="T4" y="T5"/>
                </a:cxn>
                <a:cxn ang="0">
                  <a:pos x="T6" y="T7"/>
                </a:cxn>
                <a:cxn ang="0">
                  <a:pos x="T8" y="T9"/>
                </a:cxn>
                <a:cxn ang="0">
                  <a:pos x="T10" y="T11"/>
                </a:cxn>
                <a:cxn ang="0">
                  <a:pos x="T12" y="T13"/>
                </a:cxn>
              </a:cxnLst>
              <a:rect l="0" t="0" r="r" b="b"/>
              <a:pathLst>
                <a:path w="86" h="116">
                  <a:moveTo>
                    <a:pt x="0" y="10"/>
                  </a:moveTo>
                  <a:lnTo>
                    <a:pt x="76" y="10"/>
                  </a:lnTo>
                  <a:lnTo>
                    <a:pt x="76" y="116"/>
                  </a:lnTo>
                  <a:lnTo>
                    <a:pt x="86" y="116"/>
                  </a:lnTo>
                  <a:lnTo>
                    <a:pt x="86" y="0"/>
                  </a:lnTo>
                  <a:lnTo>
                    <a:pt x="0" y="0"/>
                  </a:lnTo>
                  <a:lnTo>
                    <a:pt x="0" y="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22" tIns="48211" rIns="96422" bIns="48211" numCol="1" anchor="t" anchorCtr="0" compatLnSpc="1"/>
            <a:lstStyle/>
            <a:p>
              <a:pPr algn="just">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108"/>
            <p:cNvSpPr/>
            <p:nvPr/>
          </p:nvSpPr>
          <p:spPr bwMode="auto">
            <a:xfrm>
              <a:off x="3599175" y="4057329"/>
              <a:ext cx="212142" cy="284519"/>
            </a:xfrm>
            <a:custGeom>
              <a:avLst/>
              <a:gdLst>
                <a:gd name="T0" fmla="*/ 0 w 85"/>
                <a:gd name="T1" fmla="*/ 0 h 114"/>
                <a:gd name="T2" fmla="*/ 0 w 85"/>
                <a:gd name="T3" fmla="*/ 9 h 114"/>
                <a:gd name="T4" fmla="*/ 76 w 85"/>
                <a:gd name="T5" fmla="*/ 9 h 114"/>
                <a:gd name="T6" fmla="*/ 76 w 85"/>
                <a:gd name="T7" fmla="*/ 114 h 114"/>
                <a:gd name="T8" fmla="*/ 85 w 85"/>
                <a:gd name="T9" fmla="*/ 114 h 114"/>
                <a:gd name="T10" fmla="*/ 85 w 85"/>
                <a:gd name="T11" fmla="*/ 0 h 114"/>
                <a:gd name="T12" fmla="*/ 0 w 85"/>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85" h="114">
                  <a:moveTo>
                    <a:pt x="0" y="0"/>
                  </a:moveTo>
                  <a:lnTo>
                    <a:pt x="0" y="9"/>
                  </a:lnTo>
                  <a:lnTo>
                    <a:pt x="76" y="9"/>
                  </a:lnTo>
                  <a:lnTo>
                    <a:pt x="76" y="114"/>
                  </a:lnTo>
                  <a:lnTo>
                    <a:pt x="85" y="114"/>
                  </a:lnTo>
                  <a:lnTo>
                    <a:pt x="85"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22" tIns="48211" rIns="96422" bIns="48211" numCol="1" anchor="t" anchorCtr="0" compatLnSpc="1"/>
            <a:lstStyle/>
            <a:p>
              <a:pPr algn="just">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109"/>
            <p:cNvSpPr/>
            <p:nvPr/>
          </p:nvSpPr>
          <p:spPr bwMode="auto">
            <a:xfrm>
              <a:off x="3526798" y="4129707"/>
              <a:ext cx="212142" cy="287016"/>
            </a:xfrm>
            <a:custGeom>
              <a:avLst/>
              <a:gdLst>
                <a:gd name="T0" fmla="*/ 0 w 85"/>
                <a:gd name="T1" fmla="*/ 0 h 115"/>
                <a:gd name="T2" fmla="*/ 0 w 85"/>
                <a:gd name="T3" fmla="*/ 115 h 115"/>
                <a:gd name="T4" fmla="*/ 85 w 85"/>
                <a:gd name="T5" fmla="*/ 115 h 115"/>
                <a:gd name="T6" fmla="*/ 85 w 85"/>
                <a:gd name="T7" fmla="*/ 105 h 115"/>
                <a:gd name="T8" fmla="*/ 85 w 85"/>
                <a:gd name="T9" fmla="*/ 0 h 115"/>
                <a:gd name="T10" fmla="*/ 10 w 85"/>
                <a:gd name="T11" fmla="*/ 0 h 115"/>
                <a:gd name="T12" fmla="*/ 0 w 85"/>
                <a:gd name="T13" fmla="*/ 0 h 115"/>
              </a:gdLst>
              <a:ahLst/>
              <a:cxnLst>
                <a:cxn ang="0">
                  <a:pos x="T0" y="T1"/>
                </a:cxn>
                <a:cxn ang="0">
                  <a:pos x="T2" y="T3"/>
                </a:cxn>
                <a:cxn ang="0">
                  <a:pos x="T4" y="T5"/>
                </a:cxn>
                <a:cxn ang="0">
                  <a:pos x="T6" y="T7"/>
                </a:cxn>
                <a:cxn ang="0">
                  <a:pos x="T8" y="T9"/>
                </a:cxn>
                <a:cxn ang="0">
                  <a:pos x="T10" y="T11"/>
                </a:cxn>
                <a:cxn ang="0">
                  <a:pos x="T12" y="T13"/>
                </a:cxn>
              </a:cxnLst>
              <a:rect l="0" t="0" r="r" b="b"/>
              <a:pathLst>
                <a:path w="85" h="115">
                  <a:moveTo>
                    <a:pt x="0" y="0"/>
                  </a:moveTo>
                  <a:lnTo>
                    <a:pt x="0" y="115"/>
                  </a:lnTo>
                  <a:lnTo>
                    <a:pt x="85" y="115"/>
                  </a:lnTo>
                  <a:lnTo>
                    <a:pt x="85" y="105"/>
                  </a:lnTo>
                  <a:lnTo>
                    <a:pt x="85" y="0"/>
                  </a:lnTo>
                  <a:lnTo>
                    <a:pt x="1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22" tIns="48211" rIns="96422" bIns="48211" numCol="1" anchor="t" anchorCtr="0" compatLnSpc="1"/>
            <a:lstStyle/>
            <a:p>
              <a:pPr algn="just">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1" name="Group 20"/>
          <p:cNvGrpSpPr/>
          <p:nvPr/>
        </p:nvGrpSpPr>
        <p:grpSpPr>
          <a:xfrm>
            <a:off x="1711627" y="2643707"/>
            <a:ext cx="359937" cy="359956"/>
            <a:chOff x="4669866" y="3800264"/>
            <a:chExt cx="279527" cy="416797"/>
          </a:xfrm>
          <a:solidFill>
            <a:schemeClr val="bg1"/>
          </a:solidFill>
        </p:grpSpPr>
        <p:sp>
          <p:nvSpPr>
            <p:cNvPr id="22" name="Freeform 141"/>
            <p:cNvSpPr>
              <a:spLocks noEditPoints="1"/>
            </p:cNvSpPr>
            <p:nvPr/>
          </p:nvSpPr>
          <p:spPr bwMode="auto">
            <a:xfrm>
              <a:off x="4669866" y="3800264"/>
              <a:ext cx="279527" cy="316965"/>
            </a:xfrm>
            <a:custGeom>
              <a:avLst/>
              <a:gdLst>
                <a:gd name="T0" fmla="*/ 84 w 84"/>
                <a:gd name="T1" fmla="*/ 42 h 95"/>
                <a:gd name="T2" fmla="*/ 42 w 84"/>
                <a:gd name="T3" fmla="*/ 0 h 95"/>
                <a:gd name="T4" fmla="*/ 0 w 84"/>
                <a:gd name="T5" fmla="*/ 42 h 95"/>
                <a:gd name="T6" fmla="*/ 28 w 84"/>
                <a:gd name="T7" fmla="*/ 81 h 95"/>
                <a:gd name="T8" fmla="*/ 25 w 84"/>
                <a:gd name="T9" fmla="*/ 81 h 95"/>
                <a:gd name="T10" fmla="*/ 25 w 84"/>
                <a:gd name="T11" fmla="*/ 95 h 95"/>
                <a:gd name="T12" fmla="*/ 60 w 84"/>
                <a:gd name="T13" fmla="*/ 95 h 95"/>
                <a:gd name="T14" fmla="*/ 60 w 84"/>
                <a:gd name="T15" fmla="*/ 81 h 95"/>
                <a:gd name="T16" fmla="*/ 57 w 84"/>
                <a:gd name="T17" fmla="*/ 81 h 95"/>
                <a:gd name="T18" fmla="*/ 84 w 84"/>
                <a:gd name="T19" fmla="*/ 42 h 95"/>
                <a:gd name="T20" fmla="*/ 42 w 84"/>
                <a:gd name="T21" fmla="*/ 77 h 95"/>
                <a:gd name="T22" fmla="*/ 7 w 84"/>
                <a:gd name="T23" fmla="*/ 42 h 95"/>
                <a:gd name="T24" fmla="*/ 42 w 84"/>
                <a:gd name="T25" fmla="*/ 7 h 95"/>
                <a:gd name="T26" fmla="*/ 77 w 84"/>
                <a:gd name="T27" fmla="*/ 42 h 95"/>
                <a:gd name="T28" fmla="*/ 42 w 84"/>
                <a:gd name="T29" fmla="*/ 77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95">
                  <a:moveTo>
                    <a:pt x="84" y="42"/>
                  </a:moveTo>
                  <a:cubicBezTo>
                    <a:pt x="84" y="19"/>
                    <a:pt x="65" y="0"/>
                    <a:pt x="42" y="0"/>
                  </a:cubicBezTo>
                  <a:cubicBezTo>
                    <a:pt x="19" y="0"/>
                    <a:pt x="0" y="19"/>
                    <a:pt x="0" y="42"/>
                  </a:cubicBezTo>
                  <a:cubicBezTo>
                    <a:pt x="0" y="60"/>
                    <a:pt x="12" y="75"/>
                    <a:pt x="28" y="81"/>
                  </a:cubicBezTo>
                  <a:cubicBezTo>
                    <a:pt x="25" y="81"/>
                    <a:pt x="25" y="81"/>
                    <a:pt x="25" y="81"/>
                  </a:cubicBezTo>
                  <a:cubicBezTo>
                    <a:pt x="25" y="95"/>
                    <a:pt x="25" y="95"/>
                    <a:pt x="25" y="95"/>
                  </a:cubicBezTo>
                  <a:cubicBezTo>
                    <a:pt x="60" y="95"/>
                    <a:pt x="60" y="95"/>
                    <a:pt x="60" y="95"/>
                  </a:cubicBezTo>
                  <a:cubicBezTo>
                    <a:pt x="60" y="81"/>
                    <a:pt x="60" y="81"/>
                    <a:pt x="60" y="81"/>
                  </a:cubicBezTo>
                  <a:cubicBezTo>
                    <a:pt x="57" y="81"/>
                    <a:pt x="57" y="81"/>
                    <a:pt x="57" y="81"/>
                  </a:cubicBezTo>
                  <a:cubicBezTo>
                    <a:pt x="73" y="75"/>
                    <a:pt x="84" y="60"/>
                    <a:pt x="84" y="42"/>
                  </a:cubicBezTo>
                  <a:close/>
                  <a:moveTo>
                    <a:pt x="42" y="77"/>
                  </a:moveTo>
                  <a:cubicBezTo>
                    <a:pt x="23" y="77"/>
                    <a:pt x="7" y="61"/>
                    <a:pt x="7" y="42"/>
                  </a:cubicBezTo>
                  <a:cubicBezTo>
                    <a:pt x="7" y="23"/>
                    <a:pt x="23" y="7"/>
                    <a:pt x="42" y="7"/>
                  </a:cubicBezTo>
                  <a:cubicBezTo>
                    <a:pt x="62" y="7"/>
                    <a:pt x="77" y="23"/>
                    <a:pt x="77" y="42"/>
                  </a:cubicBezTo>
                  <a:cubicBezTo>
                    <a:pt x="77" y="61"/>
                    <a:pt x="62" y="77"/>
                    <a:pt x="42"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22" tIns="48211" rIns="96422" bIns="48211" numCol="1" anchor="t" anchorCtr="0" compatLnSpc="1"/>
            <a:lstStyle/>
            <a:p>
              <a:pPr algn="just">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Rectangle 142"/>
            <p:cNvSpPr>
              <a:spLocks noChangeArrowheads="1"/>
            </p:cNvSpPr>
            <p:nvPr/>
          </p:nvSpPr>
          <p:spPr bwMode="auto">
            <a:xfrm>
              <a:off x="4752226" y="4127210"/>
              <a:ext cx="117302" cy="4242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6422" tIns="48211" rIns="96422" bIns="48211" numCol="1" anchor="t" anchorCtr="0" compatLnSpc="1"/>
            <a:lstStyle/>
            <a:p>
              <a:pPr algn="just">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143"/>
            <p:cNvSpPr/>
            <p:nvPr/>
          </p:nvSpPr>
          <p:spPr bwMode="auto">
            <a:xfrm>
              <a:off x="4752226" y="4179623"/>
              <a:ext cx="117302" cy="37438"/>
            </a:xfrm>
            <a:custGeom>
              <a:avLst/>
              <a:gdLst>
                <a:gd name="T0" fmla="*/ 0 w 47"/>
                <a:gd name="T1" fmla="*/ 9 h 15"/>
                <a:gd name="T2" fmla="*/ 16 w 47"/>
                <a:gd name="T3" fmla="*/ 9 h 15"/>
                <a:gd name="T4" fmla="*/ 16 w 47"/>
                <a:gd name="T5" fmla="*/ 15 h 15"/>
                <a:gd name="T6" fmla="*/ 31 w 47"/>
                <a:gd name="T7" fmla="*/ 15 h 15"/>
                <a:gd name="T8" fmla="*/ 31 w 47"/>
                <a:gd name="T9" fmla="*/ 9 h 15"/>
                <a:gd name="T10" fmla="*/ 47 w 47"/>
                <a:gd name="T11" fmla="*/ 9 h 15"/>
                <a:gd name="T12" fmla="*/ 47 w 47"/>
                <a:gd name="T13" fmla="*/ 0 h 15"/>
                <a:gd name="T14" fmla="*/ 0 w 47"/>
                <a:gd name="T15" fmla="*/ 0 h 15"/>
                <a:gd name="T16" fmla="*/ 0 w 47"/>
                <a:gd name="T17" fmla="*/ 9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5">
                  <a:moveTo>
                    <a:pt x="0" y="9"/>
                  </a:moveTo>
                  <a:lnTo>
                    <a:pt x="16" y="9"/>
                  </a:lnTo>
                  <a:lnTo>
                    <a:pt x="16" y="15"/>
                  </a:lnTo>
                  <a:lnTo>
                    <a:pt x="31" y="15"/>
                  </a:lnTo>
                  <a:lnTo>
                    <a:pt x="31" y="9"/>
                  </a:lnTo>
                  <a:lnTo>
                    <a:pt x="47" y="9"/>
                  </a:lnTo>
                  <a:lnTo>
                    <a:pt x="47" y="0"/>
                  </a:lnTo>
                  <a:lnTo>
                    <a:pt x="0" y="0"/>
                  </a:lnTo>
                  <a:lnTo>
                    <a:pt x="0"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22" tIns="48211" rIns="96422" bIns="48211" numCol="1" anchor="t" anchorCtr="0" compatLnSpc="1"/>
            <a:lstStyle/>
            <a:p>
              <a:pPr algn="just">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144"/>
            <p:cNvSpPr>
              <a:spLocks noEditPoints="1"/>
            </p:cNvSpPr>
            <p:nvPr/>
          </p:nvSpPr>
          <p:spPr bwMode="auto">
            <a:xfrm>
              <a:off x="4769697" y="3890112"/>
              <a:ext cx="82362" cy="162227"/>
            </a:xfrm>
            <a:custGeom>
              <a:avLst/>
              <a:gdLst>
                <a:gd name="T0" fmla="*/ 32 w 33"/>
                <a:gd name="T1" fmla="*/ 3 h 65"/>
                <a:gd name="T2" fmla="*/ 28 w 33"/>
                <a:gd name="T3" fmla="*/ 0 h 65"/>
                <a:gd name="T4" fmla="*/ 16 w 33"/>
                <a:gd name="T5" fmla="*/ 5 h 65"/>
                <a:gd name="T6" fmla="*/ 4 w 33"/>
                <a:gd name="T7" fmla="*/ 0 h 65"/>
                <a:gd name="T8" fmla="*/ 0 w 33"/>
                <a:gd name="T9" fmla="*/ 3 h 65"/>
                <a:gd name="T10" fmla="*/ 0 w 33"/>
                <a:gd name="T11" fmla="*/ 3 h 65"/>
                <a:gd name="T12" fmla="*/ 0 w 33"/>
                <a:gd name="T13" fmla="*/ 3 h 65"/>
                <a:gd name="T14" fmla="*/ 15 w 33"/>
                <a:gd name="T15" fmla="*/ 65 h 65"/>
                <a:gd name="T16" fmla="*/ 19 w 33"/>
                <a:gd name="T17" fmla="*/ 65 h 65"/>
                <a:gd name="T18" fmla="*/ 33 w 33"/>
                <a:gd name="T19" fmla="*/ 3 h 65"/>
                <a:gd name="T20" fmla="*/ 33 w 33"/>
                <a:gd name="T21" fmla="*/ 3 h 65"/>
                <a:gd name="T22" fmla="*/ 33 w 33"/>
                <a:gd name="T23" fmla="*/ 3 h 65"/>
                <a:gd name="T24" fmla="*/ 33 w 33"/>
                <a:gd name="T25" fmla="*/ 3 h 65"/>
                <a:gd name="T26" fmla="*/ 32 w 33"/>
                <a:gd name="T27" fmla="*/ 3 h 65"/>
                <a:gd name="T28" fmla="*/ 16 w 33"/>
                <a:gd name="T29" fmla="*/ 57 h 65"/>
                <a:gd name="T30" fmla="*/ 4 w 33"/>
                <a:gd name="T31" fmla="*/ 4 h 65"/>
                <a:gd name="T32" fmla="*/ 16 w 33"/>
                <a:gd name="T33" fmla="*/ 8 h 65"/>
                <a:gd name="T34" fmla="*/ 29 w 33"/>
                <a:gd name="T35" fmla="*/ 4 h 65"/>
                <a:gd name="T36" fmla="*/ 16 w 33"/>
                <a:gd name="T37" fmla="*/ 5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 h="65">
                  <a:moveTo>
                    <a:pt x="32" y="3"/>
                  </a:moveTo>
                  <a:lnTo>
                    <a:pt x="28" y="0"/>
                  </a:lnTo>
                  <a:lnTo>
                    <a:pt x="16" y="5"/>
                  </a:lnTo>
                  <a:lnTo>
                    <a:pt x="4" y="0"/>
                  </a:lnTo>
                  <a:lnTo>
                    <a:pt x="0" y="3"/>
                  </a:lnTo>
                  <a:lnTo>
                    <a:pt x="0" y="3"/>
                  </a:lnTo>
                  <a:lnTo>
                    <a:pt x="0" y="3"/>
                  </a:lnTo>
                  <a:lnTo>
                    <a:pt x="15" y="65"/>
                  </a:lnTo>
                  <a:lnTo>
                    <a:pt x="19" y="65"/>
                  </a:lnTo>
                  <a:lnTo>
                    <a:pt x="33" y="3"/>
                  </a:lnTo>
                  <a:lnTo>
                    <a:pt x="33" y="3"/>
                  </a:lnTo>
                  <a:lnTo>
                    <a:pt x="33" y="3"/>
                  </a:lnTo>
                  <a:lnTo>
                    <a:pt x="33" y="3"/>
                  </a:lnTo>
                  <a:lnTo>
                    <a:pt x="32" y="3"/>
                  </a:lnTo>
                  <a:close/>
                  <a:moveTo>
                    <a:pt x="16" y="57"/>
                  </a:moveTo>
                  <a:lnTo>
                    <a:pt x="4" y="4"/>
                  </a:lnTo>
                  <a:lnTo>
                    <a:pt x="16" y="8"/>
                  </a:lnTo>
                  <a:lnTo>
                    <a:pt x="29" y="4"/>
                  </a:lnTo>
                  <a:lnTo>
                    <a:pt x="16" y="5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22" tIns="48211" rIns="96422" bIns="48211" numCol="1" anchor="t" anchorCtr="0" compatLnSpc="1"/>
            <a:lstStyle/>
            <a:p>
              <a:pPr algn="just">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6" name="Group 25"/>
          <p:cNvGrpSpPr/>
          <p:nvPr/>
        </p:nvGrpSpPr>
        <p:grpSpPr>
          <a:xfrm>
            <a:off x="3821599" y="3176387"/>
            <a:ext cx="359937" cy="359956"/>
            <a:chOff x="3440113" y="1050925"/>
            <a:chExt cx="390525" cy="333376"/>
          </a:xfrm>
          <a:solidFill>
            <a:schemeClr val="bg1"/>
          </a:solidFill>
        </p:grpSpPr>
        <p:sp>
          <p:nvSpPr>
            <p:cNvPr id="27" name="Freeform 8"/>
            <p:cNvSpPr/>
            <p:nvPr/>
          </p:nvSpPr>
          <p:spPr bwMode="auto">
            <a:xfrm>
              <a:off x="3563938" y="1244600"/>
              <a:ext cx="69850" cy="71438"/>
            </a:xfrm>
            <a:custGeom>
              <a:avLst/>
              <a:gdLst>
                <a:gd name="T0" fmla="*/ 44 w 44"/>
                <a:gd name="T1" fmla="*/ 25 h 45"/>
                <a:gd name="T2" fmla="*/ 19 w 44"/>
                <a:gd name="T3" fmla="*/ 0 h 45"/>
                <a:gd name="T4" fmla="*/ 19 w 44"/>
                <a:gd name="T5" fmla="*/ 0 h 45"/>
                <a:gd name="T6" fmla="*/ 0 w 44"/>
                <a:gd name="T7" fmla="*/ 45 h 45"/>
                <a:gd name="T8" fmla="*/ 44 w 44"/>
                <a:gd name="T9" fmla="*/ 25 h 45"/>
              </a:gdLst>
              <a:ahLst/>
              <a:cxnLst>
                <a:cxn ang="0">
                  <a:pos x="T0" y="T1"/>
                </a:cxn>
                <a:cxn ang="0">
                  <a:pos x="T2" y="T3"/>
                </a:cxn>
                <a:cxn ang="0">
                  <a:pos x="T4" y="T5"/>
                </a:cxn>
                <a:cxn ang="0">
                  <a:pos x="T6" y="T7"/>
                </a:cxn>
                <a:cxn ang="0">
                  <a:pos x="T8" y="T9"/>
                </a:cxn>
              </a:cxnLst>
              <a:rect l="0" t="0" r="r" b="b"/>
              <a:pathLst>
                <a:path w="44" h="45">
                  <a:moveTo>
                    <a:pt x="44" y="25"/>
                  </a:moveTo>
                  <a:lnTo>
                    <a:pt x="19" y="0"/>
                  </a:lnTo>
                  <a:lnTo>
                    <a:pt x="19" y="0"/>
                  </a:lnTo>
                  <a:lnTo>
                    <a:pt x="0" y="45"/>
                  </a:lnTo>
                  <a:lnTo>
                    <a:pt x="44"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22" tIns="48211" rIns="96422" bIns="48211" numCol="1" anchor="t" anchorCtr="0" compatLnSpc="1"/>
            <a:lstStyle/>
            <a:p>
              <a:pPr algn="just">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Rectangle 9"/>
            <p:cNvSpPr>
              <a:spLocks noChangeArrowheads="1"/>
            </p:cNvSpPr>
            <p:nvPr/>
          </p:nvSpPr>
          <p:spPr bwMode="auto">
            <a:xfrm>
              <a:off x="3633788" y="1284288"/>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6422" tIns="48211" rIns="96422" bIns="48211" numCol="1" anchor="t" anchorCtr="0" compatLnSpc="1"/>
            <a:lstStyle/>
            <a:p>
              <a:pPr algn="just">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10"/>
            <p:cNvSpPr/>
            <p:nvPr/>
          </p:nvSpPr>
          <p:spPr bwMode="auto">
            <a:xfrm>
              <a:off x="3605213" y="1074738"/>
              <a:ext cx="176213" cy="176213"/>
            </a:xfrm>
            <a:custGeom>
              <a:avLst/>
              <a:gdLst>
                <a:gd name="T0" fmla="*/ 101 w 111"/>
                <a:gd name="T1" fmla="*/ 0 h 111"/>
                <a:gd name="T2" fmla="*/ 0 w 111"/>
                <a:gd name="T3" fmla="*/ 101 h 111"/>
                <a:gd name="T4" fmla="*/ 10 w 111"/>
                <a:gd name="T5" fmla="*/ 111 h 111"/>
                <a:gd name="T6" fmla="*/ 111 w 111"/>
                <a:gd name="T7" fmla="*/ 10 h 111"/>
                <a:gd name="T8" fmla="*/ 101 w 111"/>
                <a:gd name="T9" fmla="*/ 0 h 111"/>
              </a:gdLst>
              <a:ahLst/>
              <a:cxnLst>
                <a:cxn ang="0">
                  <a:pos x="T0" y="T1"/>
                </a:cxn>
                <a:cxn ang="0">
                  <a:pos x="T2" y="T3"/>
                </a:cxn>
                <a:cxn ang="0">
                  <a:pos x="T4" y="T5"/>
                </a:cxn>
                <a:cxn ang="0">
                  <a:pos x="T6" y="T7"/>
                </a:cxn>
                <a:cxn ang="0">
                  <a:pos x="T8" y="T9"/>
                </a:cxn>
              </a:cxnLst>
              <a:rect l="0" t="0" r="r" b="b"/>
              <a:pathLst>
                <a:path w="111" h="111">
                  <a:moveTo>
                    <a:pt x="101" y="0"/>
                  </a:moveTo>
                  <a:lnTo>
                    <a:pt x="0" y="101"/>
                  </a:lnTo>
                  <a:lnTo>
                    <a:pt x="10" y="111"/>
                  </a:lnTo>
                  <a:lnTo>
                    <a:pt x="111" y="10"/>
                  </a:lnTo>
                  <a:lnTo>
                    <a:pt x="10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22" tIns="48211" rIns="96422" bIns="48211" numCol="1" anchor="t" anchorCtr="0" compatLnSpc="1"/>
            <a:lstStyle/>
            <a:p>
              <a:pPr algn="just">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11"/>
            <p:cNvSpPr/>
            <p:nvPr/>
          </p:nvSpPr>
          <p:spPr bwMode="auto">
            <a:xfrm>
              <a:off x="3629025" y="1098550"/>
              <a:ext cx="177800" cy="177800"/>
            </a:xfrm>
            <a:custGeom>
              <a:avLst/>
              <a:gdLst>
                <a:gd name="T0" fmla="*/ 0 w 112"/>
                <a:gd name="T1" fmla="*/ 102 h 112"/>
                <a:gd name="T2" fmla="*/ 10 w 112"/>
                <a:gd name="T3" fmla="*/ 112 h 112"/>
                <a:gd name="T4" fmla="*/ 112 w 112"/>
                <a:gd name="T5" fmla="*/ 12 h 112"/>
                <a:gd name="T6" fmla="*/ 102 w 112"/>
                <a:gd name="T7" fmla="*/ 0 h 112"/>
                <a:gd name="T8" fmla="*/ 0 w 112"/>
                <a:gd name="T9" fmla="*/ 102 h 112"/>
              </a:gdLst>
              <a:ahLst/>
              <a:cxnLst>
                <a:cxn ang="0">
                  <a:pos x="T0" y="T1"/>
                </a:cxn>
                <a:cxn ang="0">
                  <a:pos x="T2" y="T3"/>
                </a:cxn>
                <a:cxn ang="0">
                  <a:pos x="T4" y="T5"/>
                </a:cxn>
                <a:cxn ang="0">
                  <a:pos x="T6" y="T7"/>
                </a:cxn>
                <a:cxn ang="0">
                  <a:pos x="T8" y="T9"/>
                </a:cxn>
              </a:cxnLst>
              <a:rect l="0" t="0" r="r" b="b"/>
              <a:pathLst>
                <a:path w="112" h="112">
                  <a:moveTo>
                    <a:pt x="0" y="102"/>
                  </a:moveTo>
                  <a:lnTo>
                    <a:pt x="10" y="112"/>
                  </a:lnTo>
                  <a:lnTo>
                    <a:pt x="112" y="12"/>
                  </a:lnTo>
                  <a:lnTo>
                    <a:pt x="102" y="0"/>
                  </a:lnTo>
                  <a:lnTo>
                    <a:pt x="0" y="10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22" tIns="48211" rIns="96422" bIns="48211" numCol="1" anchor="t" anchorCtr="0" compatLnSpc="1"/>
            <a:lstStyle/>
            <a:p>
              <a:pPr algn="just">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12"/>
            <p:cNvSpPr/>
            <p:nvPr/>
          </p:nvSpPr>
          <p:spPr bwMode="auto">
            <a:xfrm>
              <a:off x="3775075" y="1050925"/>
              <a:ext cx="55563" cy="52388"/>
            </a:xfrm>
            <a:custGeom>
              <a:avLst/>
              <a:gdLst>
                <a:gd name="T0" fmla="*/ 14 w 21"/>
                <a:gd name="T1" fmla="*/ 6 h 20"/>
                <a:gd name="T2" fmla="*/ 0 w 21"/>
                <a:gd name="T3" fmla="*/ 6 h 20"/>
                <a:gd name="T4" fmla="*/ 15 w 21"/>
                <a:gd name="T5" fmla="*/ 20 h 20"/>
                <a:gd name="T6" fmla="*/ 14 w 21"/>
                <a:gd name="T7" fmla="*/ 6 h 20"/>
              </a:gdLst>
              <a:ahLst/>
              <a:cxnLst>
                <a:cxn ang="0">
                  <a:pos x="T0" y="T1"/>
                </a:cxn>
                <a:cxn ang="0">
                  <a:pos x="T2" y="T3"/>
                </a:cxn>
                <a:cxn ang="0">
                  <a:pos x="T4" y="T5"/>
                </a:cxn>
                <a:cxn ang="0">
                  <a:pos x="T6" y="T7"/>
                </a:cxn>
              </a:cxnLst>
              <a:rect l="0" t="0" r="r" b="b"/>
              <a:pathLst>
                <a:path w="21" h="20">
                  <a:moveTo>
                    <a:pt x="14" y="6"/>
                  </a:moveTo>
                  <a:cubicBezTo>
                    <a:pt x="8" y="0"/>
                    <a:pt x="0" y="6"/>
                    <a:pt x="0" y="6"/>
                  </a:cubicBezTo>
                  <a:cubicBezTo>
                    <a:pt x="15" y="20"/>
                    <a:pt x="15" y="20"/>
                    <a:pt x="15" y="20"/>
                  </a:cubicBezTo>
                  <a:cubicBezTo>
                    <a:pt x="15" y="20"/>
                    <a:pt x="21" y="14"/>
                    <a:pt x="14"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22" tIns="48211" rIns="96422" bIns="48211" numCol="1" anchor="t" anchorCtr="0" compatLnSpc="1"/>
            <a:lstStyle/>
            <a:p>
              <a:pPr algn="just">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Freeform 13"/>
            <p:cNvSpPr/>
            <p:nvPr/>
          </p:nvSpPr>
          <p:spPr bwMode="auto">
            <a:xfrm>
              <a:off x="3440113" y="1058863"/>
              <a:ext cx="327025" cy="325438"/>
            </a:xfrm>
            <a:custGeom>
              <a:avLst/>
              <a:gdLst>
                <a:gd name="T0" fmla="*/ 182 w 206"/>
                <a:gd name="T1" fmla="*/ 180 h 205"/>
                <a:gd name="T2" fmla="*/ 25 w 206"/>
                <a:gd name="T3" fmla="*/ 180 h 205"/>
                <a:gd name="T4" fmla="*/ 25 w 206"/>
                <a:gd name="T5" fmla="*/ 25 h 205"/>
                <a:gd name="T6" fmla="*/ 172 w 206"/>
                <a:gd name="T7" fmla="*/ 25 h 205"/>
                <a:gd name="T8" fmla="*/ 198 w 206"/>
                <a:gd name="T9" fmla="*/ 0 h 205"/>
                <a:gd name="T10" fmla="*/ 0 w 206"/>
                <a:gd name="T11" fmla="*/ 0 h 205"/>
                <a:gd name="T12" fmla="*/ 0 w 206"/>
                <a:gd name="T13" fmla="*/ 205 h 205"/>
                <a:gd name="T14" fmla="*/ 206 w 206"/>
                <a:gd name="T15" fmla="*/ 205 h 205"/>
                <a:gd name="T16" fmla="*/ 206 w 206"/>
                <a:gd name="T17" fmla="*/ 76 h 205"/>
                <a:gd name="T18" fmla="*/ 182 w 206"/>
                <a:gd name="T19" fmla="*/ 101 h 205"/>
                <a:gd name="T20" fmla="*/ 182 w 206"/>
                <a:gd name="T21" fmla="*/ 18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6" h="205">
                  <a:moveTo>
                    <a:pt x="182" y="180"/>
                  </a:moveTo>
                  <a:lnTo>
                    <a:pt x="25" y="180"/>
                  </a:lnTo>
                  <a:lnTo>
                    <a:pt x="25" y="25"/>
                  </a:lnTo>
                  <a:lnTo>
                    <a:pt x="172" y="25"/>
                  </a:lnTo>
                  <a:lnTo>
                    <a:pt x="198" y="0"/>
                  </a:lnTo>
                  <a:lnTo>
                    <a:pt x="0" y="0"/>
                  </a:lnTo>
                  <a:lnTo>
                    <a:pt x="0" y="205"/>
                  </a:lnTo>
                  <a:lnTo>
                    <a:pt x="206" y="205"/>
                  </a:lnTo>
                  <a:lnTo>
                    <a:pt x="206" y="76"/>
                  </a:lnTo>
                  <a:lnTo>
                    <a:pt x="182" y="101"/>
                  </a:lnTo>
                  <a:lnTo>
                    <a:pt x="182" y="18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22" tIns="48211" rIns="96422" bIns="48211" numCol="1" anchor="t" anchorCtr="0" compatLnSpc="1"/>
            <a:lstStyle/>
            <a:p>
              <a:pPr algn="just">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grpSp>
    </p:spTree>
  </p:cSld>
  <p:clrMapOvr>
    <a:masterClrMapping/>
  </p:clrMapOvr>
  <p:transition advTm="603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2000"/>
                            </p:stCondLst>
                            <p:childTnLst>
                              <p:par>
                                <p:cTn id="21" presetID="53" presetClass="entr" presetSubtype="16" fill="hold" nodeType="after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p:cTn id="23" dur="500" fill="hold"/>
                                        <p:tgtEl>
                                          <p:spTgt spid="21"/>
                                        </p:tgtEl>
                                        <p:attrNameLst>
                                          <p:attrName>ppt_w</p:attrName>
                                        </p:attrNameLst>
                                      </p:cBhvr>
                                      <p:tavLst>
                                        <p:tav tm="0">
                                          <p:val>
                                            <p:fltVal val="0"/>
                                          </p:val>
                                        </p:tav>
                                        <p:tav tm="100000">
                                          <p:val>
                                            <p:strVal val="#ppt_w"/>
                                          </p:val>
                                        </p:tav>
                                      </p:tavLst>
                                    </p:anim>
                                    <p:anim calcmode="lin" valueType="num">
                                      <p:cBhvr>
                                        <p:cTn id="24" dur="500" fill="hold"/>
                                        <p:tgtEl>
                                          <p:spTgt spid="21"/>
                                        </p:tgtEl>
                                        <p:attrNameLst>
                                          <p:attrName>ppt_h</p:attrName>
                                        </p:attrNameLst>
                                      </p:cBhvr>
                                      <p:tavLst>
                                        <p:tav tm="0">
                                          <p:val>
                                            <p:fltVal val="0"/>
                                          </p:val>
                                        </p:tav>
                                        <p:tav tm="100000">
                                          <p:val>
                                            <p:strVal val="#ppt_h"/>
                                          </p:val>
                                        </p:tav>
                                      </p:tavLst>
                                    </p:anim>
                                    <p:animEffect transition="in" filter="fade">
                                      <p:cBhvr>
                                        <p:cTn id="25" dur="500"/>
                                        <p:tgtEl>
                                          <p:spTgt spid="21"/>
                                        </p:tgtEl>
                                      </p:cBhvr>
                                    </p:animEffect>
                                  </p:childTnLst>
                                </p:cTn>
                              </p:par>
                            </p:childTnLst>
                          </p:cTn>
                        </p:par>
                        <p:par>
                          <p:cTn id="26" fill="hold">
                            <p:stCondLst>
                              <p:cond delay="2500"/>
                            </p:stCondLst>
                            <p:childTnLst>
                              <p:par>
                                <p:cTn id="27" presetID="53" presetClass="entr" presetSubtype="16" fill="hold" nodeType="after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p:cTn id="29" dur="500" fill="hold"/>
                                        <p:tgtEl>
                                          <p:spTgt spid="26"/>
                                        </p:tgtEl>
                                        <p:attrNameLst>
                                          <p:attrName>ppt_w</p:attrName>
                                        </p:attrNameLst>
                                      </p:cBhvr>
                                      <p:tavLst>
                                        <p:tav tm="0">
                                          <p:val>
                                            <p:fltVal val="0"/>
                                          </p:val>
                                        </p:tav>
                                        <p:tav tm="100000">
                                          <p:val>
                                            <p:strVal val="#ppt_w"/>
                                          </p:val>
                                        </p:tav>
                                      </p:tavLst>
                                    </p:anim>
                                    <p:anim calcmode="lin" valueType="num">
                                      <p:cBhvr>
                                        <p:cTn id="30" dur="500" fill="hold"/>
                                        <p:tgtEl>
                                          <p:spTgt spid="26"/>
                                        </p:tgtEl>
                                        <p:attrNameLst>
                                          <p:attrName>ppt_h</p:attrName>
                                        </p:attrNameLst>
                                      </p:cBhvr>
                                      <p:tavLst>
                                        <p:tav tm="0">
                                          <p:val>
                                            <p:fltVal val="0"/>
                                          </p:val>
                                        </p:tav>
                                        <p:tav tm="100000">
                                          <p:val>
                                            <p:strVal val="#ppt_h"/>
                                          </p:val>
                                        </p:tav>
                                      </p:tavLst>
                                    </p:anim>
                                    <p:animEffect transition="in" filter="fade">
                                      <p:cBhvr>
                                        <p:cTn id="31" dur="500"/>
                                        <p:tgtEl>
                                          <p:spTgt spid="26"/>
                                        </p:tgtEl>
                                      </p:cBhvr>
                                    </p:animEffect>
                                  </p:childTnLst>
                                </p:cTn>
                              </p:par>
                            </p:childTnLst>
                          </p:cTn>
                        </p:par>
                        <p:par>
                          <p:cTn id="32" fill="hold">
                            <p:stCondLst>
                              <p:cond delay="3000"/>
                            </p:stCondLst>
                            <p:childTnLst>
                              <p:par>
                                <p:cTn id="33" presetID="53" presetClass="entr" presetSubtype="16" fill="hold" nodeType="after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p:cTn id="35" dur="500" fill="hold"/>
                                        <p:tgtEl>
                                          <p:spTgt spid="17"/>
                                        </p:tgtEl>
                                        <p:attrNameLst>
                                          <p:attrName>ppt_w</p:attrName>
                                        </p:attrNameLst>
                                      </p:cBhvr>
                                      <p:tavLst>
                                        <p:tav tm="0">
                                          <p:val>
                                            <p:fltVal val="0"/>
                                          </p:val>
                                        </p:tav>
                                        <p:tav tm="100000">
                                          <p:val>
                                            <p:strVal val="#ppt_w"/>
                                          </p:val>
                                        </p:tav>
                                      </p:tavLst>
                                    </p:anim>
                                    <p:anim calcmode="lin" valueType="num">
                                      <p:cBhvr>
                                        <p:cTn id="36" dur="500" fill="hold"/>
                                        <p:tgtEl>
                                          <p:spTgt spid="17"/>
                                        </p:tgtEl>
                                        <p:attrNameLst>
                                          <p:attrName>ppt_h</p:attrName>
                                        </p:attrNameLst>
                                      </p:cBhvr>
                                      <p:tavLst>
                                        <p:tav tm="0">
                                          <p:val>
                                            <p:fltVal val="0"/>
                                          </p:val>
                                        </p:tav>
                                        <p:tav tm="100000">
                                          <p:val>
                                            <p:strVal val="#ppt_h"/>
                                          </p:val>
                                        </p:tav>
                                      </p:tavLst>
                                    </p:anim>
                                    <p:animEffect transition="in" filter="fade">
                                      <p:cBhvr>
                                        <p:cTn id="37" dur="500"/>
                                        <p:tgtEl>
                                          <p:spTgt spid="17"/>
                                        </p:tgtEl>
                                      </p:cBhvr>
                                    </p:animEffect>
                                  </p:childTnLst>
                                </p:cTn>
                              </p:par>
                            </p:childTnLst>
                          </p:cTn>
                        </p:par>
                        <p:par>
                          <p:cTn id="38" fill="hold">
                            <p:stCondLst>
                              <p:cond delay="3500"/>
                            </p:stCondLst>
                            <p:childTnLst>
                              <p:par>
                                <p:cTn id="39" presetID="53" presetClass="entr" presetSubtype="16" fill="hold" grpId="0" nodeType="after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p:cTn id="41" dur="500" fill="hold"/>
                                        <p:tgtEl>
                                          <p:spTgt spid="16"/>
                                        </p:tgtEl>
                                        <p:attrNameLst>
                                          <p:attrName>ppt_w</p:attrName>
                                        </p:attrNameLst>
                                      </p:cBhvr>
                                      <p:tavLst>
                                        <p:tav tm="0">
                                          <p:val>
                                            <p:fltVal val="0"/>
                                          </p:val>
                                        </p:tav>
                                        <p:tav tm="100000">
                                          <p:val>
                                            <p:strVal val="#ppt_w"/>
                                          </p:val>
                                        </p:tav>
                                      </p:tavLst>
                                    </p:anim>
                                    <p:anim calcmode="lin" valueType="num">
                                      <p:cBhvr>
                                        <p:cTn id="42" dur="500" fill="hold"/>
                                        <p:tgtEl>
                                          <p:spTgt spid="16"/>
                                        </p:tgtEl>
                                        <p:attrNameLst>
                                          <p:attrName>ppt_h</p:attrName>
                                        </p:attrNameLst>
                                      </p:cBhvr>
                                      <p:tavLst>
                                        <p:tav tm="0">
                                          <p:val>
                                            <p:fltVal val="0"/>
                                          </p:val>
                                        </p:tav>
                                        <p:tav tm="100000">
                                          <p:val>
                                            <p:strVal val="#ppt_h"/>
                                          </p:val>
                                        </p:tav>
                                      </p:tavLst>
                                    </p:anim>
                                    <p:animEffect transition="in" filter="fade">
                                      <p:cBhvr>
                                        <p:cTn id="43" dur="500"/>
                                        <p:tgtEl>
                                          <p:spTgt spid="16"/>
                                        </p:tgtEl>
                                      </p:cBhvr>
                                    </p:animEffect>
                                  </p:childTnLst>
                                </p:cTn>
                              </p:par>
                            </p:childTnLst>
                          </p:cTn>
                        </p:par>
                        <p:par>
                          <p:cTn id="44" fill="hold">
                            <p:stCondLst>
                              <p:cond delay="4000"/>
                            </p:stCondLst>
                            <p:childTnLst>
                              <p:par>
                                <p:cTn id="45" presetID="10" presetClass="entr" presetSubtype="0" fill="hold" grpId="0"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par>
                          <p:cTn id="48" fill="hold">
                            <p:stCondLst>
                              <p:cond delay="4500"/>
                            </p:stCondLst>
                            <p:childTnLst>
                              <p:par>
                                <p:cTn id="49" presetID="10" presetClass="entr" presetSubtype="0"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childTnLst>
                          </p:cTn>
                        </p:par>
                        <p:par>
                          <p:cTn id="52" fill="hold">
                            <p:stCondLst>
                              <p:cond delay="5000"/>
                            </p:stCondLst>
                            <p:childTnLst>
                              <p:par>
                                <p:cTn id="53" presetID="10" presetClass="entr" presetSubtype="0" fill="hold" grpId="0" nodeType="after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500"/>
                                        <p:tgtEl>
                                          <p:spTgt spid="14"/>
                                        </p:tgtEl>
                                      </p:cBhvr>
                                    </p:animEffect>
                                  </p:childTnLst>
                                </p:cTn>
                              </p:par>
                            </p:childTnLst>
                          </p:cTn>
                        </p:par>
                        <p:par>
                          <p:cTn id="56" fill="hold">
                            <p:stCondLst>
                              <p:cond delay="5500"/>
                            </p:stCondLst>
                            <p:childTnLst>
                              <p:par>
                                <p:cTn id="57" presetID="10" presetClass="entr" presetSubtype="0" fill="hold" grpId="0" nodeType="after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5" grpId="0" bldLvl="0" animBg="1"/>
      <p:bldP spid="7" grpId="0" bldLvl="0" animBg="1"/>
      <p:bldP spid="8" grpId="0" bldLvl="0" animBg="1"/>
      <p:bldP spid="9" grpId="0" bldLvl="0" animBg="1"/>
      <p:bldP spid="16"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105" y="1594058"/>
            <a:ext cx="2812399" cy="2101481"/>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3171285" y="3014215"/>
            <a:ext cx="6888480" cy="829945"/>
          </a:xfrm>
          <a:prstGeom prst="rect">
            <a:avLst/>
          </a:prstGeom>
          <a:noFill/>
        </p:spPr>
        <p:txBody>
          <a:bodyPr wrap="non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因果图设计测试用例举例</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217" y="2656121"/>
            <a:ext cx="2069153" cy="1546112"/>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5702" y="2328231"/>
            <a:ext cx="3457976" cy="2583868"/>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8675" y="2883913"/>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03</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280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案例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678851" y="1075522"/>
            <a:ext cx="8834300" cy="5169535"/>
          </a:xfrm>
          <a:prstGeom prst="rect">
            <a:avLst/>
          </a:prstGeom>
          <a:noFill/>
          <a:ln w="9525">
            <a:noFill/>
          </a:ln>
        </p:spPr>
        <p:txBody>
          <a:bodyPr wrap="square">
            <a:spAutoFit/>
          </a:bodyPr>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程序的规格说明要求：输入的第一个字符必须是“#”或“*”，第二个字符必须是一个数字，在此情况下进行文件的修改；如果第一个字符不是“#”或“*”，则给出信息N；如果第二个字符不是数字，则给出信息M。</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1．在明确了上述要求后，可以明确地将原因和结果分开。</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原因：c1—第一个字符是“#”；</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c2—第一个字符是“*”；</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c3—第二个字符是一个数字。</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结果：a1—给出信息N；</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a2—修改文件；</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a3—给出信息M。</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1310">
    <p:random/>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案例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151865" y="1829809"/>
            <a:ext cx="4977785" cy="3415030"/>
          </a:xfrm>
          <a:prstGeom prst="rect">
            <a:avLst/>
          </a:prstGeom>
          <a:noFill/>
          <a:ln w="9525">
            <a:noFill/>
          </a:ln>
        </p:spPr>
        <p:txBody>
          <a:bodyPr wrap="square">
            <a:spAutoFit/>
          </a:bodyPr>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2.根据原因和结果产生因果图。</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确定因果逻辑关系：如果第一列和第二列都正确，则修改文件；如果第一列不正确，给出信息L；如果第二列不正确，给出M。可以得出下面的因果图9-3。</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5871" name="图片 3587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6957272" y="2079333"/>
            <a:ext cx="4430058" cy="2915640"/>
          </a:xfrm>
          <a:prstGeom prst="rect">
            <a:avLst/>
          </a:prstGeom>
          <a:noFill/>
          <a:ln>
            <a:noFill/>
          </a:ln>
        </p:spPr>
      </p:pic>
      <p:sp>
        <p:nvSpPr>
          <p:cNvPr id="100" name="文本框 99"/>
          <p:cNvSpPr txBox="1"/>
          <p:nvPr/>
        </p:nvSpPr>
        <p:spPr>
          <a:xfrm>
            <a:off x="6308064" y="5179655"/>
            <a:ext cx="5079373" cy="337185"/>
          </a:xfrm>
          <a:prstGeom prst="rect">
            <a:avLst/>
          </a:prstGeom>
          <a:noFill/>
          <a:ln w="9525">
            <a:noFill/>
          </a:ln>
        </p:spPr>
        <p:txBody>
          <a:bodyPr>
            <a:spAutoFit/>
          </a:bodyPr>
          <a:p>
            <a:pPr indent="304800" algn="ctr"/>
            <a:r>
              <a:rPr lang="zh-CN" sz="1600" b="0">
                <a:ea typeface="宋体" panose="02010600030101010101" pitchFamily="2" charset="-122"/>
              </a:rPr>
              <a:t>图9-3 因果图图示</a:t>
            </a:r>
            <a:endParaRPr lang="zh-CN" altLang="en-US" sz="1600" b="0">
              <a:ea typeface="宋体" panose="02010600030101010101" pitchFamily="2" charset="-122"/>
            </a:endParaRPr>
          </a:p>
        </p:txBody>
      </p:sp>
    </p:spTree>
  </p:cSld>
  <p:clrMapOvr>
    <a:masterClrMapping/>
  </p:clrMapOvr>
  <p:transition advTm="1310">
    <p:random/>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案例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171548" y="1998699"/>
            <a:ext cx="4977785" cy="2861310"/>
          </a:xfrm>
          <a:prstGeom prst="rect">
            <a:avLst/>
          </a:prstGeom>
          <a:noFill/>
          <a:ln w="9525">
            <a:noFill/>
          </a:ln>
        </p:spPr>
        <p:txBody>
          <a:bodyPr wrap="square">
            <a:spAutoFit/>
          </a:bodyPr>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而根据需求描述，原因10还可以细分为2个原因：第一列字符是A（c1），第一列字符是B（c2）。因此原因10其实也可以看作成结果。把它用因果图表示出来如图9-4所示。</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6547430" y="5030448"/>
            <a:ext cx="5079373" cy="337185"/>
          </a:xfrm>
          <a:prstGeom prst="rect">
            <a:avLst/>
          </a:prstGeom>
          <a:noFill/>
          <a:ln w="9525">
            <a:noFill/>
          </a:ln>
        </p:spPr>
        <p:txBody>
          <a:bodyPr>
            <a:spAutoFit/>
          </a:bodyPr>
          <a:p>
            <a:pPr indent="304800" algn="ctr"/>
            <a:r>
              <a:rPr lang="zh-CN" sz="1600" b="0">
                <a:ea typeface="宋体" panose="02010600030101010101" pitchFamily="2" charset="-122"/>
              </a:rPr>
              <a:t>图9-4 因果图图示</a:t>
            </a:r>
            <a:endParaRPr lang="zh-CN" sz="1600" b="0">
              <a:ea typeface="宋体" panose="02010600030101010101" pitchFamily="2" charset="-122"/>
            </a:endParaRPr>
          </a:p>
        </p:txBody>
      </p:sp>
      <p:pic>
        <p:nvPicPr>
          <p:cNvPr id="104448" name="图片 10444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7034415" y="2060603"/>
            <a:ext cx="4592410" cy="2735662"/>
          </a:xfrm>
          <a:prstGeom prst="rect">
            <a:avLst/>
          </a:prstGeom>
          <a:noFill/>
          <a:ln>
            <a:noFill/>
          </a:ln>
        </p:spPr>
      </p:pic>
    </p:spTree>
  </p:cSld>
  <p:clrMapOvr>
    <a:masterClrMapping/>
  </p:clrMapOvr>
  <p:transition advTm="1310">
    <p:random/>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案例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843294" y="1445047"/>
            <a:ext cx="5294612" cy="3969385"/>
          </a:xfrm>
          <a:prstGeom prst="rect">
            <a:avLst/>
          </a:prstGeom>
          <a:noFill/>
          <a:ln w="9525">
            <a:noFill/>
          </a:ln>
        </p:spPr>
        <p:txBody>
          <a:bodyPr wrap="square">
            <a:spAutoFit/>
          </a:bodyPr>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根据上面的分析，其实总共有3个原因，3个结果。</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确定约束关系：从需求描述中可知，原因c1和c2不可能同时为真，但可以同时为假，因此满足排他性约束。这三个结果之间没有掩码标记的约束。完整的因果图如图9-5所示。</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0" name="文本框 99"/>
          <p:cNvSpPr txBox="1"/>
          <p:nvPr/>
        </p:nvSpPr>
        <p:spPr>
          <a:xfrm>
            <a:off x="6547430" y="4970766"/>
            <a:ext cx="5079373" cy="337185"/>
          </a:xfrm>
          <a:prstGeom prst="rect">
            <a:avLst/>
          </a:prstGeom>
          <a:noFill/>
          <a:ln w="9525">
            <a:noFill/>
          </a:ln>
        </p:spPr>
        <p:txBody>
          <a:bodyPr>
            <a:spAutoFit/>
          </a:bodyPr>
          <a:p>
            <a:pPr indent="304800" algn="ctr"/>
            <a:r>
              <a:rPr lang="zh-CN" sz="1600" b="0">
                <a:ea typeface="宋体" panose="02010600030101010101" pitchFamily="2" charset="-122"/>
              </a:rPr>
              <a:t>图9-5完整的因果图</a:t>
            </a:r>
            <a:endParaRPr lang="zh-CN" sz="1600" b="0">
              <a:ea typeface="宋体" panose="02010600030101010101" pitchFamily="2" charset="-122"/>
            </a:endParaRPr>
          </a:p>
        </p:txBody>
      </p:sp>
      <p:pic>
        <p:nvPicPr>
          <p:cNvPr id="35870" name="图片 35870"/>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6547430" y="2096794"/>
            <a:ext cx="4388310" cy="2663671"/>
          </a:xfrm>
          <a:prstGeom prst="rect">
            <a:avLst/>
          </a:prstGeom>
          <a:noFill/>
          <a:ln>
            <a:noFill/>
          </a:ln>
        </p:spPr>
      </p:pic>
    </p:spTree>
  </p:cSld>
  <p:clrMapOvr>
    <a:masterClrMapping/>
  </p:clrMapOvr>
  <p:transition advTm="1310">
    <p:random/>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案例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2708693" y="699648"/>
            <a:ext cx="6774614" cy="1014730"/>
          </a:xfrm>
          <a:prstGeom prst="rect">
            <a:avLst/>
          </a:prstGeom>
          <a:noFill/>
          <a:ln w="9525">
            <a:noFill/>
          </a:ln>
        </p:spPr>
        <p:txBody>
          <a:bodyPr wrap="square">
            <a:spAutoFit/>
          </a:bodyPr>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3.根据因果图画决策表。</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列出3个原因所有的状态组合，如表9-1所示。</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表格 2"/>
          <p:cNvGraphicFramePr/>
          <p:nvPr>
            <p:custDataLst>
              <p:tags r:id="rId1"/>
            </p:custDataLst>
          </p:nvPr>
        </p:nvGraphicFramePr>
        <p:xfrm>
          <a:off x="1804564" y="1765047"/>
          <a:ext cx="8520430" cy="3220720"/>
        </p:xfrm>
        <a:graphic>
          <a:graphicData uri="http://schemas.openxmlformats.org/drawingml/2006/table">
            <a:tbl>
              <a:tblPr firstRow="1" bandRow="1">
                <a:tableStyleId>{5940675A-B579-460E-94D1-54222C63F5DA}</a:tableStyleId>
              </a:tblPr>
              <a:tblGrid>
                <a:gridCol w="1219835"/>
                <a:gridCol w="1183640"/>
                <a:gridCol w="699770"/>
                <a:gridCol w="698500"/>
                <a:gridCol w="701040"/>
                <a:gridCol w="871220"/>
                <a:gridCol w="874395"/>
                <a:gridCol w="699770"/>
                <a:gridCol w="699770"/>
                <a:gridCol w="872490"/>
              </a:tblGrid>
              <a:tr h="304800">
                <a:tc gridSpan="2">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 </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5</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6</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7</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8</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0">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条件</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C1</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C2</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C3</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10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0</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0</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0</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0</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0</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0</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0</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0</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0</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0</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0</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0</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391920">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动作</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e1</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e2</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e3</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不可能</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   </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   </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 </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  </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 </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  </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 </a:t>
                      </a: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endParaRPr lang="en-US" sz="20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2000" b="0">
                          <a:latin typeface="宋体" panose="02010600030101010101" pitchFamily="2" charset="-122"/>
                          <a:ea typeface="宋体" panose="02010600030101010101" pitchFamily="2" charset="-122"/>
                          <a:cs typeface="宋体" panose="02010600030101010101" pitchFamily="2" charset="-122"/>
                        </a:rPr>
                        <a: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gridSpan="2">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测试用例</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 </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 </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*6</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*B</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A1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latin typeface="宋体" panose="02010600030101010101" pitchFamily="2" charset="-122"/>
                          <a:ea typeface="宋体" panose="02010600030101010101" pitchFamily="2" charset="-122"/>
                          <a:cs typeface="宋体" panose="02010600030101010101" pitchFamily="2" charset="-122"/>
                        </a:rPr>
                        <a:t>GT</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4" name="文本框 3"/>
          <p:cNvSpPr txBox="1"/>
          <p:nvPr/>
        </p:nvSpPr>
        <p:spPr>
          <a:xfrm>
            <a:off x="3556314" y="4940925"/>
            <a:ext cx="5079373" cy="337185"/>
          </a:xfrm>
          <a:prstGeom prst="rect">
            <a:avLst/>
          </a:prstGeom>
          <a:noFill/>
          <a:ln w="9525">
            <a:noFill/>
          </a:ln>
        </p:spPr>
        <p:txBody>
          <a:bodyPr>
            <a:spAutoFit/>
          </a:bodyPr>
          <a:p>
            <a:pPr indent="304800" algn="ctr"/>
            <a:r>
              <a:rPr lang="zh-CN" sz="1600" b="0">
                <a:ea typeface="宋体" panose="02010600030101010101" pitchFamily="2" charset="-122"/>
              </a:rPr>
              <a:t>表9-1 决策表</a:t>
            </a:r>
            <a:endParaRPr lang="zh-CN" altLang="en-US" sz="1600" b="0">
              <a:ea typeface="宋体" panose="02010600030101010101" pitchFamily="2" charset="-122"/>
            </a:endParaRPr>
          </a:p>
        </p:txBody>
      </p:sp>
      <p:sp>
        <p:nvSpPr>
          <p:cNvPr id="5" name="文本框 4"/>
          <p:cNvSpPr txBox="1"/>
          <p:nvPr/>
        </p:nvSpPr>
        <p:spPr>
          <a:xfrm>
            <a:off x="1803930" y="5392354"/>
            <a:ext cx="8521919" cy="1014730"/>
          </a:xfrm>
          <a:prstGeom prst="rect">
            <a:avLst/>
          </a:prstGeom>
          <a:noFill/>
          <a:ln w="9525">
            <a:noFill/>
          </a:ln>
        </p:spPr>
        <p:txBody>
          <a:bodyPr wrap="square">
            <a:spAutoFit/>
          </a:bodyPr>
          <a:p>
            <a:pPr indent="304800"/>
            <a:r>
              <a:rPr lang="zh-CN" sz="2000" b="0">
                <a:latin typeface="微软雅黑" panose="020B0503020204020204" pitchFamily="34" charset="-122"/>
                <a:ea typeface="微软雅黑" panose="020B0503020204020204" pitchFamily="34" charset="-122"/>
                <a:cs typeface="微软雅黑" panose="020B0503020204020204" pitchFamily="34" charset="-122"/>
              </a:rPr>
              <a:t>根据原因分析结果：分析每一种状态对应的结果，并根据约束关系，去掉不可能出现的状态。本例的c1和c2满足排他性约束，所以同时都为1的状态不会出现。</a:t>
            </a:r>
            <a:endParaRPr lang="zh-CN" altLang="en-US" sz="2000" b="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1310">
    <p:random/>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案例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625517" y="890759"/>
            <a:ext cx="8940967" cy="5077460"/>
          </a:xfrm>
          <a:prstGeom prst="rect">
            <a:avLst/>
          </a:prstGeom>
          <a:noFill/>
          <a:ln w="9525">
            <a:noFill/>
          </a:ln>
        </p:spPr>
        <p:txBody>
          <a:bodyPr wrap="square">
            <a:spAutoFit/>
          </a:bodyPr>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4.设计测试用例</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最左边两列，原因c1和c2同时为1不可能，排除掉，根据表可设计出6个测试用例。</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Test1：输入数据－#3   预期输出－－修改文件</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Test2：输入数据－#B   预期输出－－给出信息M</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Test3：输入数据－*7    预期输出－－修改文件</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Test4：输入数据－*M   预期输出－－给出信息M</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Test5：输入数据－C2    预期输出－－给出信息N</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Test6：输入数据－CM   预期输出－－给出信息M和N</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1310">
    <p:random/>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因果图的优点</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625517" y="890759"/>
            <a:ext cx="8940967" cy="4523105"/>
          </a:xfrm>
          <a:prstGeom prst="rect">
            <a:avLst/>
          </a:prstGeom>
          <a:noFill/>
          <a:ln w="9525">
            <a:noFill/>
          </a:ln>
        </p:spPr>
        <p:txBody>
          <a:bodyPr wrap="square">
            <a:spAutoFit/>
          </a:bodyPr>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使用因果图法的优点：</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4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（1）考虑到了输入情况的各种组合以及各个输入情况之间的相互制约关系。</a:t>
            </a:r>
            <a:endParaRPr lang="zh-CN" sz="24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4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（2）能够帮助测试人员按照一定的步骤，高效率的开发测试用例。</a:t>
            </a:r>
            <a:endParaRPr lang="zh-CN" sz="24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4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（3）因果图法是将自然语言规格说明转化成形式语言规格说明的一种严格的方法，可以指出规格说明存在的不完整性和二义性。</a:t>
            </a:r>
            <a:endParaRPr lang="zh-CN" sz="24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1310">
    <p:random/>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386" y="56846"/>
            <a:ext cx="2981239" cy="55800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拓展训练</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625517" y="1075522"/>
            <a:ext cx="8940967" cy="3322955"/>
          </a:xfrm>
          <a:prstGeom prst="rect">
            <a:avLst/>
          </a:prstGeom>
          <a:noFill/>
          <a:ln w="9525">
            <a:noFill/>
          </a:ln>
        </p:spPr>
        <p:txBody>
          <a:bodyPr wrap="square">
            <a:spAutoFit/>
          </a:bodyPr>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【拓展训练】</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列举实际工作生活中运用到的案例，如某公司产假规定如下：</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女员工产假为90天，符合晚婚、晚育（男25周岁、女23周岁）的，可增加产假30天，共计120天。难产凭医院证明，产假增加15天。怀孕不满7个月小产，产假不超过30天，由医生检查酌情确定。男员工符合晚婚、晚育的，可享受陪产假7天。</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000" b="0">
                <a:latin typeface="微软雅黑" panose="020B0503020204020204" pitchFamily="34" charset="-122"/>
                <a:ea typeface="微软雅黑" panose="020B0503020204020204" pitchFamily="34" charset="-122"/>
                <a:cs typeface="微软雅黑" panose="020B0503020204020204" pitchFamily="34" charset="-122"/>
              </a:rPr>
              <a:t>分析因果关系，绘制因果图。</a:t>
            </a:r>
            <a:endParaRPr lang="zh-CN" sz="2000" b="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1310">
    <p:random/>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2.2</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功能测试用例</a:t>
            </a:r>
            <a:r>
              <a:rPr lang="zh-CN" altLang="en-US" sz="2800">
                <a:latin typeface="微软雅黑" panose="020B0503020204020204" pitchFamily="34" charset="-122"/>
                <a:ea typeface="微软雅黑" panose="020B0503020204020204" pitchFamily="34" charset="-122"/>
              </a:rPr>
              <a:t>设计</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sym typeface="+mn-ea"/>
              </a:rPr>
              <a:t>任务</a:t>
            </a:r>
            <a:r>
              <a:rPr lang="en-US" altLang="zh-CN" sz="2000" b="1">
                <a:latin typeface="微软雅黑" panose="020B0503020204020204" pitchFamily="34" charset="-122"/>
                <a:ea typeface="微软雅黑" panose="020B0503020204020204" pitchFamily="34" charset="-122"/>
                <a:sym typeface="+mn-ea"/>
              </a:rPr>
              <a:t>2.5 </a:t>
            </a:r>
            <a:r>
              <a:rPr lang="zh-CN" altLang="en-US" sz="2000" b="1">
                <a:latin typeface="微软雅黑" panose="020B0503020204020204" pitchFamily="34" charset="-122"/>
                <a:ea typeface="微软雅黑" panose="020B0503020204020204" pitchFamily="34" charset="-122"/>
                <a:sym typeface="+mn-ea"/>
              </a:rPr>
              <a:t>正交表</a:t>
            </a:r>
            <a:r>
              <a:rPr lang="zh-CN" altLang="en-US" sz="2000" b="1">
                <a:latin typeface="微软雅黑" panose="020B0503020204020204" pitchFamily="34" charset="-122"/>
                <a:ea typeface="微软雅黑" panose="020B0503020204020204" pitchFamily="34" charset="-122"/>
                <a:sym typeface="+mn-ea"/>
              </a:rPr>
              <a:t>设计运用</a:t>
            </a:r>
            <a:endParaRPr lang="zh-CN" altLang="en-US" sz="2000" b="1">
              <a:latin typeface="微软雅黑" panose="020B0503020204020204" pitchFamily="34" charset="-122"/>
              <a:ea typeface="微软雅黑" panose="020B0503020204020204" pitchFamily="34" charset="-122"/>
              <a:sym typeface="+mn-ea"/>
            </a:endParaRPr>
          </a:p>
        </p:txBody>
      </p:sp>
      <p:grpSp>
        <p:nvGrpSpPr>
          <p:cNvPr id="24" name="组合 23"/>
          <p:cNvGrpSpPr/>
          <p:nvPr/>
        </p:nvGrpSpPr>
        <p:grpSpPr>
          <a:xfrm>
            <a:off x="3496791" y="1947921"/>
            <a:ext cx="6712348" cy="3951583"/>
            <a:chOff x="7182" y="2866"/>
            <a:chExt cx="9525" cy="5401"/>
          </a:xfrm>
        </p:grpSpPr>
        <p:grpSp>
          <p:nvGrpSpPr>
            <p:cNvPr id="3" name="组合 2"/>
            <p:cNvGrpSpPr/>
            <p:nvPr/>
          </p:nvGrpSpPr>
          <p:grpSpPr>
            <a:xfrm>
              <a:off x="7182" y="2866"/>
              <a:ext cx="1878" cy="1028"/>
              <a:chOff x="2215144" y="927951"/>
              <a:chExt cx="1244730" cy="897673"/>
            </a:xfrm>
          </p:grpSpPr>
          <p:sp>
            <p:nvSpPr>
              <p:cNvPr id="4" name="平行四边形 3"/>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5" name="文本框 9"/>
              <p:cNvSpPr txBox="1"/>
              <p:nvPr/>
            </p:nvSpPr>
            <p:spPr>
              <a:xfrm>
                <a:off x="2393075" y="927951"/>
                <a:ext cx="1066799" cy="794901"/>
              </a:xfrm>
              <a:prstGeom prst="rect">
                <a:avLst/>
              </a:prstGeom>
              <a:noFill/>
            </p:spPr>
            <p:txBody>
              <a:bodyPr wrap="square" rtlCol="0">
                <a:spAutoFit/>
              </a:bodyPr>
              <a:p>
                <a:r>
                  <a:rPr lang="en-US" altLang="zh-CN" sz="3735" dirty="0">
                    <a:solidFill>
                      <a:schemeClr val="bg1"/>
                    </a:solidFill>
                    <a:latin typeface="Impact" panose="020B0806030902050204" pitchFamily="34" charset="0"/>
                  </a:rPr>
                  <a:t>01</a:t>
                </a:r>
                <a:endParaRPr lang="zh-CN" altLang="en-US" sz="3735" dirty="0">
                  <a:solidFill>
                    <a:schemeClr val="bg1"/>
                  </a:solidFill>
                  <a:latin typeface="Impact" panose="020B0806030902050204" pitchFamily="34" charset="0"/>
                </a:endParaRPr>
              </a:p>
            </p:txBody>
          </p:sp>
        </p:grpSp>
        <p:grpSp>
          <p:nvGrpSpPr>
            <p:cNvPr id="8" name="组合 7"/>
            <p:cNvGrpSpPr/>
            <p:nvPr/>
          </p:nvGrpSpPr>
          <p:grpSpPr>
            <a:xfrm>
              <a:off x="7182" y="4293"/>
              <a:ext cx="1878" cy="1059"/>
              <a:chOff x="2215144" y="1952311"/>
              <a:chExt cx="1244730" cy="924318"/>
            </a:xfrm>
          </p:grpSpPr>
          <p:sp>
            <p:nvSpPr>
              <p:cNvPr id="10" name="平行四边形 9"/>
              <p:cNvSpPr/>
              <p:nvPr/>
            </p:nvSpPr>
            <p:spPr>
              <a:xfrm>
                <a:off x="2215144" y="2033848"/>
                <a:ext cx="1120898" cy="842781"/>
              </a:xfrm>
              <a:prstGeom prst="parallelogram">
                <a:avLst>
                  <a:gd name="adj" fmla="val 4820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11" name="文本框 10"/>
              <p:cNvSpPr txBox="1"/>
              <p:nvPr/>
            </p:nvSpPr>
            <p:spPr>
              <a:xfrm>
                <a:off x="2393075" y="1952311"/>
                <a:ext cx="1066799" cy="794903"/>
              </a:xfrm>
              <a:prstGeom prst="rect">
                <a:avLst/>
              </a:prstGeom>
              <a:noFill/>
            </p:spPr>
            <p:txBody>
              <a:bodyPr wrap="square" rtlCol="0">
                <a:spAutoFit/>
              </a:bodyPr>
              <a:p>
                <a:r>
                  <a:rPr lang="en-US" altLang="zh-CN" sz="3735" dirty="0">
                    <a:solidFill>
                      <a:schemeClr val="bg1"/>
                    </a:solidFill>
                    <a:latin typeface="Impact" panose="020B0806030902050204" pitchFamily="34" charset="0"/>
                  </a:rPr>
                  <a:t>02</a:t>
                </a:r>
                <a:endParaRPr lang="zh-CN" altLang="en-US" sz="3735" dirty="0">
                  <a:solidFill>
                    <a:schemeClr val="bg1"/>
                  </a:solidFill>
                  <a:latin typeface="Impact" panose="020B0806030902050204" pitchFamily="34" charset="0"/>
                </a:endParaRPr>
              </a:p>
            </p:txBody>
          </p:sp>
        </p:grpSp>
        <p:grpSp>
          <p:nvGrpSpPr>
            <p:cNvPr id="12" name="组合 11"/>
            <p:cNvGrpSpPr/>
            <p:nvPr/>
          </p:nvGrpSpPr>
          <p:grpSpPr>
            <a:xfrm>
              <a:off x="7182" y="5766"/>
              <a:ext cx="1878" cy="1042"/>
              <a:chOff x="2215144" y="3018134"/>
              <a:chExt cx="1244730" cy="909499"/>
            </a:xfrm>
          </p:grpSpPr>
          <p:sp>
            <p:nvSpPr>
              <p:cNvPr id="13" name="平行四边形 12"/>
              <p:cNvSpPr/>
              <p:nvPr/>
            </p:nvSpPr>
            <p:spPr>
              <a:xfrm>
                <a:off x="2215144" y="3084852"/>
                <a:ext cx="1120898" cy="842781"/>
              </a:xfrm>
              <a:prstGeom prst="parallelogram">
                <a:avLst>
                  <a:gd name="adj" fmla="val 4820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14" name="文本框 11"/>
              <p:cNvSpPr txBox="1"/>
              <p:nvPr/>
            </p:nvSpPr>
            <p:spPr>
              <a:xfrm>
                <a:off x="2393075" y="3018134"/>
                <a:ext cx="1066799" cy="794901"/>
              </a:xfrm>
              <a:prstGeom prst="rect">
                <a:avLst/>
              </a:prstGeom>
              <a:noFill/>
            </p:spPr>
            <p:txBody>
              <a:bodyPr wrap="square" rtlCol="0">
                <a:spAutoFit/>
              </a:bodyPr>
              <a:p>
                <a:r>
                  <a:rPr lang="en-US" altLang="zh-CN" sz="3735" dirty="0">
                    <a:solidFill>
                      <a:schemeClr val="bg1"/>
                    </a:solidFill>
                    <a:latin typeface="Impact" panose="020B0806030902050204" pitchFamily="34" charset="0"/>
                  </a:rPr>
                  <a:t>03</a:t>
                </a:r>
                <a:endParaRPr lang="zh-CN" altLang="en-US" sz="3735" dirty="0">
                  <a:solidFill>
                    <a:schemeClr val="bg1"/>
                  </a:solidFill>
                  <a:latin typeface="Impact" panose="020B0806030902050204" pitchFamily="34" charset="0"/>
                </a:endParaRPr>
              </a:p>
            </p:txBody>
          </p:sp>
        </p:grpSp>
        <p:grpSp>
          <p:nvGrpSpPr>
            <p:cNvPr id="54" name="组合 53"/>
            <p:cNvGrpSpPr/>
            <p:nvPr/>
          </p:nvGrpSpPr>
          <p:grpSpPr>
            <a:xfrm>
              <a:off x="7182" y="7199"/>
              <a:ext cx="1878" cy="1067"/>
              <a:chOff x="2215144" y="4047039"/>
              <a:chExt cx="1244730" cy="931598"/>
            </a:xfrm>
          </p:grpSpPr>
          <p:sp>
            <p:nvSpPr>
              <p:cNvPr id="55" name="平行四边形 54"/>
              <p:cNvSpPr/>
              <p:nvPr/>
            </p:nvSpPr>
            <p:spPr>
              <a:xfrm>
                <a:off x="2215144" y="4135856"/>
                <a:ext cx="1120898" cy="842781"/>
              </a:xfrm>
              <a:prstGeom prst="parallelogram">
                <a:avLst>
                  <a:gd name="adj" fmla="val 4820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56" name="文本框 12"/>
              <p:cNvSpPr txBox="1"/>
              <p:nvPr/>
            </p:nvSpPr>
            <p:spPr>
              <a:xfrm>
                <a:off x="2393075" y="4047039"/>
                <a:ext cx="1066799" cy="794903"/>
              </a:xfrm>
              <a:prstGeom prst="rect">
                <a:avLst/>
              </a:prstGeom>
              <a:noFill/>
            </p:spPr>
            <p:txBody>
              <a:bodyPr wrap="square" rtlCol="0">
                <a:spAutoFit/>
              </a:bodyPr>
              <a:p>
                <a:r>
                  <a:rPr lang="en-US" altLang="zh-CN" sz="3735" dirty="0">
                    <a:solidFill>
                      <a:schemeClr val="bg1"/>
                    </a:solidFill>
                    <a:latin typeface="Impact" panose="020B0806030902050204" pitchFamily="34" charset="0"/>
                  </a:rPr>
                  <a:t>04</a:t>
                </a:r>
                <a:endParaRPr lang="zh-CN" altLang="en-US" sz="3735" dirty="0">
                  <a:solidFill>
                    <a:schemeClr val="bg1"/>
                  </a:solidFill>
                  <a:latin typeface="Impact" panose="020B0806030902050204" pitchFamily="34" charset="0"/>
                </a:endParaRPr>
              </a:p>
            </p:txBody>
          </p:sp>
        </p:grpSp>
        <p:grpSp>
          <p:nvGrpSpPr>
            <p:cNvPr id="15" name="组合 14"/>
            <p:cNvGrpSpPr/>
            <p:nvPr/>
          </p:nvGrpSpPr>
          <p:grpSpPr>
            <a:xfrm>
              <a:off x="8608" y="2894"/>
              <a:ext cx="8099" cy="965"/>
              <a:chOff x="4315150" y="953426"/>
              <a:chExt cx="3857250" cy="540057"/>
            </a:xfrm>
          </p:grpSpPr>
          <p:sp>
            <p:nvSpPr>
              <p:cNvPr id="16" name="矩形 15"/>
              <p:cNvSpPr/>
              <p:nvPr/>
            </p:nvSpPr>
            <p:spPr>
              <a:xfrm>
                <a:off x="4529939" y="1036234"/>
                <a:ext cx="3526155" cy="352047"/>
              </a:xfrm>
              <a:prstGeom prst="rect">
                <a:avLst/>
              </a:prstGeom>
              <a:ln w="15875">
                <a:noFill/>
              </a:ln>
            </p:spPr>
            <p:txBody>
              <a:bodyPr wrap="square" lIns="91440" tIns="45720" rIns="91440" bIns="45720">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正交表设计测试用例的基本原理</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7" name="平行四边形 16"/>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endParaRPr lang="zh-CN" altLang="en-US" sz="2135" b="1">
                  <a:solidFill>
                    <a:schemeClr val="tx1">
                      <a:lumMod val="75000"/>
                      <a:lumOff val="25000"/>
                    </a:schemeClr>
                  </a:solidFill>
                </a:endParaRPr>
              </a:p>
            </p:txBody>
          </p:sp>
        </p:grpSp>
        <p:grpSp>
          <p:nvGrpSpPr>
            <p:cNvPr id="18" name="组合 17"/>
            <p:cNvGrpSpPr/>
            <p:nvPr/>
          </p:nvGrpSpPr>
          <p:grpSpPr>
            <a:xfrm>
              <a:off x="8608" y="4351"/>
              <a:ext cx="8099" cy="965"/>
              <a:chOff x="4315150" y="1647579"/>
              <a:chExt cx="3857250" cy="540057"/>
            </a:xfrm>
          </p:grpSpPr>
          <p:sp>
            <p:nvSpPr>
              <p:cNvPr id="19" name="矩形 18"/>
              <p:cNvSpPr/>
              <p:nvPr/>
            </p:nvSpPr>
            <p:spPr>
              <a:xfrm>
                <a:off x="4841196" y="1730243"/>
                <a:ext cx="2827147" cy="352047"/>
              </a:xfrm>
              <a:prstGeom prst="rect">
                <a:avLst/>
              </a:prstGeom>
              <a:ln w="15875">
                <a:noFill/>
              </a:ln>
            </p:spPr>
            <p:txBody>
              <a:bodyPr wrap="square" lIns="91440" tIns="45720" rIns="91440" bIns="45720">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正交表的构成</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平行四边形 19"/>
              <p:cNvSpPr/>
              <p:nvPr/>
            </p:nvSpPr>
            <p:spPr>
              <a:xfrm>
                <a:off x="4315150" y="1647579"/>
                <a:ext cx="3857250" cy="540057"/>
              </a:xfrm>
              <a:prstGeom prst="parallelogram">
                <a:avLst>
                  <a:gd name="adj" fmla="val 48207"/>
                </a:avLst>
              </a:pr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endParaRPr lang="zh-CN" altLang="en-US" sz="2135" b="1">
                  <a:solidFill>
                    <a:schemeClr val="tx1">
                      <a:lumMod val="75000"/>
                      <a:lumOff val="25000"/>
                    </a:schemeClr>
                  </a:solidFill>
                </a:endParaRPr>
              </a:p>
            </p:txBody>
          </p:sp>
        </p:grpSp>
        <p:grpSp>
          <p:nvGrpSpPr>
            <p:cNvPr id="21" name="组合 20"/>
            <p:cNvGrpSpPr/>
            <p:nvPr/>
          </p:nvGrpSpPr>
          <p:grpSpPr>
            <a:xfrm>
              <a:off x="8608" y="5809"/>
              <a:ext cx="8099" cy="965"/>
              <a:chOff x="4315150" y="2341731"/>
              <a:chExt cx="3857250" cy="540057"/>
            </a:xfrm>
          </p:grpSpPr>
          <p:sp>
            <p:nvSpPr>
              <p:cNvPr id="22" name="矩形 21"/>
              <p:cNvSpPr/>
              <p:nvPr/>
            </p:nvSpPr>
            <p:spPr>
              <a:xfrm>
                <a:off x="4841406" y="2424539"/>
                <a:ext cx="3271361" cy="352047"/>
              </a:xfrm>
              <a:prstGeom prst="rect">
                <a:avLst/>
              </a:prstGeom>
              <a:ln w="15875">
                <a:noFill/>
              </a:ln>
            </p:spPr>
            <p:txBody>
              <a:bodyPr wrap="square" lIns="91440" tIns="45720" rIns="91440" bIns="45720">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正交表法设计测试用例的步骤</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3" name="平行四边形 22"/>
              <p:cNvSpPr/>
              <p:nvPr/>
            </p:nvSpPr>
            <p:spPr>
              <a:xfrm>
                <a:off x="4315150" y="2341731"/>
                <a:ext cx="3857250" cy="540057"/>
              </a:xfrm>
              <a:prstGeom prst="parallelogram">
                <a:avLst>
                  <a:gd name="adj" fmla="val 48207"/>
                </a:avLst>
              </a:prstGeom>
              <a:noFill/>
              <a:ln w="158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endParaRPr lang="zh-CN" altLang="en-US" sz="2135" b="1">
                  <a:solidFill>
                    <a:schemeClr val="tx1">
                      <a:lumMod val="75000"/>
                      <a:lumOff val="25000"/>
                    </a:schemeClr>
                  </a:solidFill>
                </a:endParaRPr>
              </a:p>
            </p:txBody>
          </p:sp>
        </p:grpSp>
        <p:grpSp>
          <p:nvGrpSpPr>
            <p:cNvPr id="69" name="组合 68"/>
            <p:cNvGrpSpPr/>
            <p:nvPr/>
          </p:nvGrpSpPr>
          <p:grpSpPr>
            <a:xfrm>
              <a:off x="8608" y="7266"/>
              <a:ext cx="8099" cy="965"/>
              <a:chOff x="4315150" y="3035884"/>
              <a:chExt cx="3857250" cy="540057"/>
            </a:xfrm>
          </p:grpSpPr>
          <p:sp>
            <p:nvSpPr>
              <p:cNvPr id="70" name="矩形 69"/>
              <p:cNvSpPr/>
              <p:nvPr/>
            </p:nvSpPr>
            <p:spPr>
              <a:xfrm>
                <a:off x="4841406" y="3118692"/>
                <a:ext cx="3060859" cy="352047"/>
              </a:xfrm>
              <a:prstGeom prst="rect">
                <a:avLst/>
              </a:prstGeom>
              <a:ln w="15875">
                <a:noFill/>
              </a:ln>
            </p:spPr>
            <p:txBody>
              <a:bodyPr wrap="square" lIns="91440" tIns="45720" rIns="91440" bIns="45720">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正交表法设计测试用例举例</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p>
                <a:endParaRPr lang="zh-CN" altLang="en-US" sz="2135" b="1">
                  <a:solidFill>
                    <a:schemeClr val="tx1">
                      <a:lumMod val="75000"/>
                      <a:lumOff val="25000"/>
                    </a:schemeClr>
                  </a:solidFill>
                </a:endParaRPr>
              </a:p>
            </p:txBody>
          </p:sp>
        </p:grpSp>
      </p:gr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902" y="1593655"/>
            <a:ext cx="2812747" cy="2101740"/>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2585720" y="2883535"/>
            <a:ext cx="8060690" cy="706755"/>
          </a:xfrm>
          <a:prstGeom prst="rect">
            <a:avLst/>
          </a:prstGeom>
          <a:noFill/>
        </p:spPr>
        <p:txBody>
          <a:bodyPr wrap="square" rtlCol="0">
            <a:spAutoFit/>
          </a:bodyPr>
          <a:lstStyle/>
          <a:p>
            <a:pPr algn="l"/>
            <a:r>
              <a:rPr lang="zh-CN" altLang="en-US" sz="4000" dirty="0">
                <a:solidFill>
                  <a:schemeClr val="tx1">
                    <a:lumMod val="75000"/>
                    <a:lumOff val="25000"/>
                  </a:schemeClr>
                </a:solidFill>
                <a:latin typeface="微软雅黑" panose="020B0503020204020204" pitchFamily="34" charset="-122"/>
                <a:ea typeface="微软雅黑" panose="020B0503020204020204" pitchFamily="34" charset="-122"/>
              </a:rPr>
              <a:t>正交表法设计测试用例的基本原理</a:t>
            </a:r>
            <a:endParaRPr lang="zh-CN" altLang="en-US" sz="4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747" y="2655849"/>
            <a:ext cx="2069408" cy="1546303"/>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6508" y="2327919"/>
            <a:ext cx="3458403" cy="2584187"/>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7928" y="2883669"/>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01</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177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800" y="56515"/>
            <a:ext cx="4770120"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正交表法设计测试用例的基本原理</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8" name="矩形 47"/>
          <p:cNvSpPr/>
          <p:nvPr/>
        </p:nvSpPr>
        <p:spPr>
          <a:xfrm>
            <a:off x="2309495" y="1245235"/>
            <a:ext cx="3757930" cy="521970"/>
          </a:xfrm>
          <a:prstGeom prst="rect">
            <a:avLst/>
          </a:prstGeom>
          <a:noFill/>
          <a:ln>
            <a:noFill/>
          </a:ln>
        </p:spPr>
        <p:txBody>
          <a:bodyPr wrap="none" rtlCol="0" anchor="t">
            <a:spAutoFit/>
          </a:bodyPr>
          <a:p>
            <a:pPr algn="ctr"/>
            <a:r>
              <a:rPr lang="zh-CN" altLang="en-US" sz="2800" b="1">
                <a:gradFill>
                  <a:gsLst>
                    <a:gs pos="21000">
                      <a:srgbClr val="53575C"/>
                    </a:gs>
                    <a:gs pos="88000">
                      <a:srgbClr val="C5C7CA"/>
                    </a:gs>
                  </a:gsLst>
                  <a:lin ang="5400000"/>
                </a:gradFill>
                <a:effectLst/>
              </a:rPr>
              <a:t>什么是正交实验设计？</a:t>
            </a:r>
            <a:endParaRPr lang="zh-CN" altLang="en-US" sz="2800" b="1">
              <a:gradFill>
                <a:gsLst>
                  <a:gs pos="21000">
                    <a:srgbClr val="53575C"/>
                  </a:gs>
                  <a:gs pos="88000">
                    <a:srgbClr val="C5C7CA"/>
                  </a:gs>
                </a:gsLst>
                <a:lin ang="5400000"/>
              </a:gradFill>
              <a:effectLst/>
            </a:endParaRPr>
          </a:p>
        </p:txBody>
      </p:sp>
      <p:sp>
        <p:nvSpPr>
          <p:cNvPr id="100" name="文本框 99"/>
          <p:cNvSpPr txBox="1"/>
          <p:nvPr/>
        </p:nvSpPr>
        <p:spPr>
          <a:xfrm>
            <a:off x="2309495" y="2117725"/>
            <a:ext cx="6783070" cy="1630045"/>
          </a:xfrm>
          <a:prstGeom prst="rect">
            <a:avLst/>
          </a:prstGeom>
          <a:noFill/>
          <a:ln w="9525">
            <a:noFill/>
          </a:ln>
        </p:spPr>
        <p:txBody>
          <a:bodyPr wrap="square">
            <a:spAutoFit/>
          </a:bodyPr>
          <a:p>
            <a:pPr indent="0"/>
            <a:r>
              <a:rPr lang="en-US" altLang="zh-CN" sz="2000" b="0">
                <a:latin typeface="Times New Roman" panose="02020603050405020304" charset="0"/>
                <a:ea typeface="宋体" panose="02010600030101010101" pitchFamily="2" charset="-122"/>
              </a:rPr>
              <a:t>	</a:t>
            </a:r>
            <a:r>
              <a:rPr lang="zh-CN" sz="2000" b="0">
                <a:latin typeface="Times New Roman" panose="02020603050405020304" charset="0"/>
                <a:ea typeface="宋体" panose="02010600030101010101" pitchFamily="2" charset="-122"/>
              </a:rPr>
              <a:t>正交表源于一种科学实验方法，即正交实验方法。</a:t>
            </a:r>
            <a:r>
              <a:rPr lang="zh-CN" sz="2000" b="0">
                <a:ea typeface="宋体" panose="02010600030101010101" pitchFamily="2" charset="-122"/>
              </a:rPr>
              <a:t>正交实验方法依据</a:t>
            </a:r>
            <a:r>
              <a:rPr lang="en-US" sz="2000" b="0">
                <a:latin typeface="Times New Roman" panose="02020603050405020304" charset="0"/>
                <a:ea typeface="宋体" panose="02010600030101010101" pitchFamily="2" charset="-122"/>
              </a:rPr>
              <a:t>Galois</a:t>
            </a:r>
            <a:r>
              <a:rPr lang="zh-CN" sz="2000" b="0">
                <a:ea typeface="宋体" panose="02010600030101010101" pitchFamily="2" charset="-122"/>
              </a:rPr>
              <a:t>理论</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从大量的（实验）数据（测试例）中挑选适量的、有代表性的点（例）</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从而合理地安排实验（测试）的一种科学实验设计方法。类似的方法有</a:t>
            </a:r>
            <a:r>
              <a:rPr lang="zh-CN" sz="2000" b="0">
                <a:latin typeface="Times New Roman" panose="02020603050405020304" charset="0"/>
                <a:ea typeface="宋体" panose="02010600030101010101" pitchFamily="2" charset="-122"/>
              </a:rPr>
              <a:t>：</a:t>
            </a:r>
            <a:r>
              <a:rPr lang="zh-CN" sz="2000" b="0">
                <a:ea typeface="宋体" panose="02010600030101010101" pitchFamily="2" charset="-122"/>
              </a:rPr>
              <a:t>聚类分析方法、因子方法方法等。</a:t>
            </a:r>
            <a:endParaRPr lang="zh-CN" altLang="en-US" sz="2000"/>
          </a:p>
        </p:txBody>
      </p:sp>
    </p:spTree>
  </p:cSld>
  <p:clrMapOvr>
    <a:masterClrMapping/>
  </p:clrMapOvr>
  <p:transition advTm="6599">
    <p:random/>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800" y="56515"/>
            <a:ext cx="4695190"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正交表法设计测试用例的基本原理</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480060" y="614680"/>
            <a:ext cx="7268845" cy="4399915"/>
          </a:xfrm>
          <a:prstGeom prst="rect">
            <a:avLst/>
          </a:prstGeom>
          <a:noFill/>
          <a:ln w="9525">
            <a:noFill/>
          </a:ln>
        </p:spPr>
        <p:txBody>
          <a:bodyPr wrap="square">
            <a:spAutoFit/>
          </a:bodyPr>
          <a:p>
            <a:pPr indent="295275"/>
            <a:r>
              <a:rPr lang="zh-CN" sz="2000" b="0">
                <a:ea typeface="宋体" panose="02010600030101010101" pitchFamily="2" charset="-122"/>
              </a:rPr>
              <a:t>为提高某化工产品的转化率，选择了三个有关因素进行条件试验，反应温度</a:t>
            </a:r>
            <a:r>
              <a:rPr lang="en-US" sz="2000" b="0">
                <a:latin typeface="Times New Roman" panose="02020603050405020304" charset="0"/>
                <a:ea typeface="宋体" panose="02010600030101010101" pitchFamily="2" charset="-122"/>
                <a:cs typeface="宋体" panose="02010600030101010101" pitchFamily="2" charset="-122"/>
              </a:rPr>
              <a:t>(A)</a:t>
            </a:r>
            <a:r>
              <a:rPr lang="zh-CN" sz="2000" b="0">
                <a:ea typeface="宋体" panose="02010600030101010101" pitchFamily="2" charset="-122"/>
              </a:rPr>
              <a:t>，反应时间</a:t>
            </a:r>
            <a:r>
              <a:rPr lang="en-US" sz="2000" b="0">
                <a:latin typeface="Times New Roman" panose="02020603050405020304" charset="0"/>
                <a:ea typeface="宋体" panose="02010600030101010101" pitchFamily="2" charset="-122"/>
              </a:rPr>
              <a:t>(B)</a:t>
            </a:r>
            <a:r>
              <a:rPr lang="zh-CN" sz="2000" b="0">
                <a:ea typeface="宋体" panose="02010600030101010101" pitchFamily="2" charset="-122"/>
              </a:rPr>
              <a:t>，用碱量</a:t>
            </a:r>
            <a:r>
              <a:rPr lang="en-US" sz="2000" b="0">
                <a:latin typeface="Times New Roman" panose="02020603050405020304" charset="0"/>
                <a:ea typeface="宋体" panose="02010600030101010101" pitchFamily="2" charset="-122"/>
              </a:rPr>
              <a:t>(C)</a:t>
            </a:r>
            <a:r>
              <a:rPr lang="zh-CN" sz="2000" b="0">
                <a:ea typeface="宋体" panose="02010600030101010101" pitchFamily="2" charset="-122"/>
              </a:rPr>
              <a:t>，并确定了它们的试验范围：</a:t>
            </a:r>
            <a:r>
              <a:rPr lang="en-US" sz="2000" b="0">
                <a:latin typeface="Times New Roman" panose="02020603050405020304" charset="0"/>
                <a:ea typeface="宋体" panose="02010600030101010101" pitchFamily="2" charset="-122"/>
                <a:cs typeface="宋体" panose="02010600030101010101" pitchFamily="2" charset="-122"/>
              </a:rPr>
              <a:t>A</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80-90</a:t>
            </a:r>
            <a:r>
              <a:rPr lang="en-US" sz="2000" b="0">
                <a:latin typeface="Times New Roman" panose="02020603050405020304" charset="0"/>
              </a:rPr>
              <a:t>℃</a:t>
            </a:r>
            <a:r>
              <a:rPr lang="en-US" sz="2000" b="0">
                <a:latin typeface="Times New Roman" panose="02020603050405020304" charset="0"/>
                <a:ea typeface="宋体" panose="02010600030101010101" pitchFamily="2" charset="-122"/>
                <a:cs typeface="宋体" panose="02010600030101010101" pitchFamily="2" charset="-122"/>
              </a:rPr>
              <a:t>B</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90-150</a:t>
            </a:r>
            <a:r>
              <a:rPr lang="zh-CN" sz="2000" b="0">
                <a:ea typeface="宋体" panose="02010600030101010101" pitchFamily="2" charset="-122"/>
              </a:rPr>
              <a:t>分钟</a:t>
            </a:r>
            <a:r>
              <a:rPr lang="en-US" sz="2000" b="0">
                <a:latin typeface="Times New Roman" panose="02020603050405020304" charset="0"/>
                <a:ea typeface="宋体" panose="02010600030101010101" pitchFamily="2" charset="-122"/>
                <a:cs typeface="宋体" panose="02010600030101010101" pitchFamily="2" charset="-122"/>
              </a:rPr>
              <a:t>C</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5-7</a:t>
            </a:r>
            <a:r>
              <a:rPr lang="zh-CN" sz="2000" b="0">
                <a:ea typeface="宋体" panose="02010600030101010101" pitchFamily="2" charset="-122"/>
              </a:rPr>
              <a:t>％     试验目的是搞清楚因子</a:t>
            </a:r>
            <a:r>
              <a:rPr lang="en-US" sz="2000" b="0">
                <a:latin typeface="Times New Roman" panose="02020603050405020304" charset="0"/>
                <a:ea typeface="宋体" panose="02010600030101010101" pitchFamily="2" charset="-122"/>
                <a:cs typeface="宋体" panose="02010600030101010101" pitchFamily="2" charset="-122"/>
              </a:rPr>
              <a:t>A</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B</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C</a:t>
            </a:r>
            <a:r>
              <a:rPr lang="zh-CN" sz="2000" b="0">
                <a:ea typeface="宋体" panose="02010600030101010101" pitchFamily="2" charset="-122"/>
              </a:rPr>
              <a:t>对转化率有什么影响，哪些是主要的，哪些是次要的，从而确定最适生产条件，即温度、时间及用碱量各为多少才能使转化率高。试制定试验方案。</a:t>
            </a:r>
            <a:endParaRPr lang="zh-CN" sz="2000" b="0">
              <a:ea typeface="宋体" panose="02010600030101010101" pitchFamily="2" charset="-122"/>
            </a:endParaRPr>
          </a:p>
          <a:p>
            <a:pPr indent="295275"/>
            <a:r>
              <a:rPr lang="zh-CN" altLang="en-US" sz="2000"/>
              <a:t>这里，对因子A，在试验范围内选了三个水平；因子B和C也都取三个水平：</a:t>
            </a:r>
            <a:endParaRPr lang="zh-CN" altLang="en-US" sz="2000"/>
          </a:p>
          <a:p>
            <a:pPr indent="295275"/>
            <a:r>
              <a:rPr lang="zh-CN" altLang="en-US" sz="2000"/>
              <a:t>A：Al＝80℃，A2＝85℃，A3=90℃</a:t>
            </a:r>
            <a:endParaRPr lang="zh-CN" altLang="en-US" sz="2000"/>
          </a:p>
          <a:p>
            <a:pPr indent="295275"/>
            <a:r>
              <a:rPr lang="zh-CN" altLang="en-US" sz="2000"/>
              <a:t>B：Bl＝90分，B2＝120分，B3=150分</a:t>
            </a:r>
            <a:endParaRPr lang="zh-CN" altLang="en-US" sz="2000"/>
          </a:p>
          <a:p>
            <a:pPr indent="295275"/>
            <a:r>
              <a:rPr lang="zh-CN" altLang="en-US" sz="2000"/>
              <a:t>C：Cl＝5％，C2＝6%，C3＝7%</a:t>
            </a:r>
            <a:endParaRPr lang="zh-CN" altLang="en-US" sz="2000"/>
          </a:p>
        </p:txBody>
      </p:sp>
    </p:spTree>
  </p:cSld>
  <p:clrMapOvr>
    <a:masterClrMapping/>
  </p:clrMapOvr>
  <p:transition advTm="1310">
    <p:random/>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800" y="56515"/>
            <a:ext cx="4954270"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正交表法设计测试用例的基本原理</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2" name="图片 35861"/>
          <p:cNvPicPr>
            <a:picLocks noChangeAspect="1"/>
          </p:cNvPicPr>
          <p:nvPr/>
        </p:nvPicPr>
        <p:blipFill>
          <a:blip r:embed="rId1"/>
          <a:stretch>
            <a:fillRect/>
          </a:stretch>
        </p:blipFill>
        <p:spPr>
          <a:xfrm>
            <a:off x="3608070" y="2369820"/>
            <a:ext cx="4265930" cy="4072890"/>
          </a:xfrm>
          <a:prstGeom prst="rect">
            <a:avLst/>
          </a:prstGeom>
          <a:noFill/>
          <a:ln w="9525">
            <a:noFill/>
          </a:ln>
        </p:spPr>
      </p:pic>
      <p:sp>
        <p:nvSpPr>
          <p:cNvPr id="100" name="文本框 99"/>
          <p:cNvSpPr txBox="1"/>
          <p:nvPr/>
        </p:nvSpPr>
        <p:spPr>
          <a:xfrm>
            <a:off x="1832610" y="787400"/>
            <a:ext cx="7343775" cy="1014730"/>
          </a:xfrm>
          <a:prstGeom prst="rect">
            <a:avLst/>
          </a:prstGeom>
          <a:noFill/>
          <a:ln w="9525">
            <a:noFill/>
          </a:ln>
        </p:spPr>
        <p:txBody>
          <a:bodyPr wrap="square">
            <a:spAutoFit/>
          </a:bodyPr>
          <a:p>
            <a:pPr indent="295275"/>
            <a:r>
              <a:rPr lang="en-US" sz="2000" b="0">
                <a:latin typeface="Times New Roman" panose="02020603050405020304" charset="0"/>
                <a:ea typeface="宋体" panose="02010600030101010101" pitchFamily="2" charset="-122"/>
                <a:cs typeface="宋体" panose="02010600030101010101" pitchFamily="2" charset="-122"/>
              </a:rPr>
              <a:t>1</a:t>
            </a:r>
            <a:r>
              <a:rPr lang="en-US" sz="2000" b="0">
                <a:latin typeface="Times New Roman" panose="02020603050405020304" charset="0"/>
              </a:rPr>
              <a:t>.</a:t>
            </a:r>
            <a:r>
              <a:rPr lang="en-US" sz="2000" b="0">
                <a:latin typeface="Times New Roman" panose="02020603050405020304" charset="0"/>
                <a:ea typeface="宋体" panose="02010600030101010101" pitchFamily="2" charset="-122"/>
                <a:cs typeface="宋体" panose="02010600030101010101" pitchFamily="2" charset="-122"/>
              </a:rPr>
              <a:t> </a:t>
            </a:r>
            <a:r>
              <a:rPr lang="zh-CN" sz="2000" b="0">
                <a:ea typeface="宋体" panose="02010600030101010101" pitchFamily="2" charset="-122"/>
              </a:rPr>
              <a:t>取三因子所有水平之间的组合，即</a:t>
            </a:r>
            <a:r>
              <a:rPr lang="en-US" sz="2000" b="0">
                <a:latin typeface="Times New Roman" panose="02020603050405020304" charset="0"/>
                <a:ea typeface="宋体" panose="02010600030101010101" pitchFamily="2" charset="-122"/>
                <a:cs typeface="宋体" panose="02010600030101010101" pitchFamily="2" charset="-122"/>
              </a:rPr>
              <a:t>AlBlC1</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A1BlC2</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A1B2C1</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A3B3C3</a:t>
            </a:r>
            <a:r>
              <a:rPr lang="zh-CN" sz="2000" b="0">
                <a:ea typeface="宋体" panose="02010600030101010101" pitchFamily="2" charset="-122"/>
              </a:rPr>
              <a:t>，共有</a:t>
            </a:r>
            <a:r>
              <a:rPr lang="en-US" sz="2000" b="0">
                <a:latin typeface="Times New Roman" panose="02020603050405020304" charset="0"/>
                <a:ea typeface="宋体" panose="02010600030101010101" pitchFamily="2" charset="-122"/>
              </a:rPr>
              <a:t>33=27</a:t>
            </a:r>
            <a:r>
              <a:rPr lang="zh-CN" sz="2000" b="0">
                <a:ea typeface="宋体" panose="02010600030101010101" pitchFamily="2" charset="-122"/>
              </a:rPr>
              <a:t>次试验。用图表示就是图</a:t>
            </a:r>
            <a:r>
              <a:rPr lang="en-US" sz="2000" b="0">
                <a:latin typeface="Times New Roman" panose="02020603050405020304" charset="0"/>
                <a:ea typeface="宋体" panose="02010600030101010101" pitchFamily="2" charset="-122"/>
              </a:rPr>
              <a:t>10</a:t>
            </a:r>
            <a:r>
              <a:rPr lang="en-US" sz="2000" b="0">
                <a:latin typeface="Times New Roman" panose="02020603050405020304" charset="0"/>
              </a:rPr>
              <a:t>-</a:t>
            </a:r>
            <a:r>
              <a:rPr lang="en-US" sz="2000" b="0">
                <a:latin typeface="Times New Roman" panose="02020603050405020304" charset="0"/>
                <a:ea typeface="宋体" panose="02010600030101010101" pitchFamily="2" charset="-122"/>
                <a:cs typeface="宋体" panose="02010600030101010101" pitchFamily="2" charset="-122"/>
              </a:rPr>
              <a:t>1</a:t>
            </a:r>
            <a:r>
              <a:rPr lang="zh-CN" sz="2000" b="0">
                <a:ea typeface="宋体" panose="02010600030101010101" pitchFamily="2" charset="-122"/>
              </a:rPr>
              <a:t>立方体的</a:t>
            </a:r>
            <a:r>
              <a:rPr lang="en-US" sz="2000" b="0">
                <a:latin typeface="Times New Roman" panose="02020603050405020304" charset="0"/>
                <a:ea typeface="宋体" panose="02010600030101010101" pitchFamily="2" charset="-122"/>
              </a:rPr>
              <a:t>27</a:t>
            </a:r>
            <a:r>
              <a:rPr lang="zh-CN" sz="2000" b="0">
                <a:ea typeface="宋体" panose="02010600030101010101" pitchFamily="2" charset="-122"/>
              </a:rPr>
              <a:t>个节点。这种试验法叫做全面试验法。</a:t>
            </a:r>
            <a:endParaRPr lang="zh-CN" altLang="en-US" sz="2000"/>
          </a:p>
        </p:txBody>
      </p:sp>
    </p:spTree>
  </p:cSld>
  <p:clrMapOvr>
    <a:masterClrMapping/>
  </p:clrMapOvr>
  <p:transition advTm="1310">
    <p:random/>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800" y="56515"/>
            <a:ext cx="4284980"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正交表法设计测试用例的基本原理</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480060" y="786130"/>
            <a:ext cx="6815455" cy="4092575"/>
          </a:xfrm>
          <a:prstGeom prst="rect">
            <a:avLst/>
          </a:prstGeom>
          <a:noFill/>
          <a:ln w="9525">
            <a:noFill/>
          </a:ln>
        </p:spPr>
        <p:txBody>
          <a:bodyPr wrap="square">
            <a:spAutoFit/>
          </a:bodyPr>
          <a:p>
            <a:pPr indent="295275"/>
            <a:r>
              <a:rPr lang="en-US" sz="2000" b="0">
                <a:latin typeface="Times New Roman" panose="02020603050405020304" charset="0"/>
                <a:ea typeface="宋体" panose="02010600030101010101" pitchFamily="2" charset="-122"/>
                <a:cs typeface="宋体" panose="02010600030101010101" pitchFamily="2" charset="-122"/>
              </a:rPr>
              <a:t>2</a:t>
            </a:r>
            <a:r>
              <a:rPr lang="en-US" sz="2000" b="0">
                <a:latin typeface="Times New Roman" panose="02020603050405020304" charset="0"/>
              </a:rPr>
              <a:t>.</a:t>
            </a:r>
            <a:r>
              <a:rPr lang="en-US" sz="2000" b="0">
                <a:latin typeface="Times New Roman" panose="02020603050405020304" charset="0"/>
                <a:ea typeface="宋体" panose="02010600030101010101" pitchFamily="2" charset="-122"/>
                <a:cs typeface="宋体" panose="02010600030101010101" pitchFamily="2" charset="-122"/>
              </a:rPr>
              <a:t> </a:t>
            </a:r>
            <a:r>
              <a:rPr lang="zh-CN" sz="2000" b="0">
                <a:ea typeface="宋体" panose="02010600030101010101" pitchFamily="2" charset="-122"/>
              </a:rPr>
              <a:t>简单对比法，即变化一个因素而固定其他因素，如首先固定</a:t>
            </a:r>
            <a:r>
              <a:rPr lang="en-US" sz="2000" b="0">
                <a:latin typeface="Times New Roman" panose="02020603050405020304" charset="0"/>
                <a:ea typeface="宋体" panose="02010600030101010101" pitchFamily="2" charset="-122"/>
                <a:cs typeface="宋体" panose="02010600030101010101" pitchFamily="2" charset="-122"/>
              </a:rPr>
              <a:t>B</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C</a:t>
            </a:r>
            <a:r>
              <a:rPr lang="zh-CN" sz="2000" b="0">
                <a:ea typeface="宋体" panose="02010600030101010101" pitchFamily="2" charset="-122"/>
              </a:rPr>
              <a:t>于</a:t>
            </a:r>
            <a:r>
              <a:rPr lang="en-US" sz="2000" b="0">
                <a:latin typeface="Times New Roman" panose="02020603050405020304" charset="0"/>
                <a:ea typeface="宋体" panose="02010600030101010101" pitchFamily="2" charset="-122"/>
              </a:rPr>
              <a:t>Bl</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Cl</a:t>
            </a:r>
            <a:r>
              <a:rPr lang="zh-CN" sz="2000" b="0">
                <a:ea typeface="宋体" panose="02010600030101010101" pitchFamily="2" charset="-122"/>
              </a:rPr>
              <a:t>，使</a:t>
            </a:r>
            <a:r>
              <a:rPr lang="en-US" sz="2000" b="0">
                <a:latin typeface="Times New Roman" panose="02020603050405020304" charset="0"/>
                <a:ea typeface="宋体" panose="02010600030101010101" pitchFamily="2" charset="-122"/>
              </a:rPr>
              <a:t>A</a:t>
            </a:r>
            <a:r>
              <a:rPr lang="zh-CN" sz="2000" b="0">
                <a:ea typeface="宋体" panose="02010600030101010101" pitchFamily="2" charset="-122"/>
              </a:rPr>
              <a:t>变化之：</a:t>
            </a:r>
            <a:r>
              <a:rPr lang="en-US" sz="2000" b="0">
                <a:latin typeface="Times New Roman" panose="02020603050405020304" charset="0"/>
              </a:rPr>
              <a:t>↗</a:t>
            </a:r>
            <a:r>
              <a:rPr lang="en-US" sz="2000" b="0">
                <a:latin typeface="Times New Roman" panose="02020603050405020304" charset="0"/>
                <a:ea typeface="宋体" panose="02010600030101010101" pitchFamily="2" charset="-122"/>
                <a:cs typeface="宋体" panose="02010600030101010101" pitchFamily="2" charset="-122"/>
              </a:rPr>
              <a:t>A1B1C1→A2</a:t>
            </a:r>
            <a:r>
              <a:rPr lang="en-US" sz="2000" b="0">
                <a:latin typeface="Times New Roman" panose="02020603050405020304" charset="0"/>
              </a:rPr>
              <a:t>↘</a:t>
            </a:r>
            <a:r>
              <a:rPr lang="en-US" sz="2000" b="0">
                <a:latin typeface="Times New Roman" panose="02020603050405020304" charset="0"/>
                <a:ea typeface="宋体" panose="02010600030101010101" pitchFamily="2" charset="-122"/>
                <a:cs typeface="宋体" panose="02010600030101010101" pitchFamily="2" charset="-122"/>
              </a:rPr>
              <a:t>A3 (</a:t>
            </a:r>
            <a:r>
              <a:rPr lang="zh-CN" sz="2000" b="0">
                <a:ea typeface="宋体" panose="02010600030101010101" pitchFamily="2" charset="-122"/>
              </a:rPr>
              <a:t>好结果</a:t>
            </a:r>
            <a:r>
              <a:rPr lang="en-US" sz="2000" b="0">
                <a:latin typeface="Times New Roman" panose="02020603050405020304" charset="0"/>
                <a:ea typeface="宋体" panose="02010600030101010101" pitchFamily="2" charset="-122"/>
              </a:rPr>
              <a:t>)</a:t>
            </a:r>
            <a:r>
              <a:rPr lang="zh-CN" sz="2000" b="0">
                <a:ea typeface="宋体" panose="02010600030101010101" pitchFamily="2" charset="-122"/>
              </a:rPr>
              <a:t>如得出结果</a:t>
            </a:r>
            <a:r>
              <a:rPr lang="en-US" sz="2000" b="0">
                <a:latin typeface="Times New Roman" panose="02020603050405020304" charset="0"/>
                <a:ea typeface="宋体" panose="02010600030101010101" pitchFamily="2" charset="-122"/>
                <a:cs typeface="宋体" panose="02010600030101010101" pitchFamily="2" charset="-122"/>
              </a:rPr>
              <a:t>A3</a:t>
            </a:r>
            <a:r>
              <a:rPr lang="zh-CN" sz="2000" b="0">
                <a:ea typeface="宋体" panose="02010600030101010101" pitchFamily="2" charset="-122"/>
              </a:rPr>
              <a:t>最好，则固定</a:t>
            </a:r>
            <a:r>
              <a:rPr lang="en-US" sz="2000" b="0">
                <a:latin typeface="Times New Roman" panose="02020603050405020304" charset="0"/>
                <a:ea typeface="宋体" panose="02010600030101010101" pitchFamily="2" charset="-122"/>
              </a:rPr>
              <a:t>A</a:t>
            </a:r>
            <a:r>
              <a:rPr lang="zh-CN" sz="2000" b="0">
                <a:ea typeface="宋体" panose="02010600030101010101" pitchFamily="2" charset="-122"/>
              </a:rPr>
              <a:t>于</a:t>
            </a:r>
            <a:r>
              <a:rPr lang="en-US" sz="2000" b="0">
                <a:latin typeface="Times New Roman" panose="02020603050405020304" charset="0"/>
                <a:ea typeface="宋体" panose="02010600030101010101" pitchFamily="2" charset="-122"/>
              </a:rPr>
              <a:t>A3</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C</a:t>
            </a:r>
            <a:r>
              <a:rPr lang="zh-CN" sz="2000" b="0">
                <a:ea typeface="宋体" panose="02010600030101010101" pitchFamily="2" charset="-122"/>
              </a:rPr>
              <a:t>还是</a:t>
            </a:r>
            <a:r>
              <a:rPr lang="en-US" sz="2000" b="0">
                <a:latin typeface="Times New Roman" panose="02020603050405020304" charset="0"/>
                <a:ea typeface="宋体" panose="02010600030101010101" pitchFamily="2" charset="-122"/>
              </a:rPr>
              <a:t>Cl</a:t>
            </a:r>
            <a:r>
              <a:rPr lang="zh-CN" sz="2000" b="0">
                <a:ea typeface="宋体" panose="02010600030101010101" pitchFamily="2" charset="-122"/>
              </a:rPr>
              <a:t>，使</a:t>
            </a:r>
            <a:r>
              <a:rPr lang="en-US" sz="2000" b="0">
                <a:latin typeface="Times New Roman" panose="02020603050405020304" charset="0"/>
                <a:ea typeface="宋体" panose="02010600030101010101" pitchFamily="2" charset="-122"/>
              </a:rPr>
              <a:t>B</a:t>
            </a:r>
            <a:r>
              <a:rPr lang="zh-CN" sz="2000" b="0">
                <a:ea typeface="宋体" panose="02010600030101010101" pitchFamily="2" charset="-122"/>
              </a:rPr>
              <a:t>变化之：</a:t>
            </a:r>
            <a:r>
              <a:rPr lang="en-US" sz="2000" b="0">
                <a:latin typeface="Times New Roman" panose="02020603050405020304" charset="0"/>
              </a:rPr>
              <a:t>↗</a:t>
            </a:r>
            <a:r>
              <a:rPr lang="en-US" sz="2000" b="0">
                <a:latin typeface="Times New Roman" panose="02020603050405020304" charset="0"/>
                <a:ea typeface="宋体" panose="02010600030101010101" pitchFamily="2" charset="-122"/>
                <a:cs typeface="宋体" panose="02010600030101010101" pitchFamily="2" charset="-122"/>
              </a:rPr>
              <a:t>B1A3C1→B2 (</a:t>
            </a:r>
            <a:r>
              <a:rPr lang="zh-CN" sz="2000" b="0">
                <a:ea typeface="宋体" panose="02010600030101010101" pitchFamily="2" charset="-122"/>
              </a:rPr>
              <a:t>好结果</a:t>
            </a:r>
            <a:r>
              <a:rPr lang="en-US" sz="2000" b="0">
                <a:latin typeface="Times New Roman" panose="02020603050405020304" charset="0"/>
                <a:ea typeface="宋体" panose="02010600030101010101" pitchFamily="2" charset="-122"/>
              </a:rPr>
              <a:t>)</a:t>
            </a:r>
            <a:r>
              <a:rPr lang="en-US" sz="2000" b="0">
                <a:latin typeface="Times New Roman" panose="02020603050405020304" charset="0"/>
              </a:rPr>
              <a:t>↘</a:t>
            </a:r>
            <a:r>
              <a:rPr lang="en-US" sz="2000" b="0">
                <a:latin typeface="Times New Roman" panose="02020603050405020304" charset="0"/>
                <a:ea typeface="宋体" panose="02010600030101010101" pitchFamily="2" charset="-122"/>
                <a:cs typeface="宋体" panose="02010600030101010101" pitchFamily="2" charset="-122"/>
              </a:rPr>
              <a:t>B3</a:t>
            </a:r>
            <a:r>
              <a:rPr lang="zh-CN" sz="2000" b="0">
                <a:ea typeface="宋体" panose="02010600030101010101" pitchFamily="2" charset="-122"/>
              </a:rPr>
              <a:t>得出结果以</a:t>
            </a:r>
            <a:r>
              <a:rPr lang="en-US" sz="2000" b="0">
                <a:latin typeface="Times New Roman" panose="02020603050405020304" charset="0"/>
                <a:ea typeface="宋体" panose="02010600030101010101" pitchFamily="2" charset="-122"/>
                <a:cs typeface="宋体" panose="02010600030101010101" pitchFamily="2" charset="-122"/>
              </a:rPr>
              <a:t>B2</a:t>
            </a:r>
            <a:r>
              <a:rPr lang="zh-CN" sz="2000" b="0">
                <a:ea typeface="宋体" panose="02010600030101010101" pitchFamily="2" charset="-122"/>
              </a:rPr>
              <a:t>为最好，则固定</a:t>
            </a:r>
            <a:r>
              <a:rPr lang="en-US" sz="2000" b="0">
                <a:latin typeface="Times New Roman" panose="02020603050405020304" charset="0"/>
                <a:ea typeface="宋体" panose="02010600030101010101" pitchFamily="2" charset="-122"/>
              </a:rPr>
              <a:t>B</a:t>
            </a:r>
            <a:r>
              <a:rPr lang="zh-CN" sz="2000" b="0">
                <a:ea typeface="宋体" panose="02010600030101010101" pitchFamily="2" charset="-122"/>
              </a:rPr>
              <a:t>于</a:t>
            </a:r>
            <a:r>
              <a:rPr lang="en-US" sz="2000" b="0">
                <a:latin typeface="Times New Roman" panose="02020603050405020304" charset="0"/>
                <a:ea typeface="宋体" panose="02010600030101010101" pitchFamily="2" charset="-122"/>
              </a:rPr>
              <a:t>B2</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A</a:t>
            </a:r>
            <a:r>
              <a:rPr lang="zh-CN" sz="2000" b="0">
                <a:ea typeface="宋体" panose="02010600030101010101" pitchFamily="2" charset="-122"/>
              </a:rPr>
              <a:t>于</a:t>
            </a:r>
            <a:r>
              <a:rPr lang="en-US" sz="2000" b="0">
                <a:latin typeface="Times New Roman" panose="02020603050405020304" charset="0"/>
                <a:ea typeface="宋体" panose="02010600030101010101" pitchFamily="2" charset="-122"/>
              </a:rPr>
              <a:t>A3</a:t>
            </a:r>
            <a:r>
              <a:rPr lang="zh-CN" sz="2000" b="0">
                <a:ea typeface="宋体" panose="02010600030101010101" pitchFamily="2" charset="-122"/>
              </a:rPr>
              <a:t>，使</a:t>
            </a:r>
            <a:r>
              <a:rPr lang="en-US" sz="2000" b="0">
                <a:latin typeface="Times New Roman" panose="02020603050405020304" charset="0"/>
                <a:ea typeface="宋体" panose="02010600030101010101" pitchFamily="2" charset="-122"/>
              </a:rPr>
              <a:t>C</a:t>
            </a:r>
            <a:r>
              <a:rPr lang="zh-CN" sz="2000" b="0">
                <a:ea typeface="宋体" panose="02010600030101010101" pitchFamily="2" charset="-122"/>
              </a:rPr>
              <a:t>变化之：</a:t>
            </a:r>
            <a:r>
              <a:rPr lang="en-US" sz="2000" b="0">
                <a:latin typeface="Times New Roman" panose="02020603050405020304" charset="0"/>
              </a:rPr>
              <a:t>↗</a:t>
            </a:r>
            <a:r>
              <a:rPr lang="en-US" sz="2000" b="0">
                <a:latin typeface="Times New Roman" panose="02020603050405020304" charset="0"/>
                <a:ea typeface="宋体" panose="02010600030101010101" pitchFamily="2" charset="-122"/>
                <a:cs typeface="宋体" panose="02010600030101010101" pitchFamily="2" charset="-122"/>
              </a:rPr>
              <a:t>C1A3B2→C2 (</a:t>
            </a:r>
            <a:r>
              <a:rPr lang="zh-CN" sz="2000" b="0">
                <a:ea typeface="宋体" panose="02010600030101010101" pitchFamily="2" charset="-122"/>
              </a:rPr>
              <a:t>好结果</a:t>
            </a:r>
            <a:r>
              <a:rPr lang="en-US" sz="2000" b="0">
                <a:latin typeface="Times New Roman" panose="02020603050405020304" charset="0"/>
                <a:ea typeface="宋体" panose="02010600030101010101" pitchFamily="2" charset="-122"/>
              </a:rPr>
              <a:t>)</a:t>
            </a:r>
            <a:r>
              <a:rPr lang="en-US" sz="2000" b="0">
                <a:latin typeface="Times New Roman" panose="02020603050405020304" charset="0"/>
              </a:rPr>
              <a:t>↘</a:t>
            </a:r>
            <a:r>
              <a:rPr lang="en-US" sz="2000" b="0">
                <a:latin typeface="Times New Roman" panose="02020603050405020304" charset="0"/>
                <a:ea typeface="宋体" panose="02010600030101010101" pitchFamily="2" charset="-122"/>
                <a:cs typeface="宋体" panose="02010600030101010101" pitchFamily="2" charset="-122"/>
              </a:rPr>
              <a:t>C3</a:t>
            </a:r>
            <a:endParaRPr lang="zh-CN" altLang="en-US" sz="2000"/>
          </a:p>
        </p:txBody>
      </p:sp>
      <p:pic>
        <p:nvPicPr>
          <p:cNvPr id="2" name="图片 118"/>
          <p:cNvPicPr>
            <a:picLocks noChangeAspect="1"/>
          </p:cNvPicPr>
          <p:nvPr/>
        </p:nvPicPr>
        <p:blipFill>
          <a:blip r:embed="rId1"/>
          <a:stretch>
            <a:fillRect/>
          </a:stretch>
        </p:blipFill>
        <p:spPr>
          <a:xfrm>
            <a:off x="7367905" y="1193800"/>
            <a:ext cx="4439285" cy="4204970"/>
          </a:xfrm>
          <a:prstGeom prst="rect">
            <a:avLst/>
          </a:prstGeom>
          <a:noFill/>
          <a:ln w="9525">
            <a:noFill/>
          </a:ln>
        </p:spPr>
      </p:pic>
    </p:spTree>
  </p:cSld>
  <p:clrMapOvr>
    <a:masterClrMapping/>
  </p:clrMapOvr>
  <p:transition advTm="1310">
    <p:random/>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902" y="1593655"/>
            <a:ext cx="2812747" cy="2101740"/>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3912604" y="2883812"/>
            <a:ext cx="3840480" cy="829945"/>
          </a:xfrm>
          <a:prstGeom prst="rect">
            <a:avLst/>
          </a:prstGeom>
          <a:noFill/>
        </p:spPr>
        <p:txBody>
          <a:bodyPr wrap="non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正交表的构成</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747" y="2655849"/>
            <a:ext cx="2069408" cy="1546303"/>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6508" y="2327919"/>
            <a:ext cx="3458403" cy="2584187"/>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7928" y="2883669"/>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02</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1731">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正交表的构成</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8" name="矩形 47"/>
          <p:cNvSpPr/>
          <p:nvPr/>
        </p:nvSpPr>
        <p:spPr>
          <a:xfrm>
            <a:off x="1085215" y="849630"/>
            <a:ext cx="2327910" cy="521970"/>
          </a:xfrm>
          <a:prstGeom prst="rect">
            <a:avLst/>
          </a:prstGeom>
          <a:noFill/>
          <a:ln>
            <a:noFill/>
          </a:ln>
        </p:spPr>
        <p:txBody>
          <a:bodyPr wrap="none" rtlCol="0" anchor="t">
            <a:spAutoFit/>
          </a:bodyPr>
          <a:p>
            <a:pPr algn="ctr"/>
            <a:r>
              <a:rPr lang="zh-CN" altLang="en-US" sz="2800" b="1">
                <a:gradFill>
                  <a:gsLst>
                    <a:gs pos="21000">
                      <a:srgbClr val="53575C"/>
                    </a:gs>
                    <a:gs pos="88000">
                      <a:srgbClr val="C5C7CA"/>
                    </a:gs>
                  </a:gsLst>
                  <a:lin ang="5400000"/>
                </a:gradFill>
                <a:effectLst/>
              </a:rPr>
              <a:t>正交表的构成</a:t>
            </a:r>
            <a:endParaRPr lang="zh-CN" altLang="en-US" sz="2800" b="1">
              <a:gradFill>
                <a:gsLst>
                  <a:gs pos="21000">
                    <a:srgbClr val="53575C"/>
                  </a:gs>
                  <a:gs pos="88000">
                    <a:srgbClr val="C5C7CA"/>
                  </a:gs>
                </a:gsLst>
                <a:lin ang="5400000"/>
              </a:gradFill>
              <a:effectLst/>
            </a:endParaRPr>
          </a:p>
        </p:txBody>
      </p:sp>
      <p:sp>
        <p:nvSpPr>
          <p:cNvPr id="100" name="文本框 99"/>
          <p:cNvSpPr txBox="1"/>
          <p:nvPr/>
        </p:nvSpPr>
        <p:spPr>
          <a:xfrm>
            <a:off x="1183005" y="1536700"/>
            <a:ext cx="8220710" cy="1938020"/>
          </a:xfrm>
          <a:prstGeom prst="rect">
            <a:avLst/>
          </a:prstGeom>
          <a:noFill/>
          <a:ln w="9525">
            <a:noFill/>
          </a:ln>
        </p:spPr>
        <p:txBody>
          <a:bodyPr wrap="square">
            <a:spAutoFit/>
          </a:bodyPr>
          <a:p>
            <a:pPr indent="295275"/>
            <a:r>
              <a:rPr lang="zh-CN" sz="2000" b="1">
                <a:ea typeface="宋体" panose="02010600030101010101" pitchFamily="2" charset="-122"/>
              </a:rPr>
              <a:t>行数</a:t>
            </a:r>
            <a:r>
              <a:rPr lang="zh-CN" sz="2000" b="0">
                <a:ea typeface="宋体" panose="02010600030101010101" pitchFamily="2" charset="-122"/>
              </a:rPr>
              <a:t>：正交表中的行的个数，即试验的次数，也是我们通过正交实验法设计的测试用例的个数。</a:t>
            </a:r>
            <a:endParaRPr lang="zh-CN" sz="2000" b="0">
              <a:ea typeface="宋体" panose="02010600030101010101" pitchFamily="2" charset="-122"/>
            </a:endParaRPr>
          </a:p>
          <a:p>
            <a:pPr indent="295275"/>
            <a:r>
              <a:rPr lang="zh-CN" sz="2000" b="1">
                <a:ea typeface="宋体" panose="02010600030101010101" pitchFamily="2" charset="-122"/>
              </a:rPr>
              <a:t>     因素数</a:t>
            </a:r>
            <a:r>
              <a:rPr lang="zh-CN" sz="2000" b="0">
                <a:ea typeface="宋体" panose="02010600030101010101" pitchFamily="2" charset="-122"/>
              </a:rPr>
              <a:t>：正交表中列的个数，即我们要测试的功能点。</a:t>
            </a:r>
            <a:endParaRPr lang="zh-CN" sz="2000" b="0">
              <a:ea typeface="宋体" panose="02010600030101010101" pitchFamily="2" charset="-122"/>
            </a:endParaRPr>
          </a:p>
          <a:p>
            <a:pPr indent="295275"/>
            <a:r>
              <a:rPr lang="zh-CN" sz="2000" b="1">
                <a:ea typeface="宋体" panose="02010600030101010101" pitchFamily="2" charset="-122"/>
              </a:rPr>
              <a:t>     水平数</a:t>
            </a:r>
            <a:r>
              <a:rPr lang="zh-CN" sz="2000" b="0">
                <a:ea typeface="宋体" panose="02010600030101010101" pitchFamily="2" charset="-122"/>
              </a:rPr>
              <a:t>：任何单个因素能够取得的值的最大个数。正交表中的包含的值为从</a:t>
            </a:r>
            <a:r>
              <a:rPr lang="en-US" sz="2000" b="0">
                <a:latin typeface="Times New Roman" panose="02020603050405020304" charset="0"/>
                <a:ea typeface="宋体" panose="02010600030101010101" pitchFamily="2" charset="-122"/>
                <a:cs typeface="宋体" panose="02010600030101010101" pitchFamily="2" charset="-122"/>
              </a:rPr>
              <a:t>0</a:t>
            </a:r>
            <a:r>
              <a:rPr lang="zh-CN" sz="2000" b="0">
                <a:ea typeface="宋体" panose="02010600030101010101" pitchFamily="2" charset="-122"/>
              </a:rPr>
              <a:t>到数</a:t>
            </a:r>
            <a:r>
              <a:rPr lang="en-US" sz="2000" b="0">
                <a:latin typeface="Times New Roman" panose="02020603050405020304" charset="0"/>
              </a:rPr>
              <a:t>“</a:t>
            </a:r>
            <a:r>
              <a:rPr lang="zh-CN" sz="2000" b="0">
                <a:ea typeface="宋体" panose="02010600030101010101" pitchFamily="2" charset="-122"/>
              </a:rPr>
              <a:t>水平数</a:t>
            </a:r>
            <a:r>
              <a:rPr lang="en-US" sz="2000" b="0">
                <a:latin typeface="Times New Roman" panose="02020603050405020304" charset="0"/>
                <a:ea typeface="宋体" panose="02010600030101010101" pitchFamily="2" charset="-122"/>
                <a:cs typeface="宋体" panose="02010600030101010101" pitchFamily="2" charset="-122"/>
              </a:rPr>
              <a:t>-1</a:t>
            </a:r>
            <a:r>
              <a:rPr lang="en-US" sz="2000" b="0">
                <a:latin typeface="Times New Roman" panose="02020603050405020304" charset="0"/>
              </a:rPr>
              <a:t>”</a:t>
            </a:r>
            <a:r>
              <a:rPr lang="zh-CN" sz="2000" b="0">
                <a:ea typeface="宋体" panose="02010600030101010101" pitchFamily="2" charset="-122"/>
              </a:rPr>
              <a:t>或从</a:t>
            </a:r>
            <a:r>
              <a:rPr lang="en-US" sz="2000" b="0">
                <a:latin typeface="Times New Roman" panose="02020603050405020304" charset="0"/>
                <a:ea typeface="宋体" panose="02010600030101010101" pitchFamily="2" charset="-122"/>
                <a:cs typeface="宋体" panose="02010600030101010101" pitchFamily="2" charset="-122"/>
              </a:rPr>
              <a:t>1</a:t>
            </a:r>
            <a:r>
              <a:rPr lang="zh-CN" sz="2000" b="0">
                <a:ea typeface="宋体" panose="02010600030101010101" pitchFamily="2" charset="-122"/>
              </a:rPr>
              <a:t>到</a:t>
            </a:r>
            <a:r>
              <a:rPr lang="en-US" sz="2000" b="0">
                <a:latin typeface="Times New Roman" panose="02020603050405020304" charset="0"/>
              </a:rPr>
              <a:t>“</a:t>
            </a:r>
            <a:r>
              <a:rPr lang="zh-CN" sz="2000" b="0">
                <a:ea typeface="宋体" panose="02010600030101010101" pitchFamily="2" charset="-122"/>
              </a:rPr>
              <a:t>水平数</a:t>
            </a:r>
            <a:r>
              <a:rPr lang="en-US" sz="2000" b="0">
                <a:latin typeface="Times New Roman" panose="02020603050405020304" charset="0"/>
              </a:rPr>
              <a:t>”</a:t>
            </a:r>
            <a:r>
              <a:rPr lang="zh-CN" sz="2000" b="0">
                <a:ea typeface="宋体" panose="02010600030101010101" pitchFamily="2" charset="-122"/>
              </a:rPr>
              <a:t>。即要测试功能点的输入条件。</a:t>
            </a:r>
            <a:endParaRPr lang="zh-CN" sz="2000" b="0">
              <a:ea typeface="宋体" panose="02010600030101010101" pitchFamily="2" charset="-122"/>
            </a:endParaRPr>
          </a:p>
          <a:p>
            <a:pPr indent="295275"/>
            <a:r>
              <a:rPr lang="zh-CN" sz="2000" b="1">
                <a:ea typeface="宋体" panose="02010600030101010101" pitchFamily="2" charset="-122"/>
              </a:rPr>
              <a:t>     正交表的形式</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cs typeface="宋体" panose="02010600030101010101" pitchFamily="2" charset="-122"/>
              </a:rPr>
              <a:t>L</a:t>
            </a:r>
            <a:r>
              <a:rPr lang="zh-CN" sz="2000" b="0" baseline="-25000">
                <a:ea typeface="宋体" panose="02010600030101010101" pitchFamily="2" charset="-122"/>
              </a:rPr>
              <a:t>行数</a:t>
            </a:r>
            <a:r>
              <a:rPr lang="en-US" sz="2000" b="0">
                <a:latin typeface="Times New Roman" panose="02020603050405020304" charset="0"/>
                <a:ea typeface="宋体" panose="02010600030101010101" pitchFamily="2" charset="-122"/>
                <a:cs typeface="宋体" panose="02010600030101010101" pitchFamily="2" charset="-122"/>
              </a:rPr>
              <a:t>(</a:t>
            </a:r>
            <a:r>
              <a:rPr lang="zh-CN" sz="2000" b="0">
                <a:ea typeface="宋体" panose="02010600030101010101" pitchFamily="2" charset="-122"/>
              </a:rPr>
              <a:t>水平数</a:t>
            </a:r>
            <a:r>
              <a:rPr lang="zh-CN" sz="2000" b="0" baseline="30000">
                <a:ea typeface="宋体" panose="02010600030101010101" pitchFamily="2" charset="-122"/>
              </a:rPr>
              <a:t>因素数</a:t>
            </a:r>
            <a:r>
              <a:rPr lang="en-US" sz="2000" b="0">
                <a:latin typeface="Times New Roman" panose="02020603050405020304" charset="0"/>
                <a:ea typeface="宋体" panose="02010600030101010101" pitchFamily="2" charset="-122"/>
                <a:cs typeface="宋体" panose="02010600030101010101" pitchFamily="2" charset="-122"/>
              </a:rPr>
              <a:t>) </a:t>
            </a:r>
            <a:r>
              <a:rPr lang="zh-CN" sz="2000" b="0">
                <a:ea typeface="宋体" panose="02010600030101010101" pitchFamily="2" charset="-122"/>
              </a:rPr>
              <a:t>如：</a:t>
            </a:r>
            <a:r>
              <a:rPr lang="en-US" sz="2000" b="0">
                <a:latin typeface="Times New Roman" panose="02020603050405020304" charset="0"/>
                <a:ea typeface="宋体" panose="02010600030101010101" pitchFamily="2" charset="-122"/>
                <a:cs typeface="宋体" panose="02010600030101010101" pitchFamily="2" charset="-122"/>
              </a:rPr>
              <a:t>L</a:t>
            </a:r>
            <a:r>
              <a:rPr lang="en-US" sz="2000" b="0" baseline="-25000">
                <a:latin typeface="Times New Roman" panose="02020603050405020304" charset="0"/>
                <a:ea typeface="宋体" panose="02010600030101010101" pitchFamily="2" charset="-122"/>
                <a:cs typeface="宋体" panose="02010600030101010101" pitchFamily="2" charset="-122"/>
              </a:rPr>
              <a:t>8</a:t>
            </a:r>
            <a:r>
              <a:rPr lang="en-US" sz="2000" b="0">
                <a:latin typeface="Times New Roman" panose="02020603050405020304" charset="0"/>
                <a:ea typeface="宋体" panose="02010600030101010101" pitchFamily="2" charset="-122"/>
                <a:cs typeface="宋体" panose="02010600030101010101" pitchFamily="2" charset="-122"/>
              </a:rPr>
              <a:t>(2</a:t>
            </a:r>
            <a:r>
              <a:rPr lang="en-US" sz="2000" b="0" baseline="30000">
                <a:latin typeface="Times New Roman" panose="02020603050405020304" charset="0"/>
                <a:ea typeface="宋体" panose="02010600030101010101" pitchFamily="2" charset="-122"/>
                <a:cs typeface="宋体" panose="02010600030101010101" pitchFamily="2" charset="-122"/>
              </a:rPr>
              <a:t>7</a:t>
            </a:r>
            <a:r>
              <a:rPr lang="en-US" sz="2000" b="0">
                <a:latin typeface="Times New Roman" panose="02020603050405020304" charset="0"/>
                <a:ea typeface="宋体" panose="02010600030101010101" pitchFamily="2" charset="-122"/>
                <a:cs typeface="宋体" panose="02010600030101010101" pitchFamily="2" charset="-122"/>
              </a:rPr>
              <a:t>)</a:t>
            </a:r>
            <a:endParaRPr lang="zh-CN" altLang="en-US" sz="2000"/>
          </a:p>
        </p:txBody>
      </p:sp>
      <p:sp>
        <p:nvSpPr>
          <p:cNvPr id="2" name="文本框 1"/>
          <p:cNvSpPr txBox="1"/>
          <p:nvPr/>
        </p:nvSpPr>
        <p:spPr>
          <a:xfrm>
            <a:off x="1565275" y="3610927"/>
            <a:ext cx="5080000" cy="1014730"/>
          </a:xfrm>
          <a:prstGeom prst="rect">
            <a:avLst/>
          </a:prstGeom>
          <a:noFill/>
          <a:ln w="9525">
            <a:noFill/>
          </a:ln>
        </p:spPr>
        <p:txBody>
          <a:bodyPr>
            <a:spAutoFit/>
          </a:bodyPr>
          <a:p>
            <a:pPr indent="295275"/>
            <a:r>
              <a:rPr lang="en-US" sz="2000" b="0">
                <a:latin typeface="Times New Roman" panose="02020603050405020304" charset="0"/>
                <a:ea typeface="宋体" panose="02010600030101010101" pitchFamily="2" charset="-122"/>
                <a:cs typeface="宋体" panose="02010600030101010101" pitchFamily="2" charset="-122"/>
              </a:rPr>
              <a:t>7</a:t>
            </a:r>
            <a:r>
              <a:rPr lang="zh-CN" sz="2000" b="0">
                <a:ea typeface="宋体" panose="02010600030101010101" pitchFamily="2" charset="-122"/>
              </a:rPr>
              <a:t>为此表列的数目（最多可安排的因子数）</a:t>
            </a:r>
            <a:r>
              <a:rPr lang="en-US" sz="2000" b="0">
                <a:latin typeface="Times New Roman" panose="02020603050405020304" charset="0"/>
                <a:ea typeface="宋体" panose="02010600030101010101" pitchFamily="2" charset="-122"/>
                <a:cs typeface="宋体" panose="02010600030101010101" pitchFamily="2" charset="-122"/>
              </a:rPr>
              <a:t>     2</a:t>
            </a:r>
            <a:r>
              <a:rPr lang="zh-CN" sz="2000" b="0">
                <a:ea typeface="宋体" panose="02010600030101010101" pitchFamily="2" charset="-122"/>
              </a:rPr>
              <a:t>为因子的水平数</a:t>
            </a:r>
            <a:endParaRPr lang="en-US" sz="2000" b="0">
              <a:latin typeface="Times New Roman" panose="02020603050405020304" charset="0"/>
              <a:ea typeface="宋体" panose="02010600030101010101" pitchFamily="2" charset="-122"/>
            </a:endParaRPr>
          </a:p>
          <a:p>
            <a:pPr indent="295275"/>
            <a:r>
              <a:rPr lang="en-US" sz="2000" b="0">
                <a:latin typeface="Times New Roman" panose="02020603050405020304" charset="0"/>
                <a:ea typeface="宋体" panose="02010600030101010101" pitchFamily="2" charset="-122"/>
              </a:rPr>
              <a:t>     8</a:t>
            </a:r>
            <a:r>
              <a:rPr lang="zh-CN" sz="2000" b="0">
                <a:ea typeface="宋体" panose="02010600030101010101" pitchFamily="2" charset="-122"/>
              </a:rPr>
              <a:t>为此表行的数目（试验次数）</a:t>
            </a:r>
            <a:endParaRPr lang="zh-CN" altLang="en-US" sz="2000"/>
          </a:p>
        </p:txBody>
      </p:sp>
    </p:spTree>
  </p:cSld>
  <p:clrMapOvr>
    <a:masterClrMapping/>
  </p:clrMapOvr>
  <p:transition advTm="1310">
    <p:random/>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sym typeface="+mn-ea"/>
              </a:rPr>
              <a:t>正交表的构成</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551815" y="900430"/>
            <a:ext cx="3757930" cy="521970"/>
          </a:xfrm>
          <a:prstGeom prst="rect">
            <a:avLst/>
          </a:prstGeom>
          <a:noFill/>
          <a:ln>
            <a:noFill/>
          </a:ln>
        </p:spPr>
        <p:txBody>
          <a:bodyPr wrap="none" rtlCol="0" anchor="t">
            <a:spAutoFit/>
          </a:bodyPr>
          <a:p>
            <a:pPr algn="ctr"/>
            <a:r>
              <a:rPr lang="zh-CN" altLang="en-US" sz="2800" b="1">
                <a:gradFill>
                  <a:gsLst>
                    <a:gs pos="21000">
                      <a:srgbClr val="53575C"/>
                    </a:gs>
                    <a:gs pos="88000">
                      <a:srgbClr val="C5C7CA"/>
                    </a:gs>
                  </a:gsLst>
                  <a:lin ang="5400000"/>
                </a:gradFill>
                <a:effectLst/>
              </a:rPr>
              <a:t>正交表具有两条性质：</a:t>
            </a:r>
            <a:endParaRPr lang="zh-CN" altLang="en-US" sz="2800" b="1">
              <a:gradFill>
                <a:gsLst>
                  <a:gs pos="21000">
                    <a:srgbClr val="53575C"/>
                  </a:gs>
                  <a:gs pos="88000">
                    <a:srgbClr val="C5C7CA"/>
                  </a:gs>
                </a:gsLst>
                <a:lin ang="5400000"/>
              </a:gradFill>
              <a:effectLst/>
            </a:endParaRPr>
          </a:p>
        </p:txBody>
      </p:sp>
      <p:sp>
        <p:nvSpPr>
          <p:cNvPr id="100" name="文本框 99"/>
          <p:cNvSpPr txBox="1"/>
          <p:nvPr/>
        </p:nvSpPr>
        <p:spPr>
          <a:xfrm>
            <a:off x="624205" y="1605280"/>
            <a:ext cx="5080000" cy="1014730"/>
          </a:xfrm>
          <a:prstGeom prst="rect">
            <a:avLst/>
          </a:prstGeom>
          <a:noFill/>
          <a:ln w="9525">
            <a:noFill/>
          </a:ln>
        </p:spPr>
        <p:txBody>
          <a:bodyPr>
            <a:spAutoFit/>
          </a:bodyPr>
          <a:p>
            <a:pPr indent="295275"/>
            <a:r>
              <a:rPr lang="en-US" sz="2000" b="0">
                <a:latin typeface="Times New Roman" panose="02020603050405020304" charset="0"/>
                <a:ea typeface="宋体" panose="02010600030101010101" pitchFamily="2" charset="-122"/>
                <a:cs typeface="宋体" panose="02010600030101010101" pitchFamily="2" charset="-122"/>
              </a:rPr>
              <a:t>(1)</a:t>
            </a:r>
            <a:r>
              <a:rPr lang="zh-CN" sz="2000" b="0">
                <a:ea typeface="宋体" panose="02010600030101010101" pitchFamily="2" charset="-122"/>
              </a:rPr>
              <a:t>每一列中各数字出现的次数都一样多。</a:t>
            </a:r>
            <a:r>
              <a:rPr lang="en-US" sz="2000" b="0">
                <a:latin typeface="Times New Roman" panose="02020603050405020304" charset="0"/>
                <a:ea typeface="宋体" panose="02010600030101010101" pitchFamily="2" charset="-122"/>
              </a:rPr>
              <a:t>     (2)</a:t>
            </a:r>
            <a:r>
              <a:rPr lang="zh-CN" sz="2000" b="0">
                <a:ea typeface="宋体" panose="02010600030101010101" pitchFamily="2" charset="-122"/>
              </a:rPr>
              <a:t>任何两列所构成的各有序数对出现的次数都一样多。所以称之谓正交表。</a:t>
            </a:r>
            <a:endParaRPr lang="zh-CN" altLang="en-US" sz="2000"/>
          </a:p>
        </p:txBody>
      </p:sp>
      <p:graphicFrame>
        <p:nvGraphicFramePr>
          <p:cNvPr id="3" name="表格 2"/>
          <p:cNvGraphicFramePr/>
          <p:nvPr>
            <p:custDataLst>
              <p:tags r:id="rId1"/>
            </p:custDataLst>
          </p:nvPr>
        </p:nvGraphicFramePr>
        <p:xfrm>
          <a:off x="7679373" y="985024"/>
          <a:ext cx="4035425" cy="5570220"/>
        </p:xfrm>
        <a:graphic>
          <a:graphicData uri="http://schemas.openxmlformats.org/drawingml/2006/table">
            <a:tbl>
              <a:tblPr firstRow="1" bandRow="1">
                <a:tableStyleId>{5940675A-B579-460E-94D1-54222C63F5DA}</a:tableStyleId>
              </a:tblPr>
              <a:tblGrid>
                <a:gridCol w="880745"/>
                <a:gridCol w="833755"/>
                <a:gridCol w="774700"/>
                <a:gridCol w="774700"/>
                <a:gridCol w="771525"/>
              </a:tblGrid>
              <a:tr h="464185">
                <a:tc rowSpan="3">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行号</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4">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列号</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80000"/>
                      </a:solidFill>
                      <a:prstDash val="solid"/>
                      <a:headEnd type="none" w="med" len="med"/>
                      <a:tailEnd type="none" w="med" len="med"/>
                    </a:lnB>
                  </a:tcPr>
                </a:tc>
              </a:tr>
              <a:tr h="46418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64185">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gridSpan="4">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水平</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00000"/>
                      </a:solidFill>
                      <a:prstDash val="solid"/>
                      <a:headEnd type="none" w="med" len="med"/>
                      <a:tailEnd type="none" w="med" len="med"/>
                    </a:lnB>
                  </a:tcPr>
                </a:tc>
              </a:tr>
              <a:tr h="46418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6418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6418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6418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4</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6418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5</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6418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6</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6418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7</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6418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8</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64185">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9</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3</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2</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2000" b="0">
                          <a:latin typeface="宋体" panose="02010600030101010101" pitchFamily="2" charset="-122"/>
                          <a:ea typeface="宋体" panose="02010600030101010101" pitchFamily="2" charset="-122"/>
                          <a:cs typeface="宋体" panose="02010600030101010101" pitchFamily="2" charset="-122"/>
                        </a:rPr>
                        <a:t>1</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4" name="文本框 3"/>
          <p:cNvSpPr txBox="1"/>
          <p:nvPr/>
        </p:nvSpPr>
        <p:spPr>
          <a:xfrm>
            <a:off x="688975" y="2963862"/>
            <a:ext cx="5080000" cy="1938020"/>
          </a:xfrm>
          <a:prstGeom prst="rect">
            <a:avLst/>
          </a:prstGeom>
          <a:noFill/>
          <a:ln w="9525">
            <a:noFill/>
          </a:ln>
        </p:spPr>
        <p:txBody>
          <a:bodyPr>
            <a:spAutoFit/>
          </a:bodyPr>
          <a:p>
            <a:pPr indent="295275"/>
            <a:r>
              <a:rPr lang="zh-CN" sz="2000" b="0">
                <a:ea typeface="宋体" panose="02010600030101010101" pitchFamily="2" charset="-122"/>
              </a:rPr>
              <a:t>例如在</a:t>
            </a:r>
            <a:r>
              <a:rPr lang="en-US" sz="2000" b="0">
                <a:latin typeface="Times New Roman" panose="02020603050405020304" charset="0"/>
                <a:ea typeface="宋体" panose="02010600030101010101" pitchFamily="2" charset="-122"/>
                <a:cs typeface="宋体" panose="02010600030101010101" pitchFamily="2" charset="-122"/>
              </a:rPr>
              <a:t>L</a:t>
            </a:r>
            <a:r>
              <a:rPr lang="en-US" sz="2000" b="0" baseline="-25000">
                <a:latin typeface="Times New Roman" panose="02020603050405020304" charset="0"/>
                <a:ea typeface="宋体" panose="02010600030101010101" pitchFamily="2" charset="-122"/>
                <a:cs typeface="宋体" panose="02010600030101010101" pitchFamily="2" charset="-122"/>
              </a:rPr>
              <a:t>9</a:t>
            </a:r>
            <a:r>
              <a:rPr lang="en-US" sz="2000" b="0">
                <a:latin typeface="Times New Roman" panose="02020603050405020304" charset="0"/>
                <a:ea typeface="宋体" panose="02010600030101010101" pitchFamily="2" charset="-122"/>
                <a:cs typeface="宋体" panose="02010600030101010101" pitchFamily="2" charset="-122"/>
              </a:rPr>
              <a:t>(3</a:t>
            </a:r>
            <a:r>
              <a:rPr lang="en-US" sz="2000" b="0" baseline="30000">
                <a:latin typeface="Times New Roman" panose="02020603050405020304" charset="0"/>
                <a:ea typeface="宋体" panose="02010600030101010101" pitchFamily="2" charset="-122"/>
                <a:cs typeface="宋体" panose="02010600030101010101" pitchFamily="2" charset="-122"/>
              </a:rPr>
              <a:t>4</a:t>
            </a:r>
            <a:r>
              <a:rPr lang="en-US" sz="2000" b="0">
                <a:latin typeface="Times New Roman" panose="02020603050405020304" charset="0"/>
                <a:ea typeface="宋体" panose="02010600030101010101" pitchFamily="2" charset="-122"/>
                <a:cs typeface="宋体" panose="02010600030101010101" pitchFamily="2" charset="-122"/>
              </a:rPr>
              <a:t>)</a:t>
            </a:r>
            <a:r>
              <a:rPr lang="zh-CN" sz="2000" b="0">
                <a:ea typeface="宋体" panose="02010600030101010101" pitchFamily="2" charset="-122"/>
              </a:rPr>
              <a:t>中</a:t>
            </a:r>
            <a:r>
              <a:rPr lang="en-US" sz="2000" b="0">
                <a:latin typeface="Times New Roman" panose="02020603050405020304" charset="0"/>
                <a:ea typeface="宋体" panose="02010600030101010101" pitchFamily="2" charset="-122"/>
              </a:rPr>
              <a:t>(</a:t>
            </a:r>
            <a:r>
              <a:rPr lang="zh-CN" sz="2000" b="0">
                <a:ea typeface="宋体" panose="02010600030101010101" pitchFamily="2" charset="-122"/>
              </a:rPr>
              <a:t>见表</a:t>
            </a:r>
            <a:r>
              <a:rPr lang="en-US" sz="2000" b="0">
                <a:latin typeface="Times New Roman" panose="02020603050405020304" charset="0"/>
                <a:ea typeface="宋体" panose="02010600030101010101" pitchFamily="2" charset="-122"/>
              </a:rPr>
              <a:t>10</a:t>
            </a:r>
            <a:r>
              <a:rPr lang="en-US" sz="2000" b="0">
                <a:latin typeface="Times New Roman" panose="02020603050405020304" charset="0"/>
              </a:rPr>
              <a:t>-</a:t>
            </a:r>
            <a:r>
              <a:rPr lang="en-US" sz="2000" b="0">
                <a:latin typeface="Times New Roman" panose="02020603050405020304" charset="0"/>
                <a:ea typeface="宋体" panose="02010600030101010101" pitchFamily="2" charset="-122"/>
                <a:cs typeface="宋体" panose="02010600030101010101" pitchFamily="2" charset="-122"/>
              </a:rPr>
              <a:t>1)</a:t>
            </a:r>
            <a:r>
              <a:rPr lang="zh-CN" sz="2000" b="0">
                <a:ea typeface="宋体" panose="02010600030101010101" pitchFamily="2" charset="-122"/>
              </a:rPr>
              <a:t>，各列中的</a:t>
            </a:r>
            <a:r>
              <a:rPr lang="en-US" sz="2000" b="0">
                <a:latin typeface="Times New Roman" panose="02020603050405020304" charset="0"/>
                <a:ea typeface="宋体" panose="02010600030101010101" pitchFamily="2" charset="-122"/>
              </a:rPr>
              <a:t>l</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2</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3</a:t>
            </a:r>
            <a:r>
              <a:rPr lang="zh-CN" sz="2000" b="0">
                <a:ea typeface="宋体" panose="02010600030101010101" pitchFamily="2" charset="-122"/>
              </a:rPr>
              <a:t>都各自出现</a:t>
            </a:r>
            <a:r>
              <a:rPr lang="en-US" sz="2000" b="0">
                <a:latin typeface="Times New Roman" panose="02020603050405020304" charset="0"/>
                <a:ea typeface="宋体" panose="02010600030101010101" pitchFamily="2" charset="-122"/>
              </a:rPr>
              <a:t>3</a:t>
            </a:r>
            <a:r>
              <a:rPr lang="zh-CN" sz="2000" b="0">
                <a:ea typeface="宋体" panose="02010600030101010101" pitchFamily="2" charset="-122"/>
              </a:rPr>
              <a:t>次；任何两列，例如第</a:t>
            </a:r>
            <a:r>
              <a:rPr lang="en-US" sz="2000" b="0">
                <a:latin typeface="Times New Roman" panose="02020603050405020304" charset="0"/>
                <a:ea typeface="宋体" panose="02010600030101010101" pitchFamily="2" charset="-122"/>
              </a:rPr>
              <a:t>3</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4</a:t>
            </a:r>
            <a:r>
              <a:rPr lang="zh-CN" sz="2000" b="0">
                <a:ea typeface="宋体" panose="02010600030101010101" pitchFamily="2" charset="-122"/>
              </a:rPr>
              <a:t>列，所构成的有序数对从上向下共有九种，既没有重复也没有遗漏。其他任何两列所构成的有序数对也是这九种各出现一次。这反映了试验点分布的均匀性。</a:t>
            </a:r>
            <a:endParaRPr lang="zh-CN" altLang="en-US" sz="2000"/>
          </a:p>
        </p:txBody>
      </p:sp>
    </p:spTree>
  </p:cSld>
  <p:clrMapOvr>
    <a:masterClrMapping/>
  </p:clrMapOvr>
  <p:transition advTm="5335">
    <p:random/>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902" y="1593655"/>
            <a:ext cx="2812747" cy="2101740"/>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2673985" y="2883535"/>
            <a:ext cx="9346565" cy="829945"/>
          </a:xfrm>
          <a:prstGeom prst="rect">
            <a:avLst/>
          </a:prstGeom>
          <a:noFill/>
        </p:spPr>
        <p:txBody>
          <a:bodyPr wrap="squar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正交表法设计测试用例的步骤</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747" y="2655849"/>
            <a:ext cx="2069408" cy="1546303"/>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6508" y="2327919"/>
            <a:ext cx="3458403" cy="2584187"/>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7928" y="2883669"/>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03</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280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800" y="56515"/>
            <a:ext cx="4609465"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正交表法设计测试用例的步骤</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2532380" y="723900"/>
            <a:ext cx="5692140" cy="645160"/>
          </a:xfrm>
          <a:prstGeom prst="rect">
            <a:avLst/>
          </a:prstGeom>
          <a:noFill/>
          <a:ln>
            <a:noFill/>
          </a:ln>
        </p:spPr>
        <p:txBody>
          <a:bodyPr wrap="none" rtlCol="0" anchor="t">
            <a:spAutoFit/>
          </a:bodyPr>
          <a:p>
            <a:pPr algn="ctr"/>
            <a:r>
              <a:rPr lang="zh-CN" altLang="en-US" sz="3600" b="1">
                <a:gradFill>
                  <a:gsLst>
                    <a:gs pos="21000">
                      <a:srgbClr val="53575C"/>
                    </a:gs>
                    <a:gs pos="88000">
                      <a:srgbClr val="C5C7CA"/>
                    </a:gs>
                  </a:gsLst>
                  <a:lin ang="5400000"/>
                </a:gradFill>
                <a:effectLst/>
              </a:rPr>
              <a:t>用正交表设计测试用例步骤</a:t>
            </a:r>
            <a:endParaRPr lang="zh-CN" altLang="en-US" sz="3600" b="1">
              <a:gradFill>
                <a:gsLst>
                  <a:gs pos="21000">
                    <a:srgbClr val="53575C"/>
                  </a:gs>
                  <a:gs pos="88000">
                    <a:srgbClr val="C5C7CA"/>
                  </a:gs>
                </a:gsLst>
                <a:lin ang="5400000"/>
              </a:gradFill>
              <a:effectLst/>
            </a:endParaRPr>
          </a:p>
        </p:txBody>
      </p:sp>
      <p:sp>
        <p:nvSpPr>
          <p:cNvPr id="3" name="文本框 2"/>
          <p:cNvSpPr txBox="1"/>
          <p:nvPr/>
        </p:nvSpPr>
        <p:spPr>
          <a:xfrm>
            <a:off x="2532380" y="1704975"/>
            <a:ext cx="6557645" cy="2245360"/>
          </a:xfrm>
          <a:prstGeom prst="rect">
            <a:avLst/>
          </a:prstGeom>
          <a:noFill/>
        </p:spPr>
        <p:txBody>
          <a:bodyPr wrap="square" rtlCol="0">
            <a:spAutoFit/>
          </a:bodyPr>
          <a:p>
            <a:r>
              <a:rPr lang="zh-CN" altLang="en-US" sz="2000"/>
              <a:t>（</a:t>
            </a:r>
            <a:r>
              <a:rPr lang="en-US" altLang="zh-CN" sz="2000"/>
              <a:t>1</a:t>
            </a:r>
            <a:r>
              <a:rPr lang="zh-CN" altLang="en-US" sz="2000"/>
              <a:t>）有哪些因素（功能点）</a:t>
            </a:r>
            <a:endParaRPr lang="zh-CN" altLang="en-US" sz="2000"/>
          </a:p>
          <a:p>
            <a:r>
              <a:rPr lang="zh-CN" altLang="en-US" sz="2000"/>
              <a:t>（</a:t>
            </a:r>
            <a:r>
              <a:rPr lang="en-US" altLang="zh-CN" sz="2000"/>
              <a:t>2</a:t>
            </a:r>
            <a:r>
              <a:rPr lang="zh-CN" altLang="en-US" sz="2000"/>
              <a:t>）每个因素有哪几个水平（功能点的取值）</a:t>
            </a:r>
            <a:endParaRPr lang="zh-CN" altLang="en-US" sz="2000"/>
          </a:p>
          <a:p>
            <a:r>
              <a:rPr lang="zh-CN" altLang="en-US" sz="2000"/>
              <a:t>（</a:t>
            </a:r>
            <a:r>
              <a:rPr lang="en-US" altLang="zh-CN" sz="2000"/>
              <a:t>3</a:t>
            </a:r>
            <a:r>
              <a:rPr lang="zh-CN" altLang="en-US" sz="2000"/>
              <a:t>）选择一个合</a:t>
            </a:r>
            <a:r>
              <a:rPr lang="en-US" altLang="zh-CN" sz="2000"/>
              <a:t>=</a:t>
            </a:r>
            <a:r>
              <a:rPr lang="zh-CN" altLang="en-US" sz="2000"/>
              <a:t>合适的正交表</a:t>
            </a:r>
            <a:endParaRPr lang="zh-CN" altLang="en-US" sz="2000"/>
          </a:p>
          <a:p>
            <a:r>
              <a:rPr lang="zh-CN" altLang="en-US" sz="2000"/>
              <a:t>（</a:t>
            </a:r>
            <a:r>
              <a:rPr lang="en-US" altLang="zh-CN" sz="2000"/>
              <a:t>4</a:t>
            </a:r>
            <a:r>
              <a:rPr lang="zh-CN" altLang="en-US" sz="2000"/>
              <a:t>）把变量的值映射到表中</a:t>
            </a:r>
            <a:endParaRPr lang="zh-CN" altLang="en-US" sz="2000"/>
          </a:p>
          <a:p>
            <a:r>
              <a:rPr lang="zh-CN" altLang="en-US" sz="2000"/>
              <a:t>（</a:t>
            </a:r>
            <a:r>
              <a:rPr lang="en-US" altLang="zh-CN" sz="2000"/>
              <a:t>5</a:t>
            </a:r>
            <a:r>
              <a:rPr lang="zh-CN" altLang="en-US" sz="2000"/>
              <a:t>）把每一行的各个因素水平的组合作为一个测试用例</a:t>
            </a:r>
            <a:endParaRPr lang="zh-CN" altLang="en-US" sz="2000"/>
          </a:p>
          <a:p>
            <a:r>
              <a:rPr lang="zh-CN" altLang="en-US" sz="2000"/>
              <a:t>（</a:t>
            </a:r>
            <a:r>
              <a:rPr lang="en-US" altLang="zh-CN" sz="2000"/>
              <a:t>6</a:t>
            </a:r>
            <a:r>
              <a:rPr lang="zh-CN" altLang="en-US" sz="2000"/>
              <a:t>）加上你认为可以且没有在表中出现的组合</a:t>
            </a:r>
            <a:endParaRPr lang="zh-CN" altLang="en-US" sz="2000"/>
          </a:p>
          <a:p>
            <a:endParaRPr lang="zh-CN" altLang="en-US" sz="2000"/>
          </a:p>
        </p:txBody>
      </p:sp>
    </p:spTree>
  </p:cSld>
  <p:clrMapOvr>
    <a:masterClrMapping/>
  </p:clrMapOvr>
  <p:transition advTm="1310">
    <p:random/>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800" y="56515"/>
            <a:ext cx="3693160"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正交表法设计测试用例的步骤</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3081973" y="851535"/>
            <a:ext cx="3396615" cy="645160"/>
          </a:xfrm>
          <a:prstGeom prst="rect">
            <a:avLst/>
          </a:prstGeom>
          <a:noFill/>
          <a:ln>
            <a:noFill/>
          </a:ln>
        </p:spPr>
        <p:txBody>
          <a:bodyPr wrap="none" rtlCol="0" anchor="t">
            <a:spAutoFit/>
          </a:bodyPr>
          <a:p>
            <a:pPr algn="ctr"/>
            <a:r>
              <a:rPr lang="zh-CN" altLang="en-US" sz="3600" b="1">
                <a:gradFill>
                  <a:gsLst>
                    <a:gs pos="21000">
                      <a:srgbClr val="53575C"/>
                    </a:gs>
                    <a:gs pos="88000">
                      <a:srgbClr val="C5C7CA"/>
                    </a:gs>
                  </a:gsLst>
                  <a:lin ang="5400000"/>
                </a:gradFill>
                <a:effectLst/>
              </a:rPr>
              <a:t>如何选择正交表</a:t>
            </a:r>
            <a:endParaRPr lang="zh-CN" altLang="en-US" sz="3600" b="1">
              <a:gradFill>
                <a:gsLst>
                  <a:gs pos="21000">
                    <a:srgbClr val="53575C"/>
                  </a:gs>
                  <a:gs pos="88000">
                    <a:srgbClr val="C5C7CA"/>
                  </a:gs>
                </a:gsLst>
                <a:lin ang="5400000"/>
              </a:gradFill>
              <a:effectLst/>
            </a:endParaRPr>
          </a:p>
        </p:txBody>
      </p:sp>
      <p:sp>
        <p:nvSpPr>
          <p:cNvPr id="4" name="文本框 3"/>
          <p:cNvSpPr txBox="1"/>
          <p:nvPr/>
        </p:nvSpPr>
        <p:spPr>
          <a:xfrm>
            <a:off x="2913380" y="1821180"/>
            <a:ext cx="9069070" cy="1630045"/>
          </a:xfrm>
          <a:prstGeom prst="rect">
            <a:avLst/>
          </a:prstGeom>
          <a:noFill/>
        </p:spPr>
        <p:txBody>
          <a:bodyPr wrap="square" rtlCol="0">
            <a:spAutoFit/>
          </a:bodyPr>
          <a:p>
            <a:r>
              <a:rPr lang="en-US" altLang="zh-CN" sz="2000"/>
              <a:t>1.</a:t>
            </a:r>
            <a:r>
              <a:rPr lang="zh-CN" altLang="en-US" sz="2000"/>
              <a:t>考虑因素（功能点）的个数</a:t>
            </a:r>
            <a:endParaRPr lang="zh-CN" altLang="en-US" sz="2000"/>
          </a:p>
          <a:p>
            <a:r>
              <a:rPr lang="en-US" altLang="zh-CN" sz="2000"/>
              <a:t>2.</a:t>
            </a:r>
            <a:r>
              <a:rPr lang="zh-CN" altLang="en-US" sz="2000"/>
              <a:t>考虑因素水平（功能点的取值）的个数</a:t>
            </a:r>
            <a:endParaRPr lang="zh-CN" altLang="en-US" sz="2000"/>
          </a:p>
          <a:p>
            <a:r>
              <a:rPr lang="en-US" altLang="zh-CN" sz="2000"/>
              <a:t>3.</a:t>
            </a:r>
            <a:r>
              <a:rPr lang="zh-CN" altLang="en-US" sz="2000"/>
              <a:t>考虑正交表的行数</a:t>
            </a:r>
            <a:endParaRPr lang="zh-CN" altLang="en-US" sz="2000"/>
          </a:p>
          <a:p>
            <a:r>
              <a:rPr lang="en-US" altLang="zh-CN" sz="2000"/>
              <a:t>4.</a:t>
            </a:r>
            <a:r>
              <a:rPr lang="zh-CN" altLang="en-US" sz="2000"/>
              <a:t>取行数最少的一个</a:t>
            </a:r>
            <a:endParaRPr lang="zh-CN" altLang="en-US" sz="2000"/>
          </a:p>
          <a:p>
            <a:endParaRPr lang="zh-CN" altLang="en-US" sz="2000"/>
          </a:p>
        </p:txBody>
      </p:sp>
    </p:spTree>
  </p:cSld>
  <p:clrMapOvr>
    <a:masterClrMapping/>
  </p:clrMapOvr>
  <p:transition advTm="1310">
    <p:random/>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800" y="56515"/>
            <a:ext cx="3907790"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正交表法设计测试用例的步骤</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2923858" y="701040"/>
            <a:ext cx="5233035" cy="645160"/>
          </a:xfrm>
          <a:prstGeom prst="rect">
            <a:avLst/>
          </a:prstGeom>
          <a:noFill/>
          <a:ln>
            <a:noFill/>
          </a:ln>
        </p:spPr>
        <p:txBody>
          <a:bodyPr wrap="none" rtlCol="0" anchor="t">
            <a:spAutoFit/>
          </a:bodyPr>
          <a:p>
            <a:pPr algn="ctr"/>
            <a:r>
              <a:rPr lang="zh-CN" altLang="en-US" sz="3600" b="1">
                <a:gradFill>
                  <a:gsLst>
                    <a:gs pos="21000">
                      <a:srgbClr val="53575C"/>
                    </a:gs>
                    <a:gs pos="88000">
                      <a:srgbClr val="C5C7CA"/>
                    </a:gs>
                  </a:gsLst>
                  <a:lin ang="5400000"/>
                </a:gradFill>
                <a:effectLst/>
              </a:rPr>
              <a:t>设计测试用例的三种情况</a:t>
            </a:r>
            <a:endParaRPr lang="zh-CN" altLang="en-US" sz="3600" b="1">
              <a:gradFill>
                <a:gsLst>
                  <a:gs pos="21000">
                    <a:srgbClr val="53575C"/>
                  </a:gs>
                  <a:gs pos="88000">
                    <a:srgbClr val="C5C7CA"/>
                  </a:gs>
                </a:gsLst>
                <a:lin ang="5400000"/>
              </a:gradFill>
              <a:effectLst/>
            </a:endParaRPr>
          </a:p>
        </p:txBody>
      </p:sp>
      <p:sp>
        <p:nvSpPr>
          <p:cNvPr id="3" name="文本框 2"/>
          <p:cNvSpPr txBox="1"/>
          <p:nvPr/>
        </p:nvSpPr>
        <p:spPr>
          <a:xfrm>
            <a:off x="1802765" y="1646555"/>
            <a:ext cx="9554845" cy="2306955"/>
          </a:xfrm>
          <a:prstGeom prst="rect">
            <a:avLst/>
          </a:prstGeom>
          <a:noFill/>
        </p:spPr>
        <p:txBody>
          <a:bodyPr wrap="square" rtlCol="0">
            <a:spAutoFit/>
          </a:bodyPr>
          <a:p>
            <a:r>
              <a:rPr lang="en-US" altLang="zh-CN" sz="2400">
                <a:latin typeface="宋体" panose="02010600030101010101" pitchFamily="2" charset="-122"/>
                <a:ea typeface="宋体" panose="02010600030101010101" pitchFamily="2" charset="-122"/>
                <a:cs typeface="宋体" panose="02010600030101010101" pitchFamily="2" charset="-122"/>
                <a:hlinkClick r:id="rId1" action="ppaction://hlinksldjump"/>
              </a:rPr>
              <a:t>1.</a:t>
            </a:r>
            <a:r>
              <a:rPr lang="zh-CN" altLang="en-US" sz="2400">
                <a:latin typeface="宋体" panose="02010600030101010101" pitchFamily="2" charset="-122"/>
                <a:ea typeface="宋体" panose="02010600030101010101" pitchFamily="2" charset="-122"/>
                <a:cs typeface="宋体" panose="02010600030101010101" pitchFamily="2" charset="-122"/>
                <a:hlinkClick r:id="rId1" action="ppaction://hlinksldjump"/>
              </a:rPr>
              <a:t>因素数（变量）、水平数（变量值）相符：因素数与水平数刚好符合正交表</a:t>
            </a:r>
            <a:endParaRPr lang="zh-CN" altLang="en-US" sz="2400">
              <a:latin typeface="宋体" panose="02010600030101010101" pitchFamily="2" charset="-122"/>
              <a:ea typeface="宋体" panose="02010600030101010101" pitchFamily="2" charset="-122"/>
              <a:cs typeface="宋体" panose="02010600030101010101" pitchFamily="2" charset="-122"/>
            </a:endParaRPr>
          </a:p>
          <a:p>
            <a:r>
              <a:rPr lang="en-US" altLang="zh-CN" sz="2400">
                <a:latin typeface="宋体" panose="02010600030101010101" pitchFamily="2" charset="-122"/>
                <a:ea typeface="宋体" panose="02010600030101010101" pitchFamily="2" charset="-122"/>
                <a:cs typeface="宋体" panose="02010600030101010101" pitchFamily="2" charset="-122"/>
                <a:hlinkClick r:id="rId2" action="ppaction://hlinksldjump"/>
              </a:rPr>
              <a:t>2.</a:t>
            </a:r>
            <a:r>
              <a:rPr lang="zh-CN" altLang="en-US" sz="2400">
                <a:latin typeface="宋体" panose="02010600030101010101" pitchFamily="2" charset="-122"/>
                <a:ea typeface="宋体" panose="02010600030101010101" pitchFamily="2" charset="-122"/>
                <a:cs typeface="宋体" panose="02010600030101010101" pitchFamily="2" charset="-122"/>
                <a:hlinkClick r:id="rId2" action="ppaction://hlinksldjump"/>
              </a:rPr>
              <a:t>因素数不同：如果因素数不同的话，可以采包含的方法，在正交表公式中找到包含该情况的公式，如果有</a:t>
            </a:r>
            <a:r>
              <a:rPr lang="en-US" altLang="zh-CN" sz="2400">
                <a:latin typeface="宋体" panose="02010600030101010101" pitchFamily="2" charset="-122"/>
                <a:ea typeface="宋体" panose="02010600030101010101" pitchFamily="2" charset="-122"/>
                <a:cs typeface="宋体" panose="02010600030101010101" pitchFamily="2" charset="-122"/>
                <a:hlinkClick r:id="rId2" action="ppaction://hlinksldjump"/>
              </a:rPr>
              <a:t>N</a:t>
            </a:r>
            <a:r>
              <a:rPr lang="zh-CN" altLang="en-US" sz="2400">
                <a:latin typeface="宋体" panose="02010600030101010101" pitchFamily="2" charset="-122"/>
                <a:ea typeface="宋体" panose="02010600030101010101" pitchFamily="2" charset="-122"/>
                <a:cs typeface="宋体" panose="02010600030101010101" pitchFamily="2" charset="-122"/>
                <a:hlinkClick r:id="rId2" action="ppaction://hlinksldjump"/>
              </a:rPr>
              <a:t>个符合条件的公式，那么选取行数最少的公式。</a:t>
            </a:r>
            <a:endParaRPr lang="zh-CN" altLang="en-US" sz="2400">
              <a:latin typeface="宋体" panose="02010600030101010101" pitchFamily="2" charset="-122"/>
              <a:ea typeface="宋体" panose="02010600030101010101" pitchFamily="2" charset="-122"/>
              <a:cs typeface="宋体" panose="02010600030101010101" pitchFamily="2" charset="-122"/>
            </a:endParaRPr>
          </a:p>
          <a:p>
            <a:r>
              <a:rPr lang="en-US" altLang="zh-CN" sz="2400">
                <a:latin typeface="宋体" panose="02010600030101010101" pitchFamily="2" charset="-122"/>
                <a:ea typeface="宋体" panose="02010600030101010101" pitchFamily="2" charset="-122"/>
                <a:cs typeface="宋体" panose="02010600030101010101" pitchFamily="2" charset="-122"/>
                <a:hlinkClick r:id="rId3" action="ppaction://hlinksldjump"/>
              </a:rPr>
              <a:t>3.</a:t>
            </a:r>
            <a:r>
              <a:rPr lang="zh-CN" altLang="en-US" sz="2400">
                <a:latin typeface="宋体" panose="02010600030101010101" pitchFamily="2" charset="-122"/>
                <a:ea typeface="宋体" panose="02010600030101010101" pitchFamily="2" charset="-122"/>
                <a:cs typeface="宋体" panose="02010600030101010101" pitchFamily="2" charset="-122"/>
                <a:hlinkClick r:id="rId3" action="ppaction://hlinksldjump"/>
              </a:rPr>
              <a:t>水平数不相同：采用包含和组合的方法选取合适的正交表公式</a:t>
            </a:r>
            <a:endParaRPr lang="zh-CN" altLang="en-US" sz="24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advTm="1310">
    <p:random/>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800" y="56515"/>
            <a:ext cx="4220845"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正交表法设计测试用例的步骤</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911860" y="614680"/>
            <a:ext cx="5692140" cy="645160"/>
          </a:xfrm>
          <a:prstGeom prst="rect">
            <a:avLst/>
          </a:prstGeom>
          <a:noFill/>
          <a:ln>
            <a:noFill/>
          </a:ln>
        </p:spPr>
        <p:txBody>
          <a:bodyPr wrap="none" rtlCol="0" anchor="t">
            <a:spAutoFit/>
          </a:bodyPr>
          <a:p>
            <a:pPr algn="ctr"/>
            <a:r>
              <a:rPr lang="zh-CN" altLang="en-US" sz="3600" b="1">
                <a:gradFill>
                  <a:gsLst>
                    <a:gs pos="21000">
                      <a:srgbClr val="53575C"/>
                    </a:gs>
                    <a:gs pos="88000">
                      <a:srgbClr val="C5C7CA"/>
                    </a:gs>
                  </a:gsLst>
                  <a:lin ang="5400000"/>
                </a:gradFill>
                <a:effectLst/>
              </a:rPr>
              <a:t>如何把变量的值映射到表中</a:t>
            </a:r>
            <a:endParaRPr lang="zh-CN" altLang="en-US" sz="3600" b="1">
              <a:gradFill>
                <a:gsLst>
                  <a:gs pos="21000">
                    <a:srgbClr val="53575C"/>
                  </a:gs>
                  <a:gs pos="88000">
                    <a:srgbClr val="C5C7CA"/>
                  </a:gs>
                </a:gsLst>
                <a:lin ang="5400000"/>
              </a:gradFill>
              <a:effectLst/>
            </a:endParaRPr>
          </a:p>
        </p:txBody>
      </p:sp>
      <p:sp>
        <p:nvSpPr>
          <p:cNvPr id="3" name="文本框 2"/>
          <p:cNvSpPr txBox="1"/>
          <p:nvPr/>
        </p:nvSpPr>
        <p:spPr>
          <a:xfrm>
            <a:off x="879475" y="1226820"/>
            <a:ext cx="9079865" cy="706755"/>
          </a:xfrm>
          <a:prstGeom prst="rect">
            <a:avLst/>
          </a:prstGeom>
          <a:noFill/>
        </p:spPr>
        <p:txBody>
          <a:bodyPr wrap="square" rtlCol="0">
            <a:spAutoFit/>
          </a:bodyPr>
          <a:p>
            <a:r>
              <a:rPr lang="zh-CN" altLang="en-US" sz="2000"/>
              <a:t>例如，要因表中有3个因素，每个因素2个状态，选择正交表并映射，如图10-3所示。</a:t>
            </a:r>
            <a:endParaRPr lang="zh-CN" altLang="en-US" sz="2000"/>
          </a:p>
        </p:txBody>
      </p:sp>
      <p:pic>
        <p:nvPicPr>
          <p:cNvPr id="4" name="图片 25"/>
          <p:cNvPicPr>
            <a:picLocks noChangeAspect="1"/>
          </p:cNvPicPr>
          <p:nvPr/>
        </p:nvPicPr>
        <p:blipFill>
          <a:blip r:embed="rId1"/>
          <a:stretch>
            <a:fillRect/>
          </a:stretch>
        </p:blipFill>
        <p:spPr>
          <a:xfrm>
            <a:off x="295275" y="2362835"/>
            <a:ext cx="11602085" cy="2505075"/>
          </a:xfrm>
          <a:prstGeom prst="rect">
            <a:avLst/>
          </a:prstGeom>
          <a:noFill/>
          <a:ln w="9525">
            <a:noFill/>
          </a:ln>
        </p:spPr>
      </p:pic>
    </p:spTree>
  </p:cSld>
  <p:clrMapOvr>
    <a:masterClrMapping/>
  </p:clrMapOvr>
  <p:transition advTm="1310">
    <p:random/>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80060" y="56515"/>
            <a:ext cx="3972560"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正交表法设计测试用例的步骤</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01675" y="1259840"/>
            <a:ext cx="8449945" cy="706755"/>
          </a:xfrm>
          <a:prstGeom prst="rect">
            <a:avLst/>
          </a:prstGeom>
          <a:noFill/>
          <a:ln w="9525">
            <a:noFill/>
          </a:ln>
        </p:spPr>
        <p:txBody>
          <a:bodyPr wrap="square">
            <a:spAutoFit/>
          </a:bodyPr>
          <a:p>
            <a:pPr indent="295275"/>
            <a:r>
              <a:rPr lang="zh-CN" sz="2000" b="0">
                <a:latin typeface="Times New Roman" panose="02020603050405020304" charset="0"/>
                <a:ea typeface="宋体" panose="02010600030101010101" pitchFamily="2" charset="-122"/>
              </a:rPr>
              <a:t>例如，要因表中有</a:t>
            </a:r>
            <a:r>
              <a:rPr lang="en-US" sz="2000" b="0">
                <a:latin typeface="Times New Roman" panose="02020603050405020304" charset="0"/>
              </a:rPr>
              <a:t>5</a:t>
            </a:r>
            <a:r>
              <a:rPr lang="zh-CN" sz="2000" b="0">
                <a:latin typeface="Times New Roman" panose="02020603050405020304" charset="0"/>
                <a:ea typeface="宋体" panose="02010600030101010101" pitchFamily="2" charset="-122"/>
              </a:rPr>
              <a:t>个因素，每个因素</a:t>
            </a:r>
            <a:r>
              <a:rPr lang="en-US" sz="2000" b="0">
                <a:latin typeface="Times New Roman" panose="02020603050405020304" charset="0"/>
              </a:rPr>
              <a:t>2</a:t>
            </a:r>
            <a:r>
              <a:rPr lang="zh-CN" sz="2000" b="0">
                <a:latin typeface="Times New Roman" panose="02020603050405020304" charset="0"/>
                <a:ea typeface="宋体" panose="02010600030101010101" pitchFamily="2" charset="-122"/>
              </a:rPr>
              <a:t>个状态，选择正交表并映射，如图</a:t>
            </a:r>
            <a:r>
              <a:rPr lang="en-US" sz="2000" b="0">
                <a:latin typeface="Times New Roman" panose="02020603050405020304" charset="0"/>
                <a:ea typeface="宋体" panose="02010600030101010101" pitchFamily="2" charset="-122"/>
                <a:cs typeface="宋体" panose="02010600030101010101" pitchFamily="2" charset="-122"/>
              </a:rPr>
              <a:t>10-4</a:t>
            </a:r>
            <a:r>
              <a:rPr lang="zh-CN" sz="2000" b="0">
                <a:latin typeface="Times New Roman" panose="02020603050405020304" charset="0"/>
                <a:ea typeface="宋体" panose="02010600030101010101" pitchFamily="2" charset="-122"/>
              </a:rPr>
              <a:t>所示。</a:t>
            </a:r>
            <a:endParaRPr lang="zh-CN" altLang="en-US" sz="2000"/>
          </a:p>
        </p:txBody>
      </p:sp>
      <p:sp>
        <p:nvSpPr>
          <p:cNvPr id="2" name="矩形 1"/>
          <p:cNvSpPr/>
          <p:nvPr/>
        </p:nvSpPr>
        <p:spPr>
          <a:xfrm>
            <a:off x="911860" y="614680"/>
            <a:ext cx="5692140" cy="645160"/>
          </a:xfrm>
          <a:prstGeom prst="rect">
            <a:avLst/>
          </a:prstGeom>
          <a:noFill/>
          <a:ln>
            <a:noFill/>
          </a:ln>
        </p:spPr>
        <p:txBody>
          <a:bodyPr wrap="none" rtlCol="0" anchor="t">
            <a:spAutoFit/>
          </a:bodyPr>
          <a:p>
            <a:pPr algn="ctr"/>
            <a:r>
              <a:rPr lang="zh-CN" altLang="en-US" sz="3600" b="1">
                <a:gradFill>
                  <a:gsLst>
                    <a:gs pos="21000">
                      <a:srgbClr val="53575C"/>
                    </a:gs>
                    <a:gs pos="88000">
                      <a:srgbClr val="C5C7CA"/>
                    </a:gs>
                  </a:gsLst>
                  <a:lin ang="5400000"/>
                </a:gradFill>
                <a:effectLst/>
              </a:rPr>
              <a:t>如何把变量的值映射到表中</a:t>
            </a:r>
            <a:endParaRPr lang="zh-CN" altLang="en-US" sz="3600" b="1">
              <a:gradFill>
                <a:gsLst>
                  <a:gs pos="21000">
                    <a:srgbClr val="53575C"/>
                  </a:gs>
                  <a:gs pos="88000">
                    <a:srgbClr val="C5C7CA"/>
                  </a:gs>
                </a:gsLst>
                <a:lin ang="5400000"/>
              </a:gradFill>
              <a:effectLst/>
            </a:endParaRPr>
          </a:p>
        </p:txBody>
      </p:sp>
      <p:pic>
        <p:nvPicPr>
          <p:cNvPr id="3" name="图片 26"/>
          <p:cNvPicPr>
            <a:picLocks noChangeAspect="1"/>
          </p:cNvPicPr>
          <p:nvPr/>
        </p:nvPicPr>
        <p:blipFill>
          <a:blip r:embed="rId1"/>
          <a:stretch>
            <a:fillRect/>
          </a:stretch>
        </p:blipFill>
        <p:spPr>
          <a:xfrm>
            <a:off x="1076960" y="2180590"/>
            <a:ext cx="9507855" cy="2644775"/>
          </a:xfrm>
          <a:prstGeom prst="rect">
            <a:avLst/>
          </a:prstGeom>
          <a:noFill/>
          <a:ln w="9525">
            <a:noFill/>
          </a:ln>
        </p:spPr>
      </p:pic>
    </p:spTree>
  </p:cSld>
  <p:clrMapOvr>
    <a:masterClrMapping/>
  </p:clrMapOvr>
  <p:transition advTm="1310">
    <p:random/>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800" y="56515"/>
            <a:ext cx="4112895"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正交表法设计测试用例的步骤</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911860" y="1522730"/>
            <a:ext cx="8040370" cy="706755"/>
          </a:xfrm>
          <a:prstGeom prst="rect">
            <a:avLst/>
          </a:prstGeom>
          <a:noFill/>
          <a:ln w="9525">
            <a:noFill/>
          </a:ln>
        </p:spPr>
        <p:txBody>
          <a:bodyPr wrap="square">
            <a:spAutoFit/>
          </a:bodyPr>
          <a:p>
            <a:pPr indent="295275"/>
            <a:r>
              <a:rPr lang="zh-CN" sz="2000" b="0">
                <a:latin typeface="宋体" panose="02010600030101010101" pitchFamily="2" charset="-122"/>
                <a:ea typeface="宋体" panose="02010600030101010101" pitchFamily="2" charset="-122"/>
                <a:cs typeface="宋体" panose="02010600030101010101" pitchFamily="2" charset="-122"/>
              </a:rPr>
              <a:t>例如：要因表中有</a:t>
            </a:r>
            <a:r>
              <a:rPr lang="en-US" sz="2000" b="0">
                <a:latin typeface="宋体" panose="02010600030101010101" pitchFamily="2" charset="-122"/>
                <a:ea typeface="宋体" panose="02010600030101010101" pitchFamily="2" charset="-122"/>
                <a:cs typeface="宋体" panose="02010600030101010101" pitchFamily="2" charset="-122"/>
              </a:rPr>
              <a:t>5</a:t>
            </a:r>
            <a:r>
              <a:rPr lang="zh-CN" sz="2000" b="0">
                <a:latin typeface="宋体" panose="02010600030101010101" pitchFamily="2" charset="-122"/>
                <a:ea typeface="宋体" panose="02010600030101010101" pitchFamily="2" charset="-122"/>
                <a:cs typeface="宋体" panose="02010600030101010101" pitchFamily="2" charset="-122"/>
              </a:rPr>
              <a:t>个因素，其中</a:t>
            </a:r>
            <a:r>
              <a:rPr lang="en-US" sz="2000" b="0">
                <a:latin typeface="宋体" panose="02010600030101010101" pitchFamily="2" charset="-122"/>
                <a:ea typeface="宋体" panose="02010600030101010101" pitchFamily="2" charset="-122"/>
                <a:cs typeface="宋体" panose="02010600030101010101" pitchFamily="2" charset="-122"/>
              </a:rPr>
              <a:t>2</a:t>
            </a:r>
            <a:r>
              <a:rPr lang="zh-CN" sz="2000" b="0">
                <a:latin typeface="宋体" panose="02010600030101010101" pitchFamily="2" charset="-122"/>
                <a:ea typeface="宋体" panose="02010600030101010101" pitchFamily="2" charset="-122"/>
                <a:cs typeface="宋体" panose="02010600030101010101" pitchFamily="2" charset="-122"/>
              </a:rPr>
              <a:t>个因素有</a:t>
            </a:r>
            <a:r>
              <a:rPr lang="en-US" sz="2000" b="0">
                <a:latin typeface="宋体" panose="02010600030101010101" pitchFamily="2" charset="-122"/>
                <a:ea typeface="宋体" panose="02010600030101010101" pitchFamily="2" charset="-122"/>
                <a:cs typeface="宋体" panose="02010600030101010101" pitchFamily="2" charset="-122"/>
              </a:rPr>
              <a:t>2</a:t>
            </a:r>
            <a:r>
              <a:rPr lang="zh-CN" sz="2000" b="0">
                <a:latin typeface="宋体" panose="02010600030101010101" pitchFamily="2" charset="-122"/>
                <a:ea typeface="宋体" panose="02010600030101010101" pitchFamily="2" charset="-122"/>
                <a:cs typeface="宋体" panose="02010600030101010101" pitchFamily="2" charset="-122"/>
              </a:rPr>
              <a:t>个状态，</a:t>
            </a:r>
            <a:r>
              <a:rPr lang="en-US" sz="2000" b="0">
                <a:latin typeface="宋体" panose="02010600030101010101" pitchFamily="2" charset="-122"/>
                <a:ea typeface="宋体" panose="02010600030101010101" pitchFamily="2" charset="-122"/>
                <a:cs typeface="宋体" panose="02010600030101010101" pitchFamily="2" charset="-122"/>
              </a:rPr>
              <a:t>2</a:t>
            </a:r>
            <a:r>
              <a:rPr lang="zh-CN" sz="2000" b="0">
                <a:latin typeface="宋体" panose="02010600030101010101" pitchFamily="2" charset="-122"/>
                <a:ea typeface="宋体" panose="02010600030101010101" pitchFamily="2" charset="-122"/>
                <a:cs typeface="宋体" panose="02010600030101010101" pitchFamily="2" charset="-122"/>
              </a:rPr>
              <a:t>个因素有</a:t>
            </a:r>
            <a:r>
              <a:rPr lang="en-US" sz="2000" b="0">
                <a:latin typeface="宋体" panose="02010600030101010101" pitchFamily="2" charset="-122"/>
                <a:ea typeface="宋体" panose="02010600030101010101" pitchFamily="2" charset="-122"/>
                <a:cs typeface="宋体" panose="02010600030101010101" pitchFamily="2" charset="-122"/>
              </a:rPr>
              <a:t>3</a:t>
            </a:r>
            <a:r>
              <a:rPr lang="zh-CN" sz="2000" b="0">
                <a:latin typeface="宋体" panose="02010600030101010101" pitchFamily="2" charset="-122"/>
                <a:ea typeface="宋体" panose="02010600030101010101" pitchFamily="2" charset="-122"/>
                <a:cs typeface="宋体" panose="02010600030101010101" pitchFamily="2" charset="-122"/>
              </a:rPr>
              <a:t>个状态，</a:t>
            </a:r>
            <a:r>
              <a:rPr lang="en-US" sz="2000" b="0">
                <a:latin typeface="宋体" panose="02010600030101010101" pitchFamily="2" charset="-122"/>
                <a:ea typeface="宋体" panose="02010600030101010101" pitchFamily="2" charset="-122"/>
                <a:cs typeface="宋体" panose="02010600030101010101" pitchFamily="2" charset="-122"/>
              </a:rPr>
              <a:t>1</a:t>
            </a:r>
            <a:r>
              <a:rPr lang="zh-CN" sz="2000" b="0">
                <a:latin typeface="宋体" panose="02010600030101010101" pitchFamily="2" charset="-122"/>
                <a:ea typeface="宋体" panose="02010600030101010101" pitchFamily="2" charset="-122"/>
                <a:cs typeface="宋体" panose="02010600030101010101" pitchFamily="2" charset="-122"/>
              </a:rPr>
              <a:t>个因素有</a:t>
            </a:r>
            <a:r>
              <a:rPr lang="en-US" sz="2000" b="0">
                <a:latin typeface="宋体" panose="02010600030101010101" pitchFamily="2" charset="-122"/>
                <a:ea typeface="宋体" panose="02010600030101010101" pitchFamily="2" charset="-122"/>
                <a:cs typeface="宋体" panose="02010600030101010101" pitchFamily="2" charset="-122"/>
              </a:rPr>
              <a:t>6</a:t>
            </a:r>
            <a:r>
              <a:rPr lang="zh-CN" sz="2000" b="0">
                <a:latin typeface="宋体" panose="02010600030101010101" pitchFamily="2" charset="-122"/>
                <a:ea typeface="宋体" panose="02010600030101010101" pitchFamily="2" charset="-122"/>
                <a:cs typeface="宋体" panose="02010600030101010101" pitchFamily="2" charset="-122"/>
              </a:rPr>
              <a:t>个状态，选择正交表并映射如图</a:t>
            </a:r>
            <a:r>
              <a:rPr lang="en-US" sz="2000" b="0">
                <a:latin typeface="宋体" panose="02010600030101010101" pitchFamily="2" charset="-122"/>
                <a:ea typeface="宋体" panose="02010600030101010101" pitchFamily="2" charset="-122"/>
                <a:cs typeface="宋体" panose="02010600030101010101" pitchFamily="2" charset="-122"/>
              </a:rPr>
              <a:t>10-5</a:t>
            </a:r>
            <a:r>
              <a:rPr lang="zh-CN" sz="2000" b="0">
                <a:latin typeface="宋体" panose="02010600030101010101" pitchFamily="2" charset="-122"/>
                <a:ea typeface="宋体" panose="02010600030101010101" pitchFamily="2" charset="-122"/>
                <a:cs typeface="宋体" panose="02010600030101010101" pitchFamily="2" charset="-122"/>
              </a:rPr>
              <a:t>所示。</a:t>
            </a:r>
            <a:endParaRPr lang="zh-CN" altLang="en-US" sz="2000">
              <a:latin typeface="宋体" panose="02010600030101010101" pitchFamily="2" charset="-122"/>
              <a:ea typeface="宋体" panose="02010600030101010101" pitchFamily="2" charset="-122"/>
              <a:cs typeface="宋体" panose="02010600030101010101" pitchFamily="2" charset="-122"/>
            </a:endParaRPr>
          </a:p>
        </p:txBody>
      </p:sp>
      <p:sp>
        <p:nvSpPr>
          <p:cNvPr id="2" name="矩形 1"/>
          <p:cNvSpPr/>
          <p:nvPr/>
        </p:nvSpPr>
        <p:spPr>
          <a:xfrm>
            <a:off x="911860" y="614680"/>
            <a:ext cx="5692140" cy="645160"/>
          </a:xfrm>
          <a:prstGeom prst="rect">
            <a:avLst/>
          </a:prstGeom>
          <a:noFill/>
          <a:ln>
            <a:noFill/>
          </a:ln>
        </p:spPr>
        <p:txBody>
          <a:bodyPr wrap="none" rtlCol="0" anchor="t">
            <a:spAutoFit/>
          </a:bodyPr>
          <a:p>
            <a:pPr algn="ctr"/>
            <a:r>
              <a:rPr lang="zh-CN" altLang="en-US" sz="3600" b="1">
                <a:gradFill>
                  <a:gsLst>
                    <a:gs pos="21000">
                      <a:srgbClr val="53575C"/>
                    </a:gs>
                    <a:gs pos="88000">
                      <a:srgbClr val="C5C7CA"/>
                    </a:gs>
                  </a:gsLst>
                  <a:lin ang="5400000"/>
                </a:gradFill>
                <a:effectLst/>
              </a:rPr>
              <a:t>如何把变量的值映射到表中</a:t>
            </a:r>
            <a:endParaRPr lang="zh-CN" altLang="en-US" sz="3600" b="1">
              <a:gradFill>
                <a:gsLst>
                  <a:gs pos="21000">
                    <a:srgbClr val="53575C"/>
                  </a:gs>
                  <a:gs pos="88000">
                    <a:srgbClr val="C5C7CA"/>
                  </a:gs>
                </a:gsLst>
                <a:lin ang="5400000"/>
              </a:gradFill>
              <a:effectLst/>
            </a:endParaRPr>
          </a:p>
        </p:txBody>
      </p:sp>
      <p:pic>
        <p:nvPicPr>
          <p:cNvPr id="3" name="图片 27"/>
          <p:cNvPicPr>
            <a:picLocks noChangeAspect="1"/>
          </p:cNvPicPr>
          <p:nvPr/>
        </p:nvPicPr>
        <p:blipFill>
          <a:blip r:embed="rId1"/>
          <a:stretch>
            <a:fillRect/>
          </a:stretch>
        </p:blipFill>
        <p:spPr>
          <a:xfrm>
            <a:off x="1108075" y="2281555"/>
            <a:ext cx="9429750" cy="4105910"/>
          </a:xfrm>
          <a:prstGeom prst="rect">
            <a:avLst/>
          </a:prstGeom>
          <a:noFill/>
          <a:ln w="9525">
            <a:noFill/>
          </a:ln>
        </p:spPr>
      </p:pic>
    </p:spTree>
  </p:cSld>
  <p:clrMapOvr>
    <a:masterClrMapping/>
  </p:clrMapOvr>
  <p:transition advTm="1310">
    <p:random/>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等腰三角形 22"/>
          <p:cNvSpPr/>
          <p:nvPr/>
        </p:nvSpPr>
        <p:spPr>
          <a:xfrm rot="5400000">
            <a:off x="-354902" y="1593655"/>
            <a:ext cx="2812747" cy="2101740"/>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 name="文本框 4"/>
          <p:cNvSpPr txBox="1"/>
          <p:nvPr/>
        </p:nvSpPr>
        <p:spPr>
          <a:xfrm>
            <a:off x="3029585" y="2883535"/>
            <a:ext cx="7771765" cy="829945"/>
          </a:xfrm>
          <a:prstGeom prst="rect">
            <a:avLst/>
          </a:prstGeom>
          <a:noFill/>
        </p:spPr>
        <p:txBody>
          <a:bodyPr wrap="squar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正交表设计测试用例举例</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等腰三角形 21"/>
          <p:cNvSpPr/>
          <p:nvPr/>
        </p:nvSpPr>
        <p:spPr>
          <a:xfrm rot="16200000" flipH="1">
            <a:off x="10384747" y="2655849"/>
            <a:ext cx="2069408" cy="1546303"/>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1" name="等腰三角形 20"/>
          <p:cNvSpPr/>
          <p:nvPr/>
        </p:nvSpPr>
        <p:spPr>
          <a:xfrm rot="5400000">
            <a:off x="-436508" y="2327919"/>
            <a:ext cx="3458403" cy="2584187"/>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文本框 3"/>
          <p:cNvSpPr txBox="1"/>
          <p:nvPr/>
        </p:nvSpPr>
        <p:spPr>
          <a:xfrm>
            <a:off x="47928" y="2883669"/>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04</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177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ppt_w</p:attrName>
                                        </p:attrNameLst>
                                      </p:cBhvr>
                                      <p:tavLst>
                                        <p:tav tm="0">
                                          <p:val>
                                            <p:fltVal val="0"/>
                                          </p:val>
                                        </p:tav>
                                        <p:tav tm="100000">
                                          <p:val>
                                            <p:strVal val="#ppt_w"/>
                                          </p:val>
                                        </p:tav>
                                      </p:tavLst>
                                    </p:anim>
                                    <p:anim calcmode="lin" valueType="num">
                                      <p:cBhvr>
                                        <p:cTn id="13" dur="500" fill="hold"/>
                                        <p:tgtEl>
                                          <p:spTgt spid="22"/>
                                        </p:tgtEl>
                                        <p:attrNameLst>
                                          <p:attrName>ppt_h</p:attrName>
                                        </p:attrNameLst>
                                      </p:cBhvr>
                                      <p:tavLst>
                                        <p:tav tm="0">
                                          <p:val>
                                            <p:fltVal val="0"/>
                                          </p:val>
                                        </p:tav>
                                        <p:tav tm="100000">
                                          <p:val>
                                            <p:strVal val="#ppt_h"/>
                                          </p:val>
                                        </p:tav>
                                      </p:tavLst>
                                    </p:anim>
                                    <p:animEffect transition="in" filter="fade">
                                      <p:cBhvr>
                                        <p:cTn id="14" dur="500"/>
                                        <p:tgtEl>
                                          <p:spTgt spid="2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fltVal val="0"/>
                                          </p:val>
                                        </p:tav>
                                        <p:tav tm="100000">
                                          <p:val>
                                            <p:strVal val="#ppt_w"/>
                                          </p:val>
                                        </p:tav>
                                      </p:tavLst>
                                    </p:anim>
                                    <p:anim calcmode="lin" valueType="num">
                                      <p:cBhvr>
                                        <p:cTn id="23" dur="500" fill="hold"/>
                                        <p:tgtEl>
                                          <p:spTgt spid="4"/>
                                        </p:tgtEl>
                                        <p:attrNameLst>
                                          <p:attrName>ppt_h</p:attrName>
                                        </p:attrNameLst>
                                      </p:cBhvr>
                                      <p:tavLst>
                                        <p:tav tm="0">
                                          <p:val>
                                            <p:fltVal val="0"/>
                                          </p:val>
                                        </p:tav>
                                        <p:tav tm="100000">
                                          <p:val>
                                            <p:strVal val="#ppt_h"/>
                                          </p:val>
                                        </p:tav>
                                      </p:tavLst>
                                    </p:anim>
                                    <p:animEffect transition="in" filter="fade">
                                      <p:cBhvr>
                                        <p:cTn id="24" dur="500"/>
                                        <p:tgtEl>
                                          <p:spTgt spid="4"/>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0-#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5" grpId="0"/>
      <p:bldP spid="22" grpId="0" bldLvl="0" animBg="1"/>
      <p:bldP spid="21" grpId="0" bldLvl="0" animBg="1"/>
      <p:bldP spid="4"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正交表设计测试用例举例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2113280" y="1522730"/>
            <a:ext cx="8081645" cy="1938020"/>
          </a:xfrm>
          <a:prstGeom prst="rect">
            <a:avLst/>
          </a:prstGeom>
          <a:noFill/>
          <a:ln w="9525">
            <a:noFill/>
          </a:ln>
        </p:spPr>
        <p:txBody>
          <a:bodyPr wrap="square">
            <a:spAutoFit/>
          </a:bodyPr>
          <a:p>
            <a:pPr indent="295275"/>
            <a:r>
              <a:rPr lang="zh-CN" sz="2000" b="0">
                <a:ea typeface="宋体" panose="02010600030101010101" pitchFamily="2" charset="-122"/>
              </a:rPr>
              <a:t>拿</a:t>
            </a:r>
            <a:r>
              <a:rPr lang="en-US" sz="2000" b="0">
                <a:latin typeface="Times New Roman" panose="02020603050405020304" charset="0"/>
                <a:ea typeface="宋体" panose="02010600030101010101" pitchFamily="2" charset="-122"/>
                <a:cs typeface="宋体" panose="02010600030101010101" pitchFamily="2" charset="-122"/>
              </a:rPr>
              <a:t>PowerPoint</a:t>
            </a:r>
            <a:r>
              <a:rPr lang="zh-CN" sz="2000" b="0">
                <a:ea typeface="宋体" panose="02010600030101010101" pitchFamily="2" charset="-122"/>
              </a:rPr>
              <a:t>软件打印功能作为例子，假设功能描述如下：打印范围分：全部、当前幻灯片、给定范围共三种情况；打印内容分：幻灯片、讲义、备注页、大纲视图共四种方式；打印颜色</a:t>
            </a:r>
            <a:r>
              <a:rPr lang="en-US" sz="2000" b="0">
                <a:latin typeface="Times New Roman" panose="02020603050405020304" charset="0"/>
                <a:ea typeface="宋体" panose="02010600030101010101" pitchFamily="2" charset="-122"/>
                <a:cs typeface="宋体" panose="02010600030101010101" pitchFamily="2" charset="-122"/>
              </a:rPr>
              <a:t>/</a:t>
            </a:r>
            <a:r>
              <a:rPr lang="zh-CN" sz="2000" b="0">
                <a:ea typeface="宋体" panose="02010600030101010101" pitchFamily="2" charset="-122"/>
              </a:rPr>
              <a:t>灰度分</a:t>
            </a:r>
            <a:r>
              <a:rPr lang="en-US" sz="2000" b="0">
                <a:latin typeface="Times New Roman" panose="02020603050405020304" charset="0"/>
                <a:ea typeface="宋体" panose="02010600030101010101" pitchFamily="2" charset="-122"/>
              </a:rPr>
              <a:t>: </a:t>
            </a:r>
            <a:r>
              <a:rPr lang="zh-CN" sz="2000" b="0">
                <a:ea typeface="宋体" panose="02010600030101010101" pitchFamily="2" charset="-122"/>
              </a:rPr>
              <a:t>颜色、灰度、黑白共三种设置；打印效果分：幻灯片加框和幻灯片不加框两种方式。</a:t>
            </a:r>
            <a:r>
              <a:rPr lang="zh-CN" sz="2000" b="0">
                <a:latin typeface="Times New Roman" panose="02020603050405020304" charset="0"/>
                <a:ea typeface="宋体" panose="02010600030101010101" pitchFamily="2" charset="-122"/>
              </a:rPr>
              <a:t>通过分析，可以得到该项目的因素状态表，如表</a:t>
            </a:r>
            <a:r>
              <a:rPr lang="en-US" sz="2000" b="0">
                <a:latin typeface="Times New Roman" panose="02020603050405020304" charset="0"/>
              </a:rPr>
              <a:t>6-</a:t>
            </a:r>
            <a:r>
              <a:rPr lang="en-US" sz="2000" b="0">
                <a:latin typeface="Times New Roman" panose="02020603050405020304" charset="0"/>
                <a:ea typeface="宋体" panose="02010600030101010101" pitchFamily="2" charset="-122"/>
                <a:cs typeface="宋体" panose="02010600030101010101" pitchFamily="2" charset="-122"/>
              </a:rPr>
              <a:t>2</a:t>
            </a:r>
            <a:r>
              <a:rPr lang="zh-CN" sz="2000" b="0">
                <a:latin typeface="Times New Roman" panose="02020603050405020304" charset="0"/>
                <a:ea typeface="宋体" panose="02010600030101010101" pitchFamily="2" charset="-122"/>
              </a:rPr>
              <a:t>所示</a:t>
            </a:r>
            <a:endParaRPr lang="zh-CN" altLang="en-US" sz="2000"/>
          </a:p>
        </p:txBody>
      </p:sp>
    </p:spTree>
  </p:cSld>
  <p:clrMapOvr>
    <a:masterClrMapping/>
  </p:clrMapOvr>
  <p:transition advTm="1310">
    <p:random/>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正交表设计测试用例举例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564512" y="1249045"/>
          <a:ext cx="9687560" cy="1524000"/>
        </p:xfrm>
        <a:graphic>
          <a:graphicData uri="http://schemas.openxmlformats.org/drawingml/2006/table">
            <a:tbl>
              <a:tblPr firstRow="1" bandRow="1">
                <a:tableStyleId>{5940675A-B579-460E-94D1-54222C63F5DA}</a:tableStyleId>
              </a:tblPr>
              <a:tblGrid>
                <a:gridCol w="1934845"/>
                <a:gridCol w="1939290"/>
                <a:gridCol w="1934845"/>
                <a:gridCol w="1937385"/>
                <a:gridCol w="1941195"/>
              </a:tblGrid>
              <a:tr h="2857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状态/因素</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A打印范围</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B打印内容</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C打印颜色/灰度</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D打印效果</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57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全部</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幻灯片</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颜色</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幻灯片加框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57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当前幻灯片</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讲义</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灰度</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幻灯片不加框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57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给定范围</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备注页</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黑白</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57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大纲视图</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00" name="文本框 99"/>
          <p:cNvSpPr txBox="1"/>
          <p:nvPr/>
        </p:nvSpPr>
        <p:spPr>
          <a:xfrm>
            <a:off x="2979420" y="614680"/>
            <a:ext cx="5080000" cy="368300"/>
          </a:xfrm>
          <a:prstGeom prst="rect">
            <a:avLst/>
          </a:prstGeom>
          <a:noFill/>
          <a:ln w="9525">
            <a:noFill/>
          </a:ln>
        </p:spPr>
        <p:txBody>
          <a:bodyPr>
            <a:spAutoFit/>
          </a:bodyPr>
          <a:p>
            <a:pPr indent="295275" algn="ctr"/>
            <a:r>
              <a:rPr lang="zh-CN" b="0">
                <a:latin typeface="Times New Roman" panose="02020603050405020304" charset="0"/>
                <a:ea typeface="宋体" panose="02010600030101010101" pitchFamily="2" charset="-122"/>
              </a:rPr>
              <a:t>表</a:t>
            </a:r>
            <a:r>
              <a:rPr lang="en-US" b="0">
                <a:latin typeface="Times New Roman" panose="02020603050405020304" charset="0"/>
                <a:ea typeface="宋体" panose="02010600030101010101" pitchFamily="2" charset="-122"/>
                <a:cs typeface="宋体" panose="02010600030101010101" pitchFamily="2" charset="-122"/>
              </a:rPr>
              <a:t>10</a:t>
            </a:r>
            <a:r>
              <a:rPr lang="en-US" b="0">
                <a:latin typeface="Times New Roman" panose="02020603050405020304" charset="0"/>
              </a:rPr>
              <a:t>-</a:t>
            </a:r>
            <a:r>
              <a:rPr lang="en-US" b="0">
                <a:latin typeface="Times New Roman" panose="02020603050405020304" charset="0"/>
                <a:ea typeface="宋体" panose="02010600030101010101" pitchFamily="2" charset="-122"/>
                <a:cs typeface="宋体" panose="02010600030101010101" pitchFamily="2" charset="-122"/>
              </a:rPr>
              <a:t>2 </a:t>
            </a:r>
            <a:r>
              <a:rPr lang="zh-CN" b="0">
                <a:latin typeface="Times New Roman" panose="02020603050405020304" charset="0"/>
                <a:ea typeface="宋体" panose="02010600030101010101" pitchFamily="2" charset="-122"/>
              </a:rPr>
              <a:t>打印功能的</a:t>
            </a:r>
            <a:r>
              <a:rPr lang="zh-CN" b="0">
                <a:ea typeface="宋体" panose="02010600030101010101" pitchFamily="2" charset="-122"/>
              </a:rPr>
              <a:t>因素状态表</a:t>
            </a:r>
            <a:endParaRPr lang="zh-CN" altLang="en-US"/>
          </a:p>
        </p:txBody>
      </p:sp>
      <p:sp>
        <p:nvSpPr>
          <p:cNvPr id="3" name="文本框 2"/>
          <p:cNvSpPr txBox="1"/>
          <p:nvPr/>
        </p:nvSpPr>
        <p:spPr>
          <a:xfrm>
            <a:off x="716280" y="2921635"/>
            <a:ext cx="9493250" cy="368300"/>
          </a:xfrm>
          <a:prstGeom prst="rect">
            <a:avLst/>
          </a:prstGeom>
          <a:noFill/>
          <a:ln w="9525">
            <a:noFill/>
          </a:ln>
        </p:spPr>
        <p:txBody>
          <a:bodyPr wrap="square">
            <a:spAutoFit/>
          </a:bodyPr>
          <a:p>
            <a:pPr indent="295275" algn="ctr"/>
            <a:r>
              <a:rPr lang="zh-CN" b="0">
                <a:latin typeface="Times New Roman" panose="02020603050405020304" charset="0"/>
                <a:ea typeface="宋体" panose="02010600030101010101" pitchFamily="2" charset="-122"/>
              </a:rPr>
              <a:t>表</a:t>
            </a:r>
            <a:r>
              <a:rPr lang="en-US" b="0">
                <a:latin typeface="Times New Roman" panose="02020603050405020304" charset="0"/>
                <a:ea typeface="宋体" panose="02010600030101010101" pitchFamily="2" charset="-122"/>
                <a:cs typeface="宋体" panose="02010600030101010101" pitchFamily="2" charset="-122"/>
              </a:rPr>
              <a:t>10</a:t>
            </a:r>
            <a:r>
              <a:rPr lang="en-US" b="0">
                <a:latin typeface="Times New Roman" panose="02020603050405020304" charset="0"/>
              </a:rPr>
              <a:t>-</a:t>
            </a:r>
            <a:r>
              <a:rPr lang="en-US" b="0">
                <a:latin typeface="Times New Roman" panose="02020603050405020304" charset="0"/>
                <a:ea typeface="宋体" panose="02010600030101010101" pitchFamily="2" charset="-122"/>
                <a:cs typeface="宋体" panose="02010600030101010101" pitchFamily="2" charset="-122"/>
              </a:rPr>
              <a:t>3 </a:t>
            </a:r>
            <a:r>
              <a:rPr lang="zh-CN" b="0">
                <a:latin typeface="Times New Roman" panose="02020603050405020304" charset="0"/>
                <a:ea typeface="宋体" panose="02010600030101010101" pitchFamily="2" charset="-122"/>
              </a:rPr>
              <a:t>字符替换的</a:t>
            </a:r>
            <a:r>
              <a:rPr lang="zh-CN" b="0">
                <a:ea typeface="宋体" panose="02010600030101010101" pitchFamily="2" charset="-122"/>
              </a:rPr>
              <a:t>因素状态表</a:t>
            </a:r>
            <a:endParaRPr lang="zh-CN" altLang="en-US"/>
          </a:p>
        </p:txBody>
      </p:sp>
      <p:graphicFrame>
        <p:nvGraphicFramePr>
          <p:cNvPr id="4" name="表格 3"/>
          <p:cNvGraphicFramePr/>
          <p:nvPr>
            <p:custDataLst>
              <p:tags r:id="rId2"/>
            </p:custDataLst>
          </p:nvPr>
        </p:nvGraphicFramePr>
        <p:xfrm>
          <a:off x="683895" y="3363595"/>
          <a:ext cx="9831705" cy="2892425"/>
        </p:xfrm>
        <a:graphic>
          <a:graphicData uri="http://schemas.openxmlformats.org/drawingml/2006/table">
            <a:tbl>
              <a:tblPr firstRow="1" bandRow="1">
                <a:tableStyleId>{5940675A-B579-460E-94D1-54222C63F5DA}</a:tableStyleId>
              </a:tblPr>
              <a:tblGrid>
                <a:gridCol w="1964690"/>
                <a:gridCol w="1966595"/>
                <a:gridCol w="1964690"/>
                <a:gridCol w="1965960"/>
                <a:gridCol w="1969770"/>
              </a:tblGrid>
              <a:tr h="57848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状态/因素</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848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848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848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848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advTm="1310">
    <p:random/>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正交表设计测试用例举例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552450" y="1618933"/>
            <a:ext cx="5080000" cy="1322070"/>
          </a:xfrm>
          <a:prstGeom prst="rect">
            <a:avLst/>
          </a:prstGeom>
          <a:noFill/>
          <a:ln w="9525">
            <a:noFill/>
          </a:ln>
        </p:spPr>
        <p:txBody>
          <a:bodyPr>
            <a:spAutoFit/>
          </a:bodyPr>
          <a:p>
            <a:pPr indent="295275"/>
            <a:r>
              <a:rPr lang="zh-CN" sz="2000" b="0">
                <a:ea typeface="宋体" panose="02010600030101010101" pitchFamily="2" charset="-122"/>
              </a:rPr>
              <a:t>选择正交表：</a:t>
            </a:r>
            <a:r>
              <a:rPr lang="en-US" sz="2000" b="0">
                <a:latin typeface="Times New Roman" panose="02020603050405020304" charset="0"/>
                <a:ea typeface="宋体" panose="02010600030101010101" pitchFamily="2" charset="-122"/>
                <a:cs typeface="宋体" panose="02010600030101010101" pitchFamily="2" charset="-122"/>
              </a:rPr>
              <a:t>1</a:t>
            </a:r>
            <a:r>
              <a:rPr lang="zh-CN" sz="2000" b="0">
                <a:ea typeface="宋体" panose="02010600030101010101" pitchFamily="2" charset="-122"/>
              </a:rPr>
              <a:t>、表中的因素数</a:t>
            </a:r>
            <a:r>
              <a:rPr lang="en-US" sz="2000" b="0">
                <a:latin typeface="Times New Roman" panose="02020603050405020304" charset="0"/>
                <a:ea typeface="宋体" panose="02010600030101010101" pitchFamily="2" charset="-122"/>
              </a:rPr>
              <a:t>&gt;=4</a:t>
            </a:r>
            <a:r>
              <a:rPr lang="en-US" sz="2000" b="0">
                <a:latin typeface="Times New Roman" panose="02020603050405020304" charset="0"/>
                <a:ea typeface="宋体" panose="02010600030101010101" pitchFamily="2" charset="-122"/>
                <a:cs typeface="宋体" panose="02010600030101010101" pitchFamily="2" charset="-122"/>
              </a:rPr>
              <a:t>2</a:t>
            </a:r>
            <a:r>
              <a:rPr lang="zh-CN" sz="2000" b="0">
                <a:ea typeface="宋体" panose="02010600030101010101" pitchFamily="2" charset="-122"/>
              </a:rPr>
              <a:t>、表中至少有</a:t>
            </a:r>
            <a:r>
              <a:rPr lang="en-US" sz="2000" b="0">
                <a:latin typeface="Times New Roman" panose="02020603050405020304" charset="0"/>
                <a:ea typeface="宋体" panose="02010600030101010101" pitchFamily="2" charset="-122"/>
              </a:rPr>
              <a:t>4</a:t>
            </a:r>
            <a:r>
              <a:rPr lang="zh-CN" sz="2000" b="0">
                <a:ea typeface="宋体" panose="02010600030101010101" pitchFamily="2" charset="-122"/>
              </a:rPr>
              <a:t>个因素的水平数</a:t>
            </a:r>
            <a:r>
              <a:rPr lang="en-US" sz="2000" b="0">
                <a:latin typeface="Times New Roman" panose="02020603050405020304" charset="0"/>
                <a:ea typeface="宋体" panose="02010600030101010101" pitchFamily="2" charset="-122"/>
              </a:rPr>
              <a:t>&gt;=2</a:t>
            </a:r>
            <a:r>
              <a:rPr lang="en-US" sz="2000" b="0">
                <a:latin typeface="Times New Roman" panose="02020603050405020304" charset="0"/>
                <a:ea typeface="宋体" panose="02010600030101010101" pitchFamily="2" charset="-122"/>
                <a:cs typeface="宋体" panose="02010600030101010101" pitchFamily="2" charset="-122"/>
              </a:rPr>
              <a:t>3</a:t>
            </a:r>
            <a:r>
              <a:rPr lang="zh-CN" sz="2000" b="0">
                <a:ea typeface="宋体" panose="02010600030101010101" pitchFamily="2" charset="-122"/>
              </a:rPr>
              <a:t>、行数取最少的一个</a:t>
            </a:r>
            <a:endParaRPr lang="zh-CN" altLang="en-US" sz="2000"/>
          </a:p>
        </p:txBody>
      </p:sp>
      <p:sp>
        <p:nvSpPr>
          <p:cNvPr id="2" name="文本框 1"/>
          <p:cNvSpPr txBox="1"/>
          <p:nvPr/>
        </p:nvSpPr>
        <p:spPr>
          <a:xfrm>
            <a:off x="361315" y="3529330"/>
            <a:ext cx="5080000" cy="706755"/>
          </a:xfrm>
          <a:prstGeom prst="rect">
            <a:avLst/>
          </a:prstGeom>
          <a:noFill/>
          <a:ln w="9525">
            <a:noFill/>
          </a:ln>
        </p:spPr>
        <p:txBody>
          <a:bodyPr>
            <a:spAutoFit/>
          </a:bodyPr>
          <a:p>
            <a:pPr indent="295275"/>
            <a:r>
              <a:rPr lang="zh-CN" sz="2000" b="0">
                <a:ea typeface="宋体" panose="02010600030101010101" pitchFamily="2" charset="-122"/>
              </a:rPr>
              <a:t>最后选中正交表公式：</a:t>
            </a:r>
            <a:r>
              <a:rPr lang="en-US" sz="2000" b="0">
                <a:latin typeface="Times New Roman" panose="02020603050405020304" charset="0"/>
                <a:ea typeface="宋体" panose="02010600030101010101" pitchFamily="2" charset="-122"/>
                <a:cs typeface="宋体" panose="02010600030101010101" pitchFamily="2" charset="-122"/>
              </a:rPr>
              <a:t>L</a:t>
            </a:r>
            <a:r>
              <a:rPr lang="en-US" sz="2000" b="0" baseline="-25000">
                <a:latin typeface="Times New Roman" panose="02020603050405020304" charset="0"/>
                <a:ea typeface="宋体" panose="02010600030101010101" pitchFamily="2" charset="-122"/>
                <a:cs typeface="宋体" panose="02010600030101010101" pitchFamily="2" charset="-122"/>
              </a:rPr>
              <a:t>16</a:t>
            </a:r>
            <a:r>
              <a:rPr lang="en-US" sz="2000" b="0">
                <a:latin typeface="Times New Roman" panose="02020603050405020304" charset="0"/>
                <a:ea typeface="宋体" panose="02010600030101010101" pitchFamily="2" charset="-122"/>
                <a:cs typeface="宋体" panose="02010600030101010101" pitchFamily="2" charset="-122"/>
              </a:rPr>
              <a:t>(4</a:t>
            </a:r>
            <a:r>
              <a:rPr lang="en-US" sz="2000" b="0" baseline="30000">
                <a:latin typeface="Times New Roman" panose="02020603050405020304" charset="0"/>
                <a:ea typeface="宋体" panose="02010600030101010101" pitchFamily="2" charset="-122"/>
                <a:cs typeface="宋体" panose="02010600030101010101" pitchFamily="2" charset="-122"/>
              </a:rPr>
              <a:t>5</a:t>
            </a:r>
            <a:r>
              <a:rPr lang="en-US" sz="2000" b="0">
                <a:latin typeface="Times New Roman" panose="02020603050405020304" charset="0"/>
                <a:ea typeface="宋体" panose="02010600030101010101" pitchFamily="2" charset="-122"/>
                <a:cs typeface="宋体" panose="02010600030101010101" pitchFamily="2" charset="-122"/>
              </a:rPr>
              <a:t>)</a:t>
            </a:r>
            <a:r>
              <a:rPr lang="zh-CN" sz="2000" b="0">
                <a:latin typeface="Times New Roman" panose="02020603050405020304" charset="0"/>
                <a:ea typeface="宋体" panose="02010600030101010101" pitchFamily="2" charset="-122"/>
              </a:rPr>
              <a:t>，对应的</a:t>
            </a:r>
            <a:r>
              <a:rPr lang="zh-CN" sz="2000" b="0">
                <a:ea typeface="宋体" panose="02010600030101010101" pitchFamily="2" charset="-122"/>
              </a:rPr>
              <a:t>正交矩阵</a:t>
            </a:r>
            <a:r>
              <a:rPr lang="zh-CN" sz="2000" b="0">
                <a:latin typeface="Times New Roman" panose="02020603050405020304" charset="0"/>
                <a:ea typeface="宋体" panose="02010600030101010101" pitchFamily="2" charset="-122"/>
              </a:rPr>
              <a:t>如右所示</a:t>
            </a:r>
            <a:r>
              <a:rPr lang="zh-CN" sz="2000" b="0">
                <a:ea typeface="宋体" panose="02010600030101010101" pitchFamily="2" charset="-122"/>
              </a:rPr>
              <a:t>：</a:t>
            </a:r>
            <a:endParaRPr lang="zh-CN" altLang="en-US" sz="2000"/>
          </a:p>
        </p:txBody>
      </p:sp>
      <p:graphicFrame>
        <p:nvGraphicFramePr>
          <p:cNvPr id="3" name="表格 2"/>
          <p:cNvGraphicFramePr/>
          <p:nvPr>
            <p:custDataLst>
              <p:tags r:id="rId1"/>
            </p:custDataLst>
          </p:nvPr>
        </p:nvGraphicFramePr>
        <p:xfrm>
          <a:off x="5821045" y="1130300"/>
          <a:ext cx="4597400" cy="5505450"/>
        </p:xfrm>
        <a:graphic>
          <a:graphicData uri="http://schemas.openxmlformats.org/drawingml/2006/table">
            <a:tbl>
              <a:tblPr firstRow="1" bandRow="1">
                <a:tableStyleId>{5940675A-B579-460E-94D1-54222C63F5DA}</a:tableStyleId>
              </a:tblPr>
              <a:tblGrid>
                <a:gridCol w="775335"/>
                <a:gridCol w="742315"/>
                <a:gridCol w="750570"/>
                <a:gridCol w="775970"/>
                <a:gridCol w="796290"/>
                <a:gridCol w="756920"/>
              </a:tblGrid>
              <a:tr h="3238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5</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5</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6</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7</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8</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9</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15</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385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16</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advTm="1310">
    <p:random/>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正交表设计测试用例举例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782955" y="614680"/>
            <a:ext cx="5080000" cy="398780"/>
          </a:xfrm>
          <a:prstGeom prst="rect">
            <a:avLst/>
          </a:prstGeom>
          <a:noFill/>
          <a:ln w="9525">
            <a:noFill/>
          </a:ln>
        </p:spPr>
        <p:txBody>
          <a:bodyPr>
            <a:spAutoFit/>
          </a:bodyPr>
          <a:p>
            <a:pPr indent="295275"/>
            <a:r>
              <a:rPr lang="zh-CN" sz="2000" b="0">
                <a:ea typeface="宋体" panose="02010600030101010101" pitchFamily="2" charset="-122"/>
              </a:rPr>
              <a:t>用字母替代正交矩阵：</a:t>
            </a:r>
            <a:endParaRPr lang="zh-CN" altLang="en-US" sz="2000"/>
          </a:p>
        </p:txBody>
      </p:sp>
      <p:graphicFrame>
        <p:nvGraphicFramePr>
          <p:cNvPr id="2" name="表格 1"/>
          <p:cNvGraphicFramePr/>
          <p:nvPr>
            <p:custDataLst>
              <p:tags r:id="rId1"/>
            </p:custDataLst>
          </p:nvPr>
        </p:nvGraphicFramePr>
        <p:xfrm>
          <a:off x="4199573" y="757286"/>
          <a:ext cx="4522470" cy="5559425"/>
        </p:xfrm>
        <a:graphic>
          <a:graphicData uri="http://schemas.openxmlformats.org/drawingml/2006/table">
            <a:tbl>
              <a:tblPr firstRow="1" bandRow="1">
                <a:tableStyleId>{5940675A-B579-460E-94D1-54222C63F5DA}</a:tableStyleId>
              </a:tblPr>
              <a:tblGrid>
                <a:gridCol w="763270"/>
                <a:gridCol w="723900"/>
                <a:gridCol w="744220"/>
                <a:gridCol w="763905"/>
                <a:gridCol w="783590"/>
                <a:gridCol w="743585"/>
              </a:tblGrid>
              <a:tr h="32702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5</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02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02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02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02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02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5</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02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6</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02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7</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02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8</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02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9</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02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02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02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02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02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02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15</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7025">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16</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advTm="1310">
    <p:random/>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正交表设计测试用例举例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431800" y="614680"/>
            <a:ext cx="7664450" cy="706755"/>
          </a:xfrm>
          <a:prstGeom prst="rect">
            <a:avLst/>
          </a:prstGeom>
          <a:noFill/>
          <a:ln w="9525">
            <a:noFill/>
          </a:ln>
        </p:spPr>
        <p:txBody>
          <a:bodyPr wrap="square">
            <a:spAutoFit/>
          </a:bodyPr>
          <a:p>
            <a:pPr indent="295275"/>
            <a:r>
              <a:rPr lang="zh-CN" sz="2000" b="0">
                <a:ea typeface="宋体" panose="02010600030101010101" pitchFamily="2" charset="-122"/>
              </a:rPr>
              <a:t>我们看到：第一列水平值为</a:t>
            </a:r>
            <a:r>
              <a:rPr lang="en-US" sz="2000" b="0">
                <a:latin typeface="Times New Roman" panose="02020603050405020304" charset="0"/>
                <a:ea typeface="宋体" panose="02010600030101010101" pitchFamily="2" charset="-122"/>
                <a:cs typeface="宋体" panose="02010600030101010101" pitchFamily="2" charset="-122"/>
              </a:rPr>
              <a:t>3</a:t>
            </a:r>
            <a:r>
              <a:rPr lang="zh-CN" sz="2000" b="0">
                <a:ea typeface="宋体" panose="02010600030101010101" pitchFamily="2" charset="-122"/>
              </a:rPr>
              <a:t>、第三列水平值为</a:t>
            </a:r>
            <a:r>
              <a:rPr lang="en-US" sz="2000" b="0">
                <a:latin typeface="Times New Roman" panose="02020603050405020304" charset="0"/>
                <a:ea typeface="宋体" panose="02010600030101010101" pitchFamily="2" charset="-122"/>
              </a:rPr>
              <a:t>3</a:t>
            </a:r>
            <a:r>
              <a:rPr lang="zh-CN" sz="2000" b="0">
                <a:ea typeface="宋体" panose="02010600030101010101" pitchFamily="2" charset="-122"/>
              </a:rPr>
              <a:t>、第四列水平值</a:t>
            </a:r>
            <a:r>
              <a:rPr lang="en-US" sz="2000" b="0">
                <a:latin typeface="Times New Roman" panose="02020603050405020304" charset="0"/>
                <a:ea typeface="宋体" panose="02010600030101010101" pitchFamily="2" charset="-122"/>
              </a:rPr>
              <a:t>3</a:t>
            </a:r>
            <a:r>
              <a:rPr lang="zh-CN" sz="2000" b="0">
                <a:ea typeface="宋体" panose="02010600030101010101" pitchFamily="2" charset="-122"/>
              </a:rPr>
              <a:t>、</a:t>
            </a:r>
            <a:r>
              <a:rPr lang="en-US" sz="2000" b="0">
                <a:latin typeface="Times New Roman" panose="02020603050405020304" charset="0"/>
                <a:ea typeface="宋体" panose="02010600030101010101" pitchFamily="2" charset="-122"/>
              </a:rPr>
              <a:t>2</a:t>
            </a:r>
            <a:r>
              <a:rPr lang="zh-CN" sz="2000" b="0">
                <a:ea typeface="宋体" panose="02010600030101010101" pitchFamily="2" charset="-122"/>
              </a:rPr>
              <a:t>都需要由各自的字母替代。</a:t>
            </a:r>
            <a:endParaRPr lang="zh-CN" altLang="en-US" sz="2000"/>
          </a:p>
        </p:txBody>
      </p:sp>
      <p:graphicFrame>
        <p:nvGraphicFramePr>
          <p:cNvPr id="2" name="表格 1"/>
          <p:cNvGraphicFramePr/>
          <p:nvPr>
            <p:custDataLst>
              <p:tags r:id="rId1"/>
            </p:custDataLst>
          </p:nvPr>
        </p:nvGraphicFramePr>
        <p:xfrm>
          <a:off x="3214092" y="1275715"/>
          <a:ext cx="6008370" cy="5527040"/>
        </p:xfrm>
        <a:graphic>
          <a:graphicData uri="http://schemas.openxmlformats.org/drawingml/2006/table">
            <a:tbl>
              <a:tblPr firstRow="1" bandRow="1">
                <a:tableStyleId>{5940675A-B579-460E-94D1-54222C63F5DA}</a:tableStyleId>
              </a:tblPr>
              <a:tblGrid>
                <a:gridCol w="1014730"/>
                <a:gridCol w="962025"/>
                <a:gridCol w="987425"/>
                <a:gridCol w="1014730"/>
                <a:gridCol w="1041400"/>
                <a:gridCol w="988060"/>
              </a:tblGrid>
              <a:tr h="325120">
                <a:tc>
                  <a:txBody>
                    <a:bodyPr/>
                    <a:p>
                      <a:pPr indent="0" algn="ctr">
                        <a:buNone/>
                      </a:pP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5</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5</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6</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7</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8</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9</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15</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25120">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16</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A1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B4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C1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D1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9525" marR="9525" marT="9525" marB="9525"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advTm="1310">
    <p:random/>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正交表设计测试用例举例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2393315" y="515620"/>
            <a:ext cx="7177405" cy="1014730"/>
          </a:xfrm>
          <a:prstGeom prst="rect">
            <a:avLst/>
          </a:prstGeom>
          <a:noFill/>
          <a:ln w="9525">
            <a:noFill/>
          </a:ln>
        </p:spPr>
        <p:txBody>
          <a:bodyPr wrap="square">
            <a:spAutoFit/>
          </a:bodyPr>
          <a:p>
            <a:pPr indent="295275"/>
            <a:r>
              <a:rPr lang="zh-CN" sz="2000" b="0">
                <a:ea typeface="宋体" panose="02010600030101010101" pitchFamily="2" charset="-122"/>
              </a:rPr>
              <a:t>第五列去掉没有意义。通过分析，由于四个因素里有三个的水平值小于</a:t>
            </a:r>
            <a:r>
              <a:rPr lang="en-US" sz="2000" b="0">
                <a:latin typeface="Times New Roman" panose="02020603050405020304" charset="0"/>
                <a:ea typeface="宋体" panose="02010600030101010101" pitchFamily="2" charset="-122"/>
                <a:cs typeface="宋体" panose="02010600030101010101" pitchFamily="2" charset="-122"/>
              </a:rPr>
              <a:t>3</a:t>
            </a:r>
            <a:r>
              <a:rPr lang="zh-CN" sz="2000" b="0">
                <a:ea typeface="宋体" panose="02010600030101010101" pitchFamily="2" charset="-122"/>
              </a:rPr>
              <a:t>，所以从第</a:t>
            </a:r>
            <a:r>
              <a:rPr lang="en-US" sz="2000" b="0">
                <a:latin typeface="Times New Roman" panose="02020603050405020304" charset="0"/>
                <a:ea typeface="宋体" panose="02010600030101010101" pitchFamily="2" charset="-122"/>
              </a:rPr>
              <a:t>13</a:t>
            </a:r>
            <a:r>
              <a:rPr lang="zh-CN" sz="2000" b="0">
                <a:ea typeface="宋体" panose="02010600030101010101" pitchFamily="2" charset="-122"/>
              </a:rPr>
              <a:t>行到</a:t>
            </a:r>
            <a:r>
              <a:rPr lang="en-US" sz="2000" b="0">
                <a:latin typeface="Times New Roman" panose="02020603050405020304" charset="0"/>
                <a:ea typeface="宋体" panose="02010600030101010101" pitchFamily="2" charset="-122"/>
              </a:rPr>
              <a:t>16</a:t>
            </a:r>
            <a:r>
              <a:rPr lang="zh-CN" sz="2000" b="0">
                <a:ea typeface="宋体" panose="02010600030101010101" pitchFamily="2" charset="-122"/>
              </a:rPr>
              <a:t>行的测试用例可以忽略。</a:t>
            </a:r>
            <a:endParaRPr lang="zh-CN" sz="2000" b="0">
              <a:ea typeface="宋体" panose="02010600030101010101" pitchFamily="2" charset="-122"/>
            </a:endParaRPr>
          </a:p>
          <a:p>
            <a:pPr indent="295275"/>
            <a:r>
              <a:rPr lang="zh-CN" altLang="en-US" sz="2000"/>
              <a:t>那么这样的话，就可以有12个测试用例了：</a:t>
            </a:r>
            <a:endParaRPr lang="zh-CN" altLang="en-US" sz="2000"/>
          </a:p>
        </p:txBody>
      </p:sp>
      <p:graphicFrame>
        <p:nvGraphicFramePr>
          <p:cNvPr id="2" name="表格 1"/>
          <p:cNvGraphicFramePr/>
          <p:nvPr>
            <p:custDataLst>
              <p:tags r:id="rId1"/>
            </p:custDataLst>
          </p:nvPr>
        </p:nvGraphicFramePr>
        <p:xfrm>
          <a:off x="2299335" y="1673225"/>
          <a:ext cx="8156575" cy="4332605"/>
        </p:xfrm>
        <a:graphic>
          <a:graphicData uri="http://schemas.openxmlformats.org/drawingml/2006/table">
            <a:tbl>
              <a:tblPr firstRow="1" bandRow="1">
                <a:tableStyleId>{5940675A-B579-460E-94D1-54222C63F5DA}</a:tableStyleId>
              </a:tblPr>
              <a:tblGrid>
                <a:gridCol w="1868170"/>
                <a:gridCol w="6288405"/>
              </a:tblGrid>
              <a:tr h="61912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测试用例编号</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PPT—ST—FUNCTION—PRINT—001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861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测试项目</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a:t>
                      </a:r>
                      <a:r>
                        <a:rPr lang="en-US" sz="2000" b="0">
                          <a:solidFill>
                            <a:srgbClr val="000000"/>
                          </a:solidFill>
                          <a:latin typeface="Times New Roman" panose="02020603050405020304" charset="0"/>
                          <a:cs typeface="Times New Roman" panose="02020603050405020304" charset="0"/>
                        </a:rPr>
                        <a:t>PowerPoint</a:t>
                      </a: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打印功能</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1912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测试标题</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打印PowerPoint文件A全部的幻灯片，有颜色，加框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051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重要级别</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高</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1785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预置条件</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PowerPoint文件A已被打开，电脑主机已连接有效打印机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051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输入</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文件A：D:\系统测试.ppt</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3825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操作步骤</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1、打开打印界面；2、打印范围选择“全部”；3、打印内容选择“幻灯片”；4、颜色/灰度选择“颜色”；5、在“幻灯片加框”前打勾；6、点击“确定”。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861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预期输出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打印出全部幻灯片，有颜色且已加框。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advTm="1310">
    <p:random/>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正交表设计测试用例举例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684530" y="614680"/>
          <a:ext cx="5080000" cy="5481955"/>
        </p:xfrm>
        <a:graphic>
          <a:graphicData uri="http://schemas.openxmlformats.org/drawingml/2006/table">
            <a:tbl>
              <a:tblPr firstRow="1" bandRow="1">
                <a:tableStyleId>{5940675A-B579-460E-94D1-54222C63F5DA}</a:tableStyleId>
              </a:tblPr>
              <a:tblGrid>
                <a:gridCol w="1163955"/>
                <a:gridCol w="3916045"/>
              </a:tblGrid>
              <a:tr h="71691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测试用例编号</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PPT—ST—FUNCTION—PRINT—002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370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测试项目</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a:t>
                      </a:r>
                      <a:r>
                        <a:rPr lang="en-US" sz="2000" b="0">
                          <a:solidFill>
                            <a:srgbClr val="000000"/>
                          </a:solidFill>
                          <a:latin typeface="Times New Roman" panose="02020603050405020304" charset="0"/>
                          <a:cs typeface="Times New Roman" panose="02020603050405020304" charset="0"/>
                        </a:rPr>
                        <a:t>PowerPoint</a:t>
                      </a: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打印功能</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1691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测试标题</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打印PowerPoint文件A全部的幻灯片为讲义，灰度，不加框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370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重要级别</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中</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1628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预置条件</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PowerPoint文件A已被打开，电脑主机已连接有效打印机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370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输入</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文件A：D:\系统测试.ppt</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43383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操作步骤</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1、打开打印界面；2、打印范围选择“全部”；3、打印内容选择“讲义”；4、颜色/灰度选择“灰度”；5、点击“确定”。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1691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预期输出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打印出全部幻灯片为讲义，灰度且不加框。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3" name="表格 2"/>
          <p:cNvGraphicFramePr/>
          <p:nvPr>
            <p:custDataLst>
              <p:tags r:id="rId2"/>
            </p:custDataLst>
          </p:nvPr>
        </p:nvGraphicFramePr>
        <p:xfrm>
          <a:off x="6304280" y="572770"/>
          <a:ext cx="5327650" cy="5535295"/>
        </p:xfrm>
        <a:graphic>
          <a:graphicData uri="http://schemas.openxmlformats.org/drawingml/2006/table">
            <a:tbl>
              <a:tblPr firstRow="1" bandRow="1">
                <a:tableStyleId>{5940675A-B579-460E-94D1-54222C63F5DA}</a:tableStyleId>
              </a:tblPr>
              <a:tblGrid>
                <a:gridCol w="1221105"/>
                <a:gridCol w="4106545"/>
              </a:tblGrid>
              <a:tr h="62928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测试用例编号</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PPT—ST—FUNCTION—PRINT—003</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879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测试项目</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a:t>
                      </a:r>
                      <a:r>
                        <a:rPr lang="en-US" sz="2000" b="0">
                          <a:solidFill>
                            <a:srgbClr val="000000"/>
                          </a:solidFill>
                          <a:latin typeface="Times New Roman" panose="02020603050405020304" charset="0"/>
                          <a:cs typeface="Times New Roman" panose="02020603050405020304" charset="0"/>
                        </a:rPr>
                        <a:t>PowerPoint</a:t>
                      </a: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打印功能</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928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测试标题</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打印PowerPoint文件A全部的备注页，黑白，加框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879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重要级别</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中</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928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预置条件</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PowerPoint文件A已被打开，电脑主机已连接有效打印机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879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输入</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文件A：D:\系统测试.ppt</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57289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操作步骤</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1、打开打印界面；2、打印范围选择“全部”；3、打印内容选择“备注页”；4、颜色/灰度选择“黑白”；5、在“幻灯片加框”前打勾；6、点击“确定”。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816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预期输出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打印出全部备注页，黑白且已加框。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advTm="1310">
    <p:random/>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正交表设计测试用例举例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588645" y="831850"/>
          <a:ext cx="5302250" cy="5356225"/>
        </p:xfrm>
        <a:graphic>
          <a:graphicData uri="http://schemas.openxmlformats.org/drawingml/2006/table">
            <a:tbl>
              <a:tblPr firstRow="1" bandRow="1">
                <a:tableStyleId>{5940675A-B579-460E-94D1-54222C63F5DA}</a:tableStyleId>
              </a:tblPr>
              <a:tblGrid>
                <a:gridCol w="1214755"/>
                <a:gridCol w="4087495"/>
              </a:tblGrid>
              <a:tr h="59499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测试用例编号</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PPT—ST—FUNCTION—PRINT—004</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9499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测试项目</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测试PowerPoint打印功能</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9563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测试标题</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打印PowerPoint文件A全部的大纲视图，黑白</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9499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重要级别</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中</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9499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预置条件</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PowerPoint文件A已被打开，电脑主机已连接有效打印机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9499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输入</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文件A：D:\系统测试.ppt</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19062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操作步骤</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1、打开打印界面；2、打印范围选择“全部”；3、打印内容选择“大纲视图”；4、颜色/灰度选择“黑白”；5、点击“确定”。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9499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预期输出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打印出全部大纲视图，黑白</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3" name="表格 2"/>
          <p:cNvGraphicFramePr/>
          <p:nvPr>
            <p:custDataLst>
              <p:tags r:id="rId2"/>
            </p:custDataLst>
          </p:nvPr>
        </p:nvGraphicFramePr>
        <p:xfrm>
          <a:off x="6393180" y="852170"/>
          <a:ext cx="5340350" cy="5655945"/>
        </p:xfrm>
        <a:graphic>
          <a:graphicData uri="http://schemas.openxmlformats.org/drawingml/2006/table">
            <a:tbl>
              <a:tblPr firstRow="1" bandRow="1">
                <a:tableStyleId>{5940675A-B579-460E-94D1-54222C63F5DA}</a:tableStyleId>
              </a:tblPr>
              <a:tblGrid>
                <a:gridCol w="1224280"/>
                <a:gridCol w="4116070"/>
              </a:tblGrid>
              <a:tr h="60960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测试用例编号</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PPT—ST—FUNCTION—PRINT—005</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594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测试项目</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测试PowerPoint打印功能</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0960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测试标题</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打印PowerPoint文件A当前幻灯片，灰度，加框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531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重要级别</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中</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0960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预置条件</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PowerPoint文件A已被打开，电脑主机已连接有效打印机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531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输入</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文件A：D:\系统测试.ppt</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52400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操作步骤</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1、打开打印界面；2、打印范围选择“当前幻灯片”；3、打印内容选择“幻灯片”；4、颜色/灰度选择“灰度”；5、在“幻灯片加框”前打勾；6、点击“确定”。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658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预期输出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打印出当前幻灯片，灰度且已加框。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advTm="1310">
    <p:random/>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正交表设计测试用例举例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370205" y="782320"/>
          <a:ext cx="5302250" cy="5613400"/>
        </p:xfrm>
        <a:graphic>
          <a:graphicData uri="http://schemas.openxmlformats.org/drawingml/2006/table">
            <a:tbl>
              <a:tblPr firstRow="1" bandRow="1">
                <a:tableStyleId>{5940675A-B579-460E-94D1-54222C63F5DA}</a:tableStyleId>
              </a:tblPr>
              <a:tblGrid>
                <a:gridCol w="1214755"/>
                <a:gridCol w="4087495"/>
              </a:tblGrid>
              <a:tr h="62357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测试用例编号</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PPT—ST—FUNCTION—PRINT—006</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357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测试项目</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a:t>
                      </a:r>
                      <a:r>
                        <a:rPr lang="en-US" sz="2000" b="0">
                          <a:solidFill>
                            <a:srgbClr val="000000"/>
                          </a:solidFill>
                          <a:latin typeface="Times New Roman" panose="02020603050405020304" charset="0"/>
                          <a:cs typeface="Times New Roman" panose="02020603050405020304" charset="0"/>
                        </a:rPr>
                        <a:t>PowerPoint</a:t>
                      </a: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打印功能</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420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测试标题</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打印PowerPoint文件A当前幻灯片为讲义，黑白，加框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357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重要级别</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中</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357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预置条件</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PowerPoint文件A已被打开，电脑主机已连接有效打印机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357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输入</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文件A：D:\系统测试.ppt</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4777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操作步骤</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1、打开打印界面；2、打印范围选择“当前幻灯片”；3、打印内容选择“讲义”；4、颜色/灰度选择“黑白”；5、在“幻灯片加框”前打勾；6、点击“确定”。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357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预期输出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打印出当前幻灯片为讲义，黑白且已加框。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3" name="表格 2"/>
          <p:cNvGraphicFramePr/>
          <p:nvPr>
            <p:custDataLst>
              <p:tags r:id="rId2"/>
            </p:custDataLst>
          </p:nvPr>
        </p:nvGraphicFramePr>
        <p:xfrm>
          <a:off x="6293485" y="802005"/>
          <a:ext cx="5314950" cy="5935345"/>
        </p:xfrm>
        <a:graphic>
          <a:graphicData uri="http://schemas.openxmlformats.org/drawingml/2006/table">
            <a:tbl>
              <a:tblPr firstRow="1" bandRow="1">
                <a:tableStyleId>{5940675A-B579-460E-94D1-54222C63F5DA}</a:tableStyleId>
              </a:tblPr>
              <a:tblGrid>
                <a:gridCol w="1217930"/>
                <a:gridCol w="4097020"/>
              </a:tblGrid>
              <a:tr h="65976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测试用例编号</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PPT—ST—FUNCTION—PRINT—007</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5913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测试项目</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a:t>
                      </a:r>
                      <a:r>
                        <a:rPr lang="en-US" sz="2000" b="0">
                          <a:solidFill>
                            <a:srgbClr val="000000"/>
                          </a:solidFill>
                          <a:latin typeface="Times New Roman" panose="02020603050405020304" charset="0"/>
                          <a:cs typeface="Times New Roman" panose="02020603050405020304" charset="0"/>
                        </a:rPr>
                        <a:t>PowerPoint</a:t>
                      </a: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打印功能</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5976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测试标题</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打印PowerPoint文件A当前幻灯片的备注页，有颜色，不加框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5913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重要级别</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中</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5976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预置条件</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PowerPoint文件A已被打开，电脑主机已连接有效打印机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5913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输入</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文件A：D:\系统测试.ppt</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31889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操作步骤</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1、打开打印界面；2、打印范围选择“当前幻灯片”；3、打印内容选择“备注页”；4、颜色/灰度选择“颜色”；5、点击“确定”。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5976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预期输出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打印出当前幻灯片的备注页，有颜色且不加框。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advTm="1310">
    <p:random/>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正交表设计测试用例举例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270510" y="643255"/>
          <a:ext cx="5289550" cy="5699760"/>
        </p:xfrm>
        <a:graphic>
          <a:graphicData uri="http://schemas.openxmlformats.org/drawingml/2006/table">
            <a:tbl>
              <a:tblPr firstRow="1" bandRow="1">
                <a:tableStyleId>{5940675A-B579-460E-94D1-54222C63F5DA}</a:tableStyleId>
              </a:tblPr>
              <a:tblGrid>
                <a:gridCol w="1211580"/>
                <a:gridCol w="4077970"/>
              </a:tblGrid>
              <a:tr h="63373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测试用例编号</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PPT—ST—FUNCTION—PRINT—008</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3246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测试项目</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a:t>
                      </a:r>
                      <a:r>
                        <a:rPr lang="en-US" sz="2000" b="0">
                          <a:solidFill>
                            <a:srgbClr val="000000"/>
                          </a:solidFill>
                          <a:latin typeface="Times New Roman" panose="02020603050405020304" charset="0"/>
                          <a:cs typeface="Times New Roman" panose="02020603050405020304" charset="0"/>
                        </a:rPr>
                        <a:t>PowerPoint</a:t>
                      </a: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打印功能</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3373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测试标题</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打印PowerPoint文件A当前幻灯片的大纲视图，有颜色</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3373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重要级别</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中</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3246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预置条件</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PowerPoint文件A已被打开，电脑主机已连接有效打印机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3373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输入</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文件A：D:\系统测试.ppt</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6619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操作步骤</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1、打开打印界面；2、打印范围选择“当前幻灯片”；3、打印内容选择“大纲视图”；4、颜色/灰度选择“颜色”；5、点击“确定”。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3373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预期输出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打印出当前幻灯片为讲义，黑白且已加框。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3" name="表格 2"/>
          <p:cNvGraphicFramePr/>
          <p:nvPr>
            <p:custDataLst>
              <p:tags r:id="rId2"/>
            </p:custDataLst>
          </p:nvPr>
        </p:nvGraphicFramePr>
        <p:xfrm>
          <a:off x="6085205" y="692150"/>
          <a:ext cx="5302250" cy="5650230"/>
        </p:xfrm>
        <a:graphic>
          <a:graphicData uri="http://schemas.openxmlformats.org/drawingml/2006/table">
            <a:tbl>
              <a:tblPr firstRow="1" bandRow="1">
                <a:tableStyleId>{5940675A-B579-460E-94D1-54222C63F5DA}</a:tableStyleId>
              </a:tblPr>
              <a:tblGrid>
                <a:gridCol w="1214755"/>
                <a:gridCol w="4087495"/>
              </a:tblGrid>
              <a:tr h="62738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测试用例编号</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PPT—ST—FUNCTION—PRINT—009</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865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测试项目</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a:t>
                      </a:r>
                      <a:r>
                        <a:rPr lang="en-US" sz="2000" b="0">
                          <a:solidFill>
                            <a:srgbClr val="000000"/>
                          </a:solidFill>
                          <a:latin typeface="Times New Roman" panose="02020603050405020304" charset="0"/>
                          <a:cs typeface="Times New Roman" panose="02020603050405020304" charset="0"/>
                        </a:rPr>
                        <a:t>PowerPoint</a:t>
                      </a: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打印功能</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738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测试标题</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打印PowerPoint文件A给定范围的幻灯片，黑白，不加框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738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重要级别</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中</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865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预置条件</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PowerPoint文件A已被打开，电脑主机已连接有效打印机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738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输入</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文件A：D:\系统测试.ppt</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5603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操作步骤</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1、打开打印界面；2、打印范围选择“幻灯片”；3、打印内容选择“幻灯片”；4、颜色/灰度选择“黑白”；5、点击“确定”。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738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预期输出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打印出给定范围的幻灯片，黑白且不加框。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advTm="1310">
    <p:random/>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正交表设计测试用例举例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429260" y="782320"/>
          <a:ext cx="5302250" cy="5662930"/>
        </p:xfrm>
        <a:graphic>
          <a:graphicData uri="http://schemas.openxmlformats.org/drawingml/2006/table">
            <a:tbl>
              <a:tblPr firstRow="1" bandRow="1">
                <a:tableStyleId>{5940675A-B579-460E-94D1-54222C63F5DA}</a:tableStyleId>
              </a:tblPr>
              <a:tblGrid>
                <a:gridCol w="1214755"/>
                <a:gridCol w="4087495"/>
              </a:tblGrid>
              <a:tr h="62928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测试用例编号</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PPT—ST—FUNCTION—PRINT—010</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928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测试项目</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测试PowerPoint打印功能</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928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测试标题</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打印PowerPoint文件A给定范围的幻灯片为讲义，有颜色，加框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928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重要级别</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中</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865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预置条件</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PowerPoint文件A已被打开，电脑主机已连接有效打印机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928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输入</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文件A：D:\系统测试.ppt</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5857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操作步骤</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1、打开打印界面；2、打印范围选择“幻灯片”；3、打印内容选择“幻灯片”；4、颜色/灰度选择“颜色”；5、点击“确定”。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928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预期输出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打印出给定范围的幻灯片为讲义，有颜色且加框。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aphicFrame>
        <p:nvGraphicFramePr>
          <p:cNvPr id="3" name="表格 2"/>
          <p:cNvGraphicFramePr/>
          <p:nvPr>
            <p:custDataLst>
              <p:tags r:id="rId2"/>
            </p:custDataLst>
          </p:nvPr>
        </p:nvGraphicFramePr>
        <p:xfrm>
          <a:off x="6174105" y="791845"/>
          <a:ext cx="5327650" cy="5713095"/>
        </p:xfrm>
        <a:graphic>
          <a:graphicData uri="http://schemas.openxmlformats.org/drawingml/2006/table">
            <a:tbl>
              <a:tblPr firstRow="1" bandRow="1">
                <a:tableStyleId>{5940675A-B579-460E-94D1-54222C63F5DA}</a:tableStyleId>
              </a:tblPr>
              <a:tblGrid>
                <a:gridCol w="1221105"/>
                <a:gridCol w="4106545"/>
              </a:tblGrid>
              <a:tr h="60960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测试用例编号</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PPT—ST—FUNCTION—PRINT—011</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8420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测试项目</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测试PowerPoint打印功能</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0960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测试标题</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打印PowerPoint文件A给定范围的幻灯片的备注页，灰度，加框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8293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重要级别</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中</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0960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预置条件</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PowerPoint文件A已被打开，电脑主机已连接有效打印机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8356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输入</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文件A：D:\系统测试.ppt</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52400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操作步骤</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1、打开打印界面；2、打印范围选择“幻灯片”；3、打印内容选择“备注页”；4、颜色/灰度选择“灰度”；5、在“幻灯片加框”前打勾；6、点击“确定”。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0960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预期输出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打印出给定范围的幻灯片的备注页，灰度且加框。</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advTm="1310">
    <p:random/>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正交表设计测试用例举例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608965" y="721995"/>
          <a:ext cx="10244455" cy="5814695"/>
        </p:xfrm>
        <a:graphic>
          <a:graphicData uri="http://schemas.openxmlformats.org/drawingml/2006/table">
            <a:tbl>
              <a:tblPr firstRow="1" bandRow="1">
                <a:tableStyleId>{5940675A-B579-460E-94D1-54222C63F5DA}</a:tableStyleId>
              </a:tblPr>
              <a:tblGrid>
                <a:gridCol w="2346960"/>
                <a:gridCol w="7897495"/>
              </a:tblGrid>
              <a:tr h="64579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测试用例编号</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PPT—ST—FUNCTION—PRINT—012</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46430">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测试项目</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测试PowerPoint打印功能</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4579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测试标题</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打印PowerPoint文件A给定范围的幻灯片的大纲视图，灰度</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4579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重要级别</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中</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4706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预置条件</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PowerPoint文件A已被打开，电脑主机已连接有效打印机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4579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输入</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文件A：D:\系统测试.ppt</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9222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操作步骤</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1、打开打印界面；2、打印范围选择“幻灯片”；3、打印内容选择“大纲视图”；4、颜色/灰度选择“灰度”；5、点击“确定”。                         </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45795">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预期输出</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2000" b="0">
                          <a:solidFill>
                            <a:srgbClr val="000000"/>
                          </a:solidFill>
                          <a:latin typeface="宋体" panose="02010600030101010101" pitchFamily="2" charset="-122"/>
                          <a:ea typeface="宋体" panose="02010600030101010101" pitchFamily="2" charset="-122"/>
                          <a:cs typeface="宋体" panose="02010600030101010101" pitchFamily="2" charset="-122"/>
                        </a:rPr>
                        <a:t>打印出给定范围的幻灯片的大纲视图，灰度</a:t>
                      </a:r>
                      <a:endParaRPr lang="en-US" altLang="en-US" sz="2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advTm="1310">
    <p:random/>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sym typeface="+mn-ea"/>
              </a:rPr>
              <a:t>正交表设计测试用例举例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002030" y="944880"/>
            <a:ext cx="9937750" cy="5323205"/>
          </a:xfrm>
          <a:prstGeom prst="rect">
            <a:avLst/>
          </a:prstGeom>
          <a:noFill/>
          <a:ln w="9525">
            <a:noFill/>
          </a:ln>
        </p:spPr>
        <p:txBody>
          <a:bodyPr wrap="square">
            <a:spAutoFit/>
          </a:bodyPr>
          <a:p>
            <a:pPr indent="295275"/>
            <a:r>
              <a:rPr lang="zh-CN" sz="2000" b="0">
                <a:latin typeface="Times New Roman" panose="02020603050405020304" charset="0"/>
                <a:ea typeface="宋体" panose="02010600030101010101" pitchFamily="2" charset="-122"/>
              </a:rPr>
              <a:t>【任务实施】依据正交表的基本原理和设计测试用例的步骤，分析</a:t>
            </a:r>
            <a:r>
              <a:rPr lang="en-US" sz="2000" b="0">
                <a:latin typeface="Times New Roman" panose="02020603050405020304" charset="0"/>
              </a:rPr>
              <a:t>CVIT</a:t>
            </a:r>
            <a:r>
              <a:rPr lang="zh-CN" sz="2000" b="0">
                <a:latin typeface="Times New Roman" panose="02020603050405020304" charset="0"/>
                <a:ea typeface="宋体" panose="02010600030101010101" pitchFamily="2" charset="-122"/>
              </a:rPr>
              <a:t>系统的新闻发布模块，该模块对应的输入包含多个，选用恰当的正交表，设计测试用例。    【拓展训练】对于单因素或两因素试验，因其因素少，试验的设计、实施与分析都比较简单。但在实际工作中，常常需要同时考察</a:t>
            </a:r>
            <a:r>
              <a:rPr lang="en-US" sz="2000" b="0">
                <a:latin typeface="Times New Roman" panose="02020603050405020304" charset="0"/>
                <a:ea typeface="宋体" panose="02010600030101010101" pitchFamily="2" charset="-122"/>
                <a:cs typeface="宋体" panose="02010600030101010101" pitchFamily="2" charset="-122"/>
              </a:rPr>
              <a:t>3</a:t>
            </a:r>
            <a:r>
              <a:rPr lang="zh-CN" sz="2000" b="0">
                <a:latin typeface="Times New Roman" panose="02020603050405020304" charset="0"/>
                <a:ea typeface="宋体" panose="02010600030101010101" pitchFamily="2" charset="-122"/>
              </a:rPr>
              <a:t>个或</a:t>
            </a:r>
            <a:r>
              <a:rPr lang="en-US" sz="2000" b="0">
                <a:latin typeface="Times New Roman" panose="02020603050405020304" charset="0"/>
                <a:ea typeface="宋体" panose="02010600030101010101" pitchFamily="2" charset="-122"/>
                <a:cs typeface="宋体" panose="02010600030101010101" pitchFamily="2" charset="-122"/>
              </a:rPr>
              <a:t>3</a:t>
            </a:r>
            <a:r>
              <a:rPr lang="zh-CN" sz="2000" b="0">
                <a:latin typeface="Times New Roman" panose="02020603050405020304" charset="0"/>
                <a:ea typeface="宋体" panose="02010600030101010101" pitchFamily="2" charset="-122"/>
              </a:rPr>
              <a:t>个以上的水平因素，若进行全面测试，测试的规模很大，由于时间和成本的限制我们不可能进行全面测试，但是具体挑其中的哪些测试用例进行测试我们心里拿不准，总担心不做不挑选的那些测试用例会遗漏一些严重缺陷。为了有效的、合理地减少测试的工时与费用，我们利用正交表法来设计测试用例。正交表法就是安排多因素试验、寻求最优水平组合的一种高效率的试验设计方法。下面试着利用正交表法分析如下问题：某所大学通信系共</a:t>
            </a:r>
            <a:r>
              <a:rPr lang="en-US" sz="2000" b="0">
                <a:latin typeface="Times New Roman" panose="02020603050405020304" charset="0"/>
                <a:ea typeface="宋体" panose="02010600030101010101" pitchFamily="2" charset="-122"/>
                <a:cs typeface="宋体" panose="02010600030101010101" pitchFamily="2" charset="-122"/>
              </a:rPr>
              <a:t>2</a:t>
            </a:r>
            <a:r>
              <a:rPr lang="zh-CN" sz="2000" b="0">
                <a:latin typeface="Times New Roman" panose="02020603050405020304" charset="0"/>
                <a:ea typeface="宋体" panose="02010600030101010101" pitchFamily="2" charset="-122"/>
              </a:rPr>
              <a:t>个班级，刚考完某一门课程，想通过</a:t>
            </a:r>
            <a:r>
              <a:rPr lang="en-US" sz="2000" b="0">
                <a:latin typeface="Times New Roman" panose="02020603050405020304" charset="0"/>
                <a:ea typeface="宋体" panose="02010600030101010101" pitchFamily="2" charset="-122"/>
                <a:cs typeface="宋体" panose="02010600030101010101" pitchFamily="2" charset="-122"/>
              </a:rPr>
              <a:t>“</a:t>
            </a:r>
            <a:r>
              <a:rPr lang="zh-CN" sz="2000" b="0">
                <a:latin typeface="Times New Roman" panose="02020603050405020304" charset="0"/>
                <a:ea typeface="宋体" panose="02010600030101010101" pitchFamily="2" charset="-122"/>
              </a:rPr>
              <a:t>性别</a:t>
            </a:r>
            <a:r>
              <a:rPr lang="en-US" sz="2000" b="0">
                <a:latin typeface="Times New Roman" panose="02020603050405020304" charset="0"/>
                <a:ea typeface="宋体" panose="02010600030101010101" pitchFamily="2" charset="-122"/>
                <a:cs typeface="宋体" panose="02010600030101010101" pitchFamily="2" charset="-122"/>
              </a:rPr>
              <a:t>”</a:t>
            </a:r>
            <a:r>
              <a:rPr lang="zh-CN" sz="2000" b="0">
                <a:latin typeface="Times New Roman" panose="02020603050405020304" charset="0"/>
                <a:ea typeface="宋体" panose="02010600030101010101" pitchFamily="2" charset="-122"/>
              </a:rPr>
              <a:t>、</a:t>
            </a:r>
            <a:r>
              <a:rPr lang="en-US" sz="2000" b="0">
                <a:latin typeface="Times New Roman" panose="02020603050405020304" charset="0"/>
                <a:ea typeface="宋体" panose="02010600030101010101" pitchFamily="2" charset="-122"/>
                <a:cs typeface="宋体" panose="02010600030101010101" pitchFamily="2" charset="-122"/>
              </a:rPr>
              <a:t>“</a:t>
            </a:r>
            <a:r>
              <a:rPr lang="zh-CN" sz="2000" b="0">
                <a:latin typeface="Times New Roman" panose="02020603050405020304" charset="0"/>
                <a:ea typeface="宋体" panose="02010600030101010101" pitchFamily="2" charset="-122"/>
              </a:rPr>
              <a:t>班级</a:t>
            </a:r>
            <a:r>
              <a:rPr lang="en-US" sz="2000" b="0">
                <a:latin typeface="Times New Roman" panose="02020603050405020304" charset="0"/>
                <a:ea typeface="宋体" panose="02010600030101010101" pitchFamily="2" charset="-122"/>
                <a:cs typeface="宋体" panose="02010600030101010101" pitchFamily="2" charset="-122"/>
              </a:rPr>
              <a:t>”</a:t>
            </a:r>
            <a:r>
              <a:rPr lang="zh-CN" sz="2000" b="0">
                <a:latin typeface="Times New Roman" panose="02020603050405020304" charset="0"/>
                <a:ea typeface="宋体" panose="02010600030101010101" pitchFamily="2" charset="-122"/>
              </a:rPr>
              <a:t>和</a:t>
            </a:r>
            <a:r>
              <a:rPr lang="en-US" sz="2000" b="0">
                <a:latin typeface="Times New Roman" panose="02020603050405020304" charset="0"/>
                <a:ea typeface="宋体" panose="02010600030101010101" pitchFamily="2" charset="-122"/>
                <a:cs typeface="宋体" panose="02010600030101010101" pitchFamily="2" charset="-122"/>
              </a:rPr>
              <a:t>“</a:t>
            </a:r>
            <a:r>
              <a:rPr lang="zh-CN" sz="2000" b="0">
                <a:latin typeface="Times New Roman" panose="02020603050405020304" charset="0"/>
                <a:ea typeface="宋体" panose="02010600030101010101" pitchFamily="2" charset="-122"/>
              </a:rPr>
              <a:t>成绩</a:t>
            </a:r>
            <a:r>
              <a:rPr lang="en-US" sz="2000" b="0">
                <a:latin typeface="Times New Roman" panose="02020603050405020304" charset="0"/>
                <a:ea typeface="宋体" panose="02010600030101010101" pitchFamily="2" charset="-122"/>
                <a:cs typeface="宋体" panose="02010600030101010101" pitchFamily="2" charset="-122"/>
              </a:rPr>
              <a:t>”</a:t>
            </a:r>
            <a:r>
              <a:rPr lang="zh-CN" sz="2000" b="0">
                <a:latin typeface="Times New Roman" panose="02020603050405020304" charset="0"/>
                <a:ea typeface="宋体" panose="02010600030101010101" pitchFamily="2" charset="-122"/>
              </a:rPr>
              <a:t>这三个查询条件对通信系这门课程的成绩分布，男女比例或班级比例进行人员查询：根据“性别”</a:t>
            </a:r>
            <a:r>
              <a:rPr lang="en-US" sz="2000" b="0">
                <a:latin typeface="Times New Roman" panose="02020603050405020304" charset="0"/>
                <a:ea typeface="宋体" panose="02010600030101010101" pitchFamily="2" charset="-122"/>
                <a:cs typeface="宋体" panose="02010600030101010101" pitchFamily="2" charset="-122"/>
              </a:rPr>
              <a:t>=</a:t>
            </a:r>
            <a:r>
              <a:rPr lang="zh-CN" sz="2000" b="0">
                <a:latin typeface="Times New Roman" panose="02020603050405020304" charset="0"/>
                <a:ea typeface="宋体" panose="02010600030101010101" pitchFamily="2" charset="-122"/>
              </a:rPr>
              <a:t>“男，女”进行查询根据“班级”</a:t>
            </a:r>
            <a:r>
              <a:rPr lang="en-US" sz="2000" b="0">
                <a:latin typeface="Times New Roman" panose="02020603050405020304" charset="0"/>
                <a:ea typeface="宋体" panose="02010600030101010101" pitchFamily="2" charset="-122"/>
                <a:cs typeface="宋体" panose="02010600030101010101" pitchFamily="2" charset="-122"/>
              </a:rPr>
              <a:t>=</a:t>
            </a:r>
            <a:r>
              <a:rPr lang="en-US" sz="2000" b="0">
                <a:latin typeface="Times New Roman" panose="02020603050405020304" charset="0"/>
              </a:rPr>
              <a:t>“</a:t>
            </a:r>
            <a:r>
              <a:rPr lang="en-US" sz="2000" b="0">
                <a:latin typeface="Times New Roman" panose="02020603050405020304" charset="0"/>
                <a:ea typeface="宋体" panose="02010600030101010101" pitchFamily="2" charset="-122"/>
                <a:cs typeface="宋体" panose="02010600030101010101" pitchFamily="2" charset="-122"/>
              </a:rPr>
              <a:t>1</a:t>
            </a:r>
            <a:r>
              <a:rPr lang="zh-CN" sz="2000" b="0">
                <a:latin typeface="Times New Roman" panose="02020603050405020304" charset="0"/>
                <a:ea typeface="宋体" panose="02010600030101010101" pitchFamily="2" charset="-122"/>
              </a:rPr>
              <a:t>班，</a:t>
            </a:r>
            <a:r>
              <a:rPr lang="en-US" sz="2000" b="0">
                <a:latin typeface="Times New Roman" panose="02020603050405020304" charset="0"/>
                <a:ea typeface="宋体" panose="02010600030101010101" pitchFamily="2" charset="-122"/>
                <a:cs typeface="宋体" panose="02010600030101010101" pitchFamily="2" charset="-122"/>
              </a:rPr>
              <a:t>2</a:t>
            </a:r>
            <a:r>
              <a:rPr lang="zh-CN" sz="2000" b="0">
                <a:latin typeface="Times New Roman" panose="02020603050405020304" charset="0"/>
                <a:ea typeface="宋体" panose="02010600030101010101" pitchFamily="2" charset="-122"/>
              </a:rPr>
              <a:t>班”查询根据“成绩”</a:t>
            </a:r>
            <a:r>
              <a:rPr lang="en-US" sz="2000" b="0">
                <a:latin typeface="Times New Roman" panose="02020603050405020304" charset="0"/>
                <a:ea typeface="宋体" panose="02010600030101010101" pitchFamily="2" charset="-122"/>
                <a:cs typeface="宋体" panose="02010600030101010101" pitchFamily="2" charset="-122"/>
              </a:rPr>
              <a:t>=</a:t>
            </a:r>
            <a:r>
              <a:rPr lang="zh-CN" sz="2000" b="0">
                <a:latin typeface="Times New Roman" panose="02020603050405020304" charset="0"/>
                <a:ea typeface="宋体" panose="02010600030101010101" pitchFamily="2" charset="-122"/>
              </a:rPr>
              <a:t>“及格，不及格”查询</a:t>
            </a:r>
            <a:r>
              <a:rPr lang="en-US" sz="2000" b="0">
                <a:latin typeface="Times New Roman" panose="02020603050405020304" charset="0"/>
                <a:ea typeface="宋体" panose="02010600030101010101" pitchFamily="2" charset="-122"/>
                <a:cs typeface="宋体" panose="02010600030101010101" pitchFamily="2" charset="-122"/>
              </a:rPr>
              <a:t> </a:t>
            </a:r>
            <a:endParaRPr lang="zh-CN" altLang="en-US" sz="2000"/>
          </a:p>
        </p:txBody>
      </p:sp>
    </p:spTree>
  </p:cSld>
  <p:clrMapOvr>
    <a:masterClrMapping/>
  </p:clrMapOvr>
  <p:transition advTm="1310">
    <p:random/>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19100" y="171450"/>
            <a:ext cx="866140" cy="460375"/>
          </a:xfrm>
          <a:prstGeom prst="rect">
            <a:avLst/>
          </a:prstGeom>
          <a:noFill/>
        </p:spPr>
        <p:txBody>
          <a:bodyPr wrap="square" rtlCol="0">
            <a:spAutoFit/>
          </a:bodyPr>
          <a:lstStyle/>
          <a:p>
            <a:r>
              <a:rPr lang="en-US" altLang="zh-CN" sz="2400" b="1">
                <a:latin typeface="微软雅黑" panose="020B0503020204020204" pitchFamily="34" charset="-122"/>
                <a:ea typeface="微软雅黑" panose="020B0503020204020204" pitchFamily="34" charset="-122"/>
              </a:rPr>
              <a:t>2.2</a:t>
            </a:r>
            <a:endParaRPr lang="en-US" altLang="zh-CN" sz="2400" b="1">
              <a:latin typeface="微软雅黑" panose="020B0503020204020204" pitchFamily="34" charset="-122"/>
              <a:ea typeface="微软雅黑" panose="020B0503020204020204" pitchFamily="34" charset="-122"/>
            </a:endParaRPr>
          </a:p>
        </p:txBody>
      </p:sp>
      <p:sp>
        <p:nvSpPr>
          <p:cNvPr id="45" name="文本框 44"/>
          <p:cNvSpPr txBox="1"/>
          <p:nvPr/>
        </p:nvSpPr>
        <p:spPr>
          <a:xfrm>
            <a:off x="1537335" y="109855"/>
            <a:ext cx="4495800" cy="521970"/>
          </a:xfrm>
          <a:prstGeom prst="rect">
            <a:avLst/>
          </a:prstGeom>
          <a:noFill/>
        </p:spPr>
        <p:txBody>
          <a:bodyPr wrap="square" rtlCol="0">
            <a:spAutoFit/>
          </a:bodyPr>
          <a:lstStyle/>
          <a:p>
            <a:r>
              <a:rPr lang="zh-CN" altLang="en-US" sz="2800">
                <a:latin typeface="微软雅黑" panose="020B0503020204020204" pitchFamily="34" charset="-122"/>
                <a:ea typeface="微软雅黑" panose="020B0503020204020204" pitchFamily="34" charset="-122"/>
              </a:rPr>
              <a:t>功能测试用例</a:t>
            </a:r>
            <a:r>
              <a:rPr lang="zh-CN" altLang="en-US" sz="2800">
                <a:latin typeface="微软雅黑" panose="020B0503020204020204" pitchFamily="34" charset="-122"/>
                <a:ea typeface="微软雅黑" panose="020B0503020204020204" pitchFamily="34" charset="-122"/>
              </a:rPr>
              <a:t>设计</a:t>
            </a:r>
            <a:endParaRPr lang="zh-CN" altLang="en-US" sz="2800">
              <a:latin typeface="微软雅黑" panose="020B0503020204020204" pitchFamily="34" charset="-122"/>
              <a:ea typeface="微软雅黑" panose="020B0503020204020204" pitchFamily="34" charset="-122"/>
            </a:endParaRPr>
          </a:p>
        </p:txBody>
      </p:sp>
      <p:sp>
        <p:nvSpPr>
          <p:cNvPr id="46" name="文本框 45"/>
          <p:cNvSpPr txBox="1"/>
          <p:nvPr/>
        </p:nvSpPr>
        <p:spPr>
          <a:xfrm>
            <a:off x="264160" y="832485"/>
            <a:ext cx="11609705" cy="553085"/>
          </a:xfrm>
          <a:prstGeom prst="rect">
            <a:avLst/>
          </a:prstGeom>
          <a:noFill/>
        </p:spPr>
        <p:txBody>
          <a:bodyPr wrap="square" rtlCol="0">
            <a:spAutoFit/>
          </a:bodyPr>
          <a:lstStyle/>
          <a:p>
            <a:pPr indent="457200" fontAlgn="auto">
              <a:lnSpc>
                <a:spcPct val="150000"/>
              </a:lnSpc>
            </a:pPr>
            <a:r>
              <a:rPr lang="zh-CN" altLang="en-US" sz="2000" b="1">
                <a:latin typeface="微软雅黑" panose="020B0503020204020204" pitchFamily="34" charset="-122"/>
                <a:ea typeface="微软雅黑" panose="020B0503020204020204" pitchFamily="34" charset="-122"/>
                <a:sym typeface="+mn-ea"/>
              </a:rPr>
              <a:t>任务</a:t>
            </a:r>
            <a:r>
              <a:rPr lang="en-US" altLang="zh-CN" sz="2000" b="1">
                <a:latin typeface="微软雅黑" panose="020B0503020204020204" pitchFamily="34" charset="-122"/>
                <a:ea typeface="微软雅黑" panose="020B0503020204020204" pitchFamily="34" charset="-122"/>
                <a:sym typeface="+mn-ea"/>
              </a:rPr>
              <a:t>2.6 </a:t>
            </a:r>
            <a:r>
              <a:rPr lang="zh-CN" altLang="en-US" sz="2000" b="1">
                <a:latin typeface="微软雅黑" panose="020B0503020204020204" pitchFamily="34" charset="-122"/>
                <a:ea typeface="微软雅黑" panose="020B0503020204020204" pitchFamily="34" charset="-122"/>
                <a:sym typeface="+mn-ea"/>
              </a:rPr>
              <a:t>场景设计法运用</a:t>
            </a:r>
            <a:endParaRPr lang="zh-CN" altLang="en-US" sz="2000" b="1">
              <a:latin typeface="微软雅黑" panose="020B0503020204020204" pitchFamily="34" charset="-122"/>
              <a:ea typeface="微软雅黑" panose="020B0503020204020204" pitchFamily="34" charset="-122"/>
              <a:sym typeface="+mn-ea"/>
            </a:endParaRPr>
          </a:p>
        </p:txBody>
      </p:sp>
      <p:grpSp>
        <p:nvGrpSpPr>
          <p:cNvPr id="30" name="组合 29"/>
          <p:cNvGrpSpPr/>
          <p:nvPr/>
        </p:nvGrpSpPr>
        <p:grpSpPr>
          <a:xfrm>
            <a:off x="3460171" y="1841038"/>
            <a:ext cx="7063811" cy="3936487"/>
            <a:chOff x="7182" y="2866"/>
            <a:chExt cx="9947" cy="5400"/>
          </a:xfrm>
        </p:grpSpPr>
        <p:grpSp>
          <p:nvGrpSpPr>
            <p:cNvPr id="6" name="组合 5"/>
            <p:cNvGrpSpPr/>
            <p:nvPr/>
          </p:nvGrpSpPr>
          <p:grpSpPr>
            <a:xfrm>
              <a:off x="7182" y="2866"/>
              <a:ext cx="1877" cy="1028"/>
              <a:chOff x="2215144" y="927951"/>
              <a:chExt cx="1244730" cy="897673"/>
            </a:xfrm>
          </p:grpSpPr>
          <p:sp>
            <p:nvSpPr>
              <p:cNvPr id="7" name="平行四边形 6"/>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47" name="文本框 9"/>
              <p:cNvSpPr txBox="1"/>
              <p:nvPr/>
            </p:nvSpPr>
            <p:spPr>
              <a:xfrm>
                <a:off x="2393075" y="927951"/>
                <a:ext cx="1066799" cy="797949"/>
              </a:xfrm>
              <a:prstGeom prst="rect">
                <a:avLst/>
              </a:prstGeom>
              <a:noFill/>
            </p:spPr>
            <p:txBody>
              <a:bodyPr wrap="square" rtlCol="0">
                <a:spAutoFit/>
              </a:bodyPr>
              <a:p>
                <a:r>
                  <a:rPr lang="en-US" altLang="zh-CN" sz="3735" dirty="0">
                    <a:solidFill>
                      <a:schemeClr val="bg1"/>
                    </a:solidFill>
                    <a:latin typeface="Impact" panose="020B0806030902050204" pitchFamily="34" charset="0"/>
                  </a:rPr>
                  <a:t>01</a:t>
                </a:r>
                <a:endParaRPr lang="zh-CN" altLang="en-US" sz="3735" dirty="0">
                  <a:solidFill>
                    <a:schemeClr val="bg1"/>
                  </a:solidFill>
                  <a:latin typeface="Impact" panose="020B0806030902050204" pitchFamily="34" charset="0"/>
                </a:endParaRPr>
              </a:p>
            </p:txBody>
          </p:sp>
        </p:grpSp>
        <p:grpSp>
          <p:nvGrpSpPr>
            <p:cNvPr id="48" name="组合 47"/>
            <p:cNvGrpSpPr/>
            <p:nvPr/>
          </p:nvGrpSpPr>
          <p:grpSpPr>
            <a:xfrm>
              <a:off x="7182" y="4293"/>
              <a:ext cx="1877" cy="1058"/>
              <a:chOff x="2215144" y="1952311"/>
              <a:chExt cx="1244730" cy="924318"/>
            </a:xfrm>
          </p:grpSpPr>
          <p:sp>
            <p:nvSpPr>
              <p:cNvPr id="49" name="平行四边形 48"/>
              <p:cNvSpPr/>
              <p:nvPr/>
            </p:nvSpPr>
            <p:spPr>
              <a:xfrm>
                <a:off x="2215144" y="2033848"/>
                <a:ext cx="1120898" cy="842781"/>
              </a:xfrm>
              <a:prstGeom prst="parallelogram">
                <a:avLst>
                  <a:gd name="adj" fmla="val 4820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50" name="文本框 10"/>
              <p:cNvSpPr txBox="1"/>
              <p:nvPr/>
            </p:nvSpPr>
            <p:spPr>
              <a:xfrm>
                <a:off x="2393075" y="1952311"/>
                <a:ext cx="1066799" cy="797952"/>
              </a:xfrm>
              <a:prstGeom prst="rect">
                <a:avLst/>
              </a:prstGeom>
              <a:noFill/>
            </p:spPr>
            <p:txBody>
              <a:bodyPr wrap="square" rtlCol="0">
                <a:spAutoFit/>
              </a:bodyPr>
              <a:p>
                <a:r>
                  <a:rPr lang="en-US" altLang="zh-CN" sz="3735" dirty="0">
                    <a:solidFill>
                      <a:schemeClr val="bg1"/>
                    </a:solidFill>
                    <a:latin typeface="Impact" panose="020B0806030902050204" pitchFamily="34" charset="0"/>
                  </a:rPr>
                  <a:t>02</a:t>
                </a:r>
                <a:endParaRPr lang="zh-CN" altLang="en-US" sz="3735" dirty="0">
                  <a:solidFill>
                    <a:schemeClr val="bg1"/>
                  </a:solidFill>
                  <a:latin typeface="Impact" panose="020B0806030902050204" pitchFamily="34" charset="0"/>
                </a:endParaRPr>
              </a:p>
            </p:txBody>
          </p:sp>
        </p:grpSp>
        <p:grpSp>
          <p:nvGrpSpPr>
            <p:cNvPr id="51" name="组合 50"/>
            <p:cNvGrpSpPr/>
            <p:nvPr/>
          </p:nvGrpSpPr>
          <p:grpSpPr>
            <a:xfrm>
              <a:off x="7182" y="5767"/>
              <a:ext cx="1877" cy="1042"/>
              <a:chOff x="2215144" y="3018134"/>
              <a:chExt cx="1244730" cy="909499"/>
            </a:xfrm>
          </p:grpSpPr>
          <p:sp>
            <p:nvSpPr>
              <p:cNvPr id="52" name="平行四边形 51"/>
              <p:cNvSpPr/>
              <p:nvPr/>
            </p:nvSpPr>
            <p:spPr>
              <a:xfrm>
                <a:off x="2215144" y="3084852"/>
                <a:ext cx="1120898" cy="842781"/>
              </a:xfrm>
              <a:prstGeom prst="parallelogram">
                <a:avLst>
                  <a:gd name="adj" fmla="val 4820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53" name="文本框 11"/>
              <p:cNvSpPr txBox="1"/>
              <p:nvPr/>
            </p:nvSpPr>
            <p:spPr>
              <a:xfrm>
                <a:off x="2393075" y="3018134"/>
                <a:ext cx="1066799" cy="797949"/>
              </a:xfrm>
              <a:prstGeom prst="rect">
                <a:avLst/>
              </a:prstGeom>
              <a:noFill/>
            </p:spPr>
            <p:txBody>
              <a:bodyPr wrap="square" rtlCol="0">
                <a:spAutoFit/>
              </a:bodyPr>
              <a:p>
                <a:r>
                  <a:rPr lang="en-US" altLang="zh-CN" sz="3735" dirty="0">
                    <a:solidFill>
                      <a:schemeClr val="bg1"/>
                    </a:solidFill>
                    <a:latin typeface="Impact" panose="020B0806030902050204" pitchFamily="34" charset="0"/>
                  </a:rPr>
                  <a:t>03</a:t>
                </a:r>
                <a:endParaRPr lang="zh-CN" altLang="en-US" sz="3735" dirty="0">
                  <a:solidFill>
                    <a:schemeClr val="bg1"/>
                  </a:solidFill>
                  <a:latin typeface="Impact" panose="020B0806030902050204" pitchFamily="34" charset="0"/>
                </a:endParaRPr>
              </a:p>
            </p:txBody>
          </p:sp>
        </p:grpSp>
        <p:grpSp>
          <p:nvGrpSpPr>
            <p:cNvPr id="9" name="组合 8"/>
            <p:cNvGrpSpPr/>
            <p:nvPr/>
          </p:nvGrpSpPr>
          <p:grpSpPr>
            <a:xfrm>
              <a:off x="7182" y="7199"/>
              <a:ext cx="1877" cy="1067"/>
              <a:chOff x="2215144" y="4047039"/>
              <a:chExt cx="1244730" cy="931598"/>
            </a:xfrm>
          </p:grpSpPr>
          <p:sp>
            <p:nvSpPr>
              <p:cNvPr id="25" name="平行四边形 24"/>
              <p:cNvSpPr/>
              <p:nvPr/>
            </p:nvSpPr>
            <p:spPr>
              <a:xfrm>
                <a:off x="2215144" y="4135856"/>
                <a:ext cx="1120898" cy="842781"/>
              </a:xfrm>
              <a:prstGeom prst="parallelogram">
                <a:avLst>
                  <a:gd name="adj" fmla="val 4820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65">
                  <a:latin typeface="Impact" panose="020B0806030902050204" pitchFamily="34" charset="0"/>
                </a:endParaRPr>
              </a:p>
            </p:txBody>
          </p:sp>
          <p:sp>
            <p:nvSpPr>
              <p:cNvPr id="26" name="文本框 12"/>
              <p:cNvSpPr txBox="1"/>
              <p:nvPr/>
            </p:nvSpPr>
            <p:spPr>
              <a:xfrm>
                <a:off x="2393075" y="4047039"/>
                <a:ext cx="1066799" cy="797951"/>
              </a:xfrm>
              <a:prstGeom prst="rect">
                <a:avLst/>
              </a:prstGeom>
              <a:noFill/>
            </p:spPr>
            <p:txBody>
              <a:bodyPr wrap="square" rtlCol="0">
                <a:spAutoFit/>
              </a:bodyPr>
              <a:p>
                <a:r>
                  <a:rPr lang="en-US" altLang="zh-CN" sz="3735" dirty="0">
                    <a:solidFill>
                      <a:schemeClr val="bg1"/>
                    </a:solidFill>
                    <a:latin typeface="Impact" panose="020B0806030902050204" pitchFamily="34" charset="0"/>
                  </a:rPr>
                  <a:t>04</a:t>
                </a:r>
                <a:endParaRPr lang="zh-CN" altLang="en-US" sz="3735" dirty="0">
                  <a:solidFill>
                    <a:schemeClr val="bg1"/>
                  </a:solidFill>
                  <a:latin typeface="Impact" panose="020B0806030902050204" pitchFamily="34" charset="0"/>
                </a:endParaRPr>
              </a:p>
            </p:txBody>
          </p:sp>
        </p:grpSp>
        <p:grpSp>
          <p:nvGrpSpPr>
            <p:cNvPr id="60" name="组合 59"/>
            <p:cNvGrpSpPr/>
            <p:nvPr/>
          </p:nvGrpSpPr>
          <p:grpSpPr>
            <a:xfrm>
              <a:off x="8608" y="2895"/>
              <a:ext cx="8521" cy="965"/>
              <a:chOff x="4315150" y="953426"/>
              <a:chExt cx="3857250" cy="540057"/>
            </a:xfrm>
          </p:grpSpPr>
          <p:sp>
            <p:nvSpPr>
              <p:cNvPr id="61" name="矩形 60"/>
              <p:cNvSpPr/>
              <p:nvPr/>
            </p:nvSpPr>
            <p:spPr>
              <a:xfrm>
                <a:off x="4841406" y="1036234"/>
                <a:ext cx="3330416" cy="352422"/>
              </a:xfrm>
              <a:prstGeom prst="rect">
                <a:avLst/>
              </a:prstGeom>
              <a:ln w="15875">
                <a:noFill/>
              </a:ln>
            </p:spPr>
            <p:txBody>
              <a:bodyPr wrap="square" lIns="91428" tIns="45714" rIns="91428" bIns="45714">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场景法设计测试用例的基本原理</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28" tIns="45714" rIns="91428" bIns="45714" rtlCol="0" anchor="ctr"/>
              <a:p>
                <a:endParaRPr lang="zh-CN" altLang="en-US" sz="2135" b="1">
                  <a:solidFill>
                    <a:schemeClr val="tx1">
                      <a:lumMod val="75000"/>
                      <a:lumOff val="25000"/>
                    </a:schemeClr>
                  </a:solidFill>
                </a:endParaRPr>
              </a:p>
            </p:txBody>
          </p:sp>
        </p:grpSp>
        <p:grpSp>
          <p:nvGrpSpPr>
            <p:cNvPr id="63" name="组合 62"/>
            <p:cNvGrpSpPr/>
            <p:nvPr/>
          </p:nvGrpSpPr>
          <p:grpSpPr>
            <a:xfrm>
              <a:off x="8608" y="4351"/>
              <a:ext cx="8520" cy="965"/>
              <a:chOff x="4315150" y="1647579"/>
              <a:chExt cx="3857250" cy="540057"/>
            </a:xfrm>
          </p:grpSpPr>
          <p:sp>
            <p:nvSpPr>
              <p:cNvPr id="64" name="矩形 63"/>
              <p:cNvSpPr/>
              <p:nvPr/>
            </p:nvSpPr>
            <p:spPr>
              <a:xfrm>
                <a:off x="4841159" y="1730406"/>
                <a:ext cx="3286879" cy="352506"/>
              </a:xfrm>
              <a:prstGeom prst="rect">
                <a:avLst/>
              </a:prstGeom>
              <a:ln w="15875">
                <a:noFill/>
              </a:ln>
            </p:spPr>
            <p:txBody>
              <a:bodyPr wrap="square" lIns="91428" tIns="45714" rIns="91428" bIns="45714">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场景法设计测试用例的基本概念</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28" tIns="45714" rIns="91428" bIns="45714" rtlCol="0" anchor="ctr"/>
              <a:p>
                <a:endParaRPr lang="zh-CN" altLang="en-US" sz="2135" b="1">
                  <a:solidFill>
                    <a:schemeClr val="tx1">
                      <a:lumMod val="75000"/>
                      <a:lumOff val="25000"/>
                    </a:schemeClr>
                  </a:solidFill>
                </a:endParaRPr>
              </a:p>
            </p:txBody>
          </p:sp>
        </p:grpSp>
        <p:grpSp>
          <p:nvGrpSpPr>
            <p:cNvPr id="66" name="组合 65"/>
            <p:cNvGrpSpPr/>
            <p:nvPr/>
          </p:nvGrpSpPr>
          <p:grpSpPr>
            <a:xfrm>
              <a:off x="8608" y="5809"/>
              <a:ext cx="8520" cy="965"/>
              <a:chOff x="4315150" y="2341731"/>
              <a:chExt cx="3857250" cy="540057"/>
            </a:xfrm>
          </p:grpSpPr>
          <p:sp>
            <p:nvSpPr>
              <p:cNvPr id="67" name="矩形 66"/>
              <p:cNvSpPr/>
              <p:nvPr/>
            </p:nvSpPr>
            <p:spPr>
              <a:xfrm>
                <a:off x="4841197" y="2424395"/>
                <a:ext cx="2827146" cy="352506"/>
              </a:xfrm>
              <a:prstGeom prst="rect">
                <a:avLst/>
              </a:prstGeom>
              <a:ln w="15875">
                <a:noFill/>
              </a:ln>
            </p:spPr>
            <p:txBody>
              <a:bodyPr wrap="square" lIns="91428" tIns="45714" rIns="91428" bIns="45714">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场景法设计测试用例的步骤</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28" tIns="45714" rIns="91428" bIns="45714" rtlCol="0" anchor="ctr"/>
              <a:p>
                <a:endParaRPr lang="zh-CN" altLang="en-US" sz="2135" b="1">
                  <a:solidFill>
                    <a:schemeClr val="tx1">
                      <a:lumMod val="75000"/>
                      <a:lumOff val="25000"/>
                    </a:schemeClr>
                  </a:solidFill>
                </a:endParaRPr>
              </a:p>
            </p:txBody>
          </p:sp>
        </p:grpSp>
        <p:grpSp>
          <p:nvGrpSpPr>
            <p:cNvPr id="27" name="组合 26"/>
            <p:cNvGrpSpPr/>
            <p:nvPr/>
          </p:nvGrpSpPr>
          <p:grpSpPr>
            <a:xfrm>
              <a:off x="8608" y="7266"/>
              <a:ext cx="8521" cy="965"/>
              <a:chOff x="4315150" y="3035884"/>
              <a:chExt cx="3857250" cy="540057"/>
            </a:xfrm>
          </p:grpSpPr>
          <p:sp>
            <p:nvSpPr>
              <p:cNvPr id="28" name="矩形 27"/>
              <p:cNvSpPr/>
              <p:nvPr/>
            </p:nvSpPr>
            <p:spPr>
              <a:xfrm>
                <a:off x="4841196" y="3118548"/>
                <a:ext cx="2827147" cy="352506"/>
              </a:xfrm>
              <a:prstGeom prst="rect">
                <a:avLst/>
              </a:prstGeom>
              <a:ln w="15875">
                <a:noFill/>
              </a:ln>
            </p:spPr>
            <p:txBody>
              <a:bodyPr wrap="square" lIns="91428" tIns="45714" rIns="91428" bIns="45714">
                <a:spAutoFit/>
              </a:bodyPr>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场景法设计测试用例举例 </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9" name="平行四边形 28"/>
              <p:cNvSpPr/>
              <p:nvPr/>
            </p:nvSpPr>
            <p:spPr>
              <a:xfrm>
                <a:off x="4315150" y="3035884"/>
                <a:ext cx="3857250" cy="540057"/>
              </a:xfrm>
              <a:prstGeom prst="parallelogram">
                <a:avLst>
                  <a:gd name="adj" fmla="val 48207"/>
                </a:avLst>
              </a:prstGeom>
              <a:noFill/>
              <a:ln w="158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28" tIns="45714" rIns="91428" bIns="45714" rtlCol="0" anchor="ctr"/>
              <a:p>
                <a:endParaRPr lang="zh-CN" altLang="en-US" sz="2135" b="1">
                  <a:solidFill>
                    <a:schemeClr val="tx1">
                      <a:lumMod val="75000"/>
                      <a:lumOff val="25000"/>
                    </a:schemeClr>
                  </a:solidFill>
                </a:endParaRPr>
              </a:p>
            </p:txBody>
          </p:sp>
        </p:grpSp>
      </p:grpSp>
    </p:spTree>
  </p:cSld>
  <p:clrMapOvr>
    <a:masterClrMapping/>
  </p:clrMapOvr>
  <mc:AlternateContent xmlns:mc="http://schemas.openxmlformats.org/markup-compatibility/2006">
    <mc:Choice xmlns:p14="http://schemas.microsoft.com/office/powerpoint/2010/main" Requires="p14">
      <p:transition spd="slow" p14:dur="1200" advTm="0">
        <p:random/>
      </p:transition>
    </mc:Choice>
    <mc:Fallback>
      <p:transition spd="slow" advTm="0">
        <p:random/>
      </p:transition>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1072616" y="2766880"/>
            <a:ext cx="3008009" cy="662297"/>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4265" b="1" dirty="0">
                <a:solidFill>
                  <a:srgbClr val="0070C0"/>
                </a:solidFill>
                <a:latin typeface="微软雅黑" panose="020B0503020204020204" pitchFamily="34" charset="-122"/>
                <a:ea typeface="微软雅黑" panose="020B0503020204020204" pitchFamily="34" charset="-122"/>
              </a:rPr>
              <a:t>目录</a:t>
            </a:r>
            <a:endParaRPr lang="zh-CN" altLang="en-US" sz="4265" b="1" dirty="0">
              <a:solidFill>
                <a:srgbClr val="0070C0"/>
              </a:solidFill>
              <a:latin typeface="微软雅黑" panose="020B0503020204020204" pitchFamily="34" charset="-122"/>
              <a:ea typeface="微软雅黑" panose="020B0503020204020204" pitchFamily="34" charset="-122"/>
            </a:endParaRPr>
          </a:p>
          <a:p>
            <a:pPr marL="0" indent="0" algn="ctr">
              <a:buNone/>
            </a:pP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rPr>
              <a:t>Contents</a:t>
            </a:r>
            <a:endPar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45" name="组合 44"/>
          <p:cNvGrpSpPr/>
          <p:nvPr/>
        </p:nvGrpSpPr>
        <p:grpSpPr>
          <a:xfrm>
            <a:off x="4560620" y="1820061"/>
            <a:ext cx="1192198" cy="666115"/>
            <a:chOff x="2215144" y="927951"/>
            <a:chExt cx="1244730" cy="916038"/>
          </a:xfrm>
        </p:grpSpPr>
        <p:sp>
          <p:nvSpPr>
            <p:cNvPr id="46" name="平行四边形 45"/>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47" name="文本框 9"/>
            <p:cNvSpPr txBox="1"/>
            <p:nvPr/>
          </p:nvSpPr>
          <p:spPr>
            <a:xfrm>
              <a:off x="2393075" y="927951"/>
              <a:ext cx="1066799" cy="916038"/>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rPr>
                <a:t>01</a:t>
              </a:r>
              <a:endParaRPr lang="zh-CN" altLang="en-US" sz="3735" dirty="0">
                <a:solidFill>
                  <a:schemeClr val="bg1"/>
                </a:solidFill>
                <a:latin typeface="Impact" panose="020B0806030902050204" pitchFamily="34" charset="0"/>
              </a:endParaRPr>
            </a:p>
          </p:txBody>
        </p:sp>
      </p:grpSp>
      <p:grpSp>
        <p:nvGrpSpPr>
          <p:cNvPr id="48" name="组合 47"/>
          <p:cNvGrpSpPr/>
          <p:nvPr/>
        </p:nvGrpSpPr>
        <p:grpSpPr>
          <a:xfrm>
            <a:off x="4560620" y="2726101"/>
            <a:ext cx="1192198" cy="672134"/>
            <a:chOff x="2215144" y="1952311"/>
            <a:chExt cx="1244730" cy="924318"/>
          </a:xfrm>
        </p:grpSpPr>
        <p:sp>
          <p:nvSpPr>
            <p:cNvPr id="49" name="平行四边形 48"/>
            <p:cNvSpPr/>
            <p:nvPr/>
          </p:nvSpPr>
          <p:spPr>
            <a:xfrm>
              <a:off x="2215144" y="2033848"/>
              <a:ext cx="1120898" cy="842781"/>
            </a:xfrm>
            <a:prstGeom prst="parallelogram">
              <a:avLst>
                <a:gd name="adj" fmla="val 4820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0" name="文本框 10"/>
            <p:cNvSpPr txBox="1"/>
            <p:nvPr/>
          </p:nvSpPr>
          <p:spPr>
            <a:xfrm>
              <a:off x="2393075" y="1952311"/>
              <a:ext cx="1066799" cy="916040"/>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rPr>
                <a:t>02</a:t>
              </a:r>
              <a:endParaRPr lang="zh-CN" altLang="en-US" sz="3735" dirty="0">
                <a:solidFill>
                  <a:schemeClr val="bg1"/>
                </a:solidFill>
                <a:latin typeface="Impact" panose="020B0806030902050204" pitchFamily="34" charset="0"/>
              </a:endParaRPr>
            </a:p>
          </p:txBody>
        </p:sp>
      </p:grpSp>
      <p:grpSp>
        <p:nvGrpSpPr>
          <p:cNvPr id="51" name="组合 50"/>
          <p:cNvGrpSpPr/>
          <p:nvPr/>
        </p:nvGrpSpPr>
        <p:grpSpPr>
          <a:xfrm>
            <a:off x="4560620" y="3661783"/>
            <a:ext cx="1192198" cy="666115"/>
            <a:chOff x="2215144" y="3018134"/>
            <a:chExt cx="1244730" cy="916038"/>
          </a:xfrm>
        </p:grpSpPr>
        <p:sp>
          <p:nvSpPr>
            <p:cNvPr id="52" name="平行四边形 51"/>
            <p:cNvSpPr/>
            <p:nvPr/>
          </p:nvSpPr>
          <p:spPr>
            <a:xfrm>
              <a:off x="2215144" y="3084852"/>
              <a:ext cx="1120898" cy="842781"/>
            </a:xfrm>
            <a:prstGeom prst="parallelogram">
              <a:avLst>
                <a:gd name="adj" fmla="val 4820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3" name="文本框 11"/>
            <p:cNvSpPr txBox="1"/>
            <p:nvPr/>
          </p:nvSpPr>
          <p:spPr>
            <a:xfrm>
              <a:off x="2393075" y="3018134"/>
              <a:ext cx="1066799" cy="916038"/>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rPr>
                <a:t>03</a:t>
              </a:r>
              <a:endParaRPr lang="zh-CN" altLang="en-US" sz="3735" dirty="0">
                <a:solidFill>
                  <a:schemeClr val="bg1"/>
                </a:solidFill>
                <a:latin typeface="Impact" panose="020B0806030902050204" pitchFamily="34" charset="0"/>
              </a:endParaRPr>
            </a:p>
          </p:txBody>
        </p:sp>
      </p:grpSp>
      <p:grpSp>
        <p:nvGrpSpPr>
          <p:cNvPr id="54" name="组合 53"/>
          <p:cNvGrpSpPr/>
          <p:nvPr/>
        </p:nvGrpSpPr>
        <p:grpSpPr>
          <a:xfrm>
            <a:off x="4560620" y="4571657"/>
            <a:ext cx="1192198" cy="677428"/>
            <a:chOff x="2215144" y="4047039"/>
            <a:chExt cx="1244730" cy="931598"/>
          </a:xfrm>
        </p:grpSpPr>
        <p:sp>
          <p:nvSpPr>
            <p:cNvPr id="55" name="平行四边形 54"/>
            <p:cNvSpPr/>
            <p:nvPr/>
          </p:nvSpPr>
          <p:spPr>
            <a:xfrm>
              <a:off x="2215144" y="4135856"/>
              <a:ext cx="1120898" cy="842781"/>
            </a:xfrm>
            <a:prstGeom prst="parallelogram">
              <a:avLst>
                <a:gd name="adj" fmla="val 4820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6" name="文本框 12"/>
            <p:cNvSpPr txBox="1"/>
            <p:nvPr/>
          </p:nvSpPr>
          <p:spPr>
            <a:xfrm>
              <a:off x="2393075" y="4047039"/>
              <a:ext cx="1066799" cy="916040"/>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rPr>
                <a:t>04</a:t>
              </a:r>
              <a:endParaRPr lang="zh-CN" altLang="en-US" sz="3735" dirty="0">
                <a:solidFill>
                  <a:schemeClr val="bg1"/>
                </a:solidFill>
                <a:latin typeface="Impact" panose="020B0806030902050204" pitchFamily="34" charset="0"/>
              </a:endParaRPr>
            </a:p>
          </p:txBody>
        </p:sp>
      </p:grpSp>
      <p:grpSp>
        <p:nvGrpSpPr>
          <p:cNvPr id="60" name="组合 59"/>
          <p:cNvGrpSpPr/>
          <p:nvPr/>
        </p:nvGrpSpPr>
        <p:grpSpPr>
          <a:xfrm>
            <a:off x="5466158" y="1838062"/>
            <a:ext cx="5410803" cy="612844"/>
            <a:chOff x="4315150" y="953426"/>
            <a:chExt cx="3857250" cy="540057"/>
          </a:xfrm>
        </p:grpSpPr>
        <p:sp>
          <p:nvSpPr>
            <p:cNvPr id="61" name="矩形 60"/>
            <p:cNvSpPr/>
            <p:nvPr/>
          </p:nvSpPr>
          <p:spPr>
            <a:xfrm>
              <a:off x="4841406" y="1036234"/>
              <a:ext cx="3330416" cy="404577"/>
            </a:xfrm>
            <a:prstGeom prst="rect">
              <a:avLst/>
            </a:prstGeom>
            <a:ln w="15875">
              <a:noFill/>
            </a:ln>
          </p:spPr>
          <p:txBody>
            <a:bodyPr wrap="square" lIns="91428" tIns="45714" rIns="91428" bIns="45714">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场景法设计测试用例的基本原理</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28" tIns="45714" rIns="91428" bIns="45714" rtlCol="0" anchor="ctr"/>
            <a:lstStyle/>
            <a:p>
              <a:endParaRPr lang="zh-CN" altLang="en-US" sz="2135" b="1">
                <a:solidFill>
                  <a:schemeClr val="tx1">
                    <a:lumMod val="75000"/>
                    <a:lumOff val="25000"/>
                  </a:schemeClr>
                </a:solidFill>
              </a:endParaRPr>
            </a:p>
          </p:txBody>
        </p:sp>
      </p:grpSp>
      <p:grpSp>
        <p:nvGrpSpPr>
          <p:cNvPr id="63" name="组合 62"/>
          <p:cNvGrpSpPr/>
          <p:nvPr/>
        </p:nvGrpSpPr>
        <p:grpSpPr>
          <a:xfrm>
            <a:off x="5466158" y="2763144"/>
            <a:ext cx="5410167" cy="612699"/>
            <a:chOff x="4315150" y="1647579"/>
            <a:chExt cx="3857250" cy="540057"/>
          </a:xfrm>
        </p:grpSpPr>
        <p:sp>
          <p:nvSpPr>
            <p:cNvPr id="64" name="矩形 63"/>
            <p:cNvSpPr/>
            <p:nvPr/>
          </p:nvSpPr>
          <p:spPr>
            <a:xfrm>
              <a:off x="4841159" y="1730406"/>
              <a:ext cx="3286879" cy="404673"/>
            </a:xfrm>
            <a:prstGeom prst="rect">
              <a:avLst/>
            </a:prstGeom>
            <a:ln w="15875">
              <a:noFill/>
            </a:ln>
          </p:spPr>
          <p:txBody>
            <a:bodyPr wrap="square" lIns="91428" tIns="45714" rIns="91428" bIns="45714">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场景法设计测试用例的基本概念</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28" tIns="45714" rIns="91428" bIns="45714" rtlCol="0" anchor="ctr"/>
            <a:lstStyle/>
            <a:p>
              <a:endParaRPr lang="zh-CN" altLang="en-US" sz="2135" b="1">
                <a:solidFill>
                  <a:schemeClr val="tx1">
                    <a:lumMod val="75000"/>
                    <a:lumOff val="25000"/>
                  </a:schemeClr>
                </a:solidFill>
              </a:endParaRPr>
            </a:p>
          </p:txBody>
        </p:sp>
      </p:grpSp>
      <p:grpSp>
        <p:nvGrpSpPr>
          <p:cNvPr id="66" name="组合 65"/>
          <p:cNvGrpSpPr/>
          <p:nvPr/>
        </p:nvGrpSpPr>
        <p:grpSpPr>
          <a:xfrm>
            <a:off x="5466158" y="3688859"/>
            <a:ext cx="5410167" cy="612699"/>
            <a:chOff x="4315150" y="2341731"/>
            <a:chExt cx="3857250" cy="540057"/>
          </a:xfrm>
        </p:grpSpPr>
        <p:sp>
          <p:nvSpPr>
            <p:cNvPr id="67" name="矩形 66"/>
            <p:cNvSpPr/>
            <p:nvPr/>
          </p:nvSpPr>
          <p:spPr>
            <a:xfrm>
              <a:off x="4841197" y="2424395"/>
              <a:ext cx="2827146" cy="404673"/>
            </a:xfrm>
            <a:prstGeom prst="rect">
              <a:avLst/>
            </a:prstGeom>
            <a:ln w="15875">
              <a:noFill/>
            </a:ln>
          </p:spPr>
          <p:txBody>
            <a:bodyPr wrap="square" lIns="91428" tIns="45714" rIns="91428" bIns="45714">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场景法设计测试用例的步骤</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28" tIns="45714" rIns="91428" bIns="45714" rtlCol="0" anchor="ctr"/>
            <a:lstStyle/>
            <a:p>
              <a:endParaRPr lang="zh-CN" altLang="en-US" sz="2135" b="1">
                <a:solidFill>
                  <a:schemeClr val="tx1">
                    <a:lumMod val="75000"/>
                    <a:lumOff val="25000"/>
                  </a:schemeClr>
                </a:solidFill>
              </a:endParaRPr>
            </a:p>
          </p:txBody>
        </p:sp>
      </p:grpSp>
      <p:grpSp>
        <p:nvGrpSpPr>
          <p:cNvPr id="69" name="组合 68"/>
          <p:cNvGrpSpPr/>
          <p:nvPr/>
        </p:nvGrpSpPr>
        <p:grpSpPr>
          <a:xfrm>
            <a:off x="5466158" y="4613940"/>
            <a:ext cx="5410803" cy="612699"/>
            <a:chOff x="4315150" y="3035884"/>
            <a:chExt cx="3857250" cy="540057"/>
          </a:xfrm>
        </p:grpSpPr>
        <p:sp>
          <p:nvSpPr>
            <p:cNvPr id="70" name="矩形 69"/>
            <p:cNvSpPr/>
            <p:nvPr/>
          </p:nvSpPr>
          <p:spPr>
            <a:xfrm>
              <a:off x="4841196" y="3118548"/>
              <a:ext cx="2827147" cy="404673"/>
            </a:xfrm>
            <a:prstGeom prst="rect">
              <a:avLst/>
            </a:prstGeom>
            <a:ln w="15875">
              <a:noFill/>
            </a:ln>
          </p:spPr>
          <p:txBody>
            <a:bodyPr wrap="square" lIns="91428" tIns="45714" rIns="91428" bIns="45714">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场景法设计测试用例举例 </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28" tIns="45714" rIns="91428" bIns="45714" rtlCol="0" anchor="ctr"/>
            <a:lstStyle/>
            <a:p>
              <a:endParaRPr lang="zh-CN" altLang="en-US" sz="2135" b="1">
                <a:solidFill>
                  <a:schemeClr val="tx1">
                    <a:lumMod val="75000"/>
                    <a:lumOff val="25000"/>
                  </a:schemeClr>
                </a:solidFill>
              </a:endParaRPr>
            </a:p>
          </p:txBody>
        </p:sp>
      </p:grpSp>
      <p:sp>
        <p:nvSpPr>
          <p:cNvPr id="81" name="等腰三角形 80"/>
          <p:cNvSpPr/>
          <p:nvPr/>
        </p:nvSpPr>
        <p:spPr>
          <a:xfrm>
            <a:off x="-125097" y="4437552"/>
            <a:ext cx="3457976" cy="2583868"/>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2" name="等腰三角形 81"/>
          <p:cNvSpPr/>
          <p:nvPr/>
        </p:nvSpPr>
        <p:spPr>
          <a:xfrm>
            <a:off x="1349386" y="5033276"/>
            <a:ext cx="2606805" cy="1947857"/>
          </a:xfrm>
          <a:prstGeom prst="triangle">
            <a:avLst/>
          </a:prstGeom>
          <a:solidFill>
            <a:schemeClr val="accent4">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cSld>
  <p:clrMapOvr>
    <a:masterClrMapping/>
  </p:clrMapOvr>
  <p:transition advTm="4633">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1000"/>
                                        <p:tgtEl>
                                          <p:spTgt spid="81"/>
                                        </p:tgtEl>
                                      </p:cBhvr>
                                    </p:animEffect>
                                    <p:anim calcmode="lin" valueType="num">
                                      <p:cBhvr>
                                        <p:cTn id="8" dur="1000" fill="hold"/>
                                        <p:tgtEl>
                                          <p:spTgt spid="81"/>
                                        </p:tgtEl>
                                        <p:attrNameLst>
                                          <p:attrName>ppt_x</p:attrName>
                                        </p:attrNameLst>
                                      </p:cBhvr>
                                      <p:tavLst>
                                        <p:tav tm="0">
                                          <p:val>
                                            <p:strVal val="#ppt_x"/>
                                          </p:val>
                                        </p:tav>
                                        <p:tav tm="100000">
                                          <p:val>
                                            <p:strVal val="#ppt_x"/>
                                          </p:val>
                                        </p:tav>
                                      </p:tavLst>
                                    </p:anim>
                                    <p:anim calcmode="lin" valueType="num">
                                      <p:cBhvr>
                                        <p:cTn id="9" dur="1000" fill="hold"/>
                                        <p:tgtEl>
                                          <p:spTgt spid="8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2"/>
                                        </p:tgtEl>
                                        <p:attrNameLst>
                                          <p:attrName>style.visibility</p:attrName>
                                        </p:attrNameLst>
                                      </p:cBhvr>
                                      <p:to>
                                        <p:strVal val="visible"/>
                                      </p:to>
                                    </p:set>
                                    <p:animEffect transition="in" filter="fade">
                                      <p:cBhvr>
                                        <p:cTn id="12" dur="1000"/>
                                        <p:tgtEl>
                                          <p:spTgt spid="82"/>
                                        </p:tgtEl>
                                      </p:cBhvr>
                                    </p:animEffect>
                                    <p:anim calcmode="lin" valueType="num">
                                      <p:cBhvr>
                                        <p:cTn id="13" dur="1000" fill="hold"/>
                                        <p:tgtEl>
                                          <p:spTgt spid="82"/>
                                        </p:tgtEl>
                                        <p:attrNameLst>
                                          <p:attrName>ppt_x</p:attrName>
                                        </p:attrNameLst>
                                      </p:cBhvr>
                                      <p:tavLst>
                                        <p:tav tm="0">
                                          <p:val>
                                            <p:strVal val="#ppt_x"/>
                                          </p:val>
                                        </p:tav>
                                        <p:tav tm="100000">
                                          <p:val>
                                            <p:strVal val="#ppt_x"/>
                                          </p:val>
                                        </p:tav>
                                      </p:tavLst>
                                    </p:anim>
                                    <p:anim calcmode="lin" valueType="num">
                                      <p:cBhvr>
                                        <p:cTn id="14" dur="1000" fill="hold"/>
                                        <p:tgtEl>
                                          <p:spTgt spid="82"/>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7" presetClass="entr" presetSubtype="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1000"/>
                                        <p:tgtEl>
                                          <p:spTgt spid="15"/>
                                        </p:tgtEl>
                                      </p:cBhvr>
                                    </p:animEffect>
                                    <p:anim calcmode="lin" valueType="num">
                                      <p:cBhvr>
                                        <p:cTn id="19" dur="1000" fill="hold"/>
                                        <p:tgtEl>
                                          <p:spTgt spid="15"/>
                                        </p:tgtEl>
                                        <p:attrNameLst>
                                          <p:attrName>ppt_x</p:attrName>
                                        </p:attrNameLst>
                                      </p:cBhvr>
                                      <p:tavLst>
                                        <p:tav tm="0">
                                          <p:val>
                                            <p:strVal val="#ppt_x"/>
                                          </p:val>
                                        </p:tav>
                                        <p:tav tm="100000">
                                          <p:val>
                                            <p:strVal val="#ppt_x"/>
                                          </p:val>
                                        </p:tav>
                                      </p:tavLst>
                                    </p:anim>
                                    <p:anim calcmode="lin" valueType="num">
                                      <p:cBhvr>
                                        <p:cTn id="20" dur="1000" fill="hold"/>
                                        <p:tgtEl>
                                          <p:spTgt spid="15"/>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2" presetClass="entr" presetSubtype="8" fill="hold" nodeType="afterEffect">
                                  <p:stCondLst>
                                    <p:cond delay="0"/>
                                  </p:stCondLst>
                                  <p:childTnLst>
                                    <p:set>
                                      <p:cBhvr>
                                        <p:cTn id="23" dur="1" fill="hold">
                                          <p:stCondLst>
                                            <p:cond delay="0"/>
                                          </p:stCondLst>
                                        </p:cTn>
                                        <p:tgtEl>
                                          <p:spTgt spid="45"/>
                                        </p:tgtEl>
                                        <p:attrNameLst>
                                          <p:attrName>style.visibility</p:attrName>
                                        </p:attrNameLst>
                                      </p:cBhvr>
                                      <p:to>
                                        <p:strVal val="visible"/>
                                      </p:to>
                                    </p:set>
                                    <p:anim calcmode="lin" valueType="num">
                                      <p:cBhvr additive="base">
                                        <p:cTn id="24" dur="500" fill="hold"/>
                                        <p:tgtEl>
                                          <p:spTgt spid="45"/>
                                        </p:tgtEl>
                                        <p:attrNameLst>
                                          <p:attrName>ppt_x</p:attrName>
                                        </p:attrNameLst>
                                      </p:cBhvr>
                                      <p:tavLst>
                                        <p:tav tm="0">
                                          <p:val>
                                            <p:strVal val="0-#ppt_w/2"/>
                                          </p:val>
                                        </p:tav>
                                        <p:tav tm="100000">
                                          <p:val>
                                            <p:strVal val="#ppt_x"/>
                                          </p:val>
                                        </p:tav>
                                      </p:tavLst>
                                    </p:anim>
                                    <p:anim calcmode="lin" valueType="num">
                                      <p:cBhvr additive="base">
                                        <p:cTn id="25" dur="500" fill="hold"/>
                                        <p:tgtEl>
                                          <p:spTgt spid="45"/>
                                        </p:tgtEl>
                                        <p:attrNameLst>
                                          <p:attrName>ppt_y</p:attrName>
                                        </p:attrNameLst>
                                      </p:cBhvr>
                                      <p:tavLst>
                                        <p:tav tm="0">
                                          <p:val>
                                            <p:strVal val="#ppt_y"/>
                                          </p:val>
                                        </p:tav>
                                        <p:tav tm="100000">
                                          <p:val>
                                            <p:strVal val="#ppt_y"/>
                                          </p:val>
                                        </p:tav>
                                      </p:tavLst>
                                    </p:anim>
                                  </p:childTnLst>
                                </p:cTn>
                              </p:par>
                              <p:par>
                                <p:cTn id="26" presetID="2" presetClass="entr" presetSubtype="8" fill="hold" nodeType="withEffect">
                                  <p:stCondLst>
                                    <p:cond delay="0"/>
                                  </p:stCondLst>
                                  <p:childTnLst>
                                    <p:set>
                                      <p:cBhvr>
                                        <p:cTn id="27" dur="1" fill="hold">
                                          <p:stCondLst>
                                            <p:cond delay="0"/>
                                          </p:stCondLst>
                                        </p:cTn>
                                        <p:tgtEl>
                                          <p:spTgt spid="60"/>
                                        </p:tgtEl>
                                        <p:attrNameLst>
                                          <p:attrName>style.visibility</p:attrName>
                                        </p:attrNameLst>
                                      </p:cBhvr>
                                      <p:to>
                                        <p:strVal val="visible"/>
                                      </p:to>
                                    </p:set>
                                    <p:anim calcmode="lin" valueType="num">
                                      <p:cBhvr additive="base">
                                        <p:cTn id="28" dur="500" fill="hold"/>
                                        <p:tgtEl>
                                          <p:spTgt spid="60"/>
                                        </p:tgtEl>
                                        <p:attrNameLst>
                                          <p:attrName>ppt_x</p:attrName>
                                        </p:attrNameLst>
                                      </p:cBhvr>
                                      <p:tavLst>
                                        <p:tav tm="0">
                                          <p:val>
                                            <p:strVal val="0-#ppt_w/2"/>
                                          </p:val>
                                        </p:tav>
                                        <p:tav tm="100000">
                                          <p:val>
                                            <p:strVal val="#ppt_x"/>
                                          </p:val>
                                        </p:tav>
                                      </p:tavLst>
                                    </p:anim>
                                    <p:anim calcmode="lin" valueType="num">
                                      <p:cBhvr additive="base">
                                        <p:cTn id="29" dur="500" fill="hold"/>
                                        <p:tgtEl>
                                          <p:spTgt spid="60"/>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 presetClass="entr" presetSubtype="2" fill="hold" nodeType="afterEffect">
                                  <p:stCondLst>
                                    <p:cond delay="0"/>
                                  </p:stCondLst>
                                  <p:childTnLst>
                                    <p:set>
                                      <p:cBhvr>
                                        <p:cTn id="32" dur="1" fill="hold">
                                          <p:stCondLst>
                                            <p:cond delay="0"/>
                                          </p:stCondLst>
                                        </p:cTn>
                                        <p:tgtEl>
                                          <p:spTgt spid="48"/>
                                        </p:tgtEl>
                                        <p:attrNameLst>
                                          <p:attrName>style.visibility</p:attrName>
                                        </p:attrNameLst>
                                      </p:cBhvr>
                                      <p:to>
                                        <p:strVal val="visible"/>
                                      </p:to>
                                    </p:set>
                                    <p:anim calcmode="lin" valueType="num">
                                      <p:cBhvr additive="base">
                                        <p:cTn id="33" dur="500" fill="hold"/>
                                        <p:tgtEl>
                                          <p:spTgt spid="48"/>
                                        </p:tgtEl>
                                        <p:attrNameLst>
                                          <p:attrName>ppt_x</p:attrName>
                                        </p:attrNameLst>
                                      </p:cBhvr>
                                      <p:tavLst>
                                        <p:tav tm="0">
                                          <p:val>
                                            <p:strVal val="1+#ppt_w/2"/>
                                          </p:val>
                                        </p:tav>
                                        <p:tav tm="100000">
                                          <p:val>
                                            <p:strVal val="#ppt_x"/>
                                          </p:val>
                                        </p:tav>
                                      </p:tavLst>
                                    </p:anim>
                                    <p:anim calcmode="lin" valueType="num">
                                      <p:cBhvr additive="base">
                                        <p:cTn id="34" dur="500" fill="hold"/>
                                        <p:tgtEl>
                                          <p:spTgt spid="48"/>
                                        </p:tgtEl>
                                        <p:attrNameLst>
                                          <p:attrName>ppt_y</p:attrName>
                                        </p:attrNameLst>
                                      </p:cBhvr>
                                      <p:tavLst>
                                        <p:tav tm="0">
                                          <p:val>
                                            <p:strVal val="#ppt_y"/>
                                          </p:val>
                                        </p:tav>
                                        <p:tav tm="100000">
                                          <p:val>
                                            <p:strVal val="#ppt_y"/>
                                          </p:val>
                                        </p:tav>
                                      </p:tavLst>
                                    </p:anim>
                                  </p:childTnLst>
                                </p:cTn>
                              </p:par>
                              <p:par>
                                <p:cTn id="35" presetID="2" presetClass="entr" presetSubtype="2" fill="hold" nodeType="withEffect">
                                  <p:stCondLst>
                                    <p:cond delay="0"/>
                                  </p:stCondLst>
                                  <p:childTnLst>
                                    <p:set>
                                      <p:cBhvr>
                                        <p:cTn id="36" dur="1" fill="hold">
                                          <p:stCondLst>
                                            <p:cond delay="0"/>
                                          </p:stCondLst>
                                        </p:cTn>
                                        <p:tgtEl>
                                          <p:spTgt spid="63"/>
                                        </p:tgtEl>
                                        <p:attrNameLst>
                                          <p:attrName>style.visibility</p:attrName>
                                        </p:attrNameLst>
                                      </p:cBhvr>
                                      <p:to>
                                        <p:strVal val="visible"/>
                                      </p:to>
                                    </p:set>
                                    <p:anim calcmode="lin" valueType="num">
                                      <p:cBhvr additive="base">
                                        <p:cTn id="37" dur="500" fill="hold"/>
                                        <p:tgtEl>
                                          <p:spTgt spid="63"/>
                                        </p:tgtEl>
                                        <p:attrNameLst>
                                          <p:attrName>ppt_x</p:attrName>
                                        </p:attrNameLst>
                                      </p:cBhvr>
                                      <p:tavLst>
                                        <p:tav tm="0">
                                          <p:val>
                                            <p:strVal val="1+#ppt_w/2"/>
                                          </p:val>
                                        </p:tav>
                                        <p:tav tm="100000">
                                          <p:val>
                                            <p:strVal val="#ppt_x"/>
                                          </p:val>
                                        </p:tav>
                                      </p:tavLst>
                                    </p:anim>
                                    <p:anim calcmode="lin" valueType="num">
                                      <p:cBhvr additive="base">
                                        <p:cTn id="38" dur="500" fill="hold"/>
                                        <p:tgtEl>
                                          <p:spTgt spid="63"/>
                                        </p:tgtEl>
                                        <p:attrNameLst>
                                          <p:attrName>ppt_y</p:attrName>
                                        </p:attrNameLst>
                                      </p:cBhvr>
                                      <p:tavLst>
                                        <p:tav tm="0">
                                          <p:val>
                                            <p:strVal val="#ppt_y"/>
                                          </p:val>
                                        </p:tav>
                                        <p:tav tm="100000">
                                          <p:val>
                                            <p:strVal val="#ppt_y"/>
                                          </p:val>
                                        </p:tav>
                                      </p:tavLst>
                                    </p:anim>
                                  </p:childTnLst>
                                </p:cTn>
                              </p:par>
                            </p:childTnLst>
                          </p:cTn>
                        </p:par>
                        <p:par>
                          <p:cTn id="39" fill="hold">
                            <p:stCondLst>
                              <p:cond delay="3000"/>
                            </p:stCondLst>
                            <p:childTnLst>
                              <p:par>
                                <p:cTn id="40" presetID="2" presetClass="entr" presetSubtype="8" fill="hold" nodeType="afterEffect">
                                  <p:stCondLst>
                                    <p:cond delay="0"/>
                                  </p:stCondLst>
                                  <p:childTnLst>
                                    <p:set>
                                      <p:cBhvr>
                                        <p:cTn id="41" dur="1" fill="hold">
                                          <p:stCondLst>
                                            <p:cond delay="0"/>
                                          </p:stCondLst>
                                        </p:cTn>
                                        <p:tgtEl>
                                          <p:spTgt spid="51"/>
                                        </p:tgtEl>
                                        <p:attrNameLst>
                                          <p:attrName>style.visibility</p:attrName>
                                        </p:attrNameLst>
                                      </p:cBhvr>
                                      <p:to>
                                        <p:strVal val="visible"/>
                                      </p:to>
                                    </p:set>
                                    <p:anim calcmode="lin" valueType="num">
                                      <p:cBhvr additive="base">
                                        <p:cTn id="42" dur="500" fill="hold"/>
                                        <p:tgtEl>
                                          <p:spTgt spid="51"/>
                                        </p:tgtEl>
                                        <p:attrNameLst>
                                          <p:attrName>ppt_x</p:attrName>
                                        </p:attrNameLst>
                                      </p:cBhvr>
                                      <p:tavLst>
                                        <p:tav tm="0">
                                          <p:val>
                                            <p:strVal val="0-#ppt_w/2"/>
                                          </p:val>
                                        </p:tav>
                                        <p:tav tm="100000">
                                          <p:val>
                                            <p:strVal val="#ppt_x"/>
                                          </p:val>
                                        </p:tav>
                                      </p:tavLst>
                                    </p:anim>
                                    <p:anim calcmode="lin" valueType="num">
                                      <p:cBhvr additive="base">
                                        <p:cTn id="43" dur="500" fill="hold"/>
                                        <p:tgtEl>
                                          <p:spTgt spid="51"/>
                                        </p:tgtEl>
                                        <p:attrNameLst>
                                          <p:attrName>ppt_y</p:attrName>
                                        </p:attrNameLst>
                                      </p:cBhvr>
                                      <p:tavLst>
                                        <p:tav tm="0">
                                          <p:val>
                                            <p:strVal val="#ppt_y"/>
                                          </p:val>
                                        </p:tav>
                                        <p:tav tm="100000">
                                          <p:val>
                                            <p:strVal val="#ppt_y"/>
                                          </p:val>
                                        </p:tav>
                                      </p:tavLst>
                                    </p:anim>
                                  </p:childTnLst>
                                </p:cTn>
                              </p:par>
                              <p:par>
                                <p:cTn id="44" presetID="2" presetClass="entr" presetSubtype="8" fill="hold" nodeType="withEffect">
                                  <p:stCondLst>
                                    <p:cond delay="0"/>
                                  </p:stCondLst>
                                  <p:childTnLst>
                                    <p:set>
                                      <p:cBhvr>
                                        <p:cTn id="45" dur="1" fill="hold">
                                          <p:stCondLst>
                                            <p:cond delay="0"/>
                                          </p:stCondLst>
                                        </p:cTn>
                                        <p:tgtEl>
                                          <p:spTgt spid="66"/>
                                        </p:tgtEl>
                                        <p:attrNameLst>
                                          <p:attrName>style.visibility</p:attrName>
                                        </p:attrNameLst>
                                      </p:cBhvr>
                                      <p:to>
                                        <p:strVal val="visible"/>
                                      </p:to>
                                    </p:set>
                                    <p:anim calcmode="lin" valueType="num">
                                      <p:cBhvr additive="base">
                                        <p:cTn id="46" dur="500" fill="hold"/>
                                        <p:tgtEl>
                                          <p:spTgt spid="66"/>
                                        </p:tgtEl>
                                        <p:attrNameLst>
                                          <p:attrName>ppt_x</p:attrName>
                                        </p:attrNameLst>
                                      </p:cBhvr>
                                      <p:tavLst>
                                        <p:tav tm="0">
                                          <p:val>
                                            <p:strVal val="0-#ppt_w/2"/>
                                          </p:val>
                                        </p:tav>
                                        <p:tav tm="100000">
                                          <p:val>
                                            <p:strVal val="#ppt_x"/>
                                          </p:val>
                                        </p:tav>
                                      </p:tavLst>
                                    </p:anim>
                                    <p:anim calcmode="lin" valueType="num">
                                      <p:cBhvr additive="base">
                                        <p:cTn id="47" dur="500" fill="hold"/>
                                        <p:tgtEl>
                                          <p:spTgt spid="66"/>
                                        </p:tgtEl>
                                        <p:attrNameLst>
                                          <p:attrName>ppt_y</p:attrName>
                                        </p:attrNameLst>
                                      </p:cBhvr>
                                      <p:tavLst>
                                        <p:tav tm="0">
                                          <p:val>
                                            <p:strVal val="#ppt_y"/>
                                          </p:val>
                                        </p:tav>
                                        <p:tav tm="100000">
                                          <p:val>
                                            <p:strVal val="#ppt_y"/>
                                          </p:val>
                                        </p:tav>
                                      </p:tavLst>
                                    </p:anim>
                                  </p:childTnLst>
                                </p:cTn>
                              </p:par>
                            </p:childTnLst>
                          </p:cTn>
                        </p:par>
                        <p:par>
                          <p:cTn id="48" fill="hold">
                            <p:stCondLst>
                              <p:cond delay="3500"/>
                            </p:stCondLst>
                            <p:childTnLst>
                              <p:par>
                                <p:cTn id="49" presetID="2" presetClass="entr" presetSubtype="2" fill="hold" nodeType="afterEffect">
                                  <p:stCondLst>
                                    <p:cond delay="0"/>
                                  </p:stCondLst>
                                  <p:childTnLst>
                                    <p:set>
                                      <p:cBhvr>
                                        <p:cTn id="50" dur="1" fill="hold">
                                          <p:stCondLst>
                                            <p:cond delay="0"/>
                                          </p:stCondLst>
                                        </p:cTn>
                                        <p:tgtEl>
                                          <p:spTgt spid="54"/>
                                        </p:tgtEl>
                                        <p:attrNameLst>
                                          <p:attrName>style.visibility</p:attrName>
                                        </p:attrNameLst>
                                      </p:cBhvr>
                                      <p:to>
                                        <p:strVal val="visible"/>
                                      </p:to>
                                    </p:set>
                                    <p:anim calcmode="lin" valueType="num">
                                      <p:cBhvr additive="base">
                                        <p:cTn id="51" dur="500" fill="hold"/>
                                        <p:tgtEl>
                                          <p:spTgt spid="54"/>
                                        </p:tgtEl>
                                        <p:attrNameLst>
                                          <p:attrName>ppt_x</p:attrName>
                                        </p:attrNameLst>
                                      </p:cBhvr>
                                      <p:tavLst>
                                        <p:tav tm="0">
                                          <p:val>
                                            <p:strVal val="1+#ppt_w/2"/>
                                          </p:val>
                                        </p:tav>
                                        <p:tav tm="100000">
                                          <p:val>
                                            <p:strVal val="#ppt_x"/>
                                          </p:val>
                                        </p:tav>
                                      </p:tavLst>
                                    </p:anim>
                                    <p:anim calcmode="lin" valueType="num">
                                      <p:cBhvr additive="base">
                                        <p:cTn id="52" dur="500" fill="hold"/>
                                        <p:tgtEl>
                                          <p:spTgt spid="54"/>
                                        </p:tgtEl>
                                        <p:attrNameLst>
                                          <p:attrName>ppt_y</p:attrName>
                                        </p:attrNameLst>
                                      </p:cBhvr>
                                      <p:tavLst>
                                        <p:tav tm="0">
                                          <p:val>
                                            <p:strVal val="#ppt_y"/>
                                          </p:val>
                                        </p:tav>
                                        <p:tav tm="100000">
                                          <p:val>
                                            <p:strVal val="#ppt_y"/>
                                          </p:val>
                                        </p:tav>
                                      </p:tavLst>
                                    </p:anim>
                                  </p:childTnLst>
                                </p:cTn>
                              </p:par>
                              <p:par>
                                <p:cTn id="53" presetID="2" presetClass="entr" presetSubtype="2" fill="hold" nodeType="withEffect">
                                  <p:stCondLst>
                                    <p:cond delay="0"/>
                                  </p:stCondLst>
                                  <p:childTnLst>
                                    <p:set>
                                      <p:cBhvr>
                                        <p:cTn id="54" dur="1" fill="hold">
                                          <p:stCondLst>
                                            <p:cond delay="0"/>
                                          </p:stCondLst>
                                        </p:cTn>
                                        <p:tgtEl>
                                          <p:spTgt spid="69"/>
                                        </p:tgtEl>
                                        <p:attrNameLst>
                                          <p:attrName>style.visibility</p:attrName>
                                        </p:attrNameLst>
                                      </p:cBhvr>
                                      <p:to>
                                        <p:strVal val="visible"/>
                                      </p:to>
                                    </p:set>
                                    <p:anim calcmode="lin" valueType="num">
                                      <p:cBhvr additive="base">
                                        <p:cTn id="55" dur="500" fill="hold"/>
                                        <p:tgtEl>
                                          <p:spTgt spid="69"/>
                                        </p:tgtEl>
                                        <p:attrNameLst>
                                          <p:attrName>ppt_x</p:attrName>
                                        </p:attrNameLst>
                                      </p:cBhvr>
                                      <p:tavLst>
                                        <p:tav tm="0">
                                          <p:val>
                                            <p:strVal val="1+#ppt_w/2"/>
                                          </p:val>
                                        </p:tav>
                                        <p:tav tm="100000">
                                          <p:val>
                                            <p:strVal val="#ppt_x"/>
                                          </p:val>
                                        </p:tav>
                                      </p:tavLst>
                                    </p:anim>
                                    <p:anim calcmode="lin" valueType="num">
                                      <p:cBhvr additive="base">
                                        <p:cTn id="56" dur="500" fill="hold"/>
                                        <p:tgtEl>
                                          <p:spTgt spid="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1" grpId="0" bldLvl="0" animBg="1"/>
      <p:bldP spid="82" grpId="0" bldLvl="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105" y="1594058"/>
            <a:ext cx="2812399" cy="2101481"/>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2968110" y="3075802"/>
            <a:ext cx="7294880" cy="706755"/>
          </a:xfrm>
          <a:prstGeom prst="rect">
            <a:avLst/>
          </a:prstGeom>
          <a:noFill/>
        </p:spPr>
        <p:txBody>
          <a:bodyPr wrap="none" rtlCol="0">
            <a:spAutoFit/>
          </a:bodyPr>
          <a:lstStyle/>
          <a:p>
            <a:pPr algn="l"/>
            <a:r>
              <a:rPr lang="zh-CN" altLang="en-US" sz="4000" dirty="0">
                <a:solidFill>
                  <a:schemeClr val="tx1">
                    <a:lumMod val="75000"/>
                    <a:lumOff val="25000"/>
                  </a:schemeClr>
                </a:solidFill>
                <a:latin typeface="微软雅黑" panose="020B0503020204020204" pitchFamily="34" charset="-122"/>
                <a:ea typeface="微软雅黑" panose="020B0503020204020204" pitchFamily="34" charset="-122"/>
              </a:rPr>
              <a:t>场景法设计测试用例的基本原理</a:t>
            </a:r>
            <a:endParaRPr lang="zh-CN" altLang="en-US" sz="4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217" y="2656121"/>
            <a:ext cx="2069153" cy="1546112"/>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5702" y="2328231"/>
            <a:ext cx="3457976" cy="2583868"/>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8675" y="2883913"/>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01</a:t>
            </a:r>
            <a:endParaRPr lang="zh-CN" alt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177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499" y="57108"/>
            <a:ext cx="3974609" cy="55809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场景法设计测试用例的基本原理</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1869327" y="1407586"/>
            <a:ext cx="8252712" cy="5631180"/>
          </a:xfrm>
          <a:prstGeom prst="rect">
            <a:avLst/>
          </a:prstGeom>
          <a:noFill/>
        </p:spPr>
        <p:txBody>
          <a:bodyPr wrap="square" rtlCol="0">
            <a:spAutoFit/>
          </a:bodyPr>
          <a:p>
            <a:r>
              <a:rPr lang="zh-CN" altLang="en-US" sz="240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等价类、边界值、决策表</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单功能测试</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业务流程多</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a:gradFill>
                  <a:gsLst>
                    <a:gs pos="0">
                      <a:srgbClr val="FE4444"/>
                    </a:gs>
                    <a:gs pos="100000">
                      <a:srgbClr val="832B2B"/>
                    </a:gs>
                  </a:gsLst>
                  <a:lin scaled="0"/>
                </a:gradFill>
                <a:latin typeface="微软雅黑" panose="020B0503020204020204" pitchFamily="34" charset="-122"/>
                <a:ea typeface="微软雅黑" panose="020B0503020204020204" pitchFamily="34" charset="-122"/>
                <a:cs typeface="微软雅黑" panose="020B0503020204020204" pitchFamily="34" charset="-122"/>
              </a:rPr>
              <a:t>业务逻辑多</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80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80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为什么要使用场景法设计测试用例呢</a:t>
            </a:r>
            <a:r>
              <a:rPr lang="zh-CN" altLang="en-US" sz="280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80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lang="zh-CN" sz="2400">
                <a:latin typeface="微软雅黑" panose="020B0503020204020204" pitchFamily="34" charset="-122"/>
                <a:ea typeface="微软雅黑" panose="020B0503020204020204" pitchFamily="34" charset="-122"/>
                <a:cs typeface="微软雅黑" panose="020B0503020204020204" pitchFamily="34" charset="-122"/>
                <a:sym typeface="+mn-ea"/>
              </a:rPr>
              <a:t>场景法可以生动地描绘出事件触发时的情景，有利于设计测试用例，同时使测试用例更容易理解和执行。 </a:t>
            </a:r>
            <a:endParaRPr lang="zh-CN" sz="24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endParaRPr lang="zh-CN" altLang="en-US" sz="240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右箭头 18"/>
          <p:cNvSpPr/>
          <p:nvPr/>
        </p:nvSpPr>
        <p:spPr>
          <a:xfrm>
            <a:off x="6124571" y="1528857"/>
            <a:ext cx="1136510" cy="233017"/>
          </a:xfrm>
          <a:prstGeom prst="rightArrow">
            <a:avLst>
              <a:gd name="adj1" fmla="val 50000"/>
              <a:gd name="adj2" fmla="val 1375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直角上箭头 24"/>
          <p:cNvSpPr/>
          <p:nvPr/>
        </p:nvSpPr>
        <p:spPr>
          <a:xfrm>
            <a:off x="4407109" y="1916793"/>
            <a:ext cx="824129" cy="521906"/>
          </a:xfrm>
          <a:prstGeom prst="bentUpArrow">
            <a:avLst/>
          </a:prstGeom>
        </p:spPr>
        <p:style>
          <a:lnRef idx="1">
            <a:schemeClr val="accent1"/>
          </a:lnRef>
          <a:fillRef idx="2">
            <a:schemeClr val="accent1"/>
          </a:fillRef>
          <a:effectRef idx="1">
            <a:schemeClr val="accent1"/>
          </a:effectRef>
          <a:fontRef idx="minor">
            <a:schemeClr val="dk1"/>
          </a:fontRef>
        </p:style>
        <p:txBody>
          <a:bodyPr rtlCol="0" anchor="ctr"/>
          <a:p>
            <a:pPr algn="ctr"/>
            <a:endParaRPr lang="zh-CN" altLang="en-US"/>
          </a:p>
        </p:txBody>
      </p:sp>
      <p:sp>
        <p:nvSpPr>
          <p:cNvPr id="26" name="直角上箭头 25"/>
          <p:cNvSpPr/>
          <p:nvPr/>
        </p:nvSpPr>
        <p:spPr>
          <a:xfrm>
            <a:off x="8066162" y="1916793"/>
            <a:ext cx="824129" cy="521906"/>
          </a:xfrm>
          <a:prstGeom prst="bentUpArrow">
            <a:avLst/>
          </a:prstGeom>
        </p:spPr>
        <p:style>
          <a:lnRef idx="1">
            <a:schemeClr val="accent1"/>
          </a:lnRef>
          <a:fillRef idx="2">
            <a:schemeClr val="accent1"/>
          </a:fillRef>
          <a:effectRef idx="1">
            <a:schemeClr val="accent1"/>
          </a:effectRef>
          <a:fontRef idx="minor">
            <a:schemeClr val="dk1"/>
          </a:fontRef>
        </p:style>
        <p:txBody>
          <a:bodyPr rtlCol="0" anchor="ctr"/>
          <a:p>
            <a:pPr algn="ctr"/>
            <a:endParaRPr lang="zh-CN" altLang="en-US"/>
          </a:p>
        </p:txBody>
      </p:sp>
    </p:spTree>
  </p:cSld>
  <p:clrMapOvr>
    <a:masterClrMapping/>
  </p:clrMapOvr>
  <p:transition advTm="1310">
    <p:random/>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499" y="57108"/>
            <a:ext cx="3913657" cy="55809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sym typeface="+mn-ea"/>
              </a:rPr>
              <a:t>场景图设计测试用例的基本原理</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2038141" y="1657110"/>
            <a:ext cx="613410" cy="1356827"/>
          </a:xfrm>
          <a:prstGeom prst="rect">
            <a:avLst/>
          </a:prstGeom>
          <a:noFill/>
        </p:spPr>
        <p:txBody>
          <a:bodyPr vert="eaVert" wrap="square" rtlCol="0">
            <a:spAutoFit/>
          </a:bodyPr>
          <a:p>
            <a:r>
              <a:rPr lang="zh-CN" altLang="en-US" sz="2800">
                <a:latin typeface="微软雅黑" panose="020B0503020204020204" pitchFamily="34" charset="-122"/>
                <a:ea typeface="微软雅黑" panose="020B0503020204020204" pitchFamily="34" charset="-122"/>
              </a:rPr>
              <a:t>场景法</a:t>
            </a:r>
            <a:endParaRPr lang="zh-CN" altLang="en-US" sz="2800">
              <a:latin typeface="微软雅黑" panose="020B0503020204020204" pitchFamily="34" charset="-122"/>
              <a:ea typeface="微软雅黑" panose="020B0503020204020204" pitchFamily="34" charset="-122"/>
            </a:endParaRPr>
          </a:p>
        </p:txBody>
      </p:sp>
      <p:sp>
        <p:nvSpPr>
          <p:cNvPr id="19" name="左大括号 18"/>
          <p:cNvSpPr/>
          <p:nvPr/>
        </p:nvSpPr>
        <p:spPr>
          <a:xfrm>
            <a:off x="2733455" y="1351713"/>
            <a:ext cx="680001" cy="18184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21" name="文本框 20"/>
          <p:cNvSpPr txBox="1"/>
          <p:nvPr/>
        </p:nvSpPr>
        <p:spPr>
          <a:xfrm>
            <a:off x="3643297" y="1121871"/>
            <a:ext cx="5281913" cy="829945"/>
          </a:xfrm>
          <a:prstGeom prst="rect">
            <a:avLst/>
          </a:prstGeom>
          <a:noFill/>
        </p:spPr>
        <p:txBody>
          <a:bodyPr wrap="square" rtlCol="0">
            <a:spAutoFit/>
          </a:bodyPr>
          <a:p>
            <a:r>
              <a:rPr lang="zh-CN" altLang="en-US" sz="2400"/>
              <a:t>模拟</a:t>
            </a:r>
            <a:r>
              <a:rPr lang="zh-CN" altLang="en-US" sz="2400">
                <a:solidFill>
                  <a:srgbClr val="FF0000"/>
                </a:solidFill>
              </a:rPr>
              <a:t>正确的</a:t>
            </a:r>
            <a:r>
              <a:rPr lang="zh-CN" altLang="en-US" sz="2400"/>
              <a:t>业务流程实现过程，验证功能是否能正确实现；</a:t>
            </a:r>
            <a:endParaRPr lang="zh-CN" altLang="en-US" sz="2400"/>
          </a:p>
        </p:txBody>
      </p:sp>
      <p:sp>
        <p:nvSpPr>
          <p:cNvPr id="22" name="文本框 21"/>
          <p:cNvSpPr txBox="1"/>
          <p:nvPr/>
        </p:nvSpPr>
        <p:spPr>
          <a:xfrm>
            <a:off x="3643297" y="2725683"/>
            <a:ext cx="5281279" cy="829945"/>
          </a:xfrm>
          <a:prstGeom prst="rect">
            <a:avLst/>
          </a:prstGeom>
          <a:noFill/>
        </p:spPr>
        <p:txBody>
          <a:bodyPr wrap="square" rtlCol="0">
            <a:spAutoFit/>
          </a:bodyPr>
          <a:p>
            <a:r>
              <a:rPr lang="zh-CN" altLang="en-US" sz="2400"/>
              <a:t>模拟</a:t>
            </a:r>
            <a:r>
              <a:rPr lang="zh-CN" altLang="en-US" sz="2400">
                <a:solidFill>
                  <a:srgbClr val="FF0000"/>
                </a:solidFill>
              </a:rPr>
              <a:t>错误的</a:t>
            </a:r>
            <a:r>
              <a:rPr lang="zh-CN" altLang="en-US" sz="2400"/>
              <a:t>业务过程，验证程序的异常处理能力。</a:t>
            </a:r>
            <a:endParaRPr lang="zh-CN" altLang="en-US" sz="2400"/>
          </a:p>
        </p:txBody>
      </p:sp>
      <p:sp>
        <p:nvSpPr>
          <p:cNvPr id="23" name="文本框 22"/>
          <p:cNvSpPr txBox="1"/>
          <p:nvPr/>
        </p:nvSpPr>
        <p:spPr>
          <a:xfrm>
            <a:off x="2038216" y="3924416"/>
            <a:ext cx="8057156" cy="2306955"/>
          </a:xfrm>
          <a:prstGeom prst="rect">
            <a:avLst/>
          </a:prstGeom>
          <a:noFill/>
        </p:spPr>
        <p:txBody>
          <a:bodyPr wrap="square" rtlCol="0">
            <a:spAutoFit/>
          </a:bodyPr>
          <a:p>
            <a:pPr indent="457200" fontAlgn="auto">
              <a:lnSpc>
                <a:spcPct val="150000"/>
              </a:lnSpc>
            </a:pPr>
            <a:r>
              <a:rPr lang="zh-CN" altLang="en-US" sz="2400">
                <a:solidFill>
                  <a:srgbClr val="FF0000"/>
                </a:solidFill>
              </a:rPr>
              <a:t>基本流</a:t>
            </a:r>
            <a:r>
              <a:rPr lang="zh-CN" altLang="en-US" sz="2400"/>
              <a:t>，是</a:t>
            </a:r>
            <a:r>
              <a:rPr lang="zh-CN" altLang="en-US" sz="2400">
                <a:solidFill>
                  <a:srgbClr val="FF0000"/>
                </a:solidFill>
              </a:rPr>
              <a:t>正确的</a:t>
            </a:r>
            <a:r>
              <a:rPr lang="zh-CN" altLang="en-US" sz="2400">
                <a:sym typeface="+mn-ea"/>
              </a:rPr>
              <a:t>正确的业务流程实现过程</a:t>
            </a:r>
            <a:r>
              <a:rPr lang="zh-CN" altLang="en-US" sz="2400"/>
              <a:t>，是软件功能按照正确的事件流实现的一条正确流程。</a:t>
            </a:r>
            <a:endParaRPr lang="zh-CN" altLang="en-US" sz="2400"/>
          </a:p>
          <a:p>
            <a:pPr indent="457200" fontAlgn="auto">
              <a:lnSpc>
                <a:spcPct val="150000"/>
              </a:lnSpc>
            </a:pPr>
            <a:r>
              <a:rPr lang="zh-CN" altLang="en-US" sz="2400">
                <a:solidFill>
                  <a:srgbClr val="FF0000"/>
                </a:solidFill>
              </a:rPr>
              <a:t>备选流</a:t>
            </a:r>
            <a:r>
              <a:rPr lang="zh-CN" altLang="en-US" sz="2400"/>
              <a:t>，是</a:t>
            </a:r>
            <a:r>
              <a:rPr lang="zh-CN" altLang="en-US" sz="2400">
                <a:solidFill>
                  <a:srgbClr val="FF0000"/>
                </a:solidFill>
                <a:sym typeface="+mn-ea"/>
              </a:rPr>
              <a:t>错误的</a:t>
            </a:r>
            <a:r>
              <a:rPr lang="zh-CN" altLang="en-US" sz="2400">
                <a:sym typeface="+mn-ea"/>
              </a:rPr>
              <a:t>业务过程，凡是出现故障或缺陷的过程就用备选流加以标注。</a:t>
            </a:r>
            <a:endParaRPr lang="zh-CN" altLang="en-US" sz="2400">
              <a:sym typeface="+mn-ea"/>
            </a:endParaRPr>
          </a:p>
        </p:txBody>
      </p:sp>
    </p:spTree>
  </p:cSld>
  <p:clrMapOvr>
    <a:masterClrMapping/>
  </p:clrMapOvr>
  <p:transition advTm="1310">
    <p:random/>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105" y="1594058"/>
            <a:ext cx="2812399" cy="2101481"/>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2968110" y="3075802"/>
            <a:ext cx="7294880" cy="706755"/>
          </a:xfrm>
          <a:prstGeom prst="rect">
            <a:avLst/>
          </a:prstGeom>
          <a:noFill/>
        </p:spPr>
        <p:txBody>
          <a:bodyPr wrap="none" rtlCol="0">
            <a:spAutoFit/>
          </a:bodyPr>
          <a:lstStyle/>
          <a:p>
            <a:pPr algn="l"/>
            <a:r>
              <a:rPr lang="zh-CN" altLang="en-US" sz="4000" dirty="0">
                <a:solidFill>
                  <a:schemeClr val="tx1">
                    <a:lumMod val="75000"/>
                    <a:lumOff val="25000"/>
                  </a:schemeClr>
                </a:solidFill>
                <a:latin typeface="微软雅黑" panose="020B0503020204020204" pitchFamily="34" charset="-122"/>
                <a:ea typeface="微软雅黑" panose="020B0503020204020204" pitchFamily="34" charset="-122"/>
              </a:rPr>
              <a:t>场景法设计测试用例的基本概念</a:t>
            </a:r>
            <a:endParaRPr lang="zh-CN" altLang="en-US" sz="4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217" y="2656121"/>
            <a:ext cx="2069153" cy="1546112"/>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5702" y="2328231"/>
            <a:ext cx="3457976" cy="2583868"/>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8675" y="2883913"/>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a:t>
            </a:r>
            <a:r>
              <a:rPr lang="en-US" sz="9600" dirty="0">
                <a:solidFill>
                  <a:schemeClr val="bg1"/>
                </a:solidFill>
                <a:latin typeface="微软雅黑" panose="020B0503020204020204" pitchFamily="34" charset="-122"/>
                <a:ea typeface="微软雅黑" panose="020B0503020204020204" pitchFamily="34" charset="-122"/>
              </a:rPr>
              <a:t>2</a:t>
            </a:r>
            <a:endParaRPr 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177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499" y="57108"/>
            <a:ext cx="4082547" cy="55809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场景图设计测试用例的基本概念</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115" name="图片 1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7186160" y="1089174"/>
            <a:ext cx="4481987" cy="4679422"/>
          </a:xfrm>
          <a:prstGeom prst="rect">
            <a:avLst/>
          </a:prstGeom>
          <a:noFill/>
          <a:ln>
            <a:noFill/>
          </a:ln>
        </p:spPr>
      </p:pic>
      <p:sp>
        <p:nvSpPr>
          <p:cNvPr id="100" name="文本框 99"/>
          <p:cNvSpPr txBox="1"/>
          <p:nvPr/>
        </p:nvSpPr>
        <p:spPr>
          <a:xfrm>
            <a:off x="809219" y="1089525"/>
            <a:ext cx="5953872" cy="3992245"/>
          </a:xfrm>
          <a:prstGeom prst="rect">
            <a:avLst/>
          </a:prstGeom>
          <a:noFill/>
          <a:ln w="9525">
            <a:noFill/>
          </a:ln>
        </p:spPr>
        <p:txBody>
          <a:bodyPr wrap="square">
            <a:spAutoFit/>
          </a:bodyPr>
          <a:p>
            <a:pPr indent="295275" fontAlgn="auto">
              <a:lnSpc>
                <a:spcPts val="338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基本流和备选流：如图</a:t>
            </a:r>
            <a:r>
              <a:rPr lang="en-US" sz="2400" b="0">
                <a:latin typeface="微软雅黑" panose="020B0503020204020204" pitchFamily="34" charset="-122"/>
                <a:ea typeface="微软雅黑" panose="020B0503020204020204" pitchFamily="34" charset="-122"/>
                <a:cs typeface="微软雅黑" panose="020B0503020204020204" pitchFamily="34" charset="-122"/>
              </a:rPr>
              <a:t>11-1</a:t>
            </a:r>
            <a:r>
              <a:rPr lang="zh-CN" sz="2400" b="0">
                <a:latin typeface="微软雅黑" panose="020B0503020204020204" pitchFamily="34" charset="-122"/>
                <a:ea typeface="微软雅黑" panose="020B0503020204020204" pitchFamily="34" charset="-122"/>
                <a:cs typeface="微软雅黑" panose="020B0503020204020204" pitchFamily="34" charset="-122"/>
              </a:rPr>
              <a:t>所示，图中经过用例的每条路径都用基本流和备选流来表示，</a:t>
            </a:r>
            <a:r>
              <a:rPr lang="zh-CN" sz="24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直黑线表示基本流</a:t>
            </a:r>
            <a:r>
              <a:rPr lang="zh-CN" sz="2400" b="0">
                <a:latin typeface="微软雅黑" panose="020B0503020204020204" pitchFamily="34" charset="-122"/>
                <a:ea typeface="微软雅黑" panose="020B0503020204020204" pitchFamily="34" charset="-122"/>
                <a:cs typeface="微软雅黑" panose="020B0503020204020204" pitchFamily="34" charset="-122"/>
              </a:rPr>
              <a:t>，是经过用例的最简单的路径。备选流用不同的色彩表示，一个备选流可能从基本流开始，在某个特定条件下执行，然后重新加入基本流中（如备选流</a:t>
            </a:r>
            <a:r>
              <a:rPr lang="en-US" sz="2400" b="0">
                <a:latin typeface="微软雅黑" panose="020B0503020204020204" pitchFamily="34" charset="-122"/>
                <a:ea typeface="微软雅黑" panose="020B0503020204020204" pitchFamily="34" charset="-122"/>
                <a:cs typeface="微软雅黑" panose="020B0503020204020204" pitchFamily="34" charset="-122"/>
              </a:rPr>
              <a:t>1</a:t>
            </a:r>
            <a:r>
              <a:rPr lang="zh-CN" sz="2400" b="0">
                <a:latin typeface="微软雅黑" panose="020B0503020204020204" pitchFamily="34" charset="-122"/>
                <a:ea typeface="微软雅黑" panose="020B0503020204020204" pitchFamily="34" charset="-122"/>
                <a:cs typeface="微软雅黑" panose="020B0503020204020204" pitchFamily="34" charset="-122"/>
              </a:rPr>
              <a:t>和</a:t>
            </a:r>
            <a:r>
              <a:rPr lang="en-US" sz="2400" b="0">
                <a:latin typeface="微软雅黑" panose="020B0503020204020204" pitchFamily="34" charset="-122"/>
                <a:ea typeface="微软雅黑" panose="020B0503020204020204" pitchFamily="34" charset="-122"/>
                <a:cs typeface="微软雅黑" panose="020B0503020204020204" pitchFamily="34" charset="-122"/>
              </a:rPr>
              <a:t>3</a:t>
            </a:r>
            <a:r>
              <a:rPr lang="zh-CN" sz="2400" b="0">
                <a:latin typeface="微软雅黑" panose="020B0503020204020204" pitchFamily="34" charset="-122"/>
                <a:ea typeface="微软雅黑" panose="020B0503020204020204" pitchFamily="34" charset="-122"/>
                <a:cs typeface="微软雅黑" panose="020B0503020204020204" pitchFamily="34" charset="-122"/>
              </a:rPr>
              <a:t>）；也可能起源于另一个备选流（如备选流</a:t>
            </a:r>
            <a:r>
              <a:rPr lang="en-US" sz="2400" b="0">
                <a:latin typeface="微软雅黑" panose="020B0503020204020204" pitchFamily="34" charset="-122"/>
                <a:ea typeface="微软雅黑" panose="020B0503020204020204" pitchFamily="34" charset="-122"/>
                <a:cs typeface="微软雅黑" panose="020B0503020204020204" pitchFamily="34" charset="-122"/>
              </a:rPr>
              <a:t>2</a:t>
            </a:r>
            <a:r>
              <a:rPr lang="zh-CN" sz="2400" b="0">
                <a:latin typeface="微软雅黑" panose="020B0503020204020204" pitchFamily="34" charset="-122"/>
                <a:ea typeface="微软雅黑" panose="020B0503020204020204" pitchFamily="34" charset="-122"/>
                <a:cs typeface="微软雅黑" panose="020B0503020204020204" pitchFamily="34" charset="-122"/>
              </a:rPr>
              <a:t>），或者终止用例而不再重新加入到某个流（如备选流</a:t>
            </a:r>
            <a:r>
              <a:rPr lang="en-US" sz="2400" b="0">
                <a:latin typeface="微软雅黑" panose="020B0503020204020204" pitchFamily="34" charset="-122"/>
                <a:ea typeface="微软雅黑" panose="020B0503020204020204" pitchFamily="34" charset="-122"/>
                <a:cs typeface="微软雅黑" panose="020B0503020204020204" pitchFamily="34" charset="-122"/>
              </a:rPr>
              <a:t>2</a:t>
            </a:r>
            <a:r>
              <a:rPr lang="zh-CN" sz="2400" b="0">
                <a:latin typeface="微软雅黑" panose="020B0503020204020204" pitchFamily="34" charset="-122"/>
                <a:ea typeface="微软雅黑" panose="020B0503020204020204" pitchFamily="34" charset="-122"/>
                <a:cs typeface="微软雅黑" panose="020B0503020204020204" pitchFamily="34" charset="-122"/>
              </a:rPr>
              <a:t>和</a:t>
            </a:r>
            <a:r>
              <a:rPr lang="en-US" sz="2400" b="0">
                <a:latin typeface="微软雅黑" panose="020B0503020204020204" pitchFamily="34" charset="-122"/>
                <a:ea typeface="微软雅黑" panose="020B0503020204020204" pitchFamily="34" charset="-122"/>
                <a:cs typeface="微软雅黑" panose="020B0503020204020204" pitchFamily="34" charset="-122"/>
              </a:rPr>
              <a:t>4</a:t>
            </a:r>
            <a:r>
              <a:rPr lang="zh-CN" sz="2400" b="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1310">
    <p:random/>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499" y="56720"/>
            <a:ext cx="4063498" cy="557884"/>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sym typeface="+mn-ea"/>
              </a:rPr>
              <a:t>场景图设计测试用例的基本概念</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115" name="图片 1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7186160" y="1089174"/>
            <a:ext cx="4481987" cy="4679422"/>
          </a:xfrm>
          <a:prstGeom prst="rect">
            <a:avLst/>
          </a:prstGeom>
          <a:noFill/>
          <a:ln>
            <a:noFill/>
          </a:ln>
        </p:spPr>
      </p:pic>
      <p:sp>
        <p:nvSpPr>
          <p:cNvPr id="100" name="文本框 99"/>
          <p:cNvSpPr txBox="1"/>
          <p:nvPr/>
        </p:nvSpPr>
        <p:spPr>
          <a:xfrm>
            <a:off x="404563" y="851818"/>
            <a:ext cx="6781597" cy="4436110"/>
          </a:xfrm>
          <a:prstGeom prst="rect">
            <a:avLst/>
          </a:prstGeom>
          <a:noFill/>
          <a:ln w="9525">
            <a:noFill/>
          </a:ln>
        </p:spPr>
        <p:txBody>
          <a:bodyPr wrap="square">
            <a:spAutoFit/>
          </a:bodyPr>
          <a:p>
            <a:pPr indent="295275" fontAlgn="auto">
              <a:lnSpc>
                <a:spcPts val="3080"/>
              </a:lnSpc>
            </a:pPr>
            <a:r>
              <a:rPr sz="2135" b="0">
                <a:latin typeface="微软雅黑" panose="020B0503020204020204" pitchFamily="34" charset="-122"/>
                <a:ea typeface="微软雅黑" panose="020B0503020204020204" pitchFamily="34" charset="-122"/>
                <a:cs typeface="微软雅黑" panose="020B0503020204020204" pitchFamily="34" charset="-122"/>
              </a:rPr>
              <a:t>每个经过用例的可能路径，可以确定不同的用例场景。从基本流开始，再将基本流和备选流结合起来，可以确定以下用例场景：</a:t>
            </a:r>
            <a:endParaRPr sz="2135" b="0">
              <a:latin typeface="微软雅黑" panose="020B0503020204020204" pitchFamily="34" charset="-122"/>
              <a:ea typeface="微软雅黑" panose="020B0503020204020204" pitchFamily="34" charset="-122"/>
              <a:cs typeface="微软雅黑" panose="020B0503020204020204" pitchFamily="34" charset="-122"/>
            </a:endParaRPr>
          </a:p>
          <a:p>
            <a:pPr indent="295275" fontAlgn="auto">
              <a:lnSpc>
                <a:spcPts val="3080"/>
              </a:lnSpc>
            </a:pPr>
            <a:r>
              <a:rPr sz="2135" b="0">
                <a:latin typeface="微软雅黑" panose="020B0503020204020204" pitchFamily="34" charset="-122"/>
                <a:ea typeface="微软雅黑" panose="020B0503020204020204" pitchFamily="34" charset="-122"/>
                <a:cs typeface="微软雅黑" panose="020B0503020204020204" pitchFamily="34" charset="-122"/>
              </a:rPr>
              <a:t>场景 1 基本流</a:t>
            </a:r>
            <a:endParaRPr sz="2135" b="0">
              <a:latin typeface="微软雅黑" panose="020B0503020204020204" pitchFamily="34" charset="-122"/>
              <a:ea typeface="微软雅黑" panose="020B0503020204020204" pitchFamily="34" charset="-122"/>
              <a:cs typeface="微软雅黑" panose="020B0503020204020204" pitchFamily="34" charset="-122"/>
            </a:endParaRPr>
          </a:p>
          <a:p>
            <a:pPr indent="295275" fontAlgn="auto">
              <a:lnSpc>
                <a:spcPts val="3080"/>
              </a:lnSpc>
            </a:pPr>
            <a:r>
              <a:rPr sz="2135" b="0">
                <a:latin typeface="微软雅黑" panose="020B0503020204020204" pitchFamily="34" charset="-122"/>
                <a:ea typeface="微软雅黑" panose="020B0503020204020204" pitchFamily="34" charset="-122"/>
                <a:cs typeface="微软雅黑" panose="020B0503020204020204" pitchFamily="34" charset="-122"/>
              </a:rPr>
              <a:t>场景 2 基本流</a:t>
            </a:r>
            <a:r>
              <a:rPr lang="zh-CN" sz="2135" b="0">
                <a:latin typeface="微软雅黑" panose="020B0503020204020204" pitchFamily="34" charset="-122"/>
                <a:ea typeface="微软雅黑" panose="020B0503020204020204" pitchFamily="34" charset="-122"/>
                <a:cs typeface="微软雅黑" panose="020B0503020204020204" pitchFamily="34" charset="-122"/>
              </a:rPr>
              <a:t>，</a:t>
            </a:r>
            <a:r>
              <a:rPr sz="2135" b="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备选流 1</a:t>
            </a:r>
            <a:endParaRPr sz="2135" b="0">
              <a:latin typeface="微软雅黑" panose="020B0503020204020204" pitchFamily="34" charset="-122"/>
              <a:ea typeface="微软雅黑" panose="020B0503020204020204" pitchFamily="34" charset="-122"/>
              <a:cs typeface="微软雅黑" panose="020B0503020204020204" pitchFamily="34" charset="-122"/>
            </a:endParaRPr>
          </a:p>
          <a:p>
            <a:pPr indent="295275" fontAlgn="auto">
              <a:lnSpc>
                <a:spcPts val="3080"/>
              </a:lnSpc>
            </a:pPr>
            <a:r>
              <a:rPr sz="2135" b="0">
                <a:latin typeface="微软雅黑" panose="020B0503020204020204" pitchFamily="34" charset="-122"/>
                <a:ea typeface="微软雅黑" panose="020B0503020204020204" pitchFamily="34" charset="-122"/>
                <a:cs typeface="微软雅黑" panose="020B0503020204020204" pitchFamily="34" charset="-122"/>
              </a:rPr>
              <a:t>场景 3 基本流</a:t>
            </a:r>
            <a:r>
              <a:rPr lang="zh-CN" sz="2135" b="0">
                <a:latin typeface="微软雅黑" panose="020B0503020204020204" pitchFamily="34" charset="-122"/>
                <a:ea typeface="微软雅黑" panose="020B0503020204020204" pitchFamily="34" charset="-122"/>
                <a:cs typeface="微软雅黑" panose="020B0503020204020204" pitchFamily="34" charset="-122"/>
              </a:rPr>
              <a:t>，</a:t>
            </a:r>
            <a:r>
              <a:rPr sz="2135" b="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备选流 1 </a:t>
            </a:r>
            <a:r>
              <a:rPr sz="2135" b="0">
                <a:gradFill>
                  <a:gsLst>
                    <a:gs pos="0">
                      <a:srgbClr val="E30000"/>
                    </a:gs>
                    <a:gs pos="100000">
                      <a:srgbClr val="760303"/>
                    </a:gs>
                  </a:gsLst>
                  <a:lin scaled="0"/>
                </a:gradFill>
                <a:latin typeface="微软雅黑" panose="020B0503020204020204" pitchFamily="34" charset="-122"/>
                <a:ea typeface="微软雅黑" panose="020B0503020204020204" pitchFamily="34" charset="-122"/>
                <a:cs typeface="微软雅黑" panose="020B0503020204020204" pitchFamily="34" charset="-122"/>
              </a:rPr>
              <a:t>备选流 2</a:t>
            </a:r>
            <a:endParaRPr sz="2135" b="0">
              <a:latin typeface="微软雅黑" panose="020B0503020204020204" pitchFamily="34" charset="-122"/>
              <a:ea typeface="微软雅黑" panose="020B0503020204020204" pitchFamily="34" charset="-122"/>
              <a:cs typeface="微软雅黑" panose="020B0503020204020204" pitchFamily="34" charset="-122"/>
            </a:endParaRPr>
          </a:p>
          <a:p>
            <a:pPr indent="295275" fontAlgn="auto">
              <a:lnSpc>
                <a:spcPts val="3080"/>
              </a:lnSpc>
            </a:pPr>
            <a:r>
              <a:rPr sz="2135" b="0">
                <a:latin typeface="微软雅黑" panose="020B0503020204020204" pitchFamily="34" charset="-122"/>
                <a:ea typeface="微软雅黑" panose="020B0503020204020204" pitchFamily="34" charset="-122"/>
                <a:cs typeface="微软雅黑" panose="020B0503020204020204" pitchFamily="34" charset="-122"/>
              </a:rPr>
              <a:t>场景 4 基本流</a:t>
            </a:r>
            <a:r>
              <a:rPr lang="zh-CN" sz="2135" b="0">
                <a:latin typeface="微软雅黑" panose="020B0503020204020204" pitchFamily="34" charset="-122"/>
                <a:ea typeface="微软雅黑" panose="020B0503020204020204" pitchFamily="34" charset="-122"/>
                <a:cs typeface="微软雅黑" panose="020B0503020204020204" pitchFamily="34" charset="-122"/>
              </a:rPr>
              <a:t>，</a:t>
            </a:r>
            <a:r>
              <a:rPr sz="2135" b="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备选流 3</a:t>
            </a:r>
            <a:endParaRPr sz="2135" b="0">
              <a:solidFill>
                <a:srgbClr val="00B050"/>
              </a:solidFill>
              <a:latin typeface="微软雅黑" panose="020B0503020204020204" pitchFamily="34" charset="-122"/>
              <a:ea typeface="微软雅黑" panose="020B0503020204020204" pitchFamily="34" charset="-122"/>
              <a:cs typeface="微软雅黑" panose="020B0503020204020204" pitchFamily="34" charset="-122"/>
            </a:endParaRPr>
          </a:p>
          <a:p>
            <a:pPr indent="295275" fontAlgn="auto">
              <a:lnSpc>
                <a:spcPts val="3080"/>
              </a:lnSpc>
            </a:pPr>
            <a:r>
              <a:rPr sz="2135" b="0">
                <a:latin typeface="微软雅黑" panose="020B0503020204020204" pitchFamily="34" charset="-122"/>
                <a:ea typeface="微软雅黑" panose="020B0503020204020204" pitchFamily="34" charset="-122"/>
                <a:cs typeface="微软雅黑" panose="020B0503020204020204" pitchFamily="34" charset="-122"/>
              </a:rPr>
              <a:t>场景 5 基本流</a:t>
            </a:r>
            <a:r>
              <a:rPr lang="zh-CN" sz="2135" b="0">
                <a:latin typeface="微软雅黑" panose="020B0503020204020204" pitchFamily="34" charset="-122"/>
                <a:ea typeface="微软雅黑" panose="020B0503020204020204" pitchFamily="34" charset="-122"/>
                <a:cs typeface="微软雅黑" panose="020B0503020204020204" pitchFamily="34" charset="-122"/>
              </a:rPr>
              <a:t>，</a:t>
            </a:r>
            <a:r>
              <a:rPr sz="2135" b="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备选流 3</a:t>
            </a:r>
            <a:r>
              <a:rPr sz="2135" b="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 备选流 1</a:t>
            </a:r>
            <a:endParaRPr sz="2135" b="0">
              <a:latin typeface="微软雅黑" panose="020B0503020204020204" pitchFamily="34" charset="-122"/>
              <a:ea typeface="微软雅黑" panose="020B0503020204020204" pitchFamily="34" charset="-122"/>
              <a:cs typeface="微软雅黑" panose="020B0503020204020204" pitchFamily="34" charset="-122"/>
            </a:endParaRPr>
          </a:p>
          <a:p>
            <a:pPr indent="295275" fontAlgn="auto">
              <a:lnSpc>
                <a:spcPts val="3080"/>
              </a:lnSpc>
            </a:pPr>
            <a:r>
              <a:rPr sz="2135" b="0">
                <a:latin typeface="微软雅黑" panose="020B0503020204020204" pitchFamily="34" charset="-122"/>
                <a:ea typeface="微软雅黑" panose="020B0503020204020204" pitchFamily="34" charset="-122"/>
                <a:cs typeface="微软雅黑" panose="020B0503020204020204" pitchFamily="34" charset="-122"/>
              </a:rPr>
              <a:t>场景 6 基本流</a:t>
            </a:r>
            <a:r>
              <a:rPr lang="zh-CN" sz="2135" b="0">
                <a:latin typeface="微软雅黑" panose="020B0503020204020204" pitchFamily="34" charset="-122"/>
                <a:ea typeface="微软雅黑" panose="020B0503020204020204" pitchFamily="34" charset="-122"/>
                <a:cs typeface="微软雅黑" panose="020B0503020204020204" pitchFamily="34" charset="-122"/>
              </a:rPr>
              <a:t>，</a:t>
            </a:r>
            <a:r>
              <a:rPr sz="2135" b="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备选流 3</a:t>
            </a:r>
            <a:r>
              <a:rPr sz="2135" b="0">
                <a:latin typeface="微软雅黑" panose="020B0503020204020204" pitchFamily="34" charset="-122"/>
                <a:ea typeface="微软雅黑" panose="020B0503020204020204" pitchFamily="34" charset="-122"/>
                <a:cs typeface="微软雅黑" panose="020B0503020204020204" pitchFamily="34" charset="-122"/>
              </a:rPr>
              <a:t> </a:t>
            </a:r>
            <a:r>
              <a:rPr sz="2135" b="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备选流 1</a:t>
            </a:r>
            <a:r>
              <a:rPr sz="2135" b="0">
                <a:latin typeface="微软雅黑" panose="020B0503020204020204" pitchFamily="34" charset="-122"/>
                <a:ea typeface="微软雅黑" panose="020B0503020204020204" pitchFamily="34" charset="-122"/>
                <a:cs typeface="微软雅黑" panose="020B0503020204020204" pitchFamily="34" charset="-122"/>
              </a:rPr>
              <a:t> </a:t>
            </a:r>
            <a:r>
              <a:rPr sz="2135" b="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备选流 2</a:t>
            </a:r>
            <a:endParaRPr sz="2135" b="0">
              <a:latin typeface="微软雅黑" panose="020B0503020204020204" pitchFamily="34" charset="-122"/>
              <a:ea typeface="微软雅黑" panose="020B0503020204020204" pitchFamily="34" charset="-122"/>
              <a:cs typeface="微软雅黑" panose="020B0503020204020204" pitchFamily="34" charset="-122"/>
            </a:endParaRPr>
          </a:p>
          <a:p>
            <a:pPr indent="295275" fontAlgn="auto">
              <a:lnSpc>
                <a:spcPts val="3080"/>
              </a:lnSpc>
            </a:pPr>
            <a:r>
              <a:rPr sz="2135" b="0">
                <a:latin typeface="微软雅黑" panose="020B0503020204020204" pitchFamily="34" charset="-122"/>
                <a:ea typeface="微软雅黑" panose="020B0503020204020204" pitchFamily="34" charset="-122"/>
                <a:cs typeface="微软雅黑" panose="020B0503020204020204" pitchFamily="34" charset="-122"/>
              </a:rPr>
              <a:t>场景 7 基本流</a:t>
            </a:r>
            <a:r>
              <a:rPr lang="zh-CN" sz="2135" b="0">
                <a:latin typeface="微软雅黑" panose="020B0503020204020204" pitchFamily="34" charset="-122"/>
                <a:ea typeface="微软雅黑" panose="020B0503020204020204" pitchFamily="34" charset="-122"/>
                <a:cs typeface="微软雅黑" panose="020B0503020204020204" pitchFamily="34" charset="-122"/>
              </a:rPr>
              <a:t>，</a:t>
            </a:r>
            <a:r>
              <a:rPr sz="2135"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备选流 4</a:t>
            </a:r>
            <a:endParaRPr sz="2135"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indent="295275" fontAlgn="auto">
              <a:lnSpc>
                <a:spcPts val="3080"/>
              </a:lnSpc>
            </a:pPr>
            <a:r>
              <a:rPr sz="2135" b="0">
                <a:latin typeface="微软雅黑" panose="020B0503020204020204" pitchFamily="34" charset="-122"/>
                <a:ea typeface="微软雅黑" panose="020B0503020204020204" pitchFamily="34" charset="-122"/>
                <a:cs typeface="微软雅黑" panose="020B0503020204020204" pitchFamily="34" charset="-122"/>
              </a:rPr>
              <a:t>场景 8 基本流</a:t>
            </a:r>
            <a:r>
              <a:rPr lang="zh-CN" sz="2135" b="0">
                <a:latin typeface="微软雅黑" panose="020B0503020204020204" pitchFamily="34" charset="-122"/>
                <a:ea typeface="微软雅黑" panose="020B0503020204020204" pitchFamily="34" charset="-122"/>
                <a:cs typeface="微软雅黑" panose="020B0503020204020204" pitchFamily="34" charset="-122"/>
              </a:rPr>
              <a:t>，</a:t>
            </a:r>
            <a:r>
              <a:rPr sz="2135" b="0">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备选流 3</a:t>
            </a:r>
            <a:r>
              <a:rPr sz="2135" b="0">
                <a:latin typeface="微软雅黑" panose="020B0503020204020204" pitchFamily="34" charset="-122"/>
                <a:ea typeface="微软雅黑" panose="020B0503020204020204" pitchFamily="34" charset="-122"/>
                <a:cs typeface="微软雅黑" panose="020B0503020204020204" pitchFamily="34" charset="-122"/>
              </a:rPr>
              <a:t> </a:t>
            </a:r>
            <a:r>
              <a:rPr sz="2135"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备选流 4</a:t>
            </a:r>
            <a:endParaRPr sz="2135"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1310">
    <p:random/>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105" y="1594058"/>
            <a:ext cx="2812399" cy="2101481"/>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2867157" y="2884056"/>
            <a:ext cx="7498080" cy="829945"/>
          </a:xfrm>
          <a:prstGeom prst="rect">
            <a:avLst/>
          </a:prstGeom>
          <a:noFill/>
        </p:spPr>
        <p:txBody>
          <a:bodyPr wrap="non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场景法设计测试用例的步骤</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217" y="2656121"/>
            <a:ext cx="2069153" cy="1546112"/>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5702" y="2328231"/>
            <a:ext cx="3457976" cy="2583868"/>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8675" y="2883913"/>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a:t>
            </a:r>
            <a:r>
              <a:rPr lang="en-US" sz="9600" dirty="0">
                <a:solidFill>
                  <a:schemeClr val="bg1"/>
                </a:solidFill>
                <a:latin typeface="微软雅黑" panose="020B0503020204020204" pitchFamily="34" charset="-122"/>
                <a:ea typeface="微软雅黑" panose="020B0503020204020204" pitchFamily="34" charset="-122"/>
              </a:rPr>
              <a:t>3</a:t>
            </a:r>
            <a:endParaRPr 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1731">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499" y="57108"/>
            <a:ext cx="3728260" cy="55809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场景法设计测试用例的步骤</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 name="Oval 17"/>
          <p:cNvSpPr/>
          <p:nvPr/>
        </p:nvSpPr>
        <p:spPr>
          <a:xfrm>
            <a:off x="4270657" y="1805316"/>
            <a:ext cx="3684548" cy="3684548"/>
          </a:xfrm>
          <a:prstGeom prst="ellipse">
            <a:avLst/>
          </a:prstGeom>
          <a:noFill/>
          <a:ln w="571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5" name="Oval 18"/>
          <p:cNvSpPr/>
          <p:nvPr/>
        </p:nvSpPr>
        <p:spPr>
          <a:xfrm>
            <a:off x="4775363" y="2377746"/>
            <a:ext cx="812700" cy="8127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01</a:t>
            </a:r>
            <a:endParaRPr lang="en-US" sz="2400" b="1" dirty="0"/>
          </a:p>
        </p:txBody>
      </p:sp>
      <p:sp>
        <p:nvSpPr>
          <p:cNvPr id="6" name="Oval 19"/>
          <p:cNvSpPr/>
          <p:nvPr/>
        </p:nvSpPr>
        <p:spPr>
          <a:xfrm>
            <a:off x="6590687" y="2377746"/>
            <a:ext cx="812700" cy="812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02</a:t>
            </a:r>
            <a:endParaRPr lang="en-US" sz="2400" b="1" dirty="0"/>
          </a:p>
        </p:txBody>
      </p:sp>
      <p:sp>
        <p:nvSpPr>
          <p:cNvPr id="7" name="Oval 20"/>
          <p:cNvSpPr/>
          <p:nvPr/>
        </p:nvSpPr>
        <p:spPr>
          <a:xfrm>
            <a:off x="6590687" y="4104733"/>
            <a:ext cx="812700" cy="812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03</a:t>
            </a:r>
            <a:endParaRPr lang="en-US" sz="2400" b="1" dirty="0"/>
          </a:p>
        </p:txBody>
      </p:sp>
      <p:sp>
        <p:nvSpPr>
          <p:cNvPr id="8" name="Oval 21"/>
          <p:cNvSpPr/>
          <p:nvPr/>
        </p:nvSpPr>
        <p:spPr>
          <a:xfrm>
            <a:off x="4775363" y="4104733"/>
            <a:ext cx="812700" cy="8127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04</a:t>
            </a:r>
            <a:endParaRPr lang="en-US" sz="2400" b="1" dirty="0"/>
          </a:p>
        </p:txBody>
      </p:sp>
      <p:grpSp>
        <p:nvGrpSpPr>
          <p:cNvPr id="9" name="Group 48"/>
          <p:cNvGrpSpPr/>
          <p:nvPr/>
        </p:nvGrpSpPr>
        <p:grpSpPr>
          <a:xfrm>
            <a:off x="3657902" y="1429833"/>
            <a:ext cx="1359721" cy="1359721"/>
            <a:chOff x="3113063" y="1535495"/>
            <a:chExt cx="1019917" cy="1019917"/>
          </a:xfrm>
        </p:grpSpPr>
        <p:sp>
          <p:nvSpPr>
            <p:cNvPr id="10" name="Oval 42"/>
            <p:cNvSpPr/>
            <p:nvPr/>
          </p:nvSpPr>
          <p:spPr>
            <a:xfrm>
              <a:off x="3113063" y="1535495"/>
              <a:ext cx="1019917" cy="1019917"/>
            </a:xfrm>
            <a:prstGeom prst="ellipse">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 name="Freeform 43"/>
            <p:cNvSpPr>
              <a:spLocks noEditPoints="1"/>
            </p:cNvSpPr>
            <p:nvPr/>
          </p:nvSpPr>
          <p:spPr bwMode="auto">
            <a:xfrm>
              <a:off x="3465722" y="1780449"/>
              <a:ext cx="295548" cy="431778"/>
            </a:xfrm>
            <a:custGeom>
              <a:avLst/>
              <a:gdLst/>
              <a:ahLst/>
              <a:cxnLst>
                <a:cxn ang="0">
                  <a:pos x="35" y="0"/>
                </a:cxn>
                <a:cxn ang="0">
                  <a:pos x="0" y="35"/>
                </a:cxn>
                <a:cxn ang="0">
                  <a:pos x="16" y="74"/>
                </a:cxn>
                <a:cxn ang="0">
                  <a:pos x="35" y="102"/>
                </a:cxn>
                <a:cxn ang="0">
                  <a:pos x="54" y="74"/>
                </a:cxn>
                <a:cxn ang="0">
                  <a:pos x="70" y="35"/>
                </a:cxn>
                <a:cxn ang="0">
                  <a:pos x="35" y="0"/>
                </a:cxn>
                <a:cxn ang="0">
                  <a:pos x="43" y="87"/>
                </a:cxn>
                <a:cxn ang="0">
                  <a:pos x="27" y="89"/>
                </a:cxn>
                <a:cxn ang="0">
                  <a:pos x="26" y="83"/>
                </a:cxn>
                <a:cxn ang="0">
                  <a:pos x="26" y="83"/>
                </a:cxn>
                <a:cxn ang="0">
                  <a:pos x="45" y="80"/>
                </a:cxn>
                <a:cxn ang="0">
                  <a:pos x="44" y="83"/>
                </a:cxn>
                <a:cxn ang="0">
                  <a:pos x="43" y="87"/>
                </a:cxn>
                <a:cxn ang="0">
                  <a:pos x="25" y="79"/>
                </a:cxn>
                <a:cxn ang="0">
                  <a:pos x="23" y="73"/>
                </a:cxn>
                <a:cxn ang="0">
                  <a:pos x="47" y="73"/>
                </a:cxn>
                <a:cxn ang="0">
                  <a:pos x="46" y="77"/>
                </a:cxn>
                <a:cxn ang="0">
                  <a:pos x="25" y="79"/>
                </a:cxn>
                <a:cxn ang="0">
                  <a:pos x="35" y="96"/>
                </a:cxn>
                <a:cxn ang="0">
                  <a:pos x="29" y="92"/>
                </a:cxn>
                <a:cxn ang="0">
                  <a:pos x="42" y="90"/>
                </a:cxn>
                <a:cxn ang="0">
                  <a:pos x="35" y="96"/>
                </a:cxn>
                <a:cxn ang="0">
                  <a:pos x="50" y="67"/>
                </a:cxn>
                <a:cxn ang="0">
                  <a:pos x="20" y="67"/>
                </a:cxn>
                <a:cxn ang="0">
                  <a:pos x="15" y="57"/>
                </a:cxn>
                <a:cxn ang="0">
                  <a:pos x="6" y="35"/>
                </a:cxn>
                <a:cxn ang="0">
                  <a:pos x="35" y="6"/>
                </a:cxn>
                <a:cxn ang="0">
                  <a:pos x="64" y="35"/>
                </a:cxn>
                <a:cxn ang="0">
                  <a:pos x="55" y="57"/>
                </a:cxn>
                <a:cxn ang="0">
                  <a:pos x="50" y="67"/>
                </a:cxn>
                <a:cxn ang="0">
                  <a:pos x="50" y="67"/>
                </a:cxn>
                <a:cxn ang="0">
                  <a:pos x="50" y="67"/>
                </a:cxn>
              </a:cxnLst>
              <a:rect l="0" t="0" r="r" b="b"/>
              <a:pathLst>
                <a:path w="70" h="102">
                  <a:moveTo>
                    <a:pt x="35" y="0"/>
                  </a:moveTo>
                  <a:cubicBezTo>
                    <a:pt x="16" y="0"/>
                    <a:pt x="0" y="16"/>
                    <a:pt x="0" y="35"/>
                  </a:cubicBezTo>
                  <a:cubicBezTo>
                    <a:pt x="0" y="48"/>
                    <a:pt x="12" y="62"/>
                    <a:pt x="16" y="74"/>
                  </a:cubicBezTo>
                  <a:cubicBezTo>
                    <a:pt x="22" y="91"/>
                    <a:pt x="22" y="102"/>
                    <a:pt x="35" y="102"/>
                  </a:cubicBezTo>
                  <a:cubicBezTo>
                    <a:pt x="49" y="102"/>
                    <a:pt x="48" y="92"/>
                    <a:pt x="54" y="74"/>
                  </a:cubicBezTo>
                  <a:cubicBezTo>
                    <a:pt x="58" y="62"/>
                    <a:pt x="70" y="48"/>
                    <a:pt x="70" y="35"/>
                  </a:cubicBezTo>
                  <a:cubicBezTo>
                    <a:pt x="70" y="16"/>
                    <a:pt x="54" y="0"/>
                    <a:pt x="35" y="0"/>
                  </a:cubicBezTo>
                  <a:close/>
                  <a:moveTo>
                    <a:pt x="43" y="87"/>
                  </a:moveTo>
                  <a:cubicBezTo>
                    <a:pt x="27" y="89"/>
                    <a:pt x="27" y="89"/>
                    <a:pt x="27" y="89"/>
                  </a:cubicBezTo>
                  <a:cubicBezTo>
                    <a:pt x="27" y="87"/>
                    <a:pt x="26" y="85"/>
                    <a:pt x="26" y="83"/>
                  </a:cubicBezTo>
                  <a:cubicBezTo>
                    <a:pt x="26" y="83"/>
                    <a:pt x="26" y="83"/>
                    <a:pt x="26" y="83"/>
                  </a:cubicBezTo>
                  <a:cubicBezTo>
                    <a:pt x="45" y="80"/>
                    <a:pt x="45" y="80"/>
                    <a:pt x="45" y="80"/>
                  </a:cubicBezTo>
                  <a:cubicBezTo>
                    <a:pt x="45" y="81"/>
                    <a:pt x="45" y="82"/>
                    <a:pt x="44" y="83"/>
                  </a:cubicBezTo>
                  <a:cubicBezTo>
                    <a:pt x="44" y="84"/>
                    <a:pt x="44" y="86"/>
                    <a:pt x="43" y="87"/>
                  </a:cubicBezTo>
                  <a:close/>
                  <a:moveTo>
                    <a:pt x="25" y="79"/>
                  </a:moveTo>
                  <a:cubicBezTo>
                    <a:pt x="24" y="78"/>
                    <a:pt x="23" y="76"/>
                    <a:pt x="23" y="73"/>
                  </a:cubicBezTo>
                  <a:cubicBezTo>
                    <a:pt x="47" y="73"/>
                    <a:pt x="47" y="73"/>
                    <a:pt x="47" y="73"/>
                  </a:cubicBezTo>
                  <a:cubicBezTo>
                    <a:pt x="47" y="75"/>
                    <a:pt x="47" y="76"/>
                    <a:pt x="46" y="77"/>
                  </a:cubicBezTo>
                  <a:lnTo>
                    <a:pt x="25" y="79"/>
                  </a:lnTo>
                  <a:close/>
                  <a:moveTo>
                    <a:pt x="35" y="96"/>
                  </a:moveTo>
                  <a:cubicBezTo>
                    <a:pt x="32" y="96"/>
                    <a:pt x="30" y="95"/>
                    <a:pt x="29" y="92"/>
                  </a:cubicBezTo>
                  <a:cubicBezTo>
                    <a:pt x="42" y="90"/>
                    <a:pt x="42" y="90"/>
                    <a:pt x="42" y="90"/>
                  </a:cubicBezTo>
                  <a:cubicBezTo>
                    <a:pt x="40" y="95"/>
                    <a:pt x="39" y="96"/>
                    <a:pt x="35" y="96"/>
                  </a:cubicBezTo>
                  <a:close/>
                  <a:moveTo>
                    <a:pt x="50" y="67"/>
                  </a:moveTo>
                  <a:cubicBezTo>
                    <a:pt x="20" y="67"/>
                    <a:pt x="20" y="67"/>
                    <a:pt x="20" y="67"/>
                  </a:cubicBezTo>
                  <a:cubicBezTo>
                    <a:pt x="19" y="64"/>
                    <a:pt x="17" y="60"/>
                    <a:pt x="15" y="57"/>
                  </a:cubicBezTo>
                  <a:cubicBezTo>
                    <a:pt x="11" y="49"/>
                    <a:pt x="6" y="41"/>
                    <a:pt x="6" y="35"/>
                  </a:cubicBezTo>
                  <a:cubicBezTo>
                    <a:pt x="6" y="19"/>
                    <a:pt x="19" y="6"/>
                    <a:pt x="35" y="6"/>
                  </a:cubicBezTo>
                  <a:cubicBezTo>
                    <a:pt x="51" y="6"/>
                    <a:pt x="64" y="19"/>
                    <a:pt x="64" y="35"/>
                  </a:cubicBezTo>
                  <a:cubicBezTo>
                    <a:pt x="64" y="41"/>
                    <a:pt x="60" y="49"/>
                    <a:pt x="55" y="57"/>
                  </a:cubicBezTo>
                  <a:cubicBezTo>
                    <a:pt x="53" y="60"/>
                    <a:pt x="52" y="64"/>
                    <a:pt x="50" y="67"/>
                  </a:cubicBezTo>
                  <a:close/>
                  <a:moveTo>
                    <a:pt x="50" y="67"/>
                  </a:moveTo>
                  <a:cubicBezTo>
                    <a:pt x="50" y="67"/>
                    <a:pt x="50" y="67"/>
                    <a:pt x="50" y="67"/>
                  </a:cubicBezTo>
                </a:path>
              </a:pathLst>
            </a:custGeom>
            <a:solidFill>
              <a:schemeClr val="bg1"/>
            </a:solidFill>
            <a:ln w="9525">
              <a:noFill/>
              <a:round/>
            </a:ln>
          </p:spPr>
          <p:txBody>
            <a:bodyPr vert="horz" wrap="square" lIns="121904" tIns="60952" rIns="121904" bIns="60952" numCol="1" anchor="t" anchorCtr="0" compatLnSpc="1"/>
            <a:lstStyle/>
            <a:p>
              <a:endParaRPr lang="en-US" sz="2400" dirty="0"/>
            </a:p>
          </p:txBody>
        </p:sp>
      </p:grpSp>
      <p:grpSp>
        <p:nvGrpSpPr>
          <p:cNvPr id="12" name="Group 49"/>
          <p:cNvGrpSpPr/>
          <p:nvPr/>
        </p:nvGrpSpPr>
        <p:grpSpPr>
          <a:xfrm>
            <a:off x="7072791" y="1429833"/>
            <a:ext cx="1359721" cy="1359721"/>
            <a:chOff x="4327964" y="1174750"/>
            <a:chExt cx="1019917" cy="1019917"/>
          </a:xfrm>
        </p:grpSpPr>
        <p:sp>
          <p:nvSpPr>
            <p:cNvPr id="13" name="Oval 41"/>
            <p:cNvSpPr/>
            <p:nvPr/>
          </p:nvSpPr>
          <p:spPr>
            <a:xfrm>
              <a:off x="4327964" y="1174750"/>
              <a:ext cx="1019917" cy="1019917"/>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Freeform 69"/>
            <p:cNvSpPr/>
            <p:nvPr/>
          </p:nvSpPr>
          <p:spPr bwMode="auto">
            <a:xfrm>
              <a:off x="4747567" y="1514986"/>
              <a:ext cx="180710" cy="339444"/>
            </a:xfrm>
            <a:custGeom>
              <a:avLst/>
              <a:gdLst/>
              <a:ahLst/>
              <a:cxnLst>
                <a:cxn ang="0">
                  <a:pos x="21" y="57"/>
                </a:cxn>
                <a:cxn ang="0">
                  <a:pos x="21" y="63"/>
                </a:cxn>
                <a:cxn ang="0">
                  <a:pos x="20" y="64"/>
                </a:cxn>
                <a:cxn ang="0">
                  <a:pos x="15" y="64"/>
                </a:cxn>
                <a:cxn ang="0">
                  <a:pos x="14" y="63"/>
                </a:cxn>
                <a:cxn ang="0">
                  <a:pos x="14" y="57"/>
                </a:cxn>
                <a:cxn ang="0">
                  <a:pos x="1" y="50"/>
                </a:cxn>
                <a:cxn ang="0">
                  <a:pos x="1" y="49"/>
                </a:cxn>
                <a:cxn ang="0">
                  <a:pos x="4" y="44"/>
                </a:cxn>
                <a:cxn ang="0">
                  <a:pos x="5" y="43"/>
                </a:cxn>
                <a:cxn ang="0">
                  <a:pos x="6" y="44"/>
                </a:cxn>
                <a:cxn ang="0">
                  <a:pos x="17" y="49"/>
                </a:cxn>
                <a:cxn ang="0">
                  <a:pos x="25" y="43"/>
                </a:cxn>
                <a:cxn ang="0">
                  <a:pos x="16" y="36"/>
                </a:cxn>
                <a:cxn ang="0">
                  <a:pos x="1" y="21"/>
                </a:cxn>
                <a:cxn ang="0">
                  <a:pos x="14" y="8"/>
                </a:cxn>
                <a:cxn ang="0">
                  <a:pos x="14" y="1"/>
                </a:cxn>
                <a:cxn ang="0">
                  <a:pos x="15" y="0"/>
                </a:cxn>
                <a:cxn ang="0">
                  <a:pos x="20" y="0"/>
                </a:cxn>
                <a:cxn ang="0">
                  <a:pos x="21" y="1"/>
                </a:cxn>
                <a:cxn ang="0">
                  <a:pos x="21" y="7"/>
                </a:cxn>
                <a:cxn ang="0">
                  <a:pos x="32" y="12"/>
                </a:cxn>
                <a:cxn ang="0">
                  <a:pos x="32" y="14"/>
                </a:cxn>
                <a:cxn ang="0">
                  <a:pos x="29" y="19"/>
                </a:cxn>
                <a:cxn ang="0">
                  <a:pos x="29" y="19"/>
                </a:cxn>
                <a:cxn ang="0">
                  <a:pos x="28" y="19"/>
                </a:cxn>
                <a:cxn ang="0">
                  <a:pos x="18" y="15"/>
                </a:cxn>
                <a:cxn ang="0">
                  <a:pos x="10" y="21"/>
                </a:cxn>
                <a:cxn ang="0">
                  <a:pos x="20" y="28"/>
                </a:cxn>
                <a:cxn ang="0">
                  <a:pos x="34" y="42"/>
                </a:cxn>
                <a:cxn ang="0">
                  <a:pos x="21" y="57"/>
                </a:cxn>
              </a:cxnLst>
              <a:rect l="0" t="0" r="r" b="b"/>
              <a:pathLst>
                <a:path w="34" h="64">
                  <a:moveTo>
                    <a:pt x="21" y="57"/>
                  </a:moveTo>
                  <a:cubicBezTo>
                    <a:pt x="21" y="63"/>
                    <a:pt x="21" y="63"/>
                    <a:pt x="21" y="63"/>
                  </a:cubicBezTo>
                  <a:cubicBezTo>
                    <a:pt x="21" y="63"/>
                    <a:pt x="20" y="64"/>
                    <a:pt x="20" y="64"/>
                  </a:cubicBezTo>
                  <a:cubicBezTo>
                    <a:pt x="15" y="64"/>
                    <a:pt x="15" y="64"/>
                    <a:pt x="15" y="64"/>
                  </a:cubicBezTo>
                  <a:cubicBezTo>
                    <a:pt x="14" y="64"/>
                    <a:pt x="14" y="63"/>
                    <a:pt x="14" y="63"/>
                  </a:cubicBezTo>
                  <a:cubicBezTo>
                    <a:pt x="14" y="57"/>
                    <a:pt x="14" y="57"/>
                    <a:pt x="14" y="57"/>
                  </a:cubicBezTo>
                  <a:cubicBezTo>
                    <a:pt x="5" y="55"/>
                    <a:pt x="1" y="50"/>
                    <a:pt x="1" y="50"/>
                  </a:cubicBezTo>
                  <a:cubicBezTo>
                    <a:pt x="0" y="50"/>
                    <a:pt x="0" y="49"/>
                    <a:pt x="1" y="49"/>
                  </a:cubicBezTo>
                  <a:cubicBezTo>
                    <a:pt x="4" y="44"/>
                    <a:pt x="4" y="44"/>
                    <a:pt x="4" y="44"/>
                  </a:cubicBezTo>
                  <a:cubicBezTo>
                    <a:pt x="4" y="44"/>
                    <a:pt x="5" y="43"/>
                    <a:pt x="5" y="43"/>
                  </a:cubicBezTo>
                  <a:cubicBezTo>
                    <a:pt x="5" y="43"/>
                    <a:pt x="6" y="44"/>
                    <a:pt x="6" y="44"/>
                  </a:cubicBezTo>
                  <a:cubicBezTo>
                    <a:pt x="6" y="44"/>
                    <a:pt x="11" y="49"/>
                    <a:pt x="17" y="49"/>
                  </a:cubicBezTo>
                  <a:cubicBezTo>
                    <a:pt x="21" y="49"/>
                    <a:pt x="25" y="47"/>
                    <a:pt x="25" y="43"/>
                  </a:cubicBezTo>
                  <a:cubicBezTo>
                    <a:pt x="25" y="39"/>
                    <a:pt x="20" y="38"/>
                    <a:pt x="16" y="36"/>
                  </a:cubicBezTo>
                  <a:cubicBezTo>
                    <a:pt x="9" y="33"/>
                    <a:pt x="1" y="30"/>
                    <a:pt x="1" y="21"/>
                  </a:cubicBezTo>
                  <a:cubicBezTo>
                    <a:pt x="1" y="14"/>
                    <a:pt x="6" y="9"/>
                    <a:pt x="14" y="8"/>
                  </a:cubicBezTo>
                  <a:cubicBezTo>
                    <a:pt x="14" y="1"/>
                    <a:pt x="14" y="1"/>
                    <a:pt x="14" y="1"/>
                  </a:cubicBezTo>
                  <a:cubicBezTo>
                    <a:pt x="14" y="0"/>
                    <a:pt x="14" y="0"/>
                    <a:pt x="15" y="0"/>
                  </a:cubicBezTo>
                  <a:cubicBezTo>
                    <a:pt x="20" y="0"/>
                    <a:pt x="20" y="0"/>
                    <a:pt x="20" y="0"/>
                  </a:cubicBezTo>
                  <a:cubicBezTo>
                    <a:pt x="20" y="0"/>
                    <a:pt x="21" y="0"/>
                    <a:pt x="21" y="1"/>
                  </a:cubicBezTo>
                  <a:cubicBezTo>
                    <a:pt x="21" y="7"/>
                    <a:pt x="21" y="7"/>
                    <a:pt x="21" y="7"/>
                  </a:cubicBezTo>
                  <a:cubicBezTo>
                    <a:pt x="28" y="8"/>
                    <a:pt x="32" y="12"/>
                    <a:pt x="32" y="12"/>
                  </a:cubicBezTo>
                  <a:cubicBezTo>
                    <a:pt x="33" y="13"/>
                    <a:pt x="33" y="13"/>
                    <a:pt x="32" y="14"/>
                  </a:cubicBezTo>
                  <a:cubicBezTo>
                    <a:pt x="29" y="19"/>
                    <a:pt x="29" y="19"/>
                    <a:pt x="29" y="19"/>
                  </a:cubicBezTo>
                  <a:cubicBezTo>
                    <a:pt x="29" y="19"/>
                    <a:pt x="29" y="19"/>
                    <a:pt x="29" y="19"/>
                  </a:cubicBezTo>
                  <a:cubicBezTo>
                    <a:pt x="28" y="19"/>
                    <a:pt x="28" y="19"/>
                    <a:pt x="28" y="19"/>
                  </a:cubicBezTo>
                  <a:cubicBezTo>
                    <a:pt x="28" y="19"/>
                    <a:pt x="23" y="15"/>
                    <a:pt x="18" y="15"/>
                  </a:cubicBezTo>
                  <a:cubicBezTo>
                    <a:pt x="13" y="15"/>
                    <a:pt x="10" y="18"/>
                    <a:pt x="10" y="21"/>
                  </a:cubicBezTo>
                  <a:cubicBezTo>
                    <a:pt x="10" y="25"/>
                    <a:pt x="15" y="26"/>
                    <a:pt x="20" y="28"/>
                  </a:cubicBezTo>
                  <a:cubicBezTo>
                    <a:pt x="26" y="31"/>
                    <a:pt x="34" y="34"/>
                    <a:pt x="34" y="42"/>
                  </a:cubicBezTo>
                  <a:cubicBezTo>
                    <a:pt x="34" y="50"/>
                    <a:pt x="28" y="55"/>
                    <a:pt x="21" y="57"/>
                  </a:cubicBezTo>
                  <a:close/>
                </a:path>
              </a:pathLst>
            </a:custGeom>
            <a:solidFill>
              <a:schemeClr val="bg1"/>
            </a:solidFill>
            <a:ln w="9525">
              <a:noFill/>
              <a:round/>
            </a:ln>
          </p:spPr>
          <p:txBody>
            <a:bodyPr vert="horz" wrap="square" lIns="121904" tIns="60952" rIns="121904" bIns="60952" numCol="1" anchor="t" anchorCtr="0" compatLnSpc="1"/>
            <a:lstStyle/>
            <a:p>
              <a:endParaRPr lang="en-US" sz="2400" dirty="0"/>
            </a:p>
          </p:txBody>
        </p:sp>
      </p:grpSp>
      <p:grpSp>
        <p:nvGrpSpPr>
          <p:cNvPr id="15" name="Group 50"/>
          <p:cNvGrpSpPr/>
          <p:nvPr/>
        </p:nvGrpSpPr>
        <p:grpSpPr>
          <a:xfrm>
            <a:off x="7072791" y="4436672"/>
            <a:ext cx="1359721" cy="1359721"/>
            <a:chOff x="5349381" y="2021455"/>
            <a:chExt cx="1019917" cy="1019917"/>
          </a:xfrm>
        </p:grpSpPr>
        <p:sp>
          <p:nvSpPr>
            <p:cNvPr id="16" name="Oval 40"/>
            <p:cNvSpPr/>
            <p:nvPr/>
          </p:nvSpPr>
          <p:spPr>
            <a:xfrm>
              <a:off x="5349381" y="2021455"/>
              <a:ext cx="1019917" cy="1019917"/>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7" name="Freeform 23"/>
            <p:cNvSpPr>
              <a:spLocks noEditPoints="1"/>
            </p:cNvSpPr>
            <p:nvPr/>
          </p:nvSpPr>
          <p:spPr bwMode="auto">
            <a:xfrm>
              <a:off x="5726789" y="2387386"/>
              <a:ext cx="284485" cy="269002"/>
            </a:xfrm>
            <a:custGeom>
              <a:avLst/>
              <a:gdLst/>
              <a:ahLst/>
              <a:cxnLst>
                <a:cxn ang="0">
                  <a:pos x="68" y="14"/>
                </a:cxn>
                <a:cxn ang="0">
                  <a:pos x="68" y="18"/>
                </a:cxn>
                <a:cxn ang="0">
                  <a:pos x="64" y="18"/>
                </a:cxn>
                <a:cxn ang="0">
                  <a:pos x="61" y="21"/>
                </a:cxn>
                <a:cxn ang="0">
                  <a:pos x="7" y="21"/>
                </a:cxn>
                <a:cxn ang="0">
                  <a:pos x="4" y="18"/>
                </a:cxn>
                <a:cxn ang="0">
                  <a:pos x="0" y="18"/>
                </a:cxn>
                <a:cxn ang="0">
                  <a:pos x="0" y="14"/>
                </a:cxn>
                <a:cxn ang="0">
                  <a:pos x="34" y="0"/>
                </a:cxn>
                <a:cxn ang="0">
                  <a:pos x="68" y="14"/>
                </a:cxn>
                <a:cxn ang="0">
                  <a:pos x="68" y="60"/>
                </a:cxn>
                <a:cxn ang="0">
                  <a:pos x="68" y="64"/>
                </a:cxn>
                <a:cxn ang="0">
                  <a:pos x="0" y="64"/>
                </a:cxn>
                <a:cxn ang="0">
                  <a:pos x="0" y="60"/>
                </a:cxn>
                <a:cxn ang="0">
                  <a:pos x="2" y="57"/>
                </a:cxn>
                <a:cxn ang="0">
                  <a:pos x="66" y="57"/>
                </a:cxn>
                <a:cxn ang="0">
                  <a:pos x="68" y="60"/>
                </a:cxn>
                <a:cxn ang="0">
                  <a:pos x="18" y="23"/>
                </a:cxn>
                <a:cxn ang="0">
                  <a:pos x="18" y="50"/>
                </a:cxn>
                <a:cxn ang="0">
                  <a:pos x="23" y="50"/>
                </a:cxn>
                <a:cxn ang="0">
                  <a:pos x="23" y="23"/>
                </a:cxn>
                <a:cxn ang="0">
                  <a:pos x="32" y="23"/>
                </a:cxn>
                <a:cxn ang="0">
                  <a:pos x="32" y="50"/>
                </a:cxn>
                <a:cxn ang="0">
                  <a:pos x="36" y="50"/>
                </a:cxn>
                <a:cxn ang="0">
                  <a:pos x="36" y="23"/>
                </a:cxn>
                <a:cxn ang="0">
                  <a:pos x="45" y="23"/>
                </a:cxn>
                <a:cxn ang="0">
                  <a:pos x="45" y="50"/>
                </a:cxn>
                <a:cxn ang="0">
                  <a:pos x="50" y="50"/>
                </a:cxn>
                <a:cxn ang="0">
                  <a:pos x="50" y="23"/>
                </a:cxn>
                <a:cxn ang="0">
                  <a:pos x="59" y="23"/>
                </a:cxn>
                <a:cxn ang="0">
                  <a:pos x="59" y="50"/>
                </a:cxn>
                <a:cxn ang="0">
                  <a:pos x="61" y="50"/>
                </a:cxn>
                <a:cxn ang="0">
                  <a:pos x="64" y="53"/>
                </a:cxn>
                <a:cxn ang="0">
                  <a:pos x="64" y="55"/>
                </a:cxn>
                <a:cxn ang="0">
                  <a:pos x="4" y="55"/>
                </a:cxn>
                <a:cxn ang="0">
                  <a:pos x="4" y="53"/>
                </a:cxn>
                <a:cxn ang="0">
                  <a:pos x="7" y="50"/>
                </a:cxn>
                <a:cxn ang="0">
                  <a:pos x="9" y="50"/>
                </a:cxn>
                <a:cxn ang="0">
                  <a:pos x="9" y="23"/>
                </a:cxn>
                <a:cxn ang="0">
                  <a:pos x="18" y="23"/>
                </a:cxn>
              </a:cxnLst>
              <a:rect l="0" t="0" r="r" b="b"/>
              <a:pathLst>
                <a:path w="68" h="64">
                  <a:moveTo>
                    <a:pt x="68" y="14"/>
                  </a:moveTo>
                  <a:cubicBezTo>
                    <a:pt x="68" y="18"/>
                    <a:pt x="68" y="18"/>
                    <a:pt x="68" y="18"/>
                  </a:cubicBezTo>
                  <a:cubicBezTo>
                    <a:pt x="64" y="18"/>
                    <a:pt x="64" y="18"/>
                    <a:pt x="64" y="18"/>
                  </a:cubicBezTo>
                  <a:cubicBezTo>
                    <a:pt x="64" y="20"/>
                    <a:pt x="63" y="21"/>
                    <a:pt x="61" y="21"/>
                  </a:cubicBezTo>
                  <a:cubicBezTo>
                    <a:pt x="7" y="21"/>
                    <a:pt x="7" y="21"/>
                    <a:pt x="7" y="21"/>
                  </a:cubicBezTo>
                  <a:cubicBezTo>
                    <a:pt x="5" y="21"/>
                    <a:pt x="4" y="20"/>
                    <a:pt x="4" y="18"/>
                  </a:cubicBezTo>
                  <a:cubicBezTo>
                    <a:pt x="0" y="18"/>
                    <a:pt x="0" y="18"/>
                    <a:pt x="0" y="18"/>
                  </a:cubicBezTo>
                  <a:cubicBezTo>
                    <a:pt x="0" y="14"/>
                    <a:pt x="0" y="14"/>
                    <a:pt x="0" y="14"/>
                  </a:cubicBezTo>
                  <a:cubicBezTo>
                    <a:pt x="34" y="0"/>
                    <a:pt x="34" y="0"/>
                    <a:pt x="34" y="0"/>
                  </a:cubicBezTo>
                  <a:lnTo>
                    <a:pt x="68" y="14"/>
                  </a:lnTo>
                  <a:close/>
                  <a:moveTo>
                    <a:pt x="68" y="60"/>
                  </a:moveTo>
                  <a:cubicBezTo>
                    <a:pt x="68" y="64"/>
                    <a:pt x="68" y="64"/>
                    <a:pt x="68" y="64"/>
                  </a:cubicBezTo>
                  <a:cubicBezTo>
                    <a:pt x="0" y="64"/>
                    <a:pt x="0" y="64"/>
                    <a:pt x="0" y="64"/>
                  </a:cubicBezTo>
                  <a:cubicBezTo>
                    <a:pt x="0" y="60"/>
                    <a:pt x="0" y="60"/>
                    <a:pt x="0" y="60"/>
                  </a:cubicBezTo>
                  <a:cubicBezTo>
                    <a:pt x="0" y="58"/>
                    <a:pt x="1" y="57"/>
                    <a:pt x="2" y="57"/>
                  </a:cubicBezTo>
                  <a:cubicBezTo>
                    <a:pt x="66" y="57"/>
                    <a:pt x="66" y="57"/>
                    <a:pt x="66" y="57"/>
                  </a:cubicBezTo>
                  <a:cubicBezTo>
                    <a:pt x="67" y="57"/>
                    <a:pt x="68" y="58"/>
                    <a:pt x="68" y="60"/>
                  </a:cubicBezTo>
                  <a:close/>
                  <a:moveTo>
                    <a:pt x="18" y="23"/>
                  </a:moveTo>
                  <a:cubicBezTo>
                    <a:pt x="18" y="50"/>
                    <a:pt x="18" y="50"/>
                    <a:pt x="18" y="50"/>
                  </a:cubicBezTo>
                  <a:cubicBezTo>
                    <a:pt x="23" y="50"/>
                    <a:pt x="23" y="50"/>
                    <a:pt x="23" y="50"/>
                  </a:cubicBezTo>
                  <a:cubicBezTo>
                    <a:pt x="23" y="23"/>
                    <a:pt x="23" y="23"/>
                    <a:pt x="23" y="23"/>
                  </a:cubicBezTo>
                  <a:cubicBezTo>
                    <a:pt x="32" y="23"/>
                    <a:pt x="32" y="23"/>
                    <a:pt x="32" y="23"/>
                  </a:cubicBezTo>
                  <a:cubicBezTo>
                    <a:pt x="32" y="50"/>
                    <a:pt x="32" y="50"/>
                    <a:pt x="32" y="50"/>
                  </a:cubicBezTo>
                  <a:cubicBezTo>
                    <a:pt x="36" y="50"/>
                    <a:pt x="36" y="50"/>
                    <a:pt x="36" y="50"/>
                  </a:cubicBezTo>
                  <a:cubicBezTo>
                    <a:pt x="36" y="23"/>
                    <a:pt x="36" y="23"/>
                    <a:pt x="36" y="23"/>
                  </a:cubicBezTo>
                  <a:cubicBezTo>
                    <a:pt x="45" y="23"/>
                    <a:pt x="45" y="23"/>
                    <a:pt x="45" y="23"/>
                  </a:cubicBezTo>
                  <a:cubicBezTo>
                    <a:pt x="45" y="50"/>
                    <a:pt x="45" y="50"/>
                    <a:pt x="45" y="50"/>
                  </a:cubicBezTo>
                  <a:cubicBezTo>
                    <a:pt x="50" y="50"/>
                    <a:pt x="50" y="50"/>
                    <a:pt x="50" y="50"/>
                  </a:cubicBezTo>
                  <a:cubicBezTo>
                    <a:pt x="50" y="23"/>
                    <a:pt x="50" y="23"/>
                    <a:pt x="50" y="23"/>
                  </a:cubicBezTo>
                  <a:cubicBezTo>
                    <a:pt x="59" y="23"/>
                    <a:pt x="59" y="23"/>
                    <a:pt x="59" y="23"/>
                  </a:cubicBezTo>
                  <a:cubicBezTo>
                    <a:pt x="59" y="50"/>
                    <a:pt x="59" y="50"/>
                    <a:pt x="59" y="50"/>
                  </a:cubicBezTo>
                  <a:cubicBezTo>
                    <a:pt x="61" y="50"/>
                    <a:pt x="61" y="50"/>
                    <a:pt x="61" y="50"/>
                  </a:cubicBezTo>
                  <a:cubicBezTo>
                    <a:pt x="63" y="50"/>
                    <a:pt x="64" y="51"/>
                    <a:pt x="64" y="53"/>
                  </a:cubicBezTo>
                  <a:cubicBezTo>
                    <a:pt x="64" y="55"/>
                    <a:pt x="64" y="55"/>
                    <a:pt x="64" y="55"/>
                  </a:cubicBezTo>
                  <a:cubicBezTo>
                    <a:pt x="4" y="55"/>
                    <a:pt x="4" y="55"/>
                    <a:pt x="4" y="55"/>
                  </a:cubicBezTo>
                  <a:cubicBezTo>
                    <a:pt x="4" y="53"/>
                    <a:pt x="4" y="53"/>
                    <a:pt x="4" y="53"/>
                  </a:cubicBezTo>
                  <a:cubicBezTo>
                    <a:pt x="4" y="51"/>
                    <a:pt x="5" y="50"/>
                    <a:pt x="7" y="50"/>
                  </a:cubicBezTo>
                  <a:cubicBezTo>
                    <a:pt x="9" y="50"/>
                    <a:pt x="9" y="50"/>
                    <a:pt x="9" y="50"/>
                  </a:cubicBezTo>
                  <a:cubicBezTo>
                    <a:pt x="9" y="23"/>
                    <a:pt x="9" y="23"/>
                    <a:pt x="9" y="23"/>
                  </a:cubicBezTo>
                  <a:lnTo>
                    <a:pt x="18" y="23"/>
                  </a:lnTo>
                  <a:close/>
                </a:path>
              </a:pathLst>
            </a:custGeom>
            <a:solidFill>
              <a:schemeClr val="bg1"/>
            </a:solidFill>
            <a:ln w="9525">
              <a:noFill/>
              <a:round/>
            </a:ln>
          </p:spPr>
          <p:txBody>
            <a:bodyPr vert="horz" wrap="square" lIns="121904" tIns="60952" rIns="121904" bIns="60952" numCol="1" anchor="t" anchorCtr="0" compatLnSpc="1"/>
            <a:lstStyle/>
            <a:p>
              <a:endParaRPr lang="en-US" sz="2400" dirty="0"/>
            </a:p>
          </p:txBody>
        </p:sp>
      </p:grpSp>
      <p:grpSp>
        <p:nvGrpSpPr>
          <p:cNvPr id="18" name="Group 51"/>
          <p:cNvGrpSpPr/>
          <p:nvPr/>
        </p:nvGrpSpPr>
        <p:grpSpPr>
          <a:xfrm>
            <a:off x="3657902" y="4436672"/>
            <a:ext cx="1359721" cy="1359721"/>
            <a:chOff x="5067559" y="3203756"/>
            <a:chExt cx="1019917" cy="1019917"/>
          </a:xfrm>
        </p:grpSpPr>
        <p:sp>
          <p:nvSpPr>
            <p:cNvPr id="19" name="Oval 39"/>
            <p:cNvSpPr/>
            <p:nvPr/>
          </p:nvSpPr>
          <p:spPr>
            <a:xfrm>
              <a:off x="5067559" y="3203756"/>
              <a:ext cx="1019917" cy="1019917"/>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0" name="Freeform 57"/>
            <p:cNvSpPr>
              <a:spLocks noEditPoints="1"/>
            </p:cNvSpPr>
            <p:nvPr/>
          </p:nvSpPr>
          <p:spPr bwMode="auto">
            <a:xfrm>
              <a:off x="5444281" y="3595597"/>
              <a:ext cx="266472" cy="236235"/>
            </a:xfrm>
            <a:custGeom>
              <a:avLst/>
              <a:gdLst/>
              <a:ahLst/>
              <a:cxnLst>
                <a:cxn ang="0">
                  <a:pos x="7" y="9"/>
                </a:cxn>
                <a:cxn ang="0">
                  <a:pos x="7" y="57"/>
                </a:cxn>
                <a:cxn ang="0">
                  <a:pos x="6" y="58"/>
                </a:cxn>
                <a:cxn ang="0">
                  <a:pos x="4" y="58"/>
                </a:cxn>
                <a:cxn ang="0">
                  <a:pos x="2" y="57"/>
                </a:cxn>
                <a:cxn ang="0">
                  <a:pos x="2" y="9"/>
                </a:cxn>
                <a:cxn ang="0">
                  <a:pos x="0" y="4"/>
                </a:cxn>
                <a:cxn ang="0">
                  <a:pos x="5" y="0"/>
                </a:cxn>
                <a:cxn ang="0">
                  <a:pos x="10" y="4"/>
                </a:cxn>
                <a:cxn ang="0">
                  <a:pos x="7" y="9"/>
                </a:cxn>
                <a:cxn ang="0">
                  <a:pos x="65" y="36"/>
                </a:cxn>
                <a:cxn ang="0">
                  <a:pos x="63" y="38"/>
                </a:cxn>
                <a:cxn ang="0">
                  <a:pos x="49" y="43"/>
                </a:cxn>
                <a:cxn ang="0">
                  <a:pos x="31" y="37"/>
                </a:cxn>
                <a:cxn ang="0">
                  <a:pos x="13" y="43"/>
                </a:cxn>
                <a:cxn ang="0">
                  <a:pos x="12" y="43"/>
                </a:cxn>
                <a:cxn ang="0">
                  <a:pos x="10" y="41"/>
                </a:cxn>
                <a:cxn ang="0">
                  <a:pos x="10" y="13"/>
                </a:cxn>
                <a:cxn ang="0">
                  <a:pos x="11" y="11"/>
                </a:cxn>
                <a:cxn ang="0">
                  <a:pos x="14" y="9"/>
                </a:cxn>
                <a:cxn ang="0">
                  <a:pos x="30" y="4"/>
                </a:cxn>
                <a:cxn ang="0">
                  <a:pos x="46" y="9"/>
                </a:cxn>
                <a:cxn ang="0">
                  <a:pos x="49" y="10"/>
                </a:cxn>
                <a:cxn ang="0">
                  <a:pos x="63" y="4"/>
                </a:cxn>
                <a:cxn ang="0">
                  <a:pos x="65" y="7"/>
                </a:cxn>
                <a:cxn ang="0">
                  <a:pos x="65" y="36"/>
                </a:cxn>
              </a:cxnLst>
              <a:rect l="0" t="0" r="r" b="b"/>
              <a:pathLst>
                <a:path w="65" h="58">
                  <a:moveTo>
                    <a:pt x="7" y="9"/>
                  </a:moveTo>
                  <a:cubicBezTo>
                    <a:pt x="7" y="57"/>
                    <a:pt x="7" y="57"/>
                    <a:pt x="7" y="57"/>
                  </a:cubicBezTo>
                  <a:cubicBezTo>
                    <a:pt x="7" y="57"/>
                    <a:pt x="7" y="58"/>
                    <a:pt x="6" y="58"/>
                  </a:cubicBezTo>
                  <a:cubicBezTo>
                    <a:pt x="4" y="58"/>
                    <a:pt x="4" y="58"/>
                    <a:pt x="4" y="58"/>
                  </a:cubicBezTo>
                  <a:cubicBezTo>
                    <a:pt x="3" y="58"/>
                    <a:pt x="2" y="57"/>
                    <a:pt x="2" y="57"/>
                  </a:cubicBezTo>
                  <a:cubicBezTo>
                    <a:pt x="2" y="9"/>
                    <a:pt x="2" y="9"/>
                    <a:pt x="2" y="9"/>
                  </a:cubicBezTo>
                  <a:cubicBezTo>
                    <a:pt x="1" y="8"/>
                    <a:pt x="0" y="6"/>
                    <a:pt x="0" y="4"/>
                  </a:cubicBezTo>
                  <a:cubicBezTo>
                    <a:pt x="0" y="2"/>
                    <a:pt x="2" y="0"/>
                    <a:pt x="5" y="0"/>
                  </a:cubicBezTo>
                  <a:cubicBezTo>
                    <a:pt x="7" y="0"/>
                    <a:pt x="10" y="2"/>
                    <a:pt x="10" y="4"/>
                  </a:cubicBezTo>
                  <a:cubicBezTo>
                    <a:pt x="10" y="6"/>
                    <a:pt x="9" y="8"/>
                    <a:pt x="7" y="9"/>
                  </a:cubicBezTo>
                  <a:close/>
                  <a:moveTo>
                    <a:pt x="65" y="36"/>
                  </a:moveTo>
                  <a:cubicBezTo>
                    <a:pt x="65" y="37"/>
                    <a:pt x="65" y="38"/>
                    <a:pt x="63" y="38"/>
                  </a:cubicBezTo>
                  <a:cubicBezTo>
                    <a:pt x="59" y="41"/>
                    <a:pt x="54" y="43"/>
                    <a:pt x="49" y="43"/>
                  </a:cubicBezTo>
                  <a:cubicBezTo>
                    <a:pt x="43" y="43"/>
                    <a:pt x="39" y="37"/>
                    <a:pt x="31" y="37"/>
                  </a:cubicBezTo>
                  <a:cubicBezTo>
                    <a:pt x="25" y="37"/>
                    <a:pt x="19" y="40"/>
                    <a:pt x="13" y="43"/>
                  </a:cubicBezTo>
                  <a:cubicBezTo>
                    <a:pt x="13" y="43"/>
                    <a:pt x="12" y="43"/>
                    <a:pt x="12" y="43"/>
                  </a:cubicBezTo>
                  <a:cubicBezTo>
                    <a:pt x="11" y="43"/>
                    <a:pt x="10" y="42"/>
                    <a:pt x="10" y="41"/>
                  </a:cubicBezTo>
                  <a:cubicBezTo>
                    <a:pt x="10" y="13"/>
                    <a:pt x="10" y="13"/>
                    <a:pt x="10" y="13"/>
                  </a:cubicBezTo>
                  <a:cubicBezTo>
                    <a:pt x="10" y="12"/>
                    <a:pt x="10" y="11"/>
                    <a:pt x="11" y="11"/>
                  </a:cubicBezTo>
                  <a:cubicBezTo>
                    <a:pt x="12" y="10"/>
                    <a:pt x="13" y="9"/>
                    <a:pt x="14" y="9"/>
                  </a:cubicBezTo>
                  <a:cubicBezTo>
                    <a:pt x="19" y="7"/>
                    <a:pt x="24" y="4"/>
                    <a:pt x="30" y="4"/>
                  </a:cubicBezTo>
                  <a:cubicBezTo>
                    <a:pt x="36" y="4"/>
                    <a:pt x="40" y="6"/>
                    <a:pt x="46" y="9"/>
                  </a:cubicBezTo>
                  <a:cubicBezTo>
                    <a:pt x="47" y="9"/>
                    <a:pt x="48" y="10"/>
                    <a:pt x="49" y="10"/>
                  </a:cubicBezTo>
                  <a:cubicBezTo>
                    <a:pt x="55" y="10"/>
                    <a:pt x="61" y="4"/>
                    <a:pt x="63" y="4"/>
                  </a:cubicBezTo>
                  <a:cubicBezTo>
                    <a:pt x="64" y="4"/>
                    <a:pt x="65" y="6"/>
                    <a:pt x="65" y="7"/>
                  </a:cubicBezTo>
                  <a:lnTo>
                    <a:pt x="65" y="36"/>
                  </a:lnTo>
                  <a:close/>
                </a:path>
              </a:pathLst>
            </a:custGeom>
            <a:solidFill>
              <a:schemeClr val="bg1"/>
            </a:solidFill>
            <a:ln w="9525">
              <a:noFill/>
              <a:round/>
            </a:ln>
          </p:spPr>
          <p:txBody>
            <a:bodyPr vert="horz" wrap="square" lIns="121904" tIns="60952" rIns="121904" bIns="60952" numCol="1" anchor="t" anchorCtr="0" compatLnSpc="1"/>
            <a:lstStyle/>
            <a:p>
              <a:endParaRPr lang="en-US" sz="2400" dirty="0"/>
            </a:p>
          </p:txBody>
        </p:sp>
      </p:grpSp>
      <p:grpSp>
        <p:nvGrpSpPr>
          <p:cNvPr id="21" name="Group 52"/>
          <p:cNvGrpSpPr/>
          <p:nvPr/>
        </p:nvGrpSpPr>
        <p:grpSpPr>
          <a:xfrm>
            <a:off x="5433073" y="2967731"/>
            <a:ext cx="1359721" cy="1359721"/>
            <a:chOff x="3795508" y="3664275"/>
            <a:chExt cx="1019917" cy="1019917"/>
          </a:xfrm>
        </p:grpSpPr>
        <p:sp>
          <p:nvSpPr>
            <p:cNvPr id="22" name="Oval 38"/>
            <p:cNvSpPr/>
            <p:nvPr/>
          </p:nvSpPr>
          <p:spPr>
            <a:xfrm>
              <a:off x="3795508" y="3664275"/>
              <a:ext cx="1019917" cy="1019917"/>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3" name="Freeform 83"/>
            <p:cNvSpPr>
              <a:spLocks noEditPoints="1"/>
            </p:cNvSpPr>
            <p:nvPr/>
          </p:nvSpPr>
          <p:spPr bwMode="auto">
            <a:xfrm>
              <a:off x="4164383" y="3976896"/>
              <a:ext cx="263118" cy="394674"/>
            </a:xfrm>
            <a:custGeom>
              <a:avLst/>
              <a:gdLst/>
              <a:ahLst/>
              <a:cxnLst>
                <a:cxn ang="0">
                  <a:pos x="38" y="26"/>
                </a:cxn>
                <a:cxn ang="0">
                  <a:pos x="24" y="55"/>
                </a:cxn>
                <a:cxn ang="0">
                  <a:pos x="20" y="58"/>
                </a:cxn>
                <a:cxn ang="0">
                  <a:pos x="16" y="55"/>
                </a:cxn>
                <a:cxn ang="0">
                  <a:pos x="2" y="26"/>
                </a:cxn>
                <a:cxn ang="0">
                  <a:pos x="0" y="19"/>
                </a:cxn>
                <a:cxn ang="0">
                  <a:pos x="20" y="0"/>
                </a:cxn>
                <a:cxn ang="0">
                  <a:pos x="39" y="19"/>
                </a:cxn>
                <a:cxn ang="0">
                  <a:pos x="38" y="26"/>
                </a:cxn>
                <a:cxn ang="0">
                  <a:pos x="20" y="9"/>
                </a:cxn>
                <a:cxn ang="0">
                  <a:pos x="10" y="19"/>
                </a:cxn>
                <a:cxn ang="0">
                  <a:pos x="20" y="29"/>
                </a:cxn>
                <a:cxn ang="0">
                  <a:pos x="30" y="19"/>
                </a:cxn>
                <a:cxn ang="0">
                  <a:pos x="20" y="9"/>
                </a:cxn>
              </a:cxnLst>
              <a:rect l="0" t="0" r="r" b="b"/>
              <a:pathLst>
                <a:path w="39" h="58">
                  <a:moveTo>
                    <a:pt x="38" y="26"/>
                  </a:moveTo>
                  <a:cubicBezTo>
                    <a:pt x="24" y="55"/>
                    <a:pt x="24" y="55"/>
                    <a:pt x="24" y="55"/>
                  </a:cubicBezTo>
                  <a:cubicBezTo>
                    <a:pt x="23" y="57"/>
                    <a:pt x="22" y="58"/>
                    <a:pt x="20" y="58"/>
                  </a:cubicBezTo>
                  <a:cubicBezTo>
                    <a:pt x="18" y="58"/>
                    <a:pt x="16" y="57"/>
                    <a:pt x="16" y="55"/>
                  </a:cubicBezTo>
                  <a:cubicBezTo>
                    <a:pt x="2" y="26"/>
                    <a:pt x="2" y="26"/>
                    <a:pt x="2" y="26"/>
                  </a:cubicBezTo>
                  <a:cubicBezTo>
                    <a:pt x="1" y="24"/>
                    <a:pt x="0" y="21"/>
                    <a:pt x="0" y="19"/>
                  </a:cubicBezTo>
                  <a:cubicBezTo>
                    <a:pt x="0" y="8"/>
                    <a:pt x="9" y="0"/>
                    <a:pt x="20" y="0"/>
                  </a:cubicBezTo>
                  <a:cubicBezTo>
                    <a:pt x="31" y="0"/>
                    <a:pt x="39" y="8"/>
                    <a:pt x="39" y="19"/>
                  </a:cubicBezTo>
                  <a:cubicBezTo>
                    <a:pt x="39" y="21"/>
                    <a:pt x="39" y="24"/>
                    <a:pt x="38" y="26"/>
                  </a:cubicBezTo>
                  <a:close/>
                  <a:moveTo>
                    <a:pt x="20" y="9"/>
                  </a:moveTo>
                  <a:cubicBezTo>
                    <a:pt x="15" y="9"/>
                    <a:pt x="10" y="14"/>
                    <a:pt x="10" y="19"/>
                  </a:cubicBezTo>
                  <a:cubicBezTo>
                    <a:pt x="10" y="24"/>
                    <a:pt x="15" y="29"/>
                    <a:pt x="20" y="29"/>
                  </a:cubicBezTo>
                  <a:cubicBezTo>
                    <a:pt x="25" y="29"/>
                    <a:pt x="30" y="24"/>
                    <a:pt x="30" y="19"/>
                  </a:cubicBezTo>
                  <a:cubicBezTo>
                    <a:pt x="30" y="14"/>
                    <a:pt x="25" y="9"/>
                    <a:pt x="20" y="9"/>
                  </a:cubicBezTo>
                  <a:close/>
                </a:path>
              </a:pathLst>
            </a:custGeom>
            <a:solidFill>
              <a:schemeClr val="bg1"/>
            </a:solidFill>
            <a:ln w="9525">
              <a:noFill/>
              <a:round/>
            </a:ln>
          </p:spPr>
          <p:txBody>
            <a:bodyPr vert="horz" wrap="square" lIns="121904" tIns="60952" rIns="121904" bIns="60952" numCol="1" anchor="t" anchorCtr="0" compatLnSpc="1"/>
            <a:lstStyle/>
            <a:p>
              <a:endParaRPr lang="en-US" sz="2400" dirty="0"/>
            </a:p>
          </p:txBody>
        </p:sp>
      </p:grpSp>
      <p:sp>
        <p:nvSpPr>
          <p:cNvPr id="26" name="TextBox 25"/>
          <p:cNvSpPr txBox="1"/>
          <p:nvPr/>
        </p:nvSpPr>
        <p:spPr>
          <a:xfrm>
            <a:off x="8532830" y="1736120"/>
            <a:ext cx="2794000" cy="615315"/>
          </a:xfrm>
          <a:prstGeom prst="rect">
            <a:avLst/>
          </a:prstGeom>
          <a:noFill/>
        </p:spPr>
        <p:txBody>
          <a:bodyPr wrap="none" lIns="0" tIns="0" rIns="0" bIns="0" rtlCol="0" anchor="ctr">
            <a:spAutoFit/>
          </a:bodyPr>
          <a:lstStyle/>
          <a:p>
            <a:pPr algn="l"/>
            <a:r>
              <a:rPr lang="zh-CN" altLang="en-US" sz="2000" b="1" dirty="0">
                <a:solidFill>
                  <a:srgbClr val="0070C0"/>
                </a:solidFill>
                <a:latin typeface="微软雅黑" panose="020B0503020204020204" pitchFamily="34" charset="-122"/>
                <a:ea typeface="微软雅黑" panose="020B0503020204020204" pitchFamily="34" charset="-122"/>
              </a:rPr>
              <a:t>根据基本流和各项备选流</a:t>
            </a:r>
            <a:endParaRPr lang="zh-CN" altLang="en-US" sz="2000" b="1" dirty="0">
              <a:solidFill>
                <a:srgbClr val="0070C0"/>
              </a:solidFill>
              <a:latin typeface="微软雅黑" panose="020B0503020204020204" pitchFamily="34" charset="-122"/>
              <a:ea typeface="微软雅黑" panose="020B0503020204020204" pitchFamily="34" charset="-122"/>
            </a:endParaRPr>
          </a:p>
          <a:p>
            <a:pPr algn="l"/>
            <a:r>
              <a:rPr lang="zh-CN" altLang="en-US" sz="2000" b="1" dirty="0">
                <a:solidFill>
                  <a:srgbClr val="0070C0"/>
                </a:solidFill>
                <a:latin typeface="微软雅黑" panose="020B0503020204020204" pitchFamily="34" charset="-122"/>
                <a:ea typeface="微软雅黑" panose="020B0503020204020204" pitchFamily="34" charset="-122"/>
              </a:rPr>
              <a:t>生成不同的场景</a:t>
            </a:r>
            <a:endParaRPr lang="zh-CN" altLang="en-US" sz="2000" b="1" dirty="0">
              <a:solidFill>
                <a:srgbClr val="0070C0"/>
              </a:solidFill>
              <a:latin typeface="微软雅黑" panose="020B0503020204020204" pitchFamily="34" charset="-122"/>
              <a:ea typeface="微软雅黑" panose="020B0503020204020204" pitchFamily="34" charset="-122"/>
            </a:endParaRPr>
          </a:p>
        </p:txBody>
      </p:sp>
      <p:sp>
        <p:nvSpPr>
          <p:cNvPr id="29" name="TextBox 28"/>
          <p:cNvSpPr txBox="1"/>
          <p:nvPr/>
        </p:nvSpPr>
        <p:spPr>
          <a:xfrm>
            <a:off x="8592512" y="4874221"/>
            <a:ext cx="3293973" cy="615315"/>
          </a:xfrm>
          <a:prstGeom prst="rect">
            <a:avLst/>
          </a:prstGeom>
          <a:noFill/>
        </p:spPr>
        <p:txBody>
          <a:bodyPr wrap="square" lIns="0" tIns="0" rIns="0" bIns="0" rtlCol="0" anchor="ctr">
            <a:spAutoFit/>
          </a:bodyPr>
          <a:lstStyle/>
          <a:p>
            <a:pPr algn="l"/>
            <a:r>
              <a:rPr lang="zh-CN" altLang="en-US" sz="2000" b="1" dirty="0">
                <a:solidFill>
                  <a:srgbClr val="0070C0"/>
                </a:solidFill>
                <a:latin typeface="微软雅黑" panose="020B0503020204020204" pitchFamily="34" charset="-122"/>
                <a:ea typeface="微软雅黑" panose="020B0503020204020204" pitchFamily="34" charset="-122"/>
              </a:rPr>
              <a:t>输入您的对每一个场景生成相应的测试用例标题内容</a:t>
            </a:r>
            <a:endParaRPr lang="zh-CN" altLang="en-US" sz="2000" b="1" dirty="0">
              <a:solidFill>
                <a:srgbClr val="0070C0"/>
              </a:solidFill>
              <a:latin typeface="微软雅黑" panose="020B0503020204020204" pitchFamily="34" charset="-122"/>
              <a:ea typeface="微软雅黑" panose="020B0503020204020204" pitchFamily="34" charset="-122"/>
            </a:endParaRPr>
          </a:p>
        </p:txBody>
      </p:sp>
      <p:sp>
        <p:nvSpPr>
          <p:cNvPr id="32" name="TextBox 31"/>
          <p:cNvSpPr txBox="1"/>
          <p:nvPr/>
        </p:nvSpPr>
        <p:spPr>
          <a:xfrm>
            <a:off x="815992" y="1716755"/>
            <a:ext cx="2741592" cy="615315"/>
          </a:xfrm>
          <a:prstGeom prst="rect">
            <a:avLst/>
          </a:prstGeom>
          <a:noFill/>
        </p:spPr>
        <p:txBody>
          <a:bodyPr wrap="square" lIns="0" tIns="0" rIns="0" bIns="0" rtlCol="0" anchor="ctr">
            <a:spAutoFit/>
          </a:bodyPr>
          <a:lstStyle/>
          <a:p>
            <a:pPr algn="l"/>
            <a:r>
              <a:rPr lang="zh-CN" altLang="en-US" sz="20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根据说明，描述出程序的基本流及各项备选流</a:t>
            </a:r>
            <a:endParaRPr lang="zh-CN" altLang="en-US" sz="20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5" name="TextBox 34"/>
          <p:cNvSpPr txBox="1"/>
          <p:nvPr/>
        </p:nvSpPr>
        <p:spPr>
          <a:xfrm>
            <a:off x="480753" y="4566880"/>
            <a:ext cx="3095878" cy="1230630"/>
          </a:xfrm>
          <a:prstGeom prst="rect">
            <a:avLst/>
          </a:prstGeom>
          <a:noFill/>
        </p:spPr>
        <p:txBody>
          <a:bodyPr wrap="square" lIns="0" tIns="0" rIns="0" bIns="0" rtlCol="0" anchor="ctr">
            <a:spAutoFit/>
          </a:bodyPr>
          <a:lstStyle/>
          <a:p>
            <a:pPr algn="l"/>
            <a:r>
              <a:rPr lang="zh-CN" altLang="en-US" sz="2000" b="1" dirty="0">
                <a:solidFill>
                  <a:srgbClr val="0070C0"/>
                </a:solidFill>
                <a:latin typeface="微软雅黑" panose="020B0503020204020204" pitchFamily="34" charset="-122"/>
                <a:ea typeface="微软雅黑" panose="020B0503020204020204" pitchFamily="34" charset="-122"/>
              </a:rPr>
              <a:t>对生成的所有测试用例重新复审，去掉多余的测试用例，测试用例确定后，对每一个测试用例确定测试数据。</a:t>
            </a:r>
            <a:endParaRPr lang="zh-CN" altLang="en-US" sz="20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advTm="8330">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Effect transition="in" filter="fade">
                                      <p:cBhvr>
                                        <p:cTn id="9" dur="1000"/>
                                        <p:tgtEl>
                                          <p:spTgt spid="4"/>
                                        </p:tgtEl>
                                      </p:cBhvr>
                                    </p:animEffect>
                                  </p:childTnLst>
                                </p:cTn>
                              </p:par>
                            </p:childTnLst>
                          </p:cTn>
                        </p:par>
                        <p:par>
                          <p:cTn id="10" fill="hold">
                            <p:stCondLst>
                              <p:cond delay="1000"/>
                            </p:stCondLst>
                            <p:childTnLst>
                              <p:par>
                                <p:cTn id="11" presetID="53" presetClass="entr" presetSubtype="16" fill="hold" nodeType="after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p:cTn id="13" dur="500" fill="hold"/>
                                        <p:tgtEl>
                                          <p:spTgt spid="21"/>
                                        </p:tgtEl>
                                        <p:attrNameLst>
                                          <p:attrName>ppt_w</p:attrName>
                                        </p:attrNameLst>
                                      </p:cBhvr>
                                      <p:tavLst>
                                        <p:tav tm="0">
                                          <p:val>
                                            <p:fltVal val="0"/>
                                          </p:val>
                                        </p:tav>
                                        <p:tav tm="100000">
                                          <p:val>
                                            <p:strVal val="#ppt_w"/>
                                          </p:val>
                                        </p:tav>
                                      </p:tavLst>
                                    </p:anim>
                                    <p:anim calcmode="lin" valueType="num">
                                      <p:cBhvr>
                                        <p:cTn id="14" dur="500" fill="hold"/>
                                        <p:tgtEl>
                                          <p:spTgt spid="21"/>
                                        </p:tgtEl>
                                        <p:attrNameLst>
                                          <p:attrName>ppt_h</p:attrName>
                                        </p:attrNameLst>
                                      </p:cBhvr>
                                      <p:tavLst>
                                        <p:tav tm="0">
                                          <p:val>
                                            <p:fltVal val="0"/>
                                          </p:val>
                                        </p:tav>
                                        <p:tav tm="100000">
                                          <p:val>
                                            <p:strVal val="#ppt_h"/>
                                          </p:val>
                                        </p:tav>
                                      </p:tavLst>
                                    </p:anim>
                                    <p:animEffect transition="in" filter="fade">
                                      <p:cBhvr>
                                        <p:cTn id="15" dur="500"/>
                                        <p:tgtEl>
                                          <p:spTgt spid="21"/>
                                        </p:tgtEl>
                                      </p:cBhvr>
                                    </p:animEffect>
                                  </p:childTnLst>
                                </p:cTn>
                              </p:par>
                            </p:childTnLst>
                          </p:cTn>
                        </p:par>
                        <p:par>
                          <p:cTn id="16" fill="hold">
                            <p:stCondLst>
                              <p:cond delay="1500"/>
                            </p:stCondLst>
                            <p:childTnLst>
                              <p:par>
                                <p:cTn id="17" presetID="53" presetClass="entr" presetSubtype="16"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childTnLst>
                          </p:cTn>
                        </p:par>
                        <p:par>
                          <p:cTn id="22" fill="hold">
                            <p:stCondLst>
                              <p:cond delay="2000"/>
                            </p:stCondLst>
                            <p:childTnLst>
                              <p:par>
                                <p:cTn id="23" presetID="53" presetClass="entr" presetSubtype="16"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childTnLst>
                          </p:cTn>
                        </p:par>
                        <p:par>
                          <p:cTn id="28" fill="hold">
                            <p:stCondLst>
                              <p:cond delay="2500"/>
                            </p:stCondLst>
                            <p:childTnLst>
                              <p:par>
                                <p:cTn id="29" presetID="53" presetClass="entr" presetSubtype="16"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Effect transition="in" filter="fade">
                                      <p:cBhvr>
                                        <p:cTn id="33" dur="500"/>
                                        <p:tgtEl>
                                          <p:spTgt spid="6"/>
                                        </p:tgtEl>
                                      </p:cBhvr>
                                    </p:animEffect>
                                  </p:childTnLst>
                                </p:cTn>
                              </p:par>
                            </p:childTnLst>
                          </p:cTn>
                        </p:par>
                        <p:par>
                          <p:cTn id="34" fill="hold">
                            <p:stCondLst>
                              <p:cond delay="3000"/>
                            </p:stCondLst>
                            <p:childTnLst>
                              <p:par>
                                <p:cTn id="35" presetID="53" presetClass="entr" presetSubtype="16"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childTnLst>
                          </p:cTn>
                        </p:par>
                        <p:par>
                          <p:cTn id="40" fill="hold">
                            <p:stCondLst>
                              <p:cond delay="3500"/>
                            </p:stCondLst>
                            <p:childTnLst>
                              <p:par>
                                <p:cTn id="41" presetID="53" presetClass="entr" presetSubtype="16" fill="hold" grpId="0" nodeType="after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500" fill="hold"/>
                                        <p:tgtEl>
                                          <p:spTgt spid="7"/>
                                        </p:tgtEl>
                                        <p:attrNameLst>
                                          <p:attrName>ppt_w</p:attrName>
                                        </p:attrNameLst>
                                      </p:cBhvr>
                                      <p:tavLst>
                                        <p:tav tm="0">
                                          <p:val>
                                            <p:fltVal val="0"/>
                                          </p:val>
                                        </p:tav>
                                        <p:tav tm="100000">
                                          <p:val>
                                            <p:strVal val="#ppt_w"/>
                                          </p:val>
                                        </p:tav>
                                      </p:tavLst>
                                    </p:anim>
                                    <p:anim calcmode="lin" valueType="num">
                                      <p:cBhvr>
                                        <p:cTn id="44" dur="500" fill="hold"/>
                                        <p:tgtEl>
                                          <p:spTgt spid="7"/>
                                        </p:tgtEl>
                                        <p:attrNameLst>
                                          <p:attrName>ppt_h</p:attrName>
                                        </p:attrNameLst>
                                      </p:cBhvr>
                                      <p:tavLst>
                                        <p:tav tm="0">
                                          <p:val>
                                            <p:fltVal val="0"/>
                                          </p:val>
                                        </p:tav>
                                        <p:tav tm="100000">
                                          <p:val>
                                            <p:strVal val="#ppt_h"/>
                                          </p:val>
                                        </p:tav>
                                      </p:tavLst>
                                    </p:anim>
                                    <p:animEffect transition="in" filter="fade">
                                      <p:cBhvr>
                                        <p:cTn id="45" dur="500"/>
                                        <p:tgtEl>
                                          <p:spTgt spid="7"/>
                                        </p:tgtEl>
                                      </p:cBhvr>
                                    </p:animEffect>
                                  </p:childTnLst>
                                </p:cTn>
                              </p:par>
                            </p:childTnLst>
                          </p:cTn>
                        </p:par>
                        <p:par>
                          <p:cTn id="46" fill="hold">
                            <p:stCondLst>
                              <p:cond delay="4000"/>
                            </p:stCondLst>
                            <p:childTnLst>
                              <p:par>
                                <p:cTn id="47" presetID="53" presetClass="entr" presetSubtype="16" fill="hold" nodeType="after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p:cTn id="49" dur="500" fill="hold"/>
                                        <p:tgtEl>
                                          <p:spTgt spid="15"/>
                                        </p:tgtEl>
                                        <p:attrNameLst>
                                          <p:attrName>ppt_w</p:attrName>
                                        </p:attrNameLst>
                                      </p:cBhvr>
                                      <p:tavLst>
                                        <p:tav tm="0">
                                          <p:val>
                                            <p:fltVal val="0"/>
                                          </p:val>
                                        </p:tav>
                                        <p:tav tm="100000">
                                          <p:val>
                                            <p:strVal val="#ppt_w"/>
                                          </p:val>
                                        </p:tav>
                                      </p:tavLst>
                                    </p:anim>
                                    <p:anim calcmode="lin" valueType="num">
                                      <p:cBhvr>
                                        <p:cTn id="50" dur="500" fill="hold"/>
                                        <p:tgtEl>
                                          <p:spTgt spid="15"/>
                                        </p:tgtEl>
                                        <p:attrNameLst>
                                          <p:attrName>ppt_h</p:attrName>
                                        </p:attrNameLst>
                                      </p:cBhvr>
                                      <p:tavLst>
                                        <p:tav tm="0">
                                          <p:val>
                                            <p:fltVal val="0"/>
                                          </p:val>
                                        </p:tav>
                                        <p:tav tm="100000">
                                          <p:val>
                                            <p:strVal val="#ppt_h"/>
                                          </p:val>
                                        </p:tav>
                                      </p:tavLst>
                                    </p:anim>
                                    <p:animEffect transition="in" filter="fade">
                                      <p:cBhvr>
                                        <p:cTn id="51" dur="500"/>
                                        <p:tgtEl>
                                          <p:spTgt spid="15"/>
                                        </p:tgtEl>
                                      </p:cBhvr>
                                    </p:animEffect>
                                  </p:childTnLst>
                                </p:cTn>
                              </p:par>
                            </p:childTnLst>
                          </p:cTn>
                        </p:par>
                        <p:par>
                          <p:cTn id="52" fill="hold">
                            <p:stCondLst>
                              <p:cond delay="4500"/>
                            </p:stCondLst>
                            <p:childTnLst>
                              <p:par>
                                <p:cTn id="53" presetID="53" presetClass="entr" presetSubtype="16" fill="hold" grpId="0" nodeType="afterEffect">
                                  <p:stCondLst>
                                    <p:cond delay="0"/>
                                  </p:stCondLst>
                                  <p:childTnLst>
                                    <p:set>
                                      <p:cBhvr>
                                        <p:cTn id="54" dur="1" fill="hold">
                                          <p:stCondLst>
                                            <p:cond delay="0"/>
                                          </p:stCondLst>
                                        </p:cTn>
                                        <p:tgtEl>
                                          <p:spTgt spid="8"/>
                                        </p:tgtEl>
                                        <p:attrNameLst>
                                          <p:attrName>style.visibility</p:attrName>
                                        </p:attrNameLst>
                                      </p:cBhvr>
                                      <p:to>
                                        <p:strVal val="visible"/>
                                      </p:to>
                                    </p:set>
                                    <p:anim calcmode="lin" valueType="num">
                                      <p:cBhvr>
                                        <p:cTn id="55" dur="500" fill="hold"/>
                                        <p:tgtEl>
                                          <p:spTgt spid="8"/>
                                        </p:tgtEl>
                                        <p:attrNameLst>
                                          <p:attrName>ppt_w</p:attrName>
                                        </p:attrNameLst>
                                      </p:cBhvr>
                                      <p:tavLst>
                                        <p:tav tm="0">
                                          <p:val>
                                            <p:fltVal val="0"/>
                                          </p:val>
                                        </p:tav>
                                        <p:tav tm="100000">
                                          <p:val>
                                            <p:strVal val="#ppt_w"/>
                                          </p:val>
                                        </p:tav>
                                      </p:tavLst>
                                    </p:anim>
                                    <p:anim calcmode="lin" valueType="num">
                                      <p:cBhvr>
                                        <p:cTn id="56" dur="500" fill="hold"/>
                                        <p:tgtEl>
                                          <p:spTgt spid="8"/>
                                        </p:tgtEl>
                                        <p:attrNameLst>
                                          <p:attrName>ppt_h</p:attrName>
                                        </p:attrNameLst>
                                      </p:cBhvr>
                                      <p:tavLst>
                                        <p:tav tm="0">
                                          <p:val>
                                            <p:fltVal val="0"/>
                                          </p:val>
                                        </p:tav>
                                        <p:tav tm="100000">
                                          <p:val>
                                            <p:strVal val="#ppt_h"/>
                                          </p:val>
                                        </p:tav>
                                      </p:tavLst>
                                    </p:anim>
                                    <p:animEffect transition="in" filter="fade">
                                      <p:cBhvr>
                                        <p:cTn id="57" dur="500"/>
                                        <p:tgtEl>
                                          <p:spTgt spid="8"/>
                                        </p:tgtEl>
                                      </p:cBhvr>
                                    </p:animEffect>
                                  </p:childTnLst>
                                </p:cTn>
                              </p:par>
                            </p:childTnLst>
                          </p:cTn>
                        </p:par>
                        <p:par>
                          <p:cTn id="58" fill="hold">
                            <p:stCondLst>
                              <p:cond delay="5000"/>
                            </p:stCondLst>
                            <p:childTnLst>
                              <p:par>
                                <p:cTn id="59" presetID="53" presetClass="entr" presetSubtype="16" fill="hold" nodeType="after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p:cTn id="61" dur="500" fill="hold"/>
                                        <p:tgtEl>
                                          <p:spTgt spid="18"/>
                                        </p:tgtEl>
                                        <p:attrNameLst>
                                          <p:attrName>ppt_w</p:attrName>
                                        </p:attrNameLst>
                                      </p:cBhvr>
                                      <p:tavLst>
                                        <p:tav tm="0">
                                          <p:val>
                                            <p:fltVal val="0"/>
                                          </p:val>
                                        </p:tav>
                                        <p:tav tm="100000">
                                          <p:val>
                                            <p:strVal val="#ppt_w"/>
                                          </p:val>
                                        </p:tav>
                                      </p:tavLst>
                                    </p:anim>
                                    <p:anim calcmode="lin" valueType="num">
                                      <p:cBhvr>
                                        <p:cTn id="62" dur="500" fill="hold"/>
                                        <p:tgtEl>
                                          <p:spTgt spid="18"/>
                                        </p:tgtEl>
                                        <p:attrNameLst>
                                          <p:attrName>ppt_h</p:attrName>
                                        </p:attrNameLst>
                                      </p:cBhvr>
                                      <p:tavLst>
                                        <p:tav tm="0">
                                          <p:val>
                                            <p:fltVal val="0"/>
                                          </p:val>
                                        </p:tav>
                                        <p:tav tm="100000">
                                          <p:val>
                                            <p:strVal val="#ppt_h"/>
                                          </p:val>
                                        </p:tav>
                                      </p:tavLst>
                                    </p:anim>
                                    <p:animEffect transition="in" filter="fade">
                                      <p:cBhvr>
                                        <p:cTn id="63" dur="500"/>
                                        <p:tgtEl>
                                          <p:spTgt spid="18"/>
                                        </p:tgtEl>
                                      </p:cBhvr>
                                    </p:animEffect>
                                  </p:childTnLst>
                                </p:cTn>
                              </p:par>
                            </p:childTnLst>
                          </p:cTn>
                        </p:par>
                        <p:par>
                          <p:cTn id="64" fill="hold">
                            <p:stCondLst>
                              <p:cond delay="5500"/>
                            </p:stCondLst>
                            <p:childTnLst>
                              <p:par>
                                <p:cTn id="65" presetID="2" presetClass="entr" presetSubtype="8" fill="hold" grpId="0" nodeType="afterEffect">
                                  <p:stCondLst>
                                    <p:cond delay="0"/>
                                  </p:stCondLst>
                                  <p:childTnLst>
                                    <p:set>
                                      <p:cBhvr>
                                        <p:cTn id="66" dur="1" fill="hold">
                                          <p:stCondLst>
                                            <p:cond delay="0"/>
                                          </p:stCondLst>
                                        </p:cTn>
                                        <p:tgtEl>
                                          <p:spTgt spid="32"/>
                                        </p:tgtEl>
                                        <p:attrNameLst>
                                          <p:attrName>style.visibility</p:attrName>
                                        </p:attrNameLst>
                                      </p:cBhvr>
                                      <p:to>
                                        <p:strVal val="visible"/>
                                      </p:to>
                                    </p:set>
                                    <p:anim calcmode="lin" valueType="num">
                                      <p:cBhvr additive="base">
                                        <p:cTn id="67" dur="500" fill="hold"/>
                                        <p:tgtEl>
                                          <p:spTgt spid="32"/>
                                        </p:tgtEl>
                                        <p:attrNameLst>
                                          <p:attrName>ppt_x</p:attrName>
                                        </p:attrNameLst>
                                      </p:cBhvr>
                                      <p:tavLst>
                                        <p:tav tm="0">
                                          <p:val>
                                            <p:strVal val="0-#ppt_w/2"/>
                                          </p:val>
                                        </p:tav>
                                        <p:tav tm="100000">
                                          <p:val>
                                            <p:strVal val="#ppt_x"/>
                                          </p:val>
                                        </p:tav>
                                      </p:tavLst>
                                    </p:anim>
                                    <p:anim calcmode="lin" valueType="num">
                                      <p:cBhvr additive="base">
                                        <p:cTn id="68" dur="500" fill="hold"/>
                                        <p:tgtEl>
                                          <p:spTgt spid="32"/>
                                        </p:tgtEl>
                                        <p:attrNameLst>
                                          <p:attrName>ppt_y</p:attrName>
                                        </p:attrNameLst>
                                      </p:cBhvr>
                                      <p:tavLst>
                                        <p:tav tm="0">
                                          <p:val>
                                            <p:strVal val="#ppt_y"/>
                                          </p:val>
                                        </p:tav>
                                        <p:tav tm="100000">
                                          <p:val>
                                            <p:strVal val="#ppt_y"/>
                                          </p:val>
                                        </p:tav>
                                      </p:tavLst>
                                    </p:anim>
                                  </p:childTnLst>
                                </p:cTn>
                              </p:par>
                            </p:childTnLst>
                          </p:cTn>
                        </p:par>
                        <p:par>
                          <p:cTn id="69" fill="hold">
                            <p:stCondLst>
                              <p:cond delay="6000"/>
                            </p:stCondLst>
                            <p:childTnLst>
                              <p:par>
                                <p:cTn id="70" presetID="2" presetClass="entr" presetSubtype="2" fill="hold" grpId="0" nodeType="afterEffect">
                                  <p:stCondLst>
                                    <p:cond delay="0"/>
                                  </p:stCondLst>
                                  <p:childTnLst>
                                    <p:set>
                                      <p:cBhvr>
                                        <p:cTn id="71" dur="1" fill="hold">
                                          <p:stCondLst>
                                            <p:cond delay="0"/>
                                          </p:stCondLst>
                                        </p:cTn>
                                        <p:tgtEl>
                                          <p:spTgt spid="26"/>
                                        </p:tgtEl>
                                        <p:attrNameLst>
                                          <p:attrName>style.visibility</p:attrName>
                                        </p:attrNameLst>
                                      </p:cBhvr>
                                      <p:to>
                                        <p:strVal val="visible"/>
                                      </p:to>
                                    </p:set>
                                    <p:anim calcmode="lin" valueType="num">
                                      <p:cBhvr additive="base">
                                        <p:cTn id="72" dur="500" fill="hold"/>
                                        <p:tgtEl>
                                          <p:spTgt spid="26"/>
                                        </p:tgtEl>
                                        <p:attrNameLst>
                                          <p:attrName>ppt_x</p:attrName>
                                        </p:attrNameLst>
                                      </p:cBhvr>
                                      <p:tavLst>
                                        <p:tav tm="0">
                                          <p:val>
                                            <p:strVal val="1+#ppt_w/2"/>
                                          </p:val>
                                        </p:tav>
                                        <p:tav tm="100000">
                                          <p:val>
                                            <p:strVal val="#ppt_x"/>
                                          </p:val>
                                        </p:tav>
                                      </p:tavLst>
                                    </p:anim>
                                    <p:anim calcmode="lin" valueType="num">
                                      <p:cBhvr additive="base">
                                        <p:cTn id="73" dur="500" fill="hold"/>
                                        <p:tgtEl>
                                          <p:spTgt spid="26"/>
                                        </p:tgtEl>
                                        <p:attrNameLst>
                                          <p:attrName>ppt_y</p:attrName>
                                        </p:attrNameLst>
                                      </p:cBhvr>
                                      <p:tavLst>
                                        <p:tav tm="0">
                                          <p:val>
                                            <p:strVal val="#ppt_y"/>
                                          </p:val>
                                        </p:tav>
                                        <p:tav tm="100000">
                                          <p:val>
                                            <p:strVal val="#ppt_y"/>
                                          </p:val>
                                        </p:tav>
                                      </p:tavLst>
                                    </p:anim>
                                  </p:childTnLst>
                                </p:cTn>
                              </p:par>
                            </p:childTnLst>
                          </p:cTn>
                        </p:par>
                        <p:par>
                          <p:cTn id="74" fill="hold">
                            <p:stCondLst>
                              <p:cond delay="6500"/>
                            </p:stCondLst>
                            <p:childTnLst>
                              <p:par>
                                <p:cTn id="75" presetID="2" presetClass="entr" presetSubtype="2" fill="hold" grpId="0" nodeType="afterEffect">
                                  <p:stCondLst>
                                    <p:cond delay="0"/>
                                  </p:stCondLst>
                                  <p:childTnLst>
                                    <p:set>
                                      <p:cBhvr>
                                        <p:cTn id="76" dur="1" fill="hold">
                                          <p:stCondLst>
                                            <p:cond delay="0"/>
                                          </p:stCondLst>
                                        </p:cTn>
                                        <p:tgtEl>
                                          <p:spTgt spid="29"/>
                                        </p:tgtEl>
                                        <p:attrNameLst>
                                          <p:attrName>style.visibility</p:attrName>
                                        </p:attrNameLst>
                                      </p:cBhvr>
                                      <p:to>
                                        <p:strVal val="visible"/>
                                      </p:to>
                                    </p:set>
                                    <p:anim calcmode="lin" valueType="num">
                                      <p:cBhvr additive="base">
                                        <p:cTn id="77" dur="500" fill="hold"/>
                                        <p:tgtEl>
                                          <p:spTgt spid="29"/>
                                        </p:tgtEl>
                                        <p:attrNameLst>
                                          <p:attrName>ppt_x</p:attrName>
                                        </p:attrNameLst>
                                      </p:cBhvr>
                                      <p:tavLst>
                                        <p:tav tm="0">
                                          <p:val>
                                            <p:strVal val="1+#ppt_w/2"/>
                                          </p:val>
                                        </p:tav>
                                        <p:tav tm="100000">
                                          <p:val>
                                            <p:strVal val="#ppt_x"/>
                                          </p:val>
                                        </p:tav>
                                      </p:tavLst>
                                    </p:anim>
                                    <p:anim calcmode="lin" valueType="num">
                                      <p:cBhvr additive="base">
                                        <p:cTn id="78" dur="500" fill="hold"/>
                                        <p:tgtEl>
                                          <p:spTgt spid="29"/>
                                        </p:tgtEl>
                                        <p:attrNameLst>
                                          <p:attrName>ppt_y</p:attrName>
                                        </p:attrNameLst>
                                      </p:cBhvr>
                                      <p:tavLst>
                                        <p:tav tm="0">
                                          <p:val>
                                            <p:strVal val="#ppt_y"/>
                                          </p:val>
                                        </p:tav>
                                        <p:tav tm="100000">
                                          <p:val>
                                            <p:strVal val="#ppt_y"/>
                                          </p:val>
                                        </p:tav>
                                      </p:tavLst>
                                    </p:anim>
                                  </p:childTnLst>
                                </p:cTn>
                              </p:par>
                            </p:childTnLst>
                          </p:cTn>
                        </p:par>
                        <p:par>
                          <p:cTn id="79" fill="hold">
                            <p:stCondLst>
                              <p:cond delay="7000"/>
                            </p:stCondLst>
                            <p:childTnLst>
                              <p:par>
                                <p:cTn id="80" presetID="2" presetClass="entr" presetSubtype="8" fill="hold" grpId="0" nodeType="afterEffect">
                                  <p:stCondLst>
                                    <p:cond delay="0"/>
                                  </p:stCondLst>
                                  <p:childTnLst>
                                    <p:set>
                                      <p:cBhvr>
                                        <p:cTn id="81" dur="1" fill="hold">
                                          <p:stCondLst>
                                            <p:cond delay="0"/>
                                          </p:stCondLst>
                                        </p:cTn>
                                        <p:tgtEl>
                                          <p:spTgt spid="35"/>
                                        </p:tgtEl>
                                        <p:attrNameLst>
                                          <p:attrName>style.visibility</p:attrName>
                                        </p:attrNameLst>
                                      </p:cBhvr>
                                      <p:to>
                                        <p:strVal val="visible"/>
                                      </p:to>
                                    </p:set>
                                    <p:anim calcmode="lin" valueType="num">
                                      <p:cBhvr additive="base">
                                        <p:cTn id="82" dur="500" fill="hold"/>
                                        <p:tgtEl>
                                          <p:spTgt spid="35"/>
                                        </p:tgtEl>
                                        <p:attrNameLst>
                                          <p:attrName>ppt_x</p:attrName>
                                        </p:attrNameLst>
                                      </p:cBhvr>
                                      <p:tavLst>
                                        <p:tav tm="0">
                                          <p:val>
                                            <p:strVal val="0-#ppt_w/2"/>
                                          </p:val>
                                        </p:tav>
                                        <p:tav tm="100000">
                                          <p:val>
                                            <p:strVal val="#ppt_x"/>
                                          </p:val>
                                        </p:tav>
                                      </p:tavLst>
                                    </p:anim>
                                    <p:anim calcmode="lin" valueType="num">
                                      <p:cBhvr additive="base">
                                        <p:cTn id="83" dur="500" fill="hold"/>
                                        <p:tgtEl>
                                          <p:spTgt spid="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P spid="8" grpId="0" bldLvl="0" animBg="1"/>
      <p:bldP spid="32" grpId="0"/>
      <p:bldP spid="26" grpId="0"/>
      <p:bldP spid="29" grpId="0"/>
      <p:bldP spid="35"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105" y="1594058"/>
            <a:ext cx="2812399" cy="2101481"/>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2930649" y="2884056"/>
            <a:ext cx="6888480" cy="829945"/>
          </a:xfrm>
          <a:prstGeom prst="rect">
            <a:avLst/>
          </a:prstGeom>
          <a:noFill/>
        </p:spPr>
        <p:txBody>
          <a:bodyPr wrap="none" rtlCol="0">
            <a:spAutoFit/>
          </a:bodyPr>
          <a:lstStyle/>
          <a:p>
            <a:pPr algn="l"/>
            <a:r>
              <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rPr>
              <a:t>场景法设计测试用例举例</a:t>
            </a:r>
            <a:endParaRPr lang="zh-CN" altLang="en-US" sz="4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等腰三角形 5"/>
          <p:cNvSpPr/>
          <p:nvPr/>
        </p:nvSpPr>
        <p:spPr>
          <a:xfrm rot="16200000" flipH="1">
            <a:off x="10384217" y="2656121"/>
            <a:ext cx="2069153" cy="1546112"/>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5702" y="2328231"/>
            <a:ext cx="3457976" cy="2583868"/>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8675" y="2883913"/>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pitchFamily="34" charset="-122"/>
                <a:ea typeface="微软雅黑" panose="020B0503020204020204" pitchFamily="34" charset="-122"/>
              </a:rPr>
              <a:t>0</a:t>
            </a:r>
            <a:r>
              <a:rPr lang="en-US" sz="9600" dirty="0">
                <a:solidFill>
                  <a:schemeClr val="bg1"/>
                </a:solidFill>
                <a:latin typeface="微软雅黑" panose="020B0503020204020204" pitchFamily="34" charset="-122"/>
                <a:ea typeface="微软雅黑" panose="020B0503020204020204" pitchFamily="34" charset="-122"/>
              </a:rPr>
              <a:t>4</a:t>
            </a:r>
            <a:endParaRPr lang="en-US" sz="9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advTm="2808">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499" y="57108"/>
            <a:ext cx="3418418" cy="55809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场景法设计测试用例的案例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2" name="图片 1" descr="0_peixun_3310_0_20160711180853"/>
          <p:cNvPicPr>
            <a:picLocks noChangeAspect="1"/>
          </p:cNvPicPr>
          <p:nvPr/>
        </p:nvPicPr>
        <p:blipFill>
          <a:blip r:embed="rId1"/>
          <a:stretch>
            <a:fillRect/>
          </a:stretch>
        </p:blipFill>
        <p:spPr>
          <a:xfrm>
            <a:off x="871230" y="1665364"/>
            <a:ext cx="4792388" cy="3527624"/>
          </a:xfrm>
          <a:prstGeom prst="rect">
            <a:avLst/>
          </a:prstGeom>
        </p:spPr>
      </p:pic>
      <p:sp>
        <p:nvSpPr>
          <p:cNvPr id="3" name="文本框 2"/>
          <p:cNvSpPr txBox="1"/>
          <p:nvPr/>
        </p:nvSpPr>
        <p:spPr>
          <a:xfrm>
            <a:off x="6199493" y="1167904"/>
            <a:ext cx="5079373" cy="5077460"/>
          </a:xfrm>
          <a:prstGeom prst="rect">
            <a:avLst/>
          </a:prstGeom>
          <a:noFill/>
          <a:ln w="9525">
            <a:noFill/>
          </a:ln>
        </p:spPr>
        <p:txBody>
          <a:bodyPr>
            <a:spAutoFit/>
          </a:bodyPr>
          <a:p>
            <a:pPr indent="457200" fontAlgn="auto">
              <a:lnSpc>
                <a:spcPct val="150000"/>
              </a:lnSpc>
            </a:pPr>
            <a:r>
              <a:rPr lang="zh-CN" sz="2400" b="0">
                <a:latin typeface="微软雅黑" panose="020B0503020204020204" pitchFamily="34" charset="-122"/>
                <a:ea typeface="微软雅黑" panose="020B0503020204020204" pitchFamily="34" charset="-122"/>
                <a:cs typeface="微软雅黑" panose="020B0503020204020204" pitchFamily="34" charset="-122"/>
              </a:rPr>
              <a:t>我们都在当当网或</a:t>
            </a:r>
            <a:r>
              <a:rPr lang="en-US" sz="2400" b="0">
                <a:latin typeface="微软雅黑" panose="020B0503020204020204" pitchFamily="34" charset="-122"/>
                <a:ea typeface="微软雅黑" panose="020B0503020204020204" pitchFamily="34" charset="-122"/>
                <a:cs typeface="微软雅黑" panose="020B0503020204020204" pitchFamily="34" charset="-122"/>
              </a:rPr>
              <a:t>china-pub</a:t>
            </a:r>
            <a:r>
              <a:rPr lang="zh-CN" sz="2400" b="0">
                <a:latin typeface="微软雅黑" panose="020B0503020204020204" pitchFamily="34" charset="-122"/>
                <a:ea typeface="微软雅黑" panose="020B0503020204020204" pitchFamily="34" charset="-122"/>
                <a:cs typeface="微软雅黑" panose="020B0503020204020204" pitchFamily="34" charset="-122"/>
              </a:rPr>
              <a:t>华章网上书店都订购过书籍，整个订购过程为：用户登录到网站后，进行书籍的选择，当选好自己心仪的书籍后进行订购，这时把所需图书放进购物车，等进行结帐的时候，用户需要登录自己注册的帐号，登录成功后，进行结帐并生成订单，整个购物过程结束。 </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1310">
    <p:random/>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499" y="57108"/>
            <a:ext cx="3418418" cy="55809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场景法设计测试用例的案例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480753" y="900284"/>
            <a:ext cx="8099060" cy="4246245"/>
          </a:xfrm>
          <a:prstGeom prst="rect">
            <a:avLst/>
          </a:prstGeom>
          <a:noFill/>
          <a:ln w="9525">
            <a:noFill/>
          </a:ln>
        </p:spPr>
        <p:txBody>
          <a:bodyPr wrap="square">
            <a:spAutoFit/>
          </a:bodyPr>
          <a:p>
            <a:pPr indent="457200" fontAlgn="auto">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那么我们通过以上的描述，从中确定基本流和备选流。</a:t>
            </a: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1. 确定基本流和备选流</a:t>
            </a: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sz="2000" b="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基本流：登录在线网站，选择物品，登录账号，付款，生产订单；</a:t>
            </a: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sz="20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备选流1：账户不存在</a:t>
            </a:r>
            <a:endParaRPr sz="20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sz="20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备选流2：账户密码错误</a:t>
            </a:r>
            <a:endParaRPr sz="20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sz="20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备选流3：用户账户余额不足</a:t>
            </a:r>
            <a:endParaRPr sz="20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sz="20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备选流4：用户账户没钱</a:t>
            </a:r>
            <a:endParaRPr sz="20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endParaRPr sz="2000" b="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5113776" y="3458382"/>
            <a:ext cx="6260962" cy="3169285"/>
          </a:xfrm>
          <a:prstGeom prst="rect">
            <a:avLst/>
          </a:prstGeom>
          <a:noFill/>
        </p:spPr>
        <p:txBody>
          <a:bodyPr wrap="square" rtlCol="0">
            <a:spAutoFit/>
          </a:bodyPr>
          <a:p>
            <a:pPr indent="457200" fontAlgn="auto">
              <a:lnSpc>
                <a:spcPct val="150000"/>
              </a:lnSpc>
            </a:pPr>
            <a:r>
              <a:rPr sz="2000">
                <a:latin typeface="微软雅黑" panose="020B0503020204020204" pitchFamily="34" charset="-122"/>
                <a:ea typeface="微软雅黑" panose="020B0503020204020204" pitchFamily="34" charset="-122"/>
                <a:cs typeface="微软雅黑" panose="020B0503020204020204" pitchFamily="34" charset="-122"/>
                <a:sym typeface="+mn-ea"/>
              </a:rPr>
              <a:t>2. 根据基本流和各项备选流生成不同的场景</a:t>
            </a: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sz="200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场景1：成功购物：基本流</a:t>
            </a:r>
            <a:endParaRPr sz="2000" b="0">
              <a:solidFill>
                <a:srgbClr val="00B050"/>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sz="200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场景2：账户不存在：基本流，备选流1</a:t>
            </a:r>
            <a:endParaRPr sz="2000" b="0">
              <a:solidFill>
                <a:srgbClr val="00B050"/>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sz="200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场景3：账号密码错误：基本流，备选流2</a:t>
            </a:r>
            <a:endParaRPr sz="2000" b="0">
              <a:solidFill>
                <a:srgbClr val="00B050"/>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sz="200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场景4：账户余额不足：基本流，备选流3</a:t>
            </a:r>
            <a:endParaRPr sz="2000" b="0">
              <a:solidFill>
                <a:srgbClr val="00B050"/>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sz="2000">
                <a:solidFill>
                  <a:srgbClr val="00B050"/>
                </a:solidFill>
                <a:latin typeface="微软雅黑" panose="020B0503020204020204" pitchFamily="34" charset="-122"/>
                <a:ea typeface="微软雅黑" panose="020B0503020204020204" pitchFamily="34" charset="-122"/>
                <a:cs typeface="微软雅黑" panose="020B0503020204020204" pitchFamily="34" charset="-122"/>
                <a:sym typeface="+mn-ea"/>
              </a:rPr>
              <a:t>场景5：账户没钱：基本流，备选流4</a:t>
            </a:r>
            <a:endParaRPr sz="2000" b="0">
              <a:solidFill>
                <a:srgbClr val="00B050"/>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2000" b="0">
              <a:solidFill>
                <a:srgbClr val="00B05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1310">
    <p:random/>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499" y="57108"/>
            <a:ext cx="3418418" cy="55809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场景法设计测试用例的案例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509324" y="869173"/>
            <a:ext cx="7469852" cy="1938020"/>
          </a:xfrm>
          <a:prstGeom prst="rect">
            <a:avLst/>
          </a:prstGeom>
          <a:noFill/>
          <a:ln w="9525">
            <a:noFill/>
          </a:ln>
        </p:spPr>
        <p:txBody>
          <a:bodyPr wrap="square">
            <a:spAutoFit/>
          </a:bodyPr>
          <a:p>
            <a:pPr indent="457200" fontAlgn="auto">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3. 对每一个场景生成相应的测试用例</a:t>
            </a:r>
            <a:endParaRPr sz="2000" b="0">
              <a:latin typeface="微软雅黑" panose="020B0503020204020204" pitchFamily="34" charset="-122"/>
              <a:ea typeface="微软雅黑" panose="020B0503020204020204" pitchFamily="34" charset="-122"/>
              <a:cs typeface="微软雅黑" panose="020B0503020204020204" pitchFamily="34" charset="-122"/>
            </a:endParaRPr>
          </a:p>
          <a:p>
            <a:pPr indent="457200" fontAlgn="auto">
              <a:lnSpc>
                <a:spcPct val="150000"/>
              </a:lnSpc>
            </a:pPr>
            <a:r>
              <a:rPr sz="2000" b="0">
                <a:latin typeface="微软雅黑" panose="020B0503020204020204" pitchFamily="34" charset="-122"/>
                <a:ea typeface="微软雅黑" panose="020B0503020204020204" pitchFamily="34" charset="-122"/>
                <a:cs typeface="微软雅黑" panose="020B0503020204020204" pitchFamily="34" charset="-122"/>
              </a:rPr>
              <a:t>对于每一个场景都需要确定测试用例。可以采用矩阵或决策表来确定和管理测试用例。 如表</a:t>
            </a:r>
            <a:r>
              <a:rPr lang="en-US" sz="2000" b="0">
                <a:latin typeface="微软雅黑" panose="020B0503020204020204" pitchFamily="34" charset="-122"/>
                <a:ea typeface="微软雅黑" panose="020B0503020204020204" pitchFamily="34" charset="-122"/>
                <a:cs typeface="微软雅黑" panose="020B0503020204020204" pitchFamily="34" charset="-122"/>
              </a:rPr>
              <a:t>3-26</a:t>
            </a:r>
            <a:r>
              <a:rPr sz="2000" b="0">
                <a:latin typeface="微软雅黑" panose="020B0503020204020204" pitchFamily="34" charset="-122"/>
                <a:ea typeface="微软雅黑" panose="020B0503020204020204" pitchFamily="34" charset="-122"/>
                <a:cs typeface="微软雅黑" panose="020B0503020204020204" pitchFamily="34" charset="-122"/>
              </a:rPr>
              <a:t>所示。其中各行代表各个测试用例，而各列则代表测试用例的信息。 </a:t>
            </a:r>
            <a:endParaRPr sz="2000" b="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表格 1"/>
          <p:cNvGraphicFramePr/>
          <p:nvPr>
            <p:custDataLst>
              <p:tags r:id="rId1"/>
            </p:custDataLst>
          </p:nvPr>
        </p:nvGraphicFramePr>
        <p:xfrm>
          <a:off x="509324" y="2921874"/>
          <a:ext cx="7727950" cy="3200400"/>
        </p:xfrm>
        <a:graphic>
          <a:graphicData uri="http://schemas.openxmlformats.org/drawingml/2006/table">
            <a:tbl>
              <a:tblPr firstRow="1" bandRow="1">
                <a:tableStyleId>{5940675A-B579-460E-94D1-54222C63F5DA}</a:tableStyleId>
              </a:tblPr>
              <a:tblGrid>
                <a:gridCol w="869315"/>
                <a:gridCol w="2313940"/>
                <a:gridCol w="643890"/>
                <a:gridCol w="642620"/>
                <a:gridCol w="1410970"/>
                <a:gridCol w="1847215"/>
              </a:tblGrid>
              <a:tr h="548640">
                <a:tc>
                  <a:txBody>
                    <a:bodyPr/>
                    <a:p>
                      <a:pPr indent="0" algn="ctr">
                        <a:buNone/>
                      </a:pPr>
                      <a:r>
                        <a:rPr lang="en-US" sz="1800" b="0">
                          <a:solidFill>
                            <a:srgbClr val="FFFFFF"/>
                          </a:solidFill>
                          <a:latin typeface="宋体" panose="02010600030101010101" pitchFamily="2" charset="-122"/>
                          <a:ea typeface="宋体" panose="02010600030101010101" pitchFamily="2" charset="-122"/>
                          <a:cs typeface="宋体" panose="02010600030101010101" pitchFamily="2" charset="-122"/>
                        </a:rPr>
                        <a:t>测试用例ID</a:t>
                      </a:r>
                      <a:endParaRPr lang="en-US" altLang="en-US" sz="1800" b="0">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FFFFFF"/>
                      </a:solidFill>
                      <a:prstDash val="dot"/>
                    </a:lnR>
                    <a:lnT w="19050" cap="rnd">
                      <a:solidFill>
                        <a:srgbClr val="1784C7"/>
                      </a:solidFill>
                      <a:prstDash val="solid"/>
                    </a:lnT>
                    <a:lnB w="19050">
                      <a:solidFill>
                        <a:srgbClr val="1784C7"/>
                      </a:solidFill>
                      <a:prstDash val="solid"/>
                    </a:lnB>
                    <a:lnTlToBr>
                      <a:noFill/>
                    </a:lnTlToBr>
                    <a:lnBlToTr>
                      <a:noFill/>
                    </a:lnBlToTr>
                    <a:solidFill>
                      <a:srgbClr val="1784C7"/>
                    </a:solidFill>
                  </a:tcPr>
                </a:tc>
                <a:tc>
                  <a:txBody>
                    <a:bodyPr/>
                    <a:p>
                      <a:pPr indent="0">
                        <a:buNone/>
                      </a:pPr>
                      <a:r>
                        <a:rPr lang="en-US" sz="1800" b="0">
                          <a:solidFill>
                            <a:srgbClr val="FFFFFF"/>
                          </a:solidFill>
                          <a:latin typeface="宋体" panose="02010600030101010101" pitchFamily="2" charset="-122"/>
                          <a:ea typeface="宋体" panose="02010600030101010101" pitchFamily="2" charset="-122"/>
                          <a:cs typeface="宋体" panose="02010600030101010101" pitchFamily="2" charset="-122"/>
                        </a:rPr>
                        <a:t>场景/条件</a:t>
                      </a:r>
                      <a:endParaRPr lang="en-US" altLang="en-US" sz="1800" b="0">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FFFFFF"/>
                      </a:solidFill>
                      <a:prstDash val="dot"/>
                    </a:lnL>
                    <a:lnR w="3175">
                      <a:solidFill>
                        <a:srgbClr val="FFFFFF"/>
                      </a:solidFill>
                      <a:prstDash val="dot"/>
                    </a:lnR>
                    <a:lnT w="19050" cap="rnd">
                      <a:solidFill>
                        <a:srgbClr val="1784C7"/>
                      </a:solidFill>
                      <a:prstDash val="solid"/>
                    </a:lnT>
                    <a:lnB w="19050">
                      <a:solidFill>
                        <a:srgbClr val="1784C7"/>
                      </a:solidFill>
                      <a:prstDash val="solid"/>
                    </a:lnB>
                    <a:lnTlToBr>
                      <a:noFill/>
                    </a:lnTlToBr>
                    <a:lnBlToTr>
                      <a:noFill/>
                    </a:lnBlToTr>
                    <a:solidFill>
                      <a:srgbClr val="1784C7"/>
                    </a:solidFill>
                  </a:tcPr>
                </a:tc>
                <a:tc>
                  <a:txBody>
                    <a:bodyPr/>
                    <a:p>
                      <a:pPr indent="0" algn="ctr">
                        <a:buNone/>
                      </a:pPr>
                      <a:r>
                        <a:rPr lang="en-US" sz="1800" b="0">
                          <a:solidFill>
                            <a:srgbClr val="FFFFFF"/>
                          </a:solidFill>
                          <a:latin typeface="宋体" panose="02010600030101010101" pitchFamily="2" charset="-122"/>
                          <a:ea typeface="宋体" panose="02010600030101010101" pitchFamily="2" charset="-122"/>
                          <a:cs typeface="宋体" panose="02010600030101010101" pitchFamily="2" charset="-122"/>
                        </a:rPr>
                        <a:t>账号</a:t>
                      </a:r>
                      <a:endParaRPr lang="en-US" altLang="en-US" sz="1800" b="0">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FFFFFF"/>
                      </a:solidFill>
                      <a:prstDash val="dot"/>
                    </a:lnL>
                    <a:lnR w="3175">
                      <a:solidFill>
                        <a:srgbClr val="FFFFFF"/>
                      </a:solidFill>
                      <a:prstDash val="dot"/>
                    </a:lnR>
                    <a:lnT w="19050" cap="rnd">
                      <a:solidFill>
                        <a:srgbClr val="1784C7"/>
                      </a:solidFill>
                      <a:prstDash val="solid"/>
                    </a:lnT>
                    <a:lnB w="19050">
                      <a:solidFill>
                        <a:srgbClr val="1784C7"/>
                      </a:solidFill>
                      <a:prstDash val="solid"/>
                    </a:lnB>
                    <a:lnTlToBr>
                      <a:noFill/>
                    </a:lnTlToBr>
                    <a:lnBlToTr>
                      <a:noFill/>
                    </a:lnBlToTr>
                    <a:solidFill>
                      <a:srgbClr val="1784C7"/>
                    </a:solidFill>
                  </a:tcPr>
                </a:tc>
                <a:tc>
                  <a:txBody>
                    <a:bodyPr/>
                    <a:p>
                      <a:pPr indent="0" algn="ctr">
                        <a:buNone/>
                      </a:pPr>
                      <a:r>
                        <a:rPr lang="en-US" sz="1800" b="0">
                          <a:solidFill>
                            <a:srgbClr val="FFFFFF"/>
                          </a:solidFill>
                          <a:latin typeface="宋体" panose="02010600030101010101" pitchFamily="2" charset="-122"/>
                          <a:ea typeface="宋体" panose="02010600030101010101" pitchFamily="2" charset="-122"/>
                          <a:cs typeface="宋体" panose="02010600030101010101" pitchFamily="2" charset="-122"/>
                        </a:rPr>
                        <a:t>密码</a:t>
                      </a:r>
                      <a:endParaRPr lang="en-US" altLang="en-US" sz="1800" b="0">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FFFFFF"/>
                      </a:solidFill>
                      <a:prstDash val="dot"/>
                    </a:lnL>
                    <a:lnR w="3175">
                      <a:solidFill>
                        <a:srgbClr val="FFFFFF"/>
                      </a:solidFill>
                      <a:prstDash val="dot"/>
                    </a:lnR>
                    <a:lnT w="19050" cap="rnd">
                      <a:solidFill>
                        <a:srgbClr val="1784C7"/>
                      </a:solidFill>
                      <a:prstDash val="solid"/>
                    </a:lnT>
                    <a:lnB w="19050">
                      <a:solidFill>
                        <a:srgbClr val="1784C7"/>
                      </a:solidFill>
                      <a:prstDash val="solid"/>
                    </a:lnB>
                    <a:lnTlToBr>
                      <a:noFill/>
                    </a:lnTlToBr>
                    <a:lnBlToTr>
                      <a:noFill/>
                    </a:lnBlToTr>
                    <a:solidFill>
                      <a:srgbClr val="1784C7"/>
                    </a:solidFill>
                  </a:tcPr>
                </a:tc>
                <a:tc>
                  <a:txBody>
                    <a:bodyPr/>
                    <a:p>
                      <a:pPr indent="0" algn="ctr">
                        <a:buNone/>
                      </a:pPr>
                      <a:r>
                        <a:rPr lang="en-US" sz="1800" b="0">
                          <a:solidFill>
                            <a:srgbClr val="FFFFFF"/>
                          </a:solidFill>
                          <a:latin typeface="宋体" panose="02010600030101010101" pitchFamily="2" charset="-122"/>
                          <a:ea typeface="宋体" panose="02010600030101010101" pitchFamily="2" charset="-122"/>
                          <a:cs typeface="宋体" panose="02010600030101010101" pitchFamily="2" charset="-122"/>
                        </a:rPr>
                        <a:t>用户账户</a:t>
                      </a:r>
                      <a:endParaRPr lang="en-US" sz="1800" b="0">
                        <a:solidFill>
                          <a:srgbClr val="FFFFFF"/>
                        </a:solidFill>
                        <a:latin typeface="宋体" panose="02010600030101010101" pitchFamily="2" charset="-122"/>
                        <a:ea typeface="宋体" panose="02010600030101010101" pitchFamily="2" charset="-122"/>
                        <a:cs typeface="宋体" panose="02010600030101010101" pitchFamily="2" charset="-122"/>
                      </a:endParaRPr>
                    </a:p>
                    <a:p>
                      <a:pPr indent="0" algn="ctr">
                        <a:buNone/>
                      </a:pPr>
                      <a:r>
                        <a:rPr lang="en-US" sz="1800" b="0">
                          <a:solidFill>
                            <a:srgbClr val="FFFFFF"/>
                          </a:solidFill>
                          <a:latin typeface="宋体" panose="02010600030101010101" pitchFamily="2" charset="-122"/>
                          <a:ea typeface="宋体" panose="02010600030101010101" pitchFamily="2" charset="-122"/>
                          <a:cs typeface="宋体" panose="02010600030101010101" pitchFamily="2" charset="-122"/>
                        </a:rPr>
                        <a:t>金额</a:t>
                      </a:r>
                      <a:endParaRPr lang="en-US" altLang="en-US" sz="1800" b="0">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FFFFFF"/>
                      </a:solidFill>
                      <a:prstDash val="dot"/>
                    </a:lnL>
                    <a:lnR w="3175">
                      <a:solidFill>
                        <a:srgbClr val="FFFFFF"/>
                      </a:solidFill>
                      <a:prstDash val="dot"/>
                    </a:lnR>
                    <a:lnT w="19050" cap="rnd">
                      <a:solidFill>
                        <a:srgbClr val="1784C7"/>
                      </a:solidFill>
                      <a:prstDash val="solid"/>
                    </a:lnT>
                    <a:lnB w="19050">
                      <a:solidFill>
                        <a:srgbClr val="1784C7"/>
                      </a:solidFill>
                      <a:prstDash val="solid"/>
                    </a:lnB>
                    <a:lnTlToBr>
                      <a:noFill/>
                    </a:lnTlToBr>
                    <a:lnBlToTr>
                      <a:noFill/>
                    </a:lnBlToTr>
                    <a:solidFill>
                      <a:srgbClr val="1784C7"/>
                    </a:solidFill>
                  </a:tcPr>
                </a:tc>
                <a:tc>
                  <a:txBody>
                    <a:bodyPr/>
                    <a:p>
                      <a:pPr indent="0">
                        <a:buNone/>
                      </a:pPr>
                      <a:r>
                        <a:rPr lang="en-US" sz="1800" b="0">
                          <a:solidFill>
                            <a:srgbClr val="FFFFFF"/>
                          </a:solidFill>
                          <a:latin typeface="宋体" panose="02010600030101010101" pitchFamily="2" charset="-122"/>
                          <a:ea typeface="宋体" panose="02010600030101010101" pitchFamily="2" charset="-122"/>
                          <a:cs typeface="宋体" panose="02010600030101010101" pitchFamily="2" charset="-122"/>
                        </a:rPr>
                        <a:t>预期结果</a:t>
                      </a:r>
                      <a:endParaRPr lang="en-US" altLang="en-US" sz="1800" b="0">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FFFFFF"/>
                      </a:solidFill>
                      <a:prstDash val="dot"/>
                    </a:lnL>
                    <a:lnR w="19050" cap="rnd">
                      <a:solidFill>
                        <a:srgbClr val="1784C7"/>
                      </a:solidFill>
                      <a:prstDash val="solid"/>
                    </a:lnR>
                    <a:lnT w="19050" cap="rnd">
                      <a:solidFill>
                        <a:srgbClr val="1784C7"/>
                      </a:solidFill>
                      <a:prstDash val="solid"/>
                    </a:lnT>
                    <a:lnB w="19050">
                      <a:solidFill>
                        <a:srgbClr val="1784C7"/>
                      </a:solidFill>
                      <a:prstDash val="solid"/>
                    </a:lnB>
                    <a:lnTlToBr>
                      <a:noFill/>
                    </a:lnTlToBr>
                    <a:lnBlToTr>
                      <a:noFill/>
                    </a:lnBlToTr>
                    <a:solidFill>
                      <a:srgbClr val="1784C7"/>
                    </a:solidFill>
                  </a:tcPr>
                </a:tc>
              </a:tr>
              <a:tr h="365760">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1</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1784C7"/>
                      </a:solidFill>
                      <a:prstDash val="dot"/>
                    </a:lnR>
                    <a:lnT w="19050">
                      <a:solidFill>
                        <a:srgbClr val="1784C7"/>
                      </a:solidFill>
                      <a:prstDash val="solid"/>
                    </a:lnT>
                    <a:lnB w="3175">
                      <a:solidFill>
                        <a:srgbClr val="1784C7"/>
                      </a:solidFill>
                      <a:prstDash val="dot"/>
                    </a:lnB>
                    <a:lnTlToBr>
                      <a:noFill/>
                    </a:lnTlToBr>
                    <a:lnBlToTr>
                      <a:noFill/>
                    </a:lnBlToTr>
                    <a:solidFill>
                      <a:srgbClr val="F2F2F2"/>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场景1：成功购物</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19050">
                      <a:solidFill>
                        <a:srgbClr val="1784C7"/>
                      </a:solidFill>
                      <a:prstDash val="solid"/>
                    </a:lnT>
                    <a:lnB w="3175">
                      <a:solidFill>
                        <a:srgbClr val="1784C7"/>
                      </a:solidFill>
                      <a:prstDash val="dot"/>
                    </a:lnB>
                    <a:lnTlToBr>
                      <a:noFill/>
                    </a:lnTlToBr>
                    <a:lnBlToTr>
                      <a:noFill/>
                    </a:lnBlToTr>
                    <a:solidFill>
                      <a:srgbClr val="F2F2F2"/>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V</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19050">
                      <a:solidFill>
                        <a:srgbClr val="1784C7"/>
                      </a:solidFill>
                      <a:prstDash val="solid"/>
                    </a:lnT>
                    <a:lnB w="3175">
                      <a:solidFill>
                        <a:srgbClr val="1784C7"/>
                      </a:solidFill>
                      <a:prstDash val="dot"/>
                    </a:lnB>
                    <a:lnTlToBr>
                      <a:noFill/>
                    </a:lnTlToBr>
                    <a:lnBlToTr>
                      <a:noFill/>
                    </a:lnBlToTr>
                    <a:solidFill>
                      <a:srgbClr val="F2F2F2"/>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V</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19050">
                      <a:solidFill>
                        <a:srgbClr val="1784C7"/>
                      </a:solidFill>
                      <a:prstDash val="solid"/>
                    </a:lnT>
                    <a:lnB w="3175">
                      <a:solidFill>
                        <a:srgbClr val="1784C7"/>
                      </a:solidFill>
                      <a:prstDash val="dot"/>
                    </a:lnB>
                    <a:lnTlToBr>
                      <a:noFill/>
                    </a:lnTlToBr>
                    <a:lnBlToTr>
                      <a:noFill/>
                    </a:lnBlToTr>
                    <a:solidFill>
                      <a:srgbClr val="F2F2F2"/>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V</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19050">
                      <a:solidFill>
                        <a:srgbClr val="1784C7"/>
                      </a:solidFill>
                      <a:prstDash val="solid"/>
                    </a:lnT>
                    <a:lnB w="3175">
                      <a:solidFill>
                        <a:srgbClr val="1784C7"/>
                      </a:solidFill>
                      <a:prstDash val="dot"/>
                    </a:lnB>
                    <a:lnTlToBr>
                      <a:noFill/>
                    </a:lnTlToBr>
                    <a:lnBlToTr>
                      <a:noFill/>
                    </a:lnBlToTr>
                    <a:solidFill>
                      <a:srgbClr val="F2F2F2"/>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成功购物</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19050" cap="rnd">
                      <a:solidFill>
                        <a:srgbClr val="1784C7"/>
                      </a:solidFill>
                      <a:prstDash val="solid"/>
                    </a:lnR>
                    <a:lnT w="19050">
                      <a:solidFill>
                        <a:srgbClr val="1784C7"/>
                      </a:solidFill>
                      <a:prstDash val="solid"/>
                    </a:lnT>
                    <a:lnB w="3175">
                      <a:solidFill>
                        <a:srgbClr val="1784C7"/>
                      </a:solidFill>
                      <a:prstDash val="dot"/>
                    </a:lnB>
                    <a:lnTlToBr>
                      <a:noFill/>
                    </a:lnTlToBr>
                    <a:lnBlToTr>
                      <a:noFill/>
                    </a:lnBlToTr>
                    <a:solidFill>
                      <a:srgbClr val="F2F2F2"/>
                    </a:solidFill>
                  </a:tcPr>
                </a:tc>
              </a:tr>
              <a:tr h="365760">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2</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场景2：账户不存在</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I</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n/a</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n/a</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提示账户不存在</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19050" cap="rnd">
                      <a:solidFill>
                        <a:srgbClr val="1784C7"/>
                      </a:solidFill>
                      <a:prstDash val="solid"/>
                    </a:lnR>
                    <a:lnT w="3175">
                      <a:solidFill>
                        <a:srgbClr val="1784C7"/>
                      </a:solidFill>
                      <a:prstDash val="dot"/>
                    </a:lnT>
                    <a:lnB w="3175">
                      <a:solidFill>
                        <a:srgbClr val="1784C7"/>
                      </a:solidFill>
                      <a:prstDash val="dot"/>
                    </a:lnB>
                    <a:lnTlToBr>
                      <a:noFill/>
                    </a:lnTlToBr>
                    <a:lnBlToTr>
                      <a:noFill/>
                    </a:lnBlToTr>
                    <a:solidFill>
                      <a:srgbClr val="FFFFFF"/>
                    </a:solidFill>
                  </a:tcPr>
                </a:tc>
              </a:tr>
              <a:tr h="822960">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3</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场景3：账号密码错误</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V</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I</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n/a</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提示账户密码错误，返回基本流步骤3</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19050" cap="rnd">
                      <a:solidFill>
                        <a:srgbClr val="1784C7"/>
                      </a:solidFill>
                      <a:prstDash val="solid"/>
                    </a:lnR>
                    <a:lnT w="3175">
                      <a:solidFill>
                        <a:srgbClr val="1784C7"/>
                      </a:solidFill>
                      <a:prstDash val="dot"/>
                    </a:lnT>
                    <a:lnB w="3175">
                      <a:solidFill>
                        <a:srgbClr val="1784C7"/>
                      </a:solidFill>
                      <a:prstDash val="dot"/>
                    </a:lnB>
                    <a:lnTlToBr>
                      <a:noFill/>
                    </a:lnTlToBr>
                    <a:lnBlToTr>
                      <a:noFill/>
                    </a:lnBlToTr>
                    <a:solidFill>
                      <a:srgbClr val="F2F2F2"/>
                    </a:solidFill>
                  </a:tcPr>
                </a:tc>
              </a:tr>
              <a:tr h="548640">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4</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场景4：账户余额不足</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V</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V</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I</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提示用户账户余额不足，请充值</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19050" cap="rnd">
                      <a:solidFill>
                        <a:srgbClr val="1784C7"/>
                      </a:solidFill>
                      <a:prstDash val="solid"/>
                    </a:lnR>
                    <a:lnT w="3175">
                      <a:solidFill>
                        <a:srgbClr val="1784C7"/>
                      </a:solidFill>
                      <a:prstDash val="dot"/>
                    </a:lnT>
                    <a:lnB w="3175">
                      <a:solidFill>
                        <a:srgbClr val="1784C7"/>
                      </a:solidFill>
                      <a:prstDash val="dot"/>
                    </a:lnB>
                    <a:lnTlToBr>
                      <a:noFill/>
                    </a:lnTlToBr>
                    <a:lnBlToTr>
                      <a:noFill/>
                    </a:lnBlToTr>
                    <a:solidFill>
                      <a:srgbClr val="FFFFFF"/>
                    </a:solidFill>
                  </a:tcPr>
                </a:tc>
              </a:tr>
              <a:tr h="548640">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5</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1784C7"/>
                      </a:solidFill>
                      <a:prstDash val="dot"/>
                    </a:lnR>
                    <a:lnT w="3175">
                      <a:solidFill>
                        <a:srgbClr val="1784C7"/>
                      </a:solidFill>
                      <a:prstDash val="dot"/>
                    </a:lnT>
                    <a:lnB w="19050" cap="rnd">
                      <a:solidFill>
                        <a:srgbClr val="1784C7"/>
                      </a:solidFill>
                      <a:prstDash val="solid"/>
                    </a:lnB>
                    <a:lnTlToBr>
                      <a:noFill/>
                    </a:lnTlToBr>
                    <a:lnBlToTr>
                      <a:noFill/>
                    </a:lnBlToTr>
                    <a:solidFill>
                      <a:srgbClr val="F2F2F2"/>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场景5：账户没钱</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19050" cap="rnd">
                      <a:solidFill>
                        <a:srgbClr val="1784C7"/>
                      </a:solidFill>
                      <a:prstDash val="solid"/>
                    </a:lnB>
                    <a:lnTlToBr>
                      <a:noFill/>
                    </a:lnTlToBr>
                    <a:lnBlToTr>
                      <a:noFill/>
                    </a:lnBlToTr>
                    <a:solidFill>
                      <a:srgbClr val="F2F2F2"/>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V</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19050" cap="rnd">
                      <a:solidFill>
                        <a:srgbClr val="1784C7"/>
                      </a:solidFill>
                      <a:prstDash val="solid"/>
                    </a:lnB>
                    <a:lnTlToBr>
                      <a:noFill/>
                    </a:lnTlToBr>
                    <a:lnBlToTr>
                      <a:noFill/>
                    </a:lnBlToTr>
                    <a:solidFill>
                      <a:srgbClr val="F2F2F2"/>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V</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19050" cap="rnd">
                      <a:solidFill>
                        <a:srgbClr val="1784C7"/>
                      </a:solidFill>
                      <a:prstDash val="solid"/>
                    </a:lnB>
                    <a:lnTlToBr>
                      <a:noFill/>
                    </a:lnTlToBr>
                    <a:lnBlToTr>
                      <a:noFill/>
                    </a:lnBlToTr>
                    <a:solidFill>
                      <a:srgbClr val="F2F2F2"/>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I</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19050" cap="rnd">
                      <a:solidFill>
                        <a:srgbClr val="1784C7"/>
                      </a:solidFill>
                      <a:prstDash val="solid"/>
                    </a:lnB>
                    <a:lnTlToBr>
                      <a:noFill/>
                    </a:lnTlToBr>
                    <a:lnBlToTr>
                      <a:noFill/>
                    </a:lnBlToTr>
                    <a:solidFill>
                      <a:srgbClr val="F2F2F2"/>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提示用户账户没有钱，请充值</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19050" cap="rnd">
                      <a:solidFill>
                        <a:srgbClr val="1784C7"/>
                      </a:solidFill>
                      <a:prstDash val="solid"/>
                    </a:lnR>
                    <a:lnT w="3175">
                      <a:solidFill>
                        <a:srgbClr val="1784C7"/>
                      </a:solidFill>
                      <a:prstDash val="dot"/>
                    </a:lnT>
                    <a:lnB w="19050" cap="rnd">
                      <a:solidFill>
                        <a:srgbClr val="1784C7"/>
                      </a:solidFill>
                      <a:prstDash val="solid"/>
                    </a:lnB>
                    <a:lnTlToBr>
                      <a:noFill/>
                    </a:lnTlToBr>
                    <a:lnBlToTr>
                      <a:noFill/>
                    </a:lnBlToTr>
                    <a:solidFill>
                      <a:srgbClr val="F2F2F2"/>
                    </a:solidFill>
                  </a:tcPr>
                </a:tc>
              </a:tr>
            </a:tbl>
          </a:graphicData>
        </a:graphic>
      </p:graphicFrame>
      <p:sp>
        <p:nvSpPr>
          <p:cNvPr id="100" name="文本框 99"/>
          <p:cNvSpPr txBox="1"/>
          <p:nvPr/>
        </p:nvSpPr>
        <p:spPr>
          <a:xfrm>
            <a:off x="3129012" y="6165054"/>
            <a:ext cx="5079373" cy="337185"/>
          </a:xfrm>
          <a:prstGeom prst="rect">
            <a:avLst/>
          </a:prstGeom>
          <a:noFill/>
          <a:ln w="9525">
            <a:noFill/>
          </a:ln>
        </p:spPr>
        <p:txBody>
          <a:bodyPr>
            <a:spAutoFit/>
          </a:bodyPr>
          <a:p>
            <a:pPr indent="0"/>
            <a:r>
              <a:rPr lang="zh-CN" sz="1600" b="0">
                <a:latin typeface="Times New Roman" panose="02020603050405020304" charset="0"/>
                <a:ea typeface="宋体" panose="02010600030101010101" pitchFamily="2" charset="-122"/>
              </a:rPr>
              <a:t>表</a:t>
            </a:r>
            <a:r>
              <a:rPr lang="en-US" altLang="zh-CN" sz="1600" b="0">
                <a:latin typeface="Times New Roman" panose="02020603050405020304" charset="0"/>
                <a:ea typeface="宋体" panose="02010600030101010101" pitchFamily="2" charset="-122"/>
              </a:rPr>
              <a:t>3-26</a:t>
            </a:r>
            <a:r>
              <a:rPr lang="en-US" sz="1600" b="0">
                <a:latin typeface="Times New Roman" panose="02020603050405020304" charset="0"/>
                <a:ea typeface="宋体" panose="02010600030101010101" pitchFamily="2" charset="-122"/>
              </a:rPr>
              <a:t> </a:t>
            </a:r>
            <a:r>
              <a:rPr lang="zh-CN" sz="1600" b="0">
                <a:latin typeface="Times New Roman" panose="02020603050405020304" charset="0"/>
                <a:ea typeface="宋体" panose="02010600030101010101" pitchFamily="2" charset="-122"/>
              </a:rPr>
              <a:t>表示测试用例信息形式</a:t>
            </a:r>
            <a:endParaRPr lang="zh-CN" altLang="en-US" sz="1600"/>
          </a:p>
        </p:txBody>
      </p:sp>
      <p:sp>
        <p:nvSpPr>
          <p:cNvPr id="8" name="云形标注 7"/>
          <p:cNvSpPr/>
          <p:nvPr/>
        </p:nvSpPr>
        <p:spPr>
          <a:xfrm>
            <a:off x="7979178" y="516156"/>
            <a:ext cx="3906672" cy="3734610"/>
          </a:xfrm>
          <a:prstGeom prst="cloudCallout">
            <a:avLst>
              <a:gd name="adj1" fmla="val -40063"/>
              <a:gd name="adj2" fmla="val 59488"/>
            </a:avLst>
          </a:prstGeom>
        </p:spPr>
        <p:style>
          <a:lnRef idx="2">
            <a:schemeClr val="accent1"/>
          </a:lnRef>
          <a:fillRef idx="1">
            <a:schemeClr val="lt1"/>
          </a:fillRef>
          <a:effectRef idx="0">
            <a:schemeClr val="accent1"/>
          </a:effectRef>
          <a:fontRef idx="minor">
            <a:schemeClr val="dk1"/>
          </a:fontRef>
        </p:style>
        <p:txBody>
          <a:bodyPr rtlCol="0" anchor="ctr"/>
          <a:p>
            <a:pPr algn="ctr"/>
            <a:r>
              <a:rPr lang="zh-CN" altLang="en-US">
                <a:solidFill>
                  <a:srgbClr val="C00000"/>
                </a:solidFill>
                <a:sym typeface="+mn-ea"/>
              </a:rPr>
              <a:t>V（有效）</a:t>
            </a:r>
            <a:r>
              <a:rPr lang="zh-CN" altLang="en-US">
                <a:sym typeface="+mn-ea"/>
              </a:rPr>
              <a:t>用于表明这个条件必须是 VALID（有效的）才可执行基本流，而</a:t>
            </a:r>
            <a:r>
              <a:rPr lang="zh-CN" altLang="en-US">
                <a:solidFill>
                  <a:srgbClr val="C00000"/>
                </a:solidFill>
                <a:sym typeface="+mn-ea"/>
              </a:rPr>
              <a:t> I（无效）</a:t>
            </a:r>
            <a:r>
              <a:rPr lang="zh-CN" altLang="en-US">
                <a:sym typeface="+mn-ea"/>
              </a:rPr>
              <a:t>用于表明这种条件下将激活所需备选流。下表中使用的</a:t>
            </a:r>
            <a:r>
              <a:rPr lang="zh-CN" altLang="en-US">
                <a:solidFill>
                  <a:srgbClr val="C00000"/>
                </a:solidFill>
                <a:sym typeface="+mn-ea"/>
              </a:rPr>
              <a:t>“n/a”（不适用）</a:t>
            </a:r>
            <a:r>
              <a:rPr lang="zh-CN" altLang="en-US">
                <a:sym typeface="+mn-ea"/>
              </a:rPr>
              <a:t>表明这个条件不适用于测试用例。</a:t>
            </a:r>
            <a:endParaRPr lang="zh-CN" altLang="en-US"/>
          </a:p>
        </p:txBody>
      </p:sp>
    </p:spTree>
  </p:cSld>
  <p:clrMapOvr>
    <a:masterClrMapping/>
  </p:clrMapOvr>
  <p:transition advTm="1310">
    <p:random/>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4961" y="128219"/>
            <a:ext cx="366985" cy="388572"/>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79" name="矩形 78"/>
          <p:cNvSpPr/>
          <p:nvPr/>
        </p:nvSpPr>
        <p:spPr>
          <a:xfrm>
            <a:off x="404563" y="128219"/>
            <a:ext cx="76191" cy="387937"/>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pitchFamily="34" charset="-122"/>
            </a:endParaRPr>
          </a:p>
        </p:txBody>
      </p:sp>
      <p:sp>
        <p:nvSpPr>
          <p:cNvPr id="80" name="文本占位符 3"/>
          <p:cNvSpPr txBox="1"/>
          <p:nvPr/>
        </p:nvSpPr>
        <p:spPr>
          <a:xfrm>
            <a:off x="432499" y="57108"/>
            <a:ext cx="3418418" cy="558096"/>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rPr>
              <a:t>场景法设计测试用例的案例</a:t>
            </a:r>
            <a:endParaRPr kumimoji="1" lang="zh-CN" altLang="en-US" sz="2000" b="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1654723" y="875521"/>
            <a:ext cx="9073031" cy="1014730"/>
          </a:xfrm>
          <a:prstGeom prst="rect">
            <a:avLst/>
          </a:prstGeom>
          <a:noFill/>
          <a:ln w="9525">
            <a:noFill/>
          </a:ln>
        </p:spPr>
        <p:txBody>
          <a:bodyPr wrap="square">
            <a:spAutoFit/>
          </a:bodyPr>
          <a:p>
            <a:pPr indent="266700"/>
            <a:r>
              <a:rPr lang="zh-CN" sz="2000" b="0">
                <a:latin typeface="微软雅黑" panose="020B0503020204020204" pitchFamily="34" charset="-122"/>
                <a:ea typeface="微软雅黑" panose="020B0503020204020204" pitchFamily="34" charset="-122"/>
                <a:cs typeface="微软雅黑" panose="020B0503020204020204" pitchFamily="34" charset="-122"/>
              </a:rPr>
              <a:t>我们看到以上表中，是把每个场景成立的条件进行了分析，基本上已经明确了测试用例的数量，现在只要把真实数据填充上，那么整个测试用例就完成了，如表</a:t>
            </a:r>
            <a:r>
              <a:rPr lang="en-US" sz="2000" b="0">
                <a:latin typeface="微软雅黑" panose="020B0503020204020204" pitchFamily="34" charset="-122"/>
                <a:ea typeface="微软雅黑" panose="020B0503020204020204" pitchFamily="34" charset="-122"/>
                <a:cs typeface="微软雅黑" panose="020B0503020204020204" pitchFamily="34" charset="-122"/>
              </a:rPr>
              <a:t>3-27</a:t>
            </a:r>
            <a:r>
              <a:rPr lang="zh-CN" sz="2000" b="0">
                <a:latin typeface="微软雅黑" panose="020B0503020204020204" pitchFamily="34" charset="-122"/>
                <a:ea typeface="微软雅黑" panose="020B0503020204020204" pitchFamily="34" charset="-122"/>
                <a:cs typeface="微软雅黑" panose="020B0503020204020204" pitchFamily="34" charset="-122"/>
              </a:rPr>
              <a:t>所示。</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表格 1"/>
          <p:cNvGraphicFramePr/>
          <p:nvPr>
            <p:custDataLst>
              <p:tags r:id="rId1"/>
            </p:custDataLst>
          </p:nvPr>
        </p:nvGraphicFramePr>
        <p:xfrm>
          <a:off x="2285836" y="2151080"/>
          <a:ext cx="7811135" cy="3567430"/>
        </p:xfrm>
        <a:graphic>
          <a:graphicData uri="http://schemas.openxmlformats.org/drawingml/2006/table">
            <a:tbl>
              <a:tblPr firstRow="1" bandRow="1">
                <a:tableStyleId>{5940675A-B579-460E-94D1-54222C63F5DA}</a:tableStyleId>
              </a:tblPr>
              <a:tblGrid>
                <a:gridCol w="866775"/>
                <a:gridCol w="2159000"/>
                <a:gridCol w="779780"/>
                <a:gridCol w="774065"/>
                <a:gridCol w="1365885"/>
                <a:gridCol w="1865630"/>
              </a:tblGrid>
              <a:tr h="588010">
                <a:tc>
                  <a:txBody>
                    <a:bodyPr/>
                    <a:p>
                      <a:pPr indent="0">
                        <a:buNone/>
                      </a:pPr>
                      <a:r>
                        <a:rPr lang="en-US" sz="1800" b="0">
                          <a:solidFill>
                            <a:srgbClr val="FFFFFF"/>
                          </a:solidFill>
                          <a:latin typeface="宋体" panose="02010600030101010101" pitchFamily="2" charset="-122"/>
                          <a:ea typeface="宋体" panose="02010600030101010101" pitchFamily="2" charset="-122"/>
                          <a:cs typeface="宋体" panose="02010600030101010101" pitchFamily="2" charset="-122"/>
                        </a:rPr>
                        <a:t>测试用例ID</a:t>
                      </a:r>
                      <a:endParaRPr lang="en-US" altLang="en-US" sz="1800" b="0">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FFFFFF"/>
                      </a:solidFill>
                      <a:prstDash val="dot"/>
                    </a:lnR>
                    <a:lnT w="19050" cap="rnd">
                      <a:solidFill>
                        <a:srgbClr val="1784C7"/>
                      </a:solidFill>
                      <a:prstDash val="solid"/>
                    </a:lnT>
                    <a:lnB w="19050">
                      <a:solidFill>
                        <a:srgbClr val="1784C7"/>
                      </a:solidFill>
                      <a:prstDash val="solid"/>
                    </a:lnB>
                    <a:lnTlToBr>
                      <a:noFill/>
                    </a:lnTlToBr>
                    <a:lnBlToTr>
                      <a:noFill/>
                    </a:lnBlToTr>
                    <a:solidFill>
                      <a:srgbClr val="1784C7"/>
                    </a:solidFill>
                  </a:tcPr>
                </a:tc>
                <a:tc>
                  <a:txBody>
                    <a:bodyPr/>
                    <a:p>
                      <a:pPr indent="0">
                        <a:buNone/>
                      </a:pPr>
                      <a:r>
                        <a:rPr lang="en-US" sz="1800" b="0">
                          <a:solidFill>
                            <a:srgbClr val="FFFFFF"/>
                          </a:solidFill>
                          <a:latin typeface="宋体" panose="02010600030101010101" pitchFamily="2" charset="-122"/>
                          <a:ea typeface="宋体" panose="02010600030101010101" pitchFamily="2" charset="-122"/>
                          <a:cs typeface="宋体" panose="02010600030101010101" pitchFamily="2" charset="-122"/>
                        </a:rPr>
                        <a:t>场景/条件</a:t>
                      </a:r>
                      <a:endParaRPr lang="en-US" altLang="en-US" sz="1800" b="0">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FFFFFF"/>
                      </a:solidFill>
                      <a:prstDash val="dot"/>
                    </a:lnL>
                    <a:lnR w="3175">
                      <a:solidFill>
                        <a:srgbClr val="FFFFFF"/>
                      </a:solidFill>
                      <a:prstDash val="dot"/>
                    </a:lnR>
                    <a:lnT w="19050" cap="rnd">
                      <a:solidFill>
                        <a:srgbClr val="1784C7"/>
                      </a:solidFill>
                      <a:prstDash val="solid"/>
                    </a:lnT>
                    <a:lnB w="19050">
                      <a:solidFill>
                        <a:srgbClr val="1784C7"/>
                      </a:solidFill>
                      <a:prstDash val="solid"/>
                    </a:lnB>
                    <a:lnTlToBr>
                      <a:noFill/>
                    </a:lnTlToBr>
                    <a:lnBlToTr>
                      <a:noFill/>
                    </a:lnBlToTr>
                    <a:solidFill>
                      <a:srgbClr val="1784C7"/>
                    </a:solidFill>
                  </a:tcPr>
                </a:tc>
                <a:tc>
                  <a:txBody>
                    <a:bodyPr/>
                    <a:p>
                      <a:pPr indent="0">
                        <a:buNone/>
                      </a:pPr>
                      <a:r>
                        <a:rPr lang="en-US" sz="1800" b="0">
                          <a:solidFill>
                            <a:srgbClr val="FFFFFF"/>
                          </a:solidFill>
                          <a:latin typeface="宋体" panose="02010600030101010101" pitchFamily="2" charset="-122"/>
                          <a:ea typeface="宋体" panose="02010600030101010101" pitchFamily="2" charset="-122"/>
                          <a:cs typeface="宋体" panose="02010600030101010101" pitchFamily="2" charset="-122"/>
                        </a:rPr>
                        <a:t>账号</a:t>
                      </a:r>
                      <a:endParaRPr lang="en-US" altLang="en-US" sz="1800" b="0">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FFFFFF"/>
                      </a:solidFill>
                      <a:prstDash val="dot"/>
                    </a:lnL>
                    <a:lnR w="3175">
                      <a:solidFill>
                        <a:srgbClr val="FFFFFF"/>
                      </a:solidFill>
                      <a:prstDash val="dot"/>
                    </a:lnR>
                    <a:lnT w="19050" cap="rnd">
                      <a:solidFill>
                        <a:srgbClr val="1784C7"/>
                      </a:solidFill>
                      <a:prstDash val="solid"/>
                    </a:lnT>
                    <a:lnB w="19050">
                      <a:solidFill>
                        <a:srgbClr val="1784C7"/>
                      </a:solidFill>
                      <a:prstDash val="solid"/>
                    </a:lnB>
                    <a:lnTlToBr>
                      <a:noFill/>
                    </a:lnTlToBr>
                    <a:lnBlToTr>
                      <a:noFill/>
                    </a:lnBlToTr>
                    <a:solidFill>
                      <a:srgbClr val="1784C7"/>
                    </a:solidFill>
                  </a:tcPr>
                </a:tc>
                <a:tc>
                  <a:txBody>
                    <a:bodyPr/>
                    <a:p>
                      <a:pPr indent="0">
                        <a:buNone/>
                      </a:pPr>
                      <a:r>
                        <a:rPr lang="en-US" sz="1800" b="0">
                          <a:solidFill>
                            <a:srgbClr val="FFFFFF"/>
                          </a:solidFill>
                          <a:latin typeface="宋体" panose="02010600030101010101" pitchFamily="2" charset="-122"/>
                          <a:ea typeface="宋体" panose="02010600030101010101" pitchFamily="2" charset="-122"/>
                          <a:cs typeface="宋体" panose="02010600030101010101" pitchFamily="2" charset="-122"/>
                        </a:rPr>
                        <a:t>密码</a:t>
                      </a:r>
                      <a:endParaRPr lang="en-US" altLang="en-US" sz="1800" b="0">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FFFFFF"/>
                      </a:solidFill>
                      <a:prstDash val="dot"/>
                    </a:lnL>
                    <a:lnR w="3175">
                      <a:solidFill>
                        <a:srgbClr val="FFFFFF"/>
                      </a:solidFill>
                      <a:prstDash val="dot"/>
                    </a:lnR>
                    <a:lnT w="19050" cap="rnd">
                      <a:solidFill>
                        <a:srgbClr val="1784C7"/>
                      </a:solidFill>
                      <a:prstDash val="solid"/>
                    </a:lnT>
                    <a:lnB w="19050">
                      <a:solidFill>
                        <a:srgbClr val="1784C7"/>
                      </a:solidFill>
                      <a:prstDash val="solid"/>
                    </a:lnB>
                    <a:lnTlToBr>
                      <a:noFill/>
                    </a:lnTlToBr>
                    <a:lnBlToTr>
                      <a:noFill/>
                    </a:lnBlToTr>
                    <a:solidFill>
                      <a:srgbClr val="1784C7"/>
                    </a:solidFill>
                  </a:tcPr>
                </a:tc>
                <a:tc>
                  <a:txBody>
                    <a:bodyPr/>
                    <a:p>
                      <a:pPr indent="0">
                        <a:buNone/>
                      </a:pPr>
                      <a:r>
                        <a:rPr lang="en-US" sz="1800" b="0">
                          <a:solidFill>
                            <a:srgbClr val="FFFFFF"/>
                          </a:solidFill>
                          <a:latin typeface="宋体" panose="02010600030101010101" pitchFamily="2" charset="-122"/>
                          <a:ea typeface="宋体" panose="02010600030101010101" pitchFamily="2" charset="-122"/>
                          <a:cs typeface="宋体" panose="02010600030101010101" pitchFamily="2" charset="-122"/>
                        </a:rPr>
                        <a:t>用户账户</a:t>
                      </a:r>
                      <a:endParaRPr lang="en-US" sz="1800" b="0">
                        <a:solidFill>
                          <a:srgbClr val="FFFFFF"/>
                        </a:solidFill>
                        <a:latin typeface="宋体" panose="02010600030101010101" pitchFamily="2" charset="-122"/>
                        <a:ea typeface="宋体" panose="02010600030101010101" pitchFamily="2" charset="-122"/>
                        <a:cs typeface="宋体" panose="02010600030101010101" pitchFamily="2" charset="-122"/>
                      </a:endParaRPr>
                    </a:p>
                    <a:p>
                      <a:pPr indent="0">
                        <a:buNone/>
                      </a:pPr>
                      <a:r>
                        <a:rPr lang="en-US" sz="1800" b="0">
                          <a:solidFill>
                            <a:srgbClr val="FFFFFF"/>
                          </a:solidFill>
                          <a:latin typeface="宋体" panose="02010600030101010101" pitchFamily="2" charset="-122"/>
                          <a:ea typeface="宋体" panose="02010600030101010101" pitchFamily="2" charset="-122"/>
                          <a:cs typeface="宋体" panose="02010600030101010101" pitchFamily="2" charset="-122"/>
                        </a:rPr>
                        <a:t>金额</a:t>
                      </a:r>
                      <a:endParaRPr lang="en-US" altLang="en-US" sz="1800" b="0">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FFFFFF"/>
                      </a:solidFill>
                      <a:prstDash val="dot"/>
                    </a:lnL>
                    <a:lnR w="3175">
                      <a:solidFill>
                        <a:srgbClr val="FFFFFF"/>
                      </a:solidFill>
                      <a:prstDash val="dot"/>
                    </a:lnR>
                    <a:lnT w="19050" cap="rnd">
                      <a:solidFill>
                        <a:srgbClr val="1784C7"/>
                      </a:solidFill>
                      <a:prstDash val="solid"/>
                    </a:lnT>
                    <a:lnB w="19050">
                      <a:solidFill>
                        <a:srgbClr val="1784C7"/>
                      </a:solidFill>
                      <a:prstDash val="solid"/>
                    </a:lnB>
                    <a:lnTlToBr>
                      <a:noFill/>
                    </a:lnTlToBr>
                    <a:lnBlToTr>
                      <a:noFill/>
                    </a:lnBlToTr>
                    <a:solidFill>
                      <a:srgbClr val="1784C7"/>
                    </a:solidFill>
                  </a:tcPr>
                </a:tc>
                <a:tc>
                  <a:txBody>
                    <a:bodyPr/>
                    <a:p>
                      <a:pPr indent="0">
                        <a:buNone/>
                      </a:pPr>
                      <a:r>
                        <a:rPr lang="en-US" sz="1800" b="0">
                          <a:solidFill>
                            <a:srgbClr val="FFFFFF"/>
                          </a:solidFill>
                          <a:latin typeface="宋体" panose="02010600030101010101" pitchFamily="2" charset="-122"/>
                          <a:ea typeface="宋体" panose="02010600030101010101" pitchFamily="2" charset="-122"/>
                          <a:cs typeface="宋体" panose="02010600030101010101" pitchFamily="2" charset="-122"/>
                        </a:rPr>
                        <a:t>预期结果</a:t>
                      </a:r>
                      <a:endParaRPr lang="en-US" altLang="en-US" sz="1800" b="0">
                        <a:solidFill>
                          <a:srgbClr val="FFFFFF"/>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FFFFFF"/>
                      </a:solidFill>
                      <a:prstDash val="dot"/>
                    </a:lnL>
                    <a:lnR w="19050" cap="rnd">
                      <a:solidFill>
                        <a:srgbClr val="1784C7"/>
                      </a:solidFill>
                      <a:prstDash val="solid"/>
                    </a:lnR>
                    <a:lnT w="19050" cap="rnd">
                      <a:solidFill>
                        <a:srgbClr val="1784C7"/>
                      </a:solidFill>
                      <a:prstDash val="solid"/>
                    </a:lnT>
                    <a:lnB w="19050">
                      <a:solidFill>
                        <a:srgbClr val="1784C7"/>
                      </a:solidFill>
                      <a:prstDash val="solid"/>
                    </a:lnB>
                    <a:lnTlToBr>
                      <a:noFill/>
                    </a:lnTlToBr>
                    <a:lnBlToTr>
                      <a:noFill/>
                    </a:lnBlToTr>
                    <a:solidFill>
                      <a:srgbClr val="1784C7"/>
                    </a:solidFill>
                  </a:tcPr>
                </a:tc>
              </a:tr>
              <a:tr h="588010">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1</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1784C7"/>
                      </a:solidFill>
                      <a:prstDash val="dot"/>
                    </a:lnR>
                    <a:lnT w="19050">
                      <a:solidFill>
                        <a:srgbClr val="1784C7"/>
                      </a:solidFill>
                      <a:prstDash val="solid"/>
                    </a:lnT>
                    <a:lnB w="3175">
                      <a:solidFill>
                        <a:srgbClr val="1784C7"/>
                      </a:solidFill>
                      <a:prstDash val="dot"/>
                    </a:lnB>
                    <a:lnTlToBr>
                      <a:noFill/>
                    </a:lnTlToBr>
                    <a:lnBlToTr>
                      <a:noFill/>
                    </a:lnBlToTr>
                    <a:solidFill>
                      <a:srgbClr val="F2F2F2"/>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场景1：成功购物</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19050">
                      <a:solidFill>
                        <a:srgbClr val="1784C7"/>
                      </a:solidFill>
                      <a:prstDash val="solid"/>
                    </a:lnT>
                    <a:lnB w="3175">
                      <a:solidFill>
                        <a:srgbClr val="1784C7"/>
                      </a:solidFill>
                      <a:prstDash val="dot"/>
                    </a:lnB>
                    <a:lnTlToBr>
                      <a:noFill/>
                    </a:lnTlToBr>
                    <a:lnBlToTr>
                      <a:noFill/>
                    </a:lnBlToTr>
                    <a:solidFill>
                      <a:srgbClr val="F2F2F2"/>
                    </a:solidFill>
                  </a:tcPr>
                </a:tc>
                <a:tc>
                  <a:txBody>
                    <a:bodyPr/>
                    <a:p>
                      <a:pPr indent="0" algn="ctr">
                        <a:buNone/>
                      </a:pPr>
                      <a:r>
                        <a:rPr lang="en-US" sz="1800" b="0">
                          <a:solidFill>
                            <a:srgbClr val="404040"/>
                          </a:solidFill>
                          <a:latin typeface="Times New Roman" panose="02020603050405020304" charset="0"/>
                          <a:cs typeface="Times New Roman" panose="02020603050405020304" charset="0"/>
                        </a:rPr>
                        <a:t>A</a:t>
                      </a: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dmin</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19050">
                      <a:solidFill>
                        <a:srgbClr val="1784C7"/>
                      </a:solidFill>
                      <a:prstDash val="solid"/>
                    </a:lnT>
                    <a:lnB w="3175">
                      <a:solidFill>
                        <a:srgbClr val="1784C7"/>
                      </a:solidFill>
                      <a:prstDash val="dot"/>
                    </a:lnB>
                    <a:lnTlToBr>
                      <a:noFill/>
                    </a:lnTlToBr>
                    <a:lnBlToTr>
                      <a:noFill/>
                    </a:lnBlToTr>
                    <a:solidFill>
                      <a:srgbClr val="F2F2F2"/>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123456</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19050">
                      <a:solidFill>
                        <a:srgbClr val="1784C7"/>
                      </a:solidFill>
                      <a:prstDash val="solid"/>
                    </a:lnT>
                    <a:lnB w="3175">
                      <a:solidFill>
                        <a:srgbClr val="1784C7"/>
                      </a:solidFill>
                      <a:prstDash val="dot"/>
                    </a:lnB>
                    <a:lnTlToBr>
                      <a:noFill/>
                    </a:lnTlToBr>
                    <a:lnBlToTr>
                      <a:noFill/>
                    </a:lnBlToTr>
                    <a:solidFill>
                      <a:srgbClr val="F2F2F2"/>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200</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19050">
                      <a:solidFill>
                        <a:srgbClr val="1784C7"/>
                      </a:solidFill>
                      <a:prstDash val="solid"/>
                    </a:lnT>
                    <a:lnB w="3175">
                      <a:solidFill>
                        <a:srgbClr val="1784C7"/>
                      </a:solidFill>
                      <a:prstDash val="dot"/>
                    </a:lnB>
                    <a:lnTlToBr>
                      <a:noFill/>
                    </a:lnTlToBr>
                    <a:lnBlToTr>
                      <a:noFill/>
                    </a:lnBlToTr>
                    <a:solidFill>
                      <a:srgbClr val="F2F2F2"/>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成功购物，账户余额减少100</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19050" cap="rnd">
                      <a:solidFill>
                        <a:srgbClr val="1784C7"/>
                      </a:solidFill>
                      <a:prstDash val="solid"/>
                    </a:lnR>
                    <a:lnT w="19050">
                      <a:solidFill>
                        <a:srgbClr val="1784C7"/>
                      </a:solidFill>
                      <a:prstDash val="solid"/>
                    </a:lnT>
                    <a:lnB w="3175">
                      <a:solidFill>
                        <a:srgbClr val="1784C7"/>
                      </a:solidFill>
                      <a:prstDash val="dot"/>
                    </a:lnB>
                    <a:lnTlToBr>
                      <a:noFill/>
                    </a:lnTlToBr>
                    <a:lnBlToTr>
                      <a:noFill/>
                    </a:lnBlToTr>
                    <a:solidFill>
                      <a:srgbClr val="F2F2F2"/>
                    </a:solidFill>
                  </a:tcPr>
                </a:tc>
              </a:tr>
              <a:tr h="392430">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2</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场景2：账户不存在</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1800" b="0">
                          <a:solidFill>
                            <a:srgbClr val="404040"/>
                          </a:solidFill>
                          <a:latin typeface="Times New Roman" panose="02020603050405020304" charset="0"/>
                          <a:cs typeface="Times New Roman" panose="02020603050405020304" charset="0"/>
                        </a:rPr>
                        <a:t>A</a:t>
                      </a: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a</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n/a</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n/a</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提示账户不存在</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19050" cap="rnd">
                      <a:solidFill>
                        <a:srgbClr val="1784C7"/>
                      </a:solidFill>
                      <a:prstDash val="solid"/>
                    </a:lnR>
                    <a:lnT w="3175">
                      <a:solidFill>
                        <a:srgbClr val="1784C7"/>
                      </a:solidFill>
                      <a:prstDash val="dot"/>
                    </a:lnT>
                    <a:lnB w="3175">
                      <a:solidFill>
                        <a:srgbClr val="1784C7"/>
                      </a:solidFill>
                      <a:prstDash val="dot"/>
                    </a:lnB>
                    <a:lnTlToBr>
                      <a:noFill/>
                    </a:lnTlToBr>
                    <a:lnBlToTr>
                      <a:noFill/>
                    </a:lnBlToTr>
                    <a:solidFill>
                      <a:srgbClr val="FFFFFF"/>
                    </a:solidFill>
                  </a:tcPr>
                </a:tc>
              </a:tr>
              <a:tr h="822960">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3</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场景3：账号密码错误</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lgn="ctr">
                        <a:buNone/>
                      </a:pPr>
                      <a:r>
                        <a:rPr lang="en-US" sz="1800" b="0">
                          <a:solidFill>
                            <a:srgbClr val="404040"/>
                          </a:solidFill>
                          <a:latin typeface="Times New Roman" panose="02020603050405020304" charset="0"/>
                          <a:cs typeface="Times New Roman" panose="02020603050405020304" charset="0"/>
                        </a:rPr>
                        <a:t>A</a:t>
                      </a: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dmin</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11111</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n/a</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2F2F2"/>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提示账户密码错误，返回基本流步骤3</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19050" cap="rnd">
                      <a:solidFill>
                        <a:srgbClr val="1784C7"/>
                      </a:solidFill>
                      <a:prstDash val="solid"/>
                    </a:lnR>
                    <a:lnT w="3175">
                      <a:solidFill>
                        <a:srgbClr val="1784C7"/>
                      </a:solidFill>
                      <a:prstDash val="dot"/>
                    </a:lnT>
                    <a:lnB w="3175">
                      <a:solidFill>
                        <a:srgbClr val="1784C7"/>
                      </a:solidFill>
                      <a:prstDash val="dot"/>
                    </a:lnB>
                    <a:lnTlToBr>
                      <a:noFill/>
                    </a:lnTlToBr>
                    <a:lnBlToTr>
                      <a:noFill/>
                    </a:lnBlToTr>
                    <a:solidFill>
                      <a:srgbClr val="F2F2F2"/>
                    </a:solidFill>
                  </a:tcPr>
                </a:tc>
              </a:tr>
              <a:tr h="588010">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4</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场景4：账户余额不足</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1800" b="0">
                          <a:solidFill>
                            <a:srgbClr val="404040"/>
                          </a:solidFill>
                          <a:latin typeface="Times New Roman" panose="02020603050405020304" charset="0"/>
                          <a:cs typeface="Times New Roman" panose="02020603050405020304" charset="0"/>
                        </a:rPr>
                        <a:t>A</a:t>
                      </a: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dmin</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123456</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50</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3175">
                      <a:solidFill>
                        <a:srgbClr val="1784C7"/>
                      </a:solidFill>
                      <a:prstDash val="dot"/>
                    </a:lnB>
                    <a:lnTlToBr>
                      <a:noFill/>
                    </a:lnTlToBr>
                    <a:lnBlToTr>
                      <a:noFill/>
                    </a:lnBlToTr>
                    <a:solidFill>
                      <a:srgbClr val="FFFFFF"/>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提示用户账户余额不足，请充值</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19050" cap="rnd">
                      <a:solidFill>
                        <a:srgbClr val="1784C7"/>
                      </a:solidFill>
                      <a:prstDash val="solid"/>
                    </a:lnR>
                    <a:lnT w="3175">
                      <a:solidFill>
                        <a:srgbClr val="1784C7"/>
                      </a:solidFill>
                      <a:prstDash val="dot"/>
                    </a:lnT>
                    <a:lnB w="3175">
                      <a:solidFill>
                        <a:srgbClr val="1784C7"/>
                      </a:solidFill>
                      <a:prstDash val="dot"/>
                    </a:lnB>
                    <a:lnTlToBr>
                      <a:noFill/>
                    </a:lnTlToBr>
                    <a:lnBlToTr>
                      <a:noFill/>
                    </a:lnBlToTr>
                    <a:solidFill>
                      <a:srgbClr val="FFFFFF"/>
                    </a:solidFill>
                  </a:tcPr>
                </a:tc>
              </a:tr>
              <a:tr h="588010">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5</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19050" cap="rnd">
                      <a:solidFill>
                        <a:srgbClr val="1784C7"/>
                      </a:solidFill>
                      <a:prstDash val="solid"/>
                    </a:lnL>
                    <a:lnR w="3175">
                      <a:solidFill>
                        <a:srgbClr val="1784C7"/>
                      </a:solidFill>
                      <a:prstDash val="dot"/>
                    </a:lnR>
                    <a:lnT w="3175">
                      <a:solidFill>
                        <a:srgbClr val="1784C7"/>
                      </a:solidFill>
                      <a:prstDash val="dot"/>
                    </a:lnT>
                    <a:lnB w="19050" cap="rnd">
                      <a:solidFill>
                        <a:srgbClr val="1784C7"/>
                      </a:solidFill>
                      <a:prstDash val="solid"/>
                    </a:lnB>
                    <a:lnTlToBr>
                      <a:noFill/>
                    </a:lnTlToBr>
                    <a:lnBlToTr>
                      <a:noFill/>
                    </a:lnBlToTr>
                    <a:solidFill>
                      <a:srgbClr val="F2F2F2"/>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场景5：账户没钱</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19050" cap="rnd">
                      <a:solidFill>
                        <a:srgbClr val="1784C7"/>
                      </a:solidFill>
                      <a:prstDash val="solid"/>
                    </a:lnB>
                    <a:lnTlToBr>
                      <a:noFill/>
                    </a:lnTlToBr>
                    <a:lnBlToTr>
                      <a:noFill/>
                    </a:lnBlToTr>
                    <a:solidFill>
                      <a:srgbClr val="F2F2F2"/>
                    </a:solidFill>
                  </a:tcPr>
                </a:tc>
                <a:tc>
                  <a:txBody>
                    <a:bodyPr/>
                    <a:p>
                      <a:pPr indent="0" algn="ctr">
                        <a:buNone/>
                      </a:pPr>
                      <a:r>
                        <a:rPr lang="en-US" sz="1800" b="0">
                          <a:solidFill>
                            <a:srgbClr val="404040"/>
                          </a:solidFill>
                          <a:latin typeface="Times New Roman" panose="02020603050405020304" charset="0"/>
                          <a:cs typeface="Times New Roman" panose="02020603050405020304" charset="0"/>
                        </a:rPr>
                        <a:t>A</a:t>
                      </a: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dmin</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19050" cap="rnd">
                      <a:solidFill>
                        <a:srgbClr val="1784C7"/>
                      </a:solidFill>
                      <a:prstDash val="solid"/>
                    </a:lnB>
                    <a:lnTlToBr>
                      <a:noFill/>
                    </a:lnTlToBr>
                    <a:lnBlToTr>
                      <a:noFill/>
                    </a:lnBlToTr>
                    <a:solidFill>
                      <a:srgbClr val="F2F2F2"/>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123456</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19050" cap="rnd">
                      <a:solidFill>
                        <a:srgbClr val="1784C7"/>
                      </a:solidFill>
                      <a:prstDash val="solid"/>
                    </a:lnB>
                    <a:lnTlToBr>
                      <a:noFill/>
                    </a:lnTlToBr>
                    <a:lnBlToTr>
                      <a:noFill/>
                    </a:lnBlToTr>
                    <a:solidFill>
                      <a:srgbClr val="F2F2F2"/>
                    </a:solidFill>
                  </a:tcPr>
                </a:tc>
                <a:tc>
                  <a:txBody>
                    <a:bodyPr/>
                    <a:p>
                      <a:pPr indent="0" algn="ctr">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0</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3175">
                      <a:solidFill>
                        <a:srgbClr val="1784C7"/>
                      </a:solidFill>
                      <a:prstDash val="dot"/>
                    </a:lnR>
                    <a:lnT w="3175">
                      <a:solidFill>
                        <a:srgbClr val="1784C7"/>
                      </a:solidFill>
                      <a:prstDash val="dot"/>
                    </a:lnT>
                    <a:lnB w="19050" cap="rnd">
                      <a:solidFill>
                        <a:srgbClr val="1784C7"/>
                      </a:solidFill>
                      <a:prstDash val="solid"/>
                    </a:lnB>
                    <a:lnTlToBr>
                      <a:noFill/>
                    </a:lnTlToBr>
                    <a:lnBlToTr>
                      <a:noFill/>
                    </a:lnBlToTr>
                    <a:solidFill>
                      <a:srgbClr val="F2F2F2"/>
                    </a:solidFill>
                  </a:tcPr>
                </a:tc>
                <a:tc>
                  <a:txBody>
                    <a:bodyPr/>
                    <a:p>
                      <a:pPr indent="0">
                        <a:buNone/>
                      </a:pPr>
                      <a:r>
                        <a:rPr lang="en-US" sz="1800" b="0">
                          <a:solidFill>
                            <a:srgbClr val="404040"/>
                          </a:solidFill>
                          <a:latin typeface="宋体" panose="02010600030101010101" pitchFamily="2" charset="-122"/>
                          <a:ea typeface="宋体" panose="02010600030101010101" pitchFamily="2" charset="-122"/>
                          <a:cs typeface="宋体" panose="02010600030101010101" pitchFamily="2" charset="-122"/>
                        </a:rPr>
                        <a:t>提示用户账户没有钱，请充值</a:t>
                      </a:r>
                      <a:endParaRPr lang="en-US" altLang="en-US" sz="1800" b="0">
                        <a:solidFill>
                          <a:srgbClr val="404040"/>
                        </a:solidFill>
                        <a:latin typeface="宋体" panose="02010600030101010101" pitchFamily="2" charset="-122"/>
                        <a:ea typeface="宋体" panose="02010600030101010101" pitchFamily="2" charset="-122"/>
                        <a:cs typeface="宋体" panose="02010600030101010101" pitchFamily="2" charset="-122"/>
                      </a:endParaRPr>
                    </a:p>
                  </a:txBody>
                  <a:tcPr marL="68571" marR="68571" marT="0" marB="0" vert="horz" anchor="ctr">
                    <a:lnL w="3175">
                      <a:solidFill>
                        <a:srgbClr val="1784C7"/>
                      </a:solidFill>
                      <a:prstDash val="dot"/>
                    </a:lnL>
                    <a:lnR w="19050" cap="rnd">
                      <a:solidFill>
                        <a:srgbClr val="1784C7"/>
                      </a:solidFill>
                      <a:prstDash val="solid"/>
                    </a:lnR>
                    <a:lnT w="3175">
                      <a:solidFill>
                        <a:srgbClr val="1784C7"/>
                      </a:solidFill>
                      <a:prstDash val="dot"/>
                    </a:lnT>
                    <a:lnB w="19050" cap="rnd">
                      <a:solidFill>
                        <a:srgbClr val="1784C7"/>
                      </a:solidFill>
                      <a:prstDash val="solid"/>
                    </a:lnB>
                    <a:lnTlToBr>
                      <a:noFill/>
                    </a:lnTlToBr>
                    <a:lnBlToTr>
                      <a:noFill/>
                    </a:lnBlToTr>
                    <a:solidFill>
                      <a:srgbClr val="F2F2F2"/>
                    </a:solidFill>
                  </a:tcPr>
                </a:tc>
              </a:tr>
            </a:tbl>
          </a:graphicData>
        </a:graphic>
      </p:graphicFrame>
      <p:sp>
        <p:nvSpPr>
          <p:cNvPr id="5" name="文本框 4"/>
          <p:cNvSpPr txBox="1"/>
          <p:nvPr/>
        </p:nvSpPr>
        <p:spPr>
          <a:xfrm>
            <a:off x="3652187" y="1813936"/>
            <a:ext cx="5079373" cy="337185"/>
          </a:xfrm>
          <a:prstGeom prst="rect">
            <a:avLst/>
          </a:prstGeom>
          <a:noFill/>
          <a:ln w="9525">
            <a:noFill/>
          </a:ln>
        </p:spPr>
        <p:txBody>
          <a:bodyPr>
            <a:spAutoFit/>
          </a:bodyPr>
          <a:p>
            <a:pPr indent="266700" algn="ctr"/>
            <a:r>
              <a:rPr lang="zh-CN" sz="1600" b="0">
                <a:latin typeface="Times New Roman" panose="02020603050405020304" charset="0"/>
                <a:ea typeface="宋体" panose="02010600030101010101" pitchFamily="2" charset="-122"/>
              </a:rPr>
              <a:t>表</a:t>
            </a:r>
            <a:r>
              <a:rPr lang="en-US" sz="1600" b="0">
                <a:latin typeface="Times New Roman" panose="02020603050405020304" charset="0"/>
                <a:ea typeface="宋体" panose="02010600030101010101" pitchFamily="2" charset="-122"/>
                <a:cs typeface="宋体" panose="02010600030101010101" pitchFamily="2" charset="-122"/>
              </a:rPr>
              <a:t>3-27 </a:t>
            </a:r>
            <a:r>
              <a:rPr lang="zh-CN" sz="1600" b="0">
                <a:latin typeface="Times New Roman" panose="02020603050405020304" charset="0"/>
                <a:ea typeface="宋体" panose="02010600030101010101" pitchFamily="2" charset="-122"/>
              </a:rPr>
              <a:t>购物过程的测试用例</a:t>
            </a:r>
            <a:endParaRPr lang="zh-CN" altLang="en-US" sz="1600"/>
          </a:p>
        </p:txBody>
      </p:sp>
      <p:sp>
        <p:nvSpPr>
          <p:cNvPr id="6" name="文本框 5"/>
          <p:cNvSpPr txBox="1"/>
          <p:nvPr/>
        </p:nvSpPr>
        <p:spPr>
          <a:xfrm>
            <a:off x="1655359" y="5735847"/>
            <a:ext cx="9071760" cy="706755"/>
          </a:xfrm>
          <a:prstGeom prst="rect">
            <a:avLst/>
          </a:prstGeom>
          <a:noFill/>
          <a:ln w="9525">
            <a:noFill/>
          </a:ln>
        </p:spPr>
        <p:txBody>
          <a:bodyPr wrap="square">
            <a:spAutoFit/>
          </a:bodyPr>
          <a:p>
            <a:pPr indent="266700"/>
            <a:r>
              <a:rPr lang="en-US" sz="2000" b="0">
                <a:latin typeface="微软雅黑" panose="020B0503020204020204" pitchFamily="34" charset="-122"/>
                <a:ea typeface="微软雅黑" panose="020B0503020204020204" pitchFamily="34" charset="-122"/>
                <a:cs typeface="微软雅黑" panose="020B0503020204020204" pitchFamily="34" charset="-122"/>
              </a:rPr>
              <a:t>4.. </a:t>
            </a:r>
            <a:r>
              <a:rPr lang="zh-CN" sz="2000" b="0">
                <a:latin typeface="微软雅黑" panose="020B0503020204020204" pitchFamily="34" charset="-122"/>
                <a:ea typeface="微软雅黑" panose="020B0503020204020204" pitchFamily="34" charset="-122"/>
                <a:cs typeface="微软雅黑" panose="020B0503020204020204" pitchFamily="34" charset="-122"/>
              </a:rPr>
              <a:t>对生成的所有测试用例重新复审，去掉多余的测试用例，测试用例确定后，对每一个测试用例确定测试数据。</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advTm="1310">
    <p:random/>
  </p:transition>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 name="KSO_WM_UNIT_PLACING_PICTURE_USER_VIEWPORT" val="{&quot;height&quot;:2751,&quot;width&quot;:4821}"/>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 name="KSO_WM_UNIT_PLACING_PICTURE_USER_VIEWPORT" val="{&quot;height&quot;:2751,&quot;width&quot;:4821}"/>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UNIT_TABLE_BEAUTIFY" val="smartTable{53b99ca0-8603-4245-9deb-e945e3506be8}"/>
</p:tagLst>
</file>

<file path=ppt/tags/tag10.xml><?xml version="1.0" encoding="utf-8"?>
<p:tagLst xmlns:p="http://schemas.openxmlformats.org/presentationml/2006/main">
  <p:tag name="KSO_WM_UNIT_TABLE_BEAUTIFY" val="smartTable{c6bf1130-a5a7-4938-a12c-84348bb20e6c}"/>
</p:tagLst>
</file>

<file path=ppt/tags/tag11.xml><?xml version="1.0" encoding="utf-8"?>
<p:tagLst xmlns:p="http://schemas.openxmlformats.org/presentationml/2006/main">
  <p:tag name="KSO_WM_UNIT_TABLE_BEAUTIFY" val="smartTable{eee6244b-4181-4c07-aebe-dd2a50ee6e51}"/>
  <p:tag name="TABLE_SKINIDX" val="0"/>
  <p:tag name="TABLE_ENCOLOR" val="#5CA2F9"/>
</p:tagLst>
</file>

<file path=ppt/tags/tag12.xml><?xml version="1.0" encoding="utf-8"?>
<p:tagLst xmlns:p="http://schemas.openxmlformats.org/presentationml/2006/main">
  <p:tag name="KSO_WM_UNIT_TABLE_BEAUTIFY" val="smartTable{fd434cb1-cf89-4eab-80b0-4cec90eb9c52}"/>
  <p:tag name="TABLE_SKINIDX" val="0"/>
  <p:tag name="TABLE_ENCOLOR" val="#5CA2F9"/>
</p:tagLst>
</file>

<file path=ppt/tags/tag13.xml><?xml version="1.0" encoding="utf-8"?>
<p:tagLst xmlns:p="http://schemas.openxmlformats.org/presentationml/2006/main">
  <p:tag name="KSO_WM_UNIT_TABLE_BEAUTIFY" val="smartTable{a5072f40-adb3-425c-b2b7-cab079940352}"/>
</p:tagLst>
</file>

<file path=ppt/tags/tag14.xml><?xml version="1.0" encoding="utf-8"?>
<p:tagLst xmlns:p="http://schemas.openxmlformats.org/presentationml/2006/main">
  <p:tag name="KSO_WM_UNIT_TABLE_BEAUTIFY" val="smartTable{c7b97dc7-b467-4783-aea6-028ce343159d}"/>
</p:tagLst>
</file>

<file path=ppt/tags/tag15.xml><?xml version="1.0" encoding="utf-8"?>
<p:tagLst xmlns:p="http://schemas.openxmlformats.org/presentationml/2006/main">
  <p:tag name="KSO_WM_UNIT_TABLE_BEAUTIFY" val="smartTable{c1608b29-c98f-46ea-a823-711f1923dbc9}"/>
</p:tagLst>
</file>

<file path=ppt/tags/tag16.xml><?xml version="1.0" encoding="utf-8"?>
<p:tagLst xmlns:p="http://schemas.openxmlformats.org/presentationml/2006/main">
  <p:tag name="KSO_WM_UNIT_TABLE_BEAUTIFY" val="smartTable{e1a48d79-48ad-46fe-8cee-23925237bb75}"/>
</p:tagLst>
</file>

<file path=ppt/tags/tag17.xml><?xml version="1.0" encoding="utf-8"?>
<p:tagLst xmlns:p="http://schemas.openxmlformats.org/presentationml/2006/main">
  <p:tag name="KSO_WM_UNIT_TABLE_BEAUTIFY" val="smartTable{02dc2bcf-e0a6-4857-8c48-92c795e6505d}"/>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UNIT_TABLE_BEAUTIFY" val="smartTable{4545a6ea-321e-48f4-be3e-18d38559d741}"/>
</p:tagLst>
</file>

<file path=ppt/tags/tag31.xml><?xml version="1.0" encoding="utf-8"?>
<p:tagLst xmlns:p="http://schemas.openxmlformats.org/presentationml/2006/main">
  <p:tag name="KSO_WM_UNIT_TABLE_BEAUTIFY" val="smartTable{cf8420b4-c5a9-4621-b135-b9d369f1ff31}"/>
</p:tagLst>
</file>

<file path=ppt/tags/tag32.xml><?xml version="1.0" encoding="utf-8"?>
<p:tagLst xmlns:p="http://schemas.openxmlformats.org/presentationml/2006/main">
  <p:tag name="KSO_WM_UNIT_TABLE_BEAUTIFY" val="smartTable{27b235c1-baaf-49ad-b3ab-851342a056f0}"/>
</p:tagLst>
</file>

<file path=ppt/tags/tag33.xml><?xml version="1.0" encoding="utf-8"?>
<p:tagLst xmlns:p="http://schemas.openxmlformats.org/presentationml/2006/main">
  <p:tag name="KSO_WM_UNIT_TABLE_BEAUTIFY" val="smartTable{6793ce68-428d-441d-a86e-dbd817e4914b}"/>
</p:tagLst>
</file>

<file path=ppt/tags/tag34.xml><?xml version="1.0" encoding="utf-8"?>
<p:tagLst xmlns:p="http://schemas.openxmlformats.org/presentationml/2006/main">
  <p:tag name="KSO_WM_UNIT_TABLE_BEAUTIFY" val="smartTable{2b418db9-5ffb-4994-8f7e-c7551cd93e22}"/>
</p:tagLst>
</file>

<file path=ppt/tags/tag35.xml><?xml version="1.0" encoding="utf-8"?>
<p:tagLst xmlns:p="http://schemas.openxmlformats.org/presentationml/2006/main">
  <p:tag name="KSO_WM_UNIT_TABLE_BEAUTIFY" val="smartTable{d6250f89-217f-47a4-ba45-6bfa4c060ac0}"/>
</p:tagLst>
</file>

<file path=ppt/tags/tag36.xml><?xml version="1.0" encoding="utf-8"?>
<p:tagLst xmlns:p="http://schemas.openxmlformats.org/presentationml/2006/main">
  <p:tag name="KSO_WM_UNIT_TABLE_BEAUTIFY" val="smartTable{de470ab5-0d58-4d8f-8878-6e2b0895dc25}"/>
</p:tagLst>
</file>

<file path=ppt/tags/tag37.xml><?xml version="1.0" encoding="utf-8"?>
<p:tagLst xmlns:p="http://schemas.openxmlformats.org/presentationml/2006/main">
  <p:tag name="KSO_WM_UNIT_TABLE_BEAUTIFY" val="smartTable{52646db8-62a6-4730-bd6a-c251fe9aec0b}"/>
</p:tagLst>
</file>

<file path=ppt/tags/tag38.xml><?xml version="1.0" encoding="utf-8"?>
<p:tagLst xmlns:p="http://schemas.openxmlformats.org/presentationml/2006/main">
  <p:tag name="KSO_WM_UNIT_TABLE_BEAUTIFY" val="smartTable{a97c79dd-6a3a-4ef6-b18f-e4570ee6302b}"/>
</p:tagLst>
</file>

<file path=ppt/tags/tag39.xml><?xml version="1.0" encoding="utf-8"?>
<p:tagLst xmlns:p="http://schemas.openxmlformats.org/presentationml/2006/main">
  <p:tag name="KSO_WM_UNIT_TABLE_BEAUTIFY" val="smartTable{f17656f9-9211-4b7e-8630-95ff3122ee36}"/>
</p:tagLst>
</file>

<file path=ppt/tags/tag40.xml><?xml version="1.0" encoding="utf-8"?>
<p:tagLst xmlns:p="http://schemas.openxmlformats.org/presentationml/2006/main">
  <p:tag name="KSO_WM_UNIT_TABLE_BEAUTIFY" val="smartTable{6c686ec5-e892-4d87-9a2f-c78aceca649e}"/>
</p:tagLst>
</file>

<file path=ppt/tags/tag41.xml><?xml version="1.0" encoding="utf-8"?>
<p:tagLst xmlns:p="http://schemas.openxmlformats.org/presentationml/2006/main">
  <p:tag name="KSO_WM_UNIT_TABLE_BEAUTIFY" val="smartTable{4a6fe1a3-654f-459d-98f2-2580ff5ad7d3}"/>
</p:tagLst>
</file>

<file path=ppt/tags/tag42.xml><?xml version="1.0" encoding="utf-8"?>
<p:tagLst xmlns:p="http://schemas.openxmlformats.org/presentationml/2006/main">
  <p:tag name="KSO_WM_UNIT_TABLE_BEAUTIFY" val="smartTable{89d2c90f-a176-410a-a558-681a63649095}"/>
</p:tagLst>
</file>

<file path=ppt/tags/tag43.xml><?xml version="1.0" encoding="utf-8"?>
<p:tagLst xmlns:p="http://schemas.openxmlformats.org/presentationml/2006/main">
  <p:tag name="KSO_WM_UNIT_TABLE_BEAUTIFY" val="smartTable{29a230bf-52d7-48a3-a18c-e21c566b7f9c}"/>
</p:tagLst>
</file>

<file path=ppt/tags/tag44.xml><?xml version="1.0" encoding="utf-8"?>
<p:tagLst xmlns:p="http://schemas.openxmlformats.org/presentationml/2006/main">
  <p:tag name="KSO_WM_UNIT_TABLE_BEAUTIFY" val="smartTable{955c824f-746a-4bcc-b7e7-d2e402d66ddc}"/>
</p:tagLst>
</file>

<file path=ppt/tags/tag45.xml><?xml version="1.0" encoding="utf-8"?>
<p:tagLst xmlns:p="http://schemas.openxmlformats.org/presentationml/2006/main">
  <p:tag name="KSO_WM_UNIT_TABLE_BEAUTIFY" val="smartTable{2042de44-04b5-4f3e-ae1c-61af20d26f1f}"/>
</p:tagLst>
</file>

<file path=ppt/tags/tag46.xml><?xml version="1.0" encoding="utf-8"?>
<p:tagLst xmlns:p="http://schemas.openxmlformats.org/presentationml/2006/main">
  <p:tag name="KSO_WM_UNIT_TABLE_BEAUTIFY" val="smartTable{0598cbec-be64-4ccd-861b-c944edeb65a5}"/>
</p:tagLst>
</file>

<file path=ppt/tags/tag47.xml><?xml version="1.0" encoding="utf-8"?>
<p:tagLst xmlns:p="http://schemas.openxmlformats.org/presentationml/2006/main">
  <p:tag name="KSO_WM_UNIT_TABLE_BEAUTIFY" val="smartTable{277d6354-0d76-44fc-813e-195c15b771c8}"/>
</p:tagLst>
</file>

<file path=ppt/tags/tag48.xml><?xml version="1.0" encoding="utf-8"?>
<p:tagLst xmlns:p="http://schemas.openxmlformats.org/presentationml/2006/main">
  <p:tag name="KSO_WM_UNIT_TABLE_BEAUTIFY" val="smartTable{d346d623-1451-40d1-b360-deab60e43e52}"/>
</p:tagLst>
</file>

<file path=ppt/tags/tag49.xml><?xml version="1.0" encoding="utf-8"?>
<p:tagLst xmlns:p="http://schemas.openxmlformats.org/presentationml/2006/main">
  <p:tag name="KSO_WM_UNIT_TABLE_BEAUTIFY" val="smartTable{053918c4-93e3-486a-8ab1-949e49564845}"/>
  <p:tag name="TABLE_SKINIDX" val="0"/>
  <p:tag name="TABLE_ENCOLOR" val="#5CA2F9"/>
</p:tagLst>
</file>

<file path=ppt/tags/tag50.xml><?xml version="1.0" encoding="utf-8"?>
<p:tagLst xmlns:p="http://schemas.openxmlformats.org/presentationml/2006/main">
  <p:tag name="KSO_WM_UNIT_TABLE_BEAUTIFY" val="smartTable{97df6064-c705-482d-b8a6-036091e0f177}"/>
  <p:tag name="TABLE_SKINIDX" val="0"/>
  <p:tag name="TABLE_ENCOLOR" val="#5CA2F9"/>
</p:tagLst>
</file>

<file path=ppt/tags/tag51.xml><?xml version="1.0" encoding="utf-8"?>
<p:tagLst xmlns:p="http://schemas.openxmlformats.org/presentationml/2006/main">
  <p:tag name="KSO_WPP_MARK_KEY" val="98bae9d5-9384-4d49-9698-875196fd7b76"/>
  <p:tag name="COMMONDATA" val="eyJoZGlkIjoiNWIyMjdjNjExZWVmM2YxMzFhMTQ0NzNlNDAzMDdkNDUifQ=="/>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22752</Words>
  <Application>WPS 演示</Application>
  <PresentationFormat>宽屏</PresentationFormat>
  <Paragraphs>3713</Paragraphs>
  <Slides>138</Slides>
  <Notes>159</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11</vt:i4>
      </vt:variant>
      <vt:variant>
        <vt:lpstr>幻灯片标题</vt:lpstr>
      </vt:variant>
      <vt:variant>
        <vt:i4>138</vt:i4>
      </vt:variant>
    </vt:vector>
  </HeadingPairs>
  <TitlesOfParts>
    <vt:vector size="167" baseType="lpstr">
      <vt:lpstr>Arial</vt:lpstr>
      <vt:lpstr>宋体</vt:lpstr>
      <vt:lpstr>Wingdings</vt:lpstr>
      <vt:lpstr>Calibri</vt:lpstr>
      <vt:lpstr>Futura Md BT</vt:lpstr>
      <vt:lpstr>微软雅黑</vt:lpstr>
      <vt:lpstr>等线</vt:lpstr>
      <vt:lpstr>Arial Unicode MS</vt:lpstr>
      <vt:lpstr>等线 Light</vt:lpstr>
      <vt:lpstr>Impact</vt:lpstr>
      <vt:lpstr>Century Gothic</vt:lpstr>
      <vt:lpstr>Times New Roman</vt:lpstr>
      <vt:lpstr>FontAwesome</vt:lpstr>
      <vt:lpstr>Aurebesh</vt:lpstr>
      <vt:lpstr>Wingdings</vt:lpstr>
      <vt:lpstr>Segoe UI Semilight</vt:lpstr>
      <vt:lpstr>Calibri</vt:lpstr>
      <vt:lpstr>第一PPT，www.1ppt.com</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商业融资</dc:title>
  <dc:creator>第一PPT</dc:creator>
  <cp:keywords>www.1ppt.com</cp:keywords>
  <dc:description>www.1ppt.com</dc:description>
  <cp:lastModifiedBy>Administrator</cp:lastModifiedBy>
  <cp:revision>69</cp:revision>
  <dcterms:created xsi:type="dcterms:W3CDTF">2018-04-20T07:40:00Z</dcterms:created>
  <dcterms:modified xsi:type="dcterms:W3CDTF">2025-02-14T02:47:14Z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E8606042DDAA4DC586312E3B6F729B14_13</vt:lpwstr>
  </property>
</Properties>
</file>