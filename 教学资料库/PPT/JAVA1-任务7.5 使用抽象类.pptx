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3" r:id="rId3"/>
    <p:sldId id="373" r:id="rId5"/>
    <p:sldId id="374" r:id="rId6"/>
    <p:sldId id="340" r:id="rId7"/>
    <p:sldId id="353" r:id="rId8"/>
    <p:sldId id="452" r:id="rId9"/>
    <p:sldId id="466" r:id="rId10"/>
    <p:sldId id="487" r:id="rId11"/>
    <p:sldId id="488" r:id="rId12"/>
    <p:sldId id="492" r:id="rId13"/>
    <p:sldId id="478" r:id="rId14"/>
    <p:sldId id="479" r:id="rId15"/>
    <p:sldId id="481" r:id="rId16"/>
    <p:sldId id="347" r:id="rId17"/>
  </p:sldIdLst>
  <p:sldSz cx="12198350" cy="6858000"/>
  <p:notesSz cx="6858000" cy="9144000"/>
  <p:custDataLst>
    <p:tags r:id="rId21"/>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9" userDrawn="1">
          <p15:clr>
            <a:srgbClr val="A4A3A4"/>
          </p15:clr>
        </p15:guide>
        <p15:guide id="2" pos="39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09"/>
        <p:guide pos="3933"/>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gs" Target="tags/tag30.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10:18:4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385.000 875.000,'0.089'0.000,"0.135"0.000,0.151 0.000,0.147 0.000,1.657-0.025,1.274-0.038,0.905-0.044,-3.448 0.079,3.906-0.229,0.792-0.108,0.637-0.082,0.496-0.060,4.381-0.501,2.073-0.281,1.029-0.163,0.277-0.075,-0.232-0.013,-0.548 0.029,8.764-1.007,5.381-0.554,3.122-0.257,1.447-0.048,-1.304 0.243,-1.406 0.253,-1.977 0.305,-2.211 0.318,-2.210 0.304,-2.055 0.274,-1.812 0.236,5.672 0.109,4.647 0.021,2.000 0.085,0.056 0.124,8.421 0.006,-0.937 0.210,-3.262 0.200,-4.509 0.179,-4.976 0.152,-4.908 0.124,-1.761 0.097,-2.269 0.072,-2.426 0.051,-2.349 0.034,-2.126 0.020,-0.475 0.016,-1.686 0.003,-1.619-0.003,-1.434-0.007,-1.194-0.008,-0.943-0.008,0.455-0.009,0.158-0.006,-0.156-0.005,-0.339-0.004,-0.427-0.003,1.449-0.318,0.797-0.201,0.245-0.112,-0.127-0.046,-0.355-0.001,-0.475 0.028,-0.517 0.044,0.630 0.000,0.540-0.005,0.171 0.033,-0.089 0.057,0.197 0.017,-0.209 0.041,-0.227 0.031,-0.223 0.022,-0.206 0.015,2.030 0.023,0.796 0.052,0.073 0.057,-0.395 0.056,-0.666 0.051,-0.790 0.044,-0.811 0.036,2.752 0.029,1.295 0.022,0.267 0.016,-0.410 0.011,-0.813 0.007,-1.012 0.004,1.639 0.003,0.007 0.000,-0.557-0.002,-0.849-0.002,-0.949-0.002,-0.925-0.002,1.228-0.002,0.268-0.002,-0.382-0.001,-0.745-0.001,-0.901-0.001,-0.918 0.000,-0.849 0.000,0.404 0.064,0.395 0.038,0.079 0.019,-0.136 0.005,-0.270-0.005,-0.342-0.011,1.116-0.004,0.169-0.020,-0.169-0.020,-0.365-0.018,-0.456-0.015,-0.475-0.012,-0.448-0.009,-2.061-0.011,4.666 0.003,1.570-0.004,0.679-0.003,0.050-0.002,-0.365-0.001,1.236 0.000,0.704 0.000,0.107 0.000,-0.299 0.000,-0.552 0.000,2.083 0.000,-0.108 0.001,-0.523 0.001,-0.731 0.000,-0.794 0.000,-0.763 0.000,-0.678 0.000,0.532 0.000,0.687 0.000,0.114 0.000,-0.274 0.000,-0.514 0.000,-0.640 0.000,-5.246 0.000,7.520-0.015,0.671-0.023,-0.074-0.027,-0.545-0.027,-0.806-0.025,0.437-0.155,-0.273-0.079,-0.707-0.025,-0.932 0.012,-1.008 0.034,-0.983 0.046,-0.894 0.050,0.348-0.036,0.525-0.035,0.220-0.008,-0.004 0.011,1.646-0.032,-0.041 0.049,-0.403 0.053,-0.598 0.051,-0.672 0.047,0.988 0.046,0.698 0.027,0.128 0.022,-0.258 0.017,-0.498 0.013,-0.625 0.009,-0.135 0.006,-0.378 0.004,-0.516 0.002,-0.574 0.000,-0.575 0.000,-0.540-0.001,0.600 0.000,0.017-0.002,-0.165-0.002,-0.265-0.002,-0.307-0.001,0.072-0.001,-0.069-0.001,-0.216-0.001,-0.293 0.000,-0.321 0.000,-0.316 0.000,-0.289 0.000,0.078 0.000,0.012 0.000,-0.031 0.000,-0.056 0.000,-0.068 0.000,1.161 0.000,0.587 0.000,0.246 0.000,0.018 0.000,0.636 0.000,0.326 0.000,-0.069 0.000,-0.317 0.000,-0.453 0.000,-0.506 0.000,-0.251 0.000,-0.525 0.000,-0.472 0.000,-0.398 0.000,-0.317 0.000,-0.239 0.000,-0.171 0.000,-0.115 0.000,-0.071 0.000,-0.038 0.000,-0.014 0.000,-0.130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10:18:4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1753.000 975.000,'0.014'0.000,"0.022"0.000,0.025 0.000,0.025 0.000,0.023 0.000,0.020 0.000,0.016 0.000,0.013 0.000,0.009 0.000,0.007 0.000,0.004 0.000,0.003 0.000,0.001 0.000,0.000 0.000,0.000 0.000,-0.001 0.000,-0.001 0.000,0.453 0.000,0.452 0.000,0.410 0.000,0.355 0.000,0.297 0.000,0.570-0.025,0.352-0.038,0.306-0.044,0.254-0.045,0.202-0.042,0.154-0.037,3.867-0.017,1.869 0.015,0.570 0.028,-0.288 0.034,-0.802 0.035,2.609-0.145,0.964-0.092,-0.210-0.051,-0.933-0.022,-1.316-0.001,-1.454 0.012,-1.428 0.019,-0.421 0.044,0.012 0.023,0.041 0.022,0.057 0.020,0.063 0.017,0.063 0.014,0.058 0.011,0.051 0.008,5.681 0.052,2.108 0.118,0.228 0.131,-0.941 0.128,-1.575 0.115,2.424 0.376,0.385 0.178,-1.001 0.039,-1.771-0.050,-2.097-0.100,-2.122-0.123,-1.960-0.127,-1.696-0.118,-1.391-0.103,3.155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10:18:4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1025.000 888.000,'0.015'0.000,"0.023"0.000,0.026 0.000,0.025 0.000,0.023 0.000,0.019 0.000,0.015 0.000,0.012 0.000,0.009 0.000,0.006 0.000,0.004 0.000,0.002 0.000,0.001 0.000,0.000 0.000,0.000 0.000,-0.001 0.000,-0.001 0.000,-0.001 0.000,-0.001 0.000,0.000 0.000,0.000 0.000,0.000 0.000,0.000 0.000,0.040-0.009,0.093-0.014,0.109-0.016,0.111-0.017,0.105-0.016,0.094-0.014,0.080-0.012,0.066-0.010,-0.588 0.079,4.279-0.300,1.788-0.111,0.863-0.060,0.220-0.023,-0.194 0.002,-0.433 0.017,-5.529 0.405,8.185-0.652,1.414-0.135,0.251-0.046,-0.512 0.015,-0.962 0.052,-1.179 0.073,2.442-0.190,0.824-0.049,-0.272 0.044,-0.953 0.101,-1.319 0.130,-1.456 0.139,-1.437 0.134,-1.318 0.121,-1.146 0.104,2.539-0.090,0.943-0.014,0.061 0.022,-0.485 0.042,-0.778 0.051,-0.892 0.052,-0.885 0.048,-0.806 0.042,3.832-0.226,2.057-0.145,0.695-0.080,-0.216-0.033,-0.770-0.001,-1.058 0.020,-0.849 0.084,-0.720 0.066,-0.901 0.072,-0.956 0.071,-0.925 0.065,-0.841 0.057,-0.728 0.048,-0.431 0.037,-0.426 0.031,-0.350 0.022,-0.276 0.015,-0.208 0.010,-0.149 0.005,-0.101 0.002,-0.062 0.000,-0.113-0.015,0.532 0.014,0.203-0.002,0.097-0.003,0.023-0.003,-0.026-0.002,0.565-0.002,0.209-0.002,-0.003-0.001,-0.132-0.001,-0.199-0.001,-0.223 0.000,-0.218 0.000,1.651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10:18:4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807.000 1018.000,'0.033'-0.008,"0.051"-0.013,0.059-0.015,0.060-0.015,0.056-0.014,0.050-0.012,0.042-0.010,0.034-0.008,0.026-0.006,0.720-0.183,0.446-0.117,0.248-0.068,0.104-0.032,0.005-0.007,-0.057 0.010,0.338 0.026,0.766-0.017,0.914-0.023,0.947-0.026,0.904-0.026,0.813-0.024,2.789-0.183,0.726-0.020,-0.265 0.052,-0.860 0.092,-1.160 0.110,-1.252 0.112,-1.208 0.104,-1.083 0.091,2.940 0.075,1.468 0.059,0.434 0.045,-0.245 0.032,1.342 0.021,0.190 0.013,-0.541 0.007,-0.952 0.002,-1.131 0.000,-1.150-0.002,-1.069-0.003,-0.931-0.004,4.346-0.003,1.962-0.003,0.417-0.003,-0.564-0.002,-1.114-0.002,-0.334-0.001,-0.313-0.001,-0.734 0.000,-0.950 0.000,-1.018 0.000,-0.986 0.000,-0.894 0.000,-0.768 0.000,-2.824 0.000,8.078 0.000,2.340 0.000,0.766 0.000,-0.275 0.000,0.911 0.000,-0.487 0.000,-1.193 0.000,-1.528 0.000,-1.606 0.000,-1.520 0.000,-0.483 0.000,-0.652 0.000,-0.765 0.000,-0.773 0.000,-0.715 0.000,-0.621 0.000,-0.513 0.000,-0.403 0.000,-1.118 0.000,3.239 0.000,1.025 0.000,0.306 0.000,-0.160 0.000,-0.431 0.000,-3.473 0.000,3.099 0.000,-0.441 0.000,-0.544 0.000,-0.563 0.000,-0.528 0.000,-0.463 0.000,-0.385 0.000,0.174 0.000,0.061 0.000,-0.029 0.000,-0.083 0.000,-0.110 0.000,-0.118 0.000,0.545-0.138,0.330-0.080,0.131-0.037,-0.007-0.007,-0.097 0.014,-0.149 0.026,1.124 0.018,0.451 0.041,0.089 0.039,-0.143 0.034,-0.274 0.029,-0.333 0.023,-0.342 0.017,0.758 0.013,0.355 0.008,0.044 0.005,-0.155 0.003,-0.268 0.001,-0.318 0.000,0.753-0.019,0.226-0.030,-0.066-0.034,-0.240-0.033,-0.328-0.030,-0.354-0.026,-0.341-0.021,-0.304-0.016,-0.256-0.012,2.738 0.031,1.861 0.017,1.040 0.022,0.431 0.024,2.012-0.017,-0.185-0.017,-0.756-0.026,-1.034-0.030,-1.110-0.029,-1.057-0.027,-0.012 0.006,-0.065 0.011,-0.197 0.018,-0.261 0.021,-0.279 0.021,-0.267 0.019,-0.237 0.017,-0.199 0.013,-0.159 0.010,1.646-0.344,1.190-0.212,0.448-0.099,-0.076-0.018,-0.421 0.038,1.920-0.201,0.319-0.015,-0.355 0.062,-0.760 0.107,-0.963 0.128,-1.022 0.132,-0.985 0.125,-0.888 0.111,1.632-0.087,0.749-0.004,0.340 0.032,0.061 0.052,-0.115 0.059,1.352 0.073,0.867 0.044,0.056 0.038,-0.475 0.032,-0.787 0.026,-0.936 0.020,-0.968 0.015,0.768-0.143,-0.063-0.078,-0.392-0.031,-0.571 0.000,-0.639 0.021,-0.634 0.032,-0.581 0.036,-0.503 0.036,-0.415 0.034,2.568-0.131,1.218-0.062,0.306-0.015,-0.289 0.016,-0.638 0.033,-0.806 0.042,-0.846 0.044,-0.804 0.042,-0.714 0.037,-0.601 0.031,1.555 0.025,0.797 0.019,0.274 0.014,-0.074 0.010,-0.284 0.006,-0.392 0.003,-0.427 0.001,-0.414 0.000,0.473-0.201,0.334-0.119,0.022-0.058,-0.184-0.013,0.242-0.075,-0.257-0.002,-0.430 0.033,-0.508 0.052,-0.521 0.061,-0.491 0.062,-0.436 0.058,-0.368 0.051,-0.298 0.043,-0.231 0.035,3.302-0.152,1.801-0.069,0.766-0.016,0.072 0.017,0.192 0.038,-0.310 0.042,-0.640 0.043,-0.785 0.040,-0.805 0.035,-0.748 0.029,-0.648 0.022,-0.147 0.017,-0.134 0.010,-0.252 0.007,-0.310 0.004,-0.323 0.003,-0.308 0.001,-0.131 0.000,-0.155-0.001,-0.158-0.001,-0.149-0.001,-0.132-0.001,-0.112-0.001,-0.090-0.001,0.296-0.001,0.153-0.001,0.050 0.000,-0.019 0.000,-0.062 0.000,-0.085 0.000,-0.094 0.000,-0.092 0.000,-0.084 0.000,0.341 0.000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10:18:4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1530.000 965.000,'0.545'-0.112,"0.332"-0.087,0.173-0.065,0.061-0.046,-0.014-0.030,-0.058-0.018,0.181 0.006,0.130 0.025,0.093 0.032,0.062 0.034,0.038 0.033,0.020 0.029,0.007 0.024,-0.001 0.019,3.869-0.401,2.405-0.252,1.188-0.127,0.314-0.038,-0.276 0.023,-0.641 0.062,-0.833 0.082,4.317-0.294,1.585-0.071,0.177 0.029,-0.710 0.089,-1.201 0.118,-1.406 0.127,-1.417 0.122,7.637-0.492,3.208-0.183,0.398 0.008,-1.345 0.123,-2.288 0.182,-2.661 0.203,-2.656 0.197,-2.420 0.177,-2.066 0.149,5.800 0.121,2.690 0.087,0.465 0.064,-0.945 0.044,-1.734 0.028,-2.075 0.016,-0.403 0.005,-0.709 0.001,-1.136-0.002,-1.319-0.004,-1.333-0.005,-1.239-0.005,-1.084-0.005,-0.903-0.005,-0.719-0.004,0.958-0.003,0.498-0.002,0.097-0.002,-0.171-0.001,-0.333-0.001,-0.415 0.000,-0.440 0.000,0.386-0.168,-0.097-0.089,-0.248-0.033,-0.320 0.004,-0.338 0.026,-0.320 0.038,-0.283 0.042,-0.236 0.041,-0.187 0.037,-0.018 0.033,-0.041 0.024,-0.066 0.019,-0.076 0.014,-0.077 0.010,-0.071 0.006,-0.062 0.004,-0.052 0.002,-0.041 0.000,-0.031 0.000,-0.022-0.001,-0.015-0.001,-0.009-0.001,0.340-0.001,0.212-0.001,0.115-0.001,0.045-0.001,-0.002-0.001,0.348 0.000,0.084 0.000,-0.052 0.000,-0.129 0.000,-0.163 0.000,-0.169 0.000,-0.158 0.000,-0.136 0.000,-0.111 0.000,-0.086 0.000,-0.063 0.000,-0.044 0.000,-0.028 0.000,-0.020 0.000,-0.014 0.000,-0.009 0.000,-0.005 0.000,-0.002 0.000,0.000 0.000,0.001 0.000,0.002 0.000,0.002 0.000,0.002 0.000,0.002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0.000,0.722 0.000,0.606 0.000,0.483 0.000,-1.468 0.000,2.427 0.000,0.431 0.000,0.143 0.000,-0.048 0.000,-0.163 0.000,-0.221 0.000,-0.240 0.000,-0.231 0.000,-0.208 0.000,-0.176 0.000,-0.142 0.000,-0.109 0.000,-0.080 0.000,-0.055 0.000,-0.035 0.000,-0.021 0.000,4.906-0.069,2.902-0.040,1.311-0.019,0.182-0.003,-0.565 0.007,-1.014 0.013,1.027 0.006,-0.730 0.022,-0.946 0.021,-0.991 0.018,1.432 0.015,0.455 0.011,-0.330 0.008,-0.786 0.006,-1.000 0.004,-1.049 0.003,-5.219-0.002,5.642 0.003,-0.095 0.000,-0.475 0.000,-0.676 0.000,-0.749 0.000,-0.736-0.001,-0.597-0.001,-0.125 0.000,0.028 0.000,0.126 0.000,0.181 0.000,0.204 0.000,0.205 0.000,2.452 0.000,0.794 0.000,-0.071 0.000,-0.601 0.000,-0.880 0.000,-0.980 0.000,-0.961 0.000,-3.182 0.000,2.916 0.000,-0.349 0.000,-0.434 0.000,-0.452 0.000,-0.427 0.000,-0.239 0.000,-0.273 0.000,-0.229 0.000,-0.183 0.000,-0.139 0.000,-0.100 0.000,-0.068 0.000,-0.042 0.000,0.635 0.000,0.373 0.000,0.133 0.000,-0.033 0.000,-0.138 0.000,-0.197 0.000,-0.222 0.000,0.282 0.000,-0.014 0.000,-0.119 0.000,-0.173 0.000,-0.192 0.000,-0.188 0.000,-0.169 0.000,-0.144 0.000,-0.116 0.000,-0.034 0.000,0.055 0.000,0.090 0.000,0.106 0.000,0.108 0.000,-0.589 0.000,1.185 0.000,0.232 0.000,0.061 0.000,-0.052 0.000,-0.119 0.000,-0.152 0.000,0.922 0.000,0.428 0.000,0.100 0.000,-0.113 0.000,-0.235 0.000,-0.293 0.000,-0.305 0.000,-0.287 0.000,0.184 0.000,0.320 0.000,0.302 0.000,0.269 0.000,0.229 0.000,1.021 0.000,0.141 0.000,-0.201 0.000,-0.394 0.000,-0.479 0.000,-0.490 0.000,-0.455 0.000,-0.395 0.000,1.654-0.015,0.827-0.024,0.247-0.027,-0.130-0.026,-0.350-0.024,-0.456-0.020,-0.482-0.016,-0.457-0.013,-0.403-0.009,-0.336-0.006,-0.266-0.004,0.422-0.050,0.227-0.023,0.023 0.004,-0.109 0.021,-0.186 0.031,-0.221 0.034,-0.228 0.034,0.244 0.027,-0.027 0.031,-0.135 0.025,-0.191 0.020,-0.209 0.014,-0.203 0.010,-0.142 0.006,-0.100 0.004,-0.099 0.002,-0.092 0.001,-0.080 0.000,-0.066-0.001,-0.053-0.001,-0.041-0.001,0.156-0.001,0.099-0.001,0.060-0.001,0.030-0.001,0.010-0.001,0.075 0.000,-0.006 0.000,-0.044 0.000,-0.063 0.000,-0.070 0.000,-0.068 0.000,-0.061 0.000,-0.052 0.000,-0.043 0.000,-0.039 0.000,-0.031 0.000,-0.023 0.000,-0.016 0.000,-0.011 0.000,-0.007 0.000,-0.003 0.000,-0.001 0.000,0.000 0.000,0.001 0.000,0.001 0.000,0.002 0.000,0.001 0.000,0.001 0.000,0.001 0.000,0.001 0.000,0.001 0.000,0.000 0.000,0.000 0.000,0.000 0.000,0.000 0.000,0.000 0.000,0.000 0.000,0.000 0.000,0.000 0.000,-0.004 0.000,-0.008 0.000,-0.009 0.000,-0.009 0.000,-0.008 0.000,-0.007 0.000,-0.005 0.000,-0.004 0.000,-0.003 0.000,-0.002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0.000,0.110 0.000,0.169 0.000,0.191 0.000,0.502 0.000,0.375 0.000,0.234 0.000,0.126 0.000,0.047 0.000,1.196 0.000,0.367 0.000,-0.029 0.000,-0.267 0.000,-0.389 0.000,-0.430 0.000,-0.417 0.000,1.061 0.000,0.522 0.000,0.088 0.000,-0.192 0.000,-0.352 0.000,-0.425 0.000,-0.438 0.000,-0.411 0.000,-0.362 0.000,-0.303 0.000,-0.242 0.000,-0.185 0.000,-0.414 0.000,2.844 0.000,1.401 0.000,0.729 0.000,0.239 0.000,-4.228 0.000,5.461 0.000,-0.283 0.000,-0.696 0.000,-0.886 0.000,-0.926 0.000,-0.870 0.000,-0.760 0.000,-0.319 0.000,-0.184 0.000,-0.228 0.000,-0.240 0.000,-0.232 0.000,-0.210 0.000,-0.181 0.000,-0.149 0.000,-0.330 0.000,1.251 0.000,0.494 0.000,0.259 0.000,0.091 0.000,0.382 0.000,0.097 0.000,-0.128 0.000,-0.260 0.000,-0.323 0.000,-0.339 0.000,-0.322 0.000,-0.287 0.000,-0.243 0.000,0.072 0.000,-0.029 0.000,-0.068 0.000,-0.086 0.000,-0.090 0.000,-0.085 0.000,-0.075 0.000,-0.062 0.000,-0.049 0.000,2.421 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10:18:4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1630.000 1065.000,'0.053'-0.018,"0.081"-0.027,0.090-0.030,0.088-0.029,0.079-0.026,0.066-0.022,0.053-0.018,0.040-0.013,0.028-0.010,0.019-0.006,2.010-0.431,1.240-0.259,0.620-0.119,0.179-0.020,2.213-0.379,1.142-0.139,0.373 0.025,-0.146 0.128,-0.468 0.184,-0.640 0.207,-0.702 0.206,0.972 0.064,0.317 0.077,-0.250 0.096,-0.601 0.101,-0.788 0.098,-0.855 0.089,-0.839 0.076,1.653 0.066,1.060 0.047,0.484 0.036,0.071 0.027,-0.208 0.019,-0.380 0.013,4.456 0.010,1.723 0.004,0.275 0.000,-0.661-0.002,-1.204-0.003,-1.455-0.004,-1.502-0.004,-1.417-0.004,-1.254-0.003,-1.056-0.003,8.070-0.002,4.459-0.002,1.757-0.001,-0.101-0.001,-1.283 0.000,-0.822 0.000,-1.718 0.000,-2.165 0.000,-2.291 0.000,-2.204 0.000,-1.985 0.000,-1.699 0.000,-4.025 0.000,4.472-0.014,-0.195-0.021,-0.503-0.024,-0.650-0.024,-0.686-0.022,-0.651-0.018,0.416 0.007,0.180 0.008,-0.094 0.013,-0.262 0.015,-0.080 0.014,-0.319 0.016,-0.391 0.014,-0.406 0.011,-0.384 0.009,-0.340 0.007,-0.286 0.005,-0.037-0.168,-0.093-0.088,-0.095-0.031,-0.089 0.006,-0.077 0.028,0.079 0.053,0.064 0.036,0.031 0.036,0.008 0.033,-0.007 0.028,0.048 0.023,-0.016 0.019,-0.048 0.014,-0.065 0.010,-0.070 0.007,-0.068 0.004,-0.062 0.002,-0.053 0.001,-0.043 0.000,-0.034-0.001,0.842-0.001,0.480-0.001,0.225-0.001,0.052-0.001,0.065-0.001,0.069-0.001,-0.066 0.000,-0.149 0.000,-0.193 0.000,-0.208 0.000,-0.204 0.000,0.056-0.064,0.025-0.039,-0.025-0.019,-0.056-0.005,-0.073 0.005,-0.080 0.011,0.658 0.014,0.401 0.016,0.204 0.016,0.060 0.015,-0.039 0.013,-0.103 0.011,0.889-0.065,0.490-0.034,0.293-0.012,0.146 0.002,0.042 0.011,1.107-0.144,0.293-0.067,-0.158-0.016,-0.429 0.018,-0.565 0.037,-0.607 0.047,-0.197 0.042,-0.204 0.024,-0.268 0.017,-0.288 0.011,-0.280 0.006,-0.255 0.002,1.146 0.008,0.499 0.019,0.097 0.021,-0.162 0.021,-0.313 0.019,-0.383 0.017,0.171 0.015,0.112 0.010,-0.060 0.007,-0.168 0.005,-0.227 0.004,-0.250 0.002,1.006 0.002,0.187 0.001,-0.110 0.000,-0.280-0.001,0.602-0.001,0.407-0.001,0.056-0.001,-0.173-0.001,-0.306 0.000,1.894-0.161,0.683-0.088,-0.018-0.035,-0.454 0.001,-0.689 0.023,-0.781 0.035,-0.775 0.040,-0.710 0.040,-0.612 0.036,2.174 0.033,1.351 0.024,0.657 0.019,0.165 0.014,-0.162 0.010,1.581 0.008,0.024 0.005,-0.515 0.002,-0.795 0.001,-0.893 0.000,-0.873-0.001,1.742 0.013,1.142 0.022,0.371 0.026,-0.150 0.026,-0.472 0.024,2.224 0.165,0.767 0.095,-0.222 0.043,-0.839 0.007,-1.172-0.016,-1.299-0.030,-1.284-0.037,0.149 0.135,-0.490 0.029,-0.595-0.025,-0.610-0.056,-0.568-0.070,-0.495-0.073,-2.760-0.233,3.761 0.149,0.415-0.057,-0.029-0.047,-0.303-0.037,-0.452-0.028,-0.782-0.019,-0.336-0.011,-0.292-0.008,-0.245-0.005,-0.198-0.002,-0.154-0.001,0.649 0.000,0.261 0.001,0.037 0.002,-0.112 0.002,-0.201 0.002,-0.245 0.002,-0.131-0.010,-0.048-0.017,0.010-0.020,0.047-0.021,0.068-0.020,0.077-0.018,0.668-0.003,0.359 0.005,0.122 0.011,-0.041 0.014,-0.146 0.015,0.213 0.010,-0.334 0.016,-0.411 0.014,-0.424 0.011,-0.396 0.008,-0.346 0.006,0.063-0.083,0.151-0.076,0.043-0.065,-0.031-0.054,-0.078-0.044,0.154-0.064,-0.171 0.026,-0.175 0.046,-0.163 0.055,-0.142 0.056,-0.117 0.052,-0.761 0.092,10.620-1.000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 Id="rId3" Type="http://schemas.openxmlformats.org/officeDocument/2006/relationships/customXml" Target="../ink/ink1.xml"/><Relationship Id="rId2" Type="http://schemas.openxmlformats.org/officeDocument/2006/relationships/tags" Target="../tags/tag23.xml"/><Relationship Id="rId1" Type="http://schemas.openxmlformats.org/officeDocument/2006/relationships/tags" Target="../tags/tag2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4.xml"/><Relationship Id="rId4" Type="http://schemas.openxmlformats.org/officeDocument/2006/relationships/image" Target="../media/image6.png"/><Relationship Id="rId3" Type="http://schemas.openxmlformats.org/officeDocument/2006/relationships/customXml" Target="../ink/ink3.xml"/><Relationship Id="rId2" Type="http://schemas.openxmlformats.org/officeDocument/2006/relationships/tags" Target="../tags/tag25.xml"/><Relationship Id="rId1" Type="http://schemas.openxmlformats.org/officeDocument/2006/relationships/tags" Target="../tags/tag24.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customXml" Target="../ink/ink6.xml"/><Relationship Id="rId3" Type="http://schemas.openxmlformats.org/officeDocument/2006/relationships/image" Target="../media/image8.png"/><Relationship Id="rId2" Type="http://schemas.openxmlformats.org/officeDocument/2006/relationships/customXml" Target="../ink/ink5.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tags" Target="../tags/tag29.xml"/><Relationship Id="rId1" Type="http://schemas.openxmlformats.org/officeDocument/2006/relationships/tags" Target="../tags/tag28.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594985" y="3500755"/>
            <a:ext cx="5594350" cy="1337945"/>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定义一个抽象类</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Pet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，其中包括成员属性</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和抽象方法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shout()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；定义子类</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类中实现抽象方法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shout()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；定义一个测试类以测试抽象类的使用。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101090" y="-9906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605588" y="360521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抽象类</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矩形 3"/>
          <p:cNvSpPr>
            <a:spLocks noChangeArrowheads="1"/>
          </p:cNvSpPr>
          <p:nvPr/>
        </p:nvSpPr>
        <p:spPr bwMode="auto">
          <a:xfrm>
            <a:off x="6605905" y="4109085"/>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抽象方法的定义</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a:spLocks noChangeArrowheads="1"/>
          </p:cNvSpPr>
          <p:nvPr/>
        </p:nvSpPr>
        <p:spPr bwMode="auto">
          <a:xfrm>
            <a:off x="6605905" y="4580890"/>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抽象类的定义</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矩形 4"/>
          <p:cNvSpPr>
            <a:spLocks noChangeArrowheads="1"/>
          </p:cNvSpPr>
          <p:nvPr/>
        </p:nvSpPr>
        <p:spPr bwMode="auto">
          <a:xfrm>
            <a:off x="6605905" y="5013325"/>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抽象类的特点</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0" nodeType="withEffect">
                                  <p:stCondLst>
                                    <p:cond delay="200"/>
                                  </p:stCondLst>
                                  <p:iterate type="lt">
                                    <p:tmAbs val="0"/>
                                  </p:iterate>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8" dur="1000" decel="50000" fill="hold">
                                          <p:stCondLst>
                                            <p:cond delay="0"/>
                                          </p:stCondLst>
                                        </p:cTn>
                                        <p:tgtEl>
                                          <p:spTgt spid="3"/>
                                        </p:tgtEl>
                                        <p:attrNameLst>
                                          <p:attrName>ppt_x</p:attrName>
                                          <p:attrName>ppt_y</p:attrName>
                                        </p:attrNameLst>
                                      </p:cBhvr>
                                      <p:rCtr x="0" y="0"/>
                                    </p:animMotion>
                                    <p:animEffect>
                                      <p:cBhvr>
                                        <p:cTn id="19" dur="1000"/>
                                        <p:tgtEl>
                                          <p:spTgt spid="3"/>
                                        </p:tgtEl>
                                      </p:cBhvr>
                                    </p:animEffect>
                                  </p:childTnLst>
                                </p:cTn>
                              </p:par>
                              <p:par>
                                <p:cTn id="20" presetID="52" presetClass="entr" presetSubtype="0" fill="hold" grpId="1" nodeType="withEffect">
                                  <p:stCondLst>
                                    <p:cond delay="0"/>
                                  </p:stCondLst>
                                  <p:childTnLst>
                                    <p:set>
                                      <p:cBhvr>
                                        <p:cTn id="21" dur="1" fill="hold">
                                          <p:stCondLst>
                                            <p:cond delay="0"/>
                                          </p:stCondLst>
                                        </p:cTn>
                                        <p:tgtEl>
                                          <p:spTgt spid="2"/>
                                        </p:tgtEl>
                                        <p:attrNameLst>
                                          <p:attrName>style.visibility</p:attrName>
                                        </p:attrNameLst>
                                      </p:cBhvr>
                                      <p:to>
                                        <p:strVal val="visible"/>
                                      </p:to>
                                    </p:set>
                                    <p:animScale>
                                      <p:cBhvr>
                                        <p:cTn id="2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
                                        </p:tgtEl>
                                        <p:attrNameLst>
                                          <p:attrName>ppt_x</p:attrName>
                                          <p:attrName>ppt_y</p:attrName>
                                        </p:attrNameLst>
                                      </p:cBhvr>
                                    </p:animMotion>
                                    <p:animEffect transition="in" filter="fade">
                                      <p:cBhvr>
                                        <p:cTn id="24" dur="1000"/>
                                        <p:tgtEl>
                                          <p:spTgt spid="2"/>
                                        </p:tgtEl>
                                      </p:cBhvr>
                                    </p:animEffect>
                                  </p:childTnLst>
                                </p:cTn>
                              </p:par>
                              <p:par>
                                <p:cTn id="25" presetID="52" presetClass="entr" presetSubtype="0" fill="hold" grpId="1" nodeType="withEffect">
                                  <p:stCondLst>
                                    <p:cond delay="0"/>
                                  </p:stCondLst>
                                  <p:iterate type="lt">
                                    <p:tmPct val="0"/>
                                  </p:iterate>
                                  <p:childTnLst>
                                    <p:set>
                                      <p:cBhvr>
                                        <p:cTn id="26" dur="1" fill="hold">
                                          <p:stCondLst>
                                            <p:cond delay="0"/>
                                          </p:stCondLst>
                                        </p:cTn>
                                        <p:tgtEl>
                                          <p:spTgt spid="3"/>
                                        </p:tgtEl>
                                        <p:attrNameLst>
                                          <p:attrName>style.visibility</p:attrName>
                                        </p:attrNameLst>
                                      </p:cBhvr>
                                      <p:to>
                                        <p:strVal val="visible"/>
                                      </p:to>
                                    </p:set>
                                    <p:animScale>
                                      <p:cBhvr>
                                        <p:cTn id="2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3"/>
                                        </p:tgtEl>
                                        <p:attrNameLst>
                                          <p:attrName>ppt_x</p:attrName>
                                          <p:attrName>ppt_y</p:attrName>
                                        </p:attrNameLst>
                                      </p:cBhvr>
                                    </p:animMotion>
                                    <p:animEffect transition="in" filter="fade">
                                      <p:cBhvr>
                                        <p:cTn id="29" dur="1000"/>
                                        <p:tgtEl>
                                          <p:spTgt spid="3"/>
                                        </p:tgtEl>
                                      </p:cBhvr>
                                    </p:animEffect>
                                  </p:childTnLst>
                                </p:cTn>
                              </p:par>
                              <p:par>
                                <p:cTn id="30" presetID="52" presetClass="entr" presetSubtype="0" fill="hold" grpId="0" nodeType="withEffect">
                                  <p:stCondLst>
                                    <p:cond delay="200"/>
                                  </p:stCondLst>
                                  <p:iterate type="lt">
                                    <p:tmAbs val="0"/>
                                  </p:iterate>
                                  <p:childTnLst>
                                    <p:set>
                                      <p:cBhvr>
                                        <p:cTn id="31" dur="1" fill="hold">
                                          <p:stCondLst>
                                            <p:cond delay="0"/>
                                          </p:stCondLst>
                                        </p:cTn>
                                        <p:tgtEl>
                                          <p:spTgt spid="4"/>
                                        </p:tgtEl>
                                        <p:attrNameLst>
                                          <p:attrName>style.visibility</p:attrName>
                                        </p:attrNameLst>
                                      </p:cBhvr>
                                      <p:to>
                                        <p:strVal val="visible"/>
                                      </p:to>
                                    </p:set>
                                    <p:animScale>
                                      <p:cBhvr>
                                        <p:cTn id="32"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3" dur="1000" decel="50000" fill="hold">
                                          <p:stCondLst>
                                            <p:cond delay="0"/>
                                          </p:stCondLst>
                                        </p:cTn>
                                        <p:tgtEl>
                                          <p:spTgt spid="4"/>
                                        </p:tgtEl>
                                        <p:attrNameLst>
                                          <p:attrName>ppt_x</p:attrName>
                                          <p:attrName>ppt_y</p:attrName>
                                        </p:attrNameLst>
                                      </p:cBhvr>
                                      <p:rCtr x="0" y="0"/>
                                    </p:animMotion>
                                    <p:animEffect>
                                      <p:cBhvr>
                                        <p:cTn id="34" dur="1000"/>
                                        <p:tgtEl>
                                          <p:spTgt spid="4"/>
                                        </p:tgtEl>
                                      </p:cBhvr>
                                    </p:animEffect>
                                  </p:childTnLst>
                                </p:cTn>
                              </p:par>
                              <p:par>
                                <p:cTn id="35" presetID="52" presetClass="entr" presetSubtype="0" fill="hold" grpId="1" nodeType="withEffect">
                                  <p:stCondLst>
                                    <p:cond delay="0"/>
                                  </p:stCondLst>
                                  <p:iterate type="lt">
                                    <p:tmPct val="0"/>
                                  </p:iterate>
                                  <p:childTnLst>
                                    <p:set>
                                      <p:cBhvr>
                                        <p:cTn id="36" dur="1" fill="hold">
                                          <p:stCondLst>
                                            <p:cond delay="0"/>
                                          </p:stCondLst>
                                        </p:cTn>
                                        <p:tgtEl>
                                          <p:spTgt spid="4"/>
                                        </p:tgtEl>
                                        <p:attrNameLst>
                                          <p:attrName>style.visibility</p:attrName>
                                        </p:attrNameLst>
                                      </p:cBhvr>
                                      <p:to>
                                        <p:strVal val="visible"/>
                                      </p:to>
                                    </p:set>
                                    <p:animScale>
                                      <p:cBhvr>
                                        <p:cTn id="3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4"/>
                                        </p:tgtEl>
                                        <p:attrNameLst>
                                          <p:attrName>ppt_x</p:attrName>
                                          <p:attrName>ppt_y</p:attrName>
                                        </p:attrNameLst>
                                      </p:cBhvr>
                                    </p:animMotion>
                                    <p:animEffect transition="in" filter="fade">
                                      <p:cBhvr>
                                        <p:cTn id="39" dur="1000"/>
                                        <p:tgtEl>
                                          <p:spTgt spid="4"/>
                                        </p:tgtEl>
                                      </p:cBhvr>
                                    </p:animEffect>
                                  </p:childTnLst>
                                </p:cTn>
                              </p:par>
                              <p:par>
                                <p:cTn id="40" presetID="52" presetClass="entr" presetSubtype="0" fill="hold" grpId="0" nodeType="withEffect">
                                  <p:stCondLst>
                                    <p:cond delay="200"/>
                                  </p:stCondLst>
                                  <p:iterate type="lt">
                                    <p:tmAbs val="0"/>
                                  </p:iterate>
                                  <p:childTnLst>
                                    <p:set>
                                      <p:cBhvr>
                                        <p:cTn id="41" dur="1" fill="hold">
                                          <p:stCondLst>
                                            <p:cond delay="0"/>
                                          </p:stCondLst>
                                        </p:cTn>
                                        <p:tgtEl>
                                          <p:spTgt spid="5"/>
                                        </p:tgtEl>
                                        <p:attrNameLst>
                                          <p:attrName>style.visibility</p:attrName>
                                        </p:attrNameLst>
                                      </p:cBhvr>
                                      <p:to>
                                        <p:strVal val="visible"/>
                                      </p:to>
                                    </p:set>
                                    <p:animScale>
                                      <p:cBhvr>
                                        <p:cTn id="42"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3" dur="1000" decel="50000" fill="hold">
                                          <p:stCondLst>
                                            <p:cond delay="0"/>
                                          </p:stCondLst>
                                        </p:cTn>
                                        <p:tgtEl>
                                          <p:spTgt spid="5"/>
                                        </p:tgtEl>
                                        <p:attrNameLst>
                                          <p:attrName>ppt_x</p:attrName>
                                          <p:attrName>ppt_y</p:attrName>
                                        </p:attrNameLst>
                                      </p:cBhvr>
                                      <p:rCtr x="0" y="0"/>
                                    </p:animMotion>
                                    <p:animEffect>
                                      <p:cBhvr>
                                        <p:cTn id="44" dur="1000"/>
                                        <p:tgtEl>
                                          <p:spTgt spid="5"/>
                                        </p:tgtEl>
                                      </p:cBhvr>
                                    </p:animEffect>
                                  </p:childTnLst>
                                </p:cTn>
                              </p:par>
                              <p:par>
                                <p:cTn id="45" presetID="52" presetClass="entr" presetSubtype="0" fill="hold" grpId="1" nodeType="withEffect">
                                  <p:stCondLst>
                                    <p:cond delay="0"/>
                                  </p:stCondLst>
                                  <p:iterate type="lt">
                                    <p:tmPct val="0"/>
                                  </p:iterate>
                                  <p:childTnLst>
                                    <p:set>
                                      <p:cBhvr>
                                        <p:cTn id="46" dur="1" fill="hold">
                                          <p:stCondLst>
                                            <p:cond delay="0"/>
                                          </p:stCondLst>
                                        </p:cTn>
                                        <p:tgtEl>
                                          <p:spTgt spid="5"/>
                                        </p:tgtEl>
                                        <p:attrNameLst>
                                          <p:attrName>style.visibility</p:attrName>
                                        </p:attrNameLst>
                                      </p:cBhvr>
                                      <p:to>
                                        <p:strVal val="visible"/>
                                      </p:to>
                                    </p:set>
                                    <p:animScale>
                                      <p:cBhvr>
                                        <p:cTn id="4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5"/>
                                        </p:tgtEl>
                                        <p:attrNameLst>
                                          <p:attrName>ppt_x</p:attrName>
                                          <p:attrName>ppt_y</p:attrName>
                                        </p:attrNameLst>
                                      </p:cBhvr>
                                    </p:animMotion>
                                    <p:animEffect transition="in" filter="fade">
                                      <p:cBhvr>
                                        <p:cTn id="4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3" grpId="0" bldLvl="0" autoUpdateAnimBg="0"/>
      <p:bldP spid="2" grpId="1"/>
      <p:bldP spid="3" grpId="1"/>
      <p:bldP spid="4" grpId="0" bldLvl="0" autoUpdateAnimBg="0"/>
      <p:bldP spid="4" grpId="1"/>
      <p:bldP spid="5" grpId="0" bldLvl="0" autoUpdateAnimBg="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dirty="0">
                <a:solidFill>
                  <a:srgbClr val="1369B2"/>
                </a:solidFill>
                <a:latin typeface="微软雅黑" panose="020B0503020204020204" pitchFamily="34" charset="-122"/>
                <a:ea typeface="微软雅黑" panose="020B0503020204020204" pitchFamily="34" charset="-122"/>
                <a:sym typeface="+mn-ea"/>
              </a:rPr>
              <a:t>抽象类</a:t>
            </a:r>
            <a:endParaRPr lang="zh-CN"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953770" y="2210435"/>
            <a:ext cx="10381615" cy="2437765"/>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lang="zh-CN" altLang="en-US" sz="2400">
                <a:latin typeface="宋体" panose="02010600030101010101" pitchFamily="2" charset="-122"/>
                <a:cs typeface="宋体" panose="02010600030101010101" pitchFamily="2" charset="-122"/>
              </a:rPr>
              <a:t>定义一个类时，常常需要定义一些成员方法用于描述类的行为特征，但有时这些方法的实现方式是无法确定的。例如，前面定义的</a:t>
            </a:r>
            <a:r>
              <a:rPr lang="en-US" altLang="zh-CN" sz="2400">
                <a:latin typeface="宋体" panose="02010600030101010101" pitchFamily="2" charset="-122"/>
                <a:cs typeface="宋体" panose="02010600030101010101" pitchFamily="2" charset="-122"/>
              </a:rPr>
              <a:t>Pet</a:t>
            </a:r>
            <a:r>
              <a:rPr lang="zh-CN" altLang="en-US" sz="2400">
                <a:latin typeface="宋体" panose="02010600030101010101" pitchFamily="2" charset="-122"/>
                <a:cs typeface="宋体" panose="02010600030101010101" pitchFamily="2" charset="-122"/>
              </a:rPr>
              <a:t>类中的</a:t>
            </a:r>
            <a:r>
              <a:rPr lang="en-US" altLang="zh-CN" sz="2400">
                <a:latin typeface="宋体" panose="02010600030101010101" pitchFamily="2" charset="-122"/>
                <a:cs typeface="宋体" panose="02010600030101010101" pitchFamily="2" charset="-122"/>
              </a:rPr>
              <a:t>shout()</a:t>
            </a:r>
            <a:r>
              <a:rPr lang="zh-CN" altLang="en-US" sz="2400">
                <a:latin typeface="宋体" panose="02010600030101010101" pitchFamily="2" charset="-122"/>
                <a:cs typeface="宋体" panose="02010600030101010101" pitchFamily="2" charset="-122"/>
              </a:rPr>
              <a:t>方法用于描述动物的叫声，但是不同的动物，叫声也不相同，因此在</a:t>
            </a:r>
            <a:r>
              <a:rPr lang="en-US" altLang="zh-CN" sz="2400">
                <a:latin typeface="宋体" panose="02010600030101010101" pitchFamily="2" charset="-122"/>
                <a:cs typeface="宋体" panose="02010600030101010101" pitchFamily="2" charset="-122"/>
              </a:rPr>
              <a:t>shout()</a:t>
            </a:r>
            <a:r>
              <a:rPr lang="zh-CN" altLang="en-US" sz="2400">
                <a:latin typeface="宋体" panose="02010600030101010101" pitchFamily="2" charset="-122"/>
                <a:cs typeface="宋体" panose="02010600030101010101" pitchFamily="2" charset="-122"/>
              </a:rPr>
              <a:t>方法中无法准确描述动物的叫声。</a:t>
            </a:r>
            <a:endParaRPr lang="zh-CN" altLang="en-US"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400">
                <a:latin typeface="宋体" panose="02010600030101010101" pitchFamily="2" charset="-122"/>
                <a:cs typeface="宋体" panose="02010600030101010101" pitchFamily="2" charset="-122"/>
              </a:rPr>
              <a:t>针对上面描述的情况，</a:t>
            </a:r>
            <a:r>
              <a:rPr lang="en-US" altLang="zh-CN" sz="2400">
                <a:latin typeface="宋体" panose="02010600030101010101" pitchFamily="2" charset="-122"/>
                <a:cs typeface="宋体" panose="02010600030101010101" pitchFamily="2" charset="-122"/>
              </a:rPr>
              <a:t>Java</a:t>
            </a:r>
            <a:r>
              <a:rPr lang="zh-CN" altLang="en-US" sz="2400">
                <a:latin typeface="宋体" panose="02010600030101010101" pitchFamily="2" charset="-122"/>
                <a:cs typeface="宋体" panose="02010600030101010101" pitchFamily="2" charset="-122"/>
              </a:rPr>
              <a:t>提供了抽象方法来满足这种需求。抽象类有点类似于</a:t>
            </a:r>
            <a:r>
              <a:rPr lang="en-US" altLang="zh-CN" sz="2400">
                <a:latin typeface="宋体" panose="02010600030101010101" pitchFamily="2" charset="-122"/>
                <a:cs typeface="宋体" panose="02010600030101010101" pitchFamily="2" charset="-122"/>
              </a:rPr>
              <a:t>“</a:t>
            </a:r>
            <a:r>
              <a:rPr lang="zh-CN" altLang="en-US" sz="2400">
                <a:latin typeface="宋体" panose="02010600030101010101" pitchFamily="2" charset="-122"/>
                <a:cs typeface="宋体" panose="02010600030101010101" pitchFamily="2" charset="-122"/>
              </a:rPr>
              <a:t>模板</a:t>
            </a:r>
            <a:r>
              <a:rPr lang="en-US" altLang="zh-CN" sz="2400">
                <a:latin typeface="宋体" panose="02010600030101010101" pitchFamily="2" charset="-122"/>
                <a:cs typeface="宋体" panose="02010600030101010101" pitchFamily="2" charset="-122"/>
              </a:rPr>
              <a:t>”</a:t>
            </a:r>
            <a:r>
              <a:rPr lang="zh-CN" altLang="en-US" sz="2400">
                <a:latin typeface="宋体" panose="02010600030101010101" pitchFamily="2" charset="-122"/>
                <a:cs typeface="宋体" panose="02010600030101010101" pitchFamily="2" charset="-122"/>
              </a:rPr>
              <a:t>的作用，目的是根据其格式来创建和修改新的类，对象不能由抽象类直接创建，只可以通过抽象类派生出新的子类，再由其子类来创建对象。</a:t>
            </a:r>
            <a:endParaRPr lang="zh-CN" altLang="en-US" sz="2400">
              <a:latin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dirty="0">
                <a:solidFill>
                  <a:srgbClr val="1369B2"/>
                </a:solidFill>
                <a:latin typeface="微软雅黑" panose="020B0503020204020204" pitchFamily="34" charset="-122"/>
                <a:ea typeface="微软雅黑" panose="020B0503020204020204" pitchFamily="34" charset="-122"/>
                <a:sym typeface="+mn-ea"/>
              </a:rPr>
              <a:t>抽象类</a:t>
            </a:r>
            <a:endParaRPr lang="zh-CN"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2210435"/>
            <a:ext cx="9748520" cy="2437765"/>
          </a:xfrm>
          <a:prstGeom prst="rect">
            <a:avLst/>
          </a:prstGeom>
        </p:spPr>
        <p:txBody>
          <a:bodyPr>
            <a:noAutofit/>
          </a:bodyPr>
          <a:p>
            <a:pPr marL="0" indent="266700" algn="l" defTabSz="266700">
              <a:lnSpc>
                <a:spcPct val="150000"/>
              </a:lnSpc>
              <a:spcBef>
                <a:spcPct val="0"/>
              </a:spcBef>
              <a:spcAft>
                <a:spcPct val="0"/>
              </a:spcAft>
            </a:pPr>
            <a:r>
              <a:rPr lang="zh-CN" altLang="en-US" sz="2400">
                <a:latin typeface="宋体" panose="02010600030101010101" pitchFamily="2" charset="-122"/>
                <a:cs typeface="宋体" panose="02010600030101010101" pitchFamily="2" charset="-122"/>
              </a:rPr>
              <a:t>当一个类被声明为抽象类时，要在这个类前面加上修饰符</a:t>
            </a:r>
            <a:r>
              <a:rPr lang="en-US" altLang="zh-CN" sz="2400">
                <a:latin typeface="宋体" panose="02010600030101010101" pitchFamily="2" charset="-122"/>
                <a:cs typeface="宋体" panose="02010600030101010101" pitchFamily="2" charset="-122"/>
              </a:rPr>
              <a:t>abstract,</a:t>
            </a:r>
            <a:r>
              <a:rPr lang="zh-CN" altLang="en-US" sz="2400">
                <a:latin typeface="宋体" panose="02010600030101010101" pitchFamily="2" charset="-122"/>
                <a:cs typeface="宋体" panose="02010600030101010101" pitchFamily="2" charset="-122"/>
              </a:rPr>
              <a:t>在抽象类中的成员方法可以包括一般方法和抽象方法。包含了抽象方法的类一律称为抽象类，一个抽象类可以存在一个或多个抽象方法。</a:t>
            </a:r>
            <a:endParaRPr lang="zh-CN" altLang="en-US" sz="2400">
              <a:latin typeface="宋体" panose="02010600030101010101" pitchFamily="2" charset="-122"/>
              <a:cs typeface="宋体" panose="02010600030101010101" pitchFamily="2" charset="-122"/>
            </a:endParaRPr>
          </a:p>
          <a:p>
            <a:pPr marL="0" indent="266700" algn="l" defTabSz="266700">
              <a:lnSpc>
                <a:spcPct val="150000"/>
              </a:lnSpc>
              <a:spcBef>
                <a:spcPct val="0"/>
              </a:spcBef>
              <a:spcAft>
                <a:spcPct val="0"/>
              </a:spcAft>
            </a:pPr>
            <a:r>
              <a:rPr lang="zh-CN" altLang="en-US" sz="2400">
                <a:latin typeface="宋体" panose="02010600030101010101" pitchFamily="2" charset="-122"/>
                <a:cs typeface="宋体" panose="02010600030101010101" pitchFamily="2" charset="-122"/>
              </a:rPr>
              <a:t>抽象方法是只定义了方法的声明但不包含具体实现的方法。抽象方法是使用</a:t>
            </a:r>
            <a:r>
              <a:rPr lang="en-US" altLang="zh-CN" sz="2400">
                <a:latin typeface="宋体" panose="02010600030101010101" pitchFamily="2" charset="-122"/>
                <a:cs typeface="宋体" panose="02010600030101010101" pitchFamily="2" charset="-122"/>
              </a:rPr>
              <a:t>abstract</a:t>
            </a:r>
            <a:r>
              <a:rPr lang="zh-CN" altLang="en-US" sz="2400">
                <a:latin typeface="宋体" panose="02010600030101010101" pitchFamily="2" charset="-122"/>
                <a:cs typeface="宋体" panose="02010600030101010101" pitchFamily="2" charset="-122"/>
              </a:rPr>
              <a:t>关键字修饰的成员方法，抽象方法在定义时不需要实现方法体。</a:t>
            </a:r>
            <a:endParaRPr lang="zh-CN" altLang="en-US" sz="2400">
              <a:latin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抽象方法的定义</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1753235"/>
          </a:xfrm>
          <a:prstGeom prst="rect">
            <a:avLst/>
          </a:prstGeom>
        </p:spPr>
        <p:txBody>
          <a:bodyPr wrap="square">
            <a:spAutoFit/>
          </a:bodyPr>
          <a:p>
            <a:pPr marL="0" indent="266700" algn="just" defTabSz="266700" latinLnBrk="0">
              <a:lnSpc>
                <a:spcPct val="150000"/>
              </a:lnSpc>
              <a:spcBef>
                <a:spcPct val="0"/>
              </a:spcBef>
              <a:spcAft>
                <a:spcPct val="0"/>
              </a:spcAft>
            </a:pPr>
            <a:r>
              <a:rPr lang="en-US" altLang="zh-CN" sz="2400">
                <a:latin typeface="宋体" panose="02010600030101010101" pitchFamily="2" charset="-122"/>
                <a:cs typeface="宋体" panose="02010600030101010101" pitchFamily="2" charset="-122"/>
              </a:rPr>
              <a:t> </a:t>
            </a:r>
            <a:r>
              <a:rPr lang="zh-CN" altLang="en-US" sz="2400">
                <a:latin typeface="宋体" panose="02010600030101010101" pitchFamily="2" charset="-122"/>
                <a:cs typeface="宋体" panose="02010600030101010101" pitchFamily="2" charset="-122"/>
              </a:rPr>
              <a:t>抽象方法的语法格式如下：</a:t>
            </a:r>
            <a:endParaRPr lang="zh-CN" altLang="en-US" sz="2400">
              <a:latin typeface="宋体" panose="02010600030101010101" pitchFamily="2" charset="-122"/>
              <a:cs typeface="宋体" panose="02010600030101010101" pitchFamily="2" charset="-122"/>
            </a:endParaRPr>
          </a:p>
          <a:p>
            <a:pPr marL="0" indent="266700" algn="just" defTabSz="266700" latinLnBrk="0">
              <a:lnSpc>
                <a:spcPct val="150000"/>
              </a:lnSpc>
              <a:spcBef>
                <a:spcPct val="0"/>
              </a:spcBef>
              <a:spcAft>
                <a:spcPct val="0"/>
              </a:spcAft>
            </a:pPr>
            <a:r>
              <a:rPr lang="en-US" altLang="zh-CN" sz="2400">
                <a:latin typeface="宋体" panose="02010600030101010101" pitchFamily="2" charset="-122"/>
                <a:cs typeface="宋体" panose="02010600030101010101" pitchFamily="2" charset="-122"/>
              </a:rPr>
              <a:t>abstract </a:t>
            </a:r>
            <a:r>
              <a:rPr lang="zh-CN" altLang="en-US" sz="2400">
                <a:latin typeface="宋体" panose="02010600030101010101" pitchFamily="2" charset="-122"/>
                <a:cs typeface="宋体" panose="02010600030101010101" pitchFamily="2" charset="-122"/>
              </a:rPr>
              <a:t>返回值类型</a:t>
            </a:r>
            <a:r>
              <a:rPr lang="en-US" altLang="zh-CN" sz="2400">
                <a:latin typeface="宋体" panose="02010600030101010101" pitchFamily="2" charset="-122"/>
                <a:cs typeface="宋体" panose="02010600030101010101" pitchFamily="2" charset="-122"/>
              </a:rPr>
              <a:t> </a:t>
            </a:r>
            <a:r>
              <a:rPr lang="zh-CN" altLang="en-US" sz="2400">
                <a:latin typeface="宋体" panose="02010600030101010101" pitchFamily="2" charset="-122"/>
                <a:cs typeface="宋体" panose="02010600030101010101" pitchFamily="2" charset="-122"/>
              </a:rPr>
              <a:t>方法名称</a:t>
            </a:r>
            <a:r>
              <a:rPr lang="en-US" altLang="zh-CN" sz="2400">
                <a:latin typeface="宋体" panose="02010600030101010101" pitchFamily="2" charset="-122"/>
                <a:cs typeface="宋体" panose="02010600030101010101" pitchFamily="2" charset="-122"/>
              </a:rPr>
              <a:t>(</a:t>
            </a:r>
            <a:r>
              <a:rPr lang="zh-CN" altLang="en-US" sz="2400">
                <a:latin typeface="宋体" panose="02010600030101010101" pitchFamily="2" charset="-122"/>
                <a:cs typeface="宋体" panose="02010600030101010101" pitchFamily="2" charset="-122"/>
              </a:rPr>
              <a:t>参数列表</a:t>
            </a:r>
            <a:r>
              <a:rPr lang="en-US" altLang="zh-CN" sz="2400">
                <a:latin typeface="宋体" panose="02010600030101010101" pitchFamily="2" charset="-122"/>
                <a:cs typeface="宋体" panose="02010600030101010101" pitchFamily="2" charset="-122"/>
              </a:rPr>
              <a:t>); </a:t>
            </a:r>
            <a:endParaRPr lang="en-US" altLang="zh-CN" sz="2400">
              <a:latin typeface="宋体" panose="02010600030101010101" pitchFamily="2" charset="-122"/>
              <a:cs typeface="宋体" panose="02010600030101010101" pitchFamily="2" charset="-122"/>
            </a:endParaRPr>
          </a:p>
          <a:p>
            <a:pPr marL="0" indent="266700" algn="just" defTabSz="266700" latinLnBrk="0">
              <a:lnSpc>
                <a:spcPct val="150000"/>
              </a:lnSpc>
              <a:spcBef>
                <a:spcPct val="0"/>
              </a:spcBef>
              <a:spcAft>
                <a:spcPct val="0"/>
              </a:spcAft>
            </a:pPr>
            <a:r>
              <a:rPr lang="zh-CN" altLang="en-US" sz="2400">
                <a:latin typeface="宋体" panose="02010600030101010101" pitchFamily="2" charset="-122"/>
                <a:cs typeface="宋体" panose="02010600030101010101" pitchFamily="2" charset="-122"/>
              </a:rPr>
              <a:t>例如：</a:t>
            </a:r>
            <a:r>
              <a:rPr lang="en-US" altLang="zh-CN" sz="2400">
                <a:latin typeface="宋体" panose="02010600030101010101" pitchFamily="2" charset="-122"/>
                <a:cs typeface="宋体" panose="02010600030101010101" pitchFamily="2" charset="-122"/>
              </a:rPr>
              <a:t>abstract void shout(); </a:t>
            </a: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抽象类的定义</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778635" y="2132965"/>
            <a:ext cx="8333740" cy="1014730"/>
          </a:xfrm>
          <a:prstGeom prst="rect">
            <a:avLst/>
          </a:prstGeom>
        </p:spPr>
        <p:txBody>
          <a:bodyPr wrap="square">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当一个类包含了抽象方法，该类就是抽象类。抽象类和抽象方法一样，必须使用</a:t>
            </a:r>
            <a:r>
              <a:rPr lang="en-US" altLang="zh-CN" sz="2000">
                <a:latin typeface="宋体" panose="02010600030101010101" pitchFamily="2" charset="-122"/>
                <a:ea typeface="宋体" panose="02010600030101010101" pitchFamily="2" charset="-122"/>
              </a:rPr>
              <a:t>abstract</a:t>
            </a:r>
            <a:r>
              <a:rPr lang="zh-CN" altLang="en-US" sz="2000">
                <a:latin typeface="宋体" panose="02010600030101010101" pitchFamily="2" charset="-122"/>
                <a:ea typeface="宋体" panose="02010600030101010101" pitchFamily="2" charset="-122"/>
              </a:rPr>
              <a:t>关键字进行修饰。抽象类的语法格式如下</a:t>
            </a:r>
            <a:r>
              <a:rPr lang="en-US" altLang="zh-CN"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p:txBody>
      </p:sp>
      <p:sp>
        <p:nvSpPr>
          <p:cNvPr id="7" name="文本框 6"/>
          <p:cNvSpPr txBox="1"/>
          <p:nvPr/>
        </p:nvSpPr>
        <p:spPr>
          <a:xfrm>
            <a:off x="1706880" y="3213100"/>
            <a:ext cx="4537075" cy="2399665"/>
          </a:xfrm>
          <a:prstGeom prst="rect">
            <a:avLst/>
          </a:prstGeom>
        </p:spPr>
        <p:txBody>
          <a:bodyPr wrap="square">
            <a:spAutoFit/>
          </a:bodyPr>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abstract  class </a:t>
            </a:r>
            <a:r>
              <a:rPr lang="zh-CN" altLang="en-US" sz="2000">
                <a:latin typeface="宋体" panose="02010600030101010101" pitchFamily="2" charset="-122"/>
                <a:ea typeface="宋体" panose="02010600030101010101" pitchFamily="2" charset="-122"/>
              </a:rPr>
              <a:t>类名称</a:t>
            </a: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成员变量</a:t>
            </a:r>
            <a:r>
              <a:rPr lang="en-US" altLang="zh-CN"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方法</a:t>
            </a: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一般方法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abstract </a:t>
            </a:r>
            <a:r>
              <a:rPr lang="zh-CN" altLang="en-US" sz="2000">
                <a:latin typeface="宋体" panose="02010600030101010101" pitchFamily="2" charset="-122"/>
                <a:ea typeface="宋体" panose="02010600030101010101" pitchFamily="2" charset="-122"/>
              </a:rPr>
              <a:t>方法</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抽象方法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p:txBody>
      </p:sp>
      <p:sp>
        <p:nvSpPr>
          <p:cNvPr id="8" name="文本框 7"/>
          <p:cNvSpPr txBox="1"/>
          <p:nvPr/>
        </p:nvSpPr>
        <p:spPr>
          <a:xfrm>
            <a:off x="6243320" y="3147695"/>
            <a:ext cx="5096510" cy="2861310"/>
          </a:xfrm>
          <a:prstGeom prst="rect">
            <a:avLst/>
          </a:prstGeom>
        </p:spPr>
        <p:txBody>
          <a:bodyPr wrap="square">
            <a:spAutoFit/>
          </a:bodyPr>
          <a:p>
            <a:pPr marL="0" indent="266700" algn="just" defTabSz="266700">
              <a:lnSpc>
                <a:spcPct val="150000"/>
              </a:lnSpc>
              <a:spcBef>
                <a:spcPct val="0"/>
              </a:spcBef>
              <a:spcAft>
                <a:spcPct val="0"/>
              </a:spcAft>
            </a:pPr>
            <a:r>
              <a:rPr lang="zh-CN" altLang="en-US" sz="2000">
                <a:solidFill>
                  <a:srgbClr val="FF0000"/>
                </a:solidFill>
                <a:latin typeface="宋体" panose="02010600030101010101" pitchFamily="2" charset="-122"/>
                <a:ea typeface="宋体" panose="02010600030101010101" pitchFamily="2" charset="-122"/>
              </a:rPr>
              <a:t>例如：</a:t>
            </a:r>
            <a:endParaRPr lang="zh-CN" altLang="en-US" sz="2000">
              <a:solidFill>
                <a:srgbClr val="FF0000"/>
              </a:solidFill>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abstract  class Pet {</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String name;</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void show(){……};       //</a:t>
            </a:r>
            <a:r>
              <a:rPr lang="zh-CN" altLang="en-US" sz="2000">
                <a:latin typeface="宋体" panose="02010600030101010101" pitchFamily="2" charset="-122"/>
                <a:ea typeface="宋体" panose="02010600030101010101" pitchFamily="2" charset="-122"/>
              </a:rPr>
              <a:t>一般方法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abstract void shout()</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抽象方法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抽象类的特点</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634490" y="2277110"/>
            <a:ext cx="8333740" cy="2399665"/>
          </a:xfrm>
          <a:prstGeom prst="rect">
            <a:avLst/>
          </a:prstGeom>
        </p:spPr>
        <p:txBody>
          <a:bodyPr wrap="square">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）不能被实例化：抽象类不能直接用来创建对象。</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）可以包含抽象方法：抽象类中可以包含抽象方法。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）可以包含非抽象方法：抽象类中不仅可以包含抽象方法，也可以包含具体实现的方法。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endParaRPr lang="en-US" altLang="zh-CN" sz="2000">
              <a:latin typeface="宋体" panose="02010600030101010101" pitchFamily="2" charset="-122"/>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630680" y="3445510"/>
              <a:ext cx="6865620" cy="262890"/>
            </p14:xfrm>
          </p:contentPart>
        </mc:Choice>
        <mc:Fallback xmlns="">
          <p:pic>
            <p:nvPicPr>
              <p:cNvPr id="5" name="墨迹 4"/>
            </p:nvPicPr>
            <p:blipFill>
              <a:blip r:embed="rId4"/>
            </p:blipFill>
            <p:spPr>
              <a:xfrm>
                <a:off x="1630680" y="3445510"/>
                <a:ext cx="6865620" cy="26289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7424420" y="4098290"/>
              <a:ext cx="1614170" cy="34290"/>
            </p14:xfrm>
          </p:contentPart>
        </mc:Choice>
        <mc:Fallback xmlns="">
          <p:pic>
            <p:nvPicPr>
              <p:cNvPr id="7" name="墨迹 6"/>
            </p:nvPicPr>
            <p:blipFill>
              <a:blip r:embed="rId6"/>
            </p:blipFill>
            <p:spPr>
              <a:xfrm>
                <a:off x="7424420" y="4098290"/>
                <a:ext cx="1614170" cy="34290"/>
              </a:xfrm>
              <a:prstGeom prst="rect"/>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抽象类的特点</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634490" y="2277110"/>
            <a:ext cx="8333740" cy="2861310"/>
          </a:xfrm>
          <a:prstGeom prst="rect">
            <a:avLst/>
          </a:prstGeom>
        </p:spPr>
        <p:txBody>
          <a:bodyPr wrap="square">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4</a:t>
            </a:r>
            <a:r>
              <a:rPr lang="zh-CN" altLang="en-US" sz="2000">
                <a:latin typeface="宋体" panose="02010600030101010101" pitchFamily="2" charset="-122"/>
                <a:ea typeface="宋体" panose="02010600030101010101" pitchFamily="2" charset="-122"/>
              </a:rPr>
              <a:t>）可以有构造器：抽象类可以有构造器，用于初始化子类创建对象时需要的一些资源。</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5</a:t>
            </a:r>
            <a:r>
              <a:rPr lang="zh-CN" altLang="en-US" sz="2000">
                <a:latin typeface="宋体" panose="02010600030101010101" pitchFamily="2" charset="-122"/>
                <a:ea typeface="宋体" panose="02010600030101010101" pitchFamily="2" charset="-122"/>
              </a:rPr>
              <a:t>）子类必须实现所有抽象方法（除非子类也是抽象的）：如果子类不是抽象的，那么它必须实现父类中的所有抽象方法。</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6</a:t>
            </a:r>
            <a:r>
              <a:rPr lang="zh-CN" altLang="en-US" sz="2000">
                <a:latin typeface="宋体" panose="02010600030101010101" pitchFamily="2" charset="-122"/>
                <a:ea typeface="宋体" panose="02010600030101010101" pitchFamily="2" charset="-122"/>
              </a:rPr>
              <a:t>）抽象类是面向对象编程中一种非常有用的特性，它有助于实现代码的复用和多态性。</a:t>
            </a: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4340860" y="3665855"/>
              <a:ext cx="1449070" cy="97790"/>
            </p14:xfrm>
          </p:contentPart>
        </mc:Choice>
        <mc:Fallback xmlns="">
          <p:pic>
            <p:nvPicPr>
              <p:cNvPr id="5" name="墨迹 4"/>
            </p:nvPicPr>
            <p:blipFill>
              <a:blip r:embed="rId4"/>
            </p:blipFill>
            <p:spPr>
              <a:xfrm>
                <a:off x="4340860" y="3665855"/>
                <a:ext cx="1449070" cy="9779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3417570" y="4145280"/>
              <a:ext cx="4608195" cy="169545"/>
            </p14:xfrm>
          </p:contentPart>
        </mc:Choice>
        <mc:Fallback xmlns="">
          <p:pic>
            <p:nvPicPr>
              <p:cNvPr id="7" name="墨迹 6"/>
            </p:nvPicPr>
            <p:blipFill>
              <a:blip r:embed="rId6"/>
            </p:blipFill>
            <p:spPr>
              <a:xfrm>
                <a:off x="3417570" y="4145280"/>
                <a:ext cx="4608195" cy="169545"/>
              </a:xfrm>
              <a:prstGeom prst="rect"/>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定义一个抽象类</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Pet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，其中包括成员属性</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name</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和抽象方法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shout()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；定义子类</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类中实现抽象方法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shout()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；定义一个测试类以测试抽象类的使用。</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6480175" y="3954145"/>
              <a:ext cx="4671695" cy="135890"/>
            </p14:xfrm>
          </p:contentPart>
        </mc:Choice>
        <mc:Fallback xmlns="">
          <p:pic>
            <p:nvPicPr>
              <p:cNvPr id="2" name="墨迹 1"/>
            </p:nvPicPr>
            <p:blipFill>
              <a:blip r:embed="rId3"/>
            </p:blipFill>
            <p:spPr>
              <a:xfrm>
                <a:off x="6480175" y="3954145"/>
                <a:ext cx="4671695" cy="13589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6903720" y="4394835"/>
              <a:ext cx="4400550" cy="118745"/>
            </p14:xfrm>
          </p:contentPart>
        </mc:Choice>
        <mc:Fallback xmlns="">
          <p:pic>
            <p:nvPicPr>
              <p:cNvPr id="3" name="墨迹 2"/>
            </p:nvPicPr>
            <p:blipFill>
              <a:blip r:embed="rId5"/>
            </p:blipFill>
            <p:spPr>
              <a:xfrm>
                <a:off x="6903720" y="4394835"/>
                <a:ext cx="4400550" cy="118745"/>
              </a:xfrm>
              <a:prstGeom prst="rect"/>
            </p:spPr>
          </p:pic>
        </mc:Fallback>
      </mc:AlternateContent>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346835" y="2131695"/>
            <a:ext cx="10271125" cy="1238885"/>
          </a:xfrm>
          <a:prstGeom prst="rect">
            <a:avLst/>
          </a:prstGeom>
          <a:noFill/>
        </p:spPr>
        <p:txBody>
          <a:bodyPr wrap="square" rtlCol="0" anchor="t">
            <a:noAutofit/>
          </a:bodyPr>
          <a:lstStyle/>
          <a:p>
            <a:r>
              <a:rPr lang="zh-CN" altLang="en-US" sz="2000">
                <a:latin typeface="+mn-ea"/>
                <a:ea typeface="+mn-ea"/>
                <a:cs typeface="+mn-ea"/>
                <a:sym typeface="+mn-ea"/>
              </a:rPr>
              <a:t>结合任务描述和知识链接中抽象类和抽象方法定义知识点可以得到文件</a:t>
            </a:r>
            <a:r>
              <a:rPr lang="en-US" altLang="zh-CN" sz="2000">
                <a:latin typeface="+mn-ea"/>
                <a:ea typeface="+mn-ea"/>
                <a:cs typeface="+mn-ea"/>
                <a:sym typeface="+mn-ea"/>
              </a:rPr>
              <a:t>7-9</a:t>
            </a:r>
            <a:r>
              <a:rPr lang="zh-CN" altLang="en-US" sz="2000">
                <a:latin typeface="+mn-ea"/>
                <a:ea typeface="+mn-ea"/>
                <a:cs typeface="+mn-ea"/>
                <a:sym typeface="+mn-ea"/>
              </a:rPr>
              <a:t>所示的代码：</a:t>
            </a:r>
            <a:endParaRPr lang="zh-CN" altLang="en-US"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3291205" y="2526030"/>
            <a:ext cx="5671820" cy="398780"/>
          </a:xfrm>
          <a:prstGeom prst="rect">
            <a:avLst/>
          </a:prstGeom>
          <a:noFill/>
        </p:spPr>
        <p:txBody>
          <a:bodyPr wrap="square" rtlCol="0" anchor="t">
            <a:spAutoFit/>
          </a:bodyPr>
          <a:p>
            <a:pPr algn="ctr"/>
            <a:r>
              <a:rPr lang="zh-CN" altLang="en-US" sz="2000">
                <a:latin typeface="+mn-ea"/>
                <a:ea typeface="+mn-ea"/>
                <a:cs typeface="+mn-ea"/>
                <a:sym typeface="+mn-ea"/>
              </a:rPr>
              <a:t>文件</a:t>
            </a:r>
            <a:r>
              <a:rPr lang="en-US" altLang="zh-CN" sz="2000">
                <a:latin typeface="+mn-ea"/>
                <a:ea typeface="+mn-ea"/>
                <a:cs typeface="+mn-ea"/>
                <a:sym typeface="+mn-ea"/>
              </a:rPr>
              <a:t>7-9 Example09</a:t>
            </a:r>
            <a:endParaRPr lang="en-US" altLang="zh-CN" sz="2000">
              <a:latin typeface="+mn-ea"/>
              <a:ea typeface="+mn-ea"/>
              <a:cs typeface="+mn-ea"/>
              <a:sym typeface="+mn-ea"/>
            </a:endParaRPr>
          </a:p>
        </p:txBody>
      </p:sp>
      <p:sp>
        <p:nvSpPr>
          <p:cNvPr id="6" name="文本框 5"/>
          <p:cNvSpPr txBox="1"/>
          <p:nvPr/>
        </p:nvSpPr>
        <p:spPr>
          <a:xfrm>
            <a:off x="842645" y="2853055"/>
            <a:ext cx="5539105"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a:sym typeface="+mn-ea"/>
              </a:rPr>
              <a:t>//</a:t>
            </a:r>
            <a:r>
              <a:rPr lang="zh-CN" altLang="en-US" sz="2000">
                <a:latin typeface="Times New Roman" panose="02020603050405020304"/>
                <a:sym typeface="+mn-ea"/>
              </a:rPr>
              <a:t>定义抽象类</a:t>
            </a:r>
            <a:endParaRPr lang="zh-CN" altLang="en-US"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1public abstract class Pet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2	String name;</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a:t>
            </a:r>
            <a:r>
              <a:rPr lang="zh-CN" altLang="en-US" sz="2000">
                <a:latin typeface="Times New Roman" panose="02020603050405020304"/>
                <a:sym typeface="+mn-ea"/>
              </a:rPr>
              <a:t>定义抽象方法</a:t>
            </a:r>
            <a:r>
              <a:rPr lang="en-US" altLang="zh-CN" sz="2000">
                <a:latin typeface="Times New Roman" panose="02020603050405020304"/>
                <a:sym typeface="+mn-ea"/>
              </a:rPr>
              <a:t>shout()</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3	abstract void shout();</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4}</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5public class Cat extends Pet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a:t>
            </a:r>
            <a:r>
              <a:rPr lang="zh-CN" altLang="en-US" sz="2000">
                <a:latin typeface="Times New Roman" panose="02020603050405020304"/>
                <a:sym typeface="+mn-ea"/>
              </a:rPr>
              <a:t>实现抽象方法</a:t>
            </a:r>
            <a:r>
              <a:rPr lang="en-US" altLang="zh-CN" sz="2000">
                <a:latin typeface="Times New Roman" panose="02020603050405020304"/>
                <a:sym typeface="+mn-ea"/>
              </a:rPr>
              <a:t>shout()</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6	public void shout()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7        System.out.println("</a:t>
            </a:r>
            <a:r>
              <a:rPr lang="zh-CN" altLang="en-US" sz="2000">
                <a:latin typeface="Times New Roman" panose="02020603050405020304"/>
                <a:sym typeface="+mn-ea"/>
              </a:rPr>
              <a:t>喵喵</a:t>
            </a:r>
            <a:r>
              <a:rPr lang="en-US" altLang="zh-CN" sz="2000">
                <a:latin typeface="Times New Roman" panose="02020603050405020304"/>
                <a:sym typeface="+mn-ea"/>
              </a:rPr>
              <a:t>……");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8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9	}</a:t>
            </a:r>
            <a:endParaRPr lang="en-US" altLang="zh-CN" sz="2000">
              <a:latin typeface="Times New Roman" panose="02020603050405020304"/>
            </a:endParaRPr>
          </a:p>
        </p:txBody>
      </p:sp>
      <p:sp>
        <p:nvSpPr>
          <p:cNvPr id="7" name="文本框 6"/>
          <p:cNvSpPr txBox="1"/>
          <p:nvPr/>
        </p:nvSpPr>
        <p:spPr>
          <a:xfrm>
            <a:off x="5667375" y="2997200"/>
            <a:ext cx="5481955" cy="1938020"/>
          </a:xfrm>
          <a:prstGeom prst="rect">
            <a:avLst/>
          </a:prstGeom>
          <a:noFill/>
        </p:spPr>
        <p:txBody>
          <a:bodyPr wrap="square" rtlCol="0" anchor="t">
            <a:spAutoFit/>
          </a:bodyPr>
          <a:p>
            <a:pPr marL="0" indent="266700" algn="just" defTabSz="266700" latinLnBrk="0">
              <a:lnSpc>
                <a:spcPct val="100000"/>
              </a:lnSpc>
              <a:spcBef>
                <a:spcPct val="0"/>
              </a:spcBef>
              <a:spcAft>
                <a:spcPct val="0"/>
              </a:spcAft>
            </a:pPr>
            <a:r>
              <a:rPr lang="en-US" altLang="zh-CN" sz="2000">
                <a:latin typeface="Times New Roman" panose="02020603050405020304"/>
                <a:sym typeface="+mn-ea"/>
              </a:rPr>
              <a:t>10public class Example09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11	public static void main(String[] args)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12		Cat cat = new Cat();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13		cat.shout();</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14	}</a:t>
            </a:r>
            <a:endParaRPr lang="en-US" altLang="zh-CN" sz="20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2000">
                <a:latin typeface="Times New Roman" panose="02020603050405020304"/>
                <a:sym typeface="+mn-ea"/>
              </a:rPr>
              <a:t>15}</a:t>
            </a:r>
            <a:endParaRPr lang="en-US" altLang="zh-CN" sz="2000">
              <a:latin typeface="Times New Roman" panose="02020603050405020304"/>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9225" y="2132648"/>
            <a:ext cx="5080000" cy="553085"/>
          </a:xfrm>
          <a:prstGeom prst="rect">
            <a:avLst/>
          </a:prstGeom>
        </p:spPr>
        <p:txBody>
          <a:bodyPr>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文件</a:t>
            </a:r>
            <a:r>
              <a:rPr lang="en-US" altLang="zh-CN" sz="2000">
                <a:latin typeface="宋体" panose="02010600030101010101" pitchFamily="2" charset="-122"/>
                <a:ea typeface="宋体" panose="02010600030101010101" pitchFamily="2" charset="-122"/>
              </a:rPr>
              <a:t>7-9</a:t>
            </a:r>
            <a:r>
              <a:rPr lang="zh-CN" altLang="en-US" sz="2000">
                <a:latin typeface="宋体" panose="02010600030101010101" pitchFamily="2" charset="-122"/>
                <a:ea typeface="宋体" panose="02010600030101010101" pitchFamily="2" charset="-122"/>
              </a:rPr>
              <a:t>的运行结果如图</a:t>
            </a:r>
            <a:r>
              <a:rPr lang="en-US" altLang="zh-CN" sz="2000">
                <a:latin typeface="宋体" panose="02010600030101010101" pitchFamily="2" charset="-122"/>
                <a:ea typeface="宋体" panose="02010600030101010101" pitchFamily="2" charset="-122"/>
              </a:rPr>
              <a:t>7-11</a:t>
            </a:r>
            <a:r>
              <a:rPr lang="zh-CN" altLang="en-US" sz="2000">
                <a:latin typeface="宋体" panose="02010600030101010101" pitchFamily="2" charset="-122"/>
                <a:ea typeface="宋体" panose="02010600030101010101" pitchFamily="2" charset="-122"/>
              </a:rPr>
              <a:t>所示：</a:t>
            </a:r>
            <a:endParaRPr lang="zh-CN" altLang="en-US" sz="2000">
              <a:latin typeface="宋体" panose="02010600030101010101" pitchFamily="2" charset="-122"/>
              <a:ea typeface="宋体" panose="02010600030101010101" pitchFamily="2" charset="-122"/>
            </a:endParaRPr>
          </a:p>
        </p:txBody>
      </p:sp>
      <p:sp>
        <p:nvSpPr>
          <p:cNvPr id="9" name="文本框 8"/>
          <p:cNvSpPr txBox="1"/>
          <p:nvPr/>
        </p:nvSpPr>
        <p:spPr>
          <a:xfrm>
            <a:off x="3291205" y="3724275"/>
            <a:ext cx="3255645" cy="368300"/>
          </a:xfrm>
          <a:prstGeom prst="rect">
            <a:avLst/>
          </a:prstGeom>
        </p:spPr>
        <p:txBody>
          <a:bodyPr wrap="square">
            <a:spAutoFit/>
          </a:bodyPr>
          <a:p>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7-11</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7-9</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sp>
        <p:nvSpPr>
          <p:cNvPr id="10" name="文本框 9"/>
          <p:cNvSpPr txBox="1"/>
          <p:nvPr/>
        </p:nvSpPr>
        <p:spPr>
          <a:xfrm>
            <a:off x="1094105" y="4077335"/>
            <a:ext cx="9149080" cy="2168525"/>
          </a:xfrm>
          <a:prstGeom prst="rect">
            <a:avLst/>
          </a:prstGeom>
          <a:noFill/>
        </p:spPr>
        <p:txBody>
          <a:bodyPr wrap="square" rtlCol="0" anchor="t">
            <a:spAutoFit/>
          </a:bodyPr>
          <a:p>
            <a:pPr marL="0" indent="0" latinLnBrk="0">
              <a:lnSpc>
                <a:spcPct val="150000"/>
              </a:lnSpc>
            </a:pPr>
            <a:r>
              <a:rPr lang="en-US" altLang="zh-CN"/>
              <a:t>      </a:t>
            </a:r>
            <a:r>
              <a:rPr lang="zh-CN" altLang="en-US"/>
              <a:t>从上图可以看出，控制台打印了</a:t>
            </a:r>
            <a:r>
              <a:rPr lang="en-US" altLang="zh-CN"/>
              <a:t>“</a:t>
            </a:r>
            <a:r>
              <a:rPr lang="zh-CN" altLang="en-US"/>
              <a:t>喵喵</a:t>
            </a:r>
            <a:r>
              <a:rPr lang="en-US" altLang="zh-CN"/>
              <a:t>...”</a:t>
            </a:r>
            <a:r>
              <a:rPr lang="zh-CN" altLang="en-US"/>
              <a:t>，说明</a:t>
            </a:r>
            <a:r>
              <a:rPr lang="en-US" altLang="zh-CN"/>
              <a:t>cat</a:t>
            </a:r>
            <a:r>
              <a:rPr lang="zh-CN" altLang="en-US"/>
              <a:t>对象调用了</a:t>
            </a:r>
            <a:r>
              <a:rPr lang="en-US" altLang="zh-CN"/>
              <a:t>Cat</a:t>
            </a:r>
            <a:r>
              <a:rPr lang="zh-CN" altLang="en-US"/>
              <a:t>类中实现的父类</a:t>
            </a:r>
            <a:r>
              <a:rPr lang="en-US" altLang="zh-CN"/>
              <a:t>Pet</a:t>
            </a:r>
            <a:r>
              <a:rPr lang="zh-CN" altLang="en-US"/>
              <a:t>的抽象方法</a:t>
            </a:r>
            <a:r>
              <a:rPr lang="en-US" altLang="zh-CN"/>
              <a:t>shout()</a:t>
            </a:r>
            <a:r>
              <a:rPr lang="zh-CN" altLang="en-US"/>
              <a:t>。</a:t>
            </a:r>
            <a:endParaRPr lang="zh-CN" altLang="en-US"/>
          </a:p>
          <a:p>
            <a:pPr marL="0" indent="0" latinLnBrk="0">
              <a:lnSpc>
                <a:spcPct val="150000"/>
              </a:lnSpc>
            </a:pPr>
            <a:r>
              <a:rPr lang="zh-CN" altLang="en-US"/>
              <a:t>注意：使用</a:t>
            </a:r>
            <a:r>
              <a:rPr lang="en-US" altLang="zh-CN"/>
              <a:t>abstract</a:t>
            </a:r>
            <a:r>
              <a:rPr lang="zh-CN" altLang="en-US"/>
              <a:t>关键字修饰的抽象方法不能使用</a:t>
            </a:r>
            <a:r>
              <a:rPr lang="en-US" altLang="zh-CN"/>
              <a:t>private</a:t>
            </a:r>
            <a:r>
              <a:rPr lang="zh-CN" altLang="en-US"/>
              <a:t>关键字修饰，因为抽象方法必须要被子类实现，如果使用了</a:t>
            </a:r>
            <a:r>
              <a:rPr lang="en-US" altLang="zh-CN"/>
              <a:t>private</a:t>
            </a:r>
            <a:r>
              <a:rPr lang="zh-CN" altLang="en-US"/>
              <a:t>关键字修饰抽象方法，则子类无法实现该方法。</a:t>
            </a:r>
            <a:endParaRPr lang="zh-CN" altLang="en-US"/>
          </a:p>
          <a:p>
            <a:pPr marL="0" indent="0" latinLnBrk="0">
              <a:lnSpc>
                <a:spcPct val="150000"/>
              </a:lnSpc>
            </a:pPr>
            <a:endParaRPr lang="zh-CN" altLang="en-US"/>
          </a:p>
        </p:txBody>
      </p:sp>
      <p:pic>
        <p:nvPicPr>
          <p:cNvPr id="99" name="图片 4"/>
          <p:cNvPicPr>
            <a:picLocks noChangeAspect="1"/>
          </p:cNvPicPr>
          <p:nvPr/>
        </p:nvPicPr>
        <p:blipFill>
          <a:blip r:embed="rId3"/>
          <a:stretch>
            <a:fillRect/>
          </a:stretch>
        </p:blipFill>
        <p:spPr>
          <a:xfrm>
            <a:off x="2066925" y="2853055"/>
            <a:ext cx="5578475" cy="704215"/>
          </a:xfrm>
          <a:prstGeom prst="rect">
            <a:avLst/>
          </a:prstGeom>
          <a:noFill/>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KSO_WM_DIAGRAM_VIRTUALLY_FRAME" val="{&quot;height&quot;:185.62503937007872,&quot;left&quot;:0,&quot;top&quot;:174,&quot;width&quot;:960.6250393700788}"/>
</p:tagLst>
</file>

<file path=ppt/tags/tag27.xml><?xml version="1.0" encoding="utf-8"?>
<p:tagLst xmlns:p="http://schemas.openxmlformats.org/presentationml/2006/main">
  <p:tag name="KSO_WM_DIAGRAM_VIRTUALLY_FRAME" val="{&quot;height&quot;:185.62503937007872,&quot;left&quot;:0,&quot;top&quot;:174,&quot;width&quot;:960.6250393700788}"/>
</p:tagLst>
</file>

<file path=ppt/tags/tag28.xml><?xml version="1.0" encoding="utf-8"?>
<p:tagLst xmlns:p="http://schemas.openxmlformats.org/presentationml/2006/main">
  <p:tag name="KSO_WM_DIAGRAM_VIRTUALLY_FRAME" val="{&quot;height&quot;:185.62503937007872,&quot;left&quot;:0,&quot;top&quot;:174,&quot;width&quot;:960.6250393700788}"/>
</p:tagLst>
</file>

<file path=ppt/tags/tag29.xml><?xml version="1.0" encoding="utf-8"?>
<p:tagLst xmlns:p="http://schemas.openxmlformats.org/presentationml/2006/main">
  <p:tag name="KSO_WM_DIAGRAM_VIRTUALLY_FRAME" val="{&quot;height&quot;:185.62503937007872,&quot;left&quot;:0,&quot;top&quot;:174,&quot;width&quot;:960.6250393700788}"/>
</p:tagLst>
</file>

<file path=ppt/tags/tag30.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1943</Words>
  <Application>WPS 演示</Application>
  <PresentationFormat>自定义</PresentationFormat>
  <Paragraphs>193</Paragraphs>
  <Slides>14</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14</vt:i4>
      </vt:variant>
    </vt:vector>
  </HeadingPairs>
  <TitlesOfParts>
    <vt:vector size="29"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Times New Roman</vt:lpstr>
      <vt:lpstr>Arial Unicode MS</vt:lpstr>
      <vt:lpstr>等线</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548</cp:revision>
  <dcterms:created xsi:type="dcterms:W3CDTF">2015-03-26T06:11:00Z</dcterms:created>
  <dcterms:modified xsi:type="dcterms:W3CDTF">2025-07-07T01:42:09Z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86CC1584DA0B45248AA811B6E8624362_13</vt:lpwstr>
  </property>
</Properties>
</file>