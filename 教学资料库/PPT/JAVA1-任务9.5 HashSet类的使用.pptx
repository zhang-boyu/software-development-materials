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72" r:id="rId10"/>
    <p:sldId id="480" r:id="rId11"/>
    <p:sldId id="407" r:id="rId12"/>
    <p:sldId id="456" r:id="rId13"/>
    <p:sldId id="481" r:id="rId14"/>
    <p:sldId id="458" r:id="rId15"/>
    <p:sldId id="475" r:id="rId16"/>
    <p:sldId id="482" r:id="rId17"/>
    <p:sldId id="483" r:id="rId18"/>
    <p:sldId id="484" r:id="rId19"/>
    <p:sldId id="477" r:id="rId20"/>
    <p:sldId id="485" r:id="rId21"/>
    <p:sldId id="486" r:id="rId22"/>
    <p:sldId id="487" r:id="rId23"/>
    <p:sldId id="347" r:id="rId24"/>
  </p:sldIdLst>
  <p:sldSz cx="12198350" cy="6858000"/>
  <p:notesSz cx="6858000" cy="9144000"/>
  <p:custDataLst>
    <p:tags r:id="rId2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44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集合，向该集合中添加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个字符串元素，其中有两个字符串重复，使用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Iterator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接口遍历集合中的字符串。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集合，向该集合中存储自定义类对象。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605588" y="411130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602413" y="465232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存储元素的流程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3" grpId="0" bldLvl="0" autoUpdateAnimBg="0"/>
      <p:bldP spid="3" grpId="1"/>
      <p:bldP spid="5" grpId="0" bldLvl="0" autoUpdateAnimBg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8446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接口也继承自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接口，它与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接口中的方法基本一致，并没有对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接口进行功能上的扩充。与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接口不同的是，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接口中元素是无序的，并且都会以某种规则保证存入的元素不出现重复。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接口常见的实现类有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个，分别是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LinkedHashSet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。其中，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根据对象的哈希值来确定元素在集合中的存储位置，具有良好的存取和查找性能；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LinkedHashSet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是链表和哈希表组合的一个数据存储结构；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则是以二叉树的方式存储元素，它可以对集合中的元素进行排序。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41681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接口的一个实现类，它所存储的元素是不可重复的。当向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集合中添加一个元素时，首先会调用该元素的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hashCode(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方法来确定元素的存储位置，然后再调用元素对象的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equals(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方法来确保该位置没有重复元素。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List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集合存取元素的方式都一样，但是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集合中的元素是无序的。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0247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存储元素的流程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add(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方法存入元素时，首先调用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HashSet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集合的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hashCode(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方法获得元素对象的哈希值，然后根据对象的哈希值计算出一个存储位置。如果该位置上没有元素，则直接将元素存入。如果该位置上有元素存在，则会调用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equals( 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方法让当前存入的元素和该位置上的元素进行比较，如果返回的结果为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false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，就将该元素存入集合，返回的结果为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true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，则说明有重复元素，就将需要存入的重复元素舍弃。具体流程如图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9-12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所示。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0247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存储元素的流程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53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18815" y="2060575"/>
            <a:ext cx="5183505" cy="38754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154805" y="6028055"/>
            <a:ext cx="3571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图</a:t>
            </a:r>
            <a:r>
              <a:rPr lang="en-US" altLang="zh-CN"/>
              <a:t>9-12 HashSet</a:t>
            </a:r>
            <a:r>
              <a:rPr lang="zh-CN" altLang="en-US"/>
              <a:t>存储元素的流程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HashSet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集合，向该集合中添加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个字符串元素，其中有两个字符串重复，使用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Iterator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接口遍历集合中的字符串。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HashSet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集合，向该集合中存储自定义类对象。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HashSet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9-7  Example06.java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1import java.util.*;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2public class Example07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public static void 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 HashSet hset = new HashSet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HashSet</a:t>
            </a:r>
            <a:r>
              <a:rPr lang="zh-CN" altLang="en-US" sz="2400">
                <a:latin typeface="Times New Roman" panose="02020603050405020304"/>
              </a:rPr>
              <a:t>集合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 hset.add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张华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向该</a:t>
            </a:r>
            <a:r>
              <a:rPr lang="en-US" altLang="zh-CN" sz="2400">
                <a:latin typeface="Times New Roman" panose="02020603050405020304"/>
              </a:rPr>
              <a:t>Set</a:t>
            </a:r>
            <a:r>
              <a:rPr lang="zh-CN" altLang="en-US" sz="2400">
                <a:latin typeface="Times New Roman" panose="02020603050405020304"/>
              </a:rPr>
              <a:t>集合中添加字符串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 hset.add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李雷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 hset.add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王治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  hset.add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李雷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向该</a:t>
            </a:r>
            <a:r>
              <a:rPr lang="en-US" altLang="zh-CN" sz="2400">
                <a:latin typeface="Times New Roman" panose="02020603050405020304"/>
              </a:rPr>
              <a:t>Set</a:t>
            </a:r>
            <a:r>
              <a:rPr lang="zh-CN" altLang="en-US" sz="2400">
                <a:latin typeface="Times New Roman" panose="02020603050405020304"/>
              </a:rPr>
              <a:t>集合中添加重复元素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    Iterator it = hset.iterator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获取</a:t>
            </a:r>
            <a:r>
              <a:rPr lang="en-US" altLang="zh-CN" sz="2400">
                <a:latin typeface="Times New Roman" panose="02020603050405020304"/>
              </a:rPr>
              <a:t>Iterator</a:t>
            </a:r>
            <a:r>
              <a:rPr lang="zh-CN" altLang="en-US" sz="2400">
                <a:latin typeface="Times New Roman" panose="02020603050405020304"/>
              </a:rPr>
              <a:t>对象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HashSet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9-7  Example06.java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4535" y="32131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10   while 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it.hasNext</a:t>
            </a:r>
            <a:r>
              <a:rPr lang="zh-CN" altLang="en-US" sz="24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400">
                <a:latin typeface="Times New Roman" panose="02020603050405020304"/>
                <a:sym typeface="+mn-ea"/>
              </a:rPr>
              <a:t> { // </a:t>
            </a:r>
            <a:r>
              <a:rPr lang="zh-CN" altLang="en-US" sz="2400">
                <a:latin typeface="Times New Roman" panose="02020603050405020304"/>
                <a:sym typeface="+mn-ea"/>
              </a:rPr>
              <a:t>通过</a:t>
            </a:r>
            <a:r>
              <a:rPr lang="en-US" altLang="zh-CN" sz="2400">
                <a:latin typeface="Times New Roman" panose="02020603050405020304"/>
                <a:sym typeface="+mn-ea"/>
              </a:rPr>
              <a:t>while</a:t>
            </a:r>
            <a:r>
              <a:rPr lang="zh-CN" altLang="en-US" sz="2400">
                <a:latin typeface="Times New Roman" panose="02020603050405020304"/>
                <a:sym typeface="+mn-ea"/>
              </a:rPr>
              <a:t>循环，判断集合中是否有元素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   Object obj = it.next</a:t>
            </a:r>
            <a:r>
              <a:rPr lang="zh-CN" altLang="en-US" sz="2400">
                <a:latin typeface="Times New Roman" panose="02020603050405020304"/>
                <a:sym typeface="+mn-ea"/>
              </a:rPr>
              <a:t>（）</a:t>
            </a:r>
            <a:r>
              <a:rPr lang="en-US" altLang="zh-CN" sz="2400">
                <a:latin typeface="Times New Roman" panose="02020603050405020304"/>
                <a:sym typeface="+mn-ea"/>
              </a:rPr>
              <a:t>;// </a:t>
            </a:r>
            <a:r>
              <a:rPr lang="zh-CN" altLang="en-US" sz="2400">
                <a:latin typeface="Times New Roman" panose="02020603050405020304"/>
                <a:sym typeface="+mn-ea"/>
              </a:rPr>
              <a:t>如果有元素，就调用迭代器的</a:t>
            </a:r>
            <a:r>
              <a:rPr lang="en-US" altLang="zh-CN" sz="2400">
                <a:latin typeface="Times New Roman" panose="02020603050405020304"/>
                <a:sym typeface="+mn-ea"/>
              </a:rPr>
              <a:t>next( )</a:t>
            </a:r>
            <a:r>
              <a:rPr lang="zh-CN" altLang="en-US" sz="2400">
                <a:latin typeface="Times New Roman" panose="02020603050405020304"/>
                <a:sym typeface="+mn-ea"/>
              </a:rPr>
              <a:t>方法获取元素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12   System.out.println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obj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13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14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15 }</a:t>
            </a: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的运行结果如图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9-13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2915" y="4580890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9-13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950" y="2564765"/>
            <a:ext cx="3024505" cy="1767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HashSet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  Example08.java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520" y="2637155"/>
            <a:ext cx="1170813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 class Student {		    		 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   String  id;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  String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public Student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 id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String name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  this.id=id;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  this.name=name;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 public String toString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 {// </a:t>
            </a:r>
            <a:r>
              <a:rPr lang="zh-CN" altLang="en-US" sz="2400">
                <a:latin typeface="Times New Roman" panose="02020603050405020304"/>
              </a:rPr>
              <a:t>重写</a:t>
            </a:r>
            <a:r>
              <a:rPr lang="en-US" altLang="zh-CN" sz="2400">
                <a:latin typeface="Times New Roman" panose="02020603050405020304"/>
              </a:rPr>
              <a:t>toString( )</a:t>
            </a:r>
            <a:r>
              <a:rPr lang="zh-CN" altLang="en-US" sz="2400">
                <a:latin typeface="Times New Roman" panose="02020603050405020304"/>
              </a:rPr>
              <a:t>方法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	    return id+":"+name;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10      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HashSet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  Example08.java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355" y="2852420"/>
            <a:ext cx="1170813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12import java.util.*;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13   public class Example08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14     public static void 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15	   HashSet hs = new HashSet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                  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HashSet</a:t>
            </a:r>
            <a:r>
              <a:rPr lang="zh-CN" altLang="en-US" sz="2400">
                <a:latin typeface="Times New Roman" panose="02020603050405020304"/>
              </a:rPr>
              <a:t>集合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16     Student stu1 = new Student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"1"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 "</a:t>
            </a:r>
            <a:r>
              <a:rPr lang="zh-CN" altLang="en-US" sz="2400">
                <a:latin typeface="Times New Roman" panose="02020603050405020304"/>
              </a:rPr>
              <a:t>张华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Student</a:t>
            </a:r>
            <a:r>
              <a:rPr lang="zh-CN" altLang="en-US" sz="2400">
                <a:latin typeface="Times New Roman" panose="02020603050405020304"/>
              </a:rPr>
              <a:t>对象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17     Student stu2 = new Student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"2"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 "</a:t>
            </a:r>
            <a:r>
              <a:rPr lang="zh-CN" altLang="en-US" sz="2400">
                <a:latin typeface="Times New Roman" panose="02020603050405020304"/>
              </a:rPr>
              <a:t>李磊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18	Student stu3 = new Student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"2"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 "</a:t>
            </a:r>
            <a:r>
              <a:rPr lang="zh-CN" altLang="en-US" sz="2400">
                <a:latin typeface="Times New Roman" panose="02020603050405020304"/>
              </a:rPr>
              <a:t>李磊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HashSet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  Example08.java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355" y="2852420"/>
            <a:ext cx="1170813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19	   hs.add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stu1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20	   hs.add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stu2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21    hs.add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stu3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22	  System.out.println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hs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23      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24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的运行结果如图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8815" y="4076700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9-14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9-8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5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060" y="2857500"/>
            <a:ext cx="6315075" cy="812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1346835" y="4580890"/>
            <a:ext cx="9631045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由上图可知，运行结果中出现了两个相同的学生信息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2: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李磊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，这样的学生信息应该被视为重复元素，不允许同时出现在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HashSet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集合中。上面文件之所以没有去掉这样的重复元素，是因为在定义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类时没有重写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hashCode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equals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( )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方法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。改写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类，在类中重写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hashCode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equals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方法。代码如文件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9-9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78635" y="2348865"/>
            <a:ext cx="6523355" cy="421513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1class Student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{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   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   String  id;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3   String name;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4   public Student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String 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String name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{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5     this.id=id;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6     this.name=name;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8   public int hashCode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{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//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重写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hashCode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9     return id.hashCode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; //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属性的哈希值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10  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11   public boolean equals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Object obj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{ 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重写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equals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方法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12     if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this == obj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{ 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判断是否是同一个对象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13       return true; 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如果是，直接返回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true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14    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58770" y="19170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sym typeface="+mn-ea"/>
              </a:rPr>
              <a:t>文件</a:t>
            </a:r>
            <a:r>
              <a:rPr lang="en-US" altLang="zh-CN" sz="1600">
                <a:latin typeface="Times New Roman" panose="02020603050405020304"/>
                <a:sym typeface="+mn-ea"/>
              </a:rPr>
              <a:t>9-9  Example08.java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78635" y="2348865"/>
            <a:ext cx="6523355" cy="421513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     if 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!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obj instanceof Student</a:t>
            </a:r>
            <a:r>
              <a:rPr lang="zh-CN" altLang="en-US" sz="1600">
                <a:latin typeface="Times New Roman" panose="02020603050405020304"/>
                <a:sym typeface="+mn-ea"/>
              </a:rPr>
              <a:t>））</a:t>
            </a:r>
            <a:r>
              <a:rPr lang="en-US" altLang="zh-CN" sz="1600">
                <a:latin typeface="Times New Roman" panose="02020603050405020304"/>
                <a:sym typeface="+mn-ea"/>
              </a:rPr>
              <a:t> { // </a:t>
            </a:r>
            <a:r>
              <a:rPr lang="zh-CN" altLang="en-US" sz="1600">
                <a:latin typeface="Times New Roman" panose="02020603050405020304"/>
                <a:sym typeface="+mn-ea"/>
              </a:rPr>
              <a:t>判断对象是为</a:t>
            </a:r>
            <a:r>
              <a:rPr lang="en-US" altLang="zh-CN" sz="1600">
                <a:latin typeface="Times New Roman" panose="02020603050405020304"/>
                <a:sym typeface="+mn-ea"/>
              </a:rPr>
              <a:t>Student</a:t>
            </a:r>
            <a:r>
              <a:rPr lang="zh-CN" altLang="en-US" sz="1600">
                <a:latin typeface="Times New Roman" panose="02020603050405020304"/>
                <a:sym typeface="+mn-ea"/>
              </a:rPr>
              <a:t>类型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         return false; 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17     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18     Student stu =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obj; 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将对象强转为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类型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19     boolean b = this.id.equals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stu.id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; 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判断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值是否相同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20     return b; 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返回判断结果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21   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22    public String toString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{//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重写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toString( )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方法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23     return id+":"+name;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24     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25 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26  import java.util.*;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27   public class Example07 {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58770" y="19170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sym typeface="+mn-ea"/>
              </a:rPr>
              <a:t>文件</a:t>
            </a:r>
            <a:r>
              <a:rPr lang="en-US" altLang="zh-CN" sz="1600">
                <a:latin typeface="Times New Roman" panose="02020603050405020304"/>
                <a:sym typeface="+mn-ea"/>
              </a:rPr>
              <a:t>9-9  Example08.java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78635" y="2348865"/>
            <a:ext cx="6523355" cy="421513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28   public static void main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String[] args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 {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29	   HashSet hs = new HashSet</a:t>
            </a:r>
            <a:r>
              <a:rPr lang="zh-CN" altLang="en-US" sz="1600">
                <a:latin typeface="Times New Roman" panose="02020603050405020304"/>
                <a:sym typeface="+mn-ea"/>
              </a:rPr>
              <a:t>（）</a:t>
            </a:r>
            <a:r>
              <a:rPr lang="en-US" altLang="zh-CN" sz="1600">
                <a:latin typeface="Times New Roman" panose="02020603050405020304"/>
                <a:sym typeface="+mn-ea"/>
              </a:rPr>
              <a:t>;                    // 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</a:t>
            </a:r>
            <a:r>
              <a:rPr lang="en-US" altLang="zh-CN" sz="1600">
                <a:latin typeface="Times New Roman" panose="02020603050405020304"/>
                <a:sym typeface="+mn-ea"/>
              </a:rPr>
              <a:t>HashSet</a:t>
            </a:r>
            <a:r>
              <a:rPr lang="zh-CN" altLang="en-US" sz="1600">
                <a:latin typeface="Times New Roman" panose="02020603050405020304"/>
                <a:sym typeface="+mn-ea"/>
              </a:rPr>
              <a:t>集合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30	   Student stu1 = new Student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"1"</a:t>
            </a:r>
            <a:r>
              <a:rPr lang="zh-CN" altLang="en-US" sz="1600">
                <a:latin typeface="Times New Roman" panose="02020603050405020304"/>
                <a:sym typeface="+mn-ea"/>
              </a:rPr>
              <a:t>，</a:t>
            </a:r>
            <a:r>
              <a:rPr lang="en-US" altLang="zh-CN" sz="1600">
                <a:latin typeface="Times New Roman" panose="02020603050405020304"/>
                <a:sym typeface="+mn-ea"/>
              </a:rPr>
              <a:t> "</a:t>
            </a:r>
            <a:r>
              <a:rPr lang="zh-CN" altLang="en-US" sz="1600">
                <a:latin typeface="Times New Roman" panose="02020603050405020304"/>
                <a:sym typeface="+mn-ea"/>
              </a:rPr>
              <a:t>张华</a:t>
            </a:r>
            <a:r>
              <a:rPr lang="en-US" altLang="zh-CN" sz="1600">
                <a:latin typeface="Times New Roman" panose="02020603050405020304"/>
                <a:sym typeface="+mn-ea"/>
              </a:rPr>
              <a:t>"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  // 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</a:t>
            </a:r>
            <a:r>
              <a:rPr lang="en-US" altLang="zh-CN" sz="1600">
                <a:latin typeface="Times New Roman" panose="02020603050405020304"/>
                <a:sym typeface="+mn-ea"/>
              </a:rPr>
              <a:t>Student</a:t>
            </a:r>
            <a:r>
              <a:rPr lang="zh-CN" altLang="en-US" sz="1600">
                <a:latin typeface="Times New Roman" panose="02020603050405020304"/>
                <a:sym typeface="+mn-ea"/>
              </a:rPr>
              <a:t>对象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31     Student stu2 = new Student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"2"</a:t>
            </a:r>
            <a:r>
              <a:rPr lang="zh-CN" altLang="en-US" sz="1600">
                <a:latin typeface="Times New Roman" panose="02020603050405020304"/>
                <a:sym typeface="+mn-ea"/>
              </a:rPr>
              <a:t>，</a:t>
            </a:r>
            <a:r>
              <a:rPr lang="en-US" altLang="zh-CN" sz="1600">
                <a:latin typeface="Times New Roman" panose="02020603050405020304"/>
                <a:sym typeface="+mn-ea"/>
              </a:rPr>
              <a:t> "</a:t>
            </a:r>
            <a:r>
              <a:rPr lang="zh-CN" altLang="en-US" sz="1600">
                <a:latin typeface="Times New Roman" panose="02020603050405020304"/>
                <a:sym typeface="+mn-ea"/>
              </a:rPr>
              <a:t>李磊</a:t>
            </a:r>
            <a:r>
              <a:rPr lang="en-US" altLang="zh-CN" sz="1600">
                <a:latin typeface="Times New Roman" panose="02020603050405020304"/>
                <a:sym typeface="+mn-ea"/>
              </a:rPr>
              <a:t>"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32     Student stu3 = new Student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"2"</a:t>
            </a:r>
            <a:r>
              <a:rPr lang="zh-CN" altLang="en-US" sz="1600">
                <a:latin typeface="Times New Roman" panose="02020603050405020304"/>
                <a:sym typeface="+mn-ea"/>
              </a:rPr>
              <a:t>，</a:t>
            </a:r>
            <a:r>
              <a:rPr lang="en-US" altLang="zh-CN" sz="1600">
                <a:latin typeface="Times New Roman" panose="02020603050405020304"/>
                <a:sym typeface="+mn-ea"/>
              </a:rPr>
              <a:t> "</a:t>
            </a:r>
            <a:r>
              <a:rPr lang="zh-CN" altLang="en-US" sz="1600">
                <a:latin typeface="Times New Roman" panose="02020603050405020304"/>
                <a:sym typeface="+mn-ea"/>
              </a:rPr>
              <a:t>李磊</a:t>
            </a:r>
            <a:r>
              <a:rPr lang="en-US" altLang="zh-CN" sz="1600">
                <a:latin typeface="Times New Roman" panose="02020603050405020304"/>
                <a:sym typeface="+mn-ea"/>
              </a:rPr>
              <a:t>"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33     hs.add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stu1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34     hs.add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stu2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35     hs.add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stu3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36     System.out.println</a:t>
            </a:r>
            <a:r>
              <a:rPr lang="zh-CN" altLang="en-US" sz="1600">
                <a:latin typeface="Times New Roman" panose="02020603050405020304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sym typeface="+mn-ea"/>
              </a:rPr>
              <a:t>hs</a:t>
            </a:r>
            <a:r>
              <a:rPr lang="zh-CN" altLang="en-US" sz="1600">
                <a:latin typeface="Times New Roman" panose="02020603050405020304"/>
                <a:sym typeface="+mn-ea"/>
              </a:rPr>
              <a:t>）</a:t>
            </a:r>
            <a:r>
              <a:rPr lang="en-US" altLang="zh-CN" sz="1600">
                <a:latin typeface="Times New Roman" panose="02020603050405020304"/>
                <a:sym typeface="+mn-ea"/>
              </a:rPr>
              <a:t>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37 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38 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58770" y="19170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sym typeface="+mn-ea"/>
              </a:rPr>
              <a:t>文件</a:t>
            </a:r>
            <a:r>
              <a:rPr lang="en-US" altLang="zh-CN" sz="1600">
                <a:latin typeface="Times New Roman" panose="02020603050405020304"/>
                <a:sym typeface="+mn-ea"/>
              </a:rPr>
              <a:t>9-9  Example08.java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4490" y="2171700"/>
            <a:ext cx="6755130" cy="4756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再次运行文件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，得到如图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5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170555" y="2953385"/>
            <a:ext cx="5216525" cy="8978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714625" y="4364989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9-15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4154</Words>
  <Application>WPS 演示</Application>
  <PresentationFormat>自定义</PresentationFormat>
  <Paragraphs>310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542</cp:revision>
  <dcterms:created xsi:type="dcterms:W3CDTF">2015-03-26T06:11:00Z</dcterms:created>
  <dcterms:modified xsi:type="dcterms:W3CDTF">2025-07-12T01:31:57Z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93C88D1FBB3A495F86B525621266FD27_13</vt:lpwstr>
  </property>
</Properties>
</file>