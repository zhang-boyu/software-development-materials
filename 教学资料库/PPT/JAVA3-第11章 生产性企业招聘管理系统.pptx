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0" r:id="rId3"/>
  </p:sldMasterIdLst>
  <p:notesMasterIdLst>
    <p:notesMasterId r:id="rId5"/>
  </p:notesMasterIdLst>
  <p:sldIdLst>
    <p:sldId id="2798" r:id="rId4"/>
    <p:sldId id="2805" r:id="rId6"/>
    <p:sldId id="2806" r:id="rId7"/>
    <p:sldId id="2784" r:id="rId8"/>
    <p:sldId id="2785" r:id="rId9"/>
    <p:sldId id="2787" r:id="rId10"/>
    <p:sldId id="2786" r:id="rId11"/>
    <p:sldId id="2788" r:id="rId12"/>
    <p:sldId id="2789" r:id="rId13"/>
    <p:sldId id="2790" r:id="rId14"/>
    <p:sldId id="2801" r:id="rId15"/>
    <p:sldId id="2802" r:id="rId16"/>
    <p:sldId id="2803" r:id="rId17"/>
    <p:sldId id="2804" r:id="rId18"/>
    <p:sldId id="2800" r:id="rId19"/>
  </p:sldIdLst>
  <p:sldSz cx="12858750" cy="7232650"/>
  <p:notesSz cx="6858000" cy="9144000"/>
  <p:custDataLst>
    <p:tags r:id="rId2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12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5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212E3C"/>
    <a:srgbClr val="FBBF09"/>
    <a:srgbClr val="EF4232"/>
    <a:srgbClr val="03A9F0"/>
    <a:srgbClr val="FFFFFF"/>
    <a:srgbClr val="FABCA8"/>
    <a:srgbClr val="57562F"/>
    <a:srgbClr val="FBCDBE"/>
    <a:srgbClr val="6B6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89" autoAdjust="0"/>
    <p:restoredTop sz="92986" autoAdjust="0"/>
  </p:normalViewPr>
  <p:slideViewPr>
    <p:cSldViewPr showGuides="1">
      <p:cViewPr varScale="1">
        <p:scale>
          <a:sx n="71" d="100"/>
          <a:sy n="71" d="100"/>
        </p:scale>
        <p:origin x="-474" y="-96"/>
      </p:cViewPr>
      <p:guideLst>
        <p:guide orient="horz" pos="373"/>
        <p:guide pos="4050"/>
        <p:guide pos="512"/>
        <p:guide orient="horz" pos="4183"/>
        <p:guide pos="7588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84039" y="6703596"/>
            <a:ext cx="2893219" cy="386187"/>
          </a:xfrm>
          <a:prstGeom prst="rect">
            <a:avLst/>
          </a:prstGeom>
        </p:spPr>
        <p:txBody>
          <a:bodyPr/>
          <a:lstStyle/>
          <a:p>
            <a:fld id="{E3AD87B8-9A4B-45E2-BBE5-FB86ADE2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259461" y="6703596"/>
            <a:ext cx="4339828" cy="38618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081492" y="6703596"/>
            <a:ext cx="2893219" cy="386187"/>
          </a:xfrm>
          <a:prstGeom prst="rect">
            <a:avLst/>
          </a:prstGeom>
        </p:spPr>
        <p:txBody>
          <a:bodyPr/>
          <a:lstStyle/>
          <a:p>
            <a:fld id="{37AAA611-6692-4583-86AB-5AB9B972BD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34148"/>
            <a:ext cx="9965531" cy="4821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965531" y="3134148"/>
            <a:ext cx="2893219" cy="4821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rot="5400000">
            <a:off x="29692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 rot="5400000">
            <a:off x="72554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 rot="5400000">
            <a:off x="115417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 rot="5400000">
            <a:off x="158279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0" y="3616326"/>
          <a:ext cx="5956102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" r:id="rId2" imgW="6007100" imgH="2743200" progId="">
                  <p:embed/>
                </p:oleObj>
              </mc:Choice>
              <mc:Fallback>
                <p:oleObj name="" r:id="rId2" imgW="6007100" imgH="27432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16326"/>
                        <a:ext cx="5956102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9965531" y="3616326"/>
          <a:ext cx="2893219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" r:id="rId4" imgW="5753100" imgH="4356100" progId="">
                  <p:embed/>
                </p:oleObj>
              </mc:Choice>
              <mc:Fallback>
                <p:oleObj name="" r:id="rId4" imgW="5753100" imgH="43561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1930"/>
                      <a:stretch>
                        <a:fillRect/>
                      </a:stretch>
                    </p:blipFill>
                    <p:spPr bwMode="auto">
                      <a:xfrm>
                        <a:off x="9965531" y="3616326"/>
                        <a:ext cx="2893219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5985125" y="3616325"/>
          <a:ext cx="3944689" cy="193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" r:id="rId6" imgW="3556000" imgH="2540000" progId="">
                  <p:embed/>
                </p:oleObj>
              </mc:Choice>
              <mc:Fallback>
                <p:oleObj name="" r:id="rId6" imgW="3556000" imgH="25400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25" y="3616325"/>
                        <a:ext cx="3944689" cy="1930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3616326"/>
            <a:ext cx="12858750" cy="1928707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pic>
        <p:nvPicPr>
          <p:cNvPr id="2060" name="Picture 12" descr="glab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6" y="2009071"/>
            <a:ext cx="1850678" cy="142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642939" y="6830837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4393406" y="6830837"/>
            <a:ext cx="4071938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15439" y="6830837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fld id="{A06949FC-71C0-4A9C-8FC5-2FA6268B5FA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911328" y="6122640"/>
            <a:ext cx="3545086" cy="3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89" tIns="57394" rIns="114789" bIns="57394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00"/>
                </a:solidFill>
                <a:latin typeface="Arial" panose="020B0604020202020204" pitchFamily="34" charset="0"/>
              </a:rPr>
              <a:t>大连理工大学出版社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 rot="5400000">
            <a:off x="6404827" y="5390970"/>
            <a:ext cx="287967" cy="1238995"/>
          </a:xfrm>
          <a:prstGeom prst="moon">
            <a:avLst>
              <a:gd name="adj" fmla="val 21208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607344" y="1767981"/>
            <a:ext cx="8679656" cy="1309244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2143125" y="3134148"/>
            <a:ext cx="7608094" cy="40181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663F6-5E52-463E-9D66-231098FB4AD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49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/>
            </a:lvl1pPr>
            <a:lvl2pPr marL="574040" indent="0">
              <a:buNone/>
              <a:defRPr sz="2300"/>
            </a:lvl2pPr>
            <a:lvl3pPr marL="1148080" indent="0">
              <a:buNone/>
              <a:defRPr sz="2000"/>
            </a:lvl3pPr>
            <a:lvl4pPr marL="1722120" indent="0">
              <a:buNone/>
              <a:defRPr sz="1800"/>
            </a:lvl4pPr>
            <a:lvl5pPr marL="2295525" indent="0">
              <a:buNone/>
              <a:defRPr sz="1800"/>
            </a:lvl5pPr>
            <a:lvl6pPr marL="2869565" indent="0">
              <a:buNone/>
              <a:defRPr sz="1800"/>
            </a:lvl6pPr>
            <a:lvl7pPr marL="3443605" indent="0">
              <a:buNone/>
              <a:defRPr sz="1800"/>
            </a:lvl7pPr>
            <a:lvl8pPr marL="4017645" indent="0">
              <a:buNone/>
              <a:defRPr sz="1800"/>
            </a:lvl8pPr>
            <a:lvl9pPr marL="4591685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C1D46F-9ACD-4C4C-BAAB-C2CC66BCC77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9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5615A0-2C08-4381-A3BC-51F88417D0E0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9" y="289641"/>
            <a:ext cx="11572875" cy="120544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5525" indent="0">
              <a:buNone/>
              <a:defRPr sz="2000" b="1"/>
            </a:lvl5pPr>
            <a:lvl6pPr marL="2869565" indent="0">
              <a:buNone/>
              <a:defRPr sz="2000" b="1"/>
            </a:lvl6pPr>
            <a:lvl7pPr marL="3443605" indent="0">
              <a:buNone/>
              <a:defRPr sz="2000" b="1"/>
            </a:lvl7pPr>
            <a:lvl8pPr marL="4017645" indent="0">
              <a:buNone/>
              <a:defRPr sz="2000" b="1"/>
            </a:lvl8pPr>
            <a:lvl9pPr marL="4591685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89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5525" indent="0">
              <a:buNone/>
              <a:defRPr sz="2000" b="1"/>
            </a:lvl5pPr>
            <a:lvl6pPr marL="2869565" indent="0">
              <a:buNone/>
              <a:defRPr sz="2000" b="1"/>
            </a:lvl6pPr>
            <a:lvl7pPr marL="3443605" indent="0">
              <a:buNone/>
              <a:defRPr sz="2000" b="1"/>
            </a:lvl7pPr>
            <a:lvl8pPr marL="4017645" indent="0">
              <a:buNone/>
              <a:defRPr sz="2000" b="1"/>
            </a:lvl8pPr>
            <a:lvl9pPr marL="4591685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89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A11DA9-A2C9-41D0-9133-C993095558B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09F4FB-12C6-40B5-A6AA-EB02BB20573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CEC60-5D95-4E68-8DD0-1E98DC0B60A1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1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5525" indent="0">
              <a:buNone/>
              <a:defRPr sz="1100"/>
            </a:lvl5pPr>
            <a:lvl6pPr marL="2869565" indent="0">
              <a:buNone/>
              <a:defRPr sz="1100"/>
            </a:lvl6pPr>
            <a:lvl7pPr marL="3443605" indent="0">
              <a:buNone/>
              <a:defRPr sz="1100"/>
            </a:lvl7pPr>
            <a:lvl8pPr marL="4017645" indent="0">
              <a:buNone/>
              <a:defRPr sz="1100"/>
            </a:lvl8pPr>
            <a:lvl9pPr marL="4591685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CBA71-A108-4D8F-B30F-B26305DB52E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6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4040" indent="0">
              <a:buNone/>
              <a:defRPr sz="3500"/>
            </a:lvl2pPr>
            <a:lvl3pPr marL="1148080" indent="0">
              <a:buNone/>
              <a:defRPr sz="3000"/>
            </a:lvl3pPr>
            <a:lvl4pPr marL="1722120" indent="0">
              <a:buNone/>
              <a:defRPr sz="2500"/>
            </a:lvl4pPr>
            <a:lvl5pPr marL="2295525" indent="0">
              <a:buNone/>
              <a:defRPr sz="2500"/>
            </a:lvl5pPr>
            <a:lvl6pPr marL="2869565" indent="0">
              <a:buNone/>
              <a:defRPr sz="2500"/>
            </a:lvl6pPr>
            <a:lvl7pPr marL="3443605" indent="0">
              <a:buNone/>
              <a:defRPr sz="2500"/>
            </a:lvl7pPr>
            <a:lvl8pPr marL="4017645" indent="0">
              <a:buNone/>
              <a:defRPr sz="2500"/>
            </a:lvl8pPr>
            <a:lvl9pPr marL="4591685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5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5525" indent="0">
              <a:buNone/>
              <a:defRPr sz="1100"/>
            </a:lvl5pPr>
            <a:lvl6pPr marL="2869565" indent="0">
              <a:buNone/>
              <a:defRPr sz="1100"/>
            </a:lvl6pPr>
            <a:lvl7pPr marL="3443605" indent="0">
              <a:buNone/>
              <a:defRPr sz="1100"/>
            </a:lvl7pPr>
            <a:lvl8pPr marL="4017645" indent="0">
              <a:buNone/>
              <a:defRPr sz="1100"/>
            </a:lvl8pPr>
            <a:lvl9pPr marL="4591685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AFEE6-9698-4489-8D7B-8AB64B9E138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500B73-9DD7-41C0-B2B2-946A4EF25305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5" y="622813"/>
            <a:ext cx="2893219" cy="60472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622813"/>
            <a:ext cx="8465344" cy="60472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50D9E-967D-4F62-8A3B-AB60B140641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5969" y="592677"/>
            <a:ext cx="10822781" cy="68141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89327"/>
            <a:ext cx="2035969" cy="6964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 rot="5400000">
            <a:off x="40408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 rot="5400000">
            <a:off x="83270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rot="5400000">
            <a:off x="126133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 rot="5400000">
            <a:off x="168995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9" y="1366167"/>
            <a:ext cx="11572875" cy="530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2939" y="6750475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93406" y="6750475"/>
            <a:ext cx="4071938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algn="ct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5439" y="6750475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algn="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fld id="{E885DCAE-4A19-439B-9674-D186DD8CF82A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652117" y="622812"/>
            <a:ext cx="8358188" cy="59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5pPr>
      <a:lvl6pPr marL="57404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6pPr>
      <a:lvl7pPr marL="114808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7pPr>
      <a:lvl8pPr marL="172212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8pPr>
      <a:lvl9pPr marL="229552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430530" indent="-43053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932815" indent="-3587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300">
          <a:solidFill>
            <a:schemeClr val="tx1"/>
          </a:solidFill>
          <a:latin typeface="+mn-lt"/>
        </a:defRPr>
      </a:lvl2pPr>
      <a:lvl3pPr marL="1435100" indent="-28702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</a:defRPr>
      </a:lvl3pPr>
      <a:lvl4pPr marL="200850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500">
          <a:solidFill>
            <a:schemeClr val="tx1"/>
          </a:solidFill>
          <a:latin typeface="+mn-lt"/>
        </a:defRPr>
      </a:lvl4pPr>
      <a:lvl5pPr marL="258254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5pPr>
      <a:lvl6pPr marL="315658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6pPr>
      <a:lvl7pPr marL="373062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7pPr>
      <a:lvl8pPr marL="430466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8pPr>
      <a:lvl9pPr marL="487870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04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808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12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552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956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360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764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168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0"/>
            <a:ext cx="7256762" cy="7256364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V="1">
            <a:off x="1608166" y="1145782"/>
            <a:ext cx="4826927" cy="4827192"/>
          </a:xfrm>
          <a:custGeom>
            <a:avLst/>
            <a:gdLst>
              <a:gd name="connsiteX0" fmla="*/ 0 w 4343400"/>
              <a:gd name="connsiteY0" fmla="*/ 0 h 4343400"/>
              <a:gd name="connsiteX1" fmla="*/ 4343400 w 4343400"/>
              <a:gd name="connsiteY1" fmla="*/ 4343400 h 4343400"/>
              <a:gd name="connsiteX2" fmla="*/ 3486149 w 4343400"/>
              <a:gd name="connsiteY2" fmla="*/ 4343400 h 4343400"/>
              <a:gd name="connsiteX3" fmla="*/ 0 w 4343400"/>
              <a:gd name="connsiteY3" fmla="*/ 857251 h 4343400"/>
              <a:gd name="connsiteX4" fmla="*/ 0 w 4343400"/>
              <a:gd name="connsiteY4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4343400">
                <a:moveTo>
                  <a:pt x="0" y="0"/>
                </a:moveTo>
                <a:lnTo>
                  <a:pt x="4343400" y="4343400"/>
                </a:lnTo>
                <a:lnTo>
                  <a:pt x="3486149" y="4343400"/>
                </a:lnTo>
                <a:lnTo>
                  <a:pt x="0" y="8572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7167" y="1960141"/>
            <a:ext cx="8595718" cy="62228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&lt;&lt;JSP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与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Servlet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开发技术与典型应用教程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&gt;&gt;</a:t>
            </a:r>
            <a:endParaRPr kumimoji="1" lang="zh-CN" altLang="en-US" sz="3200" b="1" dirty="0">
              <a:solidFill>
                <a:srgbClr val="52658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7327" y="2896245"/>
            <a:ext cx="6016403" cy="649181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en-US" altLang="zh-CN" sz="17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JSP and  servlet  development  technology  and  typical application  course</a:t>
            </a:r>
            <a:endParaRPr kumimoji="1" lang="zh-CN" altLang="en-US" sz="17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 rot="2695748">
            <a:off x="1285965" y="3095620"/>
            <a:ext cx="6117523" cy="60515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zh-CN" altLang="zh-CN" sz="3100" b="1" dirty="0" smtClean="0">
                <a:solidFill>
                  <a:srgbClr val="526580"/>
                </a:solidFill>
                <a:cs typeface="+mn-ea"/>
              </a:rPr>
              <a:t>第</a:t>
            </a:r>
            <a:r>
              <a:rPr kumimoji="1" lang="en-US" altLang="zh-CN" sz="3100" b="1" dirty="0" smtClean="0">
                <a:solidFill>
                  <a:srgbClr val="526580"/>
                </a:solidFill>
                <a:cs typeface="+mn-ea"/>
              </a:rPr>
              <a:t>11</a:t>
            </a:r>
            <a:r>
              <a:rPr kumimoji="1" lang="zh-CN" altLang="zh-CN" sz="3100" b="1" dirty="0">
                <a:solidFill>
                  <a:srgbClr val="526580"/>
                </a:solidFill>
                <a:cs typeface="+mn-ea"/>
              </a:rPr>
              <a:t>章</a:t>
            </a:r>
            <a:r>
              <a:rPr kumimoji="1" lang="en-US" altLang="zh-CN" sz="3100" b="1" dirty="0">
                <a:solidFill>
                  <a:srgbClr val="526580"/>
                </a:solidFill>
                <a:cs typeface="+mn-ea"/>
              </a:rPr>
              <a:t>  </a:t>
            </a:r>
            <a:r>
              <a:rPr kumimoji="1" lang="zh-CN" altLang="zh-CN" sz="3100" b="1" dirty="0">
                <a:solidFill>
                  <a:srgbClr val="526580"/>
                </a:solidFill>
                <a:cs typeface="+mn-ea"/>
              </a:rPr>
              <a:t>生产性企业招聘管理系统</a:t>
            </a:r>
            <a:endParaRPr kumimoji="1" lang="en-US" altLang="zh-CN" sz="3100" b="1" dirty="0">
              <a:solidFill>
                <a:srgbClr val="526580"/>
              </a:solidFill>
              <a:cs typeface="+mn-ea"/>
              <a:sym typeface="宋体" panose="02010600030101010101" pitchFamily="2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flipH="1">
            <a:off x="8229575" y="3976365"/>
            <a:ext cx="4629176" cy="3279999"/>
          </a:xfrm>
          <a:prstGeom prst="rtTriangle">
            <a:avLst/>
          </a:prstGeom>
          <a:solidFill>
            <a:srgbClr val="43536A"/>
          </a:solidFill>
          <a:ln>
            <a:solidFill>
              <a:srgbClr val="435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直角三角形 15"/>
          <p:cNvSpPr/>
          <p:nvPr/>
        </p:nvSpPr>
        <p:spPr>
          <a:xfrm rot="13500000" flipV="1">
            <a:off x="2775844" y="-1270801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73591" y="397636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b="1" dirty="0">
                <a:solidFill>
                  <a:srgbClr val="526580"/>
                </a:solidFill>
                <a:cs typeface="+mn-ea"/>
              </a:rPr>
              <a:t>大连理工大学出版社</a:t>
            </a:r>
            <a:endParaRPr kumimoji="1" lang="zh-CN" altLang="en-US" sz="2000" b="1" dirty="0">
              <a:solidFill>
                <a:srgbClr val="526580"/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9" grpId="0"/>
      <p:bldP spid="12" grpId="0" animBg="1"/>
      <p:bldP spid="16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8"/>
          <p:cNvSpPr/>
          <p:nvPr/>
        </p:nvSpPr>
        <p:spPr>
          <a:xfrm>
            <a:off x="-12756" y="0"/>
            <a:ext cx="7266302" cy="7265903"/>
          </a:xfrm>
          <a:custGeom>
            <a:avLst/>
            <a:gdLst>
              <a:gd name="connsiteX0" fmla="*/ 0 w 5896303"/>
              <a:gd name="connsiteY0" fmla="*/ 0 h 5896303"/>
              <a:gd name="connsiteX1" fmla="*/ 5896303 w 5896303"/>
              <a:gd name="connsiteY1" fmla="*/ 5896303 h 5896303"/>
              <a:gd name="connsiteX2" fmla="*/ 5579364 w 5896303"/>
              <a:gd name="connsiteY2" fmla="*/ 5896303 h 5896303"/>
              <a:gd name="connsiteX3" fmla="*/ 0 w 5896303"/>
              <a:gd name="connsiteY3" fmla="*/ 316939 h 5896303"/>
              <a:gd name="connsiteX4" fmla="*/ 0 w 5896303"/>
              <a:gd name="connsiteY4" fmla="*/ 0 h 5896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96303" h="5896303">
                <a:moveTo>
                  <a:pt x="0" y="0"/>
                </a:moveTo>
                <a:lnTo>
                  <a:pt x="5896303" y="5896303"/>
                </a:lnTo>
                <a:lnTo>
                  <a:pt x="5579364" y="5896303"/>
                </a:lnTo>
                <a:lnTo>
                  <a:pt x="0" y="316939"/>
                </a:lnTo>
                <a:lnTo>
                  <a:pt x="0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等腰三角形 5"/>
          <p:cNvSpPr/>
          <p:nvPr/>
        </p:nvSpPr>
        <p:spPr>
          <a:xfrm flipV="1">
            <a:off x="1072486" y="448922"/>
            <a:ext cx="4158592" cy="2029130"/>
          </a:xfrm>
          <a:prstGeom prst="triangle">
            <a:avLst/>
          </a:prstGeom>
          <a:noFill/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4" name="等腰三角形 4"/>
          <p:cNvSpPr/>
          <p:nvPr/>
        </p:nvSpPr>
        <p:spPr>
          <a:xfrm flipV="1">
            <a:off x="1072486" y="-1"/>
            <a:ext cx="4158592" cy="2029130"/>
          </a:xfrm>
          <a:prstGeom prst="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7" name="TextBox 32"/>
          <p:cNvSpPr txBox="1">
            <a:spLocks noChangeArrowheads="1"/>
          </p:cNvSpPr>
          <p:nvPr/>
        </p:nvSpPr>
        <p:spPr bwMode="auto">
          <a:xfrm>
            <a:off x="3667936" y="1993039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32"/>
          <p:cNvSpPr txBox="1">
            <a:spLocks noChangeArrowheads="1"/>
          </p:cNvSpPr>
          <p:nvPr/>
        </p:nvSpPr>
        <p:spPr bwMode="auto">
          <a:xfrm>
            <a:off x="4718283" y="3125828"/>
            <a:ext cx="1477498" cy="1297274"/>
          </a:xfrm>
          <a:prstGeom prst="diamond">
            <a:avLst/>
          </a:prstGeom>
          <a:solidFill>
            <a:srgbClr val="43536A"/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TextBox 32"/>
          <p:cNvSpPr txBox="1">
            <a:spLocks noChangeArrowheads="1"/>
          </p:cNvSpPr>
          <p:nvPr/>
        </p:nvSpPr>
        <p:spPr bwMode="auto">
          <a:xfrm>
            <a:off x="5768630" y="4258615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直角三角形 25"/>
          <p:cNvSpPr/>
          <p:nvPr/>
        </p:nvSpPr>
        <p:spPr>
          <a:xfrm>
            <a:off x="1" y="1014235"/>
            <a:ext cx="6218757" cy="6218415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72243" y="1963169"/>
            <a:ext cx="7145020" cy="537513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cs typeface="+mn-ea"/>
                <a:sym typeface="Arial" panose="020B0604020202020204" pitchFamily="34" charset="0"/>
              </a:rPr>
              <a:t>掌握</a:t>
            </a:r>
            <a:r>
              <a:rPr kumimoji="1" lang="en-US" altLang="zh-CN" sz="2400" b="1" dirty="0">
                <a:cs typeface="+mn-ea"/>
              </a:rPr>
              <a:t>JSP</a:t>
            </a:r>
            <a:r>
              <a:rPr kumimoji="1" lang="zh-CN" altLang="zh-CN" sz="2400" b="1" dirty="0">
                <a:cs typeface="+mn-ea"/>
              </a:rPr>
              <a:t>开发技术、</a:t>
            </a:r>
            <a:r>
              <a:rPr kumimoji="1" lang="en-US" altLang="zh-CN" sz="2400" b="1" dirty="0">
                <a:cs typeface="+mn-ea"/>
              </a:rPr>
              <a:t>Servlet</a:t>
            </a:r>
            <a:r>
              <a:rPr kumimoji="1" lang="zh-CN" altLang="zh-CN" sz="2400" b="1" dirty="0">
                <a:cs typeface="+mn-ea"/>
              </a:rPr>
              <a:t>开发技术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149340" y="3112269"/>
            <a:ext cx="6477000" cy="1016234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cs typeface="+mn-ea"/>
                <a:sym typeface="Arial" panose="020B0604020202020204" pitchFamily="34" charset="0"/>
              </a:rPr>
              <a:t>掌握</a:t>
            </a:r>
            <a:r>
              <a:rPr kumimoji="1" lang="zh-CN" altLang="zh-CN" sz="2400" b="1" dirty="0">
                <a:cs typeface="+mn-ea"/>
              </a:rPr>
              <a:t>、</a:t>
            </a:r>
            <a:r>
              <a:rPr kumimoji="1" lang="en-US" altLang="zh-CN" sz="2400" b="1" dirty="0">
                <a:cs typeface="+mn-ea"/>
              </a:rPr>
              <a:t>JSTL</a:t>
            </a:r>
            <a:r>
              <a:rPr kumimoji="1" lang="zh-CN" altLang="zh-CN" sz="2400" b="1" dirty="0">
                <a:cs typeface="+mn-ea"/>
              </a:rPr>
              <a:t>技术、数据库开发技术、</a:t>
            </a:r>
            <a:r>
              <a:rPr kumimoji="1" lang="en-US" altLang="zh-CN" sz="2400" b="1" dirty="0">
                <a:cs typeface="+mn-ea"/>
              </a:rPr>
              <a:t>JDBC</a:t>
            </a:r>
            <a:r>
              <a:rPr kumimoji="1" lang="zh-CN" altLang="zh-CN" sz="2400" b="1" dirty="0">
                <a:cs typeface="+mn-ea"/>
              </a:rPr>
              <a:t>技术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152640" y="4324985"/>
            <a:ext cx="5473700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zh-CN" altLang="zh-CN" sz="2400" b="1" dirty="0" smtClean="0">
                <a:cs typeface="+mn-ea"/>
              </a:rPr>
              <a:t>理解</a:t>
            </a:r>
            <a:r>
              <a:rPr kumimoji="1" lang="en-US" altLang="zh-CN" sz="2400" b="1" dirty="0" smtClean="0">
                <a:cs typeface="+mn-ea"/>
              </a:rPr>
              <a:t>MVC</a:t>
            </a:r>
            <a:r>
              <a:rPr kumimoji="1" lang="zh-CN" altLang="zh-CN" sz="2400" b="1" dirty="0">
                <a:cs typeface="+mn-ea"/>
              </a:rPr>
              <a:t>模式工作原理</a:t>
            </a:r>
            <a:endParaRPr kumimoji="1" lang="zh-CN" altLang="en-US" sz="2400" b="1" dirty="0"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49959" y="147317"/>
            <a:ext cx="2237740" cy="728345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3900" dirty="0">
                <a:solidFill>
                  <a:schemeClr val="bg1"/>
                </a:solidFill>
                <a:cs typeface="+mn-ea"/>
                <a:sym typeface="+mn-lt"/>
              </a:rPr>
              <a:t>能力目标</a:t>
            </a:r>
            <a:endParaRPr kumimoji="1" lang="en-US" altLang="zh-CN" sz="39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7" grpId="0" bldLvl="0" animBg="1"/>
      <p:bldP spid="12" grpId="0" bldLvl="0" animBg="1"/>
      <p:bldP spid="17" grpId="0" bldLvl="0" animBg="1"/>
      <p:bldP spid="26" grpId="0" bldLvl="0" animBg="1"/>
      <p:bldP spid="27" grpId="0"/>
      <p:bldP spid="29" grpId="0"/>
      <p:bldP spid="33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8"/>
          <p:cNvSpPr/>
          <p:nvPr/>
        </p:nvSpPr>
        <p:spPr>
          <a:xfrm>
            <a:off x="-12756" y="0"/>
            <a:ext cx="7266302" cy="7265903"/>
          </a:xfrm>
          <a:custGeom>
            <a:avLst/>
            <a:gdLst>
              <a:gd name="connsiteX0" fmla="*/ 0 w 5896303"/>
              <a:gd name="connsiteY0" fmla="*/ 0 h 5896303"/>
              <a:gd name="connsiteX1" fmla="*/ 5896303 w 5896303"/>
              <a:gd name="connsiteY1" fmla="*/ 5896303 h 5896303"/>
              <a:gd name="connsiteX2" fmla="*/ 5579364 w 5896303"/>
              <a:gd name="connsiteY2" fmla="*/ 5896303 h 5896303"/>
              <a:gd name="connsiteX3" fmla="*/ 0 w 5896303"/>
              <a:gd name="connsiteY3" fmla="*/ 316939 h 5896303"/>
              <a:gd name="connsiteX4" fmla="*/ 0 w 5896303"/>
              <a:gd name="connsiteY4" fmla="*/ 0 h 5896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96303" h="5896303">
                <a:moveTo>
                  <a:pt x="0" y="0"/>
                </a:moveTo>
                <a:lnTo>
                  <a:pt x="5896303" y="5896303"/>
                </a:lnTo>
                <a:lnTo>
                  <a:pt x="5579364" y="5896303"/>
                </a:lnTo>
                <a:lnTo>
                  <a:pt x="0" y="316939"/>
                </a:lnTo>
                <a:lnTo>
                  <a:pt x="0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等腰三角形 5"/>
          <p:cNvSpPr/>
          <p:nvPr/>
        </p:nvSpPr>
        <p:spPr>
          <a:xfrm flipV="1">
            <a:off x="1072486" y="448922"/>
            <a:ext cx="4158592" cy="2029130"/>
          </a:xfrm>
          <a:prstGeom prst="triangle">
            <a:avLst/>
          </a:prstGeom>
          <a:noFill/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4" name="等腰三角形 4"/>
          <p:cNvSpPr/>
          <p:nvPr/>
        </p:nvSpPr>
        <p:spPr>
          <a:xfrm flipV="1">
            <a:off x="1072486" y="-1"/>
            <a:ext cx="4158592" cy="2029130"/>
          </a:xfrm>
          <a:prstGeom prst="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7" name="TextBox 32"/>
          <p:cNvSpPr txBox="1">
            <a:spLocks noChangeArrowheads="1"/>
          </p:cNvSpPr>
          <p:nvPr/>
        </p:nvSpPr>
        <p:spPr bwMode="auto">
          <a:xfrm>
            <a:off x="3667936" y="1993039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32"/>
          <p:cNvSpPr txBox="1">
            <a:spLocks noChangeArrowheads="1"/>
          </p:cNvSpPr>
          <p:nvPr/>
        </p:nvSpPr>
        <p:spPr bwMode="auto">
          <a:xfrm>
            <a:off x="4718283" y="3125828"/>
            <a:ext cx="1477498" cy="1297274"/>
          </a:xfrm>
          <a:prstGeom prst="diamond">
            <a:avLst/>
          </a:prstGeom>
          <a:solidFill>
            <a:srgbClr val="43536A"/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TextBox 32"/>
          <p:cNvSpPr txBox="1">
            <a:spLocks noChangeArrowheads="1"/>
          </p:cNvSpPr>
          <p:nvPr/>
        </p:nvSpPr>
        <p:spPr bwMode="auto">
          <a:xfrm>
            <a:off x="5768630" y="4258615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直角三角形 25"/>
          <p:cNvSpPr/>
          <p:nvPr/>
        </p:nvSpPr>
        <p:spPr>
          <a:xfrm>
            <a:off x="1" y="1014235"/>
            <a:ext cx="6218757" cy="6218415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85714" y="1744117"/>
            <a:ext cx="7773035" cy="1016234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400" b="1" dirty="0"/>
              <a:t>培养工程意识思维，铸就工匠</a:t>
            </a:r>
            <a:r>
              <a:rPr lang="zh-CN" altLang="zh-CN" sz="2400" b="1" dirty="0" smtClean="0"/>
              <a:t>精神</a:t>
            </a:r>
            <a:r>
              <a:rPr lang="zh-CN" altLang="en-US" sz="2400" b="1" dirty="0" smtClean="0"/>
              <a:t>、</a:t>
            </a:r>
            <a:r>
              <a:rPr lang="zh-CN" altLang="zh-CN" sz="2400" b="1" dirty="0"/>
              <a:t>培养乐观坚韧专业的职业态度 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72422" y="5529723"/>
            <a:ext cx="5645785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lang="zh-CN" altLang="zh-CN" sz="2400" b="1" dirty="0"/>
              <a:t>培养业务情境中高效沟通能力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933431" y="4197275"/>
            <a:ext cx="5973479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lang="zh-CN" altLang="zh-CN" sz="2400" b="1" dirty="0"/>
              <a:t>分析问题以及拟定可能的解决方案的能力</a:t>
            </a:r>
            <a:endParaRPr kumimoji="1" lang="zh-CN" altLang="en-US" sz="2400" b="1" dirty="0"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49959" y="147317"/>
            <a:ext cx="2237740" cy="728345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3900" dirty="0">
                <a:solidFill>
                  <a:schemeClr val="bg1"/>
                </a:solidFill>
                <a:cs typeface="+mn-ea"/>
                <a:sym typeface="+mn-lt"/>
              </a:rPr>
              <a:t>素质目标</a:t>
            </a:r>
            <a:endParaRPr kumimoji="1" lang="en-US" altLang="zh-CN" sz="39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TextBox 32"/>
          <p:cNvSpPr txBox="1">
            <a:spLocks noChangeArrowheads="1"/>
          </p:cNvSpPr>
          <p:nvPr/>
        </p:nvSpPr>
        <p:spPr bwMode="auto">
          <a:xfrm>
            <a:off x="6932829" y="5416522"/>
            <a:ext cx="1473200" cy="1301750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04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文本框 32"/>
          <p:cNvSpPr txBox="1"/>
          <p:nvPr/>
        </p:nvSpPr>
        <p:spPr>
          <a:xfrm>
            <a:off x="5925319" y="3117155"/>
            <a:ext cx="5800210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lang="zh-CN" altLang="zh-CN" sz="2400" b="1" dirty="0"/>
              <a:t>用科学的方法全面、清晰地表述系统架构</a:t>
            </a:r>
            <a:endParaRPr kumimoji="1" lang="zh-CN" altLang="en-US" sz="2400" b="1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7" grpId="0" bldLvl="0" animBg="1"/>
      <p:bldP spid="12" grpId="0" bldLvl="0" animBg="1"/>
      <p:bldP spid="17" grpId="0" bldLvl="0" animBg="1"/>
      <p:bldP spid="26" grpId="0" bldLvl="0" animBg="1"/>
      <p:bldP spid="27" grpId="0"/>
      <p:bldP spid="29" grpId="0"/>
      <p:bldP spid="33" grpId="0"/>
      <p:bldP spid="35" grpId="0"/>
      <p:bldP spid="5" grpId="0" bldLvl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574675"/>
            <a:ext cx="8459787" cy="622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</a:t>
            </a:r>
            <a:r>
              <a:rPr lang="en-US" altLang="zh-CN">
                <a:ea typeface="宋体" panose="02010600030101010101" pitchFamily="2" charset="-122"/>
              </a:rPr>
              <a:t>11</a:t>
            </a:r>
            <a:r>
              <a:rPr lang="zh-CN" altLang="en-US">
                <a:ea typeface="宋体" panose="02010600030101010101" pitchFamily="2" charset="-122"/>
              </a:rPr>
              <a:t>章 生产性企业招聘管理系统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238250" y="1484313"/>
            <a:ext cx="8013700" cy="558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/>
            <a:r>
              <a:rPr lang="zh-CN" altLang="en-US" sz="2400" dirty="0" smtClean="0">
                <a:ea typeface="宋体" panose="02010600030101010101" pitchFamily="2" charset="-122"/>
              </a:rPr>
              <a:t>用例设计</a:t>
            </a:r>
            <a:r>
              <a:rPr lang="zh-CN" altLang="en-US" dirty="0" smtClean="0">
                <a:ea typeface="宋体" panose="02010600030101010101" pitchFamily="2" charset="-122"/>
              </a:rPr>
              <a:t> </a:t>
            </a:r>
            <a:endParaRPr lang="zh-CN" altLang="en-US" sz="2600" dirty="0" smtClean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000" dirty="0" smtClean="0">
                <a:ea typeface="宋体" panose="02010600030101010101" pitchFamily="2" charset="-122"/>
              </a:rPr>
              <a:t>用例模型</a:t>
            </a:r>
            <a:endParaRPr lang="zh-CN" altLang="en-US" sz="2000" dirty="0" smtClean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000" dirty="0" smtClean="0">
                <a:ea typeface="宋体" panose="02010600030101010101" pitchFamily="2" charset="-122"/>
              </a:rPr>
              <a:t>用例规约</a:t>
            </a:r>
            <a:endParaRPr lang="zh-CN" altLang="en-US" sz="2000" dirty="0" smtClean="0">
              <a:ea typeface="宋体" panose="02010600030101010101" pitchFamily="2" charset="-122"/>
            </a:endParaRPr>
          </a:p>
          <a:p>
            <a:pPr marL="457200" indent="-457200"/>
            <a:r>
              <a:rPr lang="zh-CN" altLang="en-US" sz="2400" dirty="0" smtClean="0">
                <a:ea typeface="宋体" panose="02010600030101010101" pitchFamily="2" charset="-122"/>
              </a:rPr>
              <a:t>数据库设计 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000" dirty="0" smtClean="0">
                <a:ea typeface="宋体" panose="02010600030101010101" pitchFamily="2" charset="-122"/>
              </a:rPr>
              <a:t>数据库总体设计 </a:t>
            </a:r>
            <a:endParaRPr lang="zh-CN" altLang="en-US" sz="2000" dirty="0" smtClean="0">
              <a:ea typeface="宋体" panose="02010600030101010101" pitchFamily="2" charset="-122"/>
            </a:endParaRPr>
          </a:p>
          <a:p>
            <a:pPr marL="457200" indent="-457200"/>
            <a:r>
              <a:rPr lang="zh-CN" altLang="en-US" sz="2400" dirty="0" smtClean="0">
                <a:ea typeface="宋体" panose="02010600030101010101" pitchFamily="2" charset="-122"/>
              </a:rPr>
              <a:t>详细设计</a:t>
            </a:r>
            <a:endParaRPr lang="zh-CN" altLang="en-US" sz="2400" dirty="0" smtClean="0">
              <a:ea typeface="宋体" panose="02010600030101010101" pitchFamily="2" charset="-122"/>
              <a:hlinkClick r:id="" action="ppaction://noaction"/>
            </a:endParaRPr>
          </a:p>
          <a:p>
            <a:pPr marL="1075055" lvl="1" indent="-533400"/>
            <a:r>
              <a:rPr lang="zh-CN" altLang="en-US" sz="2000" dirty="0" smtClean="0">
                <a:ea typeface="宋体" panose="02010600030101010101" pitchFamily="2" charset="-122"/>
              </a:rPr>
              <a:t>权限说明</a:t>
            </a:r>
            <a:endParaRPr lang="zh-CN" altLang="en-US" sz="2000" dirty="0" smtClean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000" dirty="0" smtClean="0">
                <a:ea typeface="宋体" panose="02010600030101010101" pitchFamily="2" charset="-122"/>
              </a:rPr>
              <a:t>目录功能对照表</a:t>
            </a:r>
            <a:endParaRPr lang="zh-CN" altLang="en-US" sz="2000" dirty="0" smtClean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000" dirty="0" smtClean="0">
                <a:ea typeface="宋体" panose="02010600030101010101" pitchFamily="2" charset="-122"/>
              </a:rPr>
              <a:t>前台</a:t>
            </a:r>
            <a:r>
              <a:rPr lang="en-US" altLang="zh-CN" sz="2000" dirty="0" smtClean="0">
                <a:ea typeface="宋体" panose="02010600030101010101" pitchFamily="2" charset="-122"/>
              </a:rPr>
              <a:t>/</a:t>
            </a:r>
            <a:r>
              <a:rPr lang="zh-CN" altLang="en-US" sz="2000" dirty="0" smtClean="0">
                <a:ea typeface="宋体" panose="02010600030101010101" pitchFamily="2" charset="-122"/>
              </a:rPr>
              <a:t>后台界面设计及实现</a:t>
            </a:r>
            <a:endParaRPr lang="zh-CN" altLang="en-US" sz="2000" dirty="0" smtClean="0">
              <a:ea typeface="宋体" panose="02010600030101010101" pitchFamily="2" charset="-122"/>
            </a:endParaRPr>
          </a:p>
          <a:p>
            <a:pPr marL="457200" indent="-457200"/>
            <a:r>
              <a:rPr lang="zh-CN" altLang="en-US" sz="2400" dirty="0" smtClean="0">
                <a:ea typeface="宋体" panose="02010600030101010101" pitchFamily="2" charset="-122"/>
              </a:rPr>
              <a:t>编码实现</a:t>
            </a:r>
            <a:endParaRPr lang="zh-CN" altLang="en-US" sz="2000" dirty="0" smtClean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000" dirty="0" smtClean="0">
                <a:ea typeface="宋体" panose="02010600030101010101" pitchFamily="2" charset="-122"/>
              </a:rPr>
              <a:t>公共模块设计及实现</a:t>
            </a:r>
            <a:endParaRPr lang="zh-CN" altLang="en-US" sz="2000" dirty="0" smtClean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000" dirty="0" smtClean="0">
                <a:ea typeface="宋体" panose="02010600030101010101" pitchFamily="2" charset="-122"/>
              </a:rPr>
              <a:t>后台框架设计及实现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74675"/>
            <a:ext cx="8010525" cy="622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</a:t>
            </a:r>
            <a:r>
              <a:rPr lang="en-US" altLang="zh-CN">
                <a:ea typeface="宋体" panose="02010600030101010101" pitchFamily="2" charset="-122"/>
              </a:rPr>
              <a:t>11</a:t>
            </a:r>
            <a:r>
              <a:rPr lang="zh-CN" altLang="en-US">
                <a:ea typeface="宋体" panose="02010600030101010101" pitchFamily="2" charset="-122"/>
              </a:rPr>
              <a:t>章 生产性企业招聘管理系统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92138" y="1782763"/>
            <a:ext cx="8732837" cy="344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b="1" smtClean="0">
                <a:ea typeface="楷体_GB2312" pitchFamily="1" charset="-122"/>
              </a:rPr>
              <a:t>教学要求</a:t>
            </a:r>
            <a:endParaRPr lang="zh-CN" altLang="en-US" b="1" smtClean="0">
              <a:ea typeface="楷体_GB2312" pitchFamily="1" charset="-122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200" smtClean="0">
                <a:ea typeface="宋体" panose="02010600030101010101" pitchFamily="2" charset="-122"/>
              </a:rPr>
              <a:t>1</a:t>
            </a:r>
            <a:r>
              <a:rPr lang="zh-CN" altLang="en-US" sz="2200" smtClean="0">
                <a:ea typeface="宋体" panose="02010600030101010101" pitchFamily="2" charset="-122"/>
              </a:rPr>
              <a:t>．掌握：</a:t>
            </a:r>
            <a:r>
              <a:rPr lang="en-US" altLang="zh-CN" sz="2200" smtClean="0">
                <a:ea typeface="宋体" panose="02010600030101010101" pitchFamily="2" charset="-122"/>
              </a:rPr>
              <a:t>JSP</a:t>
            </a:r>
            <a:r>
              <a:rPr lang="zh-CN" altLang="en-US" sz="2200" smtClean="0">
                <a:ea typeface="宋体" panose="02010600030101010101" pitchFamily="2" charset="-122"/>
              </a:rPr>
              <a:t>开发技术、</a:t>
            </a:r>
            <a:r>
              <a:rPr lang="en-US" altLang="zh-CN" sz="2200" smtClean="0">
                <a:ea typeface="宋体" panose="02010600030101010101" pitchFamily="2" charset="-122"/>
              </a:rPr>
              <a:t>Servlet</a:t>
            </a:r>
            <a:r>
              <a:rPr lang="zh-CN" altLang="en-US" sz="2200" smtClean="0">
                <a:ea typeface="宋体" panose="02010600030101010101" pitchFamily="2" charset="-122"/>
              </a:rPr>
              <a:t>开发技术、</a:t>
            </a:r>
            <a:r>
              <a:rPr lang="en-US" altLang="zh-CN" sz="2200" smtClean="0">
                <a:ea typeface="宋体" panose="02010600030101010101" pitchFamily="2" charset="-122"/>
              </a:rPr>
              <a:t>JSTL</a:t>
            </a:r>
            <a:r>
              <a:rPr lang="zh-CN" altLang="en-US" sz="2200" smtClean="0">
                <a:ea typeface="宋体" panose="02010600030101010101" pitchFamily="2" charset="-122"/>
              </a:rPr>
              <a:t>技术、数据库开发技术、</a:t>
            </a:r>
            <a:r>
              <a:rPr lang="en-US" altLang="zh-CN" sz="2200" smtClean="0">
                <a:ea typeface="宋体" panose="02010600030101010101" pitchFamily="2" charset="-122"/>
              </a:rPr>
              <a:t>JDBC</a:t>
            </a:r>
            <a:r>
              <a:rPr lang="zh-CN" altLang="en-US" sz="2200" smtClean="0">
                <a:ea typeface="宋体" panose="02010600030101010101" pitchFamily="2" charset="-122"/>
              </a:rPr>
              <a:t>技术</a:t>
            </a:r>
            <a:endParaRPr lang="zh-CN" altLang="en-US" sz="2200" smtClean="0">
              <a:ea typeface="宋体" panose="02010600030101010101" pitchFamily="2" charset="-122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200" smtClean="0">
                <a:ea typeface="宋体" panose="02010600030101010101" pitchFamily="2" charset="-122"/>
              </a:rPr>
              <a:t>2</a:t>
            </a:r>
            <a:r>
              <a:rPr lang="zh-CN" altLang="en-US" sz="2200" smtClean="0">
                <a:ea typeface="宋体" panose="02010600030101010101" pitchFamily="2" charset="-122"/>
              </a:rPr>
              <a:t>．理解：</a:t>
            </a:r>
            <a:r>
              <a:rPr lang="en-US" altLang="zh-CN" sz="2200" smtClean="0">
                <a:ea typeface="宋体" panose="02010600030101010101" pitchFamily="2" charset="-122"/>
              </a:rPr>
              <a:t>MVC</a:t>
            </a:r>
            <a:r>
              <a:rPr lang="zh-CN" altLang="en-US" sz="2200" smtClean="0">
                <a:ea typeface="宋体" panose="02010600030101010101" pitchFamily="2" charset="-122"/>
              </a:rPr>
              <a:t>模式工作原理</a:t>
            </a:r>
            <a:endParaRPr lang="zh-CN" altLang="en-US" sz="22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20713"/>
            <a:ext cx="8010525" cy="6223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11.1	</a:t>
            </a:r>
            <a:r>
              <a:rPr lang="zh-CN" altLang="en-US">
                <a:ea typeface="宋体" panose="02010600030101010101" pitchFamily="2" charset="-122"/>
              </a:rPr>
              <a:t>用例设计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11188" y="1549400"/>
            <a:ext cx="8013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smtClean="0">
                <a:ea typeface="宋体" panose="02010600030101010101" pitchFamily="2" charset="-122"/>
              </a:rPr>
              <a:t>11.1.1  </a:t>
            </a:r>
            <a:r>
              <a:rPr lang="zh-CN" altLang="en-US" smtClean="0">
                <a:ea typeface="宋体" panose="02010600030101010101" pitchFamily="2" charset="-122"/>
              </a:rPr>
              <a:t>用例模型 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2050" name="Picture 2" descr="图11-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855" y="2392189"/>
            <a:ext cx="7738580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20713"/>
            <a:ext cx="8010525" cy="6223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11.1	</a:t>
            </a:r>
            <a:r>
              <a:rPr lang="zh-CN" altLang="en-US">
                <a:ea typeface="宋体" panose="02010600030101010101" pitchFamily="2" charset="-122"/>
              </a:rPr>
              <a:t>用例设计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11188" y="1549400"/>
            <a:ext cx="8013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smtClean="0">
                <a:ea typeface="宋体" panose="02010600030101010101" pitchFamily="2" charset="-122"/>
              </a:rPr>
              <a:t>11.1.2  </a:t>
            </a:r>
            <a:r>
              <a:rPr lang="zh-CN" altLang="en-US" smtClean="0">
                <a:ea typeface="宋体" panose="02010600030101010101" pitchFamily="2" charset="-122"/>
              </a:rPr>
              <a:t>用例规约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827088" y="2205038"/>
            <a:ext cx="7129462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ea typeface="宋体" panose="02010600030101010101" pitchFamily="2" charset="-122"/>
              </a:rPr>
              <a:t>这里仅以求职者“添加应聘者信息”用例为例。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panose="02010600030101010101" pitchFamily="2" charset="-122"/>
              </a:rPr>
              <a:t>用例编号：001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panose="02010600030101010101" pitchFamily="2" charset="-122"/>
              </a:rPr>
              <a:t>用例名：添加应聘者信息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panose="02010600030101010101" pitchFamily="2" charset="-122"/>
              </a:rPr>
              <a:t>参与者：应聘者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panose="02010600030101010101" pitchFamily="2" charset="-122"/>
              </a:rPr>
              <a:t>前置条件：应聘者已登录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panose="02010600030101010101" pitchFamily="2" charset="-122"/>
              </a:rPr>
              <a:t>后置条件：应聘者应聘信息保存成功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panose="02010600030101010101" pitchFamily="2" charset="-122"/>
              </a:rPr>
              <a:t>事件路径：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panose="02010600030101010101" pitchFamily="2" charset="-122"/>
              </a:rPr>
              <a:t>1． 填写应聘信息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panose="02010600030101010101" pitchFamily="2" charset="-122"/>
              </a:rPr>
              <a:t>2．上传照片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panose="02010600030101010101" pitchFamily="2" charset="-122"/>
              </a:rPr>
              <a:t>3． 选择保存信息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panose="02010600030101010101" pitchFamily="2" charset="-122"/>
              </a:rPr>
              <a:t>4．系统更新数据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panose="02010600030101010101" pitchFamily="2" charset="-122"/>
              </a:rPr>
              <a:t>补充说明：注意部分信息需填写完全。 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20713"/>
            <a:ext cx="8010525" cy="6223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11.2	</a:t>
            </a:r>
            <a:r>
              <a:rPr lang="zh-CN" altLang="en-US">
                <a:ea typeface="宋体" panose="02010600030101010101" pitchFamily="2" charset="-122"/>
              </a:rPr>
              <a:t>数据库设计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11188" y="1549400"/>
            <a:ext cx="8013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smtClean="0">
                <a:ea typeface="宋体" panose="02010600030101010101" pitchFamily="2" charset="-122"/>
              </a:rPr>
              <a:t>11.2.1  </a:t>
            </a:r>
            <a:r>
              <a:rPr lang="zh-CN" altLang="en-US" smtClean="0">
                <a:ea typeface="宋体" panose="02010600030101010101" pitchFamily="2" charset="-122"/>
              </a:rPr>
              <a:t>数据库总体设计 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2205038"/>
            <a:ext cx="2570163" cy="396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885950" y="590550"/>
            <a:ext cx="5943600" cy="563563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11.3	</a:t>
            </a:r>
            <a:r>
              <a:rPr lang="zh-CN" altLang="en-US">
                <a:ea typeface="宋体" panose="02010600030101010101" pitchFamily="2" charset="-122"/>
              </a:rPr>
              <a:t>详细设计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57200" y="1295400"/>
            <a:ext cx="4038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sz="2400" smtClean="0">
                <a:ea typeface="宋体" panose="02010600030101010101" pitchFamily="2" charset="-122"/>
              </a:rPr>
              <a:t>11.3.1  </a:t>
            </a:r>
            <a:r>
              <a:rPr lang="zh-CN" altLang="en-US" sz="2400" smtClean="0">
                <a:ea typeface="宋体" panose="02010600030101010101" pitchFamily="2" charset="-122"/>
              </a:rPr>
              <a:t>权限说明 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12" name="Group 4"/>
          <p:cNvGraphicFramePr>
            <a:graphicFrameLocks noGrp="1"/>
          </p:cNvGraphicFramePr>
          <p:nvPr>
            <p:ph sz="half" idx="4294967295"/>
          </p:nvPr>
        </p:nvGraphicFramePr>
        <p:xfrm>
          <a:off x="971550" y="2420938"/>
          <a:ext cx="5327650" cy="2154873"/>
        </p:xfrm>
        <a:graphic>
          <a:graphicData uri="http://schemas.openxmlformats.org/drawingml/2006/table">
            <a:tbl>
              <a:tblPr/>
              <a:tblGrid>
                <a:gridCol w="1584325"/>
                <a:gridCol w="1079500"/>
                <a:gridCol w="26638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部门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角色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权限规划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7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人力资源部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管理员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(1)  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空缺岗位管理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(2)  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员工培训管理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(3)  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员工招聘管理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(4)  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用户基本信息管理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应聘者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应聘者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(1)  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个人招聘维护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971550" y="5013325"/>
            <a:ext cx="5329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ea typeface="宋体" panose="02010600030101010101" pitchFamily="2" charset="-122"/>
              </a:rPr>
              <a:t>系统分为两个角色：管理员、应聘者 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885950" y="590550"/>
            <a:ext cx="5943600" cy="563563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11.3	</a:t>
            </a:r>
            <a:r>
              <a:rPr lang="zh-CN" altLang="en-US">
                <a:ea typeface="宋体" panose="02010600030101010101" pitchFamily="2" charset="-122"/>
              </a:rPr>
              <a:t>详细设计</a:t>
            </a:r>
            <a:r>
              <a:rPr lang="zh-CN" altLang="en-US" sz="2800">
                <a:ea typeface="宋体" panose="02010600030101010101" pitchFamily="2" charset="-122"/>
              </a:rPr>
              <a:t> </a:t>
            </a: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457200" y="1295400"/>
            <a:ext cx="4038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sz="2400" smtClean="0">
                <a:ea typeface="宋体" panose="02010600030101010101" pitchFamily="2" charset="-122"/>
              </a:rPr>
              <a:t>11.3.2  </a:t>
            </a:r>
            <a:r>
              <a:rPr lang="zh-CN" altLang="en-US" sz="2400" smtClean="0">
                <a:ea typeface="宋体" panose="02010600030101010101" pitchFamily="2" charset="-122"/>
              </a:rPr>
              <a:t>目录功能对照表 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14" name="Group 4"/>
          <p:cNvGraphicFramePr>
            <a:graphicFrameLocks noGrp="1"/>
          </p:cNvGraphicFramePr>
          <p:nvPr>
            <p:ph sz="half" idx="4294967295"/>
          </p:nvPr>
        </p:nvGraphicFramePr>
        <p:xfrm>
          <a:off x="611188" y="1773238"/>
          <a:ext cx="8002587" cy="4795840"/>
        </p:xfrm>
        <a:graphic>
          <a:graphicData uri="http://schemas.openxmlformats.org/drawingml/2006/table">
            <a:tbl>
              <a:tblPr/>
              <a:tblGrid>
                <a:gridCol w="1439862"/>
                <a:gridCol w="5764213"/>
                <a:gridCol w="798512"/>
              </a:tblGrid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对应目录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功能说明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备注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com.esoft.dao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用于存放所有模型对象数据库操作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DAO</a:t>
                      </a: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的接口集合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com.esoft.dao.impl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用于存放所有模型对象实现数据库操作接口的类集合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com.esoft.factory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用于存放数据库操作的工厂方法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com.esoft.filter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用于存放过滤器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com.esoft.jdbc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用于存放底层连接数据库的公共代码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com.esoft.page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用于存放分页显示的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JavaBean</a:t>
                      </a: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组件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com.esoft.servlet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用于存放所有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Servlet</a:t>
                      </a: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组件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com.esoft.util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用于存放实用工具类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com.esoft.vo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用于存放实体对象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/WEB-/INF/lib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用于存放公用的库文件，例如，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Mysql</a:t>
                      </a: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的驱动程序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admin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用于存放所有公共页面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gwgl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用于存放岗位管理所有前台页面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images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用于存放图片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inc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用于存放分页显示的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JSP</a:t>
                      </a: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文件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js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用于存放所有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JS</a:t>
                      </a: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文件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pxgl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用于存放培训管理所有前台页面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zpgl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用于存放招聘管理所有前台页面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style</a:t>
                      </a:r>
                      <a:endParaRPr kumimoji="0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用于存放所有的样式表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前台</a:t>
                      </a:r>
                      <a:endParaRPr kumimoji="0" lang="zh-CN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20713"/>
            <a:ext cx="8010525" cy="6223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11.3	</a:t>
            </a:r>
            <a:r>
              <a:rPr lang="zh-CN" altLang="en-US">
                <a:ea typeface="宋体" panose="02010600030101010101" pitchFamily="2" charset="-122"/>
              </a:rPr>
              <a:t>详细设计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11188" y="1549400"/>
            <a:ext cx="8013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11.3.3  </a:t>
            </a:r>
            <a:r>
              <a:rPr lang="zh-CN" altLang="en-US" smtClean="0">
                <a:ea typeface="宋体" panose="02010600030101010101" pitchFamily="2" charset="-122"/>
              </a:rPr>
              <a:t>前台</a:t>
            </a:r>
            <a:r>
              <a:rPr lang="en-US" altLang="zh-CN" smtClean="0">
                <a:ea typeface="宋体" panose="02010600030101010101" pitchFamily="2" charset="-122"/>
              </a:rPr>
              <a:t>/</a:t>
            </a:r>
            <a:r>
              <a:rPr lang="zh-CN" altLang="en-US" smtClean="0">
                <a:ea typeface="宋体" panose="02010600030101010101" pitchFamily="2" charset="-122"/>
              </a:rPr>
              <a:t>后台界面设计及实现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000125" y="2541588"/>
            <a:ext cx="5219700" cy="1670050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000125" y="2751138"/>
            <a:ext cx="5227638" cy="425450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000000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sz="1400">
                <a:latin typeface="Times New Roman" panose="02020603050405020304" pitchFamily="18" charset="0"/>
                <a:ea typeface="宋体" panose="02010600030101010101" pitchFamily="2" charset="-122"/>
              </a:rPr>
              <a:t>页眉部分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996950" y="3886200"/>
            <a:ext cx="5227638" cy="430213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000000"/>
            </a:solidFill>
            <a:miter lim="800000"/>
          </a:ln>
        </p:spPr>
        <p:txBody>
          <a:bodyPr/>
          <a:lstStyle/>
          <a:p>
            <a:pPr algn="ctr" eaLnBrk="0" hangingPunct="0"/>
            <a:r>
              <a:rPr lang="zh-CN" altLang="en-US" sz="1400">
                <a:latin typeface="Times New Roman" panose="02020603050405020304" pitchFamily="18" charset="0"/>
                <a:ea typeface="宋体" panose="02010600030101010101" pitchFamily="2" charset="-122"/>
              </a:rPr>
              <a:t>页脚部分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000125" y="3048000"/>
            <a:ext cx="5224463" cy="838200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000000"/>
            </a:solidFill>
            <a:miter lim="800000"/>
          </a:ln>
        </p:spPr>
        <p:txBody>
          <a:bodyPr/>
          <a:lstStyle>
            <a:lvl1pPr indent="2698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400">
                <a:latin typeface="Times New Roman" panose="02020603050405020304" pitchFamily="18" charset="0"/>
                <a:ea typeface="宋体" panose="02010600030101010101" pitchFamily="2" charset="-122"/>
              </a:rPr>
              <a:t>内容部分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971550" y="4652963"/>
            <a:ext cx="5256213" cy="1670050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971550" y="4652963"/>
            <a:ext cx="5256213" cy="425450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en-US" sz="1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 eaLnBrk="0" hangingPunct="0"/>
            <a:r>
              <a:rPr lang="zh-CN" altLang="en-US" sz="1400">
                <a:latin typeface="Times New Roman" panose="02020603050405020304" pitchFamily="18" charset="0"/>
                <a:ea typeface="宋体" panose="02010600030101010101" pitchFamily="2" charset="-122"/>
              </a:rPr>
              <a:t>页眉部分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3492500" y="5084763"/>
            <a:ext cx="0" cy="1252537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1619250" y="5373688"/>
            <a:ext cx="1133475" cy="4175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1400">
                <a:latin typeface="Times New Roman" panose="02020603050405020304" pitchFamily="18" charset="0"/>
                <a:ea typeface="宋体" panose="02010600030101010101" pitchFamily="2" charset="-122"/>
              </a:rPr>
              <a:t>导航栏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4356100" y="5445125"/>
            <a:ext cx="1295400" cy="4175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zh-CN" altLang="en-US" sz="1400">
                <a:latin typeface="Times New Roman" panose="02020603050405020304" pitchFamily="18" charset="0"/>
                <a:ea typeface="宋体" panose="02010600030101010101" pitchFamily="2" charset="-122"/>
              </a:rPr>
              <a:t>内容部分</a:t>
            </a:r>
            <a:endParaRPr lang="zh-CN" altLang="en-US" sz="1400">
              <a:ea typeface="宋体" panose="02010600030101010101" pitchFamily="2" charset="-122"/>
            </a:endParaRPr>
          </a:p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6516688" y="3068638"/>
            <a:ext cx="11509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ea typeface="宋体" panose="02010600030101010101" pitchFamily="2" charset="-122"/>
              </a:rPr>
              <a:t>前台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6516688" y="5294313"/>
            <a:ext cx="11509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ea typeface="宋体" panose="02010600030101010101" pitchFamily="2" charset="-122"/>
              </a:rPr>
              <a:t>后台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885950" y="590550"/>
            <a:ext cx="5943600" cy="563563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11.4  </a:t>
            </a:r>
            <a:r>
              <a:rPr lang="zh-CN" altLang="en-US">
                <a:ea typeface="宋体" panose="02010600030101010101" pitchFamily="2" charset="-122"/>
              </a:rPr>
              <a:t>编码实现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mtClean="0">
                <a:ea typeface="宋体" panose="02010600030101010101" pitchFamily="2" charset="-122"/>
              </a:rPr>
              <a:t>11.4.</a:t>
            </a:r>
            <a:r>
              <a:rPr lang="en-US" smtClean="0">
                <a:ea typeface="宋体" panose="02010600030101010101" pitchFamily="2" charset="-122"/>
              </a:rPr>
              <a:t>1</a:t>
            </a:r>
            <a:r>
              <a:rPr lang="zh-CN" altLang="en-US" smtClean="0">
                <a:ea typeface="宋体" panose="02010600030101010101" pitchFamily="2" charset="-122"/>
              </a:rPr>
              <a:t>  公共模块设计及实现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828675" y="2349500"/>
            <a:ext cx="734536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98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MD5.java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用于加密系统里用户名及密码，</a:t>
            </a:r>
            <a:r>
              <a:rPr lang="en-US" sz="200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MD5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的典型应用是对一段</a:t>
            </a:r>
            <a:r>
              <a:rPr lang="en-US" sz="200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Message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字节串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产生指纹，以防止被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“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篡改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”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。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827088" y="3933825"/>
            <a:ext cx="727233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98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sym typeface="Times New Roman" panose="02020603050405020304" pitchFamily="18" charset="0"/>
              </a:rPr>
              <a:t>RandomString</a:t>
            </a: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.java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用于当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Times New Roman" panose="02020603050405020304" pitchFamily="18" charset="0"/>
              </a:rPr>
              <a:t>管理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员输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Times New Roman" panose="02020603050405020304" pitchFamily="18" charset="0"/>
              </a:rPr>
              <a:t>入应聘信息时，自动生成用户注册名和默认密码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20713"/>
            <a:ext cx="8010525" cy="6223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11.4  </a:t>
            </a:r>
            <a:r>
              <a:rPr lang="zh-CN" altLang="en-US">
                <a:ea typeface="宋体" panose="02010600030101010101" pitchFamily="2" charset="-122"/>
              </a:rPr>
              <a:t>编码实现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11188" y="1549400"/>
            <a:ext cx="8013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11.4.2  </a:t>
            </a:r>
            <a:r>
              <a:rPr lang="zh-CN" altLang="en-US" smtClean="0">
                <a:ea typeface="宋体" panose="02010600030101010101" pitchFamily="2" charset="-122"/>
              </a:rPr>
              <a:t>后台框架设计及实现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88" y="2541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88" y="2541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88" y="2479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88" y="2479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068638"/>
            <a:ext cx="16764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2492375"/>
            <a:ext cx="1876425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2781300"/>
            <a:ext cx="160972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3068638"/>
            <a:ext cx="17145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3068638"/>
            <a:ext cx="162877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539750" y="4508500"/>
            <a:ext cx="933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控制层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484438" y="5229225"/>
            <a:ext cx="933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显示层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4211638" y="5229225"/>
            <a:ext cx="1225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 实体对象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6011863" y="5222875"/>
            <a:ext cx="1263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 DAO接口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7423150" y="5222875"/>
            <a:ext cx="172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 DAO接口实现 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20713"/>
            <a:ext cx="8010525" cy="6223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11.4  </a:t>
            </a:r>
            <a:r>
              <a:rPr lang="zh-CN" altLang="en-US">
                <a:ea typeface="宋体" panose="02010600030101010101" pitchFamily="2" charset="-122"/>
              </a:rPr>
              <a:t>编码实现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11188" y="1549400"/>
            <a:ext cx="8013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11.4.2  </a:t>
            </a:r>
            <a:r>
              <a:rPr lang="zh-CN" altLang="en-US" smtClean="0">
                <a:ea typeface="宋体" panose="02010600030101010101" pitchFamily="2" charset="-122"/>
              </a:rPr>
              <a:t>后台框架设计及实现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88" y="2541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88" y="2541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88" y="2479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88" y="2479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9" name="Picture 8" descr="Snap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349500"/>
            <a:ext cx="6119812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492500" y="6237288"/>
            <a:ext cx="4464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添加应聘者信息的顺序图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0"/>
            <a:ext cx="7256762" cy="7256364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V="1">
            <a:off x="1608166" y="1145782"/>
            <a:ext cx="4826927" cy="4827192"/>
          </a:xfrm>
          <a:custGeom>
            <a:avLst/>
            <a:gdLst>
              <a:gd name="connsiteX0" fmla="*/ 0 w 4343400"/>
              <a:gd name="connsiteY0" fmla="*/ 0 h 4343400"/>
              <a:gd name="connsiteX1" fmla="*/ 4343400 w 4343400"/>
              <a:gd name="connsiteY1" fmla="*/ 4343400 h 4343400"/>
              <a:gd name="connsiteX2" fmla="*/ 3486149 w 4343400"/>
              <a:gd name="connsiteY2" fmla="*/ 4343400 h 4343400"/>
              <a:gd name="connsiteX3" fmla="*/ 0 w 4343400"/>
              <a:gd name="connsiteY3" fmla="*/ 857251 h 4343400"/>
              <a:gd name="connsiteX4" fmla="*/ 0 w 4343400"/>
              <a:gd name="connsiteY4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4343400">
                <a:moveTo>
                  <a:pt x="0" y="0"/>
                </a:moveTo>
                <a:lnTo>
                  <a:pt x="4343400" y="4343400"/>
                </a:lnTo>
                <a:lnTo>
                  <a:pt x="3486149" y="4343400"/>
                </a:lnTo>
                <a:lnTo>
                  <a:pt x="0" y="8572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7167" y="1960141"/>
            <a:ext cx="8595718" cy="62228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&lt;&lt;JSP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与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Servlet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开发技术与典型应用教程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&gt;&gt;</a:t>
            </a:r>
            <a:endParaRPr kumimoji="1" lang="zh-CN" altLang="en-US" sz="3200" b="1" dirty="0">
              <a:solidFill>
                <a:srgbClr val="52658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09295" y="2896245"/>
            <a:ext cx="6016403" cy="56072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感谢观看 </a:t>
            </a:r>
            <a:r>
              <a:rPr kumimoji="1" lang="en-US" altLang="zh-CN" sz="28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THANK YOU!</a:t>
            </a:r>
            <a:endParaRPr kumimoji="1" lang="zh-CN" altLang="en-US" sz="2800" dirty="0">
              <a:solidFill>
                <a:prstClr val="white">
                  <a:lumMod val="50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2" name="直角三角形 11"/>
          <p:cNvSpPr/>
          <p:nvPr/>
        </p:nvSpPr>
        <p:spPr>
          <a:xfrm flipH="1">
            <a:off x="8229575" y="3976365"/>
            <a:ext cx="4629176" cy="3279999"/>
          </a:xfrm>
          <a:prstGeom prst="rtTriangle">
            <a:avLst/>
          </a:prstGeom>
          <a:solidFill>
            <a:srgbClr val="43536A"/>
          </a:solidFill>
          <a:ln>
            <a:solidFill>
              <a:srgbClr val="435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直角三角形 15"/>
          <p:cNvSpPr/>
          <p:nvPr/>
        </p:nvSpPr>
        <p:spPr>
          <a:xfrm rot="13500000" flipV="1">
            <a:off x="2775844" y="-1270801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73591" y="397636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b="1" dirty="0">
                <a:solidFill>
                  <a:srgbClr val="526580"/>
                </a:solidFill>
                <a:cs typeface="+mn-ea"/>
              </a:rPr>
              <a:t>大连理工大学出版社</a:t>
            </a:r>
            <a:endParaRPr kumimoji="1" lang="zh-CN" altLang="en-US" sz="2000" b="1" dirty="0">
              <a:solidFill>
                <a:srgbClr val="526580"/>
              </a:solidFill>
              <a:cs typeface="+mn-ea"/>
            </a:endParaRPr>
          </a:p>
        </p:txBody>
      </p:sp>
      <p:sp>
        <p:nvSpPr>
          <p:cNvPr id="10" name="文本框 8"/>
          <p:cNvSpPr txBox="1"/>
          <p:nvPr/>
        </p:nvSpPr>
        <p:spPr>
          <a:xfrm rot="2695748">
            <a:off x="1285965" y="3095620"/>
            <a:ext cx="6117523" cy="606891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zh-CN" altLang="zh-CN" sz="3100" b="1" dirty="0" smtClean="0">
                <a:solidFill>
                  <a:srgbClr val="526580"/>
                </a:solidFill>
                <a:cs typeface="+mn-ea"/>
              </a:rPr>
              <a:t>第</a:t>
            </a:r>
            <a:r>
              <a:rPr kumimoji="1" lang="en-US" altLang="zh-CN" sz="3100" b="1" dirty="0" smtClean="0">
                <a:solidFill>
                  <a:srgbClr val="526580"/>
                </a:solidFill>
                <a:cs typeface="+mn-ea"/>
              </a:rPr>
              <a:t>11</a:t>
            </a:r>
            <a:r>
              <a:rPr kumimoji="1" lang="zh-CN" altLang="zh-CN" sz="3100" b="1" dirty="0">
                <a:solidFill>
                  <a:srgbClr val="526580"/>
                </a:solidFill>
                <a:cs typeface="+mn-ea"/>
              </a:rPr>
              <a:t>章</a:t>
            </a:r>
            <a:r>
              <a:rPr kumimoji="1" lang="en-US" altLang="zh-CN" sz="3100" b="1" dirty="0">
                <a:solidFill>
                  <a:srgbClr val="526580"/>
                </a:solidFill>
                <a:cs typeface="+mn-ea"/>
              </a:rPr>
              <a:t>  </a:t>
            </a:r>
            <a:r>
              <a:rPr kumimoji="1" lang="zh-CN" altLang="zh-CN" sz="3100" b="1" dirty="0">
                <a:solidFill>
                  <a:srgbClr val="526580"/>
                </a:solidFill>
                <a:cs typeface="+mn-ea"/>
              </a:rPr>
              <a:t>生产性企业招聘管理系统</a:t>
            </a:r>
            <a:endParaRPr kumimoji="1" lang="zh-CN" altLang="en-US" sz="3100" b="1" dirty="0">
              <a:solidFill>
                <a:srgbClr val="526580"/>
              </a:solidFill>
              <a:cs typeface="+mn-ea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12" grpId="0" animBg="1"/>
      <p:bldP spid="16" grpId="0" animBg="1"/>
      <p:bldP spid="4" grpId="0"/>
      <p:bldP spid="10" grpId="0"/>
    </p:bldLst>
  </p:timing>
</p:sld>
</file>

<file path=ppt/tags/tag1.xml><?xml version="1.0" encoding="utf-8"?>
<p:tagLst xmlns:p="http://schemas.openxmlformats.org/presentationml/2006/main">
  <p:tag name="ISPRING_PRESENTATION_TITLE" val="bt026.pptx"/>
</p:tagLst>
</file>

<file path=ppt/theme/theme1.xml><?xml version="1.0" encoding="utf-8"?>
<a:theme xmlns:a="http://schemas.openxmlformats.org/drawingml/2006/main" name="自定义设计方案">
  <a:themeElements>
    <a:clrScheme name="自定义 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366"/>
      </a:accent1>
      <a:accent2>
        <a:srgbClr val="003366"/>
      </a:accent2>
      <a:accent3>
        <a:srgbClr val="003366"/>
      </a:accent3>
      <a:accent4>
        <a:srgbClr val="003366"/>
      </a:accent4>
      <a:accent5>
        <a:srgbClr val="003366"/>
      </a:accent5>
      <a:accent6>
        <a:srgbClr val="003366"/>
      </a:accent6>
      <a:hlink>
        <a:srgbClr val="003366"/>
      </a:hlink>
      <a:folHlink>
        <a:srgbClr val="003366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9D9D9">
            <a:alpha val="50196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灰白简约科技PPT模板">
  <a:themeElements>
    <a:clrScheme name="灰白简约科技PPT模板 3">
      <a:dk1>
        <a:srgbClr val="000000"/>
      </a:dk1>
      <a:lt1>
        <a:srgbClr val="FFFFFF"/>
      </a:lt1>
      <a:dk2>
        <a:srgbClr val="333399"/>
      </a:dk2>
      <a:lt2>
        <a:srgbClr val="C0C0C0"/>
      </a:lt2>
      <a:accent1>
        <a:srgbClr val="88BEF4"/>
      </a:accent1>
      <a:accent2>
        <a:srgbClr val="F1900F"/>
      </a:accent2>
      <a:accent3>
        <a:srgbClr val="FFFFFF"/>
      </a:accent3>
      <a:accent4>
        <a:srgbClr val="000000"/>
      </a:accent4>
      <a:accent5>
        <a:srgbClr val="C3DBF8"/>
      </a:accent5>
      <a:accent6>
        <a:srgbClr val="DA820C"/>
      </a:accent6>
      <a:hlink>
        <a:srgbClr val="CC3300"/>
      </a:hlink>
      <a:folHlink>
        <a:srgbClr val="0066CC"/>
      </a:folHlink>
    </a:clrScheme>
    <a:fontScheme name="灰白简约科技PPT模板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灰白简约科技PPT模板 1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2">
        <a:dk1>
          <a:srgbClr val="000000"/>
        </a:dk1>
        <a:lt1>
          <a:srgbClr val="FFFFFF"/>
        </a:lt1>
        <a:dk2>
          <a:srgbClr val="26728A"/>
        </a:dk2>
        <a:lt2>
          <a:srgbClr val="DDDDDD"/>
        </a:lt2>
        <a:accent1>
          <a:srgbClr val="9FCAD3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8A8AE7"/>
        </a:accent6>
        <a:hlink>
          <a:srgbClr val="71A5DF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3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1638</Words>
  <Application>WPS 演示</Application>
  <PresentationFormat>自定义</PresentationFormat>
  <Paragraphs>289</Paragraphs>
  <Slides>15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方正正黑简体</vt:lpstr>
      <vt:lpstr>黑体</vt:lpstr>
      <vt:lpstr>楷体_GB2312</vt:lpstr>
      <vt:lpstr>新宋体</vt:lpstr>
      <vt:lpstr>Times New Roman</vt:lpstr>
      <vt:lpstr>微软雅黑</vt:lpstr>
      <vt:lpstr>Arial Unicode MS</vt:lpstr>
      <vt:lpstr>自定义设计方案</vt:lpstr>
      <vt:lpstr>灰白简约科技PPT模板</vt:lpstr>
      <vt:lpstr>PowerPoint 演示文稿</vt:lpstr>
      <vt:lpstr>PowerPoint 演示文稿</vt:lpstr>
      <vt:lpstr>PowerPoint 演示文稿</vt:lpstr>
      <vt:lpstr>第11章 生产性企业招聘管理系统</vt:lpstr>
      <vt:lpstr>第11章 生产性企业招聘管理系统</vt:lpstr>
      <vt:lpstr>11.1	用例设计 </vt:lpstr>
      <vt:lpstr>11.1	用例设计 </vt:lpstr>
      <vt:lpstr>11.2	数据库设计 </vt:lpstr>
      <vt:lpstr>11.3	详细设计 </vt:lpstr>
      <vt:lpstr>11.3	详细设计 </vt:lpstr>
      <vt:lpstr>11.3	详细设计</vt:lpstr>
      <vt:lpstr>11.4  编码实现</vt:lpstr>
      <vt:lpstr>11.4  编码实现 </vt:lpstr>
      <vt:lpstr>11.4  编码实现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bt026.pptx</dc:title>
  <dc:creator/>
  <cp:lastModifiedBy>fx</cp:lastModifiedBy>
  <cp:revision>3</cp:revision>
  <dcterms:created xsi:type="dcterms:W3CDTF">2016-09-20T02:06:00Z</dcterms:created>
  <dcterms:modified xsi:type="dcterms:W3CDTF">2026-07-21T11:23:43Z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59D1094538454A7D9EBADBEE9B5D05A3_12</vt:lpwstr>
  </property>
  <property fmtid="{D5CDD505-2E9C-101B-9397-08002B2CF9AE}" pid="3" name="KSOProductBuildVer">
    <vt:lpwstr>2052-12.1.0.26895</vt:lpwstr>
  </property>
</Properties>
</file>