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62" r:id="rId3"/>
    <p:sldId id="373" r:id="rId5"/>
    <p:sldId id="374" r:id="rId6"/>
    <p:sldId id="340" r:id="rId7"/>
    <p:sldId id="353" r:id="rId8"/>
    <p:sldId id="407" r:id="rId9"/>
    <p:sldId id="456" r:id="rId10"/>
    <p:sldId id="488" r:id="rId11"/>
    <p:sldId id="458" r:id="rId12"/>
    <p:sldId id="347" r:id="rId13"/>
  </p:sldIdLst>
  <p:sldSz cx="12198350" cy="6858000"/>
  <p:notesSz cx="6858000" cy="9144000"/>
  <p:custDataLst>
    <p:tags r:id="rId17"/>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4" userDrawn="1">
          <p15:clr>
            <a:srgbClr val="A4A3A4"/>
          </p15:clr>
        </p15:guide>
        <p15:guide id="2" pos="3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14"/>
        <p:guide pos="3916"/>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22.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594985" y="3500755"/>
            <a:ext cx="5594350" cy="1337945"/>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定义一个</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LinkedHashSet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集合，向该集合插入</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个字符串元素，使用</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Iterator</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接口遍历集合中的字符串元素。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667375" y="4797425"/>
            <a:ext cx="5594350" cy="506730"/>
          </a:xfrm>
          <a:prstGeom prst="rect">
            <a:avLst/>
          </a:prstGeom>
        </p:spPr>
        <p:txBody>
          <a:bodyPr wrap="square">
            <a:spAutoFit/>
          </a:bodyPr>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par>
                                <p:cTn id="15" presetID="5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3"/>
                                        </p:tgtEl>
                                        <p:attrNameLst>
                                          <p:attrName>ppt_x</p:attrName>
                                          <p:attrName>ppt_y</p:attrName>
                                        </p:attrNameLst>
                                      </p:cBhvr>
                                    </p:animMotion>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101090" y="-9906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605588" y="360521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buClrTx/>
              <a:buSzTx/>
              <a:buFont typeface="Arial" panose="020B0604020202020204" pitchFamily="34" charset="0"/>
              <a:buChar cha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LinkedHashSet</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1" nodeType="withEffect">
                                  <p:stCondLst>
                                    <p:cond delay="0"/>
                                  </p:stCondLst>
                                  <p:childTnLst>
                                    <p:set>
                                      <p:cBhvr>
                                        <p:cTn id="16" dur="1" fill="hold">
                                          <p:stCondLst>
                                            <p:cond delay="0"/>
                                          </p:stCondLst>
                                        </p:cTn>
                                        <p:tgtEl>
                                          <p:spTgt spid="2"/>
                                        </p:tgtEl>
                                        <p:attrNameLst>
                                          <p:attrName>style.visibility</p:attrName>
                                        </p:attrNameLst>
                                      </p:cBhvr>
                                      <p:to>
                                        <p:strVal val="visible"/>
                                      </p:to>
                                    </p:set>
                                    <p:animScale>
                                      <p:cBhvr>
                                        <p:cTn id="1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2"/>
                                        </p:tgtEl>
                                        <p:attrNameLst>
                                          <p:attrName>ppt_x</p:attrName>
                                          <p:attrName>ppt_y</p:attrName>
                                        </p:attrNameLst>
                                      </p:cBhvr>
                                    </p:animMotion>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LinkedHashSet</a:t>
            </a:r>
            <a:endParaRPr lang="en-US" altLang="zh-CN"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346835" y="1844675"/>
            <a:ext cx="9742805" cy="2437765"/>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lang="zh-CN" altLang="en-US" sz="2400">
                <a:latin typeface="宋体" panose="02010600030101010101" pitchFamily="2" charset="-122"/>
                <a:cs typeface="宋体" panose="02010600030101010101" pitchFamily="2" charset="-122"/>
              </a:rPr>
              <a:t>类</a:t>
            </a:r>
            <a:r>
              <a:rPr lang="en-US" altLang="zh-CN" sz="2400">
                <a:latin typeface="宋体" panose="02010600030101010101" pitchFamily="2" charset="-122"/>
                <a:cs typeface="宋体" panose="02010600030101010101" pitchFamily="2" charset="-122"/>
              </a:rPr>
              <a:t>HashSet</a:t>
            </a:r>
            <a:r>
              <a:rPr lang="zh-CN" altLang="en-US" sz="2400">
                <a:latin typeface="宋体" panose="02010600030101010101" pitchFamily="2" charset="-122"/>
                <a:cs typeface="宋体" panose="02010600030101010101" pitchFamily="2" charset="-122"/>
              </a:rPr>
              <a:t>和</a:t>
            </a:r>
            <a:r>
              <a:rPr lang="en-US" altLang="zh-CN" sz="2400">
                <a:latin typeface="宋体" panose="02010600030101010101" pitchFamily="2" charset="-122"/>
                <a:cs typeface="宋体" panose="02010600030101010101" pitchFamily="2" charset="-122"/>
              </a:rPr>
              <a:t> LinkedHashSet</a:t>
            </a:r>
            <a:r>
              <a:rPr lang="zh-CN" altLang="en-US" sz="2400">
                <a:latin typeface="宋体" panose="02010600030101010101" pitchFamily="2" charset="-122"/>
                <a:cs typeface="宋体" panose="02010600030101010101" pitchFamily="2" charset="-122"/>
              </a:rPr>
              <a:t>都是接口</a:t>
            </a:r>
            <a:r>
              <a:rPr lang="en-US" altLang="zh-CN" sz="2400">
                <a:latin typeface="宋体" panose="02010600030101010101" pitchFamily="2" charset="-122"/>
                <a:cs typeface="宋体" panose="02010600030101010101" pitchFamily="2" charset="-122"/>
              </a:rPr>
              <a:t>Set</a:t>
            </a:r>
            <a:r>
              <a:rPr lang="zh-CN" altLang="en-US" sz="2400">
                <a:latin typeface="宋体" panose="02010600030101010101" pitchFamily="2" charset="-122"/>
                <a:cs typeface="宋体" panose="02010600030101010101" pitchFamily="2" charset="-122"/>
              </a:rPr>
              <a:t>的实现，两者都不能保存重复的数据。</a:t>
            </a:r>
            <a:endParaRPr lang="zh-CN" altLang="en-US"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400">
                <a:latin typeface="宋体" panose="02010600030101010101" pitchFamily="2" charset="-122"/>
                <a:cs typeface="宋体" panose="02010600030101010101" pitchFamily="2" charset="-122"/>
              </a:rPr>
              <a:t>主要区别是</a:t>
            </a:r>
            <a:r>
              <a:rPr lang="en-US" altLang="zh-CN" sz="2400">
                <a:latin typeface="宋体" panose="02010600030101010101" pitchFamily="2" charset="-122"/>
                <a:cs typeface="宋体" panose="02010600030101010101" pitchFamily="2" charset="-122"/>
              </a:rPr>
              <a:t>HashSet</a:t>
            </a:r>
            <a:r>
              <a:rPr lang="zh-CN" altLang="en-US" sz="2400">
                <a:latin typeface="宋体" panose="02010600030101010101" pitchFamily="2" charset="-122"/>
                <a:cs typeface="宋体" panose="02010600030101010101" pitchFamily="2" charset="-122"/>
              </a:rPr>
              <a:t>不保证集合中元素的顺序，即不能保证迭代的顺序与插入的顺序一致。</a:t>
            </a:r>
            <a:endParaRPr lang="zh-CN" altLang="en-US"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altLang="en-US" sz="2400">
                <a:latin typeface="宋体" panose="02010600030101010101" pitchFamily="2" charset="-122"/>
                <a:cs typeface="宋体" panose="02010600030101010101" pitchFamily="2" charset="-122"/>
              </a:rPr>
              <a:t>而</a:t>
            </a:r>
            <a:r>
              <a:rPr lang="en-US" altLang="zh-CN" sz="2400">
                <a:latin typeface="宋体" panose="02010600030101010101" pitchFamily="2" charset="-122"/>
                <a:cs typeface="宋体" panose="02010600030101010101" pitchFamily="2" charset="-122"/>
              </a:rPr>
              <a:t>LinkedHashSet</a:t>
            </a:r>
            <a:r>
              <a:rPr lang="zh-CN" altLang="en-US" sz="2400">
                <a:latin typeface="宋体" panose="02010600030101010101" pitchFamily="2" charset="-122"/>
                <a:cs typeface="宋体" panose="02010600030101010101" pitchFamily="2" charset="-122"/>
              </a:rPr>
              <a:t>按照元素插入的顺序进行迭代，即迭代输出的顺序与插入的顺序保持一致。</a:t>
            </a:r>
            <a:endParaRPr lang="zh-CN" altLang="en-US" sz="2400">
              <a:latin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133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定义一个</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LinkedHashSet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集合，向该集合插入</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个字符串元素，使用</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Iterator</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接口遍历集合中的字符串元素。</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058545" y="2060575"/>
            <a:ext cx="10810240" cy="1238885"/>
          </a:xfrm>
          <a:prstGeom prst="rect">
            <a:avLst/>
          </a:prstGeom>
          <a:noFill/>
        </p:spPr>
        <p:txBody>
          <a:bodyPr wrap="square" rtlCol="0" anchor="t">
            <a:noAutofit/>
          </a:bodyPr>
          <a:lstStyle/>
          <a:p>
            <a:r>
              <a:rPr lang="zh-CN" altLang="en-US" sz="2000">
                <a:latin typeface="+mn-ea"/>
                <a:ea typeface="+mn-ea"/>
                <a:cs typeface="+mn-ea"/>
                <a:sym typeface="+mn-ea"/>
              </a:rPr>
              <a:t>结合任务描述和知识链接中接口的定义和实现方法相关知识点可以得到文件</a:t>
            </a:r>
            <a:r>
              <a:rPr lang="en-US" altLang="zh-CN" sz="2000">
                <a:latin typeface="+mn-ea"/>
                <a:ea typeface="+mn-ea"/>
                <a:cs typeface="+mn-ea"/>
                <a:sym typeface="+mn-ea"/>
              </a:rPr>
              <a:t>9-10</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9-10 Example09.java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2066925" y="2997200"/>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400">
                <a:latin typeface="Times New Roman" panose="02020603050405020304"/>
              </a:rPr>
              <a:t>1import java.util.Iterator;</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2import java.util.LinkedHashSet;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3public class Example09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4    public static void main</a:t>
            </a:r>
            <a:r>
              <a:rPr lang="zh-CN" altLang="en-US" sz="2400">
                <a:latin typeface="Times New Roman" panose="02020603050405020304"/>
              </a:rPr>
              <a:t>（</a:t>
            </a:r>
            <a:r>
              <a:rPr lang="en-US" altLang="zh-CN" sz="2400">
                <a:latin typeface="Times New Roman" panose="02020603050405020304"/>
              </a:rPr>
              <a:t>String[] args</a:t>
            </a:r>
            <a:r>
              <a:rPr lang="zh-CN" altLang="en-US" sz="2400">
                <a:latin typeface="Times New Roman" panose="02020603050405020304"/>
              </a:rPr>
              <a:t>）</a:t>
            </a:r>
            <a:r>
              <a:rPr lang="en-US" altLang="zh-CN" sz="2400">
                <a:latin typeface="Times New Roman" panose="02020603050405020304"/>
              </a:rPr>
              <a:t>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5        LinkedHashSet set = new LinkedHashSet</a:t>
            </a:r>
            <a:r>
              <a:rPr lang="zh-CN" altLang="en-US" sz="2400">
                <a:latin typeface="Times New Roman" panose="02020603050405020304"/>
              </a:rPr>
              <a:t>（）</a:t>
            </a:r>
            <a:r>
              <a:rPr lang="en-US" altLang="zh-CN" sz="2400">
                <a:latin typeface="Times New Roman" panose="02020603050405020304"/>
              </a:rPr>
              <a:t>;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6        set.add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张华</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                   // </a:t>
            </a:r>
            <a:r>
              <a:rPr lang="zh-CN" altLang="en-US" sz="2400">
                <a:latin typeface="Times New Roman" panose="02020603050405020304"/>
              </a:rPr>
              <a:t>向该</a:t>
            </a:r>
            <a:r>
              <a:rPr lang="en-US" altLang="zh-CN" sz="2400">
                <a:latin typeface="Times New Roman" panose="02020603050405020304"/>
              </a:rPr>
              <a:t>Set</a:t>
            </a:r>
            <a:r>
              <a:rPr lang="zh-CN" altLang="en-US" sz="2400">
                <a:latin typeface="Times New Roman" panose="02020603050405020304"/>
              </a:rPr>
              <a:t>集合中添加字符串</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7        set.add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李磊</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8        set.add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王浩</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9       Iterator it = set.iterator</a:t>
            </a:r>
            <a:r>
              <a:rPr lang="zh-CN" altLang="en-US" sz="2400">
                <a:latin typeface="Times New Roman" panose="02020603050405020304"/>
              </a:rPr>
              <a:t>（）</a:t>
            </a:r>
            <a:r>
              <a:rPr lang="en-US" altLang="zh-CN" sz="2400">
                <a:latin typeface="Times New Roman" panose="02020603050405020304"/>
              </a:rPr>
              <a:t>;  // </a:t>
            </a:r>
            <a:r>
              <a:rPr lang="zh-CN" altLang="en-US" sz="2400">
                <a:latin typeface="Times New Roman" panose="02020603050405020304"/>
              </a:rPr>
              <a:t>获取</a:t>
            </a:r>
            <a:r>
              <a:rPr lang="en-US" altLang="zh-CN" sz="2400">
                <a:latin typeface="Times New Roman" panose="02020603050405020304"/>
              </a:rPr>
              <a:t>Iterator</a:t>
            </a:r>
            <a:r>
              <a:rPr lang="zh-CN" altLang="en-US" sz="2400">
                <a:latin typeface="Times New Roman" panose="02020603050405020304"/>
              </a:rPr>
              <a:t>对象</a:t>
            </a:r>
            <a:endParaRPr lang="zh-CN" altLang="en-US" sz="2400">
              <a:latin typeface="Times New Roman" panose="02020603050405020304"/>
            </a:endParaRPr>
          </a:p>
          <a:p>
            <a:pPr marL="0" indent="266700" algn="just" defTabSz="266700" latinLnBrk="0">
              <a:lnSpc>
                <a:spcPct val="100000"/>
              </a:lnSpc>
              <a:spcBef>
                <a:spcPct val="0"/>
              </a:spcBef>
              <a:spcAft>
                <a:spcPct val="0"/>
              </a:spcAft>
            </a:pPr>
            <a:endParaRPr lang="en-US" altLang="zh-CN" sz="2400">
              <a:latin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058545" y="2060575"/>
            <a:ext cx="10810240" cy="1238885"/>
          </a:xfrm>
          <a:prstGeom prst="rect">
            <a:avLst/>
          </a:prstGeom>
          <a:noFill/>
        </p:spPr>
        <p:txBody>
          <a:bodyPr wrap="square" rtlCol="0" anchor="t">
            <a:noAutofit/>
          </a:bodyPr>
          <a:lstStyle/>
          <a:p>
            <a:r>
              <a:rPr lang="zh-CN" altLang="en-US" sz="2000">
                <a:latin typeface="+mn-ea"/>
                <a:ea typeface="+mn-ea"/>
                <a:cs typeface="+mn-ea"/>
                <a:sym typeface="+mn-ea"/>
              </a:rPr>
              <a:t>结合任务描述和知识链接中接口的定义和实现方法相关知识点可以得到文件</a:t>
            </a:r>
            <a:r>
              <a:rPr lang="en-US" altLang="zh-CN" sz="2000">
                <a:latin typeface="+mn-ea"/>
                <a:ea typeface="+mn-ea"/>
                <a:cs typeface="+mn-ea"/>
                <a:sym typeface="+mn-ea"/>
              </a:rPr>
              <a:t>9-10</a:t>
            </a:r>
            <a:r>
              <a:rPr lang="zh-CN" altLang="en-US" sz="2000">
                <a:latin typeface="+mn-ea"/>
                <a:ea typeface="+mn-ea"/>
                <a:cs typeface="+mn-ea"/>
                <a:sym typeface="+mn-ea"/>
              </a:rPr>
              <a:t>所示的代码。</a:t>
            </a:r>
            <a:endParaRPr lang="zh-CN" altLang="en-US" sz="2000">
              <a:latin typeface="+mn-ea"/>
              <a:ea typeface="+mn-ea"/>
              <a:cs typeface="+mn-ea"/>
              <a:sym typeface="+mn-ea"/>
            </a:endParaRPr>
          </a:p>
          <a:p>
            <a:pPr algn="ctr"/>
            <a:endParaRPr lang="zh-CN" altLang="en-US" sz="2000">
              <a:latin typeface="+mn-ea"/>
              <a:ea typeface="+mn-ea"/>
              <a:cs typeface="+mn-ea"/>
              <a:sym typeface="+mn-ea"/>
            </a:endParaRPr>
          </a:p>
          <a:p>
            <a:pPr algn="ctr"/>
            <a:r>
              <a:rPr lang="zh-CN" altLang="en-US" sz="2000">
                <a:latin typeface="+mn-ea"/>
                <a:ea typeface="+mn-ea"/>
                <a:cs typeface="+mn-ea"/>
                <a:sym typeface="+mn-ea"/>
              </a:rPr>
              <a:t>文件</a:t>
            </a:r>
            <a:r>
              <a:rPr lang="en-US" altLang="zh-CN" sz="2000">
                <a:latin typeface="+mn-ea"/>
                <a:ea typeface="+mn-ea"/>
                <a:cs typeface="+mn-ea"/>
                <a:sym typeface="+mn-ea"/>
              </a:rPr>
              <a:t>9-10 Example09.java</a:t>
            </a:r>
            <a:endParaRPr lang="en-US" altLang="zh-CN"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637665" y="2997200"/>
            <a:ext cx="1056513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400">
                <a:latin typeface="Times New Roman" panose="02020603050405020304"/>
                <a:sym typeface="+mn-ea"/>
              </a:rPr>
              <a:t>10       while </a:t>
            </a:r>
            <a:r>
              <a:rPr lang="zh-CN" altLang="en-US" sz="2400">
                <a:latin typeface="Times New Roman" panose="02020603050405020304"/>
                <a:sym typeface="+mn-ea"/>
              </a:rPr>
              <a:t>（</a:t>
            </a:r>
            <a:r>
              <a:rPr lang="en-US" altLang="zh-CN" sz="2400">
                <a:latin typeface="Times New Roman" panose="02020603050405020304"/>
                <a:sym typeface="+mn-ea"/>
              </a:rPr>
              <a:t>it.hasNext</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通过</a:t>
            </a:r>
            <a:r>
              <a:rPr lang="en-US" altLang="zh-CN" sz="2400">
                <a:latin typeface="Times New Roman" panose="02020603050405020304"/>
                <a:sym typeface="+mn-ea"/>
              </a:rPr>
              <a:t>while</a:t>
            </a:r>
            <a:r>
              <a:rPr lang="zh-CN" altLang="en-US" sz="2400">
                <a:latin typeface="Times New Roman" panose="02020603050405020304"/>
                <a:sym typeface="+mn-ea"/>
              </a:rPr>
              <a:t>循环，判断集合中是否有元素</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11          Object obj = it.next</a:t>
            </a:r>
            <a:r>
              <a:rPr lang="zh-CN" altLang="en-US" sz="2400">
                <a:latin typeface="Times New Roman" panose="02020603050405020304"/>
                <a:sym typeface="+mn-ea"/>
              </a:rPr>
              <a:t>（）</a:t>
            </a:r>
            <a:r>
              <a:rPr lang="en-US" altLang="zh-CN" sz="2400">
                <a:latin typeface="Times New Roman" panose="02020603050405020304"/>
                <a:sym typeface="+mn-ea"/>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12            System.out.println</a:t>
            </a:r>
            <a:r>
              <a:rPr lang="zh-CN" altLang="en-US" sz="2400">
                <a:latin typeface="Times New Roman" panose="02020603050405020304"/>
                <a:sym typeface="+mn-ea"/>
              </a:rPr>
              <a:t>（</a:t>
            </a:r>
            <a:r>
              <a:rPr lang="en-US" altLang="zh-CN" sz="2400">
                <a:latin typeface="Times New Roman" panose="02020603050405020304"/>
                <a:sym typeface="+mn-ea"/>
              </a:rPr>
              <a:t>obj</a:t>
            </a:r>
            <a:r>
              <a:rPr lang="zh-CN" altLang="en-US" sz="2400">
                <a:latin typeface="Times New Roman" panose="02020603050405020304"/>
                <a:sym typeface="+mn-ea"/>
              </a:rPr>
              <a:t>）</a:t>
            </a:r>
            <a:r>
              <a:rPr lang="en-US" altLang="zh-CN" sz="2400">
                <a:latin typeface="Times New Roman" panose="02020603050405020304"/>
                <a:sym typeface="+mn-ea"/>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13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14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15 }</a:t>
            </a:r>
            <a:endParaRPr lang="en-US" altLang="zh-CN" sz="2400">
              <a:latin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649730" y="2132965"/>
            <a:ext cx="5080000" cy="475615"/>
          </a:xfrm>
          <a:prstGeom prst="rect">
            <a:avLst/>
          </a:prstGeom>
        </p:spPr>
        <p:txBody>
          <a:bodyPr>
            <a:spAutoFit/>
          </a:bodyPr>
          <a:p>
            <a:pPr marL="0" indent="266700" algn="l" defTabSz="266700">
              <a:lnSpc>
                <a:spcPct val="125000"/>
              </a:lnSpc>
              <a:spcBef>
                <a:spcPct val="0"/>
              </a:spcBef>
              <a:spcAft>
                <a:spcPct val="0"/>
              </a:spcAft>
            </a:pPr>
            <a:r>
              <a:rPr lang="zh-CN" altLang="en-US" sz="2000">
                <a:latin typeface="宋体" panose="02010600030101010101" pitchFamily="2" charset="-122"/>
                <a:ea typeface="宋体" panose="02010600030101010101" pitchFamily="2" charset="-122"/>
              </a:rPr>
              <a:t>文件</a:t>
            </a:r>
            <a:r>
              <a:rPr lang="en-US" altLang="zh-CN" sz="2000">
                <a:latin typeface="Times New Roman" panose="02020603050405020304"/>
                <a:ea typeface="宋体" panose="02010600030101010101" pitchFamily="2" charset="-122"/>
              </a:rPr>
              <a:t>9-10</a:t>
            </a:r>
            <a:r>
              <a:rPr lang="zh-CN" altLang="en-US" sz="2000">
                <a:latin typeface="宋体" panose="02010600030101010101" pitchFamily="2" charset="-122"/>
                <a:ea typeface="宋体" panose="02010600030101010101" pitchFamily="2" charset="-122"/>
              </a:rPr>
              <a:t>的运行结果如图</a:t>
            </a:r>
            <a:r>
              <a:rPr lang="en-US" altLang="zh-CN" sz="2000">
                <a:latin typeface="Times New Roman" panose="02020603050405020304"/>
                <a:ea typeface="宋体" panose="02010600030101010101" pitchFamily="2" charset="-122"/>
              </a:rPr>
              <a:t>9-1</a:t>
            </a:r>
            <a:r>
              <a:rPr lang="en-US" altLang="zh-CN" sz="2000">
                <a:latin typeface="Times New Roman" panose="02020603050405020304"/>
                <a:ea typeface="Times New Roman" panose="02020603050405020304"/>
              </a:rPr>
              <a:t>6</a:t>
            </a:r>
            <a:r>
              <a:rPr lang="zh-CN" altLang="en-US" sz="2000">
                <a:latin typeface="Times New Roman" panose="02020603050405020304"/>
                <a:ea typeface="宋体" panose="02010600030101010101" pitchFamily="2" charset="-122"/>
              </a:rPr>
              <a:t>所示。</a:t>
            </a:r>
            <a:endParaRPr lang="zh-CN" altLang="en-US" sz="2000">
              <a:latin typeface="Times New Roman" panose="02020603050405020304"/>
              <a:ea typeface="宋体" panose="02010600030101010101" pitchFamily="2" charset="-122"/>
            </a:endParaRPr>
          </a:p>
        </p:txBody>
      </p:sp>
      <p:pic>
        <p:nvPicPr>
          <p:cNvPr id="7" name="图片 6"/>
          <p:cNvPicPr/>
          <p:nvPr/>
        </p:nvPicPr>
        <p:blipFill>
          <a:blip r:embed="rId3"/>
          <a:stretch>
            <a:fillRect/>
          </a:stretch>
        </p:blipFill>
        <p:spPr>
          <a:xfrm>
            <a:off x="3559175" y="2905760"/>
            <a:ext cx="3959860" cy="1356360"/>
          </a:xfrm>
          <a:prstGeom prst="rect">
            <a:avLst/>
          </a:prstGeom>
        </p:spPr>
      </p:pic>
      <p:sp>
        <p:nvSpPr>
          <p:cNvPr id="8" name="文本框 7"/>
          <p:cNvSpPr txBox="1"/>
          <p:nvPr/>
        </p:nvSpPr>
        <p:spPr>
          <a:xfrm>
            <a:off x="2930525" y="4364990"/>
            <a:ext cx="5080000" cy="683895"/>
          </a:xfrm>
          <a:prstGeom prst="rect">
            <a:avLst/>
          </a:prstGeom>
        </p:spPr>
        <p:txBody>
          <a:bodyPr>
            <a:spAutoFit/>
          </a:bodyPr>
          <a:p>
            <a:endParaRPr lang="en-US" altLang="zh-CN" sz="1600">
              <a:latin typeface="Times New Roman" panose="02020603050405020304"/>
              <a:ea typeface="宋体" panose="02010600030101010101" pitchFamily="2" charset="-122"/>
            </a:endParaRPr>
          </a:p>
          <a:p>
            <a:pPr marL="0" indent="266700" algn="ctr" defTabSz="266700">
              <a:lnSpc>
                <a:spcPct val="125000"/>
              </a:lnSpc>
              <a:spcBef>
                <a:spcPct val="0"/>
              </a:spcBef>
              <a:spcAft>
                <a:spcPct val="0"/>
              </a:spcAft>
            </a:pPr>
            <a:r>
              <a:rPr lang="zh-CN" altLang="en-US" sz="1800">
                <a:latin typeface="宋体" panose="02010600030101010101" pitchFamily="2" charset="-122"/>
                <a:ea typeface="宋体" panose="02010600030101010101" pitchFamily="2" charset="-122"/>
              </a:rPr>
              <a:t>图</a:t>
            </a:r>
            <a:r>
              <a:rPr lang="en-US" altLang="zh-CN" sz="1800">
                <a:latin typeface="宋体" panose="02010600030101010101" pitchFamily="2" charset="-122"/>
                <a:ea typeface="宋体" panose="02010600030101010101" pitchFamily="2" charset="-122"/>
              </a:rPr>
              <a:t>9-16 </a:t>
            </a:r>
            <a:r>
              <a:rPr lang="zh-CN" altLang="en-US" sz="1800">
                <a:latin typeface="宋体" panose="02010600030101010101" pitchFamily="2" charset="-122"/>
                <a:ea typeface="宋体" panose="02010600030101010101" pitchFamily="2" charset="-122"/>
              </a:rPr>
              <a:t>文件</a:t>
            </a:r>
            <a:r>
              <a:rPr lang="en-US" altLang="zh-CN" sz="1800">
                <a:latin typeface="宋体" panose="02010600030101010101" pitchFamily="2" charset="-122"/>
                <a:ea typeface="宋体" panose="02010600030101010101" pitchFamily="2" charset="-122"/>
              </a:rPr>
              <a:t>9-14</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1135</Words>
  <Application>WPS 演示</Application>
  <PresentationFormat>自定义</PresentationFormat>
  <Paragraphs>117</Paragraphs>
  <Slides>10</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Times New Roman</vt:lpstr>
      <vt:lpstr>Arial Unicode MS</vt:lpstr>
      <vt:lpstr>等线</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544</cp:revision>
  <dcterms:created xsi:type="dcterms:W3CDTF">2015-03-26T06:11:00Z</dcterms:created>
  <dcterms:modified xsi:type="dcterms:W3CDTF">2025-07-12T01:35:56Z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A47623CDD70247D09F2F4E4961848E6A_13</vt:lpwstr>
  </property>
</Properties>
</file>