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62" r:id="rId3"/>
    <p:sldId id="373" r:id="rId5"/>
    <p:sldId id="374" r:id="rId6"/>
    <p:sldId id="501" r:id="rId7"/>
    <p:sldId id="340" r:id="rId8"/>
    <p:sldId id="503" r:id="rId9"/>
    <p:sldId id="502" r:id="rId10"/>
    <p:sldId id="353" r:id="rId11"/>
    <p:sldId id="504" r:id="rId12"/>
    <p:sldId id="407" r:id="rId13"/>
    <p:sldId id="505" r:id="rId14"/>
    <p:sldId id="456" r:id="rId15"/>
    <p:sldId id="458" r:id="rId16"/>
    <p:sldId id="496" r:id="rId17"/>
    <p:sldId id="506" r:id="rId18"/>
    <p:sldId id="507" r:id="rId19"/>
    <p:sldId id="497" r:id="rId20"/>
    <p:sldId id="508" r:id="rId21"/>
    <p:sldId id="509" r:id="rId22"/>
    <p:sldId id="498" r:id="rId23"/>
    <p:sldId id="500" r:id="rId24"/>
    <p:sldId id="510" r:id="rId25"/>
    <p:sldId id="511" r:id="rId26"/>
    <p:sldId id="347" r:id="rId27"/>
  </p:sldIdLst>
  <p:sldSz cx="12198350" cy="6858000"/>
  <p:notesSz cx="6858000" cy="9144000"/>
  <p:custDataLst>
    <p:tags r:id="rId31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4" userDrawn="1">
          <p15:clr>
            <a:srgbClr val="A4A3A4"/>
          </p15:clr>
        </p15:guide>
        <p15:guide id="2" pos="39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A5500"/>
    <a:srgbClr val="66FF66"/>
    <a:srgbClr val="66FF33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20" d="100"/>
          <a:sy n="120" d="100"/>
        </p:scale>
        <p:origin x="514" y="67"/>
      </p:cViewPr>
      <p:guideLst>
        <p:guide orient="horz" pos="2214"/>
        <p:guide pos="39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tags" Target="tags/tag47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第二级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第三级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第四级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tags" Target="../tags/tag26.xml"/><Relationship Id="rId1" Type="http://schemas.openxmlformats.org/officeDocument/2006/relationships/tags" Target="../tags/tag25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0.xml"/><Relationship Id="rId1" Type="http://schemas.openxmlformats.org/officeDocument/2006/relationships/tags" Target="../tags/tag29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tags" Target="../tags/tag32.xml"/><Relationship Id="rId1" Type="http://schemas.openxmlformats.org/officeDocument/2006/relationships/tags" Target="../tags/tag31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4.xml"/><Relationship Id="rId1" Type="http://schemas.openxmlformats.org/officeDocument/2006/relationships/tags" Target="../tags/tag33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6.xml"/><Relationship Id="rId1" Type="http://schemas.openxmlformats.org/officeDocument/2006/relationships/tags" Target="../tags/tag35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tags" Target="../tags/tag38.xml"/><Relationship Id="rId1" Type="http://schemas.openxmlformats.org/officeDocument/2006/relationships/tags" Target="../tags/tag37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40.xml"/><Relationship Id="rId1" Type="http://schemas.openxmlformats.org/officeDocument/2006/relationships/tags" Target="../tags/tag39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tags" Target="../tags/tag42.xml"/><Relationship Id="rId1" Type="http://schemas.openxmlformats.org/officeDocument/2006/relationships/tags" Target="../tags/tag41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44.xml"/><Relationship Id="rId1" Type="http://schemas.openxmlformats.org/officeDocument/2006/relationships/tags" Target="../tags/tag43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tags" Target="../tags/tag46.xml"/><Relationship Id="rId1" Type="http://schemas.openxmlformats.org/officeDocument/2006/relationships/tags" Target="../tags/tag45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1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075" name="Picture 3" descr="F:\品牌VI\无锡职院\资源库LOGO\2uqt7gw81r.jpg2uqt7gw81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328613"/>
            <a:ext cx="8331200" cy="602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367213"/>
            <a:ext cx="12196762" cy="250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>
            <a:spLocks noChangeArrowheads="1"/>
          </p:cNvSpPr>
          <p:nvPr/>
        </p:nvSpPr>
        <p:spPr bwMode="auto">
          <a:xfrm>
            <a:off x="409575" y="376238"/>
            <a:ext cx="26654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无锡职业技术学院内部资料</a:t>
            </a:r>
            <a:endParaRPr lang="zh-CN" altLang="en-US" sz="160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3078" name="TextBox 15"/>
          <p:cNvSpPr>
            <a:spLocks noChangeArrowheads="1"/>
          </p:cNvSpPr>
          <p:nvPr/>
        </p:nvSpPr>
        <p:spPr bwMode="auto">
          <a:xfrm>
            <a:off x="5045075" y="1403350"/>
            <a:ext cx="662432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JAVA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程序设计项目教程</a:t>
            </a:r>
            <a:endParaRPr lang="zh-CN" altLang="en-US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经典繁仿黑" pitchFamily="1" charset="-122"/>
            </a:endParaRPr>
          </a:p>
        </p:txBody>
      </p:sp>
    </p:spTree>
  </p:cSld>
  <p:clrMapOvr>
    <a:masterClrMapping/>
  </p:clrMapOvr>
  <p:transition spd="slow">
    <p:cover dir="l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2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3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06" name="任意多边形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flipV="1">
            <a:off x="0" y="2590800"/>
            <a:ext cx="12199938" cy="1630363"/>
          </a:xfrm>
          <a:custGeom>
            <a:avLst/>
            <a:gdLst>
              <a:gd name="T0" fmla="*/ 0 w 10521680"/>
              <a:gd name="T1" fmla="*/ 0 h 1828800"/>
              <a:gd name="T2" fmla="*/ 7670639 w 10521680"/>
              <a:gd name="T3" fmla="*/ 0 h 1828800"/>
              <a:gd name="T4" fmla="*/ 8437771 w 10521680"/>
              <a:gd name="T5" fmla="*/ 1295748 h 1828800"/>
              <a:gd name="T6" fmla="*/ 16402222 w 10521680"/>
              <a:gd name="T7" fmla="*/ 1295748 h 1828800"/>
              <a:gd name="T8" fmla="*/ 0 60000 65536"/>
              <a:gd name="T9" fmla="*/ 0 60000 65536"/>
              <a:gd name="T10" fmla="*/ 0 60000 65536"/>
              <a:gd name="T11" fmla="*/ 0 60000 65536"/>
              <a:gd name="T12" fmla="*/ 0 w 10521680"/>
              <a:gd name="T13" fmla="*/ 0 h 1828800"/>
              <a:gd name="T14" fmla="*/ 10521680 w 10521680"/>
              <a:gd name="T15" fmla="*/ 1828800 h 18288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21680" h="1828800">
                <a:moveTo>
                  <a:pt x="0" y="0"/>
                </a:moveTo>
                <a:lnTo>
                  <a:pt x="4920553" y="0"/>
                </a:lnTo>
                <a:lnTo>
                  <a:pt x="5412652" y="1828800"/>
                </a:lnTo>
                <a:lnTo>
                  <a:pt x="10521680" y="1828800"/>
                </a:lnTo>
              </a:path>
            </a:pathLst>
          </a:custGeom>
          <a:noFill/>
          <a:ln w="57150" cap="flat" cmpd="sng">
            <a:solidFill>
              <a:srgbClr val="3B79CE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4107" name="组合 11"/>
          <p:cNvGrpSpPr/>
          <p:nvPr>
            <p:custDataLst>
              <p:tags r:id="rId2"/>
            </p:custDataLst>
          </p:nvPr>
        </p:nvGrpSpPr>
        <p:grpSpPr bwMode="auto">
          <a:xfrm>
            <a:off x="1085850" y="3875088"/>
            <a:ext cx="692150" cy="692150"/>
            <a:chOff x="0" y="0"/>
            <a:chExt cx="692150" cy="69215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08" name="TextBox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08940" y="3162300"/>
            <a:ext cx="21285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24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</p:txBody>
      </p:sp>
      <p:sp>
        <p:nvSpPr>
          <p:cNvPr id="4109" name="TextBox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06015" y="3162300"/>
            <a:ext cx="29070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10" name="TextBox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114983" y="2997200"/>
            <a:ext cx="2173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任务实现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112" name="组合 18"/>
          <p:cNvGrpSpPr/>
          <p:nvPr>
            <p:custDataLst>
              <p:tags r:id="rId8"/>
            </p:custDataLst>
          </p:nvPr>
        </p:nvGrpSpPr>
        <p:grpSpPr bwMode="auto">
          <a:xfrm>
            <a:off x="3452813" y="3875088"/>
            <a:ext cx="692150" cy="692150"/>
            <a:chOff x="0" y="0"/>
            <a:chExt cx="692150" cy="692150"/>
          </a:xfrm>
        </p:grpSpPr>
        <p:sp>
          <p:nvSpPr>
            <p:cNvPr id="4120" name="椭圆 1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1" name="椭圆 2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grpSp>
        <p:nvGrpSpPr>
          <p:cNvPr id="4113" name="组合 21"/>
          <p:cNvGrpSpPr/>
          <p:nvPr>
            <p:custDataLst>
              <p:tags r:id="rId11"/>
            </p:custDataLst>
          </p:nvPr>
        </p:nvGrpSpPr>
        <p:grpSpPr bwMode="auto">
          <a:xfrm>
            <a:off x="9190673" y="2204720"/>
            <a:ext cx="692150" cy="692150"/>
            <a:chOff x="1499235" y="-40005"/>
            <a:chExt cx="692150" cy="692150"/>
          </a:xfrm>
        </p:grpSpPr>
        <p:sp>
          <p:nvSpPr>
            <p:cNvPr id="4118" name="椭圆 2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99235" y="-40005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19" name="椭圆 2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75435" y="32385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15" name="Text Box 2"/>
          <p:cNvSpPr>
            <a:spLocks noChangeArrowheads="1"/>
          </p:cNvSpPr>
          <p:nvPr/>
        </p:nvSpPr>
        <p:spPr bwMode="auto">
          <a:xfrm>
            <a:off x="5378450" y="3070225"/>
            <a:ext cx="1296988" cy="647700"/>
          </a:xfrm>
          <a:prstGeom prst="rect">
            <a:avLst/>
          </a:prstGeom>
          <a:solidFill>
            <a:srgbClr val="3B79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目录</a:t>
            </a:r>
            <a:endParaRPr lang="zh-CN" altLang="zh-CN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子任务2：在子任务1的基础上，定义子类Cat的属性color以及设置和获取方法；定义测试类输出Cat实例相关属性信息。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模块一  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750435" y="3500755"/>
            <a:ext cx="7016115" cy="34150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：创建一个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HashMap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类的集合，并向该集合存储键和值，输出集合中所有指定的键的值。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：创建一个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HashMap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类的集合，并向该集合存储键和值，先遍历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Map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集合中所有的键，再根据键获取相应的值，输出集合中所有的键和值。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：创建一个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HashMap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类的集合，并向该集合存储键和值，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获取集合中键值对映射关系、获取集合中的键和值并输出。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667375" y="4797425"/>
            <a:ext cx="5594350" cy="5067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子任务2：在子任务1的基础上，定义子类Cat的属性color以及设置和获取方法；定义测试类输出Cat实例相关属性信息。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模块一  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750435" y="3500755"/>
            <a:ext cx="7016115" cy="258445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：创建一个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HashMap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类的集合，并向该集合存储键和值，使用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for-each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循环和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entrySet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）方法遍历并输出集合中的键和值。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：创建一个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HashMap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类的集合，并向该集合存储键和值，使用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for-each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循环和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keySet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）方法并输出集合中的键和值。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667375" y="4797425"/>
            <a:ext cx="5594350" cy="5067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-1101090" y="-9906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..</a:t>
            </a:r>
            <a:endParaRPr lang="en-US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模块二</a:t>
            </a:r>
            <a:r>
              <a:rPr lang="en-US" altLang="zh-CN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marL="571500" indent="-571500" algn="ctr" eaLnBrk="1" hangingPunct="1">
              <a:buFont typeface="Arial" panose="020B0604020202020204" pitchFamily="34" charset="0"/>
              <a:buChar char="•"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矩形 2"/>
          <p:cNvSpPr>
            <a:spLocks noChangeArrowheads="1"/>
          </p:cNvSpPr>
          <p:nvPr/>
        </p:nvSpPr>
        <p:spPr bwMode="auto">
          <a:xfrm>
            <a:off x="6605588" y="360521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Map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接口简介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矩形 2"/>
          <p:cNvSpPr>
            <a:spLocks noChangeArrowheads="1"/>
          </p:cNvSpPr>
          <p:nvPr/>
        </p:nvSpPr>
        <p:spPr bwMode="auto">
          <a:xfrm>
            <a:off x="6605588" y="422116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Map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接口中常用方法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7" name="矩形 2"/>
          <p:cNvSpPr>
            <a:spLocks noChangeArrowheads="1"/>
          </p:cNvSpPr>
          <p:nvPr/>
        </p:nvSpPr>
        <p:spPr bwMode="auto">
          <a:xfrm>
            <a:off x="6605588" y="4797108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HashMap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集合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法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矩形 2"/>
          <p:cNvSpPr>
            <a:spLocks noChangeArrowheads="1"/>
          </p:cNvSpPr>
          <p:nvPr/>
        </p:nvSpPr>
        <p:spPr bwMode="auto">
          <a:xfrm>
            <a:off x="6605588" y="5433378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HashMap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集合的遍历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3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4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4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4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 bldLvl="0" autoUpdateAnimBg="0"/>
      <p:bldP spid="2" grpId="1"/>
      <p:bldP spid="6" grpId="0" bldLvl="0" autoUpdateAnimBg="0"/>
      <p:bldP spid="6" grpId="1"/>
      <p:bldP spid="7" grpId="0" bldLvl="0" autoUpdateAnimBg="0"/>
      <p:bldP spid="7" grpId="1"/>
      <p:bldP spid="8" grpId="0" bldLvl="0" autoUpdateAnimBg="0"/>
      <p:bldP spid="8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Map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接口简介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2210435"/>
            <a:ext cx="974280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数学中的函数描述了自变量到因变量的映射。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Map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接口借鉴了数学中函数的思想，因此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Map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接口中的每个元素都是由键到值的映射，即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Map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接口中的每个元素都由一个键值对组成。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Map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接口是一种双列集合，它的每个元素都包含一个键对象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Key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和值对象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Value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，键和值对象之间存在一种对应关系，称为映射。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Map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中键对象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Key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不允许重复，访问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Map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集合中的元素时，只要指定了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Key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，就能找到对应的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Value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Map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接口中常用方法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74445" y="2008505"/>
            <a:ext cx="9742805" cy="74803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Object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类中定义了一些常用方法，具体如表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9-6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所示。</a:t>
            </a:r>
            <a:endParaRPr lang="zh-CN" altLang="en-US"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3"/>
            </p:custDataLst>
          </p:nvPr>
        </p:nvGraphicFramePr>
        <p:xfrm>
          <a:off x="1684655" y="2875280"/>
          <a:ext cx="9029065" cy="3726180"/>
        </p:xfrm>
        <a:graphic>
          <a:graphicData uri="http://schemas.openxmlformats.org/drawingml/2006/table">
            <a:tbl>
              <a:tblPr/>
              <a:tblGrid>
                <a:gridCol w="2896235"/>
                <a:gridCol w="6132830"/>
              </a:tblGrid>
              <a:tr h="266700">
                <a:tc>
                  <a:txBody>
                    <a:bodyPr/>
                    <a:p>
                      <a:pPr marL="85725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方法声明</a:t>
                      </a:r>
                      <a:endParaRPr lang="zh-CN" sz="12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功能描述</a:t>
                      </a:r>
                      <a:endParaRPr lang="zh-CN" sz="12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4650">
                <a:tc>
                  <a:txBody>
                    <a:bodyPr/>
                    <a:p>
                      <a:pPr marL="85725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void put</a:t>
                      </a:r>
                      <a:r>
                        <a:rPr 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Object key</a:t>
                      </a:r>
                      <a:r>
                        <a:rPr 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，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 Object value</a:t>
                      </a:r>
                      <a:r>
                        <a:rPr 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）</a:t>
                      </a:r>
                      <a:endParaRPr lang="zh-CN" sz="14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将指定的值和键存入到集合中，并进行映射关联</a:t>
                      </a:r>
                      <a:endParaRPr lang="zh-CN" sz="14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5910">
                <a:tc>
                  <a:txBody>
                    <a:bodyPr/>
                    <a:p>
                      <a:pPr marL="85725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Object get</a:t>
                      </a:r>
                      <a:r>
                        <a:rPr 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Object key</a:t>
                      </a:r>
                      <a:r>
                        <a:rPr 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）</a:t>
                      </a:r>
                      <a:endParaRPr lang="zh-CN" sz="14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返回指定键所映射的值；如果此映射不包含该键的映射关系，则返回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null</a:t>
                      </a:r>
                      <a:endParaRPr lang="en-US" altLang="zh-CN" sz="14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6700">
                <a:tc>
                  <a:txBody>
                    <a:bodyPr/>
                    <a:p>
                      <a:pPr marL="85725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void clear</a:t>
                      </a:r>
                      <a:r>
                        <a:rPr 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（）</a:t>
                      </a:r>
                      <a:endParaRPr lang="zh-CN" sz="14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移除所有的键值对元素</a:t>
                      </a:r>
                      <a:endParaRPr lang="zh-CN" sz="14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6700">
                <a:tc>
                  <a:txBody>
                    <a:bodyPr/>
                    <a:p>
                      <a:pPr marL="85725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V remove</a:t>
                      </a:r>
                      <a:r>
                        <a:rPr 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Object key</a:t>
                      </a:r>
                      <a:r>
                        <a:rPr 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）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4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根据键删除对应的值，返回被删除的值</a:t>
                      </a:r>
                      <a:endParaRPr lang="zh-CN" sz="14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6700">
                <a:tc>
                  <a:txBody>
                    <a:bodyPr/>
                    <a:p>
                      <a:pPr marL="85725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int size</a:t>
                      </a:r>
                      <a:r>
                        <a:rPr 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（）</a:t>
                      </a:r>
                      <a:endParaRPr lang="zh-CN" sz="14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返回集合中的键值对的个数</a:t>
                      </a:r>
                      <a:endParaRPr lang="zh-CN" sz="14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5605">
                <a:tc>
                  <a:txBody>
                    <a:bodyPr/>
                    <a:p>
                      <a:pPr marL="85725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boolean containsKey</a:t>
                      </a:r>
                      <a:r>
                        <a:rPr 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Object key</a:t>
                      </a:r>
                      <a:r>
                        <a:rPr 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）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4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如果此映射包含指定键的映射关系，则返回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 true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。</a:t>
                      </a:r>
                      <a:endParaRPr lang="zh-CN" sz="14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33400">
                <a:tc>
                  <a:txBody>
                    <a:bodyPr/>
                    <a:p>
                      <a:pPr marL="85725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boolean containsValue</a:t>
                      </a:r>
                      <a:r>
                        <a:rPr 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Object value</a:t>
                      </a:r>
                      <a:r>
                        <a:rPr 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）</a:t>
                      </a:r>
                      <a:endParaRPr lang="zh-CN" sz="14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如果此映射将一个或多个键映射到指定值，则返回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 true</a:t>
                      </a:r>
                      <a:endParaRPr lang="en-US" altLang="zh-CN" sz="14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6700">
                <a:tc>
                  <a:txBody>
                    <a:bodyPr/>
                    <a:p>
                      <a:pPr marL="85725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Set keySet</a:t>
                      </a:r>
                      <a:r>
                        <a:rPr 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（）</a:t>
                      </a:r>
                      <a:endParaRPr lang="zh-CN" sz="14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返回此映射中包含的键的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Set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集合</a:t>
                      </a:r>
                      <a:endParaRPr lang="zh-CN" sz="14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6700">
                <a:tc>
                  <a:txBody>
                    <a:bodyPr/>
                    <a:p>
                      <a:pPr marL="85725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Collection&lt;V&gt; values</a:t>
                      </a:r>
                      <a:r>
                        <a:rPr 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（）</a:t>
                      </a:r>
                      <a:endParaRPr lang="zh-CN" sz="14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返回此映射中包含的值的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Collection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集合</a:t>
                      </a:r>
                      <a:endParaRPr lang="zh-CN" sz="14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26415">
                <a:tc>
                  <a:txBody>
                    <a:bodyPr/>
                    <a:p>
                      <a:pPr marL="85725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Set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&lt;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Map.Entry&lt;K</a:t>
                      </a:r>
                      <a:r>
                        <a:rPr 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，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V&gt;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&gt;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entrySet</a:t>
                      </a:r>
                      <a:r>
                        <a:rPr 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（）</a:t>
                      </a:r>
                      <a:endParaRPr lang="zh-CN" sz="14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返回此映射中包含的映射关系的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Set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集合</a:t>
                      </a:r>
                      <a:endParaRPr lang="zh-CN" sz="14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3362960" y="2476500"/>
            <a:ext cx="5080000" cy="398780"/>
          </a:xfrm>
          <a:prstGeom prst="rect">
            <a:avLst/>
          </a:prstGeom>
        </p:spPr>
        <p:txBody>
          <a:bodyPr>
            <a:spAutoFit/>
          </a:bodyPr>
          <a:p>
            <a:pPr marL="0" indent="267970" algn="ctr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表</a:t>
            </a:r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</a:rPr>
              <a:t>9-6 Map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接口的常用方法</a:t>
            </a:r>
            <a:endParaRPr lang="zh-CN" altLang="en-US" sz="16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HashMap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集合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2210435"/>
            <a:ext cx="974280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HashMap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集合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HashMap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集合是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Map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接口的一个实现类，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HashMap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集合中的大部分方法都是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Map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接口方法的实现。在开发中，通常把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HashMap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集合对象的引用赋值给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Map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接口变量，那么接口变量就可以调用类实现的接口方法。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HashMap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集合用于存储键值映射关系，但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HashMap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集合没有重复的键并且键值无序。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72872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HashMap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集合的遍历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4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2210435"/>
            <a:ext cx="974280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Java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中，可以使用迭代器或增强的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for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循环来遍历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HashMap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中的所有元素：</a:t>
            </a:r>
            <a:endParaRPr lang="zh-CN" altLang="en-US"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）使用迭代器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Iterator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keySet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）方法遍历，具体使用详见子任务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）使用迭代器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Iterator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entrySet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）方法遍历，具体使用详见子任务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）使用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for-each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循环和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entrySet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）方法遍历，具体使用详见子任务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）使用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for-each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循环和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keySet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）方法遍历，具体使用详见子任务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sz="2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，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1" name="文本框 17"/>
          <p:cNvSpPr>
            <a:spLocks noChangeArrowheads="1"/>
          </p:cNvSpPr>
          <p:nvPr/>
        </p:nvSpPr>
        <p:spPr bwMode="auto">
          <a:xfrm>
            <a:off x="0" y="344488"/>
            <a:ext cx="12017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zh-CN" altLang="zh-CN" sz="2200">
                <a:solidFill>
                  <a:srgbClr val="FFFFFF"/>
                </a:solidFill>
                <a:ea typeface="微软雅黑" panose="020B0503020204020204" pitchFamily="34" charset="-122"/>
              </a:rPr>
              <a:t>过渡页</a:t>
            </a:r>
            <a:endParaRPr lang="zh-CN" altLang="zh-CN" sz="220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8" name="矩形 5"/>
          <p:cNvSpPr>
            <a:spLocks noChangeArrowheads="1"/>
          </p:cNvSpPr>
          <p:nvPr/>
        </p:nvSpPr>
        <p:spPr bwMode="auto">
          <a:xfrm>
            <a:off x="4708525" y="3500755"/>
            <a:ext cx="6926580" cy="3415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子任务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：创建一个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HashMap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类的集合，并向该集合存储键和值，输出集合中所有指定的键的值。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子任务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：创建一个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HashMap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类的集合，并向该集合存储键和值，先遍历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Map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集合中所有的键，再根据键获取相应的值，输出集合中所有的键和值。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子任务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：创建一个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HashMap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类的集合，并向该集合存储键和值，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获取集合中键值对映射关系、获取集合中的键和值并输出。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5138" grpId="0" bldLvl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，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1" name="文本框 17"/>
          <p:cNvSpPr>
            <a:spLocks noChangeArrowheads="1"/>
          </p:cNvSpPr>
          <p:nvPr/>
        </p:nvSpPr>
        <p:spPr bwMode="auto">
          <a:xfrm>
            <a:off x="0" y="344488"/>
            <a:ext cx="12017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zh-CN" altLang="zh-CN" sz="2200">
                <a:solidFill>
                  <a:srgbClr val="FFFFFF"/>
                </a:solidFill>
                <a:ea typeface="微软雅黑" panose="020B0503020204020204" pitchFamily="34" charset="-122"/>
              </a:rPr>
              <a:t>过渡页</a:t>
            </a:r>
            <a:endParaRPr lang="zh-CN" altLang="zh-CN" sz="220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8" name="矩形 5"/>
          <p:cNvSpPr>
            <a:spLocks noChangeArrowheads="1"/>
          </p:cNvSpPr>
          <p:nvPr/>
        </p:nvSpPr>
        <p:spPr bwMode="auto">
          <a:xfrm>
            <a:off x="4708525" y="3500755"/>
            <a:ext cx="6926580" cy="258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子任务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：创建一个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HashMap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类的集合，并向该集合存储键和值，使用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for-each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循环和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entrySet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）方法遍历并输出集合中的键和值。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子任务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：创建一个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HashMap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类的集合，并向该集合存储键和值，使用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for-each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循环和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keySet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）方法并输出集合中的键和值。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5138" grpId="0" bldLvl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5960" y="2060575"/>
            <a:ext cx="111728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子任务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1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：根据任务描述以及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Map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接口的常用方法知识点可以得到文件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9-13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所示的代码。</a:t>
            </a:r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  <a:p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  <a:p>
            <a:pPr algn="ctr"/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9-13 Example12.java</a:t>
            </a:r>
            <a:endParaRPr lang="en-US" altLang="zh-CN"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066925" y="2997200"/>
            <a:ext cx="10135870" cy="42887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1import java.util.*;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2public class Example12 {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3	publicstatic void main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String[] args</a:t>
            </a:r>
            <a:r>
              <a:rPr lang="zh-CN" altLang="en-US" sz="2000">
                <a:latin typeface="Times New Roman" panose="02020603050405020304"/>
              </a:rPr>
              <a:t>）</a:t>
            </a:r>
            <a:r>
              <a:rPr lang="en-US" altLang="zh-CN" sz="2000">
                <a:latin typeface="Times New Roman" panose="02020603050405020304"/>
              </a:rPr>
              <a:t> {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4		Map map = new HashMap</a:t>
            </a:r>
            <a:r>
              <a:rPr lang="zh-CN" altLang="en-US" sz="2000">
                <a:latin typeface="Times New Roman" panose="02020603050405020304"/>
              </a:rPr>
              <a:t>（）</a:t>
            </a:r>
            <a:r>
              <a:rPr lang="en-US" altLang="zh-CN" sz="2000">
                <a:latin typeface="Times New Roman" panose="02020603050405020304"/>
              </a:rPr>
              <a:t>; // </a:t>
            </a:r>
            <a:r>
              <a:rPr lang="zh-CN" altLang="en-US" sz="2000">
                <a:latin typeface="Times New Roman" panose="02020603050405020304"/>
              </a:rPr>
              <a:t>创建</a:t>
            </a:r>
            <a:r>
              <a:rPr lang="en-US" altLang="zh-CN" sz="2000">
                <a:latin typeface="Times New Roman" panose="02020603050405020304"/>
              </a:rPr>
              <a:t>HashMap</a:t>
            </a:r>
            <a:r>
              <a:rPr lang="zh-CN" altLang="en-US" sz="2000">
                <a:latin typeface="Times New Roman" panose="02020603050405020304"/>
              </a:rPr>
              <a:t>对象</a:t>
            </a:r>
            <a:endParaRPr lang="zh-CN" altLang="en-US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5		map.put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"1"</a:t>
            </a:r>
            <a:r>
              <a:rPr lang="zh-CN" altLang="en-US" sz="2000">
                <a:latin typeface="Times New Roman" panose="02020603050405020304"/>
              </a:rPr>
              <a:t>，</a:t>
            </a:r>
            <a:r>
              <a:rPr lang="en-US" altLang="zh-CN" sz="2000">
                <a:latin typeface="Times New Roman" panose="02020603050405020304"/>
              </a:rPr>
              <a:t> "</a:t>
            </a:r>
            <a:r>
              <a:rPr lang="zh-CN" altLang="en-US" sz="2000">
                <a:latin typeface="Times New Roman" panose="02020603050405020304"/>
              </a:rPr>
              <a:t>张华</a:t>
            </a:r>
            <a:r>
              <a:rPr lang="en-US" altLang="zh-CN" sz="2000">
                <a:latin typeface="Times New Roman" panose="02020603050405020304"/>
              </a:rPr>
              <a:t>"</a:t>
            </a:r>
            <a:r>
              <a:rPr lang="zh-CN" altLang="en-US" sz="2000">
                <a:latin typeface="Times New Roman" panose="02020603050405020304"/>
              </a:rPr>
              <a:t>）</a:t>
            </a:r>
            <a:r>
              <a:rPr lang="en-US" altLang="zh-CN" sz="2000">
                <a:latin typeface="Times New Roman" panose="02020603050405020304"/>
              </a:rPr>
              <a:t>;  // </a:t>
            </a:r>
            <a:r>
              <a:rPr lang="zh-CN" altLang="en-US" sz="2000">
                <a:latin typeface="Times New Roman" panose="02020603050405020304"/>
              </a:rPr>
              <a:t>存储键和值</a:t>
            </a:r>
            <a:endParaRPr lang="zh-CN" altLang="en-US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6		map.put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"2"</a:t>
            </a:r>
            <a:r>
              <a:rPr lang="zh-CN" altLang="en-US" sz="2000">
                <a:latin typeface="Times New Roman" panose="02020603050405020304"/>
              </a:rPr>
              <a:t>，</a:t>
            </a:r>
            <a:r>
              <a:rPr lang="en-US" altLang="zh-CN" sz="2000">
                <a:latin typeface="Times New Roman" panose="02020603050405020304"/>
              </a:rPr>
              <a:t> "</a:t>
            </a:r>
            <a:r>
              <a:rPr lang="zh-CN" altLang="en-US" sz="2000">
                <a:latin typeface="Times New Roman" panose="02020603050405020304"/>
              </a:rPr>
              <a:t>李磊</a:t>
            </a:r>
            <a:r>
              <a:rPr lang="en-US" altLang="zh-CN" sz="2000">
                <a:latin typeface="Times New Roman" panose="02020603050405020304"/>
              </a:rPr>
              <a:t>"</a:t>
            </a:r>
            <a:r>
              <a:rPr lang="zh-CN" altLang="en-US" sz="2000">
                <a:latin typeface="Times New Roman" panose="02020603050405020304"/>
              </a:rPr>
              <a:t>）</a:t>
            </a:r>
            <a:r>
              <a:rPr lang="en-US" altLang="zh-CN" sz="2000">
                <a:latin typeface="Times New Roman" panose="02020603050405020304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7		map.put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"3"</a:t>
            </a:r>
            <a:r>
              <a:rPr lang="zh-CN" altLang="en-US" sz="2000">
                <a:latin typeface="Times New Roman" panose="02020603050405020304"/>
              </a:rPr>
              <a:t>，</a:t>
            </a:r>
            <a:r>
              <a:rPr lang="en-US" altLang="zh-CN" sz="2000">
                <a:latin typeface="Times New Roman" panose="02020603050405020304"/>
              </a:rPr>
              <a:t> "</a:t>
            </a:r>
            <a:r>
              <a:rPr lang="zh-CN" altLang="en-US" sz="2000">
                <a:latin typeface="Times New Roman" panose="02020603050405020304"/>
              </a:rPr>
              <a:t>王智</a:t>
            </a:r>
            <a:r>
              <a:rPr lang="en-US" altLang="zh-CN" sz="2000">
                <a:latin typeface="Times New Roman" panose="02020603050405020304"/>
              </a:rPr>
              <a:t>"</a:t>
            </a:r>
            <a:r>
              <a:rPr lang="zh-CN" altLang="en-US" sz="2000">
                <a:latin typeface="Times New Roman" panose="02020603050405020304"/>
              </a:rPr>
              <a:t>）</a:t>
            </a:r>
            <a:r>
              <a:rPr lang="en-US" altLang="zh-CN" sz="2000">
                <a:latin typeface="Times New Roman" panose="02020603050405020304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8		System.out.println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"1</a:t>
            </a:r>
            <a:r>
              <a:rPr lang="zh-CN" altLang="en-US" sz="2000">
                <a:latin typeface="Times New Roman" panose="02020603050405020304"/>
              </a:rPr>
              <a:t>：</a:t>
            </a:r>
            <a:r>
              <a:rPr lang="en-US" altLang="zh-CN" sz="2000">
                <a:latin typeface="Times New Roman" panose="02020603050405020304"/>
              </a:rPr>
              <a:t>" + map.get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"1"</a:t>
            </a:r>
            <a:r>
              <a:rPr lang="zh-CN" altLang="en-US" sz="2000">
                <a:latin typeface="Times New Roman" panose="02020603050405020304"/>
              </a:rPr>
              <a:t>））</a:t>
            </a:r>
            <a:r>
              <a:rPr lang="en-US" altLang="zh-CN" sz="2000">
                <a:latin typeface="Times New Roman" panose="02020603050405020304"/>
              </a:rPr>
              <a:t>; // </a:t>
            </a:r>
            <a:r>
              <a:rPr lang="zh-CN" altLang="en-US" sz="2000">
                <a:latin typeface="Times New Roman" panose="02020603050405020304"/>
              </a:rPr>
              <a:t>根据键获取值</a:t>
            </a:r>
            <a:endParaRPr lang="zh-CN" altLang="en-US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9		System.out.println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"2</a:t>
            </a:r>
            <a:r>
              <a:rPr lang="zh-CN" altLang="en-US" sz="2000">
                <a:latin typeface="Times New Roman" panose="02020603050405020304"/>
              </a:rPr>
              <a:t>：</a:t>
            </a:r>
            <a:r>
              <a:rPr lang="en-US" altLang="zh-CN" sz="2000">
                <a:latin typeface="Times New Roman" panose="02020603050405020304"/>
              </a:rPr>
              <a:t>" + map.get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"2"</a:t>
            </a:r>
            <a:r>
              <a:rPr lang="zh-CN" altLang="en-US" sz="2000">
                <a:latin typeface="Times New Roman" panose="02020603050405020304"/>
              </a:rPr>
              <a:t>））</a:t>
            </a:r>
            <a:r>
              <a:rPr lang="en-US" altLang="zh-CN" sz="2000">
                <a:latin typeface="Times New Roman" panose="02020603050405020304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10		System.out.println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"3</a:t>
            </a:r>
            <a:r>
              <a:rPr lang="zh-CN" altLang="en-US" sz="2000">
                <a:latin typeface="Times New Roman" panose="02020603050405020304"/>
              </a:rPr>
              <a:t>：</a:t>
            </a:r>
            <a:r>
              <a:rPr lang="en-US" altLang="zh-CN" sz="2000">
                <a:latin typeface="Times New Roman" panose="02020603050405020304"/>
              </a:rPr>
              <a:t>" + map.get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"3"</a:t>
            </a:r>
            <a:r>
              <a:rPr lang="zh-CN" altLang="en-US" sz="2000">
                <a:latin typeface="Times New Roman" panose="02020603050405020304"/>
              </a:rPr>
              <a:t>））</a:t>
            </a:r>
            <a:r>
              <a:rPr lang="en-US" altLang="zh-CN" sz="2000">
                <a:latin typeface="Times New Roman" panose="02020603050405020304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11    }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12	}</a:t>
            </a:r>
            <a:endParaRPr lang="en-US" altLang="zh-CN" sz="20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649730" y="2132965"/>
            <a:ext cx="5080000" cy="475615"/>
          </a:xfrm>
          <a:prstGeom prst="rect">
            <a:avLst/>
          </a:prstGeom>
        </p:spPr>
        <p:txBody>
          <a:bodyPr>
            <a:spAutoFit/>
          </a:bodyPr>
          <a:p>
            <a:pPr marL="0" indent="266700" algn="l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文件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9-13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的运行结果如图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9-21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所示。</a:t>
            </a:r>
            <a:endParaRPr lang="zh-CN" altLang="en-US" sz="2000"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637790" y="4869180"/>
            <a:ext cx="5080000" cy="683895"/>
          </a:xfrm>
          <a:prstGeom prst="rect">
            <a:avLst/>
          </a:prstGeom>
        </p:spPr>
        <p:txBody>
          <a:bodyPr>
            <a:spAutoFit/>
          </a:bodyPr>
          <a:p>
            <a:endParaRPr lang="en-US" altLang="zh-CN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ctr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9-21 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9-13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的运行结果</a:t>
            </a:r>
            <a:endParaRPr lang="zh-CN" altLang="en-US" sz="1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60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7445" y="3008630"/>
            <a:ext cx="3197225" cy="17119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5960" y="2060575"/>
            <a:ext cx="111728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子任务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2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：根据任务描述以及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Map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接口的常用方法知识点可以得到文件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9-14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所示的代码。</a:t>
            </a:r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  <a:p>
            <a:pPr algn="ctr"/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9-14 Example13.java</a:t>
            </a:r>
            <a:endParaRPr lang="en-US" altLang="zh-CN"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066925" y="2780665"/>
            <a:ext cx="10135870" cy="42887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1 import java.util.*;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2 public class Example13 {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3   public static void main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String[] args</a:t>
            </a:r>
            <a:r>
              <a:rPr lang="zh-CN" altLang="en-US" sz="2000">
                <a:latin typeface="Times New Roman" panose="02020603050405020304"/>
              </a:rPr>
              <a:t>）</a:t>
            </a:r>
            <a:r>
              <a:rPr lang="en-US" altLang="zh-CN" sz="2000">
                <a:latin typeface="Times New Roman" panose="02020603050405020304"/>
              </a:rPr>
              <a:t> {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4     Map map = new HashMap</a:t>
            </a:r>
            <a:r>
              <a:rPr lang="zh-CN" altLang="en-US" sz="2000">
                <a:latin typeface="Times New Roman" panose="02020603050405020304"/>
              </a:rPr>
              <a:t>（）</a:t>
            </a:r>
            <a:r>
              <a:rPr lang="en-US" altLang="zh-CN" sz="2000">
                <a:latin typeface="Times New Roman" panose="02020603050405020304"/>
              </a:rPr>
              <a:t>; // </a:t>
            </a:r>
            <a:r>
              <a:rPr lang="zh-CN" altLang="en-US" sz="2000">
                <a:latin typeface="Times New Roman" panose="02020603050405020304"/>
              </a:rPr>
              <a:t>创建</a:t>
            </a:r>
            <a:r>
              <a:rPr lang="en-US" altLang="zh-CN" sz="2000">
                <a:latin typeface="Times New Roman" panose="02020603050405020304"/>
              </a:rPr>
              <a:t>HashMap</a:t>
            </a:r>
            <a:r>
              <a:rPr lang="zh-CN" altLang="en-US" sz="2000">
                <a:latin typeface="Times New Roman" panose="02020603050405020304"/>
              </a:rPr>
              <a:t>集合</a:t>
            </a:r>
            <a:endParaRPr lang="zh-CN" altLang="en-US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5     map.put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"1"</a:t>
            </a:r>
            <a:r>
              <a:rPr lang="zh-CN" altLang="en-US" sz="2000">
                <a:latin typeface="Times New Roman" panose="02020603050405020304"/>
              </a:rPr>
              <a:t>，</a:t>
            </a:r>
            <a:r>
              <a:rPr lang="en-US" altLang="zh-CN" sz="2000">
                <a:latin typeface="Times New Roman" panose="02020603050405020304"/>
              </a:rPr>
              <a:t> "</a:t>
            </a:r>
            <a:r>
              <a:rPr lang="zh-CN" altLang="en-US" sz="2000">
                <a:latin typeface="Times New Roman" panose="02020603050405020304"/>
              </a:rPr>
              <a:t>张华</a:t>
            </a:r>
            <a:r>
              <a:rPr lang="en-US" altLang="zh-CN" sz="2000">
                <a:latin typeface="Times New Roman" panose="02020603050405020304"/>
              </a:rPr>
              <a:t>"</a:t>
            </a:r>
            <a:r>
              <a:rPr lang="zh-CN" altLang="en-US" sz="2000">
                <a:latin typeface="Times New Roman" panose="02020603050405020304"/>
              </a:rPr>
              <a:t>）</a:t>
            </a:r>
            <a:r>
              <a:rPr lang="en-US" altLang="zh-CN" sz="2000">
                <a:latin typeface="Times New Roman" panose="02020603050405020304"/>
              </a:rPr>
              <a:t>; // </a:t>
            </a:r>
            <a:r>
              <a:rPr lang="zh-CN" altLang="en-US" sz="2000">
                <a:latin typeface="Times New Roman" panose="02020603050405020304"/>
              </a:rPr>
              <a:t>存储键和值</a:t>
            </a:r>
            <a:endParaRPr lang="zh-CN" altLang="en-US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6     map.put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"2"</a:t>
            </a:r>
            <a:r>
              <a:rPr lang="zh-CN" altLang="en-US" sz="2000">
                <a:latin typeface="Times New Roman" panose="02020603050405020304"/>
              </a:rPr>
              <a:t>，</a:t>
            </a:r>
            <a:r>
              <a:rPr lang="en-US" altLang="zh-CN" sz="2000">
                <a:latin typeface="Times New Roman" panose="02020603050405020304"/>
              </a:rPr>
              <a:t> "</a:t>
            </a:r>
            <a:r>
              <a:rPr lang="zh-CN" altLang="en-US" sz="2000">
                <a:latin typeface="Times New Roman" panose="02020603050405020304"/>
              </a:rPr>
              <a:t>李磊</a:t>
            </a:r>
            <a:r>
              <a:rPr lang="en-US" altLang="zh-CN" sz="2000">
                <a:latin typeface="Times New Roman" panose="02020603050405020304"/>
              </a:rPr>
              <a:t>"</a:t>
            </a:r>
            <a:r>
              <a:rPr lang="zh-CN" altLang="en-US" sz="2000">
                <a:latin typeface="Times New Roman" panose="02020603050405020304"/>
              </a:rPr>
              <a:t>）</a:t>
            </a:r>
            <a:r>
              <a:rPr lang="en-US" altLang="zh-CN" sz="2000">
                <a:latin typeface="Times New Roman" panose="02020603050405020304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7     map.put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"3"</a:t>
            </a:r>
            <a:r>
              <a:rPr lang="zh-CN" altLang="en-US" sz="2000">
                <a:latin typeface="Times New Roman" panose="02020603050405020304"/>
              </a:rPr>
              <a:t>，</a:t>
            </a:r>
            <a:r>
              <a:rPr lang="en-US" altLang="zh-CN" sz="2000">
                <a:latin typeface="Times New Roman" panose="02020603050405020304"/>
              </a:rPr>
              <a:t> "</a:t>
            </a:r>
            <a:r>
              <a:rPr lang="zh-CN" altLang="en-US" sz="2000">
                <a:latin typeface="Times New Roman" panose="02020603050405020304"/>
              </a:rPr>
              <a:t>王智</a:t>
            </a:r>
            <a:r>
              <a:rPr lang="en-US" altLang="zh-CN" sz="2000">
                <a:latin typeface="Times New Roman" panose="02020603050405020304"/>
              </a:rPr>
              <a:t>"</a:t>
            </a:r>
            <a:r>
              <a:rPr lang="zh-CN" altLang="en-US" sz="2000">
                <a:latin typeface="Times New Roman" panose="02020603050405020304"/>
              </a:rPr>
              <a:t>）</a:t>
            </a:r>
            <a:r>
              <a:rPr lang="en-US" altLang="zh-CN" sz="2000">
                <a:latin typeface="Times New Roman" panose="02020603050405020304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8   Set keySet = map.keySet</a:t>
            </a:r>
            <a:r>
              <a:rPr lang="zh-CN" altLang="en-US" sz="2000">
                <a:latin typeface="Times New Roman" panose="02020603050405020304"/>
              </a:rPr>
              <a:t>（）</a:t>
            </a:r>
            <a:r>
              <a:rPr lang="en-US" altLang="zh-CN" sz="2000">
                <a:latin typeface="Times New Roman" panose="02020603050405020304"/>
              </a:rPr>
              <a:t>; // </a:t>
            </a:r>
            <a:r>
              <a:rPr lang="zh-CN" altLang="en-US" sz="2000">
                <a:latin typeface="Times New Roman" panose="02020603050405020304"/>
              </a:rPr>
              <a:t>获取键的集合</a:t>
            </a:r>
            <a:endParaRPr lang="zh-CN" altLang="en-US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9   Iterator it = keySet.iterator</a:t>
            </a:r>
            <a:r>
              <a:rPr lang="zh-CN" altLang="en-US" sz="2000">
                <a:latin typeface="Times New Roman" panose="02020603050405020304"/>
              </a:rPr>
              <a:t>（）</a:t>
            </a:r>
            <a:r>
              <a:rPr lang="en-US" altLang="zh-CN" sz="2000">
                <a:latin typeface="Times New Roman" panose="02020603050405020304"/>
              </a:rPr>
              <a:t>; // </a:t>
            </a:r>
            <a:r>
              <a:rPr lang="zh-CN" altLang="en-US" sz="2000">
                <a:latin typeface="Times New Roman" panose="02020603050405020304"/>
              </a:rPr>
              <a:t>获取</a:t>
            </a:r>
            <a:r>
              <a:rPr lang="en-US" altLang="zh-CN" sz="2000">
                <a:latin typeface="Times New Roman" panose="02020603050405020304"/>
              </a:rPr>
              <a:t>Iterator</a:t>
            </a:r>
            <a:r>
              <a:rPr lang="zh-CN" altLang="en-US" sz="2000">
                <a:latin typeface="Times New Roman" panose="02020603050405020304"/>
              </a:rPr>
              <a:t>对象</a:t>
            </a:r>
            <a:endParaRPr lang="zh-CN" altLang="en-US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0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5960" y="2060575"/>
            <a:ext cx="111728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子任务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2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：根据任务描述以及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Map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接口的常用方法知识点可以得到文件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9-14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所示的代码。</a:t>
            </a:r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  <a:p>
            <a:pPr algn="ctr"/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9-14 Example13.java</a:t>
            </a:r>
            <a:endParaRPr lang="en-US" altLang="zh-CN"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066925" y="2780665"/>
            <a:ext cx="10135870" cy="42887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10  while </a:t>
            </a:r>
            <a:r>
              <a:rPr lang="zh-CN" altLang="en-US" sz="2000">
                <a:latin typeface="Times New Roman" panose="02020603050405020304"/>
                <a:sym typeface="+mn-ea"/>
              </a:rPr>
              <a:t>（</a:t>
            </a:r>
            <a:r>
              <a:rPr lang="en-US" altLang="zh-CN" sz="2000">
                <a:latin typeface="Times New Roman" panose="02020603050405020304"/>
                <a:sym typeface="+mn-ea"/>
              </a:rPr>
              <a:t>it.hasNext</a:t>
            </a:r>
            <a:r>
              <a:rPr lang="zh-CN" altLang="en-US" sz="2000">
                <a:latin typeface="Times New Roman" panose="02020603050405020304"/>
                <a:sym typeface="+mn-ea"/>
              </a:rPr>
              <a:t>（））</a:t>
            </a:r>
            <a:r>
              <a:rPr lang="en-US" altLang="zh-CN" sz="2000">
                <a:latin typeface="Times New Roman" panose="02020603050405020304"/>
                <a:sym typeface="+mn-ea"/>
              </a:rPr>
              <a:t> {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11  Object key = it.next</a:t>
            </a:r>
            <a:r>
              <a:rPr lang="zh-CN" altLang="en-US" sz="2000">
                <a:latin typeface="Times New Roman" panose="02020603050405020304"/>
                <a:sym typeface="+mn-ea"/>
              </a:rPr>
              <a:t>（）</a:t>
            </a:r>
            <a:r>
              <a:rPr lang="en-US" altLang="zh-CN" sz="2000">
                <a:latin typeface="Times New Roman" panose="02020603050405020304"/>
                <a:sym typeface="+mn-ea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12  Object value = map.get</a:t>
            </a:r>
            <a:r>
              <a:rPr lang="zh-CN" altLang="en-US" sz="2000">
                <a:latin typeface="Times New Roman" panose="02020603050405020304"/>
                <a:sym typeface="+mn-ea"/>
              </a:rPr>
              <a:t>（</a:t>
            </a:r>
            <a:r>
              <a:rPr lang="en-US" altLang="zh-CN" sz="2000">
                <a:latin typeface="Times New Roman" panose="02020603050405020304"/>
                <a:sym typeface="+mn-ea"/>
              </a:rPr>
              <a:t>key</a:t>
            </a:r>
            <a:r>
              <a:rPr lang="zh-CN" altLang="en-US" sz="2000">
                <a:latin typeface="Times New Roman" panose="02020603050405020304"/>
                <a:sym typeface="+mn-ea"/>
              </a:rPr>
              <a:t>）</a:t>
            </a:r>
            <a:r>
              <a:rPr lang="en-US" altLang="zh-CN" sz="2000">
                <a:latin typeface="Times New Roman" panose="02020603050405020304"/>
                <a:sym typeface="+mn-ea"/>
              </a:rPr>
              <a:t>; // </a:t>
            </a:r>
            <a:r>
              <a:rPr lang="zh-CN" altLang="en-US" sz="2000">
                <a:latin typeface="Times New Roman" panose="02020603050405020304"/>
                <a:sym typeface="+mn-ea"/>
              </a:rPr>
              <a:t>获取每个键所对应的值</a:t>
            </a:r>
            <a:endParaRPr lang="zh-CN" altLang="en-US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13  System.out.println</a:t>
            </a:r>
            <a:r>
              <a:rPr lang="zh-CN" altLang="en-US" sz="2000">
                <a:latin typeface="Times New Roman" panose="02020603050405020304"/>
                <a:sym typeface="+mn-ea"/>
              </a:rPr>
              <a:t>（</a:t>
            </a:r>
            <a:r>
              <a:rPr lang="en-US" altLang="zh-CN" sz="2000">
                <a:latin typeface="Times New Roman" panose="02020603050405020304"/>
                <a:sym typeface="+mn-ea"/>
              </a:rPr>
              <a:t>key + ":" + value</a:t>
            </a:r>
            <a:r>
              <a:rPr lang="zh-CN" altLang="en-US" sz="2000">
                <a:latin typeface="Times New Roman" panose="02020603050405020304"/>
                <a:sym typeface="+mn-ea"/>
              </a:rPr>
              <a:t>）</a:t>
            </a:r>
            <a:r>
              <a:rPr lang="en-US" altLang="zh-CN" sz="2000">
                <a:latin typeface="Times New Roman" panose="02020603050405020304"/>
                <a:sym typeface="+mn-ea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14   }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15  }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16 }</a:t>
            </a:r>
            <a:endParaRPr lang="en-US" altLang="zh-CN" sz="20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649730" y="2132965"/>
            <a:ext cx="5080000" cy="475615"/>
          </a:xfrm>
          <a:prstGeom prst="rect">
            <a:avLst/>
          </a:prstGeom>
        </p:spPr>
        <p:txBody>
          <a:bodyPr>
            <a:spAutoFit/>
          </a:bodyPr>
          <a:p>
            <a:pPr marL="0" indent="266700" algn="l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文件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9-14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的运行结果如图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9-23 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所示。</a:t>
            </a:r>
            <a:endParaRPr lang="zh-CN" altLang="en-US" sz="2000"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637790" y="4869180"/>
            <a:ext cx="5080000" cy="683895"/>
          </a:xfrm>
          <a:prstGeom prst="rect">
            <a:avLst/>
          </a:prstGeom>
        </p:spPr>
        <p:txBody>
          <a:bodyPr>
            <a:spAutoFit/>
          </a:bodyPr>
          <a:p>
            <a:endParaRPr lang="en-US" altLang="zh-CN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ctr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9-23 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9-14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的运行结果</a:t>
            </a:r>
            <a:endParaRPr lang="zh-CN" altLang="en-US" sz="1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6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7015" y="2780665"/>
            <a:ext cx="4406265" cy="16630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5960" y="2060575"/>
            <a:ext cx="111728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子任务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3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：根据任务描述以及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Map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接口的常用方法知识点可以得到文件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9-15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所示的代码。</a:t>
            </a:r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  <a:p>
            <a:pPr algn="ctr"/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  <a:p>
            <a:pPr algn="ctr"/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9-15 Example14.java</a:t>
            </a:r>
            <a:endParaRPr lang="en-US" altLang="zh-CN"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066925" y="2997200"/>
            <a:ext cx="10135870" cy="42887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1import java.util.*;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2public class Example14 {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3	public staticvoidmain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String[] args</a:t>
            </a:r>
            <a:r>
              <a:rPr lang="zh-CN" altLang="en-US" sz="2000">
                <a:latin typeface="Times New Roman" panose="02020603050405020304"/>
              </a:rPr>
              <a:t>）</a:t>
            </a:r>
            <a:r>
              <a:rPr lang="en-US" altLang="zh-CN" sz="2000">
                <a:latin typeface="Times New Roman" panose="02020603050405020304"/>
              </a:rPr>
              <a:t> {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4		Map map = new HashMap</a:t>
            </a:r>
            <a:r>
              <a:rPr lang="zh-CN" altLang="en-US" sz="2000">
                <a:latin typeface="Times New Roman" panose="02020603050405020304"/>
              </a:rPr>
              <a:t>（）</a:t>
            </a:r>
            <a:r>
              <a:rPr lang="en-US" altLang="zh-CN" sz="2000">
                <a:latin typeface="Times New Roman" panose="02020603050405020304"/>
              </a:rPr>
              <a:t>;         // </a:t>
            </a:r>
            <a:r>
              <a:rPr lang="zh-CN" altLang="en-US" sz="2000">
                <a:latin typeface="Times New Roman" panose="02020603050405020304"/>
              </a:rPr>
              <a:t>创建</a:t>
            </a:r>
            <a:r>
              <a:rPr lang="en-US" altLang="zh-CN" sz="2000">
                <a:latin typeface="Times New Roman" panose="02020603050405020304"/>
              </a:rPr>
              <a:t>HashMap</a:t>
            </a:r>
            <a:r>
              <a:rPr lang="zh-CN" altLang="en-US" sz="2000">
                <a:latin typeface="Times New Roman" panose="02020603050405020304"/>
              </a:rPr>
              <a:t>集合</a:t>
            </a:r>
            <a:endParaRPr lang="zh-CN" altLang="en-US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5		map.put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"1"</a:t>
            </a:r>
            <a:r>
              <a:rPr lang="zh-CN" altLang="en-US" sz="2000">
                <a:latin typeface="Times New Roman" panose="02020603050405020304"/>
              </a:rPr>
              <a:t>，</a:t>
            </a:r>
            <a:r>
              <a:rPr lang="en-US" altLang="zh-CN" sz="2000">
                <a:latin typeface="Times New Roman" panose="02020603050405020304"/>
              </a:rPr>
              <a:t> "</a:t>
            </a:r>
            <a:r>
              <a:rPr lang="zh-CN" altLang="en-US" sz="2000">
                <a:latin typeface="Times New Roman" panose="02020603050405020304"/>
              </a:rPr>
              <a:t>张华</a:t>
            </a:r>
            <a:r>
              <a:rPr lang="en-US" altLang="zh-CN" sz="2000">
                <a:latin typeface="Times New Roman" panose="02020603050405020304"/>
              </a:rPr>
              <a:t>"</a:t>
            </a:r>
            <a:r>
              <a:rPr lang="zh-CN" altLang="en-US" sz="2000">
                <a:latin typeface="Times New Roman" panose="02020603050405020304"/>
              </a:rPr>
              <a:t>）</a:t>
            </a:r>
            <a:r>
              <a:rPr lang="en-US" altLang="zh-CN" sz="2000">
                <a:latin typeface="Times New Roman" panose="02020603050405020304"/>
              </a:rPr>
              <a:t>;  // </a:t>
            </a:r>
            <a:r>
              <a:rPr lang="zh-CN" altLang="en-US" sz="2000">
                <a:latin typeface="Times New Roman" panose="02020603050405020304"/>
              </a:rPr>
              <a:t>存储键和值</a:t>
            </a:r>
            <a:endParaRPr lang="zh-CN" altLang="en-US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6		map.put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"2"</a:t>
            </a:r>
            <a:r>
              <a:rPr lang="zh-CN" altLang="en-US" sz="2000">
                <a:latin typeface="Times New Roman" panose="02020603050405020304"/>
              </a:rPr>
              <a:t>，</a:t>
            </a:r>
            <a:r>
              <a:rPr lang="en-US" altLang="zh-CN" sz="2000">
                <a:latin typeface="Times New Roman" panose="02020603050405020304"/>
              </a:rPr>
              <a:t> "</a:t>
            </a:r>
            <a:r>
              <a:rPr lang="zh-CN" altLang="en-US" sz="2000">
                <a:latin typeface="Times New Roman" panose="02020603050405020304"/>
              </a:rPr>
              <a:t>李磊</a:t>
            </a:r>
            <a:r>
              <a:rPr lang="en-US" altLang="zh-CN" sz="2000">
                <a:latin typeface="Times New Roman" panose="02020603050405020304"/>
              </a:rPr>
              <a:t>"</a:t>
            </a:r>
            <a:r>
              <a:rPr lang="zh-CN" altLang="en-US" sz="2000">
                <a:latin typeface="Times New Roman" panose="02020603050405020304"/>
              </a:rPr>
              <a:t>）</a:t>
            </a:r>
            <a:r>
              <a:rPr lang="en-US" altLang="zh-CN" sz="2000">
                <a:latin typeface="Times New Roman" panose="02020603050405020304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7		map.put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"3"</a:t>
            </a:r>
            <a:r>
              <a:rPr lang="zh-CN" altLang="en-US" sz="2000">
                <a:latin typeface="Times New Roman" panose="02020603050405020304"/>
              </a:rPr>
              <a:t>，</a:t>
            </a:r>
            <a:r>
              <a:rPr lang="en-US" altLang="zh-CN" sz="2000">
                <a:latin typeface="Times New Roman" panose="02020603050405020304"/>
              </a:rPr>
              <a:t> "</a:t>
            </a:r>
            <a:r>
              <a:rPr lang="zh-CN" altLang="en-US" sz="2000">
                <a:latin typeface="Times New Roman" panose="02020603050405020304"/>
              </a:rPr>
              <a:t>王智</a:t>
            </a:r>
            <a:r>
              <a:rPr lang="en-US" altLang="zh-CN" sz="2000">
                <a:latin typeface="Times New Roman" panose="02020603050405020304"/>
              </a:rPr>
              <a:t>"</a:t>
            </a:r>
            <a:r>
              <a:rPr lang="zh-CN" altLang="en-US" sz="2000">
                <a:latin typeface="Times New Roman" panose="02020603050405020304"/>
              </a:rPr>
              <a:t>）</a:t>
            </a:r>
            <a:r>
              <a:rPr lang="en-US" altLang="zh-CN" sz="2000">
                <a:latin typeface="Times New Roman" panose="02020603050405020304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8		Set entrySet = map.entrySet</a:t>
            </a:r>
            <a:r>
              <a:rPr lang="zh-CN" altLang="en-US" sz="2000">
                <a:latin typeface="Times New Roman" panose="02020603050405020304"/>
              </a:rPr>
              <a:t>（）</a:t>
            </a:r>
            <a:r>
              <a:rPr lang="en-US" altLang="zh-CN" sz="2000">
                <a:latin typeface="Times New Roman" panose="02020603050405020304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9		Iterator it = entrySet.iterator</a:t>
            </a:r>
            <a:r>
              <a:rPr lang="zh-CN" altLang="en-US" sz="2000">
                <a:latin typeface="Times New Roman" panose="02020603050405020304"/>
              </a:rPr>
              <a:t>（）</a:t>
            </a:r>
            <a:r>
              <a:rPr lang="en-US" altLang="zh-CN" sz="2000">
                <a:latin typeface="Times New Roman" panose="02020603050405020304"/>
              </a:rPr>
              <a:t>;              // </a:t>
            </a:r>
            <a:r>
              <a:rPr lang="zh-CN" altLang="en-US" sz="2000">
                <a:latin typeface="Times New Roman" panose="02020603050405020304"/>
              </a:rPr>
              <a:t>获取</a:t>
            </a:r>
            <a:r>
              <a:rPr lang="en-US" altLang="zh-CN" sz="2000">
                <a:latin typeface="Times New Roman" panose="02020603050405020304"/>
              </a:rPr>
              <a:t>Iterator</a:t>
            </a:r>
            <a:r>
              <a:rPr lang="zh-CN" altLang="en-US" sz="2000">
                <a:latin typeface="Times New Roman" panose="02020603050405020304"/>
              </a:rPr>
              <a:t>对象</a:t>
            </a:r>
            <a:endParaRPr lang="zh-CN" altLang="en-US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10		while 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it.hasNext</a:t>
            </a:r>
            <a:r>
              <a:rPr lang="zh-CN" altLang="en-US" sz="2000">
                <a:latin typeface="Times New Roman" panose="02020603050405020304"/>
              </a:rPr>
              <a:t>（））</a:t>
            </a:r>
            <a:r>
              <a:rPr lang="en-US" altLang="zh-CN" sz="2000">
                <a:latin typeface="Times New Roman" panose="02020603050405020304"/>
              </a:rPr>
              <a:t> {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1</a:t>
            </a:r>
            <a:endParaRPr lang="en-US" altLang="zh-CN" sz="20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5960" y="2060575"/>
            <a:ext cx="111728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子任务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3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：根据任务描述以及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Map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接口的常用方法知识点可以得到文件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9-15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所示的代码。</a:t>
            </a:r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  <a:p>
            <a:pPr algn="ctr"/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  <a:p>
            <a:pPr algn="ctr"/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9-15 Example14.java</a:t>
            </a:r>
            <a:endParaRPr lang="en-US" altLang="zh-CN"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066925" y="2997200"/>
            <a:ext cx="10135870" cy="42887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			// </a:t>
            </a:r>
            <a:r>
              <a:rPr lang="zh-CN" altLang="en-US" sz="2000">
                <a:latin typeface="Times New Roman" panose="02020603050405020304"/>
                <a:sym typeface="+mn-ea"/>
              </a:rPr>
              <a:t>获取集合中键值对映射关系</a:t>
            </a:r>
            <a:endParaRPr lang="zh-CN" altLang="en-US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12			Map.Entry entry = Map.Entry</a:t>
            </a:r>
            <a:r>
              <a:rPr lang="zh-CN" altLang="en-US" sz="2000">
                <a:latin typeface="Times New Roman" panose="02020603050405020304"/>
                <a:sym typeface="+mn-ea"/>
              </a:rPr>
              <a:t>）</a:t>
            </a:r>
            <a:r>
              <a:rPr lang="en-US" altLang="zh-CN" sz="2000">
                <a:latin typeface="Times New Roman" panose="02020603050405020304"/>
                <a:sym typeface="+mn-ea"/>
              </a:rPr>
              <a:t>it.next</a:t>
            </a:r>
            <a:r>
              <a:rPr lang="zh-CN" altLang="en-US" sz="2000">
                <a:latin typeface="Times New Roman" panose="02020603050405020304"/>
                <a:sym typeface="+mn-ea"/>
              </a:rPr>
              <a:t>（））</a:t>
            </a:r>
            <a:r>
              <a:rPr lang="en-US" altLang="zh-CN" sz="2000">
                <a:latin typeface="Times New Roman" panose="02020603050405020304"/>
                <a:sym typeface="+mn-ea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13			Object key = entry.getKey</a:t>
            </a:r>
            <a:r>
              <a:rPr lang="zh-CN" altLang="en-US" sz="2000">
                <a:latin typeface="Times New Roman" panose="02020603050405020304"/>
                <a:sym typeface="+mn-ea"/>
              </a:rPr>
              <a:t>（）</a:t>
            </a:r>
            <a:r>
              <a:rPr lang="en-US" altLang="zh-CN" sz="2000">
                <a:latin typeface="Times New Roman" panose="02020603050405020304"/>
                <a:sym typeface="+mn-ea"/>
              </a:rPr>
              <a:t>; // </a:t>
            </a:r>
            <a:r>
              <a:rPr lang="zh-CN" altLang="en-US" sz="2000">
                <a:latin typeface="Times New Roman" panose="02020603050405020304"/>
                <a:sym typeface="+mn-ea"/>
              </a:rPr>
              <a:t>获取</a:t>
            </a:r>
            <a:r>
              <a:rPr lang="en-US" altLang="zh-CN" sz="2000">
                <a:latin typeface="Times New Roman" panose="02020603050405020304"/>
                <a:sym typeface="+mn-ea"/>
              </a:rPr>
              <a:t>Entry</a:t>
            </a:r>
            <a:r>
              <a:rPr lang="zh-CN" altLang="en-US" sz="2000">
                <a:latin typeface="Times New Roman" panose="02020603050405020304"/>
                <a:sym typeface="+mn-ea"/>
              </a:rPr>
              <a:t>中的键</a:t>
            </a:r>
            <a:endParaRPr lang="zh-CN" altLang="en-US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14			Object value = entry.getValue</a:t>
            </a:r>
            <a:r>
              <a:rPr lang="zh-CN" altLang="en-US" sz="2000">
                <a:latin typeface="Times New Roman" panose="02020603050405020304"/>
                <a:sym typeface="+mn-ea"/>
              </a:rPr>
              <a:t>（）</a:t>
            </a:r>
            <a:r>
              <a:rPr lang="en-US" altLang="zh-CN" sz="2000">
                <a:latin typeface="Times New Roman" panose="02020603050405020304"/>
                <a:sym typeface="+mn-ea"/>
              </a:rPr>
              <a:t>;// </a:t>
            </a:r>
            <a:r>
              <a:rPr lang="zh-CN" altLang="en-US" sz="2000">
                <a:latin typeface="Times New Roman" panose="02020603050405020304"/>
                <a:sym typeface="+mn-ea"/>
              </a:rPr>
              <a:t>获取</a:t>
            </a:r>
            <a:r>
              <a:rPr lang="en-US" altLang="zh-CN" sz="2000">
                <a:latin typeface="Times New Roman" panose="02020603050405020304"/>
                <a:sym typeface="+mn-ea"/>
              </a:rPr>
              <a:t>Entry</a:t>
            </a:r>
            <a:r>
              <a:rPr lang="zh-CN" altLang="en-US" sz="2000">
                <a:latin typeface="Times New Roman" panose="02020603050405020304"/>
                <a:sym typeface="+mn-ea"/>
              </a:rPr>
              <a:t>中的值</a:t>
            </a:r>
            <a:endParaRPr lang="zh-CN" altLang="en-US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15			System.out.println</a:t>
            </a:r>
            <a:r>
              <a:rPr lang="zh-CN" altLang="en-US" sz="2000">
                <a:latin typeface="Times New Roman" panose="02020603050405020304"/>
                <a:sym typeface="+mn-ea"/>
              </a:rPr>
              <a:t>（</a:t>
            </a:r>
            <a:r>
              <a:rPr lang="en-US" altLang="zh-CN" sz="2000">
                <a:latin typeface="Times New Roman" panose="02020603050405020304"/>
                <a:sym typeface="+mn-ea"/>
              </a:rPr>
              <a:t>key + ":" + value</a:t>
            </a:r>
            <a:r>
              <a:rPr lang="zh-CN" altLang="en-US" sz="2000">
                <a:latin typeface="Times New Roman" panose="02020603050405020304"/>
                <a:sym typeface="+mn-ea"/>
              </a:rPr>
              <a:t>）</a:t>
            </a:r>
            <a:r>
              <a:rPr lang="en-US" altLang="zh-CN" sz="2000">
                <a:latin typeface="Times New Roman" panose="02020603050405020304"/>
                <a:sym typeface="+mn-ea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16		} 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17	}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18 }</a:t>
            </a:r>
            <a:endParaRPr lang="en-US" altLang="zh-CN" sz="20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649730" y="2132965"/>
            <a:ext cx="5080000" cy="475615"/>
          </a:xfrm>
          <a:prstGeom prst="rect">
            <a:avLst/>
          </a:prstGeom>
        </p:spPr>
        <p:txBody>
          <a:bodyPr>
            <a:spAutoFit/>
          </a:bodyPr>
          <a:p>
            <a:pPr marL="0" indent="266700" algn="l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文件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9-15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的运行结果如图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9-24 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所示。</a:t>
            </a:r>
            <a:endParaRPr lang="zh-CN" altLang="en-US" sz="2000"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922780" y="4425315"/>
            <a:ext cx="5080000" cy="683895"/>
          </a:xfrm>
          <a:prstGeom prst="rect">
            <a:avLst/>
          </a:prstGeom>
        </p:spPr>
        <p:txBody>
          <a:bodyPr>
            <a:spAutoFit/>
          </a:bodyPr>
          <a:p>
            <a:endParaRPr lang="en-US" altLang="zh-CN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ctr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9-24 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9-15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的运行结果</a:t>
            </a:r>
            <a:endParaRPr lang="zh-CN" altLang="en-US" sz="1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6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8770" y="2924810"/>
            <a:ext cx="4160520" cy="14039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5960" y="2060575"/>
            <a:ext cx="111728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子任务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4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：根据任务描述以及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Map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接口的常用方法知识点可以得到文件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9-16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所示的代码。</a:t>
            </a:r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  <a:p>
            <a:pPr algn="ctr"/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  <a:p>
            <a:pPr algn="ctr"/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9-16 Example15.java</a:t>
            </a:r>
            <a:endParaRPr lang="en-US" altLang="zh-CN"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066925" y="2997200"/>
            <a:ext cx="10135870" cy="42887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1import java.util.*;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2public class Example15 {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3	public staticvoidmain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String[] args</a:t>
            </a:r>
            <a:r>
              <a:rPr lang="zh-CN" altLang="en-US" sz="2000">
                <a:latin typeface="Times New Roman" panose="02020603050405020304"/>
              </a:rPr>
              <a:t>）</a:t>
            </a:r>
            <a:r>
              <a:rPr lang="en-US" altLang="zh-CN" sz="2000">
                <a:latin typeface="Times New Roman" panose="02020603050405020304"/>
              </a:rPr>
              <a:t> {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4		HashMap&lt;String</a:t>
            </a:r>
            <a:r>
              <a:rPr lang="zh-CN" altLang="en-US" sz="2000">
                <a:latin typeface="Times New Roman" panose="02020603050405020304"/>
              </a:rPr>
              <a:t>，</a:t>
            </a:r>
            <a:r>
              <a:rPr lang="en-US" altLang="zh-CN" sz="2000">
                <a:latin typeface="Times New Roman" panose="02020603050405020304"/>
              </a:rPr>
              <a:t> String&gt; map = new HashMap&lt;&gt;</a:t>
            </a:r>
            <a:r>
              <a:rPr lang="zh-CN" altLang="en-US" sz="2000">
                <a:latin typeface="Times New Roman" panose="02020603050405020304"/>
              </a:rPr>
              <a:t>（）</a:t>
            </a:r>
            <a:r>
              <a:rPr lang="en-US" altLang="zh-CN" sz="2000">
                <a:latin typeface="Times New Roman" panose="02020603050405020304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5		map.put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"1"</a:t>
            </a:r>
            <a:r>
              <a:rPr lang="zh-CN" altLang="en-US" sz="2000">
                <a:latin typeface="Times New Roman" panose="02020603050405020304"/>
              </a:rPr>
              <a:t>，</a:t>
            </a:r>
            <a:r>
              <a:rPr lang="en-US" altLang="zh-CN" sz="2000">
                <a:latin typeface="Times New Roman" panose="02020603050405020304"/>
              </a:rPr>
              <a:t> "</a:t>
            </a:r>
            <a:r>
              <a:rPr lang="zh-CN" altLang="en-US" sz="2000">
                <a:latin typeface="Times New Roman" panose="02020603050405020304"/>
              </a:rPr>
              <a:t>张华</a:t>
            </a:r>
            <a:r>
              <a:rPr lang="en-US" altLang="zh-CN" sz="2000">
                <a:latin typeface="Times New Roman" panose="02020603050405020304"/>
              </a:rPr>
              <a:t>"</a:t>
            </a:r>
            <a:r>
              <a:rPr lang="zh-CN" altLang="en-US" sz="2000">
                <a:latin typeface="Times New Roman" panose="02020603050405020304"/>
              </a:rPr>
              <a:t>）</a:t>
            </a:r>
            <a:r>
              <a:rPr lang="en-US" altLang="zh-CN" sz="2000">
                <a:latin typeface="Times New Roman" panose="02020603050405020304"/>
              </a:rPr>
              <a:t>;  // </a:t>
            </a:r>
            <a:r>
              <a:rPr lang="zh-CN" altLang="en-US" sz="2000">
                <a:latin typeface="Times New Roman" panose="02020603050405020304"/>
              </a:rPr>
              <a:t>存储键和值</a:t>
            </a:r>
            <a:endParaRPr lang="zh-CN" altLang="en-US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6		map.put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"2"</a:t>
            </a:r>
            <a:r>
              <a:rPr lang="zh-CN" altLang="en-US" sz="2000">
                <a:latin typeface="Times New Roman" panose="02020603050405020304"/>
              </a:rPr>
              <a:t>，</a:t>
            </a:r>
            <a:r>
              <a:rPr lang="en-US" altLang="zh-CN" sz="2000">
                <a:latin typeface="Times New Roman" panose="02020603050405020304"/>
              </a:rPr>
              <a:t> "</a:t>
            </a:r>
            <a:r>
              <a:rPr lang="zh-CN" altLang="en-US" sz="2000">
                <a:latin typeface="Times New Roman" panose="02020603050405020304"/>
              </a:rPr>
              <a:t>李磊</a:t>
            </a:r>
            <a:r>
              <a:rPr lang="en-US" altLang="zh-CN" sz="2000">
                <a:latin typeface="Times New Roman" panose="02020603050405020304"/>
              </a:rPr>
              <a:t>"</a:t>
            </a:r>
            <a:r>
              <a:rPr lang="zh-CN" altLang="en-US" sz="2000">
                <a:latin typeface="Times New Roman" panose="02020603050405020304"/>
              </a:rPr>
              <a:t>）</a:t>
            </a:r>
            <a:r>
              <a:rPr lang="en-US" altLang="zh-CN" sz="2000">
                <a:latin typeface="Times New Roman" panose="02020603050405020304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7		map.put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"3"</a:t>
            </a:r>
            <a:r>
              <a:rPr lang="zh-CN" altLang="en-US" sz="2000">
                <a:latin typeface="Times New Roman" panose="02020603050405020304"/>
              </a:rPr>
              <a:t>，</a:t>
            </a:r>
            <a:r>
              <a:rPr lang="en-US" altLang="zh-CN" sz="2000">
                <a:latin typeface="Times New Roman" panose="02020603050405020304"/>
              </a:rPr>
              <a:t> "</a:t>
            </a:r>
            <a:r>
              <a:rPr lang="zh-CN" altLang="en-US" sz="2000">
                <a:latin typeface="Times New Roman" panose="02020603050405020304"/>
              </a:rPr>
              <a:t>王智</a:t>
            </a:r>
            <a:r>
              <a:rPr lang="en-US" altLang="zh-CN" sz="2000">
                <a:latin typeface="Times New Roman" panose="02020603050405020304"/>
              </a:rPr>
              <a:t>"</a:t>
            </a:r>
            <a:r>
              <a:rPr lang="zh-CN" altLang="en-US" sz="2000">
                <a:latin typeface="Times New Roman" panose="02020603050405020304"/>
              </a:rPr>
              <a:t>）</a:t>
            </a:r>
            <a:r>
              <a:rPr lang="en-US" altLang="zh-CN" sz="2000">
                <a:latin typeface="Times New Roman" panose="02020603050405020304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8		for 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Map.Entry&lt;String</a:t>
            </a:r>
            <a:r>
              <a:rPr lang="zh-CN" altLang="en-US" sz="2000">
                <a:latin typeface="Times New Roman" panose="02020603050405020304"/>
              </a:rPr>
              <a:t>，</a:t>
            </a:r>
            <a:r>
              <a:rPr lang="en-US" altLang="zh-CN" sz="2000">
                <a:latin typeface="Times New Roman" panose="02020603050405020304"/>
              </a:rPr>
              <a:t> String&gt; entry : map.entrySet</a:t>
            </a:r>
            <a:r>
              <a:rPr lang="zh-CN" altLang="en-US" sz="2000">
                <a:latin typeface="Times New Roman" panose="02020603050405020304"/>
              </a:rPr>
              <a:t>（））</a:t>
            </a:r>
            <a:r>
              <a:rPr lang="en-US" altLang="zh-CN" sz="2000">
                <a:latin typeface="Times New Roman" panose="02020603050405020304"/>
              </a:rPr>
              <a:t> {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9		System.out.println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entry.getKey</a:t>
            </a:r>
            <a:r>
              <a:rPr lang="zh-CN" altLang="en-US" sz="2000">
                <a:latin typeface="Times New Roman" panose="02020603050405020304"/>
              </a:rPr>
              <a:t>（）</a:t>
            </a:r>
            <a:r>
              <a:rPr lang="en-US" altLang="zh-CN" sz="2000">
                <a:latin typeface="Times New Roman" panose="02020603050405020304"/>
              </a:rPr>
              <a:t> + ":" + entry.getValue</a:t>
            </a:r>
            <a:r>
              <a:rPr lang="zh-CN" altLang="en-US" sz="2000">
                <a:latin typeface="Times New Roman" panose="02020603050405020304"/>
              </a:rPr>
              <a:t>（））</a:t>
            </a:r>
            <a:r>
              <a:rPr lang="en-US" altLang="zh-CN" sz="2000">
                <a:latin typeface="Times New Roman" panose="02020603050405020304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10		}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11 }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12 }</a:t>
            </a:r>
            <a:endParaRPr lang="en-US" altLang="zh-CN" sz="20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649730" y="2132965"/>
            <a:ext cx="5080000" cy="475615"/>
          </a:xfrm>
          <a:prstGeom prst="rect">
            <a:avLst/>
          </a:prstGeom>
        </p:spPr>
        <p:txBody>
          <a:bodyPr>
            <a:spAutoFit/>
          </a:bodyPr>
          <a:p>
            <a:pPr marL="0" indent="266700" algn="l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文件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9-16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的运行结果如图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9-25 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所示。</a:t>
            </a:r>
            <a:endParaRPr lang="zh-CN" altLang="en-US" sz="2000"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210435" y="4293235"/>
            <a:ext cx="5080000" cy="475615"/>
          </a:xfrm>
          <a:prstGeom prst="rect">
            <a:avLst/>
          </a:prstGeom>
        </p:spPr>
        <p:txBody>
          <a:bodyPr>
            <a:spAutoFit/>
          </a:bodyPr>
          <a:p>
            <a:pPr marL="0" indent="266700" algn="ctr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9-25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9-16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的运行结果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64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815" y="2924810"/>
            <a:ext cx="3395345" cy="12261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5960" y="2060575"/>
            <a:ext cx="111728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子任务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5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：根据任务描述以及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Map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接口的常用方法知识点可以得到文件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9-17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所示的代码。</a:t>
            </a:r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  <a:p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  <a:p>
            <a:pPr algn="ctr"/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9-17 Example16.java</a:t>
            </a:r>
            <a:endParaRPr lang="en-US" altLang="zh-CN"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066925" y="2997200"/>
            <a:ext cx="10135870" cy="42887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1import java.util.*;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2public class Example16 {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3   public static void main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String[] args</a:t>
            </a:r>
            <a:r>
              <a:rPr lang="zh-CN" altLang="en-US" sz="2000">
                <a:latin typeface="Times New Roman" panose="02020603050405020304"/>
              </a:rPr>
              <a:t>）</a:t>
            </a:r>
            <a:r>
              <a:rPr lang="en-US" altLang="zh-CN" sz="2000">
                <a:latin typeface="Times New Roman" panose="02020603050405020304"/>
              </a:rPr>
              <a:t> {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4       HashMap&lt;String</a:t>
            </a:r>
            <a:r>
              <a:rPr lang="zh-CN" altLang="en-US" sz="2000">
                <a:latin typeface="Times New Roman" panose="02020603050405020304"/>
              </a:rPr>
              <a:t>，</a:t>
            </a:r>
            <a:r>
              <a:rPr lang="en-US" altLang="zh-CN" sz="2000">
                <a:latin typeface="Times New Roman" panose="02020603050405020304"/>
              </a:rPr>
              <a:t> String&gt; map = new HashMap&lt;&gt;</a:t>
            </a:r>
            <a:r>
              <a:rPr lang="zh-CN" altLang="en-US" sz="2000">
                <a:latin typeface="Times New Roman" panose="02020603050405020304"/>
              </a:rPr>
              <a:t>（）</a:t>
            </a:r>
            <a:r>
              <a:rPr lang="en-US" altLang="zh-CN" sz="2000">
                <a:latin typeface="Times New Roman" panose="02020603050405020304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5       map.put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"1"</a:t>
            </a:r>
            <a:r>
              <a:rPr lang="zh-CN" altLang="en-US" sz="2000">
                <a:latin typeface="Times New Roman" panose="02020603050405020304"/>
              </a:rPr>
              <a:t>，</a:t>
            </a:r>
            <a:r>
              <a:rPr lang="en-US" altLang="zh-CN" sz="2000">
                <a:latin typeface="Times New Roman" panose="02020603050405020304"/>
              </a:rPr>
              <a:t> "</a:t>
            </a:r>
            <a:r>
              <a:rPr lang="zh-CN" altLang="en-US" sz="2000">
                <a:latin typeface="Times New Roman" panose="02020603050405020304"/>
              </a:rPr>
              <a:t>张华</a:t>
            </a:r>
            <a:r>
              <a:rPr lang="en-US" altLang="zh-CN" sz="2000">
                <a:latin typeface="Times New Roman" panose="02020603050405020304"/>
              </a:rPr>
              <a:t>"</a:t>
            </a:r>
            <a:r>
              <a:rPr lang="zh-CN" altLang="en-US" sz="2000">
                <a:latin typeface="Times New Roman" panose="02020603050405020304"/>
              </a:rPr>
              <a:t>）</a:t>
            </a:r>
            <a:r>
              <a:rPr lang="en-US" altLang="zh-CN" sz="2000">
                <a:latin typeface="Times New Roman" panose="02020603050405020304"/>
              </a:rPr>
              <a:t>; // </a:t>
            </a:r>
            <a:r>
              <a:rPr lang="zh-CN" altLang="en-US" sz="2000">
                <a:latin typeface="Times New Roman" panose="02020603050405020304"/>
              </a:rPr>
              <a:t>存储键和值</a:t>
            </a:r>
            <a:endParaRPr lang="zh-CN" altLang="en-US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6       map.put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"2"</a:t>
            </a:r>
            <a:r>
              <a:rPr lang="zh-CN" altLang="en-US" sz="2000">
                <a:latin typeface="Times New Roman" panose="02020603050405020304"/>
              </a:rPr>
              <a:t>，</a:t>
            </a:r>
            <a:r>
              <a:rPr lang="en-US" altLang="zh-CN" sz="2000">
                <a:latin typeface="Times New Roman" panose="02020603050405020304"/>
              </a:rPr>
              <a:t> "</a:t>
            </a:r>
            <a:r>
              <a:rPr lang="zh-CN" altLang="en-US" sz="2000">
                <a:latin typeface="Times New Roman" panose="02020603050405020304"/>
              </a:rPr>
              <a:t>李磊</a:t>
            </a:r>
            <a:r>
              <a:rPr lang="en-US" altLang="zh-CN" sz="2000">
                <a:latin typeface="Times New Roman" panose="02020603050405020304"/>
              </a:rPr>
              <a:t>"</a:t>
            </a:r>
            <a:r>
              <a:rPr lang="zh-CN" altLang="en-US" sz="2000">
                <a:latin typeface="Times New Roman" panose="02020603050405020304"/>
              </a:rPr>
              <a:t>）</a:t>
            </a:r>
            <a:r>
              <a:rPr lang="en-US" altLang="zh-CN" sz="2000">
                <a:latin typeface="Times New Roman" panose="02020603050405020304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7       map.put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"3"</a:t>
            </a:r>
            <a:r>
              <a:rPr lang="zh-CN" altLang="en-US" sz="2000">
                <a:latin typeface="Times New Roman" panose="02020603050405020304"/>
              </a:rPr>
              <a:t>，</a:t>
            </a:r>
            <a:r>
              <a:rPr lang="en-US" altLang="zh-CN" sz="2000">
                <a:latin typeface="Times New Roman" panose="02020603050405020304"/>
              </a:rPr>
              <a:t> "</a:t>
            </a:r>
            <a:r>
              <a:rPr lang="zh-CN" altLang="en-US" sz="2000">
                <a:latin typeface="Times New Roman" panose="02020603050405020304"/>
              </a:rPr>
              <a:t>王智</a:t>
            </a:r>
            <a:r>
              <a:rPr lang="en-US" altLang="zh-CN" sz="2000">
                <a:latin typeface="Times New Roman" panose="02020603050405020304"/>
              </a:rPr>
              <a:t>"</a:t>
            </a:r>
            <a:r>
              <a:rPr lang="zh-CN" altLang="en-US" sz="2000">
                <a:latin typeface="Times New Roman" panose="02020603050405020304"/>
              </a:rPr>
              <a:t>）</a:t>
            </a:r>
            <a:r>
              <a:rPr lang="en-US" altLang="zh-CN" sz="2000">
                <a:latin typeface="Times New Roman" panose="02020603050405020304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8       for 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String key: map.keySet</a:t>
            </a:r>
            <a:r>
              <a:rPr lang="zh-CN" altLang="en-US" sz="2000">
                <a:latin typeface="Times New Roman" panose="02020603050405020304"/>
              </a:rPr>
              <a:t>（））</a:t>
            </a:r>
            <a:r>
              <a:rPr lang="en-US" altLang="zh-CN" sz="2000">
                <a:latin typeface="Times New Roman" panose="02020603050405020304"/>
              </a:rPr>
              <a:t> {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9          System.out.println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 key + ":" + map.get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key</a:t>
            </a:r>
            <a:r>
              <a:rPr lang="zh-CN" altLang="en-US" sz="2000">
                <a:latin typeface="Times New Roman" panose="02020603050405020304"/>
              </a:rPr>
              <a:t>））</a:t>
            </a:r>
            <a:r>
              <a:rPr lang="en-US" altLang="zh-CN" sz="2000">
                <a:latin typeface="Times New Roman" panose="02020603050405020304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10    }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11  }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12}</a:t>
            </a:r>
            <a:endParaRPr lang="en-US" altLang="zh-CN" sz="20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649730" y="2132965"/>
            <a:ext cx="5080000" cy="475615"/>
          </a:xfrm>
          <a:prstGeom prst="rect">
            <a:avLst/>
          </a:prstGeom>
        </p:spPr>
        <p:txBody>
          <a:bodyPr>
            <a:spAutoFit/>
          </a:bodyPr>
          <a:p>
            <a:pPr marL="0" indent="266700" algn="l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文件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9-17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的运行结果如图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9-26 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所示。</a:t>
            </a:r>
            <a:endParaRPr lang="zh-CN" altLang="en-US" sz="2000"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210435" y="4293235"/>
            <a:ext cx="5080000" cy="475615"/>
          </a:xfrm>
          <a:prstGeom prst="rect">
            <a:avLst/>
          </a:prstGeom>
        </p:spPr>
        <p:txBody>
          <a:bodyPr>
            <a:spAutoFit/>
          </a:bodyPr>
          <a:p>
            <a:pPr marL="0" indent="266700" algn="ctr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9-26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9-17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的运行结果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65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2870" y="2689860"/>
            <a:ext cx="4265930" cy="15214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835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7171" name="Picture 4" descr="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5038"/>
            <a:ext cx="1219835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8" descr="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938" y="4797425"/>
            <a:ext cx="1679575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文本框 1"/>
          <p:cNvSpPr txBox="1">
            <a:spLocks noChangeArrowheads="1"/>
          </p:cNvSpPr>
          <p:nvPr/>
        </p:nvSpPr>
        <p:spPr bwMode="auto">
          <a:xfrm>
            <a:off x="4732338" y="3016250"/>
            <a:ext cx="22367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感谢关注</a:t>
            </a:r>
            <a:endParaRPr lang="zh-CN" altLang="en-US" sz="4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tags/tag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4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5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6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7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8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9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0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1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8.xml><?xml version="1.0" encoding="utf-8"?>
<p:tagLst xmlns:p="http://schemas.openxmlformats.org/presentationml/2006/main">
  <p:tag name="TABLE_ENDDRAG_ORIGIN_RECT" val="710*289"/>
  <p:tag name="TABLE_ENDDRAG_RECT" val="132*230*710*289"/>
</p:tagLst>
</file>

<file path=ppt/tags/tag1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7.xml><?xml version="1.0" encoding="utf-8"?>
<p:tagLst xmlns:p="http://schemas.openxmlformats.org/presentationml/2006/main">
  <p:tag name="COMMONDATA" val="eyJoZGlkIjoiZjNjMmJiYWQ1NjYxMzU5Y2Q4YWViZjliZTZhYjA5ODEifQ=="/>
  <p:tag name="commondata" val="eyJoZGlkIjoiNjVkZWMxOGJhY2FhZmUwNmY0MTcyMjU1MWFkZGYzMDcifQ==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4893</Words>
  <Application>WPS 演示</Application>
  <PresentationFormat>自定义</PresentationFormat>
  <Paragraphs>396</Paragraphs>
  <Slides>24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9" baseType="lpstr">
      <vt:lpstr>Arial</vt:lpstr>
      <vt:lpstr>宋体</vt:lpstr>
      <vt:lpstr>Wingdings</vt:lpstr>
      <vt:lpstr>Arial Unicode MS</vt:lpstr>
      <vt:lpstr>Calibri</vt:lpstr>
      <vt:lpstr>微软雅黑</vt:lpstr>
      <vt:lpstr>经典繁仿黑</vt:lpstr>
      <vt:lpstr>Impact</vt:lpstr>
      <vt:lpstr>专业字体设计服务/WWW.ZTSGC.COM/</vt:lpstr>
      <vt:lpstr>华康俪金黑W8(P)</vt:lpstr>
      <vt:lpstr>Times New Roman</vt:lpstr>
      <vt:lpstr>Arial Unicode MS</vt:lpstr>
      <vt:lpstr>等线</vt:lpstr>
      <vt:lpstr>黑体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丝雨</cp:lastModifiedBy>
  <cp:revision>555</cp:revision>
  <dcterms:created xsi:type="dcterms:W3CDTF">2015-03-26T06:11:00Z</dcterms:created>
  <dcterms:modified xsi:type="dcterms:W3CDTF">2025-07-12T02:14:54Z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03A64AF37C184FC9B24D16E5B336523D_13</vt:lpwstr>
  </property>
</Properties>
</file>