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51" r:id="rId3"/>
    <p:sldMasterId id="2147483663" r:id="rId4"/>
    <p:sldMasterId id="2147483676" r:id="rId5"/>
  </p:sldMasterIdLst>
  <p:notesMasterIdLst>
    <p:notesMasterId r:id="rId7"/>
  </p:notesMasterIdLst>
  <p:sldIdLst>
    <p:sldId id="2807" r:id="rId6"/>
    <p:sldId id="2808" r:id="rId8"/>
    <p:sldId id="2842" r:id="rId9"/>
    <p:sldId id="2818" r:id="rId10"/>
    <p:sldId id="2784" r:id="rId11"/>
    <p:sldId id="2785" r:id="rId12"/>
    <p:sldId id="2797" r:id="rId13"/>
    <p:sldId id="2798" r:id="rId14"/>
    <p:sldId id="2821" r:id="rId15"/>
    <p:sldId id="2822" r:id="rId16"/>
    <p:sldId id="2823" r:id="rId17"/>
    <p:sldId id="2824" r:id="rId18"/>
    <p:sldId id="2825" r:id="rId19"/>
    <p:sldId id="2804" r:id="rId20"/>
    <p:sldId id="2830" r:id="rId21"/>
    <p:sldId id="2819" r:id="rId22"/>
    <p:sldId id="2809" r:id="rId23"/>
    <p:sldId id="2826" r:id="rId24"/>
    <p:sldId id="2810" r:id="rId25"/>
    <p:sldId id="2827" r:id="rId26"/>
    <p:sldId id="2828" r:id="rId27"/>
    <p:sldId id="2829" r:id="rId28"/>
    <p:sldId id="2820" r:id="rId29"/>
    <p:sldId id="2843" r:id="rId30"/>
    <p:sldId id="2844" r:id="rId31"/>
    <p:sldId id="2845" r:id="rId32"/>
    <p:sldId id="2846" r:id="rId33"/>
    <p:sldId id="2817" r:id="rId34"/>
  </p:sldIdLst>
  <p:sldSz cx="12858750" cy="7232650"/>
  <p:notesSz cx="6858000" cy="9144000"/>
  <p:custDataLst>
    <p:tags r:id="rId38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39445" indent="-18224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065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4685" indent="-55372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7305" indent="-73914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4730" algn="l" defTabSz="913765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1930" algn="l" defTabSz="913765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199130" algn="l" defTabSz="913765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5695" algn="l" defTabSz="913765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2" userDrawn="1">
          <p15:clr>
            <a:srgbClr val="A4A3A4"/>
          </p15:clr>
        </p15:guide>
        <p15:guide id="2" orient="horz" pos="4183" userDrawn="1">
          <p15:clr>
            <a:srgbClr val="A4A3A4"/>
          </p15:clr>
        </p15:guide>
        <p15:guide id="3" pos="4090" userDrawn="1">
          <p15:clr>
            <a:srgbClr val="A4A3A4"/>
          </p15:clr>
        </p15:guide>
        <p15:guide id="4" pos="542" userDrawn="1">
          <p15:clr>
            <a:srgbClr val="A4A3A4"/>
          </p15:clr>
        </p15:guide>
        <p15:guide id="5" pos="75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212E3C"/>
    <a:srgbClr val="FBBF09"/>
    <a:srgbClr val="EF4232"/>
    <a:srgbClr val="03A9F0"/>
    <a:srgbClr val="FFFFFF"/>
    <a:srgbClr val="FABCA8"/>
    <a:srgbClr val="57562F"/>
    <a:srgbClr val="FBCDBE"/>
    <a:srgbClr val="6B6A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89" autoAdjust="0"/>
    <p:restoredTop sz="92986" autoAdjust="0"/>
  </p:normalViewPr>
  <p:slideViewPr>
    <p:cSldViewPr>
      <p:cViewPr varScale="1">
        <p:scale>
          <a:sx n="71" d="100"/>
          <a:sy n="71" d="100"/>
        </p:scale>
        <p:origin x="-474" y="-96"/>
      </p:cViewPr>
      <p:guideLst>
        <p:guide orient="horz" pos="412"/>
        <p:guide orient="horz" pos="4183"/>
        <p:guide pos="4090"/>
        <p:guide pos="542"/>
        <p:guide pos="7574"/>
      </p:guideLst>
    </p:cSldViewPr>
  </p:slideViewPr>
  <p:outlineViewPr>
    <p:cViewPr>
      <p:scale>
        <a:sx n="100" d="100"/>
        <a:sy n="100" d="100"/>
      </p:scale>
      <p:origin x="0" y="-144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8" Type="http://schemas.openxmlformats.org/officeDocument/2006/relationships/tags" Target="tags/tag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28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418F03C3-53C1-4F10-8DAF-D1F318E96C6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529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1249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6906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2626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8409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129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7860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5060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9pPr>
          </a:lstStyle>
          <a:p>
            <a:fld id="{8E734D7E-DDC1-43BA-BA84-4A1CFE3D3418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38BCD-BAF0-4F2F-8ED1-BF002154F0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38BCD-BAF0-4F2F-8ED1-BF002154F0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9pPr>
          </a:lstStyle>
          <a:p>
            <a:fld id="{8E734D7E-DDC1-43BA-BA84-4A1CFE3D3418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image" Target="../media/image4.png"/><Relationship Id="rId7" Type="http://schemas.openxmlformats.org/officeDocument/2006/relationships/image" Target="../media/image3.png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png"/><Relationship Id="rId4" Type="http://schemas.openxmlformats.org/officeDocument/2006/relationships/oleObject" Target="../embeddings/oleObject2.bin"/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.vml"/><Relationship Id="rId8" Type="http://schemas.openxmlformats.org/officeDocument/2006/relationships/image" Target="../media/image4.png"/><Relationship Id="rId7" Type="http://schemas.openxmlformats.org/officeDocument/2006/relationships/image" Target="../media/image3.png"/><Relationship Id="rId6" Type="http://schemas.openxmlformats.org/officeDocument/2006/relationships/oleObject" Target="../embeddings/oleObject6.bin"/><Relationship Id="rId5" Type="http://schemas.openxmlformats.org/officeDocument/2006/relationships/image" Target="../media/image2.png"/><Relationship Id="rId4" Type="http://schemas.openxmlformats.org/officeDocument/2006/relationships/oleObject" Target="../embeddings/oleObject5.bin"/><Relationship Id="rId3" Type="http://schemas.openxmlformats.org/officeDocument/2006/relationships/image" Target="../media/image1.png"/><Relationship Id="rId2" Type="http://schemas.openxmlformats.org/officeDocument/2006/relationships/oleObject" Target="../embeddings/oleObject4.bin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.vml"/><Relationship Id="rId8" Type="http://schemas.openxmlformats.org/officeDocument/2006/relationships/image" Target="../media/image4.png"/><Relationship Id="rId7" Type="http://schemas.openxmlformats.org/officeDocument/2006/relationships/image" Target="../media/image3.png"/><Relationship Id="rId6" Type="http://schemas.openxmlformats.org/officeDocument/2006/relationships/oleObject" Target="../embeddings/oleObject9.bin"/><Relationship Id="rId5" Type="http://schemas.openxmlformats.org/officeDocument/2006/relationships/image" Target="../media/image2.png"/><Relationship Id="rId4" Type="http://schemas.openxmlformats.org/officeDocument/2006/relationships/oleObject" Target="../embeddings/oleObject8.bin"/><Relationship Id="rId3" Type="http://schemas.openxmlformats.org/officeDocument/2006/relationships/image" Target="../media/image1.png"/><Relationship Id="rId2" Type="http://schemas.openxmlformats.org/officeDocument/2006/relationships/oleObject" Target="../embeddings/oleObject7.bin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84039" y="6703600"/>
            <a:ext cx="2893219" cy="386187"/>
          </a:xfrm>
          <a:prstGeom prst="rect">
            <a:avLst/>
          </a:prstGeom>
        </p:spPr>
        <p:txBody>
          <a:bodyPr lIns="91397" tIns="45699" rIns="91397" bIns="45699"/>
          <a:lstStyle/>
          <a:p>
            <a:fld id="{E3AD87B8-9A4B-45E2-BBE5-FB86ADE28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259461" y="6703600"/>
            <a:ext cx="4339828" cy="386187"/>
          </a:xfrm>
          <a:prstGeom prst="rect">
            <a:avLst/>
          </a:prstGeom>
        </p:spPr>
        <p:txBody>
          <a:bodyPr lIns="91397" tIns="45699" rIns="91397" bIns="45699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081492" y="6703600"/>
            <a:ext cx="2893219" cy="386187"/>
          </a:xfrm>
          <a:prstGeom prst="rect">
            <a:avLst/>
          </a:prstGeom>
        </p:spPr>
        <p:txBody>
          <a:bodyPr lIns="91397" tIns="45699" rIns="91397" bIns="45699"/>
          <a:lstStyle/>
          <a:p>
            <a:fld id="{37AAA611-6692-4583-86AB-5AB9B972BD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039" y="385072"/>
            <a:ext cx="11090672" cy="1397978"/>
          </a:xfrm>
          <a:prstGeom prst="rect">
            <a:avLst/>
          </a:prstGeom>
        </p:spPr>
        <p:txBody>
          <a:bodyPr lIns="128583" tIns="64291" rIns="128583" bIns="64291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84039" y="1925358"/>
            <a:ext cx="11090672" cy="4589051"/>
          </a:xfrm>
          <a:prstGeom prst="rect">
            <a:avLst/>
          </a:prstGeom>
        </p:spPr>
        <p:txBody>
          <a:bodyPr lIns="128583" tIns="64291" rIns="128583" bIns="64291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4039" y="6703596"/>
            <a:ext cx="2893219" cy="385072"/>
          </a:xfrm>
          <a:prstGeom prst="rect">
            <a:avLst/>
          </a:prstGeom>
        </p:spPr>
        <p:txBody>
          <a:bodyPr lIns="128583" tIns="64291" rIns="128583" bIns="64291"/>
          <a:lstStyle/>
          <a:p>
            <a:fld id="{ACA37975-6AF7-4301-9DC5-87C074AA59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59461" y="6703596"/>
            <a:ext cx="4339828" cy="385072"/>
          </a:xfrm>
          <a:prstGeom prst="rect">
            <a:avLst/>
          </a:prstGeom>
        </p:spPr>
        <p:txBody>
          <a:bodyPr lIns="128583" tIns="64291" rIns="128583" bIns="64291"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1492" y="6703596"/>
            <a:ext cx="2893219" cy="385072"/>
          </a:xfrm>
          <a:prstGeom prst="rect">
            <a:avLst/>
          </a:prstGeom>
        </p:spPr>
        <p:txBody>
          <a:bodyPr lIns="128583" tIns="64291" rIns="128583" bIns="64291"/>
          <a:lstStyle/>
          <a:p>
            <a:fld id="{D27987A4-0198-42B4-AAAE-EDBADA4485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 advClick="0" advTm="0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3134148"/>
            <a:ext cx="9965531" cy="48217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9965531" y="3134148"/>
            <a:ext cx="2893219" cy="48217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2" name="AutoShape 4"/>
          <p:cNvSpPr>
            <a:spLocks noChangeArrowheads="1"/>
          </p:cNvSpPr>
          <p:nvPr/>
        </p:nvSpPr>
        <p:spPr bwMode="auto">
          <a:xfrm rot="5400000">
            <a:off x="296924" y="3197761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3" name="AutoShape 5"/>
          <p:cNvSpPr>
            <a:spLocks noChangeArrowheads="1"/>
          </p:cNvSpPr>
          <p:nvPr/>
        </p:nvSpPr>
        <p:spPr bwMode="auto">
          <a:xfrm rot="5400000">
            <a:off x="725549" y="3197761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84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4" name="AutoShape 6"/>
          <p:cNvSpPr>
            <a:spLocks noChangeArrowheads="1"/>
          </p:cNvSpPr>
          <p:nvPr/>
        </p:nvSpPr>
        <p:spPr bwMode="auto">
          <a:xfrm rot="5400000">
            <a:off x="1154174" y="3197761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56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5" name="AutoShape 7"/>
          <p:cNvSpPr>
            <a:spLocks noChangeArrowheads="1"/>
          </p:cNvSpPr>
          <p:nvPr/>
        </p:nvSpPr>
        <p:spPr bwMode="auto">
          <a:xfrm rot="5400000">
            <a:off x="1582799" y="3197761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26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graphicFrame>
        <p:nvGraphicFramePr>
          <p:cNvPr id="2056" name="Object 8"/>
          <p:cNvGraphicFramePr>
            <a:graphicFrameLocks noChangeAspect="1"/>
          </p:cNvGraphicFramePr>
          <p:nvPr/>
        </p:nvGraphicFramePr>
        <p:xfrm>
          <a:off x="0" y="3616328"/>
          <a:ext cx="5956102" cy="1928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" name="" r:id="rId2" imgW="6007100" imgH="2743200" progId="">
                  <p:embed/>
                </p:oleObj>
              </mc:Choice>
              <mc:Fallback>
                <p:oleObj name="" r:id="rId2" imgW="6007100" imgH="2743200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16328"/>
                        <a:ext cx="5956102" cy="192870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7" name="Object 9"/>
          <p:cNvGraphicFramePr>
            <a:graphicFrameLocks noChangeAspect="1"/>
          </p:cNvGraphicFramePr>
          <p:nvPr/>
        </p:nvGraphicFramePr>
        <p:xfrm>
          <a:off x="9965531" y="3616328"/>
          <a:ext cx="2893219" cy="1928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" name="" r:id="rId4" imgW="5753100" imgH="4356100" progId="">
                  <p:embed/>
                </p:oleObj>
              </mc:Choice>
              <mc:Fallback>
                <p:oleObj name="" r:id="rId4" imgW="5753100" imgH="4356100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21930"/>
                      <a:stretch>
                        <a:fillRect/>
                      </a:stretch>
                    </p:blipFill>
                    <p:spPr bwMode="auto">
                      <a:xfrm>
                        <a:off x="9965531" y="3616328"/>
                        <a:ext cx="2893219" cy="192870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" name="Object 10"/>
          <p:cNvGraphicFramePr>
            <a:graphicFrameLocks noChangeAspect="1"/>
          </p:cNvGraphicFramePr>
          <p:nvPr/>
        </p:nvGraphicFramePr>
        <p:xfrm>
          <a:off x="5985125" y="3616325"/>
          <a:ext cx="3944689" cy="1930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" name="" r:id="rId6" imgW="3556000" imgH="2540000" progId="">
                  <p:embed/>
                </p:oleObj>
              </mc:Choice>
              <mc:Fallback>
                <p:oleObj name="" r:id="rId6" imgW="3556000" imgH="2540000" progId="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5125" y="3616325"/>
                        <a:ext cx="3944689" cy="1930381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3616328"/>
            <a:ext cx="12858750" cy="1928707"/>
          </a:xfrm>
          <a:prstGeom prst="rect">
            <a:avLst/>
          </a:prstGeom>
          <a:solidFill>
            <a:schemeClr val="accent1">
              <a:alpha val="28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pic>
        <p:nvPicPr>
          <p:cNvPr id="2060" name="Picture 12" descr="glabal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4156" y="2009075"/>
            <a:ext cx="1850678" cy="1426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61" name="Rectangle 13"/>
          <p:cNvSpPr>
            <a:spLocks noGrp="1" noChangeArrowheads="1"/>
          </p:cNvSpPr>
          <p:nvPr>
            <p:ph type="dt" sz="half" idx="2"/>
          </p:nvPr>
        </p:nvSpPr>
        <p:spPr>
          <a:xfrm>
            <a:off x="642939" y="6830842"/>
            <a:ext cx="3000375" cy="257831"/>
          </a:xfrm>
        </p:spPr>
        <p:txBody>
          <a:bodyPr/>
          <a:lstStyle>
            <a:lvl1pPr>
              <a:defRPr sz="1500"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4393406" y="6830842"/>
            <a:ext cx="4071938" cy="257831"/>
          </a:xfrm>
        </p:spPr>
        <p:txBody>
          <a:bodyPr/>
          <a:lstStyle>
            <a:lvl1pPr>
              <a:defRPr sz="1500"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63" name="Rectangle 1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215439" y="6830842"/>
            <a:ext cx="3000375" cy="257831"/>
          </a:xfrm>
        </p:spPr>
        <p:txBody>
          <a:bodyPr/>
          <a:lstStyle>
            <a:lvl1pPr>
              <a:defRPr sz="1500"/>
            </a:lvl1pPr>
          </a:lstStyle>
          <a:p>
            <a:fld id="{A06949FC-71C0-4A9C-8FC5-2FA6268B5FA6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064" name="Text Box 16"/>
          <p:cNvSpPr txBox="1">
            <a:spLocks noChangeArrowheads="1"/>
          </p:cNvSpPr>
          <p:nvPr/>
        </p:nvSpPr>
        <p:spPr bwMode="auto">
          <a:xfrm>
            <a:off x="4911328" y="6122640"/>
            <a:ext cx="3545086" cy="392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34" tIns="57368" rIns="114734" bIns="57368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b="1" smtClean="0">
                <a:solidFill>
                  <a:srgbClr val="000000"/>
                </a:solidFill>
                <a:latin typeface="Arial" panose="020B0604020202020204" pitchFamily="34" charset="0"/>
              </a:rPr>
              <a:t>大连理工大学出版社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65" name="AutoShape 17"/>
          <p:cNvSpPr>
            <a:spLocks noChangeArrowheads="1"/>
          </p:cNvSpPr>
          <p:nvPr/>
        </p:nvSpPr>
        <p:spPr bwMode="auto">
          <a:xfrm rot="5400000">
            <a:off x="6404827" y="5390974"/>
            <a:ext cx="287967" cy="1238995"/>
          </a:xfrm>
          <a:prstGeom prst="moon">
            <a:avLst>
              <a:gd name="adj" fmla="val 21208"/>
            </a:avLst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66" name="Rectangle 18"/>
          <p:cNvSpPr>
            <a:spLocks noGrp="1" noChangeArrowheads="1"/>
          </p:cNvSpPr>
          <p:nvPr>
            <p:ph type="ctrTitle"/>
          </p:nvPr>
        </p:nvSpPr>
        <p:spPr>
          <a:xfrm>
            <a:off x="1607344" y="1767981"/>
            <a:ext cx="8679656" cy="1309244"/>
          </a:xfrm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5500"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2067" name="Rectangle 19"/>
          <p:cNvSpPr>
            <a:spLocks noGrp="1" noChangeArrowheads="1"/>
          </p:cNvSpPr>
          <p:nvPr>
            <p:ph type="subTitle" idx="1"/>
          </p:nvPr>
        </p:nvSpPr>
        <p:spPr>
          <a:xfrm>
            <a:off x="2143125" y="3134148"/>
            <a:ext cx="7608094" cy="401814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4663F6-5E52-463E-9D66-231098FB4ADB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5752" y="4647653"/>
            <a:ext cx="10929938" cy="1436485"/>
          </a:xfrm>
        </p:spPr>
        <p:txBody>
          <a:bodyPr anchor="t"/>
          <a:lstStyle>
            <a:lvl1pPr algn="l">
              <a:defRPr sz="5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15752" y="3065506"/>
            <a:ext cx="10929938" cy="1582142"/>
          </a:xfrm>
        </p:spPr>
        <p:txBody>
          <a:bodyPr anchor="b"/>
          <a:lstStyle>
            <a:lvl1pPr marL="0" indent="0">
              <a:buNone/>
              <a:defRPr sz="2500"/>
            </a:lvl1pPr>
            <a:lvl2pPr marL="573405" indent="0">
              <a:buNone/>
              <a:defRPr sz="2300"/>
            </a:lvl2pPr>
            <a:lvl3pPr marL="1147445" indent="0">
              <a:buNone/>
              <a:defRPr sz="2000"/>
            </a:lvl3pPr>
            <a:lvl4pPr marL="1720850" indent="0">
              <a:buNone/>
              <a:defRPr sz="1800"/>
            </a:lvl4pPr>
            <a:lvl5pPr marL="2294890" indent="0">
              <a:buNone/>
              <a:defRPr sz="1800"/>
            </a:lvl5pPr>
            <a:lvl6pPr marL="2868295" indent="0">
              <a:buNone/>
              <a:defRPr sz="1800"/>
            </a:lvl6pPr>
            <a:lvl7pPr marL="3442335" indent="0">
              <a:buNone/>
              <a:defRPr sz="1800"/>
            </a:lvl7pPr>
            <a:lvl8pPr marL="4015740" indent="0">
              <a:buNone/>
              <a:defRPr sz="1800"/>
            </a:lvl8pPr>
            <a:lvl9pPr marL="4589145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C1D46F-9ACD-4C4C-BAAB-C2CC66BCC777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2939" y="1366167"/>
            <a:ext cx="5679281" cy="530394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36531" y="1366167"/>
            <a:ext cx="5679281" cy="530394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5615A0-2C08-4381-A3BC-51F88417D0E0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939" y="289641"/>
            <a:ext cx="11572875" cy="1205442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2938" y="1618976"/>
            <a:ext cx="5681514" cy="6747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3405" indent="0">
              <a:buNone/>
              <a:defRPr sz="2500" b="1"/>
            </a:lvl2pPr>
            <a:lvl3pPr marL="1147445" indent="0">
              <a:buNone/>
              <a:defRPr sz="2300" b="1"/>
            </a:lvl3pPr>
            <a:lvl4pPr marL="1720850" indent="0">
              <a:buNone/>
              <a:defRPr sz="2000" b="1"/>
            </a:lvl4pPr>
            <a:lvl5pPr marL="2294890" indent="0">
              <a:buNone/>
              <a:defRPr sz="2000" b="1"/>
            </a:lvl5pPr>
            <a:lvl6pPr marL="2868295" indent="0">
              <a:buNone/>
              <a:defRPr sz="2000" b="1"/>
            </a:lvl6pPr>
            <a:lvl7pPr marL="3442335" indent="0">
              <a:buNone/>
              <a:defRPr sz="2000" b="1"/>
            </a:lvl7pPr>
            <a:lvl8pPr marL="4015740" indent="0">
              <a:buNone/>
              <a:defRPr sz="2000" b="1"/>
            </a:lvl8pPr>
            <a:lvl9pPr marL="4589145" indent="0">
              <a:buNone/>
              <a:defRPr sz="20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2938" y="2293691"/>
            <a:ext cx="5681514" cy="4167145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32067" y="1618976"/>
            <a:ext cx="5683746" cy="6747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3405" indent="0">
              <a:buNone/>
              <a:defRPr sz="2500" b="1"/>
            </a:lvl2pPr>
            <a:lvl3pPr marL="1147445" indent="0">
              <a:buNone/>
              <a:defRPr sz="2300" b="1"/>
            </a:lvl3pPr>
            <a:lvl4pPr marL="1720850" indent="0">
              <a:buNone/>
              <a:defRPr sz="2000" b="1"/>
            </a:lvl4pPr>
            <a:lvl5pPr marL="2294890" indent="0">
              <a:buNone/>
              <a:defRPr sz="2000" b="1"/>
            </a:lvl5pPr>
            <a:lvl6pPr marL="2868295" indent="0">
              <a:buNone/>
              <a:defRPr sz="2000" b="1"/>
            </a:lvl6pPr>
            <a:lvl7pPr marL="3442335" indent="0">
              <a:buNone/>
              <a:defRPr sz="2000" b="1"/>
            </a:lvl7pPr>
            <a:lvl8pPr marL="4015740" indent="0">
              <a:buNone/>
              <a:defRPr sz="2000" b="1"/>
            </a:lvl8pPr>
            <a:lvl9pPr marL="4589145" indent="0">
              <a:buNone/>
              <a:defRPr sz="20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32067" y="2293691"/>
            <a:ext cx="5683746" cy="4167145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A11DA9-A2C9-41D0-9133-C993095558B6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09F4FB-12C6-40B5-A6AA-EB02BB20573B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9CEC60-5D95-4E68-8DD0-1E98DC0B60A1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938" y="287967"/>
            <a:ext cx="4230440" cy="1225532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7414" y="287967"/>
            <a:ext cx="7188398" cy="6172866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2938" y="1513505"/>
            <a:ext cx="4230440" cy="4947334"/>
          </a:xfrm>
        </p:spPr>
        <p:txBody>
          <a:bodyPr/>
          <a:lstStyle>
            <a:lvl1pPr marL="0" indent="0">
              <a:buNone/>
              <a:defRPr sz="1800"/>
            </a:lvl1pPr>
            <a:lvl2pPr marL="573405" indent="0">
              <a:buNone/>
              <a:defRPr sz="1500"/>
            </a:lvl2pPr>
            <a:lvl3pPr marL="1147445" indent="0">
              <a:buNone/>
              <a:defRPr sz="1300"/>
            </a:lvl3pPr>
            <a:lvl4pPr marL="1720850" indent="0">
              <a:buNone/>
              <a:defRPr sz="1100"/>
            </a:lvl4pPr>
            <a:lvl5pPr marL="2294890" indent="0">
              <a:buNone/>
              <a:defRPr sz="1100"/>
            </a:lvl5pPr>
            <a:lvl6pPr marL="2868295" indent="0">
              <a:buNone/>
              <a:defRPr sz="1100"/>
            </a:lvl6pPr>
            <a:lvl7pPr marL="3442335" indent="0">
              <a:buNone/>
              <a:defRPr sz="1100"/>
            </a:lvl7pPr>
            <a:lvl8pPr marL="4015740" indent="0">
              <a:buNone/>
              <a:defRPr sz="1100"/>
            </a:lvl8pPr>
            <a:lvl9pPr marL="4589145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ACBA71-A108-4D8F-B30F-B26305DB52E6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0405" y="5062858"/>
            <a:ext cx="7715250" cy="597699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520405" y="646251"/>
            <a:ext cx="7715250" cy="4339590"/>
          </a:xfrm>
        </p:spPr>
        <p:txBody>
          <a:bodyPr/>
          <a:lstStyle>
            <a:lvl1pPr marL="0" indent="0">
              <a:buNone/>
              <a:defRPr sz="4000"/>
            </a:lvl1pPr>
            <a:lvl2pPr marL="573405" indent="0">
              <a:buNone/>
              <a:defRPr sz="3500"/>
            </a:lvl2pPr>
            <a:lvl3pPr marL="1147445" indent="0">
              <a:buNone/>
              <a:defRPr sz="3000"/>
            </a:lvl3pPr>
            <a:lvl4pPr marL="1720850" indent="0">
              <a:buNone/>
              <a:defRPr sz="2500"/>
            </a:lvl4pPr>
            <a:lvl5pPr marL="2294890" indent="0">
              <a:buNone/>
              <a:defRPr sz="2500"/>
            </a:lvl5pPr>
            <a:lvl6pPr marL="2868295" indent="0">
              <a:buNone/>
              <a:defRPr sz="2500"/>
            </a:lvl6pPr>
            <a:lvl7pPr marL="3442335" indent="0">
              <a:buNone/>
              <a:defRPr sz="2500"/>
            </a:lvl7pPr>
            <a:lvl8pPr marL="4015740" indent="0">
              <a:buNone/>
              <a:defRPr sz="2500"/>
            </a:lvl8pPr>
            <a:lvl9pPr marL="4589145" indent="0">
              <a:buNone/>
              <a:defRPr sz="2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20405" y="5660557"/>
            <a:ext cx="7715250" cy="848831"/>
          </a:xfrm>
        </p:spPr>
        <p:txBody>
          <a:bodyPr/>
          <a:lstStyle>
            <a:lvl1pPr marL="0" indent="0">
              <a:buNone/>
              <a:defRPr sz="1800"/>
            </a:lvl1pPr>
            <a:lvl2pPr marL="573405" indent="0">
              <a:buNone/>
              <a:defRPr sz="1500"/>
            </a:lvl2pPr>
            <a:lvl3pPr marL="1147445" indent="0">
              <a:buNone/>
              <a:defRPr sz="1300"/>
            </a:lvl3pPr>
            <a:lvl4pPr marL="1720850" indent="0">
              <a:buNone/>
              <a:defRPr sz="1100"/>
            </a:lvl4pPr>
            <a:lvl5pPr marL="2294890" indent="0">
              <a:buNone/>
              <a:defRPr sz="1100"/>
            </a:lvl5pPr>
            <a:lvl6pPr marL="2868295" indent="0">
              <a:buNone/>
              <a:defRPr sz="1100"/>
            </a:lvl6pPr>
            <a:lvl7pPr marL="3442335" indent="0">
              <a:buNone/>
              <a:defRPr sz="1100"/>
            </a:lvl7pPr>
            <a:lvl8pPr marL="4015740" indent="0">
              <a:buNone/>
              <a:defRPr sz="1100"/>
            </a:lvl8pPr>
            <a:lvl9pPr marL="4589145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0AFEE6-9698-4489-8D7B-8AB64B9E1387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500B73-9DD7-41C0-B2B2-946A4EF25305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22595" y="622817"/>
            <a:ext cx="2893219" cy="604729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2937" y="622817"/>
            <a:ext cx="8465344" cy="604729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750D9E-967D-4F62-8A3B-AB60B1406417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3134148"/>
            <a:ext cx="9965531" cy="48217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9965531" y="3134148"/>
            <a:ext cx="2893219" cy="48217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2" name="AutoShape 4"/>
          <p:cNvSpPr>
            <a:spLocks noChangeArrowheads="1"/>
          </p:cNvSpPr>
          <p:nvPr/>
        </p:nvSpPr>
        <p:spPr bwMode="auto">
          <a:xfrm rot="5400000">
            <a:off x="296924" y="3197761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3" name="AutoShape 5"/>
          <p:cNvSpPr>
            <a:spLocks noChangeArrowheads="1"/>
          </p:cNvSpPr>
          <p:nvPr/>
        </p:nvSpPr>
        <p:spPr bwMode="auto">
          <a:xfrm rot="5400000">
            <a:off x="725549" y="3197761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84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4" name="AutoShape 6"/>
          <p:cNvSpPr>
            <a:spLocks noChangeArrowheads="1"/>
          </p:cNvSpPr>
          <p:nvPr/>
        </p:nvSpPr>
        <p:spPr bwMode="auto">
          <a:xfrm rot="5400000">
            <a:off x="1154174" y="3197761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56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5" name="AutoShape 7"/>
          <p:cNvSpPr>
            <a:spLocks noChangeArrowheads="1"/>
          </p:cNvSpPr>
          <p:nvPr/>
        </p:nvSpPr>
        <p:spPr bwMode="auto">
          <a:xfrm rot="5400000">
            <a:off x="1582799" y="3197761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26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graphicFrame>
        <p:nvGraphicFramePr>
          <p:cNvPr id="2056" name="Object 8"/>
          <p:cNvGraphicFramePr>
            <a:graphicFrameLocks noChangeAspect="1"/>
          </p:cNvGraphicFramePr>
          <p:nvPr/>
        </p:nvGraphicFramePr>
        <p:xfrm>
          <a:off x="0" y="3616327"/>
          <a:ext cx="5956102" cy="1928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" name="" r:id="rId2" imgW="6007100" imgH="2743200" progId="">
                  <p:embed/>
                </p:oleObj>
              </mc:Choice>
              <mc:Fallback>
                <p:oleObj name="" r:id="rId2" imgW="6007100" imgH="2743200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16327"/>
                        <a:ext cx="5956102" cy="192870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7" name="Object 9"/>
          <p:cNvGraphicFramePr>
            <a:graphicFrameLocks noChangeAspect="1"/>
          </p:cNvGraphicFramePr>
          <p:nvPr/>
        </p:nvGraphicFramePr>
        <p:xfrm>
          <a:off x="9965531" y="3616327"/>
          <a:ext cx="2893219" cy="1928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5" name="" r:id="rId4" imgW="5753100" imgH="4356100" progId="">
                  <p:embed/>
                </p:oleObj>
              </mc:Choice>
              <mc:Fallback>
                <p:oleObj name="" r:id="rId4" imgW="5753100" imgH="4356100" progId="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21930"/>
                      <a:stretch>
                        <a:fillRect/>
                      </a:stretch>
                    </p:blipFill>
                    <p:spPr bwMode="auto">
                      <a:xfrm>
                        <a:off x="9965531" y="3616327"/>
                        <a:ext cx="2893219" cy="192870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" name="Object 10"/>
          <p:cNvGraphicFramePr>
            <a:graphicFrameLocks noChangeAspect="1"/>
          </p:cNvGraphicFramePr>
          <p:nvPr/>
        </p:nvGraphicFramePr>
        <p:xfrm>
          <a:off x="5985125" y="3616325"/>
          <a:ext cx="3944689" cy="1930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6" name="" r:id="rId6" imgW="3556000" imgH="2540000" progId="">
                  <p:embed/>
                </p:oleObj>
              </mc:Choice>
              <mc:Fallback>
                <p:oleObj name="" r:id="rId6" imgW="3556000" imgH="2540000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5125" y="3616325"/>
                        <a:ext cx="3944689" cy="1930381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3616327"/>
            <a:ext cx="12858750" cy="1928707"/>
          </a:xfrm>
          <a:prstGeom prst="rect">
            <a:avLst/>
          </a:prstGeom>
          <a:solidFill>
            <a:schemeClr val="accent1">
              <a:alpha val="28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pic>
        <p:nvPicPr>
          <p:cNvPr id="2060" name="Picture 12" descr="glabal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4156" y="2009072"/>
            <a:ext cx="1850678" cy="1426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61" name="Rectangle 13"/>
          <p:cNvSpPr>
            <a:spLocks noGrp="1" noChangeArrowheads="1"/>
          </p:cNvSpPr>
          <p:nvPr>
            <p:ph type="dt" sz="half" idx="2"/>
          </p:nvPr>
        </p:nvSpPr>
        <p:spPr>
          <a:xfrm>
            <a:off x="642939" y="6830839"/>
            <a:ext cx="3000375" cy="257831"/>
          </a:xfrm>
        </p:spPr>
        <p:txBody>
          <a:bodyPr/>
          <a:lstStyle>
            <a:lvl1pPr>
              <a:defRPr sz="1500"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4393406" y="6830839"/>
            <a:ext cx="4071938" cy="257831"/>
          </a:xfrm>
        </p:spPr>
        <p:txBody>
          <a:bodyPr/>
          <a:lstStyle>
            <a:lvl1pPr>
              <a:defRPr sz="1500"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63" name="Rectangle 1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215439" y="6830839"/>
            <a:ext cx="3000375" cy="257831"/>
          </a:xfrm>
        </p:spPr>
        <p:txBody>
          <a:bodyPr/>
          <a:lstStyle>
            <a:lvl1pPr>
              <a:defRPr sz="1500"/>
            </a:lvl1pPr>
          </a:lstStyle>
          <a:p>
            <a:fld id="{EBF8A45F-0071-45ED-BE0D-974A8D396AE5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064" name="Text Box 16"/>
          <p:cNvSpPr txBox="1">
            <a:spLocks noChangeArrowheads="1"/>
          </p:cNvSpPr>
          <p:nvPr/>
        </p:nvSpPr>
        <p:spPr bwMode="auto">
          <a:xfrm>
            <a:off x="4911328" y="6122640"/>
            <a:ext cx="3545086" cy="392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75" tIns="57388" rIns="114775" bIns="57388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b="1" smtClean="0">
                <a:solidFill>
                  <a:srgbClr val="000000"/>
                </a:solidFill>
                <a:latin typeface="Arial" panose="020B0604020202020204" pitchFamily="34" charset="0"/>
              </a:rPr>
              <a:t>大连理工大学出版社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65" name="AutoShape 17"/>
          <p:cNvSpPr>
            <a:spLocks noChangeArrowheads="1"/>
          </p:cNvSpPr>
          <p:nvPr/>
        </p:nvSpPr>
        <p:spPr bwMode="auto">
          <a:xfrm rot="5400000">
            <a:off x="6404827" y="5390971"/>
            <a:ext cx="287967" cy="1238995"/>
          </a:xfrm>
          <a:prstGeom prst="moon">
            <a:avLst>
              <a:gd name="adj" fmla="val 21208"/>
            </a:avLst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66" name="Rectangle 18"/>
          <p:cNvSpPr>
            <a:spLocks noGrp="1" noChangeArrowheads="1"/>
          </p:cNvSpPr>
          <p:nvPr>
            <p:ph type="ctrTitle"/>
          </p:nvPr>
        </p:nvSpPr>
        <p:spPr>
          <a:xfrm>
            <a:off x="1607344" y="1767981"/>
            <a:ext cx="8679656" cy="1309244"/>
          </a:xfrm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5500"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2067" name="Rectangle 19"/>
          <p:cNvSpPr>
            <a:spLocks noGrp="1" noChangeArrowheads="1"/>
          </p:cNvSpPr>
          <p:nvPr>
            <p:ph type="subTitle" idx="1"/>
          </p:nvPr>
        </p:nvSpPr>
        <p:spPr>
          <a:xfrm>
            <a:off x="2143125" y="3134148"/>
            <a:ext cx="7608094" cy="401814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3F88E9-69DC-4EC5-8914-FF7FBBA0F66A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5752" y="4647650"/>
            <a:ext cx="10929938" cy="1436485"/>
          </a:xfrm>
        </p:spPr>
        <p:txBody>
          <a:bodyPr anchor="t"/>
          <a:lstStyle>
            <a:lvl1pPr algn="l">
              <a:defRPr sz="5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15752" y="3065506"/>
            <a:ext cx="10929938" cy="1582142"/>
          </a:xfrm>
        </p:spPr>
        <p:txBody>
          <a:bodyPr anchor="b"/>
          <a:lstStyle>
            <a:lvl1pPr marL="0" indent="0">
              <a:buNone/>
              <a:defRPr sz="2500"/>
            </a:lvl1pPr>
            <a:lvl2pPr marL="574040" indent="0">
              <a:buNone/>
              <a:defRPr sz="2300"/>
            </a:lvl2pPr>
            <a:lvl3pPr marL="1147445" indent="0">
              <a:buNone/>
              <a:defRPr sz="2000"/>
            </a:lvl3pPr>
            <a:lvl4pPr marL="1721485" indent="0">
              <a:buNone/>
              <a:defRPr sz="1800"/>
            </a:lvl4pPr>
            <a:lvl5pPr marL="2295525" indent="0">
              <a:buNone/>
              <a:defRPr sz="1800"/>
            </a:lvl5pPr>
            <a:lvl6pPr marL="2869565" indent="0">
              <a:buNone/>
              <a:defRPr sz="1800"/>
            </a:lvl6pPr>
            <a:lvl7pPr marL="3442970" indent="0">
              <a:buNone/>
              <a:defRPr sz="1800"/>
            </a:lvl7pPr>
            <a:lvl8pPr marL="4017010" indent="0">
              <a:buNone/>
              <a:defRPr sz="1800"/>
            </a:lvl8pPr>
            <a:lvl9pPr marL="459105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5BFFFA-BEFE-4A33-9C51-DF95B351EF6B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2939" y="1366167"/>
            <a:ext cx="5679281" cy="530394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36531" y="1366167"/>
            <a:ext cx="5679281" cy="530394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8854D0-8EA4-4302-A4F8-EC9BEF706FFB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939" y="289641"/>
            <a:ext cx="11572875" cy="1205442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2938" y="1618976"/>
            <a:ext cx="5681514" cy="6747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040" indent="0">
              <a:buNone/>
              <a:defRPr sz="2500" b="1"/>
            </a:lvl2pPr>
            <a:lvl3pPr marL="1147445" indent="0">
              <a:buNone/>
              <a:defRPr sz="2300" b="1"/>
            </a:lvl3pPr>
            <a:lvl4pPr marL="1721485" indent="0">
              <a:buNone/>
              <a:defRPr sz="2000" b="1"/>
            </a:lvl4pPr>
            <a:lvl5pPr marL="2295525" indent="0">
              <a:buNone/>
              <a:defRPr sz="2000" b="1"/>
            </a:lvl5pPr>
            <a:lvl6pPr marL="2869565" indent="0">
              <a:buNone/>
              <a:defRPr sz="2000" b="1"/>
            </a:lvl6pPr>
            <a:lvl7pPr marL="3442970" indent="0">
              <a:buNone/>
              <a:defRPr sz="2000" b="1"/>
            </a:lvl7pPr>
            <a:lvl8pPr marL="4017010" indent="0">
              <a:buNone/>
              <a:defRPr sz="2000" b="1"/>
            </a:lvl8pPr>
            <a:lvl9pPr marL="4591050" indent="0">
              <a:buNone/>
              <a:defRPr sz="20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2938" y="2293690"/>
            <a:ext cx="5681514" cy="4167145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32067" y="1618976"/>
            <a:ext cx="5683746" cy="6747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040" indent="0">
              <a:buNone/>
              <a:defRPr sz="2500" b="1"/>
            </a:lvl2pPr>
            <a:lvl3pPr marL="1147445" indent="0">
              <a:buNone/>
              <a:defRPr sz="2300" b="1"/>
            </a:lvl3pPr>
            <a:lvl4pPr marL="1721485" indent="0">
              <a:buNone/>
              <a:defRPr sz="2000" b="1"/>
            </a:lvl4pPr>
            <a:lvl5pPr marL="2295525" indent="0">
              <a:buNone/>
              <a:defRPr sz="2000" b="1"/>
            </a:lvl5pPr>
            <a:lvl6pPr marL="2869565" indent="0">
              <a:buNone/>
              <a:defRPr sz="2000" b="1"/>
            </a:lvl6pPr>
            <a:lvl7pPr marL="3442970" indent="0">
              <a:buNone/>
              <a:defRPr sz="2000" b="1"/>
            </a:lvl7pPr>
            <a:lvl8pPr marL="4017010" indent="0">
              <a:buNone/>
              <a:defRPr sz="2000" b="1"/>
            </a:lvl8pPr>
            <a:lvl9pPr marL="4591050" indent="0">
              <a:buNone/>
              <a:defRPr sz="20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32067" y="2293690"/>
            <a:ext cx="5683746" cy="4167145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635C7E-A300-462C-B8A1-3DF062782332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3BF04-3DA2-4977-94CE-A7D20174D492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24BACC-19FD-40F0-8AE0-3ABB509727AB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938" y="287967"/>
            <a:ext cx="4230440" cy="1225532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7414" y="287967"/>
            <a:ext cx="7188398" cy="6172866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2938" y="1513502"/>
            <a:ext cx="4230440" cy="4947334"/>
          </a:xfrm>
        </p:spPr>
        <p:txBody>
          <a:bodyPr/>
          <a:lstStyle>
            <a:lvl1pPr marL="0" indent="0">
              <a:buNone/>
              <a:defRPr sz="1800"/>
            </a:lvl1pPr>
            <a:lvl2pPr marL="574040" indent="0">
              <a:buNone/>
              <a:defRPr sz="1500"/>
            </a:lvl2pPr>
            <a:lvl3pPr marL="1147445" indent="0">
              <a:buNone/>
              <a:defRPr sz="1300"/>
            </a:lvl3pPr>
            <a:lvl4pPr marL="1721485" indent="0">
              <a:buNone/>
              <a:defRPr sz="1100"/>
            </a:lvl4pPr>
            <a:lvl5pPr marL="2295525" indent="0">
              <a:buNone/>
              <a:defRPr sz="1100"/>
            </a:lvl5pPr>
            <a:lvl6pPr marL="2869565" indent="0">
              <a:buNone/>
              <a:defRPr sz="1100"/>
            </a:lvl6pPr>
            <a:lvl7pPr marL="3442970" indent="0">
              <a:buNone/>
              <a:defRPr sz="1100"/>
            </a:lvl7pPr>
            <a:lvl8pPr marL="4017010" indent="0">
              <a:buNone/>
              <a:defRPr sz="1100"/>
            </a:lvl8pPr>
            <a:lvl9pPr marL="4591050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5E326B-995E-4A83-93BB-8839774CA879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0405" y="5062857"/>
            <a:ext cx="7715250" cy="597699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520405" y="646251"/>
            <a:ext cx="7715250" cy="4339590"/>
          </a:xfrm>
        </p:spPr>
        <p:txBody>
          <a:bodyPr/>
          <a:lstStyle>
            <a:lvl1pPr marL="0" indent="0">
              <a:buNone/>
              <a:defRPr sz="4000"/>
            </a:lvl1pPr>
            <a:lvl2pPr marL="574040" indent="0">
              <a:buNone/>
              <a:defRPr sz="3500"/>
            </a:lvl2pPr>
            <a:lvl3pPr marL="1147445" indent="0">
              <a:buNone/>
              <a:defRPr sz="3000"/>
            </a:lvl3pPr>
            <a:lvl4pPr marL="1721485" indent="0">
              <a:buNone/>
              <a:defRPr sz="2500"/>
            </a:lvl4pPr>
            <a:lvl5pPr marL="2295525" indent="0">
              <a:buNone/>
              <a:defRPr sz="2500"/>
            </a:lvl5pPr>
            <a:lvl6pPr marL="2869565" indent="0">
              <a:buNone/>
              <a:defRPr sz="2500"/>
            </a:lvl6pPr>
            <a:lvl7pPr marL="3442970" indent="0">
              <a:buNone/>
              <a:defRPr sz="2500"/>
            </a:lvl7pPr>
            <a:lvl8pPr marL="4017010" indent="0">
              <a:buNone/>
              <a:defRPr sz="2500"/>
            </a:lvl8pPr>
            <a:lvl9pPr marL="4591050" indent="0">
              <a:buNone/>
              <a:defRPr sz="2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20405" y="5660556"/>
            <a:ext cx="7715250" cy="848831"/>
          </a:xfrm>
        </p:spPr>
        <p:txBody>
          <a:bodyPr/>
          <a:lstStyle>
            <a:lvl1pPr marL="0" indent="0">
              <a:buNone/>
              <a:defRPr sz="1800"/>
            </a:lvl1pPr>
            <a:lvl2pPr marL="574040" indent="0">
              <a:buNone/>
              <a:defRPr sz="1500"/>
            </a:lvl2pPr>
            <a:lvl3pPr marL="1147445" indent="0">
              <a:buNone/>
              <a:defRPr sz="1300"/>
            </a:lvl3pPr>
            <a:lvl4pPr marL="1721485" indent="0">
              <a:buNone/>
              <a:defRPr sz="1100"/>
            </a:lvl4pPr>
            <a:lvl5pPr marL="2295525" indent="0">
              <a:buNone/>
              <a:defRPr sz="1100"/>
            </a:lvl5pPr>
            <a:lvl6pPr marL="2869565" indent="0">
              <a:buNone/>
              <a:defRPr sz="1100"/>
            </a:lvl6pPr>
            <a:lvl7pPr marL="3442970" indent="0">
              <a:buNone/>
              <a:defRPr sz="1100"/>
            </a:lvl7pPr>
            <a:lvl8pPr marL="4017010" indent="0">
              <a:buNone/>
              <a:defRPr sz="1100"/>
            </a:lvl8pPr>
            <a:lvl9pPr marL="4591050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87A3B8-8656-498B-B584-A4DC8CC8FD2D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CB4C4C-8F74-430E-83D2-C4B24A692EB3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22595" y="622814"/>
            <a:ext cx="2893219" cy="604729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2937" y="622814"/>
            <a:ext cx="8465344" cy="604729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75E51C-864E-4B24-AC84-909B6DB4310B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52117" y="622812"/>
            <a:ext cx="8358188" cy="5943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42939" y="1366167"/>
            <a:ext cx="5679281" cy="530394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36531" y="1366167"/>
            <a:ext cx="5679281" cy="530394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42939" y="6750476"/>
            <a:ext cx="3000375" cy="338193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393406" y="6750476"/>
            <a:ext cx="4071938" cy="338193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215439" y="6750476"/>
            <a:ext cx="3000375" cy="338193"/>
          </a:xfrm>
        </p:spPr>
        <p:txBody>
          <a:bodyPr/>
          <a:lstStyle>
            <a:lvl1pPr>
              <a:defRPr/>
            </a:lvl1pPr>
          </a:lstStyle>
          <a:p>
            <a:fld id="{FBD54A42-9C1A-4611-B8F5-7C89536AAE4D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3134148"/>
            <a:ext cx="9965531" cy="48217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9965531" y="3134148"/>
            <a:ext cx="2893219" cy="48217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2" name="AutoShape 4"/>
          <p:cNvSpPr>
            <a:spLocks noChangeArrowheads="1"/>
          </p:cNvSpPr>
          <p:nvPr/>
        </p:nvSpPr>
        <p:spPr bwMode="auto">
          <a:xfrm rot="5400000">
            <a:off x="296924" y="3197760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3" name="AutoShape 5"/>
          <p:cNvSpPr>
            <a:spLocks noChangeArrowheads="1"/>
          </p:cNvSpPr>
          <p:nvPr/>
        </p:nvSpPr>
        <p:spPr bwMode="auto">
          <a:xfrm rot="5400000">
            <a:off x="725549" y="3197760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84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4" name="AutoShape 6"/>
          <p:cNvSpPr>
            <a:spLocks noChangeArrowheads="1"/>
          </p:cNvSpPr>
          <p:nvPr/>
        </p:nvSpPr>
        <p:spPr bwMode="auto">
          <a:xfrm rot="5400000">
            <a:off x="1154174" y="3197760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56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5" name="AutoShape 7"/>
          <p:cNvSpPr>
            <a:spLocks noChangeArrowheads="1"/>
          </p:cNvSpPr>
          <p:nvPr/>
        </p:nvSpPr>
        <p:spPr bwMode="auto">
          <a:xfrm rot="5400000">
            <a:off x="1582799" y="3197760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26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graphicFrame>
        <p:nvGraphicFramePr>
          <p:cNvPr id="2056" name="Object 8"/>
          <p:cNvGraphicFramePr>
            <a:graphicFrameLocks noChangeAspect="1"/>
          </p:cNvGraphicFramePr>
          <p:nvPr/>
        </p:nvGraphicFramePr>
        <p:xfrm>
          <a:off x="0" y="3616325"/>
          <a:ext cx="5956102" cy="1928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2" imgW="6007100" imgH="2743200" progId="">
                  <p:embed/>
                </p:oleObj>
              </mc:Choice>
              <mc:Fallback>
                <p:oleObj name="" r:id="rId2" imgW="6007100" imgH="2743200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16325"/>
                        <a:ext cx="5956102" cy="192870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7" name="Object 9"/>
          <p:cNvGraphicFramePr>
            <a:graphicFrameLocks noChangeAspect="1"/>
          </p:cNvGraphicFramePr>
          <p:nvPr/>
        </p:nvGraphicFramePr>
        <p:xfrm>
          <a:off x="9965531" y="3616325"/>
          <a:ext cx="2893219" cy="1928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4" imgW="5753100" imgH="4356100" progId="">
                  <p:embed/>
                </p:oleObj>
              </mc:Choice>
              <mc:Fallback>
                <p:oleObj name="" r:id="rId4" imgW="5753100" imgH="4356100" progId="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21930"/>
                      <a:stretch>
                        <a:fillRect/>
                      </a:stretch>
                    </p:blipFill>
                    <p:spPr bwMode="auto">
                      <a:xfrm>
                        <a:off x="9965531" y="3616325"/>
                        <a:ext cx="2893219" cy="192870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" name="Object 10"/>
          <p:cNvGraphicFramePr>
            <a:graphicFrameLocks noChangeAspect="1"/>
          </p:cNvGraphicFramePr>
          <p:nvPr/>
        </p:nvGraphicFramePr>
        <p:xfrm>
          <a:off x="5985124" y="3616325"/>
          <a:ext cx="3944689" cy="1930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6" imgW="3556000" imgH="2540000" progId="">
                  <p:embed/>
                </p:oleObj>
              </mc:Choice>
              <mc:Fallback>
                <p:oleObj name="" r:id="rId6" imgW="3556000" imgH="2540000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5124" y="3616325"/>
                        <a:ext cx="3944689" cy="1930381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3616325"/>
            <a:ext cx="12858750" cy="1928707"/>
          </a:xfrm>
          <a:prstGeom prst="rect">
            <a:avLst/>
          </a:prstGeom>
          <a:solidFill>
            <a:schemeClr val="accent1">
              <a:alpha val="28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pic>
        <p:nvPicPr>
          <p:cNvPr id="2060" name="Picture 12" descr="glabal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4156" y="2009070"/>
            <a:ext cx="1850678" cy="1426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61" name="Rectangle 13"/>
          <p:cNvSpPr>
            <a:spLocks noGrp="1" noChangeArrowheads="1"/>
          </p:cNvSpPr>
          <p:nvPr>
            <p:ph type="dt" sz="half" idx="2"/>
          </p:nvPr>
        </p:nvSpPr>
        <p:spPr>
          <a:xfrm>
            <a:off x="642938" y="6830836"/>
            <a:ext cx="3000375" cy="257831"/>
          </a:xfrm>
        </p:spPr>
        <p:txBody>
          <a:bodyPr/>
          <a:lstStyle>
            <a:lvl1pPr>
              <a:defRPr sz="1500"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4393406" y="6830836"/>
            <a:ext cx="4071938" cy="257831"/>
          </a:xfrm>
        </p:spPr>
        <p:txBody>
          <a:bodyPr/>
          <a:lstStyle>
            <a:lvl1pPr>
              <a:defRPr sz="1500"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63" name="Rectangle 1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215438" y="6830836"/>
            <a:ext cx="3000375" cy="257831"/>
          </a:xfrm>
        </p:spPr>
        <p:txBody>
          <a:bodyPr/>
          <a:lstStyle>
            <a:lvl1pPr>
              <a:defRPr sz="1500"/>
            </a:lvl1pPr>
          </a:lstStyle>
          <a:p>
            <a:fld id="{EBF8A45F-0071-45ED-BE0D-974A8D396AE5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064" name="Text Box 16"/>
          <p:cNvSpPr txBox="1">
            <a:spLocks noChangeArrowheads="1"/>
          </p:cNvSpPr>
          <p:nvPr/>
        </p:nvSpPr>
        <p:spPr bwMode="auto">
          <a:xfrm>
            <a:off x="4911328" y="6122640"/>
            <a:ext cx="3545086" cy="392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803" tIns="57401" rIns="114803" bIns="57401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b="1" smtClean="0">
                <a:solidFill>
                  <a:srgbClr val="000000"/>
                </a:solidFill>
                <a:latin typeface="Arial" panose="020B0604020202020204" pitchFamily="34" charset="0"/>
              </a:rPr>
              <a:t>大连理工大学出版社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65" name="AutoShape 17"/>
          <p:cNvSpPr>
            <a:spLocks noChangeArrowheads="1"/>
          </p:cNvSpPr>
          <p:nvPr/>
        </p:nvSpPr>
        <p:spPr bwMode="auto">
          <a:xfrm rot="5400000">
            <a:off x="6404827" y="5390969"/>
            <a:ext cx="287967" cy="1238995"/>
          </a:xfrm>
          <a:prstGeom prst="moon">
            <a:avLst>
              <a:gd name="adj" fmla="val 21208"/>
            </a:avLst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66" name="Rectangle 18"/>
          <p:cNvSpPr>
            <a:spLocks noGrp="1" noChangeArrowheads="1"/>
          </p:cNvSpPr>
          <p:nvPr>
            <p:ph type="ctrTitle"/>
          </p:nvPr>
        </p:nvSpPr>
        <p:spPr>
          <a:xfrm>
            <a:off x="1607344" y="1767981"/>
            <a:ext cx="8679656" cy="1309244"/>
          </a:xfrm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5500"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2067" name="Rectangle 19"/>
          <p:cNvSpPr>
            <a:spLocks noGrp="1" noChangeArrowheads="1"/>
          </p:cNvSpPr>
          <p:nvPr>
            <p:ph type="subTitle" idx="1"/>
          </p:nvPr>
        </p:nvSpPr>
        <p:spPr>
          <a:xfrm>
            <a:off x="2143125" y="3134148"/>
            <a:ext cx="7608094" cy="401814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3F88E9-69DC-4EC5-8914-FF7FBBA0F66A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5752" y="4647648"/>
            <a:ext cx="10929938" cy="1436485"/>
          </a:xfrm>
        </p:spPr>
        <p:txBody>
          <a:bodyPr anchor="t"/>
          <a:lstStyle>
            <a:lvl1pPr algn="l">
              <a:defRPr sz="5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15752" y="3065506"/>
            <a:ext cx="10929938" cy="1582142"/>
          </a:xfrm>
        </p:spPr>
        <p:txBody>
          <a:bodyPr anchor="b"/>
          <a:lstStyle>
            <a:lvl1pPr marL="0" indent="0">
              <a:buNone/>
              <a:defRPr sz="2500"/>
            </a:lvl1pPr>
            <a:lvl2pPr marL="574040" indent="0">
              <a:buNone/>
              <a:defRPr sz="2300"/>
            </a:lvl2pPr>
            <a:lvl3pPr marL="1148080" indent="0">
              <a:buNone/>
              <a:defRPr sz="2000"/>
            </a:lvl3pPr>
            <a:lvl4pPr marL="1722120" indent="0">
              <a:buNone/>
              <a:defRPr sz="1800"/>
            </a:lvl4pPr>
            <a:lvl5pPr marL="2296160" indent="0">
              <a:buNone/>
              <a:defRPr sz="1800"/>
            </a:lvl5pPr>
            <a:lvl6pPr marL="2870200" indent="0">
              <a:buNone/>
              <a:defRPr sz="1800"/>
            </a:lvl6pPr>
            <a:lvl7pPr marL="3444240" indent="0">
              <a:buNone/>
              <a:defRPr sz="1800"/>
            </a:lvl7pPr>
            <a:lvl8pPr marL="4018280" indent="0">
              <a:buNone/>
              <a:defRPr sz="1800"/>
            </a:lvl8pPr>
            <a:lvl9pPr marL="459232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5BFFFA-BEFE-4A33-9C51-DF95B351EF6B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2938" y="1366167"/>
            <a:ext cx="5679281" cy="530394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36531" y="1366167"/>
            <a:ext cx="5679281" cy="530394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8854D0-8EA4-4302-A4F8-EC9BEF706FFB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938" y="289641"/>
            <a:ext cx="11572875" cy="1205442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2938" y="1618976"/>
            <a:ext cx="5681514" cy="6747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040" indent="0">
              <a:buNone/>
              <a:defRPr sz="2500" b="1"/>
            </a:lvl2pPr>
            <a:lvl3pPr marL="1148080" indent="0">
              <a:buNone/>
              <a:defRPr sz="2300" b="1"/>
            </a:lvl3pPr>
            <a:lvl4pPr marL="1722120" indent="0">
              <a:buNone/>
              <a:defRPr sz="2000" b="1"/>
            </a:lvl4pPr>
            <a:lvl5pPr marL="2296160" indent="0">
              <a:buNone/>
              <a:defRPr sz="2000" b="1"/>
            </a:lvl5pPr>
            <a:lvl6pPr marL="2870200" indent="0">
              <a:buNone/>
              <a:defRPr sz="2000" b="1"/>
            </a:lvl6pPr>
            <a:lvl7pPr marL="3444240" indent="0">
              <a:buNone/>
              <a:defRPr sz="2000" b="1"/>
            </a:lvl7pPr>
            <a:lvl8pPr marL="4018280" indent="0">
              <a:buNone/>
              <a:defRPr sz="2000" b="1"/>
            </a:lvl8pPr>
            <a:lvl9pPr marL="4592320" indent="0">
              <a:buNone/>
              <a:defRPr sz="20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2938" y="2293688"/>
            <a:ext cx="5681514" cy="4167145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32067" y="1618976"/>
            <a:ext cx="5683746" cy="6747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040" indent="0">
              <a:buNone/>
              <a:defRPr sz="2500" b="1"/>
            </a:lvl2pPr>
            <a:lvl3pPr marL="1148080" indent="0">
              <a:buNone/>
              <a:defRPr sz="2300" b="1"/>
            </a:lvl3pPr>
            <a:lvl4pPr marL="1722120" indent="0">
              <a:buNone/>
              <a:defRPr sz="2000" b="1"/>
            </a:lvl4pPr>
            <a:lvl5pPr marL="2296160" indent="0">
              <a:buNone/>
              <a:defRPr sz="2000" b="1"/>
            </a:lvl5pPr>
            <a:lvl6pPr marL="2870200" indent="0">
              <a:buNone/>
              <a:defRPr sz="2000" b="1"/>
            </a:lvl6pPr>
            <a:lvl7pPr marL="3444240" indent="0">
              <a:buNone/>
              <a:defRPr sz="2000" b="1"/>
            </a:lvl7pPr>
            <a:lvl8pPr marL="4018280" indent="0">
              <a:buNone/>
              <a:defRPr sz="2000" b="1"/>
            </a:lvl8pPr>
            <a:lvl9pPr marL="4592320" indent="0">
              <a:buNone/>
              <a:defRPr sz="20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32067" y="2293688"/>
            <a:ext cx="5683746" cy="4167145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635C7E-A300-462C-B8A1-3DF062782332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3BF04-3DA2-4977-94CE-A7D20174D492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24BACC-19FD-40F0-8AE0-3ABB509727AB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938" y="287967"/>
            <a:ext cx="4230440" cy="1225532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7414" y="287967"/>
            <a:ext cx="7188398" cy="6172866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2938" y="1513500"/>
            <a:ext cx="4230440" cy="4947334"/>
          </a:xfrm>
        </p:spPr>
        <p:txBody>
          <a:bodyPr/>
          <a:lstStyle>
            <a:lvl1pPr marL="0" indent="0">
              <a:buNone/>
              <a:defRPr sz="1800"/>
            </a:lvl1pPr>
            <a:lvl2pPr marL="574040" indent="0">
              <a:buNone/>
              <a:defRPr sz="1500"/>
            </a:lvl2pPr>
            <a:lvl3pPr marL="1148080" indent="0">
              <a:buNone/>
              <a:defRPr sz="1300"/>
            </a:lvl3pPr>
            <a:lvl4pPr marL="1722120" indent="0">
              <a:buNone/>
              <a:defRPr sz="1100"/>
            </a:lvl4pPr>
            <a:lvl5pPr marL="2296160" indent="0">
              <a:buNone/>
              <a:defRPr sz="1100"/>
            </a:lvl5pPr>
            <a:lvl6pPr marL="2870200" indent="0">
              <a:buNone/>
              <a:defRPr sz="1100"/>
            </a:lvl6pPr>
            <a:lvl7pPr marL="3444240" indent="0">
              <a:buNone/>
              <a:defRPr sz="1100"/>
            </a:lvl7pPr>
            <a:lvl8pPr marL="4018280" indent="0">
              <a:buNone/>
              <a:defRPr sz="1100"/>
            </a:lvl8pPr>
            <a:lvl9pPr marL="4592320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5E326B-995E-4A83-93BB-8839774CA879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0405" y="5062855"/>
            <a:ext cx="7715250" cy="597699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520405" y="646251"/>
            <a:ext cx="7715250" cy="4339590"/>
          </a:xfrm>
        </p:spPr>
        <p:txBody>
          <a:bodyPr/>
          <a:lstStyle>
            <a:lvl1pPr marL="0" indent="0">
              <a:buNone/>
              <a:defRPr sz="4000"/>
            </a:lvl1pPr>
            <a:lvl2pPr marL="574040" indent="0">
              <a:buNone/>
              <a:defRPr sz="3500"/>
            </a:lvl2pPr>
            <a:lvl3pPr marL="1148080" indent="0">
              <a:buNone/>
              <a:defRPr sz="3000"/>
            </a:lvl3pPr>
            <a:lvl4pPr marL="1722120" indent="0">
              <a:buNone/>
              <a:defRPr sz="2500"/>
            </a:lvl4pPr>
            <a:lvl5pPr marL="2296160" indent="0">
              <a:buNone/>
              <a:defRPr sz="2500"/>
            </a:lvl5pPr>
            <a:lvl6pPr marL="2870200" indent="0">
              <a:buNone/>
              <a:defRPr sz="2500"/>
            </a:lvl6pPr>
            <a:lvl7pPr marL="3444240" indent="0">
              <a:buNone/>
              <a:defRPr sz="2500"/>
            </a:lvl7pPr>
            <a:lvl8pPr marL="4018280" indent="0">
              <a:buNone/>
              <a:defRPr sz="2500"/>
            </a:lvl8pPr>
            <a:lvl9pPr marL="4592320" indent="0">
              <a:buNone/>
              <a:defRPr sz="2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20405" y="5660554"/>
            <a:ext cx="7715250" cy="848831"/>
          </a:xfrm>
        </p:spPr>
        <p:txBody>
          <a:bodyPr/>
          <a:lstStyle>
            <a:lvl1pPr marL="0" indent="0">
              <a:buNone/>
              <a:defRPr sz="1800"/>
            </a:lvl1pPr>
            <a:lvl2pPr marL="574040" indent="0">
              <a:buNone/>
              <a:defRPr sz="1500"/>
            </a:lvl2pPr>
            <a:lvl3pPr marL="1148080" indent="0">
              <a:buNone/>
              <a:defRPr sz="1300"/>
            </a:lvl3pPr>
            <a:lvl4pPr marL="1722120" indent="0">
              <a:buNone/>
              <a:defRPr sz="1100"/>
            </a:lvl4pPr>
            <a:lvl5pPr marL="2296160" indent="0">
              <a:buNone/>
              <a:defRPr sz="1100"/>
            </a:lvl5pPr>
            <a:lvl6pPr marL="2870200" indent="0">
              <a:buNone/>
              <a:defRPr sz="1100"/>
            </a:lvl6pPr>
            <a:lvl7pPr marL="3444240" indent="0">
              <a:buNone/>
              <a:defRPr sz="1100"/>
            </a:lvl7pPr>
            <a:lvl8pPr marL="4018280" indent="0">
              <a:buNone/>
              <a:defRPr sz="1100"/>
            </a:lvl8pPr>
            <a:lvl9pPr marL="4592320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87A3B8-8656-498B-B584-A4DC8CC8FD2D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CB4C4C-8F74-430E-83D2-C4B24A692EB3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22594" y="622812"/>
            <a:ext cx="2893219" cy="604729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2937" y="622812"/>
            <a:ext cx="8465344" cy="604729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75E51C-864E-4B24-AC84-909B6DB4310B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52117" y="622812"/>
            <a:ext cx="8358188" cy="5943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42938" y="1366167"/>
            <a:ext cx="5679281" cy="530394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36531" y="1366167"/>
            <a:ext cx="5679281" cy="530394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42938" y="6750474"/>
            <a:ext cx="3000375" cy="338193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393406" y="6750474"/>
            <a:ext cx="4071938" cy="338193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215438" y="6750474"/>
            <a:ext cx="3000375" cy="338193"/>
          </a:xfrm>
        </p:spPr>
        <p:txBody>
          <a:bodyPr/>
          <a:lstStyle>
            <a:lvl1pPr>
              <a:defRPr/>
            </a:lvl1pPr>
          </a:lstStyle>
          <a:p>
            <a:fld id="{FBD54A42-9C1A-4611-B8F5-7C89536AAE4D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7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3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5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3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035969" y="592677"/>
            <a:ext cx="10822781" cy="681410"/>
          </a:xfrm>
          <a:prstGeom prst="rect">
            <a:avLst/>
          </a:prstGeom>
          <a:solidFill>
            <a:schemeClr val="tx1"/>
          </a:solidFill>
          <a:ln w="9525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589327"/>
            <a:ext cx="2035969" cy="69647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 rot="5400000">
            <a:off x="404080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9" name="AutoShape 5"/>
          <p:cNvSpPr>
            <a:spLocks noChangeArrowheads="1"/>
          </p:cNvSpPr>
          <p:nvPr/>
        </p:nvSpPr>
        <p:spPr bwMode="auto">
          <a:xfrm rot="5400000">
            <a:off x="832705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84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30" name="AutoShape 6"/>
          <p:cNvSpPr>
            <a:spLocks noChangeArrowheads="1"/>
          </p:cNvSpPr>
          <p:nvPr/>
        </p:nvSpPr>
        <p:spPr bwMode="auto">
          <a:xfrm rot="5400000">
            <a:off x="1261330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56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31" name="AutoShape 7"/>
          <p:cNvSpPr>
            <a:spLocks noChangeArrowheads="1"/>
          </p:cNvSpPr>
          <p:nvPr/>
        </p:nvSpPr>
        <p:spPr bwMode="auto">
          <a:xfrm rot="5400000">
            <a:off x="1689955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26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42939" y="1366167"/>
            <a:ext cx="11572875" cy="530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34" tIns="57368" rIns="114734" bIns="57368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42939" y="6750479"/>
            <a:ext cx="3000375" cy="33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34" tIns="57368" rIns="114734" bIns="57368" numCol="1" anchor="t" anchorCtr="0" compatLnSpc="1"/>
          <a:lstStyle>
            <a:lvl1pPr>
              <a:defRPr sz="1800">
                <a:ea typeface="宋体" panose="02010600030101010101" pitchFamily="2" charset="-122"/>
              </a:defRPr>
            </a:lvl1pPr>
          </a:lstStyle>
          <a:p>
            <a:pPr>
              <a:buFont typeface="Arial" panose="020B0604020202020204" pitchFamily="34" charset="0"/>
              <a:buNone/>
            </a:pPr>
            <a:endParaRPr 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93406" y="6750479"/>
            <a:ext cx="4071938" cy="33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34" tIns="57368" rIns="114734" bIns="57368" numCol="1" anchor="t" anchorCtr="0" compatLnSpc="1"/>
          <a:lstStyle>
            <a:lvl1pPr algn="ctr">
              <a:defRPr sz="1800">
                <a:ea typeface="宋体" panose="02010600030101010101" pitchFamily="2" charset="-122"/>
              </a:defRPr>
            </a:lvl1pPr>
          </a:lstStyle>
          <a:p>
            <a:pPr>
              <a:buFont typeface="Arial" panose="020B0604020202020204" pitchFamily="34" charset="0"/>
              <a:buNone/>
            </a:pPr>
            <a:endParaRPr 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15439" y="6750479"/>
            <a:ext cx="3000375" cy="33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34" tIns="57368" rIns="114734" bIns="57368" numCol="1" anchor="t" anchorCtr="0" compatLnSpc="1"/>
          <a:lstStyle>
            <a:lvl1pPr algn="r">
              <a:defRPr sz="1800">
                <a:ea typeface="宋体" panose="02010600030101010101" pitchFamily="2" charset="-122"/>
              </a:defRPr>
            </a:lvl1pPr>
          </a:lstStyle>
          <a:p>
            <a:pPr>
              <a:buFont typeface="Arial" panose="020B0604020202020204" pitchFamily="34" charset="0"/>
              <a:buNone/>
            </a:pPr>
            <a:fld id="{E885DCAE-4A19-439B-9674-D186DD8CF82A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2652117" y="622812"/>
            <a:ext cx="8358188" cy="59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114734" tIns="57368" rIns="114734" bIns="57368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5pPr>
      <a:lvl6pPr marL="573405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6pPr>
      <a:lvl7pPr marL="1147445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7pPr>
      <a:lvl8pPr marL="172085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8pPr>
      <a:lvl9pPr marL="229489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430530" indent="-430530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v"/>
        <a:defRPr sz="3500">
          <a:solidFill>
            <a:schemeClr val="tx1"/>
          </a:solidFill>
          <a:latin typeface="+mn-lt"/>
          <a:ea typeface="+mn-ea"/>
          <a:cs typeface="+mn-cs"/>
        </a:defRPr>
      </a:lvl1pPr>
      <a:lvl2pPr marL="932180" indent="-358775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3300">
          <a:solidFill>
            <a:schemeClr val="tx1"/>
          </a:solidFill>
          <a:latin typeface="+mn-lt"/>
        </a:defRPr>
      </a:lvl2pPr>
      <a:lvl3pPr marL="1434465" indent="-28702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•"/>
        <a:defRPr sz="2800">
          <a:solidFill>
            <a:schemeClr val="tx1"/>
          </a:solidFill>
          <a:latin typeface="+mn-lt"/>
        </a:defRPr>
      </a:lvl3pPr>
      <a:lvl4pPr marL="2007870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500">
          <a:solidFill>
            <a:schemeClr val="tx1"/>
          </a:solidFill>
          <a:latin typeface="+mn-lt"/>
        </a:defRPr>
      </a:lvl4pPr>
      <a:lvl5pPr marL="2581275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5pPr>
      <a:lvl6pPr marL="3155315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6pPr>
      <a:lvl7pPr marL="3728720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7pPr>
      <a:lvl8pPr marL="4302760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8pPr>
      <a:lvl9pPr marL="4876165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3405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7445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0850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94890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68295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42335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15740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89145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035969" y="592677"/>
            <a:ext cx="10822781" cy="681410"/>
          </a:xfrm>
          <a:prstGeom prst="rect">
            <a:avLst/>
          </a:prstGeom>
          <a:solidFill>
            <a:schemeClr val="tx1"/>
          </a:solidFill>
          <a:ln w="9525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589327"/>
            <a:ext cx="2035969" cy="69647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 rot="5400000">
            <a:off x="404080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9" name="AutoShape 5"/>
          <p:cNvSpPr>
            <a:spLocks noChangeArrowheads="1"/>
          </p:cNvSpPr>
          <p:nvPr/>
        </p:nvSpPr>
        <p:spPr bwMode="auto">
          <a:xfrm rot="5400000">
            <a:off x="832705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84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30" name="AutoShape 6"/>
          <p:cNvSpPr>
            <a:spLocks noChangeArrowheads="1"/>
          </p:cNvSpPr>
          <p:nvPr/>
        </p:nvSpPr>
        <p:spPr bwMode="auto">
          <a:xfrm rot="5400000">
            <a:off x="1261330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56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31" name="AutoShape 7"/>
          <p:cNvSpPr>
            <a:spLocks noChangeArrowheads="1"/>
          </p:cNvSpPr>
          <p:nvPr/>
        </p:nvSpPr>
        <p:spPr bwMode="auto">
          <a:xfrm rot="5400000">
            <a:off x="1689955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26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42939" y="1366167"/>
            <a:ext cx="11572875" cy="530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75" tIns="57388" rIns="114775" bIns="57388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42939" y="6750476"/>
            <a:ext cx="3000375" cy="33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75" tIns="57388" rIns="114775" bIns="57388" numCol="1" anchor="t" anchorCtr="0" compatLnSpc="1"/>
          <a:lstStyle>
            <a:lvl1pPr>
              <a:defRPr sz="1800">
                <a:ea typeface="宋体" panose="02010600030101010101" pitchFamily="2" charset="-122"/>
              </a:defRPr>
            </a:lvl1pPr>
          </a:lstStyle>
          <a:p>
            <a:pPr>
              <a:buFont typeface="Arial" panose="020B0604020202020204" pitchFamily="34" charset="0"/>
              <a:buNone/>
            </a:pPr>
            <a:endParaRPr 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93406" y="6750476"/>
            <a:ext cx="4071938" cy="33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75" tIns="57388" rIns="114775" bIns="57388" numCol="1" anchor="t" anchorCtr="0" compatLnSpc="1"/>
          <a:lstStyle>
            <a:lvl1pPr algn="ctr">
              <a:defRPr sz="1800">
                <a:ea typeface="宋体" panose="02010600030101010101" pitchFamily="2" charset="-122"/>
              </a:defRPr>
            </a:lvl1pPr>
          </a:lstStyle>
          <a:p>
            <a:pPr>
              <a:buFont typeface="Arial" panose="020B0604020202020204" pitchFamily="34" charset="0"/>
              <a:buNone/>
            </a:pPr>
            <a:endParaRPr 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15439" y="6750476"/>
            <a:ext cx="3000375" cy="33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75" tIns="57388" rIns="114775" bIns="57388" numCol="1" anchor="t" anchorCtr="0" compatLnSpc="1"/>
          <a:lstStyle>
            <a:lvl1pPr algn="r">
              <a:defRPr sz="1800">
                <a:ea typeface="宋体" panose="02010600030101010101" pitchFamily="2" charset="-122"/>
              </a:defRPr>
            </a:lvl1pPr>
          </a:lstStyle>
          <a:p>
            <a:pPr>
              <a:buFont typeface="Arial" panose="020B0604020202020204" pitchFamily="34" charset="0"/>
              <a:buNone/>
            </a:pPr>
            <a:fld id="{6D880ADB-E83C-41C4-A643-1A294B5D6C9D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2652117" y="622812"/>
            <a:ext cx="8358188" cy="59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114775" tIns="57388" rIns="114775" bIns="57388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5pPr>
      <a:lvl6pPr marL="57404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6pPr>
      <a:lvl7pPr marL="1147445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7pPr>
      <a:lvl8pPr marL="1721485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8pPr>
      <a:lvl9pPr marL="2295525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430530" indent="-430530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v"/>
        <a:defRPr sz="3500">
          <a:solidFill>
            <a:schemeClr val="tx1"/>
          </a:solidFill>
          <a:latin typeface="+mn-lt"/>
          <a:ea typeface="+mn-ea"/>
          <a:cs typeface="+mn-cs"/>
        </a:defRPr>
      </a:lvl1pPr>
      <a:lvl2pPr marL="932815" indent="-358775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3300">
          <a:solidFill>
            <a:schemeClr val="tx1"/>
          </a:solidFill>
          <a:latin typeface="+mn-lt"/>
        </a:defRPr>
      </a:lvl2pPr>
      <a:lvl3pPr marL="1434465" indent="-287020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•"/>
        <a:defRPr sz="2800">
          <a:solidFill>
            <a:schemeClr val="tx1"/>
          </a:solidFill>
          <a:latin typeface="+mn-lt"/>
        </a:defRPr>
      </a:lvl3pPr>
      <a:lvl4pPr marL="2008505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500">
          <a:solidFill>
            <a:schemeClr val="tx1"/>
          </a:solidFill>
          <a:latin typeface="+mn-lt"/>
        </a:defRPr>
      </a:lvl4pPr>
      <a:lvl5pPr marL="2582545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5pPr>
      <a:lvl6pPr marL="3156585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6pPr>
      <a:lvl7pPr marL="3729990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7pPr>
      <a:lvl8pPr marL="4304030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8pPr>
      <a:lvl9pPr marL="4878070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4040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7445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1485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95525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69565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42970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17010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91050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035969" y="592676"/>
            <a:ext cx="10822781" cy="681410"/>
          </a:xfrm>
          <a:prstGeom prst="rect">
            <a:avLst/>
          </a:prstGeom>
          <a:solidFill>
            <a:schemeClr val="tx1"/>
          </a:solidFill>
          <a:ln w="9525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589327"/>
            <a:ext cx="2035969" cy="69647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 rot="5400000">
            <a:off x="404080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9" name="AutoShape 5"/>
          <p:cNvSpPr>
            <a:spLocks noChangeArrowheads="1"/>
          </p:cNvSpPr>
          <p:nvPr/>
        </p:nvSpPr>
        <p:spPr bwMode="auto">
          <a:xfrm rot="5400000">
            <a:off x="832705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84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30" name="AutoShape 6"/>
          <p:cNvSpPr>
            <a:spLocks noChangeArrowheads="1"/>
          </p:cNvSpPr>
          <p:nvPr/>
        </p:nvSpPr>
        <p:spPr bwMode="auto">
          <a:xfrm rot="5400000">
            <a:off x="1261330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56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31" name="AutoShape 7"/>
          <p:cNvSpPr>
            <a:spLocks noChangeArrowheads="1"/>
          </p:cNvSpPr>
          <p:nvPr/>
        </p:nvSpPr>
        <p:spPr bwMode="auto">
          <a:xfrm rot="5400000">
            <a:off x="1689955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26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42938" y="1366167"/>
            <a:ext cx="11572875" cy="530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803" tIns="57401" rIns="114803" bIns="57401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42938" y="6750474"/>
            <a:ext cx="3000375" cy="33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803" tIns="57401" rIns="114803" bIns="57401" numCol="1" anchor="t" anchorCtr="0" compatLnSpc="1"/>
          <a:lstStyle>
            <a:lvl1pPr>
              <a:defRPr sz="1800">
                <a:ea typeface="宋体" panose="02010600030101010101" pitchFamily="2" charset="-122"/>
              </a:defRPr>
            </a:lvl1pPr>
          </a:lstStyle>
          <a:p>
            <a:pPr>
              <a:buFont typeface="Arial" panose="020B0604020202020204" pitchFamily="34" charset="0"/>
              <a:buNone/>
            </a:pPr>
            <a:endParaRPr 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93406" y="6750474"/>
            <a:ext cx="4071938" cy="33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803" tIns="57401" rIns="114803" bIns="57401" numCol="1" anchor="t" anchorCtr="0" compatLnSpc="1"/>
          <a:lstStyle>
            <a:lvl1pPr algn="ctr">
              <a:defRPr sz="1800">
                <a:ea typeface="宋体" panose="02010600030101010101" pitchFamily="2" charset="-122"/>
              </a:defRPr>
            </a:lvl1pPr>
          </a:lstStyle>
          <a:p>
            <a:pPr>
              <a:buFont typeface="Arial" panose="020B0604020202020204" pitchFamily="34" charset="0"/>
              <a:buNone/>
            </a:pPr>
            <a:endParaRPr 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15438" y="6750474"/>
            <a:ext cx="3000375" cy="33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803" tIns="57401" rIns="114803" bIns="57401" numCol="1" anchor="t" anchorCtr="0" compatLnSpc="1"/>
          <a:lstStyle>
            <a:lvl1pPr algn="r">
              <a:defRPr sz="1800">
                <a:ea typeface="宋体" panose="02010600030101010101" pitchFamily="2" charset="-122"/>
              </a:defRPr>
            </a:lvl1pPr>
          </a:lstStyle>
          <a:p>
            <a:pPr>
              <a:buFont typeface="Arial" panose="020B0604020202020204" pitchFamily="34" charset="0"/>
              <a:buNone/>
            </a:pPr>
            <a:fld id="{6D880ADB-E83C-41C4-A643-1A294B5D6C9D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2652117" y="622812"/>
            <a:ext cx="8358188" cy="59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114803" tIns="57401" rIns="114803" bIns="57401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5pPr>
      <a:lvl6pPr marL="57404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6pPr>
      <a:lvl7pPr marL="114808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7pPr>
      <a:lvl8pPr marL="172212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8pPr>
      <a:lvl9pPr marL="229616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430530" indent="-430530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v"/>
        <a:defRPr sz="3500">
          <a:solidFill>
            <a:schemeClr val="tx1"/>
          </a:solidFill>
          <a:latin typeface="+mn-lt"/>
          <a:ea typeface="+mn-ea"/>
          <a:cs typeface="+mn-cs"/>
        </a:defRPr>
      </a:lvl1pPr>
      <a:lvl2pPr marL="932815" indent="-358775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3300">
          <a:solidFill>
            <a:schemeClr val="tx1"/>
          </a:solidFill>
          <a:latin typeface="+mn-lt"/>
        </a:defRPr>
      </a:lvl2pPr>
      <a:lvl3pPr marL="1435100" indent="-287020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•"/>
        <a:defRPr sz="2800">
          <a:solidFill>
            <a:schemeClr val="tx1"/>
          </a:solidFill>
          <a:latin typeface="+mn-lt"/>
        </a:defRPr>
      </a:lvl3pPr>
      <a:lvl4pPr marL="2009140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500">
          <a:solidFill>
            <a:schemeClr val="tx1"/>
          </a:solidFill>
          <a:latin typeface="+mn-lt"/>
        </a:defRPr>
      </a:lvl4pPr>
      <a:lvl5pPr marL="2583180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5pPr>
      <a:lvl6pPr marL="3157220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6pPr>
      <a:lvl7pPr marL="3731260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7pPr>
      <a:lvl8pPr marL="4305300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8pPr>
      <a:lvl9pPr marL="4879340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404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808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212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9616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7020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4424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1828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9232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7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7.xml"/><Relationship Id="rId1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/>
          <p:cNvSpPr/>
          <p:nvPr/>
        </p:nvSpPr>
        <p:spPr>
          <a:xfrm>
            <a:off x="0" y="0"/>
            <a:ext cx="7256762" cy="7256364"/>
          </a:xfrm>
          <a:prstGeom prst="rtTriangle">
            <a:avLst/>
          </a:prstGeom>
          <a:blipFill dpi="0" rotWithShape="1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3" name="任意多边形 2"/>
          <p:cNvSpPr/>
          <p:nvPr/>
        </p:nvSpPr>
        <p:spPr>
          <a:xfrm rot="5400000" flipV="1">
            <a:off x="1608166" y="1145782"/>
            <a:ext cx="4826927" cy="4827192"/>
          </a:xfrm>
          <a:custGeom>
            <a:avLst/>
            <a:gdLst>
              <a:gd name="connsiteX0" fmla="*/ 0 w 4343400"/>
              <a:gd name="connsiteY0" fmla="*/ 0 h 4343400"/>
              <a:gd name="connsiteX1" fmla="*/ 4343400 w 4343400"/>
              <a:gd name="connsiteY1" fmla="*/ 4343400 h 4343400"/>
              <a:gd name="connsiteX2" fmla="*/ 3486149 w 4343400"/>
              <a:gd name="connsiteY2" fmla="*/ 4343400 h 4343400"/>
              <a:gd name="connsiteX3" fmla="*/ 0 w 4343400"/>
              <a:gd name="connsiteY3" fmla="*/ 857251 h 4343400"/>
              <a:gd name="connsiteX4" fmla="*/ 0 w 4343400"/>
              <a:gd name="connsiteY4" fmla="*/ 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3400" h="4343400">
                <a:moveTo>
                  <a:pt x="0" y="0"/>
                </a:moveTo>
                <a:lnTo>
                  <a:pt x="4343400" y="4343400"/>
                </a:lnTo>
                <a:lnTo>
                  <a:pt x="3486149" y="4343400"/>
                </a:lnTo>
                <a:lnTo>
                  <a:pt x="0" y="8572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57167" y="1960141"/>
            <a:ext cx="8595718" cy="622280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r>
              <a:rPr kumimoji="1" lang="en-US" altLang="zh-CN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&lt;&lt;JSP</a:t>
            </a:r>
            <a:r>
              <a:rPr kumimoji="1" lang="zh-CN" altLang="en-US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与</a:t>
            </a:r>
            <a:r>
              <a:rPr kumimoji="1" lang="en-US" altLang="zh-CN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Servlet</a:t>
            </a:r>
            <a:r>
              <a:rPr kumimoji="1" lang="zh-CN" altLang="en-US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开发技术与典型应用教程</a:t>
            </a:r>
            <a:r>
              <a:rPr kumimoji="1" lang="en-US" altLang="zh-CN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&gt;&gt;</a:t>
            </a:r>
            <a:endParaRPr kumimoji="1" lang="zh-CN" altLang="en-US" sz="3200" b="1" dirty="0">
              <a:solidFill>
                <a:srgbClr val="526580"/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97327" y="2896245"/>
            <a:ext cx="6016403" cy="649181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 algn="ctr"/>
            <a:r>
              <a:rPr kumimoji="1" lang="en-US" altLang="zh-CN" sz="17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JSP and  servlet  development  technology  and  typical application  course</a:t>
            </a:r>
            <a:endParaRPr kumimoji="1" lang="zh-CN" altLang="en-US" sz="17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 rot="2679144">
            <a:off x="1518042" y="2942040"/>
            <a:ext cx="5266506" cy="558800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 algn="ctr">
              <a:buNone/>
            </a:pPr>
            <a:r>
              <a:rPr lang="zh-CN" altLang="en-US" sz="2800" b="1" cap="all" smtClean="0">
                <a:solidFill>
                  <a:schemeClr val="accent1"/>
                </a:solidFill>
                <a:latin typeface="Agency FB" panose="020B0503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第</a:t>
            </a:r>
            <a:r>
              <a:rPr lang="zh-CN" altLang="en-US" sz="2800" b="1" cap="all">
                <a:solidFill>
                  <a:schemeClr val="accent1"/>
                </a:solidFill>
                <a:latin typeface="Agency FB" panose="020B0503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七</a:t>
            </a:r>
            <a:r>
              <a:rPr lang="zh-CN" altLang="en-US" sz="2800" b="1" cap="all" smtClean="0">
                <a:solidFill>
                  <a:schemeClr val="accent1"/>
                </a:solidFill>
                <a:latin typeface="Agency FB" panose="020B0503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章 </a:t>
            </a:r>
            <a:r>
              <a:rPr lang="en-US" altLang="zh-CN" sz="2800" b="1" cap="all" smtClean="0">
                <a:solidFill>
                  <a:schemeClr val="accent1"/>
                </a:solidFill>
                <a:latin typeface="Agency FB" panose="020B0503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   Servlet</a:t>
            </a:r>
            <a:r>
              <a:rPr lang="zh-CN" altLang="en-US" sz="2800" b="1" cap="all" smtClean="0">
                <a:solidFill>
                  <a:schemeClr val="accent1"/>
                </a:solidFill>
                <a:latin typeface="Agency FB" panose="020B0503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进阶</a:t>
            </a:r>
            <a:endParaRPr lang="zh-CN" altLang="en-US" sz="2800" b="1" cap="all" dirty="0" smtClean="0">
              <a:solidFill>
                <a:schemeClr val="accent1"/>
              </a:solidFill>
              <a:latin typeface="Agency FB" panose="020B0503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12" name="直角三角形 11"/>
          <p:cNvSpPr/>
          <p:nvPr/>
        </p:nvSpPr>
        <p:spPr>
          <a:xfrm flipH="1">
            <a:off x="8229575" y="3976365"/>
            <a:ext cx="4629176" cy="3279999"/>
          </a:xfrm>
          <a:prstGeom prst="rtTriangle">
            <a:avLst/>
          </a:prstGeom>
          <a:solidFill>
            <a:srgbClr val="43536A"/>
          </a:solidFill>
          <a:ln>
            <a:solidFill>
              <a:srgbClr val="4353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schemeClr val="bg2">
                  <a:lumMod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直角三角形 15"/>
          <p:cNvSpPr/>
          <p:nvPr/>
        </p:nvSpPr>
        <p:spPr>
          <a:xfrm rot="13500000" flipV="1">
            <a:off x="2775844" y="-1270801"/>
            <a:ext cx="2491570" cy="2491706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73591" y="3976365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2000" b="1" dirty="0">
                <a:solidFill>
                  <a:srgbClr val="526580"/>
                </a:solidFill>
                <a:cs typeface="+mn-ea"/>
              </a:rPr>
              <a:t>大连理工大学出版社</a:t>
            </a:r>
            <a:endParaRPr kumimoji="1" lang="zh-CN" altLang="en-US" sz="2000" b="1" dirty="0">
              <a:solidFill>
                <a:srgbClr val="526580"/>
              </a:solidFill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/>
      <p:bldP spid="8" grpId="0"/>
      <p:bldP spid="9" grpId="0"/>
      <p:bldP spid="12" grpId="0" animBg="1"/>
      <p:bldP spid="16" grpId="0" animBg="1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8"/>
          <p:cNvSpPr/>
          <p:nvPr/>
        </p:nvSpPr>
        <p:spPr>
          <a:xfrm>
            <a:off x="-12756" y="0"/>
            <a:ext cx="7266302" cy="7265903"/>
          </a:xfrm>
          <a:custGeom>
            <a:avLst/>
            <a:gdLst>
              <a:gd name="connsiteX0" fmla="*/ 0 w 5896303"/>
              <a:gd name="connsiteY0" fmla="*/ 0 h 5896303"/>
              <a:gd name="connsiteX1" fmla="*/ 5896303 w 5896303"/>
              <a:gd name="connsiteY1" fmla="*/ 5896303 h 5896303"/>
              <a:gd name="connsiteX2" fmla="*/ 5579364 w 5896303"/>
              <a:gd name="connsiteY2" fmla="*/ 5896303 h 5896303"/>
              <a:gd name="connsiteX3" fmla="*/ 0 w 5896303"/>
              <a:gd name="connsiteY3" fmla="*/ 316939 h 5896303"/>
              <a:gd name="connsiteX4" fmla="*/ 0 w 5896303"/>
              <a:gd name="connsiteY4" fmla="*/ 0 h 5896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96303" h="5896303">
                <a:moveTo>
                  <a:pt x="0" y="0"/>
                </a:moveTo>
                <a:lnTo>
                  <a:pt x="5896303" y="5896303"/>
                </a:lnTo>
                <a:lnTo>
                  <a:pt x="5579364" y="5896303"/>
                </a:lnTo>
                <a:lnTo>
                  <a:pt x="0" y="316939"/>
                </a:lnTo>
                <a:lnTo>
                  <a:pt x="0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3" name="等腰三角形 5"/>
          <p:cNvSpPr/>
          <p:nvPr/>
        </p:nvSpPr>
        <p:spPr>
          <a:xfrm flipV="1">
            <a:off x="1072486" y="448922"/>
            <a:ext cx="4158592" cy="2029130"/>
          </a:xfrm>
          <a:prstGeom prst="triangle">
            <a:avLst/>
          </a:prstGeom>
          <a:noFill/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4" name="等腰三角形 4"/>
          <p:cNvSpPr/>
          <p:nvPr/>
        </p:nvSpPr>
        <p:spPr>
          <a:xfrm flipV="1">
            <a:off x="1072486" y="-1"/>
            <a:ext cx="4158592" cy="2029130"/>
          </a:xfrm>
          <a:prstGeom prst="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7" name="TextBox 32"/>
          <p:cNvSpPr txBox="1">
            <a:spLocks noChangeArrowheads="1"/>
          </p:cNvSpPr>
          <p:nvPr/>
        </p:nvSpPr>
        <p:spPr bwMode="auto">
          <a:xfrm>
            <a:off x="3643806" y="2266089"/>
            <a:ext cx="1477498" cy="1297274"/>
          </a:xfrm>
          <a:prstGeom prst="diamon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none" lIns="128583" tIns="64291" rIns="128583" bIns="64291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01</a:t>
            </a:r>
            <a:endParaRPr lang="zh-CN" altLang="en-US" sz="3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TextBox 32"/>
          <p:cNvSpPr txBox="1">
            <a:spLocks noChangeArrowheads="1"/>
          </p:cNvSpPr>
          <p:nvPr/>
        </p:nvSpPr>
        <p:spPr bwMode="auto">
          <a:xfrm>
            <a:off x="4854173" y="3996413"/>
            <a:ext cx="1477498" cy="1297274"/>
          </a:xfrm>
          <a:prstGeom prst="diamond">
            <a:avLst/>
          </a:prstGeom>
          <a:solidFill>
            <a:srgbClr val="43536A"/>
          </a:solidFill>
          <a:ln>
            <a:noFill/>
          </a:ln>
        </p:spPr>
        <p:txBody>
          <a:bodyPr wrap="none" lIns="128583" tIns="64291" rIns="128583" bIns="64291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02</a:t>
            </a:r>
            <a:endParaRPr lang="zh-CN" altLang="en-US" sz="3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6" name="直角三角形 25"/>
          <p:cNvSpPr/>
          <p:nvPr/>
        </p:nvSpPr>
        <p:spPr>
          <a:xfrm>
            <a:off x="1" y="1014235"/>
            <a:ext cx="6218757" cy="6218415"/>
          </a:xfrm>
          <a:prstGeom prst="rtTriangle">
            <a:avLst/>
          </a:prstGeom>
          <a:blipFill dpi="0" rotWithShape="1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061585" y="2248535"/>
            <a:ext cx="6920230" cy="1174611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b="1" dirty="0">
                <a:cs typeface="+mn-ea"/>
                <a:sym typeface="Arial" panose="020B0604020202020204" pitchFamily="34" charset="0"/>
              </a:rPr>
              <a:t>掌握Servlet过滤器类的创建和配置，Servlet监听器类的创建和配置</a:t>
            </a:r>
            <a:endParaRPr kumimoji="1" lang="zh-CN" altLang="en-US" sz="2400" b="1" dirty="0">
              <a:cs typeface="+mn-ea"/>
              <a:sym typeface="Arial" panose="020B0604020202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285230" y="4048760"/>
            <a:ext cx="6148070" cy="1174611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b="1" dirty="0">
                <a:cs typeface="+mn-ea"/>
                <a:sym typeface="Arial" panose="020B0604020202020204" pitchFamily="34" charset="0"/>
              </a:rPr>
              <a:t>理解Servlet过滤器的原理和用途，Servlet监听器的原理和用途</a:t>
            </a:r>
            <a:endParaRPr kumimoji="1" lang="zh-CN" altLang="en-US" sz="2400" b="1" dirty="0">
              <a:cs typeface="+mn-ea"/>
              <a:sym typeface="Arial" panose="020B0604020202020204" pitchFamily="34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049959" y="147317"/>
            <a:ext cx="2237740" cy="728345"/>
          </a:xfrm>
          <a:prstGeom prst="rect">
            <a:avLst/>
          </a:prstGeom>
          <a:noFill/>
        </p:spPr>
        <p:txBody>
          <a:bodyPr wrap="none" lIns="128583" tIns="64291" rIns="128583" bIns="64291" rtlCol="0">
            <a:spAutoFit/>
          </a:bodyPr>
          <a:lstStyle/>
          <a:p>
            <a:pPr algn="ctr"/>
            <a:r>
              <a:rPr kumimoji="1" lang="en-US" altLang="zh-CN" sz="3900" dirty="0">
                <a:solidFill>
                  <a:schemeClr val="bg1"/>
                </a:solidFill>
                <a:cs typeface="+mn-ea"/>
                <a:sym typeface="+mn-lt"/>
              </a:rPr>
              <a:t>能力目标</a:t>
            </a:r>
            <a:endParaRPr kumimoji="1" lang="en-US" altLang="zh-CN" sz="39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 tmFilter="0,0; .5, 1; 1, 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bldLvl="0" animBg="1"/>
      <p:bldP spid="12" grpId="0" bldLvl="0" animBg="1"/>
      <p:bldP spid="26" grpId="0" animBg="1"/>
      <p:bldP spid="27" grpId="0"/>
      <p:bldP spid="29" grpId="0"/>
      <p:bldP spid="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8"/>
          <p:cNvSpPr/>
          <p:nvPr/>
        </p:nvSpPr>
        <p:spPr>
          <a:xfrm>
            <a:off x="-12756" y="0"/>
            <a:ext cx="7266302" cy="7265903"/>
          </a:xfrm>
          <a:custGeom>
            <a:avLst/>
            <a:gdLst>
              <a:gd name="connsiteX0" fmla="*/ 0 w 5896303"/>
              <a:gd name="connsiteY0" fmla="*/ 0 h 5896303"/>
              <a:gd name="connsiteX1" fmla="*/ 5896303 w 5896303"/>
              <a:gd name="connsiteY1" fmla="*/ 5896303 h 5896303"/>
              <a:gd name="connsiteX2" fmla="*/ 5579364 w 5896303"/>
              <a:gd name="connsiteY2" fmla="*/ 5896303 h 5896303"/>
              <a:gd name="connsiteX3" fmla="*/ 0 w 5896303"/>
              <a:gd name="connsiteY3" fmla="*/ 316939 h 5896303"/>
              <a:gd name="connsiteX4" fmla="*/ 0 w 5896303"/>
              <a:gd name="connsiteY4" fmla="*/ 0 h 5896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96303" h="5896303">
                <a:moveTo>
                  <a:pt x="0" y="0"/>
                </a:moveTo>
                <a:lnTo>
                  <a:pt x="5896303" y="5896303"/>
                </a:lnTo>
                <a:lnTo>
                  <a:pt x="5579364" y="5896303"/>
                </a:lnTo>
                <a:lnTo>
                  <a:pt x="0" y="316939"/>
                </a:lnTo>
                <a:lnTo>
                  <a:pt x="0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3" name="等腰三角形 5"/>
          <p:cNvSpPr/>
          <p:nvPr/>
        </p:nvSpPr>
        <p:spPr>
          <a:xfrm flipV="1">
            <a:off x="1072486" y="448922"/>
            <a:ext cx="4158592" cy="2029130"/>
          </a:xfrm>
          <a:prstGeom prst="triangle">
            <a:avLst/>
          </a:prstGeom>
          <a:noFill/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4" name="等腰三角形 4"/>
          <p:cNvSpPr/>
          <p:nvPr/>
        </p:nvSpPr>
        <p:spPr>
          <a:xfrm flipV="1">
            <a:off x="1072486" y="-1"/>
            <a:ext cx="4158592" cy="2029130"/>
          </a:xfrm>
          <a:prstGeom prst="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7" name="TextBox 32"/>
          <p:cNvSpPr txBox="1">
            <a:spLocks noChangeArrowheads="1"/>
          </p:cNvSpPr>
          <p:nvPr/>
        </p:nvSpPr>
        <p:spPr bwMode="auto">
          <a:xfrm>
            <a:off x="3667936" y="1993039"/>
            <a:ext cx="1477498" cy="1297274"/>
          </a:xfrm>
          <a:prstGeom prst="diamon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none" lIns="128583" tIns="64291" rIns="128583" bIns="64291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01</a:t>
            </a:r>
            <a:endParaRPr lang="zh-CN" altLang="en-US" sz="3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TextBox 32"/>
          <p:cNvSpPr txBox="1">
            <a:spLocks noChangeArrowheads="1"/>
          </p:cNvSpPr>
          <p:nvPr/>
        </p:nvSpPr>
        <p:spPr bwMode="auto">
          <a:xfrm>
            <a:off x="4787498" y="3238223"/>
            <a:ext cx="1477498" cy="1297274"/>
          </a:xfrm>
          <a:prstGeom prst="diamond">
            <a:avLst/>
          </a:prstGeom>
          <a:solidFill>
            <a:srgbClr val="43536A"/>
          </a:solidFill>
          <a:ln>
            <a:noFill/>
          </a:ln>
        </p:spPr>
        <p:txBody>
          <a:bodyPr wrap="none" lIns="128583" tIns="64291" rIns="128583" bIns="64291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02</a:t>
            </a:r>
            <a:endParaRPr lang="zh-CN" altLang="en-US" sz="3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TextBox 32"/>
          <p:cNvSpPr txBox="1">
            <a:spLocks noChangeArrowheads="1"/>
          </p:cNvSpPr>
          <p:nvPr/>
        </p:nvSpPr>
        <p:spPr bwMode="auto">
          <a:xfrm>
            <a:off x="5981355" y="4702480"/>
            <a:ext cx="1477498" cy="1297274"/>
          </a:xfrm>
          <a:prstGeom prst="diamon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none" lIns="128583" tIns="64291" rIns="128583" bIns="64291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03</a:t>
            </a:r>
            <a:endParaRPr lang="zh-CN" altLang="en-US" sz="3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6" name="直角三角形 25"/>
          <p:cNvSpPr/>
          <p:nvPr/>
        </p:nvSpPr>
        <p:spPr>
          <a:xfrm>
            <a:off x="1" y="1014235"/>
            <a:ext cx="6218757" cy="6218415"/>
          </a:xfrm>
          <a:prstGeom prst="rtTriangle">
            <a:avLst/>
          </a:prstGeom>
          <a:blipFill dpi="0" rotWithShape="1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085715" y="1975485"/>
            <a:ext cx="6123305" cy="537513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400" b="1" dirty="0">
                <a:cs typeface="+mn-ea"/>
                <a:sym typeface="Arial" panose="020B0604020202020204" pitchFamily="34" charset="0"/>
              </a:rPr>
              <a:t>提升安全防范意识，确保软件产品的安全性</a:t>
            </a:r>
            <a:endParaRPr kumimoji="1" lang="zh-CN" altLang="en-US" sz="2400" b="1" dirty="0">
              <a:cs typeface="+mn-ea"/>
              <a:sym typeface="Arial" panose="020B0604020202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218555" y="3290570"/>
            <a:ext cx="5095875" cy="497205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r>
              <a:rPr kumimoji="1" lang="zh-CN" altLang="en-US" sz="2400" b="1" dirty="0">
                <a:cs typeface="+mn-ea"/>
                <a:sym typeface="Arial" panose="020B0604020202020204" pitchFamily="34" charset="0"/>
              </a:rPr>
              <a:t>培养职业道德与敬业精神</a:t>
            </a:r>
            <a:endParaRPr kumimoji="1" lang="zh-CN" altLang="en-US" sz="2400" b="1" dirty="0">
              <a:cs typeface="+mn-ea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365091" y="4768874"/>
            <a:ext cx="4706859" cy="497205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r>
              <a:rPr kumimoji="1" lang="zh-CN" altLang="en-US" sz="2400" b="1" dirty="0">
                <a:cs typeface="+mn-ea"/>
                <a:sym typeface="+mn-lt"/>
              </a:rPr>
              <a:t>培养代码调试分析能力</a:t>
            </a:r>
            <a:endParaRPr kumimoji="1" lang="zh-CN" altLang="en-US" sz="2400" b="1" dirty="0">
              <a:cs typeface="+mn-ea"/>
              <a:sym typeface="+mn-lt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049959" y="147317"/>
            <a:ext cx="2237740" cy="728345"/>
          </a:xfrm>
          <a:prstGeom prst="rect">
            <a:avLst/>
          </a:prstGeom>
          <a:noFill/>
        </p:spPr>
        <p:txBody>
          <a:bodyPr wrap="none" lIns="128583" tIns="64291" rIns="128583" bIns="64291" rtlCol="0">
            <a:spAutoFit/>
          </a:bodyPr>
          <a:lstStyle/>
          <a:p>
            <a:pPr algn="ctr"/>
            <a:r>
              <a:rPr kumimoji="1" lang="en-US" altLang="zh-CN" sz="3900" dirty="0">
                <a:solidFill>
                  <a:schemeClr val="bg1"/>
                </a:solidFill>
                <a:cs typeface="+mn-ea"/>
                <a:sym typeface="+mn-lt"/>
              </a:rPr>
              <a:t>素质目标</a:t>
            </a:r>
            <a:endParaRPr kumimoji="1" lang="en-US" altLang="zh-CN" sz="39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 tmFilter="0,0; .5, 1; 1, 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 tmFilter="0,0; .5, 1; 1, 1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4" grpId="0" bldLvl="0" animBg="1"/>
      <p:bldP spid="7" grpId="0" bldLvl="0" animBg="1"/>
      <p:bldP spid="12" grpId="0" bldLvl="0" animBg="1"/>
      <p:bldP spid="17" grpId="0" bldLvl="0" animBg="1"/>
      <p:bldP spid="26" grpId="0" bldLvl="0" animBg="1"/>
      <p:bldP spid="27" grpId="0"/>
      <p:bldP spid="29" grpId="0"/>
      <p:bldP spid="33" grpId="0"/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角三角形 10"/>
          <p:cNvSpPr/>
          <p:nvPr/>
        </p:nvSpPr>
        <p:spPr>
          <a:xfrm rot="8100000">
            <a:off x="1283635" y="4133852"/>
            <a:ext cx="6197937" cy="6197597"/>
          </a:xfrm>
          <a:prstGeom prst="rtTriangle">
            <a:avLst/>
          </a:prstGeom>
          <a:blipFill dpi="0" rotWithShape="0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" name="直角三角形 6"/>
          <p:cNvSpPr/>
          <p:nvPr/>
        </p:nvSpPr>
        <p:spPr>
          <a:xfrm rot="13500000" flipV="1">
            <a:off x="2701051" y="-3658558"/>
            <a:ext cx="7316717" cy="7317118"/>
          </a:xfrm>
          <a:prstGeom prst="rtTriangle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" name="直角三角形 2"/>
          <p:cNvSpPr/>
          <p:nvPr/>
        </p:nvSpPr>
        <p:spPr>
          <a:xfrm rot="8100000">
            <a:off x="6909309" y="4826403"/>
            <a:ext cx="4812758" cy="4812494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9" name="TextBox 76"/>
          <p:cNvSpPr txBox="1"/>
          <p:nvPr/>
        </p:nvSpPr>
        <p:spPr>
          <a:xfrm>
            <a:off x="3934414" y="1672109"/>
            <a:ext cx="4972058" cy="868501"/>
          </a:xfrm>
          <a:prstGeom prst="rect">
            <a:avLst/>
          </a:prstGeom>
          <a:noFill/>
        </p:spPr>
        <p:txBody>
          <a:bodyPr wrap="none" lIns="128583" tIns="64291" rIns="128583" bIns="64291" rtlCol="0">
            <a:spAutoFit/>
          </a:bodyPr>
          <a:lstStyle/>
          <a:p>
            <a:pPr algn="ctr"/>
            <a:r>
              <a:rPr kumimoji="1" lang="en-US" altLang="zh-CN" sz="4800" b="1" smtClean="0">
                <a:solidFill>
                  <a:srgbClr val="43536A"/>
                </a:solidFill>
                <a:cs typeface="+mn-ea"/>
              </a:rPr>
              <a:t>7.1  Servlet</a:t>
            </a:r>
            <a:r>
              <a:rPr kumimoji="1" lang="zh-CN" altLang="en-US" sz="4800" b="1" smtClean="0">
                <a:solidFill>
                  <a:srgbClr val="43536A"/>
                </a:solidFill>
                <a:cs typeface="+mn-ea"/>
              </a:rPr>
              <a:t>过滤器</a:t>
            </a:r>
            <a:endParaRPr kumimoji="1" lang="zh-CN" altLang="en-US" sz="4800" b="1" dirty="0">
              <a:solidFill>
                <a:srgbClr val="43536A"/>
              </a:solidFill>
              <a:cs typeface="+mn-ea"/>
              <a:sym typeface="+mn-lt"/>
            </a:endParaRPr>
          </a:p>
        </p:txBody>
      </p:sp>
      <p:sp>
        <p:nvSpPr>
          <p:cNvPr id="10" name="直角三角形 9"/>
          <p:cNvSpPr/>
          <p:nvPr/>
        </p:nvSpPr>
        <p:spPr>
          <a:xfrm rot="13500000" flipV="1">
            <a:off x="1037730" y="-1245854"/>
            <a:ext cx="2491570" cy="2491706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spd="med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 animBg="1"/>
      <p:bldP spid="3" grpId="0" animBg="1"/>
      <p:bldP spid="9" grpId="0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62184" y="606069"/>
            <a:ext cx="11264801" cy="656296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第七章   </a:t>
            </a:r>
            <a:r>
              <a:rPr lang="en-US" altLang="zh-CN" smtClean="0">
                <a:ea typeface="宋体" panose="02010600030101010101" pitchFamily="2" charset="-122"/>
              </a:rPr>
              <a:t>Servlet</a:t>
            </a:r>
            <a:r>
              <a:rPr lang="zh-CN" altLang="en-US" smtClean="0">
                <a:ea typeface="宋体" panose="02010600030101010101" pitchFamily="2" charset="-122"/>
              </a:rPr>
              <a:t>进阶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00788" y="2104157"/>
            <a:ext cx="2436799" cy="900204"/>
          </a:xfrm>
          <a:prstGeom prst="rect">
            <a:avLst/>
          </a:prstGeom>
        </p:spPr>
        <p:txBody>
          <a:bodyPr wrap="none" lIns="91397" tIns="45699" rIns="91397" bIns="45699">
            <a:spAutoFit/>
          </a:bodyPr>
          <a:lstStyle/>
          <a:p>
            <a:pPr marL="573405" indent="-573405">
              <a:lnSpc>
                <a:spcPct val="150000"/>
              </a:lnSpc>
              <a:spcBef>
                <a:spcPct val="20000"/>
              </a:spcBef>
              <a:buClr>
                <a:srgbClr val="333399"/>
              </a:buClr>
            </a:pPr>
            <a:r>
              <a:rPr lang="zh-CN" altLang="en-US" sz="3500" b="1" kern="0" dirty="0">
                <a:solidFill>
                  <a:srgbClr val="000000"/>
                </a:solidFill>
                <a:latin typeface="Arial" panose="020B0604020202020204"/>
                <a:ea typeface="楷体_GB2312" pitchFamily="1" charset="-122"/>
              </a:rPr>
              <a:t>本课任务：</a:t>
            </a:r>
            <a:endParaRPr lang="zh-CN" altLang="en-US" sz="3500" b="1" kern="0" dirty="0">
              <a:solidFill>
                <a:srgbClr val="000000"/>
              </a:solidFill>
              <a:latin typeface="Arial" panose="020B0604020202020204"/>
              <a:ea typeface="楷体_GB2312" pitchFamily="1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537674" y="2330723"/>
            <a:ext cx="8353425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34" tIns="57368" rIns="114734" bIns="57368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815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5100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85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254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658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3062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46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87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pPr marL="457200" indent="-457200">
              <a:lnSpc>
                <a:spcPts val="4000"/>
              </a:lnSpc>
            </a:pPr>
            <a:r>
              <a:rPr lang="en-US" altLang="zh-CN" sz="2600" dirty="0" smtClean="0">
                <a:ea typeface="宋体" panose="02010600030101010101" pitchFamily="2" charset="-122"/>
              </a:rPr>
              <a:t>Servlet</a:t>
            </a:r>
            <a:r>
              <a:rPr lang="zh-CN" altLang="en-US" sz="2600" dirty="0" smtClean="0">
                <a:ea typeface="宋体" panose="02010600030101010101" pitchFamily="2" charset="-122"/>
              </a:rPr>
              <a:t>过滤器</a:t>
            </a:r>
            <a:endParaRPr lang="zh-CN" altLang="en-US" sz="2600" dirty="0">
              <a:ea typeface="宋体" panose="02010600030101010101" pitchFamily="2" charset="-122"/>
              <a:hlinkClick r:id="" action="ppaction://noaction"/>
            </a:endParaRPr>
          </a:p>
          <a:p>
            <a:pPr marL="1074420" lvl="1" indent="-533400">
              <a:lnSpc>
                <a:spcPts val="4000"/>
              </a:lnSpc>
            </a:pPr>
            <a:r>
              <a:rPr lang="en-US" altLang="zh-CN" sz="2400" dirty="0" smtClean="0"/>
              <a:t>Servlet</a:t>
            </a:r>
            <a:r>
              <a:rPr lang="zh-CN" altLang="en-US" sz="2400" dirty="0" smtClean="0"/>
              <a:t>过滤器的原理及用途</a:t>
            </a:r>
            <a:endParaRPr lang="zh-CN" altLang="en-US" sz="2400" dirty="0"/>
          </a:p>
          <a:p>
            <a:pPr marL="1074420" lvl="1" indent="-533400">
              <a:lnSpc>
                <a:spcPts val="4000"/>
              </a:lnSpc>
            </a:pPr>
            <a:r>
              <a:rPr lang="en-US" altLang="zh-CN" sz="2400" dirty="0" smtClean="0"/>
              <a:t>Servlet</a:t>
            </a:r>
            <a:r>
              <a:rPr lang="zh-CN" altLang="en-US" sz="2400" dirty="0" smtClean="0"/>
              <a:t>过滤器的结构</a:t>
            </a:r>
            <a:endParaRPr lang="zh-CN" altLang="en-US" sz="2400" dirty="0"/>
          </a:p>
          <a:p>
            <a:pPr marL="1074420" lvl="1" indent="-533400">
              <a:lnSpc>
                <a:spcPts val="4000"/>
              </a:lnSpc>
            </a:pPr>
            <a:r>
              <a:rPr lang="zh-CN" altLang="en-US" sz="2400" dirty="0"/>
              <a:t>创建和使用</a:t>
            </a:r>
            <a:r>
              <a:rPr lang="en-US" altLang="zh-CN" sz="2400" dirty="0"/>
              <a:t>Servlet</a:t>
            </a:r>
            <a:r>
              <a:rPr lang="zh-CN" altLang="en-US" sz="2400" dirty="0"/>
              <a:t>过滤器</a:t>
            </a:r>
            <a:endParaRPr lang="en-US" sz="2400" dirty="0">
              <a:hlinkClick r:id="" action="ppaction://noactio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62184" y="606069"/>
            <a:ext cx="11264801" cy="656296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7.1 Servlet</a:t>
            </a:r>
            <a:r>
              <a:rPr lang="zh-CN" altLang="en-US">
                <a:ea typeface="宋体" panose="02010600030101010101" pitchFamily="2" charset="-122"/>
              </a:rPr>
              <a:t>过滤器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2696" y="1744117"/>
            <a:ext cx="12280552" cy="3026998"/>
          </a:xfrm>
        </p:spPr>
        <p:txBody>
          <a:bodyPr/>
          <a:lstStyle/>
          <a:p>
            <a:pPr marL="573405" indent="-573405">
              <a:lnSpc>
                <a:spcPct val="150000"/>
              </a:lnSpc>
              <a:buNone/>
            </a:pPr>
            <a:r>
              <a:rPr lang="zh-CN" altLang="en-US" b="1" dirty="0">
                <a:ea typeface="楷体_GB2312" pitchFamily="1" charset="-122"/>
              </a:rPr>
              <a:t>教学要求</a:t>
            </a:r>
            <a:endParaRPr lang="zh-CN" altLang="en-US" b="1" dirty="0">
              <a:ea typeface="楷体_GB2312" pitchFamily="1" charset="-122"/>
            </a:endParaRPr>
          </a:p>
          <a:p>
            <a:pPr marL="457200" indent="-457200">
              <a:lnSpc>
                <a:spcPct val="200000"/>
              </a:lnSpc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ea typeface="宋体" panose="02010600030101010101" pitchFamily="2" charset="-122"/>
              </a:rPr>
              <a:t>．</a:t>
            </a:r>
            <a:r>
              <a:rPr lang="zh-CN" altLang="en-US" sz="2400">
                <a:ea typeface="宋体" panose="02010600030101010101" pitchFamily="2" charset="-122"/>
              </a:rPr>
              <a:t>掌握</a:t>
            </a:r>
            <a:r>
              <a:rPr lang="zh-CN" altLang="en-US" sz="2400" smtClean="0">
                <a:ea typeface="宋体" panose="02010600030101010101" pitchFamily="2" charset="-122"/>
              </a:rPr>
              <a:t>：</a:t>
            </a:r>
            <a:r>
              <a:rPr lang="en-US" altLang="zh-CN" sz="2400" smtClean="0">
                <a:ea typeface="宋体" panose="02010600030101010101" pitchFamily="2" charset="-122"/>
              </a:rPr>
              <a:t>Servlet</a:t>
            </a:r>
            <a:r>
              <a:rPr lang="zh-CN" altLang="en-US" sz="2400" smtClean="0">
                <a:ea typeface="宋体" panose="02010600030101010101" pitchFamily="2" charset="-122"/>
              </a:rPr>
              <a:t>过滤器的创建和配置</a:t>
            </a:r>
            <a:endParaRPr lang="zh-CN" altLang="en-US" sz="2400" dirty="0">
              <a:ea typeface="宋体" panose="02010600030101010101" pitchFamily="2" charset="-122"/>
            </a:endParaRPr>
          </a:p>
          <a:p>
            <a:pPr marL="457200" indent="-457200">
              <a:lnSpc>
                <a:spcPct val="200000"/>
              </a:lnSpc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ea typeface="宋体" panose="02010600030101010101" pitchFamily="2" charset="-122"/>
              </a:rPr>
              <a:t>．</a:t>
            </a:r>
            <a:r>
              <a:rPr lang="zh-CN" altLang="en-US" sz="2400">
                <a:ea typeface="宋体" panose="02010600030101010101" pitchFamily="2" charset="-122"/>
              </a:rPr>
              <a:t>理解</a:t>
            </a:r>
            <a:r>
              <a:rPr lang="zh-CN" altLang="en-US" sz="2400" smtClean="0">
                <a:ea typeface="宋体" panose="02010600030101010101" pitchFamily="2" charset="-122"/>
              </a:rPr>
              <a:t>：</a:t>
            </a:r>
            <a:r>
              <a:rPr lang="en-US" altLang="zh-CN" sz="2400">
                <a:ea typeface="宋体" panose="02010600030101010101" pitchFamily="2" charset="-122"/>
              </a:rPr>
              <a:t> Servlet</a:t>
            </a:r>
            <a:r>
              <a:rPr lang="zh-CN" altLang="en-US" sz="2400" smtClean="0">
                <a:ea typeface="宋体" panose="02010600030101010101" pitchFamily="2" charset="-122"/>
              </a:rPr>
              <a:t>过滤器的原理和用途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8" y="654622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授课任务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483" y="1634047"/>
            <a:ext cx="11269266" cy="532403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7.1.1 Servlet</a:t>
            </a:r>
            <a:r>
              <a:rPr lang="zh-CN" altLang="en-US">
                <a:ea typeface="宋体" panose="02010600030101010101" pitchFamily="2" charset="-122"/>
              </a:rPr>
              <a:t>过滤器的原理及</a:t>
            </a:r>
            <a:r>
              <a:rPr lang="zh-CN" altLang="en-US" smtClean="0">
                <a:ea typeface="宋体" panose="02010600030101010101" pitchFamily="2" charset="-122"/>
              </a:rPr>
              <a:t>用途 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55650" y="2269653"/>
            <a:ext cx="11218341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200"/>
              <a:t>  Servlet</a:t>
            </a:r>
            <a:r>
              <a:rPr lang="zh-CN" altLang="en-US" sz="2200"/>
              <a:t>过滤器能够对</a:t>
            </a:r>
            <a:r>
              <a:rPr lang="en-US" altLang="zh-CN" sz="2200"/>
              <a:t>Servlet</a:t>
            </a:r>
            <a:r>
              <a:rPr lang="zh-CN" altLang="en-US" sz="2200"/>
              <a:t>容器的请求和响应对象进行检查和修改。</a:t>
            </a:r>
            <a:endParaRPr lang="en-US" altLang="zh-CN" sz="2200"/>
          </a:p>
          <a:p>
            <a:pPr eaLnBrk="1" hangingPunct="1">
              <a:lnSpc>
                <a:spcPct val="200000"/>
              </a:lnSpc>
            </a:pPr>
            <a:r>
              <a:rPr lang="zh-CN" altLang="en-US" sz="2200"/>
              <a:t>过滤器本身并不产生请求和响应对象，它只是提供过滤功能</a:t>
            </a:r>
            <a:r>
              <a:rPr lang="zh-CN" altLang="en-US" sz="2200" smtClean="0"/>
              <a:t>。</a:t>
            </a:r>
            <a:endParaRPr lang="en-US" altLang="zh-CN" sz="2200" smtClean="0"/>
          </a:p>
          <a:p>
            <a:pPr eaLnBrk="1" hangingPunct="1">
              <a:lnSpc>
                <a:spcPct val="200000"/>
              </a:lnSpc>
            </a:pPr>
            <a:endParaRPr lang="en-US" altLang="zh-CN" sz="2200"/>
          </a:p>
          <a:p>
            <a:pPr eaLnBrk="1" hangingPunct="1">
              <a:lnSpc>
                <a:spcPct val="20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2200"/>
              <a:t>  过滤器原理如图所示：</a:t>
            </a:r>
            <a:endParaRPr lang="en-US" altLang="zh-CN" sz="2200"/>
          </a:p>
          <a:p>
            <a:pPr eaLnBrk="1" hangingPunct="1">
              <a:lnSpc>
                <a:spcPct val="200000"/>
              </a:lnSpc>
            </a:pPr>
            <a:endParaRPr lang="en-US" altLang="zh-CN" sz="2200"/>
          </a:p>
          <a:p>
            <a:pPr eaLnBrk="1" hangingPunct="1">
              <a:lnSpc>
                <a:spcPct val="200000"/>
              </a:lnSpc>
            </a:pPr>
            <a:endParaRPr lang="zh-CN" altLang="en-US" sz="2200"/>
          </a:p>
        </p:txBody>
      </p:sp>
      <p:pic>
        <p:nvPicPr>
          <p:cNvPr id="7" name="Picture 2" descr="7-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9175" y="4120381"/>
            <a:ext cx="4319587" cy="238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8" y="654622"/>
            <a:ext cx="11264801" cy="656296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Servlet</a:t>
            </a:r>
            <a:r>
              <a:rPr lang="zh-CN" altLang="en-US">
                <a:ea typeface="宋体" panose="02010600030101010101" pitchFamily="2" charset="-122"/>
              </a:rPr>
              <a:t>过滤器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483" y="1634047"/>
            <a:ext cx="11269266" cy="532403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7.1.1 Servlet</a:t>
            </a:r>
            <a:r>
              <a:rPr lang="zh-CN" altLang="en-US">
                <a:ea typeface="宋体" panose="02010600030101010101" pitchFamily="2" charset="-122"/>
              </a:rPr>
              <a:t>过滤器的原理及用途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55650" y="2351390"/>
            <a:ext cx="11218341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/>
              <a:t>  过滤器用途：当我们构建自己的</a:t>
            </a:r>
            <a:r>
              <a:rPr lang="en-US" altLang="zh-CN"/>
              <a:t>Web</a:t>
            </a:r>
            <a:r>
              <a:rPr lang="zh-CN" altLang="en-US"/>
              <a:t>应用时，有时候需要在用户请求</a:t>
            </a:r>
            <a:r>
              <a:rPr lang="zh-CN" altLang="en-US" smtClean="0"/>
              <a:t>服务器的</a:t>
            </a:r>
            <a:r>
              <a:rPr lang="zh-CN" altLang="en-US"/>
              <a:t>资源之前，做一些有针对性的操作，比如说对客户进行访问控制，对传输</a:t>
            </a:r>
            <a:r>
              <a:rPr lang="zh-CN" altLang="en-US" smtClean="0"/>
              <a:t>的数据</a:t>
            </a:r>
            <a:r>
              <a:rPr lang="zh-CN" altLang="en-US"/>
              <a:t>进行统一编码转换，过滤不雅文字等，此时就可以使用过滤器实现</a:t>
            </a:r>
            <a:r>
              <a:rPr lang="zh-CN" altLang="en-US" smtClean="0"/>
              <a:t>。</a:t>
            </a:r>
            <a:endParaRPr lang="en-US" altLang="zh-CN" smtClean="0"/>
          </a:p>
          <a:p>
            <a:pPr eaLnBrk="1" hangingPunct="1">
              <a:lnSpc>
                <a:spcPct val="20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</a:pPr>
            <a:endParaRPr lang="en-US" altLang="zh-CN"/>
          </a:p>
          <a:p>
            <a:pPr eaLnBrk="1" hangingPunct="1">
              <a:lnSpc>
                <a:spcPct val="20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/>
              <a:t>  例如</a:t>
            </a:r>
            <a:r>
              <a:rPr lang="zh-CN" altLang="en-US" smtClean="0"/>
              <a:t>，希望</a:t>
            </a:r>
            <a:r>
              <a:rPr lang="en-US" altLang="zh-CN"/>
              <a:t>Web</a:t>
            </a:r>
            <a:r>
              <a:rPr lang="zh-CN" altLang="en-US"/>
              <a:t>应用能针对特定的</a:t>
            </a:r>
            <a:r>
              <a:rPr lang="en-US" altLang="zh-CN"/>
              <a:t>IP</a:t>
            </a:r>
            <a:r>
              <a:rPr lang="zh-CN" altLang="en-US"/>
              <a:t>进行访问控制，如图所示，就可</a:t>
            </a:r>
            <a:r>
              <a:rPr lang="zh-CN" altLang="en-US" smtClean="0"/>
              <a:t>使用</a:t>
            </a:r>
            <a:r>
              <a:rPr lang="zh-CN" altLang="en-US"/>
              <a:t>过滤器实现。</a:t>
            </a:r>
            <a:endParaRPr lang="zh-CN" altLang="en-US"/>
          </a:p>
          <a:p>
            <a:pPr eaLnBrk="1" hangingPunct="1">
              <a:lnSpc>
                <a:spcPct val="20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</a:pPr>
            <a:endParaRPr lang="en-US" altLang="zh-CN"/>
          </a:p>
          <a:p>
            <a:pPr eaLnBrk="1" hangingPunct="1">
              <a:lnSpc>
                <a:spcPct val="200000"/>
              </a:lnSpc>
            </a:pPr>
            <a:endParaRPr lang="en-US" altLang="zh-CN"/>
          </a:p>
          <a:p>
            <a:pPr eaLnBrk="1" hangingPunct="1">
              <a:lnSpc>
                <a:spcPct val="200000"/>
              </a:lnSpc>
            </a:pPr>
            <a:endParaRPr lang="zh-CN" altLang="en-US"/>
          </a:p>
        </p:txBody>
      </p:sp>
      <p:pic>
        <p:nvPicPr>
          <p:cNvPr id="7" name="Picture 2" descr="7-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9095" y="5372100"/>
            <a:ext cx="378142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8" y="654622"/>
            <a:ext cx="11264801" cy="656296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Servlet</a:t>
            </a:r>
            <a:r>
              <a:rPr lang="zh-CN" altLang="en-US">
                <a:ea typeface="宋体" panose="02010600030101010101" pitchFamily="2" charset="-122"/>
              </a:rPr>
              <a:t>过滤器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483" y="1634047"/>
            <a:ext cx="11269266" cy="532403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7.1.1 Servlet</a:t>
            </a:r>
            <a:r>
              <a:rPr lang="zh-CN" altLang="en-US">
                <a:ea typeface="宋体" panose="02010600030101010101" pitchFamily="2" charset="-122"/>
              </a:rPr>
              <a:t>过滤器的原理及用途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755650" y="2343771"/>
            <a:ext cx="11290349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200"/>
              <a:t> Servlet</a:t>
            </a:r>
            <a:r>
              <a:rPr lang="zh-CN" altLang="en-US" sz="2200"/>
              <a:t>过滤器具备如下的特征：</a:t>
            </a:r>
            <a:endParaRPr lang="en-US" altLang="zh-CN" sz="2200"/>
          </a:p>
          <a:p>
            <a:pPr lvl="1" eaLnBrk="1" hangingPunct="1">
              <a:lnSpc>
                <a:spcPct val="200000"/>
              </a:lnSpc>
              <a:buSzPct val="60000"/>
            </a:pPr>
            <a:r>
              <a:rPr lang="en-US" altLang="zh-CN" sz="2200"/>
              <a:t>1. Servlet</a:t>
            </a:r>
            <a:r>
              <a:rPr lang="zh-CN" altLang="en-US" sz="2200"/>
              <a:t>过滤器与指定的目标资源</a:t>
            </a:r>
            <a:r>
              <a:rPr lang="en-US" altLang="zh-CN" sz="2200"/>
              <a:t>URL</a:t>
            </a:r>
            <a:r>
              <a:rPr lang="zh-CN" altLang="en-US" sz="2200"/>
              <a:t>相关联，当客户端请求访问此</a:t>
            </a:r>
            <a:r>
              <a:rPr lang="en-US" altLang="zh-CN" sz="2200"/>
              <a:t>URL</a:t>
            </a:r>
            <a:r>
              <a:rPr lang="zh-CN" altLang="en-US" sz="2200" smtClean="0"/>
              <a:t>时，才</a:t>
            </a:r>
            <a:r>
              <a:rPr lang="zh-CN" altLang="en-US" sz="2200"/>
              <a:t>会触发过滤器工作。</a:t>
            </a:r>
            <a:endParaRPr lang="zh-CN" altLang="en-US" sz="2200"/>
          </a:p>
          <a:p>
            <a:pPr lvl="1" eaLnBrk="1" hangingPunct="1">
              <a:lnSpc>
                <a:spcPct val="200000"/>
              </a:lnSpc>
            </a:pPr>
            <a:r>
              <a:rPr lang="en-US" altLang="zh-CN" sz="2200"/>
              <a:t>2. Servlet</a:t>
            </a:r>
            <a:r>
              <a:rPr lang="zh-CN" altLang="en-US" sz="2200"/>
              <a:t>过滤器可以对请求和响应对象进行检查和修改。</a:t>
            </a:r>
            <a:endParaRPr lang="zh-CN" altLang="en-US" sz="2200"/>
          </a:p>
          <a:p>
            <a:pPr eaLnBrk="1" hangingPunct="1">
              <a:lnSpc>
                <a:spcPct val="200000"/>
              </a:lnSpc>
            </a:pPr>
            <a:r>
              <a:rPr lang="en-US" altLang="zh-CN" sz="2200"/>
              <a:t>      </a:t>
            </a:r>
            <a:r>
              <a:rPr lang="en-US" altLang="zh-CN" sz="2200" smtClean="0"/>
              <a:t>3</a:t>
            </a:r>
            <a:r>
              <a:rPr lang="en-US" altLang="zh-CN" sz="2200"/>
              <a:t>. </a:t>
            </a:r>
            <a:r>
              <a:rPr lang="zh-CN" altLang="en-US" sz="2200"/>
              <a:t>如果有需要，可以为某个</a:t>
            </a:r>
            <a:r>
              <a:rPr lang="en-US" altLang="zh-CN" sz="2200"/>
              <a:t>URL</a:t>
            </a:r>
            <a:r>
              <a:rPr lang="zh-CN" altLang="en-US" sz="2200"/>
              <a:t>部署多个过滤器，组成一个过滤链来执行</a:t>
            </a:r>
            <a:r>
              <a:rPr lang="zh-CN" altLang="en-US" sz="2200" smtClean="0"/>
              <a:t>多种</a:t>
            </a:r>
            <a:r>
              <a:rPr lang="zh-CN" altLang="en-US" sz="2200"/>
              <a:t>检查或操作。</a:t>
            </a:r>
            <a:endParaRPr lang="zh-CN" altLang="en-US" sz="2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8" y="654622"/>
            <a:ext cx="11264801" cy="656296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Servlet</a:t>
            </a:r>
            <a:r>
              <a:rPr lang="zh-CN" altLang="en-US">
                <a:ea typeface="宋体" panose="02010600030101010101" pitchFamily="2" charset="-122"/>
              </a:rPr>
              <a:t>过滤器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483" y="1634047"/>
            <a:ext cx="11269266" cy="532403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7.1.2 Servlet</a:t>
            </a:r>
            <a:r>
              <a:rPr lang="zh-CN" altLang="en-US" smtClean="0">
                <a:ea typeface="宋体" panose="02010600030101010101" pitchFamily="2" charset="-122"/>
              </a:rPr>
              <a:t>过滤器</a:t>
            </a:r>
            <a:r>
              <a:rPr lang="zh-CN" altLang="en-US">
                <a:ea typeface="宋体" panose="02010600030101010101" pitchFamily="2" charset="-122"/>
              </a:rPr>
              <a:t>的</a:t>
            </a:r>
            <a:r>
              <a:rPr lang="zh-CN" altLang="en-US" smtClean="0">
                <a:ea typeface="宋体" panose="02010600030101010101" pitchFamily="2" charset="-122"/>
              </a:rPr>
              <a:t>结构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684213" y="2337886"/>
            <a:ext cx="11505802" cy="4662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200"/>
              <a:t>Servlet</a:t>
            </a:r>
            <a:r>
              <a:rPr lang="zh-CN" altLang="en-US" sz="2200"/>
              <a:t>过滤器是一个实现了</a:t>
            </a:r>
            <a:r>
              <a:rPr lang="en-US" altLang="zh-CN" sz="2200"/>
              <a:t>javax.servlet.Filter</a:t>
            </a:r>
            <a:r>
              <a:rPr lang="zh-CN" altLang="en-US" sz="2200"/>
              <a:t>接口的</a:t>
            </a:r>
            <a:r>
              <a:rPr lang="en-US" altLang="zh-CN" sz="2200"/>
              <a:t>Java</a:t>
            </a:r>
            <a:r>
              <a:rPr lang="zh-CN" altLang="en-US" sz="2200"/>
              <a:t>类，接口中包含</a:t>
            </a:r>
            <a:r>
              <a:rPr lang="en-US" altLang="zh-CN" sz="2200"/>
              <a:t>3</a:t>
            </a:r>
            <a:r>
              <a:rPr lang="zh-CN" altLang="en-US" sz="2200"/>
              <a:t>个</a:t>
            </a:r>
            <a:r>
              <a:rPr lang="zh-CN" altLang="en-US" sz="2200" smtClean="0"/>
              <a:t>方法：</a:t>
            </a:r>
            <a:endParaRPr lang="zh-CN" altLang="en-US" sz="2200"/>
          </a:p>
          <a:p>
            <a:pPr eaLnBrk="1" hangingPunct="1">
              <a:lnSpc>
                <a:spcPct val="150000"/>
              </a:lnSpc>
            </a:pPr>
            <a:r>
              <a:rPr lang="en-US" altLang="zh-CN" sz="2200"/>
              <a:t>    1</a:t>
            </a:r>
            <a:r>
              <a:rPr lang="zh-CN" altLang="en-US" sz="2200"/>
              <a:t>．</a:t>
            </a:r>
            <a:r>
              <a:rPr lang="en-US" altLang="zh-CN" sz="2200"/>
              <a:t>init(FilterConfig config)</a:t>
            </a:r>
            <a:r>
              <a:rPr lang="zh-CN" altLang="en-US" sz="2200"/>
              <a:t>：该方法负责进行过滤器的初始化操作，</a:t>
            </a:r>
            <a:r>
              <a:rPr lang="en-US" altLang="zh-CN" sz="2200"/>
              <a:t>Servlet</a:t>
            </a:r>
            <a:r>
              <a:rPr lang="zh-CN" altLang="en-US" sz="2200"/>
              <a:t>容器在创建了</a:t>
            </a:r>
            <a:r>
              <a:rPr lang="en-US" altLang="zh-CN" sz="2200"/>
              <a:t>Servlet</a:t>
            </a:r>
            <a:r>
              <a:rPr lang="zh-CN" altLang="en-US" sz="2200"/>
              <a:t>过滤器实例后就会调用这个方法。在这个方法中可以利用参数</a:t>
            </a:r>
            <a:r>
              <a:rPr lang="en-US" altLang="zh-CN" sz="2200"/>
              <a:t>config</a:t>
            </a:r>
            <a:r>
              <a:rPr lang="zh-CN" altLang="en-US" sz="2200"/>
              <a:t>读取</a:t>
            </a:r>
            <a:r>
              <a:rPr lang="en-US" altLang="zh-CN" sz="2200"/>
              <a:t>web</a:t>
            </a:r>
            <a:r>
              <a:rPr lang="zh-CN" altLang="en-US" sz="2200"/>
              <a:t>应用配置文件</a:t>
            </a:r>
            <a:r>
              <a:rPr lang="en-US" altLang="zh-CN" sz="2200"/>
              <a:t>web.xml</a:t>
            </a:r>
            <a:r>
              <a:rPr lang="zh-CN" altLang="en-US" sz="2200"/>
              <a:t>中的过滤器初始化参数</a:t>
            </a:r>
            <a:r>
              <a:rPr lang="zh-CN" altLang="en-US" sz="2200" smtClean="0"/>
              <a:t>。</a:t>
            </a:r>
            <a:endParaRPr lang="zh-CN" altLang="en-US" sz="2200"/>
          </a:p>
          <a:p>
            <a:pPr eaLnBrk="1" hangingPunct="1">
              <a:lnSpc>
                <a:spcPct val="150000"/>
              </a:lnSpc>
            </a:pPr>
            <a:r>
              <a:rPr lang="zh-CN" altLang="en-US" sz="2200"/>
              <a:t>    </a:t>
            </a:r>
            <a:r>
              <a:rPr lang="en-US" altLang="zh-CN" sz="2200"/>
              <a:t>2</a:t>
            </a:r>
            <a:r>
              <a:rPr lang="zh-CN" altLang="en-US" sz="2200"/>
              <a:t>．</a:t>
            </a:r>
            <a:r>
              <a:rPr lang="en-US" altLang="zh-CN" sz="2200"/>
              <a:t>doFilter(ServletRequest request, ServletResponse response, FilterChain chain)</a:t>
            </a:r>
            <a:r>
              <a:rPr lang="zh-CN" altLang="en-US" sz="2200"/>
              <a:t>：该方法负责完成实际的过滤操作，当客户端请求与过滤器关联的</a:t>
            </a:r>
            <a:r>
              <a:rPr lang="en-US" altLang="zh-CN" sz="2200"/>
              <a:t>URL</a:t>
            </a:r>
            <a:r>
              <a:rPr lang="zh-CN" altLang="en-US" sz="2200"/>
              <a:t>时，</a:t>
            </a:r>
            <a:r>
              <a:rPr lang="en-US" altLang="zh-CN" sz="2200"/>
              <a:t>Servlet</a:t>
            </a:r>
            <a:r>
              <a:rPr lang="zh-CN" altLang="en-US" sz="2200"/>
              <a:t>容器将先调用此方法进行过滤操作</a:t>
            </a:r>
            <a:r>
              <a:rPr lang="zh-CN" altLang="en-US" sz="2200" smtClean="0"/>
              <a:t>。</a:t>
            </a:r>
            <a:endParaRPr lang="zh-CN" altLang="en-US" sz="2200"/>
          </a:p>
          <a:p>
            <a:pPr eaLnBrk="1" hangingPunct="1">
              <a:lnSpc>
                <a:spcPct val="150000"/>
              </a:lnSpc>
            </a:pPr>
            <a:r>
              <a:rPr lang="zh-CN" altLang="en-US" sz="2200"/>
              <a:t>    </a:t>
            </a:r>
            <a:r>
              <a:rPr lang="en-US" altLang="zh-CN" sz="2200"/>
              <a:t>3</a:t>
            </a:r>
            <a:r>
              <a:rPr lang="zh-CN" altLang="en-US" sz="2200"/>
              <a:t>．</a:t>
            </a:r>
            <a:r>
              <a:rPr lang="en-US" altLang="zh-CN" sz="2200"/>
              <a:t>destroy()</a:t>
            </a:r>
            <a:r>
              <a:rPr lang="zh-CN" altLang="en-US" sz="2200"/>
              <a:t>：该方法在</a:t>
            </a:r>
            <a:r>
              <a:rPr lang="en-US" altLang="zh-CN" sz="2200"/>
              <a:t>Servlet</a:t>
            </a:r>
            <a:r>
              <a:rPr lang="zh-CN" altLang="en-US" sz="2200"/>
              <a:t>容器销毁过滤器实例前调用，可在此方法中释放过滤器占用的资源。</a:t>
            </a:r>
            <a:endParaRPr lang="zh-CN" altLang="en-US" sz="2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8" y="654622"/>
            <a:ext cx="11264801" cy="656296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Servlet</a:t>
            </a:r>
            <a:r>
              <a:rPr lang="zh-CN" altLang="en-US">
                <a:ea typeface="宋体" panose="02010600030101010101" pitchFamily="2" charset="-122"/>
              </a:rPr>
              <a:t>过滤器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483" y="1634047"/>
            <a:ext cx="11269266" cy="532403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7.1.2 Servlet</a:t>
            </a:r>
            <a:r>
              <a:rPr lang="zh-CN" altLang="en-US" smtClean="0">
                <a:ea typeface="宋体" panose="02010600030101010101" pitchFamily="2" charset="-122"/>
              </a:rPr>
              <a:t>过滤器</a:t>
            </a:r>
            <a:r>
              <a:rPr lang="zh-CN" altLang="en-US">
                <a:ea typeface="宋体" panose="02010600030101010101" pitchFamily="2" charset="-122"/>
              </a:rPr>
              <a:t>的</a:t>
            </a:r>
            <a:r>
              <a:rPr lang="zh-CN" altLang="en-US" smtClean="0">
                <a:ea typeface="宋体" panose="02010600030101010101" pitchFamily="2" charset="-122"/>
              </a:rPr>
              <a:t>结构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41226" y="2536255"/>
            <a:ext cx="11361786" cy="304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</a:pPr>
            <a:r>
              <a:rPr lang="zh-CN" altLang="en-US" sz="2400" smtClean="0"/>
              <a:t>创建和使用</a:t>
            </a:r>
            <a:r>
              <a:rPr lang="en-US" altLang="zh-CN" sz="2400"/>
              <a:t>Servlet</a:t>
            </a:r>
            <a:r>
              <a:rPr lang="zh-CN" altLang="en-US" sz="2400"/>
              <a:t>过滤器，应按照如下</a:t>
            </a:r>
            <a:r>
              <a:rPr lang="en-US" altLang="zh-CN" sz="2400"/>
              <a:t>2</a:t>
            </a:r>
            <a:r>
              <a:rPr lang="zh-CN" altLang="en-US" sz="2400"/>
              <a:t>个步骤进行：</a:t>
            </a:r>
            <a:endParaRPr lang="en-US" altLang="zh-CN" sz="2400"/>
          </a:p>
          <a:p>
            <a:pPr eaLnBrk="1" hangingPunct="1">
              <a:lnSpc>
                <a:spcPct val="200000"/>
              </a:lnSpc>
            </a:pPr>
            <a:r>
              <a:rPr lang="en-US" altLang="zh-CN" sz="2400"/>
              <a:t>1</a:t>
            </a:r>
            <a:r>
              <a:rPr lang="zh-CN" altLang="en-US" sz="2400"/>
              <a:t>．创建</a:t>
            </a:r>
            <a:r>
              <a:rPr lang="en-US" altLang="zh-CN" sz="2400"/>
              <a:t>Servlet</a:t>
            </a:r>
            <a:r>
              <a:rPr lang="zh-CN" altLang="en-US" sz="2400"/>
              <a:t>过滤器</a:t>
            </a:r>
            <a:r>
              <a:rPr lang="zh-CN" altLang="en-US" sz="2400" smtClean="0"/>
              <a:t>类，实现</a:t>
            </a:r>
            <a:r>
              <a:rPr lang="en-US" altLang="zh-CN" sz="2400" smtClean="0"/>
              <a:t>javax.servlet.Filter</a:t>
            </a:r>
            <a:r>
              <a:rPr lang="zh-CN" altLang="en-US" sz="2400" smtClean="0"/>
              <a:t>接口来创建。</a:t>
            </a:r>
            <a:endParaRPr lang="zh-CN" altLang="en-US" sz="2400"/>
          </a:p>
          <a:p>
            <a:pPr eaLnBrk="1" hangingPunct="1">
              <a:lnSpc>
                <a:spcPct val="200000"/>
              </a:lnSpc>
            </a:pPr>
            <a:r>
              <a:rPr lang="en-US" altLang="zh-CN" sz="2400"/>
              <a:t>2</a:t>
            </a:r>
            <a:r>
              <a:rPr lang="zh-CN" altLang="en-US" sz="2400" smtClean="0"/>
              <a:t>．配置</a:t>
            </a:r>
            <a:r>
              <a:rPr lang="zh-CN" altLang="en-US" sz="2400"/>
              <a:t>过滤器，将过滤器与</a:t>
            </a:r>
            <a:r>
              <a:rPr lang="en-US" altLang="zh-CN" sz="2400"/>
              <a:t>URL</a:t>
            </a:r>
            <a:r>
              <a:rPr lang="zh-CN" altLang="en-US" sz="2400"/>
              <a:t>关联</a:t>
            </a:r>
            <a:r>
              <a:rPr lang="zh-CN" altLang="en-US" sz="2400" smtClean="0"/>
              <a:t>起来，令过滤器对该</a:t>
            </a:r>
            <a:r>
              <a:rPr lang="en-US" altLang="zh-CN" sz="2400" smtClean="0"/>
              <a:t>URL</a:t>
            </a:r>
            <a:r>
              <a:rPr lang="zh-CN" altLang="en-US" sz="2400" smtClean="0"/>
              <a:t>对应的资源起作用。过滤器的配置可在</a:t>
            </a:r>
            <a:r>
              <a:rPr lang="en-US" altLang="zh-CN" sz="2400" smtClean="0"/>
              <a:t>web.xml</a:t>
            </a:r>
            <a:r>
              <a:rPr lang="zh-CN" altLang="en-US" sz="2400" smtClean="0"/>
              <a:t>中进行，也可以使用注解方式。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8" y="654622"/>
            <a:ext cx="11264801" cy="656296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实战演练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483" y="1634047"/>
            <a:ext cx="11269266" cy="532403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7.1.3 Servlet</a:t>
            </a:r>
            <a:r>
              <a:rPr lang="zh-CN" altLang="en-US" smtClean="0">
                <a:ea typeface="宋体" panose="02010600030101010101" pitchFamily="2" charset="-122"/>
              </a:rPr>
              <a:t>过滤器应用程序体验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755650" y="2326903"/>
            <a:ext cx="80311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</a:pPr>
            <a:r>
              <a:rPr lang="zh-CN" altLang="en-US"/>
              <a:t>案例：拦截非管理员</a:t>
            </a:r>
            <a:r>
              <a:rPr lang="en-US" altLang="zh-CN"/>
              <a:t>IP</a:t>
            </a:r>
            <a:r>
              <a:rPr lang="zh-CN" altLang="en-US"/>
              <a:t>对</a:t>
            </a:r>
            <a:r>
              <a:rPr lang="en-US" altLang="zh-CN"/>
              <a:t>admin.jsp</a:t>
            </a:r>
            <a:r>
              <a:rPr lang="zh-CN" altLang="en-US"/>
              <a:t>页面的访问</a:t>
            </a:r>
            <a:endParaRPr lang="en-US" altLang="zh-CN"/>
          </a:p>
        </p:txBody>
      </p:sp>
      <p:pic>
        <p:nvPicPr>
          <p:cNvPr id="2" name="图片 -21474826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3112770"/>
            <a:ext cx="5640705" cy="154114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3" name="图片 -21474826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285" y="4912995"/>
            <a:ext cx="6210935" cy="14636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8" y="654622"/>
            <a:ext cx="11264801" cy="656296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实战演练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483" y="1634047"/>
            <a:ext cx="11269266" cy="532403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7.1.3 Servlet</a:t>
            </a:r>
            <a:r>
              <a:rPr lang="zh-CN" altLang="en-US" smtClean="0">
                <a:ea typeface="宋体" panose="02010600030101010101" pitchFamily="2" charset="-122"/>
              </a:rPr>
              <a:t>过滤器应用程序体验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37499" y="2608213"/>
            <a:ext cx="11089232" cy="3071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</a:pPr>
            <a:r>
              <a:rPr lang="zh-CN" altLang="en-US" sz="2000"/>
              <a:t>案例实现步骤：</a:t>
            </a:r>
            <a:endParaRPr lang="en-US" altLang="zh-CN" sz="2000"/>
          </a:p>
          <a:p>
            <a:pPr eaLnBrk="1" hangingPunct="1">
              <a:lnSpc>
                <a:spcPct val="200000"/>
              </a:lnSpc>
            </a:pPr>
            <a:r>
              <a:rPr lang="en-US" altLang="zh-CN" sz="2000" smtClean="0"/>
              <a:t>    1</a:t>
            </a:r>
            <a:r>
              <a:rPr lang="en-US" altLang="zh-CN" sz="2000"/>
              <a:t>. </a:t>
            </a:r>
            <a:r>
              <a:rPr lang="zh-CN" altLang="en-US" sz="2000" smtClean="0"/>
              <a:t>新建</a:t>
            </a:r>
            <a:r>
              <a:rPr lang="zh-CN" altLang="en-US" sz="2000"/>
              <a:t>一个</a:t>
            </a:r>
            <a:r>
              <a:rPr lang="en-US" altLang="zh-CN" sz="2000"/>
              <a:t>Java Web</a:t>
            </a:r>
            <a:r>
              <a:rPr lang="zh-CN" altLang="en-US" sz="2000"/>
              <a:t>应用</a:t>
            </a:r>
            <a:r>
              <a:rPr lang="en-US" altLang="zh-CN" sz="2000"/>
              <a:t>ExampleFilter</a:t>
            </a:r>
            <a:r>
              <a:rPr lang="zh-CN" altLang="en-US" sz="2000"/>
              <a:t>，编辑</a:t>
            </a:r>
            <a:r>
              <a:rPr lang="en-US" altLang="zh-CN" sz="2000"/>
              <a:t>admin.jsp</a:t>
            </a:r>
            <a:r>
              <a:rPr lang="zh-CN" altLang="en-US" sz="2000"/>
              <a:t>和</a:t>
            </a:r>
            <a:r>
              <a:rPr lang="en-US" altLang="zh-CN" sz="2000"/>
              <a:t>error.jsp</a:t>
            </a:r>
            <a:r>
              <a:rPr lang="zh-CN" altLang="en-US" sz="2000"/>
              <a:t>。</a:t>
            </a:r>
            <a:endParaRPr lang="en-US" altLang="zh-CN" sz="2000"/>
          </a:p>
          <a:p>
            <a:pPr eaLnBrk="1" hangingPunct="1">
              <a:lnSpc>
                <a:spcPct val="200000"/>
              </a:lnSpc>
            </a:pPr>
            <a:r>
              <a:rPr lang="en-US" altLang="zh-CN" sz="2000" smtClean="0"/>
              <a:t>    2</a:t>
            </a:r>
            <a:r>
              <a:rPr lang="en-US" altLang="zh-CN" sz="2000"/>
              <a:t>. </a:t>
            </a:r>
            <a:r>
              <a:rPr lang="zh-CN" altLang="en-US" sz="2000"/>
              <a:t>按照使用</a:t>
            </a:r>
            <a:r>
              <a:rPr lang="en-US" altLang="zh-CN" sz="2000"/>
              <a:t>Servlet</a:t>
            </a:r>
            <a:r>
              <a:rPr lang="zh-CN" altLang="en-US" sz="2000"/>
              <a:t>过滤器</a:t>
            </a:r>
            <a:r>
              <a:rPr lang="zh-CN" altLang="en-US" sz="2000" smtClean="0"/>
              <a:t>的两个步骤</a:t>
            </a:r>
            <a:r>
              <a:rPr lang="zh-CN" altLang="en-US" sz="2000"/>
              <a:t>创建和配置过滤器：</a:t>
            </a:r>
            <a:endParaRPr lang="en-US" altLang="zh-CN" sz="2000"/>
          </a:p>
          <a:p>
            <a:pPr eaLnBrk="1" hangingPunct="1">
              <a:lnSpc>
                <a:spcPct val="200000"/>
              </a:lnSpc>
            </a:pPr>
            <a:r>
              <a:rPr lang="en-US" altLang="zh-CN" sz="2000"/>
              <a:t>  </a:t>
            </a:r>
            <a:r>
              <a:rPr lang="en-US" altLang="zh-CN" sz="2000" smtClean="0"/>
              <a:t>      </a:t>
            </a:r>
            <a:r>
              <a:rPr lang="en-US" altLang="zh-CN" sz="2000"/>
              <a:t>(1) </a:t>
            </a:r>
            <a:r>
              <a:rPr lang="zh-CN" altLang="en-US" sz="2000"/>
              <a:t>创建</a:t>
            </a:r>
            <a:r>
              <a:rPr lang="en-US" altLang="zh-CN" sz="2000"/>
              <a:t>Servlet</a:t>
            </a:r>
            <a:r>
              <a:rPr lang="zh-CN" altLang="en-US" sz="2000"/>
              <a:t>过滤器类</a:t>
            </a:r>
            <a:r>
              <a:rPr lang="en-US" altLang="zh-CN" sz="2000"/>
              <a:t>IPFilter</a:t>
            </a:r>
            <a:endParaRPr lang="en-US" altLang="zh-CN" sz="2000"/>
          </a:p>
          <a:p>
            <a:pPr eaLnBrk="1" hangingPunct="1">
              <a:lnSpc>
                <a:spcPct val="200000"/>
              </a:lnSpc>
            </a:pPr>
            <a:r>
              <a:rPr lang="en-US" altLang="zh-CN" sz="2000"/>
              <a:t>   </a:t>
            </a:r>
            <a:r>
              <a:rPr lang="en-US" altLang="zh-CN" sz="2000" smtClean="0"/>
              <a:t>     </a:t>
            </a:r>
            <a:r>
              <a:rPr lang="en-US" altLang="zh-CN" sz="2000"/>
              <a:t>(2) </a:t>
            </a:r>
            <a:r>
              <a:rPr lang="zh-CN" altLang="en-US" sz="2000"/>
              <a:t>在</a:t>
            </a:r>
            <a:r>
              <a:rPr lang="en-US" altLang="zh-CN" sz="2000"/>
              <a:t>web.xml</a:t>
            </a:r>
            <a:r>
              <a:rPr lang="zh-CN" altLang="en-US" sz="2000"/>
              <a:t>中配置过滤器</a:t>
            </a:r>
            <a:r>
              <a:rPr lang="zh-CN" altLang="en-US" sz="2000" smtClean="0"/>
              <a:t>，令过滤器作用于</a:t>
            </a:r>
            <a:r>
              <a:rPr lang="en-US" altLang="zh-CN" sz="2000" smtClean="0"/>
              <a:t>admin.jsp</a:t>
            </a:r>
            <a:r>
              <a:rPr lang="zh-CN" altLang="en-US" sz="2000" smtClean="0"/>
              <a:t>。</a:t>
            </a:r>
            <a:endParaRPr lang="en-US" altLang="zh-CN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实战演练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668734" y="1888133"/>
            <a:ext cx="11305257" cy="2424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4789" tIns="57394" rIns="114789" bIns="57394" anchor="ctr">
            <a:spAutoFit/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[</a:t>
            </a:r>
            <a:r>
              <a:rPr lang="zh-CN" altLang="en-US" sz="2000"/>
              <a:t>实战 </a:t>
            </a:r>
            <a:r>
              <a:rPr lang="en-US" altLang="zh-CN" sz="2000"/>
              <a:t>7-1] </a:t>
            </a:r>
            <a:r>
              <a:rPr lang="zh-CN" altLang="en-US" sz="2000"/>
              <a:t>使用过滤器对网站的首页进行流量统计，当用户访问该页面时</a:t>
            </a:r>
            <a:r>
              <a:rPr lang="zh-CN" altLang="en-US" sz="2000" smtClean="0"/>
              <a:t>显示当前</a:t>
            </a:r>
            <a:r>
              <a:rPr lang="zh-CN" altLang="en-US" sz="2000"/>
              <a:t>的访问流量。要注意统计流量时的同步问题。</a:t>
            </a:r>
            <a:endParaRPr lang="en-US" altLang="zh-CN" sz="200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00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[</a:t>
            </a:r>
            <a:r>
              <a:rPr lang="zh-CN" altLang="en-US" sz="2000"/>
              <a:t>实战 </a:t>
            </a:r>
            <a:r>
              <a:rPr lang="en-US" altLang="zh-CN" sz="2000"/>
              <a:t>7-2] </a:t>
            </a:r>
            <a:r>
              <a:rPr lang="zh-CN" altLang="en-US" sz="2000"/>
              <a:t>使用过滤器对响应信息中的敏感字符进行过滤。假设“鬼”字看做是</a:t>
            </a:r>
            <a:r>
              <a:rPr lang="zh-CN" altLang="en-US" sz="2000" smtClean="0"/>
              <a:t>敏感</a:t>
            </a:r>
            <a:r>
              <a:rPr lang="zh-CN" altLang="en-US" sz="2000"/>
              <a:t>字符，要求响应到客户端时将其修改为其他字符。</a:t>
            </a:r>
            <a:endParaRPr lang="en-US" altLang="zh-CN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延伸阅读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1187" y="1549400"/>
            <a:ext cx="11434811" cy="504825"/>
          </a:xfrm>
        </p:spPr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延伸阅读：网站中如何使用过滤器链？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684213" y="2321336"/>
            <a:ext cx="11459728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</a:pPr>
            <a:r>
              <a:rPr lang="zh-CN" altLang="en-US"/>
              <a:t>过滤器链：为某个资源配置多个过滤器，即形成过滤器链</a:t>
            </a:r>
            <a:r>
              <a:rPr lang="zh-CN" altLang="en-US" smtClean="0"/>
              <a:t>。</a:t>
            </a:r>
            <a:endParaRPr lang="en-US" altLang="zh-CN" smtClean="0"/>
          </a:p>
          <a:p>
            <a:pPr eaLnBrk="1" hangingPunct="1">
              <a:lnSpc>
                <a:spcPct val="200000"/>
              </a:lnSpc>
            </a:pPr>
            <a:endParaRPr lang="en-US" altLang="zh-CN"/>
          </a:p>
          <a:p>
            <a:pPr eaLnBrk="1" hangingPunct="1">
              <a:lnSpc>
                <a:spcPct val="150000"/>
              </a:lnSpc>
            </a:pPr>
            <a:r>
              <a:rPr lang="zh-CN" altLang="en-US" b="1"/>
              <a:t>案例</a:t>
            </a:r>
            <a:r>
              <a:rPr lang="zh-CN" altLang="en-US"/>
              <a:t>：网站中有</a:t>
            </a:r>
            <a:r>
              <a:rPr lang="en-US" altLang="zh-CN"/>
              <a:t>suc.jsp</a:t>
            </a:r>
            <a:r>
              <a:rPr lang="zh-CN" altLang="en-US"/>
              <a:t>页面，对其的访问权限要求比较高，规定必须是本机并且是通过了登陆验证的客户才可以访问，而网站中的其它页面权限要求较低，则只要是本机</a:t>
            </a:r>
            <a:r>
              <a:rPr lang="en-US" altLang="zh-CN"/>
              <a:t>IP</a:t>
            </a:r>
            <a:r>
              <a:rPr lang="zh-CN" altLang="en-US"/>
              <a:t>地址即可访问</a:t>
            </a:r>
            <a:r>
              <a:rPr lang="zh-CN" altLang="en-US" smtClean="0"/>
              <a:t>。</a:t>
            </a:r>
            <a:endParaRPr lang="en-US" altLang="zh-CN" smtClean="0"/>
          </a:p>
          <a:p>
            <a:pPr eaLnBrk="1" hangingPunct="1">
              <a:lnSpc>
                <a:spcPct val="150000"/>
              </a:lnSpc>
            </a:pPr>
            <a:endParaRPr lang="en-US" altLang="zh-CN"/>
          </a:p>
          <a:p>
            <a:pPr eaLnBrk="1" hangingPunct="1">
              <a:lnSpc>
                <a:spcPct val="150000"/>
              </a:lnSpc>
            </a:pPr>
            <a:r>
              <a:rPr lang="zh-CN" altLang="en-US" b="1"/>
              <a:t>实现思路</a:t>
            </a:r>
            <a:r>
              <a:rPr lang="zh-CN" altLang="en-US"/>
              <a:t>：要达到上述效果，应对</a:t>
            </a:r>
            <a:r>
              <a:rPr lang="en-US" altLang="zh-CN"/>
              <a:t>suc.jsp</a:t>
            </a:r>
            <a:r>
              <a:rPr lang="zh-CN" altLang="en-US"/>
              <a:t>添加</a:t>
            </a:r>
            <a:r>
              <a:rPr lang="en-US" altLang="zh-CN"/>
              <a:t>2</a:t>
            </a:r>
            <a:r>
              <a:rPr lang="zh-CN" altLang="en-US"/>
              <a:t>个过滤器，第</a:t>
            </a:r>
            <a:r>
              <a:rPr lang="en-US" altLang="zh-CN"/>
              <a:t>1</a:t>
            </a:r>
            <a:r>
              <a:rPr lang="zh-CN" altLang="en-US"/>
              <a:t>个用来过滤</a:t>
            </a:r>
            <a:r>
              <a:rPr lang="en-US" altLang="zh-CN"/>
              <a:t>IP</a:t>
            </a:r>
            <a:r>
              <a:rPr lang="zh-CN" altLang="en-US"/>
              <a:t>，看是否是本机</a:t>
            </a:r>
            <a:r>
              <a:rPr lang="en-US" altLang="zh-CN"/>
              <a:t>IP</a:t>
            </a:r>
            <a:r>
              <a:rPr lang="zh-CN" altLang="en-US"/>
              <a:t>地址，第</a:t>
            </a:r>
            <a:r>
              <a:rPr lang="en-US" altLang="zh-CN"/>
              <a:t>2</a:t>
            </a:r>
            <a:r>
              <a:rPr lang="zh-CN" altLang="en-US"/>
              <a:t>个用来检查客户是否经过了登陆验证，只有经过了登陆验证才能请求到</a:t>
            </a:r>
            <a:r>
              <a:rPr lang="en-US" altLang="zh-CN"/>
              <a:t>suc.jsp</a:t>
            </a:r>
            <a:r>
              <a:rPr lang="zh-CN" altLang="en-US"/>
              <a:t>，否则就拦截客户的请求，让客户返回</a:t>
            </a:r>
            <a:r>
              <a:rPr lang="en-US" altLang="zh-CN"/>
              <a:t>index.jsp</a:t>
            </a:r>
            <a:r>
              <a:rPr lang="zh-CN" altLang="en-US"/>
              <a:t>进行登陆验证。</a:t>
            </a:r>
            <a:endParaRPr lang="zh-CN" altLang="en-US"/>
          </a:p>
          <a:p>
            <a:pPr eaLnBrk="1" hangingPunct="1">
              <a:lnSpc>
                <a:spcPct val="200000"/>
              </a:lnSpc>
            </a:pP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角三角形 10"/>
          <p:cNvSpPr/>
          <p:nvPr/>
        </p:nvSpPr>
        <p:spPr>
          <a:xfrm rot="8100000">
            <a:off x="1283635" y="4133852"/>
            <a:ext cx="6197937" cy="6197597"/>
          </a:xfrm>
          <a:prstGeom prst="rtTriangle">
            <a:avLst/>
          </a:prstGeom>
          <a:blipFill dpi="0" rotWithShape="0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" name="直角三角形 6"/>
          <p:cNvSpPr/>
          <p:nvPr/>
        </p:nvSpPr>
        <p:spPr>
          <a:xfrm rot="13500000" flipV="1">
            <a:off x="2701051" y="-3658558"/>
            <a:ext cx="7316717" cy="7317118"/>
          </a:xfrm>
          <a:prstGeom prst="rtTriangle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" name="直角三角形 2"/>
          <p:cNvSpPr/>
          <p:nvPr/>
        </p:nvSpPr>
        <p:spPr>
          <a:xfrm rot="8100000">
            <a:off x="6909309" y="4826403"/>
            <a:ext cx="4812758" cy="4812494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9" name="TextBox 76"/>
          <p:cNvSpPr txBox="1"/>
          <p:nvPr/>
        </p:nvSpPr>
        <p:spPr>
          <a:xfrm>
            <a:off x="4161843" y="1761854"/>
            <a:ext cx="4571242" cy="806946"/>
          </a:xfrm>
          <a:prstGeom prst="rect">
            <a:avLst/>
          </a:prstGeom>
          <a:noFill/>
        </p:spPr>
        <p:txBody>
          <a:bodyPr wrap="none" lIns="128583" tIns="64291" rIns="128583" bIns="64291" rtlCol="0">
            <a:spAutoFit/>
          </a:bodyPr>
          <a:lstStyle/>
          <a:p>
            <a:pPr algn="ctr"/>
            <a:r>
              <a:rPr kumimoji="1" lang="en-US" altLang="zh-CN" sz="4400" b="1" smtClean="0">
                <a:solidFill>
                  <a:srgbClr val="43536A"/>
                </a:solidFill>
                <a:cs typeface="+mn-ea"/>
              </a:rPr>
              <a:t>7.2  Servlet</a:t>
            </a:r>
            <a:r>
              <a:rPr kumimoji="1" lang="zh-CN" altLang="en-US" sz="4400" b="1" smtClean="0">
                <a:solidFill>
                  <a:srgbClr val="43536A"/>
                </a:solidFill>
                <a:cs typeface="+mn-ea"/>
              </a:rPr>
              <a:t>监听器</a:t>
            </a:r>
            <a:endParaRPr kumimoji="1" lang="zh-CN" altLang="en-US" sz="4400" b="1" dirty="0">
              <a:solidFill>
                <a:srgbClr val="43536A"/>
              </a:solidFill>
              <a:cs typeface="+mn-ea"/>
              <a:sym typeface="+mn-lt"/>
            </a:endParaRPr>
          </a:p>
        </p:txBody>
      </p:sp>
      <p:sp>
        <p:nvSpPr>
          <p:cNvPr id="10" name="直角三角形 9"/>
          <p:cNvSpPr/>
          <p:nvPr/>
        </p:nvSpPr>
        <p:spPr>
          <a:xfrm rot="13500000" flipV="1">
            <a:off x="1037730" y="-1245854"/>
            <a:ext cx="2491570" cy="2491706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 animBg="1"/>
      <p:bldP spid="3" grpId="0" animBg="1"/>
      <p:bldP spid="9" grpId="0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62192" y="606069"/>
            <a:ext cx="11264801" cy="656296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第七章   </a:t>
            </a:r>
            <a:r>
              <a:rPr lang="en-US" altLang="zh-CN" smtClean="0">
                <a:ea typeface="宋体" panose="02010600030101010101" pitchFamily="2" charset="-122"/>
              </a:rPr>
              <a:t>Servlet</a:t>
            </a:r>
            <a:r>
              <a:rPr lang="zh-CN" altLang="en-US" smtClean="0">
                <a:ea typeface="宋体" panose="02010600030101010101" pitchFamily="2" charset="-122"/>
              </a:rPr>
              <a:t>进阶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00788" y="2104157"/>
            <a:ext cx="2436799" cy="900204"/>
          </a:xfrm>
          <a:prstGeom prst="rect">
            <a:avLst/>
          </a:prstGeom>
        </p:spPr>
        <p:txBody>
          <a:bodyPr wrap="none" lIns="91397" tIns="45699" rIns="91397" bIns="45699">
            <a:spAutoFit/>
          </a:bodyPr>
          <a:lstStyle/>
          <a:p>
            <a:pPr marL="573405" indent="-573405">
              <a:lnSpc>
                <a:spcPct val="150000"/>
              </a:lnSpc>
              <a:spcBef>
                <a:spcPct val="20000"/>
              </a:spcBef>
              <a:buClr>
                <a:srgbClr val="333399"/>
              </a:buClr>
            </a:pPr>
            <a:r>
              <a:rPr lang="zh-CN" altLang="en-US" sz="3500" b="1" kern="0" dirty="0">
                <a:solidFill>
                  <a:srgbClr val="000000"/>
                </a:solidFill>
                <a:latin typeface="Arial" panose="020B0604020202020204"/>
                <a:ea typeface="楷体_GB2312" pitchFamily="1" charset="-122"/>
              </a:rPr>
              <a:t>本课任务：</a:t>
            </a:r>
            <a:endParaRPr lang="zh-CN" altLang="en-US" sz="3500" b="1" kern="0" dirty="0">
              <a:solidFill>
                <a:srgbClr val="000000"/>
              </a:solidFill>
              <a:latin typeface="Arial" panose="020B0604020202020204"/>
              <a:ea typeface="楷体_GB2312" pitchFamily="1" charset="-122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3537674" y="2330723"/>
            <a:ext cx="8353425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34" tIns="57368" rIns="114734" bIns="57368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815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5100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85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254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658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3062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46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87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pPr marL="457200" indent="-457200">
              <a:lnSpc>
                <a:spcPts val="4000"/>
              </a:lnSpc>
            </a:pPr>
            <a:r>
              <a:rPr lang="en-US" altLang="zh-CN" sz="2600" dirty="0" smtClean="0">
                <a:ea typeface="宋体" panose="02010600030101010101" pitchFamily="2" charset="-122"/>
              </a:rPr>
              <a:t>Servlet</a:t>
            </a:r>
            <a:r>
              <a:rPr lang="zh-CN" altLang="en-US" sz="2600" dirty="0" smtClean="0">
                <a:ea typeface="宋体" panose="02010600030101010101" pitchFamily="2" charset="-122"/>
              </a:rPr>
              <a:t>监听器</a:t>
            </a:r>
            <a:endParaRPr lang="zh-CN" altLang="en-US" sz="2600" dirty="0">
              <a:ea typeface="宋体" panose="02010600030101010101" pitchFamily="2" charset="-122"/>
              <a:hlinkClick r:id="" action="ppaction://noaction"/>
            </a:endParaRPr>
          </a:p>
          <a:p>
            <a:pPr marL="1074420" lvl="1" indent="-533400">
              <a:lnSpc>
                <a:spcPts val="4000"/>
              </a:lnSpc>
            </a:pPr>
            <a:r>
              <a:rPr lang="en-US" altLang="zh-CN" sz="2400" dirty="0" smtClean="0"/>
              <a:t>Servlet</a:t>
            </a:r>
            <a:r>
              <a:rPr lang="zh-CN" altLang="en-US" sz="2400" dirty="0" smtClean="0"/>
              <a:t>监听器的原理及用途</a:t>
            </a:r>
            <a:endParaRPr lang="zh-CN" altLang="en-US" sz="2400" dirty="0"/>
          </a:p>
          <a:p>
            <a:pPr marL="1074420" lvl="1" indent="-533400">
              <a:lnSpc>
                <a:spcPts val="4000"/>
              </a:lnSpc>
            </a:pPr>
            <a:r>
              <a:rPr lang="en-US" altLang="zh-CN" sz="2400" dirty="0" smtClean="0"/>
              <a:t>Servlet</a:t>
            </a:r>
            <a:r>
              <a:rPr lang="zh-CN" altLang="en-US" sz="2400" dirty="0" smtClean="0"/>
              <a:t>监听器的类型</a:t>
            </a:r>
            <a:endParaRPr lang="zh-CN" altLang="en-US" sz="2400" dirty="0"/>
          </a:p>
          <a:p>
            <a:pPr marL="1074420" lvl="1" indent="-533400">
              <a:lnSpc>
                <a:spcPts val="4000"/>
              </a:lnSpc>
            </a:pPr>
            <a:r>
              <a:rPr lang="zh-CN" altLang="en-US" sz="2400" dirty="0" smtClean="0"/>
              <a:t>使用</a:t>
            </a:r>
            <a:r>
              <a:rPr lang="en-US" altLang="zh-CN" sz="2400" dirty="0" smtClean="0"/>
              <a:t>Servlet</a:t>
            </a:r>
            <a:r>
              <a:rPr lang="zh-CN" altLang="en-US" sz="2400" dirty="0" smtClean="0"/>
              <a:t>监听器</a:t>
            </a:r>
            <a:endParaRPr lang="en-US" sz="2400" dirty="0">
              <a:hlinkClick r:id="" action="ppaction://noactio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62184" y="606069"/>
            <a:ext cx="11264801" cy="656296"/>
          </a:xfrm>
        </p:spPr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Servlet</a:t>
            </a:r>
            <a:r>
              <a:rPr lang="zh-CN" altLang="en-US" dirty="0" smtClean="0">
                <a:ea typeface="宋体" panose="02010600030101010101" pitchFamily="2" charset="-122"/>
              </a:rPr>
              <a:t>监听器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2696" y="1744117"/>
            <a:ext cx="12280552" cy="3026998"/>
          </a:xfrm>
        </p:spPr>
        <p:txBody>
          <a:bodyPr/>
          <a:lstStyle/>
          <a:p>
            <a:pPr marL="573405" indent="-573405">
              <a:lnSpc>
                <a:spcPct val="150000"/>
              </a:lnSpc>
              <a:buNone/>
            </a:pPr>
            <a:r>
              <a:rPr lang="zh-CN" altLang="en-US" b="1" dirty="0">
                <a:ea typeface="楷体_GB2312" pitchFamily="1" charset="-122"/>
              </a:rPr>
              <a:t>教学要求</a:t>
            </a:r>
            <a:endParaRPr lang="zh-CN" altLang="en-US" b="1" dirty="0">
              <a:ea typeface="楷体_GB2312" pitchFamily="1" charset="-122"/>
            </a:endParaRPr>
          </a:p>
          <a:p>
            <a:pPr marL="457200" indent="-457200">
              <a:lnSpc>
                <a:spcPct val="200000"/>
              </a:lnSpc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ea typeface="宋体" panose="02010600030101010101" pitchFamily="2" charset="-122"/>
              </a:rPr>
              <a:t>．</a:t>
            </a:r>
            <a:r>
              <a:rPr lang="zh-CN" altLang="en-US" sz="2400">
                <a:ea typeface="宋体" panose="02010600030101010101" pitchFamily="2" charset="-122"/>
              </a:rPr>
              <a:t>掌握</a:t>
            </a:r>
            <a:r>
              <a:rPr lang="zh-CN" altLang="en-US" sz="2400" smtClean="0">
                <a:ea typeface="宋体" panose="02010600030101010101" pitchFamily="2" charset="-122"/>
              </a:rPr>
              <a:t>：</a:t>
            </a:r>
            <a:r>
              <a:rPr lang="en-US" altLang="zh-CN" sz="2400" smtClean="0">
                <a:ea typeface="宋体" panose="02010600030101010101" pitchFamily="2" charset="-122"/>
              </a:rPr>
              <a:t>Servlet</a:t>
            </a:r>
            <a:r>
              <a:rPr lang="zh-CN" altLang="en-US" sz="2400" smtClean="0">
                <a:ea typeface="宋体" panose="02010600030101010101" pitchFamily="2" charset="-122"/>
              </a:rPr>
              <a:t>监听器的使用方法</a:t>
            </a:r>
            <a:endParaRPr lang="zh-CN" altLang="en-US" sz="2400" dirty="0">
              <a:ea typeface="宋体" panose="02010600030101010101" pitchFamily="2" charset="-122"/>
            </a:endParaRPr>
          </a:p>
          <a:p>
            <a:pPr marL="457200" indent="-457200">
              <a:lnSpc>
                <a:spcPct val="200000"/>
              </a:lnSpc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ea typeface="宋体" panose="02010600030101010101" pitchFamily="2" charset="-122"/>
              </a:rPr>
              <a:t>．</a:t>
            </a:r>
            <a:r>
              <a:rPr lang="zh-CN" altLang="en-US" sz="2400">
                <a:ea typeface="宋体" panose="02010600030101010101" pitchFamily="2" charset="-122"/>
              </a:rPr>
              <a:t>理解</a:t>
            </a:r>
            <a:r>
              <a:rPr lang="zh-CN" altLang="en-US" sz="2400" smtClean="0">
                <a:ea typeface="宋体" panose="02010600030101010101" pitchFamily="2" charset="-122"/>
              </a:rPr>
              <a:t>：</a:t>
            </a:r>
            <a:r>
              <a:rPr lang="en-US" altLang="zh-CN" sz="2400">
                <a:ea typeface="宋体" panose="02010600030101010101" pitchFamily="2" charset="-122"/>
              </a:rPr>
              <a:t> </a:t>
            </a:r>
            <a:r>
              <a:rPr lang="en-US" altLang="zh-CN" sz="2400" smtClean="0">
                <a:ea typeface="宋体" panose="02010600030101010101" pitchFamily="2" charset="-122"/>
              </a:rPr>
              <a:t>Servlet</a:t>
            </a:r>
            <a:r>
              <a:rPr lang="zh-CN" altLang="en-US" sz="2400" smtClean="0">
                <a:ea typeface="宋体" panose="02010600030101010101" pitchFamily="2" charset="-122"/>
              </a:rPr>
              <a:t>监听器的用途和分类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8" y="654622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授课任务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11188" y="1549400"/>
            <a:ext cx="801370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803" tIns="57401" rIns="114803" bIns="57401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815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5100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914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318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722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3126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530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934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zh-CN" kern="0" smtClean="0">
                <a:ea typeface="宋体" panose="02010600030101010101" pitchFamily="2" charset="-122"/>
              </a:rPr>
              <a:t>7.2.1 Servlet</a:t>
            </a:r>
            <a:r>
              <a:rPr lang="zh-CN" altLang="en-US" kern="0" smtClean="0">
                <a:ea typeface="宋体" panose="02010600030101010101" pitchFamily="2" charset="-122"/>
              </a:rPr>
              <a:t>监听器的原理及用途</a:t>
            </a:r>
            <a:endParaRPr lang="zh-CN" altLang="en-US" kern="0"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70780" y="2680221"/>
            <a:ext cx="11075912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</a:pPr>
            <a:r>
              <a:rPr lang="en-US" altLang="zh-CN" sz="2200" smtClean="0"/>
              <a:t>    Servlet</a:t>
            </a:r>
            <a:r>
              <a:rPr lang="zh-CN" altLang="en-US" sz="2200"/>
              <a:t>监听器也是</a:t>
            </a:r>
            <a:r>
              <a:rPr lang="en-US" altLang="zh-CN" sz="2200"/>
              <a:t>Web</a:t>
            </a:r>
            <a:r>
              <a:rPr lang="zh-CN" altLang="en-US" sz="2200"/>
              <a:t>应用开发中的一种重要组件，它主要用来对</a:t>
            </a:r>
            <a:r>
              <a:rPr lang="en-US" altLang="zh-CN" sz="2200"/>
              <a:t>Web</a:t>
            </a:r>
            <a:r>
              <a:rPr lang="zh-CN" altLang="en-US" sz="2200"/>
              <a:t>应用中的一些事件进行监听</a:t>
            </a:r>
            <a:r>
              <a:rPr lang="zh-CN" altLang="en-US" sz="2200" smtClean="0"/>
              <a:t>。比如客户请求</a:t>
            </a:r>
            <a:r>
              <a:rPr lang="zh-CN" altLang="en-US" sz="2200"/>
              <a:t>状态的变化，会话状态的变化等，这些改变即为事件，</a:t>
            </a:r>
            <a:r>
              <a:rPr lang="en-US" altLang="zh-CN" sz="2200"/>
              <a:t>Servlet</a:t>
            </a:r>
            <a:r>
              <a:rPr lang="zh-CN" altLang="en-US" sz="2200"/>
              <a:t>监听器可以监听这些事件并能对其进行处理。</a:t>
            </a:r>
            <a:endParaRPr lang="zh-CN" altLang="en-US" sz="2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8" y="654622"/>
            <a:ext cx="11264801" cy="656296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Servlet</a:t>
            </a:r>
            <a:r>
              <a:rPr lang="zh-CN" altLang="en-US">
                <a:ea typeface="宋体" panose="02010600030101010101" pitchFamily="2" charset="-122"/>
              </a:rPr>
              <a:t>监听器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11188" y="1549400"/>
            <a:ext cx="801370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803" tIns="57401" rIns="114803" bIns="57401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815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5100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914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318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722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3126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530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934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zh-CN" kern="0" smtClean="0">
                <a:ea typeface="宋体" panose="02010600030101010101" pitchFamily="2" charset="-122"/>
              </a:rPr>
              <a:t>7.2.2 Servlet</a:t>
            </a:r>
            <a:r>
              <a:rPr lang="zh-CN" altLang="en-US" kern="0" smtClean="0">
                <a:ea typeface="宋体" panose="02010600030101010101" pitchFamily="2" charset="-122"/>
              </a:rPr>
              <a:t>监听器的类型</a:t>
            </a:r>
            <a:endParaRPr lang="zh-CN" altLang="en-US" kern="0">
              <a:ea typeface="宋体" panose="02010600030101010101" pitchFamily="2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14375" y="2269653"/>
            <a:ext cx="11331624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200"/>
              <a:t>Servlet</a:t>
            </a:r>
            <a:r>
              <a:rPr lang="zh-CN" altLang="en-US" sz="2200" smtClean="0"/>
              <a:t>监听器的几种类型</a:t>
            </a:r>
            <a:r>
              <a:rPr lang="zh-CN" altLang="en-US" sz="2200"/>
              <a:t>：</a:t>
            </a:r>
            <a:endParaRPr lang="zh-CN" altLang="en-US" sz="2200"/>
          </a:p>
          <a:p>
            <a:pPr eaLnBrk="1" hangingPunct="1">
              <a:lnSpc>
                <a:spcPct val="150000"/>
              </a:lnSpc>
            </a:pPr>
            <a:r>
              <a:rPr lang="en-US" altLang="zh-CN" sz="2200"/>
              <a:t>        1. ServletContext</a:t>
            </a:r>
            <a:r>
              <a:rPr lang="zh-CN" altLang="en-US" sz="2200"/>
              <a:t>的监听器：可以监听</a:t>
            </a:r>
            <a:r>
              <a:rPr lang="en-US" altLang="zh-CN" sz="2200"/>
              <a:t>ServletContext</a:t>
            </a:r>
            <a:r>
              <a:rPr lang="zh-CN" altLang="en-US" sz="2200"/>
              <a:t>对象的创建、销毁， 还可以对</a:t>
            </a:r>
            <a:r>
              <a:rPr lang="en-US" altLang="zh-CN" sz="2200"/>
              <a:t>ServletContext</a:t>
            </a:r>
            <a:r>
              <a:rPr lang="zh-CN" altLang="en-US" sz="2200"/>
              <a:t>对象上绑定属性的状态改变事件进行监听，如增加了属性、删除了属性或给属性设了新值。</a:t>
            </a:r>
            <a:endParaRPr lang="zh-CN" altLang="en-US" sz="2200"/>
          </a:p>
          <a:p>
            <a:pPr eaLnBrk="1" hangingPunct="1">
              <a:lnSpc>
                <a:spcPct val="150000"/>
              </a:lnSpc>
            </a:pPr>
            <a:r>
              <a:rPr lang="en-US" altLang="zh-CN" sz="2200"/>
              <a:t>        2. session</a:t>
            </a:r>
            <a:r>
              <a:rPr lang="zh-CN" altLang="en-US" sz="2200"/>
              <a:t>的监听器：可以监听</a:t>
            </a:r>
            <a:r>
              <a:rPr lang="en-US" altLang="zh-CN" sz="2200"/>
              <a:t>session</a:t>
            </a:r>
            <a:r>
              <a:rPr lang="zh-CN" altLang="en-US" sz="2200"/>
              <a:t>的创建、销毁，</a:t>
            </a:r>
            <a:r>
              <a:rPr lang="en-US" altLang="zh-CN" sz="2200"/>
              <a:t>session</a:t>
            </a:r>
            <a:r>
              <a:rPr lang="zh-CN" altLang="en-US" sz="2200"/>
              <a:t>的</a:t>
            </a:r>
            <a:r>
              <a:rPr lang="en-US" altLang="zh-CN" sz="2200"/>
              <a:t>active</a:t>
            </a:r>
            <a:r>
              <a:rPr lang="zh-CN" altLang="en-US" sz="2200"/>
              <a:t>状态改变，</a:t>
            </a:r>
            <a:r>
              <a:rPr lang="en-US" altLang="zh-CN" sz="2200"/>
              <a:t>session</a:t>
            </a:r>
            <a:r>
              <a:rPr lang="zh-CN" altLang="en-US" sz="2200"/>
              <a:t>上的对象绑定状态，以及</a:t>
            </a:r>
            <a:r>
              <a:rPr lang="en-US" altLang="zh-CN" sz="2200"/>
              <a:t>session</a:t>
            </a:r>
            <a:r>
              <a:rPr lang="zh-CN" altLang="en-US" sz="2200"/>
              <a:t>上绑定属性的状态改变事件。 </a:t>
            </a:r>
            <a:endParaRPr lang="zh-CN" altLang="en-US" sz="2200"/>
          </a:p>
          <a:p>
            <a:pPr eaLnBrk="1" hangingPunct="1">
              <a:lnSpc>
                <a:spcPct val="150000"/>
              </a:lnSpc>
            </a:pPr>
            <a:r>
              <a:rPr lang="en-US" altLang="zh-CN" sz="2200"/>
              <a:t>        3. request</a:t>
            </a:r>
            <a:r>
              <a:rPr lang="zh-CN" altLang="en-US" sz="2200"/>
              <a:t>的监听器：可以监听客户端请求的创建、销毁，还可以监听</a:t>
            </a:r>
            <a:r>
              <a:rPr lang="en-US" altLang="zh-CN" sz="2200"/>
              <a:t>request</a:t>
            </a:r>
            <a:r>
              <a:rPr lang="zh-CN" altLang="en-US" sz="2200"/>
              <a:t>上绑定属性的状态改变事件。</a:t>
            </a:r>
            <a:endParaRPr lang="zh-CN" altLang="en-US" sz="2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  <a:sym typeface="+mn-ea"/>
              </a:rPr>
              <a:t>Servlet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监听器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1187" y="1549400"/>
            <a:ext cx="10426699" cy="504825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7.2.3 </a:t>
            </a:r>
            <a:r>
              <a:rPr lang="zh-CN" altLang="en-US">
                <a:ea typeface="宋体" panose="02010600030101010101" pitchFamily="2" charset="-122"/>
              </a:rPr>
              <a:t>一个使用</a:t>
            </a:r>
            <a:r>
              <a:rPr lang="en-US" altLang="zh-CN">
                <a:ea typeface="宋体" panose="02010600030101010101" pitchFamily="2" charset="-122"/>
              </a:rPr>
              <a:t>Servlet</a:t>
            </a:r>
            <a:r>
              <a:rPr lang="zh-CN" altLang="en-US">
                <a:ea typeface="宋体" panose="02010600030101010101" pitchFamily="2" charset="-122"/>
              </a:rPr>
              <a:t>监听器的应用程序体验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930275" y="2292886"/>
            <a:ext cx="10971708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</a:pPr>
            <a:r>
              <a:rPr lang="zh-CN" altLang="en-US" sz="2000"/>
              <a:t>案例</a:t>
            </a:r>
            <a:r>
              <a:rPr lang="zh-CN" altLang="en-US" sz="2000" smtClean="0"/>
              <a:t>：监听</a:t>
            </a:r>
            <a:r>
              <a:rPr lang="en-US" altLang="zh-CN" sz="2000" smtClean="0"/>
              <a:t>Web</a:t>
            </a:r>
            <a:r>
              <a:rPr lang="zh-CN" altLang="en-US" sz="2000"/>
              <a:t>应用</a:t>
            </a:r>
            <a:r>
              <a:rPr lang="en-US" altLang="zh-CN" sz="2000"/>
              <a:t>ExampleListener</a:t>
            </a:r>
            <a:r>
              <a:rPr lang="zh-CN" altLang="en-US" sz="2000"/>
              <a:t>的启、停状态，每次启动或关闭此</a:t>
            </a:r>
            <a:r>
              <a:rPr lang="en-US" altLang="zh-CN" sz="2000"/>
              <a:t>Web</a:t>
            </a:r>
            <a:r>
              <a:rPr lang="zh-CN" altLang="en-US" sz="2000"/>
              <a:t>应用都希望能将其记录下来，如下图所示：</a:t>
            </a:r>
            <a:endParaRPr lang="zh-CN" altLang="en-US" sz="2000"/>
          </a:p>
        </p:txBody>
      </p:sp>
      <p:pic>
        <p:nvPicPr>
          <p:cNvPr id="2" name="图片 -21474826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3070" y="3976370"/>
            <a:ext cx="6170295" cy="193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实战演练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885190" y="1384301"/>
            <a:ext cx="11002441" cy="5169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</a:pPr>
            <a:r>
              <a:rPr lang="zh-CN" altLang="en-US" sz="2200" smtClean="0"/>
              <a:t>使用监听器</a:t>
            </a:r>
            <a:r>
              <a:rPr lang="zh-CN" altLang="en-US" sz="2200"/>
              <a:t>的开发步骤：</a:t>
            </a:r>
            <a:endParaRPr lang="en-US" altLang="zh-CN" sz="2200"/>
          </a:p>
          <a:p>
            <a:pPr eaLnBrk="1" hangingPunct="1">
              <a:lnSpc>
                <a:spcPct val="200000"/>
              </a:lnSpc>
            </a:pPr>
            <a:r>
              <a:rPr lang="en-US" altLang="zh-CN" sz="2200"/>
              <a:t>1</a:t>
            </a:r>
            <a:r>
              <a:rPr lang="zh-CN" altLang="en-US" sz="2200"/>
              <a:t>．创建</a:t>
            </a:r>
            <a:r>
              <a:rPr lang="en-US" altLang="zh-CN" sz="2200"/>
              <a:t>Servlet</a:t>
            </a:r>
            <a:r>
              <a:rPr lang="zh-CN" altLang="en-US" sz="2200"/>
              <a:t>监听器类</a:t>
            </a:r>
            <a:r>
              <a:rPr lang="zh-CN" altLang="en-US" sz="2200" smtClean="0"/>
              <a:t>。考虑需要监听何种事件，再以实现能监听该种事件的接口的方式创建自己的监听器类。在这里希望监听的是Web应用的启、停事件，即ServletContextEvent事件，就需要创建实现ServletContextListener接口的监听器类。</a:t>
            </a:r>
            <a:endParaRPr lang="zh-CN" altLang="en-US" sz="2200" smtClean="0"/>
          </a:p>
          <a:p>
            <a:pPr eaLnBrk="1" hangingPunct="1">
              <a:lnSpc>
                <a:spcPct val="200000"/>
              </a:lnSpc>
            </a:pPr>
            <a:r>
              <a:rPr lang="en-US" altLang="zh-CN" sz="2200"/>
              <a:t>2</a:t>
            </a:r>
            <a:r>
              <a:rPr lang="zh-CN" altLang="en-US" sz="2200" smtClean="0"/>
              <a:t>．配置</a:t>
            </a:r>
            <a:r>
              <a:rPr lang="zh-CN" altLang="en-US" sz="2200"/>
              <a:t>监听器</a:t>
            </a:r>
            <a:r>
              <a:rPr lang="zh-CN" altLang="en-US" sz="2200" smtClean="0"/>
              <a:t>。可在</a:t>
            </a:r>
            <a:r>
              <a:rPr lang="en-US" altLang="zh-CN" sz="2200" smtClean="0"/>
              <a:t>web.xml</a:t>
            </a:r>
            <a:r>
              <a:rPr lang="zh-CN" altLang="en-US" sz="2200" smtClean="0"/>
              <a:t>中进行配置，配置监听器类名。例如：</a:t>
            </a:r>
            <a:endParaRPr lang="zh-CN" altLang="en-US" sz="2200" smtClean="0"/>
          </a:p>
          <a:p>
            <a:pPr eaLnBrk="1" hangingPunct="1">
              <a:lnSpc>
                <a:spcPct val="100000"/>
              </a:lnSpc>
            </a:pPr>
            <a:r>
              <a:rPr lang="en-US" altLang="zh-CN" sz="2200"/>
              <a:t>&lt;listener&gt;</a:t>
            </a:r>
            <a:endParaRPr lang="en-US" altLang="zh-CN" sz="2200"/>
          </a:p>
          <a:p>
            <a:pPr eaLnBrk="1" hangingPunct="1">
              <a:lnSpc>
                <a:spcPct val="100000"/>
              </a:lnSpc>
            </a:pPr>
            <a:r>
              <a:rPr lang="en-US" altLang="zh-CN" sz="2200"/>
              <a:t>	&lt;listener-class&gt;</a:t>
            </a:r>
            <a:endParaRPr lang="en-US" altLang="zh-CN" sz="2200"/>
          </a:p>
          <a:p>
            <a:pPr eaLnBrk="1" hangingPunct="1">
              <a:lnSpc>
                <a:spcPct val="100000"/>
              </a:lnSpc>
            </a:pPr>
            <a:r>
              <a:rPr lang="en-US" altLang="zh-CN" sz="2200"/>
              <a:t>		listener.MyServletContextListener</a:t>
            </a:r>
            <a:endParaRPr lang="en-US" altLang="zh-CN" sz="2200"/>
          </a:p>
          <a:p>
            <a:pPr eaLnBrk="1" hangingPunct="1">
              <a:lnSpc>
                <a:spcPct val="100000"/>
              </a:lnSpc>
            </a:pPr>
            <a:r>
              <a:rPr lang="en-US" altLang="zh-CN" sz="2200"/>
              <a:t>	&lt;/listener-class&gt;</a:t>
            </a:r>
            <a:endParaRPr lang="en-US" altLang="zh-CN" sz="2200"/>
          </a:p>
          <a:p>
            <a:pPr eaLnBrk="1" hangingPunct="1">
              <a:lnSpc>
                <a:spcPct val="100000"/>
              </a:lnSpc>
            </a:pPr>
            <a:r>
              <a:rPr lang="en-US" altLang="zh-CN" sz="2200"/>
              <a:t>&lt;/listener&gt;</a:t>
            </a:r>
            <a:endParaRPr lang="en-US" altLang="zh-CN" sz="2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59024" y="654622"/>
            <a:ext cx="11264801" cy="656296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典型模块应用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59483" y="1790351"/>
            <a:ext cx="11269266" cy="449027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600">
                <a:ea typeface="宋体" panose="02010600030101010101" pitchFamily="2" charset="-122"/>
              </a:rPr>
              <a:t>案例 </a:t>
            </a:r>
            <a:r>
              <a:rPr lang="en-US" altLang="zh-CN" sz="2600" smtClean="0">
                <a:ea typeface="宋体" panose="02010600030101010101" pitchFamily="2" charset="-122"/>
              </a:rPr>
              <a:t>7-1 </a:t>
            </a:r>
            <a:r>
              <a:rPr lang="zh-CN" altLang="en-US" sz="2600" smtClean="0">
                <a:ea typeface="宋体" panose="02010600030101010101" pitchFamily="2" charset="-122"/>
              </a:rPr>
              <a:t>转码过滤器。</a:t>
            </a:r>
            <a:endParaRPr lang="zh-CN" altLang="en-US" sz="260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2600">
              <a:ea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None/>
            </a:pPr>
            <a:endParaRPr lang="zh-CN" altLang="en-US" sz="2600">
              <a:ea typeface="宋体" panose="02010600030101010101" pitchFamily="2" charset="-122"/>
            </a:endParaRPr>
          </a:p>
        </p:txBody>
      </p:sp>
      <p:pic>
        <p:nvPicPr>
          <p:cNvPr id="3" name="图片 -21474826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945" y="2968625"/>
            <a:ext cx="5061585" cy="171259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4" name="图片 -214748259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710" y="3004185"/>
            <a:ext cx="4599940" cy="16414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00" name="文本框 99"/>
          <p:cNvSpPr txBox="1"/>
          <p:nvPr/>
        </p:nvSpPr>
        <p:spPr>
          <a:xfrm>
            <a:off x="2397125" y="4984750"/>
            <a:ext cx="172847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269875"/>
            <a:r>
              <a:rPr lang="zh-CN" sz="1400" b="0">
                <a:ea typeface="宋体" panose="02010600030101010101" pitchFamily="2" charset="-122"/>
              </a:rPr>
              <a:t>试图传输中文</a:t>
            </a:r>
            <a:endParaRPr lang="zh-CN" altLang="en-US" sz="1400" b="0"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517890" y="4912995"/>
            <a:ext cx="172847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269875"/>
            <a:r>
              <a:rPr lang="zh-CN" sz="1400" b="0">
                <a:ea typeface="宋体" panose="02010600030101010101" pitchFamily="2" charset="-122"/>
              </a:rPr>
              <a:t>正确接收中文</a:t>
            </a:r>
            <a:endParaRPr lang="zh-CN" sz="1400" b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59024" y="654622"/>
            <a:ext cx="11264801" cy="656296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典型模块应用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84883" y="1600486"/>
            <a:ext cx="11269266" cy="4490270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endParaRPr lang="zh-CN" altLang="en-US" sz="260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600">
                <a:ea typeface="宋体" panose="02010600030101010101" pitchFamily="2" charset="-122"/>
              </a:rPr>
              <a:t>案例 </a:t>
            </a:r>
            <a:r>
              <a:rPr lang="en-US" altLang="zh-CN" sz="2600" smtClean="0">
                <a:ea typeface="宋体" panose="02010600030101010101" pitchFamily="2" charset="-122"/>
              </a:rPr>
              <a:t>7-2 </a:t>
            </a:r>
            <a:r>
              <a:rPr lang="zh-CN" altLang="en-US" sz="2600" smtClean="0">
                <a:ea typeface="宋体" panose="02010600030101010101" pitchFamily="2" charset="-122"/>
              </a:rPr>
              <a:t>过滤留言者，凡名字中含“鬼”字都不允许留言。</a:t>
            </a:r>
            <a:endParaRPr lang="en-US" altLang="zh-CN" sz="2600" smtClean="0">
              <a:ea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None/>
            </a:pPr>
            <a:endParaRPr lang="zh-CN" altLang="en-US" sz="2600">
              <a:ea typeface="宋体" panose="02010600030101010101" pitchFamily="2" charset="-122"/>
            </a:endParaRPr>
          </a:p>
        </p:txBody>
      </p:sp>
      <p:pic>
        <p:nvPicPr>
          <p:cNvPr id="3" name="图片 -214748259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3328670"/>
            <a:ext cx="4992370" cy="173418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4" name="图片 -21474825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665" y="3357245"/>
            <a:ext cx="4910455" cy="170561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00" name="文本框 99"/>
          <p:cNvSpPr txBox="1"/>
          <p:nvPr/>
        </p:nvSpPr>
        <p:spPr>
          <a:xfrm>
            <a:off x="1892935" y="5344795"/>
            <a:ext cx="288798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269875"/>
            <a:r>
              <a:rPr lang="zh-CN" sz="1400" b="0">
                <a:ea typeface="宋体" panose="02010600030101010101" pitchFamily="2" charset="-122"/>
              </a:rPr>
              <a:t>名称含“鬼”的用户试图留言</a:t>
            </a:r>
            <a:endParaRPr lang="zh-CN" altLang="en-US" sz="1400" b="0"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797800" y="5344795"/>
            <a:ext cx="288798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269875"/>
            <a:r>
              <a:rPr lang="zh-CN" sz="1400" b="0">
                <a:ea typeface="宋体" panose="02010600030101010101" pitchFamily="2" charset="-122"/>
              </a:rPr>
              <a:t>名称不合法阻止之</a:t>
            </a:r>
            <a:endParaRPr lang="zh-CN" sz="1400" b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59024" y="654622"/>
            <a:ext cx="11264801" cy="656296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典型模块应用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84883" y="1528731"/>
            <a:ext cx="11269266" cy="4490270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altLang="zh-CN" sz="260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600" smtClean="0">
                <a:ea typeface="宋体" panose="02010600030101010101" pitchFamily="2" charset="-122"/>
              </a:rPr>
              <a:t>案例</a:t>
            </a:r>
            <a:r>
              <a:rPr lang="en-US" altLang="zh-CN" sz="2600" smtClean="0">
                <a:ea typeface="宋体" panose="02010600030101010101" pitchFamily="2" charset="-122"/>
              </a:rPr>
              <a:t>7-3 </a:t>
            </a:r>
            <a:r>
              <a:rPr lang="zh-CN" altLang="en-US" sz="2600" smtClean="0">
                <a:ea typeface="宋体" panose="02010600030101010101" pitchFamily="2" charset="-122"/>
              </a:rPr>
              <a:t>监听上线人员数量。</a:t>
            </a:r>
            <a:endParaRPr lang="zh-CN" altLang="en-US" sz="2600">
              <a:ea typeface="宋体" panose="02010600030101010101" pitchFamily="2" charset="-122"/>
            </a:endParaRPr>
          </a:p>
        </p:txBody>
      </p:sp>
      <p:pic>
        <p:nvPicPr>
          <p:cNvPr id="2" name="图片 -214748259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7260" y="3112770"/>
            <a:ext cx="4956810" cy="2247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59024" y="654622"/>
            <a:ext cx="11264801" cy="656296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本章小结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2711" y="1312069"/>
            <a:ext cx="11665296" cy="5327954"/>
          </a:xfrm>
        </p:spPr>
        <p:txBody>
          <a:bodyPr/>
          <a:lstStyle/>
          <a:p>
            <a:pPr>
              <a:lnSpc>
                <a:spcPct val="100000"/>
              </a:lnSpc>
            </a:pPr>
            <a:endParaRPr lang="en-US" altLang="zh-CN" sz="2400" dirty="0">
              <a:ea typeface="宋体" panose="02010600030101010101" pitchFamily="2" charset="-122"/>
            </a:endParaRPr>
          </a:p>
          <a:p>
            <a:pPr>
              <a:lnSpc>
                <a:spcPct val="160000"/>
              </a:lnSpc>
              <a:buNone/>
            </a:pPr>
            <a:r>
              <a:rPr lang="en-US" sz="2000" dirty="0" smtClean="0">
                <a:ea typeface="宋体" panose="02010600030101010101" pitchFamily="2" charset="-122"/>
              </a:rPr>
              <a:t>             </a:t>
            </a:r>
            <a:r>
              <a:rPr sz="2000" dirty="0" err="1" smtClean="0">
                <a:ea typeface="宋体" panose="02010600030101010101" pitchFamily="2" charset="-122"/>
              </a:rPr>
              <a:t>在</a:t>
            </a:r>
            <a:r>
              <a:rPr sz="2000" dirty="0" err="1">
                <a:ea typeface="宋体" panose="02010600030101010101" pitchFamily="2" charset="-122"/>
              </a:rPr>
              <a:t>Java</a:t>
            </a:r>
            <a:r>
              <a:rPr sz="2000" dirty="0">
                <a:ea typeface="宋体" panose="02010600030101010101" pitchFamily="2" charset="-122"/>
              </a:rPr>
              <a:t> Web技术中有两种具有特殊功能的Web组件：Servlet过滤器和Servlet监听器。Servlet过滤器能对请求和响应对象进行检查和修改，实现访问控制，统一转码，过滤非法信息等功能。Servlet监听器可以监听Web应用中的各种状态改变事件。这两种组件的使用都可以通过配置web.xml文件的方式或基于注解的方式进行。</a:t>
            </a:r>
            <a:endParaRPr sz="2000" dirty="0">
              <a:ea typeface="宋体" panose="02010600030101010101" pitchFamily="2" charset="-122"/>
            </a:endParaRPr>
          </a:p>
          <a:p>
            <a:pPr>
              <a:lnSpc>
                <a:spcPct val="160000"/>
              </a:lnSpc>
              <a:buNone/>
            </a:pPr>
            <a:r>
              <a:rPr lang="en-US" sz="2000" dirty="0" smtClean="0">
                <a:ea typeface="宋体" panose="02010600030101010101" pitchFamily="2" charset="-122"/>
              </a:rPr>
              <a:t>              </a:t>
            </a:r>
            <a:r>
              <a:rPr sz="2000" dirty="0" smtClean="0">
                <a:ea typeface="宋体" panose="02010600030101010101" pitchFamily="2" charset="-122"/>
              </a:rPr>
              <a:t>Servlet</a:t>
            </a:r>
            <a:r>
              <a:rPr sz="2000" dirty="0">
                <a:ea typeface="宋体" panose="02010600030101010101" pitchFamily="2" charset="-122"/>
              </a:rPr>
              <a:t>过滤器与监听器技术主要可用于确保Web应用的安全性。在设计Web应用系统时要时刻本着对用户，企业和社会负责的态度，培养职业道德与敬业精神，提升安全防范意识，灵活应用所学技术来确保所设计软件产品的安全性。对初学者来说，在设计Servlet过滤器与监听器过程中通常遇到一些运行时的异常，这就需要通过不断的找错排错来培养自己的代码调试分析能力。</a:t>
            </a:r>
            <a:endParaRPr sz="2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实战演练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885190" y="1891983"/>
            <a:ext cx="11002441" cy="4154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</a:pPr>
            <a:r>
              <a:rPr lang="zh-CN" altLang="en-US" sz="2200"/>
              <a:t>[实战 7-1] 使用过滤器对网站的首页进行流量统计，当用户访问该页面时显示当前的访问流量。要注意统计流量时的同步问题。</a:t>
            </a:r>
            <a:endParaRPr lang="zh-CN" altLang="en-US" sz="2200"/>
          </a:p>
          <a:p>
            <a:pPr eaLnBrk="1" hangingPunct="1">
              <a:lnSpc>
                <a:spcPct val="200000"/>
              </a:lnSpc>
            </a:pPr>
            <a:r>
              <a:rPr lang="zh-CN" altLang="en-US" sz="2200"/>
              <a:t>[实战 7-2] 使用过滤器对响应信息中的敏感字符进行过滤。假设“鬼”字看做是敏感字符，要求响应到客户端时将其修改为其他字符。</a:t>
            </a:r>
            <a:endParaRPr lang="zh-CN" altLang="en-US" sz="2200"/>
          </a:p>
          <a:p>
            <a:pPr eaLnBrk="1" hangingPunct="1">
              <a:lnSpc>
                <a:spcPct val="200000"/>
              </a:lnSpc>
            </a:pPr>
            <a:r>
              <a:rPr lang="zh-CN" altLang="en-US" sz="2200"/>
              <a:t>[实战 7-3] 使用监听器实现服务器本机免登陆。如果是服务器本机访问网站的首页，则显示欢迎消息，如果是远程客户机访问网站首页则转至登陆页要求远程客户先登陆。</a:t>
            </a:r>
            <a:endParaRPr lang="zh-CN" altLang="en-US" sz="2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/>
          <p:cNvSpPr/>
          <p:nvPr/>
        </p:nvSpPr>
        <p:spPr>
          <a:xfrm>
            <a:off x="0" y="0"/>
            <a:ext cx="7256762" cy="7256364"/>
          </a:xfrm>
          <a:prstGeom prst="rtTriangle">
            <a:avLst/>
          </a:prstGeom>
          <a:blipFill dpi="0" rotWithShape="1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3" name="任意多边形 2"/>
          <p:cNvSpPr/>
          <p:nvPr/>
        </p:nvSpPr>
        <p:spPr>
          <a:xfrm rot="5400000" flipV="1">
            <a:off x="1608166" y="1145782"/>
            <a:ext cx="4826927" cy="4827192"/>
          </a:xfrm>
          <a:custGeom>
            <a:avLst/>
            <a:gdLst>
              <a:gd name="connsiteX0" fmla="*/ 0 w 4343400"/>
              <a:gd name="connsiteY0" fmla="*/ 0 h 4343400"/>
              <a:gd name="connsiteX1" fmla="*/ 4343400 w 4343400"/>
              <a:gd name="connsiteY1" fmla="*/ 4343400 h 4343400"/>
              <a:gd name="connsiteX2" fmla="*/ 3486149 w 4343400"/>
              <a:gd name="connsiteY2" fmla="*/ 4343400 h 4343400"/>
              <a:gd name="connsiteX3" fmla="*/ 0 w 4343400"/>
              <a:gd name="connsiteY3" fmla="*/ 857251 h 4343400"/>
              <a:gd name="connsiteX4" fmla="*/ 0 w 4343400"/>
              <a:gd name="connsiteY4" fmla="*/ 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3400" h="4343400">
                <a:moveTo>
                  <a:pt x="0" y="0"/>
                </a:moveTo>
                <a:lnTo>
                  <a:pt x="4343400" y="4343400"/>
                </a:lnTo>
                <a:lnTo>
                  <a:pt x="3486149" y="4343400"/>
                </a:lnTo>
                <a:lnTo>
                  <a:pt x="0" y="8572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57167" y="1960141"/>
            <a:ext cx="8595718" cy="622280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r>
              <a:rPr kumimoji="1" lang="en-US" altLang="zh-CN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&lt;&lt;JSP</a:t>
            </a:r>
            <a:r>
              <a:rPr kumimoji="1" lang="zh-CN" altLang="en-US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与</a:t>
            </a:r>
            <a:r>
              <a:rPr kumimoji="1" lang="en-US" altLang="zh-CN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Servlet</a:t>
            </a:r>
            <a:r>
              <a:rPr kumimoji="1" lang="zh-CN" altLang="en-US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开发技术与典型应用教程</a:t>
            </a:r>
            <a:r>
              <a:rPr kumimoji="1" lang="en-US" altLang="zh-CN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&gt;&gt;</a:t>
            </a:r>
            <a:endParaRPr kumimoji="1" lang="zh-CN" altLang="en-US" sz="3200" b="1" dirty="0">
              <a:solidFill>
                <a:srgbClr val="526580"/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09295" y="2896245"/>
            <a:ext cx="6016403" cy="560725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prstClr val="white">
                    <a:lumMod val="50000"/>
                  </a:prstClr>
                </a:solidFill>
                <a:cs typeface="+mn-ea"/>
                <a:sym typeface="+mn-lt"/>
              </a:rPr>
              <a:t>感谢观看 </a:t>
            </a:r>
            <a:r>
              <a:rPr kumimoji="1" lang="en-US" altLang="zh-CN" sz="2800" dirty="0">
                <a:solidFill>
                  <a:prstClr val="white">
                    <a:lumMod val="50000"/>
                  </a:prstClr>
                </a:solidFill>
                <a:cs typeface="+mn-ea"/>
                <a:sym typeface="+mn-lt"/>
              </a:rPr>
              <a:t>THANK YOU!</a:t>
            </a:r>
            <a:endParaRPr kumimoji="1" lang="zh-CN" altLang="en-US" sz="2800" dirty="0">
              <a:solidFill>
                <a:prstClr val="white">
                  <a:lumMod val="50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12" name="直角三角形 11"/>
          <p:cNvSpPr/>
          <p:nvPr/>
        </p:nvSpPr>
        <p:spPr>
          <a:xfrm flipH="1">
            <a:off x="8229575" y="3976365"/>
            <a:ext cx="4629176" cy="3279999"/>
          </a:xfrm>
          <a:prstGeom prst="rtTriangle">
            <a:avLst/>
          </a:prstGeom>
          <a:solidFill>
            <a:srgbClr val="43536A"/>
          </a:solidFill>
          <a:ln>
            <a:solidFill>
              <a:srgbClr val="4353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schemeClr val="bg2">
                  <a:lumMod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直角三角形 15"/>
          <p:cNvSpPr/>
          <p:nvPr/>
        </p:nvSpPr>
        <p:spPr>
          <a:xfrm rot="13500000" flipV="1">
            <a:off x="2775844" y="-1270801"/>
            <a:ext cx="2491570" cy="2491706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73591" y="3976365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2000" b="1" dirty="0">
                <a:solidFill>
                  <a:srgbClr val="526580"/>
                </a:solidFill>
                <a:cs typeface="+mn-ea"/>
              </a:rPr>
              <a:t>大连理工大学出版社</a:t>
            </a:r>
            <a:endParaRPr kumimoji="1" lang="zh-CN" altLang="en-US" sz="2000" b="1" dirty="0">
              <a:solidFill>
                <a:srgbClr val="526580"/>
              </a:solidFill>
              <a:cs typeface="+mn-ea"/>
            </a:endParaRPr>
          </a:p>
        </p:txBody>
      </p:sp>
      <p:sp>
        <p:nvSpPr>
          <p:cNvPr id="10" name="文本框 8"/>
          <p:cNvSpPr txBox="1"/>
          <p:nvPr/>
        </p:nvSpPr>
        <p:spPr>
          <a:xfrm rot="2679144">
            <a:off x="1518042" y="2942040"/>
            <a:ext cx="5266506" cy="560725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 algn="ctr">
              <a:buNone/>
            </a:pPr>
            <a:r>
              <a:rPr kumimoji="1" lang="zh-CN" altLang="en-US" sz="2800" b="1" smtClean="0">
                <a:solidFill>
                  <a:srgbClr val="526580"/>
                </a:solidFill>
                <a:latin typeface="+mn-ea"/>
                <a:ea typeface="+mn-ea"/>
                <a:cs typeface="+mn-ea"/>
                <a:sym typeface="宋体" panose="02010600030101010101" pitchFamily="2" charset="-122"/>
              </a:rPr>
              <a:t>第七章 </a:t>
            </a:r>
            <a:r>
              <a:rPr kumimoji="1" lang="en-US" altLang="zh-CN" sz="2800" b="1" smtClean="0">
                <a:solidFill>
                  <a:srgbClr val="526580"/>
                </a:solidFill>
                <a:latin typeface="+mn-ea"/>
                <a:ea typeface="+mn-ea"/>
                <a:cs typeface="+mn-ea"/>
                <a:sym typeface="宋体" panose="02010600030101010101" pitchFamily="2" charset="-122"/>
              </a:rPr>
              <a:t>   Servlet</a:t>
            </a:r>
            <a:r>
              <a:rPr kumimoji="1" lang="zh-CN" altLang="en-US" sz="2800" b="1" smtClean="0">
                <a:solidFill>
                  <a:srgbClr val="526580"/>
                </a:solidFill>
                <a:latin typeface="+mn-ea"/>
                <a:ea typeface="+mn-ea"/>
                <a:cs typeface="+mn-ea"/>
                <a:sym typeface="宋体" panose="02010600030101010101" pitchFamily="2" charset="-122"/>
              </a:rPr>
              <a:t>进阶</a:t>
            </a:r>
            <a:endParaRPr kumimoji="1" lang="zh-CN" altLang="en-US" sz="2800" b="1" dirty="0">
              <a:solidFill>
                <a:srgbClr val="526580"/>
              </a:solidFill>
              <a:latin typeface="+mn-ea"/>
              <a:ea typeface="+mn-ea"/>
              <a:cs typeface="+mn-ea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/>
      <p:bldP spid="8" grpId="0"/>
      <p:bldP spid="12" grpId="0" animBg="1"/>
      <p:bldP spid="16" grpId="0" animBg="1"/>
      <p:bldP spid="4" grpId="0"/>
      <p:bldP spid="10" grpId="0"/>
    </p:bldLst>
  </p:timing>
</p:sld>
</file>

<file path=ppt/tags/tag1.xml><?xml version="1.0" encoding="utf-8"?>
<p:tagLst xmlns:p="http://schemas.openxmlformats.org/presentationml/2006/main">
  <p:tag name="ISPRING_PRESENTATION_TITLE" val="bt026.pptx"/>
</p:tagLst>
</file>

<file path=ppt/theme/theme1.xml><?xml version="1.0" encoding="utf-8"?>
<a:theme xmlns:a="http://schemas.openxmlformats.org/drawingml/2006/main" name="自定义设计方案">
  <a:themeElements>
    <a:clrScheme name="自定义 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3366"/>
      </a:accent1>
      <a:accent2>
        <a:srgbClr val="003366"/>
      </a:accent2>
      <a:accent3>
        <a:srgbClr val="003366"/>
      </a:accent3>
      <a:accent4>
        <a:srgbClr val="003366"/>
      </a:accent4>
      <a:accent5>
        <a:srgbClr val="003366"/>
      </a:accent5>
      <a:accent6>
        <a:srgbClr val="003366"/>
      </a:accent6>
      <a:hlink>
        <a:srgbClr val="003366"/>
      </a:hlink>
      <a:folHlink>
        <a:srgbClr val="003366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D9D9D9">
            <a:alpha val="50196"/>
          </a:srgb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灰白简约科技PPT模板">
  <a:themeElements>
    <a:clrScheme name="灰白简约科技PPT模板 3">
      <a:dk1>
        <a:srgbClr val="000000"/>
      </a:dk1>
      <a:lt1>
        <a:srgbClr val="FFFFFF"/>
      </a:lt1>
      <a:dk2>
        <a:srgbClr val="333399"/>
      </a:dk2>
      <a:lt2>
        <a:srgbClr val="C0C0C0"/>
      </a:lt2>
      <a:accent1>
        <a:srgbClr val="88BEF4"/>
      </a:accent1>
      <a:accent2>
        <a:srgbClr val="F1900F"/>
      </a:accent2>
      <a:accent3>
        <a:srgbClr val="FFFFFF"/>
      </a:accent3>
      <a:accent4>
        <a:srgbClr val="000000"/>
      </a:accent4>
      <a:accent5>
        <a:srgbClr val="C3DBF8"/>
      </a:accent5>
      <a:accent6>
        <a:srgbClr val="DA820C"/>
      </a:accent6>
      <a:hlink>
        <a:srgbClr val="CC3300"/>
      </a:hlink>
      <a:folHlink>
        <a:srgbClr val="0066CC"/>
      </a:folHlink>
    </a:clrScheme>
    <a:fontScheme name="灰白简约科技PPT模板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灰白简约科技PPT模板 1">
        <a:dk1>
          <a:srgbClr val="000000"/>
        </a:dk1>
        <a:lt1>
          <a:srgbClr val="FFFFFF"/>
        </a:lt1>
        <a:dk2>
          <a:srgbClr val="632769"/>
        </a:dk2>
        <a:lt2>
          <a:srgbClr val="DDDDDD"/>
        </a:lt2>
        <a:accent1>
          <a:srgbClr val="8B8DE1"/>
        </a:accent1>
        <a:accent2>
          <a:srgbClr val="FF997D"/>
        </a:accent2>
        <a:accent3>
          <a:srgbClr val="FFFFFF"/>
        </a:accent3>
        <a:accent4>
          <a:srgbClr val="000000"/>
        </a:accent4>
        <a:accent5>
          <a:srgbClr val="C4C5EE"/>
        </a:accent5>
        <a:accent6>
          <a:srgbClr val="E78A71"/>
        </a:accent6>
        <a:hlink>
          <a:srgbClr val="58AFD2"/>
        </a:hlink>
        <a:folHlink>
          <a:srgbClr val="BFDF6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灰白简约科技PPT模板 2">
        <a:dk1>
          <a:srgbClr val="000000"/>
        </a:dk1>
        <a:lt1>
          <a:srgbClr val="FFFFFF"/>
        </a:lt1>
        <a:dk2>
          <a:srgbClr val="26728A"/>
        </a:dk2>
        <a:lt2>
          <a:srgbClr val="DDDDDD"/>
        </a:lt2>
        <a:accent1>
          <a:srgbClr val="9FCAD3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8A8AE7"/>
        </a:accent6>
        <a:hlink>
          <a:srgbClr val="71A5DF"/>
        </a:hlink>
        <a:folHlink>
          <a:srgbClr val="F1CA6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灰白简约科技PPT模板 3">
        <a:dk1>
          <a:srgbClr val="000000"/>
        </a:dk1>
        <a:lt1>
          <a:srgbClr val="FFFFFF"/>
        </a:lt1>
        <a:dk2>
          <a:srgbClr val="333399"/>
        </a:dk2>
        <a:lt2>
          <a:srgbClr val="C0C0C0"/>
        </a:lt2>
        <a:accent1>
          <a:srgbClr val="88BEF4"/>
        </a:accent1>
        <a:accent2>
          <a:srgbClr val="F1900F"/>
        </a:accent2>
        <a:accent3>
          <a:srgbClr val="FFFFFF"/>
        </a:accent3>
        <a:accent4>
          <a:srgbClr val="000000"/>
        </a:accent4>
        <a:accent5>
          <a:srgbClr val="C3DBF8"/>
        </a:accent5>
        <a:accent6>
          <a:srgbClr val="DA820C"/>
        </a:accent6>
        <a:hlink>
          <a:srgbClr val="CC33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灰白简约科技PPT模板">
  <a:themeElements>
    <a:clrScheme name="灰白简约科技PPT模板 3">
      <a:dk1>
        <a:srgbClr val="000000"/>
      </a:dk1>
      <a:lt1>
        <a:srgbClr val="FFFFFF"/>
      </a:lt1>
      <a:dk2>
        <a:srgbClr val="333399"/>
      </a:dk2>
      <a:lt2>
        <a:srgbClr val="C0C0C0"/>
      </a:lt2>
      <a:accent1>
        <a:srgbClr val="88BEF4"/>
      </a:accent1>
      <a:accent2>
        <a:srgbClr val="F1900F"/>
      </a:accent2>
      <a:accent3>
        <a:srgbClr val="FFFFFF"/>
      </a:accent3>
      <a:accent4>
        <a:srgbClr val="000000"/>
      </a:accent4>
      <a:accent5>
        <a:srgbClr val="C3DBF8"/>
      </a:accent5>
      <a:accent6>
        <a:srgbClr val="DA820C"/>
      </a:accent6>
      <a:hlink>
        <a:srgbClr val="CC3300"/>
      </a:hlink>
      <a:folHlink>
        <a:srgbClr val="0066CC"/>
      </a:folHlink>
    </a:clrScheme>
    <a:fontScheme name="灰白简约科技PPT模板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灰白简约科技PPT模板 1">
        <a:dk1>
          <a:srgbClr val="000000"/>
        </a:dk1>
        <a:lt1>
          <a:srgbClr val="FFFFFF"/>
        </a:lt1>
        <a:dk2>
          <a:srgbClr val="632769"/>
        </a:dk2>
        <a:lt2>
          <a:srgbClr val="DDDDDD"/>
        </a:lt2>
        <a:accent1>
          <a:srgbClr val="8B8DE1"/>
        </a:accent1>
        <a:accent2>
          <a:srgbClr val="FF997D"/>
        </a:accent2>
        <a:accent3>
          <a:srgbClr val="FFFFFF"/>
        </a:accent3>
        <a:accent4>
          <a:srgbClr val="000000"/>
        </a:accent4>
        <a:accent5>
          <a:srgbClr val="C4C5EE"/>
        </a:accent5>
        <a:accent6>
          <a:srgbClr val="E78A71"/>
        </a:accent6>
        <a:hlink>
          <a:srgbClr val="58AFD2"/>
        </a:hlink>
        <a:folHlink>
          <a:srgbClr val="BFDF6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灰白简约科技PPT模板 2">
        <a:dk1>
          <a:srgbClr val="000000"/>
        </a:dk1>
        <a:lt1>
          <a:srgbClr val="FFFFFF"/>
        </a:lt1>
        <a:dk2>
          <a:srgbClr val="26728A"/>
        </a:dk2>
        <a:lt2>
          <a:srgbClr val="DDDDDD"/>
        </a:lt2>
        <a:accent1>
          <a:srgbClr val="9FCAD3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8A8AE7"/>
        </a:accent6>
        <a:hlink>
          <a:srgbClr val="71A5DF"/>
        </a:hlink>
        <a:folHlink>
          <a:srgbClr val="F1CA6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灰白简约科技PPT模板 3">
        <a:dk1>
          <a:srgbClr val="000000"/>
        </a:dk1>
        <a:lt1>
          <a:srgbClr val="FFFFFF"/>
        </a:lt1>
        <a:dk2>
          <a:srgbClr val="333399"/>
        </a:dk2>
        <a:lt2>
          <a:srgbClr val="C0C0C0"/>
        </a:lt2>
        <a:accent1>
          <a:srgbClr val="88BEF4"/>
        </a:accent1>
        <a:accent2>
          <a:srgbClr val="F1900F"/>
        </a:accent2>
        <a:accent3>
          <a:srgbClr val="FFFFFF"/>
        </a:accent3>
        <a:accent4>
          <a:srgbClr val="000000"/>
        </a:accent4>
        <a:accent5>
          <a:srgbClr val="C3DBF8"/>
        </a:accent5>
        <a:accent6>
          <a:srgbClr val="DA820C"/>
        </a:accent6>
        <a:hlink>
          <a:srgbClr val="CC33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灰白简约科技PPT模板">
  <a:themeElements>
    <a:clrScheme name="灰白简约科技PPT模板 3">
      <a:dk1>
        <a:srgbClr val="000000"/>
      </a:dk1>
      <a:lt1>
        <a:srgbClr val="FFFFFF"/>
      </a:lt1>
      <a:dk2>
        <a:srgbClr val="333399"/>
      </a:dk2>
      <a:lt2>
        <a:srgbClr val="C0C0C0"/>
      </a:lt2>
      <a:accent1>
        <a:srgbClr val="88BEF4"/>
      </a:accent1>
      <a:accent2>
        <a:srgbClr val="F1900F"/>
      </a:accent2>
      <a:accent3>
        <a:srgbClr val="FFFFFF"/>
      </a:accent3>
      <a:accent4>
        <a:srgbClr val="000000"/>
      </a:accent4>
      <a:accent5>
        <a:srgbClr val="C3DBF8"/>
      </a:accent5>
      <a:accent6>
        <a:srgbClr val="DA820C"/>
      </a:accent6>
      <a:hlink>
        <a:srgbClr val="CC3300"/>
      </a:hlink>
      <a:folHlink>
        <a:srgbClr val="0066CC"/>
      </a:folHlink>
    </a:clrScheme>
    <a:fontScheme name="灰白简约科技PPT模板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灰白简约科技PPT模板 1">
        <a:dk1>
          <a:srgbClr val="000000"/>
        </a:dk1>
        <a:lt1>
          <a:srgbClr val="FFFFFF"/>
        </a:lt1>
        <a:dk2>
          <a:srgbClr val="632769"/>
        </a:dk2>
        <a:lt2>
          <a:srgbClr val="DDDDDD"/>
        </a:lt2>
        <a:accent1>
          <a:srgbClr val="8B8DE1"/>
        </a:accent1>
        <a:accent2>
          <a:srgbClr val="FF997D"/>
        </a:accent2>
        <a:accent3>
          <a:srgbClr val="FFFFFF"/>
        </a:accent3>
        <a:accent4>
          <a:srgbClr val="000000"/>
        </a:accent4>
        <a:accent5>
          <a:srgbClr val="C4C5EE"/>
        </a:accent5>
        <a:accent6>
          <a:srgbClr val="E78A71"/>
        </a:accent6>
        <a:hlink>
          <a:srgbClr val="58AFD2"/>
        </a:hlink>
        <a:folHlink>
          <a:srgbClr val="BFDF6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灰白简约科技PPT模板 2">
        <a:dk1>
          <a:srgbClr val="000000"/>
        </a:dk1>
        <a:lt1>
          <a:srgbClr val="FFFFFF"/>
        </a:lt1>
        <a:dk2>
          <a:srgbClr val="26728A"/>
        </a:dk2>
        <a:lt2>
          <a:srgbClr val="DDDDDD"/>
        </a:lt2>
        <a:accent1>
          <a:srgbClr val="9FCAD3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8A8AE7"/>
        </a:accent6>
        <a:hlink>
          <a:srgbClr val="71A5DF"/>
        </a:hlink>
        <a:folHlink>
          <a:srgbClr val="F1CA6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灰白简约科技PPT模板 3">
        <a:dk1>
          <a:srgbClr val="000000"/>
        </a:dk1>
        <a:lt1>
          <a:srgbClr val="FFFFFF"/>
        </a:lt1>
        <a:dk2>
          <a:srgbClr val="333399"/>
        </a:dk2>
        <a:lt2>
          <a:srgbClr val="C0C0C0"/>
        </a:lt2>
        <a:accent1>
          <a:srgbClr val="88BEF4"/>
        </a:accent1>
        <a:accent2>
          <a:srgbClr val="F1900F"/>
        </a:accent2>
        <a:accent3>
          <a:srgbClr val="FFFFFF"/>
        </a:accent3>
        <a:accent4>
          <a:srgbClr val="000000"/>
        </a:accent4>
        <a:accent5>
          <a:srgbClr val="C3DBF8"/>
        </a:accent5>
        <a:accent6>
          <a:srgbClr val="DA820C"/>
        </a:accent6>
        <a:hlink>
          <a:srgbClr val="CC33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3829</Words>
  <Application>WPS 演示</Application>
  <PresentationFormat>自定义</PresentationFormat>
  <Paragraphs>221</Paragraphs>
  <Slides>28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28</vt:i4>
      </vt:variant>
    </vt:vector>
  </HeadingPairs>
  <TitlesOfParts>
    <vt:vector size="44" baseType="lpstr">
      <vt:lpstr>Arial</vt:lpstr>
      <vt:lpstr>宋体</vt:lpstr>
      <vt:lpstr>Wingdings</vt:lpstr>
      <vt:lpstr>Calibri</vt:lpstr>
      <vt:lpstr>Agency FB</vt:lpstr>
      <vt:lpstr>方正正黑简体</vt:lpstr>
      <vt:lpstr>黑体</vt:lpstr>
      <vt:lpstr>Arial</vt:lpstr>
      <vt:lpstr>楷体_GB2312</vt:lpstr>
      <vt:lpstr>新宋体</vt:lpstr>
      <vt:lpstr>微软雅黑</vt:lpstr>
      <vt:lpstr>Arial Unicode MS</vt:lpstr>
      <vt:lpstr>自定义设计方案</vt:lpstr>
      <vt:lpstr>灰白简约科技PPT模板</vt:lpstr>
      <vt:lpstr>1_灰白简约科技PPT模板</vt:lpstr>
      <vt:lpstr>2_灰白简约科技PPT模板</vt:lpstr>
      <vt:lpstr>PowerPoint 演示文稿</vt:lpstr>
      <vt:lpstr>PowerPoint 演示文稿</vt:lpstr>
      <vt:lpstr>PowerPoint 演示文稿</vt:lpstr>
      <vt:lpstr>PowerPoint 演示文稿</vt:lpstr>
      <vt:lpstr>第七章   Servlet进阶</vt:lpstr>
      <vt:lpstr>7.1 Servlet过滤器</vt:lpstr>
      <vt:lpstr>授课任务</vt:lpstr>
      <vt:lpstr>Servlet过滤器</vt:lpstr>
      <vt:lpstr>Servlet过滤器</vt:lpstr>
      <vt:lpstr>Servlet过滤器</vt:lpstr>
      <vt:lpstr>Servlet过滤器</vt:lpstr>
      <vt:lpstr>实战演练</vt:lpstr>
      <vt:lpstr>实战演练</vt:lpstr>
      <vt:lpstr>实战演练 </vt:lpstr>
      <vt:lpstr>延伸阅读 </vt:lpstr>
      <vt:lpstr>PowerPoint 演示文稿</vt:lpstr>
      <vt:lpstr>第七章   Servlet进阶</vt:lpstr>
      <vt:lpstr>Servlet监听器</vt:lpstr>
      <vt:lpstr>授课任务</vt:lpstr>
      <vt:lpstr>Servlet监听器</vt:lpstr>
      <vt:lpstr>Servlet监听器</vt:lpstr>
      <vt:lpstr>实战演练 </vt:lpstr>
      <vt:lpstr>典型模块应用</vt:lpstr>
      <vt:lpstr>典型模块应用</vt:lpstr>
      <vt:lpstr>典型模块应用</vt:lpstr>
      <vt:lpstr>本章小结</vt:lpstr>
      <vt:lpstr>实战演练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bt026.pptx</dc:title>
  <dc:creator/>
  <cp:lastModifiedBy>fx</cp:lastModifiedBy>
  <cp:revision>22</cp:revision>
  <dcterms:created xsi:type="dcterms:W3CDTF">2016-09-20T02:06:00Z</dcterms:created>
  <dcterms:modified xsi:type="dcterms:W3CDTF">2026-07-21T11:22:48Z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5A3C28CB188F46809290820B686B7B5B</vt:lpwstr>
  </property>
  <property fmtid="{D5CDD505-2E9C-101B-9397-08002B2CF9AE}" pid="3" name="KSOProductBuildVer">
    <vt:lpwstr>2052-12.1.0.26895</vt:lpwstr>
  </property>
</Properties>
</file>