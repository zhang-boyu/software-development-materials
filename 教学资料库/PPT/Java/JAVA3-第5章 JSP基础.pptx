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63" r:id="rId4"/>
    <p:sldMasterId id="2147483676" r:id="rId5"/>
  </p:sldMasterIdLst>
  <p:notesMasterIdLst>
    <p:notesMasterId r:id="rId7"/>
  </p:notesMasterIdLst>
  <p:sldIdLst>
    <p:sldId id="2807" r:id="rId6"/>
    <p:sldId id="2893" r:id="rId8"/>
    <p:sldId id="2894" r:id="rId9"/>
    <p:sldId id="2818" r:id="rId10"/>
    <p:sldId id="2784" r:id="rId11"/>
    <p:sldId id="2785" r:id="rId12"/>
    <p:sldId id="2866" r:id="rId13"/>
    <p:sldId id="2843" r:id="rId14"/>
    <p:sldId id="2844" r:id="rId15"/>
    <p:sldId id="2845" r:id="rId16"/>
    <p:sldId id="2846" r:id="rId17"/>
    <p:sldId id="2847" r:id="rId18"/>
    <p:sldId id="2848" r:id="rId19"/>
    <p:sldId id="2849" r:id="rId20"/>
    <p:sldId id="2867" r:id="rId21"/>
    <p:sldId id="2868" r:id="rId22"/>
    <p:sldId id="2869" r:id="rId23"/>
    <p:sldId id="2850" r:id="rId24"/>
    <p:sldId id="2851" r:id="rId25"/>
    <p:sldId id="2852" r:id="rId26"/>
    <p:sldId id="2853" r:id="rId27"/>
    <p:sldId id="2854" r:id="rId28"/>
    <p:sldId id="2855" r:id="rId29"/>
    <p:sldId id="2856" r:id="rId30"/>
    <p:sldId id="2857" r:id="rId31"/>
    <p:sldId id="2858" r:id="rId32"/>
    <p:sldId id="2859" r:id="rId33"/>
    <p:sldId id="2860" r:id="rId34"/>
    <p:sldId id="2861" r:id="rId35"/>
    <p:sldId id="2862" r:id="rId36"/>
    <p:sldId id="2863" r:id="rId37"/>
    <p:sldId id="2895" r:id="rId38"/>
    <p:sldId id="2864" r:id="rId39"/>
    <p:sldId id="2817" r:id="rId40"/>
  </p:sldIdLst>
  <p:sldSz cx="12858750" cy="7232650"/>
  <p:notesSz cx="6858000" cy="9144000"/>
  <p:custDataLst>
    <p:tags r:id="rId44"/>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445" indent="-18224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065"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4685" indent="-55372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7305" indent="-7391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47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19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1991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5695"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92" userDrawn="1">
          <p15:clr>
            <a:srgbClr val="A4A3A4"/>
          </p15:clr>
        </p15:guide>
        <p15:guide id="2" orient="horz" pos="4202" userDrawn="1">
          <p15:clr>
            <a:srgbClr val="A4A3A4"/>
          </p15:clr>
        </p15:guide>
        <p15:guide id="3" pos="4098" userDrawn="1">
          <p15:clr>
            <a:srgbClr val="A4A3A4"/>
          </p15:clr>
        </p15:guide>
        <p15:guide id="4" pos="495" userDrawn="1">
          <p15:clr>
            <a:srgbClr val="A4A3A4"/>
          </p15:clr>
        </p15:guide>
        <p15:guide id="5" pos="75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212E3C"/>
    <a:srgbClr val="FBBF09"/>
    <a:srgbClr val="EF4232"/>
    <a:srgbClr val="03A9F0"/>
    <a:srgbClr val="FFFFFF"/>
    <a:srgbClr val="FABCA8"/>
    <a:srgbClr val="57562F"/>
    <a:srgbClr val="FBCDBE"/>
    <a:srgbClr val="6B6A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89" autoAdjust="0"/>
    <p:restoredTop sz="92986" autoAdjust="0"/>
  </p:normalViewPr>
  <p:slideViewPr>
    <p:cSldViewPr>
      <p:cViewPr varScale="1">
        <p:scale>
          <a:sx n="71" d="100"/>
          <a:sy n="71" d="100"/>
        </p:scale>
        <p:origin x="-474" y="-96"/>
      </p:cViewPr>
      <p:guideLst>
        <p:guide orient="horz" pos="392"/>
        <p:guide orient="horz" pos="4202"/>
        <p:guide pos="4098"/>
        <p:guide pos="495"/>
        <p:guide pos="7574"/>
      </p:guideLst>
    </p:cSldViewPr>
  </p:slideViewPr>
  <p:outlineViewPr>
    <p:cViewPr>
      <p:scale>
        <a:sx n="100" d="100"/>
        <a:sy n="100" d="100"/>
      </p:scale>
      <p:origin x="0" y="-14412"/>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4" Type="http://schemas.openxmlformats.org/officeDocument/2006/relationships/tags" Target="tags/tag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295" algn="l" rtl="0" eaLnBrk="0" fontAlgn="base" hangingPunct="0">
      <a:spcBef>
        <a:spcPct val="30000"/>
      </a:spcBef>
      <a:spcAft>
        <a:spcPct val="0"/>
      </a:spcAft>
      <a:defRPr sz="1300" kern="1200">
        <a:solidFill>
          <a:schemeClr val="tx1"/>
        </a:solidFill>
        <a:latin typeface="+mn-lt"/>
        <a:ea typeface="+mn-ea"/>
        <a:cs typeface="+mn-cs"/>
      </a:defRPr>
    </a:lvl2pPr>
    <a:lvl3pPr marL="912495" algn="l" rtl="0" eaLnBrk="0" fontAlgn="base" hangingPunct="0">
      <a:spcBef>
        <a:spcPct val="30000"/>
      </a:spcBef>
      <a:spcAft>
        <a:spcPct val="0"/>
      </a:spcAft>
      <a:defRPr sz="1300" kern="1200">
        <a:solidFill>
          <a:schemeClr val="tx1"/>
        </a:solidFill>
        <a:latin typeface="+mn-lt"/>
        <a:ea typeface="+mn-ea"/>
        <a:cs typeface="+mn-cs"/>
      </a:defRPr>
    </a:lvl3pPr>
    <a:lvl4pPr marL="1369060" algn="l" rtl="0" eaLnBrk="0" fontAlgn="base" hangingPunct="0">
      <a:spcBef>
        <a:spcPct val="30000"/>
      </a:spcBef>
      <a:spcAft>
        <a:spcPct val="0"/>
      </a:spcAft>
      <a:defRPr sz="1300" kern="1200">
        <a:solidFill>
          <a:schemeClr val="tx1"/>
        </a:solidFill>
        <a:latin typeface="+mn-lt"/>
        <a:ea typeface="+mn-ea"/>
        <a:cs typeface="+mn-cs"/>
      </a:defRPr>
    </a:lvl4pPr>
    <a:lvl5pPr marL="1826260" algn="l" rtl="0" eaLnBrk="0" fontAlgn="base" hangingPunct="0">
      <a:spcBef>
        <a:spcPct val="30000"/>
      </a:spcBef>
      <a:spcAft>
        <a:spcPct val="0"/>
      </a:spcAft>
      <a:defRPr sz="1300" kern="1200">
        <a:solidFill>
          <a:schemeClr val="tx1"/>
        </a:solidFill>
        <a:latin typeface="+mn-lt"/>
        <a:ea typeface="+mn-ea"/>
        <a:cs typeface="+mn-cs"/>
      </a:defRPr>
    </a:lvl5pPr>
    <a:lvl6pPr marL="2284095" algn="l" defTabSz="913765" rtl="0" eaLnBrk="1" latinLnBrk="0" hangingPunct="1">
      <a:defRPr sz="1300" kern="1200">
        <a:solidFill>
          <a:schemeClr val="tx1"/>
        </a:solidFill>
        <a:latin typeface="+mn-lt"/>
        <a:ea typeface="+mn-ea"/>
        <a:cs typeface="+mn-cs"/>
      </a:defRPr>
    </a:lvl6pPr>
    <a:lvl7pPr marL="2741295" algn="l" defTabSz="913765" rtl="0" eaLnBrk="1" latinLnBrk="0" hangingPunct="1">
      <a:defRPr sz="1300" kern="1200">
        <a:solidFill>
          <a:schemeClr val="tx1"/>
        </a:solidFill>
        <a:latin typeface="+mn-lt"/>
        <a:ea typeface="+mn-ea"/>
        <a:cs typeface="+mn-cs"/>
      </a:defRPr>
    </a:lvl7pPr>
    <a:lvl8pPr marL="3197860" algn="l" defTabSz="913765" rtl="0" eaLnBrk="1" latinLnBrk="0" hangingPunct="1">
      <a:defRPr sz="1300" kern="1200">
        <a:solidFill>
          <a:schemeClr val="tx1"/>
        </a:solidFill>
        <a:latin typeface="+mn-lt"/>
        <a:ea typeface="+mn-ea"/>
        <a:cs typeface="+mn-cs"/>
      </a:defRPr>
    </a:lvl8pPr>
    <a:lvl9pPr marL="3655060"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3.bin"/><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6.bin"/><Relationship Id="rId5" Type="http://schemas.openxmlformats.org/officeDocument/2006/relationships/image" Target="../media/image2.png"/><Relationship Id="rId4" Type="http://schemas.openxmlformats.org/officeDocument/2006/relationships/oleObject" Target="../embeddings/oleObject5.bin"/><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9.bin"/><Relationship Id="rId5" Type="http://schemas.openxmlformats.org/officeDocument/2006/relationships/image" Target="../media/image2.png"/><Relationship Id="rId4" Type="http://schemas.openxmlformats.org/officeDocument/2006/relationships/oleObject" Target="../embeddings/oleObject8.bin"/><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600"/>
            <a:ext cx="2893219" cy="386187"/>
          </a:xfrm>
          <a:prstGeom prst="rect">
            <a:avLst/>
          </a:prstGeom>
        </p:spPr>
        <p:txBody>
          <a:bodyPr lIns="91397" tIns="45699" rIns="91397" bIns="45699"/>
          <a:lstStyle/>
          <a:p>
            <a:fld id="{E3AD87B8-9A4B-45E2-BBE5-FB86ADE287A3}" type="datetimeFigureOut">
              <a:rPr lang="zh-CN" altLang="en-US" smtClean="0"/>
            </a:fld>
            <a:endParaRPr lang="zh-CN" altLang="en-US"/>
          </a:p>
        </p:txBody>
      </p:sp>
      <p:sp>
        <p:nvSpPr>
          <p:cNvPr id="3" name="页脚占位符 2"/>
          <p:cNvSpPr>
            <a:spLocks noGrp="1"/>
          </p:cNvSpPr>
          <p:nvPr>
            <p:ph type="ftr" sz="quarter" idx="11"/>
          </p:nvPr>
        </p:nvSpPr>
        <p:spPr>
          <a:xfrm>
            <a:off x="4259461" y="6703600"/>
            <a:ext cx="4339828" cy="386187"/>
          </a:xfrm>
          <a:prstGeom prst="rect">
            <a:avLst/>
          </a:prstGeom>
        </p:spPr>
        <p:txBody>
          <a:bodyPr lIns="91397" tIns="45699" rIns="91397" bIns="45699"/>
          <a:lstStyle/>
          <a:p>
            <a:endParaRPr lang="zh-CN" altLang="en-US"/>
          </a:p>
        </p:txBody>
      </p:sp>
      <p:sp>
        <p:nvSpPr>
          <p:cNvPr id="4" name="灯片编号占位符 3"/>
          <p:cNvSpPr>
            <a:spLocks noGrp="1"/>
          </p:cNvSpPr>
          <p:nvPr>
            <p:ph type="sldNum" sz="quarter" idx="12"/>
          </p:nvPr>
        </p:nvSpPr>
        <p:spPr>
          <a:xfrm>
            <a:off x="9081492" y="6703600"/>
            <a:ext cx="2893219" cy="386187"/>
          </a:xfrm>
          <a:prstGeom prst="rect">
            <a:avLst/>
          </a:prstGeom>
        </p:spPr>
        <p:txBody>
          <a:bodyPr lIns="91397" tIns="45699" rIns="91397" bIns="45699"/>
          <a:lstStyle/>
          <a:p>
            <a:fld id="{37AAA611-6692-4583-86AB-5AB9B972BD4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84039" y="385072"/>
            <a:ext cx="11090672" cy="1397978"/>
          </a:xfrm>
          <a:prstGeom prst="rect">
            <a:avLst/>
          </a:prstGeom>
        </p:spPr>
        <p:txBody>
          <a:bodyPr lIns="128583" tIns="64291" rIns="128583" bIns="64291"/>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884039" y="1925358"/>
            <a:ext cx="11090672" cy="4589051"/>
          </a:xfrm>
          <a:prstGeom prst="rect">
            <a:avLst/>
          </a:prstGeom>
        </p:spPr>
        <p:txBody>
          <a:bodyPr lIns="128583" tIns="64291" rIns="128583" bIns="64291"/>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a:xfrm>
            <a:off x="884039" y="6703596"/>
            <a:ext cx="2893219" cy="385072"/>
          </a:xfrm>
          <a:prstGeom prst="rect">
            <a:avLst/>
          </a:prstGeom>
        </p:spPr>
        <p:txBody>
          <a:bodyPr lIns="128583" tIns="64291" rIns="128583" bIns="64291"/>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a:xfrm>
            <a:off x="4259461" y="6703596"/>
            <a:ext cx="4339828" cy="385072"/>
          </a:xfrm>
          <a:prstGeom prst="rect">
            <a:avLst/>
          </a:prstGeom>
        </p:spPr>
        <p:txBody>
          <a:bodyPr lIns="128583" tIns="64291" rIns="128583" bIns="64291"/>
          <a:lstStyle/>
          <a:p>
            <a:endParaRPr lang="zh-CN" altLang="en-US"/>
          </a:p>
        </p:txBody>
      </p:sp>
      <p:sp>
        <p:nvSpPr>
          <p:cNvPr id="6" name="Slide Number Placeholder 5"/>
          <p:cNvSpPr>
            <a:spLocks noGrp="1"/>
          </p:cNvSpPr>
          <p:nvPr>
            <p:ph type="sldNum" sz="quarter" idx="12"/>
          </p:nvPr>
        </p:nvSpPr>
        <p:spPr>
          <a:xfrm>
            <a:off x="9081492" y="6703596"/>
            <a:ext cx="2893219" cy="385072"/>
          </a:xfrm>
          <a:prstGeom prst="rect">
            <a:avLst/>
          </a:prstGeom>
        </p:spPr>
        <p:txBody>
          <a:bodyPr lIns="128583" tIns="64291" rIns="128583" bIns="64291"/>
          <a:lstStyle/>
          <a:p>
            <a:fld id="{D27987A4-0198-42B4-AAAE-EDBADA4485AB}" type="slidenum">
              <a:rPr lang="zh-CN" altLang="en-US" smtClean="0"/>
            </a:fld>
            <a:endParaRPr lang="zh-CN" altLang="en-US"/>
          </a:p>
        </p:txBody>
      </p:sp>
    </p:spTree>
  </p:cSld>
  <p:clrMapOvr>
    <a:masterClrMapping/>
  </p:clrMapOvr>
  <p:transition spd="med" advClick="0" advTm="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8"/>
          <a:ext cx="5956102" cy="1928707"/>
        </p:xfrm>
        <a:graphic>
          <a:graphicData uri="http://schemas.openxmlformats.org/presentationml/2006/ole">
            <mc:AlternateContent xmlns:mc="http://schemas.openxmlformats.org/markup-compatibility/2006">
              <mc:Choice xmlns:v="urn:schemas-microsoft-com:vml" Requires="v">
                <p:oleObj spid="_x0000_s1064" name="" r:id="rId2" imgW="6007100" imgH="2743200" progId="">
                  <p:embed/>
                </p:oleObj>
              </mc:Choice>
              <mc:Fallback>
                <p:oleObj name="" r:id="rId2" imgW="6007100" imgH="2743200" progId="">
                  <p:embed/>
                  <p:pic>
                    <p:nvPicPr>
                      <p:cNvPr id="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8"/>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8"/>
          <a:ext cx="2893219" cy="1928707"/>
        </p:xfrm>
        <a:graphic>
          <a:graphicData uri="http://schemas.openxmlformats.org/presentationml/2006/ole">
            <mc:AlternateContent xmlns:mc="http://schemas.openxmlformats.org/markup-compatibility/2006">
              <mc:Choice xmlns:v="urn:schemas-microsoft-com:vml" Requires="v">
                <p:oleObj spid="_x0000_s1065" name="" r:id="rId4" imgW="5753100" imgH="4356100" progId="">
                  <p:embed/>
                </p:oleObj>
              </mc:Choice>
              <mc:Fallback>
                <p:oleObj name="" r:id="rId4" imgW="5753100" imgH="4356100" progId="">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8"/>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1066" name="" r:id="rId6" imgW="3556000" imgH="2540000" progId="">
                  <p:embed/>
                </p:oleObj>
              </mc:Choice>
              <mc:Fallback>
                <p:oleObj name="" r:id="rId6" imgW="3556000" imgH="2540000" progId="">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8"/>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5"/>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42"/>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42"/>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42"/>
            <a:ext cx="3000375" cy="257831"/>
          </a:xfrm>
        </p:spPr>
        <p:txBody>
          <a:bodyPr/>
          <a:lstStyle>
            <a:lvl1pPr>
              <a:defRPr sz="1500"/>
            </a:lvl1pPr>
          </a:lstStyle>
          <a:p>
            <a:fld id="{A06949FC-71C0-4A9C-8FC5-2FA6268B5FA6}"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34" tIns="57368" rIns="114734" bIns="5736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4"/>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A4663F6-5E52-463E-9D66-231098FB4AD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3"/>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3405" indent="0">
              <a:buNone/>
              <a:defRPr sz="2300"/>
            </a:lvl2pPr>
            <a:lvl3pPr marL="1147445" indent="0">
              <a:buNone/>
              <a:defRPr sz="2000"/>
            </a:lvl3pPr>
            <a:lvl4pPr marL="1720850" indent="0">
              <a:buNone/>
              <a:defRPr sz="1800"/>
            </a:lvl4pPr>
            <a:lvl5pPr marL="2294890" indent="0">
              <a:buNone/>
              <a:defRPr sz="1800"/>
            </a:lvl5pPr>
            <a:lvl6pPr marL="2868295" indent="0">
              <a:buNone/>
              <a:defRPr sz="1800"/>
            </a:lvl6pPr>
            <a:lvl7pPr marL="3442335" indent="0">
              <a:buNone/>
              <a:defRPr sz="1800"/>
            </a:lvl7pPr>
            <a:lvl8pPr marL="4015740" indent="0">
              <a:buNone/>
              <a:defRPr sz="1800"/>
            </a:lvl8pPr>
            <a:lvl9pPr marL="4589145"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0C1D46F-9ACD-4C4C-BAAB-C2CC66BCC77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5615A0-2C08-4381-A3BC-51F88417D0E0}"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3405" indent="0">
              <a:buNone/>
              <a:defRPr sz="2500" b="1"/>
            </a:lvl2pPr>
            <a:lvl3pPr marL="1147445" indent="0">
              <a:buNone/>
              <a:defRPr sz="2300" b="1"/>
            </a:lvl3pPr>
            <a:lvl4pPr marL="1720850" indent="0">
              <a:buNone/>
              <a:defRPr sz="2000" b="1"/>
            </a:lvl4pPr>
            <a:lvl5pPr marL="2294890" indent="0">
              <a:buNone/>
              <a:defRPr sz="2000" b="1"/>
            </a:lvl5pPr>
            <a:lvl6pPr marL="2868295" indent="0">
              <a:buNone/>
              <a:defRPr sz="2000" b="1"/>
            </a:lvl6pPr>
            <a:lvl7pPr marL="3442335" indent="0">
              <a:buNone/>
              <a:defRPr sz="2000" b="1"/>
            </a:lvl7pPr>
            <a:lvl8pPr marL="4015740" indent="0">
              <a:buNone/>
              <a:defRPr sz="2000" b="1"/>
            </a:lvl8pPr>
            <a:lvl9pPr marL="4589145"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1"/>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3405" indent="0">
              <a:buNone/>
              <a:defRPr sz="2500" b="1"/>
            </a:lvl2pPr>
            <a:lvl3pPr marL="1147445" indent="0">
              <a:buNone/>
              <a:defRPr sz="2300" b="1"/>
            </a:lvl3pPr>
            <a:lvl4pPr marL="1720850" indent="0">
              <a:buNone/>
              <a:defRPr sz="2000" b="1"/>
            </a:lvl4pPr>
            <a:lvl5pPr marL="2294890" indent="0">
              <a:buNone/>
              <a:defRPr sz="2000" b="1"/>
            </a:lvl5pPr>
            <a:lvl6pPr marL="2868295" indent="0">
              <a:buNone/>
              <a:defRPr sz="2000" b="1"/>
            </a:lvl6pPr>
            <a:lvl7pPr marL="3442335" indent="0">
              <a:buNone/>
              <a:defRPr sz="2000" b="1"/>
            </a:lvl7pPr>
            <a:lvl8pPr marL="4015740" indent="0">
              <a:buNone/>
              <a:defRPr sz="2000" b="1"/>
            </a:lvl8pPr>
            <a:lvl9pPr marL="4589145"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1"/>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E0A11DA9-A2C9-41D0-9133-C993095558B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0009F4FB-12C6-40B5-A6AA-EB02BB20573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D49CEC60-5D95-4E68-8DD0-1E98DC0B60A1}"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5"/>
            <a:ext cx="4230440" cy="4947334"/>
          </a:xfrm>
        </p:spPr>
        <p:txBody>
          <a:bodyPr/>
          <a:lstStyle>
            <a:lvl1pPr marL="0" indent="0">
              <a:buNone/>
              <a:defRPr sz="1800"/>
            </a:lvl1pPr>
            <a:lvl2pPr marL="573405" indent="0">
              <a:buNone/>
              <a:defRPr sz="1500"/>
            </a:lvl2pPr>
            <a:lvl3pPr marL="1147445" indent="0">
              <a:buNone/>
              <a:defRPr sz="1300"/>
            </a:lvl3pPr>
            <a:lvl4pPr marL="1720850" indent="0">
              <a:buNone/>
              <a:defRPr sz="1100"/>
            </a:lvl4pPr>
            <a:lvl5pPr marL="2294890" indent="0">
              <a:buNone/>
              <a:defRPr sz="1100"/>
            </a:lvl5pPr>
            <a:lvl6pPr marL="2868295" indent="0">
              <a:buNone/>
              <a:defRPr sz="1100"/>
            </a:lvl6pPr>
            <a:lvl7pPr marL="3442335" indent="0">
              <a:buNone/>
              <a:defRPr sz="1100"/>
            </a:lvl7pPr>
            <a:lvl8pPr marL="4015740" indent="0">
              <a:buNone/>
              <a:defRPr sz="1100"/>
            </a:lvl8pPr>
            <a:lvl9pPr marL="4589145"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5CACBA71-A108-4D8F-B30F-B26305DB52E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8"/>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3405" indent="0">
              <a:buNone/>
              <a:defRPr sz="3500"/>
            </a:lvl2pPr>
            <a:lvl3pPr marL="1147445" indent="0">
              <a:buNone/>
              <a:defRPr sz="3000"/>
            </a:lvl3pPr>
            <a:lvl4pPr marL="1720850" indent="0">
              <a:buNone/>
              <a:defRPr sz="2500"/>
            </a:lvl4pPr>
            <a:lvl5pPr marL="2294890" indent="0">
              <a:buNone/>
              <a:defRPr sz="2500"/>
            </a:lvl5pPr>
            <a:lvl6pPr marL="2868295" indent="0">
              <a:buNone/>
              <a:defRPr sz="2500"/>
            </a:lvl6pPr>
            <a:lvl7pPr marL="3442335" indent="0">
              <a:buNone/>
              <a:defRPr sz="2500"/>
            </a:lvl7pPr>
            <a:lvl8pPr marL="4015740" indent="0">
              <a:buNone/>
              <a:defRPr sz="2500"/>
            </a:lvl8pPr>
            <a:lvl9pPr marL="4589145" indent="0">
              <a:buNone/>
              <a:defRPr sz="2500"/>
            </a:lvl9pPr>
          </a:lstStyle>
          <a:p>
            <a:endParaRPr lang="zh-CN" altLang="en-US"/>
          </a:p>
        </p:txBody>
      </p:sp>
      <p:sp>
        <p:nvSpPr>
          <p:cNvPr id="4" name="文本占位符 3"/>
          <p:cNvSpPr>
            <a:spLocks noGrp="1"/>
          </p:cNvSpPr>
          <p:nvPr>
            <p:ph type="body" sz="half" idx="2"/>
          </p:nvPr>
        </p:nvSpPr>
        <p:spPr>
          <a:xfrm>
            <a:off x="2520405" y="5660557"/>
            <a:ext cx="7715250" cy="848831"/>
          </a:xfrm>
        </p:spPr>
        <p:txBody>
          <a:bodyPr/>
          <a:lstStyle>
            <a:lvl1pPr marL="0" indent="0">
              <a:buNone/>
              <a:defRPr sz="1800"/>
            </a:lvl1pPr>
            <a:lvl2pPr marL="573405" indent="0">
              <a:buNone/>
              <a:defRPr sz="1500"/>
            </a:lvl2pPr>
            <a:lvl3pPr marL="1147445" indent="0">
              <a:buNone/>
              <a:defRPr sz="1300"/>
            </a:lvl3pPr>
            <a:lvl4pPr marL="1720850" indent="0">
              <a:buNone/>
              <a:defRPr sz="1100"/>
            </a:lvl4pPr>
            <a:lvl5pPr marL="2294890" indent="0">
              <a:buNone/>
              <a:defRPr sz="1100"/>
            </a:lvl5pPr>
            <a:lvl6pPr marL="2868295" indent="0">
              <a:buNone/>
              <a:defRPr sz="1100"/>
            </a:lvl6pPr>
            <a:lvl7pPr marL="3442335" indent="0">
              <a:buNone/>
              <a:defRPr sz="1100"/>
            </a:lvl7pPr>
            <a:lvl8pPr marL="4015740" indent="0">
              <a:buNone/>
              <a:defRPr sz="1100"/>
            </a:lvl8pPr>
            <a:lvl9pPr marL="4589145"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0AFEE6-9698-4489-8D7B-8AB64B9E138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E500B73-9DD7-41C0-B2B2-946A4EF25305}"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7"/>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7"/>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4750D9E-967D-4F62-8A3B-AB60B140641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7"/>
          <a:ext cx="5956102" cy="1928707"/>
        </p:xfrm>
        <a:graphic>
          <a:graphicData uri="http://schemas.openxmlformats.org/presentationml/2006/ole">
            <mc:AlternateContent xmlns:mc="http://schemas.openxmlformats.org/markup-compatibility/2006">
              <mc:Choice xmlns:v="urn:schemas-microsoft-com:vml" Requires="v">
                <p:oleObj spid="_x0000_s2082"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7"/>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7"/>
          <a:ext cx="2893219" cy="1928707"/>
        </p:xfrm>
        <a:graphic>
          <a:graphicData uri="http://schemas.openxmlformats.org/presentationml/2006/ole">
            <mc:AlternateContent xmlns:mc="http://schemas.openxmlformats.org/markup-compatibility/2006">
              <mc:Choice xmlns:v="urn:schemas-microsoft-com:vml" Requires="v">
                <p:oleObj spid="_x0000_s2083"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7"/>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2084"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7"/>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2"/>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39"/>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9"/>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39"/>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75" tIns="57388" rIns="114775" bIns="5738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1"/>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0"/>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7445" indent="0">
              <a:buNone/>
              <a:defRPr sz="2000"/>
            </a:lvl3pPr>
            <a:lvl4pPr marL="1721485" indent="0">
              <a:buNone/>
              <a:defRPr sz="1800"/>
            </a:lvl4pPr>
            <a:lvl5pPr marL="2295525" indent="0">
              <a:buNone/>
              <a:defRPr sz="1800"/>
            </a:lvl5pPr>
            <a:lvl6pPr marL="2869565" indent="0">
              <a:buNone/>
              <a:defRPr sz="1800"/>
            </a:lvl6pPr>
            <a:lvl7pPr marL="3442970" indent="0">
              <a:buNone/>
              <a:defRPr sz="1800"/>
            </a:lvl7pPr>
            <a:lvl8pPr marL="4017010" indent="0">
              <a:buNone/>
              <a:defRPr sz="1800"/>
            </a:lvl8pPr>
            <a:lvl9pPr marL="459105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0"/>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0"/>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2"/>
            <a:ext cx="4230440" cy="4947334"/>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7"/>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7445" indent="0">
              <a:buNone/>
              <a:defRPr sz="3000"/>
            </a:lvl3pPr>
            <a:lvl4pPr marL="1721485" indent="0">
              <a:buNone/>
              <a:defRPr sz="2500"/>
            </a:lvl4pPr>
            <a:lvl5pPr marL="2295525" indent="0">
              <a:buNone/>
              <a:defRPr sz="2500"/>
            </a:lvl5pPr>
            <a:lvl6pPr marL="2869565" indent="0">
              <a:buNone/>
              <a:defRPr sz="2500"/>
            </a:lvl6pPr>
            <a:lvl7pPr marL="3442970" indent="0">
              <a:buNone/>
              <a:defRPr sz="2500"/>
            </a:lvl7pPr>
            <a:lvl8pPr marL="4017010" indent="0">
              <a:buNone/>
              <a:defRPr sz="2500"/>
            </a:lvl8pPr>
            <a:lvl9pPr marL="4591050" indent="0">
              <a:buNone/>
              <a:defRPr sz="2500"/>
            </a:lvl9pPr>
          </a:lstStyle>
          <a:p>
            <a:endParaRPr lang="zh-CN" altLang="en-US"/>
          </a:p>
        </p:txBody>
      </p:sp>
      <p:sp>
        <p:nvSpPr>
          <p:cNvPr id="4" name="文本占位符 3"/>
          <p:cNvSpPr>
            <a:spLocks noGrp="1"/>
          </p:cNvSpPr>
          <p:nvPr>
            <p:ph type="body" sz="half" idx="2"/>
          </p:nvPr>
        </p:nvSpPr>
        <p:spPr>
          <a:xfrm>
            <a:off x="2520405" y="5660556"/>
            <a:ext cx="7715250" cy="848831"/>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4"/>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4"/>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9"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9" y="6750476"/>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6"/>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9" y="6750476"/>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0"/>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0"/>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0"/>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0"/>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5"/>
          <a:ext cx="5956102" cy="1928707"/>
        </p:xfrm>
        <a:graphic>
          <a:graphicData uri="http://schemas.openxmlformats.org/presentationml/2006/ole">
            <mc:AlternateContent xmlns:mc="http://schemas.openxmlformats.org/markup-compatibility/2006">
              <mc:Choice xmlns:v="urn:schemas-microsoft-com:vml" Requires="v">
                <p:oleObj spid="_x0000_s3106"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5"/>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5"/>
          <a:ext cx="2893219" cy="1928707"/>
        </p:xfrm>
        <a:graphic>
          <a:graphicData uri="http://schemas.openxmlformats.org/presentationml/2006/ole">
            <mc:AlternateContent xmlns:mc="http://schemas.openxmlformats.org/markup-compatibility/2006">
              <mc:Choice xmlns:v="urn:schemas-microsoft-com:vml" Requires="v">
                <p:oleObj spid="_x0000_s3107"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5"/>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4" y="3616325"/>
          <a:ext cx="3944689" cy="1930381"/>
        </p:xfrm>
        <a:graphic>
          <a:graphicData uri="http://schemas.openxmlformats.org/presentationml/2006/ole">
            <mc:AlternateContent xmlns:mc="http://schemas.openxmlformats.org/markup-compatibility/2006">
              <mc:Choice xmlns:v="urn:schemas-microsoft-com:vml" Requires="v">
                <p:oleObj spid="_x0000_s3108"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4"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5"/>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0"/>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8" y="6830836"/>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6"/>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8" y="6830836"/>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803" tIns="57401" rIns="114803" bIns="57401">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69"/>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48"/>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8080" indent="0">
              <a:buNone/>
              <a:defRPr sz="2000"/>
            </a:lvl3pPr>
            <a:lvl4pPr marL="1722120" indent="0">
              <a:buNone/>
              <a:defRPr sz="1800"/>
            </a:lvl4pPr>
            <a:lvl5pPr marL="2296160" indent="0">
              <a:buNone/>
              <a:defRPr sz="1800"/>
            </a:lvl5pPr>
            <a:lvl6pPr marL="2870200" indent="0">
              <a:buNone/>
              <a:defRPr sz="1800"/>
            </a:lvl6pPr>
            <a:lvl7pPr marL="3444240" indent="0">
              <a:buNone/>
              <a:defRPr sz="1800"/>
            </a:lvl7pPr>
            <a:lvl8pPr marL="4018280" indent="0">
              <a:buNone/>
              <a:defRPr sz="1800"/>
            </a:lvl8pPr>
            <a:lvl9pPr marL="459232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8"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8"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88"/>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88"/>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0"/>
            <a:ext cx="4230440" cy="4947334"/>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5"/>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8080" indent="0">
              <a:buNone/>
              <a:defRPr sz="3000"/>
            </a:lvl3pPr>
            <a:lvl4pPr marL="1722120" indent="0">
              <a:buNone/>
              <a:defRPr sz="2500"/>
            </a:lvl4pPr>
            <a:lvl5pPr marL="2296160" indent="0">
              <a:buNone/>
              <a:defRPr sz="2500"/>
            </a:lvl5pPr>
            <a:lvl6pPr marL="2870200" indent="0">
              <a:buNone/>
              <a:defRPr sz="2500"/>
            </a:lvl6pPr>
            <a:lvl7pPr marL="3444240" indent="0">
              <a:buNone/>
              <a:defRPr sz="2500"/>
            </a:lvl7pPr>
            <a:lvl8pPr marL="4018280" indent="0">
              <a:buNone/>
              <a:defRPr sz="2500"/>
            </a:lvl8pPr>
            <a:lvl9pPr marL="4592320" indent="0">
              <a:buNone/>
              <a:defRPr sz="2500"/>
            </a:lvl9pPr>
          </a:lstStyle>
          <a:p>
            <a:endParaRPr lang="zh-CN" altLang="en-US"/>
          </a:p>
        </p:txBody>
      </p:sp>
      <p:sp>
        <p:nvSpPr>
          <p:cNvPr id="4" name="文本占位符 3"/>
          <p:cNvSpPr>
            <a:spLocks noGrp="1"/>
          </p:cNvSpPr>
          <p:nvPr>
            <p:ph type="body" sz="half" idx="2"/>
          </p:nvPr>
        </p:nvSpPr>
        <p:spPr>
          <a:xfrm>
            <a:off x="2520405" y="5660554"/>
            <a:ext cx="7715250" cy="848831"/>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4" y="622812"/>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2"/>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8"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8" y="6750474"/>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4"/>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8" y="6750474"/>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2" Type="http://schemas.openxmlformats.org/officeDocument/2006/relationships/theme" Target="../theme/theme2.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3.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4" Type="http://schemas.openxmlformats.org/officeDocument/2006/relationships/theme" Target="../theme/theme4.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9"/>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9"/>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9"/>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lgn="r">
              <a:defRPr sz="1800">
                <a:ea typeface="宋体" panose="02010600030101010101" pitchFamily="2" charset="-122"/>
              </a:defRPr>
            </a:lvl1pPr>
          </a:lstStyle>
          <a:p>
            <a:pPr>
              <a:buFont typeface="Arial" panose="020B0604020202020204" pitchFamily="34" charset="0"/>
              <a:buNone/>
            </a:pPr>
            <a:fld id="{E885DCAE-4A19-439B-9674-D186DD8CF82A}"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34" tIns="57368" rIns="114734" bIns="5736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3405"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0850" algn="ctr" rtl="0" fontAlgn="base">
        <a:spcBef>
          <a:spcPct val="0"/>
        </a:spcBef>
        <a:spcAft>
          <a:spcPct val="0"/>
        </a:spcAft>
        <a:defRPr sz="4000" b="1">
          <a:solidFill>
            <a:schemeClr val="bg1"/>
          </a:solidFill>
          <a:latin typeface="Arial" panose="020B0604020202020204" pitchFamily="34" charset="0"/>
        </a:defRPr>
      </a:lvl8pPr>
      <a:lvl9pPr marL="229489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3405"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0850" algn="l" defTabSz="1147445" rtl="0" eaLnBrk="1" latinLnBrk="0" hangingPunct="1">
        <a:defRPr sz="2300" kern="1200">
          <a:solidFill>
            <a:schemeClr val="tx1"/>
          </a:solidFill>
          <a:latin typeface="+mn-lt"/>
          <a:ea typeface="+mn-ea"/>
          <a:cs typeface="+mn-cs"/>
        </a:defRPr>
      </a:lvl4pPr>
      <a:lvl5pPr marL="2294890" algn="l" defTabSz="1147445" rtl="0" eaLnBrk="1" latinLnBrk="0" hangingPunct="1">
        <a:defRPr sz="2300" kern="1200">
          <a:solidFill>
            <a:schemeClr val="tx1"/>
          </a:solidFill>
          <a:latin typeface="+mn-lt"/>
          <a:ea typeface="+mn-ea"/>
          <a:cs typeface="+mn-cs"/>
        </a:defRPr>
      </a:lvl5pPr>
      <a:lvl6pPr marL="2868295" algn="l" defTabSz="1147445" rtl="0" eaLnBrk="1" latinLnBrk="0" hangingPunct="1">
        <a:defRPr sz="2300" kern="1200">
          <a:solidFill>
            <a:schemeClr val="tx1"/>
          </a:solidFill>
          <a:latin typeface="+mn-lt"/>
          <a:ea typeface="+mn-ea"/>
          <a:cs typeface="+mn-cs"/>
        </a:defRPr>
      </a:lvl6pPr>
      <a:lvl7pPr marL="3442335" algn="l" defTabSz="1147445" rtl="0" eaLnBrk="1" latinLnBrk="0" hangingPunct="1">
        <a:defRPr sz="2300" kern="1200">
          <a:solidFill>
            <a:schemeClr val="tx1"/>
          </a:solidFill>
          <a:latin typeface="+mn-lt"/>
          <a:ea typeface="+mn-ea"/>
          <a:cs typeface="+mn-cs"/>
        </a:defRPr>
      </a:lvl7pPr>
      <a:lvl8pPr marL="4015740" algn="l" defTabSz="1147445" rtl="0" eaLnBrk="1" latinLnBrk="0" hangingPunct="1">
        <a:defRPr sz="2300" kern="1200">
          <a:solidFill>
            <a:schemeClr val="tx1"/>
          </a:solidFill>
          <a:latin typeface="+mn-lt"/>
          <a:ea typeface="+mn-ea"/>
          <a:cs typeface="+mn-cs"/>
        </a:defRPr>
      </a:lvl8pPr>
      <a:lvl9pPr marL="4589145" algn="l" defTabSz="1147445" rtl="0" eaLnBrk="1" latinLnBrk="0" hangingPunct="1">
        <a:defRPr sz="2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6"/>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75" tIns="57388" rIns="114775" bIns="5738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1485" algn="ctr" rtl="0" fontAlgn="base">
        <a:spcBef>
          <a:spcPct val="0"/>
        </a:spcBef>
        <a:spcAft>
          <a:spcPct val="0"/>
        </a:spcAft>
        <a:defRPr sz="4000" b="1">
          <a:solidFill>
            <a:schemeClr val="bg1"/>
          </a:solidFill>
          <a:latin typeface="Arial" panose="020B0604020202020204" pitchFamily="34" charset="0"/>
        </a:defRPr>
      </a:lvl8pPr>
      <a:lvl9pPr marL="2295525"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4040"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1485" algn="l" defTabSz="1147445" rtl="0" eaLnBrk="1" latinLnBrk="0" hangingPunct="1">
        <a:defRPr sz="2300" kern="1200">
          <a:solidFill>
            <a:schemeClr val="tx1"/>
          </a:solidFill>
          <a:latin typeface="+mn-lt"/>
          <a:ea typeface="+mn-ea"/>
          <a:cs typeface="+mn-cs"/>
        </a:defRPr>
      </a:lvl4pPr>
      <a:lvl5pPr marL="2295525" algn="l" defTabSz="1147445" rtl="0" eaLnBrk="1" latinLnBrk="0" hangingPunct="1">
        <a:defRPr sz="2300" kern="1200">
          <a:solidFill>
            <a:schemeClr val="tx1"/>
          </a:solidFill>
          <a:latin typeface="+mn-lt"/>
          <a:ea typeface="+mn-ea"/>
          <a:cs typeface="+mn-cs"/>
        </a:defRPr>
      </a:lvl5pPr>
      <a:lvl6pPr marL="2869565" algn="l" defTabSz="1147445" rtl="0" eaLnBrk="1" latinLnBrk="0" hangingPunct="1">
        <a:defRPr sz="2300" kern="1200">
          <a:solidFill>
            <a:schemeClr val="tx1"/>
          </a:solidFill>
          <a:latin typeface="+mn-lt"/>
          <a:ea typeface="+mn-ea"/>
          <a:cs typeface="+mn-cs"/>
        </a:defRPr>
      </a:lvl6pPr>
      <a:lvl7pPr marL="3442970" algn="l" defTabSz="1147445" rtl="0" eaLnBrk="1" latinLnBrk="0" hangingPunct="1">
        <a:defRPr sz="2300" kern="1200">
          <a:solidFill>
            <a:schemeClr val="tx1"/>
          </a:solidFill>
          <a:latin typeface="+mn-lt"/>
          <a:ea typeface="+mn-ea"/>
          <a:cs typeface="+mn-cs"/>
        </a:defRPr>
      </a:lvl7pPr>
      <a:lvl8pPr marL="4017010" algn="l" defTabSz="1147445" rtl="0" eaLnBrk="1" latinLnBrk="0" hangingPunct="1">
        <a:defRPr sz="2300" kern="1200">
          <a:solidFill>
            <a:schemeClr val="tx1"/>
          </a:solidFill>
          <a:latin typeface="+mn-lt"/>
          <a:ea typeface="+mn-ea"/>
          <a:cs typeface="+mn-cs"/>
        </a:defRPr>
      </a:lvl8pPr>
      <a:lvl9pPr marL="4591050" algn="l" defTabSz="1147445" rtl="0" eaLnBrk="1" latinLnBrk="0" hangingPunct="1">
        <a:defRPr sz="2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6"/>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8"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4"/>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803" tIns="57401" rIns="114803" bIns="57401"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8080" algn="ctr" rtl="0" fontAlgn="base">
        <a:spcBef>
          <a:spcPct val="0"/>
        </a:spcBef>
        <a:spcAft>
          <a:spcPct val="0"/>
        </a:spcAft>
        <a:defRPr sz="4000" b="1">
          <a:solidFill>
            <a:schemeClr val="bg1"/>
          </a:solidFill>
          <a:latin typeface="Arial" panose="020B0604020202020204" pitchFamily="34" charset="0"/>
        </a:defRPr>
      </a:lvl7pPr>
      <a:lvl8pPr marL="1722120" algn="ctr" rtl="0" fontAlgn="base">
        <a:spcBef>
          <a:spcPct val="0"/>
        </a:spcBef>
        <a:spcAft>
          <a:spcPct val="0"/>
        </a:spcAft>
        <a:defRPr sz="4000" b="1">
          <a:solidFill>
            <a:schemeClr val="bg1"/>
          </a:solidFill>
          <a:latin typeface="Arial" panose="020B0604020202020204" pitchFamily="34" charset="0"/>
        </a:defRPr>
      </a:lvl8pPr>
      <a:lvl9pPr marL="229616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8080" rtl="0" eaLnBrk="1" latinLnBrk="0" hangingPunct="1">
        <a:defRPr sz="2300" kern="1200">
          <a:solidFill>
            <a:schemeClr val="tx1"/>
          </a:solidFill>
          <a:latin typeface="+mn-lt"/>
          <a:ea typeface="+mn-ea"/>
          <a:cs typeface="+mn-cs"/>
        </a:defRPr>
      </a:lvl1pPr>
      <a:lvl2pPr marL="574040" algn="l" defTabSz="1148080" rtl="0" eaLnBrk="1" latinLnBrk="0" hangingPunct="1">
        <a:defRPr sz="2300" kern="1200">
          <a:solidFill>
            <a:schemeClr val="tx1"/>
          </a:solidFill>
          <a:latin typeface="+mn-lt"/>
          <a:ea typeface="+mn-ea"/>
          <a:cs typeface="+mn-cs"/>
        </a:defRPr>
      </a:lvl2pPr>
      <a:lvl3pPr marL="1148080" algn="l" defTabSz="1148080" rtl="0" eaLnBrk="1" latinLnBrk="0" hangingPunct="1">
        <a:defRPr sz="2300" kern="1200">
          <a:solidFill>
            <a:schemeClr val="tx1"/>
          </a:solidFill>
          <a:latin typeface="+mn-lt"/>
          <a:ea typeface="+mn-ea"/>
          <a:cs typeface="+mn-cs"/>
        </a:defRPr>
      </a:lvl3pPr>
      <a:lvl4pPr marL="1722120" algn="l" defTabSz="1148080" rtl="0" eaLnBrk="1" latinLnBrk="0" hangingPunct="1">
        <a:defRPr sz="2300" kern="1200">
          <a:solidFill>
            <a:schemeClr val="tx1"/>
          </a:solidFill>
          <a:latin typeface="+mn-lt"/>
          <a:ea typeface="+mn-ea"/>
          <a:cs typeface="+mn-cs"/>
        </a:defRPr>
      </a:lvl4pPr>
      <a:lvl5pPr marL="2296160" algn="l" defTabSz="1148080" rtl="0" eaLnBrk="1" latinLnBrk="0" hangingPunct="1">
        <a:defRPr sz="2300" kern="1200">
          <a:solidFill>
            <a:schemeClr val="tx1"/>
          </a:solidFill>
          <a:latin typeface="+mn-lt"/>
          <a:ea typeface="+mn-ea"/>
          <a:cs typeface="+mn-cs"/>
        </a:defRPr>
      </a:lvl5pPr>
      <a:lvl6pPr marL="2870200" algn="l" defTabSz="1148080" rtl="0" eaLnBrk="1" latinLnBrk="0" hangingPunct="1">
        <a:defRPr sz="2300" kern="1200">
          <a:solidFill>
            <a:schemeClr val="tx1"/>
          </a:solidFill>
          <a:latin typeface="+mn-lt"/>
          <a:ea typeface="+mn-ea"/>
          <a:cs typeface="+mn-cs"/>
        </a:defRPr>
      </a:lvl6pPr>
      <a:lvl7pPr marL="3444240" algn="l" defTabSz="1148080" rtl="0" eaLnBrk="1" latinLnBrk="0" hangingPunct="1">
        <a:defRPr sz="2300" kern="1200">
          <a:solidFill>
            <a:schemeClr val="tx1"/>
          </a:solidFill>
          <a:latin typeface="+mn-lt"/>
          <a:ea typeface="+mn-ea"/>
          <a:cs typeface="+mn-cs"/>
        </a:defRPr>
      </a:lvl7pPr>
      <a:lvl8pPr marL="4018280" algn="l" defTabSz="1148080" rtl="0" eaLnBrk="1" latinLnBrk="0" hangingPunct="1">
        <a:defRPr sz="2300" kern="1200">
          <a:solidFill>
            <a:schemeClr val="tx1"/>
          </a:solidFill>
          <a:latin typeface="+mn-lt"/>
          <a:ea typeface="+mn-ea"/>
          <a:cs typeface="+mn-cs"/>
        </a:defRPr>
      </a:lvl8pPr>
      <a:lvl9pPr marL="4592320" algn="l" defTabSz="1148080"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9.pn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2.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997327" y="2896245"/>
            <a:ext cx="6016403" cy="649181"/>
          </a:xfrm>
          <a:prstGeom prst="rect">
            <a:avLst/>
          </a:prstGeom>
          <a:noFill/>
        </p:spPr>
        <p:txBody>
          <a:bodyPr wrap="square" lIns="128583" tIns="64291" rIns="128583" bIns="64291" rtlCol="0">
            <a:spAutoFit/>
          </a:bodyPr>
          <a:lstStyle/>
          <a:p>
            <a:pPr algn="ctr"/>
            <a:r>
              <a:rPr kumimoji="1" lang="en-US" altLang="zh-CN" sz="1700" dirty="0">
                <a:solidFill>
                  <a:schemeClr val="bg1">
                    <a:lumMod val="50000"/>
                  </a:schemeClr>
                </a:solidFill>
                <a:cs typeface="+mn-ea"/>
                <a:sym typeface="+mn-lt"/>
              </a:rPr>
              <a:t>JSP and  servlet  development  technology  and  typical application  course</a:t>
            </a:r>
            <a:endParaRPr kumimoji="1" lang="zh-CN" altLang="en-US" sz="1700" dirty="0">
              <a:solidFill>
                <a:schemeClr val="bg1">
                  <a:lumMod val="50000"/>
                </a:schemeClr>
              </a:solidFill>
              <a:cs typeface="+mn-ea"/>
              <a:sym typeface="+mn-lt"/>
            </a:endParaRPr>
          </a:p>
        </p:txBody>
      </p:sp>
      <p:sp>
        <p:nvSpPr>
          <p:cNvPr id="9" name="文本框 8"/>
          <p:cNvSpPr txBox="1"/>
          <p:nvPr/>
        </p:nvSpPr>
        <p:spPr>
          <a:xfrm rot="2679144">
            <a:off x="1518042" y="2942040"/>
            <a:ext cx="5266506" cy="558800"/>
          </a:xfrm>
          <a:prstGeom prst="rect">
            <a:avLst/>
          </a:prstGeom>
          <a:noFill/>
        </p:spPr>
        <p:txBody>
          <a:bodyPr wrap="square" lIns="128583" tIns="64291" rIns="128583" bIns="64291" rtlCol="0">
            <a:spAutoFit/>
          </a:bodyPr>
          <a:lstStyle/>
          <a:p>
            <a:pPr algn="ctr">
              <a:buNone/>
            </a:pPr>
            <a:r>
              <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第五章 </a:t>
            </a:r>
            <a:r>
              <a:rPr lang="en-US" altLang="zh-CN"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  JSP</a:t>
            </a:r>
            <a:r>
              <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基础</a:t>
            </a:r>
            <a:r>
              <a:rPr lang="en-US" altLang="zh-CN"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 </a:t>
            </a:r>
            <a:endPar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1500"/>
                            </p:stCondLst>
                            <p:childTnLst>
                              <p:par>
                                <p:cTn id="18" presetID="2" presetClass="entr" presetSubtype="12"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1000" fill="hold"/>
                                        <p:tgtEl>
                                          <p:spTgt spid="16"/>
                                        </p:tgtEl>
                                        <p:attrNameLst>
                                          <p:attrName>ppt_x</p:attrName>
                                        </p:attrNameLst>
                                      </p:cBhvr>
                                      <p:tavLst>
                                        <p:tav tm="0">
                                          <p:val>
                                            <p:strVal val="#ppt_x"/>
                                          </p:val>
                                        </p:tav>
                                        <p:tav tm="100000">
                                          <p:val>
                                            <p:strVal val="#ppt_x"/>
                                          </p:val>
                                        </p:tav>
                                      </p:tavLst>
                                    </p:anim>
                                    <p:anim calcmode="lin" valueType="num">
                                      <p:cBhvr additive="base">
                                        <p:cTn id="25" dur="1000" fill="hold"/>
                                        <p:tgtEl>
                                          <p:spTgt spid="16"/>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ppt_x</p:attrName>
                                        </p:attrNameLst>
                                      </p:cBhvr>
                                      <p:tavLst>
                                        <p:tav tm="0">
                                          <p:val>
                                            <p:strVal val="#ppt_x"/>
                                          </p:val>
                                        </p:tav>
                                        <p:tav tm="100000">
                                          <p:val>
                                            <p:strVal val="#ppt_x"/>
                                          </p:val>
                                        </p:tav>
                                      </p:tavLst>
                                    </p:anim>
                                    <p:anim calcmode="lin" valueType="num">
                                      <p:cBhvr>
                                        <p:cTn id="35" dur="750" fill="hold"/>
                                        <p:tgtEl>
                                          <p:spTgt spid="8"/>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9" grpId="0"/>
      <p:bldP spid="12" grpId="0" animBg="1"/>
      <p:bldP spid="16"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145020" cy="1014095"/>
          </a:xfrm>
          <a:prstGeom prst="rect">
            <a:avLst/>
          </a:prstGeom>
          <a:noFill/>
        </p:spPr>
        <p:txBody>
          <a:bodyPr wrap="square" lIns="128583" tIns="64291" rIns="128583" bIns="64291" rtlCol="0">
            <a:spAutoFit/>
          </a:bodyPr>
          <a:lstStyle/>
          <a:p>
            <a:pPr>
              <a:lnSpc>
                <a:spcPct val="120000"/>
              </a:lnSpc>
            </a:pPr>
            <a:r>
              <a:rPr kumimoji="1" lang="zh-CN" altLang="en-US" sz="2400" b="1" dirty="0">
                <a:cs typeface="+mn-ea"/>
                <a:sym typeface="Arial" panose="020B0604020202020204" pitchFamily="34" charset="0"/>
              </a:rPr>
              <a:t>掌握JSP脚本标签的使用方法、JSP常用内置对象的使用方法</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5645785" cy="497205"/>
          </a:xfrm>
          <a:prstGeom prst="rect">
            <a:avLst/>
          </a:prstGeom>
          <a:noFill/>
        </p:spPr>
        <p:txBody>
          <a:bodyPr wrap="square" lIns="128583" tIns="64291" rIns="128583" bIns="64291" rtlCol="0">
            <a:spAutoFit/>
          </a:bodyPr>
          <a:lstStyle/>
          <a:p>
            <a:r>
              <a:rPr kumimoji="1" lang="zh-CN" altLang="en-US" sz="2400" b="1" dirty="0">
                <a:cs typeface="+mn-ea"/>
                <a:sym typeface="Arial" panose="020B0604020202020204" pitchFamily="34" charset="0"/>
              </a:rPr>
              <a:t>掌握JSP指令标签、JSP动作标签</a:t>
            </a:r>
            <a:endParaRPr kumimoji="1" lang="zh-CN" altLang="en-US" sz="2400" b="1" dirty="0">
              <a:cs typeface="+mn-ea"/>
              <a:sym typeface="Arial" panose="020B0604020202020204" pitchFamily="34" charset="0"/>
            </a:endParaRPr>
          </a:p>
        </p:txBody>
      </p:sp>
      <p:sp>
        <p:nvSpPr>
          <p:cNvPr id="33" name="文本框 32"/>
          <p:cNvSpPr txBox="1"/>
          <p:nvPr/>
        </p:nvSpPr>
        <p:spPr>
          <a:xfrm>
            <a:off x="7152640" y="4324985"/>
            <a:ext cx="5473700" cy="866775"/>
          </a:xfrm>
          <a:prstGeom prst="rect">
            <a:avLst/>
          </a:prstGeom>
          <a:noFill/>
        </p:spPr>
        <p:txBody>
          <a:bodyPr wrap="square" lIns="128583" tIns="64291" rIns="128583" bIns="64291" rtlCol="0">
            <a:spAutoFit/>
          </a:bodyPr>
          <a:lstStyle/>
          <a:p>
            <a:r>
              <a:rPr kumimoji="1" lang="zh-CN" altLang="en-US" sz="2400" b="1" dirty="0">
                <a:cs typeface="+mn-ea"/>
                <a:sym typeface="+mn-lt"/>
              </a:rPr>
              <a:t>了解JSP页面的基本结构、页面中文乱码问题</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能力目标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7" grpId="0" bldLvl="0" animBg="1"/>
      <p:bldP spid="12" grpId="0" bldLvl="0" animBg="1"/>
      <p:bldP spid="17" grpId="0" bldLvl="0" animBg="1"/>
      <p:bldP spid="26" grpId="0" bldLvl="0" animBg="1"/>
      <p:bldP spid="27" grpId="0"/>
      <p:bldP spid="29" grpId="0"/>
      <p:bldP spid="33"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145020" cy="570865"/>
          </a:xfrm>
          <a:prstGeom prst="rect">
            <a:avLst/>
          </a:prstGeom>
          <a:noFill/>
        </p:spPr>
        <p:txBody>
          <a:bodyPr wrap="square" lIns="128583" tIns="64291" rIns="128583" bIns="64291" rtlCol="0">
            <a:spAutoFit/>
          </a:bodyPr>
          <a:lstStyle/>
          <a:p>
            <a:pPr>
              <a:lnSpc>
                <a:spcPct val="120000"/>
              </a:lnSpc>
            </a:pPr>
            <a:r>
              <a:rPr kumimoji="1" lang="zh-CN" altLang="en-US" sz="2400" b="1" dirty="0">
                <a:cs typeface="+mn-ea"/>
                <a:sym typeface="Arial" panose="020B0604020202020204" pitchFamily="34" charset="0"/>
              </a:rPr>
              <a:t>培养观察辨别能力</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5645785" cy="497205"/>
          </a:xfrm>
          <a:prstGeom prst="rect">
            <a:avLst/>
          </a:prstGeom>
          <a:noFill/>
        </p:spPr>
        <p:txBody>
          <a:bodyPr wrap="square" lIns="128583" tIns="64291" rIns="128583" bIns="64291" rtlCol="0">
            <a:spAutoFit/>
          </a:bodyPr>
          <a:lstStyle/>
          <a:p>
            <a:r>
              <a:rPr kumimoji="1" lang="zh-CN" altLang="en-US" sz="2400" b="1" dirty="0">
                <a:cs typeface="+mn-ea"/>
                <a:sym typeface="Arial" panose="020B0604020202020204" pitchFamily="34" charset="0"/>
              </a:rPr>
              <a:t>培养分析与解决问题的能力</a:t>
            </a:r>
            <a:endParaRPr kumimoji="1" lang="zh-CN" altLang="en-US" sz="2400" b="1" dirty="0">
              <a:cs typeface="+mn-ea"/>
              <a:sym typeface="Arial" panose="020B0604020202020204" pitchFamily="34" charset="0"/>
            </a:endParaRPr>
          </a:p>
        </p:txBody>
      </p:sp>
      <p:sp>
        <p:nvSpPr>
          <p:cNvPr id="33" name="文本框 32"/>
          <p:cNvSpPr txBox="1"/>
          <p:nvPr/>
        </p:nvSpPr>
        <p:spPr>
          <a:xfrm>
            <a:off x="7152640" y="4324985"/>
            <a:ext cx="5473700" cy="497205"/>
          </a:xfrm>
          <a:prstGeom prst="rect">
            <a:avLst/>
          </a:prstGeom>
          <a:noFill/>
        </p:spPr>
        <p:txBody>
          <a:bodyPr wrap="square" lIns="128583" tIns="64291" rIns="128583" bIns="64291" rtlCol="0">
            <a:spAutoFit/>
          </a:bodyPr>
          <a:lstStyle/>
          <a:p>
            <a:r>
              <a:rPr kumimoji="1" lang="zh-CN" altLang="en-US" sz="2400" b="1" dirty="0">
                <a:cs typeface="+mn-ea"/>
                <a:sym typeface="+mn-lt"/>
              </a:rPr>
              <a:t>提升代码与文档书写规范意识</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素质目标</a:t>
            </a:r>
            <a:endParaRPr kumimoji="1" lang="en-US" altLang="zh-CN" sz="3900" dirty="0">
              <a:solidFill>
                <a:schemeClr val="bg1"/>
              </a:solidFill>
              <a:cs typeface="+mn-ea"/>
              <a:sym typeface="+mn-lt"/>
            </a:endParaRPr>
          </a:p>
        </p:txBody>
      </p:sp>
      <p:sp>
        <p:nvSpPr>
          <p:cNvPr id="5" name="TextBox 32"/>
          <p:cNvSpPr txBox="1">
            <a:spLocks noChangeArrowheads="1"/>
          </p:cNvSpPr>
          <p:nvPr/>
        </p:nvSpPr>
        <p:spPr bwMode="auto">
          <a:xfrm>
            <a:off x="6932829" y="5416522"/>
            <a:ext cx="1473200" cy="1301750"/>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04</a:t>
            </a:r>
            <a:endParaRPr lang="zh-CN" altLang="en-US" sz="3400" dirty="0">
              <a:solidFill>
                <a:schemeClr val="bg1"/>
              </a:solidFill>
              <a:latin typeface="+mn-lt"/>
              <a:ea typeface="+mn-ea"/>
              <a:cs typeface="+mn-ea"/>
              <a:sym typeface="+mn-lt"/>
            </a:endParaRPr>
          </a:p>
        </p:txBody>
      </p:sp>
      <p:sp>
        <p:nvSpPr>
          <p:cNvPr id="6" name="文本框 5"/>
          <p:cNvSpPr txBox="1"/>
          <p:nvPr/>
        </p:nvSpPr>
        <p:spPr>
          <a:xfrm>
            <a:off x="8314690" y="5485130"/>
            <a:ext cx="5473700" cy="497205"/>
          </a:xfrm>
          <a:prstGeom prst="rect">
            <a:avLst/>
          </a:prstGeom>
          <a:noFill/>
        </p:spPr>
        <p:txBody>
          <a:bodyPr wrap="square" lIns="128583" tIns="64291" rIns="128583" bIns="64291" rtlCol="0">
            <a:spAutoFit/>
          </a:bodyPr>
          <a:lstStyle/>
          <a:p>
            <a:r>
              <a:rPr kumimoji="1" lang="zh-CN" altLang="en-US" sz="2400" b="1" dirty="0">
                <a:cs typeface="+mn-ea"/>
                <a:sym typeface="+mn-lt"/>
              </a:rPr>
              <a:t>培养精益细致的工匠精神</a:t>
            </a:r>
            <a:endParaRPr kumimoji="1" lang="zh-CN" altLang="en-US" sz="2400" b="1"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p:cTn id="71" dur="500" fill="hold"/>
                                        <p:tgtEl>
                                          <p:spTgt spid="5"/>
                                        </p:tgtEl>
                                        <p:attrNameLst>
                                          <p:attrName>ppt_w</p:attrName>
                                        </p:attrNameLst>
                                      </p:cBhvr>
                                      <p:tavLst>
                                        <p:tav tm="0">
                                          <p:val>
                                            <p:fltVal val="0"/>
                                          </p:val>
                                        </p:tav>
                                        <p:tav tm="100000">
                                          <p:val>
                                            <p:strVal val="#ppt_w"/>
                                          </p:val>
                                        </p:tav>
                                      </p:tavLst>
                                    </p:anim>
                                    <p:anim calcmode="lin" valueType="num">
                                      <p:cBhvr>
                                        <p:cTn id="72" dur="500" fill="hold"/>
                                        <p:tgtEl>
                                          <p:spTgt spid="5"/>
                                        </p:tgtEl>
                                        <p:attrNameLst>
                                          <p:attrName>ppt_h</p:attrName>
                                        </p:attrNameLst>
                                      </p:cBhvr>
                                      <p:tavLst>
                                        <p:tav tm="0">
                                          <p:val>
                                            <p:fltVal val="0"/>
                                          </p:val>
                                        </p:tav>
                                        <p:tav tm="100000">
                                          <p:val>
                                            <p:strVal val="#ppt_h"/>
                                          </p:val>
                                        </p:tav>
                                      </p:tavLst>
                                    </p:anim>
                                    <p:anim calcmode="lin" valueType="num">
                                      <p:cBhvr>
                                        <p:cTn id="73" dur="500" fill="hold"/>
                                        <p:tgtEl>
                                          <p:spTgt spid="5"/>
                                        </p:tgtEl>
                                        <p:attrNameLst>
                                          <p:attrName>style.rotation</p:attrName>
                                        </p:attrNameLst>
                                      </p:cBhvr>
                                      <p:tavLst>
                                        <p:tav tm="0">
                                          <p:val>
                                            <p:fltVal val="360"/>
                                          </p:val>
                                        </p:tav>
                                        <p:tav tm="100000">
                                          <p:val>
                                            <p:fltVal val="0"/>
                                          </p:val>
                                        </p:tav>
                                      </p:tavLst>
                                    </p:anim>
                                    <p:animEffect transition="in" filter="fade">
                                      <p:cBhvr>
                                        <p:cTn id="74" dur="500"/>
                                        <p:tgtEl>
                                          <p:spTgt spid="5"/>
                                        </p:tgtEl>
                                      </p:cBhvr>
                                    </p:animEffect>
                                  </p:childTnLst>
                                </p:cTn>
                              </p:par>
                              <p:par>
                                <p:cTn id="75" presetID="41" presetClass="entr" presetSubtype="0" fill="hold" grpId="0" nodeType="withEffect">
                                  <p:stCondLst>
                                    <p:cond delay="0"/>
                                  </p:stCondLst>
                                  <p:iterate type="lt">
                                    <p:tmPct val="10000"/>
                                  </p:iterate>
                                  <p:childTnLst>
                                    <p:set>
                                      <p:cBhvr>
                                        <p:cTn id="76" dur="1" fill="hold">
                                          <p:stCondLst>
                                            <p:cond delay="0"/>
                                          </p:stCondLst>
                                        </p:cTn>
                                        <p:tgtEl>
                                          <p:spTgt spid="6"/>
                                        </p:tgtEl>
                                        <p:attrNameLst>
                                          <p:attrName>style.visibility</p:attrName>
                                        </p:attrNameLst>
                                      </p:cBhvr>
                                      <p:to>
                                        <p:strVal val="visible"/>
                                      </p:to>
                                    </p:set>
                                    <p:anim calcmode="lin" valueType="num">
                                      <p:cBhvr>
                                        <p:cTn id="7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78" dur="500" fill="hold"/>
                                        <p:tgtEl>
                                          <p:spTgt spid="6"/>
                                        </p:tgtEl>
                                        <p:attrNameLst>
                                          <p:attrName>ppt_y</p:attrName>
                                        </p:attrNameLst>
                                      </p:cBhvr>
                                      <p:tavLst>
                                        <p:tav tm="0">
                                          <p:val>
                                            <p:strVal val="#ppt_y"/>
                                          </p:val>
                                        </p:tav>
                                        <p:tav tm="100000">
                                          <p:val>
                                            <p:strVal val="#ppt_y"/>
                                          </p:val>
                                        </p:tav>
                                      </p:tavLst>
                                    </p:anim>
                                    <p:anim calcmode="lin" valueType="num">
                                      <p:cBhvr>
                                        <p:cTn id="7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8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81" dur="50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7" grpId="0" bldLvl="0" animBg="1"/>
      <p:bldP spid="12" grpId="0" bldLvl="0" animBg="1"/>
      <p:bldP spid="17" grpId="0" bldLvl="0" animBg="1"/>
      <p:bldP spid="26" grpId="0" bldLvl="0" animBg="1"/>
      <p:bldP spid="27" grpId="0"/>
      <p:bldP spid="29" grpId="0"/>
      <p:bldP spid="33" grpId="0"/>
      <p:bldP spid="35" grpId="0"/>
      <p:bldP spid="5" grpId="0" bldLvl="0" animBg="1"/>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4744362" y="1672109"/>
            <a:ext cx="3352165" cy="866775"/>
          </a:xfrm>
          <a:prstGeom prst="rect">
            <a:avLst/>
          </a:prstGeom>
          <a:noFill/>
        </p:spPr>
        <p:txBody>
          <a:bodyPr wrap="none" lIns="128583" tIns="64291" rIns="128583" bIns="64291" rtlCol="0">
            <a:spAutoFit/>
          </a:bodyPr>
          <a:lstStyle/>
          <a:p>
            <a:pPr algn="ctr"/>
            <a:r>
              <a:rPr kumimoji="1" lang="en-US" altLang="zh-CN" sz="4800" b="1" dirty="0">
                <a:solidFill>
                  <a:srgbClr val="43536A"/>
                </a:solidFill>
                <a:cs typeface="+mn-ea"/>
              </a:rPr>
              <a:t>5.1  JSP语法</a:t>
            </a:r>
            <a:endParaRPr kumimoji="1" lang="en-US" altLang="zh-CN" sz="4800" b="1" dirty="0">
              <a:solidFill>
                <a:srgbClr val="43536A"/>
              </a:solidFill>
              <a:cs typeface="+mn-ea"/>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84" y="606069"/>
            <a:ext cx="11264801" cy="656296"/>
          </a:xfrm>
        </p:spPr>
        <p:txBody>
          <a:bodyPr/>
          <a:lstStyle/>
          <a:p>
            <a:r>
              <a:rPr lang="en-US" altLang="zh-CN" dirty="0">
                <a:ea typeface="宋体" panose="02010600030101010101" pitchFamily="2" charset="-122"/>
                <a:sym typeface="+mn-ea"/>
              </a:rPr>
              <a:t>JSP</a:t>
            </a:r>
            <a:r>
              <a:rPr lang="zh-CN" altLang="en-US" dirty="0">
                <a:ea typeface="宋体" panose="02010600030101010101" pitchFamily="2" charset="-122"/>
                <a:sym typeface="+mn-ea"/>
              </a:rPr>
              <a:t>语法</a:t>
            </a:r>
            <a:endParaRPr dirty="0">
              <a:ea typeface="宋体" panose="02010600030101010101" pitchFamily="2" charset="-122"/>
            </a:endParaRPr>
          </a:p>
        </p:txBody>
      </p:sp>
      <p:sp>
        <p:nvSpPr>
          <p:cNvPr id="3" name="矩形 2"/>
          <p:cNvSpPr/>
          <p:nvPr/>
        </p:nvSpPr>
        <p:spPr>
          <a:xfrm>
            <a:off x="1100788" y="2104157"/>
            <a:ext cx="2436799" cy="900204"/>
          </a:xfrm>
          <a:prstGeom prst="rect">
            <a:avLst/>
          </a:prstGeom>
        </p:spPr>
        <p:txBody>
          <a:bodyPr wrap="none" lIns="91397" tIns="45699" rIns="91397" bIns="4569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74" y="2330723"/>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ts val="4000"/>
              </a:lnSpc>
            </a:pPr>
            <a:r>
              <a:rPr sz="2600" dirty="0">
                <a:ea typeface="宋体" panose="02010600030101010101" pitchFamily="2" charset="-122"/>
              </a:rPr>
              <a:t>JSP语法</a:t>
            </a:r>
            <a:endParaRPr sz="2600" dirty="0">
              <a:ea typeface="宋体" panose="02010600030101010101" pitchFamily="2" charset="-122"/>
            </a:endParaRPr>
          </a:p>
          <a:p>
            <a:pPr marL="1074420" lvl="1" indent="-533400">
              <a:lnSpc>
                <a:spcPts val="4000"/>
              </a:lnSpc>
            </a:pPr>
            <a:r>
              <a:rPr sz="2400" dirty="0"/>
              <a:t>JSP页面的基本结构 </a:t>
            </a:r>
            <a:endParaRPr sz="2400" dirty="0"/>
          </a:p>
          <a:p>
            <a:pPr marL="1074420" lvl="1" indent="-533400">
              <a:lnSpc>
                <a:spcPts val="4000"/>
              </a:lnSpc>
            </a:pPr>
            <a:r>
              <a:rPr sz="2400" dirty="0"/>
              <a:t>JSP中的注释 </a:t>
            </a:r>
            <a:endParaRPr sz="2400" dirty="0"/>
          </a:p>
          <a:p>
            <a:pPr marL="1074420" lvl="1" indent="-533400">
              <a:lnSpc>
                <a:spcPts val="4000"/>
              </a:lnSpc>
            </a:pPr>
            <a:r>
              <a:rPr sz="2400" dirty="0"/>
              <a:t>JSP脚本标签 </a:t>
            </a:r>
            <a:endParaRPr sz="2400" dirty="0"/>
          </a:p>
          <a:p>
            <a:pPr marL="1074420" lvl="1" indent="-533400">
              <a:lnSpc>
                <a:spcPts val="4000"/>
              </a:lnSpc>
            </a:pPr>
            <a:r>
              <a:rPr sz="2400" dirty="0"/>
              <a:t>JSP指令标签 </a:t>
            </a:r>
            <a:endParaRPr sz="2400" dirty="0"/>
          </a:p>
          <a:p>
            <a:pPr marL="1074420" lvl="1" indent="-533400">
              <a:lnSpc>
                <a:spcPts val="4000"/>
              </a:lnSpc>
            </a:pPr>
            <a:r>
              <a:rPr sz="2400" dirty="0"/>
              <a:t>JSP动作标签 </a:t>
            </a:r>
            <a:endParaRPr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62184" y="606069"/>
            <a:ext cx="11264801" cy="656296"/>
          </a:xfrm>
        </p:spPr>
        <p:txBody>
          <a:bodyPr/>
          <a:lstStyle/>
          <a:p>
            <a:r>
              <a:rPr lang="en-US" altLang="zh-CN" dirty="0">
                <a:ea typeface="宋体" panose="02010600030101010101" pitchFamily="2" charset="-122"/>
                <a:sym typeface="+mn-ea"/>
              </a:rPr>
              <a:t>JSP</a:t>
            </a:r>
            <a:r>
              <a:rPr lang="zh-CN" altLang="en-US" dirty="0">
                <a:ea typeface="宋体" panose="02010600030101010101" pitchFamily="2" charset="-122"/>
                <a:sym typeface="+mn-ea"/>
              </a:rPr>
              <a:t>语法</a:t>
            </a:r>
            <a:endParaRPr lang="zh-CN" altLang="en-US" dirty="0">
              <a:ea typeface="宋体" panose="02010600030101010101" pitchFamily="2" charset="-122"/>
            </a:endParaRPr>
          </a:p>
        </p:txBody>
      </p:sp>
      <p:sp>
        <p:nvSpPr>
          <p:cNvPr id="6147" name="Rectangle 3"/>
          <p:cNvSpPr>
            <a:spLocks noGrp="1" noChangeArrowheads="1"/>
          </p:cNvSpPr>
          <p:nvPr>
            <p:ph type="body" idx="1"/>
          </p:nvPr>
        </p:nvSpPr>
        <p:spPr>
          <a:xfrm>
            <a:off x="832696" y="1744117"/>
            <a:ext cx="12280552" cy="3026998"/>
          </a:xfrm>
        </p:spPr>
        <p:txBody>
          <a:bodyPr/>
          <a:lstStyle/>
          <a:p>
            <a:pPr marL="573405" indent="-573405">
              <a:lnSpc>
                <a:spcPct val="150000"/>
              </a:lnSpc>
              <a:buNone/>
            </a:pPr>
            <a:r>
              <a:rPr lang="zh-CN" altLang="en-US" b="1" dirty="0">
                <a:ea typeface="楷体_GB2312" pitchFamily="1" charset="-122"/>
              </a:rPr>
              <a:t>教学要求</a:t>
            </a:r>
            <a:endParaRPr lang="zh-CN" altLang="en-US" b="1" dirty="0">
              <a:ea typeface="楷体_GB2312" pitchFamily="1" charset="-122"/>
            </a:endParaRPr>
          </a:p>
          <a:p>
            <a:pPr marL="573405" indent="-573405">
              <a:lnSpc>
                <a:spcPct val="150000"/>
              </a:lnSpc>
              <a:buNone/>
            </a:pPr>
            <a:r>
              <a:rPr lang="en-US" altLang="zh-CN" sz="2400" dirty="0">
                <a:ea typeface="宋体" panose="02010600030101010101" pitchFamily="2" charset="-122"/>
              </a:rPr>
              <a:t>1</a:t>
            </a:r>
            <a:r>
              <a:rPr lang="zh-CN" altLang="en-US" sz="2400" dirty="0">
                <a:ea typeface="宋体" panose="02010600030101010101" pitchFamily="2" charset="-122"/>
              </a:rPr>
              <a:t>．掌握：</a:t>
            </a:r>
            <a:r>
              <a:rPr sz="2400" dirty="0">
                <a:sym typeface="+mn-ea"/>
              </a:rPr>
              <a:t>JSP页面的基本结构</a:t>
            </a:r>
            <a:endParaRPr lang="zh-CN" altLang="en-US" sz="2400" dirty="0">
              <a:ea typeface="宋体" panose="02010600030101010101" pitchFamily="2" charset="-122"/>
            </a:endParaRPr>
          </a:p>
          <a:p>
            <a:pPr marL="457200" indent="-457200">
              <a:lnSpc>
                <a:spcPct val="200000"/>
              </a:lnSpc>
              <a:buNone/>
            </a:pPr>
            <a:r>
              <a:rPr lang="en-US" altLang="zh-CN" sz="2400" dirty="0">
                <a:ea typeface="宋体" panose="02010600030101010101" pitchFamily="2" charset="-122"/>
              </a:rPr>
              <a:t>2</a:t>
            </a:r>
            <a:r>
              <a:rPr lang="zh-CN" altLang="en-US" sz="2400" dirty="0">
                <a:ea typeface="宋体" panose="02010600030101010101" pitchFamily="2" charset="-122"/>
              </a:rPr>
              <a:t>．理解：</a:t>
            </a:r>
            <a:r>
              <a:rPr sz="2400" dirty="0">
                <a:sym typeface="+mn-ea"/>
              </a:rPr>
              <a:t>JSP脚本标签</a:t>
            </a:r>
            <a:r>
              <a:rPr lang="zh-CN" sz="2400" dirty="0">
                <a:sym typeface="+mn-ea"/>
              </a:rPr>
              <a:t>和</a:t>
            </a:r>
            <a:r>
              <a:rPr sz="2400" dirty="0">
                <a:sym typeface="+mn-ea"/>
              </a:rPr>
              <a:t>JSP动作标签</a:t>
            </a:r>
            <a:endParaRPr lang="en-US" altLang="zh-CN" sz="2400" dirty="0">
              <a:ea typeface="宋体" panose="02010600030101010101" pitchFamily="2" charset="-122"/>
            </a:endParaRPr>
          </a:p>
          <a:p>
            <a:pPr marL="457200" indent="-457200">
              <a:lnSpc>
                <a:spcPct val="200000"/>
              </a:lnSpc>
              <a:buNone/>
            </a:pPr>
            <a:r>
              <a:rPr lang="en-US" altLang="zh-CN" sz="2400" dirty="0">
                <a:ea typeface="宋体" panose="02010600030101010101" pitchFamily="2" charset="-122"/>
              </a:rPr>
              <a:t>3</a:t>
            </a:r>
            <a:r>
              <a:rPr lang="zh-CN" altLang="en-US" sz="2400" dirty="0">
                <a:ea typeface="宋体" panose="02010600030101010101" pitchFamily="2" charset="-122"/>
              </a:rPr>
              <a:t>．了解：</a:t>
            </a:r>
            <a:r>
              <a:rPr sz="2400" dirty="0">
                <a:sym typeface="+mn-ea"/>
              </a:rPr>
              <a:t>JSP指令标签</a:t>
            </a:r>
            <a:r>
              <a:rPr lang="zh-CN" sz="2400" dirty="0">
                <a:sym typeface="+mn-ea"/>
              </a:rPr>
              <a:t>和</a:t>
            </a:r>
            <a:r>
              <a:rPr sz="2400" dirty="0">
                <a:sym typeface="+mn-ea"/>
              </a:rPr>
              <a:t>JSP中的注释 </a:t>
            </a:r>
            <a:endParaRPr lang="zh-CN" sz="2400" dirty="0">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2176845" y="654622"/>
            <a:ext cx="8448137" cy="656296"/>
          </a:xfrm>
        </p:spPr>
        <p:txBody>
          <a:bodyPr anchor="ctr"/>
          <a:lstStyle/>
          <a:p>
            <a:r>
              <a:rPr lang="en-US" altLang="zh-CN" sz="3475" dirty="0">
                <a:ea typeface="宋体" panose="02010600030101010101" pitchFamily="2" charset="-122"/>
                <a:sym typeface="+mn-ea"/>
              </a:rPr>
              <a:t>JSP</a:t>
            </a:r>
            <a:r>
              <a:rPr lang="zh-CN" altLang="en-US" sz="3475" dirty="0">
                <a:ea typeface="宋体" panose="02010600030101010101" pitchFamily="2" charset="-122"/>
                <a:sym typeface="+mn-ea"/>
              </a:rPr>
              <a:t>语法</a:t>
            </a:r>
            <a:endParaRPr lang="zh-CN" altLang="en-US" dirty="0">
              <a:ea typeface="宋体" panose="02010600030101010101" pitchFamily="2" charset="-122"/>
            </a:endParaRPr>
          </a:p>
        </p:txBody>
      </p:sp>
      <p:sp>
        <p:nvSpPr>
          <p:cNvPr id="8195" name="文本占位符 8194"/>
          <p:cNvSpPr>
            <a:spLocks noGrp="1"/>
          </p:cNvSpPr>
          <p:nvPr>
            <p:ph type="body" idx="1"/>
          </p:nvPr>
        </p:nvSpPr>
        <p:spPr>
          <a:xfrm>
            <a:off x="793590" y="1618803"/>
            <a:ext cx="8451485" cy="532403"/>
          </a:xfrm>
        </p:spPr>
        <p:txBody>
          <a:bodyPr/>
          <a:lstStyle/>
          <a:p>
            <a:pPr algn="l"/>
            <a:r>
              <a:rPr lang="en-US" altLang="zh-CN" dirty="0">
                <a:ea typeface="宋体" panose="02010600030101010101" pitchFamily="2" charset="-122"/>
              </a:rPr>
              <a:t>JSP</a:t>
            </a:r>
            <a:r>
              <a:rPr lang="zh-CN" altLang="en-US" dirty="0">
                <a:ea typeface="宋体" panose="02010600030101010101" pitchFamily="2" charset="-122"/>
              </a:rPr>
              <a:t>页面的基本结构 </a:t>
            </a:r>
            <a:endParaRPr lang="zh-CN" altLang="en-US" dirty="0">
              <a:ea typeface="宋体" panose="02010600030101010101" pitchFamily="2" charset="-122"/>
            </a:endParaRPr>
          </a:p>
        </p:txBody>
      </p:sp>
      <p:sp>
        <p:nvSpPr>
          <p:cNvPr id="2" name="文本框 1"/>
          <p:cNvSpPr txBox="1"/>
          <p:nvPr/>
        </p:nvSpPr>
        <p:spPr>
          <a:xfrm>
            <a:off x="1240790" y="2464435"/>
            <a:ext cx="9963785" cy="2306955"/>
          </a:xfrm>
          <a:prstGeom prst="rect">
            <a:avLst/>
          </a:prstGeom>
          <a:noFill/>
          <a:ln w="9525">
            <a:noFill/>
          </a:ln>
        </p:spPr>
        <p:txBody>
          <a:bodyPr wrap="square">
            <a:spAutoFit/>
          </a:bodyPr>
          <a:lstStyle/>
          <a:p>
            <a:pPr>
              <a:lnSpc>
                <a:spcPct val="180000"/>
              </a:lnSpc>
            </a:pPr>
            <a:r>
              <a:rPr lang="en-US" altLang="zh-CN" sz="2000" dirty="0">
                <a:ea typeface="宋体" panose="02010600030101010101" pitchFamily="2" charset="-122"/>
              </a:rPr>
              <a:t>JSP</a:t>
            </a:r>
            <a:r>
              <a:rPr lang="zh-CN" altLang="en-US" sz="2000" dirty="0">
                <a:ea typeface="宋体" panose="02010600030101010101" pitchFamily="2" charset="-122"/>
              </a:rPr>
              <a:t>页面是由</a:t>
            </a:r>
            <a:r>
              <a:rPr lang="en-US" altLang="zh-CN" sz="2000" dirty="0">
                <a:ea typeface="宋体" panose="02010600030101010101" pitchFamily="2" charset="-122"/>
              </a:rPr>
              <a:t>HTML</a:t>
            </a:r>
            <a:r>
              <a:rPr lang="zh-CN" altLang="en-US" sz="2000" dirty="0">
                <a:ea typeface="宋体" panose="02010600030101010101" pitchFamily="2" charset="-122"/>
              </a:rPr>
              <a:t>、</a:t>
            </a:r>
            <a:r>
              <a:rPr lang="en-US" altLang="zh-CN" sz="2000" dirty="0">
                <a:ea typeface="宋体" panose="02010600030101010101" pitchFamily="2" charset="-122"/>
              </a:rPr>
              <a:t>JavaScipt</a:t>
            </a:r>
            <a:r>
              <a:rPr lang="zh-CN" altLang="en-US" sz="2000" dirty="0">
                <a:ea typeface="宋体" panose="02010600030101010101" pitchFamily="2" charset="-122"/>
              </a:rPr>
              <a:t>和</a:t>
            </a:r>
            <a:r>
              <a:rPr lang="en-US" altLang="zh-CN" sz="2000" dirty="0">
                <a:ea typeface="宋体" panose="02010600030101010101" pitchFamily="2" charset="-122"/>
              </a:rPr>
              <a:t>CSS</a:t>
            </a:r>
            <a:r>
              <a:rPr lang="zh-CN" altLang="en-US" sz="2000" dirty="0">
                <a:ea typeface="宋体" panose="02010600030101010101" pitchFamily="2" charset="-122"/>
              </a:rPr>
              <a:t>等静态网页技术代码与</a:t>
            </a:r>
            <a:r>
              <a:rPr lang="en-US" altLang="zh-CN" sz="2000" dirty="0">
                <a:ea typeface="宋体" panose="02010600030101010101" pitchFamily="2" charset="-122"/>
              </a:rPr>
              <a:t>JSP</a:t>
            </a:r>
            <a:r>
              <a:rPr lang="zh-CN" altLang="en-US" sz="2000" dirty="0">
                <a:ea typeface="宋体" panose="02010600030101010101" pitchFamily="2" charset="-122"/>
              </a:rPr>
              <a:t>动态网页技术代码混合编辑而成。当有用户访问某</a:t>
            </a:r>
            <a:r>
              <a:rPr lang="en-US" altLang="zh-CN" sz="2000" dirty="0">
                <a:ea typeface="宋体" panose="02010600030101010101" pitchFamily="2" charset="-122"/>
              </a:rPr>
              <a:t>JSP</a:t>
            </a:r>
            <a:r>
              <a:rPr lang="zh-CN" altLang="en-US" sz="2000" dirty="0">
                <a:ea typeface="宋体" panose="02010600030101010101" pitchFamily="2" charset="-122"/>
              </a:rPr>
              <a:t>页面时，其中的</a:t>
            </a:r>
            <a:r>
              <a:rPr lang="en-US" altLang="zh-CN" sz="2000" dirty="0">
                <a:ea typeface="宋体" panose="02010600030101010101" pitchFamily="2" charset="-122"/>
              </a:rPr>
              <a:t>JSP</a:t>
            </a:r>
            <a:r>
              <a:rPr lang="zh-CN" altLang="en-US" sz="2000" dirty="0">
                <a:ea typeface="宋体" panose="02010600030101010101" pitchFamily="2" charset="-122"/>
              </a:rPr>
              <a:t>动态网页技术代码会被当作</a:t>
            </a:r>
            <a:r>
              <a:rPr lang="en-US" altLang="zh-CN" sz="2000" dirty="0">
                <a:ea typeface="宋体" panose="02010600030101010101" pitchFamily="2" charset="-122"/>
              </a:rPr>
              <a:t>Java</a:t>
            </a:r>
            <a:r>
              <a:rPr lang="zh-CN" altLang="en-US" sz="2000" dirty="0">
                <a:ea typeface="宋体" panose="02010600030101010101" pitchFamily="2" charset="-122"/>
              </a:rPr>
              <a:t>程序代码解释执行，并动态生成静态网页技术代码与原有的静态代码混合发送到用户的网页浏览器中进行解释执行显示。 </a:t>
            </a:r>
            <a:endParaRPr lang="zh-CN" altLang="en-US" sz="2000"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p:nvPr>
        </p:nvSpPr>
        <p:spPr>
          <a:xfrm>
            <a:off x="2176845" y="654622"/>
            <a:ext cx="8448137" cy="656296"/>
          </a:xfrm>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9219" name="文本占位符 9218"/>
          <p:cNvSpPr>
            <a:spLocks noGrp="1"/>
          </p:cNvSpPr>
          <p:nvPr>
            <p:ph type="body" idx="1"/>
          </p:nvPr>
        </p:nvSpPr>
        <p:spPr>
          <a:xfrm>
            <a:off x="912970" y="1678493"/>
            <a:ext cx="8451485" cy="532403"/>
          </a:xfrm>
        </p:spPr>
        <p:txBody>
          <a:bodyPr/>
          <a:lstStyle/>
          <a:p>
            <a:r>
              <a:rPr lang="en-US" altLang="zh-CN" dirty="0">
                <a:ea typeface="黑体" panose="02010609060101010101" charset="-122"/>
              </a:rPr>
              <a:t> </a:t>
            </a:r>
            <a:r>
              <a:rPr lang="en-US" altLang="zh-CN" dirty="0">
                <a:ea typeface="宋体" panose="02010600030101010101" pitchFamily="2" charset="-122"/>
              </a:rPr>
              <a:t>JSP</a:t>
            </a:r>
            <a:r>
              <a:rPr lang="zh-CN" altLang="en-US" dirty="0">
                <a:ea typeface="宋体" panose="02010600030101010101" pitchFamily="2" charset="-122"/>
              </a:rPr>
              <a:t>中的注释 </a:t>
            </a:r>
            <a:endParaRPr lang="zh-CN" altLang="en-US" dirty="0">
              <a:ea typeface="宋体" panose="02010600030101010101" pitchFamily="2" charset="-122"/>
            </a:endParaRPr>
          </a:p>
        </p:txBody>
      </p:sp>
      <p:sp>
        <p:nvSpPr>
          <p:cNvPr id="2" name="文本框 1"/>
          <p:cNvSpPr txBox="1"/>
          <p:nvPr/>
        </p:nvSpPr>
        <p:spPr>
          <a:xfrm>
            <a:off x="1438910" y="2185670"/>
            <a:ext cx="6692265" cy="1568450"/>
          </a:xfrm>
          <a:prstGeom prst="rect">
            <a:avLst/>
          </a:prstGeom>
          <a:noFill/>
        </p:spPr>
        <p:txBody>
          <a:bodyPr wrap="square" rtlCol="0" anchor="t">
            <a:spAutoFit/>
          </a:bodyPr>
          <a:lstStyle/>
          <a:p>
            <a:pPr marL="342900" indent="-342900">
              <a:lnSpc>
                <a:spcPct val="200000"/>
              </a:lnSpc>
            </a:pPr>
            <a:r>
              <a:rPr lang="en-US" altLang="zh-CN" sz="2400" dirty="0">
                <a:sym typeface="+mn-ea"/>
              </a:rPr>
              <a:t>1. </a:t>
            </a:r>
            <a:r>
              <a:rPr lang="zh-CN" altLang="en-US" sz="2400" dirty="0">
                <a:sym typeface="+mn-ea"/>
              </a:rPr>
              <a:t>采用</a:t>
            </a:r>
            <a:r>
              <a:rPr lang="en-US" altLang="zh-CN" sz="2400" dirty="0">
                <a:sym typeface="+mn-ea"/>
              </a:rPr>
              <a:t>JSP</a:t>
            </a:r>
            <a:r>
              <a:rPr lang="zh-CN" altLang="en-US" sz="2400" dirty="0">
                <a:sym typeface="+mn-ea"/>
              </a:rPr>
              <a:t>语法，其形式为</a:t>
            </a:r>
            <a:r>
              <a:rPr lang="en-US" altLang="zh-CN" sz="2400" dirty="0">
                <a:sym typeface="+mn-ea"/>
              </a:rPr>
              <a:t>&lt;%--</a:t>
            </a:r>
            <a:r>
              <a:rPr lang="zh-CN" altLang="en-US" sz="2400" dirty="0">
                <a:sym typeface="+mn-ea"/>
              </a:rPr>
              <a:t>注释内容</a:t>
            </a:r>
            <a:r>
              <a:rPr lang="en-US" altLang="zh-CN" sz="2400" dirty="0">
                <a:sym typeface="+mn-ea"/>
              </a:rPr>
              <a:t>--%&gt;</a:t>
            </a:r>
            <a:endParaRPr lang="zh-CN" altLang="en-US" sz="2400" dirty="0">
              <a:ea typeface="宋体" panose="02010600030101010101" pitchFamily="2" charset="-122"/>
            </a:endParaRPr>
          </a:p>
          <a:p>
            <a:pPr marL="342900" indent="-342900">
              <a:lnSpc>
                <a:spcPct val="200000"/>
              </a:lnSpc>
            </a:pPr>
            <a:r>
              <a:rPr lang="en-US" altLang="zh-CN" sz="2400" dirty="0">
                <a:sym typeface="+mn-ea"/>
              </a:rPr>
              <a:t>2. </a:t>
            </a:r>
            <a:r>
              <a:rPr lang="zh-CN" altLang="en-US" sz="2400" dirty="0">
                <a:sym typeface="+mn-ea"/>
              </a:rPr>
              <a:t>采用</a:t>
            </a:r>
            <a:r>
              <a:rPr lang="en-US" altLang="zh-CN" sz="2400" dirty="0">
                <a:sym typeface="+mn-ea"/>
              </a:rPr>
              <a:t>HTML</a:t>
            </a:r>
            <a:r>
              <a:rPr lang="zh-CN" altLang="en-US" sz="2400" dirty="0">
                <a:sym typeface="+mn-ea"/>
              </a:rPr>
              <a:t>语法，其形式为</a:t>
            </a:r>
            <a:r>
              <a:rPr lang="en-US" altLang="zh-CN" sz="2400" dirty="0">
                <a:sym typeface="+mn-ea"/>
              </a:rPr>
              <a:t>&lt;!--</a:t>
            </a:r>
            <a:r>
              <a:rPr lang="zh-CN" altLang="en-US" sz="2400" dirty="0">
                <a:sym typeface="+mn-ea"/>
              </a:rPr>
              <a:t>注释内容</a:t>
            </a:r>
            <a:r>
              <a:rPr lang="en-US" altLang="zh-CN" sz="2400" dirty="0">
                <a:sym typeface="+mn-ea"/>
              </a:rPr>
              <a:t>--&gt;</a:t>
            </a:r>
            <a:r>
              <a:rPr lang="zh-CN" altLang="en-US" sz="2400" dirty="0">
                <a:sym typeface="+mn-ea"/>
              </a:rPr>
              <a:t> </a:t>
            </a:r>
            <a:endParaRPr lang="zh-CN"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a:xfrm>
            <a:off x="2176845" y="654622"/>
            <a:ext cx="8448137" cy="656296"/>
          </a:xfrm>
        </p:spPr>
        <p:txBody>
          <a:bodyPr anchor="ctr"/>
          <a:lstStyle/>
          <a:p>
            <a:r>
              <a:rPr lang="en-US" altLang="zh-CN" sz="3480" dirty="0">
                <a:ea typeface="宋体" panose="02010600030101010101" pitchFamily="2" charset="-122"/>
              </a:rPr>
              <a:t> </a:t>
            </a:r>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10243" name="文本占位符 10242"/>
          <p:cNvSpPr>
            <a:spLocks noGrp="1"/>
          </p:cNvSpPr>
          <p:nvPr>
            <p:ph type="body" idx="1"/>
          </p:nvPr>
        </p:nvSpPr>
        <p:spPr>
          <a:xfrm>
            <a:off x="1062195" y="1621343"/>
            <a:ext cx="8451485" cy="532403"/>
          </a:xfrm>
        </p:spPr>
        <p:txBody>
          <a:bodyPr/>
          <a:lstStyle/>
          <a:p>
            <a:r>
              <a:rPr lang="en-US" altLang="zh-CN" dirty="0">
                <a:ea typeface="宋体" panose="02010600030101010101" pitchFamily="2" charset="-122"/>
              </a:rPr>
              <a:t>JSP</a:t>
            </a:r>
            <a:r>
              <a:rPr lang="zh-CN" altLang="en-US" dirty="0">
                <a:ea typeface="宋体" panose="02010600030101010101" pitchFamily="2" charset="-122"/>
              </a:rPr>
              <a:t>脚本标签 </a:t>
            </a:r>
            <a:endParaRPr lang="zh-CN" altLang="en-US" dirty="0">
              <a:ea typeface="宋体" panose="02010600030101010101" pitchFamily="2" charset="-122"/>
            </a:endParaRPr>
          </a:p>
        </p:txBody>
      </p:sp>
      <p:sp>
        <p:nvSpPr>
          <p:cNvPr id="2" name="矩形 1"/>
          <p:cNvSpPr/>
          <p:nvPr/>
        </p:nvSpPr>
        <p:spPr>
          <a:xfrm>
            <a:off x="1648460" y="2463483"/>
            <a:ext cx="9869170" cy="3911600"/>
          </a:xfrm>
          <a:prstGeom prst="rect">
            <a:avLst/>
          </a:prstGeom>
          <a:noFill/>
          <a:ln w="9525">
            <a:noFill/>
          </a:ln>
        </p:spPr>
        <p:txBody>
          <a:bodyPr wrap="square" anchor="ctr">
            <a:spAutoFit/>
          </a:bodyPr>
          <a:lstStyle/>
          <a:p>
            <a:r>
              <a:rPr lang="en-US" altLang="zh-CN" b="1" dirty="0">
                <a:ea typeface="宋体" panose="02010600030101010101" pitchFamily="2" charset="-122"/>
              </a:rPr>
              <a:t>1</a:t>
            </a:r>
            <a:r>
              <a:rPr lang="zh-CN" altLang="en-US" b="1" dirty="0">
                <a:ea typeface="宋体" panose="02010600030101010101" pitchFamily="2" charset="-122"/>
              </a:rPr>
              <a:t>．声明</a:t>
            </a:r>
            <a:endParaRPr lang="zh-CN" altLang="en-US" b="1" dirty="0">
              <a:ea typeface="宋体" panose="02010600030101010101" pitchFamily="2" charset="-122"/>
            </a:endParaRPr>
          </a:p>
          <a:p>
            <a:pPr>
              <a:lnSpc>
                <a:spcPct val="120000"/>
              </a:lnSpc>
            </a:pPr>
            <a:r>
              <a:rPr lang="zh-CN" altLang="en-US" dirty="0">
                <a:ea typeface="宋体" panose="02010600030101010101" pitchFamily="2" charset="-122"/>
              </a:rPr>
              <a:t>声明是用来定义将在</a:t>
            </a:r>
            <a:r>
              <a:rPr lang="en-US" altLang="zh-CN" dirty="0">
                <a:ea typeface="宋体" panose="02010600030101010101" pitchFamily="2" charset="-122"/>
              </a:rPr>
              <a:t>JSP</a:t>
            </a:r>
            <a:r>
              <a:rPr lang="zh-CN" altLang="en-US" dirty="0">
                <a:ea typeface="宋体" panose="02010600030101010101" pitchFamily="2" charset="-122"/>
              </a:rPr>
              <a:t>页面中使用的变量和方法，在声明标签中声明的变量和方法在整个页面范围内是有效的。其语法如下：</a:t>
            </a:r>
            <a:endParaRPr lang="zh-CN" altLang="en-US" dirty="0">
              <a:ea typeface="宋体" panose="02010600030101010101" pitchFamily="2" charset="-122"/>
            </a:endParaRPr>
          </a:p>
          <a:p>
            <a:pPr>
              <a:lnSpc>
                <a:spcPct val="120000"/>
              </a:lnSpc>
            </a:pPr>
            <a:r>
              <a:rPr lang="en-US" altLang="zh-CN" b="1" dirty="0">
                <a:ea typeface="宋体" panose="02010600030101010101" pitchFamily="2" charset="-122"/>
              </a:rPr>
              <a:t>&lt;%!</a:t>
            </a:r>
            <a:r>
              <a:rPr lang="zh-CN" altLang="en-US" b="1" dirty="0">
                <a:ea typeface="宋体" panose="02010600030101010101" pitchFamily="2" charset="-122"/>
              </a:rPr>
              <a:t>声明内容</a:t>
            </a:r>
            <a:r>
              <a:rPr lang="en-US" altLang="zh-CN" b="1" dirty="0">
                <a:ea typeface="宋体" panose="02010600030101010101" pitchFamily="2" charset="-122"/>
              </a:rPr>
              <a:t>%&gt; </a:t>
            </a:r>
            <a:endParaRPr lang="en-US" altLang="zh-CN" b="1" dirty="0">
              <a:ea typeface="宋体" panose="02010600030101010101" pitchFamily="2" charset="-122"/>
            </a:endParaRPr>
          </a:p>
          <a:p>
            <a:endParaRPr lang="en-US" altLang="zh-CN" b="1" dirty="0">
              <a:ea typeface="宋体" panose="02010600030101010101" pitchFamily="2" charset="-122"/>
            </a:endParaRPr>
          </a:p>
          <a:p>
            <a:pPr>
              <a:lnSpc>
                <a:spcPct val="120000"/>
              </a:lnSpc>
            </a:pPr>
            <a:r>
              <a:rPr lang="en-US" altLang="zh-CN" b="1" dirty="0">
                <a:ea typeface="宋体" panose="02010600030101010101" pitchFamily="2" charset="-122"/>
              </a:rPr>
              <a:t>2. </a:t>
            </a:r>
            <a:r>
              <a:rPr lang="zh-CN" altLang="en-US" b="1" dirty="0">
                <a:ea typeface="宋体" panose="02010600030101010101" pitchFamily="2" charset="-122"/>
              </a:rPr>
              <a:t>代码段</a:t>
            </a:r>
            <a:endParaRPr lang="zh-CN" altLang="en-US" b="1" dirty="0">
              <a:ea typeface="宋体" panose="02010600030101010101" pitchFamily="2" charset="-122"/>
            </a:endParaRPr>
          </a:p>
          <a:p>
            <a:pPr>
              <a:lnSpc>
                <a:spcPct val="120000"/>
              </a:lnSpc>
            </a:pPr>
            <a:r>
              <a:rPr lang="zh-CN" altLang="en-US" dirty="0">
                <a:ea typeface="宋体" panose="02010600030101010101" pitchFamily="2" charset="-122"/>
              </a:rPr>
              <a:t>在</a:t>
            </a:r>
            <a:r>
              <a:rPr lang="en-US" altLang="zh-CN" dirty="0">
                <a:ea typeface="宋体" panose="02010600030101010101" pitchFamily="2" charset="-122"/>
              </a:rPr>
              <a:t>JSP</a:t>
            </a:r>
            <a:r>
              <a:rPr lang="zh-CN" altLang="en-US" dirty="0">
                <a:ea typeface="宋体" panose="02010600030101010101" pitchFamily="2" charset="-122"/>
              </a:rPr>
              <a:t>页面中，</a:t>
            </a:r>
            <a:r>
              <a:rPr lang="en-US" altLang="zh-CN" dirty="0">
                <a:ea typeface="宋体" panose="02010600030101010101" pitchFamily="2" charset="-122"/>
              </a:rPr>
              <a:t>Java</a:t>
            </a:r>
            <a:r>
              <a:rPr lang="zh-CN" altLang="en-US" dirty="0">
                <a:ea typeface="宋体" panose="02010600030101010101" pitchFamily="2" charset="-122"/>
              </a:rPr>
              <a:t>代码段放在符号</a:t>
            </a:r>
            <a:r>
              <a:rPr lang="en-US" altLang="zh-CN" dirty="0">
                <a:ea typeface="宋体" panose="02010600030101010101" pitchFamily="2" charset="-122"/>
              </a:rPr>
              <a:t>&lt;%</a:t>
            </a:r>
            <a:r>
              <a:rPr lang="zh-CN" altLang="en-US" dirty="0">
                <a:ea typeface="宋体" panose="02010600030101010101" pitchFamily="2" charset="-122"/>
              </a:rPr>
              <a:t>和</a:t>
            </a:r>
            <a:r>
              <a:rPr lang="en-US" altLang="zh-CN" dirty="0">
                <a:ea typeface="宋体" panose="02010600030101010101" pitchFamily="2" charset="-122"/>
              </a:rPr>
              <a:t>%&gt;</a:t>
            </a:r>
            <a:r>
              <a:rPr lang="zh-CN" altLang="en-US" dirty="0">
                <a:ea typeface="宋体" panose="02010600030101010101" pitchFamily="2" charset="-122"/>
              </a:rPr>
              <a:t>之间。其语法如下：</a:t>
            </a:r>
            <a:endParaRPr lang="zh-CN" altLang="en-US" dirty="0">
              <a:ea typeface="宋体" panose="02010600030101010101" pitchFamily="2" charset="-122"/>
            </a:endParaRPr>
          </a:p>
          <a:p>
            <a:pPr>
              <a:lnSpc>
                <a:spcPct val="120000"/>
              </a:lnSpc>
            </a:pPr>
            <a:r>
              <a:rPr lang="en-US" altLang="zh-CN" b="1" dirty="0">
                <a:ea typeface="宋体" panose="02010600030101010101" pitchFamily="2" charset="-122"/>
              </a:rPr>
              <a:t>&lt;%</a:t>
            </a:r>
            <a:r>
              <a:rPr lang="zh-CN" altLang="en-US" b="1" dirty="0">
                <a:ea typeface="宋体" panose="02010600030101010101" pitchFamily="2" charset="-122"/>
              </a:rPr>
              <a:t>代码段</a:t>
            </a:r>
            <a:r>
              <a:rPr lang="en-US" altLang="zh-CN" b="1" dirty="0">
                <a:ea typeface="宋体" panose="02010600030101010101" pitchFamily="2" charset="-122"/>
              </a:rPr>
              <a:t>%&gt;</a:t>
            </a:r>
            <a:endParaRPr lang="en-US" altLang="zh-CN" b="1" dirty="0">
              <a:ea typeface="宋体" panose="02010600030101010101" pitchFamily="2" charset="-122"/>
            </a:endParaRPr>
          </a:p>
          <a:p>
            <a:endParaRPr lang="en-US" altLang="zh-CN" b="1" dirty="0">
              <a:ea typeface="宋体" panose="02010600030101010101" pitchFamily="2" charset="-122"/>
            </a:endParaRPr>
          </a:p>
          <a:p>
            <a:pPr>
              <a:lnSpc>
                <a:spcPct val="120000"/>
              </a:lnSpc>
            </a:pPr>
            <a:r>
              <a:rPr lang="en-US" altLang="zh-CN" b="1" dirty="0">
                <a:ea typeface="宋体" panose="02010600030101010101" pitchFamily="2" charset="-122"/>
              </a:rPr>
              <a:t>3. </a:t>
            </a:r>
            <a:r>
              <a:rPr lang="zh-CN" altLang="en-US" b="1" dirty="0">
                <a:ea typeface="宋体" panose="02010600030101010101" pitchFamily="2" charset="-122"/>
              </a:rPr>
              <a:t>表达式</a:t>
            </a:r>
            <a:endParaRPr lang="zh-CN" altLang="en-US" b="1" dirty="0">
              <a:ea typeface="宋体" panose="02010600030101010101" pitchFamily="2" charset="-122"/>
            </a:endParaRPr>
          </a:p>
          <a:p>
            <a:pPr>
              <a:lnSpc>
                <a:spcPct val="120000"/>
              </a:lnSpc>
            </a:pPr>
            <a:r>
              <a:rPr lang="zh-CN" altLang="en-US" dirty="0">
                <a:ea typeface="宋体" panose="02010600030101010101" pitchFamily="2" charset="-122"/>
              </a:rPr>
              <a:t>在</a:t>
            </a:r>
            <a:r>
              <a:rPr lang="en-US" altLang="zh-CN" dirty="0">
                <a:ea typeface="宋体" panose="02010600030101010101" pitchFamily="2" charset="-122"/>
              </a:rPr>
              <a:t>JSP</a:t>
            </a:r>
            <a:r>
              <a:rPr lang="zh-CN" altLang="en-US" dirty="0">
                <a:ea typeface="宋体" panose="02010600030101010101" pitchFamily="2" charset="-122"/>
              </a:rPr>
              <a:t>中通过表达式标签可以直接将表达式结果显示在网页中。表达式标签的语法如下：</a:t>
            </a:r>
            <a:endParaRPr lang="zh-CN" altLang="en-US" dirty="0">
              <a:ea typeface="宋体" panose="02010600030101010101" pitchFamily="2" charset="-122"/>
            </a:endParaRPr>
          </a:p>
          <a:p>
            <a:pPr>
              <a:lnSpc>
                <a:spcPct val="120000"/>
              </a:lnSpc>
            </a:pPr>
            <a:r>
              <a:rPr lang="en-US" altLang="zh-CN" b="1" dirty="0">
                <a:ea typeface="宋体" panose="02010600030101010101" pitchFamily="2" charset="-122"/>
              </a:rPr>
              <a:t>&lt;%=</a:t>
            </a:r>
            <a:r>
              <a:rPr lang="zh-CN" altLang="en-US" b="1" dirty="0">
                <a:ea typeface="宋体" panose="02010600030101010101" pitchFamily="2" charset="-122"/>
              </a:rPr>
              <a:t>表达式</a:t>
            </a:r>
            <a:r>
              <a:rPr lang="en-US" altLang="zh-CN" b="1" dirty="0">
                <a:ea typeface="宋体" panose="02010600030101010101" pitchFamily="2" charset="-122"/>
              </a:rPr>
              <a:t>%&gt; </a:t>
            </a:r>
            <a:endParaRPr lang="zh-CN" altLang="en-US" b="1"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1265"/>
          <p:cNvSpPr>
            <a:spLocks noGrp="1"/>
          </p:cNvSpPr>
          <p:nvPr>
            <p:ph type="title"/>
          </p:nvPr>
        </p:nvSpPr>
        <p:spPr>
          <a:xfrm>
            <a:off x="2176845" y="654622"/>
            <a:ext cx="8448137" cy="656296"/>
          </a:xfrm>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11267" name="文本占位符 11266"/>
          <p:cNvSpPr>
            <a:spLocks noGrp="1"/>
          </p:cNvSpPr>
          <p:nvPr>
            <p:ph type="body" idx="1"/>
          </p:nvPr>
        </p:nvSpPr>
        <p:spPr>
          <a:xfrm>
            <a:off x="734535" y="1559748"/>
            <a:ext cx="8451485" cy="532403"/>
          </a:xfrm>
        </p:spPr>
        <p:txBody>
          <a:bodyPr/>
          <a:lstStyle/>
          <a:p>
            <a:r>
              <a:rPr lang="en-US" altLang="zh-CN" dirty="0">
                <a:ea typeface="宋体" panose="02010600030101010101" pitchFamily="2" charset="-122"/>
              </a:rPr>
              <a:t>JSP</a:t>
            </a:r>
            <a:r>
              <a:rPr lang="zh-CN" altLang="en-US" dirty="0">
                <a:ea typeface="宋体" panose="02010600030101010101" pitchFamily="2" charset="-122"/>
              </a:rPr>
              <a:t>指令标签 </a:t>
            </a:r>
            <a:endParaRPr lang="zh-CN" altLang="en-US" dirty="0">
              <a:ea typeface="宋体" panose="02010600030101010101" pitchFamily="2" charset="-122"/>
            </a:endParaRPr>
          </a:p>
        </p:txBody>
      </p:sp>
      <p:sp>
        <p:nvSpPr>
          <p:cNvPr id="2" name="矩形 1"/>
          <p:cNvSpPr/>
          <p:nvPr/>
        </p:nvSpPr>
        <p:spPr>
          <a:xfrm>
            <a:off x="1177290" y="2290128"/>
            <a:ext cx="10446385" cy="2861310"/>
          </a:xfrm>
          <a:prstGeom prst="rect">
            <a:avLst/>
          </a:prstGeom>
          <a:noFill/>
          <a:ln w="9525">
            <a:noFill/>
          </a:ln>
        </p:spPr>
        <p:txBody>
          <a:bodyPr wrap="square" anchor="ctr">
            <a:spAutoFit/>
          </a:bodyPr>
          <a:lstStyle/>
          <a:p>
            <a:pPr>
              <a:lnSpc>
                <a:spcPct val="160000"/>
              </a:lnSpc>
            </a:pPr>
            <a:r>
              <a:rPr lang="en-US" altLang="zh-CN" sz="2000" dirty="0">
                <a:ea typeface="宋体" panose="02010600030101010101" pitchFamily="2" charset="-122"/>
              </a:rPr>
              <a:t>JSP</a:t>
            </a:r>
            <a:r>
              <a:rPr lang="zh-CN" altLang="en-US" sz="2000" dirty="0">
                <a:ea typeface="宋体" panose="02010600030101010101" pitchFamily="2" charset="-122"/>
              </a:rPr>
              <a:t>指令标签为</a:t>
            </a:r>
            <a:r>
              <a:rPr lang="en-US" altLang="zh-CN" sz="2000" dirty="0">
                <a:ea typeface="宋体" panose="02010600030101010101" pitchFamily="2" charset="-122"/>
              </a:rPr>
              <a:t>JSP</a:t>
            </a:r>
            <a:r>
              <a:rPr lang="zh-CN" altLang="en-US" sz="2000" dirty="0">
                <a:ea typeface="宋体" panose="02010600030101010101" pitchFamily="2" charset="-122"/>
              </a:rPr>
              <a:t>容器编译和执行</a:t>
            </a:r>
            <a:r>
              <a:rPr lang="en-US" altLang="zh-CN" sz="2000" dirty="0">
                <a:ea typeface="宋体" panose="02010600030101010101" pitchFamily="2" charset="-122"/>
              </a:rPr>
              <a:t>JSP</a:t>
            </a:r>
            <a:r>
              <a:rPr lang="zh-CN" altLang="en-US" sz="2000" dirty="0">
                <a:ea typeface="宋体" panose="02010600030101010101" pitchFamily="2" charset="-122"/>
              </a:rPr>
              <a:t>页面时提供相关信息，不会对当前输出流产生影响。其语法如下：</a:t>
            </a:r>
            <a:endParaRPr lang="zh-CN" altLang="en-US" sz="2000" dirty="0">
              <a:ea typeface="宋体" panose="02010600030101010101" pitchFamily="2" charset="-122"/>
            </a:endParaRPr>
          </a:p>
          <a:p>
            <a:pPr>
              <a:lnSpc>
                <a:spcPct val="160000"/>
              </a:lnSpc>
            </a:pPr>
            <a:r>
              <a:rPr lang="en-US" altLang="zh-CN" sz="2000" dirty="0">
                <a:ea typeface="宋体" panose="02010600030101010101" pitchFamily="2" charset="-122"/>
              </a:rPr>
              <a:t>&lt;%@ </a:t>
            </a:r>
            <a:r>
              <a:rPr lang="zh-CN" altLang="en-US" sz="2000" dirty="0">
                <a:ea typeface="宋体" panose="02010600030101010101" pitchFamily="2" charset="-122"/>
              </a:rPr>
              <a:t>指令名 属性名</a:t>
            </a:r>
            <a:r>
              <a:rPr lang="en-US" altLang="zh-CN" sz="2000" dirty="0">
                <a:ea typeface="宋体" panose="02010600030101010101" pitchFamily="2" charset="-122"/>
              </a:rPr>
              <a:t>=”</a:t>
            </a:r>
            <a:r>
              <a:rPr lang="zh-CN" altLang="en-US" sz="2000" dirty="0">
                <a:ea typeface="宋体" panose="02010600030101010101" pitchFamily="2" charset="-122"/>
              </a:rPr>
              <a:t>属性值”</a:t>
            </a:r>
            <a:r>
              <a:rPr lang="en-US" altLang="zh-CN" sz="2000" dirty="0">
                <a:ea typeface="宋体" panose="02010600030101010101" pitchFamily="2" charset="-122"/>
              </a:rPr>
              <a:t>%&gt;</a:t>
            </a:r>
            <a:endParaRPr lang="en-US" altLang="zh-CN" sz="2000" dirty="0">
              <a:ea typeface="宋体" panose="02010600030101010101" pitchFamily="2" charset="-122"/>
            </a:endParaRPr>
          </a:p>
          <a:p>
            <a:pPr>
              <a:lnSpc>
                <a:spcPct val="160000"/>
              </a:lnSpc>
            </a:pPr>
            <a:endParaRPr lang="zh-CN" altLang="en-US" sz="2000" dirty="0">
              <a:ea typeface="宋体" panose="02010600030101010101" pitchFamily="2" charset="-122"/>
            </a:endParaRPr>
          </a:p>
          <a:p>
            <a:pPr>
              <a:lnSpc>
                <a:spcPct val="160000"/>
              </a:lnSpc>
            </a:pPr>
            <a:r>
              <a:rPr lang="zh-CN" altLang="en-US" sz="2000" dirty="0">
                <a:ea typeface="宋体" panose="02010600030101010101" pitchFamily="2" charset="-122"/>
              </a:rPr>
              <a:t>指令名有三种：</a:t>
            </a:r>
            <a:r>
              <a:rPr lang="en-US" altLang="zh-CN" sz="2000" dirty="0">
                <a:ea typeface="宋体" panose="02010600030101010101" pitchFamily="2" charset="-122"/>
              </a:rPr>
              <a:t>page,include</a:t>
            </a:r>
            <a:r>
              <a:rPr lang="zh-CN" altLang="en-US" sz="2000" dirty="0">
                <a:ea typeface="宋体" panose="02010600030101010101" pitchFamily="2" charset="-122"/>
              </a:rPr>
              <a:t>和</a:t>
            </a:r>
            <a:r>
              <a:rPr lang="en-US" altLang="zh-CN" sz="2000" dirty="0">
                <a:ea typeface="宋体" panose="02010600030101010101" pitchFamily="2" charset="-122"/>
              </a:rPr>
              <a:t>taglib</a:t>
            </a:r>
            <a:r>
              <a:rPr lang="zh-CN" altLang="en-US" sz="2000" dirty="0">
                <a:ea typeface="宋体" panose="02010600030101010101" pitchFamily="2" charset="-122"/>
              </a:rPr>
              <a:t>。</a:t>
            </a:r>
            <a:endParaRPr lang="zh-CN" altLang="en-US" sz="2000" dirty="0">
              <a:ea typeface="宋体" panose="02010600030101010101" pitchFamily="2" charset="-122"/>
            </a:endParaRPr>
          </a:p>
          <a:p>
            <a:endParaRPr lang="zh-CN" altLang="en-US" sz="20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p:txBody>
          <a:bodyPr anchor="ctr"/>
          <a:lstStyle/>
          <a:p>
            <a:r>
              <a:rPr lang="en-US" altLang="zh-CN" sz="3480" dirty="0">
                <a:ea typeface="宋体" panose="02010600030101010101" pitchFamily="2" charset="-122"/>
              </a:rPr>
              <a:t> </a:t>
            </a:r>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12291" name="文本占位符 12290"/>
          <p:cNvSpPr>
            <a:spLocks noGrp="1"/>
          </p:cNvSpPr>
          <p:nvPr>
            <p:ph type="body" idx="1"/>
          </p:nvPr>
        </p:nvSpPr>
        <p:spPr>
          <a:xfrm>
            <a:off x="577850" y="1414780"/>
            <a:ext cx="9958070" cy="5817870"/>
          </a:xfrm>
        </p:spPr>
        <p:txBody>
          <a:bodyPr/>
          <a:lstStyle/>
          <a:p>
            <a:r>
              <a:rPr lang="en-US" altLang="zh-CN" dirty="0">
                <a:ea typeface="黑体" panose="02010609060101010101" charset="-122"/>
              </a:rPr>
              <a:t> </a:t>
            </a:r>
            <a:r>
              <a:rPr lang="en-US" altLang="zh-CN" dirty="0">
                <a:ea typeface="宋体" panose="02010600030101010101" pitchFamily="2" charset="-122"/>
              </a:rPr>
              <a:t>JSP</a:t>
            </a:r>
            <a:r>
              <a:rPr lang="zh-CN" altLang="en-US" dirty="0">
                <a:ea typeface="宋体" panose="02010600030101010101" pitchFamily="2" charset="-122"/>
              </a:rPr>
              <a:t>指令标签</a:t>
            </a:r>
            <a:r>
              <a:rPr lang="zh-CN" altLang="en-US" sz="3795" dirty="0">
                <a:ea typeface="宋体" panose="02010600030101010101" pitchFamily="2" charset="-122"/>
              </a:rPr>
              <a:t> </a:t>
            </a:r>
            <a:endParaRPr lang="en-US" altLang="zh-CN" sz="1900" dirty="0">
              <a:ea typeface="宋体" panose="02010600030101010101" pitchFamily="2" charset="-122"/>
            </a:endParaRPr>
          </a:p>
          <a:p>
            <a:pPr>
              <a:lnSpc>
                <a:spcPct val="120000"/>
              </a:lnSpc>
              <a:buNone/>
            </a:pPr>
            <a:r>
              <a:rPr lang="en-US" altLang="zh-CN" sz="1900" dirty="0">
                <a:ea typeface="宋体" panose="02010600030101010101" pitchFamily="2" charset="-122"/>
              </a:rPr>
              <a:t> 1.</a:t>
            </a:r>
            <a:r>
              <a:rPr lang="en-US" altLang="zh-CN" sz="1900" b="1" dirty="0">
                <a:ea typeface="宋体" panose="02010600030101010101" pitchFamily="2" charset="-122"/>
              </a:rPr>
              <a:t> page</a:t>
            </a:r>
            <a:r>
              <a:rPr lang="zh-CN" altLang="en-US" sz="1900" b="1" dirty="0">
                <a:ea typeface="宋体" panose="02010600030101010101" pitchFamily="2" charset="-122"/>
              </a:rPr>
              <a:t>指令</a:t>
            </a:r>
            <a:endParaRPr lang="zh-CN" altLang="en-US" sz="1900" b="1" dirty="0">
              <a:ea typeface="宋体" panose="02010600030101010101" pitchFamily="2" charset="-122"/>
            </a:endParaRPr>
          </a:p>
          <a:p>
            <a:pPr>
              <a:lnSpc>
                <a:spcPct val="120000"/>
              </a:lnSpc>
              <a:buNone/>
            </a:pPr>
            <a:r>
              <a:rPr lang="en-US" altLang="zh-CN" sz="1900" dirty="0">
                <a:ea typeface="宋体" panose="02010600030101010101" pitchFamily="2" charset="-122"/>
              </a:rPr>
              <a:t>     page</a:t>
            </a:r>
            <a:r>
              <a:rPr lang="zh-CN" altLang="en-US" sz="1900" dirty="0">
                <a:ea typeface="宋体" panose="02010600030101010101" pitchFamily="2" charset="-122"/>
              </a:rPr>
              <a:t>指令定义了一系列与页面相关的属性。其语法如下：</a:t>
            </a:r>
            <a:endParaRPr lang="zh-CN" altLang="en-US" sz="1900" dirty="0">
              <a:ea typeface="宋体" panose="02010600030101010101" pitchFamily="2" charset="-122"/>
            </a:endParaRPr>
          </a:p>
          <a:p>
            <a:pPr>
              <a:lnSpc>
                <a:spcPct val="120000"/>
              </a:lnSpc>
              <a:buNone/>
            </a:pPr>
            <a:r>
              <a:rPr lang="en-US" altLang="zh-CN" sz="1900" dirty="0">
                <a:ea typeface="宋体" panose="02010600030101010101" pitchFamily="2" charset="-122"/>
              </a:rPr>
              <a:t>     &lt;%@ page page_directive_attr_list %&gt;</a:t>
            </a:r>
            <a:endParaRPr lang="en-US" altLang="zh-CN" sz="1900" dirty="0">
              <a:ea typeface="宋体" panose="02010600030101010101" pitchFamily="2" charset="-122"/>
            </a:endParaRPr>
          </a:p>
          <a:p>
            <a:endParaRPr lang="en-US" altLang="zh-CN" sz="1900" dirty="0">
              <a:ea typeface="宋体" panose="02010600030101010101" pitchFamily="2" charset="-122"/>
            </a:endParaRPr>
          </a:p>
          <a:p>
            <a:pPr>
              <a:lnSpc>
                <a:spcPct val="120000"/>
              </a:lnSpc>
              <a:buNone/>
            </a:pPr>
            <a:r>
              <a:rPr lang="en-US" altLang="zh-CN" sz="1900" dirty="0">
                <a:ea typeface="宋体" panose="02010600030101010101" pitchFamily="2" charset="-122"/>
              </a:rPr>
              <a:t> 2.</a:t>
            </a:r>
            <a:r>
              <a:rPr lang="en-US" altLang="zh-CN" sz="1900" b="1" dirty="0">
                <a:ea typeface="宋体" panose="02010600030101010101" pitchFamily="2" charset="-122"/>
              </a:rPr>
              <a:t> include</a:t>
            </a:r>
            <a:r>
              <a:rPr lang="zh-CN" altLang="en-US" sz="1900" b="1" dirty="0">
                <a:ea typeface="宋体" panose="02010600030101010101" pitchFamily="2" charset="-122"/>
              </a:rPr>
              <a:t>指令</a:t>
            </a:r>
            <a:endParaRPr lang="zh-CN" altLang="en-US" sz="1900" b="1" dirty="0">
              <a:ea typeface="宋体" panose="02010600030101010101" pitchFamily="2" charset="-122"/>
            </a:endParaRPr>
          </a:p>
          <a:p>
            <a:pPr>
              <a:lnSpc>
                <a:spcPct val="120000"/>
              </a:lnSpc>
              <a:buNone/>
            </a:pPr>
            <a:r>
              <a:rPr lang="zh-CN" altLang="en-US" sz="1900" dirty="0">
                <a:ea typeface="宋体" panose="02010600030101010101" pitchFamily="2" charset="-122"/>
              </a:rPr>
              <a:t>     在</a:t>
            </a:r>
            <a:r>
              <a:rPr lang="en-US" altLang="zh-CN" sz="1900" dirty="0">
                <a:ea typeface="宋体" panose="02010600030101010101" pitchFamily="2" charset="-122"/>
              </a:rPr>
              <a:t>JSP</a:t>
            </a:r>
            <a:r>
              <a:rPr lang="zh-CN" altLang="en-US" sz="1900" dirty="0">
                <a:ea typeface="宋体" panose="02010600030101010101" pitchFamily="2" charset="-122"/>
              </a:rPr>
              <a:t>页面中通过</a:t>
            </a:r>
            <a:r>
              <a:rPr lang="en-US" altLang="zh-CN" sz="1900" dirty="0">
                <a:ea typeface="宋体" panose="02010600030101010101" pitchFamily="2" charset="-122"/>
              </a:rPr>
              <a:t>include</a:t>
            </a:r>
            <a:r>
              <a:rPr lang="zh-CN" altLang="en-US" sz="1900" dirty="0">
                <a:ea typeface="宋体" panose="02010600030101010101" pitchFamily="2" charset="-122"/>
              </a:rPr>
              <a:t>指令插入其他文件包含的文本或代码。其语法如下：</a:t>
            </a:r>
            <a:endParaRPr lang="zh-CN" altLang="en-US" sz="1900" dirty="0">
              <a:ea typeface="宋体" panose="02010600030101010101" pitchFamily="2" charset="-122"/>
            </a:endParaRPr>
          </a:p>
          <a:p>
            <a:pPr>
              <a:lnSpc>
                <a:spcPct val="120000"/>
              </a:lnSpc>
              <a:buNone/>
            </a:pPr>
            <a:r>
              <a:rPr lang="en-US" altLang="zh-CN" sz="1900" dirty="0">
                <a:ea typeface="宋体" panose="02010600030101010101" pitchFamily="2" charset="-122"/>
              </a:rPr>
              <a:t>     &lt;%@ include file="relativeURLspec" %&gt;</a:t>
            </a:r>
            <a:endParaRPr lang="en-US" altLang="zh-CN" sz="1900" dirty="0">
              <a:ea typeface="宋体" panose="02010600030101010101" pitchFamily="2" charset="-122"/>
            </a:endParaRPr>
          </a:p>
          <a:p>
            <a:endParaRPr lang="en-US" altLang="zh-CN" sz="1900" dirty="0">
              <a:ea typeface="宋体" panose="02010600030101010101" pitchFamily="2" charset="-122"/>
            </a:endParaRPr>
          </a:p>
          <a:p>
            <a:pPr>
              <a:lnSpc>
                <a:spcPct val="120000"/>
              </a:lnSpc>
              <a:buNone/>
            </a:pPr>
            <a:r>
              <a:rPr lang="en-US" altLang="zh-CN" sz="1900" dirty="0">
                <a:ea typeface="宋体" panose="02010600030101010101" pitchFamily="2" charset="-122"/>
              </a:rPr>
              <a:t> 3.</a:t>
            </a:r>
            <a:r>
              <a:rPr lang="en-US" altLang="zh-CN" sz="1900" b="1" dirty="0">
                <a:ea typeface="宋体" panose="02010600030101010101" pitchFamily="2" charset="-122"/>
              </a:rPr>
              <a:t> taglib</a:t>
            </a:r>
            <a:r>
              <a:rPr lang="zh-CN" altLang="en-US" sz="1900" b="1" dirty="0">
                <a:ea typeface="宋体" panose="02010600030101010101" pitchFamily="2" charset="-122"/>
              </a:rPr>
              <a:t>指令</a:t>
            </a:r>
            <a:endParaRPr lang="zh-CN" altLang="en-US" sz="1900" b="1" dirty="0">
              <a:ea typeface="宋体" panose="02010600030101010101" pitchFamily="2" charset="-122"/>
            </a:endParaRPr>
          </a:p>
          <a:p>
            <a:pPr>
              <a:lnSpc>
                <a:spcPct val="120000"/>
              </a:lnSpc>
              <a:buNone/>
            </a:pPr>
            <a:r>
              <a:rPr lang="zh-CN" altLang="en-US" sz="1900" dirty="0">
                <a:ea typeface="宋体" panose="02010600030101010101" pitchFamily="2" charset="-122"/>
              </a:rPr>
              <a:t>     在</a:t>
            </a:r>
            <a:r>
              <a:rPr lang="en-US" altLang="zh-CN" sz="1900" dirty="0">
                <a:ea typeface="宋体" panose="02010600030101010101" pitchFamily="2" charset="-122"/>
              </a:rPr>
              <a:t>JSP</a:t>
            </a:r>
            <a:r>
              <a:rPr lang="zh-CN" altLang="en-US" sz="1900" dirty="0">
                <a:ea typeface="宋体" panose="02010600030101010101" pitchFamily="2" charset="-122"/>
              </a:rPr>
              <a:t>页面设计时，用户可以使用扩展的标签实现相关功能，此时就需要通过</a:t>
            </a:r>
            <a:r>
              <a:rPr lang="en-US" altLang="zh-CN" sz="1900" dirty="0">
                <a:ea typeface="宋体" panose="02010600030101010101" pitchFamily="2" charset="-122"/>
              </a:rPr>
              <a:t>taglib</a:t>
            </a:r>
            <a:r>
              <a:rPr lang="zh-CN" altLang="en-US" sz="1900" dirty="0">
                <a:ea typeface="宋体" panose="02010600030101010101" pitchFamily="2" charset="-122"/>
              </a:rPr>
              <a:t>指令引入标签所属的标签库。</a:t>
            </a:r>
            <a:r>
              <a:rPr lang="en-US" altLang="zh-CN" sz="1900" dirty="0">
                <a:ea typeface="宋体" panose="02010600030101010101" pitchFamily="2" charset="-122"/>
              </a:rPr>
              <a:t>taglib</a:t>
            </a:r>
            <a:r>
              <a:rPr lang="zh-CN" altLang="en-US" sz="1900" dirty="0">
                <a:ea typeface="宋体" panose="02010600030101010101" pitchFamily="2" charset="-122"/>
              </a:rPr>
              <a:t>指令的语法如下：</a:t>
            </a:r>
            <a:endParaRPr lang="zh-CN" altLang="en-US" sz="1900" dirty="0">
              <a:ea typeface="宋体" panose="02010600030101010101" pitchFamily="2" charset="-122"/>
            </a:endParaRPr>
          </a:p>
          <a:p>
            <a:pPr>
              <a:lnSpc>
                <a:spcPct val="120000"/>
              </a:lnSpc>
              <a:buNone/>
            </a:pPr>
            <a:r>
              <a:rPr lang="en-US" altLang="zh-CN" sz="1900" dirty="0">
                <a:ea typeface="宋体" panose="02010600030101010101" pitchFamily="2" charset="-122"/>
              </a:rPr>
              <a:t>     &lt;%@ taglib (uri=”tagLibraryURI” | tagdir=”tagDir”) prefix=”tagPrefix” %&gt;</a:t>
            </a:r>
            <a:endParaRPr lang="en-US" altLang="zh-CN"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13315" name="文本占位符 13314"/>
          <p:cNvSpPr>
            <a:spLocks noGrp="1"/>
          </p:cNvSpPr>
          <p:nvPr>
            <p:ph type="body" idx="1"/>
          </p:nvPr>
        </p:nvSpPr>
        <p:spPr>
          <a:xfrm>
            <a:off x="1009650" y="1501775"/>
            <a:ext cx="10121900" cy="5304155"/>
          </a:xfrm>
        </p:spPr>
        <p:txBody>
          <a:bodyPr/>
          <a:lstStyle/>
          <a:p>
            <a:r>
              <a:rPr lang="en-US" altLang="zh-CN" dirty="0">
                <a:ea typeface="宋体" panose="02010600030101010101" pitchFamily="2" charset="-122"/>
              </a:rPr>
              <a:t> JSP</a:t>
            </a:r>
            <a:r>
              <a:rPr lang="zh-CN" altLang="en-US" dirty="0">
                <a:ea typeface="宋体" panose="02010600030101010101" pitchFamily="2" charset="-122"/>
              </a:rPr>
              <a:t>动作标签 </a:t>
            </a:r>
            <a:endParaRPr lang="zh-CN" altLang="en-US" dirty="0">
              <a:ea typeface="宋体" panose="02010600030101010101" pitchFamily="2" charset="-122"/>
            </a:endParaRPr>
          </a:p>
          <a:p>
            <a:endParaRPr lang="zh-CN" altLang="en-US" dirty="0">
              <a:ea typeface="宋体" panose="02010600030101010101" pitchFamily="2" charset="-122"/>
            </a:endParaRPr>
          </a:p>
          <a:p>
            <a:pPr>
              <a:lnSpc>
                <a:spcPct val="160000"/>
              </a:lnSpc>
              <a:buNone/>
            </a:pPr>
            <a:r>
              <a:rPr lang="zh-CN" altLang="en-US" sz="1900" dirty="0">
                <a:ea typeface="宋体" panose="02010600030101010101" pitchFamily="2" charset="-122"/>
              </a:rPr>
              <a:t>   </a:t>
            </a:r>
            <a:r>
              <a:rPr lang="zh-CN" altLang="en-US" sz="2400" dirty="0">
                <a:ea typeface="宋体" panose="02010600030101010101" pitchFamily="2" charset="-122"/>
              </a:rPr>
              <a:t>       用户可以使用</a:t>
            </a:r>
            <a:r>
              <a:rPr lang="en-US" altLang="zh-CN" sz="2400" dirty="0">
                <a:ea typeface="宋体" panose="02010600030101010101" pitchFamily="2" charset="-122"/>
              </a:rPr>
              <a:t>JSP</a:t>
            </a:r>
            <a:r>
              <a:rPr lang="zh-CN" altLang="en-US" sz="2400" dirty="0">
                <a:ea typeface="宋体" panose="02010600030101010101" pitchFamily="2" charset="-122"/>
              </a:rPr>
              <a:t>动作标签向当前输出流输出数据，进行页面定向，也可以通过动作标签使用、修改和创建对象。 </a:t>
            </a:r>
            <a:endParaRPr lang="zh-CN" altLang="en-US" sz="2400"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p:txBody>
          <a:bodyPr anchor="ctr"/>
          <a:lstStyle/>
          <a:p>
            <a:r>
              <a:rPr lang="en-US" altLang="zh-CN" sz="3480" dirty="0">
                <a:ea typeface="宋体" panose="02010600030101010101" pitchFamily="2" charset="-122"/>
              </a:rPr>
              <a:t> </a:t>
            </a:r>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14339" name="文本占位符 14338"/>
          <p:cNvSpPr>
            <a:spLocks noGrp="1"/>
          </p:cNvSpPr>
          <p:nvPr>
            <p:ph type="body" idx="1"/>
          </p:nvPr>
        </p:nvSpPr>
        <p:spPr>
          <a:xfrm>
            <a:off x="1200828" y="2082564"/>
            <a:ext cx="9161357" cy="4784934"/>
          </a:xfrm>
        </p:spPr>
        <p:txBody>
          <a:bodyPr/>
          <a:lstStyle/>
          <a:p>
            <a:pPr marL="533400" indent="-533400">
              <a:buNone/>
            </a:pPr>
            <a:r>
              <a:rPr lang="en-US" altLang="zh-CN" sz="1900" dirty="0">
                <a:ea typeface="宋体" panose="02010600030101010101" pitchFamily="2" charset="-122"/>
              </a:rPr>
              <a:t>  </a:t>
            </a:r>
            <a:r>
              <a:rPr lang="en-US" altLang="zh-CN" sz="845" dirty="0">
                <a:ea typeface="宋体" panose="02010600030101010101" pitchFamily="2" charset="-122"/>
              </a:rPr>
              <a:t>      </a:t>
            </a:r>
            <a:endParaRPr lang="en-US" altLang="zh-CN" sz="845" dirty="0">
              <a:ea typeface="宋体" panose="02010600030101010101" pitchFamily="2" charset="-122"/>
            </a:endParaRPr>
          </a:p>
          <a:p>
            <a:pPr marL="533400" indent="-533400">
              <a:buNone/>
            </a:pPr>
            <a:r>
              <a:rPr lang="en-US" altLang="zh-CN" sz="1900" dirty="0">
                <a:ea typeface="宋体" panose="02010600030101010101" pitchFamily="2" charset="-122"/>
              </a:rPr>
              <a:t>      </a:t>
            </a:r>
            <a:r>
              <a:rPr lang="en-US" altLang="zh-CN" sz="1900" b="1" dirty="0">
                <a:ea typeface="宋体" panose="02010600030101010101" pitchFamily="2" charset="-122"/>
              </a:rPr>
              <a:t> 1. &lt;jsp:include&gt;</a:t>
            </a:r>
            <a:r>
              <a:rPr lang="zh-CN" altLang="en-US" sz="1900" b="1" dirty="0">
                <a:ea typeface="宋体" panose="02010600030101010101" pitchFamily="2" charset="-122"/>
              </a:rPr>
              <a:t>标签和</a:t>
            </a:r>
            <a:r>
              <a:rPr lang="en-US" altLang="zh-CN" sz="1900" b="1" dirty="0">
                <a:ea typeface="宋体" panose="02010600030101010101" pitchFamily="2" charset="-122"/>
              </a:rPr>
              <a:t>&lt;jsp:param&gt;</a:t>
            </a:r>
            <a:r>
              <a:rPr lang="zh-CN" altLang="en-US" sz="1900" b="1" dirty="0">
                <a:ea typeface="宋体" panose="02010600030101010101" pitchFamily="2" charset="-122"/>
              </a:rPr>
              <a:t>标签</a:t>
            </a:r>
            <a:endParaRPr lang="zh-CN" altLang="en-US" sz="1900" dirty="0">
              <a:ea typeface="宋体" panose="02010600030101010101" pitchFamily="2" charset="-122"/>
            </a:endParaRPr>
          </a:p>
          <a:p>
            <a:pPr marL="533400" indent="-533400">
              <a:lnSpc>
                <a:spcPct val="120000"/>
              </a:lnSpc>
              <a:buNone/>
            </a:pPr>
            <a:endParaRPr lang="en-US" altLang="zh-CN" sz="1900" dirty="0">
              <a:ea typeface="宋体" panose="02010600030101010101" pitchFamily="2" charset="-122"/>
            </a:endParaRPr>
          </a:p>
          <a:p>
            <a:pPr marL="533400" indent="-533400">
              <a:lnSpc>
                <a:spcPct val="120000"/>
              </a:lnSpc>
              <a:buNone/>
            </a:pPr>
            <a:r>
              <a:rPr lang="en-US" altLang="zh-CN" sz="1900" dirty="0">
                <a:ea typeface="宋体" panose="02010600030101010101" pitchFamily="2" charset="-122"/>
              </a:rPr>
              <a:t>       &lt;jsp:include&gt;</a:t>
            </a:r>
            <a:r>
              <a:rPr lang="zh-CN" altLang="en-US" sz="1900" dirty="0">
                <a:ea typeface="宋体" panose="02010600030101010101" pitchFamily="2" charset="-122"/>
              </a:rPr>
              <a:t>标签将同一个</a:t>
            </a:r>
            <a:r>
              <a:rPr lang="en-US" altLang="zh-CN" sz="1900" dirty="0">
                <a:ea typeface="宋体" panose="02010600030101010101" pitchFamily="2" charset="-122"/>
              </a:rPr>
              <a:t>Web</a:t>
            </a:r>
            <a:r>
              <a:rPr lang="zh-CN" altLang="en-US" sz="1900" dirty="0">
                <a:ea typeface="宋体" panose="02010600030101010101" pitchFamily="2" charset="-122"/>
              </a:rPr>
              <a:t>应用中静态或动态的资源包含到当前页面中。</a:t>
            </a:r>
            <a:endParaRPr lang="zh-CN" altLang="en-US" sz="1900" dirty="0">
              <a:ea typeface="宋体" panose="02010600030101010101" pitchFamily="2" charset="-122"/>
            </a:endParaRPr>
          </a:p>
          <a:p>
            <a:pPr marL="533400" indent="-533400">
              <a:lnSpc>
                <a:spcPct val="120000"/>
              </a:lnSpc>
              <a:buNone/>
            </a:pPr>
            <a:r>
              <a:rPr lang="zh-CN" altLang="en-US" sz="1900" dirty="0">
                <a:ea typeface="宋体" panose="02010600030101010101" pitchFamily="2" charset="-122"/>
              </a:rPr>
              <a:t>       语法如下：</a:t>
            </a:r>
            <a:endParaRPr lang="zh-CN" altLang="en-US" sz="1900" dirty="0">
              <a:ea typeface="宋体" panose="02010600030101010101" pitchFamily="2" charset="-122"/>
            </a:endParaRPr>
          </a:p>
          <a:p>
            <a:pPr marL="533400" indent="-533400">
              <a:lnSpc>
                <a:spcPct val="120000"/>
              </a:lnSpc>
              <a:buNone/>
            </a:pPr>
            <a:r>
              <a:rPr lang="en-US" altLang="zh-CN" sz="1900" dirty="0">
                <a:ea typeface="宋体" panose="02010600030101010101" pitchFamily="2" charset="-122"/>
              </a:rPr>
              <a:t>                 &lt;jsp:include page=”urlSpec” flush="true|false"/&gt;</a:t>
            </a:r>
            <a:endParaRPr lang="zh-CN" altLang="en-US" sz="1900" dirty="0">
              <a:ea typeface="宋体" panose="02010600030101010101" pitchFamily="2" charset="-122"/>
            </a:endParaRPr>
          </a:p>
          <a:p>
            <a:pPr marL="533400" indent="-533400">
              <a:lnSpc>
                <a:spcPct val="120000"/>
              </a:lnSpc>
              <a:buNone/>
            </a:pPr>
            <a:r>
              <a:rPr lang="zh-CN" altLang="en-US" sz="1900" dirty="0">
                <a:ea typeface="宋体" panose="02010600030101010101" pitchFamily="2" charset="-122"/>
              </a:rPr>
              <a:t>       在</a:t>
            </a:r>
            <a:r>
              <a:rPr lang="en-US" altLang="zh-CN" sz="1900" dirty="0">
                <a:ea typeface="宋体" panose="02010600030101010101" pitchFamily="2" charset="-122"/>
              </a:rPr>
              <a:t>&lt;jsp:include&gt;</a:t>
            </a:r>
            <a:r>
              <a:rPr lang="zh-CN" altLang="en-US" sz="1900" dirty="0">
                <a:ea typeface="宋体" panose="02010600030101010101" pitchFamily="2" charset="-122"/>
              </a:rPr>
              <a:t>标签中嵌套</a:t>
            </a:r>
            <a:r>
              <a:rPr lang="en-US" altLang="zh-CN" sz="1900" dirty="0">
                <a:ea typeface="宋体" panose="02010600030101010101" pitchFamily="2" charset="-122"/>
              </a:rPr>
              <a:t>&lt;jsp:param&gt;</a:t>
            </a:r>
            <a:r>
              <a:rPr lang="zh-CN" altLang="en-US" sz="1900" dirty="0">
                <a:ea typeface="宋体" panose="02010600030101010101" pitchFamily="2" charset="-122"/>
              </a:rPr>
              <a:t>标签还可以将参数传递给包含的资源。</a:t>
            </a:r>
            <a:endParaRPr lang="zh-CN" altLang="en-US" sz="1900" dirty="0">
              <a:ea typeface="宋体" panose="02010600030101010101" pitchFamily="2" charset="-122"/>
            </a:endParaRPr>
          </a:p>
          <a:p>
            <a:pPr marL="533400" indent="-533400">
              <a:lnSpc>
                <a:spcPct val="120000"/>
              </a:lnSpc>
              <a:buNone/>
            </a:pPr>
            <a:r>
              <a:rPr lang="zh-CN" altLang="en-US" sz="1900" dirty="0">
                <a:ea typeface="宋体" panose="02010600030101010101" pitchFamily="2" charset="-122"/>
              </a:rPr>
              <a:t>       语法如下：</a:t>
            </a:r>
            <a:endParaRPr lang="zh-CN" altLang="en-US" sz="1900" dirty="0">
              <a:ea typeface="宋体" panose="02010600030101010101" pitchFamily="2" charset="-122"/>
            </a:endParaRPr>
          </a:p>
          <a:p>
            <a:pPr marL="533400" indent="-533400">
              <a:lnSpc>
                <a:spcPct val="120000"/>
              </a:lnSpc>
              <a:buNone/>
            </a:pPr>
            <a:r>
              <a:rPr lang="en-US" altLang="zh-CN" sz="1900" dirty="0">
                <a:ea typeface="宋体" panose="02010600030101010101" pitchFamily="2" charset="-122"/>
              </a:rPr>
              <a:t>	         &lt;jsp:include page=”urlSpec” flush="true|false"&gt;</a:t>
            </a:r>
            <a:endParaRPr lang="en-US" altLang="zh-CN" sz="1900" dirty="0">
              <a:ea typeface="宋体" panose="02010600030101010101" pitchFamily="2" charset="-122"/>
            </a:endParaRPr>
          </a:p>
          <a:p>
            <a:pPr marL="533400" indent="-533400">
              <a:lnSpc>
                <a:spcPct val="120000"/>
              </a:lnSpc>
              <a:buNone/>
            </a:pPr>
            <a:r>
              <a:rPr lang="en-US" altLang="zh-CN" sz="1900" dirty="0">
                <a:ea typeface="宋体" panose="02010600030101010101" pitchFamily="2" charset="-122"/>
              </a:rPr>
              <a:t>		           &lt;jsp:param name="name" value="value" /&gt;</a:t>
            </a:r>
            <a:endParaRPr lang="en-US" altLang="zh-CN" sz="1900" dirty="0">
              <a:ea typeface="宋体" panose="02010600030101010101" pitchFamily="2" charset="-122"/>
            </a:endParaRPr>
          </a:p>
          <a:p>
            <a:pPr marL="533400" indent="-533400">
              <a:lnSpc>
                <a:spcPct val="120000"/>
              </a:lnSpc>
              <a:buNone/>
            </a:pPr>
            <a:r>
              <a:rPr lang="en-US" altLang="zh-CN" sz="1900" dirty="0">
                <a:ea typeface="宋体" panose="02010600030101010101" pitchFamily="2" charset="-122"/>
              </a:rPr>
              <a:t>	         &lt;/jsp:include&gt;</a:t>
            </a:r>
            <a:endParaRPr lang="zh-CN" altLang="en-US" sz="1900" dirty="0">
              <a:ea typeface="宋体" panose="02010600030101010101" pitchFamily="2" charset="-122"/>
            </a:endParaRPr>
          </a:p>
        </p:txBody>
      </p:sp>
      <p:sp>
        <p:nvSpPr>
          <p:cNvPr id="14340" name="矩形 14339"/>
          <p:cNvSpPr/>
          <p:nvPr/>
        </p:nvSpPr>
        <p:spPr>
          <a:xfrm>
            <a:off x="1031715" y="1457330"/>
            <a:ext cx="8679180" cy="530394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v"/>
              <a:defRPr sz="28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
              <a:defRPr sz="26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
              <a:defRPr sz="22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u="none" kern="1200" baseline="0">
                <a:solidFill>
                  <a:schemeClr val="tx1"/>
                </a:solidFill>
                <a:latin typeface="Arial" panose="020B0604020202020204" pitchFamily="34" charset="0"/>
              </a:defRPr>
            </a:lvl5pPr>
          </a:lstStyle>
          <a:p>
            <a:pPr lvl="0"/>
            <a:r>
              <a:rPr lang="en-US" altLang="zh-CN" sz="2955" dirty="0">
                <a:ea typeface="宋体" panose="02010600030101010101" pitchFamily="2" charset="-122"/>
              </a:rPr>
              <a:t>JSP</a:t>
            </a:r>
            <a:r>
              <a:rPr lang="zh-CN" altLang="en-US" sz="2955" dirty="0">
                <a:ea typeface="宋体" panose="02010600030101010101" pitchFamily="2" charset="-122"/>
              </a:rPr>
              <a:t>动作标签 </a:t>
            </a:r>
            <a:endParaRPr lang="zh-CN" altLang="en-US" sz="2955" dirty="0">
              <a:ea typeface="宋体" panose="02010600030101010101" pitchFamily="2" charset="-122"/>
            </a:endParaRPr>
          </a:p>
          <a:p>
            <a:pPr lvl="0"/>
            <a:endParaRPr lang="zh-CN" altLang="en-US" sz="2955" dirty="0">
              <a:ea typeface="宋体" panose="02010600030101010101" pitchFamily="2" charset="-122"/>
            </a:endParaRPr>
          </a:p>
          <a:p>
            <a:pPr lvl="0">
              <a:lnSpc>
                <a:spcPct val="160000"/>
              </a:lnSpc>
              <a:buNone/>
            </a:pPr>
            <a:r>
              <a:rPr lang="zh-CN" altLang="en-US" sz="1900" dirty="0">
                <a:ea typeface="宋体" panose="02010600030101010101" pitchFamily="2" charset="-122"/>
              </a:rPr>
              <a:t>     </a:t>
            </a:r>
            <a:endParaRPr lang="zh-CN" altLang="en-US" sz="2955" dirty="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anchor="ctr"/>
          <a:lstStyle/>
          <a:p>
            <a:r>
              <a:rPr lang="en-US" altLang="zh-CN" sz="3480" dirty="0">
                <a:ea typeface="宋体" panose="02010600030101010101" pitchFamily="2" charset="-122"/>
              </a:rPr>
              <a:t> </a:t>
            </a:r>
            <a:r>
              <a:rPr lang="en-US" altLang="zh-CN" dirty="0">
                <a:ea typeface="宋体" panose="02010600030101010101" pitchFamily="2" charset="-122"/>
              </a:rPr>
              <a:t>JSP</a:t>
            </a:r>
            <a:r>
              <a:rPr lang="zh-CN" altLang="en-US" dirty="0">
                <a:ea typeface="宋体" panose="02010600030101010101" pitchFamily="2" charset="-122"/>
              </a:rPr>
              <a:t>语法</a:t>
            </a:r>
            <a:endParaRPr lang="zh-CN" altLang="en-US" dirty="0">
              <a:ea typeface="宋体" panose="02010600030101010101" pitchFamily="2" charset="-122"/>
            </a:endParaRPr>
          </a:p>
        </p:txBody>
      </p:sp>
      <p:sp>
        <p:nvSpPr>
          <p:cNvPr id="15363" name="文本占位符 15362"/>
          <p:cNvSpPr>
            <a:spLocks noGrp="1"/>
          </p:cNvSpPr>
          <p:nvPr>
            <p:ph type="body" idx="1"/>
          </p:nvPr>
        </p:nvSpPr>
        <p:spPr>
          <a:xfrm>
            <a:off x="1202690" y="1928495"/>
            <a:ext cx="9952355" cy="5304155"/>
          </a:xfrm>
        </p:spPr>
        <p:txBody>
          <a:bodyPr/>
          <a:lstStyle/>
          <a:p>
            <a:pPr>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buNone/>
            </a:pPr>
            <a:r>
              <a:rPr lang="en-US" altLang="zh-CN" sz="1900" dirty="0">
                <a:ea typeface="宋体" panose="02010600030101010101" pitchFamily="2" charset="-122"/>
              </a:rPr>
              <a:t>      </a:t>
            </a:r>
            <a:r>
              <a:rPr lang="en-US" altLang="zh-CN" sz="1900" b="1" dirty="0">
                <a:ea typeface="宋体" panose="02010600030101010101" pitchFamily="2" charset="-122"/>
              </a:rPr>
              <a:t> 2. &lt;jsp:forward&gt;</a:t>
            </a:r>
            <a:r>
              <a:rPr lang="zh-CN" altLang="en-US" sz="1900" b="1" dirty="0">
                <a:ea typeface="宋体" panose="02010600030101010101" pitchFamily="2" charset="-122"/>
              </a:rPr>
              <a:t>标签</a:t>
            </a:r>
            <a:endParaRPr lang="zh-CN" altLang="en-US" sz="1900" dirty="0">
              <a:ea typeface="宋体" panose="02010600030101010101" pitchFamily="2" charset="-122"/>
            </a:endParaRPr>
          </a:p>
          <a:p>
            <a:pPr>
              <a:buNone/>
            </a:pPr>
            <a:endParaRPr lang="zh-CN" altLang="en-US" sz="1900" dirty="0">
              <a:ea typeface="宋体" panose="02010600030101010101" pitchFamily="2" charset="-122"/>
            </a:endParaRPr>
          </a:p>
          <a:p>
            <a:pPr>
              <a:buNone/>
            </a:pPr>
            <a:r>
              <a:rPr lang="en-US" altLang="zh-CN" sz="1900" dirty="0">
                <a:ea typeface="宋体" panose="02010600030101010101" pitchFamily="2" charset="-122"/>
              </a:rPr>
              <a:t>	&lt;jsp:forward&gt;</a:t>
            </a:r>
            <a:r>
              <a:rPr lang="zh-CN" altLang="en-US" sz="1900" dirty="0">
                <a:ea typeface="宋体" panose="02010600030101010101" pitchFamily="2" charset="-122"/>
              </a:rPr>
              <a:t>标签能实时的从当前</a:t>
            </a:r>
            <a:r>
              <a:rPr lang="en-US" altLang="zh-CN" sz="1900" dirty="0">
                <a:ea typeface="宋体" panose="02010600030101010101" pitchFamily="2" charset="-122"/>
              </a:rPr>
              <a:t>JSP</a:t>
            </a:r>
            <a:r>
              <a:rPr lang="zh-CN" altLang="en-US" sz="1900" dirty="0">
                <a:ea typeface="宋体" panose="02010600030101010101" pitchFamily="2" charset="-122"/>
              </a:rPr>
              <a:t>页面跳转到同一个</a:t>
            </a:r>
            <a:r>
              <a:rPr lang="en-US" altLang="zh-CN" sz="1900" dirty="0">
                <a:ea typeface="宋体" panose="02010600030101010101" pitchFamily="2" charset="-122"/>
              </a:rPr>
              <a:t>Web</a:t>
            </a:r>
            <a:r>
              <a:rPr lang="zh-CN" altLang="en-US" sz="1900" dirty="0">
                <a:ea typeface="宋体" panose="02010600030101010101" pitchFamily="2" charset="-122"/>
              </a:rPr>
              <a:t>应用中的静态资源、</a:t>
            </a:r>
            <a:r>
              <a:rPr lang="en-US" altLang="zh-CN" sz="1900" dirty="0">
                <a:ea typeface="宋体" panose="02010600030101010101" pitchFamily="2" charset="-122"/>
              </a:rPr>
              <a:t>JSP</a:t>
            </a:r>
            <a:r>
              <a:rPr lang="zh-CN" altLang="en-US" sz="1900" dirty="0">
                <a:ea typeface="宋体" panose="02010600030101010101" pitchFamily="2" charset="-122"/>
              </a:rPr>
              <a:t>页面或</a:t>
            </a:r>
            <a:r>
              <a:rPr lang="en-US" altLang="zh-CN" sz="1900" dirty="0">
                <a:ea typeface="宋体" panose="02010600030101010101" pitchFamily="2" charset="-122"/>
              </a:rPr>
              <a:t>servlet</a:t>
            </a:r>
            <a:r>
              <a:rPr lang="zh-CN" altLang="en-US" sz="1900" dirty="0">
                <a:ea typeface="宋体" panose="02010600030101010101" pitchFamily="2" charset="-122"/>
              </a:rPr>
              <a:t>，同时有效的终止当前</a:t>
            </a:r>
            <a:r>
              <a:rPr lang="en-US" altLang="zh-CN" sz="1900" dirty="0">
                <a:ea typeface="宋体" panose="02010600030101010101" pitchFamily="2" charset="-122"/>
              </a:rPr>
              <a:t>JSP</a:t>
            </a:r>
            <a:r>
              <a:rPr lang="zh-CN" altLang="en-US" sz="1900" dirty="0">
                <a:ea typeface="宋体" panose="02010600030101010101" pitchFamily="2" charset="-122"/>
              </a:rPr>
              <a:t>页面的执行。</a:t>
            </a:r>
            <a:endParaRPr lang="zh-CN" altLang="en-US" sz="1900" dirty="0">
              <a:ea typeface="宋体" panose="02010600030101010101" pitchFamily="2" charset="-122"/>
            </a:endParaRPr>
          </a:p>
          <a:p>
            <a:pPr>
              <a:buNone/>
            </a:pPr>
            <a:r>
              <a:rPr lang="zh-CN" altLang="en-US" sz="1900" dirty="0">
                <a:ea typeface="宋体" panose="02010600030101010101" pitchFamily="2" charset="-122"/>
              </a:rPr>
              <a:t>      语法如下：</a:t>
            </a:r>
            <a:endParaRPr lang="zh-CN" altLang="en-US" sz="1900" dirty="0">
              <a:ea typeface="宋体" panose="02010600030101010101" pitchFamily="2" charset="-122"/>
            </a:endParaRPr>
          </a:p>
          <a:p>
            <a:pPr>
              <a:buNone/>
            </a:pPr>
            <a:r>
              <a:rPr lang="en-US" altLang="zh-CN" sz="1900" dirty="0">
                <a:ea typeface="宋体" panose="02010600030101010101" pitchFamily="2" charset="-122"/>
              </a:rPr>
              <a:t>	                  &lt;jsp:forward page=”relativeURLspec” /&gt;</a:t>
            </a:r>
            <a:endParaRPr lang="en-US" altLang="zh-CN" sz="1900" dirty="0">
              <a:ea typeface="宋体" panose="02010600030101010101" pitchFamily="2" charset="-122"/>
            </a:endParaRPr>
          </a:p>
          <a:p>
            <a:pPr>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buNone/>
            </a:pPr>
            <a:r>
              <a:rPr lang="zh-CN" altLang="en-US" sz="1900" dirty="0">
                <a:ea typeface="宋体" panose="02010600030101010101" pitchFamily="2" charset="-122"/>
              </a:rPr>
              <a:t>	在</a:t>
            </a:r>
            <a:r>
              <a:rPr lang="en-US" altLang="zh-CN" sz="1900" dirty="0">
                <a:ea typeface="宋体" panose="02010600030101010101" pitchFamily="2" charset="-122"/>
              </a:rPr>
              <a:t>&lt;jsp:include&gt;</a:t>
            </a:r>
            <a:r>
              <a:rPr lang="zh-CN" altLang="en-US" sz="1900" dirty="0">
                <a:ea typeface="宋体" panose="02010600030101010101" pitchFamily="2" charset="-122"/>
              </a:rPr>
              <a:t>标签中嵌套</a:t>
            </a:r>
            <a:r>
              <a:rPr lang="en-US" altLang="zh-CN" sz="1900" dirty="0">
                <a:ea typeface="宋体" panose="02010600030101010101" pitchFamily="2" charset="-122"/>
              </a:rPr>
              <a:t>&lt;jsp:param&gt;</a:t>
            </a:r>
            <a:r>
              <a:rPr lang="zh-CN" altLang="en-US" sz="1900" dirty="0">
                <a:ea typeface="宋体" panose="02010600030101010101" pitchFamily="2" charset="-122"/>
              </a:rPr>
              <a:t>标签还可将参数传递给要跳转的页面。语法如下：</a:t>
            </a:r>
            <a:endParaRPr lang="zh-CN" altLang="en-US" sz="1900" dirty="0">
              <a:ea typeface="宋体" panose="02010600030101010101" pitchFamily="2" charset="-122"/>
            </a:endParaRPr>
          </a:p>
          <a:p>
            <a:pPr>
              <a:buNone/>
            </a:pPr>
            <a:r>
              <a:rPr lang="en-US" altLang="zh-CN" sz="1900" dirty="0">
                <a:ea typeface="宋体" panose="02010600030101010101" pitchFamily="2" charset="-122"/>
              </a:rPr>
              <a:t>	                  &lt;jsp: forward page=”urlSpec” &gt;</a:t>
            </a:r>
            <a:endParaRPr lang="en-US" altLang="zh-CN" sz="1900" dirty="0">
              <a:ea typeface="宋体" panose="02010600030101010101" pitchFamily="2" charset="-122"/>
            </a:endParaRPr>
          </a:p>
          <a:p>
            <a:pPr>
              <a:buNone/>
            </a:pPr>
            <a:r>
              <a:rPr lang="en-US" altLang="zh-CN" sz="1900" dirty="0">
                <a:ea typeface="宋体" panose="02010600030101010101" pitchFamily="2" charset="-122"/>
              </a:rPr>
              <a:t>		               &lt;jsp:param name="name" value="value" /&gt;</a:t>
            </a:r>
            <a:endParaRPr lang="en-US" altLang="zh-CN" sz="1900" dirty="0">
              <a:ea typeface="宋体" panose="02010600030101010101" pitchFamily="2" charset="-122"/>
            </a:endParaRPr>
          </a:p>
          <a:p>
            <a:pPr>
              <a:buNone/>
            </a:pPr>
            <a:r>
              <a:rPr lang="en-US" altLang="zh-CN" sz="1900" dirty="0">
                <a:ea typeface="宋体" panose="02010600030101010101" pitchFamily="2" charset="-122"/>
              </a:rPr>
              <a:t>	                  &lt;/jsp:forward&gt;</a:t>
            </a:r>
            <a:endParaRPr lang="zh-CN" altLang="en-US" sz="1900" dirty="0">
              <a:ea typeface="宋体" panose="02010600030101010101" pitchFamily="2" charset="-122"/>
            </a:endParaRPr>
          </a:p>
        </p:txBody>
      </p:sp>
      <p:sp>
        <p:nvSpPr>
          <p:cNvPr id="15364" name="矩形 15363"/>
          <p:cNvSpPr/>
          <p:nvPr/>
        </p:nvSpPr>
        <p:spPr>
          <a:xfrm>
            <a:off x="987265" y="1486540"/>
            <a:ext cx="8679180" cy="530394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v"/>
              <a:defRPr sz="28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
              <a:defRPr sz="26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
              <a:defRPr sz="22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u="none" kern="1200" baseline="0">
                <a:solidFill>
                  <a:schemeClr val="tx1"/>
                </a:solidFill>
                <a:latin typeface="Arial" panose="020B0604020202020204" pitchFamily="34" charset="0"/>
              </a:defRPr>
            </a:lvl5pPr>
          </a:lstStyle>
          <a:p>
            <a:pPr lvl="0"/>
            <a:r>
              <a:rPr lang="en-US" altLang="zh-CN" sz="2955" dirty="0">
                <a:ea typeface="宋体" panose="02010600030101010101" pitchFamily="2" charset="-122"/>
              </a:rPr>
              <a:t> JSP</a:t>
            </a:r>
            <a:r>
              <a:rPr lang="zh-CN" altLang="en-US" sz="2955" dirty="0">
                <a:ea typeface="宋体" panose="02010600030101010101" pitchFamily="2" charset="-122"/>
              </a:rPr>
              <a:t>动作标签 </a:t>
            </a:r>
            <a:endParaRPr lang="zh-CN" altLang="en-US" sz="2955" dirty="0">
              <a:ea typeface="宋体" panose="02010600030101010101" pitchFamily="2" charset="-122"/>
            </a:endParaRPr>
          </a:p>
          <a:p>
            <a:pPr lvl="0"/>
            <a:endParaRPr lang="zh-CN" altLang="en-US" sz="2955" dirty="0">
              <a:ea typeface="宋体" panose="02010600030101010101" pitchFamily="2" charset="-122"/>
            </a:endParaRPr>
          </a:p>
          <a:p>
            <a:pPr lvl="0">
              <a:lnSpc>
                <a:spcPct val="160000"/>
              </a:lnSpc>
              <a:buNone/>
            </a:pPr>
            <a:r>
              <a:rPr lang="zh-CN" altLang="en-US" sz="1900" dirty="0">
                <a:ea typeface="宋体" panose="02010600030101010101" pitchFamily="2" charset="-122"/>
              </a:rPr>
              <a:t>     </a:t>
            </a:r>
            <a:endParaRPr lang="zh-CN" altLang="en-US" sz="2955"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4132222" y="1672109"/>
            <a:ext cx="4576445" cy="866775"/>
          </a:xfrm>
          <a:prstGeom prst="rect">
            <a:avLst/>
          </a:prstGeom>
          <a:noFill/>
        </p:spPr>
        <p:txBody>
          <a:bodyPr wrap="none" lIns="128583" tIns="64291" rIns="128583" bIns="64291" rtlCol="0">
            <a:spAutoFit/>
          </a:bodyPr>
          <a:lstStyle/>
          <a:p>
            <a:pPr algn="ctr"/>
            <a:r>
              <a:rPr kumimoji="1" lang="en-US" altLang="zh-CN" sz="4800" b="1" dirty="0">
                <a:solidFill>
                  <a:srgbClr val="43536A"/>
                </a:solidFill>
                <a:cs typeface="+mn-ea"/>
              </a:rPr>
              <a:t>5.2  JSP</a:t>
            </a:r>
            <a:r>
              <a:rPr kumimoji="1" lang="zh-CN" altLang="en-US" sz="4800" b="1" dirty="0">
                <a:solidFill>
                  <a:srgbClr val="43536A"/>
                </a:solidFill>
                <a:cs typeface="+mn-ea"/>
              </a:rPr>
              <a:t>内置对象</a:t>
            </a:r>
            <a:endParaRPr kumimoji="1" lang="zh-CN" altLang="en-US" sz="4800" b="1" dirty="0">
              <a:solidFill>
                <a:srgbClr val="43536A"/>
              </a:solidFill>
              <a:cs typeface="+mn-ea"/>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7" grpId="0" bldLvl="0" animBg="1"/>
      <p:bldP spid="3" grpId="0" bldLvl="0" animBg="1"/>
      <p:bldP spid="9" grpId="0"/>
      <p:bldP spid="10"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84" y="606069"/>
            <a:ext cx="11264801" cy="656296"/>
          </a:xfrm>
        </p:spPr>
        <p:txBody>
          <a:bodyPr/>
          <a:lstStyle/>
          <a:p>
            <a:r>
              <a:rPr dirty="0">
                <a:ea typeface="宋体" panose="02010600030101010101" pitchFamily="2" charset="-122"/>
                <a:sym typeface="+mn-ea"/>
              </a:rPr>
              <a:t>JSP内置对象</a:t>
            </a:r>
            <a:endParaRPr dirty="0">
              <a:ea typeface="宋体" panose="02010600030101010101" pitchFamily="2" charset="-122"/>
              <a:sym typeface="+mn-ea"/>
            </a:endParaRPr>
          </a:p>
        </p:txBody>
      </p:sp>
      <p:sp>
        <p:nvSpPr>
          <p:cNvPr id="3" name="矩形 2"/>
          <p:cNvSpPr/>
          <p:nvPr/>
        </p:nvSpPr>
        <p:spPr>
          <a:xfrm>
            <a:off x="1100788" y="1672992"/>
            <a:ext cx="2436799" cy="900204"/>
          </a:xfrm>
          <a:prstGeom prst="rect">
            <a:avLst/>
          </a:prstGeom>
        </p:spPr>
        <p:txBody>
          <a:bodyPr wrap="none" lIns="91397" tIns="45699" rIns="91397" bIns="4569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74" y="1777638"/>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ct val="120000"/>
              </a:lnSpc>
            </a:pPr>
            <a:r>
              <a:rPr lang="en-US" altLang="zh-CN" sz="2400" dirty="0">
                <a:ea typeface="宋体" panose="02010600030101010101" pitchFamily="2" charset="-122"/>
                <a:sym typeface="+mn-ea"/>
              </a:rPr>
              <a:t>JSP</a:t>
            </a:r>
            <a:r>
              <a:rPr lang="zh-CN" altLang="en-US" sz="2400" dirty="0">
                <a:ea typeface="宋体" panose="02010600030101010101" pitchFamily="2" charset="-122"/>
                <a:sym typeface="+mn-ea"/>
              </a:rPr>
              <a:t>内置对象  </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request</a:t>
            </a:r>
            <a:r>
              <a:rPr lang="zh-CN" altLang="en-US" sz="2400" dirty="0">
                <a:ea typeface="宋体" panose="02010600030101010101" pitchFamily="2" charset="-122"/>
                <a:sym typeface="+mn-ea"/>
              </a:rPr>
              <a:t>对象 </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reponse</a:t>
            </a:r>
            <a:r>
              <a:rPr lang="zh-CN" altLang="en-US" sz="2400" dirty="0">
                <a:ea typeface="宋体" panose="02010600030101010101" pitchFamily="2" charset="-122"/>
                <a:sym typeface="+mn-ea"/>
              </a:rPr>
              <a:t>对象 </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session</a:t>
            </a:r>
            <a:r>
              <a:rPr lang="zh-CN" altLang="en-US" sz="2400" dirty="0">
                <a:ea typeface="宋体" panose="02010600030101010101" pitchFamily="2" charset="-122"/>
                <a:sym typeface="+mn-ea"/>
              </a:rPr>
              <a:t>对象 </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application</a:t>
            </a:r>
            <a:r>
              <a:rPr lang="zh-CN" altLang="en-US" sz="2400" dirty="0">
                <a:ea typeface="宋体" panose="02010600030101010101" pitchFamily="2" charset="-122"/>
                <a:sym typeface="+mn-ea"/>
              </a:rPr>
              <a:t>对象</a:t>
            </a:r>
            <a:endParaRPr lang="en-US" altLang="zh-CN"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out</a:t>
            </a:r>
            <a:r>
              <a:rPr lang="zh-CN" altLang="en-US" sz="2400" dirty="0">
                <a:ea typeface="宋体" panose="02010600030101010101" pitchFamily="2" charset="-122"/>
                <a:sym typeface="+mn-ea"/>
              </a:rPr>
              <a:t>对象 </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config</a:t>
            </a:r>
            <a:r>
              <a:rPr lang="zh-CN" altLang="en-US" sz="2400" dirty="0">
                <a:ea typeface="宋体" panose="02010600030101010101" pitchFamily="2" charset="-122"/>
                <a:sym typeface="+mn-ea"/>
              </a:rPr>
              <a:t>对象</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page</a:t>
            </a:r>
            <a:r>
              <a:rPr lang="zh-CN" altLang="en-US" sz="2400" dirty="0">
                <a:ea typeface="宋体" panose="02010600030101010101" pitchFamily="2" charset="-122"/>
                <a:sym typeface="+mn-ea"/>
              </a:rPr>
              <a:t>对象  </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exception</a:t>
            </a:r>
            <a:r>
              <a:rPr lang="zh-CN" altLang="en-US" sz="2400" dirty="0">
                <a:ea typeface="宋体" panose="02010600030101010101" pitchFamily="2" charset="-122"/>
                <a:sym typeface="+mn-ea"/>
              </a:rPr>
              <a:t>对象</a:t>
            </a:r>
            <a:endParaRPr lang="zh-CN" altLang="en-US" sz="2400" dirty="0">
              <a:ea typeface="宋体" panose="02010600030101010101" pitchFamily="2" charset="-122"/>
            </a:endParaRPr>
          </a:p>
          <a:p>
            <a:pPr marL="1075055" lvl="1" indent="-533400">
              <a:lnSpc>
                <a:spcPct val="120000"/>
              </a:lnSpc>
            </a:pPr>
            <a:r>
              <a:rPr lang="en-US" altLang="zh-CN" sz="2400" dirty="0">
                <a:ea typeface="宋体" panose="02010600030101010101" pitchFamily="2" charset="-122"/>
                <a:sym typeface="+mn-ea"/>
              </a:rPr>
              <a:t>pageContext</a:t>
            </a:r>
            <a:r>
              <a:rPr lang="zh-CN" altLang="en-US" sz="2400" dirty="0">
                <a:ea typeface="宋体" panose="02010600030101010101" pitchFamily="2" charset="-122"/>
                <a:sym typeface="+mn-ea"/>
              </a:rPr>
              <a:t>对象</a:t>
            </a:r>
            <a:r>
              <a:rPr lang="zh-CN" altLang="en-US" sz="2000" dirty="0">
                <a:ea typeface="宋体" panose="02010600030101010101" pitchFamily="2" charset="-122"/>
                <a:sym typeface="+mn-ea"/>
              </a:rPr>
              <a:t> </a:t>
            </a:r>
            <a:r>
              <a:rPr sz="2000" dirty="0"/>
              <a:t> </a:t>
            </a:r>
            <a:endParaRPr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62184" y="606069"/>
            <a:ext cx="11264801" cy="656296"/>
          </a:xfrm>
        </p:spPr>
        <p:txBody>
          <a:bodyPr/>
          <a:lstStyle/>
          <a:p>
            <a:r>
              <a:rPr dirty="0">
                <a:ea typeface="宋体" panose="02010600030101010101" pitchFamily="2" charset="-122"/>
                <a:sym typeface="+mn-ea"/>
              </a:rPr>
              <a:t>JSP内置对象</a:t>
            </a:r>
            <a:endParaRPr dirty="0">
              <a:ea typeface="宋体" panose="02010600030101010101" pitchFamily="2" charset="-122"/>
              <a:sym typeface="+mn-ea"/>
            </a:endParaRPr>
          </a:p>
        </p:txBody>
      </p:sp>
      <p:sp>
        <p:nvSpPr>
          <p:cNvPr id="6147" name="Rectangle 3"/>
          <p:cNvSpPr>
            <a:spLocks noGrp="1" noChangeArrowheads="1"/>
          </p:cNvSpPr>
          <p:nvPr>
            <p:ph type="body" idx="1"/>
          </p:nvPr>
        </p:nvSpPr>
        <p:spPr>
          <a:xfrm>
            <a:off x="832696" y="1744117"/>
            <a:ext cx="12280552" cy="3026998"/>
          </a:xfrm>
        </p:spPr>
        <p:txBody>
          <a:bodyPr/>
          <a:lstStyle/>
          <a:p>
            <a:pPr marL="573405" indent="-573405">
              <a:lnSpc>
                <a:spcPct val="150000"/>
              </a:lnSpc>
              <a:buNone/>
            </a:pPr>
            <a:r>
              <a:rPr lang="zh-CN" altLang="en-US" b="1" dirty="0">
                <a:ea typeface="楷体_GB2312" pitchFamily="1" charset="-122"/>
              </a:rPr>
              <a:t>教学要求</a:t>
            </a:r>
            <a:endParaRPr lang="zh-CN" altLang="en-US" b="1" dirty="0">
              <a:ea typeface="楷体_GB2312" pitchFamily="1" charset="-122"/>
            </a:endParaRPr>
          </a:p>
          <a:p>
            <a:pPr marL="457200" indent="-457200">
              <a:lnSpc>
                <a:spcPct val="200000"/>
              </a:lnSpc>
              <a:buNone/>
            </a:pPr>
            <a:r>
              <a:rPr lang="en-US" altLang="zh-CN" sz="2400" dirty="0">
                <a:ea typeface="宋体" panose="02010600030101010101" pitchFamily="2" charset="-122"/>
              </a:rPr>
              <a:t>1</a:t>
            </a:r>
            <a:r>
              <a:rPr lang="zh-CN" altLang="en-US" sz="2400" dirty="0">
                <a:ea typeface="宋体" panose="02010600030101010101" pitchFamily="2" charset="-122"/>
              </a:rPr>
              <a:t>．掌握：</a:t>
            </a:r>
            <a:r>
              <a:rPr sz="2400" dirty="0">
                <a:sym typeface="+mn-ea"/>
              </a:rPr>
              <a:t>request对象</a:t>
            </a:r>
            <a:r>
              <a:rPr lang="zh-CN" sz="2400" dirty="0">
                <a:ea typeface="宋体" panose="02010600030101010101" pitchFamily="2" charset="-122"/>
                <a:sym typeface="+mn-ea"/>
              </a:rPr>
              <a:t>，</a:t>
            </a:r>
            <a:r>
              <a:rPr sz="2400" dirty="0">
                <a:sym typeface="+mn-ea"/>
              </a:rPr>
              <a:t>reponse对象</a:t>
            </a:r>
            <a:r>
              <a:rPr lang="zh-CN" sz="2400" dirty="0">
                <a:ea typeface="宋体" panose="02010600030101010101" pitchFamily="2" charset="-122"/>
                <a:sym typeface="+mn-ea"/>
              </a:rPr>
              <a:t>，</a:t>
            </a:r>
            <a:r>
              <a:rPr sz="2400" dirty="0">
                <a:sym typeface="+mn-ea"/>
              </a:rPr>
              <a:t>session对象</a:t>
            </a:r>
            <a:r>
              <a:rPr lang="zh-CN" sz="2400" dirty="0">
                <a:sym typeface="+mn-ea"/>
              </a:rPr>
              <a:t>和</a:t>
            </a:r>
            <a:r>
              <a:rPr sz="2400" dirty="0">
                <a:sym typeface="+mn-ea"/>
              </a:rPr>
              <a:t>application对象</a:t>
            </a:r>
            <a:r>
              <a:rPr lang="zh-CN" sz="2400" dirty="0">
                <a:sym typeface="+mn-ea"/>
              </a:rPr>
              <a:t>的使用</a:t>
            </a:r>
            <a:endParaRPr sz="2400" dirty="0">
              <a:sym typeface="+mn-ea"/>
            </a:endParaRPr>
          </a:p>
          <a:p>
            <a:pPr marL="457200" indent="-457200">
              <a:lnSpc>
                <a:spcPct val="200000"/>
              </a:lnSpc>
              <a:buNone/>
            </a:pPr>
            <a:r>
              <a:rPr lang="en-US" altLang="zh-CN" sz="2400" dirty="0">
                <a:ea typeface="宋体" panose="02010600030101010101" pitchFamily="2" charset="-122"/>
              </a:rPr>
              <a:t>2</a:t>
            </a:r>
            <a:r>
              <a:rPr lang="zh-CN" altLang="en-US" sz="2400" dirty="0">
                <a:ea typeface="宋体" panose="02010600030101010101" pitchFamily="2" charset="-122"/>
              </a:rPr>
              <a:t>．理解：</a:t>
            </a:r>
            <a:r>
              <a:rPr sz="2400" dirty="0">
                <a:sym typeface="+mn-ea"/>
              </a:rPr>
              <a:t>out对象</a:t>
            </a:r>
            <a:r>
              <a:rPr lang="zh-CN" sz="2400" dirty="0">
                <a:ea typeface="宋体" panose="02010600030101010101" pitchFamily="2" charset="-122"/>
                <a:sym typeface="+mn-ea"/>
              </a:rPr>
              <a:t>，</a:t>
            </a:r>
            <a:r>
              <a:rPr sz="2400" dirty="0">
                <a:sym typeface="+mn-ea"/>
              </a:rPr>
              <a:t>config对象</a:t>
            </a:r>
            <a:r>
              <a:rPr lang="zh-CN" sz="2400" dirty="0">
                <a:sym typeface="+mn-ea"/>
              </a:rPr>
              <a:t>和</a:t>
            </a:r>
            <a:r>
              <a:rPr sz="2400" dirty="0">
                <a:sym typeface="+mn-ea"/>
              </a:rPr>
              <a:t>page对象 </a:t>
            </a:r>
            <a:endParaRPr sz="2400" dirty="0">
              <a:sym typeface="+mn-ea"/>
            </a:endParaRPr>
          </a:p>
          <a:p>
            <a:pPr marL="457200" indent="-457200">
              <a:lnSpc>
                <a:spcPct val="200000"/>
              </a:lnSpc>
              <a:buNone/>
            </a:pPr>
            <a:r>
              <a:rPr lang="en-US" altLang="zh-CN" sz="2400" dirty="0">
                <a:ea typeface="宋体" panose="02010600030101010101" pitchFamily="2" charset="-122"/>
              </a:rPr>
              <a:t>3</a:t>
            </a:r>
            <a:r>
              <a:rPr lang="zh-CN" altLang="en-US" sz="2400" dirty="0">
                <a:ea typeface="宋体" panose="02010600030101010101" pitchFamily="2" charset="-122"/>
              </a:rPr>
              <a:t>．了解：exception对象和</a:t>
            </a:r>
            <a:r>
              <a:rPr lang="zh-CN" sz="2400" dirty="0">
                <a:sym typeface="+mn-ea"/>
              </a:rPr>
              <a:t>pageContext对象</a:t>
            </a:r>
            <a:endParaRPr lang="zh-CN" sz="2400" dirty="0">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p:txBody>
          <a:bodyPr anchor="ctr"/>
          <a:lstStyle/>
          <a:p>
            <a:r>
              <a:rPr lang="en-US" altLang="zh-CN" dirty="0">
                <a:ea typeface="宋体" panose="02010600030101010101" pitchFamily="2" charset="-122"/>
              </a:rPr>
              <a:t> </a:t>
            </a:r>
            <a:r>
              <a:rPr lang="zh-CN" altLang="en-US" dirty="0" smtClean="0">
                <a:ea typeface="宋体" panose="02010600030101010101" pitchFamily="2" charset="-122"/>
                <a:sym typeface="+mn-ea"/>
              </a:rPr>
              <a:t>授课任务</a:t>
            </a:r>
            <a:endParaRPr lang="zh-CN" altLang="en-US" dirty="0">
              <a:ea typeface="宋体" panose="02010600030101010101" pitchFamily="2" charset="-122"/>
            </a:endParaRPr>
          </a:p>
        </p:txBody>
      </p:sp>
      <p:sp>
        <p:nvSpPr>
          <p:cNvPr id="16387" name="文本占位符 16386"/>
          <p:cNvSpPr>
            <a:spLocks noGrp="1"/>
          </p:cNvSpPr>
          <p:nvPr>
            <p:ph type="body" idx="1"/>
          </p:nvPr>
        </p:nvSpPr>
        <p:spPr>
          <a:xfrm>
            <a:off x="953770" y="1793240"/>
            <a:ext cx="10761980" cy="2370455"/>
          </a:xfrm>
        </p:spPr>
        <p:txBody>
          <a:bodyPr/>
          <a:lstStyle/>
          <a:p>
            <a:pPr>
              <a:lnSpc>
                <a:spcPct val="180000"/>
              </a:lnSpc>
              <a:buNone/>
            </a:pPr>
            <a:r>
              <a:rPr lang="zh-CN" altLang="en-US" sz="2400" dirty="0">
                <a:ea typeface="宋体" panose="02010600030101010101" pitchFamily="2" charset="-122"/>
              </a:rPr>
              <a:t>      当</a:t>
            </a:r>
            <a:r>
              <a:rPr lang="en-US" altLang="zh-CN" sz="2400" dirty="0">
                <a:ea typeface="宋体" panose="02010600030101010101" pitchFamily="2" charset="-122"/>
              </a:rPr>
              <a:t>JSP</a:t>
            </a:r>
            <a:r>
              <a:rPr lang="zh-CN" altLang="en-US" sz="2400" dirty="0">
                <a:ea typeface="宋体" panose="02010600030101010101" pitchFamily="2" charset="-122"/>
              </a:rPr>
              <a:t>页面处理一个用户访问请求时，可以创建或访问</a:t>
            </a:r>
            <a:r>
              <a:rPr lang="en-US" altLang="zh-CN" sz="2400" dirty="0">
                <a:ea typeface="宋体" panose="02010600030101010101" pitchFamily="2" charset="-122"/>
              </a:rPr>
              <a:t>Java</a:t>
            </a:r>
            <a:r>
              <a:rPr lang="zh-CN" altLang="en-US" sz="2400" dirty="0">
                <a:ea typeface="宋体" panose="02010600030101010101" pitchFamily="2" charset="-122"/>
              </a:rPr>
              <a:t>对象。通常情况下，在</a:t>
            </a:r>
            <a:r>
              <a:rPr lang="en-US" altLang="zh-CN" sz="2400" dirty="0">
                <a:ea typeface="宋体" panose="02010600030101010101" pitchFamily="2" charset="-122"/>
              </a:rPr>
              <a:t>JSP</a:t>
            </a:r>
            <a:r>
              <a:rPr lang="zh-CN" altLang="en-US" sz="2400" dirty="0">
                <a:ea typeface="宋体" panose="02010600030101010101" pitchFamily="2" charset="-122"/>
              </a:rPr>
              <a:t>页面中需先声明一个变量，然后将变量引用到某个实例化对象后才能使用。在</a:t>
            </a:r>
            <a:r>
              <a:rPr lang="en-US" altLang="zh-CN" sz="2400" dirty="0">
                <a:ea typeface="宋体" panose="02010600030101010101" pitchFamily="2" charset="-122"/>
              </a:rPr>
              <a:t>JSP</a:t>
            </a:r>
            <a:r>
              <a:rPr lang="zh-CN" altLang="en-US" sz="2400" dirty="0">
                <a:ea typeface="宋体" panose="02010600030101010101" pitchFamily="2" charset="-122"/>
              </a:rPr>
              <a:t>规范中指定了几个内置对象，可以直接使用，而不需要先进行声明和实例化。 </a:t>
            </a:r>
            <a:endParaRPr lang="zh-CN" altLang="en-US" sz="240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7409"/>
          <p:cNvSpPr>
            <a:spLocks noGrp="1"/>
          </p:cNvSpPr>
          <p:nvPr>
            <p:ph type="title"/>
          </p:nvPr>
        </p:nvSpPr>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17411" name="文本占位符 17410"/>
          <p:cNvSpPr>
            <a:spLocks noGrp="1"/>
          </p:cNvSpPr>
          <p:nvPr>
            <p:ph type="body" idx="1"/>
          </p:nvPr>
        </p:nvSpPr>
        <p:spPr>
          <a:xfrm>
            <a:off x="726440" y="1381125"/>
            <a:ext cx="11238230" cy="5304155"/>
          </a:xfrm>
        </p:spPr>
        <p:txBody>
          <a:bodyPr/>
          <a:lstStyle/>
          <a:p>
            <a:r>
              <a:rPr lang="en-US" altLang="zh-CN" dirty="0">
                <a:ea typeface="宋体" panose="02010600030101010101" pitchFamily="2" charset="-122"/>
              </a:rPr>
              <a:t> request</a:t>
            </a:r>
            <a:r>
              <a:rPr lang="zh-CN" altLang="en-US" dirty="0">
                <a:ea typeface="宋体" panose="02010600030101010101" pitchFamily="2" charset="-122"/>
              </a:rPr>
              <a:t>对象</a:t>
            </a:r>
            <a:endParaRPr lang="zh-CN" altLang="en-US" dirty="0">
              <a:ea typeface="宋体" panose="02010600030101010101" pitchFamily="2" charset="-122"/>
            </a:endParaRPr>
          </a:p>
          <a:p>
            <a:pPr>
              <a:lnSpc>
                <a:spcPct val="160000"/>
              </a:lnSpc>
              <a:buNone/>
            </a:pPr>
            <a:r>
              <a:rPr lang="en-US" altLang="zh-CN" dirty="0">
                <a:ea typeface="宋体" panose="02010600030101010101" pitchFamily="2" charset="-122"/>
              </a:rPr>
              <a:t>	</a:t>
            </a:r>
            <a:r>
              <a:rPr lang="en-US" altLang="zh-CN" sz="1900" dirty="0">
                <a:ea typeface="宋体" panose="02010600030101010101" pitchFamily="2" charset="-122"/>
              </a:rPr>
              <a:t>request</a:t>
            </a:r>
            <a:r>
              <a:rPr lang="zh-CN" altLang="en-US" sz="1900" dirty="0">
                <a:ea typeface="宋体" panose="02010600030101010101" pitchFamily="2" charset="-122"/>
              </a:rPr>
              <a:t>对象根据不同的访问协议对应各自的</a:t>
            </a:r>
            <a:r>
              <a:rPr lang="en-US" altLang="zh-CN" sz="1900" dirty="0">
                <a:ea typeface="宋体" panose="02010600030101010101" pitchFamily="2" charset="-122"/>
              </a:rPr>
              <a:t>javax.servlet.ServletRequest</a:t>
            </a:r>
            <a:r>
              <a:rPr lang="zh-CN" altLang="en-US" sz="1900" dirty="0">
                <a:ea typeface="宋体" panose="02010600030101010101" pitchFamily="2" charset="-122"/>
              </a:rPr>
              <a:t>的子类，对于</a:t>
            </a:r>
            <a:r>
              <a:rPr lang="en-US" altLang="zh-CN" sz="1900" dirty="0">
                <a:ea typeface="宋体" panose="02010600030101010101" pitchFamily="2" charset="-122"/>
              </a:rPr>
              <a:t>HTTP</a:t>
            </a:r>
            <a:r>
              <a:rPr lang="zh-CN" altLang="en-US" sz="1900" dirty="0">
                <a:ea typeface="宋体" panose="02010600030101010101" pitchFamily="2" charset="-122"/>
              </a:rPr>
              <a:t>协议，</a:t>
            </a:r>
            <a:r>
              <a:rPr lang="en-US" altLang="zh-CN" sz="1900" dirty="0">
                <a:ea typeface="宋体" panose="02010600030101010101" pitchFamily="2" charset="-122"/>
              </a:rPr>
              <a:t>request</a:t>
            </a:r>
            <a:r>
              <a:rPr lang="zh-CN" altLang="en-US" sz="1900" dirty="0">
                <a:ea typeface="宋体" panose="02010600030101010101" pitchFamily="2" charset="-122"/>
              </a:rPr>
              <a:t>对象的类型是</a:t>
            </a:r>
            <a:r>
              <a:rPr lang="en-US" altLang="zh-CN" sz="1900" dirty="0">
                <a:ea typeface="宋体" panose="02010600030101010101" pitchFamily="2" charset="-122"/>
              </a:rPr>
              <a:t>javax.servlet.http.HttpServletRequest</a:t>
            </a:r>
            <a:r>
              <a:rPr lang="zh-CN" altLang="en-US" sz="1900" dirty="0">
                <a:ea typeface="宋体" panose="02010600030101010101" pitchFamily="2" charset="-122"/>
              </a:rPr>
              <a:t>。</a:t>
            </a:r>
            <a:endParaRPr lang="zh-CN" altLang="en-US" sz="1900" dirty="0">
              <a:ea typeface="宋体" panose="02010600030101010101" pitchFamily="2" charset="-122"/>
            </a:endParaRPr>
          </a:p>
          <a:p>
            <a:pPr>
              <a:lnSpc>
                <a:spcPct val="160000"/>
              </a:lnSpc>
            </a:pPr>
            <a:endParaRPr lang="en-US" altLang="zh-CN" sz="1900" dirty="0">
              <a:ea typeface="宋体" panose="02010600030101010101" pitchFamily="2" charset="-122"/>
            </a:endParaRPr>
          </a:p>
          <a:p>
            <a:pPr>
              <a:lnSpc>
                <a:spcPct val="160000"/>
              </a:lnSpc>
              <a:buNone/>
            </a:pPr>
            <a:r>
              <a:rPr lang="en-US" altLang="zh-CN" sz="1900" dirty="0">
                <a:ea typeface="宋体" panose="02010600030101010101" pitchFamily="2" charset="-122"/>
              </a:rPr>
              <a:t>	request</a:t>
            </a:r>
            <a:r>
              <a:rPr lang="zh-CN" altLang="en-US" sz="1900" dirty="0">
                <a:ea typeface="宋体" panose="02010600030101010101" pitchFamily="2" charset="-122"/>
              </a:rPr>
              <a:t>对象在</a:t>
            </a:r>
            <a:r>
              <a:rPr lang="en-US" altLang="zh-CN" sz="1900" dirty="0">
                <a:ea typeface="宋体" panose="02010600030101010101" pitchFamily="2" charset="-122"/>
              </a:rPr>
              <a:t>JSP</a:t>
            </a:r>
            <a:r>
              <a:rPr lang="zh-CN" altLang="en-US" sz="1900" dirty="0">
                <a:ea typeface="宋体" panose="02010600030101010101" pitchFamily="2" charset="-122"/>
              </a:rPr>
              <a:t>页面中的应用实例 </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1</a:t>
            </a:r>
            <a:r>
              <a:rPr lang="zh-CN" altLang="en-US" sz="1900" dirty="0">
                <a:ea typeface="宋体" panose="02010600030101010101" pitchFamily="2" charset="-122"/>
              </a:rPr>
              <a:t>．接收用户表单信息  </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2</a:t>
            </a:r>
            <a:r>
              <a:rPr lang="zh-CN" altLang="en-US" sz="1900" dirty="0">
                <a:ea typeface="宋体" panose="02010600030101010101" pitchFamily="2" charset="-122"/>
              </a:rPr>
              <a:t>．获取</a:t>
            </a:r>
            <a:r>
              <a:rPr lang="en-US" altLang="zh-CN" sz="1900" dirty="0">
                <a:ea typeface="宋体" panose="02010600030101010101" pitchFamily="2" charset="-122"/>
              </a:rPr>
              <a:t>request</a:t>
            </a:r>
            <a:r>
              <a:rPr lang="zh-CN" altLang="en-US" sz="1900" dirty="0">
                <a:ea typeface="宋体" panose="02010600030101010101" pitchFamily="2" charset="-122"/>
              </a:rPr>
              <a:t>对象中所有的参数 </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3</a:t>
            </a:r>
            <a:r>
              <a:rPr lang="zh-CN" altLang="en-US" sz="1900" dirty="0">
                <a:ea typeface="宋体" panose="02010600030101010101" pitchFamily="2" charset="-122"/>
              </a:rPr>
              <a:t>．获取</a:t>
            </a:r>
            <a:r>
              <a:rPr lang="en-US" altLang="zh-CN" sz="1900" dirty="0">
                <a:ea typeface="宋体" panose="02010600030101010101" pitchFamily="2" charset="-122"/>
              </a:rPr>
              <a:t>HTTP</a:t>
            </a:r>
            <a:r>
              <a:rPr lang="zh-CN" altLang="en-US" sz="1900" dirty="0">
                <a:ea typeface="宋体" panose="02010600030101010101" pitchFamily="2" charset="-122"/>
              </a:rPr>
              <a:t>请求信息</a:t>
            </a:r>
            <a:endParaRPr lang="zh-CN" altLang="en-US" sz="1900" dirty="0">
              <a:ea typeface="宋体" panose="02010600030101010101" pitchFamily="2" charset="-122"/>
            </a:endParaRPr>
          </a:p>
          <a:p>
            <a:pPr>
              <a:buNone/>
            </a:pPr>
            <a:endParaRPr lang="zh-CN" altLang="en-US" sz="1900" dirty="0">
              <a:ea typeface="宋体" panose="02010600030101010101" pitchFamily="2" charset="-122"/>
            </a:endParaRPr>
          </a:p>
          <a:p>
            <a:endParaRPr lang="zh-CN" altLang="en-US" sz="2530"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18435" name="文本占位符 18434"/>
          <p:cNvSpPr>
            <a:spLocks noGrp="1"/>
          </p:cNvSpPr>
          <p:nvPr>
            <p:ph type="body" idx="1"/>
          </p:nvPr>
        </p:nvSpPr>
        <p:spPr>
          <a:xfrm>
            <a:off x="413385" y="1424940"/>
            <a:ext cx="11403330" cy="5304155"/>
          </a:xfrm>
        </p:spPr>
        <p:txBody>
          <a:bodyPr/>
          <a:lstStyle/>
          <a:p>
            <a:pPr lvl="1">
              <a:buFont typeface="Wingdings" panose="05000000000000000000" pitchFamily="2" charset="2"/>
              <a:buChar char="v"/>
            </a:pPr>
            <a:r>
              <a:rPr lang="en-US" altLang="zh-CN" sz="3500" dirty="0">
                <a:ea typeface="宋体" panose="02010600030101010101" pitchFamily="2" charset="-122"/>
              </a:rPr>
              <a:t>reponse</a:t>
            </a:r>
            <a:r>
              <a:rPr lang="zh-CN" altLang="en-US" sz="3500" dirty="0">
                <a:ea typeface="宋体" panose="02010600030101010101" pitchFamily="2" charset="-122"/>
              </a:rPr>
              <a:t>对象</a:t>
            </a:r>
            <a:endParaRPr lang="en-US" altLang="zh-CN" sz="3500" dirty="0">
              <a:ea typeface="宋体" panose="02010600030101010101" pitchFamily="2" charset="-122"/>
            </a:endParaRPr>
          </a:p>
          <a:p>
            <a:pPr>
              <a:lnSpc>
                <a:spcPct val="160000"/>
              </a:lnSpc>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lnSpc>
                <a:spcPct val="160000"/>
              </a:lnSpc>
              <a:buNone/>
            </a:pPr>
            <a:r>
              <a:rPr lang="en-US" altLang="zh-CN" sz="1900" dirty="0">
                <a:ea typeface="宋体" panose="02010600030101010101" pitchFamily="2" charset="-122"/>
              </a:rPr>
              <a:t>      </a:t>
            </a:r>
            <a:r>
              <a:rPr lang="en-US" altLang="zh-CN" sz="2000" dirty="0">
                <a:ea typeface="宋体" panose="02010600030101010101" pitchFamily="2" charset="-122"/>
              </a:rPr>
              <a:t>    reponse</a:t>
            </a:r>
            <a:r>
              <a:rPr lang="zh-CN" altLang="en-US" sz="2000" dirty="0">
                <a:ea typeface="宋体" panose="02010600030101010101" pitchFamily="2" charset="-122"/>
              </a:rPr>
              <a:t>对象根据不同的访问协议的对应各自的</a:t>
            </a:r>
            <a:r>
              <a:rPr lang="en-US" altLang="zh-CN" sz="2000" dirty="0">
                <a:ea typeface="宋体" panose="02010600030101010101" pitchFamily="2" charset="-122"/>
              </a:rPr>
              <a:t>javax.servlet.ServletResponse</a:t>
            </a:r>
            <a:r>
              <a:rPr lang="zh-CN" altLang="en-US" sz="2000" dirty="0">
                <a:ea typeface="宋体" panose="02010600030101010101" pitchFamily="2" charset="-122"/>
              </a:rPr>
              <a:t>的子类，对于</a:t>
            </a:r>
            <a:r>
              <a:rPr lang="en-US" altLang="zh-CN" sz="2000" dirty="0">
                <a:ea typeface="宋体" panose="02010600030101010101" pitchFamily="2" charset="-122"/>
              </a:rPr>
              <a:t>HTTP</a:t>
            </a:r>
            <a:r>
              <a:rPr lang="zh-CN" altLang="en-US" sz="2000" dirty="0">
                <a:ea typeface="宋体" panose="02010600030101010101" pitchFamily="2" charset="-122"/>
              </a:rPr>
              <a:t>协议，</a:t>
            </a:r>
            <a:r>
              <a:rPr lang="en-US" altLang="zh-CN" sz="2000" dirty="0">
                <a:ea typeface="宋体" panose="02010600030101010101" pitchFamily="2" charset="-122"/>
              </a:rPr>
              <a:t>reponse</a:t>
            </a:r>
            <a:r>
              <a:rPr lang="zh-CN" altLang="en-US" sz="2000" dirty="0">
                <a:ea typeface="宋体" panose="02010600030101010101" pitchFamily="2" charset="-122"/>
              </a:rPr>
              <a:t>对象的类型是</a:t>
            </a:r>
            <a:r>
              <a:rPr lang="en-US" altLang="zh-CN" sz="2000" dirty="0">
                <a:ea typeface="宋体" panose="02010600030101010101" pitchFamily="2" charset="-122"/>
              </a:rPr>
              <a:t>javax.servlet.http.HttpServletResponse</a:t>
            </a:r>
            <a:r>
              <a:rPr lang="zh-CN" altLang="en-US" sz="2000" dirty="0">
                <a:ea typeface="宋体" panose="02010600030101010101" pitchFamily="2" charset="-122"/>
              </a:rPr>
              <a:t>。 </a:t>
            </a:r>
            <a:endParaRPr lang="zh-CN" altLang="en-US" sz="2000" dirty="0">
              <a:ea typeface="宋体" panose="02010600030101010101" pitchFamily="2" charset="-122"/>
            </a:endParaRPr>
          </a:p>
          <a:p>
            <a:pPr>
              <a:lnSpc>
                <a:spcPct val="160000"/>
              </a:lnSpc>
              <a:buNone/>
            </a:pPr>
            <a:r>
              <a:rPr lang="en-US" altLang="zh-CN" sz="2000" dirty="0">
                <a:ea typeface="宋体" panose="02010600030101010101" pitchFamily="2" charset="-122"/>
              </a:rPr>
              <a:t>	</a:t>
            </a:r>
            <a:endParaRPr lang="en-US" altLang="zh-CN" sz="2000" dirty="0">
              <a:ea typeface="宋体" panose="02010600030101010101" pitchFamily="2" charset="-122"/>
            </a:endParaRPr>
          </a:p>
          <a:p>
            <a:pPr>
              <a:lnSpc>
                <a:spcPct val="160000"/>
              </a:lnSpc>
              <a:buNone/>
            </a:pPr>
            <a:r>
              <a:rPr lang="en-US" altLang="zh-CN" sz="2000" dirty="0">
                <a:ea typeface="宋体" panose="02010600030101010101" pitchFamily="2" charset="-122"/>
              </a:rPr>
              <a:t>     </a:t>
            </a:r>
            <a:r>
              <a:rPr lang="en-US" altLang="zh-CN" sz="2000" b="1" dirty="0">
                <a:ea typeface="宋体" panose="02010600030101010101" pitchFamily="2" charset="-122"/>
              </a:rPr>
              <a:t>reponse</a:t>
            </a:r>
            <a:r>
              <a:rPr lang="zh-CN" altLang="en-US" sz="2000" b="1" dirty="0">
                <a:ea typeface="宋体" panose="02010600030101010101" pitchFamily="2" charset="-122"/>
              </a:rPr>
              <a:t>对象在</a:t>
            </a:r>
            <a:r>
              <a:rPr lang="en-US" altLang="zh-CN" sz="2000" b="1" dirty="0">
                <a:ea typeface="宋体" panose="02010600030101010101" pitchFamily="2" charset="-122"/>
              </a:rPr>
              <a:t>JSP</a:t>
            </a:r>
            <a:r>
              <a:rPr lang="zh-CN" altLang="en-US" sz="2000" b="1" dirty="0">
                <a:ea typeface="宋体" panose="02010600030101010101" pitchFamily="2" charset="-122"/>
              </a:rPr>
              <a:t>页面中的应用实例</a:t>
            </a:r>
            <a:endParaRPr lang="en-US" altLang="zh-CN" sz="2000" b="1" dirty="0">
              <a:ea typeface="宋体" panose="02010600030101010101" pitchFamily="2" charset="-122"/>
            </a:endParaRPr>
          </a:p>
          <a:p>
            <a:pPr>
              <a:lnSpc>
                <a:spcPct val="160000"/>
              </a:lnSpc>
              <a:buNone/>
            </a:pPr>
            <a:r>
              <a:rPr lang="en-US" altLang="zh-CN" sz="2000" dirty="0">
                <a:ea typeface="宋体" panose="02010600030101010101" pitchFamily="2" charset="-122"/>
              </a:rPr>
              <a:t>	1</a:t>
            </a:r>
            <a:r>
              <a:rPr lang="zh-CN" altLang="en-US" sz="2000" dirty="0">
                <a:ea typeface="宋体" panose="02010600030101010101" pitchFamily="2" charset="-122"/>
              </a:rPr>
              <a:t>．自动刷新页面 </a:t>
            </a:r>
            <a:endParaRPr lang="zh-CN" altLang="en-US" sz="2000" dirty="0">
              <a:ea typeface="宋体" panose="02010600030101010101" pitchFamily="2" charset="-122"/>
            </a:endParaRPr>
          </a:p>
          <a:p>
            <a:pPr>
              <a:lnSpc>
                <a:spcPct val="160000"/>
              </a:lnSpc>
              <a:buNone/>
            </a:pPr>
            <a:r>
              <a:rPr lang="en-US" altLang="zh-CN" sz="2000" dirty="0">
                <a:ea typeface="宋体" panose="02010600030101010101" pitchFamily="2" charset="-122"/>
              </a:rPr>
              <a:t>	2</a:t>
            </a:r>
            <a:r>
              <a:rPr lang="zh-CN" altLang="en-US" sz="2000" dirty="0">
                <a:ea typeface="宋体" panose="02010600030101010101" pitchFamily="2" charset="-122"/>
              </a:rPr>
              <a:t>．页面跳转</a:t>
            </a:r>
            <a:endParaRPr lang="zh-CN" altLang="en-US" sz="2000"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19459" name="文本占位符 19458"/>
          <p:cNvSpPr>
            <a:spLocks noGrp="1"/>
          </p:cNvSpPr>
          <p:nvPr>
            <p:ph type="body" idx="1"/>
          </p:nvPr>
        </p:nvSpPr>
        <p:spPr>
          <a:xfrm>
            <a:off x="838675" y="1501780"/>
            <a:ext cx="8679180" cy="5303943"/>
          </a:xfrm>
        </p:spPr>
        <p:txBody>
          <a:bodyPr/>
          <a:lstStyle/>
          <a:p>
            <a:r>
              <a:rPr lang="en-US" altLang="zh-CN" dirty="0">
                <a:ea typeface="宋体" panose="02010600030101010101" pitchFamily="2" charset="-122"/>
              </a:rPr>
              <a:t> session</a:t>
            </a:r>
            <a:r>
              <a:rPr lang="zh-CN" altLang="en-US" dirty="0">
                <a:ea typeface="宋体" panose="02010600030101010101" pitchFamily="2" charset="-122"/>
              </a:rPr>
              <a:t>对象</a:t>
            </a:r>
            <a:endParaRPr lang="zh-CN" altLang="en-US" dirty="0">
              <a:ea typeface="宋体" panose="02010600030101010101" pitchFamily="2" charset="-122"/>
            </a:endParaRPr>
          </a:p>
        </p:txBody>
      </p:sp>
      <p:sp>
        <p:nvSpPr>
          <p:cNvPr id="2" name="文本框 1"/>
          <p:cNvSpPr txBox="1"/>
          <p:nvPr/>
        </p:nvSpPr>
        <p:spPr>
          <a:xfrm>
            <a:off x="1101090" y="2464435"/>
            <a:ext cx="10499090" cy="2122805"/>
          </a:xfrm>
          <a:prstGeom prst="rect">
            <a:avLst/>
          </a:prstGeom>
          <a:noFill/>
          <a:ln w="9525">
            <a:noFill/>
          </a:ln>
        </p:spPr>
        <p:txBody>
          <a:bodyPr wrap="square">
            <a:spAutoFit/>
          </a:bodyPr>
          <a:lstStyle/>
          <a:p>
            <a:pPr>
              <a:lnSpc>
                <a:spcPct val="200000"/>
              </a:lnSpc>
              <a:spcBef>
                <a:spcPct val="20000"/>
              </a:spcBef>
              <a:buClr>
                <a:schemeClr val="tx2"/>
              </a:buClr>
              <a:buFont typeface="Wingdings" panose="05000000000000000000" pitchFamily="2" charset="2"/>
            </a:pPr>
            <a:r>
              <a:rPr lang="en-US" altLang="zh-CN" sz="2400" dirty="0">
                <a:ea typeface="宋体" panose="02010600030101010101" pitchFamily="2" charset="-122"/>
              </a:rPr>
              <a:t>session</a:t>
            </a:r>
            <a:r>
              <a:rPr lang="zh-CN" altLang="en-US" sz="2400" dirty="0">
                <a:ea typeface="宋体" panose="02010600030101010101" pitchFamily="2" charset="-122"/>
              </a:rPr>
              <a:t>对象称为会话对象，其类</a:t>
            </a:r>
            <a:r>
              <a:rPr lang="en-US" altLang="zh-CN" sz="2400" dirty="0">
                <a:ea typeface="宋体" panose="02010600030101010101" pitchFamily="2" charset="-122"/>
              </a:rPr>
              <a:t>javax.servlet.http.HttpSession</a:t>
            </a:r>
            <a:r>
              <a:rPr lang="zh-CN" altLang="en-US" sz="2400" dirty="0">
                <a:ea typeface="宋体" panose="02010600030101010101" pitchFamily="2" charset="-122"/>
              </a:rPr>
              <a:t>，此对象是为发出请求的客户端创建，只对</a:t>
            </a:r>
            <a:r>
              <a:rPr lang="en-US" altLang="zh-CN" sz="2400" dirty="0">
                <a:ea typeface="宋体" panose="02010600030101010101" pitchFamily="2" charset="-122"/>
              </a:rPr>
              <a:t>HTTP</a:t>
            </a:r>
            <a:r>
              <a:rPr lang="zh-CN" altLang="en-US" sz="2400" dirty="0">
                <a:ea typeface="宋体" panose="02010600030101010101" pitchFamily="2" charset="-122"/>
              </a:rPr>
              <a:t>协议有效。 </a:t>
            </a:r>
            <a:endParaRPr lang="zh-CN" altLang="en-US" sz="2400" dirty="0">
              <a:ea typeface="宋体" panose="02010600030101010101" pitchFamily="2" charset="-122"/>
            </a:endParaRPr>
          </a:p>
          <a:p>
            <a:pPr>
              <a:spcBef>
                <a:spcPct val="50000"/>
              </a:spcBef>
            </a:pPr>
            <a:endParaRPr lang="zh-CN" altLang="en-US" sz="2400"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0481"/>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20483" name="文本占位符 20482"/>
          <p:cNvSpPr>
            <a:spLocks noGrp="1"/>
          </p:cNvSpPr>
          <p:nvPr>
            <p:ph type="body" idx="1"/>
          </p:nvPr>
        </p:nvSpPr>
        <p:spPr>
          <a:xfrm>
            <a:off x="600075" y="1618615"/>
            <a:ext cx="11690350" cy="5304155"/>
          </a:xfrm>
        </p:spPr>
        <p:txBody>
          <a:bodyPr/>
          <a:lstStyle/>
          <a:p>
            <a:r>
              <a:rPr lang="en-US" altLang="zh-CN" dirty="0">
                <a:ea typeface="宋体" panose="02010600030101010101" pitchFamily="2" charset="-122"/>
              </a:rPr>
              <a:t>application</a:t>
            </a:r>
            <a:r>
              <a:rPr lang="zh-CN" altLang="en-US" dirty="0">
                <a:ea typeface="宋体" panose="02010600030101010101" pitchFamily="2" charset="-122"/>
              </a:rPr>
              <a:t>对象</a:t>
            </a:r>
            <a:endParaRPr lang="zh-CN" altLang="en-US" dirty="0">
              <a:ea typeface="宋体" panose="02010600030101010101" pitchFamily="2" charset="-122"/>
            </a:endParaRPr>
          </a:p>
          <a:p>
            <a:pPr>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buNone/>
            </a:pPr>
            <a:r>
              <a:rPr lang="en-US" altLang="zh-CN" sz="2400" dirty="0">
                <a:ea typeface="宋体" panose="02010600030101010101" pitchFamily="2" charset="-122"/>
                <a:sym typeface="+mn-ea"/>
              </a:rPr>
              <a:t>      application</a:t>
            </a:r>
            <a:r>
              <a:rPr lang="zh-CN" altLang="en-US" sz="2400" dirty="0">
                <a:ea typeface="宋体" panose="02010600030101010101" pitchFamily="2" charset="-122"/>
                <a:sym typeface="+mn-ea"/>
              </a:rPr>
              <a:t>对象代表</a:t>
            </a:r>
            <a:r>
              <a:rPr lang="en-US" altLang="zh-CN" sz="2400" dirty="0">
                <a:ea typeface="宋体" panose="02010600030101010101" pitchFamily="2" charset="-122"/>
                <a:sym typeface="+mn-ea"/>
              </a:rPr>
              <a:t>Web</a:t>
            </a:r>
            <a:r>
              <a:rPr lang="zh-CN" altLang="en-US" sz="2400" dirty="0">
                <a:ea typeface="宋体" panose="02010600030101010101" pitchFamily="2" charset="-122"/>
                <a:sym typeface="+mn-ea"/>
              </a:rPr>
              <a:t>服务器上的一个</a:t>
            </a:r>
            <a:r>
              <a:rPr lang="en-US" altLang="zh-CN" sz="2400" dirty="0">
                <a:ea typeface="宋体" panose="02010600030101010101" pitchFamily="2" charset="-122"/>
                <a:sym typeface="+mn-ea"/>
              </a:rPr>
              <a:t>Web</a:t>
            </a:r>
            <a:r>
              <a:rPr lang="zh-CN" altLang="en-US" sz="2400" dirty="0">
                <a:ea typeface="宋体" panose="02010600030101010101" pitchFamily="2" charset="-122"/>
                <a:sym typeface="+mn-ea"/>
              </a:rPr>
              <a:t>应用，其类型为</a:t>
            </a:r>
            <a:r>
              <a:rPr lang="en-US" altLang="zh-CN" sz="2400" dirty="0">
                <a:ea typeface="宋体" panose="02010600030101010101" pitchFamily="2" charset="-122"/>
                <a:sym typeface="+mn-ea"/>
              </a:rPr>
              <a:t>javax.servlet.ServletContext</a:t>
            </a:r>
            <a:r>
              <a:rPr lang="zh-CN" altLang="en-US" sz="2400" dirty="0">
                <a:ea typeface="宋体" panose="02010600030101010101" pitchFamily="2" charset="-122"/>
                <a:sym typeface="+mn-ea"/>
              </a:rPr>
              <a:t>。</a:t>
            </a:r>
            <a:endParaRPr lang="zh-CN" altLang="en-US" sz="2000" dirty="0">
              <a:ea typeface="宋体" panose="02010600030101010101" pitchFamily="2" charset="-122"/>
            </a:endParaRPr>
          </a:p>
          <a:p>
            <a:pPr>
              <a:buNone/>
            </a:pPr>
            <a:endParaRPr lang="zh-CN" altLang="en-US" dirty="0">
              <a:ea typeface="宋体" panose="02010600030101010101" pitchFamily="2" charset="-122"/>
            </a:endParaRPr>
          </a:p>
          <a:p>
            <a:pPr marL="0" indent="0">
              <a:buNone/>
            </a:pPr>
            <a:endParaRPr lang="zh-CN" altLang="en-US"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p:nvPr>
        </p:nvSpPr>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内置对象</a:t>
            </a:r>
            <a:endParaRPr lang="zh-CN" altLang="en-US" dirty="0">
              <a:ea typeface="宋体" panose="02010600030101010101" pitchFamily="2" charset="-122"/>
            </a:endParaRPr>
          </a:p>
        </p:txBody>
      </p:sp>
      <p:graphicFrame>
        <p:nvGraphicFramePr>
          <p:cNvPr id="21508" name="内容占位符 21507"/>
          <p:cNvGraphicFramePr>
            <a:graphicFrameLocks noGrp="1"/>
          </p:cNvGraphicFramePr>
          <p:nvPr>
            <p:ph idx="1"/>
          </p:nvPr>
        </p:nvGraphicFramePr>
        <p:xfrm>
          <a:off x="2479880" y="2097804"/>
          <a:ext cx="8134985" cy="4443095"/>
        </p:xfrm>
        <a:graphic>
          <a:graphicData uri="http://schemas.openxmlformats.org/drawingml/2006/table">
            <a:tbl>
              <a:tblPr/>
              <a:tblGrid>
                <a:gridCol w="3430905"/>
                <a:gridCol w="4704080"/>
              </a:tblGrid>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a:latin typeface="宋体" panose="02010600030101010101" pitchFamily="2" charset="-122"/>
                          <a:ea typeface="宋体" panose="02010600030101010101" pitchFamily="2" charset="-122"/>
                        </a:rPr>
                        <a:t>方法名称</a:t>
                      </a:r>
                      <a:endParaRPr lang="zh-CN" altLang="en-US" sz="147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a:latin typeface="宋体" panose="02010600030101010101" pitchFamily="2" charset="-122"/>
                          <a:ea typeface="宋体" panose="02010600030101010101" pitchFamily="2" charset="-122"/>
                        </a:rPr>
                        <a:t>作用</a:t>
                      </a:r>
                      <a:endParaRPr lang="zh-CN" altLang="en-US" sz="147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getMajorVersion( )</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获取当前</a:t>
                      </a:r>
                      <a:r>
                        <a:rPr lang="en-US" altLang="zh-CN" sz="1475" dirty="0">
                          <a:ea typeface="宋体" panose="02010600030101010101" pitchFamily="2" charset="-122"/>
                        </a:rPr>
                        <a:t>Web</a:t>
                      </a:r>
                      <a:r>
                        <a:rPr lang="zh-CN" altLang="en-US" sz="1475" dirty="0">
                          <a:latin typeface="宋体" panose="02010600030101010101" pitchFamily="2" charset="-122"/>
                          <a:ea typeface="宋体" panose="02010600030101010101" pitchFamily="2" charset="-122"/>
                        </a:rPr>
                        <a:t>应用</a:t>
                      </a:r>
                      <a:r>
                        <a:rPr lang="en-US" altLang="zh-CN" sz="1475" dirty="0">
                          <a:ea typeface="宋体" panose="02010600030101010101" pitchFamily="2" charset="-122"/>
                        </a:rPr>
                        <a:t>Sevlet</a:t>
                      </a:r>
                      <a:r>
                        <a:rPr lang="zh-CN" altLang="en-US" sz="1475" dirty="0">
                          <a:latin typeface="宋体" panose="02010600030101010101" pitchFamily="2" charset="-122"/>
                          <a:ea typeface="宋体" panose="02010600030101010101" pitchFamily="2" charset="-122"/>
                        </a:rPr>
                        <a:t>的大版本号</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getMinorVersion( )</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获取当前</a:t>
                      </a:r>
                      <a:r>
                        <a:rPr lang="en-US" altLang="zh-CN" sz="1475" dirty="0">
                          <a:ea typeface="宋体" panose="02010600030101010101" pitchFamily="2" charset="-122"/>
                        </a:rPr>
                        <a:t>Web</a:t>
                      </a:r>
                      <a:r>
                        <a:rPr lang="zh-CN" altLang="en-US" sz="1475" dirty="0">
                          <a:latin typeface="宋体" panose="02010600030101010101" pitchFamily="2" charset="-122"/>
                          <a:ea typeface="宋体" panose="02010600030101010101" pitchFamily="2" charset="-122"/>
                        </a:rPr>
                        <a:t>应用</a:t>
                      </a:r>
                      <a:r>
                        <a:rPr lang="en-US" altLang="zh-CN" sz="1475" dirty="0">
                          <a:ea typeface="宋体" panose="02010600030101010101" pitchFamily="2" charset="-122"/>
                        </a:rPr>
                        <a:t>Sevlet</a:t>
                      </a:r>
                      <a:r>
                        <a:rPr lang="zh-CN" altLang="en-US" sz="1475" dirty="0">
                          <a:latin typeface="宋体" panose="02010600030101010101" pitchFamily="2" charset="-122"/>
                          <a:ea typeface="宋体" panose="02010600030101010101" pitchFamily="2" charset="-122"/>
                        </a:rPr>
                        <a:t>的小版本号</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getRealPath(String path)</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a:latin typeface="宋体" panose="02010600030101010101" pitchFamily="2" charset="-122"/>
                          <a:ea typeface="宋体" panose="02010600030101010101" pitchFamily="2" charset="-122"/>
                        </a:rPr>
                        <a:t>将指定的虚拟路径转换为实际路径</a:t>
                      </a:r>
                      <a:endParaRPr lang="zh-CN" altLang="en-US" sz="147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getServerInfo ( )</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a:latin typeface="宋体" panose="02010600030101010101" pitchFamily="2" charset="-122"/>
                          <a:ea typeface="宋体" panose="02010600030101010101" pitchFamily="2" charset="-122"/>
                        </a:rPr>
                        <a:t>获取服务器信息</a:t>
                      </a:r>
                      <a:endParaRPr lang="zh-CN" altLang="en-US" sz="147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log (String logs)</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a:latin typeface="宋体" panose="02010600030101010101" pitchFamily="2" charset="-122"/>
                          <a:ea typeface="宋体" panose="02010600030101010101" pitchFamily="2" charset="-122"/>
                        </a:rPr>
                        <a:t>将字符串参数写入到日志文件或输出到控制台</a:t>
                      </a:r>
                      <a:endParaRPr lang="zh-CN" altLang="en-US" sz="147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19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370" dirty="0">
                          <a:ea typeface="宋体" panose="02010600030101010101" pitchFamily="2" charset="-122"/>
                        </a:rPr>
                        <a:t>setAttribute(String attName,Object obj )</a:t>
                      </a:r>
                      <a:endParaRPr lang="en-US" altLang="zh-CN" sz="137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将属性对象存放到</a:t>
                      </a:r>
                      <a:r>
                        <a:rPr lang="en-US" altLang="zh-CN" sz="1475" dirty="0">
                          <a:ea typeface="宋体" panose="02010600030101010101" pitchFamily="2" charset="-122"/>
                        </a:rPr>
                        <a:t>application</a:t>
                      </a:r>
                      <a:r>
                        <a:rPr lang="zh-CN" altLang="en-US" sz="1475" dirty="0">
                          <a:latin typeface="宋体" panose="02010600030101010101" pitchFamily="2" charset="-122"/>
                          <a:ea typeface="宋体" panose="02010600030101010101" pitchFamily="2" charset="-122"/>
                        </a:rPr>
                        <a:t>对象中</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73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getAttribute (String attName)</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获取当前</a:t>
                      </a:r>
                      <a:r>
                        <a:rPr lang="en-US" altLang="zh-CN" sz="1475" dirty="0">
                          <a:ea typeface="宋体" panose="02010600030101010101" pitchFamily="2" charset="-122"/>
                        </a:rPr>
                        <a:t>application</a:t>
                      </a:r>
                      <a:r>
                        <a:rPr lang="zh-CN" altLang="en-US" sz="1475" dirty="0">
                          <a:latin typeface="宋体" panose="02010600030101010101" pitchFamily="2" charset="-122"/>
                          <a:ea typeface="宋体" panose="02010600030101010101" pitchFamily="2" charset="-122"/>
                        </a:rPr>
                        <a:t>中指定的属性对象，返回值为</a:t>
                      </a:r>
                      <a:r>
                        <a:rPr lang="en-US" altLang="zh-CN" sz="1475" dirty="0">
                          <a:ea typeface="宋体" panose="02010600030101010101" pitchFamily="2" charset="-122"/>
                        </a:rPr>
                        <a:t>Object</a:t>
                      </a:r>
                      <a:r>
                        <a:rPr lang="zh-CN" altLang="en-US" sz="1475" dirty="0">
                          <a:latin typeface="宋体" panose="02010600030101010101" pitchFamily="2" charset="-122"/>
                          <a:ea typeface="宋体" panose="02010600030101010101" pitchFamily="2" charset="-122"/>
                        </a:rPr>
                        <a:t>类型</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73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getAttributeNames( )</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获取当前</a:t>
                      </a:r>
                      <a:r>
                        <a:rPr lang="en-US" altLang="zh-CN" sz="1475" dirty="0">
                          <a:ea typeface="宋体" panose="02010600030101010101" pitchFamily="2" charset="-122"/>
                        </a:rPr>
                        <a:t>application</a:t>
                      </a:r>
                      <a:r>
                        <a:rPr lang="zh-CN" altLang="en-US" sz="1475" dirty="0">
                          <a:latin typeface="宋体" panose="02010600030101010101" pitchFamily="2" charset="-122"/>
                          <a:ea typeface="宋体" panose="02010600030101010101" pitchFamily="2" charset="-122"/>
                        </a:rPr>
                        <a:t>对象中所有的属性对象名，返回值为</a:t>
                      </a:r>
                      <a:r>
                        <a:rPr lang="en-US" altLang="zh-CN" sz="1475" dirty="0">
                          <a:ea typeface="宋体" panose="02010600030101010101" pitchFamily="2" charset="-122"/>
                        </a:rPr>
                        <a:t>Enumeration</a:t>
                      </a:r>
                      <a:r>
                        <a:rPr lang="zh-CN" altLang="en-US" sz="1475" dirty="0">
                          <a:latin typeface="宋体" panose="02010600030101010101" pitchFamily="2" charset="-122"/>
                          <a:ea typeface="宋体" panose="02010600030101010101" pitchFamily="2" charset="-122"/>
                        </a:rPr>
                        <a:t>枚举对象</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73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getInitParameterNames( )</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获取</a:t>
                      </a:r>
                      <a:r>
                        <a:rPr lang="en-US" altLang="zh-CN" sz="1475" dirty="0">
                          <a:ea typeface="宋体" panose="02010600030101010101" pitchFamily="2" charset="-122"/>
                        </a:rPr>
                        <a:t>web.xml</a:t>
                      </a:r>
                      <a:r>
                        <a:rPr lang="zh-CN" altLang="en-US" sz="1475" dirty="0">
                          <a:latin typeface="宋体" panose="02010600030101010101" pitchFamily="2" charset="-122"/>
                          <a:ea typeface="宋体" panose="02010600030101010101" pitchFamily="2" charset="-122"/>
                        </a:rPr>
                        <a:t>文件中</a:t>
                      </a:r>
                      <a:r>
                        <a:rPr lang="en-US" altLang="zh-CN" sz="1475" dirty="0">
                          <a:ea typeface="宋体" panose="02010600030101010101" pitchFamily="2" charset="-122"/>
                        </a:rPr>
                        <a:t>&lt;context-param&gt;</a:t>
                      </a:r>
                      <a:r>
                        <a:rPr lang="zh-CN" altLang="en-US" sz="1475" dirty="0">
                          <a:latin typeface="宋体" panose="02010600030101010101" pitchFamily="2" charset="-122"/>
                          <a:ea typeface="宋体" panose="02010600030101010101" pitchFamily="2" charset="-122"/>
                        </a:rPr>
                        <a:t>标签配置的所有参数名，返回值为</a:t>
                      </a:r>
                      <a:r>
                        <a:rPr lang="en-US" altLang="zh-CN" sz="1475" dirty="0">
                          <a:ea typeface="宋体" panose="02010600030101010101" pitchFamily="2" charset="-122"/>
                        </a:rPr>
                        <a:t>Enumeration</a:t>
                      </a:r>
                      <a:r>
                        <a:rPr lang="zh-CN" altLang="en-US" sz="1475" dirty="0">
                          <a:latin typeface="宋体" panose="02010600030101010101" pitchFamily="2" charset="-122"/>
                          <a:ea typeface="宋体" panose="02010600030101010101" pitchFamily="2" charset="-122"/>
                        </a:rPr>
                        <a:t>枚举对象</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73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475" dirty="0">
                          <a:ea typeface="宋体" panose="02010600030101010101" pitchFamily="2" charset="-122"/>
                        </a:rPr>
                        <a:t>getInitParameter (String paramName)</a:t>
                      </a:r>
                      <a:endParaRPr lang="en-US" altLang="zh-CN"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475" dirty="0">
                          <a:latin typeface="宋体" panose="02010600030101010101" pitchFamily="2" charset="-122"/>
                          <a:ea typeface="宋体" panose="02010600030101010101" pitchFamily="2" charset="-122"/>
                        </a:rPr>
                        <a:t>获取</a:t>
                      </a:r>
                      <a:r>
                        <a:rPr lang="en-US" altLang="zh-CN" sz="1475" dirty="0">
                          <a:ea typeface="宋体" panose="02010600030101010101" pitchFamily="2" charset="-122"/>
                        </a:rPr>
                        <a:t>web.xmL</a:t>
                      </a:r>
                      <a:r>
                        <a:rPr lang="zh-CN" altLang="en-US" sz="1475" dirty="0">
                          <a:latin typeface="宋体" panose="02010600030101010101" pitchFamily="2" charset="-122"/>
                          <a:ea typeface="宋体" panose="02010600030101010101" pitchFamily="2" charset="-122"/>
                        </a:rPr>
                        <a:t>文件中</a:t>
                      </a:r>
                      <a:r>
                        <a:rPr lang="en-US" altLang="zh-CN" sz="1475" dirty="0">
                          <a:ea typeface="宋体" panose="02010600030101010101" pitchFamily="2" charset="-122"/>
                        </a:rPr>
                        <a:t>&lt;context-param&gt;</a:t>
                      </a:r>
                      <a:r>
                        <a:rPr lang="zh-CN" altLang="en-US" sz="1475" dirty="0">
                          <a:latin typeface="宋体" panose="02010600030101010101" pitchFamily="2" charset="-122"/>
                          <a:ea typeface="宋体" panose="02010600030101010101" pitchFamily="2" charset="-122"/>
                        </a:rPr>
                        <a:t>标签配置的参数名为</a:t>
                      </a:r>
                      <a:r>
                        <a:rPr lang="en-US" altLang="zh-CN" sz="1475" dirty="0">
                          <a:ea typeface="宋体" panose="02010600030101010101" pitchFamily="2" charset="-122"/>
                        </a:rPr>
                        <a:t>paramName</a:t>
                      </a:r>
                      <a:r>
                        <a:rPr lang="zh-CN" altLang="en-US" sz="1475" dirty="0">
                          <a:latin typeface="宋体" panose="02010600030101010101" pitchFamily="2" charset="-122"/>
                          <a:ea typeface="宋体" panose="02010600030101010101" pitchFamily="2" charset="-122"/>
                        </a:rPr>
                        <a:t>指定的参数值</a:t>
                      </a:r>
                      <a:endParaRPr lang="zh-CN" altLang="en-US" sz="147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 name="文本框 1"/>
          <p:cNvSpPr txBox="1"/>
          <p:nvPr/>
        </p:nvSpPr>
        <p:spPr>
          <a:xfrm>
            <a:off x="4872355" y="1557020"/>
            <a:ext cx="2847340" cy="368300"/>
          </a:xfrm>
          <a:prstGeom prst="rect">
            <a:avLst/>
          </a:prstGeom>
          <a:noFill/>
        </p:spPr>
        <p:txBody>
          <a:bodyPr wrap="none" rtlCol="0" anchor="t">
            <a:spAutoFit/>
          </a:bodyPr>
          <a:lstStyle/>
          <a:p>
            <a:pPr algn="ctr"/>
            <a:r>
              <a:rPr lang="en-US" altLang="zh-CN" b="1" dirty="0">
                <a:sym typeface="+mn-ea"/>
              </a:rPr>
              <a:t>application</a:t>
            </a:r>
            <a:r>
              <a:rPr lang="zh-CN" altLang="en-US" b="1" dirty="0">
                <a:sym typeface="+mn-ea"/>
              </a:rPr>
              <a:t>对象的常用方法</a:t>
            </a:r>
            <a:r>
              <a:rPr lang="zh-CN" altLang="en-US" dirty="0">
                <a:sym typeface="+mn-ea"/>
              </a:rPr>
              <a:t> </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2529"/>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graphicFrame>
        <p:nvGraphicFramePr>
          <p:cNvPr id="22531" name="内容占位符 22530"/>
          <p:cNvGraphicFramePr>
            <a:graphicFrameLocks noGrp="1"/>
          </p:cNvGraphicFramePr>
          <p:nvPr>
            <p:ph idx="1"/>
            <p:custDataLst>
              <p:tags r:id="rId1"/>
            </p:custDataLst>
          </p:nvPr>
        </p:nvGraphicFramePr>
        <p:xfrm>
          <a:off x="2479880" y="2997106"/>
          <a:ext cx="7821930" cy="3644265"/>
        </p:xfrm>
        <a:graphic>
          <a:graphicData uri="http://schemas.openxmlformats.org/drawingml/2006/table">
            <a:tbl>
              <a:tblPr/>
              <a:tblGrid>
                <a:gridCol w="2289175"/>
                <a:gridCol w="5532755"/>
              </a:tblGrid>
              <a:tr h="41719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a:latin typeface="宋体" panose="02010600030101010101" pitchFamily="2" charset="-122"/>
                          <a:ea typeface="宋体" panose="02010600030101010101" pitchFamily="2" charset="-122"/>
                        </a:rPr>
                        <a:t>方法名称</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a:latin typeface="宋体" panose="02010600030101010101" pitchFamily="2" charset="-122"/>
                          <a:ea typeface="宋体" panose="02010600030101010101" pitchFamily="2" charset="-122"/>
                        </a:rPr>
                        <a:t>作用</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2293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write</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     write</a:t>
                      </a:r>
                      <a:r>
                        <a:rPr lang="zh-CN" altLang="en-US" sz="1685" dirty="0">
                          <a:latin typeface="宋体" panose="02010600030101010101" pitchFamily="2" charset="-122"/>
                          <a:ea typeface="宋体" panose="02010600030101010101" pitchFamily="2" charset="-122"/>
                        </a:rPr>
                        <a:t>方法共有</a:t>
                      </a:r>
                      <a:r>
                        <a:rPr lang="en-US" altLang="zh-CN" sz="1685" dirty="0">
                          <a:ea typeface="宋体" panose="02010600030101010101" pitchFamily="2" charset="-122"/>
                        </a:rPr>
                        <a:t>5</a:t>
                      </a:r>
                      <a:r>
                        <a:rPr lang="zh-CN" altLang="en-US" sz="1685" dirty="0">
                          <a:latin typeface="宋体" panose="02010600030101010101" pitchFamily="2" charset="-122"/>
                          <a:ea typeface="宋体" panose="02010600030101010101" pitchFamily="2" charset="-122"/>
                        </a:rPr>
                        <a:t>个重载方法，可以输出字符串、整数、字符数组以及子字符串等。</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8455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print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      print</a:t>
                      </a:r>
                      <a:r>
                        <a:rPr lang="zh-CN" altLang="en-US" sz="1685" dirty="0">
                          <a:latin typeface="宋体" panose="02010600030101010101" pitchFamily="2" charset="-122"/>
                          <a:ea typeface="宋体" panose="02010600030101010101" pitchFamily="2" charset="-122"/>
                        </a:rPr>
                        <a:t>方法的作用与</a:t>
                      </a:r>
                      <a:r>
                        <a:rPr lang="en-US" altLang="zh-CN" sz="1685" dirty="0">
                          <a:ea typeface="宋体" panose="02010600030101010101" pitchFamily="2" charset="-122"/>
                        </a:rPr>
                        <a:t>write</a:t>
                      </a:r>
                      <a:r>
                        <a:rPr lang="zh-CN" altLang="en-US" sz="1685" dirty="0">
                          <a:latin typeface="宋体" panose="02010600030101010101" pitchFamily="2" charset="-122"/>
                          <a:ea typeface="宋体" panose="02010600030101010101" pitchFamily="2" charset="-122"/>
                        </a:rPr>
                        <a:t>方法的作用类似，但可输出的类型更多，其可以输出所有的</a:t>
                      </a:r>
                      <a:r>
                        <a:rPr lang="en-US" altLang="zh-CN" sz="1685" dirty="0">
                          <a:ea typeface="宋体" panose="02010600030101010101" pitchFamily="2" charset="-122"/>
                        </a:rPr>
                        <a:t>java</a:t>
                      </a:r>
                      <a:r>
                        <a:rPr lang="zh-CN" altLang="en-US" sz="1685" dirty="0">
                          <a:latin typeface="宋体" panose="02010600030101010101" pitchFamily="2" charset="-122"/>
                          <a:ea typeface="宋体" panose="02010600030101010101" pitchFamily="2" charset="-122"/>
                        </a:rPr>
                        <a:t>基本类型，字符串以及对象。</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8455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println</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      println</a:t>
                      </a:r>
                      <a:r>
                        <a:rPr lang="zh-CN" altLang="en-US" sz="1685" dirty="0">
                          <a:latin typeface="宋体" panose="02010600030101010101" pitchFamily="2" charset="-122"/>
                          <a:ea typeface="宋体" panose="02010600030101010101" pitchFamily="2" charset="-122"/>
                        </a:rPr>
                        <a:t>方法与</a:t>
                      </a:r>
                      <a:r>
                        <a:rPr lang="en-US" altLang="zh-CN" sz="1685" dirty="0">
                          <a:ea typeface="宋体" panose="02010600030101010101" pitchFamily="2" charset="-122"/>
                        </a:rPr>
                        <a:t>print</a:t>
                      </a:r>
                      <a:r>
                        <a:rPr lang="zh-CN" altLang="en-US" sz="1685" dirty="0">
                          <a:latin typeface="宋体" panose="02010600030101010101" pitchFamily="2" charset="-122"/>
                          <a:ea typeface="宋体" panose="02010600030101010101" pitchFamily="2" charset="-122"/>
                        </a:rPr>
                        <a:t>方法作用一样，但会在输出的字符串后加上一个换行符“</a:t>
                      </a:r>
                      <a:r>
                        <a:rPr lang="en-US" altLang="zh-CN" sz="1685" dirty="0">
                          <a:ea typeface="宋体" panose="02010600030101010101" pitchFamily="2" charset="-122"/>
                        </a:rPr>
                        <a:t>\n</a:t>
                      </a:r>
                      <a:r>
                        <a:rPr lang="en-US" altLang="zh-CN" sz="1685" dirty="0">
                          <a:latin typeface="宋体" panose="02010600030101010101" pitchFamily="2" charset="-122"/>
                          <a:ea typeface="宋体" panose="02010600030101010101" pitchFamily="2" charset="-122"/>
                        </a:rPr>
                        <a:t>”</a:t>
                      </a:r>
                      <a:r>
                        <a:rPr lang="zh-CN" altLang="en-US" sz="1685" dirty="0">
                          <a:latin typeface="宋体" panose="02010600030101010101" pitchFamily="2" charset="-122"/>
                          <a:ea typeface="宋体" panose="02010600030101010101" pitchFamily="2" charset="-122"/>
                        </a:rPr>
                        <a:t>，此换行符只对输出页面的源文件产生效果。</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783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flush( )</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a:latin typeface="宋体" panose="02010600030101010101" pitchFamily="2" charset="-122"/>
                          <a:ea typeface="宋体" panose="02010600030101010101" pitchFamily="2" charset="-122"/>
                        </a:rPr>
                        <a:t>将缓冲区的内容输出</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719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en-US" altLang="zh-CN" sz="1685" dirty="0">
                          <a:ea typeface="宋体" panose="02010600030101010101" pitchFamily="2" charset="-122"/>
                        </a:rPr>
                        <a:t>close( )</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dirty="0">
                          <a:latin typeface="宋体" panose="02010600030101010101" pitchFamily="2" charset="-122"/>
                          <a:ea typeface="宋体" panose="02010600030101010101" pitchFamily="2" charset="-122"/>
                        </a:rPr>
                        <a:t>关闭</a:t>
                      </a:r>
                      <a:r>
                        <a:rPr lang="en-US" altLang="zh-CN" sz="1685" dirty="0">
                          <a:ea typeface="宋体" panose="02010600030101010101" pitchFamily="2" charset="-122"/>
                        </a:rPr>
                        <a:t>out</a:t>
                      </a:r>
                      <a:r>
                        <a:rPr lang="zh-CN" altLang="en-US" sz="1685" dirty="0">
                          <a:latin typeface="宋体" panose="02010600030101010101" pitchFamily="2" charset="-122"/>
                          <a:ea typeface="宋体" panose="02010600030101010101" pitchFamily="2" charset="-122"/>
                        </a:rPr>
                        <a:t>对象</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2554" name="矩形 22553"/>
          <p:cNvSpPr/>
          <p:nvPr/>
        </p:nvSpPr>
        <p:spPr>
          <a:xfrm>
            <a:off x="496570" y="1365885"/>
            <a:ext cx="10970260" cy="133921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v"/>
              <a:defRPr sz="28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
              <a:defRPr sz="26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Font typeface="Wingdings" panose="05000000000000000000" pitchFamily="2" charset="2"/>
              <a:buChar char="•"/>
              <a:defRPr sz="22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u="none" kern="1200" baseline="0">
                <a:solidFill>
                  <a:schemeClr val="tx1"/>
                </a:solidFill>
                <a:latin typeface="Arial" panose="020B0604020202020204" pitchFamily="34" charset="0"/>
              </a:defRPr>
            </a:lvl5pPr>
          </a:lstStyle>
          <a:p>
            <a:pPr lvl="0">
              <a:lnSpc>
                <a:spcPct val="90000"/>
              </a:lnSpc>
            </a:pPr>
            <a:r>
              <a:rPr lang="en-US" altLang="zh-CN" sz="2955" dirty="0">
                <a:ea typeface="宋体" panose="02010600030101010101" pitchFamily="2" charset="-122"/>
              </a:rPr>
              <a:t> out</a:t>
            </a:r>
            <a:r>
              <a:rPr lang="zh-CN" altLang="en-US" sz="2955" dirty="0">
                <a:ea typeface="宋体" panose="02010600030101010101" pitchFamily="2" charset="-122"/>
              </a:rPr>
              <a:t>对象</a:t>
            </a:r>
            <a:endParaRPr lang="zh-CN" altLang="en-US" sz="2955" dirty="0">
              <a:ea typeface="宋体" panose="02010600030101010101" pitchFamily="2" charset="-122"/>
            </a:endParaRPr>
          </a:p>
          <a:p>
            <a:pPr lvl="0">
              <a:lnSpc>
                <a:spcPct val="90000"/>
              </a:lnSpc>
              <a:buNone/>
            </a:pPr>
            <a:endParaRPr lang="en-US" altLang="zh-CN" sz="1900" dirty="0">
              <a:ea typeface="宋体" panose="02010600030101010101" pitchFamily="2" charset="-122"/>
            </a:endParaRPr>
          </a:p>
          <a:p>
            <a:pPr lvl="0">
              <a:lnSpc>
                <a:spcPct val="90000"/>
              </a:lnSpc>
              <a:buNone/>
            </a:pPr>
            <a:r>
              <a:rPr lang="en-US" altLang="zh-CN" sz="1900" dirty="0">
                <a:ea typeface="宋体" panose="02010600030101010101" pitchFamily="2" charset="-122"/>
              </a:rPr>
              <a:t>out</a:t>
            </a:r>
            <a:r>
              <a:rPr lang="zh-CN" altLang="en-US" sz="1900" dirty="0">
                <a:ea typeface="宋体" panose="02010600030101010101" pitchFamily="2" charset="-122"/>
              </a:rPr>
              <a:t>对象负责字符串信息的输出，其类型是</a:t>
            </a:r>
            <a:r>
              <a:rPr lang="en-US" altLang="zh-CN" sz="1900" dirty="0">
                <a:ea typeface="宋体" panose="02010600030101010101" pitchFamily="2" charset="-122"/>
              </a:rPr>
              <a:t>javax.servlet.jsp.JspWriter</a:t>
            </a:r>
            <a:r>
              <a:rPr lang="zh-CN" altLang="en-US" sz="1900" dirty="0">
                <a:ea typeface="宋体" panose="02010600030101010101" pitchFamily="2" charset="-122"/>
              </a:rPr>
              <a:t>。</a:t>
            </a:r>
            <a:r>
              <a:rPr lang="en-US" altLang="zh-CN" sz="1900" dirty="0">
                <a:ea typeface="宋体" panose="02010600030101010101" pitchFamily="2" charset="-122"/>
              </a:rPr>
              <a:t>out</a:t>
            </a:r>
            <a:r>
              <a:rPr lang="zh-CN" altLang="en-US" sz="1900" dirty="0">
                <a:ea typeface="宋体" panose="02010600030101010101" pitchFamily="2" charset="-122"/>
              </a:rPr>
              <a:t>对象的常用方法如下表所示。</a:t>
            </a:r>
            <a:r>
              <a:rPr lang="zh-CN" altLang="en-US" sz="2955" dirty="0">
                <a:ea typeface="宋体" panose="02010600030101010101" pitchFamily="2" charset="-122"/>
              </a:rPr>
              <a:t> </a:t>
            </a:r>
            <a:endParaRPr lang="zh-CN" altLang="en-US" sz="2955" dirty="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553"/>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23555" name="文本占位符 23554"/>
          <p:cNvSpPr>
            <a:spLocks noGrp="1"/>
          </p:cNvSpPr>
          <p:nvPr>
            <p:ph type="body" sz="half" idx="1"/>
          </p:nvPr>
        </p:nvSpPr>
        <p:spPr>
          <a:xfrm>
            <a:off x="560705" y="1470025"/>
            <a:ext cx="11433810" cy="1441450"/>
          </a:xfrm>
        </p:spPr>
        <p:txBody>
          <a:bodyPr/>
          <a:lstStyle/>
          <a:p>
            <a:pPr>
              <a:lnSpc>
                <a:spcPct val="90000"/>
              </a:lnSpc>
              <a:buClr>
                <a:schemeClr val="tx2"/>
              </a:buClr>
              <a:buSzTx/>
              <a:buFont typeface="Wingdings" panose="05000000000000000000" pitchFamily="2" charset="2"/>
            </a:pPr>
            <a:r>
              <a:rPr lang="en-US" altLang="zh-CN" dirty="0">
                <a:ea typeface="宋体" panose="02010600030101010101" pitchFamily="2" charset="-122"/>
              </a:rPr>
              <a:t>config</a:t>
            </a:r>
            <a:r>
              <a:rPr lang="zh-CN" altLang="en-US" dirty="0">
                <a:ea typeface="宋体" panose="02010600030101010101" pitchFamily="2" charset="-122"/>
              </a:rPr>
              <a:t>对象</a:t>
            </a:r>
            <a:endParaRPr lang="zh-CN" altLang="en-US" dirty="0">
              <a:ea typeface="宋体" panose="02010600030101010101" pitchFamily="2" charset="-122"/>
            </a:endParaRPr>
          </a:p>
          <a:p>
            <a:pPr>
              <a:buClr>
                <a:schemeClr val="tx2"/>
              </a:buClr>
              <a:buSzTx/>
              <a:buFont typeface="Wingdings" panose="05000000000000000000" pitchFamily="2" charset="2"/>
              <a:buNone/>
            </a:pPr>
            <a:r>
              <a:rPr lang="en-US" altLang="zh-CN" sz="2530" dirty="0">
                <a:ea typeface="宋体" panose="02010600030101010101" pitchFamily="2" charset="-122"/>
              </a:rPr>
              <a:t>	   </a:t>
            </a:r>
            <a:r>
              <a:rPr lang="en-US" altLang="zh-CN" sz="1900" dirty="0">
                <a:ea typeface="宋体" panose="02010600030101010101" pitchFamily="2" charset="-122"/>
              </a:rPr>
              <a:t>config</a:t>
            </a:r>
            <a:r>
              <a:rPr lang="zh-CN" altLang="en-US" sz="1900" dirty="0">
                <a:ea typeface="宋体" panose="02010600030101010101" pitchFamily="2" charset="-122"/>
              </a:rPr>
              <a:t>对象包含了当前页面的配置信息，其类型为</a:t>
            </a:r>
            <a:r>
              <a:rPr lang="en-US" altLang="zh-CN" sz="1900" dirty="0">
                <a:ea typeface="宋体" panose="02010600030101010101" pitchFamily="2" charset="-122"/>
              </a:rPr>
              <a:t>javax.servlet.ServletConfig</a:t>
            </a:r>
            <a:r>
              <a:rPr lang="zh-CN" altLang="en-US" sz="1900" dirty="0">
                <a:ea typeface="宋体" panose="02010600030101010101" pitchFamily="2" charset="-122"/>
              </a:rPr>
              <a:t>。</a:t>
            </a:r>
            <a:r>
              <a:rPr lang="en-US" altLang="zh-CN" sz="1900" dirty="0">
                <a:ea typeface="宋体" panose="02010600030101010101" pitchFamily="2" charset="-122"/>
              </a:rPr>
              <a:t>config</a:t>
            </a:r>
            <a:r>
              <a:rPr lang="zh-CN" altLang="en-US" sz="1900" dirty="0">
                <a:ea typeface="宋体" panose="02010600030101010101" pitchFamily="2" charset="-122"/>
              </a:rPr>
              <a:t>对象的常用方法如下表所示。</a:t>
            </a:r>
            <a:r>
              <a:rPr lang="zh-CN" altLang="en-US" dirty="0">
                <a:ea typeface="宋体" panose="02010600030101010101" pitchFamily="2" charset="-122"/>
              </a:rPr>
              <a:t> </a:t>
            </a:r>
            <a:endParaRPr lang="zh-CN" altLang="en-US" dirty="0">
              <a:ea typeface="宋体" panose="02010600030101010101" pitchFamily="2" charset="-122"/>
            </a:endParaRPr>
          </a:p>
        </p:txBody>
      </p:sp>
      <p:graphicFrame>
        <p:nvGraphicFramePr>
          <p:cNvPr id="23556" name="内容占位符 23555"/>
          <p:cNvGraphicFramePr>
            <a:graphicFrameLocks noGrp="1"/>
          </p:cNvGraphicFramePr>
          <p:nvPr>
            <p:ph sz="half" idx="2"/>
          </p:nvPr>
        </p:nvGraphicFramePr>
        <p:xfrm>
          <a:off x="2479880" y="3164284"/>
          <a:ext cx="8260080" cy="2572385"/>
        </p:xfrm>
        <a:graphic>
          <a:graphicData uri="http://schemas.openxmlformats.org/drawingml/2006/table">
            <a:tbl>
              <a:tblPr/>
              <a:tblGrid>
                <a:gridCol w="3628390"/>
                <a:gridCol w="4631690"/>
              </a:tblGrid>
              <a:tr h="3860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方法名称</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900">
                          <a:latin typeface="宋体" panose="02010600030101010101" pitchFamily="2" charset="-122"/>
                          <a:ea typeface="宋体" panose="02010600030101010101" pitchFamily="2" charset="-122"/>
                        </a:rPr>
                        <a:t>作用</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08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getServletContext ( )</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dirty="0">
                          <a:latin typeface="宋体" panose="02010600030101010101" pitchFamily="2" charset="-122"/>
                          <a:ea typeface="宋体" panose="02010600030101010101" pitchFamily="2" charset="-122"/>
                        </a:rPr>
                        <a:t>获取</a:t>
                      </a:r>
                      <a:r>
                        <a:rPr lang="en-US" altLang="zh-CN" sz="1685" dirty="0">
                          <a:ea typeface="宋体" panose="02010600030101010101" pitchFamily="2" charset="-122"/>
                        </a:rPr>
                        <a:t>application</a:t>
                      </a:r>
                      <a:r>
                        <a:rPr lang="zh-CN" altLang="en-US" sz="1685" dirty="0">
                          <a:latin typeface="宋体" panose="02010600030101010101" pitchFamily="2" charset="-122"/>
                          <a:ea typeface="宋体" panose="02010600030101010101" pitchFamily="2" charset="-122"/>
                        </a:rPr>
                        <a:t>对象。获取的对象就是</a:t>
                      </a:r>
                      <a:r>
                        <a:rPr lang="en-US" altLang="zh-CN" sz="1685" dirty="0">
                          <a:ea typeface="宋体" panose="02010600030101010101" pitchFamily="2" charset="-122"/>
                        </a:rPr>
                        <a:t>JSP</a:t>
                      </a:r>
                      <a:r>
                        <a:rPr lang="zh-CN" altLang="en-US" sz="1685" dirty="0">
                          <a:latin typeface="宋体" panose="02010600030101010101" pitchFamily="2" charset="-122"/>
                          <a:ea typeface="宋体" panose="02010600030101010101" pitchFamily="2" charset="-122"/>
                        </a:rPr>
                        <a:t>内置的</a:t>
                      </a:r>
                      <a:r>
                        <a:rPr lang="en-US" altLang="zh-CN" sz="1685" dirty="0">
                          <a:ea typeface="宋体" panose="02010600030101010101" pitchFamily="2" charset="-122"/>
                        </a:rPr>
                        <a:t>application</a:t>
                      </a:r>
                      <a:r>
                        <a:rPr lang="zh-CN" altLang="en-US" sz="1685" dirty="0">
                          <a:latin typeface="宋体" panose="02010600030101010101" pitchFamily="2" charset="-122"/>
                          <a:ea typeface="宋体" panose="02010600030101010101" pitchFamily="2" charset="-122"/>
                        </a:rPr>
                        <a:t>对象。</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08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getInitParameterNames ( )</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dirty="0">
                          <a:latin typeface="宋体" panose="02010600030101010101" pitchFamily="2" charset="-122"/>
                          <a:ea typeface="宋体" panose="02010600030101010101" pitchFamily="2" charset="-122"/>
                        </a:rPr>
                        <a:t>获取当前</a:t>
                      </a:r>
                      <a:r>
                        <a:rPr lang="en-US" altLang="zh-CN" sz="1685" dirty="0">
                          <a:ea typeface="宋体" panose="02010600030101010101" pitchFamily="2" charset="-122"/>
                        </a:rPr>
                        <a:t>JSP</a:t>
                      </a:r>
                      <a:r>
                        <a:rPr lang="zh-CN" altLang="en-US" sz="1685" dirty="0">
                          <a:latin typeface="宋体" panose="02010600030101010101" pitchFamily="2" charset="-122"/>
                          <a:ea typeface="宋体" panose="02010600030101010101" pitchFamily="2" charset="-122"/>
                        </a:rPr>
                        <a:t>页面所有初始参数名，返回值为</a:t>
                      </a:r>
                      <a:r>
                        <a:rPr lang="en-US" altLang="zh-CN" sz="1685" dirty="0">
                          <a:ea typeface="宋体" panose="02010600030101010101" pitchFamily="2" charset="-122"/>
                        </a:rPr>
                        <a:t>Enumeration</a:t>
                      </a:r>
                      <a:r>
                        <a:rPr lang="zh-CN" altLang="en-US" sz="1685" dirty="0">
                          <a:latin typeface="宋体" panose="02010600030101010101" pitchFamily="2" charset="-122"/>
                          <a:ea typeface="宋体" panose="02010600030101010101" pitchFamily="2" charset="-122"/>
                        </a:rPr>
                        <a:t>枚举对象</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08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getInitParameter (String paraname )</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dirty="0">
                          <a:latin typeface="宋体" panose="02010600030101010101" pitchFamily="2" charset="-122"/>
                          <a:ea typeface="宋体" panose="02010600030101010101" pitchFamily="2" charset="-122"/>
                        </a:rPr>
                        <a:t>获取参数名为</a:t>
                      </a:r>
                      <a:r>
                        <a:rPr lang="en-US" altLang="zh-CN" sz="1685" dirty="0">
                          <a:ea typeface="宋体" panose="02010600030101010101" pitchFamily="2" charset="-122"/>
                        </a:rPr>
                        <a:t>paramName</a:t>
                      </a:r>
                      <a:r>
                        <a:rPr lang="zh-CN" altLang="en-US" sz="1685" dirty="0">
                          <a:latin typeface="宋体" panose="02010600030101010101" pitchFamily="2" charset="-122"/>
                          <a:ea typeface="宋体" panose="02010600030101010101" pitchFamily="2" charset="-122"/>
                        </a:rPr>
                        <a:t>指定的初始参数值</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369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getServletName ( )</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algn="ctr" eaLnBrk="0" hangingPunct="0">
                        <a:buNone/>
                      </a:pPr>
                      <a:r>
                        <a:rPr lang="zh-CN" altLang="en-US" sz="1685" dirty="0">
                          <a:latin typeface="宋体" panose="02010600030101010101" pitchFamily="2" charset="-122"/>
                          <a:ea typeface="宋体" panose="02010600030101010101" pitchFamily="2" charset="-122"/>
                        </a:rPr>
                        <a:t>获取</a:t>
                      </a:r>
                      <a:r>
                        <a:rPr lang="en-US" altLang="zh-CN" sz="1685" dirty="0">
                          <a:ea typeface="宋体" panose="02010600030101010101" pitchFamily="2" charset="-122"/>
                        </a:rPr>
                        <a:t>servlet</a:t>
                      </a:r>
                      <a:r>
                        <a:rPr lang="zh-CN" altLang="en-US" sz="1685" dirty="0">
                          <a:latin typeface="宋体" panose="02010600030101010101" pitchFamily="2" charset="-122"/>
                          <a:ea typeface="宋体" panose="02010600030101010101" pitchFamily="2" charset="-122"/>
                        </a:rPr>
                        <a:t>的名字</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4577"/>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24579" name="文本占位符 24578"/>
          <p:cNvSpPr>
            <a:spLocks noGrp="1"/>
          </p:cNvSpPr>
          <p:nvPr>
            <p:ph type="body" idx="1"/>
          </p:nvPr>
        </p:nvSpPr>
        <p:spPr>
          <a:xfrm>
            <a:off x="652780" y="1413510"/>
            <a:ext cx="10718165" cy="4404995"/>
          </a:xfrm>
        </p:spPr>
        <p:txBody>
          <a:bodyPr/>
          <a:lstStyle/>
          <a:p>
            <a:r>
              <a:rPr lang="en-US" altLang="zh-CN" dirty="0">
                <a:ea typeface="宋体" panose="02010600030101010101" pitchFamily="2" charset="-122"/>
              </a:rPr>
              <a:t> page</a:t>
            </a:r>
            <a:r>
              <a:rPr lang="zh-CN" altLang="en-US" dirty="0">
                <a:ea typeface="宋体" panose="02010600030101010101" pitchFamily="2" charset="-122"/>
              </a:rPr>
              <a:t>对象</a:t>
            </a:r>
            <a:endParaRPr lang="zh-CN" altLang="en-US" dirty="0">
              <a:ea typeface="宋体" panose="02010600030101010101" pitchFamily="2" charset="-122"/>
            </a:endParaRPr>
          </a:p>
          <a:p>
            <a:pPr>
              <a:lnSpc>
                <a:spcPct val="150000"/>
              </a:lnSpc>
              <a:buNone/>
            </a:pPr>
            <a:r>
              <a:rPr lang="en-US" altLang="zh-CN" sz="1900" dirty="0">
                <a:ea typeface="宋体" panose="02010600030101010101" pitchFamily="2" charset="-122"/>
              </a:rPr>
              <a:t>     </a:t>
            </a:r>
            <a:r>
              <a:rPr lang="en-US" altLang="zh-CN" sz="2000" dirty="0">
                <a:ea typeface="宋体" panose="02010600030101010101" pitchFamily="2" charset="-122"/>
              </a:rPr>
              <a:t> page</a:t>
            </a:r>
            <a:r>
              <a:rPr lang="zh-CN" altLang="en-US" sz="2000" dirty="0">
                <a:ea typeface="宋体" panose="02010600030101010101" pitchFamily="2" charset="-122"/>
              </a:rPr>
              <a:t>代表本页面实现类的一个运行实例，其类型为</a:t>
            </a:r>
            <a:r>
              <a:rPr lang="en-US" altLang="zh-CN" sz="2000" dirty="0">
                <a:ea typeface="宋体" panose="02010600030101010101" pitchFamily="2" charset="-122"/>
              </a:rPr>
              <a:t>java.lang.Object</a:t>
            </a:r>
            <a:r>
              <a:rPr lang="zh-CN" altLang="en-US" sz="2000" dirty="0">
                <a:ea typeface="宋体" panose="02010600030101010101" pitchFamily="2" charset="-122"/>
              </a:rPr>
              <a:t>。</a:t>
            </a:r>
            <a:endParaRPr lang="zh-CN" altLang="en-US" sz="2000" dirty="0">
              <a:ea typeface="宋体" panose="02010600030101010101" pitchFamily="2" charset="-122"/>
            </a:endParaRPr>
          </a:p>
          <a:p>
            <a:pPr>
              <a:lnSpc>
                <a:spcPct val="150000"/>
              </a:lnSpc>
              <a:buNone/>
            </a:pPr>
            <a:r>
              <a:rPr lang="en-US" altLang="zh-CN" sz="2000" dirty="0">
                <a:ea typeface="宋体" panose="02010600030101010101" pitchFamily="2" charset="-122"/>
              </a:rPr>
              <a:t>      page</a:t>
            </a:r>
            <a:r>
              <a:rPr lang="zh-CN" altLang="en-US" sz="2000" dirty="0">
                <a:ea typeface="宋体" panose="02010600030101010101" pitchFamily="2" charset="-122"/>
              </a:rPr>
              <a:t>对象、</a:t>
            </a:r>
            <a:r>
              <a:rPr lang="en-US" altLang="zh-CN" sz="2000" dirty="0">
                <a:ea typeface="宋体" panose="02010600030101010101" pitchFamily="2" charset="-122"/>
              </a:rPr>
              <a:t>request</a:t>
            </a:r>
            <a:r>
              <a:rPr lang="zh-CN" altLang="en-US" sz="2000" dirty="0">
                <a:ea typeface="宋体" panose="02010600030101010101" pitchFamily="2" charset="-122"/>
              </a:rPr>
              <a:t>对象、</a:t>
            </a:r>
            <a:r>
              <a:rPr lang="en-US" altLang="zh-CN" sz="2000" dirty="0">
                <a:ea typeface="宋体" panose="02010600030101010101" pitchFamily="2" charset="-122"/>
              </a:rPr>
              <a:t>session</a:t>
            </a:r>
            <a:r>
              <a:rPr lang="zh-CN" altLang="en-US" sz="2000" dirty="0">
                <a:ea typeface="宋体" panose="02010600030101010101" pitchFamily="2" charset="-122"/>
              </a:rPr>
              <a:t>对象和</a:t>
            </a:r>
            <a:r>
              <a:rPr lang="en-US" altLang="zh-CN" sz="2000" dirty="0">
                <a:ea typeface="宋体" panose="02010600030101010101" pitchFamily="2" charset="-122"/>
              </a:rPr>
              <a:t>application</a:t>
            </a:r>
            <a:r>
              <a:rPr lang="zh-CN" altLang="en-US" sz="2000" dirty="0">
                <a:ea typeface="宋体" panose="02010600030101010101" pitchFamily="2" charset="-122"/>
              </a:rPr>
              <a:t>对象都可以在其生存周期内以属性的形式来保存数据对象，因此也可称为作用域对象。 </a:t>
            </a:r>
            <a:endParaRPr lang="zh-CN" altLang="en-US" sz="2000"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25603" name="文本占位符 25602"/>
          <p:cNvSpPr>
            <a:spLocks noGrp="1"/>
          </p:cNvSpPr>
          <p:nvPr>
            <p:ph type="body" idx="1"/>
          </p:nvPr>
        </p:nvSpPr>
        <p:spPr>
          <a:xfrm>
            <a:off x="882015" y="1365885"/>
            <a:ext cx="10995660" cy="5304155"/>
          </a:xfrm>
        </p:spPr>
        <p:txBody>
          <a:bodyPr/>
          <a:lstStyle/>
          <a:p>
            <a:pPr>
              <a:lnSpc>
                <a:spcPct val="200000"/>
              </a:lnSpc>
              <a:buNone/>
            </a:pPr>
            <a:r>
              <a:rPr lang="en-US" altLang="zh-CN" sz="1900" dirty="0">
                <a:ea typeface="宋体" panose="02010600030101010101" pitchFamily="2" charset="-122"/>
              </a:rPr>
              <a:t>	</a:t>
            </a:r>
            <a:r>
              <a:rPr lang="en-US" altLang="zh-CN" sz="2000" b="1" dirty="0">
                <a:ea typeface="宋体" panose="02010600030101010101" pitchFamily="2" charset="-122"/>
              </a:rPr>
              <a:t>1</a:t>
            </a:r>
            <a:r>
              <a:rPr lang="zh-CN" altLang="en-US" sz="2000" b="1" dirty="0">
                <a:ea typeface="宋体" panose="02010600030101010101" pitchFamily="2" charset="-122"/>
              </a:rPr>
              <a:t>．</a:t>
            </a:r>
            <a:r>
              <a:rPr lang="en-US" altLang="zh-CN" sz="2000" b="1" dirty="0">
                <a:ea typeface="宋体" panose="02010600030101010101" pitchFamily="2" charset="-122"/>
              </a:rPr>
              <a:t>page scope</a:t>
            </a:r>
            <a:r>
              <a:rPr lang="zh-CN" altLang="en-US" sz="2000" b="1" dirty="0">
                <a:ea typeface="宋体" panose="02010600030101010101" pitchFamily="2" charset="-122"/>
              </a:rPr>
              <a:t>：</a:t>
            </a:r>
            <a:r>
              <a:rPr lang="zh-CN" altLang="en-US" sz="2000" dirty="0">
                <a:ea typeface="宋体" panose="02010600030101010101" pitchFamily="2" charset="-122"/>
              </a:rPr>
              <a:t>属性对象在当前页面有效，页面执行完毕后，属性变量随</a:t>
            </a:r>
            <a:r>
              <a:rPr lang="en-US" altLang="zh-CN" sz="2000" dirty="0">
                <a:ea typeface="宋体" panose="02010600030101010101" pitchFamily="2" charset="-122"/>
              </a:rPr>
              <a:t>page</a:t>
            </a:r>
            <a:r>
              <a:rPr lang="zh-CN" altLang="en-US" sz="2000" dirty="0">
                <a:ea typeface="宋体" panose="02010600030101010101" pitchFamily="2" charset="-122"/>
              </a:rPr>
              <a:t>对象被销毁。</a:t>
            </a:r>
            <a:endParaRPr lang="zh-CN" altLang="en-US" sz="2000" dirty="0">
              <a:ea typeface="宋体" panose="02010600030101010101" pitchFamily="2" charset="-122"/>
            </a:endParaRPr>
          </a:p>
          <a:p>
            <a:pPr>
              <a:lnSpc>
                <a:spcPct val="200000"/>
              </a:lnSpc>
              <a:buNone/>
            </a:pPr>
            <a:r>
              <a:rPr lang="en-US" altLang="zh-CN" sz="2000" dirty="0">
                <a:ea typeface="宋体" panose="02010600030101010101" pitchFamily="2" charset="-122"/>
              </a:rPr>
              <a:t>	</a:t>
            </a:r>
            <a:r>
              <a:rPr lang="en-US" altLang="zh-CN" sz="2000" b="1" dirty="0">
                <a:ea typeface="宋体" panose="02010600030101010101" pitchFamily="2" charset="-122"/>
              </a:rPr>
              <a:t>2</a:t>
            </a:r>
            <a:r>
              <a:rPr lang="zh-CN" altLang="en-US" sz="2000" b="1" dirty="0">
                <a:ea typeface="宋体" panose="02010600030101010101" pitchFamily="2" charset="-122"/>
              </a:rPr>
              <a:t>．</a:t>
            </a:r>
            <a:r>
              <a:rPr lang="en-US" altLang="zh-CN" sz="2000" b="1" dirty="0">
                <a:ea typeface="宋体" panose="02010600030101010101" pitchFamily="2" charset="-122"/>
              </a:rPr>
              <a:t>request scope</a:t>
            </a:r>
            <a:r>
              <a:rPr lang="zh-CN" altLang="en-US" sz="2000" b="1" dirty="0">
                <a:ea typeface="宋体" panose="02010600030101010101" pitchFamily="2" charset="-122"/>
              </a:rPr>
              <a:t>：</a:t>
            </a:r>
            <a:r>
              <a:rPr lang="zh-CN" altLang="en-US" sz="2000" dirty="0">
                <a:ea typeface="宋体" panose="02010600030101010101" pitchFamily="2" charset="-122"/>
              </a:rPr>
              <a:t>属性对象在同一个</a:t>
            </a:r>
            <a:r>
              <a:rPr lang="en-US" altLang="zh-CN" sz="2000" dirty="0">
                <a:ea typeface="宋体" panose="02010600030101010101" pitchFamily="2" charset="-122"/>
              </a:rPr>
              <a:t>request</a:t>
            </a:r>
            <a:r>
              <a:rPr lang="zh-CN" altLang="en-US" sz="2000" dirty="0">
                <a:ea typeface="宋体" panose="02010600030101010101" pitchFamily="2" charset="-122"/>
              </a:rPr>
              <a:t>请求内有效，例如使用</a:t>
            </a:r>
            <a:r>
              <a:rPr lang="en-US" altLang="zh-CN" sz="2000" dirty="0">
                <a:ea typeface="宋体" panose="02010600030101010101" pitchFamily="2" charset="-122"/>
              </a:rPr>
              <a:t>&lt;jsp:forward&gt;</a:t>
            </a:r>
            <a:r>
              <a:rPr lang="zh-CN" altLang="en-US" sz="2000" dirty="0">
                <a:ea typeface="宋体" panose="02010600030101010101" pitchFamily="2" charset="-122"/>
              </a:rPr>
              <a:t>动作标签从一个页面跳转到另一个页面时，这两个页面共有一个</a:t>
            </a:r>
            <a:r>
              <a:rPr lang="en-US" altLang="zh-CN" sz="2000" dirty="0">
                <a:ea typeface="宋体" panose="02010600030101010101" pitchFamily="2" charset="-122"/>
              </a:rPr>
              <a:t>request</a:t>
            </a:r>
            <a:r>
              <a:rPr lang="zh-CN" altLang="en-US" sz="2000" dirty="0">
                <a:ea typeface="宋体" panose="02010600030101010101" pitchFamily="2" charset="-122"/>
              </a:rPr>
              <a:t>对象，此</a:t>
            </a:r>
            <a:r>
              <a:rPr lang="en-US" altLang="zh-CN" sz="2000" dirty="0">
                <a:ea typeface="宋体" panose="02010600030101010101" pitchFamily="2" charset="-122"/>
              </a:rPr>
              <a:t>request</a:t>
            </a:r>
            <a:r>
              <a:rPr lang="zh-CN" altLang="en-US" sz="2000" dirty="0">
                <a:ea typeface="宋体" panose="02010600030101010101" pitchFamily="2" charset="-122"/>
              </a:rPr>
              <a:t>对象中的属性对象在两个页面都有效。</a:t>
            </a:r>
            <a:endParaRPr lang="zh-CN" altLang="en-US" sz="2000" dirty="0">
              <a:ea typeface="宋体" panose="02010600030101010101" pitchFamily="2" charset="-122"/>
            </a:endParaRPr>
          </a:p>
          <a:p>
            <a:pPr>
              <a:lnSpc>
                <a:spcPct val="200000"/>
              </a:lnSpc>
              <a:buNone/>
            </a:pPr>
            <a:r>
              <a:rPr lang="en-US" altLang="zh-CN" sz="2000" dirty="0">
                <a:ea typeface="宋体" panose="02010600030101010101" pitchFamily="2" charset="-122"/>
              </a:rPr>
              <a:t>	</a:t>
            </a:r>
            <a:r>
              <a:rPr lang="en-US" altLang="zh-CN" sz="2000" b="1" dirty="0">
                <a:ea typeface="宋体" panose="02010600030101010101" pitchFamily="2" charset="-122"/>
              </a:rPr>
              <a:t>3</a:t>
            </a:r>
            <a:r>
              <a:rPr lang="zh-CN" altLang="en-US" sz="2000" b="1" dirty="0">
                <a:ea typeface="宋体" panose="02010600030101010101" pitchFamily="2" charset="-122"/>
              </a:rPr>
              <a:t>．</a:t>
            </a:r>
            <a:r>
              <a:rPr lang="en-US" altLang="zh-CN" sz="2000" b="1" dirty="0">
                <a:ea typeface="宋体" panose="02010600030101010101" pitchFamily="2" charset="-122"/>
              </a:rPr>
              <a:t>session scope</a:t>
            </a:r>
            <a:r>
              <a:rPr lang="zh-CN" altLang="en-US" sz="2000" b="1" dirty="0">
                <a:ea typeface="宋体" panose="02010600030101010101" pitchFamily="2" charset="-122"/>
              </a:rPr>
              <a:t>：</a:t>
            </a:r>
            <a:r>
              <a:rPr lang="zh-CN" altLang="en-US" sz="2000" dirty="0">
                <a:ea typeface="宋体" panose="02010600030101010101" pitchFamily="2" charset="-122"/>
              </a:rPr>
              <a:t>属性对象在一个会话过程中都是有效的。</a:t>
            </a:r>
            <a:endParaRPr lang="zh-CN" altLang="en-US" sz="2000" dirty="0">
              <a:ea typeface="宋体" panose="02010600030101010101" pitchFamily="2" charset="-122"/>
            </a:endParaRPr>
          </a:p>
          <a:p>
            <a:pPr>
              <a:lnSpc>
                <a:spcPct val="200000"/>
              </a:lnSpc>
              <a:buNone/>
            </a:pPr>
            <a:r>
              <a:rPr lang="en-US" altLang="zh-CN" sz="2000" dirty="0">
                <a:ea typeface="宋体" panose="02010600030101010101" pitchFamily="2" charset="-122"/>
              </a:rPr>
              <a:t>	</a:t>
            </a:r>
            <a:r>
              <a:rPr lang="en-US" altLang="zh-CN" sz="2000" b="1" dirty="0">
                <a:ea typeface="宋体" panose="02010600030101010101" pitchFamily="2" charset="-122"/>
              </a:rPr>
              <a:t>4</a:t>
            </a:r>
            <a:r>
              <a:rPr lang="zh-CN" altLang="en-US" sz="2000" b="1" dirty="0">
                <a:ea typeface="宋体" panose="02010600030101010101" pitchFamily="2" charset="-122"/>
              </a:rPr>
              <a:t>．</a:t>
            </a:r>
            <a:r>
              <a:rPr lang="en-US" altLang="zh-CN" sz="2000" b="1" dirty="0">
                <a:ea typeface="宋体" panose="02010600030101010101" pitchFamily="2" charset="-122"/>
              </a:rPr>
              <a:t>application scope</a:t>
            </a:r>
            <a:r>
              <a:rPr lang="zh-CN" altLang="en-US" sz="2000" b="1" dirty="0">
                <a:ea typeface="宋体" panose="02010600030101010101" pitchFamily="2" charset="-122"/>
              </a:rPr>
              <a:t>：</a:t>
            </a:r>
            <a:r>
              <a:rPr lang="zh-CN" altLang="en-US" sz="2000" dirty="0">
                <a:ea typeface="宋体" panose="02010600030101010101" pitchFamily="2" charset="-122"/>
              </a:rPr>
              <a:t>属性对象在整个</a:t>
            </a:r>
            <a:r>
              <a:rPr lang="en-US" altLang="zh-CN" sz="2000" dirty="0">
                <a:ea typeface="宋体" panose="02010600030101010101" pitchFamily="2" charset="-122"/>
              </a:rPr>
              <a:t>Web</a:t>
            </a:r>
            <a:r>
              <a:rPr lang="zh-CN" altLang="en-US" sz="2000" dirty="0">
                <a:ea typeface="宋体" panose="02010600030101010101" pitchFamily="2" charset="-122"/>
              </a:rPr>
              <a:t>应用范围内都是有效的，可以在此</a:t>
            </a:r>
            <a:r>
              <a:rPr lang="en-US" altLang="zh-CN" sz="2000" dirty="0">
                <a:ea typeface="宋体" panose="02010600030101010101" pitchFamily="2" charset="-122"/>
              </a:rPr>
              <a:t>Web</a:t>
            </a:r>
            <a:r>
              <a:rPr lang="zh-CN" altLang="en-US" sz="2000" dirty="0">
                <a:ea typeface="宋体" panose="02010600030101010101" pitchFamily="2" charset="-122"/>
              </a:rPr>
              <a:t>应用中的所有页面中进行访问处理，直到</a:t>
            </a:r>
            <a:r>
              <a:rPr lang="en-US" altLang="zh-CN" sz="2000" dirty="0">
                <a:ea typeface="宋体" panose="02010600030101010101" pitchFamily="2" charset="-122"/>
              </a:rPr>
              <a:t>Web</a:t>
            </a:r>
            <a:r>
              <a:rPr lang="zh-CN" altLang="en-US" sz="2000" dirty="0">
                <a:ea typeface="宋体" panose="02010600030101010101" pitchFamily="2" charset="-122"/>
              </a:rPr>
              <a:t>应用停止运行。 </a:t>
            </a:r>
            <a:endParaRPr lang="zh-CN" altLang="en-US" sz="2000"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26627" name="文本占位符 26626"/>
          <p:cNvSpPr>
            <a:spLocks noGrp="1"/>
          </p:cNvSpPr>
          <p:nvPr>
            <p:ph type="body" idx="1"/>
          </p:nvPr>
        </p:nvSpPr>
        <p:spPr>
          <a:xfrm>
            <a:off x="403225" y="1380490"/>
            <a:ext cx="11624945" cy="5304155"/>
          </a:xfrm>
        </p:spPr>
        <p:txBody>
          <a:bodyPr/>
          <a:lstStyle/>
          <a:p>
            <a:pPr>
              <a:lnSpc>
                <a:spcPct val="200000"/>
              </a:lnSpc>
            </a:pPr>
            <a:r>
              <a:rPr lang="en-US" altLang="zh-CN" dirty="0">
                <a:ea typeface="宋体" panose="02010600030101010101" pitchFamily="2" charset="-122"/>
              </a:rPr>
              <a:t> exception</a:t>
            </a:r>
            <a:r>
              <a:rPr lang="zh-CN" altLang="en-US" dirty="0">
                <a:ea typeface="宋体" panose="02010600030101010101" pitchFamily="2" charset="-122"/>
              </a:rPr>
              <a:t>对象</a:t>
            </a:r>
            <a:endParaRPr lang="zh-CN" altLang="en-US" dirty="0">
              <a:ea typeface="宋体" panose="02010600030101010101" pitchFamily="2" charset="-122"/>
            </a:endParaRPr>
          </a:p>
          <a:p>
            <a:pPr>
              <a:lnSpc>
                <a:spcPct val="200000"/>
              </a:lnSpc>
              <a:buNone/>
            </a:pPr>
            <a:r>
              <a:rPr lang="en-US" altLang="zh-CN" sz="2000" dirty="0">
                <a:ea typeface="宋体" panose="02010600030101010101" pitchFamily="2" charset="-122"/>
              </a:rPr>
              <a:t>	exception</a:t>
            </a:r>
            <a:r>
              <a:rPr lang="zh-CN" altLang="en-US" sz="2000" dirty="0">
                <a:ea typeface="宋体" panose="02010600030101010101" pitchFamily="2" charset="-122"/>
              </a:rPr>
              <a:t>对象封装了页面执行时发生的异常信息，其类型为</a:t>
            </a:r>
            <a:r>
              <a:rPr lang="en-US" altLang="zh-CN" sz="2000" dirty="0">
                <a:ea typeface="宋体" panose="02010600030101010101" pitchFamily="2" charset="-122"/>
              </a:rPr>
              <a:t>java.lang.Throwable</a:t>
            </a:r>
            <a:r>
              <a:rPr lang="zh-CN" altLang="en-US" sz="2000" dirty="0">
                <a:ea typeface="宋体" panose="02010600030101010101" pitchFamily="2" charset="-122"/>
              </a:rPr>
              <a:t>。当页面执行发生异常时，相关错误信息会被封装到</a:t>
            </a:r>
            <a:r>
              <a:rPr lang="en-US" altLang="zh-CN" sz="2000" dirty="0">
                <a:ea typeface="宋体" panose="02010600030101010101" pitchFamily="2" charset="-122"/>
              </a:rPr>
              <a:t>exception</a:t>
            </a:r>
            <a:r>
              <a:rPr lang="zh-CN" altLang="en-US" sz="2000" dirty="0">
                <a:ea typeface="宋体" panose="02010600030101010101" pitchFamily="2" charset="-122"/>
              </a:rPr>
              <a:t>对象中抛出。缺省情况下，此</a:t>
            </a:r>
            <a:r>
              <a:rPr lang="en-US" altLang="zh-CN" sz="2000" dirty="0">
                <a:ea typeface="宋体" panose="02010600030101010101" pitchFamily="2" charset="-122"/>
              </a:rPr>
              <a:t>exception</a:t>
            </a:r>
            <a:r>
              <a:rPr lang="zh-CN" altLang="en-US" sz="2000" dirty="0">
                <a:ea typeface="宋体" panose="02010600030101010101" pitchFamily="2" charset="-122"/>
              </a:rPr>
              <a:t>对象会由当前页面的运行实例进行处理，并将错误信息显示出来。 </a:t>
            </a:r>
            <a:endParaRPr lang="zh-CN" altLang="en-US" sz="2000" dirty="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7649"/>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内置对象</a:t>
            </a:r>
            <a:endParaRPr lang="zh-CN" altLang="en-US" dirty="0">
              <a:ea typeface="宋体" panose="02010600030101010101" pitchFamily="2" charset="-122"/>
            </a:endParaRPr>
          </a:p>
        </p:txBody>
      </p:sp>
      <p:sp>
        <p:nvSpPr>
          <p:cNvPr id="27651" name="文本占位符 27650"/>
          <p:cNvSpPr>
            <a:spLocks noGrp="1"/>
          </p:cNvSpPr>
          <p:nvPr>
            <p:ph type="body" idx="1"/>
          </p:nvPr>
        </p:nvSpPr>
        <p:spPr>
          <a:xfrm>
            <a:off x="730250" y="1365885"/>
            <a:ext cx="10895965" cy="5304155"/>
          </a:xfrm>
        </p:spPr>
        <p:txBody>
          <a:bodyPr/>
          <a:lstStyle/>
          <a:p>
            <a:pPr>
              <a:lnSpc>
                <a:spcPct val="200000"/>
              </a:lnSpc>
            </a:pPr>
            <a:r>
              <a:rPr lang="en-US" altLang="zh-CN" dirty="0">
                <a:ea typeface="宋体" panose="02010600030101010101" pitchFamily="2" charset="-122"/>
              </a:rPr>
              <a:t> pageContext</a:t>
            </a:r>
            <a:r>
              <a:rPr lang="zh-CN" altLang="en-US" dirty="0">
                <a:ea typeface="宋体" panose="02010600030101010101" pitchFamily="2" charset="-122"/>
              </a:rPr>
              <a:t>对象</a:t>
            </a:r>
            <a:endParaRPr lang="zh-CN" altLang="en-US" dirty="0">
              <a:ea typeface="宋体" panose="02010600030101010101" pitchFamily="2" charset="-122"/>
            </a:endParaRPr>
          </a:p>
          <a:p>
            <a:pPr>
              <a:lnSpc>
                <a:spcPct val="200000"/>
              </a:lnSpc>
              <a:buNone/>
            </a:pPr>
            <a:r>
              <a:rPr lang="en-US" altLang="zh-CN" sz="1900" dirty="0">
                <a:ea typeface="宋体" panose="02010600030101010101" pitchFamily="2" charset="-122"/>
              </a:rPr>
              <a:t>	pageContext</a:t>
            </a:r>
            <a:r>
              <a:rPr lang="zh-CN" altLang="en-US" sz="1900" dirty="0">
                <a:ea typeface="宋体" panose="02010600030101010101" pitchFamily="2" charset="-122"/>
              </a:rPr>
              <a:t>对象是当前页面的环境对象，其类型为</a:t>
            </a:r>
            <a:r>
              <a:rPr lang="en-US" altLang="zh-CN" sz="1900" dirty="0">
                <a:ea typeface="宋体" panose="02010600030101010101" pitchFamily="2" charset="-122"/>
              </a:rPr>
              <a:t>javax.servlet.jsp.PageContext</a:t>
            </a:r>
            <a:r>
              <a:rPr lang="zh-CN" altLang="en-US" sz="1900" dirty="0">
                <a:ea typeface="宋体" panose="02010600030101010101" pitchFamily="2" charset="-122"/>
              </a:rPr>
              <a:t>，通过此对象可以获取其他的</a:t>
            </a:r>
            <a:r>
              <a:rPr lang="en-US" altLang="zh-CN" sz="1900" dirty="0">
                <a:ea typeface="宋体" panose="02010600030101010101" pitchFamily="2" charset="-122"/>
              </a:rPr>
              <a:t>JSP</a:t>
            </a:r>
            <a:r>
              <a:rPr lang="zh-CN" altLang="en-US" sz="1900" dirty="0">
                <a:ea typeface="宋体" panose="02010600030101010101" pitchFamily="2" charset="-122"/>
              </a:rPr>
              <a:t>内置对象。通过</a:t>
            </a:r>
            <a:r>
              <a:rPr lang="en-US" altLang="zh-CN" sz="1900" dirty="0">
                <a:ea typeface="宋体" panose="02010600030101010101" pitchFamily="2" charset="-122"/>
              </a:rPr>
              <a:t>pageContext</a:t>
            </a:r>
            <a:r>
              <a:rPr lang="zh-CN" altLang="en-US" sz="1900" dirty="0">
                <a:ea typeface="宋体" panose="02010600030101010101" pitchFamily="2" charset="-122"/>
              </a:rPr>
              <a:t>对象还能够设置和获取</a:t>
            </a:r>
            <a:r>
              <a:rPr lang="en-US" altLang="zh-CN" sz="1900" dirty="0">
                <a:ea typeface="宋体" panose="02010600030101010101" pitchFamily="2" charset="-122"/>
              </a:rPr>
              <a:t>4</a:t>
            </a:r>
            <a:r>
              <a:rPr lang="zh-CN" altLang="en-US" sz="1900" dirty="0">
                <a:ea typeface="宋体" panose="02010600030101010101" pitchFamily="2" charset="-122"/>
              </a:rPr>
              <a:t>个范围对象中的属性。</a:t>
            </a:r>
            <a:endParaRPr lang="zh-CN" altLang="en-US" sz="1900"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8673"/>
          <p:cNvSpPr>
            <a:spLocks noGrp="1"/>
          </p:cNvSpPr>
          <p:nvPr>
            <p:ph type="title"/>
          </p:nvPr>
        </p:nvSpPr>
        <p:spPr/>
        <p:txBody>
          <a:bodyPr anchor="ctr"/>
          <a:lstStyle/>
          <a:p>
            <a:r>
              <a:rPr lang="zh-CN" altLang="en-US">
                <a:ea typeface="宋体" panose="02010600030101010101" pitchFamily="2" charset="-122"/>
              </a:rPr>
              <a:t>典型模块应用</a:t>
            </a:r>
            <a:endParaRPr lang="zh-CN" altLang="en-US">
              <a:ea typeface="宋体" panose="02010600030101010101" pitchFamily="2" charset="-122"/>
            </a:endParaRPr>
          </a:p>
        </p:txBody>
      </p:sp>
      <p:sp>
        <p:nvSpPr>
          <p:cNvPr id="28675" name="文本占位符 28674"/>
          <p:cNvSpPr>
            <a:spLocks noGrp="1"/>
          </p:cNvSpPr>
          <p:nvPr>
            <p:ph type="body" sz="half" idx="1"/>
          </p:nvPr>
        </p:nvSpPr>
        <p:spPr>
          <a:xfrm>
            <a:off x="646430" y="1365885"/>
            <a:ext cx="10777855" cy="1870075"/>
          </a:xfrm>
        </p:spPr>
        <p:txBody>
          <a:bodyPr/>
          <a:lstStyle/>
          <a:p>
            <a:pPr>
              <a:buClr>
                <a:schemeClr val="tx2"/>
              </a:buClr>
              <a:buSzTx/>
              <a:buFont typeface="Wingdings" panose="05000000000000000000" pitchFamily="2" charset="2"/>
            </a:pPr>
            <a:r>
              <a:rPr lang="zh-CN" altLang="en-US" sz="3200" dirty="0">
                <a:ea typeface="宋体" panose="02010600030101010101" pitchFamily="2" charset="-122"/>
              </a:rPr>
              <a:t>案例 </a:t>
            </a:r>
            <a:r>
              <a:rPr lang="en-US" altLang="zh-CN" sz="3200" dirty="0">
                <a:ea typeface="宋体" panose="02010600030101010101" pitchFamily="2" charset="-122"/>
              </a:rPr>
              <a:t>5-1 </a:t>
            </a:r>
            <a:r>
              <a:rPr lang="zh-CN" altLang="en-US" sz="3200" dirty="0">
                <a:ea typeface="宋体" panose="02010600030101010101" pitchFamily="2" charset="-122"/>
              </a:rPr>
              <a:t>Web直播聊天室</a:t>
            </a:r>
            <a:endParaRPr lang="zh-CN" altLang="en-US" sz="3200" dirty="0">
              <a:ea typeface="宋体" panose="02010600030101010101" pitchFamily="2" charset="-122"/>
            </a:endParaRPr>
          </a:p>
          <a:p>
            <a:pPr>
              <a:buClr>
                <a:schemeClr val="tx2"/>
              </a:buClr>
              <a:buSzTx/>
              <a:buFont typeface="Wingdings" panose="05000000000000000000" pitchFamily="2" charset="2"/>
              <a:buNone/>
            </a:pPr>
            <a:r>
              <a:rPr lang="zh-CN" altLang="en-US" sz="1900" dirty="0">
                <a:ea typeface="宋体" panose="02010600030101010101" pitchFamily="2" charset="-122"/>
              </a:rPr>
              <a:t>	本节以一个简单的Web直播聊天室功能实现来综合应用本章讲解的知识和技术。</a:t>
            </a:r>
            <a:endParaRPr lang="zh-CN" altLang="en-US" sz="1900" dirty="0">
              <a:ea typeface="宋体" panose="02010600030101010101" pitchFamily="2" charset="-122"/>
            </a:endParaRPr>
          </a:p>
          <a:p>
            <a:pPr>
              <a:buClr>
                <a:schemeClr val="tx2"/>
              </a:buClr>
              <a:buSzTx/>
              <a:buFont typeface="Wingdings" panose="05000000000000000000" pitchFamily="2" charset="2"/>
              <a:buNone/>
            </a:pPr>
            <a:r>
              <a:rPr lang="zh-CN" altLang="en-US" sz="1900" dirty="0">
                <a:ea typeface="宋体" panose="02010600030101010101" pitchFamily="2" charset="-122"/>
              </a:rPr>
              <a:t>	网页聊天室程序包含的相关文件及功能描述如下表所示。</a:t>
            </a:r>
            <a:r>
              <a:rPr lang="zh-CN" altLang="en-US" sz="2530" dirty="0">
                <a:ea typeface="宋体" panose="02010600030101010101" pitchFamily="2" charset="-122"/>
              </a:rPr>
              <a:t> </a:t>
            </a:r>
            <a:endParaRPr lang="zh-CN" altLang="en-US" sz="2530" dirty="0">
              <a:ea typeface="宋体" panose="02010600030101010101" pitchFamily="2" charset="-122"/>
            </a:endParaRPr>
          </a:p>
        </p:txBody>
      </p:sp>
      <p:graphicFrame>
        <p:nvGraphicFramePr>
          <p:cNvPr id="28676" name="内容占位符 28675"/>
          <p:cNvGraphicFramePr>
            <a:graphicFrameLocks noGrp="1"/>
          </p:cNvGraphicFramePr>
          <p:nvPr>
            <p:ph sz="half" idx="2"/>
          </p:nvPr>
        </p:nvGraphicFramePr>
        <p:xfrm>
          <a:off x="4303110" y="3313291"/>
          <a:ext cx="4258945" cy="3085465"/>
        </p:xfrm>
        <a:graphic>
          <a:graphicData uri="http://schemas.openxmlformats.org/drawingml/2006/table">
            <a:tbl>
              <a:tblPr/>
              <a:tblGrid>
                <a:gridCol w="2101215"/>
                <a:gridCol w="2157730"/>
              </a:tblGrid>
              <a:tr h="4241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文件名</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功能描述</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339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login.jsp</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登录页面</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212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auth.jsp</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校验跳转页面</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449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chatframe.jsp</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聊天室框架页面</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704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chat.jsp</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聊天页面</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212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chatlist.jsp</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聊天记录页面</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212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user.jsp</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用户列表页面</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title"/>
          </p:nvPr>
        </p:nvSpPr>
        <p:spPr/>
        <p:txBody>
          <a:bodyPr anchor="ctr"/>
          <a:lstStyle/>
          <a:p>
            <a:r>
              <a:rPr lang="zh-CN" altLang="en-US">
                <a:ea typeface="宋体" panose="02010600030101010101" pitchFamily="2" charset="-122"/>
              </a:rPr>
              <a:t>典型模块应用</a:t>
            </a:r>
            <a:endParaRPr lang="zh-CN" altLang="en-US">
              <a:ea typeface="宋体" panose="02010600030101010101" pitchFamily="2" charset="-122"/>
            </a:endParaRPr>
          </a:p>
        </p:txBody>
      </p:sp>
      <p:sp>
        <p:nvSpPr>
          <p:cNvPr id="29701" name="矩形 29700"/>
          <p:cNvSpPr/>
          <p:nvPr/>
        </p:nvSpPr>
        <p:spPr>
          <a:xfrm>
            <a:off x="786765" y="1565275"/>
            <a:ext cx="9560560" cy="1076325"/>
          </a:xfrm>
          <a:prstGeom prst="rect">
            <a:avLst/>
          </a:prstGeom>
          <a:noFill/>
          <a:ln w="9525">
            <a:noFill/>
          </a:ln>
        </p:spPr>
        <p:txBody>
          <a:bodyPr wrap="square">
            <a:spAutoFit/>
          </a:bodyPr>
          <a:lstStyle/>
          <a:p>
            <a:pPr>
              <a:spcBef>
                <a:spcPct val="20000"/>
              </a:spcBef>
              <a:buClr>
                <a:schemeClr val="tx2"/>
              </a:buClr>
              <a:buFont typeface="Wingdings" panose="05000000000000000000" pitchFamily="2" charset="2"/>
              <a:buChar char="v"/>
            </a:pPr>
            <a:r>
              <a:rPr lang="zh-CN" altLang="en-US" sz="3200" dirty="0">
                <a:ea typeface="宋体" panose="02010600030101010101" pitchFamily="2" charset="-122"/>
              </a:rPr>
              <a:t>案例 </a:t>
            </a:r>
            <a:r>
              <a:rPr lang="en-US" altLang="zh-CN" sz="3200" dirty="0">
                <a:ea typeface="宋体" panose="02010600030101010101" pitchFamily="2" charset="-122"/>
              </a:rPr>
              <a:t>5-1 </a:t>
            </a:r>
            <a:r>
              <a:rPr lang="zh-CN" altLang="en-US" sz="3200" dirty="0">
                <a:ea typeface="宋体" panose="02010600030101010101" pitchFamily="2" charset="-122"/>
              </a:rPr>
              <a:t>网页聊天室</a:t>
            </a:r>
            <a:endParaRPr lang="zh-CN" altLang="en-US" sz="3200" dirty="0">
              <a:ea typeface="宋体" panose="02010600030101010101" pitchFamily="2" charset="-122"/>
            </a:endParaRPr>
          </a:p>
          <a:p>
            <a:endParaRPr lang="zh-CN" altLang="en-US" sz="3200" dirty="0">
              <a:ea typeface="宋体" panose="02010600030101010101" pitchFamily="2" charset="-122"/>
            </a:endParaRPr>
          </a:p>
        </p:txBody>
      </p:sp>
      <p:sp>
        <p:nvSpPr>
          <p:cNvPr id="29702" name="矩形 29701"/>
          <p:cNvSpPr/>
          <p:nvPr/>
        </p:nvSpPr>
        <p:spPr>
          <a:xfrm>
            <a:off x="3467672" y="5502574"/>
            <a:ext cx="233680" cy="106680"/>
          </a:xfrm>
          <a:prstGeom prst="rect">
            <a:avLst/>
          </a:prstGeom>
          <a:noFill/>
          <a:ln w="9525">
            <a:noFill/>
          </a:ln>
        </p:spPr>
        <p:txBody>
          <a:bodyPr wrap="none" anchor="ctr">
            <a:spAutoFit/>
          </a:bodyPr>
          <a:lstStyle/>
          <a:p>
            <a:r>
              <a:rPr lang="zh-CN" altLang="en-US" sz="100" dirty="0">
                <a:ea typeface="宋体" panose="02010600030101010101" pitchFamily="2" charset="-122"/>
              </a:rPr>
              <a:t>登录页面 </a:t>
            </a:r>
            <a:endParaRPr lang="zh-CN" altLang="en-US" sz="100" dirty="0">
              <a:ea typeface="宋体" panose="02010600030101010101" pitchFamily="2" charset="-122"/>
            </a:endParaRPr>
          </a:p>
        </p:txBody>
      </p:sp>
      <p:sp>
        <p:nvSpPr>
          <p:cNvPr id="29703" name="矩形 29702"/>
          <p:cNvSpPr/>
          <p:nvPr/>
        </p:nvSpPr>
        <p:spPr>
          <a:xfrm>
            <a:off x="7947897" y="5427234"/>
            <a:ext cx="249555" cy="106680"/>
          </a:xfrm>
          <a:prstGeom prst="rect">
            <a:avLst/>
          </a:prstGeom>
          <a:noFill/>
          <a:ln w="9525">
            <a:noFill/>
          </a:ln>
        </p:spPr>
        <p:txBody>
          <a:bodyPr wrap="none" anchor="ctr">
            <a:spAutoFit/>
          </a:bodyPr>
          <a:lstStyle/>
          <a:p>
            <a:r>
              <a:rPr lang="zh-CN" altLang="en-US" sz="100" dirty="0">
                <a:ea typeface="宋体" panose="02010600030101010101" pitchFamily="2" charset="-122"/>
              </a:rPr>
              <a:t> 聊天室页面 </a:t>
            </a:r>
            <a:endParaRPr lang="zh-CN" altLang="en-US" sz="100" dirty="0">
              <a:ea typeface="宋体" panose="02010600030101010101" pitchFamily="2" charset="-122"/>
            </a:endParaRPr>
          </a:p>
        </p:txBody>
      </p:sp>
      <p:pic>
        <p:nvPicPr>
          <p:cNvPr id="4" name="图片 1"/>
          <p:cNvPicPr>
            <a:picLocks noChangeAspect="1"/>
          </p:cNvPicPr>
          <p:nvPr/>
        </p:nvPicPr>
        <p:blipFill>
          <a:blip r:embed="rId1"/>
          <a:stretch>
            <a:fillRect/>
          </a:stretch>
        </p:blipFill>
        <p:spPr>
          <a:xfrm>
            <a:off x="1339850" y="2809875"/>
            <a:ext cx="5051425" cy="2558415"/>
          </a:xfrm>
          <a:prstGeom prst="rect">
            <a:avLst/>
          </a:prstGeom>
          <a:noFill/>
          <a:ln w="9525">
            <a:noFill/>
          </a:ln>
        </p:spPr>
      </p:pic>
      <p:pic>
        <p:nvPicPr>
          <p:cNvPr id="2" name="图片 -2147482601" descr="5-19"/>
          <p:cNvPicPr>
            <a:picLocks noChangeAspect="1"/>
          </p:cNvPicPr>
          <p:nvPr/>
        </p:nvPicPr>
        <p:blipFill>
          <a:blip r:embed="rId2"/>
          <a:stretch>
            <a:fillRect/>
          </a:stretch>
        </p:blipFill>
        <p:spPr>
          <a:xfrm>
            <a:off x="6645910" y="2824480"/>
            <a:ext cx="4925695" cy="249491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0721"/>
          <p:cNvSpPr>
            <a:spLocks noGrp="1"/>
          </p:cNvSpPr>
          <p:nvPr>
            <p:ph type="title"/>
          </p:nvPr>
        </p:nvSpPr>
        <p:spPr/>
        <p:txBody>
          <a:bodyPr anchor="ctr"/>
          <a:lstStyle/>
          <a:p>
            <a:r>
              <a:rPr lang="zh-CN" altLang="en-US">
                <a:ea typeface="宋体" panose="02010600030101010101" pitchFamily="2" charset="-122"/>
              </a:rPr>
              <a:t>本章小结 </a:t>
            </a:r>
            <a:endParaRPr lang="zh-CN" altLang="en-US">
              <a:ea typeface="宋体" panose="02010600030101010101" pitchFamily="2" charset="-122"/>
            </a:endParaRPr>
          </a:p>
        </p:txBody>
      </p:sp>
      <p:sp>
        <p:nvSpPr>
          <p:cNvPr id="30723" name="文本占位符 30722"/>
          <p:cNvSpPr>
            <a:spLocks noGrp="1"/>
          </p:cNvSpPr>
          <p:nvPr>
            <p:ph type="body" idx="1"/>
          </p:nvPr>
        </p:nvSpPr>
        <p:spPr>
          <a:xfrm>
            <a:off x="756920" y="1717675"/>
            <a:ext cx="11395710" cy="5304155"/>
          </a:xfrm>
        </p:spPr>
        <p:txBody>
          <a:bodyPr/>
          <a:lstStyle/>
          <a:p>
            <a:pPr>
              <a:lnSpc>
                <a:spcPct val="150000"/>
              </a:lnSpc>
              <a:buNone/>
            </a:pPr>
            <a:r>
              <a:rPr lang="en-US" sz="2000" dirty="0">
                <a:ea typeface="宋体" panose="02010600030101010101" pitchFamily="2" charset="-122"/>
              </a:rPr>
              <a:t>             </a:t>
            </a:r>
            <a:r>
              <a:rPr sz="2000" dirty="0">
                <a:ea typeface="宋体" panose="02010600030101010101" pitchFamily="2" charset="-122"/>
              </a:rPr>
              <a:t>JSP动态网页技术代码包括JSP脚本标签、JSP指令标签和JSP动作标签等。JSP脚本标签通常用作对象操作和数据运算，从而动态的生成页面内容。脚本标签包括声明，代码段和表达式。JSP指令标签为JSP容器编译和执行JSP页面时提供相关信息，不会对当前输出流产生影响。用户可以使用JSP动作标签向当前输出流输出数据，进行页面定向，也可以通过动作标签使用、修改和创建对象。JSP规范中提供了几种标准的动作标签，这些标签都是以JSP为前缀字符串。</a:t>
            </a:r>
            <a:endParaRPr sz="2000" dirty="0">
              <a:ea typeface="宋体" panose="02010600030101010101" pitchFamily="2" charset="-122"/>
            </a:endParaRPr>
          </a:p>
          <a:p>
            <a:pPr>
              <a:lnSpc>
                <a:spcPct val="150000"/>
              </a:lnSpc>
              <a:buNone/>
            </a:pPr>
            <a:r>
              <a:rPr lang="en-US" sz="2000" dirty="0">
                <a:ea typeface="宋体" panose="02010600030101010101" pitchFamily="2" charset="-122"/>
              </a:rPr>
              <a:t>           </a:t>
            </a:r>
            <a:r>
              <a:rPr sz="2000" dirty="0">
                <a:ea typeface="宋体" panose="02010600030101010101" pitchFamily="2" charset="-122"/>
              </a:rPr>
              <a:t>在JSP规范中指定了request、reponse、session、application、out、config、page、exception和pageContext等内置对象，这些对象在JSP页面设计中可以直接使用，而不需要先进行声明和实例化。</a:t>
            </a:r>
            <a:endParaRPr sz="200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0721"/>
          <p:cNvSpPr>
            <a:spLocks noGrp="1"/>
          </p:cNvSpPr>
          <p:nvPr>
            <p:ph type="title"/>
          </p:nvPr>
        </p:nvSpPr>
        <p:spPr/>
        <p:txBody>
          <a:bodyPr anchor="ctr"/>
          <a:lstStyle/>
          <a:p>
            <a:r>
              <a:rPr lang="zh-CN" altLang="en-US">
                <a:ea typeface="宋体" panose="02010600030101010101" pitchFamily="2" charset="-122"/>
              </a:rPr>
              <a:t>实战演练</a:t>
            </a:r>
            <a:r>
              <a:rPr lang="zh-CN" altLang="en-US" sz="2955">
                <a:ea typeface="宋体" panose="02010600030101010101" pitchFamily="2" charset="-122"/>
              </a:rPr>
              <a:t> </a:t>
            </a:r>
            <a:endParaRPr lang="zh-CN" altLang="en-US" sz="2955">
              <a:ea typeface="宋体" panose="02010600030101010101" pitchFamily="2" charset="-122"/>
            </a:endParaRPr>
          </a:p>
        </p:txBody>
      </p:sp>
      <p:sp>
        <p:nvSpPr>
          <p:cNvPr id="30723" name="文本占位符 30722"/>
          <p:cNvSpPr>
            <a:spLocks noGrp="1"/>
          </p:cNvSpPr>
          <p:nvPr>
            <p:ph type="body" idx="1"/>
          </p:nvPr>
        </p:nvSpPr>
        <p:spPr>
          <a:xfrm>
            <a:off x="756920" y="1717675"/>
            <a:ext cx="10941050" cy="5304155"/>
          </a:xfrm>
        </p:spPr>
        <p:txBody>
          <a:bodyPr/>
          <a:lstStyle/>
          <a:p>
            <a:pPr>
              <a:lnSpc>
                <a:spcPct val="140000"/>
              </a:lnSpc>
              <a:buNone/>
            </a:pPr>
            <a:r>
              <a:rPr lang="en-US" altLang="zh-CN" sz="1900" dirty="0">
                <a:ea typeface="宋体" panose="02010600030101010101" pitchFamily="2" charset="-122"/>
              </a:rPr>
              <a:t>      [</a:t>
            </a:r>
            <a:r>
              <a:rPr lang="zh-CN" altLang="en-US" sz="1900" dirty="0">
                <a:ea typeface="宋体" panose="02010600030101010101" pitchFamily="2" charset="-122"/>
              </a:rPr>
              <a:t>实战 </a:t>
            </a:r>
            <a:r>
              <a:rPr lang="en-US" altLang="zh-CN" sz="1900" dirty="0">
                <a:ea typeface="宋体" panose="02010600030101010101" pitchFamily="2" charset="-122"/>
              </a:rPr>
              <a:t>5-1] </a:t>
            </a:r>
            <a:r>
              <a:rPr lang="zh-CN" altLang="en-US" sz="1900" dirty="0">
                <a:ea typeface="宋体" panose="02010600030101010101" pitchFamily="2" charset="-122"/>
              </a:rPr>
              <a:t>为本章网站案例Web直播聊天室增加一个聊天室密码校验功能，即在登录页面添加一个聊天室密码输入框，用户登录时应填写正确的聊天室密码</a:t>
            </a:r>
            <a:r>
              <a:rPr lang="en-US" altLang="zh-CN" sz="1900" dirty="0">
                <a:ea typeface="宋体" panose="02010600030101010101" pitchFamily="2" charset="-122"/>
              </a:rPr>
              <a:t>--“654321”</a:t>
            </a:r>
            <a:r>
              <a:rPr lang="zh-CN" altLang="en-US" sz="1900" dirty="0">
                <a:ea typeface="宋体" panose="02010600030101010101" pitchFamily="2" charset="-122"/>
              </a:rPr>
              <a:t>，否则会出现密码错误提示。</a:t>
            </a:r>
            <a:endParaRPr lang="zh-CN" altLang="en-US" sz="1900" dirty="0">
              <a:ea typeface="宋体" panose="02010600030101010101" pitchFamily="2" charset="-122"/>
            </a:endParaRPr>
          </a:p>
          <a:p>
            <a:pPr>
              <a:lnSpc>
                <a:spcPct val="140000"/>
              </a:lnSpc>
              <a:buNone/>
            </a:pPr>
            <a:endParaRPr lang="zh-CN" altLang="en-US" sz="1900" dirty="0">
              <a:ea typeface="宋体" panose="02010600030101010101" pitchFamily="2" charset="-122"/>
            </a:endParaRPr>
          </a:p>
          <a:p>
            <a:pPr>
              <a:lnSpc>
                <a:spcPct val="140000"/>
              </a:lnSpc>
              <a:buNone/>
            </a:pPr>
            <a:r>
              <a:rPr lang="en-US" altLang="zh-CN" sz="1900" dirty="0">
                <a:ea typeface="宋体" panose="02010600030101010101" pitchFamily="2" charset="-122"/>
              </a:rPr>
              <a:t>     [</a:t>
            </a:r>
            <a:r>
              <a:rPr lang="zh-CN" altLang="en-US" sz="1900" dirty="0">
                <a:ea typeface="宋体" panose="02010600030101010101" pitchFamily="2" charset="-122"/>
              </a:rPr>
              <a:t>实战 </a:t>
            </a:r>
            <a:r>
              <a:rPr lang="en-US" altLang="zh-CN" sz="1900" dirty="0">
                <a:ea typeface="宋体" panose="02010600030101010101" pitchFamily="2" charset="-122"/>
              </a:rPr>
              <a:t>5-2] </a:t>
            </a:r>
            <a:r>
              <a:rPr lang="zh-CN" altLang="en-US" sz="1900" dirty="0">
                <a:ea typeface="宋体" panose="02010600030101010101" pitchFamily="2" charset="-122"/>
              </a:rPr>
              <a:t>为本章网站案例Web直播聊天室增加一个新用户欢迎功能，即当一个新用户成功登录后，聊天记录中会显示欢迎该用户进入聊天室的信息。</a:t>
            </a:r>
            <a:endParaRPr lang="zh-CN" altLang="en-US" sz="1900" dirty="0">
              <a:ea typeface="宋体" panose="02010600030101010101" pitchFamily="2" charset="-122"/>
            </a:endParaRPr>
          </a:p>
          <a:p>
            <a:pPr>
              <a:lnSpc>
                <a:spcPct val="140000"/>
              </a:lnSpc>
              <a:buNone/>
            </a:pPr>
            <a:endParaRPr lang="zh-CN" altLang="en-US" sz="1900" dirty="0">
              <a:ea typeface="宋体" panose="02010600030101010101" pitchFamily="2" charset="-122"/>
            </a:endParaRPr>
          </a:p>
          <a:p>
            <a:pPr>
              <a:lnSpc>
                <a:spcPct val="140000"/>
              </a:lnSpc>
              <a:buNone/>
            </a:pPr>
            <a:r>
              <a:rPr lang="en-US" altLang="zh-CN" sz="1900" dirty="0">
                <a:ea typeface="宋体" panose="02010600030101010101" pitchFamily="2" charset="-122"/>
              </a:rPr>
              <a:t>     [</a:t>
            </a:r>
            <a:r>
              <a:rPr lang="zh-CN" altLang="en-US" sz="1900" dirty="0">
                <a:ea typeface="宋体" panose="02010600030101010101" pitchFamily="2" charset="-122"/>
              </a:rPr>
              <a:t>实战 </a:t>
            </a:r>
            <a:r>
              <a:rPr lang="en-US" altLang="zh-CN" sz="1900" dirty="0">
                <a:ea typeface="宋体" panose="02010600030101010101" pitchFamily="2" charset="-122"/>
              </a:rPr>
              <a:t>5-3] </a:t>
            </a:r>
            <a:r>
              <a:rPr lang="zh-CN" altLang="en-US" sz="1900" dirty="0">
                <a:ea typeface="宋体" panose="02010600030101010101" pitchFamily="2" charset="-122"/>
              </a:rPr>
              <a:t>为本章网站案例Web直播聊天室增加一个用户退出功能，即在聊天页面添加一个退出聊天室的超链接，当有用户点击此超链接退出时，在聊天记录中显示该用户退出聊天室的信息，同时在用户列表中删除该用户。 </a:t>
            </a:r>
            <a:endParaRPr lang="zh-CN" altLang="en-US" sz="1900" dirty="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709295" y="2896245"/>
            <a:ext cx="6016403" cy="560725"/>
          </a:xfrm>
          <a:prstGeom prst="rect">
            <a:avLst/>
          </a:prstGeom>
          <a:noFill/>
        </p:spPr>
        <p:txBody>
          <a:bodyPr wrap="square" lIns="128583" tIns="64291" rIns="128583" bIns="64291" rtlCol="0">
            <a:spAutoFit/>
          </a:bodyPr>
          <a:lstStyle/>
          <a:p>
            <a:pPr algn="ctr"/>
            <a:r>
              <a:rPr kumimoji="1" lang="zh-CN" altLang="en-US" sz="2800" dirty="0">
                <a:solidFill>
                  <a:prstClr val="white">
                    <a:lumMod val="50000"/>
                  </a:prstClr>
                </a:solidFill>
                <a:cs typeface="+mn-ea"/>
                <a:sym typeface="+mn-lt"/>
              </a:rPr>
              <a:t>感谢观看 </a:t>
            </a:r>
            <a:r>
              <a:rPr kumimoji="1" lang="en-US" altLang="zh-CN" sz="2800" dirty="0">
                <a:solidFill>
                  <a:prstClr val="white">
                    <a:lumMod val="50000"/>
                  </a:prstClr>
                </a:solidFill>
                <a:cs typeface="+mn-ea"/>
                <a:sym typeface="+mn-lt"/>
              </a:rPr>
              <a:t>THANK YOU!</a:t>
            </a:r>
            <a:endParaRPr kumimoji="1" lang="zh-CN" altLang="en-US" sz="2800" dirty="0">
              <a:solidFill>
                <a:prstClr val="white">
                  <a:lumMod val="50000"/>
                </a:prstClr>
              </a:solidFill>
              <a:cs typeface="+mn-ea"/>
              <a:sym typeface="+mn-lt"/>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
        <p:nvSpPr>
          <p:cNvPr id="10" name="文本框 8"/>
          <p:cNvSpPr txBox="1"/>
          <p:nvPr/>
        </p:nvSpPr>
        <p:spPr>
          <a:xfrm rot="2679144">
            <a:off x="1518042" y="2942040"/>
            <a:ext cx="5266506" cy="558800"/>
          </a:xfrm>
          <a:prstGeom prst="rect">
            <a:avLst/>
          </a:prstGeom>
          <a:noFill/>
        </p:spPr>
        <p:txBody>
          <a:bodyPr wrap="square" lIns="128583" tIns="64291" rIns="128583" bIns="64291" rtlCol="0">
            <a:spAutoFit/>
          </a:bodyPr>
          <a:lstStyle/>
          <a:p>
            <a:pPr algn="ctr">
              <a:buNone/>
            </a:pPr>
            <a:r>
              <a:rPr kumimoji="1" lang="zh-CN" altLang="en-US" sz="2800" b="1" dirty="0">
                <a:solidFill>
                  <a:srgbClr val="526580"/>
                </a:solidFill>
                <a:latin typeface="+mn-ea"/>
                <a:ea typeface="+mn-ea"/>
                <a:cs typeface="+mn-ea"/>
                <a:sym typeface="宋体" panose="02010600030101010101" pitchFamily="2" charset="-122"/>
              </a:rPr>
              <a:t>第五章 </a:t>
            </a:r>
            <a:r>
              <a:rPr kumimoji="1" lang="en-US" altLang="zh-CN" sz="2800" b="1" dirty="0">
                <a:solidFill>
                  <a:srgbClr val="526580"/>
                </a:solidFill>
                <a:latin typeface="+mn-ea"/>
                <a:ea typeface="+mn-ea"/>
                <a:cs typeface="+mn-ea"/>
                <a:sym typeface="宋体" panose="02010600030101010101" pitchFamily="2" charset="-122"/>
              </a:rPr>
              <a:t>   </a:t>
            </a:r>
            <a:r>
              <a:rPr kumimoji="1" lang="en-US" sz="2800" b="1" dirty="0">
                <a:solidFill>
                  <a:srgbClr val="526580"/>
                </a:solidFill>
                <a:latin typeface="+mn-ea"/>
                <a:ea typeface="+mn-ea"/>
                <a:cs typeface="+mn-ea"/>
                <a:sym typeface="宋体" panose="02010600030101010101" pitchFamily="2" charset="-122"/>
              </a:rPr>
              <a:t>JSP</a:t>
            </a:r>
            <a:r>
              <a:rPr kumimoji="1" lang="zh-CN" altLang="en-US" sz="2800" b="1" dirty="0">
                <a:solidFill>
                  <a:srgbClr val="526580"/>
                </a:solidFill>
                <a:latin typeface="+mn-ea"/>
                <a:ea typeface="+mn-ea"/>
                <a:cs typeface="+mn-ea"/>
                <a:sym typeface="宋体" panose="02010600030101010101" pitchFamily="2" charset="-122"/>
              </a:rPr>
              <a:t>基础</a:t>
            </a:r>
            <a:endParaRPr kumimoji="1" lang="zh-CN" altLang="en-US" sz="2800" b="1" dirty="0">
              <a:solidFill>
                <a:srgbClr val="526580"/>
              </a:solidFill>
              <a:latin typeface="+mn-ea"/>
              <a:ea typeface="+mn-ea"/>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1000" fill="hold"/>
                                        <p:tgtEl>
                                          <p:spTgt spid="16"/>
                                        </p:tgtEl>
                                        <p:attrNameLst>
                                          <p:attrName>ppt_x</p:attrName>
                                        </p:attrNameLst>
                                      </p:cBhvr>
                                      <p:tavLst>
                                        <p:tav tm="0">
                                          <p:val>
                                            <p:strVal val="#ppt_x"/>
                                          </p:val>
                                        </p:tav>
                                        <p:tav tm="100000">
                                          <p:val>
                                            <p:strVal val="#ppt_x"/>
                                          </p:val>
                                        </p:tav>
                                      </p:tavLst>
                                    </p:anim>
                                    <p:anim calcmode="lin" valueType="num">
                                      <p:cBhvr additive="base">
                                        <p:cTn id="21" dur="1000" fill="hold"/>
                                        <p:tgtEl>
                                          <p:spTgt spid="16"/>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2" presetClass="entr" presetSubtype="4"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12" grpId="0" animBg="1"/>
      <p:bldP spid="16" grpId="0" animBg="1"/>
      <p:bldP spid="4" grpId="0"/>
      <p:bldP spid="10" grpId="0"/>
    </p:bldLst>
  </p:timing>
</p:sld>
</file>

<file path=ppt/tags/tag1.xml><?xml version="1.0" encoding="utf-8"?>
<p:tagLst xmlns:p="http://schemas.openxmlformats.org/presentationml/2006/main">
  <p:tag name="KSO_WM_UNIT_TABLE_BEAUTIFY" val="smartTable{8fa18ae6-68c5-4a5a-b994-06c7ed8db926}"/>
</p:tagLst>
</file>

<file path=ppt/tags/tag2.xml><?xml version="1.0" encoding="utf-8"?>
<p:tagLst xmlns:p="http://schemas.openxmlformats.org/presentationml/2006/main">
  <p:tag name="ISPRING_PRESENTATION_TITLE" val="bt026.pptx"/>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5933</Words>
  <Application>WPS 演示</Application>
  <PresentationFormat>自定义</PresentationFormat>
  <Paragraphs>411</Paragraphs>
  <Slides>34</Slides>
  <Notes>4</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0</vt:i4>
      </vt:variant>
      <vt:variant>
        <vt:lpstr>幻灯片标题</vt:lpstr>
      </vt:variant>
      <vt:variant>
        <vt:i4>34</vt:i4>
      </vt:variant>
    </vt:vector>
  </HeadingPairs>
  <TitlesOfParts>
    <vt:vector size="50" baseType="lpstr">
      <vt:lpstr>Arial</vt:lpstr>
      <vt:lpstr>宋体</vt:lpstr>
      <vt:lpstr>Wingdings</vt:lpstr>
      <vt:lpstr>Calibri</vt:lpstr>
      <vt:lpstr>Agency FB</vt:lpstr>
      <vt:lpstr>方正正黑简体</vt:lpstr>
      <vt:lpstr>黑体</vt:lpstr>
      <vt:lpstr>Arial</vt:lpstr>
      <vt:lpstr>楷体_GB2312</vt:lpstr>
      <vt:lpstr>新宋体</vt:lpstr>
      <vt:lpstr>微软雅黑</vt:lpstr>
      <vt:lpstr>Arial Unicode MS</vt:lpstr>
      <vt:lpstr>自定义设计方案</vt:lpstr>
      <vt:lpstr>灰白简约科技PPT模板</vt:lpstr>
      <vt:lpstr>1_灰白简约科技PPT模板</vt:lpstr>
      <vt:lpstr>2_灰白简约科技PPT模板</vt:lpstr>
      <vt:lpstr>PowerPoint 演示文稿</vt:lpstr>
      <vt:lpstr>PowerPoint 演示文稿</vt:lpstr>
      <vt:lpstr>PowerPoint 演示文稿</vt:lpstr>
      <vt:lpstr>PowerPoint 演示文稿</vt:lpstr>
      <vt:lpstr>JSP语法</vt:lpstr>
      <vt:lpstr>JSP语法</vt:lpstr>
      <vt:lpstr>JSP语法</vt:lpstr>
      <vt:lpstr>JSP语法</vt:lpstr>
      <vt:lpstr> JSP语法</vt:lpstr>
      <vt:lpstr>JSP语法</vt:lpstr>
      <vt:lpstr> JSP语法</vt:lpstr>
      <vt:lpstr>JSP语法</vt:lpstr>
      <vt:lpstr> JSP语法</vt:lpstr>
      <vt:lpstr> JSP语法</vt:lpstr>
      <vt:lpstr>PowerPoint 演示文稿</vt:lpstr>
      <vt:lpstr>JSP内置对象</vt:lpstr>
      <vt:lpstr>JSP内置对象</vt:lpstr>
      <vt:lpstr> 授课任务</vt:lpstr>
      <vt:lpstr>JSP内置对象</vt:lpstr>
      <vt:lpstr> JSP内置对象</vt:lpstr>
      <vt:lpstr> JSP内置对象</vt:lpstr>
      <vt:lpstr> JSP内置对象</vt:lpstr>
      <vt:lpstr>JSP内置对象</vt:lpstr>
      <vt:lpstr> JSP内置对象</vt:lpstr>
      <vt:lpstr> JSP内置对象</vt:lpstr>
      <vt:lpstr> JSP内置对象</vt:lpstr>
      <vt:lpstr> JSP内置对象</vt:lpstr>
      <vt:lpstr> JSP内置对象</vt:lpstr>
      <vt:lpstr> JSP内置对象</vt:lpstr>
      <vt:lpstr>典型模块应用</vt:lpstr>
      <vt:lpstr>典型模块应用</vt:lpstr>
      <vt:lpstr>本章小结 </vt:lpstr>
      <vt:lpstr>实战演练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bt026.pptx</dc:title>
  <dc:creator/>
  <cp:lastModifiedBy>fx</cp:lastModifiedBy>
  <cp:revision>68</cp:revision>
  <dcterms:created xsi:type="dcterms:W3CDTF">2016-09-20T02:06:00Z</dcterms:created>
  <dcterms:modified xsi:type="dcterms:W3CDTF">2026-07-21T11:22:19Z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28010C518D354A4CAB2386542A2BD7C2</vt:lpwstr>
  </property>
</Properties>
</file>