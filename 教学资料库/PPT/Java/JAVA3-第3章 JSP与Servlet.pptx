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1" r:id="rId3"/>
    <p:sldMasterId id="2147483663" r:id="rId4"/>
    <p:sldMasterId id="2147483676" r:id="rId5"/>
  </p:sldMasterIdLst>
  <p:notesMasterIdLst>
    <p:notesMasterId r:id="rId7"/>
  </p:notesMasterIdLst>
  <p:sldIdLst>
    <p:sldId id="2807" r:id="rId6"/>
    <p:sldId id="2836" r:id="rId8"/>
    <p:sldId id="2837" r:id="rId9"/>
    <p:sldId id="2818" r:id="rId10"/>
    <p:sldId id="2784" r:id="rId11"/>
    <p:sldId id="2834" r:id="rId12"/>
    <p:sldId id="2797" r:id="rId13"/>
    <p:sldId id="2798" r:id="rId14"/>
    <p:sldId id="2822" r:id="rId15"/>
    <p:sldId id="2799" r:id="rId16"/>
    <p:sldId id="2800" r:id="rId17"/>
    <p:sldId id="2801" r:id="rId18"/>
    <p:sldId id="2821" r:id="rId19"/>
    <p:sldId id="2819" r:id="rId20"/>
    <p:sldId id="2809" r:id="rId21"/>
    <p:sldId id="2810" r:id="rId22"/>
    <p:sldId id="2811" r:id="rId23"/>
    <p:sldId id="2823" r:id="rId24"/>
    <p:sldId id="2824" r:id="rId25"/>
    <p:sldId id="2831" r:id="rId26"/>
    <p:sldId id="2813" r:id="rId27"/>
    <p:sldId id="2814" r:id="rId28"/>
    <p:sldId id="2815" r:id="rId29"/>
    <p:sldId id="2832" r:id="rId30"/>
    <p:sldId id="2826" r:id="rId31"/>
    <p:sldId id="2827" r:id="rId32"/>
    <p:sldId id="2828" r:id="rId33"/>
    <p:sldId id="2830" r:id="rId34"/>
    <p:sldId id="2838" r:id="rId35"/>
    <p:sldId id="2839" r:id="rId36"/>
    <p:sldId id="2817" r:id="rId37"/>
  </p:sldIdLst>
  <p:sldSz cx="12858750" cy="7232650"/>
  <p:notesSz cx="6858000" cy="9144000"/>
  <p:custDataLst>
    <p:tags r:id="rId4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445" indent="-1822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065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4685" indent="-55372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7305" indent="-73914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4730" algn="l" defTabSz="9137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1930" algn="l" defTabSz="9137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199130" algn="l" defTabSz="9137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5695" algn="l" defTabSz="9137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12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5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212E3C"/>
    <a:srgbClr val="FBBF09"/>
    <a:srgbClr val="EF4232"/>
    <a:srgbClr val="03A9F0"/>
    <a:srgbClr val="FFFFFF"/>
    <a:srgbClr val="FABCA8"/>
    <a:srgbClr val="57562F"/>
    <a:srgbClr val="FBCDBE"/>
    <a:srgbClr val="6B6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89" autoAdjust="0"/>
    <p:restoredTop sz="92986" autoAdjust="0"/>
  </p:normalViewPr>
  <p:slideViewPr>
    <p:cSldViewPr showGuides="1">
      <p:cViewPr>
        <p:scale>
          <a:sx n="75" d="100"/>
          <a:sy n="75" d="100"/>
        </p:scale>
        <p:origin x="-306" y="-60"/>
      </p:cViewPr>
      <p:guideLst>
        <p:guide orient="horz" pos="373"/>
        <p:guide pos="4050"/>
        <p:guide pos="512"/>
        <p:guide orient="horz" pos="4183"/>
        <p:guide pos="7588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1" Type="http://schemas.openxmlformats.org/officeDocument/2006/relationships/tags" Target="tags/tag1.xml"/><Relationship Id="rId40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29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49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6906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626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409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7860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oleObject" Target="../embeddings/oleObject6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5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oleObject" Target="../embeddings/oleObject9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8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84039" y="6703600"/>
            <a:ext cx="2893219" cy="386187"/>
          </a:xfrm>
          <a:prstGeom prst="rect">
            <a:avLst/>
          </a:prstGeom>
        </p:spPr>
        <p:txBody>
          <a:bodyPr lIns="91397" tIns="45699" rIns="91397" bIns="45699"/>
          <a:lstStyle/>
          <a:p>
            <a:fld id="{E3AD87B8-9A4B-45E2-BBE5-FB86ADE2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259461" y="6703600"/>
            <a:ext cx="4339828" cy="386187"/>
          </a:xfrm>
          <a:prstGeom prst="rect">
            <a:avLst/>
          </a:prstGeom>
        </p:spPr>
        <p:txBody>
          <a:bodyPr lIns="91397" tIns="45699" rIns="91397" bIns="45699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081492" y="6703600"/>
            <a:ext cx="2893219" cy="386187"/>
          </a:xfrm>
          <a:prstGeom prst="rect">
            <a:avLst/>
          </a:prstGeom>
        </p:spPr>
        <p:txBody>
          <a:bodyPr lIns="91397" tIns="45699" rIns="91397" bIns="45699"/>
          <a:lstStyle/>
          <a:p>
            <a:fld id="{37AAA611-6692-4583-86AB-5AB9B972BD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039" y="385072"/>
            <a:ext cx="11090672" cy="1397978"/>
          </a:xfrm>
          <a:prstGeom prst="rect">
            <a:avLst/>
          </a:prstGeom>
        </p:spPr>
        <p:txBody>
          <a:bodyPr lIns="128583" tIns="64291" rIns="128583" bIns="64291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84039" y="1925358"/>
            <a:ext cx="11090672" cy="4589051"/>
          </a:xfrm>
          <a:prstGeom prst="rect">
            <a:avLst/>
          </a:prstGeom>
        </p:spPr>
        <p:txBody>
          <a:bodyPr lIns="128583" tIns="64291" rIns="128583" bIns="64291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4039" y="6703596"/>
            <a:ext cx="2893219" cy="385072"/>
          </a:xfrm>
          <a:prstGeom prst="rect">
            <a:avLst/>
          </a:prstGeom>
        </p:spPr>
        <p:txBody>
          <a:bodyPr lIns="128583" tIns="64291" rIns="128583" bIns="64291"/>
          <a:lstStyle/>
          <a:p>
            <a:fld id="{ACA37975-6AF7-4301-9DC5-87C074AA59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9461" y="6703596"/>
            <a:ext cx="4339828" cy="385072"/>
          </a:xfrm>
          <a:prstGeom prst="rect">
            <a:avLst/>
          </a:prstGeom>
        </p:spPr>
        <p:txBody>
          <a:bodyPr lIns="128583" tIns="64291" rIns="128583" bIns="64291"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492" y="6703596"/>
            <a:ext cx="2893219" cy="385072"/>
          </a:xfrm>
          <a:prstGeom prst="rect">
            <a:avLst/>
          </a:prstGeom>
        </p:spPr>
        <p:txBody>
          <a:bodyPr lIns="128583" tIns="64291" rIns="128583" bIns="64291"/>
          <a:lstStyle/>
          <a:p>
            <a:fld id="{D27987A4-0198-42B4-AAAE-EDBADA4485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 advClick="0" advTm="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34148"/>
            <a:ext cx="9965531" cy="4821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965531" y="3134148"/>
            <a:ext cx="2893219" cy="4821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rot="5400000">
            <a:off x="29692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 rot="5400000">
            <a:off x="72554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 rot="5400000">
            <a:off x="115417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 rot="5400000">
            <a:off x="158279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0" y="3616328"/>
          <a:ext cx="5956102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" r:id="rId2" imgW="6007100" imgH="2743200" progId="">
                  <p:embed/>
                </p:oleObj>
              </mc:Choice>
              <mc:Fallback>
                <p:oleObj name="" r:id="rId2" imgW="6007100" imgH="27432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16328"/>
                        <a:ext cx="5956102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9965531" y="3616328"/>
          <a:ext cx="2893219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" r:id="rId4" imgW="5753100" imgH="4356100" progId="">
                  <p:embed/>
                </p:oleObj>
              </mc:Choice>
              <mc:Fallback>
                <p:oleObj name="" r:id="rId4" imgW="5753100" imgH="435610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1930"/>
                      <a:stretch>
                        <a:fillRect/>
                      </a:stretch>
                    </p:blipFill>
                    <p:spPr bwMode="auto">
                      <a:xfrm>
                        <a:off x="9965531" y="3616328"/>
                        <a:ext cx="2893219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5985125" y="3616325"/>
          <a:ext cx="3944689" cy="193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" r:id="rId6" imgW="3556000" imgH="2540000" progId="">
                  <p:embed/>
                </p:oleObj>
              </mc:Choice>
              <mc:Fallback>
                <p:oleObj name="" r:id="rId6" imgW="3556000" imgH="25400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25" y="3616325"/>
                        <a:ext cx="3944689" cy="1930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3616328"/>
            <a:ext cx="12858750" cy="1928707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pic>
        <p:nvPicPr>
          <p:cNvPr id="2060" name="Picture 12" descr="glab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6" y="2009075"/>
            <a:ext cx="1850678" cy="142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642939" y="6830842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4393406" y="6830842"/>
            <a:ext cx="4071938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15439" y="6830842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fld id="{A06949FC-71C0-4A9C-8FC5-2FA6268B5FA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911328" y="6122640"/>
            <a:ext cx="3545086" cy="3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34" tIns="57368" rIns="114734" bIns="57368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00"/>
                </a:solidFill>
                <a:latin typeface="Arial" panose="020B0604020202020204" pitchFamily="34" charset="0"/>
              </a:rPr>
              <a:t>大连理工大学出版社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 rot="5400000">
            <a:off x="6404827" y="5390974"/>
            <a:ext cx="287967" cy="1238995"/>
          </a:xfrm>
          <a:prstGeom prst="moon">
            <a:avLst>
              <a:gd name="adj" fmla="val 21208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607344" y="1767981"/>
            <a:ext cx="8679656" cy="1309244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2143125" y="3134148"/>
            <a:ext cx="7608094" cy="40181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663F6-5E52-463E-9D66-231098FB4AD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53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/>
            </a:lvl1pPr>
            <a:lvl2pPr marL="573405" indent="0">
              <a:buNone/>
              <a:defRPr sz="2300"/>
            </a:lvl2pPr>
            <a:lvl3pPr marL="1147445" indent="0">
              <a:buNone/>
              <a:defRPr sz="2000"/>
            </a:lvl3pPr>
            <a:lvl4pPr marL="1720850" indent="0">
              <a:buNone/>
              <a:defRPr sz="1800"/>
            </a:lvl4pPr>
            <a:lvl5pPr marL="2294890" indent="0">
              <a:buNone/>
              <a:defRPr sz="1800"/>
            </a:lvl5pPr>
            <a:lvl6pPr marL="2868295" indent="0">
              <a:buNone/>
              <a:defRPr sz="1800"/>
            </a:lvl6pPr>
            <a:lvl7pPr marL="3442335" indent="0">
              <a:buNone/>
              <a:defRPr sz="1800"/>
            </a:lvl7pPr>
            <a:lvl8pPr marL="4015740" indent="0">
              <a:buNone/>
              <a:defRPr sz="1800"/>
            </a:lvl8pPr>
            <a:lvl9pPr marL="4589145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C1D46F-9ACD-4C4C-BAAB-C2CC66BCC77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9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5615A0-2C08-4381-A3BC-51F88417D0E0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9" y="289641"/>
            <a:ext cx="11572875" cy="120544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3405" indent="0">
              <a:buNone/>
              <a:defRPr sz="2500" b="1"/>
            </a:lvl2pPr>
            <a:lvl3pPr marL="1147445" indent="0">
              <a:buNone/>
              <a:defRPr sz="2300" b="1"/>
            </a:lvl3pPr>
            <a:lvl4pPr marL="1720850" indent="0">
              <a:buNone/>
              <a:defRPr sz="2000" b="1"/>
            </a:lvl4pPr>
            <a:lvl5pPr marL="2294890" indent="0">
              <a:buNone/>
              <a:defRPr sz="2000" b="1"/>
            </a:lvl5pPr>
            <a:lvl6pPr marL="2868295" indent="0">
              <a:buNone/>
              <a:defRPr sz="2000" b="1"/>
            </a:lvl6pPr>
            <a:lvl7pPr marL="3442335" indent="0">
              <a:buNone/>
              <a:defRPr sz="2000" b="1"/>
            </a:lvl7pPr>
            <a:lvl8pPr marL="4015740" indent="0">
              <a:buNone/>
              <a:defRPr sz="2000" b="1"/>
            </a:lvl8pPr>
            <a:lvl9pPr marL="4589145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91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3405" indent="0">
              <a:buNone/>
              <a:defRPr sz="2500" b="1"/>
            </a:lvl2pPr>
            <a:lvl3pPr marL="1147445" indent="0">
              <a:buNone/>
              <a:defRPr sz="2300" b="1"/>
            </a:lvl3pPr>
            <a:lvl4pPr marL="1720850" indent="0">
              <a:buNone/>
              <a:defRPr sz="2000" b="1"/>
            </a:lvl4pPr>
            <a:lvl5pPr marL="2294890" indent="0">
              <a:buNone/>
              <a:defRPr sz="2000" b="1"/>
            </a:lvl5pPr>
            <a:lvl6pPr marL="2868295" indent="0">
              <a:buNone/>
              <a:defRPr sz="2000" b="1"/>
            </a:lvl6pPr>
            <a:lvl7pPr marL="3442335" indent="0">
              <a:buNone/>
              <a:defRPr sz="2000" b="1"/>
            </a:lvl7pPr>
            <a:lvl8pPr marL="4015740" indent="0">
              <a:buNone/>
              <a:defRPr sz="2000" b="1"/>
            </a:lvl8pPr>
            <a:lvl9pPr marL="4589145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91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A11DA9-A2C9-41D0-9133-C993095558B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09F4FB-12C6-40B5-A6AA-EB02BB20573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CEC60-5D95-4E68-8DD0-1E98DC0B60A1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5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3405" indent="0">
              <a:buNone/>
              <a:defRPr sz="1500"/>
            </a:lvl2pPr>
            <a:lvl3pPr marL="1147445" indent="0">
              <a:buNone/>
              <a:defRPr sz="1300"/>
            </a:lvl3pPr>
            <a:lvl4pPr marL="1720850" indent="0">
              <a:buNone/>
              <a:defRPr sz="1100"/>
            </a:lvl4pPr>
            <a:lvl5pPr marL="2294890" indent="0">
              <a:buNone/>
              <a:defRPr sz="1100"/>
            </a:lvl5pPr>
            <a:lvl6pPr marL="2868295" indent="0">
              <a:buNone/>
              <a:defRPr sz="1100"/>
            </a:lvl6pPr>
            <a:lvl7pPr marL="3442335" indent="0">
              <a:buNone/>
              <a:defRPr sz="1100"/>
            </a:lvl7pPr>
            <a:lvl8pPr marL="4015740" indent="0">
              <a:buNone/>
              <a:defRPr sz="1100"/>
            </a:lvl8pPr>
            <a:lvl9pPr marL="4589145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CBA71-A108-4D8F-B30F-B26305DB52E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8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3405" indent="0">
              <a:buNone/>
              <a:defRPr sz="3500"/>
            </a:lvl2pPr>
            <a:lvl3pPr marL="1147445" indent="0">
              <a:buNone/>
              <a:defRPr sz="3000"/>
            </a:lvl3pPr>
            <a:lvl4pPr marL="1720850" indent="0">
              <a:buNone/>
              <a:defRPr sz="2500"/>
            </a:lvl4pPr>
            <a:lvl5pPr marL="2294890" indent="0">
              <a:buNone/>
              <a:defRPr sz="2500"/>
            </a:lvl5pPr>
            <a:lvl6pPr marL="2868295" indent="0">
              <a:buNone/>
              <a:defRPr sz="2500"/>
            </a:lvl6pPr>
            <a:lvl7pPr marL="3442335" indent="0">
              <a:buNone/>
              <a:defRPr sz="2500"/>
            </a:lvl7pPr>
            <a:lvl8pPr marL="4015740" indent="0">
              <a:buNone/>
              <a:defRPr sz="2500"/>
            </a:lvl8pPr>
            <a:lvl9pPr marL="4589145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7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3405" indent="0">
              <a:buNone/>
              <a:defRPr sz="1500"/>
            </a:lvl2pPr>
            <a:lvl3pPr marL="1147445" indent="0">
              <a:buNone/>
              <a:defRPr sz="1300"/>
            </a:lvl3pPr>
            <a:lvl4pPr marL="1720850" indent="0">
              <a:buNone/>
              <a:defRPr sz="1100"/>
            </a:lvl4pPr>
            <a:lvl5pPr marL="2294890" indent="0">
              <a:buNone/>
              <a:defRPr sz="1100"/>
            </a:lvl5pPr>
            <a:lvl6pPr marL="2868295" indent="0">
              <a:buNone/>
              <a:defRPr sz="1100"/>
            </a:lvl6pPr>
            <a:lvl7pPr marL="3442335" indent="0">
              <a:buNone/>
              <a:defRPr sz="1100"/>
            </a:lvl7pPr>
            <a:lvl8pPr marL="4015740" indent="0">
              <a:buNone/>
              <a:defRPr sz="1100"/>
            </a:lvl8pPr>
            <a:lvl9pPr marL="4589145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AFEE6-9698-4489-8D7B-8AB64B9E138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500B73-9DD7-41C0-B2B2-946A4EF25305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5" y="622817"/>
            <a:ext cx="2893219" cy="60472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622817"/>
            <a:ext cx="8465344" cy="60472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50D9E-967D-4F62-8A3B-AB60B140641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34148"/>
            <a:ext cx="9965531" cy="4821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965531" y="3134148"/>
            <a:ext cx="2893219" cy="4821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rot="5400000">
            <a:off x="29692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 rot="5400000">
            <a:off x="72554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 rot="5400000">
            <a:off x="115417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 rot="5400000">
            <a:off x="158279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0" y="3616327"/>
          <a:ext cx="5956102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" r:id="rId2" imgW="6007100" imgH="2743200" progId="">
                  <p:embed/>
                </p:oleObj>
              </mc:Choice>
              <mc:Fallback>
                <p:oleObj name="" r:id="rId2" imgW="6007100" imgH="27432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16327"/>
                        <a:ext cx="5956102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9965531" y="3616327"/>
          <a:ext cx="2893219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" r:id="rId4" imgW="5753100" imgH="4356100" progId="">
                  <p:embed/>
                </p:oleObj>
              </mc:Choice>
              <mc:Fallback>
                <p:oleObj name="" r:id="rId4" imgW="5753100" imgH="43561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1930"/>
                      <a:stretch>
                        <a:fillRect/>
                      </a:stretch>
                    </p:blipFill>
                    <p:spPr bwMode="auto">
                      <a:xfrm>
                        <a:off x="9965531" y="3616327"/>
                        <a:ext cx="2893219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5985125" y="3616325"/>
          <a:ext cx="3944689" cy="193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" r:id="rId6" imgW="3556000" imgH="2540000" progId="">
                  <p:embed/>
                </p:oleObj>
              </mc:Choice>
              <mc:Fallback>
                <p:oleObj name="" r:id="rId6" imgW="3556000" imgH="25400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25" y="3616325"/>
                        <a:ext cx="3944689" cy="1930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3616327"/>
            <a:ext cx="12858750" cy="1928707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pic>
        <p:nvPicPr>
          <p:cNvPr id="2060" name="Picture 12" descr="glab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6" y="2009072"/>
            <a:ext cx="1850678" cy="142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642939" y="6830839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4393406" y="6830839"/>
            <a:ext cx="4071938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15439" y="6830839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fld id="{EBF8A45F-0071-45ED-BE0D-974A8D396AE5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911328" y="6122640"/>
            <a:ext cx="3545086" cy="3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00"/>
                </a:solidFill>
                <a:latin typeface="Arial" panose="020B0604020202020204" pitchFamily="34" charset="0"/>
              </a:rPr>
              <a:t>大连理工大学出版社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 rot="5400000">
            <a:off x="6404827" y="5390971"/>
            <a:ext cx="287967" cy="1238995"/>
          </a:xfrm>
          <a:prstGeom prst="moon">
            <a:avLst>
              <a:gd name="adj" fmla="val 21208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607344" y="1767981"/>
            <a:ext cx="8679656" cy="1309244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2143125" y="3134148"/>
            <a:ext cx="7608094" cy="40181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F88E9-69DC-4EC5-8914-FF7FBBA0F66A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50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/>
            </a:lvl1pPr>
            <a:lvl2pPr marL="574040" indent="0">
              <a:buNone/>
              <a:defRPr sz="2300"/>
            </a:lvl2pPr>
            <a:lvl3pPr marL="1147445" indent="0">
              <a:buNone/>
              <a:defRPr sz="2000"/>
            </a:lvl3pPr>
            <a:lvl4pPr marL="1721485" indent="0">
              <a:buNone/>
              <a:defRPr sz="1800"/>
            </a:lvl4pPr>
            <a:lvl5pPr marL="2295525" indent="0">
              <a:buNone/>
              <a:defRPr sz="1800"/>
            </a:lvl5pPr>
            <a:lvl6pPr marL="2869565" indent="0">
              <a:buNone/>
              <a:defRPr sz="1800"/>
            </a:lvl6pPr>
            <a:lvl7pPr marL="3442970" indent="0">
              <a:buNone/>
              <a:defRPr sz="1800"/>
            </a:lvl7pPr>
            <a:lvl8pPr marL="4017010" indent="0">
              <a:buNone/>
              <a:defRPr sz="1800"/>
            </a:lvl8pPr>
            <a:lvl9pPr marL="459105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5BFFFA-BEFE-4A33-9C51-DF95B351EF6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9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8854D0-8EA4-4302-A4F8-EC9BEF706FF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9" y="289641"/>
            <a:ext cx="11572875" cy="120544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7445" indent="0">
              <a:buNone/>
              <a:defRPr sz="2300" b="1"/>
            </a:lvl3pPr>
            <a:lvl4pPr marL="1721485" indent="0">
              <a:buNone/>
              <a:defRPr sz="2000" b="1"/>
            </a:lvl4pPr>
            <a:lvl5pPr marL="2295525" indent="0">
              <a:buNone/>
              <a:defRPr sz="2000" b="1"/>
            </a:lvl5pPr>
            <a:lvl6pPr marL="2869565" indent="0">
              <a:buNone/>
              <a:defRPr sz="2000" b="1"/>
            </a:lvl6pPr>
            <a:lvl7pPr marL="3442970" indent="0">
              <a:buNone/>
              <a:defRPr sz="2000" b="1"/>
            </a:lvl7pPr>
            <a:lvl8pPr marL="4017010" indent="0">
              <a:buNone/>
              <a:defRPr sz="2000" b="1"/>
            </a:lvl8pPr>
            <a:lvl9pPr marL="459105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90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7445" indent="0">
              <a:buNone/>
              <a:defRPr sz="2300" b="1"/>
            </a:lvl3pPr>
            <a:lvl4pPr marL="1721485" indent="0">
              <a:buNone/>
              <a:defRPr sz="2000" b="1"/>
            </a:lvl4pPr>
            <a:lvl5pPr marL="2295525" indent="0">
              <a:buNone/>
              <a:defRPr sz="2000" b="1"/>
            </a:lvl5pPr>
            <a:lvl6pPr marL="2869565" indent="0">
              <a:buNone/>
              <a:defRPr sz="2000" b="1"/>
            </a:lvl6pPr>
            <a:lvl7pPr marL="3442970" indent="0">
              <a:buNone/>
              <a:defRPr sz="2000" b="1"/>
            </a:lvl7pPr>
            <a:lvl8pPr marL="4017010" indent="0">
              <a:buNone/>
              <a:defRPr sz="2000" b="1"/>
            </a:lvl8pPr>
            <a:lvl9pPr marL="459105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90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635C7E-A300-462C-B8A1-3DF062782332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3BF04-3DA2-4977-94CE-A7D20174D492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24BACC-19FD-40F0-8AE0-3ABB509727A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2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7445" indent="0">
              <a:buNone/>
              <a:defRPr sz="1300"/>
            </a:lvl3pPr>
            <a:lvl4pPr marL="1721485" indent="0">
              <a:buNone/>
              <a:defRPr sz="1100"/>
            </a:lvl4pPr>
            <a:lvl5pPr marL="2295525" indent="0">
              <a:buNone/>
              <a:defRPr sz="1100"/>
            </a:lvl5pPr>
            <a:lvl6pPr marL="2869565" indent="0">
              <a:buNone/>
              <a:defRPr sz="1100"/>
            </a:lvl6pPr>
            <a:lvl7pPr marL="3442970" indent="0">
              <a:buNone/>
              <a:defRPr sz="1100"/>
            </a:lvl7pPr>
            <a:lvl8pPr marL="4017010" indent="0">
              <a:buNone/>
              <a:defRPr sz="1100"/>
            </a:lvl8pPr>
            <a:lvl9pPr marL="45910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E326B-995E-4A83-93BB-8839774CA879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7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4040" indent="0">
              <a:buNone/>
              <a:defRPr sz="3500"/>
            </a:lvl2pPr>
            <a:lvl3pPr marL="1147445" indent="0">
              <a:buNone/>
              <a:defRPr sz="3000"/>
            </a:lvl3pPr>
            <a:lvl4pPr marL="1721485" indent="0">
              <a:buNone/>
              <a:defRPr sz="2500"/>
            </a:lvl4pPr>
            <a:lvl5pPr marL="2295525" indent="0">
              <a:buNone/>
              <a:defRPr sz="2500"/>
            </a:lvl5pPr>
            <a:lvl6pPr marL="2869565" indent="0">
              <a:buNone/>
              <a:defRPr sz="2500"/>
            </a:lvl6pPr>
            <a:lvl7pPr marL="3442970" indent="0">
              <a:buNone/>
              <a:defRPr sz="2500"/>
            </a:lvl7pPr>
            <a:lvl8pPr marL="4017010" indent="0">
              <a:buNone/>
              <a:defRPr sz="2500"/>
            </a:lvl8pPr>
            <a:lvl9pPr marL="4591050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6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7445" indent="0">
              <a:buNone/>
              <a:defRPr sz="1300"/>
            </a:lvl3pPr>
            <a:lvl4pPr marL="1721485" indent="0">
              <a:buNone/>
              <a:defRPr sz="1100"/>
            </a:lvl4pPr>
            <a:lvl5pPr marL="2295525" indent="0">
              <a:buNone/>
              <a:defRPr sz="1100"/>
            </a:lvl5pPr>
            <a:lvl6pPr marL="2869565" indent="0">
              <a:buNone/>
              <a:defRPr sz="1100"/>
            </a:lvl6pPr>
            <a:lvl7pPr marL="3442970" indent="0">
              <a:buNone/>
              <a:defRPr sz="1100"/>
            </a:lvl7pPr>
            <a:lvl8pPr marL="4017010" indent="0">
              <a:buNone/>
              <a:defRPr sz="1100"/>
            </a:lvl8pPr>
            <a:lvl9pPr marL="45910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87A3B8-8656-498B-B584-A4DC8CC8FD2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B4C4C-8F74-430E-83D2-C4B24A692EB3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5" y="622814"/>
            <a:ext cx="2893219" cy="60472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622814"/>
            <a:ext cx="8465344" cy="60472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5E51C-864E-4B24-AC84-909B6DB4310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52117" y="622812"/>
            <a:ext cx="8358188" cy="5943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2939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2939" y="6750476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93406" y="6750476"/>
            <a:ext cx="4071938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15439" y="6750476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fld id="{FBD54A42-9C1A-4611-B8F5-7C89536AAE4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34148"/>
            <a:ext cx="9965531" cy="4821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965531" y="3134148"/>
            <a:ext cx="2893219" cy="4821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rot="5400000">
            <a:off x="296924" y="3197760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 rot="5400000">
            <a:off x="725549" y="3197760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 rot="5400000">
            <a:off x="1154174" y="3197760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 rot="5400000">
            <a:off x="1582799" y="3197760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0" y="3616325"/>
          <a:ext cx="5956102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2" imgW="6007100" imgH="2743200" progId="">
                  <p:embed/>
                </p:oleObj>
              </mc:Choice>
              <mc:Fallback>
                <p:oleObj name="" r:id="rId2" imgW="6007100" imgH="27432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16325"/>
                        <a:ext cx="5956102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9965531" y="3616325"/>
          <a:ext cx="2893219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4" imgW="5753100" imgH="4356100" progId="">
                  <p:embed/>
                </p:oleObj>
              </mc:Choice>
              <mc:Fallback>
                <p:oleObj name="" r:id="rId4" imgW="5753100" imgH="43561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1930"/>
                      <a:stretch>
                        <a:fillRect/>
                      </a:stretch>
                    </p:blipFill>
                    <p:spPr bwMode="auto">
                      <a:xfrm>
                        <a:off x="9965531" y="3616325"/>
                        <a:ext cx="2893219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5985124" y="3616325"/>
          <a:ext cx="3944689" cy="193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6" imgW="3556000" imgH="2540000" progId="">
                  <p:embed/>
                </p:oleObj>
              </mc:Choice>
              <mc:Fallback>
                <p:oleObj name="" r:id="rId6" imgW="3556000" imgH="25400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24" y="3616325"/>
                        <a:ext cx="3944689" cy="1930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3616325"/>
            <a:ext cx="12858750" cy="1928707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pic>
        <p:nvPicPr>
          <p:cNvPr id="2060" name="Picture 12" descr="glab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6" y="2009070"/>
            <a:ext cx="1850678" cy="142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642938" y="6830836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4393406" y="6830836"/>
            <a:ext cx="4071938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15438" y="6830836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fld id="{EBF8A45F-0071-45ED-BE0D-974A8D396AE5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911328" y="6122640"/>
            <a:ext cx="3545086" cy="3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803" tIns="57401" rIns="114803" bIns="57401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00"/>
                </a:solidFill>
                <a:latin typeface="Arial" panose="020B0604020202020204" pitchFamily="34" charset="0"/>
              </a:rPr>
              <a:t>大连理工大学出版社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 rot="5400000">
            <a:off x="6404827" y="5390969"/>
            <a:ext cx="287967" cy="1238995"/>
          </a:xfrm>
          <a:prstGeom prst="moon">
            <a:avLst>
              <a:gd name="adj" fmla="val 21208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607344" y="1767981"/>
            <a:ext cx="8679656" cy="1309244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2143125" y="3134148"/>
            <a:ext cx="7608094" cy="40181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F88E9-69DC-4EC5-8914-FF7FBBA0F66A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48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/>
            </a:lvl1pPr>
            <a:lvl2pPr marL="574040" indent="0">
              <a:buNone/>
              <a:defRPr sz="2300"/>
            </a:lvl2pPr>
            <a:lvl3pPr marL="1148080" indent="0">
              <a:buNone/>
              <a:defRPr sz="2000"/>
            </a:lvl3pPr>
            <a:lvl4pPr marL="1722120" indent="0">
              <a:buNone/>
              <a:defRPr sz="1800"/>
            </a:lvl4pPr>
            <a:lvl5pPr marL="2296160" indent="0">
              <a:buNone/>
              <a:defRPr sz="1800"/>
            </a:lvl5pPr>
            <a:lvl6pPr marL="2870200" indent="0">
              <a:buNone/>
              <a:defRPr sz="1800"/>
            </a:lvl6pPr>
            <a:lvl7pPr marL="3444240" indent="0">
              <a:buNone/>
              <a:defRPr sz="1800"/>
            </a:lvl7pPr>
            <a:lvl8pPr marL="4018280" indent="0">
              <a:buNone/>
              <a:defRPr sz="1800"/>
            </a:lvl8pPr>
            <a:lvl9pPr marL="459232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5BFFFA-BEFE-4A33-9C51-DF95B351EF6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8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8854D0-8EA4-4302-A4F8-EC9BEF706FF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9641"/>
            <a:ext cx="11572875" cy="120544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6160" indent="0">
              <a:buNone/>
              <a:defRPr sz="2000" b="1"/>
            </a:lvl5pPr>
            <a:lvl6pPr marL="2870200" indent="0">
              <a:buNone/>
              <a:defRPr sz="2000" b="1"/>
            </a:lvl6pPr>
            <a:lvl7pPr marL="3444240" indent="0">
              <a:buNone/>
              <a:defRPr sz="2000" b="1"/>
            </a:lvl7pPr>
            <a:lvl8pPr marL="4018280" indent="0">
              <a:buNone/>
              <a:defRPr sz="2000" b="1"/>
            </a:lvl8pPr>
            <a:lvl9pPr marL="459232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88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6160" indent="0">
              <a:buNone/>
              <a:defRPr sz="2000" b="1"/>
            </a:lvl5pPr>
            <a:lvl6pPr marL="2870200" indent="0">
              <a:buNone/>
              <a:defRPr sz="2000" b="1"/>
            </a:lvl6pPr>
            <a:lvl7pPr marL="3444240" indent="0">
              <a:buNone/>
              <a:defRPr sz="2000" b="1"/>
            </a:lvl7pPr>
            <a:lvl8pPr marL="4018280" indent="0">
              <a:buNone/>
              <a:defRPr sz="2000" b="1"/>
            </a:lvl8pPr>
            <a:lvl9pPr marL="459232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88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635C7E-A300-462C-B8A1-3DF062782332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3BF04-3DA2-4977-94CE-A7D20174D492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24BACC-19FD-40F0-8AE0-3ABB509727A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0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6160" indent="0">
              <a:buNone/>
              <a:defRPr sz="1100"/>
            </a:lvl5pPr>
            <a:lvl6pPr marL="2870200" indent="0">
              <a:buNone/>
              <a:defRPr sz="1100"/>
            </a:lvl6pPr>
            <a:lvl7pPr marL="3444240" indent="0">
              <a:buNone/>
              <a:defRPr sz="1100"/>
            </a:lvl7pPr>
            <a:lvl8pPr marL="4018280" indent="0">
              <a:buNone/>
              <a:defRPr sz="1100"/>
            </a:lvl8pPr>
            <a:lvl9pPr marL="459232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E326B-995E-4A83-93BB-8839774CA879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5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4040" indent="0">
              <a:buNone/>
              <a:defRPr sz="3500"/>
            </a:lvl2pPr>
            <a:lvl3pPr marL="1148080" indent="0">
              <a:buNone/>
              <a:defRPr sz="3000"/>
            </a:lvl3pPr>
            <a:lvl4pPr marL="1722120" indent="0">
              <a:buNone/>
              <a:defRPr sz="2500"/>
            </a:lvl4pPr>
            <a:lvl5pPr marL="2296160" indent="0">
              <a:buNone/>
              <a:defRPr sz="2500"/>
            </a:lvl5pPr>
            <a:lvl6pPr marL="2870200" indent="0">
              <a:buNone/>
              <a:defRPr sz="2500"/>
            </a:lvl6pPr>
            <a:lvl7pPr marL="3444240" indent="0">
              <a:buNone/>
              <a:defRPr sz="2500"/>
            </a:lvl7pPr>
            <a:lvl8pPr marL="4018280" indent="0">
              <a:buNone/>
              <a:defRPr sz="2500"/>
            </a:lvl8pPr>
            <a:lvl9pPr marL="4592320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4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6160" indent="0">
              <a:buNone/>
              <a:defRPr sz="1100"/>
            </a:lvl5pPr>
            <a:lvl6pPr marL="2870200" indent="0">
              <a:buNone/>
              <a:defRPr sz="1100"/>
            </a:lvl6pPr>
            <a:lvl7pPr marL="3444240" indent="0">
              <a:buNone/>
              <a:defRPr sz="1100"/>
            </a:lvl7pPr>
            <a:lvl8pPr marL="4018280" indent="0">
              <a:buNone/>
              <a:defRPr sz="1100"/>
            </a:lvl8pPr>
            <a:lvl9pPr marL="459232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87A3B8-8656-498B-B584-A4DC8CC8FD2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B4C4C-8F74-430E-83D2-C4B24A692EB3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4" y="622812"/>
            <a:ext cx="2893219" cy="60472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622812"/>
            <a:ext cx="8465344" cy="60472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5E51C-864E-4B24-AC84-909B6DB4310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52117" y="622812"/>
            <a:ext cx="8358188" cy="5943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2938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2938" y="6750474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93406" y="6750474"/>
            <a:ext cx="4071938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15438" y="6750474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fld id="{FBD54A42-9C1A-4611-B8F5-7C89536AAE4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5969" y="592677"/>
            <a:ext cx="10822781" cy="68141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89327"/>
            <a:ext cx="2035969" cy="6964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 rot="5400000">
            <a:off x="40408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 rot="5400000">
            <a:off x="83270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rot="5400000">
            <a:off x="126133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 rot="5400000">
            <a:off x="168995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34" tIns="57368" rIns="114734" bIns="5736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9" y="1366167"/>
            <a:ext cx="11572875" cy="530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2939" y="6750479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93406" y="6750479"/>
            <a:ext cx="4071938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 algn="ct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5439" y="6750479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 algn="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fld id="{E885DCAE-4A19-439B-9674-D186DD8CF82A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652117" y="622812"/>
            <a:ext cx="8358188" cy="59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5pPr>
      <a:lvl6pPr marL="57340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6pPr>
      <a:lvl7pPr marL="114744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7pPr>
      <a:lvl8pPr marL="172085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8pPr>
      <a:lvl9pPr marL="229489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430530" indent="-43053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932180" indent="-3587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300">
          <a:solidFill>
            <a:schemeClr val="tx1"/>
          </a:solidFill>
          <a:latin typeface="+mn-lt"/>
        </a:defRPr>
      </a:lvl2pPr>
      <a:lvl3pPr marL="1434465" indent="-28702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</a:defRPr>
      </a:lvl3pPr>
      <a:lvl4pPr marL="200787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500">
          <a:solidFill>
            <a:schemeClr val="tx1"/>
          </a:solidFill>
          <a:latin typeface="+mn-lt"/>
        </a:defRPr>
      </a:lvl4pPr>
      <a:lvl5pPr marL="258127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5pPr>
      <a:lvl6pPr marL="315531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6pPr>
      <a:lvl7pPr marL="372872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7pPr>
      <a:lvl8pPr marL="430276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8pPr>
      <a:lvl9pPr marL="487616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340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744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085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489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29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233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574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8914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5969" y="592677"/>
            <a:ext cx="10822781" cy="68141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89327"/>
            <a:ext cx="2035969" cy="6964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 rot="5400000">
            <a:off x="40408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 rot="5400000">
            <a:off x="83270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rot="5400000">
            <a:off x="126133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 rot="5400000">
            <a:off x="168995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9" y="1366167"/>
            <a:ext cx="11572875" cy="530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2939" y="6750476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t" anchorCtr="0" compatLnSpc="1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93406" y="6750476"/>
            <a:ext cx="4071938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t" anchorCtr="0" compatLnSpc="1"/>
          <a:lstStyle>
            <a:lvl1pPr algn="ct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5439" y="6750476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t" anchorCtr="0" compatLnSpc="1"/>
          <a:lstStyle>
            <a:lvl1pPr algn="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fld id="{6D880ADB-E83C-41C4-A643-1A294B5D6C9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652117" y="622812"/>
            <a:ext cx="8358188" cy="59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775" tIns="57388" rIns="114775" bIns="57388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5pPr>
      <a:lvl6pPr marL="57404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6pPr>
      <a:lvl7pPr marL="114744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7pPr>
      <a:lvl8pPr marL="172148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8pPr>
      <a:lvl9pPr marL="229552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430530" indent="-43053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932815" indent="-3587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300">
          <a:solidFill>
            <a:schemeClr val="tx1"/>
          </a:solidFill>
          <a:latin typeface="+mn-lt"/>
        </a:defRPr>
      </a:lvl2pPr>
      <a:lvl3pPr marL="1434465" indent="-28702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</a:defRPr>
      </a:lvl3pPr>
      <a:lvl4pPr marL="200850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500">
          <a:solidFill>
            <a:schemeClr val="tx1"/>
          </a:solidFill>
          <a:latin typeface="+mn-lt"/>
        </a:defRPr>
      </a:lvl4pPr>
      <a:lvl5pPr marL="258254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5pPr>
      <a:lvl6pPr marL="315658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6pPr>
      <a:lvl7pPr marL="372999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7pPr>
      <a:lvl8pPr marL="430403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8pPr>
      <a:lvl9pPr marL="487807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04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744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148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552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9565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297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701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105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5969" y="592676"/>
            <a:ext cx="10822781" cy="68141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89327"/>
            <a:ext cx="2035969" cy="6964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 rot="5400000">
            <a:off x="40408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 rot="5400000">
            <a:off x="83270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rot="5400000">
            <a:off x="126133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 rot="5400000">
            <a:off x="168995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803" tIns="57401" rIns="114803" bIns="57401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8" y="1366167"/>
            <a:ext cx="11572875" cy="530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2938" y="6750474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93406" y="6750474"/>
            <a:ext cx="4071938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>
            <a:lvl1pPr algn="ct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5438" y="6750474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t" anchorCtr="0" compatLnSpc="1"/>
          <a:lstStyle>
            <a:lvl1pPr algn="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fld id="{6D880ADB-E83C-41C4-A643-1A294B5D6C9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652117" y="622812"/>
            <a:ext cx="8358188" cy="59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803" tIns="57401" rIns="114803" bIns="57401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5pPr>
      <a:lvl6pPr marL="57404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6pPr>
      <a:lvl7pPr marL="114808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7pPr>
      <a:lvl8pPr marL="172212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8pPr>
      <a:lvl9pPr marL="229616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430530" indent="-43053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932815" indent="-3587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300">
          <a:solidFill>
            <a:schemeClr val="tx1"/>
          </a:solidFill>
          <a:latin typeface="+mn-lt"/>
        </a:defRPr>
      </a:lvl2pPr>
      <a:lvl3pPr marL="1435100" indent="-28702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</a:defRPr>
      </a:lvl3pPr>
      <a:lvl4pPr marL="200914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500">
          <a:solidFill>
            <a:schemeClr val="tx1"/>
          </a:solidFill>
          <a:latin typeface="+mn-lt"/>
        </a:defRPr>
      </a:lvl4pPr>
      <a:lvl5pPr marL="258318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5pPr>
      <a:lvl6pPr marL="315722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6pPr>
      <a:lvl7pPr marL="373126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7pPr>
      <a:lvl8pPr marL="430530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8pPr>
      <a:lvl9pPr marL="4879340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04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808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12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616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020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424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828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232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0"/>
            <a:ext cx="7256762" cy="7256364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V="1">
            <a:off x="1608166" y="1145782"/>
            <a:ext cx="4826927" cy="4827192"/>
          </a:xfrm>
          <a:custGeom>
            <a:avLst/>
            <a:gdLst>
              <a:gd name="connsiteX0" fmla="*/ 0 w 4343400"/>
              <a:gd name="connsiteY0" fmla="*/ 0 h 4343400"/>
              <a:gd name="connsiteX1" fmla="*/ 4343400 w 4343400"/>
              <a:gd name="connsiteY1" fmla="*/ 4343400 h 4343400"/>
              <a:gd name="connsiteX2" fmla="*/ 3486149 w 4343400"/>
              <a:gd name="connsiteY2" fmla="*/ 4343400 h 4343400"/>
              <a:gd name="connsiteX3" fmla="*/ 0 w 4343400"/>
              <a:gd name="connsiteY3" fmla="*/ 857251 h 4343400"/>
              <a:gd name="connsiteX4" fmla="*/ 0 w 4343400"/>
              <a:gd name="connsiteY4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4343400">
                <a:moveTo>
                  <a:pt x="0" y="0"/>
                </a:moveTo>
                <a:lnTo>
                  <a:pt x="4343400" y="4343400"/>
                </a:lnTo>
                <a:lnTo>
                  <a:pt x="3486149" y="4343400"/>
                </a:lnTo>
                <a:lnTo>
                  <a:pt x="0" y="8572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7167" y="1960141"/>
            <a:ext cx="8595718" cy="62228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&lt;&lt;JSP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与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Servlet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开发技术与典型应用教程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&gt;&gt;</a:t>
            </a:r>
            <a:endParaRPr kumimoji="1" lang="zh-CN" altLang="en-US" sz="3200" b="1" dirty="0">
              <a:solidFill>
                <a:srgbClr val="52658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7327" y="2896245"/>
            <a:ext cx="6016403" cy="649181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en-US" altLang="zh-CN" sz="17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JSP and  servlet  development  technology  and  typical application  course</a:t>
            </a:r>
            <a:endParaRPr kumimoji="1" lang="zh-CN" altLang="en-US" sz="17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 rot="2679144">
            <a:off x="1518042" y="2942040"/>
            <a:ext cx="5266506" cy="56072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lang="zh-CN" altLang="en-US" sz="2800" b="1" cap="all" dirty="0" smtClean="0">
                <a:solidFill>
                  <a:schemeClr val="accent1"/>
                </a:solidFill>
                <a:latin typeface="Agency FB" panose="020B0503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第三章 </a:t>
            </a:r>
            <a:r>
              <a:rPr lang="en-US" altLang="zh-CN" sz="2800" b="1" cap="all" dirty="0" smtClean="0">
                <a:solidFill>
                  <a:schemeClr val="accent1"/>
                </a:solidFill>
                <a:latin typeface="Agency FB" panose="020B0503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   JSP</a:t>
            </a:r>
            <a:r>
              <a:rPr lang="zh-CN" altLang="en-US" sz="2800" b="1" cap="all" dirty="0" smtClean="0">
                <a:solidFill>
                  <a:schemeClr val="accent1"/>
                </a:solidFill>
                <a:latin typeface="Agency FB" panose="020B0503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与</a:t>
            </a:r>
            <a:r>
              <a:rPr lang="en-US" altLang="zh-CN" sz="2800" b="1" cap="all" dirty="0" smtClean="0">
                <a:solidFill>
                  <a:schemeClr val="accent1"/>
                </a:solidFill>
                <a:latin typeface="Agency FB" panose="020B0503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Servlet</a:t>
            </a:r>
            <a:endParaRPr lang="zh-CN" altLang="en-US" sz="2800" b="1" cap="all" dirty="0">
              <a:solidFill>
                <a:schemeClr val="accent1"/>
              </a:solidFill>
              <a:latin typeface="Agency FB" panose="020B0503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flipH="1">
            <a:off x="8229575" y="3976365"/>
            <a:ext cx="4629176" cy="3279999"/>
          </a:xfrm>
          <a:prstGeom prst="rtTriangle">
            <a:avLst/>
          </a:prstGeom>
          <a:solidFill>
            <a:srgbClr val="43536A"/>
          </a:solidFill>
          <a:ln>
            <a:solidFill>
              <a:srgbClr val="435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直角三角形 15"/>
          <p:cNvSpPr/>
          <p:nvPr/>
        </p:nvSpPr>
        <p:spPr>
          <a:xfrm rot="13500000" flipV="1">
            <a:off x="2775844" y="-1270801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73591" y="397636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b="1" dirty="0">
                <a:solidFill>
                  <a:srgbClr val="526580"/>
                </a:solidFill>
                <a:cs typeface="+mn-ea"/>
              </a:rPr>
              <a:t>大连理工大学出版社</a:t>
            </a:r>
            <a:endParaRPr kumimoji="1" lang="zh-CN" altLang="en-US" sz="2000" b="1" dirty="0">
              <a:solidFill>
                <a:srgbClr val="526580"/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9" grpId="0"/>
      <p:bldP spid="12" grpId="0" animBg="1"/>
      <p:bldP spid="16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8"/>
          <p:cNvSpPr/>
          <p:nvPr/>
        </p:nvSpPr>
        <p:spPr>
          <a:xfrm>
            <a:off x="-12756" y="0"/>
            <a:ext cx="7266302" cy="7265903"/>
          </a:xfrm>
          <a:custGeom>
            <a:avLst/>
            <a:gdLst>
              <a:gd name="connsiteX0" fmla="*/ 0 w 5896303"/>
              <a:gd name="connsiteY0" fmla="*/ 0 h 5896303"/>
              <a:gd name="connsiteX1" fmla="*/ 5896303 w 5896303"/>
              <a:gd name="connsiteY1" fmla="*/ 5896303 h 5896303"/>
              <a:gd name="connsiteX2" fmla="*/ 5579364 w 5896303"/>
              <a:gd name="connsiteY2" fmla="*/ 5896303 h 5896303"/>
              <a:gd name="connsiteX3" fmla="*/ 0 w 5896303"/>
              <a:gd name="connsiteY3" fmla="*/ 316939 h 5896303"/>
              <a:gd name="connsiteX4" fmla="*/ 0 w 5896303"/>
              <a:gd name="connsiteY4" fmla="*/ 0 h 5896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96303" h="5896303">
                <a:moveTo>
                  <a:pt x="0" y="0"/>
                </a:moveTo>
                <a:lnTo>
                  <a:pt x="5896303" y="5896303"/>
                </a:lnTo>
                <a:lnTo>
                  <a:pt x="5579364" y="5896303"/>
                </a:lnTo>
                <a:lnTo>
                  <a:pt x="0" y="316939"/>
                </a:lnTo>
                <a:lnTo>
                  <a:pt x="0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等腰三角形 5"/>
          <p:cNvSpPr/>
          <p:nvPr/>
        </p:nvSpPr>
        <p:spPr>
          <a:xfrm flipV="1">
            <a:off x="1072486" y="448922"/>
            <a:ext cx="4158592" cy="2029130"/>
          </a:xfrm>
          <a:prstGeom prst="triangle">
            <a:avLst/>
          </a:prstGeom>
          <a:noFill/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4" name="等腰三角形 4"/>
          <p:cNvSpPr/>
          <p:nvPr/>
        </p:nvSpPr>
        <p:spPr>
          <a:xfrm flipV="1">
            <a:off x="1072486" y="-1"/>
            <a:ext cx="4158592" cy="2029130"/>
          </a:xfrm>
          <a:prstGeom prst="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7" name="TextBox 32"/>
          <p:cNvSpPr txBox="1">
            <a:spLocks noChangeArrowheads="1"/>
          </p:cNvSpPr>
          <p:nvPr/>
        </p:nvSpPr>
        <p:spPr bwMode="auto">
          <a:xfrm>
            <a:off x="3667936" y="1993039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32"/>
          <p:cNvSpPr txBox="1">
            <a:spLocks noChangeArrowheads="1"/>
          </p:cNvSpPr>
          <p:nvPr/>
        </p:nvSpPr>
        <p:spPr bwMode="auto">
          <a:xfrm>
            <a:off x="4718283" y="3125828"/>
            <a:ext cx="1477498" cy="1297274"/>
          </a:xfrm>
          <a:prstGeom prst="diamond">
            <a:avLst/>
          </a:prstGeom>
          <a:solidFill>
            <a:srgbClr val="43536A"/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TextBox 32"/>
          <p:cNvSpPr txBox="1">
            <a:spLocks noChangeArrowheads="1"/>
          </p:cNvSpPr>
          <p:nvPr/>
        </p:nvSpPr>
        <p:spPr bwMode="auto">
          <a:xfrm>
            <a:off x="5768630" y="4258615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直角三角形 25"/>
          <p:cNvSpPr/>
          <p:nvPr/>
        </p:nvSpPr>
        <p:spPr>
          <a:xfrm>
            <a:off x="1" y="1014235"/>
            <a:ext cx="6218757" cy="6218415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85715" y="1975485"/>
            <a:ext cx="7177405" cy="101409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 smtClean="0">
                <a:cs typeface="+mn-ea"/>
                <a:sym typeface="Arial" panose="020B0604020202020204" pitchFamily="34" charset="0"/>
              </a:rPr>
              <a:t>掌握</a:t>
            </a:r>
            <a:r>
              <a:rPr kumimoji="1" lang="en-US" altLang="zh-CN" sz="2400" b="1" dirty="0" smtClean="0">
                <a:cs typeface="+mn-ea"/>
                <a:sym typeface="Arial" panose="020B0604020202020204" pitchFamily="34" charset="0"/>
              </a:rPr>
              <a:t>JDK</a:t>
            </a:r>
            <a:r>
              <a:rPr kumimoji="1" lang="zh-CN" altLang="en-US" sz="2400" b="1" dirty="0" smtClean="0">
                <a:cs typeface="+mn-ea"/>
                <a:sym typeface="Arial" panose="020B0604020202020204" pitchFamily="34" charset="0"/>
              </a:rPr>
              <a:t>、</a:t>
            </a:r>
            <a:r>
              <a:rPr kumimoji="1" lang="en-US" altLang="zh-CN" sz="2400" b="1" dirty="0" smtClean="0">
                <a:cs typeface="+mn-ea"/>
                <a:sym typeface="Arial" panose="020B0604020202020204" pitchFamily="34" charset="0"/>
              </a:rPr>
              <a:t>Tomcat</a:t>
            </a:r>
            <a:r>
              <a:rPr kumimoji="1" lang="zh-CN" altLang="en-US" sz="2400" b="1" dirty="0" smtClean="0">
                <a:cs typeface="+mn-ea"/>
                <a:sym typeface="Arial" panose="020B0604020202020204" pitchFamily="34" charset="0"/>
              </a:rPr>
              <a:t>和</a:t>
            </a:r>
            <a:r>
              <a:rPr kumimoji="1" lang="en-US" altLang="zh-CN" sz="2400" b="1" dirty="0" smtClean="0">
                <a:cs typeface="+mn-ea"/>
                <a:sym typeface="Arial" panose="020B0604020202020204" pitchFamily="34" charset="0"/>
              </a:rPr>
              <a:t>Eclipse</a:t>
            </a:r>
            <a:r>
              <a:rPr kumimoji="1" lang="zh-CN" altLang="en-US" sz="2400" b="1" dirty="0" smtClean="0">
                <a:cs typeface="+mn-ea"/>
                <a:sym typeface="Arial" panose="020B0604020202020204" pitchFamily="34" charset="0"/>
              </a:rPr>
              <a:t>安装与配置、</a:t>
            </a:r>
            <a:r>
              <a:rPr kumimoji="1" lang="en-US" altLang="zh-CN" sz="2400" b="1" dirty="0" smtClean="0">
                <a:cs typeface="+mn-ea"/>
                <a:sym typeface="Arial" panose="020B0604020202020204" pitchFamily="34" charset="0"/>
              </a:rPr>
              <a:t>Tomcat</a:t>
            </a:r>
            <a:r>
              <a:rPr kumimoji="1" lang="zh-CN" altLang="en-US" sz="2400" b="1" dirty="0" smtClean="0">
                <a:cs typeface="+mn-ea"/>
                <a:sym typeface="Arial" panose="020B0604020202020204" pitchFamily="34" charset="0"/>
              </a:rPr>
              <a:t>的管理程序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149340" y="3178175"/>
            <a:ext cx="6311900" cy="868501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lang="zh-CN" altLang="zh-CN" sz="2400" b="1" dirty="0" smtClean="0"/>
              <a:t>理解</a:t>
            </a:r>
            <a:r>
              <a:rPr lang="en-US" altLang="zh-CN" sz="2400" b="1" dirty="0" smtClean="0"/>
              <a:t>JSP</a:t>
            </a:r>
            <a:r>
              <a:rPr lang="zh-CN" altLang="zh-CN" sz="2400" b="1" dirty="0" smtClean="0"/>
              <a:t>与</a:t>
            </a:r>
            <a:r>
              <a:rPr lang="en-US" altLang="zh-CN" sz="2400" b="1" dirty="0" smtClean="0"/>
              <a:t>Servlet</a:t>
            </a:r>
            <a:r>
              <a:rPr lang="zh-CN" altLang="zh-CN" sz="2400" b="1" dirty="0" smtClean="0"/>
              <a:t>的关系、</a:t>
            </a:r>
            <a:r>
              <a:rPr lang="en-US" altLang="zh-CN" sz="2400" b="1" dirty="0" smtClean="0"/>
              <a:t>Servlet</a:t>
            </a:r>
            <a:r>
              <a:rPr lang="zh-CN" altLang="zh-CN" sz="2400" b="1" dirty="0" smtClean="0"/>
              <a:t>运行机制、</a:t>
            </a:r>
            <a:r>
              <a:rPr lang="en-US" altLang="zh-CN" sz="2400" b="1" dirty="0" smtClean="0"/>
              <a:t>JSP</a:t>
            </a:r>
            <a:r>
              <a:rPr lang="zh-CN" altLang="zh-CN" sz="2400" b="1" dirty="0" smtClean="0"/>
              <a:t>运行机制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293610" y="4365625"/>
            <a:ext cx="5431790" cy="868501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lang="zh-CN" altLang="zh-CN" sz="2400" b="1" dirty="0" smtClean="0"/>
              <a:t>了解</a:t>
            </a:r>
            <a:r>
              <a:rPr lang="en-US" altLang="zh-CN" sz="2400" b="1" dirty="0" smtClean="0"/>
              <a:t>Tomcat</a:t>
            </a:r>
            <a:r>
              <a:rPr lang="zh-CN" altLang="zh-CN" sz="2400" b="1" dirty="0" smtClean="0"/>
              <a:t>的体系结构、</a:t>
            </a:r>
            <a:r>
              <a:rPr lang="en-US" altLang="zh-CN" sz="2400" b="1" dirty="0" smtClean="0"/>
              <a:t>Servlet</a:t>
            </a:r>
            <a:r>
              <a:rPr lang="zh-CN" altLang="zh-CN" sz="2400" b="1" dirty="0" smtClean="0"/>
              <a:t>的基本结构</a:t>
            </a:r>
            <a:endParaRPr kumimoji="1" lang="zh-CN" altLang="en-US" sz="2400" b="1" dirty="0"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49959" y="147317"/>
            <a:ext cx="2237740" cy="728345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3900" dirty="0">
                <a:solidFill>
                  <a:schemeClr val="bg1"/>
                </a:solidFill>
                <a:cs typeface="+mn-ea"/>
                <a:sym typeface="+mn-lt"/>
              </a:rPr>
              <a:t>能力目标</a:t>
            </a:r>
            <a:endParaRPr kumimoji="1" lang="en-US" altLang="zh-CN" sz="39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12" grpId="0" animBg="1"/>
      <p:bldP spid="17" grpId="0" animBg="1"/>
      <p:bldP spid="26" grpId="0" animBg="1"/>
      <p:bldP spid="27" grpId="0"/>
      <p:bldP spid="29" grpId="0"/>
      <p:bldP spid="33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8"/>
          <p:cNvSpPr/>
          <p:nvPr/>
        </p:nvSpPr>
        <p:spPr>
          <a:xfrm>
            <a:off x="-12756" y="0"/>
            <a:ext cx="7266302" cy="7265903"/>
          </a:xfrm>
          <a:custGeom>
            <a:avLst/>
            <a:gdLst>
              <a:gd name="connsiteX0" fmla="*/ 0 w 5896303"/>
              <a:gd name="connsiteY0" fmla="*/ 0 h 5896303"/>
              <a:gd name="connsiteX1" fmla="*/ 5896303 w 5896303"/>
              <a:gd name="connsiteY1" fmla="*/ 5896303 h 5896303"/>
              <a:gd name="connsiteX2" fmla="*/ 5579364 w 5896303"/>
              <a:gd name="connsiteY2" fmla="*/ 5896303 h 5896303"/>
              <a:gd name="connsiteX3" fmla="*/ 0 w 5896303"/>
              <a:gd name="connsiteY3" fmla="*/ 316939 h 5896303"/>
              <a:gd name="connsiteX4" fmla="*/ 0 w 5896303"/>
              <a:gd name="connsiteY4" fmla="*/ 0 h 5896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96303" h="5896303">
                <a:moveTo>
                  <a:pt x="0" y="0"/>
                </a:moveTo>
                <a:lnTo>
                  <a:pt x="5896303" y="5896303"/>
                </a:lnTo>
                <a:lnTo>
                  <a:pt x="5579364" y="5896303"/>
                </a:lnTo>
                <a:lnTo>
                  <a:pt x="0" y="316939"/>
                </a:lnTo>
                <a:lnTo>
                  <a:pt x="0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等腰三角形 5"/>
          <p:cNvSpPr/>
          <p:nvPr/>
        </p:nvSpPr>
        <p:spPr>
          <a:xfrm flipV="1">
            <a:off x="1072486" y="448922"/>
            <a:ext cx="4158592" cy="2029130"/>
          </a:xfrm>
          <a:prstGeom prst="triangle">
            <a:avLst/>
          </a:prstGeom>
          <a:noFill/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4" name="等腰三角形 4"/>
          <p:cNvSpPr/>
          <p:nvPr/>
        </p:nvSpPr>
        <p:spPr>
          <a:xfrm flipV="1">
            <a:off x="1072486" y="-1"/>
            <a:ext cx="4158592" cy="2029130"/>
          </a:xfrm>
          <a:prstGeom prst="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7" name="TextBox 32"/>
          <p:cNvSpPr txBox="1">
            <a:spLocks noChangeArrowheads="1"/>
          </p:cNvSpPr>
          <p:nvPr/>
        </p:nvSpPr>
        <p:spPr bwMode="auto">
          <a:xfrm>
            <a:off x="3667936" y="1993039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32"/>
          <p:cNvSpPr txBox="1">
            <a:spLocks noChangeArrowheads="1"/>
          </p:cNvSpPr>
          <p:nvPr/>
        </p:nvSpPr>
        <p:spPr bwMode="auto">
          <a:xfrm>
            <a:off x="4718283" y="3125828"/>
            <a:ext cx="1477498" cy="1297274"/>
          </a:xfrm>
          <a:prstGeom prst="diamond">
            <a:avLst/>
          </a:prstGeom>
          <a:solidFill>
            <a:srgbClr val="43536A"/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TextBox 32"/>
          <p:cNvSpPr txBox="1">
            <a:spLocks noChangeArrowheads="1"/>
          </p:cNvSpPr>
          <p:nvPr/>
        </p:nvSpPr>
        <p:spPr bwMode="auto">
          <a:xfrm>
            <a:off x="5768630" y="4258615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直角三角形 25"/>
          <p:cNvSpPr/>
          <p:nvPr/>
        </p:nvSpPr>
        <p:spPr>
          <a:xfrm>
            <a:off x="1" y="1014235"/>
            <a:ext cx="6218757" cy="6218415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85715" y="1975485"/>
            <a:ext cx="7177405" cy="543477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400" b="1" dirty="0" smtClean="0"/>
              <a:t>培养代码规范的意识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149340" y="3178175"/>
            <a:ext cx="6311900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lang="zh-CN" altLang="zh-CN" sz="2400" b="1" dirty="0" smtClean="0"/>
              <a:t>培养科学严谨的态度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293610" y="4365625"/>
            <a:ext cx="5431790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lang="zh-CN" altLang="zh-CN" sz="2400" b="1" dirty="0" smtClean="0"/>
              <a:t>培养精益求精的工匠精神</a:t>
            </a:r>
            <a:endParaRPr kumimoji="1" lang="zh-CN" altLang="en-US" sz="2400" b="1" dirty="0"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38717" y="147317"/>
            <a:ext cx="2260225" cy="730002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3900" dirty="0" smtClean="0">
                <a:solidFill>
                  <a:schemeClr val="bg1"/>
                </a:solidFill>
                <a:cs typeface="+mn-ea"/>
                <a:sym typeface="+mn-lt"/>
              </a:rPr>
              <a:t>素质目标</a:t>
            </a:r>
            <a:endParaRPr kumimoji="1" lang="en-US" altLang="zh-CN" sz="39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12" grpId="0" animBg="1"/>
      <p:bldP spid="17" grpId="0" animBg="1"/>
      <p:bldP spid="26" grpId="0" animBg="1"/>
      <p:bldP spid="27" grpId="0"/>
      <p:bldP spid="29" grpId="0"/>
      <p:bldP spid="33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3640104" y="1672109"/>
            <a:ext cx="5560680" cy="868501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800" b="1" dirty="0" smtClean="0">
                <a:solidFill>
                  <a:srgbClr val="43536A"/>
                </a:solidFill>
                <a:cs typeface="+mn-ea"/>
              </a:rPr>
              <a:t>3.1 </a:t>
            </a:r>
            <a:r>
              <a:rPr kumimoji="1" lang="zh-CN" altLang="en-US" sz="4800" b="1" dirty="0" smtClean="0">
                <a:solidFill>
                  <a:srgbClr val="43536A"/>
                </a:solidFill>
                <a:cs typeface="+mn-ea"/>
              </a:rPr>
              <a:t>环境安装与配置</a:t>
            </a:r>
            <a:endParaRPr kumimoji="1" lang="zh-CN" altLang="en-US" sz="48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84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第三章   </a:t>
            </a:r>
            <a:r>
              <a:rPr lang="en-US" altLang="zh-CN" dirty="0" smtClean="0">
                <a:ea typeface="宋体" panose="02010600030101010101" pitchFamily="2" charset="-122"/>
              </a:rPr>
              <a:t>JSP</a:t>
            </a:r>
            <a:r>
              <a:rPr lang="zh-CN" altLang="en-US" dirty="0" smtClean="0">
                <a:ea typeface="宋体" panose="02010600030101010101" pitchFamily="2" charset="-122"/>
              </a:rPr>
              <a:t>与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88" y="2104157"/>
            <a:ext cx="2436799" cy="900204"/>
          </a:xfrm>
          <a:prstGeom prst="rect">
            <a:avLst/>
          </a:prstGeom>
        </p:spPr>
        <p:txBody>
          <a:bodyPr wrap="none" lIns="91397" tIns="45699" rIns="91397" bIns="45699">
            <a:spAutoFit/>
          </a:bodyPr>
          <a:lstStyle/>
          <a:p>
            <a:pPr marL="573405" indent="-573405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74" y="2330723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34" tIns="57368" rIns="114734" bIns="57368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>
              <a:lnSpc>
                <a:spcPts val="4000"/>
              </a:lnSpc>
            </a:pPr>
            <a:r>
              <a:rPr lang="zh-CN" altLang="en-US" sz="2600" dirty="0" smtClean="0">
                <a:ea typeface="宋体" panose="02010600030101010101" pitchFamily="2" charset="-122"/>
              </a:rPr>
              <a:t>环境安装与配置</a:t>
            </a:r>
            <a:endParaRPr lang="zh-CN" altLang="en-US" sz="2600" dirty="0" smtClean="0">
              <a:ea typeface="宋体" panose="02010600030101010101" pitchFamily="2" charset="-122"/>
              <a:hlinkClick r:id="" action="ppaction://noaction"/>
            </a:endParaRPr>
          </a:p>
          <a:p>
            <a:pPr marL="1074420" lvl="1" indent="-533400">
              <a:lnSpc>
                <a:spcPts val="4000"/>
              </a:lnSpc>
            </a:pPr>
            <a:r>
              <a:rPr lang="en-US" altLang="zh-CN" sz="2400" dirty="0" smtClean="0"/>
              <a:t>JDK</a:t>
            </a:r>
            <a:r>
              <a:rPr lang="zh-CN" altLang="zh-CN" sz="2400" dirty="0" smtClean="0"/>
              <a:t>的安装与配置</a:t>
            </a:r>
            <a:endParaRPr lang="zh-CN" altLang="en-US" sz="2400" dirty="0" smtClean="0"/>
          </a:p>
          <a:p>
            <a:pPr marL="1074420" lvl="1" indent="-533400">
              <a:lnSpc>
                <a:spcPts val="4000"/>
              </a:lnSpc>
            </a:pPr>
            <a:r>
              <a:rPr lang="en-US" altLang="zh-CN" sz="2400" dirty="0" smtClean="0"/>
              <a:t>Tomcat</a:t>
            </a:r>
            <a:r>
              <a:rPr lang="zh-CN" altLang="zh-CN" sz="2400" dirty="0" smtClean="0"/>
              <a:t>的安装与配置</a:t>
            </a:r>
            <a:endParaRPr lang="zh-CN" altLang="en-US" sz="2400" dirty="0" smtClean="0"/>
          </a:p>
          <a:p>
            <a:pPr marL="1074420" lvl="1" indent="-533400">
              <a:lnSpc>
                <a:spcPts val="4000"/>
              </a:lnSpc>
            </a:pPr>
            <a:r>
              <a:rPr lang="en-US" altLang="zh-CN" sz="2400" dirty="0" smtClean="0"/>
              <a:t>Tomcat</a:t>
            </a:r>
            <a:r>
              <a:rPr lang="zh-CN" altLang="zh-CN" sz="2400" dirty="0" smtClean="0"/>
              <a:t>的体系结构</a:t>
            </a:r>
            <a:endParaRPr lang="zh-CN" altLang="en-US" sz="2400" dirty="0"/>
          </a:p>
          <a:p>
            <a:pPr marL="1074420" lvl="1" indent="-533400">
              <a:lnSpc>
                <a:spcPts val="4000"/>
              </a:lnSpc>
            </a:pPr>
            <a:r>
              <a:rPr lang="en-US" altLang="zh-CN" sz="2400" dirty="0" smtClean="0"/>
              <a:t>Tomcat</a:t>
            </a:r>
            <a:r>
              <a:rPr lang="zh-CN" altLang="zh-CN" sz="2400" dirty="0" smtClean="0"/>
              <a:t>的管理程序</a:t>
            </a:r>
            <a:endParaRPr lang="en-US" altLang="zh-CN" sz="2400" dirty="0" smtClean="0"/>
          </a:p>
          <a:p>
            <a:pPr marL="1074420" lvl="1" indent="-533400">
              <a:lnSpc>
                <a:spcPts val="4000"/>
              </a:lnSpc>
            </a:pPr>
            <a:r>
              <a:rPr lang="en-US" altLang="zh-CN" sz="2400" dirty="0" smtClean="0"/>
              <a:t>Eclipse</a:t>
            </a:r>
            <a:r>
              <a:rPr lang="zh-CN" altLang="zh-CN" sz="2400" dirty="0" smtClean="0"/>
              <a:t>的安装与配置</a:t>
            </a:r>
            <a:endParaRPr lang="en-US" sz="2400" dirty="0">
              <a:hlinkClick r:id="" action="ppaction://noacti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84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第三章   </a:t>
            </a:r>
            <a:r>
              <a:rPr lang="en-US" altLang="zh-CN" dirty="0" smtClean="0">
                <a:ea typeface="宋体" panose="02010600030101010101" pitchFamily="2" charset="-122"/>
              </a:rPr>
              <a:t>JSP</a:t>
            </a:r>
            <a:r>
              <a:rPr lang="zh-CN" altLang="en-US" dirty="0" smtClean="0">
                <a:ea typeface="宋体" panose="02010600030101010101" pitchFamily="2" charset="-122"/>
              </a:rPr>
              <a:t>与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2696" y="1744117"/>
            <a:ext cx="12280552" cy="3026998"/>
          </a:xfrm>
        </p:spPr>
        <p:txBody>
          <a:bodyPr/>
          <a:lstStyle/>
          <a:p>
            <a:pPr marL="573405" indent="-573405">
              <a:lnSpc>
                <a:spcPct val="150000"/>
              </a:lnSpc>
              <a:buNone/>
            </a:pPr>
            <a:r>
              <a:rPr lang="zh-CN" altLang="en-US" b="1" dirty="0">
                <a:ea typeface="楷体_GB2312" pitchFamily="1" charset="-122"/>
              </a:rPr>
              <a:t>教学要求</a:t>
            </a:r>
            <a:endParaRPr lang="zh-CN" altLang="en-US" b="1" dirty="0">
              <a:ea typeface="楷体_GB2312" pitchFamily="1" charset="-122"/>
            </a:endParaRPr>
          </a:p>
          <a:p>
            <a:pPr marL="457200" lvl="1" indent="-457200">
              <a:lnSpc>
                <a:spcPct val="200000"/>
              </a:lnSpc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1</a:t>
            </a:r>
            <a:r>
              <a:rPr lang="zh-CN" altLang="en-US" sz="2400" dirty="0" smtClean="0">
                <a:ea typeface="宋体" panose="02010600030101010101" pitchFamily="2" charset="-122"/>
              </a:rPr>
              <a:t>．掌握：</a:t>
            </a:r>
            <a:r>
              <a:rPr lang="en-US" altLang="zh-CN" sz="2400" dirty="0" smtClean="0"/>
              <a:t>JDK</a:t>
            </a:r>
            <a:r>
              <a:rPr lang="zh-CN" altLang="zh-CN" sz="2400" dirty="0" smtClean="0"/>
              <a:t>的安装与配置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Tomcat</a:t>
            </a:r>
            <a:r>
              <a:rPr lang="zh-CN" altLang="zh-CN" sz="2400" dirty="0" smtClean="0"/>
              <a:t>的安装与配置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MyEclipse</a:t>
            </a:r>
            <a:r>
              <a:rPr lang="zh-CN" altLang="zh-CN" sz="2400" dirty="0" smtClean="0"/>
              <a:t>的安装与配置</a:t>
            </a:r>
            <a:endParaRPr lang="en-US" altLang="zh-CN" sz="2400" dirty="0" smtClean="0">
              <a:hlinkClick r:id="" action="ppaction://noaction"/>
            </a:endParaRPr>
          </a:p>
          <a:p>
            <a:pPr marL="457200" lvl="1" indent="-457200">
              <a:lnSpc>
                <a:spcPct val="200000"/>
              </a:lnSpc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ea typeface="宋体" panose="02010600030101010101" pitchFamily="2" charset="-122"/>
              </a:rPr>
              <a:t>．理解</a:t>
            </a:r>
            <a:r>
              <a:rPr lang="zh-CN" altLang="en-US" sz="2400" dirty="0" smtClean="0">
                <a:ea typeface="宋体" panose="02010600030101010101" pitchFamily="2" charset="-122"/>
              </a:rPr>
              <a:t>：</a:t>
            </a:r>
            <a:r>
              <a:rPr lang="en-US" altLang="zh-CN" sz="2400" dirty="0" smtClean="0"/>
              <a:t>Tomcat</a:t>
            </a:r>
            <a:r>
              <a:rPr lang="zh-CN" altLang="zh-CN" sz="2400" dirty="0" smtClean="0"/>
              <a:t>的管理程序</a:t>
            </a:r>
            <a:endParaRPr lang="zh-CN" altLang="en-US" sz="2400" dirty="0" smtClean="0"/>
          </a:p>
          <a:p>
            <a:pPr marL="457200" indent="-457200">
              <a:lnSpc>
                <a:spcPct val="200000"/>
              </a:lnSpc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ea typeface="宋体" panose="02010600030101010101" pitchFamily="2" charset="-122"/>
              </a:rPr>
              <a:t>．了解</a:t>
            </a:r>
            <a:r>
              <a:rPr lang="zh-CN" altLang="en-US" sz="2400" dirty="0" smtClean="0">
                <a:ea typeface="宋体" panose="02010600030101010101" pitchFamily="2" charset="-122"/>
              </a:rPr>
              <a:t>：</a:t>
            </a:r>
            <a:r>
              <a:rPr lang="en-US" altLang="zh-CN" sz="2400" dirty="0" smtClean="0"/>
              <a:t> Tomcat</a:t>
            </a:r>
            <a:r>
              <a:rPr lang="zh-CN" altLang="zh-CN" sz="2400" dirty="0" smtClean="0"/>
              <a:t>的体系结构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pPr marL="430530" lvl="1" indent="-430530">
              <a:buFont typeface="Wingdings" panose="05000000000000000000" pitchFamily="2" charset="2"/>
              <a:buChar char="v"/>
            </a:pPr>
            <a:r>
              <a:rPr lang="en-US" altLang="zh-CN" dirty="0" smtClean="0">
                <a:ea typeface="宋体" panose="02010600030101010101" pitchFamily="2" charset="-122"/>
              </a:rPr>
              <a:t>JDK</a:t>
            </a:r>
            <a:r>
              <a:rPr lang="zh-CN" altLang="en-US" dirty="0" smtClean="0">
                <a:ea typeface="宋体" panose="02010600030101010101" pitchFamily="2" charset="-122"/>
              </a:rPr>
              <a:t>的安装与配置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956767" y="2802171"/>
            <a:ext cx="5251174" cy="2885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JDK(Java Development Kit)</a:t>
            </a:r>
            <a:r>
              <a:rPr lang="zh-CN" altLang="zh-CN" dirty="0" smtClean="0"/>
              <a:t>是</a:t>
            </a:r>
            <a:r>
              <a:rPr lang="en-US" altLang="zh-CN" dirty="0" smtClean="0"/>
              <a:t>Sun Microsystems</a:t>
            </a:r>
            <a:endParaRPr lang="en-US" altLang="zh-CN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zh-CN" dirty="0" smtClean="0"/>
              <a:t>（已被</a:t>
            </a:r>
            <a:r>
              <a:rPr lang="en-US" altLang="zh-CN" dirty="0" smtClean="0"/>
              <a:t>Oracle</a:t>
            </a:r>
            <a:r>
              <a:rPr lang="zh-CN" altLang="zh-CN" dirty="0" smtClean="0"/>
              <a:t>公司并购）推出的</a:t>
            </a:r>
            <a:r>
              <a:rPr lang="en-US" altLang="zh-CN" dirty="0" smtClean="0"/>
              <a:t>Java</a:t>
            </a:r>
            <a:r>
              <a:rPr lang="zh-CN" altLang="zh-CN" dirty="0" smtClean="0"/>
              <a:t>开发者工具包。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 smtClean="0"/>
              <a:t>JDK</a:t>
            </a:r>
            <a:r>
              <a:rPr lang="zh-CN" altLang="zh-CN" dirty="0" smtClean="0"/>
              <a:t>是整个</a:t>
            </a:r>
            <a:r>
              <a:rPr lang="en-US" altLang="zh-CN" dirty="0" smtClean="0"/>
              <a:t>Java</a:t>
            </a:r>
            <a:r>
              <a:rPr lang="zh-CN" altLang="zh-CN" dirty="0" smtClean="0"/>
              <a:t>技术的核心，包括了</a:t>
            </a:r>
            <a:r>
              <a:rPr lang="en-US" altLang="zh-CN" dirty="0" smtClean="0"/>
              <a:t>Java</a:t>
            </a:r>
            <a:r>
              <a:rPr lang="zh-CN" altLang="zh-CN" dirty="0" smtClean="0"/>
              <a:t>运行环境，</a:t>
            </a:r>
            <a:r>
              <a:rPr lang="en-US" altLang="zh-CN" dirty="0" smtClean="0"/>
              <a:t>Java</a:t>
            </a:r>
            <a:r>
              <a:rPr lang="zh-CN" altLang="zh-CN" dirty="0" smtClean="0"/>
              <a:t>工具和</a:t>
            </a:r>
            <a:r>
              <a:rPr lang="en-US" altLang="zh-CN" dirty="0" smtClean="0"/>
              <a:t>Java</a:t>
            </a:r>
            <a:r>
              <a:rPr lang="zh-CN" altLang="zh-CN" dirty="0" smtClean="0"/>
              <a:t>基础的类库，</a:t>
            </a:r>
            <a:r>
              <a:rPr lang="en-US" altLang="zh-CN" dirty="0" smtClean="0"/>
              <a:t>JDK</a:t>
            </a:r>
            <a:r>
              <a:rPr lang="zh-CN" altLang="zh-CN" dirty="0" smtClean="0"/>
              <a:t>是其它</a:t>
            </a:r>
            <a:r>
              <a:rPr lang="en-US" altLang="zh-CN" dirty="0" smtClean="0"/>
              <a:t>Java</a:t>
            </a:r>
            <a:r>
              <a:rPr lang="zh-CN" altLang="zh-CN" dirty="0" smtClean="0"/>
              <a:t>开发工具的基础。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005439" y="2893469"/>
            <a:ext cx="3960440" cy="2885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JDK</a:t>
            </a:r>
            <a:r>
              <a:rPr lang="zh-CN" altLang="en-US" dirty="0" smtClean="0"/>
              <a:t>的下载安装和运行环境的设置。</a:t>
            </a:r>
            <a:endParaRPr lang="zh-CN" altLang="en-US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．安装</a:t>
            </a:r>
            <a:r>
              <a:rPr lang="en-US" altLang="zh-CN" dirty="0" smtClean="0"/>
              <a:t>JDK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．配置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JDK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．测试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JDK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环境安装与配置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dirty="0" smtClean="0"/>
              <a:t>Tomcat</a:t>
            </a:r>
            <a:r>
              <a:rPr lang="zh-CN" altLang="zh-CN" dirty="0" smtClean="0"/>
              <a:t>的安装与配置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956767" y="2320181"/>
            <a:ext cx="10839345" cy="4547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Jakarta Tomcat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服务器是在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SUN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公司的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JSWDK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JavaServer Web DevelopmentKit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）的基础上发展起来的一个优秀的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Servlet/JSP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容器。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）双击安装程序，阅读使用的许可协议，点击“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I Agree”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进入下一步。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）选择安装的组件，默认是“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Normal”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，点击“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Next”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进入下一步。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）进行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Tomcat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的基本设置。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）选择已安装的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JDK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的目录路径。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）选择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Tomcat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的安装路径。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）程序开始安装，直至安装完成。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环境安装与配置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dirty="0" smtClean="0"/>
              <a:t>Tomcat</a:t>
            </a:r>
            <a:r>
              <a:rPr lang="zh-CN" altLang="zh-CN" dirty="0" smtClean="0"/>
              <a:t>的安装与配置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028775" y="2464197"/>
            <a:ext cx="10839345" cy="335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Tomcat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安装后主要包括以下目录：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/bin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：主要存放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Windows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平台以及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Linux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平台上启动和关闭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Tomcat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的文件。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/conf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：存放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Tomcat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服务器的各种配置文件，其中最重要的配置文件是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server.xml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/logs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：存放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Tomcat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的日志文件。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/webapps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：当发布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应用时，默认情况下把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应用文件放于此文件下。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/works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：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Tomcat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把由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生成的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放于此目录下。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477047" y="1672109"/>
            <a:ext cx="7145409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环境安装与配置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zh-CN" altLang="zh-CN" dirty="0" smtClean="0"/>
              <a:t> </a:t>
            </a:r>
            <a:r>
              <a:rPr lang="en-US" altLang="zh-CN" dirty="0" smtClean="0"/>
              <a:t>Tomcat</a:t>
            </a:r>
            <a:r>
              <a:rPr lang="zh-CN" altLang="zh-CN" dirty="0" smtClean="0"/>
              <a:t>的体系结构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1028775" y="2236812"/>
            <a:ext cx="10115103" cy="4547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．体系结构</a:t>
            </a: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．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server.xml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配置文件 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dirty="0" smtClean="0"/>
              <a:t>server.xml</a:t>
            </a:r>
            <a:r>
              <a:rPr lang="zh-CN" altLang="zh-CN" dirty="0" smtClean="0"/>
              <a:t>是</a:t>
            </a:r>
            <a:r>
              <a:rPr lang="en-US" altLang="zh-CN" dirty="0" smtClean="0"/>
              <a:t>Tomcat</a:t>
            </a:r>
            <a:r>
              <a:rPr lang="zh-CN" altLang="zh-CN" dirty="0" smtClean="0"/>
              <a:t>最重要的配置文件，在其中对</a:t>
            </a:r>
            <a:r>
              <a:rPr lang="en-US" altLang="zh-CN" dirty="0" smtClean="0"/>
              <a:t>Tomcat</a:t>
            </a:r>
            <a:r>
              <a:rPr lang="zh-CN" altLang="zh-CN" dirty="0" smtClean="0"/>
              <a:t>中的各个组件进行配置，打开</a:t>
            </a:r>
            <a:r>
              <a:rPr lang="en-US" altLang="zh-CN" dirty="0" smtClean="0"/>
              <a:t>server.xml</a:t>
            </a:r>
            <a:r>
              <a:rPr lang="zh-CN" altLang="zh-CN" dirty="0" smtClean="0"/>
              <a:t>文件，就可以看到元素名和元素之间的嵌套关系，与</a:t>
            </a:r>
            <a:r>
              <a:rPr lang="en-US" altLang="zh-CN" dirty="0" smtClean="0"/>
              <a:t>Tomcat</a:t>
            </a:r>
            <a:r>
              <a:rPr lang="zh-CN" altLang="zh-CN" dirty="0" smtClean="0"/>
              <a:t>服务器的组件是一一对应的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环境安装与配置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dirty="0" smtClean="0"/>
              <a:t>Tomcat</a:t>
            </a:r>
            <a:r>
              <a:rPr lang="zh-CN" altLang="zh-CN" dirty="0" smtClean="0"/>
              <a:t>的管理程序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956767" y="2320181"/>
            <a:ext cx="10934402" cy="587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/>
              <a:t>Tomcat</a:t>
            </a:r>
            <a:r>
              <a:rPr lang="zh-CN" altLang="zh-CN" dirty="0" smtClean="0"/>
              <a:t>提供了一个管理程序</a:t>
            </a:r>
            <a:r>
              <a:rPr lang="en-US" altLang="zh-CN" dirty="0" smtClean="0"/>
              <a:t>manager</a:t>
            </a:r>
            <a:r>
              <a:rPr lang="zh-CN" altLang="zh-CN" dirty="0" smtClean="0"/>
              <a:t>，用于管理部署到</a:t>
            </a:r>
            <a:r>
              <a:rPr lang="en-US" altLang="zh-CN" dirty="0" smtClean="0"/>
              <a:t>Tomcat</a:t>
            </a:r>
            <a:r>
              <a:rPr lang="zh-CN" altLang="zh-CN" dirty="0" smtClean="0"/>
              <a:t>服务器中的</a:t>
            </a:r>
            <a:r>
              <a:rPr lang="en-US" altLang="zh-CN" dirty="0" smtClean="0"/>
              <a:t>Web</a:t>
            </a:r>
            <a:r>
              <a:rPr lang="zh-CN" altLang="zh-CN" dirty="0" smtClean="0"/>
              <a:t>应用程序。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1746" name="图片 1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08895" y="2968253"/>
            <a:ext cx="7416824" cy="394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环境安装与配置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dirty="0" smtClean="0"/>
              <a:t>Eclipse</a:t>
            </a:r>
            <a:r>
              <a:rPr lang="zh-CN" altLang="zh-CN" dirty="0" smtClean="0"/>
              <a:t>的安装与配置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028775" y="2430771"/>
            <a:ext cx="11017224" cy="3993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Eclipse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是一个开放源代码、基于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的可扩展开发平台，平台为编程人员提供了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集成开发环境。</a:t>
            </a:r>
            <a:r>
              <a:rPr lang="en-US" altLang="zh-CN" dirty="0" smtClean="0"/>
              <a:t> Eclipse</a:t>
            </a:r>
            <a:r>
              <a:rPr lang="zh-CN" altLang="zh-CN" dirty="0" smtClean="0"/>
              <a:t>的本身只是一个框架平台，但是众多插件的支持使得</a:t>
            </a:r>
            <a:r>
              <a:rPr lang="en-US" altLang="zh-CN" dirty="0" smtClean="0"/>
              <a:t>Eclipse</a:t>
            </a:r>
            <a:r>
              <a:rPr lang="zh-CN" altLang="zh-CN" dirty="0" smtClean="0"/>
              <a:t>拥有其他功能相对固定的</a:t>
            </a:r>
            <a:r>
              <a:rPr lang="en-US" altLang="zh-CN" dirty="0" smtClean="0"/>
              <a:t>IDE</a:t>
            </a:r>
            <a:r>
              <a:rPr lang="zh-CN" altLang="zh-CN" dirty="0" smtClean="0"/>
              <a:t>软件很难具有的灵活性。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可以从官方网站下载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Eclipse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安装程序，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Eclipse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不用安装，直接运行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eclipse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目录下的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eclipse.exe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就可以运行。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）双击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eclipse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目录下的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eclipse.exe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）出现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eclipse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启动框，选择项目的工作目录，点击“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Lanuch”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会进入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eclipse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主界面。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环境安装与配置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dirty="0" smtClean="0"/>
              <a:t>Eclipse</a:t>
            </a:r>
            <a:r>
              <a:rPr lang="zh-CN" altLang="zh-CN" dirty="0" smtClean="0"/>
              <a:t>的安装与配置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740743" y="2351152"/>
            <a:ext cx="10585176" cy="669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zh-CN" dirty="0" smtClean="0"/>
              <a:t>可以在</a:t>
            </a:r>
            <a:r>
              <a:rPr lang="en-US" altLang="zh-CN" dirty="0" smtClean="0"/>
              <a:t>Eclipse</a:t>
            </a:r>
            <a:r>
              <a:rPr lang="zh-CN" altLang="zh-CN" dirty="0" smtClean="0"/>
              <a:t>中配置和使用系统中已安装的其他</a:t>
            </a:r>
            <a:r>
              <a:rPr lang="en-US" altLang="zh-CN" dirty="0" smtClean="0"/>
              <a:t>Java Web</a:t>
            </a:r>
            <a:r>
              <a:rPr lang="zh-CN" altLang="zh-CN" dirty="0" smtClean="0"/>
              <a:t>应用服务器</a:t>
            </a:r>
            <a:r>
              <a:rPr lang="en-US" altLang="zh-CN" dirty="0" smtClean="0"/>
              <a:t>.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2770" name="图片 18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28775" y="3256285"/>
            <a:ext cx="4941128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1" name="图片 1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77447" y="3040261"/>
            <a:ext cx="3888432" cy="333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185311" y="1761854"/>
            <a:ext cx="4524307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 smtClean="0">
                <a:solidFill>
                  <a:srgbClr val="43536A"/>
                </a:solidFill>
                <a:cs typeface="+mn-ea"/>
              </a:rPr>
              <a:t>3.2  </a:t>
            </a:r>
            <a:r>
              <a:rPr lang="en-US" altLang="zh-CN" sz="4400" dirty="0" smtClean="0"/>
              <a:t>Servlet</a:t>
            </a:r>
            <a:r>
              <a:rPr lang="zh-CN" altLang="zh-CN" sz="4400" dirty="0" smtClean="0"/>
              <a:t>是什么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92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第三章   </a:t>
            </a:r>
            <a:r>
              <a:rPr lang="en-US" altLang="zh-CN" dirty="0" smtClean="0">
                <a:ea typeface="宋体" panose="02010600030101010101" pitchFamily="2" charset="-122"/>
              </a:rPr>
              <a:t>JSP</a:t>
            </a:r>
            <a:r>
              <a:rPr lang="zh-CN" altLang="en-US" dirty="0" smtClean="0">
                <a:ea typeface="宋体" panose="02010600030101010101" pitchFamily="2" charset="-122"/>
              </a:rPr>
              <a:t>与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87" y="1600101"/>
            <a:ext cx="2436671" cy="900143"/>
          </a:xfrm>
          <a:prstGeom prst="rect">
            <a:avLst/>
          </a:prstGeom>
        </p:spPr>
        <p:txBody>
          <a:bodyPr wrap="none" lIns="91334" tIns="45669" rIns="91334" bIns="45669">
            <a:spAutoFit/>
          </a:bodyPr>
          <a:lstStyle/>
          <a:p>
            <a:pPr marL="573405" indent="-573405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83" y="1456085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en-US" altLang="zh-CN" sz="2600" dirty="0" smtClean="0">
                <a:ea typeface="宋体" panose="02010600030101010101" pitchFamily="2" charset="-122"/>
              </a:rPr>
              <a:t>Servlet</a:t>
            </a:r>
            <a:r>
              <a:rPr lang="zh-CN" altLang="en-US" sz="2600" dirty="0" smtClean="0">
                <a:ea typeface="宋体" panose="02010600030101010101" pitchFamily="2" charset="-122"/>
              </a:rPr>
              <a:t>是什么</a:t>
            </a:r>
            <a:endParaRPr lang="zh-CN" altLang="en-US" sz="2600" dirty="0" smtClean="0">
              <a:ea typeface="宋体" panose="02010600030101010101" pitchFamily="2" charset="-122"/>
              <a:hlinkClick r:id="rId1" action="ppaction://hlinksldjump"/>
            </a:endParaRPr>
          </a:p>
          <a:p>
            <a:pPr marL="1073785" lvl="1" indent="-532765">
              <a:lnSpc>
                <a:spcPct val="200000"/>
              </a:lnSpc>
            </a:pPr>
            <a:r>
              <a:rPr lang="en-US" altLang="zh-CN" sz="2300" dirty="0" smtClean="0"/>
              <a:t>Servlet</a:t>
            </a:r>
            <a:r>
              <a:rPr lang="zh-CN" altLang="en-US" sz="2300" dirty="0" smtClean="0"/>
              <a:t>简介</a:t>
            </a:r>
            <a:endParaRPr lang="en-US" altLang="zh-CN" sz="2300" dirty="0" smtClean="0"/>
          </a:p>
          <a:p>
            <a:pPr marL="1073785" lvl="1" indent="-532765">
              <a:lnSpc>
                <a:spcPct val="200000"/>
              </a:lnSpc>
            </a:pPr>
            <a:r>
              <a:rPr lang="zh-CN" altLang="zh-CN" sz="2400" dirty="0" smtClean="0"/>
              <a:t>基于</a:t>
            </a:r>
            <a:r>
              <a:rPr lang="en-US" altLang="zh-CN" sz="2400" dirty="0" smtClean="0"/>
              <a:t>Servlet</a:t>
            </a:r>
            <a:r>
              <a:rPr lang="zh-CN" altLang="zh-CN" sz="2400" dirty="0" smtClean="0"/>
              <a:t>的</a:t>
            </a:r>
            <a:r>
              <a:rPr lang="en-US" altLang="zh-CN" sz="2400" dirty="0" smtClean="0"/>
              <a:t>Java Web</a:t>
            </a:r>
            <a:r>
              <a:rPr lang="zh-CN" altLang="zh-CN" sz="2400" dirty="0" smtClean="0"/>
              <a:t>应用程序体验</a:t>
            </a:r>
            <a:endParaRPr lang="en-US" altLang="zh-CN" sz="2400" dirty="0" smtClean="0"/>
          </a:p>
          <a:p>
            <a:pPr marL="1073785" lvl="1" indent="-532765">
              <a:lnSpc>
                <a:spcPct val="200000"/>
              </a:lnSpc>
            </a:pPr>
            <a:r>
              <a:rPr lang="en-US" altLang="zh-CN" sz="2400" dirty="0" smtClean="0"/>
              <a:t>Servlet</a:t>
            </a:r>
            <a:r>
              <a:rPr lang="zh-CN" altLang="zh-CN" sz="2400" dirty="0" smtClean="0"/>
              <a:t>配置</a:t>
            </a:r>
            <a:endParaRPr lang="en-US" altLang="zh-CN" sz="2400" dirty="0" smtClean="0"/>
          </a:p>
          <a:p>
            <a:pPr marL="1073785" lvl="1" indent="-532765">
              <a:lnSpc>
                <a:spcPct val="200000"/>
              </a:lnSpc>
            </a:pPr>
            <a:r>
              <a:rPr lang="en-US" altLang="zh-CN" sz="2300" dirty="0" smtClean="0"/>
              <a:t>Servlet</a:t>
            </a:r>
            <a:r>
              <a:rPr lang="zh-CN" altLang="en-US" sz="2300" dirty="0" smtClean="0"/>
              <a:t>运行机制</a:t>
            </a:r>
            <a:endParaRPr lang="zh-CN" altLang="en-US" sz="23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37587" y="5341855"/>
            <a:ext cx="12280552" cy="302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651" tIns="57327" rIns="114651" bIns="57327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180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4465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787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127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531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287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27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61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zh-CN" altLang="en-US" sz="2600" dirty="0">
                <a:ea typeface="宋体" panose="02010600030101010101" pitchFamily="2" charset="-122"/>
              </a:rPr>
              <a:t>掌握</a:t>
            </a:r>
            <a:r>
              <a:rPr lang="zh-CN" altLang="en-US" sz="2600" dirty="0" smtClean="0">
                <a:ea typeface="宋体" panose="02010600030101010101" pitchFamily="2" charset="-122"/>
              </a:rPr>
              <a:t>：基于</a:t>
            </a:r>
            <a:r>
              <a:rPr lang="en-US" altLang="zh-CN" sz="2600" dirty="0" smtClean="0">
                <a:ea typeface="宋体" panose="02010600030101010101" pitchFamily="2" charset="-122"/>
              </a:rPr>
              <a:t>Servlet</a:t>
            </a:r>
            <a:r>
              <a:rPr lang="zh-CN" altLang="en-US" sz="2600" dirty="0" smtClean="0">
                <a:ea typeface="宋体" panose="02010600030101010101" pitchFamily="2" charset="-122"/>
              </a:rPr>
              <a:t>的</a:t>
            </a:r>
            <a:r>
              <a:rPr lang="en-US" altLang="zh-CN" sz="2600" dirty="0" smtClean="0">
                <a:ea typeface="宋体" panose="02010600030101010101" pitchFamily="2" charset="-122"/>
              </a:rPr>
              <a:t>Java Web</a:t>
            </a:r>
            <a:r>
              <a:rPr lang="zh-CN" altLang="en-US" sz="2600" dirty="0" smtClean="0">
                <a:ea typeface="宋体" panose="02010600030101010101" pitchFamily="2" charset="-122"/>
              </a:rPr>
              <a:t>应用程序开发方法</a:t>
            </a:r>
            <a:endParaRPr lang="en-US" altLang="zh-CN" sz="2600" dirty="0" smtClean="0"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20126" y="5505726"/>
            <a:ext cx="2436758" cy="630879"/>
          </a:xfrm>
          <a:prstGeom prst="rect">
            <a:avLst/>
          </a:prstGeom>
        </p:spPr>
        <p:txBody>
          <a:bodyPr wrap="none" lIns="91377" tIns="45689" rIns="91377" bIns="45689">
            <a:spAutoFit/>
          </a:bodyPr>
          <a:lstStyle/>
          <a:p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教学要求：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8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7"/>
            <a:ext cx="11269266" cy="532403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简介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596727" y="2191508"/>
            <a:ext cx="11665296" cy="2331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即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服务小程序，是使用应用程序设计接口以及相关类和方法的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程序。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在本质上就是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类，编写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需要遵循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的基本语法，而且必需遵循特殊的规范，使用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几乎可以处理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协议各个方面的内容。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3009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49055" y="3904357"/>
            <a:ext cx="5124678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是什么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2937" y="1366167"/>
            <a:ext cx="12215813" cy="5303943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基于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的</a:t>
            </a:r>
            <a:r>
              <a:rPr lang="en-US" altLang="zh-CN" dirty="0" smtClean="0">
                <a:ea typeface="宋体" panose="02010600030101010101" pitchFamily="2" charset="-122"/>
              </a:rPr>
              <a:t>Java Web</a:t>
            </a:r>
            <a:r>
              <a:rPr lang="zh-CN" altLang="en-US" dirty="0" smtClean="0">
                <a:ea typeface="宋体" panose="02010600030101010101" pitchFamily="2" charset="-122"/>
              </a:rPr>
              <a:t>应用程序体验</a:t>
            </a:r>
            <a:endParaRPr lang="zh-CN" altLang="en-US" sz="3000" dirty="0">
              <a:ea typeface="宋体" panose="02010600030101010101" pitchFamily="2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668735" y="2176165"/>
            <a:ext cx="10353575" cy="669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下面使用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Eclipse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，完成第一个基于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应用程序开发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52911" y="3040261"/>
            <a:ext cx="7776864" cy="3045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是什么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2937" y="1366167"/>
            <a:ext cx="12215813" cy="5303943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配置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668735" y="2220376"/>
            <a:ext cx="10353575" cy="581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web.xml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应用的配置文件，是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应用发布描述文件，是在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规范中定义的。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72791" y="3112269"/>
            <a:ext cx="9222926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是什么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2937" y="1366167"/>
            <a:ext cx="12215813" cy="5303943"/>
          </a:xfrm>
        </p:spPr>
        <p:txBody>
          <a:bodyPr/>
          <a:lstStyle/>
          <a:p>
            <a:r>
              <a:rPr lang="en-US" altLang="zh-CN" dirty="0" smtClean="0"/>
              <a:t>Servlet</a:t>
            </a:r>
            <a:r>
              <a:rPr lang="zh-CN" altLang="zh-CN" dirty="0" smtClean="0"/>
              <a:t>运行机制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668735" y="1940203"/>
            <a:ext cx="10353575" cy="1141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61" tIns="57381" rIns="114761" bIns="57381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容器在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通信和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服务器平台之间实现了一个抽象层。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容器负责把请求传递给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，并把结果返回给客户。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64879" y="3184277"/>
            <a:ext cx="7272808" cy="3103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680960" y="1761854"/>
            <a:ext cx="3533009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 smtClean="0">
                <a:solidFill>
                  <a:srgbClr val="43536A"/>
                </a:solidFill>
                <a:cs typeface="+mn-ea"/>
              </a:rPr>
              <a:t>3.3 </a:t>
            </a:r>
            <a:r>
              <a:rPr lang="en-US" altLang="zh-CN" sz="4400" dirty="0" smtClean="0"/>
              <a:t>JSP</a:t>
            </a:r>
            <a:r>
              <a:rPr lang="zh-CN" altLang="zh-CN" sz="4400" dirty="0" smtClean="0"/>
              <a:t>是什么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98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第三章   </a:t>
            </a:r>
            <a:r>
              <a:rPr lang="en-US" altLang="zh-CN" dirty="0" smtClean="0">
                <a:ea typeface="宋体" panose="02010600030101010101" pitchFamily="2" charset="-122"/>
              </a:rPr>
              <a:t>JSP</a:t>
            </a:r>
            <a:r>
              <a:rPr lang="zh-CN" altLang="en-US" dirty="0" smtClean="0">
                <a:ea typeface="宋体" panose="02010600030101010101" pitchFamily="2" charset="-122"/>
              </a:rPr>
              <a:t>与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92" y="1672109"/>
            <a:ext cx="2436585" cy="900103"/>
          </a:xfrm>
          <a:prstGeom prst="rect">
            <a:avLst/>
          </a:prstGeom>
        </p:spPr>
        <p:txBody>
          <a:bodyPr wrap="none" lIns="91291" tIns="45649" rIns="91291" bIns="45649">
            <a:spAutoFit/>
          </a:bodyPr>
          <a:lstStyle/>
          <a:p>
            <a:pPr marL="572770" indent="-572770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693071" y="1672109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596" tIns="57300" rIns="114596" bIns="57300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en-US" altLang="zh-CN" sz="2600" dirty="0" smtClean="0">
                <a:ea typeface="宋体" panose="02010600030101010101" pitchFamily="2" charset="-122"/>
              </a:rPr>
              <a:t>JSP</a:t>
            </a:r>
            <a:r>
              <a:rPr lang="zh-CN" altLang="en-US" sz="2600" dirty="0" smtClean="0">
                <a:ea typeface="宋体" panose="02010600030101010101" pitchFamily="2" charset="-122"/>
              </a:rPr>
              <a:t>是什么</a:t>
            </a:r>
            <a:endParaRPr lang="zh-CN" altLang="en-US" sz="2400" dirty="0"/>
          </a:p>
          <a:p>
            <a:pPr marL="1073150" lvl="1" indent="-532765">
              <a:lnSpc>
                <a:spcPct val="200000"/>
              </a:lnSpc>
            </a:pPr>
            <a:r>
              <a:rPr lang="en-US" altLang="zh-CN" sz="2400" dirty="0" smtClean="0"/>
              <a:t>JSP</a:t>
            </a:r>
            <a:r>
              <a:rPr lang="zh-CN" altLang="zh-CN" sz="2400" dirty="0" smtClean="0"/>
              <a:t>简介</a:t>
            </a:r>
            <a:endParaRPr lang="en-US" altLang="zh-CN" sz="2400" dirty="0" smtClean="0"/>
          </a:p>
          <a:p>
            <a:pPr marL="1073150" lvl="1" indent="-532765">
              <a:lnSpc>
                <a:spcPct val="200000"/>
              </a:lnSpc>
            </a:pPr>
            <a:r>
              <a:rPr lang="zh-CN" altLang="en-US" sz="2300" dirty="0" smtClean="0"/>
              <a:t>基于</a:t>
            </a:r>
            <a:r>
              <a:rPr lang="en-US" altLang="zh-CN" sz="2300" dirty="0" smtClean="0"/>
              <a:t>JSP</a:t>
            </a:r>
            <a:r>
              <a:rPr lang="zh-CN" altLang="en-US" sz="2300" dirty="0" smtClean="0"/>
              <a:t>的</a:t>
            </a:r>
            <a:r>
              <a:rPr lang="en-US" altLang="zh-CN" sz="2300" dirty="0" smtClean="0"/>
              <a:t>Java Web</a:t>
            </a:r>
            <a:r>
              <a:rPr lang="zh-CN" altLang="en-US" sz="2300" dirty="0" smtClean="0"/>
              <a:t>应用程序体验</a:t>
            </a:r>
            <a:endParaRPr lang="zh-CN" altLang="en-US" sz="23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49055" y="4205652"/>
            <a:ext cx="12280552" cy="302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596" tIns="57300" rIns="114596" bIns="57300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180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4465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787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127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531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287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27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61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lvl="1" indent="-45656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zh-CN" altLang="en-US" sz="2600" dirty="0"/>
              <a:t>掌握</a:t>
            </a:r>
            <a:r>
              <a:rPr lang="zh-CN" altLang="en-US" sz="2600" dirty="0" smtClean="0"/>
              <a:t>：</a:t>
            </a:r>
            <a:r>
              <a:rPr lang="zh-CN" altLang="zh-CN" sz="2400" dirty="0" smtClean="0"/>
              <a:t>基于</a:t>
            </a:r>
            <a:r>
              <a:rPr lang="en-US" altLang="zh-CN" sz="2400" dirty="0" smtClean="0"/>
              <a:t>JSP</a:t>
            </a:r>
            <a:r>
              <a:rPr lang="zh-CN" altLang="zh-CN" sz="2400" dirty="0" smtClean="0"/>
              <a:t>的</a:t>
            </a:r>
            <a:r>
              <a:rPr lang="en-US" altLang="zh-CN" sz="2400" dirty="0" smtClean="0"/>
              <a:t>Java Web</a:t>
            </a:r>
            <a:r>
              <a:rPr lang="zh-CN" altLang="zh-CN" sz="2400" dirty="0" smtClean="0"/>
              <a:t>应用程序</a:t>
            </a:r>
            <a:r>
              <a:rPr lang="zh-CN" altLang="en-US" sz="2400" dirty="0" smtClean="0"/>
              <a:t>开发方法</a:t>
            </a:r>
            <a:endParaRPr lang="en-US" altLang="zh-CN" sz="2400" dirty="0" smtClean="0"/>
          </a:p>
        </p:txBody>
      </p:sp>
      <p:sp>
        <p:nvSpPr>
          <p:cNvPr id="4" name="矩形 3"/>
          <p:cNvSpPr/>
          <p:nvPr/>
        </p:nvSpPr>
        <p:spPr>
          <a:xfrm>
            <a:off x="1172791" y="4408413"/>
            <a:ext cx="2436671" cy="630839"/>
          </a:xfrm>
          <a:prstGeom prst="rect">
            <a:avLst/>
          </a:prstGeom>
        </p:spPr>
        <p:txBody>
          <a:bodyPr wrap="none" lIns="91334" tIns="45669" rIns="91334" bIns="45669">
            <a:spAutoFit/>
          </a:bodyPr>
          <a:lstStyle/>
          <a:p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教学要求：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5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5"/>
            <a:ext cx="11269266" cy="532403"/>
          </a:xfrm>
        </p:spPr>
        <p:txBody>
          <a:bodyPr/>
          <a:lstStyle/>
          <a:p>
            <a:pPr marL="430530" lvl="1" indent="-430530">
              <a:buFont typeface="Wingdings" panose="05000000000000000000" pitchFamily="2" charset="2"/>
              <a:buChar char="v"/>
            </a:pPr>
            <a:r>
              <a:rPr lang="en-US" dirty="0" smtClean="0">
                <a:ea typeface="宋体" panose="02010600030101010101" pitchFamily="2" charset="-122"/>
              </a:rPr>
              <a:t>JSP</a:t>
            </a:r>
            <a:r>
              <a:rPr lang="zh-CN" altLang="en-US" dirty="0" smtClean="0">
                <a:ea typeface="宋体" panose="02010600030101010101" pitchFamily="2" charset="-122"/>
              </a:rPr>
              <a:t>简介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pPr marL="430530" lvl="1" indent="-430530"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668735" y="2392189"/>
            <a:ext cx="11217671" cy="1002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89" tIns="57394" rIns="114789" bIns="57394" anchor="ctr">
            <a:spAutoFit/>
          </a:bodyPr>
          <a:lstStyle/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JSP(Java Server Pages)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是基于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语言的动态网页技术。由于基于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技术，用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开发的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应用是跨平台的，既能在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Windows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下运行，也能在其他操作系统上运行。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8913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197127" y="3430942"/>
            <a:ext cx="4248472" cy="3801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JSP</a:t>
            </a:r>
            <a:r>
              <a:rPr lang="zh-CN" altLang="en-US" dirty="0" smtClean="0">
                <a:ea typeface="宋体" panose="02010600030101010101" pitchFamily="2" charset="-122"/>
              </a:rPr>
              <a:t>是什么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46089" y="1577121"/>
            <a:ext cx="11760398" cy="5303943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基于</a:t>
            </a:r>
            <a:r>
              <a:rPr lang="en-US" altLang="zh-CN" dirty="0" smtClean="0">
                <a:ea typeface="宋体" panose="02010600030101010101" pitchFamily="2" charset="-122"/>
              </a:rPr>
              <a:t>JSP</a:t>
            </a:r>
            <a:r>
              <a:rPr lang="zh-CN" altLang="en-US" dirty="0" smtClean="0">
                <a:ea typeface="宋体" panose="02010600030101010101" pitchFamily="2" charset="-122"/>
              </a:rPr>
              <a:t>的</a:t>
            </a:r>
            <a:r>
              <a:rPr lang="en-US" altLang="zh-CN" dirty="0" smtClean="0">
                <a:ea typeface="宋体" panose="02010600030101010101" pitchFamily="2" charset="-122"/>
              </a:rPr>
              <a:t>Java Web</a:t>
            </a:r>
            <a:r>
              <a:rPr lang="zh-CN" altLang="en-US" dirty="0" smtClean="0">
                <a:ea typeface="宋体" panose="02010600030101010101" pitchFamily="2" charset="-122"/>
              </a:rPr>
              <a:t>应用程序体验</a:t>
            </a:r>
            <a:endParaRPr lang="zh-CN" altLang="en-US" sz="3000" dirty="0">
              <a:ea typeface="宋体" panose="02010600030101010101" pitchFamily="2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1013522" y="2145561"/>
            <a:ext cx="12606487" cy="559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89" tIns="57394" rIns="114789" bIns="57394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下面使用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Eclipse，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完成一个基于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应用程序开发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117007" y="4840461"/>
            <a:ext cx="4752528" cy="1976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56967" y="2680221"/>
            <a:ext cx="6146824" cy="1982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089772" y="1761854"/>
            <a:ext cx="3998521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 smtClean="0">
                <a:solidFill>
                  <a:srgbClr val="43536A"/>
                </a:solidFill>
                <a:cs typeface="+mn-ea"/>
              </a:rPr>
              <a:t>3.4 </a:t>
            </a:r>
            <a:r>
              <a:rPr lang="en-US" altLang="zh-CN" sz="4400" dirty="0" smtClean="0"/>
              <a:t>JSP</a:t>
            </a:r>
            <a:r>
              <a:rPr lang="zh-CN" altLang="en-US" sz="4400" dirty="0" smtClean="0"/>
              <a:t>与</a:t>
            </a:r>
            <a:r>
              <a:rPr lang="en-US" altLang="zh-CN" sz="4400" dirty="0" smtClean="0"/>
              <a:t>Servlet</a:t>
            </a:r>
            <a:endParaRPr lang="en-US" altLang="zh-CN" sz="4400" dirty="0" smtClean="0"/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98" y="606069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第三章   </a:t>
            </a:r>
            <a:r>
              <a:rPr lang="en-US" altLang="zh-CN" dirty="0" smtClean="0">
                <a:ea typeface="宋体" panose="02010600030101010101" pitchFamily="2" charset="-122"/>
              </a:rPr>
              <a:t>JSP</a:t>
            </a:r>
            <a:r>
              <a:rPr lang="zh-CN" altLang="en-US" dirty="0" smtClean="0">
                <a:ea typeface="宋体" panose="02010600030101010101" pitchFamily="2" charset="-122"/>
              </a:rPr>
              <a:t>与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0792" y="1672109"/>
            <a:ext cx="2436585" cy="900103"/>
          </a:xfrm>
          <a:prstGeom prst="rect">
            <a:avLst/>
          </a:prstGeom>
        </p:spPr>
        <p:txBody>
          <a:bodyPr wrap="none" lIns="91291" tIns="45649" rIns="91291" bIns="45649">
            <a:spAutoFit/>
          </a:bodyPr>
          <a:lstStyle/>
          <a:p>
            <a:pPr marL="572770" indent="-572770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37688" y="1600101"/>
            <a:ext cx="83534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596" tIns="57300" rIns="114596" bIns="57300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indent="-456565">
              <a:lnSpc>
                <a:spcPct val="200000"/>
              </a:lnSpc>
            </a:pPr>
            <a:r>
              <a:rPr lang="en-US" altLang="zh-CN" sz="2600" dirty="0" smtClean="0">
                <a:ea typeface="宋体" panose="02010600030101010101" pitchFamily="2" charset="-122"/>
              </a:rPr>
              <a:t>JSP</a:t>
            </a:r>
            <a:r>
              <a:rPr lang="zh-CN" altLang="en-US" sz="2600" dirty="0" smtClean="0">
                <a:ea typeface="宋体" panose="02010600030101010101" pitchFamily="2" charset="-122"/>
              </a:rPr>
              <a:t>与</a:t>
            </a:r>
            <a:r>
              <a:rPr lang="en-US" altLang="zh-CN" sz="2600" dirty="0" smtClean="0">
                <a:ea typeface="宋体" panose="02010600030101010101" pitchFamily="2" charset="-122"/>
              </a:rPr>
              <a:t>Servlet</a:t>
            </a:r>
            <a:endParaRPr lang="en-US" altLang="zh-CN" sz="2400" dirty="0" smtClean="0"/>
          </a:p>
          <a:p>
            <a:pPr marL="1073150" lvl="1" indent="-532765">
              <a:lnSpc>
                <a:spcPct val="200000"/>
              </a:lnSpc>
            </a:pPr>
            <a:r>
              <a:rPr lang="en-US" altLang="zh-CN" sz="2300" dirty="0" smtClean="0"/>
              <a:t>Java Web</a:t>
            </a:r>
            <a:r>
              <a:rPr lang="zh-CN" altLang="zh-CN" sz="2300" dirty="0" smtClean="0"/>
              <a:t>应用程序介绍</a:t>
            </a:r>
            <a:endParaRPr lang="en-US" altLang="zh-CN" sz="2300" dirty="0" smtClean="0"/>
          </a:p>
          <a:p>
            <a:pPr marL="1073150" lvl="1" indent="-532765">
              <a:lnSpc>
                <a:spcPct val="200000"/>
              </a:lnSpc>
            </a:pPr>
            <a:r>
              <a:rPr lang="en-US" altLang="zh-CN" sz="2300" dirty="0" smtClean="0"/>
              <a:t>JSP</a:t>
            </a:r>
            <a:r>
              <a:rPr lang="zh-CN" altLang="en-US" sz="2300" dirty="0" smtClean="0"/>
              <a:t>与</a:t>
            </a:r>
            <a:r>
              <a:rPr lang="en-US" altLang="zh-CN" sz="2300" dirty="0" smtClean="0"/>
              <a:t>Servlet</a:t>
            </a:r>
            <a:r>
              <a:rPr lang="zh-CN" altLang="en-US" sz="2300" dirty="0" smtClean="0"/>
              <a:t>的关系</a:t>
            </a:r>
            <a:endParaRPr lang="zh-CN" altLang="en-US" sz="23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49055" y="4336405"/>
            <a:ext cx="12280552" cy="302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596" tIns="57300" rIns="114596" bIns="57300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180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4465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787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127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531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2872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2760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61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pPr marL="456565" lvl="1" indent="-456565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zh-CN" altLang="en-US" sz="2600" dirty="0" smtClean="0"/>
              <a:t>理解：</a:t>
            </a:r>
            <a:r>
              <a:rPr lang="en-US" altLang="zh-CN" sz="2400" dirty="0" smtClean="0"/>
              <a:t> Java Web</a:t>
            </a:r>
            <a:r>
              <a:rPr lang="zh-CN" altLang="zh-CN" sz="2400" dirty="0" smtClean="0"/>
              <a:t>应用程序</a:t>
            </a:r>
            <a:r>
              <a:rPr lang="zh-CN" altLang="en-US" sz="2400" dirty="0" smtClean="0"/>
              <a:t>组成</a:t>
            </a:r>
            <a:endParaRPr lang="en-US" altLang="zh-CN" sz="2400" dirty="0" smtClean="0"/>
          </a:p>
        </p:txBody>
      </p:sp>
      <p:sp>
        <p:nvSpPr>
          <p:cNvPr id="4" name="矩形 3"/>
          <p:cNvSpPr/>
          <p:nvPr/>
        </p:nvSpPr>
        <p:spPr>
          <a:xfrm>
            <a:off x="1120126" y="4497549"/>
            <a:ext cx="2436671" cy="630839"/>
          </a:xfrm>
          <a:prstGeom prst="rect">
            <a:avLst/>
          </a:prstGeom>
        </p:spPr>
        <p:txBody>
          <a:bodyPr wrap="none" lIns="91334" tIns="45669" rIns="91334" bIns="45669">
            <a:spAutoFit/>
          </a:bodyPr>
          <a:lstStyle/>
          <a:p>
            <a:r>
              <a:rPr lang="zh-CN" altLang="en-US" sz="3500" b="1" kern="0" dirty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教学要求：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5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5"/>
            <a:ext cx="11269266" cy="532403"/>
          </a:xfrm>
        </p:spPr>
        <p:txBody>
          <a:bodyPr/>
          <a:lstStyle/>
          <a:p>
            <a:pPr marL="430530" lvl="1" indent="-430530">
              <a:buFont typeface="Wingdings" panose="05000000000000000000" pitchFamily="2" charset="2"/>
              <a:buChar char="v"/>
            </a:pPr>
            <a:r>
              <a:rPr lang="en-US" altLang="zh-CN" dirty="0" smtClean="0"/>
              <a:t>Java Web</a:t>
            </a:r>
            <a:r>
              <a:rPr lang="zh-CN" altLang="zh-CN" dirty="0" smtClean="0"/>
              <a:t>应用程序介绍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668735" y="2422549"/>
            <a:ext cx="11217671" cy="941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89" tIns="57394" rIns="114789" bIns="57394" anchor="ctr">
            <a:spAutoFit/>
          </a:bodyPr>
          <a:lstStyle/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一个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应用程序是由一组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Servlet、JSP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页面、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HTML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页面、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类，以及其他的资源组成的运行在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服务器上的应用程序。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应用程序以一种结构化的有层次的目录形式存在。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32831" y="3472309"/>
            <a:ext cx="9217024" cy="2353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JSP</a:t>
            </a:r>
            <a:r>
              <a:rPr lang="zh-CN" altLang="en-US" dirty="0" smtClean="0">
                <a:ea typeface="宋体" panose="02010600030101010101" pitchFamily="2" charset="-122"/>
              </a:rPr>
              <a:t>与</a:t>
            </a:r>
            <a:r>
              <a:rPr lang="en-US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46089" y="1577121"/>
            <a:ext cx="11760398" cy="5303943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JSP</a:t>
            </a:r>
            <a:r>
              <a:rPr lang="zh-CN" altLang="en-US" dirty="0" smtClean="0">
                <a:ea typeface="宋体" panose="02010600030101010101" pitchFamily="2" charset="-122"/>
              </a:rPr>
              <a:t>与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的关系</a:t>
            </a:r>
            <a:endParaRPr lang="zh-CN" altLang="en-US" sz="3000" dirty="0">
              <a:ea typeface="宋体" panose="02010600030101010101" pitchFamily="2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1013522" y="2181972"/>
            <a:ext cx="9736333" cy="1002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89" tIns="57394" rIns="114789" bIns="57394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都是动态的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技术，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为基础开发，它被翻译成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再执行，所以在底层运行机制上和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有共同之处。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756967" y="3112269"/>
            <a:ext cx="5832648" cy="3791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0863" y="622812"/>
            <a:ext cx="8358188" cy="59435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本章小结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236687" y="1641748"/>
            <a:ext cx="12009759" cy="4991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89" tIns="57394" rIns="114789" bIns="57394" anchor="ctr">
            <a:spAutoFit/>
          </a:bodyPr>
          <a:lstStyle/>
          <a:p>
            <a:pPr indent="457200"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应用的运行需要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JDK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服务器的支持。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JDK 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是整个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技术的核心，其中包括了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运行环境，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工具和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基础的类库，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JDK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是其它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开发工具的基础。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服务器负责接收用户请求，并调用部署在其上的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应用进行处理。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Tomcat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是目前较流行的一种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服务器，是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应用的开发和调试一般使用专业的开发工具。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Eclipse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是功能丰富的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JavaEE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集成开发环境，包括了完备的编码、调试、测试和发布功能。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与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技术中的两项重要技术。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是使用应用程序设计接口以及相关类和方法的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程序。它可以作为一种插件，提供诸如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、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FTP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等协议服务甚至用户自已定制的协议服务，主要用于处理和客户之间的通信。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是在传统的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HTML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文件中插入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程序段和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标记形成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文件。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JSP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是以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为基础开发，它被翻译成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再执行，所以在底层运行机制上和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有共同之处。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lnSpc>
                <a:spcPct val="160000"/>
              </a:lnSpc>
            </a:pP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在本章首先需明确专业领域内工作岗位和工作内容的社会价值，自觉树立正确的技能观和远大职业理想。提高综合职业素养，作为职业人专注、敬业、责任担当对完成好本职工作，进而促进软件行业整体的高水平。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26625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>
                <a:ea typeface="宋体" panose="02010600030101010101" pitchFamily="2" charset="-122"/>
              </a:rPr>
              <a:t>实战演练</a:t>
            </a:r>
            <a:r>
              <a:rPr lang="zh-CN" altLang="en-US" sz="2955">
                <a:ea typeface="宋体" panose="02010600030101010101" pitchFamily="2" charset="-122"/>
              </a:rPr>
              <a:t> </a:t>
            </a:r>
            <a:endParaRPr lang="zh-CN" altLang="en-US" sz="2955">
              <a:ea typeface="宋体" panose="02010600030101010101" pitchFamily="2" charset="-122"/>
            </a:endParaRPr>
          </a:p>
        </p:txBody>
      </p:sp>
      <p:sp>
        <p:nvSpPr>
          <p:cNvPr id="26627" name="文本占位符 266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60000"/>
              </a:lnSpc>
              <a:buNone/>
            </a:pPr>
            <a:r>
              <a:rPr lang="en-US" altLang="zh-CN" sz="1900" dirty="0" smtClean="0">
                <a:ea typeface="宋体" panose="02010600030101010101" pitchFamily="2" charset="-122"/>
              </a:rPr>
              <a:t>[</a:t>
            </a:r>
            <a:r>
              <a:rPr lang="zh-CN" altLang="en-US" sz="1900" dirty="0" smtClean="0">
                <a:ea typeface="宋体" panose="02010600030101010101" pitchFamily="2" charset="-122"/>
              </a:rPr>
              <a:t>实战 </a:t>
            </a:r>
            <a:r>
              <a:rPr lang="en-US" altLang="zh-CN" sz="1900" dirty="0" smtClean="0">
                <a:ea typeface="宋体" panose="02010600030101010101" pitchFamily="2" charset="-122"/>
              </a:rPr>
              <a:t>3-1]</a:t>
            </a:r>
            <a:r>
              <a:rPr lang="zh-CN" altLang="en-US" sz="1900" dirty="0" smtClean="0">
                <a:ea typeface="宋体" panose="02010600030101010101" pitchFamily="2" charset="-122"/>
              </a:rPr>
              <a:t>修改</a:t>
            </a:r>
            <a:r>
              <a:rPr lang="en-US" altLang="zh-CN" sz="1900" dirty="0" smtClean="0">
                <a:ea typeface="宋体" panose="02010600030101010101" pitchFamily="2" charset="-122"/>
              </a:rPr>
              <a:t>Tomcat</a:t>
            </a:r>
            <a:r>
              <a:rPr lang="zh-CN" altLang="en-US" sz="1900" dirty="0" smtClean="0">
                <a:ea typeface="宋体" panose="02010600030101010101" pitchFamily="2" charset="-122"/>
              </a:rPr>
              <a:t>的访问端口为</a:t>
            </a:r>
            <a:r>
              <a:rPr lang="en-US" altLang="zh-CN" sz="1900" dirty="0" smtClean="0">
                <a:ea typeface="宋体" panose="02010600030101010101" pitchFamily="2" charset="-122"/>
              </a:rPr>
              <a:t>2022</a:t>
            </a:r>
            <a:r>
              <a:rPr lang="zh-CN" altLang="en-US" sz="1900" dirty="0" smtClean="0">
                <a:ea typeface="宋体" panose="02010600030101010101" pitchFamily="2" charset="-122"/>
              </a:rPr>
              <a:t>。</a:t>
            </a:r>
            <a:endParaRPr lang="en-US" altLang="zh-CN" sz="1900" dirty="0" smtClean="0">
              <a:ea typeface="宋体" panose="02010600030101010101" pitchFamily="2" charset="-122"/>
            </a:endParaRPr>
          </a:p>
          <a:p>
            <a:pPr indent="0">
              <a:lnSpc>
                <a:spcPct val="160000"/>
              </a:lnSpc>
              <a:buNone/>
            </a:pPr>
            <a:endParaRPr lang="en-US" altLang="zh-CN" sz="1900" dirty="0" smtClean="0"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  <a:buNone/>
            </a:pPr>
            <a:endParaRPr lang="zh-CN" altLang="en-US" sz="1900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>
                <a:ea typeface="宋体" panose="02010600030101010101" pitchFamily="2" charset="-122"/>
              </a:rPr>
              <a:t>	</a:t>
            </a:r>
            <a:br>
              <a:rPr lang="zh-CN" altLang="en-US" dirty="0">
                <a:ea typeface="宋体" panose="02010600030101010101" pitchFamily="2" charset="-122"/>
              </a:rPr>
            </a:br>
            <a:endParaRPr lang="zh-CN" altLang="en-US" dirty="0"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68935" y="2248173"/>
            <a:ext cx="6120680" cy="3715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26625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>
                <a:ea typeface="宋体" panose="02010600030101010101" pitchFamily="2" charset="-122"/>
              </a:rPr>
              <a:t>实战演练</a:t>
            </a:r>
            <a:r>
              <a:rPr lang="zh-CN" altLang="en-US" sz="2955">
                <a:ea typeface="宋体" panose="02010600030101010101" pitchFamily="2" charset="-122"/>
              </a:rPr>
              <a:t> </a:t>
            </a:r>
            <a:endParaRPr lang="zh-CN" altLang="en-US" sz="2955">
              <a:ea typeface="宋体" panose="02010600030101010101" pitchFamily="2" charset="-122"/>
            </a:endParaRPr>
          </a:p>
        </p:txBody>
      </p:sp>
      <p:sp>
        <p:nvSpPr>
          <p:cNvPr id="26627" name="文本占位符 266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lnSpc>
                <a:spcPct val="160000"/>
              </a:lnSpc>
              <a:buNone/>
            </a:pPr>
            <a:r>
              <a:rPr lang="en-US" altLang="zh-CN" sz="1900" dirty="0" smtClean="0">
                <a:ea typeface="宋体" panose="02010600030101010101" pitchFamily="2" charset="-122"/>
              </a:rPr>
              <a:t>[</a:t>
            </a:r>
            <a:r>
              <a:rPr lang="zh-CN" altLang="en-US" sz="1900" dirty="0" smtClean="0">
                <a:ea typeface="宋体" panose="02010600030101010101" pitchFamily="2" charset="-122"/>
              </a:rPr>
              <a:t>实战 </a:t>
            </a:r>
            <a:r>
              <a:rPr lang="en-US" altLang="zh-CN" sz="1900" dirty="0" smtClean="0">
                <a:ea typeface="宋体" panose="02010600030101010101" pitchFamily="2" charset="-122"/>
              </a:rPr>
              <a:t>3-2]</a:t>
            </a:r>
            <a:r>
              <a:rPr lang="zh-CN" altLang="en-US" sz="1900" dirty="0" smtClean="0">
                <a:ea typeface="宋体" panose="02010600030101010101" pitchFamily="2" charset="-122"/>
              </a:rPr>
              <a:t>请编写一个</a:t>
            </a:r>
            <a:r>
              <a:rPr lang="en-US" altLang="zh-CN" sz="1900" dirty="0" smtClean="0">
                <a:ea typeface="宋体" panose="02010600030101010101" pitchFamily="2" charset="-122"/>
              </a:rPr>
              <a:t>Servlet</a:t>
            </a:r>
            <a:r>
              <a:rPr lang="zh-CN" altLang="en-US" sz="1900" dirty="0" smtClean="0">
                <a:ea typeface="宋体" panose="02010600030101010101" pitchFamily="2" charset="-122"/>
              </a:rPr>
              <a:t>程序和一个</a:t>
            </a:r>
            <a:r>
              <a:rPr lang="en-US" altLang="zh-CN" sz="1900" dirty="0" smtClean="0">
                <a:ea typeface="宋体" panose="02010600030101010101" pitchFamily="2" charset="-122"/>
              </a:rPr>
              <a:t>JSP</a:t>
            </a:r>
            <a:r>
              <a:rPr lang="zh-CN" altLang="en-US" sz="1900" dirty="0" smtClean="0">
                <a:ea typeface="宋体" panose="02010600030101010101" pitchFamily="2" charset="-122"/>
              </a:rPr>
              <a:t>程序，使两个程序在页面上显示“神舟十三号载人飞船发射圆满成功”。</a:t>
            </a:r>
            <a:endParaRPr lang="zh-CN" altLang="en-US" sz="1900" dirty="0" smtClean="0"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  <a:buNone/>
            </a:pPr>
            <a:endParaRPr lang="zh-CN" altLang="en-US" sz="1900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>
                <a:ea typeface="宋体" panose="02010600030101010101" pitchFamily="2" charset="-122"/>
              </a:rPr>
              <a:t>	</a:t>
            </a:r>
            <a:br>
              <a:rPr lang="zh-CN" altLang="en-US" dirty="0">
                <a:ea typeface="宋体" panose="02010600030101010101" pitchFamily="2" charset="-122"/>
              </a:rPr>
            </a:br>
            <a:endParaRPr lang="zh-CN" altLang="en-US" dirty="0"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756967" y="2464197"/>
            <a:ext cx="6523037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0"/>
            <a:ext cx="7256762" cy="7256364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V="1">
            <a:off x="1608166" y="1145782"/>
            <a:ext cx="4826927" cy="4827192"/>
          </a:xfrm>
          <a:custGeom>
            <a:avLst/>
            <a:gdLst>
              <a:gd name="connsiteX0" fmla="*/ 0 w 4343400"/>
              <a:gd name="connsiteY0" fmla="*/ 0 h 4343400"/>
              <a:gd name="connsiteX1" fmla="*/ 4343400 w 4343400"/>
              <a:gd name="connsiteY1" fmla="*/ 4343400 h 4343400"/>
              <a:gd name="connsiteX2" fmla="*/ 3486149 w 4343400"/>
              <a:gd name="connsiteY2" fmla="*/ 4343400 h 4343400"/>
              <a:gd name="connsiteX3" fmla="*/ 0 w 4343400"/>
              <a:gd name="connsiteY3" fmla="*/ 857251 h 4343400"/>
              <a:gd name="connsiteX4" fmla="*/ 0 w 4343400"/>
              <a:gd name="connsiteY4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4343400">
                <a:moveTo>
                  <a:pt x="0" y="0"/>
                </a:moveTo>
                <a:lnTo>
                  <a:pt x="4343400" y="4343400"/>
                </a:lnTo>
                <a:lnTo>
                  <a:pt x="3486149" y="4343400"/>
                </a:lnTo>
                <a:lnTo>
                  <a:pt x="0" y="8572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7167" y="1960141"/>
            <a:ext cx="8595718" cy="62228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&lt;&lt;JSP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与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Servlet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开发技术与典型应用教程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&gt;&gt;</a:t>
            </a:r>
            <a:endParaRPr kumimoji="1" lang="zh-CN" altLang="en-US" sz="3200" b="1" dirty="0">
              <a:solidFill>
                <a:srgbClr val="52658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09295" y="2896245"/>
            <a:ext cx="6016403" cy="56072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感谢观看 </a:t>
            </a:r>
            <a:r>
              <a:rPr kumimoji="1" lang="en-US" altLang="zh-CN" sz="28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THANK YOU!</a:t>
            </a:r>
            <a:endParaRPr kumimoji="1" lang="zh-CN" altLang="en-US" sz="2800" dirty="0">
              <a:solidFill>
                <a:prstClr val="white">
                  <a:lumMod val="50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2" name="直角三角形 11"/>
          <p:cNvSpPr/>
          <p:nvPr/>
        </p:nvSpPr>
        <p:spPr>
          <a:xfrm flipH="1">
            <a:off x="8229575" y="3976365"/>
            <a:ext cx="4629176" cy="3279999"/>
          </a:xfrm>
          <a:prstGeom prst="rtTriangle">
            <a:avLst/>
          </a:prstGeom>
          <a:solidFill>
            <a:srgbClr val="43536A"/>
          </a:solidFill>
          <a:ln>
            <a:solidFill>
              <a:srgbClr val="435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直角三角形 15"/>
          <p:cNvSpPr/>
          <p:nvPr/>
        </p:nvSpPr>
        <p:spPr>
          <a:xfrm rot="13500000" flipV="1">
            <a:off x="2775844" y="-1270801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73591" y="397636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b="1" dirty="0">
                <a:solidFill>
                  <a:srgbClr val="526580"/>
                </a:solidFill>
                <a:cs typeface="+mn-ea"/>
              </a:rPr>
              <a:t>大连理工大学出版社</a:t>
            </a:r>
            <a:endParaRPr kumimoji="1" lang="zh-CN" altLang="en-US" sz="2000" b="1" dirty="0">
              <a:solidFill>
                <a:srgbClr val="526580"/>
              </a:solidFill>
              <a:cs typeface="+mn-ea"/>
            </a:endParaRPr>
          </a:p>
        </p:txBody>
      </p:sp>
      <p:sp>
        <p:nvSpPr>
          <p:cNvPr id="10" name="文本框 8"/>
          <p:cNvSpPr txBox="1"/>
          <p:nvPr/>
        </p:nvSpPr>
        <p:spPr>
          <a:xfrm rot="2679144">
            <a:off x="1518042" y="2942040"/>
            <a:ext cx="5266506" cy="56072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>
              <a:buNone/>
            </a:pPr>
            <a:r>
              <a:rPr kumimoji="1" lang="zh-CN" altLang="en-US" sz="2800" b="1" dirty="0" smtClean="0">
                <a:solidFill>
                  <a:srgbClr val="526580"/>
                </a:solidFill>
                <a:latin typeface="+mn-ea"/>
                <a:ea typeface="+mn-ea"/>
                <a:cs typeface="+mn-ea"/>
                <a:sym typeface="宋体" panose="02010600030101010101" pitchFamily="2" charset="-122"/>
              </a:rPr>
              <a:t>第三章 </a:t>
            </a:r>
            <a:r>
              <a:rPr kumimoji="1" lang="en-US" altLang="zh-CN" sz="2800" b="1" dirty="0" smtClean="0">
                <a:solidFill>
                  <a:srgbClr val="526580"/>
                </a:solidFill>
                <a:latin typeface="+mn-ea"/>
                <a:ea typeface="+mn-ea"/>
                <a:cs typeface="+mn-ea"/>
                <a:sym typeface="宋体" panose="02010600030101010101" pitchFamily="2" charset="-122"/>
              </a:rPr>
              <a:t>   JSP</a:t>
            </a:r>
            <a:r>
              <a:rPr kumimoji="1" lang="zh-CN" altLang="en-US" sz="2800" b="1" dirty="0" smtClean="0">
                <a:solidFill>
                  <a:srgbClr val="526580"/>
                </a:solidFill>
                <a:latin typeface="+mn-ea"/>
                <a:ea typeface="+mn-ea"/>
                <a:cs typeface="+mn-ea"/>
                <a:sym typeface="宋体" panose="02010600030101010101" pitchFamily="2" charset="-122"/>
              </a:rPr>
              <a:t>与</a:t>
            </a:r>
            <a:r>
              <a:rPr kumimoji="1" lang="en-US" altLang="zh-CN" sz="2800" b="1" dirty="0" smtClean="0">
                <a:solidFill>
                  <a:srgbClr val="526580"/>
                </a:solidFill>
                <a:latin typeface="+mn-ea"/>
                <a:ea typeface="+mn-ea"/>
                <a:cs typeface="+mn-ea"/>
                <a:sym typeface="宋体" panose="02010600030101010101" pitchFamily="2" charset="-122"/>
              </a:rPr>
              <a:t>Servlet</a:t>
            </a:r>
            <a:endParaRPr kumimoji="1" lang="zh-CN" altLang="en-US" sz="2800" b="1" dirty="0">
              <a:solidFill>
                <a:srgbClr val="526580"/>
              </a:solidFill>
              <a:latin typeface="+mn-ea"/>
              <a:ea typeface="+mn-ea"/>
              <a:cs typeface="+mn-ea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12" grpId="0" animBg="1"/>
      <p:bldP spid="16" grpId="0" animBg="1"/>
      <p:bldP spid="4" grpId="0"/>
      <p:bldP spid="10" grpId="0"/>
    </p:bldLst>
  </p:timing>
</p:sld>
</file>

<file path=ppt/tags/tag1.xml><?xml version="1.0" encoding="utf-8"?>
<p:tagLst xmlns:p="http://schemas.openxmlformats.org/presentationml/2006/main">
  <p:tag name="ISPRING_PRESENTATION_TITLE" val="bt026.pptx"/>
</p:tagLst>
</file>

<file path=ppt/theme/theme1.xml><?xml version="1.0" encoding="utf-8"?>
<a:theme xmlns:a="http://schemas.openxmlformats.org/drawingml/2006/main" name="自定义设计方案">
  <a:themeElements>
    <a:clrScheme name="自定义 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366"/>
      </a:accent1>
      <a:accent2>
        <a:srgbClr val="003366"/>
      </a:accent2>
      <a:accent3>
        <a:srgbClr val="003366"/>
      </a:accent3>
      <a:accent4>
        <a:srgbClr val="003366"/>
      </a:accent4>
      <a:accent5>
        <a:srgbClr val="003366"/>
      </a:accent5>
      <a:accent6>
        <a:srgbClr val="003366"/>
      </a:accent6>
      <a:hlink>
        <a:srgbClr val="003366"/>
      </a:hlink>
      <a:folHlink>
        <a:srgbClr val="003366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9D9D9">
            <a:alpha val="50196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灰白简约科技PPT模板">
  <a:themeElements>
    <a:clrScheme name="灰白简约科技PPT模板 3">
      <a:dk1>
        <a:srgbClr val="000000"/>
      </a:dk1>
      <a:lt1>
        <a:srgbClr val="FFFFFF"/>
      </a:lt1>
      <a:dk2>
        <a:srgbClr val="333399"/>
      </a:dk2>
      <a:lt2>
        <a:srgbClr val="C0C0C0"/>
      </a:lt2>
      <a:accent1>
        <a:srgbClr val="88BEF4"/>
      </a:accent1>
      <a:accent2>
        <a:srgbClr val="F1900F"/>
      </a:accent2>
      <a:accent3>
        <a:srgbClr val="FFFFFF"/>
      </a:accent3>
      <a:accent4>
        <a:srgbClr val="000000"/>
      </a:accent4>
      <a:accent5>
        <a:srgbClr val="C3DBF8"/>
      </a:accent5>
      <a:accent6>
        <a:srgbClr val="DA820C"/>
      </a:accent6>
      <a:hlink>
        <a:srgbClr val="CC3300"/>
      </a:hlink>
      <a:folHlink>
        <a:srgbClr val="0066CC"/>
      </a:folHlink>
    </a:clrScheme>
    <a:fontScheme name="灰白简约科技PPT模板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灰白简约科技PPT模板 1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2">
        <a:dk1>
          <a:srgbClr val="000000"/>
        </a:dk1>
        <a:lt1>
          <a:srgbClr val="FFFFFF"/>
        </a:lt1>
        <a:dk2>
          <a:srgbClr val="26728A"/>
        </a:dk2>
        <a:lt2>
          <a:srgbClr val="DDDDDD"/>
        </a:lt2>
        <a:accent1>
          <a:srgbClr val="9FCAD3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8A8AE7"/>
        </a:accent6>
        <a:hlink>
          <a:srgbClr val="71A5DF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3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灰白简约科技PPT模板">
  <a:themeElements>
    <a:clrScheme name="灰白简约科技PPT模板 3">
      <a:dk1>
        <a:srgbClr val="000000"/>
      </a:dk1>
      <a:lt1>
        <a:srgbClr val="FFFFFF"/>
      </a:lt1>
      <a:dk2>
        <a:srgbClr val="333399"/>
      </a:dk2>
      <a:lt2>
        <a:srgbClr val="C0C0C0"/>
      </a:lt2>
      <a:accent1>
        <a:srgbClr val="88BEF4"/>
      </a:accent1>
      <a:accent2>
        <a:srgbClr val="F1900F"/>
      </a:accent2>
      <a:accent3>
        <a:srgbClr val="FFFFFF"/>
      </a:accent3>
      <a:accent4>
        <a:srgbClr val="000000"/>
      </a:accent4>
      <a:accent5>
        <a:srgbClr val="C3DBF8"/>
      </a:accent5>
      <a:accent6>
        <a:srgbClr val="DA820C"/>
      </a:accent6>
      <a:hlink>
        <a:srgbClr val="CC3300"/>
      </a:hlink>
      <a:folHlink>
        <a:srgbClr val="0066CC"/>
      </a:folHlink>
    </a:clrScheme>
    <a:fontScheme name="灰白简约科技PPT模板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灰白简约科技PPT模板 1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2">
        <a:dk1>
          <a:srgbClr val="000000"/>
        </a:dk1>
        <a:lt1>
          <a:srgbClr val="FFFFFF"/>
        </a:lt1>
        <a:dk2>
          <a:srgbClr val="26728A"/>
        </a:dk2>
        <a:lt2>
          <a:srgbClr val="DDDDDD"/>
        </a:lt2>
        <a:accent1>
          <a:srgbClr val="9FCAD3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8A8AE7"/>
        </a:accent6>
        <a:hlink>
          <a:srgbClr val="71A5DF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3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灰白简约科技PPT模板">
  <a:themeElements>
    <a:clrScheme name="灰白简约科技PPT模板 3">
      <a:dk1>
        <a:srgbClr val="000000"/>
      </a:dk1>
      <a:lt1>
        <a:srgbClr val="FFFFFF"/>
      </a:lt1>
      <a:dk2>
        <a:srgbClr val="333399"/>
      </a:dk2>
      <a:lt2>
        <a:srgbClr val="C0C0C0"/>
      </a:lt2>
      <a:accent1>
        <a:srgbClr val="88BEF4"/>
      </a:accent1>
      <a:accent2>
        <a:srgbClr val="F1900F"/>
      </a:accent2>
      <a:accent3>
        <a:srgbClr val="FFFFFF"/>
      </a:accent3>
      <a:accent4>
        <a:srgbClr val="000000"/>
      </a:accent4>
      <a:accent5>
        <a:srgbClr val="C3DBF8"/>
      </a:accent5>
      <a:accent6>
        <a:srgbClr val="DA820C"/>
      </a:accent6>
      <a:hlink>
        <a:srgbClr val="CC3300"/>
      </a:hlink>
      <a:folHlink>
        <a:srgbClr val="0066CC"/>
      </a:folHlink>
    </a:clrScheme>
    <a:fontScheme name="灰白简约科技PPT模板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灰白简约科技PPT模板 1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2">
        <a:dk1>
          <a:srgbClr val="000000"/>
        </a:dk1>
        <a:lt1>
          <a:srgbClr val="FFFFFF"/>
        </a:lt1>
        <a:dk2>
          <a:srgbClr val="26728A"/>
        </a:dk2>
        <a:lt2>
          <a:srgbClr val="DDDDDD"/>
        </a:lt2>
        <a:accent1>
          <a:srgbClr val="9FCAD3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8A8AE7"/>
        </a:accent6>
        <a:hlink>
          <a:srgbClr val="71A5DF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3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3504</Words>
  <Application>WPS 演示</Application>
  <PresentationFormat>自定义</PresentationFormat>
  <Paragraphs>250</Paragraphs>
  <Slides>31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Arial</vt:lpstr>
      <vt:lpstr>宋体</vt:lpstr>
      <vt:lpstr>Wingdings</vt:lpstr>
      <vt:lpstr>Calibri</vt:lpstr>
      <vt:lpstr>Agency FB</vt:lpstr>
      <vt:lpstr>方正正黑简体</vt:lpstr>
      <vt:lpstr>黑体</vt:lpstr>
      <vt:lpstr>Arial</vt:lpstr>
      <vt:lpstr>楷体_GB2312</vt:lpstr>
      <vt:lpstr>新宋体</vt:lpstr>
      <vt:lpstr>微软雅黑</vt:lpstr>
      <vt:lpstr>Arial Unicode MS</vt:lpstr>
      <vt:lpstr>自定义设计方案</vt:lpstr>
      <vt:lpstr>灰白简约科技PPT模板</vt:lpstr>
      <vt:lpstr>1_灰白简约科技PPT模板</vt:lpstr>
      <vt:lpstr>2_灰白简约科技PPT模板</vt:lpstr>
      <vt:lpstr>PowerPoint 演示文稿</vt:lpstr>
      <vt:lpstr>PowerPoint 演示文稿</vt:lpstr>
      <vt:lpstr>PowerPoint 演示文稿</vt:lpstr>
      <vt:lpstr>PowerPoint 演示文稿</vt:lpstr>
      <vt:lpstr>第三章   JSP与Servlet</vt:lpstr>
      <vt:lpstr>第三章   JSP与Servlet</vt:lpstr>
      <vt:lpstr>授课任务</vt:lpstr>
      <vt:lpstr>环境安装与配置</vt:lpstr>
      <vt:lpstr>环境安装与配置</vt:lpstr>
      <vt:lpstr>环境安装与配置</vt:lpstr>
      <vt:lpstr>环境安装与配置</vt:lpstr>
      <vt:lpstr>环境安装与配置</vt:lpstr>
      <vt:lpstr>环境安装与配置</vt:lpstr>
      <vt:lpstr>PowerPoint 演示文稿</vt:lpstr>
      <vt:lpstr>第三章   JSP与Servlet</vt:lpstr>
      <vt:lpstr>授课任务</vt:lpstr>
      <vt:lpstr>Servlet是什么 </vt:lpstr>
      <vt:lpstr>Servlet是什么 </vt:lpstr>
      <vt:lpstr>Servlet是什么 </vt:lpstr>
      <vt:lpstr>PowerPoint 演示文稿</vt:lpstr>
      <vt:lpstr>第三章   JSP与Servlet</vt:lpstr>
      <vt:lpstr>授课任务</vt:lpstr>
      <vt:lpstr>JSP是什么</vt:lpstr>
      <vt:lpstr>PowerPoint 演示文稿</vt:lpstr>
      <vt:lpstr>第三章   JSP与Servlet</vt:lpstr>
      <vt:lpstr>授课任务</vt:lpstr>
      <vt:lpstr>JSP与Servlet </vt:lpstr>
      <vt:lpstr>本章小结</vt:lpstr>
      <vt:lpstr>实战演练 </vt:lpstr>
      <vt:lpstr>实战演练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bt026.pptx</dc:title>
  <dc:creator/>
  <cp:lastModifiedBy>fx</cp:lastModifiedBy>
  <cp:revision>3</cp:revision>
  <dcterms:created xsi:type="dcterms:W3CDTF">2016-09-20T02:06:00Z</dcterms:created>
  <dcterms:modified xsi:type="dcterms:W3CDTF">2026-07-21T11:21:33Z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50F419D1AEFC44C39079C7608FBF040E_12</vt:lpwstr>
  </property>
  <property fmtid="{D5CDD505-2E9C-101B-9397-08002B2CF9AE}" pid="3" name="KSOProductBuildVer">
    <vt:lpwstr>2052-12.1.0.26895</vt:lpwstr>
  </property>
</Properties>
</file>