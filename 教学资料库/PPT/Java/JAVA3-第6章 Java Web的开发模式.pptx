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63" r:id="rId4"/>
    <p:sldMasterId id="2147483676" r:id="rId5"/>
  </p:sldMasterIdLst>
  <p:notesMasterIdLst>
    <p:notesMasterId r:id="rId7"/>
  </p:notesMasterIdLst>
  <p:sldIdLst>
    <p:sldId id="2807" r:id="rId6"/>
    <p:sldId id="2821" r:id="rId8"/>
    <p:sldId id="2822" r:id="rId9"/>
    <p:sldId id="2818" r:id="rId10"/>
    <p:sldId id="2784" r:id="rId11"/>
    <p:sldId id="2785" r:id="rId12"/>
    <p:sldId id="2797" r:id="rId13"/>
    <p:sldId id="2798" r:id="rId14"/>
    <p:sldId id="2799" r:id="rId15"/>
    <p:sldId id="2800" r:id="rId16"/>
    <p:sldId id="2801" r:id="rId17"/>
    <p:sldId id="2802" r:id="rId18"/>
    <p:sldId id="2803" r:id="rId19"/>
    <p:sldId id="2804" r:id="rId20"/>
    <p:sldId id="2805" r:id="rId21"/>
    <p:sldId id="2806" r:id="rId22"/>
    <p:sldId id="2819" r:id="rId23"/>
    <p:sldId id="2809" r:id="rId24"/>
    <p:sldId id="2810" r:id="rId25"/>
    <p:sldId id="2811" r:id="rId26"/>
    <p:sldId id="2812" r:id="rId27"/>
    <p:sldId id="2813" r:id="rId28"/>
    <p:sldId id="2814" r:id="rId29"/>
    <p:sldId id="2815" r:id="rId30"/>
    <p:sldId id="2820" r:id="rId31"/>
    <p:sldId id="2823" r:id="rId32"/>
    <p:sldId id="2824" r:id="rId33"/>
    <p:sldId id="2816" r:id="rId34"/>
    <p:sldId id="2817" r:id="rId35"/>
  </p:sldIdLst>
  <p:sldSz cx="12858750" cy="7232650"/>
  <p:notesSz cx="6858000" cy="9144000"/>
  <p:custDataLst>
    <p:tags r:id="rId39"/>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445" indent="-18224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065"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4685" indent="-55372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7305"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47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19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1991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5695"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3" userDrawn="1">
          <p15:clr>
            <a:srgbClr val="A4A3A4"/>
          </p15:clr>
        </p15:guide>
        <p15:guide id="2" pos="4050" userDrawn="1">
          <p15:clr>
            <a:srgbClr val="A4A3A4"/>
          </p15:clr>
        </p15:guide>
        <p15:guide id="3" pos="512" userDrawn="1">
          <p15:clr>
            <a:srgbClr val="A4A3A4"/>
          </p15:clr>
        </p15:guide>
        <p15:guide id="5" orient="horz" pos="4183" userDrawn="1">
          <p15:clr>
            <a:srgbClr val="A4A3A4"/>
          </p15:clr>
        </p15:guide>
        <p15:guide id="6" pos="75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212E3C"/>
    <a:srgbClr val="FBBF09"/>
    <a:srgbClr val="EF4232"/>
    <a:srgbClr val="03A9F0"/>
    <a:srgbClr val="FFFFFF"/>
    <a:srgbClr val="FABCA8"/>
    <a:srgbClr val="57562F"/>
    <a:srgbClr val="FBCDBE"/>
    <a:srgbClr val="6B6A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89" autoAdjust="0"/>
    <p:restoredTop sz="92986" autoAdjust="0"/>
  </p:normalViewPr>
  <p:slideViewPr>
    <p:cSldViewPr showGuides="1">
      <p:cViewPr varScale="1">
        <p:scale>
          <a:sx n="71" d="100"/>
          <a:sy n="71" d="100"/>
        </p:scale>
        <p:origin x="-474" y="-96"/>
      </p:cViewPr>
      <p:guideLst>
        <p:guide orient="horz" pos="373"/>
        <p:guide pos="4050"/>
        <p:guide pos="512"/>
        <p:guide orient="horz" pos="4183"/>
        <p:guide pos="7588"/>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295" algn="l" rtl="0" eaLnBrk="0" fontAlgn="base" hangingPunct="0">
      <a:spcBef>
        <a:spcPct val="30000"/>
      </a:spcBef>
      <a:spcAft>
        <a:spcPct val="0"/>
      </a:spcAft>
      <a:defRPr sz="1300" kern="1200">
        <a:solidFill>
          <a:schemeClr val="tx1"/>
        </a:solidFill>
        <a:latin typeface="+mn-lt"/>
        <a:ea typeface="+mn-ea"/>
        <a:cs typeface="+mn-cs"/>
      </a:defRPr>
    </a:lvl2pPr>
    <a:lvl3pPr marL="912495" algn="l" rtl="0" eaLnBrk="0" fontAlgn="base" hangingPunct="0">
      <a:spcBef>
        <a:spcPct val="30000"/>
      </a:spcBef>
      <a:spcAft>
        <a:spcPct val="0"/>
      </a:spcAft>
      <a:defRPr sz="1300" kern="1200">
        <a:solidFill>
          <a:schemeClr val="tx1"/>
        </a:solidFill>
        <a:latin typeface="+mn-lt"/>
        <a:ea typeface="+mn-ea"/>
        <a:cs typeface="+mn-cs"/>
      </a:defRPr>
    </a:lvl3pPr>
    <a:lvl4pPr marL="1369060" algn="l" rtl="0" eaLnBrk="0" fontAlgn="base" hangingPunct="0">
      <a:spcBef>
        <a:spcPct val="30000"/>
      </a:spcBef>
      <a:spcAft>
        <a:spcPct val="0"/>
      </a:spcAft>
      <a:defRPr sz="1300" kern="1200">
        <a:solidFill>
          <a:schemeClr val="tx1"/>
        </a:solidFill>
        <a:latin typeface="+mn-lt"/>
        <a:ea typeface="+mn-ea"/>
        <a:cs typeface="+mn-cs"/>
      </a:defRPr>
    </a:lvl4pPr>
    <a:lvl5pPr marL="1826260" algn="l" rtl="0" eaLnBrk="0" fontAlgn="base" hangingPunct="0">
      <a:spcBef>
        <a:spcPct val="30000"/>
      </a:spcBef>
      <a:spcAft>
        <a:spcPct val="0"/>
      </a:spcAft>
      <a:defRPr sz="1300" kern="1200">
        <a:solidFill>
          <a:schemeClr val="tx1"/>
        </a:solidFill>
        <a:latin typeface="+mn-lt"/>
        <a:ea typeface="+mn-ea"/>
        <a:cs typeface="+mn-cs"/>
      </a:defRPr>
    </a:lvl5pPr>
    <a:lvl6pPr marL="2284095" algn="l" defTabSz="913765" rtl="0" eaLnBrk="1" latinLnBrk="0" hangingPunct="1">
      <a:defRPr sz="1300" kern="1200">
        <a:solidFill>
          <a:schemeClr val="tx1"/>
        </a:solidFill>
        <a:latin typeface="+mn-lt"/>
        <a:ea typeface="+mn-ea"/>
        <a:cs typeface="+mn-cs"/>
      </a:defRPr>
    </a:lvl6pPr>
    <a:lvl7pPr marL="2741295" algn="l" defTabSz="913765" rtl="0" eaLnBrk="1" latinLnBrk="0" hangingPunct="1">
      <a:defRPr sz="1300" kern="1200">
        <a:solidFill>
          <a:schemeClr val="tx1"/>
        </a:solidFill>
        <a:latin typeface="+mn-lt"/>
        <a:ea typeface="+mn-ea"/>
        <a:cs typeface="+mn-cs"/>
      </a:defRPr>
    </a:lvl7pPr>
    <a:lvl8pPr marL="3197860" algn="l" defTabSz="913765" rtl="0" eaLnBrk="1" latinLnBrk="0" hangingPunct="1">
      <a:defRPr sz="1300" kern="1200">
        <a:solidFill>
          <a:schemeClr val="tx1"/>
        </a:solidFill>
        <a:latin typeface="+mn-lt"/>
        <a:ea typeface="+mn-ea"/>
        <a:cs typeface="+mn-cs"/>
      </a:defRPr>
    </a:lvl8pPr>
    <a:lvl9pPr marL="3655060"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3.bin"/><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6.bin"/><Relationship Id="rId5" Type="http://schemas.openxmlformats.org/officeDocument/2006/relationships/image" Target="../media/image2.png"/><Relationship Id="rId4" Type="http://schemas.openxmlformats.org/officeDocument/2006/relationships/oleObject" Target="../embeddings/oleObject5.bin"/><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9.bin"/><Relationship Id="rId5" Type="http://schemas.openxmlformats.org/officeDocument/2006/relationships/image" Target="../media/image2.png"/><Relationship Id="rId4" Type="http://schemas.openxmlformats.org/officeDocument/2006/relationships/oleObject" Target="../embeddings/oleObject8.bin"/><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600"/>
            <a:ext cx="2893219" cy="386187"/>
          </a:xfrm>
          <a:prstGeom prst="rect">
            <a:avLst/>
          </a:prstGeom>
        </p:spPr>
        <p:txBody>
          <a:bodyPr lIns="91397" tIns="45699" rIns="91397" bIns="45699"/>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600"/>
            <a:ext cx="4339828" cy="386187"/>
          </a:xfrm>
          <a:prstGeom prst="rect">
            <a:avLst/>
          </a:prstGeom>
        </p:spPr>
        <p:txBody>
          <a:bodyPr lIns="91397" tIns="45699" rIns="91397" bIns="45699"/>
          <a:lstStyle/>
          <a:p>
            <a:endParaRPr lang="zh-CN" altLang="en-US"/>
          </a:p>
        </p:txBody>
      </p:sp>
      <p:sp>
        <p:nvSpPr>
          <p:cNvPr id="4" name="灯片编号占位符 3"/>
          <p:cNvSpPr>
            <a:spLocks noGrp="1"/>
          </p:cNvSpPr>
          <p:nvPr>
            <p:ph type="sldNum" sz="quarter" idx="12"/>
          </p:nvPr>
        </p:nvSpPr>
        <p:spPr>
          <a:xfrm>
            <a:off x="9081492" y="6703600"/>
            <a:ext cx="2893219" cy="386187"/>
          </a:xfrm>
          <a:prstGeom prst="rect">
            <a:avLst/>
          </a:prstGeom>
        </p:spPr>
        <p:txBody>
          <a:bodyPr lIns="91397" tIns="45699" rIns="91397" bIns="45699"/>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84039" y="385072"/>
            <a:ext cx="11090672" cy="1397978"/>
          </a:xfrm>
          <a:prstGeom prst="rect">
            <a:avLst/>
          </a:prstGeom>
        </p:spPr>
        <p:txBody>
          <a:bodyPr lIns="128583" tIns="64291" rIns="128583" bIns="64291"/>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884039" y="1925358"/>
            <a:ext cx="11090672" cy="4589051"/>
          </a:xfrm>
          <a:prstGeom prst="rect">
            <a:avLst/>
          </a:prstGeom>
        </p:spPr>
        <p:txBody>
          <a:bodyPr lIns="128583" tIns="64291" rIns="128583" bIns="6429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a:xfrm>
            <a:off x="884039" y="6703596"/>
            <a:ext cx="2893219" cy="385072"/>
          </a:xfrm>
          <a:prstGeom prst="rect">
            <a:avLst/>
          </a:prstGeom>
        </p:spPr>
        <p:txBody>
          <a:bodyPr lIns="128583" tIns="64291" rIns="128583" bIns="64291"/>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a:xfrm>
            <a:off x="4259461" y="6703596"/>
            <a:ext cx="4339828" cy="385072"/>
          </a:xfrm>
          <a:prstGeom prst="rect">
            <a:avLst/>
          </a:prstGeom>
        </p:spPr>
        <p:txBody>
          <a:bodyPr lIns="128583" tIns="64291" rIns="128583" bIns="64291"/>
          <a:lstStyle/>
          <a:p>
            <a:endParaRPr lang="zh-CN" altLang="en-US"/>
          </a:p>
        </p:txBody>
      </p:sp>
      <p:sp>
        <p:nvSpPr>
          <p:cNvPr id="6" name="Slide Number Placeholder 5"/>
          <p:cNvSpPr>
            <a:spLocks noGrp="1"/>
          </p:cNvSpPr>
          <p:nvPr>
            <p:ph type="sldNum" sz="quarter" idx="12"/>
          </p:nvPr>
        </p:nvSpPr>
        <p:spPr>
          <a:xfrm>
            <a:off x="9081492" y="6703596"/>
            <a:ext cx="2893219" cy="385072"/>
          </a:xfrm>
          <a:prstGeom prst="rect">
            <a:avLst/>
          </a:prstGeom>
        </p:spPr>
        <p:txBody>
          <a:bodyPr lIns="128583" tIns="64291" rIns="128583" bIns="64291"/>
          <a:lstStyle/>
          <a:p>
            <a:fld id="{D27987A4-0198-42B4-AAAE-EDBADA4485AB}" type="slidenum">
              <a:rPr lang="zh-CN" altLang="en-US" smtClean="0"/>
            </a:fld>
            <a:endParaRPr lang="zh-CN" altLang="en-US"/>
          </a:p>
        </p:txBody>
      </p:sp>
    </p:spTree>
  </p:cSld>
  <p:clrMapOvr>
    <a:masterClrMapping/>
  </p:clrMapOvr>
  <p:transition spd="med" advClick="0"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8"/>
          <a:ext cx="5956102" cy="1928707"/>
        </p:xfrm>
        <a:graphic>
          <a:graphicData uri="http://schemas.openxmlformats.org/presentationml/2006/ole">
            <mc:AlternateContent xmlns:mc="http://schemas.openxmlformats.org/markup-compatibility/2006">
              <mc:Choice xmlns:v="urn:schemas-microsoft-com:vml" Requires="v">
                <p:oleObj spid="_x0000_s1068" name="" r:id="rId2" imgW="6007100" imgH="2743200" progId="">
                  <p:embed/>
                </p:oleObj>
              </mc:Choice>
              <mc:Fallback>
                <p:oleObj name="" r:id="rId2" imgW="6007100" imgH="2743200" progId="">
                  <p:embed/>
                  <p:pic>
                    <p:nvPicPr>
                      <p:cNvPr id="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8"/>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8"/>
          <a:ext cx="2893219" cy="1928707"/>
        </p:xfrm>
        <a:graphic>
          <a:graphicData uri="http://schemas.openxmlformats.org/presentationml/2006/ole">
            <mc:AlternateContent xmlns:mc="http://schemas.openxmlformats.org/markup-compatibility/2006">
              <mc:Choice xmlns:v="urn:schemas-microsoft-com:vml" Requires="v">
                <p:oleObj spid="_x0000_s1069" name="" r:id="rId4" imgW="5753100" imgH="4356100" progId="">
                  <p:embed/>
                </p:oleObj>
              </mc:Choice>
              <mc:Fallback>
                <p:oleObj name="" r:id="rId4" imgW="5753100" imgH="4356100" progId="">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8"/>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1070" name="" r:id="rId6" imgW="3556000" imgH="2540000" progId="">
                  <p:embed/>
                </p:oleObj>
              </mc:Choice>
              <mc:Fallback>
                <p:oleObj name="" r:id="rId6" imgW="3556000" imgH="254000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8"/>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5"/>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42"/>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42"/>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42"/>
            <a:ext cx="3000375" cy="257831"/>
          </a:xfrm>
        </p:spPr>
        <p:txBody>
          <a:bodyPr/>
          <a:lstStyle>
            <a:lvl1pPr>
              <a:defRPr sz="1500"/>
            </a:lvl1pPr>
          </a:lstStyle>
          <a:p>
            <a:fld id="{A06949FC-71C0-4A9C-8FC5-2FA6268B5FA6}"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34" tIns="57368" rIns="114734" bIns="5736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4"/>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A4663F6-5E52-463E-9D66-231098FB4AD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3"/>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3405" indent="0">
              <a:buNone/>
              <a:defRPr sz="2300"/>
            </a:lvl2pPr>
            <a:lvl3pPr marL="1147445" indent="0">
              <a:buNone/>
              <a:defRPr sz="2000"/>
            </a:lvl3pPr>
            <a:lvl4pPr marL="1720850" indent="0">
              <a:buNone/>
              <a:defRPr sz="1800"/>
            </a:lvl4pPr>
            <a:lvl5pPr marL="2294890" indent="0">
              <a:buNone/>
              <a:defRPr sz="1800"/>
            </a:lvl5pPr>
            <a:lvl6pPr marL="2868295" indent="0">
              <a:buNone/>
              <a:defRPr sz="1800"/>
            </a:lvl6pPr>
            <a:lvl7pPr marL="3442335" indent="0">
              <a:buNone/>
              <a:defRPr sz="1800"/>
            </a:lvl7pPr>
            <a:lvl8pPr marL="4015740" indent="0">
              <a:buNone/>
              <a:defRPr sz="1800"/>
            </a:lvl8pPr>
            <a:lvl9pPr marL="4589145"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0C1D46F-9ACD-4C4C-BAAB-C2CC66BCC77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5615A0-2C08-4381-A3BC-51F88417D0E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1"/>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1"/>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A11DA9-A2C9-41D0-9133-C993095558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0009F4FB-12C6-40B5-A6AA-EB02BB20573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D49CEC60-5D95-4E68-8DD0-1E98DC0B60A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5"/>
            <a:ext cx="4230440" cy="4947334"/>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CACBA71-A108-4D8F-B30F-B26305DB52E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8"/>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3405" indent="0">
              <a:buNone/>
              <a:defRPr sz="3500"/>
            </a:lvl2pPr>
            <a:lvl3pPr marL="1147445" indent="0">
              <a:buNone/>
              <a:defRPr sz="3000"/>
            </a:lvl3pPr>
            <a:lvl4pPr marL="1720850" indent="0">
              <a:buNone/>
              <a:defRPr sz="2500"/>
            </a:lvl4pPr>
            <a:lvl5pPr marL="2294890" indent="0">
              <a:buNone/>
              <a:defRPr sz="2500"/>
            </a:lvl5pPr>
            <a:lvl6pPr marL="2868295" indent="0">
              <a:buNone/>
              <a:defRPr sz="2500"/>
            </a:lvl6pPr>
            <a:lvl7pPr marL="3442335" indent="0">
              <a:buNone/>
              <a:defRPr sz="2500"/>
            </a:lvl7pPr>
            <a:lvl8pPr marL="4015740" indent="0">
              <a:buNone/>
              <a:defRPr sz="2500"/>
            </a:lvl8pPr>
            <a:lvl9pPr marL="4589145" indent="0">
              <a:buNone/>
              <a:defRPr sz="2500"/>
            </a:lvl9pPr>
          </a:lstStyle>
          <a:p>
            <a:endParaRPr lang="zh-CN" altLang="en-US"/>
          </a:p>
        </p:txBody>
      </p:sp>
      <p:sp>
        <p:nvSpPr>
          <p:cNvPr id="4" name="文本占位符 3"/>
          <p:cNvSpPr>
            <a:spLocks noGrp="1"/>
          </p:cNvSpPr>
          <p:nvPr>
            <p:ph type="body" sz="half" idx="2"/>
          </p:nvPr>
        </p:nvSpPr>
        <p:spPr>
          <a:xfrm>
            <a:off x="2520405" y="5660557"/>
            <a:ext cx="7715250" cy="848831"/>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0AFEE6-9698-4489-8D7B-8AB64B9E138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E500B73-9DD7-41C0-B2B2-946A4EF25305}"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7"/>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7"/>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4750D9E-967D-4F62-8A3B-AB60B140641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7"/>
          <a:ext cx="5956102" cy="1928707"/>
        </p:xfrm>
        <a:graphic>
          <a:graphicData uri="http://schemas.openxmlformats.org/presentationml/2006/ole">
            <mc:AlternateContent xmlns:mc="http://schemas.openxmlformats.org/markup-compatibility/2006">
              <mc:Choice xmlns:v="urn:schemas-microsoft-com:vml" Requires="v">
                <p:oleObj spid="_x0000_s2086"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7"/>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7"/>
          <a:ext cx="2893219" cy="1928707"/>
        </p:xfrm>
        <a:graphic>
          <a:graphicData uri="http://schemas.openxmlformats.org/presentationml/2006/ole">
            <mc:AlternateContent xmlns:mc="http://schemas.openxmlformats.org/markup-compatibility/2006">
              <mc:Choice xmlns:v="urn:schemas-microsoft-com:vml" Requires="v">
                <p:oleObj spid="_x0000_s2087"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7"/>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2088"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7"/>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2"/>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39"/>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9"/>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39"/>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75" tIns="57388" rIns="114775" bIns="5738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1"/>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0"/>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7445" indent="0">
              <a:buNone/>
              <a:defRPr sz="2000"/>
            </a:lvl3pPr>
            <a:lvl4pPr marL="1721485" indent="0">
              <a:buNone/>
              <a:defRPr sz="1800"/>
            </a:lvl4pPr>
            <a:lvl5pPr marL="2295525" indent="0">
              <a:buNone/>
              <a:defRPr sz="1800"/>
            </a:lvl5pPr>
            <a:lvl6pPr marL="2869565" indent="0">
              <a:buNone/>
              <a:defRPr sz="1800"/>
            </a:lvl6pPr>
            <a:lvl7pPr marL="3442970" indent="0">
              <a:buNone/>
              <a:defRPr sz="1800"/>
            </a:lvl7pPr>
            <a:lvl8pPr marL="4017010" indent="0">
              <a:buNone/>
              <a:defRPr sz="1800"/>
            </a:lvl8pPr>
            <a:lvl9pPr marL="459105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0"/>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0"/>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2"/>
            <a:ext cx="4230440" cy="4947334"/>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7"/>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7445" indent="0">
              <a:buNone/>
              <a:defRPr sz="3000"/>
            </a:lvl3pPr>
            <a:lvl4pPr marL="1721485" indent="0">
              <a:buNone/>
              <a:defRPr sz="2500"/>
            </a:lvl4pPr>
            <a:lvl5pPr marL="2295525" indent="0">
              <a:buNone/>
              <a:defRPr sz="2500"/>
            </a:lvl5pPr>
            <a:lvl6pPr marL="2869565" indent="0">
              <a:buNone/>
              <a:defRPr sz="2500"/>
            </a:lvl6pPr>
            <a:lvl7pPr marL="3442970" indent="0">
              <a:buNone/>
              <a:defRPr sz="2500"/>
            </a:lvl7pPr>
            <a:lvl8pPr marL="4017010" indent="0">
              <a:buNone/>
              <a:defRPr sz="2500"/>
            </a:lvl8pPr>
            <a:lvl9pPr marL="4591050" indent="0">
              <a:buNone/>
              <a:defRPr sz="2500"/>
            </a:lvl9pPr>
          </a:lstStyle>
          <a:p>
            <a:endParaRPr lang="zh-CN" altLang="en-US"/>
          </a:p>
        </p:txBody>
      </p:sp>
      <p:sp>
        <p:nvSpPr>
          <p:cNvPr id="4" name="文本占位符 3"/>
          <p:cNvSpPr>
            <a:spLocks noGrp="1"/>
          </p:cNvSpPr>
          <p:nvPr>
            <p:ph type="body" sz="half" idx="2"/>
          </p:nvPr>
        </p:nvSpPr>
        <p:spPr>
          <a:xfrm>
            <a:off x="2520405" y="5660556"/>
            <a:ext cx="7715250" cy="848831"/>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4"/>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4"/>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9"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9" y="6750476"/>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0"/>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0"/>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0"/>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0"/>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5"/>
          <a:ext cx="5956102" cy="1928707"/>
        </p:xfrm>
        <a:graphic>
          <a:graphicData uri="http://schemas.openxmlformats.org/presentationml/2006/ole">
            <mc:AlternateContent xmlns:mc="http://schemas.openxmlformats.org/markup-compatibility/2006">
              <mc:Choice xmlns:v="urn:schemas-microsoft-com:vml" Requires="v">
                <p:oleObj spid="_x0000_s3110"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5"/>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5"/>
          <a:ext cx="2893219" cy="1928707"/>
        </p:xfrm>
        <a:graphic>
          <a:graphicData uri="http://schemas.openxmlformats.org/presentationml/2006/ole">
            <mc:AlternateContent xmlns:mc="http://schemas.openxmlformats.org/markup-compatibility/2006">
              <mc:Choice xmlns:v="urn:schemas-microsoft-com:vml" Requires="v">
                <p:oleObj spid="_x0000_s3111"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5"/>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4" y="3616325"/>
          <a:ext cx="3944689" cy="1930381"/>
        </p:xfrm>
        <a:graphic>
          <a:graphicData uri="http://schemas.openxmlformats.org/presentationml/2006/ole">
            <mc:AlternateContent xmlns:mc="http://schemas.openxmlformats.org/markup-compatibility/2006">
              <mc:Choice xmlns:v="urn:schemas-microsoft-com:vml" Requires="v">
                <p:oleObj spid="_x0000_s3112"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4"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5"/>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0"/>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8" y="6830836"/>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6"/>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8" y="6830836"/>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803" tIns="57401" rIns="114803" bIns="57401">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69"/>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48"/>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8080" indent="0">
              <a:buNone/>
              <a:defRPr sz="2000"/>
            </a:lvl3pPr>
            <a:lvl4pPr marL="1722120" indent="0">
              <a:buNone/>
              <a:defRPr sz="1800"/>
            </a:lvl4pPr>
            <a:lvl5pPr marL="2296160" indent="0">
              <a:buNone/>
              <a:defRPr sz="1800"/>
            </a:lvl5pPr>
            <a:lvl6pPr marL="2870200" indent="0">
              <a:buNone/>
              <a:defRPr sz="1800"/>
            </a:lvl6pPr>
            <a:lvl7pPr marL="3444240" indent="0">
              <a:buNone/>
              <a:defRPr sz="1800"/>
            </a:lvl7pPr>
            <a:lvl8pPr marL="4018280" indent="0">
              <a:buNone/>
              <a:defRPr sz="1800"/>
            </a:lvl8pPr>
            <a:lvl9pPr marL="459232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8"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8"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88"/>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88"/>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0"/>
            <a:ext cx="4230440" cy="4947334"/>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5"/>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8080" indent="0">
              <a:buNone/>
              <a:defRPr sz="3000"/>
            </a:lvl3pPr>
            <a:lvl4pPr marL="1722120" indent="0">
              <a:buNone/>
              <a:defRPr sz="2500"/>
            </a:lvl4pPr>
            <a:lvl5pPr marL="2296160" indent="0">
              <a:buNone/>
              <a:defRPr sz="2500"/>
            </a:lvl5pPr>
            <a:lvl6pPr marL="2870200" indent="0">
              <a:buNone/>
              <a:defRPr sz="2500"/>
            </a:lvl6pPr>
            <a:lvl7pPr marL="3444240" indent="0">
              <a:buNone/>
              <a:defRPr sz="2500"/>
            </a:lvl7pPr>
            <a:lvl8pPr marL="4018280" indent="0">
              <a:buNone/>
              <a:defRPr sz="2500"/>
            </a:lvl8pPr>
            <a:lvl9pPr marL="4592320" indent="0">
              <a:buNone/>
              <a:defRPr sz="2500"/>
            </a:lvl9pPr>
          </a:lstStyle>
          <a:p>
            <a:endParaRPr lang="zh-CN" altLang="en-US"/>
          </a:p>
        </p:txBody>
      </p:sp>
      <p:sp>
        <p:nvSpPr>
          <p:cNvPr id="4" name="文本占位符 3"/>
          <p:cNvSpPr>
            <a:spLocks noGrp="1"/>
          </p:cNvSpPr>
          <p:nvPr>
            <p:ph type="body" sz="half" idx="2"/>
          </p:nvPr>
        </p:nvSpPr>
        <p:spPr>
          <a:xfrm>
            <a:off x="2520405" y="5660554"/>
            <a:ext cx="7715250" cy="848831"/>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4" y="622812"/>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2"/>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8"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8" y="6750474"/>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3.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4.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9"/>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r">
              <a:defRPr sz="1800">
                <a:ea typeface="宋体" panose="02010600030101010101" pitchFamily="2" charset="-122"/>
              </a:defRPr>
            </a:lvl1pPr>
          </a:lstStyle>
          <a:p>
            <a:pPr>
              <a:buFont typeface="Arial" panose="020B0604020202020204" pitchFamily="34" charset="0"/>
              <a:buNone/>
            </a:pPr>
            <a:fld id="{E885DCAE-4A19-439B-9674-D186DD8CF82A}"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34" tIns="57368" rIns="114734" bIns="5736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3405"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0850" algn="ctr" rtl="0" fontAlgn="base">
        <a:spcBef>
          <a:spcPct val="0"/>
        </a:spcBef>
        <a:spcAft>
          <a:spcPct val="0"/>
        </a:spcAft>
        <a:defRPr sz="4000" b="1">
          <a:solidFill>
            <a:schemeClr val="bg1"/>
          </a:solidFill>
          <a:latin typeface="Arial" panose="020B0604020202020204" pitchFamily="34" charset="0"/>
        </a:defRPr>
      </a:lvl8pPr>
      <a:lvl9pPr marL="229489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3405"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0850" algn="l" defTabSz="1147445" rtl="0" eaLnBrk="1" latinLnBrk="0" hangingPunct="1">
        <a:defRPr sz="2300" kern="1200">
          <a:solidFill>
            <a:schemeClr val="tx1"/>
          </a:solidFill>
          <a:latin typeface="+mn-lt"/>
          <a:ea typeface="+mn-ea"/>
          <a:cs typeface="+mn-cs"/>
        </a:defRPr>
      </a:lvl4pPr>
      <a:lvl5pPr marL="2294890" algn="l" defTabSz="1147445" rtl="0" eaLnBrk="1" latinLnBrk="0" hangingPunct="1">
        <a:defRPr sz="2300" kern="1200">
          <a:solidFill>
            <a:schemeClr val="tx1"/>
          </a:solidFill>
          <a:latin typeface="+mn-lt"/>
          <a:ea typeface="+mn-ea"/>
          <a:cs typeface="+mn-cs"/>
        </a:defRPr>
      </a:lvl5pPr>
      <a:lvl6pPr marL="2868295" algn="l" defTabSz="1147445" rtl="0" eaLnBrk="1" latinLnBrk="0" hangingPunct="1">
        <a:defRPr sz="2300" kern="1200">
          <a:solidFill>
            <a:schemeClr val="tx1"/>
          </a:solidFill>
          <a:latin typeface="+mn-lt"/>
          <a:ea typeface="+mn-ea"/>
          <a:cs typeface="+mn-cs"/>
        </a:defRPr>
      </a:lvl6pPr>
      <a:lvl7pPr marL="3442335" algn="l" defTabSz="1147445" rtl="0" eaLnBrk="1" latinLnBrk="0" hangingPunct="1">
        <a:defRPr sz="2300" kern="1200">
          <a:solidFill>
            <a:schemeClr val="tx1"/>
          </a:solidFill>
          <a:latin typeface="+mn-lt"/>
          <a:ea typeface="+mn-ea"/>
          <a:cs typeface="+mn-cs"/>
        </a:defRPr>
      </a:lvl7pPr>
      <a:lvl8pPr marL="4015740" algn="l" defTabSz="1147445" rtl="0" eaLnBrk="1" latinLnBrk="0" hangingPunct="1">
        <a:defRPr sz="2300" kern="1200">
          <a:solidFill>
            <a:schemeClr val="tx1"/>
          </a:solidFill>
          <a:latin typeface="+mn-lt"/>
          <a:ea typeface="+mn-ea"/>
          <a:cs typeface="+mn-cs"/>
        </a:defRPr>
      </a:lvl8pPr>
      <a:lvl9pPr marL="4589145" algn="l" defTabSz="1147445"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75" tIns="57388" rIns="114775" bIns="5738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1485" algn="ctr" rtl="0" fontAlgn="base">
        <a:spcBef>
          <a:spcPct val="0"/>
        </a:spcBef>
        <a:spcAft>
          <a:spcPct val="0"/>
        </a:spcAft>
        <a:defRPr sz="4000" b="1">
          <a:solidFill>
            <a:schemeClr val="bg1"/>
          </a:solidFill>
          <a:latin typeface="Arial" panose="020B0604020202020204" pitchFamily="34" charset="0"/>
        </a:defRPr>
      </a:lvl8pPr>
      <a:lvl9pPr marL="2295525"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4040"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1485" algn="l" defTabSz="1147445" rtl="0" eaLnBrk="1" latinLnBrk="0" hangingPunct="1">
        <a:defRPr sz="2300" kern="1200">
          <a:solidFill>
            <a:schemeClr val="tx1"/>
          </a:solidFill>
          <a:latin typeface="+mn-lt"/>
          <a:ea typeface="+mn-ea"/>
          <a:cs typeface="+mn-cs"/>
        </a:defRPr>
      </a:lvl4pPr>
      <a:lvl5pPr marL="2295525" algn="l" defTabSz="1147445" rtl="0" eaLnBrk="1" latinLnBrk="0" hangingPunct="1">
        <a:defRPr sz="2300" kern="1200">
          <a:solidFill>
            <a:schemeClr val="tx1"/>
          </a:solidFill>
          <a:latin typeface="+mn-lt"/>
          <a:ea typeface="+mn-ea"/>
          <a:cs typeface="+mn-cs"/>
        </a:defRPr>
      </a:lvl5pPr>
      <a:lvl6pPr marL="2869565" algn="l" defTabSz="1147445" rtl="0" eaLnBrk="1" latinLnBrk="0" hangingPunct="1">
        <a:defRPr sz="2300" kern="1200">
          <a:solidFill>
            <a:schemeClr val="tx1"/>
          </a:solidFill>
          <a:latin typeface="+mn-lt"/>
          <a:ea typeface="+mn-ea"/>
          <a:cs typeface="+mn-cs"/>
        </a:defRPr>
      </a:lvl6pPr>
      <a:lvl7pPr marL="3442970" algn="l" defTabSz="1147445" rtl="0" eaLnBrk="1" latinLnBrk="0" hangingPunct="1">
        <a:defRPr sz="2300" kern="1200">
          <a:solidFill>
            <a:schemeClr val="tx1"/>
          </a:solidFill>
          <a:latin typeface="+mn-lt"/>
          <a:ea typeface="+mn-ea"/>
          <a:cs typeface="+mn-cs"/>
        </a:defRPr>
      </a:lvl7pPr>
      <a:lvl8pPr marL="4017010" algn="l" defTabSz="1147445" rtl="0" eaLnBrk="1" latinLnBrk="0" hangingPunct="1">
        <a:defRPr sz="2300" kern="1200">
          <a:solidFill>
            <a:schemeClr val="tx1"/>
          </a:solidFill>
          <a:latin typeface="+mn-lt"/>
          <a:ea typeface="+mn-ea"/>
          <a:cs typeface="+mn-cs"/>
        </a:defRPr>
      </a:lvl8pPr>
      <a:lvl9pPr marL="4591050" algn="l" defTabSz="1147445"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6"/>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8"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4"/>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803" tIns="57401" rIns="114803" bIns="57401"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8080" rtl="0" eaLnBrk="1" latinLnBrk="0" hangingPunct="1">
        <a:defRPr sz="2300" kern="1200">
          <a:solidFill>
            <a:schemeClr val="tx1"/>
          </a:solidFill>
          <a:latin typeface="+mn-lt"/>
          <a:ea typeface="+mn-ea"/>
          <a:cs typeface="+mn-cs"/>
        </a:defRPr>
      </a:lvl1pPr>
      <a:lvl2pPr marL="574040" algn="l" defTabSz="1148080" rtl="0" eaLnBrk="1" latinLnBrk="0" hangingPunct="1">
        <a:defRPr sz="2300" kern="1200">
          <a:solidFill>
            <a:schemeClr val="tx1"/>
          </a:solidFill>
          <a:latin typeface="+mn-lt"/>
          <a:ea typeface="+mn-ea"/>
          <a:cs typeface="+mn-cs"/>
        </a:defRPr>
      </a:lvl2pPr>
      <a:lvl3pPr marL="1148080" algn="l" defTabSz="1148080" rtl="0" eaLnBrk="1" latinLnBrk="0" hangingPunct="1">
        <a:defRPr sz="2300" kern="1200">
          <a:solidFill>
            <a:schemeClr val="tx1"/>
          </a:solidFill>
          <a:latin typeface="+mn-lt"/>
          <a:ea typeface="+mn-ea"/>
          <a:cs typeface="+mn-cs"/>
        </a:defRPr>
      </a:lvl3pPr>
      <a:lvl4pPr marL="1722120" algn="l" defTabSz="1148080" rtl="0" eaLnBrk="1" latinLnBrk="0" hangingPunct="1">
        <a:defRPr sz="2300" kern="1200">
          <a:solidFill>
            <a:schemeClr val="tx1"/>
          </a:solidFill>
          <a:latin typeface="+mn-lt"/>
          <a:ea typeface="+mn-ea"/>
          <a:cs typeface="+mn-cs"/>
        </a:defRPr>
      </a:lvl4pPr>
      <a:lvl5pPr marL="2296160" algn="l" defTabSz="1148080" rtl="0" eaLnBrk="1" latinLnBrk="0" hangingPunct="1">
        <a:defRPr sz="2300" kern="1200">
          <a:solidFill>
            <a:schemeClr val="tx1"/>
          </a:solidFill>
          <a:latin typeface="+mn-lt"/>
          <a:ea typeface="+mn-ea"/>
          <a:cs typeface="+mn-cs"/>
        </a:defRPr>
      </a:lvl5pPr>
      <a:lvl6pPr marL="2870200" algn="l" defTabSz="1148080" rtl="0" eaLnBrk="1" latinLnBrk="0" hangingPunct="1">
        <a:defRPr sz="2300" kern="1200">
          <a:solidFill>
            <a:schemeClr val="tx1"/>
          </a:solidFill>
          <a:latin typeface="+mn-lt"/>
          <a:ea typeface="+mn-ea"/>
          <a:cs typeface="+mn-cs"/>
        </a:defRPr>
      </a:lvl6pPr>
      <a:lvl7pPr marL="3444240" algn="l" defTabSz="1148080" rtl="0" eaLnBrk="1" latinLnBrk="0" hangingPunct="1">
        <a:defRPr sz="2300" kern="1200">
          <a:solidFill>
            <a:schemeClr val="tx1"/>
          </a:solidFill>
          <a:latin typeface="+mn-lt"/>
          <a:ea typeface="+mn-ea"/>
          <a:cs typeface="+mn-cs"/>
        </a:defRPr>
      </a:lvl7pPr>
      <a:lvl8pPr marL="4018280" algn="l" defTabSz="1148080" rtl="0" eaLnBrk="1" latinLnBrk="0" hangingPunct="1">
        <a:defRPr sz="2300" kern="1200">
          <a:solidFill>
            <a:schemeClr val="tx1"/>
          </a:solidFill>
          <a:latin typeface="+mn-lt"/>
          <a:ea typeface="+mn-ea"/>
          <a:cs typeface="+mn-cs"/>
        </a:defRPr>
      </a:lvl8pPr>
      <a:lvl9pPr marL="4592320" algn="l" defTabSz="114808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2.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997327" y="2896245"/>
            <a:ext cx="6016403" cy="649181"/>
          </a:xfrm>
          <a:prstGeom prst="rect">
            <a:avLst/>
          </a:prstGeom>
          <a:noFill/>
        </p:spPr>
        <p:txBody>
          <a:bodyPr wrap="square" lIns="128583" tIns="64291" rIns="128583" bIns="64291" rtlCol="0">
            <a:spAutoFit/>
          </a:bodyPr>
          <a:lstStyle/>
          <a:p>
            <a:pPr algn="ctr"/>
            <a:r>
              <a:rPr kumimoji="1" lang="en-US" altLang="zh-CN" sz="1700" dirty="0">
                <a:solidFill>
                  <a:schemeClr val="bg1">
                    <a:lumMod val="50000"/>
                  </a:schemeClr>
                </a:solidFill>
                <a:cs typeface="+mn-ea"/>
                <a:sym typeface="+mn-lt"/>
              </a:rPr>
              <a:t>JSP and  servlet  development  technology  and  typical application  course</a:t>
            </a:r>
            <a:endParaRPr kumimoji="1" lang="zh-CN" altLang="en-US" sz="1700" dirty="0">
              <a:solidFill>
                <a:schemeClr val="bg1">
                  <a:lumMod val="50000"/>
                </a:schemeClr>
              </a:solidFill>
              <a:cs typeface="+mn-ea"/>
              <a:sym typeface="+mn-lt"/>
            </a:endParaRPr>
          </a:p>
        </p:txBody>
      </p:sp>
      <p:sp>
        <p:nvSpPr>
          <p:cNvPr id="9" name="文本框 8"/>
          <p:cNvSpPr txBox="1"/>
          <p:nvPr/>
        </p:nvSpPr>
        <p:spPr>
          <a:xfrm rot="2679144">
            <a:off x="1518042" y="2942040"/>
            <a:ext cx="5266506" cy="558800"/>
          </a:xfrm>
          <a:prstGeom prst="rect">
            <a:avLst/>
          </a:prstGeom>
          <a:noFill/>
        </p:spPr>
        <p:txBody>
          <a:bodyPr wrap="square" lIns="128583" tIns="64291" rIns="128583" bIns="64291" rtlCol="0">
            <a:spAutoFit/>
          </a:bodyPr>
          <a:lstStyle/>
          <a:p>
            <a:pPr algn="ctr">
              <a:buNone/>
            </a:pP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第六章 </a:t>
            </a:r>
            <a:r>
              <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   Java Web</a:t>
            </a: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的开发模式</a:t>
            </a:r>
            <a:endPar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1000" fill="hold"/>
                                        <p:tgtEl>
                                          <p:spTgt spid="16"/>
                                        </p:tgtEl>
                                        <p:attrNameLst>
                                          <p:attrName>ppt_x</p:attrName>
                                        </p:attrNameLst>
                                      </p:cBhvr>
                                      <p:tavLst>
                                        <p:tav tm="0">
                                          <p:val>
                                            <p:strVal val="#ppt_x"/>
                                          </p:val>
                                        </p:tav>
                                        <p:tav tm="100000">
                                          <p:val>
                                            <p:strVal val="#ppt_x"/>
                                          </p:val>
                                        </p:tav>
                                      </p:tavLst>
                                    </p:anim>
                                    <p:anim calcmode="lin" valueType="num">
                                      <p:cBhvr additive="base">
                                        <p:cTn id="25" dur="1000" fill="hold"/>
                                        <p:tgtEl>
                                          <p:spTgt spid="16"/>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ppt_x</p:attrName>
                                        </p:attrNameLst>
                                      </p:cBhvr>
                                      <p:tavLst>
                                        <p:tav tm="0">
                                          <p:val>
                                            <p:strVal val="#ppt_x"/>
                                          </p:val>
                                        </p:tav>
                                        <p:tav tm="100000">
                                          <p:val>
                                            <p:strVal val="#ppt_x"/>
                                          </p:val>
                                        </p:tav>
                                      </p:tavLst>
                                    </p:anim>
                                    <p:anim calcmode="lin" valueType="num">
                                      <p:cBhvr>
                                        <p:cTn id="35" dur="750" fill="hold"/>
                                        <p:tgtEl>
                                          <p:spTgt spid="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9" grpId="0"/>
      <p:bldP spid="12" grpId="0" animBg="1"/>
      <p:bldP spid="16"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72243" y="1963169"/>
            <a:ext cx="7145020" cy="543477"/>
          </a:xfrm>
          <a:prstGeom prst="rect">
            <a:avLst/>
          </a:prstGeom>
          <a:noFill/>
        </p:spPr>
        <p:txBody>
          <a:bodyPr wrap="square" lIns="128583" tIns="64291" rIns="128583" bIns="64291" rtlCol="0">
            <a:spAutoFit/>
          </a:bodyPr>
          <a:lstStyle/>
          <a:p>
            <a:pPr>
              <a:lnSpc>
                <a:spcPct val="120000"/>
              </a:lnSpc>
            </a:pPr>
            <a:r>
              <a:rPr lang="zh-CN" altLang="zh-CN" sz="2400" b="1" dirty="0"/>
              <a:t>掌握</a:t>
            </a:r>
            <a:r>
              <a:rPr lang="en-US" altLang="zh-CN" sz="2400" b="1" dirty="0"/>
              <a:t>Java Web</a:t>
            </a:r>
            <a:r>
              <a:rPr lang="zh-CN" altLang="zh-CN" sz="2400" b="1" dirty="0"/>
              <a:t>的两种开发模式、</a:t>
            </a:r>
            <a:r>
              <a:rPr lang="en-US" altLang="zh-CN" sz="2400" b="1" dirty="0"/>
              <a:t>JavaBean</a:t>
            </a:r>
            <a:r>
              <a:rPr lang="zh-CN" altLang="zh-CN" sz="2400" b="1" dirty="0"/>
              <a:t>的应用</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067923" cy="537513"/>
          </a:xfrm>
          <a:prstGeom prst="rect">
            <a:avLst/>
          </a:prstGeom>
          <a:noFill/>
        </p:spPr>
        <p:txBody>
          <a:bodyPr wrap="square" lIns="128583" tIns="64291" rIns="128583" bIns="64291" rtlCol="0">
            <a:spAutoFit/>
          </a:bodyPr>
          <a:lstStyle/>
          <a:p>
            <a:pPr>
              <a:lnSpc>
                <a:spcPct val="120000"/>
              </a:lnSpc>
            </a:pPr>
            <a:r>
              <a:rPr lang="zh-CN" altLang="zh-CN" sz="2400" b="1" dirty="0"/>
              <a:t>理解共享</a:t>
            </a:r>
            <a:r>
              <a:rPr lang="en-US" altLang="zh-CN" sz="2400" b="1" dirty="0"/>
              <a:t>JavaBean</a:t>
            </a:r>
            <a:r>
              <a:rPr lang="zh-CN" altLang="zh-CN" sz="2400" b="1" dirty="0"/>
              <a:t>的四种方式、</a:t>
            </a:r>
            <a:r>
              <a:rPr lang="en-US" altLang="zh-CN" sz="2400" b="1" dirty="0"/>
              <a:t>MVC</a:t>
            </a:r>
            <a:r>
              <a:rPr lang="zh-CN" altLang="zh-CN" sz="2400" b="1" dirty="0"/>
              <a:t>模式</a:t>
            </a:r>
            <a:endParaRPr kumimoji="1" lang="zh-CN" altLang="en-US" sz="2400" b="1" dirty="0">
              <a:cs typeface="+mn-ea"/>
              <a:sym typeface="Arial" panose="020B0604020202020204" pitchFamily="34" charset="0"/>
            </a:endParaRPr>
          </a:p>
        </p:txBody>
      </p:sp>
      <p:sp>
        <p:nvSpPr>
          <p:cNvPr id="33" name="文本框 32"/>
          <p:cNvSpPr txBox="1"/>
          <p:nvPr/>
        </p:nvSpPr>
        <p:spPr>
          <a:xfrm>
            <a:off x="7152640" y="4324985"/>
            <a:ext cx="5473700" cy="1174611"/>
          </a:xfrm>
          <a:prstGeom prst="rect">
            <a:avLst/>
          </a:prstGeom>
          <a:noFill/>
        </p:spPr>
        <p:txBody>
          <a:bodyPr wrap="square" lIns="128583" tIns="64291" rIns="128583" bIns="64291" rtlCol="0">
            <a:spAutoFit/>
          </a:bodyPr>
          <a:lstStyle/>
          <a:p>
            <a:pPr>
              <a:lnSpc>
                <a:spcPct val="150000"/>
              </a:lnSpc>
            </a:pPr>
            <a:r>
              <a:rPr lang="zh-CN" altLang="zh-CN" sz="2400" b="1" dirty="0"/>
              <a:t>了解</a:t>
            </a:r>
            <a:r>
              <a:rPr lang="en-US" altLang="zh-CN" sz="2400" b="1" dirty="0"/>
              <a:t>JavaBean</a:t>
            </a:r>
            <a:r>
              <a:rPr lang="zh-CN" altLang="zh-CN" sz="2400" b="1" dirty="0"/>
              <a:t>的涵义、</a:t>
            </a:r>
            <a:r>
              <a:rPr lang="en-US" altLang="zh-CN" sz="2400" b="1" dirty="0"/>
              <a:t>Java Web</a:t>
            </a:r>
            <a:r>
              <a:rPr lang="zh-CN" altLang="zh-CN" sz="2400" b="1" dirty="0"/>
              <a:t>应用中优化编程的方式</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能力目标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7" grpId="0" bldLvl="0" animBg="1"/>
      <p:bldP spid="12" grpId="0" bldLvl="0" animBg="1"/>
      <p:bldP spid="17" grpId="0" bldLvl="0" animBg="1"/>
      <p:bldP spid="26" grpId="0" bldLvl="0" animBg="1"/>
      <p:bldP spid="27" grpId="0"/>
      <p:bldP spid="29" grpId="0"/>
      <p:bldP spid="33"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744117"/>
            <a:ext cx="7145020" cy="980712"/>
          </a:xfrm>
          <a:prstGeom prst="rect">
            <a:avLst/>
          </a:prstGeom>
          <a:noFill/>
        </p:spPr>
        <p:txBody>
          <a:bodyPr wrap="square" lIns="128583" tIns="64291" rIns="128583" bIns="64291" rtlCol="0">
            <a:spAutoFit/>
          </a:bodyPr>
          <a:lstStyle/>
          <a:p>
            <a:pPr>
              <a:lnSpc>
                <a:spcPct val="120000"/>
              </a:lnSpc>
            </a:pPr>
            <a:r>
              <a:rPr lang="zh-CN" altLang="zh-CN" sz="2400" b="1" dirty="0"/>
              <a:t>学会运用扬长避短兼容并收海纳百川的设计思维看待不同的开发模式</a:t>
            </a:r>
            <a:endParaRPr kumimoji="1" lang="zh-CN" altLang="en-US" sz="2400" b="1" dirty="0">
              <a:cs typeface="+mn-ea"/>
              <a:sym typeface="Arial" panose="020B0604020202020204" pitchFamily="34" charset="0"/>
            </a:endParaRPr>
          </a:p>
        </p:txBody>
      </p:sp>
      <p:sp>
        <p:nvSpPr>
          <p:cNvPr id="29" name="文本框 28"/>
          <p:cNvSpPr txBox="1"/>
          <p:nvPr/>
        </p:nvSpPr>
        <p:spPr>
          <a:xfrm>
            <a:off x="6149340" y="3112269"/>
            <a:ext cx="5645785" cy="499170"/>
          </a:xfrm>
          <a:prstGeom prst="rect">
            <a:avLst/>
          </a:prstGeom>
          <a:noFill/>
        </p:spPr>
        <p:txBody>
          <a:bodyPr wrap="square" lIns="128583" tIns="64291" rIns="128583" bIns="64291" rtlCol="0">
            <a:spAutoFit/>
          </a:bodyPr>
          <a:lstStyle/>
          <a:p>
            <a:r>
              <a:rPr lang="zh-CN" altLang="zh-CN" sz="2400" b="1" dirty="0"/>
              <a:t>培养工程规范意识和高效协作团队精神</a:t>
            </a:r>
            <a:endParaRPr kumimoji="1" lang="zh-CN" altLang="en-US" sz="2400" b="1" dirty="0">
              <a:cs typeface="+mn-ea"/>
              <a:sym typeface="Arial" panose="020B0604020202020204" pitchFamily="34" charset="0"/>
            </a:endParaRPr>
          </a:p>
        </p:txBody>
      </p:sp>
      <p:sp>
        <p:nvSpPr>
          <p:cNvPr id="33" name="文本框 32"/>
          <p:cNvSpPr txBox="1"/>
          <p:nvPr/>
        </p:nvSpPr>
        <p:spPr>
          <a:xfrm>
            <a:off x="7152640" y="4269283"/>
            <a:ext cx="5473700" cy="499170"/>
          </a:xfrm>
          <a:prstGeom prst="rect">
            <a:avLst/>
          </a:prstGeom>
          <a:noFill/>
        </p:spPr>
        <p:txBody>
          <a:bodyPr wrap="square" lIns="128583" tIns="64291" rIns="128583" bIns="64291" rtlCol="0">
            <a:spAutoFit/>
          </a:bodyPr>
          <a:lstStyle/>
          <a:p>
            <a:r>
              <a:rPr lang="zh-CN" altLang="zh-CN" sz="2400" b="1" dirty="0"/>
              <a:t>培养面对变化能持续成长的内驱力</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素质目标</a:t>
            </a:r>
            <a:endParaRPr kumimoji="1" lang="en-US" altLang="zh-CN" sz="3900" dirty="0">
              <a:solidFill>
                <a:schemeClr val="bg1"/>
              </a:solidFill>
              <a:cs typeface="+mn-ea"/>
              <a:sym typeface="+mn-lt"/>
            </a:endParaRPr>
          </a:p>
        </p:txBody>
      </p:sp>
      <p:sp>
        <p:nvSpPr>
          <p:cNvPr id="5" name="TextBox 32"/>
          <p:cNvSpPr txBox="1">
            <a:spLocks noChangeArrowheads="1"/>
          </p:cNvSpPr>
          <p:nvPr/>
        </p:nvSpPr>
        <p:spPr bwMode="auto">
          <a:xfrm>
            <a:off x="6932829" y="5416522"/>
            <a:ext cx="1473200" cy="1301750"/>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04</a:t>
            </a:r>
            <a:endParaRPr lang="zh-CN" altLang="en-US" sz="3400" dirty="0">
              <a:solidFill>
                <a:schemeClr val="bg1"/>
              </a:solidFill>
              <a:latin typeface="+mn-lt"/>
              <a:ea typeface="+mn-ea"/>
              <a:cs typeface="+mn-ea"/>
              <a:sym typeface="+mn-lt"/>
            </a:endParaRPr>
          </a:p>
        </p:txBody>
      </p:sp>
      <p:sp>
        <p:nvSpPr>
          <p:cNvPr id="14" name="文本框 32"/>
          <p:cNvSpPr txBox="1"/>
          <p:nvPr/>
        </p:nvSpPr>
        <p:spPr>
          <a:xfrm>
            <a:off x="8157567" y="5416522"/>
            <a:ext cx="5473700" cy="499170"/>
          </a:xfrm>
          <a:prstGeom prst="rect">
            <a:avLst/>
          </a:prstGeom>
          <a:noFill/>
        </p:spPr>
        <p:txBody>
          <a:bodyPr wrap="square" lIns="128583" tIns="64291" rIns="128583" bIns="64291" rtlCol="0">
            <a:spAutoFit/>
          </a:bodyPr>
          <a:lstStyle/>
          <a:p>
            <a:r>
              <a:rPr lang="zh-CN" altLang="zh-CN" sz="2400" b="1" dirty="0"/>
              <a:t>培养复用性，模块化思维能力</a:t>
            </a:r>
            <a:endParaRPr kumimoji="1" lang="zh-CN" altLang="en-US" sz="2400" b="1"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500" fill="hold"/>
                                        <p:tgtEl>
                                          <p:spTgt spid="5"/>
                                        </p:tgtEl>
                                        <p:attrNameLst>
                                          <p:attrName>ppt_w</p:attrName>
                                        </p:attrNameLst>
                                      </p:cBhvr>
                                      <p:tavLst>
                                        <p:tav tm="0">
                                          <p:val>
                                            <p:fltVal val="0"/>
                                          </p:val>
                                        </p:tav>
                                        <p:tav tm="100000">
                                          <p:val>
                                            <p:strVal val="#ppt_w"/>
                                          </p:val>
                                        </p:tav>
                                      </p:tavLst>
                                    </p:anim>
                                    <p:anim calcmode="lin" valueType="num">
                                      <p:cBhvr>
                                        <p:cTn id="72" dur="500" fill="hold"/>
                                        <p:tgtEl>
                                          <p:spTgt spid="5"/>
                                        </p:tgtEl>
                                        <p:attrNameLst>
                                          <p:attrName>ppt_h</p:attrName>
                                        </p:attrNameLst>
                                      </p:cBhvr>
                                      <p:tavLst>
                                        <p:tav tm="0">
                                          <p:val>
                                            <p:fltVal val="0"/>
                                          </p:val>
                                        </p:tav>
                                        <p:tav tm="100000">
                                          <p:val>
                                            <p:strVal val="#ppt_h"/>
                                          </p:val>
                                        </p:tav>
                                      </p:tavLst>
                                    </p:anim>
                                    <p:anim calcmode="lin" valueType="num">
                                      <p:cBhvr>
                                        <p:cTn id="73" dur="500" fill="hold"/>
                                        <p:tgtEl>
                                          <p:spTgt spid="5"/>
                                        </p:tgtEl>
                                        <p:attrNameLst>
                                          <p:attrName>style.rotation</p:attrName>
                                        </p:attrNameLst>
                                      </p:cBhvr>
                                      <p:tavLst>
                                        <p:tav tm="0">
                                          <p:val>
                                            <p:fltVal val="360"/>
                                          </p:val>
                                        </p:tav>
                                        <p:tav tm="100000">
                                          <p:val>
                                            <p:fltVal val="0"/>
                                          </p:val>
                                        </p:tav>
                                      </p:tavLst>
                                    </p:anim>
                                    <p:animEffect transition="in" filter="fade">
                                      <p:cBhvr>
                                        <p:cTn id="74" dur="500"/>
                                        <p:tgtEl>
                                          <p:spTgt spid="5"/>
                                        </p:tgtEl>
                                      </p:cBhvr>
                                    </p:animEffect>
                                  </p:childTnLst>
                                </p:cTn>
                              </p:par>
                              <p:par>
                                <p:cTn id="75" presetID="41" presetClass="entr" presetSubtype="0" fill="hold" grpId="0" nodeType="withEffect">
                                  <p:stCondLst>
                                    <p:cond delay="0"/>
                                  </p:stCondLst>
                                  <p:iterate type="lt">
                                    <p:tmPct val="10000"/>
                                  </p:iterate>
                                  <p:childTnLst>
                                    <p:set>
                                      <p:cBhvr>
                                        <p:cTn id="76" dur="1" fill="hold">
                                          <p:stCondLst>
                                            <p:cond delay="0"/>
                                          </p:stCondLst>
                                        </p:cTn>
                                        <p:tgtEl>
                                          <p:spTgt spid="14"/>
                                        </p:tgtEl>
                                        <p:attrNameLst>
                                          <p:attrName>style.visibility</p:attrName>
                                        </p:attrNameLst>
                                      </p:cBhvr>
                                      <p:to>
                                        <p:strVal val="visible"/>
                                      </p:to>
                                    </p:set>
                                    <p:anim calcmode="lin" valueType="num">
                                      <p:cBhvr>
                                        <p:cTn id="77"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14"/>
                                        </p:tgtEl>
                                        <p:attrNameLst>
                                          <p:attrName>ppt_y</p:attrName>
                                        </p:attrNameLst>
                                      </p:cBhvr>
                                      <p:tavLst>
                                        <p:tav tm="0">
                                          <p:val>
                                            <p:strVal val="#ppt_y"/>
                                          </p:val>
                                        </p:tav>
                                        <p:tav tm="100000">
                                          <p:val>
                                            <p:strVal val="#ppt_y"/>
                                          </p:val>
                                        </p:tav>
                                      </p:tavLst>
                                    </p:anim>
                                    <p:anim calcmode="lin" valueType="num">
                                      <p:cBhvr>
                                        <p:cTn id="79"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7" grpId="0" bldLvl="0" animBg="1"/>
      <p:bldP spid="12" grpId="0" bldLvl="0" animBg="1"/>
      <p:bldP spid="17" grpId="0" bldLvl="0" animBg="1"/>
      <p:bldP spid="26" grpId="0" bldLvl="0" animBg="1"/>
      <p:bldP spid="27" grpId="0"/>
      <p:bldP spid="29" grpId="0"/>
      <p:bldP spid="33" grpId="0"/>
      <p:bldP spid="35" grpId="0"/>
      <p:bldP spid="5" grpId="0" bldLvl="0" animBg="1"/>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3640104" y="1672109"/>
            <a:ext cx="5560680" cy="868501"/>
          </a:xfrm>
          <a:prstGeom prst="rect">
            <a:avLst/>
          </a:prstGeom>
          <a:noFill/>
        </p:spPr>
        <p:txBody>
          <a:bodyPr wrap="none" lIns="128583" tIns="64291" rIns="128583" bIns="64291" rtlCol="0">
            <a:spAutoFit/>
          </a:bodyPr>
          <a:lstStyle/>
          <a:p>
            <a:pPr algn="ctr"/>
            <a:r>
              <a:rPr kumimoji="1" lang="en-US" altLang="zh-CN" sz="4800" b="1" dirty="0">
                <a:solidFill>
                  <a:srgbClr val="43536A"/>
                </a:solidFill>
                <a:cs typeface="+mn-ea"/>
              </a:rPr>
              <a:t>6.1  JavaBean</a:t>
            </a:r>
            <a:r>
              <a:rPr kumimoji="1" lang="zh-CN" altLang="zh-CN" sz="4800" b="1" dirty="0">
                <a:solidFill>
                  <a:srgbClr val="43536A"/>
                </a:solidFill>
                <a:cs typeface="+mn-ea"/>
              </a:rPr>
              <a:t>的使用</a:t>
            </a:r>
            <a:endParaRPr kumimoji="1" lang="zh-CN" altLang="en-US" sz="48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84" y="606069"/>
            <a:ext cx="11264801" cy="656296"/>
          </a:xfrm>
        </p:spPr>
        <p:txBody>
          <a:bodyPr/>
          <a:lstStyle/>
          <a:p>
            <a:r>
              <a:rPr lang="zh-CN" altLang="en-US" dirty="0" smtClean="0">
                <a:ea typeface="宋体" panose="02010600030101010101" pitchFamily="2" charset="-122"/>
              </a:rPr>
              <a:t>第</a:t>
            </a:r>
            <a:r>
              <a:rPr lang="zh-CN" altLang="en-US" dirty="0">
                <a:ea typeface="宋体" panose="02010600030101010101" pitchFamily="2" charset="-122"/>
              </a:rPr>
              <a:t>六</a:t>
            </a:r>
            <a:r>
              <a:rPr lang="zh-CN" altLang="en-US" dirty="0" smtClean="0">
                <a:ea typeface="宋体" panose="02010600030101010101" pitchFamily="2" charset="-122"/>
              </a:rPr>
              <a:t>章   </a:t>
            </a:r>
            <a:r>
              <a:rPr lang="en-US" dirty="0">
                <a:ea typeface="宋体" panose="02010600030101010101" pitchFamily="2" charset="-122"/>
              </a:rPr>
              <a:t>Java Web</a:t>
            </a:r>
            <a:r>
              <a:rPr lang="zh-CN" altLang="en-US" dirty="0">
                <a:ea typeface="宋体" panose="02010600030101010101" pitchFamily="2" charset="-122"/>
              </a:rPr>
              <a:t>的开发模式</a:t>
            </a:r>
            <a:endParaRPr lang="zh-CN" altLang="en-US" dirty="0">
              <a:ea typeface="宋体" panose="02010600030101010101" pitchFamily="2" charset="-122"/>
            </a:endParaRPr>
          </a:p>
        </p:txBody>
      </p:sp>
      <p:sp>
        <p:nvSpPr>
          <p:cNvPr id="3" name="矩形 2"/>
          <p:cNvSpPr/>
          <p:nvPr/>
        </p:nvSpPr>
        <p:spPr>
          <a:xfrm>
            <a:off x="1100788" y="2104157"/>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74" y="233072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ts val="4000"/>
              </a:lnSpc>
            </a:pPr>
            <a:r>
              <a:rPr lang="en-US" sz="2600" dirty="0">
                <a:ea typeface="宋体" panose="02010600030101010101" pitchFamily="2" charset="-122"/>
              </a:rPr>
              <a:t>JavaBean</a:t>
            </a:r>
            <a:r>
              <a:rPr lang="zh-CN" altLang="en-US" sz="2600" dirty="0">
                <a:ea typeface="宋体" panose="02010600030101010101" pitchFamily="2" charset="-122"/>
              </a:rPr>
              <a:t>的使用</a:t>
            </a:r>
            <a:endParaRPr lang="zh-CN" altLang="en-US" sz="2600" dirty="0">
              <a:ea typeface="宋体" panose="02010600030101010101" pitchFamily="2" charset="-122"/>
              <a:hlinkClick r:id="" action="ppaction://noaction"/>
            </a:endParaRPr>
          </a:p>
          <a:p>
            <a:pPr marL="1074420" lvl="1" indent="-533400">
              <a:lnSpc>
                <a:spcPts val="4000"/>
              </a:lnSpc>
            </a:pPr>
            <a:r>
              <a:rPr lang="zh-CN" altLang="en-US" sz="2400" dirty="0"/>
              <a:t>什么是</a:t>
            </a:r>
            <a:r>
              <a:rPr lang="en-US" sz="2400" dirty="0"/>
              <a:t>JavaBean</a:t>
            </a:r>
            <a:r>
              <a:rPr lang="zh-CN" altLang="en-US" sz="2400" dirty="0"/>
              <a:t>组件</a:t>
            </a:r>
            <a:endParaRPr lang="zh-CN" altLang="en-US" sz="2400" dirty="0"/>
          </a:p>
          <a:p>
            <a:pPr marL="1074420" lvl="1" indent="-533400">
              <a:lnSpc>
                <a:spcPts val="4000"/>
              </a:lnSpc>
            </a:pPr>
            <a:r>
              <a:rPr lang="zh-CN" altLang="en-US" sz="2400" dirty="0"/>
              <a:t>使用</a:t>
            </a:r>
            <a:r>
              <a:rPr lang="en-US" sz="2400" dirty="0"/>
              <a:t>JavaBean</a:t>
            </a:r>
            <a:r>
              <a:rPr lang="zh-CN" altLang="en-US" sz="2400" dirty="0"/>
              <a:t>的原因</a:t>
            </a:r>
            <a:endParaRPr lang="zh-CN" altLang="en-US" sz="2400" dirty="0"/>
          </a:p>
          <a:p>
            <a:pPr marL="1074420" lvl="1" indent="-533400">
              <a:lnSpc>
                <a:spcPts val="4000"/>
              </a:lnSpc>
            </a:pPr>
            <a:r>
              <a:rPr lang="en-US" sz="2400" dirty="0"/>
              <a:t>JavaBean</a:t>
            </a:r>
            <a:r>
              <a:rPr lang="zh-CN" altLang="en-US" sz="2400" dirty="0"/>
              <a:t>的种类</a:t>
            </a:r>
            <a:endParaRPr lang="zh-CN" altLang="en-US" sz="2400" dirty="0"/>
          </a:p>
          <a:p>
            <a:pPr marL="1074420" lvl="1" indent="-533400">
              <a:lnSpc>
                <a:spcPts val="4000"/>
              </a:lnSpc>
            </a:pPr>
            <a:r>
              <a:rPr lang="zh-CN" altLang="en-US" sz="2400" dirty="0"/>
              <a:t>在</a:t>
            </a:r>
            <a:r>
              <a:rPr lang="en-US" sz="2400" dirty="0"/>
              <a:t>JSP</a:t>
            </a:r>
            <a:r>
              <a:rPr lang="zh-CN" altLang="en-US" sz="2400" dirty="0"/>
              <a:t>中使用</a:t>
            </a:r>
            <a:r>
              <a:rPr lang="en-US" sz="2400" dirty="0"/>
              <a:t>Bean</a:t>
            </a:r>
            <a:endParaRPr lang="en-US" sz="2400" dirty="0">
              <a:hlinkClick r:id="" action="ppaction://noactio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62184" y="606069"/>
            <a:ext cx="11264801" cy="656296"/>
          </a:xfrm>
        </p:spPr>
        <p:txBody>
          <a:bodyPr/>
          <a:lstStyle/>
          <a:p>
            <a:r>
              <a:rPr lang="zh-CN" altLang="en-US" dirty="0">
                <a:ea typeface="宋体" panose="02010600030101010101" pitchFamily="2" charset="-122"/>
              </a:rPr>
              <a:t>第六章   </a:t>
            </a:r>
            <a:r>
              <a:rPr lang="en-US" altLang="zh-CN" dirty="0">
                <a:ea typeface="宋体" panose="02010600030101010101" pitchFamily="2" charset="-122"/>
              </a:rPr>
              <a:t>Java Web</a:t>
            </a:r>
            <a:r>
              <a:rPr lang="zh-CN" altLang="en-US" dirty="0">
                <a:ea typeface="宋体" panose="02010600030101010101" pitchFamily="2" charset="-122"/>
              </a:rPr>
              <a:t>的开发模式</a:t>
            </a:r>
            <a:endParaRPr lang="zh-CN" altLang="en-US" dirty="0">
              <a:ea typeface="宋体" panose="02010600030101010101" pitchFamily="2" charset="-122"/>
            </a:endParaRPr>
          </a:p>
        </p:txBody>
      </p:sp>
      <p:sp>
        <p:nvSpPr>
          <p:cNvPr id="6147" name="Rectangle 3"/>
          <p:cNvSpPr>
            <a:spLocks noGrp="1" noChangeArrowheads="1"/>
          </p:cNvSpPr>
          <p:nvPr>
            <p:ph type="body" idx="1"/>
          </p:nvPr>
        </p:nvSpPr>
        <p:spPr>
          <a:xfrm>
            <a:off x="832696" y="1744117"/>
            <a:ext cx="12280552" cy="3026998"/>
          </a:xfrm>
        </p:spPr>
        <p:txBody>
          <a:bodyPr/>
          <a:lstStyle/>
          <a:p>
            <a:pPr marL="573405" indent="-573405">
              <a:lnSpc>
                <a:spcPct val="150000"/>
              </a:lnSpc>
              <a:buNone/>
            </a:pPr>
            <a:r>
              <a:rPr lang="zh-CN" altLang="en-US" b="1" dirty="0">
                <a:ea typeface="楷体_GB2312" pitchFamily="1" charset="-122"/>
              </a:rPr>
              <a:t>教学要求</a:t>
            </a:r>
            <a:endParaRPr lang="zh-CN" altLang="en-US" b="1" dirty="0">
              <a:ea typeface="楷体_GB2312" pitchFamily="1" charset="-122"/>
            </a:endParaRPr>
          </a:p>
          <a:p>
            <a:pPr marL="457200" indent="-457200">
              <a:lnSpc>
                <a:spcPct val="200000"/>
              </a:lnSpc>
              <a:buNone/>
            </a:pPr>
            <a:r>
              <a:rPr lang="en-US" altLang="zh-CN" sz="2400" dirty="0">
                <a:ea typeface="宋体" panose="02010600030101010101" pitchFamily="2" charset="-122"/>
              </a:rPr>
              <a:t>1</a:t>
            </a:r>
            <a:r>
              <a:rPr lang="zh-CN" altLang="en-US" sz="2400" dirty="0">
                <a:ea typeface="宋体" panose="02010600030101010101" pitchFamily="2" charset="-122"/>
              </a:rPr>
              <a:t>．掌握：</a:t>
            </a:r>
            <a:r>
              <a:rPr lang="en-US" altLang="zh-CN" sz="2400" dirty="0">
                <a:ea typeface="宋体" panose="02010600030101010101" pitchFamily="2" charset="-122"/>
              </a:rPr>
              <a:t>JavaBean</a:t>
            </a:r>
            <a:r>
              <a:rPr lang="zh-CN" altLang="en-US" sz="2400" dirty="0">
                <a:ea typeface="宋体" panose="02010600030101010101" pitchFamily="2" charset="-122"/>
              </a:rPr>
              <a:t>的应用</a:t>
            </a:r>
            <a:endParaRPr lang="zh-CN" altLang="en-US" sz="2400" dirty="0">
              <a:ea typeface="宋体" panose="02010600030101010101" pitchFamily="2" charset="-122"/>
            </a:endParaRPr>
          </a:p>
          <a:p>
            <a:pPr marL="457200" indent="-457200">
              <a:lnSpc>
                <a:spcPct val="200000"/>
              </a:lnSpc>
              <a:buNone/>
            </a:pPr>
            <a:r>
              <a:rPr lang="en-US" altLang="zh-CN" sz="2400" dirty="0">
                <a:ea typeface="宋体" panose="02010600030101010101" pitchFamily="2" charset="-122"/>
              </a:rPr>
              <a:t>2</a:t>
            </a:r>
            <a:r>
              <a:rPr lang="zh-CN" altLang="en-US" sz="2400" dirty="0">
                <a:ea typeface="宋体" panose="02010600030101010101" pitchFamily="2" charset="-122"/>
              </a:rPr>
              <a:t>．理解：共享</a:t>
            </a:r>
            <a:r>
              <a:rPr lang="en-US" altLang="zh-CN" sz="2400" dirty="0">
                <a:ea typeface="宋体" panose="02010600030101010101" pitchFamily="2" charset="-122"/>
              </a:rPr>
              <a:t>JavaBean</a:t>
            </a:r>
            <a:r>
              <a:rPr lang="zh-CN" altLang="en-US" sz="2400" dirty="0">
                <a:ea typeface="宋体" panose="02010600030101010101" pitchFamily="2" charset="-122"/>
              </a:rPr>
              <a:t>的四种方式</a:t>
            </a:r>
            <a:endParaRPr lang="en-US" altLang="zh-CN" sz="2400" dirty="0">
              <a:ea typeface="宋体" panose="02010600030101010101" pitchFamily="2" charset="-122"/>
            </a:endParaRPr>
          </a:p>
          <a:p>
            <a:pPr marL="457200" indent="-457200">
              <a:lnSpc>
                <a:spcPct val="200000"/>
              </a:lnSpc>
              <a:buNone/>
            </a:pPr>
            <a:r>
              <a:rPr lang="en-US" altLang="zh-CN" sz="2400" dirty="0">
                <a:ea typeface="宋体" panose="02010600030101010101" pitchFamily="2" charset="-122"/>
              </a:rPr>
              <a:t>3</a:t>
            </a:r>
            <a:r>
              <a:rPr lang="zh-CN" altLang="en-US" sz="2400" dirty="0">
                <a:ea typeface="宋体" panose="02010600030101010101" pitchFamily="2" charset="-122"/>
              </a:rPr>
              <a:t>．了解：</a:t>
            </a:r>
            <a:r>
              <a:rPr lang="en-US" altLang="zh-CN" sz="2400" dirty="0">
                <a:ea typeface="宋体" panose="02010600030101010101" pitchFamily="2" charset="-122"/>
              </a:rPr>
              <a:t>JavaBean</a:t>
            </a:r>
            <a:r>
              <a:rPr lang="zh-CN" altLang="en-US" sz="2400" dirty="0">
                <a:ea typeface="宋体" panose="02010600030101010101" pitchFamily="2" charset="-122"/>
              </a:rPr>
              <a:t>的涵义</a:t>
            </a: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59028" y="654622"/>
            <a:ext cx="11264801" cy="656296"/>
          </a:xfrm>
        </p:spPr>
        <p:txBody>
          <a:bodyPr/>
          <a:lstStyle/>
          <a:p>
            <a:r>
              <a:rPr lang="zh-CN" altLang="en-US" dirty="0" smtClean="0">
                <a:ea typeface="宋体" panose="02010600030101010101" pitchFamily="2" charset="-122"/>
              </a:rPr>
              <a:t>授课任务</a:t>
            </a:r>
            <a:endParaRPr lang="zh-CN" altLang="en-US" dirty="0">
              <a:ea typeface="宋体" panose="02010600030101010101" pitchFamily="2" charset="-122"/>
            </a:endParaRPr>
          </a:p>
        </p:txBody>
      </p:sp>
      <p:sp>
        <p:nvSpPr>
          <p:cNvPr id="7171"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什么</a:t>
            </a:r>
            <a:r>
              <a:rPr lang="zh-CN" altLang="en-US" dirty="0">
                <a:ea typeface="宋体" panose="02010600030101010101" pitchFamily="2" charset="-122"/>
              </a:rPr>
              <a:t>是</a:t>
            </a:r>
            <a:r>
              <a:rPr lang="en-US" dirty="0">
                <a:ea typeface="宋体" panose="02010600030101010101" pitchFamily="2" charset="-122"/>
              </a:rPr>
              <a:t>JavaBean</a:t>
            </a:r>
            <a:r>
              <a:rPr lang="zh-CN" altLang="en-US" dirty="0">
                <a:ea typeface="宋体" panose="02010600030101010101" pitchFamily="2" charset="-122"/>
              </a:rPr>
              <a:t>组件 </a:t>
            </a:r>
            <a:endParaRPr lang="zh-CN" altLang="en-US" dirty="0">
              <a:ea typeface="宋体" panose="02010600030101010101" pitchFamily="2" charset="-122"/>
            </a:endParaRPr>
          </a:p>
        </p:txBody>
      </p:sp>
      <p:sp>
        <p:nvSpPr>
          <p:cNvPr id="7172" name="Rectangle 4"/>
          <p:cNvSpPr>
            <a:spLocks noChangeArrowheads="1"/>
          </p:cNvSpPr>
          <p:nvPr/>
        </p:nvSpPr>
        <p:spPr bwMode="auto">
          <a:xfrm>
            <a:off x="962177" y="2316620"/>
            <a:ext cx="5544115" cy="343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一个标准的</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组件具有以下几个特性：</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Char char="•"/>
            </a:pPr>
            <a:r>
              <a:rPr lang="zh-CN" altLang="en-US" smtClean="0">
                <a:solidFill>
                  <a:srgbClr val="000000"/>
                </a:solidFill>
                <a:latin typeface="Arial" panose="020B0604020202020204" pitchFamily="34" charset="0"/>
              </a:rPr>
              <a:t> 它是一个公开的（</a:t>
            </a:r>
            <a:r>
              <a:rPr lang="en-US" smtClean="0">
                <a:solidFill>
                  <a:srgbClr val="000000"/>
                </a:solidFill>
                <a:latin typeface="Arial" panose="020B0604020202020204" pitchFamily="34" charset="0"/>
              </a:rPr>
              <a:t>public</a:t>
            </a:r>
            <a:r>
              <a:rPr lang="zh-CN" altLang="en-US" smtClean="0">
                <a:solidFill>
                  <a:srgbClr val="000000"/>
                </a:solidFill>
                <a:latin typeface="Arial" panose="020B0604020202020204" pitchFamily="34" charset="0"/>
              </a:rPr>
              <a:t>）类。</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Char char="•"/>
            </a:pPr>
            <a:r>
              <a:rPr lang="zh-CN" altLang="en-US" smtClean="0">
                <a:solidFill>
                  <a:srgbClr val="000000"/>
                </a:solidFill>
                <a:latin typeface="Arial" panose="020B0604020202020204" pitchFamily="34" charset="0"/>
              </a:rPr>
              <a:t> 它必须拥有一个零参数的，即默认构造函数。</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Char char="•"/>
            </a:pPr>
            <a:r>
              <a:rPr lang="zh-CN" altLang="en-US" smtClean="0">
                <a:solidFill>
                  <a:srgbClr val="000000"/>
                </a:solidFill>
                <a:latin typeface="Arial" panose="020B0604020202020204" pitchFamily="34" charset="0"/>
              </a:rPr>
              <a:t> 它不应该有公开的实例变量。</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Char char="•"/>
            </a:pPr>
            <a:r>
              <a:rPr lang="zh-CN" altLang="en-US" smtClean="0">
                <a:solidFill>
                  <a:srgbClr val="000000"/>
                </a:solidFill>
                <a:latin typeface="Arial" panose="020B0604020202020204" pitchFamily="34" charset="0"/>
              </a:rPr>
              <a:t> 它提供</a:t>
            </a:r>
            <a:r>
              <a:rPr lang="en-US" smtClean="0">
                <a:solidFill>
                  <a:srgbClr val="000000"/>
                </a:solidFill>
                <a:latin typeface="Arial" panose="020B0604020202020204" pitchFamily="34" charset="0"/>
              </a:rPr>
              <a:t>setXxx()</a:t>
            </a:r>
            <a:r>
              <a:rPr lang="zh-CN" altLang="en-US" smtClean="0">
                <a:solidFill>
                  <a:srgbClr val="000000"/>
                </a:solidFill>
                <a:latin typeface="Arial" panose="020B0604020202020204" pitchFamily="34" charset="0"/>
              </a:rPr>
              <a:t>和</a:t>
            </a:r>
            <a:r>
              <a:rPr lang="en-US" smtClean="0">
                <a:solidFill>
                  <a:srgbClr val="000000"/>
                </a:solidFill>
                <a:latin typeface="Arial" panose="020B0604020202020204" pitchFamily="34" charset="0"/>
              </a:rPr>
              <a:t>getXxx()</a:t>
            </a:r>
            <a:r>
              <a:rPr lang="zh-CN" altLang="en-US" smtClean="0">
                <a:solidFill>
                  <a:srgbClr val="000000"/>
                </a:solidFill>
                <a:latin typeface="Arial" panose="020B0604020202020204" pitchFamily="34" charset="0"/>
              </a:rPr>
              <a:t>方法来对属性进行操作。</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Char char="•"/>
            </a:pPr>
            <a:r>
              <a:rPr lang="zh-CN" altLang="en-US" smtClean="0">
                <a:solidFill>
                  <a:srgbClr val="000000"/>
                </a:solidFill>
                <a:latin typeface="Arial" panose="020B0604020202020204" pitchFamily="34" charset="0"/>
              </a:rPr>
              <a:t> 对于</a:t>
            </a:r>
            <a:r>
              <a:rPr lang="en-US" smtClean="0">
                <a:solidFill>
                  <a:srgbClr val="000000"/>
                </a:solidFill>
                <a:latin typeface="Arial" panose="020B0604020202020204" pitchFamily="34" charset="0"/>
              </a:rPr>
              <a:t>boolean</a:t>
            </a:r>
            <a:r>
              <a:rPr lang="zh-CN" altLang="en-US" smtClean="0">
                <a:solidFill>
                  <a:srgbClr val="000000"/>
                </a:solidFill>
                <a:latin typeface="Arial" panose="020B0604020202020204" pitchFamily="34" charset="0"/>
              </a:rPr>
              <a:t>类型的属性，可以使用</a:t>
            </a:r>
            <a:r>
              <a:rPr lang="en-US" smtClean="0">
                <a:solidFill>
                  <a:srgbClr val="000000"/>
                </a:solidFill>
                <a:latin typeface="Arial" panose="020B0604020202020204" pitchFamily="34" charset="0"/>
              </a:rPr>
              <a:t>is</a:t>
            </a:r>
            <a:r>
              <a:rPr lang="zh-CN" altLang="en-US" smtClean="0">
                <a:solidFill>
                  <a:srgbClr val="000000"/>
                </a:solidFill>
                <a:latin typeface="Arial" panose="020B0604020202020204" pitchFamily="34" charset="0"/>
              </a:rPr>
              <a:t>代替</a:t>
            </a:r>
            <a:r>
              <a:rPr lang="en-US" smtClean="0">
                <a:solidFill>
                  <a:srgbClr val="000000"/>
                </a:solidFill>
                <a:latin typeface="Arial" panose="020B0604020202020204" pitchFamily="34" charset="0"/>
              </a:rPr>
              <a:t>get</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 name="TextBox 1"/>
          <p:cNvSpPr txBox="1"/>
          <p:nvPr/>
        </p:nvSpPr>
        <p:spPr>
          <a:xfrm>
            <a:off x="6285359" y="1672109"/>
            <a:ext cx="6480720" cy="5078313"/>
          </a:xfrm>
          <a:prstGeom prst="rect">
            <a:avLst/>
          </a:prstGeom>
          <a:noFill/>
        </p:spPr>
        <p:txBody>
          <a:bodyPr wrap="square" rtlCol="0">
            <a:spAutoFit/>
          </a:bodyPr>
          <a:lstStyle/>
          <a:p>
            <a:pPr fontAlgn="auto"/>
            <a:r>
              <a:rPr lang="en-US" altLang="zh-CN" dirty="0"/>
              <a:t>/*</a:t>
            </a:r>
            <a:r>
              <a:rPr lang="zh-CN" altLang="zh-CN" dirty="0"/>
              <a:t>商品订单</a:t>
            </a:r>
            <a:r>
              <a:rPr lang="en-US" altLang="zh-CN" dirty="0"/>
              <a:t>bean</a:t>
            </a:r>
            <a:r>
              <a:rPr lang="zh-CN" altLang="zh-CN" dirty="0"/>
              <a:t>－－商品订单所有属性及方法</a:t>
            </a:r>
            <a:r>
              <a:rPr lang="en-US" altLang="zh-CN" dirty="0"/>
              <a:t>*/</a:t>
            </a:r>
            <a:endParaRPr lang="zh-CN" altLang="zh-CN" dirty="0"/>
          </a:p>
          <a:p>
            <a:pPr fontAlgn="auto"/>
            <a:r>
              <a:rPr lang="en-US" altLang="zh-CN" b="1" dirty="0"/>
              <a:t>package</a:t>
            </a:r>
            <a:r>
              <a:rPr lang="en-US" altLang="zh-CN" dirty="0"/>
              <a:t> </a:t>
            </a:r>
            <a:r>
              <a:rPr lang="en-US" altLang="zh-CN" dirty="0" err="1"/>
              <a:t>edu.shop.entity</a:t>
            </a:r>
            <a:r>
              <a:rPr lang="en-US" altLang="zh-CN" dirty="0"/>
              <a:t>;</a:t>
            </a:r>
            <a:endParaRPr lang="zh-CN" altLang="zh-CN" dirty="0"/>
          </a:p>
          <a:p>
            <a:pPr fontAlgn="auto"/>
            <a:r>
              <a:rPr lang="en-US" altLang="zh-CN" dirty="0"/>
              <a:t> </a:t>
            </a:r>
            <a:endParaRPr lang="zh-CN" altLang="zh-CN" dirty="0"/>
          </a:p>
          <a:p>
            <a:pPr fontAlgn="auto"/>
            <a:r>
              <a:rPr lang="en-US" altLang="zh-CN" b="1" dirty="0"/>
              <a:t>public</a:t>
            </a:r>
            <a:r>
              <a:rPr lang="en-US" altLang="zh-CN" dirty="0"/>
              <a:t> </a:t>
            </a:r>
            <a:r>
              <a:rPr lang="en-US" altLang="zh-CN" b="1" dirty="0"/>
              <a:t>class</a:t>
            </a:r>
            <a:r>
              <a:rPr lang="en-US" altLang="zh-CN" dirty="0"/>
              <a:t> </a:t>
            </a:r>
            <a:r>
              <a:rPr lang="en-US" altLang="zh-CN" dirty="0" err="1"/>
              <a:t>ItemOrder</a:t>
            </a:r>
            <a:r>
              <a:rPr lang="en-US" altLang="zh-CN" dirty="0"/>
              <a:t> {</a:t>
            </a:r>
            <a:endParaRPr lang="zh-CN" altLang="zh-CN" dirty="0"/>
          </a:p>
          <a:p>
            <a:pPr fontAlgn="auto"/>
            <a:r>
              <a:rPr lang="en-US" altLang="zh-CN" dirty="0"/>
              <a:t>	</a:t>
            </a:r>
            <a:r>
              <a:rPr lang="en-US" altLang="zh-CN" b="1" dirty="0"/>
              <a:t>private</a:t>
            </a:r>
            <a:r>
              <a:rPr lang="en-US" altLang="zh-CN" dirty="0"/>
              <a:t> Item </a:t>
            </a:r>
            <a:r>
              <a:rPr lang="en-US" altLang="zh-CN" dirty="0" err="1"/>
              <a:t>item</a:t>
            </a:r>
            <a:r>
              <a:rPr lang="en-US" altLang="zh-CN" dirty="0"/>
              <a:t>;</a:t>
            </a:r>
            <a:endParaRPr lang="zh-CN" altLang="zh-CN" dirty="0"/>
          </a:p>
          <a:p>
            <a:pPr fontAlgn="auto"/>
            <a:r>
              <a:rPr lang="en-US" altLang="zh-CN" dirty="0"/>
              <a:t>	</a:t>
            </a:r>
            <a:r>
              <a:rPr lang="en-US" altLang="zh-CN" b="1" dirty="0"/>
              <a:t>private</a:t>
            </a:r>
            <a:r>
              <a:rPr lang="en-US" altLang="zh-CN" dirty="0"/>
              <a:t> </a:t>
            </a:r>
            <a:r>
              <a:rPr lang="en-US" altLang="zh-CN" b="1" dirty="0" err="1"/>
              <a:t>int</a:t>
            </a:r>
            <a:r>
              <a:rPr lang="en-US" altLang="zh-CN" dirty="0"/>
              <a:t> </a:t>
            </a:r>
            <a:r>
              <a:rPr lang="en-US" altLang="zh-CN" dirty="0" err="1"/>
              <a:t>numitems</a:t>
            </a:r>
            <a:r>
              <a:rPr lang="en-US" altLang="zh-CN" dirty="0"/>
              <a:t>;</a:t>
            </a:r>
            <a:endParaRPr lang="zh-CN" altLang="zh-CN" dirty="0"/>
          </a:p>
          <a:p>
            <a:pPr fontAlgn="auto"/>
            <a:r>
              <a:rPr lang="en-US" altLang="zh-CN" dirty="0"/>
              <a:t> </a:t>
            </a:r>
            <a:endParaRPr lang="zh-CN" altLang="zh-CN" dirty="0"/>
          </a:p>
          <a:p>
            <a:pPr fontAlgn="auto"/>
            <a:r>
              <a:rPr lang="en-US" altLang="zh-CN" dirty="0"/>
              <a:t>	</a:t>
            </a:r>
            <a:r>
              <a:rPr lang="en-US" altLang="zh-CN" b="1" dirty="0"/>
              <a:t>public</a:t>
            </a:r>
            <a:r>
              <a:rPr lang="en-US" altLang="zh-CN" dirty="0"/>
              <a:t> </a:t>
            </a:r>
            <a:r>
              <a:rPr lang="en-US" altLang="zh-CN" dirty="0" err="1"/>
              <a:t>ItemOrder</a:t>
            </a:r>
            <a:r>
              <a:rPr lang="en-US" altLang="zh-CN" dirty="0"/>
              <a:t>() {</a:t>
            </a:r>
            <a:endParaRPr lang="zh-CN" altLang="zh-CN" dirty="0"/>
          </a:p>
          <a:p>
            <a:pPr fontAlgn="auto"/>
            <a:r>
              <a:rPr lang="en-US" altLang="zh-CN" dirty="0"/>
              <a:t>	}</a:t>
            </a:r>
            <a:endParaRPr lang="zh-CN" altLang="zh-CN" dirty="0"/>
          </a:p>
          <a:p>
            <a:pPr fontAlgn="auto"/>
            <a:r>
              <a:rPr lang="en-US" altLang="zh-CN" dirty="0"/>
              <a:t>	</a:t>
            </a:r>
            <a:r>
              <a:rPr lang="en-US" altLang="zh-CN" b="1" dirty="0"/>
              <a:t>public</a:t>
            </a:r>
            <a:r>
              <a:rPr lang="en-US" altLang="zh-CN" dirty="0"/>
              <a:t> </a:t>
            </a:r>
            <a:r>
              <a:rPr lang="en-US" altLang="zh-CN" dirty="0" err="1"/>
              <a:t>ItemOrder</a:t>
            </a:r>
            <a:r>
              <a:rPr lang="en-US" altLang="zh-CN" dirty="0"/>
              <a:t>(Item item) {</a:t>
            </a:r>
            <a:endParaRPr lang="zh-CN" altLang="zh-CN" dirty="0"/>
          </a:p>
          <a:p>
            <a:pPr fontAlgn="auto"/>
            <a:r>
              <a:rPr lang="en-US" altLang="zh-CN" dirty="0"/>
              <a:t>		</a:t>
            </a:r>
            <a:r>
              <a:rPr lang="en-US" altLang="zh-CN" dirty="0" err="1"/>
              <a:t>setItem</a:t>
            </a:r>
            <a:r>
              <a:rPr lang="en-US" altLang="zh-CN" dirty="0"/>
              <a:t>(item);</a:t>
            </a:r>
            <a:endParaRPr lang="zh-CN" altLang="zh-CN" dirty="0"/>
          </a:p>
          <a:p>
            <a:pPr fontAlgn="auto"/>
            <a:r>
              <a:rPr lang="en-US" altLang="zh-CN" dirty="0"/>
              <a:t>		</a:t>
            </a:r>
            <a:r>
              <a:rPr lang="en-US" altLang="zh-CN" dirty="0" err="1"/>
              <a:t>setNumitems</a:t>
            </a:r>
            <a:r>
              <a:rPr lang="en-US" altLang="zh-CN" dirty="0"/>
              <a:t>(1);</a:t>
            </a:r>
            <a:endParaRPr lang="zh-CN" altLang="zh-CN" dirty="0"/>
          </a:p>
          <a:p>
            <a:pPr fontAlgn="auto"/>
            <a:r>
              <a:rPr lang="en-US" altLang="zh-CN" dirty="0"/>
              <a:t>	}</a:t>
            </a:r>
            <a:endParaRPr lang="zh-CN" altLang="zh-CN" dirty="0"/>
          </a:p>
          <a:p>
            <a:pPr fontAlgn="auto"/>
            <a:r>
              <a:rPr lang="en-US" altLang="zh-CN" dirty="0"/>
              <a:t>	// </a:t>
            </a:r>
            <a:r>
              <a:rPr lang="zh-CN" altLang="zh-CN" dirty="0"/>
              <a:t>获取所买商品</a:t>
            </a:r>
            <a:endParaRPr lang="zh-CN" altLang="zh-CN" dirty="0"/>
          </a:p>
          <a:p>
            <a:pPr fontAlgn="auto"/>
            <a:r>
              <a:rPr lang="en-US" altLang="zh-CN" dirty="0"/>
              <a:t>	</a:t>
            </a:r>
            <a:r>
              <a:rPr lang="en-US" altLang="zh-CN" b="1" dirty="0"/>
              <a:t>public</a:t>
            </a:r>
            <a:r>
              <a:rPr lang="en-US" altLang="zh-CN" dirty="0"/>
              <a:t> Item </a:t>
            </a:r>
            <a:r>
              <a:rPr lang="en-US" altLang="zh-CN" dirty="0" err="1"/>
              <a:t>getItem</a:t>
            </a:r>
            <a:r>
              <a:rPr lang="en-US" altLang="zh-CN" dirty="0"/>
              <a:t>() {</a:t>
            </a:r>
            <a:endParaRPr lang="zh-CN" altLang="zh-CN" dirty="0"/>
          </a:p>
          <a:p>
            <a:pPr fontAlgn="auto"/>
            <a:r>
              <a:rPr lang="en-US" altLang="zh-CN" dirty="0"/>
              <a:t>		</a:t>
            </a:r>
            <a:r>
              <a:rPr lang="en-US" altLang="zh-CN" b="1" dirty="0"/>
              <a:t>return</a:t>
            </a:r>
            <a:r>
              <a:rPr lang="en-US" altLang="zh-CN" dirty="0"/>
              <a:t> item;</a:t>
            </a:r>
            <a:endParaRPr lang="zh-CN" altLang="zh-CN" dirty="0"/>
          </a:p>
          <a:p>
            <a:pPr fontAlgn="auto"/>
            <a:r>
              <a:rPr lang="en-US" altLang="zh-CN" dirty="0"/>
              <a:t>	}</a:t>
            </a:r>
            <a:endParaRPr lang="zh-CN" altLang="zh-CN" dirty="0"/>
          </a:p>
          <a:p>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8195"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使用</a:t>
            </a:r>
            <a:r>
              <a:rPr lang="en-US" dirty="0">
                <a:ea typeface="宋体" panose="02010600030101010101" pitchFamily="2" charset="-122"/>
              </a:rPr>
              <a:t>JavaBean</a:t>
            </a:r>
            <a:r>
              <a:rPr lang="zh-CN" altLang="en-US" dirty="0">
                <a:ea typeface="宋体" panose="02010600030101010101" pitchFamily="2" charset="-122"/>
              </a:rPr>
              <a:t>的原因 </a:t>
            </a:r>
            <a:endParaRPr lang="zh-CN" altLang="en-US" dirty="0">
              <a:ea typeface="宋体" panose="02010600030101010101" pitchFamily="2" charset="-122"/>
            </a:endParaRPr>
          </a:p>
        </p:txBody>
      </p:sp>
      <p:sp>
        <p:nvSpPr>
          <p:cNvPr id="8196" name="Rectangle 4"/>
          <p:cNvSpPr>
            <a:spLocks noChangeArrowheads="1"/>
          </p:cNvSpPr>
          <p:nvPr/>
        </p:nvSpPr>
        <p:spPr bwMode="auto">
          <a:xfrm>
            <a:off x="1062637" y="2253415"/>
            <a:ext cx="6425767" cy="66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为优化程序代码，提高其重复利用性 </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易于管理、易于维护 。</a:t>
            </a:r>
            <a:endParaRPr lang="zh-CN" altLang="en-US" smtClean="0">
              <a:solidFill>
                <a:srgbClr val="000000"/>
              </a:solidFill>
              <a:latin typeface="Arial" panose="020B0604020202020204" pitchFamily="34" charset="0"/>
            </a:endParaRPr>
          </a:p>
        </p:txBody>
      </p:sp>
      <p:pic>
        <p:nvPicPr>
          <p:cNvPr id="8197"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63092" y="3160939"/>
            <a:ext cx="8266658" cy="343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9219" name="Rectangle 3"/>
          <p:cNvSpPr>
            <a:spLocks noGrp="1" noChangeArrowheads="1"/>
          </p:cNvSpPr>
          <p:nvPr>
            <p:ph type="body" idx="1"/>
          </p:nvPr>
        </p:nvSpPr>
        <p:spPr>
          <a:xfrm>
            <a:off x="859483" y="1634047"/>
            <a:ext cx="11269266" cy="532403"/>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的种类 </a:t>
            </a:r>
            <a:endParaRPr lang="zh-CN" altLang="en-US" dirty="0">
              <a:ea typeface="宋体" panose="02010600030101010101" pitchFamily="2" charset="-122"/>
            </a:endParaRPr>
          </a:p>
        </p:txBody>
      </p:sp>
      <p:sp>
        <p:nvSpPr>
          <p:cNvPr id="9220" name="Rectangle 4"/>
          <p:cNvSpPr>
            <a:spLocks noChangeArrowheads="1"/>
          </p:cNvSpPr>
          <p:nvPr/>
        </p:nvSpPr>
        <p:spPr bwMode="auto">
          <a:xfrm>
            <a:off x="1028775" y="2248173"/>
            <a:ext cx="10115103" cy="4547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按其功能分类有两种：</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1</a:t>
            </a:r>
            <a:r>
              <a:rPr lang="zh-CN" altLang="en-US" smtClean="0">
                <a:solidFill>
                  <a:srgbClr val="000000"/>
                </a:solidFill>
                <a:latin typeface="Arial" panose="020B0604020202020204" pitchFamily="34" charset="0"/>
              </a:rPr>
              <a:t>．可视化</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Visual  Bean</a:t>
            </a:r>
            <a:r>
              <a:rPr lang="zh-CN" altLang="en-US" smtClean="0">
                <a:solidFill>
                  <a:srgbClr val="000000"/>
                </a:solidFill>
                <a:latin typeface="Arial" panose="020B0604020202020204" pitchFamily="34" charset="0"/>
              </a:rPr>
              <a:t>）</a:t>
            </a:r>
            <a:endParaRPr lang="en-US" altLang="zh-CN" smtClean="0">
              <a:solidFill>
                <a:srgbClr val="000000"/>
              </a:solidFill>
              <a:latin typeface="Arial" panose="020B0604020202020204" pitchFamily="34" charset="0"/>
            </a:endParaRPr>
          </a:p>
          <a:p>
            <a:pPr>
              <a:lnSpc>
                <a:spcPct val="200000"/>
              </a:lnSpc>
              <a:buFont typeface="Arial" panose="020B0604020202020204" pitchFamily="34" charset="0"/>
              <a:buNone/>
            </a:pPr>
            <a:endParaRPr lang="en-US" altLang="zh-CN" smtClean="0">
              <a:solidFill>
                <a:srgbClr val="000000"/>
              </a:solidFill>
              <a:latin typeface="Arial" panose="020B0604020202020204" pitchFamily="34" charset="0"/>
            </a:endParaRPr>
          </a:p>
          <a:p>
            <a:pPr>
              <a:lnSpc>
                <a:spcPct val="200000"/>
              </a:lnSpc>
              <a:buFont typeface="Arial" panose="020B0604020202020204" pitchFamily="34" charset="0"/>
              <a:buNone/>
            </a:pPr>
            <a:endParaRPr lang="en-US" altLang="zh-CN" smtClean="0">
              <a:solidFill>
                <a:srgbClr val="000000"/>
              </a:solidFill>
              <a:latin typeface="Arial" panose="020B0604020202020204" pitchFamily="34" charset="0"/>
            </a:endParaRPr>
          </a:p>
          <a:p>
            <a:pPr>
              <a:lnSpc>
                <a:spcPct val="200000"/>
              </a:lnSpc>
              <a:buFont typeface="Arial" panose="020B0604020202020204" pitchFamily="34" charset="0"/>
              <a:buNone/>
            </a:pP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2</a:t>
            </a:r>
            <a:r>
              <a:rPr lang="zh-CN" altLang="en-US" smtClean="0">
                <a:solidFill>
                  <a:srgbClr val="000000"/>
                </a:solidFill>
                <a:latin typeface="Arial" panose="020B0604020202020204" pitchFamily="34" charset="0"/>
              </a:rPr>
              <a:t>．非可视化</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Invisible  Bean</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    （</a:t>
            </a:r>
            <a:r>
              <a:rPr lang="en-US" smtClean="0">
                <a:solidFill>
                  <a:srgbClr val="000000"/>
                </a:solidFill>
                <a:latin typeface="Arial" panose="020B0604020202020204" pitchFamily="34" charset="0"/>
              </a:rPr>
              <a:t>1</a:t>
            </a:r>
            <a:r>
              <a:rPr lang="zh-CN" altLang="en-US" smtClean="0">
                <a:solidFill>
                  <a:srgbClr val="000000"/>
                </a:solidFill>
                <a:latin typeface="Arial" panose="020B0604020202020204" pitchFamily="34" charset="0"/>
              </a:rPr>
              <a:t>）数据</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DataBean</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    （</a:t>
            </a:r>
            <a:r>
              <a:rPr lang="en-US" smtClean="0">
                <a:solidFill>
                  <a:srgbClr val="000000"/>
                </a:solidFill>
                <a:latin typeface="Arial" panose="020B0604020202020204" pitchFamily="34" charset="0"/>
              </a:rPr>
              <a:t>2</a:t>
            </a:r>
            <a:r>
              <a:rPr lang="zh-CN" altLang="en-US" smtClean="0">
                <a:solidFill>
                  <a:srgbClr val="000000"/>
                </a:solidFill>
                <a:latin typeface="Arial" panose="020B0604020202020204" pitchFamily="34" charset="0"/>
              </a:rPr>
              <a:t>）功能</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ActionBean</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pic>
        <p:nvPicPr>
          <p:cNvPr id="30722" name="Picture 2" descr="6-2"/>
          <p:cNvPicPr>
            <a:picLocks noChangeAspect="1" noChangeArrowheads="1"/>
          </p:cNvPicPr>
          <p:nvPr/>
        </p:nvPicPr>
        <p:blipFill>
          <a:blip r:embed="rId1" cstate="print"/>
          <a:srcRect/>
          <a:stretch>
            <a:fillRect/>
          </a:stretch>
        </p:blipFill>
        <p:spPr bwMode="auto">
          <a:xfrm>
            <a:off x="1172791" y="3616325"/>
            <a:ext cx="5161533" cy="11521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10243"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在</a:t>
            </a:r>
            <a:r>
              <a:rPr lang="en-US" dirty="0">
                <a:ea typeface="宋体" panose="02010600030101010101" pitchFamily="2" charset="-122"/>
              </a:rPr>
              <a:t>JSP</a:t>
            </a:r>
            <a:r>
              <a:rPr lang="zh-CN" altLang="en-US" dirty="0">
                <a:ea typeface="宋体" panose="02010600030101010101" pitchFamily="2" charset="-122"/>
              </a:rPr>
              <a:t>中使用</a:t>
            </a:r>
            <a:r>
              <a:rPr lang="en-US" dirty="0">
                <a:ea typeface="宋体" panose="02010600030101010101" pitchFamily="2" charset="-122"/>
              </a:rPr>
              <a:t>Bean </a:t>
            </a:r>
            <a:endParaRPr lang="zh-CN" altLang="en-US" dirty="0">
              <a:ea typeface="宋体" panose="02010600030101010101" pitchFamily="2" charset="-122"/>
            </a:endParaRPr>
          </a:p>
        </p:txBody>
      </p:sp>
      <p:sp>
        <p:nvSpPr>
          <p:cNvPr id="10244" name="Rectangle 4"/>
          <p:cNvSpPr>
            <a:spLocks noChangeArrowheads="1"/>
          </p:cNvSpPr>
          <p:nvPr/>
        </p:nvSpPr>
        <p:spPr bwMode="auto">
          <a:xfrm>
            <a:off x="962175" y="2293691"/>
            <a:ext cx="10934402" cy="299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中使用</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有两种方式：</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1</a:t>
            </a:r>
            <a:r>
              <a:rPr lang="zh-CN" altLang="en-US" smtClean="0">
                <a:solidFill>
                  <a:srgbClr val="000000"/>
                </a:solidFill>
                <a:latin typeface="Arial" panose="020B0604020202020204" pitchFamily="34" charset="0"/>
              </a:rPr>
              <a:t>．在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页面的代码段中将</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作为一个普通的</a:t>
            </a:r>
            <a:r>
              <a:rPr lang="en-US" smtClean="0">
                <a:solidFill>
                  <a:srgbClr val="000000"/>
                </a:solidFill>
                <a:latin typeface="Arial" panose="020B0604020202020204" pitchFamily="34" charset="0"/>
              </a:rPr>
              <a:t>Java</a:t>
            </a:r>
            <a:r>
              <a:rPr lang="zh-CN" altLang="en-US" smtClean="0">
                <a:solidFill>
                  <a:srgbClr val="000000"/>
                </a:solidFill>
                <a:latin typeface="Arial" panose="020B0604020202020204" pitchFamily="34" charset="0"/>
              </a:rPr>
              <a:t>类进行使用</a:t>
            </a:r>
            <a:r>
              <a:rPr lang="zh-CN" altLang="en-US" smtClean="0">
                <a:solidFill>
                  <a:srgbClr val="000000"/>
                </a:solidFill>
                <a:latin typeface="宋体" panose="02010600030101010101" pitchFamily="2" charset="-122"/>
              </a:rPr>
              <a:t> </a:t>
            </a:r>
            <a:endParaRPr lang="zh-CN" altLang="en-US" smtClean="0">
              <a:solidFill>
                <a:srgbClr val="000000"/>
              </a:solidFill>
              <a:latin typeface="宋体" panose="02010600030101010101" pitchFamily="2" charset="-122"/>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2</a:t>
            </a:r>
            <a:r>
              <a:rPr lang="zh-CN" altLang="en-US" smtClean="0">
                <a:solidFill>
                  <a:srgbClr val="000000"/>
                </a:solidFill>
                <a:latin typeface="Arial" panose="020B0604020202020204" pitchFamily="34" charset="0"/>
              </a:rPr>
              <a:t>．通过</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动作标签使用</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，与使用</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相关的标签有</a:t>
            </a:r>
            <a:r>
              <a:rPr lang="en-US" smtClean="0">
                <a:solidFill>
                  <a:srgbClr val="000000"/>
                </a:solidFill>
                <a:latin typeface="Arial" panose="020B0604020202020204" pitchFamily="34" charset="0"/>
              </a:rPr>
              <a:t>&lt;jsp:useBean&gt;</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&lt;jsp:setProperty&gt;</a:t>
            </a:r>
            <a:r>
              <a:rPr lang="zh-CN" altLang="en-US" smtClean="0">
                <a:solidFill>
                  <a:srgbClr val="000000"/>
                </a:solidFill>
                <a:latin typeface="Arial" panose="020B0604020202020204" pitchFamily="34" charset="0"/>
              </a:rPr>
              <a:t>和</a:t>
            </a:r>
            <a:r>
              <a:rPr lang="en-US" smtClean="0">
                <a:solidFill>
                  <a:srgbClr val="000000"/>
                </a:solidFill>
                <a:latin typeface="Arial" panose="020B0604020202020204" pitchFamily="34" charset="0"/>
              </a:rPr>
              <a:t>&lt;jsp:getProperty&gt;</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11267"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在</a:t>
            </a:r>
            <a:r>
              <a:rPr lang="en-US" dirty="0">
                <a:ea typeface="宋体" panose="02010600030101010101" pitchFamily="2" charset="-122"/>
              </a:rPr>
              <a:t>JSP</a:t>
            </a:r>
            <a:r>
              <a:rPr lang="zh-CN" altLang="en-US" dirty="0">
                <a:ea typeface="宋体" panose="02010600030101010101" pitchFamily="2" charset="-122"/>
              </a:rPr>
              <a:t>中使用</a:t>
            </a:r>
            <a:r>
              <a:rPr lang="en-US" dirty="0">
                <a:ea typeface="宋体" panose="02010600030101010101" pitchFamily="2" charset="-122"/>
              </a:rPr>
              <a:t>Bean </a:t>
            </a:r>
            <a:endParaRPr lang="zh-CN" altLang="en-US" dirty="0">
              <a:ea typeface="宋体" panose="02010600030101010101" pitchFamily="2" charset="-122"/>
            </a:endParaRPr>
          </a:p>
        </p:txBody>
      </p:sp>
      <p:sp>
        <p:nvSpPr>
          <p:cNvPr id="11268" name="Rectangle 4"/>
          <p:cNvSpPr>
            <a:spLocks noChangeArrowheads="1"/>
          </p:cNvSpPr>
          <p:nvPr/>
        </p:nvSpPr>
        <p:spPr bwMode="auto">
          <a:xfrm>
            <a:off x="524719" y="2392189"/>
            <a:ext cx="12606487" cy="2331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1</a:t>
            </a: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&lt;</a:t>
            </a:r>
            <a:r>
              <a:rPr lang="en-US" dirty="0" err="1" smtClean="0">
                <a:solidFill>
                  <a:srgbClr val="000000"/>
                </a:solidFill>
                <a:latin typeface="Arial" panose="020B0604020202020204" pitchFamily="34" charset="0"/>
              </a:rPr>
              <a:t>jsp:useBean</a:t>
            </a:r>
            <a:r>
              <a:rPr lang="en-US" dirty="0" smtClean="0">
                <a:solidFill>
                  <a:srgbClr val="000000"/>
                </a:solidFill>
                <a:latin typeface="Arial" panose="020B0604020202020204" pitchFamily="34" charset="0"/>
              </a:rPr>
              <a:t>&gt;</a:t>
            </a:r>
            <a:r>
              <a:rPr lang="zh-CN" altLang="en-US" dirty="0" smtClean="0">
                <a:solidFill>
                  <a:srgbClr val="000000"/>
                </a:solidFill>
                <a:latin typeface="Arial" panose="020B0604020202020204" pitchFamily="34" charset="0"/>
              </a:rPr>
              <a:t>标签，格式如下：</a:t>
            </a:r>
            <a:endParaRPr lang="zh-CN" altLang="en-US" dirty="0"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dirty="0" smtClean="0">
                <a:solidFill>
                  <a:srgbClr val="000000"/>
                </a:solidFill>
                <a:latin typeface="Arial" panose="020B0604020202020204" pitchFamily="34" charset="0"/>
              </a:rPr>
              <a:t>&lt;</a:t>
            </a:r>
            <a:r>
              <a:rPr lang="en-US" dirty="0" err="1" smtClean="0">
                <a:solidFill>
                  <a:srgbClr val="000000"/>
                </a:solidFill>
                <a:latin typeface="Arial" panose="020B0604020202020204" pitchFamily="34" charset="0"/>
              </a:rPr>
              <a:t>jsp:useBean</a:t>
            </a:r>
            <a:r>
              <a:rPr lang="en-US" dirty="0" smtClean="0">
                <a:solidFill>
                  <a:srgbClr val="000000"/>
                </a:solidFill>
                <a:latin typeface="Arial" panose="020B0604020202020204" pitchFamily="34" charset="0"/>
              </a:rPr>
              <a:t>   id= "**"   class= "**"   scope="**"/&gt;</a:t>
            </a:r>
            <a:endParaRPr lang="en-US" dirty="0"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dirty="0" smtClean="0">
                <a:solidFill>
                  <a:srgbClr val="000000"/>
                </a:solidFill>
                <a:latin typeface="Arial" panose="020B0604020202020204" pitchFamily="34" charset="0"/>
              </a:rPr>
              <a:t>&lt;</a:t>
            </a:r>
            <a:r>
              <a:rPr lang="en-US" dirty="0" err="1" smtClean="0">
                <a:solidFill>
                  <a:srgbClr val="000000"/>
                </a:solidFill>
                <a:latin typeface="Arial" panose="020B0604020202020204" pitchFamily="34" charset="0"/>
              </a:rPr>
              <a:t>jsp:useBean</a:t>
            </a:r>
            <a:r>
              <a:rPr lang="en-US" dirty="0" smtClean="0">
                <a:solidFill>
                  <a:srgbClr val="000000"/>
                </a:solidFill>
                <a:latin typeface="Arial" panose="020B0604020202020204" pitchFamily="34" charset="0"/>
              </a:rPr>
              <a:t>&gt;</a:t>
            </a:r>
            <a:r>
              <a:rPr lang="zh-CN" altLang="en-US" dirty="0" smtClean="0">
                <a:solidFill>
                  <a:srgbClr val="000000"/>
                </a:solidFill>
                <a:latin typeface="Arial" panose="020B0604020202020204" pitchFamily="34" charset="0"/>
              </a:rPr>
              <a:t>标签在指定范围内获取或创建一个</a:t>
            </a:r>
            <a:r>
              <a:rPr lang="en-US" dirty="0" smtClean="0">
                <a:solidFill>
                  <a:srgbClr val="000000"/>
                </a:solidFill>
                <a:latin typeface="Arial" panose="020B0604020202020204" pitchFamily="34" charset="0"/>
              </a:rPr>
              <a:t>JavaBean</a:t>
            </a:r>
            <a:r>
              <a:rPr lang="zh-CN" altLang="en-US" dirty="0" smtClean="0">
                <a:solidFill>
                  <a:srgbClr val="000000"/>
                </a:solidFill>
                <a:latin typeface="Arial" panose="020B0604020202020204" pitchFamily="34" charset="0"/>
              </a:rPr>
              <a:t>。</a:t>
            </a:r>
            <a:endParaRPr lang="zh-CN" altLang="en-US" dirty="0" smtClean="0">
              <a:solidFill>
                <a:srgbClr val="000000"/>
              </a:solidFill>
              <a:latin typeface="Arial" panose="020B0604020202020204" pitchFamily="34" charset="0"/>
            </a:endParaRPr>
          </a:p>
          <a:p>
            <a:pPr>
              <a:lnSpc>
                <a:spcPct val="200000"/>
              </a:lnSpc>
              <a:buFont typeface="Arial" panose="020B0604020202020204" pitchFamily="34" charset="0"/>
              <a:buNone/>
            </a:pPr>
            <a:r>
              <a:rPr lang="zh-CN" altLang="en-US" dirty="0" smtClean="0">
                <a:solidFill>
                  <a:srgbClr val="000000"/>
                </a:solidFill>
                <a:latin typeface="Arial" panose="020B0604020202020204" pitchFamily="34" charset="0"/>
              </a:rPr>
              <a:t>属性</a:t>
            </a:r>
            <a:r>
              <a:rPr lang="en-US" dirty="0" smtClean="0">
                <a:solidFill>
                  <a:srgbClr val="000000"/>
                </a:solidFill>
                <a:latin typeface="Arial" panose="020B0604020202020204" pitchFamily="34" charset="0"/>
              </a:rPr>
              <a:t>scope</a:t>
            </a:r>
            <a:r>
              <a:rPr lang="zh-CN" altLang="en-US" dirty="0" smtClean="0">
                <a:solidFill>
                  <a:srgbClr val="000000"/>
                </a:solidFill>
                <a:latin typeface="Arial" panose="020B0604020202020204" pitchFamily="34" charset="0"/>
              </a:rPr>
              <a:t>设定</a:t>
            </a:r>
            <a:r>
              <a:rPr lang="en-US" dirty="0" smtClean="0">
                <a:solidFill>
                  <a:srgbClr val="000000"/>
                </a:solidFill>
                <a:latin typeface="Arial" panose="020B0604020202020204" pitchFamily="34" charset="0"/>
              </a:rPr>
              <a:t>bean</a:t>
            </a:r>
            <a:r>
              <a:rPr lang="zh-CN" altLang="en-US" dirty="0" smtClean="0">
                <a:solidFill>
                  <a:srgbClr val="000000"/>
                </a:solidFill>
                <a:latin typeface="Arial" panose="020B0604020202020204" pitchFamily="34" charset="0"/>
              </a:rPr>
              <a:t>的应用范围，其值有</a:t>
            </a:r>
            <a:r>
              <a:rPr lang="en-US" dirty="0" smtClean="0">
                <a:solidFill>
                  <a:srgbClr val="000000"/>
                </a:solidFill>
                <a:latin typeface="Arial" panose="020B0604020202020204" pitchFamily="34" charset="0"/>
              </a:rPr>
              <a:t>4</a:t>
            </a:r>
            <a:r>
              <a:rPr lang="zh-CN" altLang="en-US" dirty="0" smtClean="0">
                <a:solidFill>
                  <a:srgbClr val="000000"/>
                </a:solidFill>
                <a:latin typeface="Arial" panose="020B0604020202020204" pitchFamily="34" charset="0"/>
              </a:rPr>
              <a:t>种：</a:t>
            </a:r>
            <a:r>
              <a:rPr lang="en-US" dirty="0" smtClean="0">
                <a:solidFill>
                  <a:srgbClr val="000000"/>
                </a:solidFill>
                <a:latin typeface="Arial" panose="020B0604020202020204" pitchFamily="34" charset="0"/>
              </a:rPr>
              <a:t>page</a:t>
            </a: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request</a:t>
            </a: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session</a:t>
            </a: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application</a:t>
            </a:r>
            <a:r>
              <a:rPr lang="zh-CN" altLang="en-US" dirty="0" smtClean="0">
                <a:solidFill>
                  <a:srgbClr val="000000"/>
                </a:solidFill>
                <a:latin typeface="Arial" panose="020B0604020202020204" pitchFamily="34" charset="0"/>
              </a:rPr>
              <a:t>，默认为</a:t>
            </a:r>
            <a:r>
              <a:rPr lang="en-US" dirty="0" smtClean="0">
                <a:solidFill>
                  <a:srgbClr val="000000"/>
                </a:solidFill>
                <a:latin typeface="Arial" panose="020B0604020202020204" pitchFamily="34" charset="0"/>
              </a:rPr>
              <a:t>page</a:t>
            </a:r>
            <a:r>
              <a:rPr lang="zh-CN" altLang="en-US" dirty="0" smtClean="0">
                <a:solidFill>
                  <a:srgbClr val="000000"/>
                </a:solidFill>
                <a:latin typeface="Arial" panose="020B0604020202020204" pitchFamily="34" charset="0"/>
              </a:rPr>
              <a:t>。</a:t>
            </a:r>
            <a:endParaRPr lang="zh-CN" altLang="en-US" dirty="0" smtClean="0">
              <a:solidFill>
                <a:srgbClr val="000000"/>
              </a:solidFill>
              <a:latin typeface="Arial" panose="020B0604020202020204" pitchFamily="34" charset="0"/>
            </a:endParaRPr>
          </a:p>
        </p:txBody>
      </p:sp>
      <p:sp>
        <p:nvSpPr>
          <p:cNvPr id="2" name="矩形 1"/>
          <p:cNvSpPr/>
          <p:nvPr/>
        </p:nvSpPr>
        <p:spPr>
          <a:xfrm>
            <a:off x="524719" y="4714761"/>
            <a:ext cx="11425542" cy="2308324"/>
          </a:xfrm>
          <a:prstGeom prst="rect">
            <a:avLst/>
          </a:prstGeom>
        </p:spPr>
        <p:txBody>
          <a:bodyPr wrap="square">
            <a:spAutoFit/>
          </a:bodyPr>
          <a:lstStyle/>
          <a:p>
            <a:pPr marL="285750" lvl="0" indent="-285750">
              <a:buFont typeface="Wingdings" panose="05000000000000000000" pitchFamily="2" charset="2"/>
              <a:buChar char="u"/>
            </a:pPr>
            <a:r>
              <a:rPr lang="en-US" altLang="zh-CN" dirty="0"/>
              <a:t>scope</a:t>
            </a:r>
            <a:r>
              <a:rPr lang="zh-CN" altLang="zh-CN" dirty="0"/>
              <a:t>取值</a:t>
            </a:r>
            <a:r>
              <a:rPr lang="en-US" altLang="zh-CN" dirty="0"/>
              <a:t>page</a:t>
            </a:r>
            <a:r>
              <a:rPr lang="zh-CN" altLang="zh-CN" dirty="0"/>
              <a:t>：</a:t>
            </a:r>
            <a:r>
              <a:rPr lang="en-US" altLang="zh-CN" dirty="0"/>
              <a:t>JSP</a:t>
            </a:r>
            <a:r>
              <a:rPr lang="zh-CN" altLang="zh-CN" dirty="0"/>
              <a:t>引擎分配给每个客户的</a:t>
            </a:r>
            <a:r>
              <a:rPr lang="en-US" altLang="zh-CN" dirty="0"/>
              <a:t>bean</a:t>
            </a:r>
            <a:r>
              <a:rPr lang="zh-CN" altLang="zh-CN" dirty="0"/>
              <a:t>是互不相同的，它们占有不同的内存空间，该</a:t>
            </a:r>
            <a:r>
              <a:rPr lang="en-US" altLang="zh-CN" dirty="0"/>
              <a:t>bean</a:t>
            </a:r>
            <a:r>
              <a:rPr lang="zh-CN" altLang="zh-CN" dirty="0"/>
              <a:t>的有效范围是当前页面，当客户离开这个页面时，</a:t>
            </a:r>
            <a:r>
              <a:rPr lang="en-US" altLang="zh-CN" dirty="0"/>
              <a:t>JSP</a:t>
            </a:r>
            <a:r>
              <a:rPr lang="zh-CN" altLang="zh-CN" dirty="0"/>
              <a:t>引擎取消分配给该客户的</a:t>
            </a:r>
            <a:r>
              <a:rPr lang="en-US" altLang="zh-CN" dirty="0"/>
              <a:t>bean</a:t>
            </a:r>
            <a:r>
              <a:rPr lang="zh-CN" altLang="zh-CN" dirty="0"/>
              <a:t>。</a:t>
            </a:r>
            <a:endParaRPr lang="zh-CN" altLang="zh-CN" dirty="0"/>
          </a:p>
          <a:p>
            <a:pPr marL="285750" lvl="0" indent="-285750">
              <a:buFont typeface="Wingdings" panose="05000000000000000000" pitchFamily="2" charset="2"/>
              <a:buChar char="u"/>
            </a:pPr>
            <a:r>
              <a:rPr lang="en-US" altLang="zh-CN" dirty="0"/>
              <a:t>scope</a:t>
            </a:r>
            <a:r>
              <a:rPr lang="zh-CN" altLang="zh-CN" dirty="0"/>
              <a:t>取值</a:t>
            </a:r>
            <a:r>
              <a:rPr lang="en-US" altLang="zh-CN" dirty="0"/>
              <a:t>session</a:t>
            </a:r>
            <a:r>
              <a:rPr lang="zh-CN" altLang="zh-CN" dirty="0"/>
              <a:t>：</a:t>
            </a:r>
            <a:r>
              <a:rPr lang="en-US" altLang="zh-CN" dirty="0"/>
              <a:t>JSP</a:t>
            </a:r>
            <a:r>
              <a:rPr lang="zh-CN" altLang="zh-CN" dirty="0"/>
              <a:t>引擎分配给每个客户的</a:t>
            </a:r>
            <a:r>
              <a:rPr lang="en-US" altLang="zh-CN" dirty="0"/>
              <a:t>bean</a:t>
            </a:r>
            <a:r>
              <a:rPr lang="zh-CN" altLang="zh-CN" dirty="0"/>
              <a:t>是互不相同的，该</a:t>
            </a:r>
            <a:r>
              <a:rPr lang="en-US" altLang="zh-CN" dirty="0"/>
              <a:t>bean</a:t>
            </a:r>
            <a:r>
              <a:rPr lang="zh-CN" altLang="zh-CN" dirty="0"/>
              <a:t>的有效范围是客户的会话期间。如果客户在某个页面更改了这个</a:t>
            </a:r>
            <a:r>
              <a:rPr lang="en-US" altLang="zh-CN" dirty="0"/>
              <a:t>bean</a:t>
            </a:r>
            <a:r>
              <a:rPr lang="zh-CN" altLang="zh-CN" dirty="0"/>
              <a:t>的属性，其它页面的这个</a:t>
            </a:r>
            <a:r>
              <a:rPr lang="en-US" altLang="zh-CN" dirty="0"/>
              <a:t>bean</a:t>
            </a:r>
            <a:r>
              <a:rPr lang="zh-CN" altLang="zh-CN" dirty="0"/>
              <a:t>的属性也将发生同样的变化。</a:t>
            </a:r>
            <a:endParaRPr lang="zh-CN" altLang="zh-CN" dirty="0"/>
          </a:p>
          <a:p>
            <a:pPr marL="285750" lvl="0" indent="-285750">
              <a:buFont typeface="Wingdings" panose="05000000000000000000" pitchFamily="2" charset="2"/>
              <a:buChar char="u"/>
            </a:pPr>
            <a:r>
              <a:rPr lang="en-US" altLang="zh-CN" dirty="0"/>
              <a:t>scope</a:t>
            </a:r>
            <a:r>
              <a:rPr lang="zh-CN" altLang="zh-CN" dirty="0"/>
              <a:t>取值</a:t>
            </a:r>
            <a:r>
              <a:rPr lang="en-US" altLang="zh-CN" dirty="0"/>
              <a:t>request</a:t>
            </a:r>
            <a:r>
              <a:rPr lang="zh-CN" altLang="zh-CN" dirty="0"/>
              <a:t>：</a:t>
            </a:r>
            <a:r>
              <a:rPr lang="en-US" altLang="zh-CN" dirty="0"/>
              <a:t>JSP</a:t>
            </a:r>
            <a:r>
              <a:rPr lang="zh-CN" altLang="zh-CN" dirty="0"/>
              <a:t>引擎分配给每个客户的</a:t>
            </a:r>
            <a:r>
              <a:rPr lang="en-US" altLang="zh-CN" dirty="0"/>
              <a:t>bean</a:t>
            </a:r>
            <a:r>
              <a:rPr lang="zh-CN" altLang="zh-CN" dirty="0"/>
              <a:t>是互不相同的，该</a:t>
            </a:r>
            <a:r>
              <a:rPr lang="en-US" altLang="zh-CN" dirty="0"/>
              <a:t>bean</a:t>
            </a:r>
            <a:r>
              <a:rPr lang="zh-CN" altLang="zh-CN" dirty="0"/>
              <a:t>的有效范围是</a:t>
            </a:r>
            <a:r>
              <a:rPr lang="en-US" altLang="zh-CN" dirty="0"/>
              <a:t>request</a:t>
            </a:r>
            <a:r>
              <a:rPr lang="zh-CN" altLang="zh-CN" dirty="0"/>
              <a:t>期间。</a:t>
            </a:r>
            <a:r>
              <a:rPr lang="en-US" altLang="zh-CN" dirty="0"/>
              <a:t>JSP</a:t>
            </a:r>
            <a:r>
              <a:rPr lang="zh-CN" altLang="zh-CN" dirty="0"/>
              <a:t>引擎对请求做出响应之后，取消分配给客户的这个</a:t>
            </a:r>
            <a:r>
              <a:rPr lang="en-US" altLang="zh-CN" dirty="0"/>
              <a:t>bean</a:t>
            </a:r>
            <a:r>
              <a:rPr lang="zh-CN" altLang="zh-CN" dirty="0"/>
              <a:t>。</a:t>
            </a:r>
            <a:endParaRPr lang="zh-CN" altLang="zh-CN" dirty="0"/>
          </a:p>
          <a:p>
            <a:pPr marL="285750" lvl="0" indent="-285750">
              <a:buFont typeface="Wingdings" panose="05000000000000000000" pitchFamily="2" charset="2"/>
              <a:buChar char="u"/>
            </a:pPr>
            <a:r>
              <a:rPr lang="en-US" altLang="zh-CN" dirty="0"/>
              <a:t>scope</a:t>
            </a:r>
            <a:r>
              <a:rPr lang="zh-CN" altLang="zh-CN" dirty="0"/>
              <a:t>取值</a:t>
            </a:r>
            <a:r>
              <a:rPr lang="en-US" altLang="zh-CN" dirty="0"/>
              <a:t>application</a:t>
            </a:r>
            <a:r>
              <a:rPr lang="zh-CN" altLang="zh-CN" dirty="0"/>
              <a:t>：所有客户共享这个</a:t>
            </a:r>
            <a:r>
              <a:rPr lang="en-US" altLang="zh-CN" dirty="0"/>
              <a:t>bean</a:t>
            </a:r>
            <a:r>
              <a:rPr lang="zh-CN" altLang="zh-CN" dirty="0"/>
              <a:t>，如果一个客户更改了这个</a:t>
            </a:r>
            <a:r>
              <a:rPr lang="en-US" altLang="zh-CN" dirty="0"/>
              <a:t>bean</a:t>
            </a:r>
            <a:r>
              <a:rPr lang="zh-CN" altLang="zh-CN" dirty="0"/>
              <a:t>的属性，所有客户的这个</a:t>
            </a:r>
            <a:r>
              <a:rPr lang="en-US" altLang="zh-CN" dirty="0"/>
              <a:t>bean</a:t>
            </a:r>
            <a:r>
              <a:rPr lang="zh-CN" altLang="zh-CN" dirty="0"/>
              <a:t>的属性也将发生同样的变化。这个</a:t>
            </a:r>
            <a:r>
              <a:rPr lang="en-US" altLang="zh-CN" dirty="0"/>
              <a:t>bean</a:t>
            </a:r>
            <a:r>
              <a:rPr lang="zh-CN" altLang="zh-CN" dirty="0"/>
              <a:t>直到服务器关闭才被取消。</a:t>
            </a:r>
            <a:endParaRPr lang="zh-CN" altLang="zh-C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12291"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在</a:t>
            </a:r>
            <a:r>
              <a:rPr lang="en-US" dirty="0">
                <a:ea typeface="宋体" panose="02010600030101010101" pitchFamily="2" charset="-122"/>
              </a:rPr>
              <a:t>JSP</a:t>
            </a:r>
            <a:r>
              <a:rPr lang="zh-CN" altLang="en-US" dirty="0">
                <a:ea typeface="宋体" panose="02010600030101010101" pitchFamily="2" charset="-122"/>
              </a:rPr>
              <a:t>中使用</a:t>
            </a:r>
            <a:r>
              <a:rPr lang="en-US" dirty="0">
                <a:ea typeface="宋体" panose="02010600030101010101" pitchFamily="2" charset="-122"/>
              </a:rPr>
              <a:t>Bean </a:t>
            </a:r>
            <a:endParaRPr lang="zh-CN" altLang="en-US" dirty="0">
              <a:ea typeface="宋体" panose="02010600030101010101" pitchFamily="2" charset="-122"/>
            </a:endParaRPr>
          </a:p>
        </p:txBody>
      </p:sp>
      <p:sp>
        <p:nvSpPr>
          <p:cNvPr id="12292" name="Rectangle 4"/>
          <p:cNvSpPr>
            <a:spLocks noChangeArrowheads="1"/>
          </p:cNvSpPr>
          <p:nvPr/>
        </p:nvSpPr>
        <p:spPr bwMode="auto">
          <a:xfrm>
            <a:off x="252264" y="2668960"/>
            <a:ext cx="12606486" cy="288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2</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&lt;jsp:setProperty&gt;</a:t>
            </a:r>
            <a:r>
              <a:rPr lang="zh-CN" altLang="en-US" smtClean="0">
                <a:solidFill>
                  <a:srgbClr val="000000"/>
                </a:solidFill>
                <a:latin typeface="Arial" panose="020B0604020202020204" pitchFamily="34" charset="0"/>
              </a:rPr>
              <a:t>标签，格式如下：</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&lt;jsp:setProperty  name="**"  property="**"  value='**'/&gt;</a:t>
            </a:r>
            <a:endParaRPr 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&lt;jsp:setProperty&gt;</a:t>
            </a:r>
            <a:r>
              <a:rPr lang="zh-CN" altLang="en-US" smtClean="0">
                <a:solidFill>
                  <a:srgbClr val="000000"/>
                </a:solidFill>
                <a:latin typeface="Arial" panose="020B0604020202020204" pitchFamily="34" charset="0"/>
              </a:rPr>
              <a:t>标签用来设置</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的属性值，属性</a:t>
            </a:r>
            <a:r>
              <a:rPr lang="en-US" smtClean="0">
                <a:solidFill>
                  <a:srgbClr val="000000"/>
                </a:solidFill>
                <a:latin typeface="Arial" panose="020B0604020202020204" pitchFamily="34" charset="0"/>
              </a:rPr>
              <a:t>name</a:t>
            </a:r>
            <a:r>
              <a:rPr lang="zh-CN" altLang="en-US" smtClean="0">
                <a:solidFill>
                  <a:srgbClr val="000000"/>
                </a:solidFill>
                <a:latin typeface="Arial" panose="020B0604020202020204" pitchFamily="34" charset="0"/>
              </a:rPr>
              <a:t>指定</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对象的变量名，属性</a:t>
            </a:r>
            <a:r>
              <a:rPr lang="en-US" smtClean="0">
                <a:solidFill>
                  <a:srgbClr val="000000"/>
                </a:solidFill>
                <a:latin typeface="Arial" panose="020B0604020202020204" pitchFamily="34" charset="0"/>
              </a:rPr>
              <a:t>property</a:t>
            </a:r>
            <a:r>
              <a:rPr lang="zh-CN" altLang="en-US" smtClean="0">
                <a:solidFill>
                  <a:srgbClr val="000000"/>
                </a:solidFill>
                <a:latin typeface="Arial" panose="020B0604020202020204" pitchFamily="34" charset="0"/>
              </a:rPr>
              <a:t>为要设置的对象属性名，属性</a:t>
            </a:r>
            <a:r>
              <a:rPr lang="en-US" smtClean="0">
                <a:solidFill>
                  <a:srgbClr val="000000"/>
                </a:solidFill>
                <a:latin typeface="Arial" panose="020B0604020202020204" pitchFamily="34" charset="0"/>
              </a:rPr>
              <a:t>value</a:t>
            </a:r>
            <a:r>
              <a:rPr lang="zh-CN" altLang="en-US" smtClean="0">
                <a:solidFill>
                  <a:srgbClr val="000000"/>
                </a:solidFill>
                <a:latin typeface="Arial" panose="020B0604020202020204" pitchFamily="34" charset="0"/>
              </a:rPr>
              <a:t>为设定的属性值。使用此标签会调用指定属性的</a:t>
            </a:r>
            <a:r>
              <a:rPr lang="en-US" smtClean="0">
                <a:solidFill>
                  <a:srgbClr val="000000"/>
                </a:solidFill>
                <a:latin typeface="Arial" panose="020B0604020202020204" pitchFamily="34" charset="0"/>
              </a:rPr>
              <a:t>set</a:t>
            </a:r>
            <a:r>
              <a:rPr lang="zh-CN" altLang="en-US" smtClean="0">
                <a:solidFill>
                  <a:srgbClr val="000000"/>
                </a:solidFill>
                <a:latin typeface="Arial" panose="020B0604020202020204" pitchFamily="34" charset="0"/>
              </a:rPr>
              <a:t>方法，因此在</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类定义中必须有此属性的</a:t>
            </a:r>
            <a:r>
              <a:rPr lang="en-US" smtClean="0">
                <a:solidFill>
                  <a:srgbClr val="000000"/>
                </a:solidFill>
                <a:latin typeface="Arial" panose="020B0604020202020204" pitchFamily="34" charset="0"/>
              </a:rPr>
              <a:t>set</a:t>
            </a:r>
            <a:r>
              <a:rPr lang="zh-CN" altLang="en-US" smtClean="0">
                <a:solidFill>
                  <a:srgbClr val="000000"/>
                </a:solidFill>
                <a:latin typeface="Arial" panose="020B0604020202020204" pitchFamily="34" charset="0"/>
              </a:rPr>
              <a:t>方法，且此方法的访问控制符为</a:t>
            </a:r>
            <a:r>
              <a:rPr lang="en-US" smtClean="0">
                <a:solidFill>
                  <a:srgbClr val="000000"/>
                </a:solidFill>
                <a:latin typeface="Arial" panose="020B0604020202020204" pitchFamily="34" charset="0"/>
              </a:rPr>
              <a:t>public</a:t>
            </a:r>
            <a:r>
              <a:rPr lang="zh-CN" altLang="en-US" smtClean="0">
                <a:solidFill>
                  <a:srgbClr val="000000"/>
                </a:solidFill>
                <a:latin typeface="Arial" panose="020B0604020202020204" pitchFamily="34" charset="0"/>
              </a:rPr>
              <a:t>，否则执行此标签时会抛出异常。 </a:t>
            </a: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59028" y="654622"/>
            <a:ext cx="11264801" cy="656296"/>
          </a:xfrm>
        </p:spPr>
        <p:txBody>
          <a:bodyPr/>
          <a:lstStyle/>
          <a:p>
            <a:r>
              <a:rPr lang="en-US" dirty="0" smtClean="0">
                <a:ea typeface="宋体" panose="02010600030101010101" pitchFamily="2" charset="-122"/>
              </a:rPr>
              <a:t>JavaBean</a:t>
            </a:r>
            <a:r>
              <a:rPr lang="zh-CN" altLang="en-US" dirty="0">
                <a:ea typeface="宋体" panose="02010600030101010101" pitchFamily="2" charset="-122"/>
              </a:rPr>
              <a:t>的使用 </a:t>
            </a:r>
            <a:endParaRPr lang="zh-CN" altLang="en-US" dirty="0">
              <a:ea typeface="宋体" panose="02010600030101010101" pitchFamily="2" charset="-122"/>
            </a:endParaRPr>
          </a:p>
        </p:txBody>
      </p:sp>
      <p:sp>
        <p:nvSpPr>
          <p:cNvPr id="13315"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在</a:t>
            </a:r>
            <a:r>
              <a:rPr lang="en-US" dirty="0">
                <a:ea typeface="宋体" panose="02010600030101010101" pitchFamily="2" charset="-122"/>
              </a:rPr>
              <a:t>JSP</a:t>
            </a:r>
            <a:r>
              <a:rPr lang="zh-CN" altLang="en-US" dirty="0">
                <a:ea typeface="宋体" panose="02010600030101010101" pitchFamily="2" charset="-122"/>
              </a:rPr>
              <a:t>中使用</a:t>
            </a:r>
            <a:r>
              <a:rPr lang="en-US" dirty="0">
                <a:ea typeface="宋体" panose="02010600030101010101" pitchFamily="2" charset="-122"/>
              </a:rPr>
              <a:t>Bean </a:t>
            </a:r>
            <a:endParaRPr lang="zh-CN" altLang="en-US" dirty="0">
              <a:ea typeface="宋体" panose="02010600030101010101" pitchFamily="2" charset="-122"/>
            </a:endParaRPr>
          </a:p>
        </p:txBody>
      </p:sp>
      <p:sp>
        <p:nvSpPr>
          <p:cNvPr id="13316" name="Rectangle 4"/>
          <p:cNvSpPr>
            <a:spLocks noChangeArrowheads="1"/>
          </p:cNvSpPr>
          <p:nvPr/>
        </p:nvSpPr>
        <p:spPr bwMode="auto">
          <a:xfrm>
            <a:off x="252264" y="2518453"/>
            <a:ext cx="12606486" cy="3993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3</a:t>
            </a:r>
            <a:r>
              <a:rPr lang="zh-CN" altLang="en-US" smtClean="0">
                <a:solidFill>
                  <a:srgbClr val="000000"/>
                </a:solidFill>
                <a:latin typeface="Arial" panose="020B0604020202020204" pitchFamily="34" charset="0"/>
              </a:rPr>
              <a:t>）</a:t>
            </a:r>
            <a:r>
              <a:rPr lang="en-US" smtClean="0">
                <a:solidFill>
                  <a:srgbClr val="000000"/>
                </a:solidFill>
                <a:latin typeface="Arial" panose="020B0604020202020204" pitchFamily="34" charset="0"/>
              </a:rPr>
              <a:t>&lt;jsp:getProperty&gt;</a:t>
            </a:r>
            <a:r>
              <a:rPr lang="zh-CN" altLang="en-US" smtClean="0">
                <a:solidFill>
                  <a:srgbClr val="000000"/>
                </a:solidFill>
                <a:latin typeface="Arial" panose="020B0604020202020204" pitchFamily="34" charset="0"/>
              </a:rPr>
              <a:t>标签，格式如下：</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&lt;jsp:getProperty  name="**"  property="**"/&gt;</a:t>
            </a:r>
            <a:endParaRPr 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&lt;jsp:getProperty&gt;</a:t>
            </a:r>
            <a:r>
              <a:rPr lang="zh-CN" altLang="en-US" smtClean="0">
                <a:solidFill>
                  <a:srgbClr val="000000"/>
                </a:solidFill>
                <a:latin typeface="Arial" panose="020B0604020202020204" pitchFamily="34" charset="0"/>
              </a:rPr>
              <a:t>标签用来获取</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的属性值，属性</a:t>
            </a:r>
            <a:r>
              <a:rPr lang="en-US" smtClean="0">
                <a:solidFill>
                  <a:srgbClr val="000000"/>
                </a:solidFill>
                <a:latin typeface="Arial" panose="020B0604020202020204" pitchFamily="34" charset="0"/>
              </a:rPr>
              <a:t>name</a:t>
            </a:r>
            <a:r>
              <a:rPr lang="zh-CN" altLang="en-US" smtClean="0">
                <a:solidFill>
                  <a:srgbClr val="000000"/>
                </a:solidFill>
                <a:latin typeface="Arial" panose="020B0604020202020204" pitchFamily="34" charset="0"/>
              </a:rPr>
              <a:t>指定</a:t>
            </a:r>
            <a:r>
              <a:rPr lang="en-US" smtClean="0">
                <a:solidFill>
                  <a:srgbClr val="000000"/>
                </a:solidFill>
                <a:latin typeface="Arial" panose="020B0604020202020204" pitchFamily="34" charset="0"/>
              </a:rPr>
              <a:t>bean</a:t>
            </a:r>
            <a:r>
              <a:rPr lang="zh-CN" altLang="en-US" smtClean="0">
                <a:solidFill>
                  <a:srgbClr val="000000"/>
                </a:solidFill>
                <a:latin typeface="Arial" panose="020B0604020202020204" pitchFamily="34" charset="0"/>
              </a:rPr>
              <a:t>对象的变量名，属性</a:t>
            </a:r>
            <a:r>
              <a:rPr lang="en-US" smtClean="0">
                <a:solidFill>
                  <a:srgbClr val="000000"/>
                </a:solidFill>
                <a:latin typeface="Arial" panose="020B0604020202020204" pitchFamily="34" charset="0"/>
              </a:rPr>
              <a:t>property</a:t>
            </a:r>
            <a:r>
              <a:rPr lang="zh-CN" altLang="en-US" smtClean="0">
                <a:solidFill>
                  <a:srgbClr val="000000"/>
                </a:solidFill>
                <a:latin typeface="Arial" panose="020B0604020202020204" pitchFamily="34" charset="0"/>
              </a:rPr>
              <a:t>为要获取的对象属性名。使用此标签会调用指定属性的</a:t>
            </a:r>
            <a:r>
              <a:rPr lang="en-US" smtClean="0">
                <a:solidFill>
                  <a:srgbClr val="000000"/>
                </a:solidFill>
                <a:latin typeface="Arial" panose="020B0604020202020204" pitchFamily="34" charset="0"/>
              </a:rPr>
              <a:t>get</a:t>
            </a:r>
            <a:r>
              <a:rPr lang="zh-CN" altLang="en-US" smtClean="0">
                <a:solidFill>
                  <a:srgbClr val="000000"/>
                </a:solidFill>
                <a:latin typeface="Arial" panose="020B0604020202020204" pitchFamily="34" charset="0"/>
              </a:rPr>
              <a:t>方法，因此在</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类定义中必须有此属性的</a:t>
            </a:r>
            <a:r>
              <a:rPr lang="en-US" smtClean="0">
                <a:solidFill>
                  <a:srgbClr val="000000"/>
                </a:solidFill>
                <a:latin typeface="Arial" panose="020B0604020202020204" pitchFamily="34" charset="0"/>
              </a:rPr>
              <a:t>get</a:t>
            </a:r>
            <a:r>
              <a:rPr lang="zh-CN" altLang="en-US" smtClean="0">
                <a:solidFill>
                  <a:srgbClr val="000000"/>
                </a:solidFill>
                <a:latin typeface="Arial" panose="020B0604020202020204" pitchFamily="34" charset="0"/>
              </a:rPr>
              <a:t>方法，且此方法的访问控制符为</a:t>
            </a:r>
            <a:r>
              <a:rPr lang="en-US" smtClean="0">
                <a:solidFill>
                  <a:srgbClr val="000000"/>
                </a:solidFill>
                <a:latin typeface="Arial" panose="020B0604020202020204" pitchFamily="34" charset="0"/>
              </a:rPr>
              <a:t>public</a:t>
            </a:r>
            <a:r>
              <a:rPr lang="zh-CN" altLang="en-US" smtClean="0">
                <a:solidFill>
                  <a:srgbClr val="000000"/>
                </a:solidFill>
                <a:latin typeface="Arial" panose="020B0604020202020204" pitchFamily="34" charset="0"/>
              </a:rPr>
              <a:t>，否则执行此标签时会抛出异常。</a:t>
            </a:r>
            <a:endParaRPr lang="zh-CN" altLang="en-US" smtClean="0">
              <a:solidFill>
                <a:srgbClr val="000000"/>
              </a:solidFill>
              <a:latin typeface="Arial" panose="020B0604020202020204" pitchFamily="34" charset="0"/>
            </a:endParaRPr>
          </a:p>
          <a:p>
            <a:pPr>
              <a:lnSpc>
                <a:spcPct val="200000"/>
              </a:lnSpc>
              <a:buFont typeface="Arial" panose="020B0604020202020204" pitchFamily="34" charset="0"/>
              <a:buNone/>
            </a:pP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中还有一个很重要的机制：自省机制，即当服务器接收到请求时，它能根据请求的参数名称，自动设定与</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相同属性名称的值。 </a:t>
            </a: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19459" name="Rectangle 3"/>
          <p:cNvSpPr>
            <a:spLocks noChangeArrowheads="1"/>
          </p:cNvSpPr>
          <p:nvPr/>
        </p:nvSpPr>
        <p:spPr bwMode="auto">
          <a:xfrm>
            <a:off x="352725" y="1763236"/>
            <a:ext cx="12606487" cy="1002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实战 </a:t>
            </a:r>
            <a:r>
              <a:rPr lang="en-US" smtClean="0">
                <a:solidFill>
                  <a:srgbClr val="000000"/>
                </a:solidFill>
                <a:latin typeface="Arial" panose="020B0604020202020204" pitchFamily="34" charset="0"/>
              </a:rPr>
              <a:t>6-1]</a:t>
            </a:r>
            <a:r>
              <a:rPr lang="zh-CN" altLang="en-US" smtClean="0">
                <a:solidFill>
                  <a:srgbClr val="000000"/>
                </a:solidFill>
                <a:latin typeface="Arial" panose="020B0604020202020204" pitchFamily="34" charset="0"/>
              </a:rPr>
              <a:t>在网络应用程序中经常需要对字符串进行处理。请设计一个</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，其功能是当用户在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a:t>
            </a:r>
            <a:r>
              <a:rPr lang="en-US" smtClean="0">
                <a:solidFill>
                  <a:srgbClr val="000000"/>
                </a:solidFill>
                <a:latin typeface="Arial" panose="020B0604020202020204" pitchFamily="34" charset="0"/>
              </a:rPr>
              <a:t>Form</a:t>
            </a:r>
            <a:r>
              <a:rPr lang="zh-CN" altLang="en-US" smtClean="0">
                <a:solidFill>
                  <a:srgbClr val="000000"/>
                </a:solidFill>
                <a:latin typeface="Arial" panose="020B0604020202020204" pitchFamily="34" charset="0"/>
              </a:rPr>
              <a:t>表单的文本域输入的回车和空格转换成为</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页面中输出的回车和空格，即：“</a:t>
            </a:r>
            <a:r>
              <a:rPr lang="en-US" smtClean="0">
                <a:solidFill>
                  <a:srgbClr val="000000"/>
                </a:solidFill>
                <a:latin typeface="Arial" panose="020B0604020202020204" pitchFamily="34" charset="0"/>
              </a:rPr>
              <a:t>&lt;br&gt;”</a:t>
            </a:r>
            <a:r>
              <a:rPr lang="zh-CN" altLang="en-US" smtClean="0">
                <a:solidFill>
                  <a:srgbClr val="000000"/>
                </a:solidFill>
                <a:latin typeface="Arial" panose="020B0604020202020204" pitchFamily="34" charset="0"/>
              </a:rPr>
              <a:t>和“</a:t>
            </a:r>
            <a:r>
              <a:rPr lang="en-US" smtClean="0">
                <a:solidFill>
                  <a:srgbClr val="000000"/>
                </a:solidFill>
                <a:latin typeface="Arial" panose="020B0604020202020204" pitchFamily="34" charset="0"/>
              </a:rPr>
              <a:t>&amp;nbsp;”</a:t>
            </a:r>
            <a:r>
              <a:rPr lang="zh-CN" altLang="en-US" smtClean="0">
                <a:solidFill>
                  <a:srgbClr val="000000"/>
                </a:solidFill>
                <a:latin typeface="Arial" panose="020B0604020202020204" pitchFamily="34" charset="0"/>
              </a:rPr>
              <a:t>，运行效果如下： </a:t>
            </a:r>
            <a:endParaRPr lang="zh-CN" altLang="en-US" smtClean="0">
              <a:solidFill>
                <a:srgbClr val="000000"/>
              </a:solidFill>
              <a:latin typeface="Arial" panose="020B0604020202020204" pitchFamily="34" charset="0"/>
            </a:endParaRPr>
          </a:p>
        </p:txBody>
      </p:sp>
      <p:pic>
        <p:nvPicPr>
          <p:cNvPr id="19460"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5874" y="3236277"/>
            <a:ext cx="4962673" cy="240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3444" y="3236277"/>
            <a:ext cx="4962673" cy="240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0483" name="Rectangle 3"/>
          <p:cNvSpPr>
            <a:spLocks noChangeArrowheads="1"/>
          </p:cNvSpPr>
          <p:nvPr/>
        </p:nvSpPr>
        <p:spPr bwMode="auto">
          <a:xfrm>
            <a:off x="352725" y="1763236"/>
            <a:ext cx="12606487" cy="1002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实战 </a:t>
            </a:r>
            <a:r>
              <a:rPr lang="en-US" smtClean="0">
                <a:solidFill>
                  <a:srgbClr val="000000"/>
                </a:solidFill>
                <a:latin typeface="Arial" panose="020B0604020202020204" pitchFamily="34" charset="0"/>
              </a:rPr>
              <a:t>6-2] </a:t>
            </a:r>
            <a:r>
              <a:rPr lang="zh-CN" altLang="en-US" smtClean="0">
                <a:solidFill>
                  <a:srgbClr val="000000"/>
                </a:solidFill>
                <a:latin typeface="Arial" panose="020B0604020202020204" pitchFamily="34" charset="0"/>
              </a:rPr>
              <a:t>请设计一个</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，其功能是当用户在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a:t>
            </a:r>
            <a:r>
              <a:rPr lang="en-US" smtClean="0">
                <a:solidFill>
                  <a:srgbClr val="000000"/>
                </a:solidFill>
                <a:latin typeface="Arial" panose="020B0604020202020204" pitchFamily="34" charset="0"/>
              </a:rPr>
              <a:t>Form</a:t>
            </a:r>
            <a:r>
              <a:rPr lang="zh-CN" altLang="en-US" smtClean="0">
                <a:solidFill>
                  <a:srgbClr val="000000"/>
                </a:solidFill>
                <a:latin typeface="Arial" panose="020B0604020202020204" pitchFamily="34" charset="0"/>
              </a:rPr>
              <a:t>表单的文本域输入字符串时，对字符串进行检查， 如果用户输入的是一段</a:t>
            </a:r>
            <a:r>
              <a:rPr lang="en-US" smtClean="0">
                <a:solidFill>
                  <a:srgbClr val="000000"/>
                </a:solidFill>
                <a:latin typeface="Arial" panose="020B0604020202020204" pitchFamily="34" charset="0"/>
              </a:rPr>
              <a:t>HTML</a:t>
            </a:r>
            <a:r>
              <a:rPr lang="zh-CN" altLang="en-US" smtClean="0">
                <a:solidFill>
                  <a:srgbClr val="000000"/>
                </a:solidFill>
                <a:latin typeface="Arial" panose="020B0604020202020204" pitchFamily="34" charset="0"/>
              </a:rPr>
              <a:t>语言进行显示，对该内容进行转换，显示用户输入的真实内容，运行效果如下： </a:t>
            </a:r>
            <a:endParaRPr lang="zh-CN" altLang="en-US" smtClean="0">
              <a:solidFill>
                <a:srgbClr val="000000"/>
              </a:solidFill>
              <a:latin typeface="Arial" panose="020B0604020202020204" pitchFamily="34" charset="0"/>
            </a:endParaRPr>
          </a:p>
        </p:txBody>
      </p:sp>
      <p:pic>
        <p:nvPicPr>
          <p:cNvPr id="2048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5874" y="3313292"/>
            <a:ext cx="4759523" cy="2286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9834" y="3313291"/>
            <a:ext cx="5266283" cy="228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1507" name="Rectangle 3"/>
          <p:cNvSpPr>
            <a:spLocks noChangeArrowheads="1"/>
          </p:cNvSpPr>
          <p:nvPr/>
        </p:nvSpPr>
        <p:spPr bwMode="auto">
          <a:xfrm>
            <a:off x="352725" y="1763236"/>
            <a:ext cx="12606487" cy="1002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实战 </a:t>
            </a:r>
            <a:r>
              <a:rPr lang="en-US" smtClean="0">
                <a:solidFill>
                  <a:srgbClr val="000000"/>
                </a:solidFill>
                <a:latin typeface="Arial" panose="020B0604020202020204" pitchFamily="34" charset="0"/>
              </a:rPr>
              <a:t>6-3]</a:t>
            </a:r>
            <a:r>
              <a:rPr lang="zh-CN" altLang="en-US" smtClean="0">
                <a:solidFill>
                  <a:srgbClr val="000000"/>
                </a:solidFill>
                <a:latin typeface="Arial" panose="020B0604020202020204" pitchFamily="34" charset="0"/>
              </a:rPr>
              <a:t>当开发网站时，会在多个页面的结尾重复地写入网站版权信息的</a:t>
            </a:r>
            <a:r>
              <a:rPr lang="en-US" smtClean="0">
                <a:solidFill>
                  <a:srgbClr val="000000"/>
                </a:solidFill>
                <a:latin typeface="Arial" panose="020B0604020202020204" pitchFamily="34" charset="0"/>
              </a:rPr>
              <a:t>HTML</a:t>
            </a:r>
            <a:r>
              <a:rPr lang="zh-CN" altLang="en-US" smtClean="0">
                <a:solidFill>
                  <a:srgbClr val="000000"/>
                </a:solidFill>
                <a:latin typeface="Arial" panose="020B0604020202020204" pitchFamily="34" charset="0"/>
              </a:rPr>
              <a:t>码，不利于维护且费时。请设计一个</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，其功能是将输出版权信息的代码封装，利于代码多次应用及维护，运行效果如下： </a:t>
            </a:r>
            <a:endParaRPr lang="zh-CN" altLang="en-US" smtClean="0">
              <a:solidFill>
                <a:srgbClr val="000000"/>
              </a:solidFill>
              <a:latin typeface="Arial" panose="020B0604020202020204" pitchFamily="34" charset="0"/>
            </a:endParaRPr>
          </a:p>
        </p:txBody>
      </p:sp>
      <p:pic>
        <p:nvPicPr>
          <p:cNvPr id="21508"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83371" y="3313292"/>
            <a:ext cx="7420570" cy="229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3754424" y="1761854"/>
            <a:ext cx="5386082" cy="806946"/>
          </a:xfrm>
          <a:prstGeom prst="rect">
            <a:avLst/>
          </a:prstGeom>
          <a:noFill/>
        </p:spPr>
        <p:txBody>
          <a:bodyPr wrap="none" lIns="128583" tIns="64291" rIns="128583" bIns="64291" rtlCol="0">
            <a:spAutoFit/>
          </a:bodyPr>
          <a:lstStyle/>
          <a:p>
            <a:pPr algn="ctr"/>
            <a:r>
              <a:rPr kumimoji="1" lang="en-US" altLang="zh-CN" sz="4400" b="1" dirty="0">
                <a:solidFill>
                  <a:srgbClr val="43536A"/>
                </a:solidFill>
                <a:cs typeface="+mn-ea"/>
              </a:rPr>
              <a:t>6.2  JSP</a:t>
            </a:r>
            <a:r>
              <a:rPr kumimoji="1" lang="zh-CN" altLang="zh-CN" sz="4400" b="1" dirty="0">
                <a:solidFill>
                  <a:srgbClr val="43536A"/>
                </a:solidFill>
                <a:cs typeface="+mn-ea"/>
              </a:rPr>
              <a:t>两种开发模式</a:t>
            </a:r>
            <a:endParaRPr kumimoji="1" lang="zh-CN" altLang="en-US" sz="44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92" y="606069"/>
            <a:ext cx="11264801" cy="656296"/>
          </a:xfrm>
        </p:spPr>
        <p:txBody>
          <a:bodyPr/>
          <a:lstStyle/>
          <a:p>
            <a:r>
              <a:rPr lang="zh-CN" altLang="en-US" dirty="0" smtClean="0">
                <a:ea typeface="宋体" panose="02010600030101010101" pitchFamily="2" charset="-122"/>
              </a:rPr>
              <a:t>第</a:t>
            </a:r>
            <a:r>
              <a:rPr lang="zh-CN" altLang="en-US" dirty="0">
                <a:ea typeface="宋体" panose="02010600030101010101" pitchFamily="2" charset="-122"/>
              </a:rPr>
              <a:t>六</a:t>
            </a:r>
            <a:r>
              <a:rPr lang="zh-CN" altLang="en-US" dirty="0" smtClean="0">
                <a:ea typeface="宋体" panose="02010600030101010101" pitchFamily="2" charset="-122"/>
              </a:rPr>
              <a:t>章   </a:t>
            </a:r>
            <a:r>
              <a:rPr lang="en-US" dirty="0">
                <a:ea typeface="宋体" panose="02010600030101010101" pitchFamily="2" charset="-122"/>
              </a:rPr>
              <a:t>Java Web</a:t>
            </a:r>
            <a:r>
              <a:rPr lang="zh-CN" altLang="en-US" dirty="0">
                <a:ea typeface="宋体" panose="02010600030101010101" pitchFamily="2" charset="-122"/>
              </a:rPr>
              <a:t>的开发模式</a:t>
            </a:r>
            <a:endParaRPr lang="zh-CN" altLang="en-US" dirty="0">
              <a:ea typeface="宋体" panose="02010600030101010101" pitchFamily="2" charset="-122"/>
            </a:endParaRPr>
          </a:p>
        </p:txBody>
      </p:sp>
      <p:sp>
        <p:nvSpPr>
          <p:cNvPr id="3" name="矩形 2"/>
          <p:cNvSpPr/>
          <p:nvPr/>
        </p:nvSpPr>
        <p:spPr>
          <a:xfrm>
            <a:off x="1100787" y="2104160"/>
            <a:ext cx="2436671" cy="900143"/>
          </a:xfrm>
          <a:prstGeom prst="rect">
            <a:avLst/>
          </a:prstGeom>
        </p:spPr>
        <p:txBody>
          <a:bodyPr wrap="none" lIns="91334" tIns="45669" rIns="91334" bIns="4566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83" y="2104157"/>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200000"/>
              </a:lnSpc>
            </a:pPr>
            <a:r>
              <a:rPr lang="en-US" altLang="zh-CN" sz="2600" dirty="0">
                <a:ea typeface="宋体" panose="02010600030101010101" pitchFamily="2" charset="-122"/>
              </a:rPr>
              <a:t>JSP</a:t>
            </a:r>
            <a:r>
              <a:rPr lang="zh-CN" altLang="en-US" sz="2600" dirty="0">
                <a:ea typeface="宋体" panose="02010600030101010101" pitchFamily="2" charset="-122"/>
              </a:rPr>
              <a:t>两种开发模式之一</a:t>
            </a:r>
            <a:endParaRPr lang="zh-CN" altLang="en-US" sz="2600" dirty="0">
              <a:ea typeface="宋体" panose="02010600030101010101" pitchFamily="2" charset="-122"/>
              <a:hlinkClick r:id="rId1" action="ppaction://hlinksldjump"/>
            </a:endParaRPr>
          </a:p>
          <a:p>
            <a:pPr marL="1073785" lvl="1" indent="-532765">
              <a:lnSpc>
                <a:spcPct val="200000"/>
              </a:lnSpc>
            </a:pPr>
            <a:r>
              <a:rPr lang="en-US" altLang="zh-CN" sz="2300" dirty="0" err="1"/>
              <a:t>JSP+JavaBean</a:t>
            </a:r>
            <a:r>
              <a:rPr lang="zh-CN" altLang="en-US" sz="2300" dirty="0"/>
              <a:t>模式</a:t>
            </a:r>
            <a:endParaRPr lang="zh-CN" altLang="en-US" sz="2300" dirty="0"/>
          </a:p>
          <a:p>
            <a:pPr marL="1073785" lvl="1" indent="-532765">
              <a:lnSpc>
                <a:spcPct val="200000"/>
              </a:lnSpc>
            </a:pPr>
            <a:r>
              <a:rPr lang="zh-CN" altLang="en-US" sz="2300" dirty="0"/>
              <a:t>基于</a:t>
            </a:r>
            <a:r>
              <a:rPr lang="en-US" altLang="zh-CN" sz="2300" dirty="0" err="1"/>
              <a:t>JSP+JavaBean</a:t>
            </a:r>
            <a:r>
              <a:rPr lang="zh-CN" altLang="en-US" sz="2300" dirty="0"/>
              <a:t>开发模式的应用程序体验</a:t>
            </a:r>
            <a:endParaRPr lang="zh-CN" altLang="en-US" sz="2300" dirty="0"/>
          </a:p>
        </p:txBody>
      </p:sp>
      <p:sp>
        <p:nvSpPr>
          <p:cNvPr id="5" name="Rectangle 3"/>
          <p:cNvSpPr txBox="1">
            <a:spLocks noChangeArrowheads="1"/>
          </p:cNvSpPr>
          <p:nvPr/>
        </p:nvSpPr>
        <p:spPr bwMode="auto">
          <a:xfrm>
            <a:off x="3537587" y="4749895"/>
            <a:ext cx="12280552" cy="302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200000"/>
              </a:lnSpc>
            </a:pPr>
            <a:r>
              <a:rPr lang="zh-CN" altLang="en-US" sz="2600" dirty="0">
                <a:ea typeface="宋体" panose="02010600030101010101" pitchFamily="2" charset="-122"/>
              </a:rPr>
              <a:t>掌握：</a:t>
            </a:r>
            <a:r>
              <a:rPr lang="en-US" altLang="zh-CN" sz="2600" dirty="0" err="1">
                <a:ea typeface="宋体" panose="02010600030101010101" pitchFamily="2" charset="-122"/>
              </a:rPr>
              <a:t>JSP+JavaBean</a:t>
            </a:r>
            <a:r>
              <a:rPr lang="zh-CN" altLang="en-US" sz="2600" dirty="0">
                <a:ea typeface="宋体" panose="02010600030101010101" pitchFamily="2" charset="-122"/>
              </a:rPr>
              <a:t>模式</a:t>
            </a:r>
            <a:endParaRPr lang="zh-CN" altLang="en-US" sz="2600" dirty="0">
              <a:ea typeface="宋体" panose="02010600030101010101" pitchFamily="2" charset="-122"/>
            </a:endParaRPr>
          </a:p>
        </p:txBody>
      </p:sp>
      <p:sp>
        <p:nvSpPr>
          <p:cNvPr id="4" name="矩形 3"/>
          <p:cNvSpPr/>
          <p:nvPr/>
        </p:nvSpPr>
        <p:spPr>
          <a:xfrm>
            <a:off x="1120126" y="4929602"/>
            <a:ext cx="2436758" cy="630879"/>
          </a:xfrm>
          <a:prstGeom prst="rect">
            <a:avLst/>
          </a:prstGeom>
        </p:spPr>
        <p:txBody>
          <a:bodyPr wrap="none" lIns="91377" tIns="45689" rIns="91377" bIns="45689">
            <a:spAutoFit/>
          </a:bodyPr>
          <a:lstStyle/>
          <a:p>
            <a:r>
              <a:rPr lang="zh-CN" altLang="en-US" sz="3500" b="1" kern="0" dirty="0">
                <a:solidFill>
                  <a:srgbClr val="000000"/>
                </a:solidFill>
                <a:latin typeface="Arial" panose="020B0604020202020204"/>
                <a:ea typeface="楷体_GB2312" pitchFamily="1" charset="-122"/>
              </a:rPr>
              <a:t>教学要求：</a:t>
            </a:r>
            <a:endParaRPr lang="zh-CN" altLang="en-US" sz="3500" b="1" kern="0" dirty="0">
              <a:solidFill>
                <a:srgbClr val="000000"/>
              </a:solidFill>
              <a:latin typeface="Arial" panose="020B0604020202020204"/>
              <a:ea typeface="楷体_GB2312" pitchFamily="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9028" y="654622"/>
            <a:ext cx="11264801" cy="656296"/>
          </a:xfrm>
        </p:spPr>
        <p:txBody>
          <a:bodyPr/>
          <a:lstStyle/>
          <a:p>
            <a:r>
              <a:rPr lang="zh-CN" altLang="en-US" dirty="0" smtClean="0">
                <a:ea typeface="宋体" panose="02010600030101010101" pitchFamily="2" charset="-122"/>
              </a:rPr>
              <a:t>授课任务</a:t>
            </a:r>
            <a:endParaRPr lang="zh-CN" altLang="en-US" dirty="0">
              <a:ea typeface="宋体" panose="02010600030101010101" pitchFamily="2" charset="-122"/>
            </a:endParaRPr>
          </a:p>
        </p:txBody>
      </p:sp>
      <p:sp>
        <p:nvSpPr>
          <p:cNvPr id="14339" name="Rectangle 3"/>
          <p:cNvSpPr>
            <a:spLocks noGrp="1" noChangeArrowheads="1"/>
          </p:cNvSpPr>
          <p:nvPr>
            <p:ph type="body" idx="1"/>
          </p:nvPr>
        </p:nvSpPr>
        <p:spPr>
          <a:xfrm>
            <a:off x="859483" y="1634047"/>
            <a:ext cx="11269266" cy="532403"/>
          </a:xfrm>
        </p:spPr>
        <p:txBody>
          <a:bodyPr/>
          <a:lstStyle/>
          <a:p>
            <a:r>
              <a:rPr lang="en-US" dirty="0" err="1" smtClean="0">
                <a:ea typeface="宋体" panose="02010600030101010101" pitchFamily="2" charset="-122"/>
              </a:rPr>
              <a:t>JSP+JavaBean</a:t>
            </a:r>
            <a:r>
              <a:rPr lang="zh-CN" altLang="en-US" dirty="0">
                <a:ea typeface="宋体" panose="02010600030101010101" pitchFamily="2" charset="-122"/>
              </a:rPr>
              <a:t>模式 </a:t>
            </a:r>
            <a:endParaRPr lang="zh-CN" altLang="en-US" dirty="0">
              <a:ea typeface="宋体" panose="02010600030101010101" pitchFamily="2" charset="-122"/>
            </a:endParaRPr>
          </a:p>
        </p:txBody>
      </p:sp>
      <p:sp>
        <p:nvSpPr>
          <p:cNvPr id="14340" name="Rectangle 4"/>
          <p:cNvSpPr>
            <a:spLocks noChangeArrowheads="1"/>
          </p:cNvSpPr>
          <p:nvPr/>
        </p:nvSpPr>
        <p:spPr bwMode="auto">
          <a:xfrm>
            <a:off x="252264" y="2780963"/>
            <a:ext cx="12606486" cy="177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在</a:t>
            </a:r>
            <a:r>
              <a:rPr lang="en-US" smtClean="0">
                <a:solidFill>
                  <a:srgbClr val="000000"/>
                </a:solidFill>
                <a:latin typeface="Arial" panose="020B0604020202020204" pitchFamily="34" charset="0"/>
              </a:rPr>
              <a:t>JSP+JavaBean</a:t>
            </a:r>
            <a:r>
              <a:rPr lang="zh-CN" altLang="en-US" smtClean="0">
                <a:solidFill>
                  <a:srgbClr val="000000"/>
                </a:solidFill>
                <a:latin typeface="Arial" panose="020B0604020202020204" pitchFamily="34" charset="0"/>
              </a:rPr>
              <a:t>开发模式中，主要使用</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技术来实现界面设计，用户交互和数据呈现，</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主要用来实现数据处理，数据传递以及数据库访问操作等。这样的开发模式使界面设计师与程序设计师能明确分工，并能同时进行工作，提供项目开发效率。另外实现特定功能的</a:t>
            </a:r>
            <a:r>
              <a:rPr lang="en-US" smtClean="0">
                <a:solidFill>
                  <a:srgbClr val="000000"/>
                </a:solidFill>
                <a:latin typeface="Arial" panose="020B0604020202020204" pitchFamily="34" charset="0"/>
              </a:rPr>
              <a:t>JavaBean</a:t>
            </a:r>
            <a:r>
              <a:rPr lang="zh-CN" altLang="en-US" smtClean="0">
                <a:solidFill>
                  <a:srgbClr val="000000"/>
                </a:solidFill>
                <a:latin typeface="Arial" panose="020B0604020202020204" pitchFamily="34" charset="0"/>
              </a:rPr>
              <a:t>可以在不同的</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页面中进行重用，并且也可以在其他功能相近的项目中进行重用 </a:t>
            </a:r>
            <a:endParaRPr lang="zh-CN" altLang="en-US" smtClean="0">
              <a:solidFill>
                <a:srgbClr val="000000"/>
              </a:solidFill>
              <a:latin typeface="Arial" panose="020B0604020202020204" pitchFamily="34" charset="0"/>
            </a:endParaRPr>
          </a:p>
        </p:txBody>
      </p:sp>
      <p:pic>
        <p:nvPicPr>
          <p:cNvPr id="14341"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36140" y="4982492"/>
            <a:ext cx="3603129" cy="160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smtClean="0">
                <a:ea typeface="宋体" panose="02010600030101010101" pitchFamily="2" charset="-122"/>
              </a:rPr>
              <a:t>JSP</a:t>
            </a:r>
            <a:r>
              <a:rPr lang="zh-CN" altLang="en-US" dirty="0" smtClean="0">
                <a:ea typeface="宋体" panose="02010600030101010101" pitchFamily="2" charset="-122"/>
              </a:rPr>
              <a:t>开发</a:t>
            </a:r>
            <a:r>
              <a:rPr lang="zh-CN" altLang="en-US" dirty="0">
                <a:ea typeface="宋体" panose="02010600030101010101" pitchFamily="2" charset="-122"/>
              </a:rPr>
              <a:t>模式 </a:t>
            </a:r>
            <a:endParaRPr lang="zh-CN" altLang="en-US" dirty="0">
              <a:ea typeface="宋体" panose="02010600030101010101" pitchFamily="2" charset="-122"/>
            </a:endParaRPr>
          </a:p>
        </p:txBody>
      </p:sp>
      <p:sp>
        <p:nvSpPr>
          <p:cNvPr id="15363" name="Rectangle 3"/>
          <p:cNvSpPr>
            <a:spLocks noGrp="1" noChangeArrowheads="1"/>
          </p:cNvSpPr>
          <p:nvPr>
            <p:ph type="body" sz="half" idx="1"/>
          </p:nvPr>
        </p:nvSpPr>
        <p:spPr>
          <a:xfrm>
            <a:off x="642937" y="1366167"/>
            <a:ext cx="12215813" cy="5303943"/>
          </a:xfrm>
        </p:spPr>
        <p:txBody>
          <a:bodyPr/>
          <a:lstStyle/>
          <a:p>
            <a:r>
              <a:rPr lang="zh-CN" altLang="en-US" dirty="0" smtClean="0">
                <a:ea typeface="宋体" panose="02010600030101010101" pitchFamily="2" charset="-122"/>
              </a:rPr>
              <a:t>基于</a:t>
            </a:r>
            <a:r>
              <a:rPr lang="en-US" dirty="0" err="1">
                <a:ea typeface="宋体" panose="02010600030101010101" pitchFamily="2" charset="-122"/>
              </a:rPr>
              <a:t>JSP+JavaBean</a:t>
            </a:r>
            <a:r>
              <a:rPr lang="zh-CN" altLang="en-US" dirty="0">
                <a:ea typeface="宋体" panose="02010600030101010101" pitchFamily="2" charset="-122"/>
              </a:rPr>
              <a:t>开发模式的应用程序体验</a:t>
            </a:r>
            <a:r>
              <a:rPr lang="zh-CN" altLang="en-US" sz="3000" dirty="0">
                <a:ea typeface="宋体" panose="02010600030101010101" pitchFamily="2" charset="-122"/>
              </a:rPr>
              <a:t> </a:t>
            </a:r>
            <a:endParaRPr lang="zh-CN" altLang="en-US" sz="3000" dirty="0">
              <a:ea typeface="宋体" panose="02010600030101010101" pitchFamily="2" charset="-122"/>
            </a:endParaRPr>
          </a:p>
        </p:txBody>
      </p:sp>
      <p:sp>
        <p:nvSpPr>
          <p:cNvPr id="15364" name="Rectangle 4"/>
          <p:cNvSpPr>
            <a:spLocks noChangeArrowheads="1"/>
          </p:cNvSpPr>
          <p:nvPr/>
        </p:nvSpPr>
        <p:spPr bwMode="auto">
          <a:xfrm>
            <a:off x="252264" y="1945449"/>
            <a:ext cx="12606486" cy="18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下面通过一个购物结算程序来说明</a:t>
            </a:r>
            <a:r>
              <a:rPr lang="en-US" smtClean="0">
                <a:solidFill>
                  <a:srgbClr val="000000"/>
                </a:solidFill>
                <a:latin typeface="Arial" panose="020B0604020202020204" pitchFamily="34" charset="0"/>
              </a:rPr>
              <a:t>JSP+JavaBean</a:t>
            </a:r>
            <a:r>
              <a:rPr lang="zh-CN" altLang="en-US" smtClean="0">
                <a:solidFill>
                  <a:srgbClr val="000000"/>
                </a:solidFill>
                <a:latin typeface="Arial" panose="020B0604020202020204" pitchFamily="34" charset="0"/>
              </a:rPr>
              <a:t>的开发模式。在这个程序中，用户通过购买商品输入页面输入商品的名称，单价和数量，当用户点击提交按钮后页面就会跳转到购买商品清单页面，此页面显示用户购买的所有的商品明细以及应付总金额。 </a:t>
            </a:r>
            <a:endParaRPr lang="zh-CN" altLang="en-US" smtClean="0">
              <a:solidFill>
                <a:srgbClr val="000000"/>
              </a:solidFill>
              <a:latin typeface="Arial" panose="020B0604020202020204" pitchFamily="34" charset="0"/>
            </a:endParaRPr>
          </a:p>
        </p:txBody>
      </p:sp>
      <p:graphicFrame>
        <p:nvGraphicFramePr>
          <p:cNvPr id="15365" name="Group 5"/>
          <p:cNvGraphicFramePr>
            <a:graphicFrameLocks noGrp="1"/>
          </p:cNvGraphicFramePr>
          <p:nvPr>
            <p:ph sz="half" idx="2"/>
          </p:nvPr>
        </p:nvGraphicFramePr>
        <p:xfrm>
          <a:off x="1770311" y="4148727"/>
          <a:ext cx="10429875" cy="1777580"/>
        </p:xfrm>
        <a:graphic>
          <a:graphicData uri="http://schemas.openxmlformats.org/drawingml/2006/table">
            <a:tbl>
              <a:tblPr/>
              <a:tblGrid>
                <a:gridCol w="2765970"/>
                <a:gridCol w="7663905"/>
              </a:tblGrid>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文件名</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功能描述</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ItemShopping.java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组件，定义了购买商品的相关信息。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ShoppingInfo.java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组件，定义了购买商品清单的相关信息。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input.jsp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rPr>
                        <a:t>页面，为用户提供了输入购买商品信息的界面。</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checkout.jsp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页面，显示购买商品清单。</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2531" name="Rectangle 3"/>
          <p:cNvSpPr>
            <a:spLocks noChangeArrowheads="1"/>
          </p:cNvSpPr>
          <p:nvPr/>
        </p:nvSpPr>
        <p:spPr bwMode="auto">
          <a:xfrm>
            <a:off x="252264" y="1597124"/>
            <a:ext cx="12606486" cy="1888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6-1] </a:t>
            </a:r>
            <a:r>
              <a:rPr lang="zh-CN" altLang="en-US" dirty="0" smtClean="0">
                <a:solidFill>
                  <a:srgbClr val="000000"/>
                </a:solidFill>
                <a:latin typeface="Arial" panose="020B0604020202020204" pitchFamily="34" charset="0"/>
              </a:rPr>
              <a:t>请设计一个</a:t>
            </a:r>
            <a:r>
              <a:rPr lang="en-US" dirty="0" smtClean="0">
                <a:solidFill>
                  <a:srgbClr val="000000"/>
                </a:solidFill>
                <a:latin typeface="Arial" panose="020B0604020202020204" pitchFamily="34" charset="0"/>
              </a:rPr>
              <a:t>JavaBean</a:t>
            </a:r>
            <a:r>
              <a:rPr lang="zh-CN" altLang="en-US" dirty="0" smtClean="0">
                <a:solidFill>
                  <a:srgbClr val="000000"/>
                </a:solidFill>
                <a:latin typeface="Arial" panose="020B0604020202020204" pitchFamily="34" charset="0"/>
              </a:rPr>
              <a:t>，功能是用户在</a:t>
            </a:r>
            <a:r>
              <a:rPr lang="en-US" dirty="0" smtClean="0">
                <a:solidFill>
                  <a:srgbClr val="000000"/>
                </a:solidFill>
                <a:latin typeface="Arial" panose="020B0604020202020204" pitchFamily="34" charset="0"/>
              </a:rPr>
              <a:t>JSP</a:t>
            </a:r>
            <a:r>
              <a:rPr lang="zh-CN" altLang="en-US" dirty="0" smtClean="0">
                <a:solidFill>
                  <a:srgbClr val="000000"/>
                </a:solidFill>
                <a:latin typeface="Arial" panose="020B0604020202020204" pitchFamily="34" charset="0"/>
              </a:rPr>
              <a:t>页面</a:t>
            </a:r>
            <a:r>
              <a:rPr lang="en-US" dirty="0" smtClean="0">
                <a:solidFill>
                  <a:srgbClr val="000000"/>
                </a:solidFill>
                <a:latin typeface="Arial" panose="020B0604020202020204" pitchFamily="34" charset="0"/>
              </a:rPr>
              <a:t>Form</a:t>
            </a:r>
            <a:r>
              <a:rPr lang="zh-CN" altLang="en-US" dirty="0" smtClean="0">
                <a:solidFill>
                  <a:srgbClr val="000000"/>
                </a:solidFill>
                <a:latin typeface="Arial" panose="020B0604020202020204" pitchFamily="34" charset="0"/>
              </a:rPr>
              <a:t>表单的文本域输入字符串后，对字符串进行检查，如果字符串中的某个字符为英文字母，则将该字符设置为红色。</a:t>
            </a:r>
            <a:endParaRPr lang="zh-CN" altLang="en-US" dirty="0"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6-2]</a:t>
            </a:r>
            <a:r>
              <a:rPr lang="zh-CN" altLang="en-US" dirty="0" smtClean="0">
                <a:solidFill>
                  <a:srgbClr val="000000"/>
                </a:solidFill>
                <a:latin typeface="Arial" panose="020B0604020202020204" pitchFamily="34" charset="0"/>
              </a:rPr>
              <a:t>请设计一个基于</a:t>
            </a:r>
            <a:r>
              <a:rPr lang="en-US" altLang="zh-CN" dirty="0" err="1"/>
              <a:t>JSP+JavaBean</a:t>
            </a:r>
            <a:r>
              <a:rPr lang="zh-CN" altLang="en-US" dirty="0" smtClean="0">
                <a:solidFill>
                  <a:srgbClr val="000000"/>
                </a:solidFill>
                <a:latin typeface="Arial" panose="020B0604020202020204" pitchFamily="34" charset="0"/>
              </a:rPr>
              <a:t>模式的用户登录模块，当用户登录名为</a:t>
            </a:r>
            <a:r>
              <a:rPr lang="en-US" dirty="0" smtClean="0">
                <a:solidFill>
                  <a:srgbClr val="000000"/>
                </a:solidFill>
                <a:latin typeface="Arial" panose="020B0604020202020204" pitchFamily="34" charset="0"/>
              </a:rPr>
              <a:t>admin</a:t>
            </a:r>
            <a:r>
              <a:rPr lang="zh-CN" altLang="en-US" dirty="0" smtClean="0">
                <a:solidFill>
                  <a:srgbClr val="000000"/>
                </a:solidFill>
                <a:latin typeface="Arial" panose="020B0604020202020204" pitchFamily="34" charset="0"/>
              </a:rPr>
              <a:t>，密码为</a:t>
            </a:r>
            <a:r>
              <a:rPr lang="en-US" dirty="0" smtClean="0">
                <a:solidFill>
                  <a:srgbClr val="000000"/>
                </a:solidFill>
                <a:latin typeface="Arial" panose="020B0604020202020204" pitchFamily="34" charset="0"/>
              </a:rPr>
              <a:t>1234</a:t>
            </a:r>
            <a:r>
              <a:rPr lang="zh-CN" altLang="en-US" dirty="0" smtClean="0">
                <a:solidFill>
                  <a:srgbClr val="000000"/>
                </a:solidFill>
                <a:latin typeface="Arial" panose="020B0604020202020204" pitchFamily="34" charset="0"/>
              </a:rPr>
              <a:t>，转向至登录成功页面，否则登录失败，运行结果如下： </a:t>
            </a:r>
            <a:endParaRPr lang="zh-CN" altLang="en-US" dirty="0" smtClean="0">
              <a:solidFill>
                <a:srgbClr val="000000"/>
              </a:solidFill>
              <a:latin typeface="Arial" panose="020B0604020202020204" pitchFamily="34" charset="0"/>
            </a:endParaRPr>
          </a:p>
        </p:txBody>
      </p:sp>
      <p:pic>
        <p:nvPicPr>
          <p:cNvPr id="22532"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8565" y="3996376"/>
            <a:ext cx="11543853" cy="203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98" y="606069"/>
            <a:ext cx="11264801" cy="656296"/>
          </a:xfrm>
        </p:spPr>
        <p:txBody>
          <a:bodyPr/>
          <a:lstStyle/>
          <a:p>
            <a:r>
              <a:rPr lang="zh-CN" altLang="en-US" dirty="0" smtClean="0">
                <a:ea typeface="宋体" panose="02010600030101010101" pitchFamily="2" charset="-122"/>
              </a:rPr>
              <a:t>第</a:t>
            </a:r>
            <a:r>
              <a:rPr lang="zh-CN" altLang="en-US" dirty="0">
                <a:ea typeface="宋体" panose="02010600030101010101" pitchFamily="2" charset="-122"/>
              </a:rPr>
              <a:t>六</a:t>
            </a:r>
            <a:r>
              <a:rPr lang="zh-CN" altLang="en-US" dirty="0" smtClean="0">
                <a:ea typeface="宋体" panose="02010600030101010101" pitchFamily="2" charset="-122"/>
              </a:rPr>
              <a:t>章   </a:t>
            </a:r>
            <a:r>
              <a:rPr lang="en-US" dirty="0">
                <a:ea typeface="宋体" panose="02010600030101010101" pitchFamily="2" charset="-122"/>
              </a:rPr>
              <a:t>Java Web</a:t>
            </a:r>
            <a:r>
              <a:rPr lang="zh-CN" altLang="en-US" dirty="0">
                <a:ea typeface="宋体" panose="02010600030101010101" pitchFamily="2" charset="-122"/>
              </a:rPr>
              <a:t>的开发模式</a:t>
            </a:r>
            <a:endParaRPr lang="zh-CN" altLang="en-US" dirty="0">
              <a:ea typeface="宋体" panose="02010600030101010101" pitchFamily="2" charset="-122"/>
            </a:endParaRPr>
          </a:p>
        </p:txBody>
      </p:sp>
      <p:sp>
        <p:nvSpPr>
          <p:cNvPr id="3" name="矩形 2"/>
          <p:cNvSpPr/>
          <p:nvPr/>
        </p:nvSpPr>
        <p:spPr>
          <a:xfrm>
            <a:off x="1100792" y="2104164"/>
            <a:ext cx="2436585" cy="900103"/>
          </a:xfrm>
          <a:prstGeom prst="rect">
            <a:avLst/>
          </a:prstGeom>
        </p:spPr>
        <p:txBody>
          <a:bodyPr wrap="none" lIns="91291" tIns="45649" rIns="91291" bIns="45649">
            <a:spAutoFit/>
          </a:bodyPr>
          <a:lstStyle/>
          <a:p>
            <a:pPr marL="572770" indent="-572770">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88" y="2104157"/>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596" tIns="57300" rIns="114596" bIns="57300"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200000"/>
              </a:lnSpc>
            </a:pPr>
            <a:r>
              <a:rPr lang="en-US" altLang="zh-CN" sz="2600" dirty="0">
                <a:ea typeface="宋体" panose="02010600030101010101" pitchFamily="2" charset="-122"/>
              </a:rPr>
              <a:t>JSP</a:t>
            </a:r>
            <a:r>
              <a:rPr lang="zh-CN" altLang="en-US" sz="2600" dirty="0">
                <a:ea typeface="宋体" panose="02010600030101010101" pitchFamily="2" charset="-122"/>
              </a:rPr>
              <a:t>两种开发模式之一</a:t>
            </a:r>
            <a:endParaRPr lang="zh-CN" altLang="en-US" sz="2600" dirty="0">
              <a:ea typeface="宋体" panose="02010600030101010101" pitchFamily="2" charset="-122"/>
              <a:hlinkClick r:id="rId1" action="ppaction://hlinksldjump"/>
            </a:endParaRPr>
          </a:p>
          <a:p>
            <a:pPr marL="1074420" lvl="1" indent="-533400">
              <a:lnSpc>
                <a:spcPct val="110000"/>
              </a:lnSpc>
            </a:pPr>
            <a:r>
              <a:rPr lang="en-US" altLang="zh-CN" sz="2400" dirty="0"/>
              <a:t>MVC</a:t>
            </a:r>
            <a:r>
              <a:rPr lang="zh-CN" altLang="en-US" sz="2400" dirty="0"/>
              <a:t>模式</a:t>
            </a:r>
            <a:endParaRPr lang="zh-CN" altLang="en-US" sz="2400" dirty="0"/>
          </a:p>
          <a:p>
            <a:pPr marL="1073150" lvl="1" indent="-532765">
              <a:lnSpc>
                <a:spcPct val="200000"/>
              </a:lnSpc>
            </a:pPr>
            <a:r>
              <a:rPr lang="zh-CN" altLang="en-US" sz="2400" dirty="0"/>
              <a:t>基于</a:t>
            </a:r>
            <a:r>
              <a:rPr lang="en-US" altLang="zh-CN" sz="2400" dirty="0"/>
              <a:t>MVC</a:t>
            </a:r>
            <a:r>
              <a:rPr lang="zh-CN" altLang="en-US" sz="2400" dirty="0"/>
              <a:t>开发模式的应用程序体验</a:t>
            </a:r>
            <a:endParaRPr lang="zh-CN" altLang="en-US" sz="2300" dirty="0"/>
          </a:p>
        </p:txBody>
      </p:sp>
      <p:sp>
        <p:nvSpPr>
          <p:cNvPr id="5" name="Rectangle 3"/>
          <p:cNvSpPr txBox="1">
            <a:spLocks noChangeArrowheads="1"/>
          </p:cNvSpPr>
          <p:nvPr/>
        </p:nvSpPr>
        <p:spPr bwMode="auto">
          <a:xfrm>
            <a:off x="3537587" y="4749895"/>
            <a:ext cx="12280552" cy="302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596" tIns="57300" rIns="114596" bIns="57300"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lvl="1" indent="-456565">
              <a:lnSpc>
                <a:spcPct val="200000"/>
              </a:lnSpc>
              <a:buFont typeface="Wingdings" panose="05000000000000000000" pitchFamily="2" charset="2"/>
              <a:buChar char="v"/>
            </a:pPr>
            <a:r>
              <a:rPr lang="zh-CN" altLang="en-US" sz="2600" dirty="0"/>
              <a:t>掌握：</a:t>
            </a:r>
            <a:r>
              <a:rPr lang="en-US" altLang="zh-CN" sz="2400" dirty="0"/>
              <a:t>MVC</a:t>
            </a:r>
            <a:r>
              <a:rPr lang="zh-CN" altLang="en-US" sz="2400" dirty="0"/>
              <a:t>模式</a:t>
            </a:r>
            <a:endParaRPr lang="en-US" altLang="zh-CN" sz="2600" dirty="0"/>
          </a:p>
          <a:p>
            <a:pPr marL="456565" lvl="1" indent="-456565">
              <a:lnSpc>
                <a:spcPct val="200000"/>
              </a:lnSpc>
              <a:buFont typeface="Wingdings" panose="05000000000000000000" pitchFamily="2" charset="2"/>
              <a:buChar char="v"/>
            </a:pPr>
            <a:r>
              <a:rPr lang="zh-CN" altLang="en-US" sz="2600" dirty="0"/>
              <a:t>理解：</a:t>
            </a:r>
            <a:r>
              <a:rPr lang="en-US" altLang="zh-CN" sz="2600" dirty="0"/>
              <a:t>MVC</a:t>
            </a:r>
            <a:r>
              <a:rPr lang="zh-CN" altLang="en-US" sz="2600" dirty="0"/>
              <a:t>模式中</a:t>
            </a:r>
            <a:r>
              <a:rPr lang="en-US" altLang="zh-CN" sz="2600" dirty="0"/>
              <a:t>M</a:t>
            </a:r>
            <a:r>
              <a:rPr lang="zh-CN" altLang="en-US" sz="2600" dirty="0"/>
              <a:t>层、</a:t>
            </a:r>
            <a:r>
              <a:rPr lang="en-US" altLang="zh-CN" sz="2600" dirty="0"/>
              <a:t>V</a:t>
            </a:r>
            <a:r>
              <a:rPr lang="zh-CN" altLang="en-US" sz="2600" dirty="0"/>
              <a:t>层、</a:t>
            </a:r>
            <a:r>
              <a:rPr lang="en-US" altLang="zh-CN" sz="2600" dirty="0"/>
              <a:t>C</a:t>
            </a:r>
            <a:r>
              <a:rPr lang="zh-CN" altLang="en-US" sz="2600" dirty="0"/>
              <a:t>层具体含义</a:t>
            </a:r>
            <a:endParaRPr lang="zh-CN" altLang="en-US" sz="2400" dirty="0"/>
          </a:p>
        </p:txBody>
      </p:sp>
      <p:sp>
        <p:nvSpPr>
          <p:cNvPr id="4" name="矩形 3"/>
          <p:cNvSpPr/>
          <p:nvPr/>
        </p:nvSpPr>
        <p:spPr>
          <a:xfrm>
            <a:off x="1120126" y="4929604"/>
            <a:ext cx="2436671" cy="630839"/>
          </a:xfrm>
          <a:prstGeom prst="rect">
            <a:avLst/>
          </a:prstGeom>
        </p:spPr>
        <p:txBody>
          <a:bodyPr wrap="none" lIns="91334" tIns="45669" rIns="91334" bIns="45669">
            <a:spAutoFit/>
          </a:bodyPr>
          <a:lstStyle/>
          <a:p>
            <a:r>
              <a:rPr lang="zh-CN" altLang="en-US" sz="3500" b="1" kern="0" dirty="0">
                <a:solidFill>
                  <a:srgbClr val="000000"/>
                </a:solidFill>
                <a:latin typeface="Arial" panose="020B0604020202020204"/>
                <a:ea typeface="楷体_GB2312" pitchFamily="1" charset="-122"/>
              </a:rPr>
              <a:t>教学要求：</a:t>
            </a:r>
            <a:endParaRPr lang="zh-CN" altLang="en-US" sz="3500" b="1" kern="0" dirty="0">
              <a:solidFill>
                <a:srgbClr val="000000"/>
              </a:solidFill>
              <a:latin typeface="Arial" panose="020B0604020202020204"/>
              <a:ea typeface="楷体_GB2312" pitchFamily="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59025" y="654622"/>
            <a:ext cx="11264801" cy="656296"/>
          </a:xfrm>
        </p:spPr>
        <p:txBody>
          <a:bodyPr/>
          <a:lstStyle/>
          <a:p>
            <a:r>
              <a:rPr lang="zh-CN" altLang="en-US" dirty="0" smtClean="0">
                <a:ea typeface="宋体" panose="02010600030101010101" pitchFamily="2" charset="-122"/>
              </a:rPr>
              <a:t>授课任务</a:t>
            </a:r>
            <a:endParaRPr lang="zh-CN" altLang="en-US" dirty="0">
              <a:ea typeface="宋体" panose="02010600030101010101" pitchFamily="2" charset="-122"/>
            </a:endParaRPr>
          </a:p>
        </p:txBody>
      </p:sp>
      <p:sp>
        <p:nvSpPr>
          <p:cNvPr id="16387" name="Rectangle 3"/>
          <p:cNvSpPr>
            <a:spLocks noGrp="1" noChangeArrowheads="1"/>
          </p:cNvSpPr>
          <p:nvPr>
            <p:ph type="body" idx="1"/>
          </p:nvPr>
        </p:nvSpPr>
        <p:spPr>
          <a:xfrm>
            <a:off x="859483" y="1634045"/>
            <a:ext cx="11269266" cy="532403"/>
          </a:xfrm>
        </p:spPr>
        <p:txBody>
          <a:bodyPr/>
          <a:lstStyle/>
          <a:p>
            <a:r>
              <a:rPr lang="en-US" dirty="0" smtClean="0">
                <a:ea typeface="宋体" panose="02010600030101010101" pitchFamily="2" charset="-122"/>
              </a:rPr>
              <a:t>MVC</a:t>
            </a:r>
            <a:r>
              <a:rPr lang="zh-CN" altLang="en-US" dirty="0">
                <a:ea typeface="宋体" panose="02010600030101010101" pitchFamily="2" charset="-122"/>
              </a:rPr>
              <a:t>模式 </a:t>
            </a:r>
            <a:endParaRPr lang="zh-CN" altLang="en-US" dirty="0">
              <a:ea typeface="宋体" panose="02010600030101010101" pitchFamily="2" charset="-122"/>
            </a:endParaRPr>
          </a:p>
        </p:txBody>
      </p:sp>
      <p:sp>
        <p:nvSpPr>
          <p:cNvPr id="16388" name="Rectangle 4"/>
          <p:cNvSpPr>
            <a:spLocks noChangeArrowheads="1"/>
          </p:cNvSpPr>
          <p:nvPr/>
        </p:nvSpPr>
        <p:spPr bwMode="auto">
          <a:xfrm>
            <a:off x="252264" y="2503950"/>
            <a:ext cx="12606486" cy="23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smtClean="0">
                <a:solidFill>
                  <a:srgbClr val="000000"/>
                </a:solidFill>
                <a:latin typeface="Arial" panose="020B0604020202020204" pitchFamily="34" charset="0"/>
              </a:rPr>
              <a:t>MVC(Model-View-Controller)</a:t>
            </a:r>
            <a:r>
              <a:rPr lang="zh-CN" altLang="en-US" smtClean="0">
                <a:solidFill>
                  <a:srgbClr val="000000"/>
                </a:solidFill>
                <a:latin typeface="Arial" panose="020B0604020202020204" pitchFamily="34" charset="0"/>
              </a:rPr>
              <a:t>模式，即模型</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视图</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控制器模式，其核心思想是将整个程序代码分成相对独立而又能协同工作的</a:t>
            </a:r>
            <a:r>
              <a:rPr lang="en-US" smtClean="0">
                <a:solidFill>
                  <a:srgbClr val="000000"/>
                </a:solidFill>
                <a:latin typeface="Arial" panose="020B0604020202020204" pitchFamily="34" charset="0"/>
              </a:rPr>
              <a:t>3</a:t>
            </a:r>
            <a:r>
              <a:rPr lang="zh-CN" altLang="en-US" smtClean="0">
                <a:solidFill>
                  <a:srgbClr val="000000"/>
                </a:solidFill>
                <a:latin typeface="Arial" panose="020B0604020202020204" pitchFamily="34" charset="0"/>
              </a:rPr>
              <a:t>个组成部分。如图</a:t>
            </a:r>
            <a:r>
              <a:rPr lang="en-US" smtClean="0">
                <a:solidFill>
                  <a:srgbClr val="000000"/>
                </a:solidFill>
                <a:latin typeface="Arial" panose="020B0604020202020204" pitchFamily="34" charset="0"/>
              </a:rPr>
              <a:t>6-11</a:t>
            </a:r>
            <a:r>
              <a:rPr lang="zh-CN" altLang="en-US" smtClean="0">
                <a:solidFill>
                  <a:srgbClr val="000000"/>
                </a:solidFill>
                <a:latin typeface="Arial" panose="020B0604020202020204" pitchFamily="34" charset="0"/>
              </a:rPr>
              <a:t>所示：</a:t>
            </a:r>
            <a:endParaRPr lang="zh-CN" altLang="en-US"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smtClean="0">
                <a:solidFill>
                  <a:srgbClr val="000000"/>
                </a:solidFill>
                <a:latin typeface="Arial" panose="020B0604020202020204" pitchFamily="34" charset="0"/>
              </a:rPr>
              <a:t>1</a:t>
            </a:r>
            <a:r>
              <a:rPr lang="zh-CN" altLang="en-US" smtClean="0">
                <a:solidFill>
                  <a:srgbClr val="000000"/>
                </a:solidFill>
                <a:latin typeface="Arial" panose="020B0604020202020204" pitchFamily="34" charset="0"/>
              </a:rPr>
              <a:t>．模型</a:t>
            </a:r>
            <a:r>
              <a:rPr lang="en-US" smtClean="0">
                <a:solidFill>
                  <a:srgbClr val="000000"/>
                </a:solidFill>
                <a:latin typeface="Arial" panose="020B0604020202020204" pitchFamily="34" charset="0"/>
              </a:rPr>
              <a:t>(Model)</a:t>
            </a:r>
            <a:r>
              <a:rPr lang="zh-CN" altLang="en-US" smtClean="0">
                <a:solidFill>
                  <a:srgbClr val="000000"/>
                </a:solidFill>
                <a:latin typeface="Arial" panose="020B0604020202020204" pitchFamily="34" charset="0"/>
              </a:rPr>
              <a:t>：业务逻辑层</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实现具体的业务逻辑，状态管理的功能。</a:t>
            </a:r>
            <a:endParaRPr lang="zh-CN" altLang="en-US"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smtClean="0">
                <a:solidFill>
                  <a:srgbClr val="000000"/>
                </a:solidFill>
                <a:latin typeface="Arial" panose="020B0604020202020204" pitchFamily="34" charset="0"/>
              </a:rPr>
              <a:t>2</a:t>
            </a:r>
            <a:r>
              <a:rPr lang="zh-CN" altLang="en-US" smtClean="0">
                <a:solidFill>
                  <a:srgbClr val="000000"/>
                </a:solidFill>
                <a:latin typeface="Arial" panose="020B0604020202020204" pitchFamily="34" charset="0"/>
              </a:rPr>
              <a:t>．视图</a:t>
            </a:r>
            <a:r>
              <a:rPr lang="en-US" smtClean="0">
                <a:solidFill>
                  <a:srgbClr val="000000"/>
                </a:solidFill>
                <a:latin typeface="Arial" panose="020B0604020202020204" pitchFamily="34" charset="0"/>
              </a:rPr>
              <a:t>(View)</a:t>
            </a:r>
            <a:r>
              <a:rPr lang="zh-CN" altLang="en-US" smtClean="0">
                <a:solidFill>
                  <a:srgbClr val="000000"/>
                </a:solidFill>
                <a:latin typeface="Arial" panose="020B0604020202020204" pitchFamily="34" charset="0"/>
              </a:rPr>
              <a:t>：表示层</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即与用户实现交互的界面，通常实现数据输入和输出功能。</a:t>
            </a:r>
            <a:endParaRPr lang="zh-CN" altLang="en-US"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smtClean="0">
                <a:solidFill>
                  <a:srgbClr val="000000"/>
                </a:solidFill>
                <a:latin typeface="Arial" panose="020B0604020202020204" pitchFamily="34" charset="0"/>
              </a:rPr>
              <a:t>3</a:t>
            </a:r>
            <a:r>
              <a:rPr lang="zh-CN" altLang="en-US" smtClean="0">
                <a:solidFill>
                  <a:srgbClr val="000000"/>
                </a:solidFill>
                <a:latin typeface="Arial" panose="020B0604020202020204" pitchFamily="34" charset="0"/>
              </a:rPr>
              <a:t>．控制器</a:t>
            </a:r>
            <a:r>
              <a:rPr lang="en-US" smtClean="0">
                <a:solidFill>
                  <a:srgbClr val="000000"/>
                </a:solidFill>
                <a:latin typeface="Arial" panose="020B0604020202020204" pitchFamily="34" charset="0"/>
              </a:rPr>
              <a:t>(Controller)</a:t>
            </a:r>
            <a:r>
              <a:rPr lang="zh-CN" altLang="en-US" smtClean="0">
                <a:solidFill>
                  <a:srgbClr val="000000"/>
                </a:solidFill>
                <a:latin typeface="Arial" panose="020B0604020202020204" pitchFamily="34" charset="0"/>
              </a:rPr>
              <a:t>：控制层</a:t>
            </a:r>
            <a:r>
              <a:rPr lang="en-US" smtClean="0">
                <a:solidFill>
                  <a:srgbClr val="000000"/>
                </a:solidFill>
                <a:latin typeface="Arial" panose="020B0604020202020204" pitchFamily="34" charset="0"/>
              </a:rPr>
              <a:t>.</a:t>
            </a:r>
            <a:r>
              <a:rPr lang="zh-CN" altLang="en-US" smtClean="0">
                <a:solidFill>
                  <a:srgbClr val="000000"/>
                </a:solidFill>
                <a:latin typeface="Arial" panose="020B0604020202020204" pitchFamily="34" charset="0"/>
              </a:rPr>
              <a:t>起到控制整个业务流程的作用，实现</a:t>
            </a:r>
            <a:r>
              <a:rPr lang="en-US" smtClean="0">
                <a:solidFill>
                  <a:srgbClr val="000000"/>
                </a:solidFill>
                <a:latin typeface="Arial" panose="020B0604020202020204" pitchFamily="34" charset="0"/>
              </a:rPr>
              <a:t>View</a:t>
            </a:r>
            <a:r>
              <a:rPr lang="zh-CN" altLang="en-US" smtClean="0">
                <a:solidFill>
                  <a:srgbClr val="000000"/>
                </a:solidFill>
                <a:latin typeface="Arial" panose="020B0604020202020204" pitchFamily="34" charset="0"/>
              </a:rPr>
              <a:t>和</a:t>
            </a:r>
            <a:r>
              <a:rPr lang="en-US" smtClean="0">
                <a:solidFill>
                  <a:srgbClr val="000000"/>
                </a:solidFill>
                <a:latin typeface="Arial" panose="020B0604020202020204" pitchFamily="34" charset="0"/>
              </a:rPr>
              <a:t>Model</a:t>
            </a:r>
            <a:r>
              <a:rPr lang="zh-CN" altLang="en-US" smtClean="0">
                <a:solidFill>
                  <a:srgbClr val="000000"/>
                </a:solidFill>
                <a:latin typeface="Arial" panose="020B0604020202020204" pitchFamily="34" charset="0"/>
              </a:rPr>
              <a:t>部分的协同工作。 </a:t>
            </a:r>
            <a:endParaRPr lang="zh-CN" altLang="en-US" smtClean="0">
              <a:solidFill>
                <a:srgbClr val="000000"/>
              </a:solidFill>
              <a:latin typeface="Arial" panose="020B0604020202020204" pitchFamily="34" charset="0"/>
            </a:endParaRPr>
          </a:p>
        </p:txBody>
      </p:sp>
      <p:pic>
        <p:nvPicPr>
          <p:cNvPr id="1638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14940" y="4831814"/>
            <a:ext cx="6480721" cy="196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smtClean="0">
                <a:ea typeface="宋体" panose="02010600030101010101" pitchFamily="2" charset="-122"/>
              </a:rPr>
              <a:t>JSP</a:t>
            </a:r>
            <a:r>
              <a:rPr lang="zh-CN" altLang="en-US" dirty="0" smtClean="0">
                <a:ea typeface="宋体" panose="02010600030101010101" pitchFamily="2" charset="-122"/>
              </a:rPr>
              <a:t>开发</a:t>
            </a:r>
            <a:r>
              <a:rPr lang="zh-CN" altLang="en-US" dirty="0">
                <a:ea typeface="宋体" panose="02010600030101010101" pitchFamily="2" charset="-122"/>
              </a:rPr>
              <a:t>模式 </a:t>
            </a:r>
            <a:endParaRPr lang="zh-CN" altLang="en-US" dirty="0">
              <a:ea typeface="宋体" panose="02010600030101010101" pitchFamily="2" charset="-122"/>
            </a:endParaRPr>
          </a:p>
        </p:txBody>
      </p:sp>
      <p:sp>
        <p:nvSpPr>
          <p:cNvPr id="17411" name="Rectangle 3"/>
          <p:cNvSpPr>
            <a:spLocks noGrp="1" noChangeArrowheads="1"/>
          </p:cNvSpPr>
          <p:nvPr>
            <p:ph type="body" sz="half" idx="1"/>
          </p:nvPr>
        </p:nvSpPr>
        <p:spPr>
          <a:xfrm>
            <a:off x="846089" y="1577121"/>
            <a:ext cx="11760398" cy="5303943"/>
          </a:xfrm>
        </p:spPr>
        <p:txBody>
          <a:bodyPr/>
          <a:lstStyle/>
          <a:p>
            <a:r>
              <a:rPr lang="zh-CN" altLang="en-US" dirty="0" smtClean="0">
                <a:ea typeface="宋体" panose="02010600030101010101" pitchFamily="2" charset="-122"/>
              </a:rPr>
              <a:t>基于</a:t>
            </a:r>
            <a:r>
              <a:rPr lang="en-US" dirty="0">
                <a:ea typeface="宋体" panose="02010600030101010101" pitchFamily="2" charset="-122"/>
              </a:rPr>
              <a:t>MVC</a:t>
            </a:r>
            <a:r>
              <a:rPr lang="zh-CN" altLang="en-US" dirty="0">
                <a:ea typeface="宋体" panose="02010600030101010101" pitchFamily="2" charset="-122"/>
              </a:rPr>
              <a:t>开发模式的应用程序体验</a:t>
            </a:r>
            <a:r>
              <a:rPr lang="zh-CN" altLang="en-US" sz="3000" dirty="0">
                <a:ea typeface="宋体" panose="02010600030101010101" pitchFamily="2" charset="-122"/>
              </a:rPr>
              <a:t> </a:t>
            </a:r>
            <a:endParaRPr lang="zh-CN" altLang="en-US" sz="3000" dirty="0">
              <a:ea typeface="宋体" panose="02010600030101010101" pitchFamily="2" charset="-122"/>
            </a:endParaRPr>
          </a:p>
        </p:txBody>
      </p:sp>
      <p:sp>
        <p:nvSpPr>
          <p:cNvPr id="17412" name="Rectangle 4"/>
          <p:cNvSpPr>
            <a:spLocks noChangeArrowheads="1"/>
          </p:cNvSpPr>
          <p:nvPr/>
        </p:nvSpPr>
        <p:spPr bwMode="auto">
          <a:xfrm>
            <a:off x="1013522" y="2144682"/>
            <a:ext cx="12606487" cy="56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nchor="ctr">
            <a:spAutoFit/>
          </a:bodyPr>
          <a:lstStyle/>
          <a:p>
            <a:pPr>
              <a:lnSpc>
                <a:spcPct val="160000"/>
              </a:lnSpc>
              <a:buFont typeface="Arial" panose="020B0604020202020204" pitchFamily="34" charset="0"/>
              <a:buNone/>
            </a:pPr>
            <a:r>
              <a:rPr lang="en-US" smtClean="0">
                <a:solidFill>
                  <a:srgbClr val="000000"/>
                </a:solidFill>
                <a:latin typeface="Arial" panose="020B0604020202020204" pitchFamily="34" charset="0"/>
              </a:rPr>
              <a:t>MVC</a:t>
            </a:r>
            <a:r>
              <a:rPr lang="zh-CN" altLang="en-US" smtClean="0">
                <a:solidFill>
                  <a:srgbClr val="000000"/>
                </a:solidFill>
                <a:latin typeface="Arial" panose="020B0604020202020204" pitchFamily="34" charset="0"/>
              </a:rPr>
              <a:t>模式下的购物结算程序包含的相关文件及功能如表所示。 </a:t>
            </a:r>
            <a:endParaRPr lang="zh-CN" altLang="en-US" smtClean="0">
              <a:solidFill>
                <a:srgbClr val="000000"/>
              </a:solidFill>
              <a:latin typeface="Arial" panose="020B0604020202020204" pitchFamily="34" charset="0"/>
            </a:endParaRPr>
          </a:p>
        </p:txBody>
      </p:sp>
      <p:graphicFrame>
        <p:nvGraphicFramePr>
          <p:cNvPr id="17413" name="Group 5"/>
          <p:cNvGraphicFramePr>
            <a:graphicFrameLocks noGrp="1"/>
          </p:cNvGraphicFramePr>
          <p:nvPr>
            <p:ph sz="half" idx="2"/>
          </p:nvPr>
        </p:nvGraphicFramePr>
        <p:xfrm>
          <a:off x="1053703" y="3008584"/>
          <a:ext cx="11349633" cy="2539933"/>
        </p:xfrm>
        <a:graphic>
          <a:graphicData uri="http://schemas.openxmlformats.org/drawingml/2006/table">
            <a:tbl>
              <a:tblPr/>
              <a:tblGrid>
                <a:gridCol w="2734718"/>
                <a:gridCol w="8614915"/>
              </a:tblGrid>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文件名</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功能描述</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837">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ItemShopping.java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组件，定义了购买商品的相关信息。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ShoppingInfo.java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组件，定义了购买商品清单的相关信息。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ConServlet.java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在整个程序中充当控制器的角色，用于程序转向。</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input.jsp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页面，为用户提供了输入购买商品信息的界面。</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checkMVC.jsp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页面，显示购买商品清单。</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web.xml</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配置</a:t>
                      </a: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servlet</a:t>
                      </a:r>
                      <a:r>
                        <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相关信息。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759024" y="654622"/>
            <a:ext cx="11264801" cy="656296"/>
          </a:xfrm>
        </p:spPr>
        <p:txBody>
          <a:bodyPr/>
          <a:lstStyle/>
          <a:p>
            <a:r>
              <a:rPr lang="zh-CN" altLang="en-US">
                <a:ea typeface="宋体" panose="02010600030101010101" pitchFamily="2" charset="-122"/>
              </a:rPr>
              <a:t>典型模块应用</a:t>
            </a:r>
            <a:endParaRPr lang="zh-CN" altLang="en-US">
              <a:ea typeface="宋体" panose="02010600030101010101" pitchFamily="2" charset="-122"/>
            </a:endParaRPr>
          </a:p>
        </p:txBody>
      </p:sp>
      <p:sp>
        <p:nvSpPr>
          <p:cNvPr id="18435" name="Rectangle 3"/>
          <p:cNvSpPr>
            <a:spLocks noGrp="1" noChangeArrowheads="1"/>
          </p:cNvSpPr>
          <p:nvPr>
            <p:ph type="body" idx="4294967295"/>
          </p:nvPr>
        </p:nvSpPr>
        <p:spPr>
          <a:xfrm>
            <a:off x="859483" y="1634044"/>
            <a:ext cx="11269266" cy="4490270"/>
          </a:xfrm>
        </p:spPr>
        <p:txBody>
          <a:bodyPr/>
          <a:lstStyle/>
          <a:p>
            <a:pPr>
              <a:lnSpc>
                <a:spcPct val="90000"/>
              </a:lnSpc>
            </a:pPr>
            <a:r>
              <a:rPr lang="zh-CN" altLang="en-US">
                <a:ea typeface="宋体" panose="02010600030101010101" pitchFamily="2" charset="-122"/>
              </a:rPr>
              <a:t>案例 </a:t>
            </a:r>
            <a:r>
              <a:rPr lang="en-US" altLang="zh-CN">
                <a:ea typeface="宋体" panose="02010600030101010101" pitchFamily="2" charset="-122"/>
              </a:rPr>
              <a:t>6-1 </a:t>
            </a:r>
            <a:r>
              <a:rPr lang="zh-CN" altLang="en-US">
                <a:ea typeface="宋体" panose="02010600030101010101" pitchFamily="2" charset="-122"/>
              </a:rPr>
              <a:t>过滤输入字符串中的危险符号 </a:t>
            </a:r>
            <a:endParaRPr lang="zh-CN" altLang="en-US">
              <a:ea typeface="宋体" panose="02010600030101010101" pitchFamily="2" charset="-122"/>
            </a:endParaRPr>
          </a:p>
          <a:p>
            <a:pPr>
              <a:lnSpc>
                <a:spcPct val="90000"/>
              </a:lnSpc>
            </a:pPr>
            <a:endParaRPr lang="zh-CN" altLang="en-US">
              <a:ea typeface="宋体" panose="02010600030101010101" pitchFamily="2" charset="-122"/>
            </a:endParaRPr>
          </a:p>
          <a:p>
            <a:pPr>
              <a:lnSpc>
                <a:spcPct val="90000"/>
              </a:lnSpc>
            </a:pPr>
            <a:r>
              <a:rPr lang="zh-CN" altLang="en-US">
                <a:ea typeface="宋体" panose="02010600030101010101" pitchFamily="2" charset="-122"/>
              </a:rPr>
              <a:t>案例 </a:t>
            </a:r>
            <a:r>
              <a:rPr lang="en-US" altLang="zh-CN">
                <a:ea typeface="宋体" panose="02010600030101010101" pitchFamily="2" charset="-122"/>
              </a:rPr>
              <a:t>6-2 </a:t>
            </a:r>
            <a:r>
              <a:rPr lang="zh-CN" altLang="en-US">
                <a:ea typeface="宋体" panose="02010600030101010101" pitchFamily="2" charset="-122"/>
              </a:rPr>
              <a:t>利用</a:t>
            </a:r>
            <a:r>
              <a:rPr lang="en-US" altLang="zh-CN">
                <a:ea typeface="宋体" panose="02010600030101010101" pitchFamily="2" charset="-122"/>
              </a:rPr>
              <a:t>JavaBean</a:t>
            </a:r>
            <a:r>
              <a:rPr lang="zh-CN" altLang="en-US">
                <a:ea typeface="宋体" panose="02010600030101010101" pitchFamily="2" charset="-122"/>
              </a:rPr>
              <a:t>解决中文乱码问题</a:t>
            </a:r>
            <a:endParaRPr lang="zh-CN" altLang="en-US">
              <a:ea typeface="宋体" panose="02010600030101010101" pitchFamily="2" charset="-122"/>
            </a:endParaRPr>
          </a:p>
          <a:p>
            <a:pPr>
              <a:lnSpc>
                <a:spcPct val="90000"/>
              </a:lnSpc>
            </a:pPr>
            <a:endParaRPr lang="zh-CN" altLang="en-US">
              <a:ea typeface="宋体" panose="02010600030101010101" pitchFamily="2" charset="-122"/>
            </a:endParaRPr>
          </a:p>
          <a:p>
            <a:pPr>
              <a:lnSpc>
                <a:spcPct val="90000"/>
              </a:lnSpc>
            </a:pPr>
            <a:r>
              <a:rPr lang="zh-CN" altLang="en-US">
                <a:ea typeface="宋体" panose="02010600030101010101" pitchFamily="2" charset="-122"/>
              </a:rPr>
              <a:t>案例 </a:t>
            </a:r>
            <a:r>
              <a:rPr lang="en-US" altLang="zh-CN">
                <a:ea typeface="宋体" panose="02010600030101010101" pitchFamily="2" charset="-122"/>
              </a:rPr>
              <a:t>6-3 </a:t>
            </a:r>
            <a:r>
              <a:rPr lang="zh-CN" altLang="en-US">
                <a:ea typeface="宋体" panose="02010600030101010101" pitchFamily="2" charset="-122"/>
              </a:rPr>
              <a:t>一个基于</a:t>
            </a:r>
            <a:r>
              <a:rPr lang="en-US" altLang="zh-CN">
                <a:ea typeface="宋体" panose="02010600030101010101" pitchFamily="2" charset="-122"/>
              </a:rPr>
              <a:t>MVC</a:t>
            </a:r>
            <a:r>
              <a:rPr lang="zh-CN" altLang="en-US">
                <a:ea typeface="宋体" panose="02010600030101010101" pitchFamily="2" charset="-122"/>
              </a:rPr>
              <a:t>模式的用户注册模块</a:t>
            </a:r>
            <a:endParaRPr lang="zh-CN" altLang="en-US">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604839" y="622812"/>
            <a:ext cx="8358188" cy="594350"/>
          </a:xfrm>
        </p:spPr>
        <p:txBody>
          <a:bodyPr/>
          <a:lstStyle/>
          <a:p>
            <a:r>
              <a:rPr lang="zh-CN" altLang="en-US" dirty="0" smtClean="0">
                <a:ea typeface="宋体" panose="02010600030101010101" pitchFamily="2" charset="-122"/>
              </a:rPr>
              <a:t>本章小结</a:t>
            </a:r>
            <a:endParaRPr lang="zh-CN" altLang="en-US" dirty="0">
              <a:ea typeface="宋体" panose="02010600030101010101" pitchFamily="2" charset="-122"/>
            </a:endParaRPr>
          </a:p>
        </p:txBody>
      </p:sp>
      <p:sp>
        <p:nvSpPr>
          <p:cNvPr id="22531" name="Rectangle 3"/>
          <p:cNvSpPr>
            <a:spLocks noChangeArrowheads="1"/>
          </p:cNvSpPr>
          <p:nvPr/>
        </p:nvSpPr>
        <p:spPr bwMode="auto">
          <a:xfrm>
            <a:off x="380703" y="1528093"/>
            <a:ext cx="12009759" cy="446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4789" tIns="57394" rIns="114789" bIns="57394" anchor="ctr">
            <a:spAutoFit/>
          </a:bodyPr>
          <a:lstStyle/>
          <a:p>
            <a:pPr>
              <a:lnSpc>
                <a:spcPct val="200000"/>
              </a:lnSpc>
            </a:pPr>
            <a:r>
              <a:rPr lang="en-US" altLang="zh-CN" dirty="0" smtClean="0"/>
              <a:t>         JavaBean</a:t>
            </a:r>
            <a:r>
              <a:rPr lang="zh-CN" altLang="zh-CN" dirty="0"/>
              <a:t>在</a:t>
            </a:r>
            <a:r>
              <a:rPr lang="en-US" altLang="zh-CN" dirty="0"/>
              <a:t>Java Web</a:t>
            </a:r>
            <a:r>
              <a:rPr lang="zh-CN" altLang="zh-CN" dirty="0"/>
              <a:t>应用中是一种组件技术。它将内部的动作封装起来，使调用者看不到其运行机制，仅能通过它提供的最小限度的属性接口来完成操作。</a:t>
            </a:r>
            <a:r>
              <a:rPr lang="en-US" altLang="zh-CN" dirty="0"/>
              <a:t>JavaBean</a:t>
            </a:r>
            <a:r>
              <a:rPr lang="zh-CN" altLang="zh-CN" dirty="0"/>
              <a:t>在</a:t>
            </a:r>
            <a:r>
              <a:rPr lang="en-US" altLang="zh-CN" dirty="0"/>
              <a:t>JSP</a:t>
            </a:r>
            <a:r>
              <a:rPr lang="zh-CN" altLang="zh-CN" dirty="0"/>
              <a:t>页面中，既可以像使用普通类一样实例化，调用它的方法；也可以利用</a:t>
            </a:r>
            <a:r>
              <a:rPr lang="en-US" altLang="zh-CN" dirty="0"/>
              <a:t>JSP</a:t>
            </a:r>
            <a:r>
              <a:rPr lang="zh-CN" altLang="zh-CN" dirty="0"/>
              <a:t>技术中提供的动作标签来访问</a:t>
            </a:r>
            <a:r>
              <a:rPr lang="en-US" altLang="zh-CN" dirty="0"/>
              <a:t>JavaBean</a:t>
            </a:r>
            <a:r>
              <a:rPr lang="zh-CN" altLang="zh-CN" dirty="0"/>
              <a:t>，调用它的方法。</a:t>
            </a:r>
            <a:endParaRPr lang="zh-CN" altLang="zh-CN" dirty="0"/>
          </a:p>
          <a:p>
            <a:pPr>
              <a:lnSpc>
                <a:spcPct val="200000"/>
              </a:lnSpc>
            </a:pPr>
            <a:r>
              <a:rPr lang="en-US" altLang="zh-CN" dirty="0" smtClean="0"/>
              <a:t>        </a:t>
            </a:r>
            <a:r>
              <a:rPr lang="zh-CN" altLang="zh-CN" dirty="0" smtClean="0"/>
              <a:t>在</a:t>
            </a:r>
            <a:r>
              <a:rPr lang="en-US" altLang="zh-CN" dirty="0" err="1"/>
              <a:t>JSP+JavaBean</a:t>
            </a:r>
            <a:r>
              <a:rPr lang="zh-CN" altLang="zh-CN" dirty="0"/>
              <a:t>开发模式中，主要使用</a:t>
            </a:r>
            <a:r>
              <a:rPr lang="en-US" altLang="zh-CN" dirty="0"/>
              <a:t>JSP</a:t>
            </a:r>
            <a:r>
              <a:rPr lang="zh-CN" altLang="zh-CN" dirty="0"/>
              <a:t>技术来实现界面设计，用户交互和数据呈现，</a:t>
            </a:r>
            <a:r>
              <a:rPr lang="en-US" altLang="zh-CN" dirty="0"/>
              <a:t>JavaBean</a:t>
            </a:r>
            <a:r>
              <a:rPr lang="zh-CN" altLang="zh-CN" dirty="0"/>
              <a:t>主要用来实现数据处理，数据传递以及数据库访问操作等。</a:t>
            </a:r>
            <a:endParaRPr lang="zh-CN" altLang="zh-CN" dirty="0"/>
          </a:p>
          <a:p>
            <a:pPr>
              <a:lnSpc>
                <a:spcPct val="200000"/>
              </a:lnSpc>
            </a:pPr>
            <a:r>
              <a:rPr lang="en-US" altLang="zh-CN" dirty="0" smtClean="0"/>
              <a:t>        </a:t>
            </a:r>
            <a:r>
              <a:rPr lang="zh-CN" altLang="zh-CN" dirty="0" smtClean="0"/>
              <a:t>在</a:t>
            </a:r>
            <a:r>
              <a:rPr lang="en-US" altLang="zh-CN" dirty="0"/>
              <a:t>MVC</a:t>
            </a:r>
            <a:r>
              <a:rPr lang="zh-CN" altLang="zh-CN" dirty="0"/>
              <a:t>开发模式中，</a:t>
            </a:r>
            <a:r>
              <a:rPr lang="en-US" altLang="zh-CN" dirty="0"/>
              <a:t>JSP</a:t>
            </a:r>
            <a:r>
              <a:rPr lang="zh-CN" altLang="zh-CN" dirty="0"/>
              <a:t>技术主要负责</a:t>
            </a:r>
            <a:r>
              <a:rPr lang="en-US" altLang="zh-CN" dirty="0"/>
              <a:t>Web</a:t>
            </a:r>
            <a:r>
              <a:rPr lang="zh-CN" altLang="zh-CN" dirty="0"/>
              <a:t>应用与用户的交互以及业务数据的呈现等，起着视图的作用，</a:t>
            </a:r>
            <a:r>
              <a:rPr lang="en-US" altLang="zh-CN" dirty="0"/>
              <a:t>JavaBean</a:t>
            </a:r>
            <a:r>
              <a:rPr lang="zh-CN" altLang="zh-CN" dirty="0"/>
              <a:t>技术主要负责业务逻辑处理，数据库访问以及数据信息传递等，起着数据处理模型的作用，</a:t>
            </a:r>
            <a:r>
              <a:rPr lang="en-US" altLang="zh-CN" dirty="0"/>
              <a:t>Servlet</a:t>
            </a:r>
            <a:r>
              <a:rPr lang="zh-CN" altLang="zh-CN" dirty="0"/>
              <a:t>技术主要负责业务流程和数据流的控制，起着控制器的作用。</a:t>
            </a:r>
            <a:endParaRPr lang="zh-CN" altLang="zh-C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604839" y="622812"/>
            <a:ext cx="8358188" cy="594350"/>
          </a:xfrm>
        </p:spPr>
        <p:txBody>
          <a:bodyPr/>
          <a:lstStyle/>
          <a:p>
            <a:r>
              <a:rPr lang="zh-CN" altLang="en-US" dirty="0" smtClean="0">
                <a:ea typeface="宋体" panose="02010600030101010101" pitchFamily="2" charset="-122"/>
              </a:rPr>
              <a:t>本章小结</a:t>
            </a:r>
            <a:endParaRPr lang="zh-CN" altLang="en-US" dirty="0">
              <a:ea typeface="宋体" panose="02010600030101010101" pitchFamily="2" charset="-122"/>
            </a:endParaRPr>
          </a:p>
        </p:txBody>
      </p:sp>
      <p:sp>
        <p:nvSpPr>
          <p:cNvPr id="22531" name="Rectangle 3"/>
          <p:cNvSpPr>
            <a:spLocks noChangeArrowheads="1"/>
          </p:cNvSpPr>
          <p:nvPr/>
        </p:nvSpPr>
        <p:spPr bwMode="auto">
          <a:xfrm>
            <a:off x="380703" y="2082091"/>
            <a:ext cx="12009759" cy="3357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4789" tIns="57394" rIns="114789" bIns="57394" anchor="ctr">
            <a:spAutoFit/>
          </a:bodyPr>
          <a:lstStyle/>
          <a:p>
            <a:pPr>
              <a:lnSpc>
                <a:spcPct val="200000"/>
              </a:lnSpc>
            </a:pPr>
            <a:r>
              <a:rPr lang="en-US" altLang="zh-CN" dirty="0" smtClean="0"/>
              <a:t>         </a:t>
            </a:r>
            <a:r>
              <a:rPr lang="zh-CN" altLang="zh-CN" dirty="0" smtClean="0"/>
              <a:t>在</a:t>
            </a:r>
            <a:r>
              <a:rPr lang="zh-CN" altLang="zh-CN" dirty="0"/>
              <a:t>本章读者需要学会协调两个或者两个以上的不同资源或者个体代码，协同一致地完成一个目标的过程或能力。在工作中，协同合作也是非常重要的职业素养，大家都知道一根筷子轻轻被折断，但把更多的筷子放在一起，想要折断是很困难的事。</a:t>
            </a:r>
            <a:endParaRPr lang="zh-CN" altLang="zh-CN" dirty="0"/>
          </a:p>
          <a:p>
            <a:pPr>
              <a:lnSpc>
                <a:spcPct val="200000"/>
              </a:lnSpc>
            </a:pPr>
            <a:r>
              <a:rPr lang="en-US" altLang="zh-CN" dirty="0" smtClean="0"/>
              <a:t>          </a:t>
            </a:r>
            <a:r>
              <a:rPr lang="zh-CN" altLang="zh-CN" dirty="0" smtClean="0"/>
              <a:t>团队</a:t>
            </a:r>
            <a:r>
              <a:rPr lang="zh-CN" altLang="zh-CN" dirty="0"/>
              <a:t>协作的本质就是共同奉献。制定一个切实可行、具有挑战意义的目标，不分彼此，共同奉献。在一个团队里面，只有大家不断地分享自己的长处优点，不断吸取其它成员的长处优点，遇到问题都及时交流，才能让团队的力量发挥得淋漓尽致。</a:t>
            </a:r>
            <a:endParaRPr lang="zh-CN" altLang="zh-CN"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2531" name="Rectangle 3"/>
          <p:cNvSpPr>
            <a:spLocks noChangeArrowheads="1"/>
          </p:cNvSpPr>
          <p:nvPr/>
        </p:nvSpPr>
        <p:spPr bwMode="auto">
          <a:xfrm>
            <a:off x="252264" y="2040348"/>
            <a:ext cx="12606486" cy="100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34" tIns="57368" rIns="114734" bIns="57368" anchor="ctr">
            <a:spAutoFit/>
          </a:bodyPr>
          <a:lstStyle/>
          <a:p>
            <a:pPr>
              <a:lnSpc>
                <a:spcPct val="16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6-1]</a:t>
            </a:r>
            <a:r>
              <a:rPr lang="zh-CN" altLang="en-US" dirty="0" smtClean="0">
                <a:solidFill>
                  <a:srgbClr val="000000"/>
                </a:solidFill>
                <a:latin typeface="Arial" panose="020B0604020202020204" pitchFamily="34" charset="0"/>
              </a:rPr>
              <a:t>请设计一个基于</a:t>
            </a:r>
            <a:r>
              <a:rPr lang="en-US" altLang="zh-CN" dirty="0" smtClean="0"/>
              <a:t>MVC</a:t>
            </a:r>
            <a:r>
              <a:rPr lang="zh-CN" altLang="en-US" dirty="0" smtClean="0">
                <a:solidFill>
                  <a:srgbClr val="000000"/>
                </a:solidFill>
                <a:latin typeface="Arial" panose="020B0604020202020204" pitchFamily="34" charset="0"/>
              </a:rPr>
              <a:t>模式的用户登录模块，当用户登录名为</a:t>
            </a:r>
            <a:r>
              <a:rPr lang="en-US" dirty="0" smtClean="0">
                <a:solidFill>
                  <a:srgbClr val="000000"/>
                </a:solidFill>
                <a:latin typeface="Arial" panose="020B0604020202020204" pitchFamily="34" charset="0"/>
              </a:rPr>
              <a:t>admin</a:t>
            </a:r>
            <a:r>
              <a:rPr lang="zh-CN" altLang="en-US" dirty="0" smtClean="0">
                <a:solidFill>
                  <a:srgbClr val="000000"/>
                </a:solidFill>
                <a:latin typeface="Arial" panose="020B0604020202020204" pitchFamily="34" charset="0"/>
              </a:rPr>
              <a:t>，密码为</a:t>
            </a:r>
            <a:r>
              <a:rPr lang="en-US" dirty="0" smtClean="0">
                <a:solidFill>
                  <a:srgbClr val="000000"/>
                </a:solidFill>
                <a:latin typeface="Arial" panose="020B0604020202020204" pitchFamily="34" charset="0"/>
              </a:rPr>
              <a:t>1234</a:t>
            </a:r>
            <a:r>
              <a:rPr lang="zh-CN" altLang="en-US" dirty="0" smtClean="0">
                <a:solidFill>
                  <a:srgbClr val="000000"/>
                </a:solidFill>
                <a:latin typeface="Arial" panose="020B0604020202020204" pitchFamily="34" charset="0"/>
              </a:rPr>
              <a:t>，转向至登录成功页面，否则登录失败，运行结果如下： </a:t>
            </a:r>
            <a:endParaRPr lang="zh-CN" altLang="en-US" dirty="0" smtClean="0">
              <a:solidFill>
                <a:srgbClr val="000000"/>
              </a:solidFill>
              <a:latin typeface="Arial" panose="020B0604020202020204" pitchFamily="34" charset="0"/>
            </a:endParaRPr>
          </a:p>
        </p:txBody>
      </p:sp>
      <p:pic>
        <p:nvPicPr>
          <p:cNvPr id="2253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3316" y="3400301"/>
            <a:ext cx="11543853" cy="203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709295" y="2896245"/>
            <a:ext cx="6016403" cy="560725"/>
          </a:xfrm>
          <a:prstGeom prst="rect">
            <a:avLst/>
          </a:prstGeom>
          <a:noFill/>
        </p:spPr>
        <p:txBody>
          <a:bodyPr wrap="square" lIns="128583" tIns="64291" rIns="128583" bIns="64291" rtlCol="0">
            <a:spAutoFit/>
          </a:bodyPr>
          <a:lstStyle/>
          <a:p>
            <a:pPr algn="ctr"/>
            <a:r>
              <a:rPr kumimoji="1" lang="zh-CN" altLang="en-US" sz="2800" dirty="0">
                <a:solidFill>
                  <a:prstClr val="white">
                    <a:lumMod val="50000"/>
                  </a:prstClr>
                </a:solidFill>
                <a:cs typeface="+mn-ea"/>
                <a:sym typeface="+mn-lt"/>
              </a:rPr>
              <a:t>感谢观看 </a:t>
            </a:r>
            <a:r>
              <a:rPr kumimoji="1" lang="en-US" altLang="zh-CN" sz="2800" dirty="0">
                <a:solidFill>
                  <a:prstClr val="white">
                    <a:lumMod val="50000"/>
                  </a:prstClr>
                </a:solidFill>
                <a:cs typeface="+mn-ea"/>
                <a:sym typeface="+mn-lt"/>
              </a:rPr>
              <a:t>THANK YOU!</a:t>
            </a:r>
            <a:endParaRPr kumimoji="1" lang="zh-CN" altLang="en-US" sz="2800" dirty="0">
              <a:solidFill>
                <a:prstClr val="white">
                  <a:lumMod val="50000"/>
                </a:prstClr>
              </a:solidFill>
              <a:cs typeface="+mn-ea"/>
              <a:sym typeface="+mn-lt"/>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
        <p:nvSpPr>
          <p:cNvPr id="10" name="文本框 8"/>
          <p:cNvSpPr txBox="1"/>
          <p:nvPr/>
        </p:nvSpPr>
        <p:spPr>
          <a:xfrm rot="2679144">
            <a:off x="1518042" y="2942040"/>
            <a:ext cx="5266506" cy="560725"/>
          </a:xfrm>
          <a:prstGeom prst="rect">
            <a:avLst/>
          </a:prstGeom>
          <a:noFill/>
        </p:spPr>
        <p:txBody>
          <a:bodyPr wrap="square" lIns="128583" tIns="64291" rIns="128583" bIns="64291" rtlCol="0">
            <a:spAutoFit/>
          </a:bodyPr>
          <a:lstStyle/>
          <a:p>
            <a:pPr algn="ctr">
              <a:buNone/>
            </a:pPr>
            <a:r>
              <a:rPr kumimoji="1" lang="zh-CN" altLang="en-US" sz="2800" b="1" dirty="0">
                <a:solidFill>
                  <a:srgbClr val="526580"/>
                </a:solidFill>
                <a:latin typeface="+mn-ea"/>
                <a:ea typeface="+mn-ea"/>
                <a:cs typeface="+mn-ea"/>
                <a:sym typeface="宋体" panose="02010600030101010101" pitchFamily="2" charset="-122"/>
              </a:rPr>
              <a:t>第六章 </a:t>
            </a:r>
            <a:r>
              <a:rPr kumimoji="1" lang="en-US" altLang="zh-CN" sz="2800" b="1" dirty="0">
                <a:solidFill>
                  <a:srgbClr val="526580"/>
                </a:solidFill>
                <a:latin typeface="+mn-ea"/>
                <a:ea typeface="+mn-ea"/>
                <a:cs typeface="+mn-ea"/>
                <a:sym typeface="宋体" panose="02010600030101010101" pitchFamily="2" charset="-122"/>
              </a:rPr>
              <a:t>   Java Web</a:t>
            </a:r>
            <a:r>
              <a:rPr kumimoji="1" lang="zh-CN" altLang="en-US" sz="2800" b="1" dirty="0">
                <a:solidFill>
                  <a:srgbClr val="526580"/>
                </a:solidFill>
                <a:latin typeface="+mn-ea"/>
                <a:ea typeface="+mn-ea"/>
                <a:cs typeface="+mn-ea"/>
                <a:sym typeface="宋体" panose="02010600030101010101" pitchFamily="2" charset="-122"/>
              </a:rPr>
              <a:t>的开发模式</a:t>
            </a:r>
            <a:endParaRPr kumimoji="1" lang="zh-CN" altLang="en-US" sz="2800" b="1" dirty="0">
              <a:solidFill>
                <a:srgbClr val="526580"/>
              </a:solidFill>
              <a:latin typeface="+mn-ea"/>
              <a:ea typeface="+mn-ea"/>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ppt_x"/>
                                          </p:val>
                                        </p:tav>
                                        <p:tav tm="100000">
                                          <p:val>
                                            <p:strVal val="#ppt_x"/>
                                          </p:val>
                                        </p:tav>
                                      </p:tavLst>
                                    </p:anim>
                                    <p:anim calcmode="lin" valueType="num">
                                      <p:cBhvr additive="base">
                                        <p:cTn id="21" dur="1000" fill="hold"/>
                                        <p:tgtEl>
                                          <p:spTgt spid="16"/>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12" grpId="0" animBg="1"/>
      <p:bldP spid="16" grpId="0" animBg="1"/>
      <p:bldP spid="4" grpId="0"/>
      <p:bldP spid="10" grpId="0"/>
    </p:bldLst>
  </p:timing>
</p:sld>
</file>

<file path=ppt/tags/tag1.xml><?xml version="1.0" encoding="utf-8"?>
<p:tagLst xmlns:p="http://schemas.openxmlformats.org/presentationml/2006/main">
  <p:tag name="ISPRING_PRESENTATION_TITLE" val="bt026.pptx"/>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5015</Words>
  <Application>WPS 演示</Application>
  <PresentationFormat>自定义</PresentationFormat>
  <Paragraphs>298</Paragraphs>
  <Slides>29</Slides>
  <Notes>4</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0</vt:i4>
      </vt:variant>
      <vt:variant>
        <vt:lpstr>幻灯片标题</vt:lpstr>
      </vt:variant>
      <vt:variant>
        <vt:i4>29</vt:i4>
      </vt:variant>
    </vt:vector>
  </HeadingPairs>
  <TitlesOfParts>
    <vt:vector size="45" baseType="lpstr">
      <vt:lpstr>Arial</vt:lpstr>
      <vt:lpstr>宋体</vt:lpstr>
      <vt:lpstr>Wingdings</vt:lpstr>
      <vt:lpstr>Calibri</vt:lpstr>
      <vt:lpstr>Agency FB</vt:lpstr>
      <vt:lpstr>方正正黑简体</vt:lpstr>
      <vt:lpstr>黑体</vt:lpstr>
      <vt:lpstr>Arial</vt:lpstr>
      <vt:lpstr>楷体_GB2312</vt:lpstr>
      <vt:lpstr>新宋体</vt:lpstr>
      <vt:lpstr>微软雅黑</vt:lpstr>
      <vt:lpstr>Arial Unicode MS</vt:lpstr>
      <vt:lpstr>自定义设计方案</vt:lpstr>
      <vt:lpstr>灰白简约科技PPT模板</vt:lpstr>
      <vt:lpstr>1_灰白简约科技PPT模板</vt:lpstr>
      <vt:lpstr>2_灰白简约科技PPT模板</vt:lpstr>
      <vt:lpstr>PowerPoint 演示文稿</vt:lpstr>
      <vt:lpstr>PowerPoint 演示文稿</vt:lpstr>
      <vt:lpstr>PowerPoint 演示文稿</vt:lpstr>
      <vt:lpstr>PowerPoint 演示文稿</vt:lpstr>
      <vt:lpstr>第六章   Java Web的开发模式</vt:lpstr>
      <vt:lpstr>第六章   Java Web的开发模式</vt:lpstr>
      <vt:lpstr>授课任务</vt:lpstr>
      <vt:lpstr>JavaBean的使用 </vt:lpstr>
      <vt:lpstr>JavaBean的使用 </vt:lpstr>
      <vt:lpstr>JavaBean的使用 </vt:lpstr>
      <vt:lpstr>JavaBean的使用 </vt:lpstr>
      <vt:lpstr>JavaBean的使用 </vt:lpstr>
      <vt:lpstr>JavaBean的使用 </vt:lpstr>
      <vt:lpstr>实战演练 </vt:lpstr>
      <vt:lpstr>实战演练 </vt:lpstr>
      <vt:lpstr>实战演练 </vt:lpstr>
      <vt:lpstr>PowerPoint 演示文稿</vt:lpstr>
      <vt:lpstr>第六章   Java Web的开发模式</vt:lpstr>
      <vt:lpstr>授课任务</vt:lpstr>
      <vt:lpstr>JSP开发模式 </vt:lpstr>
      <vt:lpstr>实战演练 </vt:lpstr>
      <vt:lpstr>第六章   Java Web的开发模式</vt:lpstr>
      <vt:lpstr>授课任务</vt:lpstr>
      <vt:lpstr>JSP开发模式 </vt:lpstr>
      <vt:lpstr>典型模块应用</vt:lpstr>
      <vt:lpstr>本章小结</vt:lpstr>
      <vt:lpstr>本章小结</vt:lpstr>
      <vt:lpstr>实战演练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bt026.pptx</dc:title>
  <dc:creator/>
  <cp:lastModifiedBy>fx</cp:lastModifiedBy>
  <cp:revision>3</cp:revision>
  <dcterms:created xsi:type="dcterms:W3CDTF">2016-09-20T02:06:00Z</dcterms:created>
  <dcterms:modified xsi:type="dcterms:W3CDTF">2026-07-21T11:22:34Z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8BD3B08C32614E3FAB647B8F4B305469_12</vt:lpwstr>
  </property>
  <property fmtid="{D5CDD505-2E9C-101B-9397-08002B2CF9AE}" pid="3" name="KSOProductBuildVer">
    <vt:lpwstr>2052-12.1.0.26895</vt:lpwstr>
  </property>
</Properties>
</file>