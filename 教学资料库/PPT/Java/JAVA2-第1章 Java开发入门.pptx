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80"/>
  </p:handoutMasterIdLst>
  <p:sldIdLst>
    <p:sldId id="1979" r:id="rId4"/>
    <p:sldId id="1980" r:id="rId6"/>
    <p:sldId id="1981" r:id="rId7"/>
    <p:sldId id="1982" r:id="rId8"/>
    <p:sldId id="1983" r:id="rId9"/>
    <p:sldId id="1984" r:id="rId10"/>
    <p:sldId id="1985" r:id="rId11"/>
    <p:sldId id="1986" r:id="rId12"/>
    <p:sldId id="1987" r:id="rId13"/>
    <p:sldId id="1988" r:id="rId14"/>
    <p:sldId id="1989" r:id="rId15"/>
    <p:sldId id="1990" r:id="rId16"/>
    <p:sldId id="1991" r:id="rId17"/>
    <p:sldId id="1992" r:id="rId18"/>
    <p:sldId id="1993" r:id="rId19"/>
    <p:sldId id="1994" r:id="rId20"/>
    <p:sldId id="1995" r:id="rId21"/>
    <p:sldId id="1996" r:id="rId22"/>
    <p:sldId id="1997" r:id="rId23"/>
    <p:sldId id="1998" r:id="rId24"/>
    <p:sldId id="1999" r:id="rId25"/>
    <p:sldId id="2000" r:id="rId26"/>
    <p:sldId id="2001" r:id="rId27"/>
    <p:sldId id="2002" r:id="rId28"/>
    <p:sldId id="2003" r:id="rId29"/>
    <p:sldId id="2004" r:id="rId30"/>
    <p:sldId id="2005" r:id="rId31"/>
    <p:sldId id="2006" r:id="rId32"/>
    <p:sldId id="2008" r:id="rId33"/>
    <p:sldId id="2009" r:id="rId34"/>
    <p:sldId id="2010" r:id="rId35"/>
    <p:sldId id="2011" r:id="rId36"/>
    <p:sldId id="2012" r:id="rId37"/>
    <p:sldId id="2013" r:id="rId38"/>
    <p:sldId id="2014" r:id="rId39"/>
    <p:sldId id="2015" r:id="rId40"/>
    <p:sldId id="2016" r:id="rId41"/>
    <p:sldId id="2017" r:id="rId42"/>
    <p:sldId id="2018" r:id="rId43"/>
    <p:sldId id="2019" r:id="rId44"/>
    <p:sldId id="2052" r:id="rId45"/>
    <p:sldId id="2020" r:id="rId46"/>
    <p:sldId id="2021" r:id="rId47"/>
    <p:sldId id="2022" r:id="rId48"/>
    <p:sldId id="2023" r:id="rId49"/>
    <p:sldId id="2024" r:id="rId50"/>
    <p:sldId id="2025" r:id="rId51"/>
    <p:sldId id="2026" r:id="rId52"/>
    <p:sldId id="2027" r:id="rId53"/>
    <p:sldId id="2028" r:id="rId54"/>
    <p:sldId id="2053" r:id="rId55"/>
    <p:sldId id="2029" r:id="rId56"/>
    <p:sldId id="2031" r:id="rId57"/>
    <p:sldId id="2032" r:id="rId58"/>
    <p:sldId id="2033" r:id="rId59"/>
    <p:sldId id="2034" r:id="rId60"/>
    <p:sldId id="2035" r:id="rId61"/>
    <p:sldId id="2036" r:id="rId62"/>
    <p:sldId id="2037" r:id="rId63"/>
    <p:sldId id="2038" r:id="rId64"/>
    <p:sldId id="2054" r:id="rId65"/>
    <p:sldId id="2039" r:id="rId66"/>
    <p:sldId id="2040" r:id="rId67"/>
    <p:sldId id="2041" r:id="rId68"/>
    <p:sldId id="2042" r:id="rId69"/>
    <p:sldId id="2043" r:id="rId70"/>
    <p:sldId id="2044" r:id="rId71"/>
    <p:sldId id="2045" r:id="rId72"/>
    <p:sldId id="2046" r:id="rId73"/>
    <p:sldId id="2047" r:id="rId74"/>
    <p:sldId id="2055" r:id="rId75"/>
    <p:sldId id="2048" r:id="rId76"/>
    <p:sldId id="2049" r:id="rId77"/>
    <p:sldId id="2050" r:id="rId78"/>
    <p:sldId id="2051" r:id="rId79"/>
  </p:sldIdLst>
  <p:sldSz cx="12190095" cy="6859270"/>
  <p:notesSz cx="6858000" cy="9144000"/>
  <p:custDataLst>
    <p:tags r:id="rId85"/>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1369B2"/>
    <a:srgbClr val="FF0000"/>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71" autoAdjust="0"/>
    <p:restoredTop sz="94660" autoAdjust="0"/>
  </p:normalViewPr>
  <p:slideViewPr>
    <p:cSldViewPr>
      <p:cViewPr>
        <p:scale>
          <a:sx n="97" d="100"/>
          <a:sy n="97" d="100"/>
        </p:scale>
        <p:origin x="136" y="0"/>
      </p:cViewPr>
      <p:guideLst>
        <p:guide orient="horz" pos="2478"/>
        <p:guide pos="720"/>
        <p:guide pos="649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303"/>
        <p:guide pos="2083"/>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5" Type="http://schemas.openxmlformats.org/officeDocument/2006/relationships/tags" Target="tags/tag48.xml"/><Relationship Id="rId84" Type="http://schemas.openxmlformats.org/officeDocument/2006/relationships/commentAuthors" Target="commentAuthors.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9.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0.xml"/><Relationship Id="rId2" Type="http://schemas.openxmlformats.org/officeDocument/2006/relationships/tags" Target="../tags/tag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0.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0.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0.xml"/><Relationship Id="rId2" Type="http://schemas.openxmlformats.org/officeDocument/2006/relationships/tags" Target="../tags/tag19.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0.xml"/><Relationship Id="rId2" Type="http://schemas.openxmlformats.org/officeDocument/2006/relationships/tags" Target="../tags/tag21.xml"/><Relationship Id="rId1" Type="http://schemas.openxmlformats.org/officeDocument/2006/relationships/tags" Target="../tags/tag20.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0.xml"/><Relationship Id="rId2" Type="http://schemas.openxmlformats.org/officeDocument/2006/relationships/tags" Target="../tags/tag23.xml"/><Relationship Id="rId1" Type="http://schemas.openxmlformats.org/officeDocument/2006/relationships/tags" Target="../tags/tag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0.xml"/><Relationship Id="rId3" Type="http://schemas.openxmlformats.org/officeDocument/2006/relationships/tags" Target="../tags/tag25.xml"/><Relationship Id="rId2" Type="http://schemas.openxmlformats.org/officeDocument/2006/relationships/image" Target="../media/image5.jpeg"/><Relationship Id="rId1" Type="http://schemas.openxmlformats.org/officeDocument/2006/relationships/tags" Target="../tags/tag24.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vmlDrawing" Target="../drawings/vmlDrawing1.vml"/><Relationship Id="rId4" Type="http://schemas.openxmlformats.org/officeDocument/2006/relationships/slideLayout" Target="../slideLayouts/slideLayout10.xml"/><Relationship Id="rId3" Type="http://schemas.openxmlformats.org/officeDocument/2006/relationships/tags" Target="../tags/tag26.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vmlDrawing" Target="../drawings/vmlDrawing2.vml"/><Relationship Id="rId4" Type="http://schemas.openxmlformats.org/officeDocument/2006/relationships/slideLayout" Target="../slideLayouts/slideLayout10.xml"/><Relationship Id="rId3" Type="http://schemas.openxmlformats.org/officeDocument/2006/relationships/tags" Target="../tags/tag27.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vmlDrawing" Target="../drawings/vmlDrawing3.vml"/><Relationship Id="rId4" Type="http://schemas.openxmlformats.org/officeDocument/2006/relationships/slideLayout" Target="../slideLayouts/slideLayout10.xml"/><Relationship Id="rId3" Type="http://schemas.openxmlformats.org/officeDocument/2006/relationships/tags" Target="../tags/tag28.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vmlDrawing" Target="../drawings/vmlDrawing4.vml"/><Relationship Id="rId4" Type="http://schemas.openxmlformats.org/officeDocument/2006/relationships/slideLayout" Target="../slideLayouts/slideLayout10.xml"/><Relationship Id="rId3" Type="http://schemas.openxmlformats.org/officeDocument/2006/relationships/tags" Target="../tags/tag29.xml"/><Relationship Id="rId2" Type="http://schemas.openxmlformats.org/officeDocument/2006/relationships/image" Target="../media/image9.wmf"/><Relationship Id="rId1"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0.xml"/><Relationship Id="rId2" Type="http://schemas.openxmlformats.org/officeDocument/2006/relationships/image" Target="../media/image10.png"/><Relationship Id="rId1" Type="http://schemas.openxmlformats.org/officeDocument/2006/relationships/tags" Target="../tags/tag3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0.xml"/><Relationship Id="rId2" Type="http://schemas.openxmlformats.org/officeDocument/2006/relationships/image" Target="../media/image11.png"/><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0.xml"/><Relationship Id="rId2" Type="http://schemas.openxmlformats.org/officeDocument/2006/relationships/tags" Target="../tags/tag32.xml"/><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33.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vmlDrawing" Target="../drawings/vmlDrawing5.vml"/><Relationship Id="rId3" Type="http://schemas.openxmlformats.org/officeDocument/2006/relationships/slideLayout" Target="../slideLayouts/slideLayout10.xml"/><Relationship Id="rId2" Type="http://schemas.openxmlformats.org/officeDocument/2006/relationships/image" Target="../media/image13.wmf"/><Relationship Id="rId1" Type="http://schemas.openxmlformats.org/officeDocument/2006/relationships/oleObject" Target="../embeddings/oleObject5.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image" Target="../media/image16.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vmlDrawing" Target="../drawings/vmlDrawing6.vml"/><Relationship Id="rId3" Type="http://schemas.openxmlformats.org/officeDocument/2006/relationships/slideLayout" Target="../slideLayouts/slideLayout10.xml"/><Relationship Id="rId2" Type="http://schemas.openxmlformats.org/officeDocument/2006/relationships/image" Target="../media/image17.wmf"/><Relationship Id="rId1" Type="http://schemas.openxmlformats.org/officeDocument/2006/relationships/oleObject" Target="../embeddings/oleObject6.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tags" Target="../tags/tag34.xml"/></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10.xml"/><Relationship Id="rId3" Type="http://schemas.openxmlformats.org/officeDocument/2006/relationships/image" Target="../media/image11.png"/><Relationship Id="rId2" Type="http://schemas.openxmlformats.org/officeDocument/2006/relationships/tags" Target="../tags/tag36.xml"/><Relationship Id="rId1" Type="http://schemas.openxmlformats.org/officeDocument/2006/relationships/tags" Target="../tags/tag35.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0.xml"/><Relationship Id="rId2" Type="http://schemas.openxmlformats.org/officeDocument/2006/relationships/image" Target="../media/image18.png"/><Relationship Id="rId1" Type="http://schemas.openxmlformats.org/officeDocument/2006/relationships/tags" Target="../tags/tag3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tags" Target="../tags/tag3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tags" Target="../tags/tag39.xml"/></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vmlDrawing" Target="../drawings/vmlDrawing7.vml"/><Relationship Id="rId4" Type="http://schemas.openxmlformats.org/officeDocument/2006/relationships/slideLayout" Target="../slideLayouts/slideLayout10.xml"/><Relationship Id="rId3" Type="http://schemas.openxmlformats.org/officeDocument/2006/relationships/tags" Target="../tags/tag40.xml"/><Relationship Id="rId2" Type="http://schemas.openxmlformats.org/officeDocument/2006/relationships/image" Target="../media/image19.emf"/><Relationship Id="rId1" Type="http://schemas.openxmlformats.org/officeDocument/2006/relationships/oleObject" Target="../embeddings/oleObject7.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0.xml"/><Relationship Id="rId2" Type="http://schemas.openxmlformats.org/officeDocument/2006/relationships/tags" Target="../tags/tag41.xml"/><Relationship Id="rId1" Type="http://schemas.openxmlformats.org/officeDocument/2006/relationships/image" Target="../media/image21.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vmlDrawing" Target="../drawings/vmlDrawing8.vml"/><Relationship Id="rId3" Type="http://schemas.openxmlformats.org/officeDocument/2006/relationships/slideLayout" Target="../slideLayouts/slideLayout10.xml"/><Relationship Id="rId2" Type="http://schemas.openxmlformats.org/officeDocument/2006/relationships/image" Target="../media/image22.wmf"/><Relationship Id="rId1" Type="http://schemas.openxmlformats.org/officeDocument/2006/relationships/oleObject" Target="../embeddings/oleObject8.bin"/></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vmlDrawing" Target="../drawings/vmlDrawing9.vml"/><Relationship Id="rId3" Type="http://schemas.openxmlformats.org/officeDocument/2006/relationships/slideLayout" Target="../slideLayouts/slideLayout10.xml"/><Relationship Id="rId2" Type="http://schemas.openxmlformats.org/officeDocument/2006/relationships/image" Target="../media/image23.wmf"/><Relationship Id="rId1" Type="http://schemas.openxmlformats.org/officeDocument/2006/relationships/oleObject" Target="../embeddings/oleObject9.bin"/></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vmlDrawing" Target="../drawings/vmlDrawing10.vml"/><Relationship Id="rId3" Type="http://schemas.openxmlformats.org/officeDocument/2006/relationships/slideLayout" Target="../slideLayouts/slideLayout10.xml"/><Relationship Id="rId2" Type="http://schemas.openxmlformats.org/officeDocument/2006/relationships/image" Target="../media/image24.wmf"/><Relationship Id="rId1" Type="http://schemas.openxmlformats.org/officeDocument/2006/relationships/oleObject" Target="../embeddings/oleObject10.bin"/></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57.xml"/><Relationship Id="rId4" Type="http://schemas.openxmlformats.org/officeDocument/2006/relationships/vmlDrawing" Target="../drawings/vmlDrawing11.vml"/><Relationship Id="rId3" Type="http://schemas.openxmlformats.org/officeDocument/2006/relationships/slideLayout" Target="../slideLayouts/slideLayout10.xml"/><Relationship Id="rId2" Type="http://schemas.openxmlformats.org/officeDocument/2006/relationships/image" Target="../media/image25.wmf"/><Relationship Id="rId1" Type="http://schemas.openxmlformats.org/officeDocument/2006/relationships/oleObject" Target="../embeddings/oleObject11.bin"/></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vmlDrawing" Target="../drawings/vmlDrawing12.vml"/><Relationship Id="rId3" Type="http://schemas.openxmlformats.org/officeDocument/2006/relationships/slideLayout" Target="../slideLayouts/slideLayout10.xml"/><Relationship Id="rId2" Type="http://schemas.openxmlformats.org/officeDocument/2006/relationships/image" Target="../media/image26.wmf"/><Relationship Id="rId1" Type="http://schemas.openxmlformats.org/officeDocument/2006/relationships/oleObject" Target="../embeddings/oleObject12.bin"/></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59.xml"/><Relationship Id="rId4" Type="http://schemas.openxmlformats.org/officeDocument/2006/relationships/vmlDrawing" Target="../drawings/vmlDrawing13.vml"/><Relationship Id="rId3" Type="http://schemas.openxmlformats.org/officeDocument/2006/relationships/slideLayout" Target="../slideLayouts/slideLayout10.xml"/><Relationship Id="rId2" Type="http://schemas.openxmlformats.org/officeDocument/2006/relationships/image" Target="../media/image27.wmf"/><Relationship Id="rId1" Type="http://schemas.openxmlformats.org/officeDocument/2006/relationships/oleObject" Target="../embeddings/oleObject13.bin"/></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0.xml"/><Relationship Id="rId2" Type="http://schemas.openxmlformats.org/officeDocument/2006/relationships/tags" Target="../tags/tag42.xml"/><Relationship Id="rId1" Type="http://schemas.openxmlformats.org/officeDocument/2006/relationships/image" Target="../media/image28.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62.xml"/><Relationship Id="rId5" Type="http://schemas.openxmlformats.org/officeDocument/2006/relationships/vmlDrawing" Target="../drawings/vmlDrawing14.vml"/><Relationship Id="rId4" Type="http://schemas.openxmlformats.org/officeDocument/2006/relationships/slideLayout" Target="../slideLayouts/slideLayout10.xml"/><Relationship Id="rId3" Type="http://schemas.openxmlformats.org/officeDocument/2006/relationships/tags" Target="../tags/tag43.xml"/><Relationship Id="rId2" Type="http://schemas.openxmlformats.org/officeDocument/2006/relationships/image" Target="../media/image29.wmf"/><Relationship Id="rId1" Type="http://schemas.openxmlformats.org/officeDocument/2006/relationships/oleObject" Target="../embeddings/oleObject14.bin"/></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vmlDrawing" Target="../drawings/vmlDrawing15.vml"/><Relationship Id="rId3" Type="http://schemas.openxmlformats.org/officeDocument/2006/relationships/slideLayout" Target="../slideLayouts/slideLayout10.xml"/><Relationship Id="rId2" Type="http://schemas.openxmlformats.org/officeDocument/2006/relationships/image" Target="../media/image30.wmf"/><Relationship Id="rId1" Type="http://schemas.openxmlformats.org/officeDocument/2006/relationships/oleObject" Target="../embeddings/oleObject15.bin"/></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64.xml"/><Relationship Id="rId4" Type="http://schemas.openxmlformats.org/officeDocument/2006/relationships/vmlDrawing" Target="../drawings/vmlDrawing16.vml"/><Relationship Id="rId3" Type="http://schemas.openxmlformats.org/officeDocument/2006/relationships/slideLayout" Target="../slideLayouts/slideLayout10.xml"/><Relationship Id="rId2" Type="http://schemas.openxmlformats.org/officeDocument/2006/relationships/image" Target="../media/image31.wmf"/><Relationship Id="rId1" Type="http://schemas.openxmlformats.org/officeDocument/2006/relationships/oleObject" Target="../embeddings/oleObject16.bin"/></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65.xml"/><Relationship Id="rId4" Type="http://schemas.openxmlformats.org/officeDocument/2006/relationships/vmlDrawing" Target="../drawings/vmlDrawing17.vml"/><Relationship Id="rId3" Type="http://schemas.openxmlformats.org/officeDocument/2006/relationships/slideLayout" Target="../slideLayouts/slideLayout10.xml"/><Relationship Id="rId2" Type="http://schemas.openxmlformats.org/officeDocument/2006/relationships/image" Target="../media/image32.wmf"/><Relationship Id="rId1" Type="http://schemas.openxmlformats.org/officeDocument/2006/relationships/oleObject" Target="../embeddings/oleObject17.bin"/></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66.xml"/><Relationship Id="rId4" Type="http://schemas.openxmlformats.org/officeDocument/2006/relationships/vmlDrawing" Target="../drawings/vmlDrawing18.vml"/><Relationship Id="rId3" Type="http://schemas.openxmlformats.org/officeDocument/2006/relationships/slideLayout" Target="../slideLayouts/slideLayout10.xml"/><Relationship Id="rId2" Type="http://schemas.openxmlformats.org/officeDocument/2006/relationships/image" Target="../media/image33.wmf"/><Relationship Id="rId1" Type="http://schemas.openxmlformats.org/officeDocument/2006/relationships/oleObject" Target="../embeddings/oleObject18.bin"/></Relationships>
</file>

<file path=ppt/slides/_rels/slide67.xml.rels><?xml version="1.0" encoding="UTF-8" standalone="yes"?>
<Relationships xmlns="http://schemas.openxmlformats.org/package/2006/relationships"><Relationship Id="rId6" Type="http://schemas.openxmlformats.org/officeDocument/2006/relationships/notesSlide" Target="../notesSlides/notesSlide67.xml"/><Relationship Id="rId5" Type="http://schemas.openxmlformats.org/officeDocument/2006/relationships/vmlDrawing" Target="../drawings/vmlDrawing19.vml"/><Relationship Id="rId4" Type="http://schemas.openxmlformats.org/officeDocument/2006/relationships/slideLayout" Target="../slideLayouts/slideLayout10.xml"/><Relationship Id="rId3" Type="http://schemas.openxmlformats.org/officeDocument/2006/relationships/tags" Target="../tags/tag44.xml"/><Relationship Id="rId2" Type="http://schemas.openxmlformats.org/officeDocument/2006/relationships/image" Target="../media/image34.wmf"/><Relationship Id="rId1" Type="http://schemas.openxmlformats.org/officeDocument/2006/relationships/oleObject" Target="../embeddings/oleObject19.bin"/></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68.xml"/><Relationship Id="rId4" Type="http://schemas.openxmlformats.org/officeDocument/2006/relationships/vmlDrawing" Target="../drawings/vmlDrawing20.vml"/><Relationship Id="rId3" Type="http://schemas.openxmlformats.org/officeDocument/2006/relationships/slideLayout" Target="../slideLayouts/slideLayout10.xml"/><Relationship Id="rId2" Type="http://schemas.openxmlformats.org/officeDocument/2006/relationships/image" Target="../media/image35.wmf"/><Relationship Id="rId1" Type="http://schemas.openxmlformats.org/officeDocument/2006/relationships/oleObject" Target="../embeddings/oleObject20.bin"/></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69.xml"/><Relationship Id="rId4" Type="http://schemas.openxmlformats.org/officeDocument/2006/relationships/vmlDrawing" Target="../drawings/vmlDrawing21.vml"/><Relationship Id="rId3" Type="http://schemas.openxmlformats.org/officeDocument/2006/relationships/slideLayout" Target="../slideLayouts/slideLayout10.xml"/><Relationship Id="rId2" Type="http://schemas.openxmlformats.org/officeDocument/2006/relationships/image" Target="../media/image36.wmf"/><Relationship Id="rId1" Type="http://schemas.openxmlformats.org/officeDocument/2006/relationships/oleObject" Target="../embeddings/oleObject21.bin"/></Relationships>
</file>

<file path=ppt/slides/_rels/slide70.xml.rels><?xml version="1.0" encoding="UTF-8" standalone="yes"?>
<Relationships xmlns="http://schemas.openxmlformats.org/package/2006/relationships"><Relationship Id="rId7" Type="http://schemas.openxmlformats.org/officeDocument/2006/relationships/notesSlide" Target="../notesSlides/notesSlide70.xml"/><Relationship Id="rId6" Type="http://schemas.openxmlformats.org/officeDocument/2006/relationships/vmlDrawing" Target="../drawings/vmlDrawing22.vml"/><Relationship Id="rId5" Type="http://schemas.openxmlformats.org/officeDocument/2006/relationships/slideLayout" Target="../slideLayouts/slideLayout10.xml"/><Relationship Id="rId4" Type="http://schemas.openxmlformats.org/officeDocument/2006/relationships/tags" Target="../tags/tag45.xml"/><Relationship Id="rId3" Type="http://schemas.openxmlformats.org/officeDocument/2006/relationships/image" Target="../media/image38.wmf"/><Relationship Id="rId2" Type="http://schemas.openxmlformats.org/officeDocument/2006/relationships/oleObject" Target="../embeddings/oleObject22.bin"/><Relationship Id="rId1" Type="http://schemas.openxmlformats.org/officeDocument/2006/relationships/image" Target="../media/image37.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6" Type="http://schemas.openxmlformats.org/officeDocument/2006/relationships/notesSlide" Target="../notesSlides/notesSlide72.xml"/><Relationship Id="rId5" Type="http://schemas.openxmlformats.org/officeDocument/2006/relationships/vmlDrawing" Target="../drawings/vmlDrawing23.vml"/><Relationship Id="rId4" Type="http://schemas.openxmlformats.org/officeDocument/2006/relationships/slideLayout" Target="../slideLayouts/slideLayout10.xml"/><Relationship Id="rId3" Type="http://schemas.openxmlformats.org/officeDocument/2006/relationships/image" Target="../media/image40.wmf"/><Relationship Id="rId2" Type="http://schemas.openxmlformats.org/officeDocument/2006/relationships/oleObject" Target="../embeddings/oleObject23.bin"/><Relationship Id="rId1" Type="http://schemas.openxmlformats.org/officeDocument/2006/relationships/image" Target="../media/image39.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10.xml"/><Relationship Id="rId2" Type="http://schemas.openxmlformats.org/officeDocument/2006/relationships/tags" Target="../tags/tag47.xml"/><Relationship Id="rId1" Type="http://schemas.openxmlformats.org/officeDocument/2006/relationships/tags" Target="../tags/tag4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1</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Java</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开发入门</a:t>
            </a:r>
            <a:endPar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5663205" y="3935264"/>
            <a:ext cx="4824001"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9206" y="2421794"/>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，能够简述Java的</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特点</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发展史</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948" y="3353169"/>
            <a:ext cx="856107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掌握Java</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开发环境</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（JDK）的搭建，能够独立</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安装JDK</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1557948" y="4282004"/>
            <a:ext cx="8561070" cy="685801"/>
            <a:chOff x="978872" y="2570437"/>
            <a:chExt cx="5437064" cy="514351"/>
          </a:xfrm>
        </p:grpSpPr>
        <p:sp>
          <p:nvSpPr>
            <p:cNvPr id="10"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Java程序</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基本操作</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，能够独立完成第一个Java程序的</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编写</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9" name="组合 18"/>
          <p:cNvGrpSpPr/>
          <p:nvPr/>
        </p:nvGrpSpPr>
        <p:grpSpPr>
          <a:xfrm>
            <a:off x="1420948" y="2421794"/>
            <a:ext cx="9348515" cy="685801"/>
            <a:chOff x="978872" y="2570437"/>
            <a:chExt cx="5937164" cy="514351"/>
          </a:xfrm>
        </p:grpSpPr>
        <p:sp>
          <p:nvSpPr>
            <p:cNvPr id="20" name="Pentagon 5"/>
            <p:cNvSpPr/>
            <p:nvPr/>
          </p:nvSpPr>
          <p:spPr bwMode="auto">
            <a:xfrm>
              <a:off x="978872" y="2570438"/>
              <a:ext cx="59371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系统环境变量</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的配置，能够独立完成</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PATH</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CLASSPATH</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环境变量的配置。</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2" name="组合 21"/>
          <p:cNvGrpSpPr/>
          <p:nvPr/>
        </p:nvGrpSpPr>
        <p:grpSpPr>
          <a:xfrm>
            <a:off x="1429826" y="3307539"/>
            <a:ext cx="9339638" cy="717156"/>
            <a:chOff x="978872" y="2570437"/>
            <a:chExt cx="5519987" cy="537867"/>
          </a:xfrm>
        </p:grpSpPr>
        <p:sp>
          <p:nvSpPr>
            <p:cNvPr id="23" name="Pentagon 5"/>
            <p:cNvSpPr/>
            <p:nvPr/>
          </p:nvSpPr>
          <p:spPr bwMode="auto">
            <a:xfrm>
              <a:off x="978872" y="2593954"/>
              <a:ext cx="5519987"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了解Java的</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运行机制</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，能够简述Java的编译运行过程</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5" name="组合 24"/>
          <p:cNvGrpSpPr/>
          <p:nvPr/>
        </p:nvGrpSpPr>
        <p:grpSpPr>
          <a:xfrm>
            <a:off x="1429826" y="4255993"/>
            <a:ext cx="9339638" cy="685801"/>
            <a:chOff x="978872" y="2570437"/>
            <a:chExt cx="5931526" cy="514351"/>
          </a:xfrm>
        </p:grpSpPr>
        <p:sp>
          <p:nvSpPr>
            <p:cNvPr id="26" name="Pentagon 5"/>
            <p:cNvSpPr/>
            <p:nvPr/>
          </p:nvSpPr>
          <p:spPr bwMode="auto">
            <a:xfrm>
              <a:off x="978872" y="2570438"/>
              <a:ext cx="5931526"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rPr>
                <a:t>掌握</a:t>
              </a:r>
              <a:r>
                <a:rPr lang="zh-CN" altLang="en-US" dirty="0">
                  <a:solidFill>
                    <a:srgbClr val="1369B2"/>
                  </a:solidFill>
                  <a:latin typeface="微软雅黑" panose="020B0503020204020204" pitchFamily="34" charset="-122"/>
                  <a:ea typeface="微软雅黑" panose="020B0503020204020204" pitchFamily="34" charset="-122"/>
                  <a:cs typeface="+mn-ea"/>
                </a:rPr>
                <a:t>IntelliJ IDEA</a:t>
              </a:r>
              <a:r>
                <a:rPr lang="zh-CN" altLang="en-US" dirty="0">
                  <a:solidFill>
                    <a:srgbClr val="595959"/>
                  </a:solidFill>
                  <a:latin typeface="微软雅黑" panose="020B0503020204020204" pitchFamily="34" charset="-122"/>
                  <a:ea typeface="微软雅黑" panose="020B0503020204020204" pitchFamily="34" charset="-122"/>
                  <a:cs typeface="+mn-ea"/>
                </a:rPr>
                <a:t>开发工具的基本用法，能够独立</a:t>
              </a:r>
              <a:r>
                <a:rPr lang="zh-CN" altLang="en-US" dirty="0">
                  <a:solidFill>
                    <a:srgbClr val="1369B2"/>
                  </a:solidFill>
                  <a:latin typeface="微软雅黑" panose="020B0503020204020204" pitchFamily="34" charset="-122"/>
                  <a:ea typeface="微软雅黑" panose="020B0503020204020204" pitchFamily="34" charset="-122"/>
                  <a:cs typeface="+mn-ea"/>
                </a:rPr>
                <a:t>安装</a:t>
              </a:r>
              <a:r>
                <a:rPr lang="zh-CN" altLang="en-US" dirty="0">
                  <a:solidFill>
                    <a:srgbClr val="595959"/>
                  </a:solidFill>
                  <a:latin typeface="微软雅黑" panose="020B0503020204020204" pitchFamily="34" charset="-122"/>
                  <a:ea typeface="微软雅黑" panose="020B0503020204020204" pitchFamily="34" charset="-122"/>
                  <a:cs typeface="+mn-ea"/>
                </a:rPr>
                <a:t>IntelliJ IDEA并使用它</a:t>
              </a:r>
              <a:r>
                <a:rPr lang="zh-CN" altLang="en-US" dirty="0">
                  <a:solidFill>
                    <a:srgbClr val="1369B2"/>
                  </a:solidFill>
                  <a:latin typeface="微软雅黑" panose="020B0503020204020204" pitchFamily="34" charset="-122"/>
                  <a:ea typeface="微软雅黑" panose="020B0503020204020204" pitchFamily="34" charset="-122"/>
                  <a:cs typeface="+mn-ea"/>
                </a:rPr>
                <a:t>开发</a:t>
              </a:r>
              <a:r>
                <a:rPr lang="zh-CN" altLang="en-US" dirty="0">
                  <a:solidFill>
                    <a:srgbClr val="595959"/>
                  </a:solidFill>
                  <a:latin typeface="微软雅黑" panose="020B0503020204020204" pitchFamily="34" charset="-122"/>
                  <a:ea typeface="微软雅黑" panose="020B0503020204020204" pitchFamily="34" charset="-122"/>
                  <a:cs typeface="+mn-ea"/>
                </a:rPr>
                <a:t>与</a:t>
              </a:r>
              <a:r>
                <a:rPr lang="zh-CN" altLang="en-US" dirty="0">
                  <a:solidFill>
                    <a:srgbClr val="1369B2"/>
                  </a:solidFill>
                  <a:latin typeface="微软雅黑" panose="020B0503020204020204" pitchFamily="34" charset="-122"/>
                  <a:ea typeface="微软雅黑" panose="020B0503020204020204" pitchFamily="34" charset="-122"/>
                  <a:cs typeface="+mn-ea"/>
                </a:rPr>
                <a:t>调试</a:t>
              </a:r>
              <a:r>
                <a:rPr lang="zh-CN" altLang="en-US" dirty="0">
                  <a:solidFill>
                    <a:srgbClr val="595959"/>
                  </a:solidFill>
                  <a:latin typeface="微软雅黑" panose="020B0503020204020204" pitchFamily="34" charset="-122"/>
                  <a:ea typeface="微软雅黑" panose="020B0503020204020204" pitchFamily="34" charset="-122"/>
                  <a:cs typeface="+mn-ea"/>
                </a:rPr>
                <a:t>。</a:t>
              </a:r>
              <a:endParaRPr lang="zh-CN" altLang="en-US" dirty="0">
                <a:solidFill>
                  <a:srgbClr val="595959"/>
                </a:solidFill>
                <a:latin typeface="微软雅黑" panose="020B0503020204020204" pitchFamily="34" charset="-122"/>
                <a:ea typeface="微软雅黑" panose="020B0503020204020204" pitchFamily="34" charset="-122"/>
                <a:cs typeface="+mn-ea"/>
              </a:endParaRPr>
            </a:p>
          </p:txBody>
        </p:sp>
        <p:sp>
          <p:nvSpPr>
            <p:cNvPr id="2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911206" y="2681470"/>
            <a:ext cx="5688000" cy="2838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Java</a:t>
            </a:r>
            <a:r>
              <a:rPr lang="zh-CN" altLang="zh-CN" sz="2000" dirty="0">
                <a:solidFill>
                  <a:srgbClr val="595959"/>
                </a:solidFill>
                <a:latin typeface="微软雅黑" panose="020B0503020204020204" pitchFamily="34" charset="-122"/>
                <a:ea typeface="微软雅黑" panose="020B0503020204020204" pitchFamily="34" charset="-122"/>
              </a:rPr>
              <a:t>是一门</a:t>
            </a:r>
            <a:r>
              <a:rPr lang="zh-CN" altLang="en-US" sz="2000" dirty="0">
                <a:solidFill>
                  <a:srgbClr val="1369B2"/>
                </a:solidFill>
                <a:latin typeface="微软雅黑" panose="020B0503020204020204" pitchFamily="34" charset="-122"/>
                <a:ea typeface="微软雅黑" panose="020B0503020204020204" pitchFamily="34" charset="-122"/>
                <a:cs typeface="+mn-ea"/>
              </a:rPr>
              <a:t>高级程序设计语言</a:t>
            </a:r>
            <a:r>
              <a:rPr lang="zh-CN" altLang="zh-CN" sz="2000" dirty="0">
                <a:solidFill>
                  <a:srgbClr val="595959"/>
                </a:solidFill>
                <a:latin typeface="微软雅黑" panose="020B0503020204020204" pitchFamily="34" charset="-122"/>
                <a:ea typeface="微软雅黑" panose="020B0503020204020204" pitchFamily="34" charset="-122"/>
              </a:rPr>
              <a:t>，自问世以来，</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就受到了前所未有的关注，并成为计算机、移动电话、家用电器等领域中最受欢迎的开发语言之一。本章将针对</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语言的</a:t>
            </a:r>
            <a:r>
              <a:rPr lang="zh-CN" altLang="en-US" sz="2000" dirty="0">
                <a:solidFill>
                  <a:srgbClr val="1369B2"/>
                </a:solidFill>
                <a:latin typeface="微软雅黑" panose="020B0503020204020204" pitchFamily="34" charset="-122"/>
                <a:ea typeface="微软雅黑" panose="020B0503020204020204" pitchFamily="34" charset="-122"/>
                <a:cs typeface="+mn-ea"/>
              </a:rPr>
              <a:t>特点</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发展史</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开发运行环境</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运行机制</a:t>
            </a:r>
            <a:r>
              <a:rPr lang="zh-CN" altLang="zh-CN" sz="2000" dirty="0">
                <a:solidFill>
                  <a:srgbClr val="595959"/>
                </a:solidFill>
                <a:latin typeface="微软雅黑" panose="020B0503020204020204" pitchFamily="34" charset="-122"/>
                <a:ea typeface="微软雅黑" panose="020B0503020204020204" pitchFamily="34" charset="-122"/>
              </a:rPr>
              <a:t>以及</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a:t>
            </a:r>
            <a:r>
              <a:rPr lang="zh-CN" altLang="en-US" sz="2000" dirty="0">
                <a:solidFill>
                  <a:srgbClr val="1369B2"/>
                </a:solidFill>
                <a:latin typeface="微软雅黑" panose="020B0503020204020204" pitchFamily="34" charset="-122"/>
                <a:ea typeface="微软雅黑" panose="020B0503020204020204" pitchFamily="34" charset="-122"/>
                <a:cs typeface="+mn-ea"/>
              </a:rPr>
              <a:t>开发工具</a:t>
            </a:r>
            <a:r>
              <a:rPr lang="zh-CN" altLang="zh-CN" sz="2000" dirty="0">
                <a:solidFill>
                  <a:srgbClr val="595959"/>
                </a:solidFill>
                <a:latin typeface="微软雅黑" panose="020B0503020204020204" pitchFamily="34" charset="-122"/>
                <a:ea typeface="微软雅黑" panose="020B0503020204020204" pitchFamily="34" charset="-122"/>
              </a:rPr>
              <a:t>等内容进行介绍</a:t>
            </a:r>
            <a:r>
              <a:rPr lang="zh-CN" sz="2000" dirty="0">
                <a:solidFill>
                  <a:srgbClr val="595959"/>
                </a:solidFill>
                <a:latin typeface="微软雅黑" panose="020B0503020204020204" pitchFamily="34" charset="-122"/>
                <a:ea typeface="微软雅黑" panose="020B0503020204020204" pitchFamily="34" charset="-122"/>
              </a:rPr>
              <a:t>。</a:t>
            </a:r>
            <a:endParaRPr lang="zh-CN" sz="2000" dirty="0">
              <a:solidFill>
                <a:srgbClr val="595959"/>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925275" y="2840831"/>
            <a:ext cx="4353932" cy="252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2999206" y="2514495"/>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2999206" y="3496564"/>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2999206" y="4471269"/>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3904758" y="2505616"/>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概述</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3904758" y="3479738"/>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JDK</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的使用</a:t>
              </a:r>
              <a:endParaRPr lang="zh-CN" altLang="en-GB"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3904758" y="4449616"/>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第一个</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Java</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程序</a:t>
              </a:r>
              <a:endParaRPr 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1" name="组合 20"/>
          <p:cNvGrpSpPr/>
          <p:nvPr/>
        </p:nvGrpSpPr>
        <p:grpSpPr>
          <a:xfrm>
            <a:off x="2999206" y="2502673"/>
            <a:ext cx="1192190" cy="613062"/>
            <a:chOff x="2215144" y="982844"/>
            <a:chExt cx="1244730" cy="842780"/>
          </a:xfrm>
        </p:grpSpPr>
        <p:sp>
          <p:nvSpPr>
            <p:cNvPr id="22" name="平行四边形 21"/>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3"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4" name="组合 23"/>
          <p:cNvGrpSpPr/>
          <p:nvPr/>
        </p:nvGrpSpPr>
        <p:grpSpPr>
          <a:xfrm>
            <a:off x="2999206" y="3488584"/>
            <a:ext cx="1192190" cy="618406"/>
            <a:chOff x="2215144" y="2026500"/>
            <a:chExt cx="1244730" cy="850129"/>
          </a:xfrm>
        </p:grpSpPr>
        <p:sp>
          <p:nvSpPr>
            <p:cNvPr id="25" name="平行四边形 24"/>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6"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2999206" y="4471269"/>
            <a:ext cx="1192190" cy="614525"/>
            <a:chOff x="2215144" y="3084852"/>
            <a:chExt cx="1244730" cy="844793"/>
          </a:xfrm>
        </p:grpSpPr>
        <p:sp>
          <p:nvSpPr>
            <p:cNvPr id="28" name="平行四边形 27"/>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3904758" y="2493794"/>
            <a:ext cx="5496560" cy="612775"/>
            <a:chOff x="4315150" y="953426"/>
            <a:chExt cx="4122956" cy="539804"/>
          </a:xfrm>
        </p:grpSpPr>
        <p:sp>
          <p:nvSpPr>
            <p:cNvPr id="31" name="矩形 3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系统环境变量</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2" name="平行四边形 3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3" name="组合 32"/>
          <p:cNvGrpSpPr/>
          <p:nvPr/>
        </p:nvGrpSpPr>
        <p:grpSpPr>
          <a:xfrm>
            <a:off x="3904758" y="3471758"/>
            <a:ext cx="5496560" cy="612775"/>
            <a:chOff x="4315150" y="1647579"/>
            <a:chExt cx="4122956" cy="539804"/>
          </a:xfrm>
        </p:grpSpPr>
        <p:sp>
          <p:nvSpPr>
            <p:cNvPr id="34" name="矩形 33"/>
            <p:cNvSpPr/>
            <p:nvPr/>
          </p:nvSpPr>
          <p:spPr>
            <a:xfrm>
              <a:off x="4840998" y="1730368"/>
              <a:ext cx="3238445"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的运行机制</a:t>
              </a:r>
              <a:endParaRPr lang="zh-CN" altLang="en-GB"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5" name="平行四边形 3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6" name="组合 35"/>
          <p:cNvGrpSpPr/>
          <p:nvPr/>
        </p:nvGrpSpPr>
        <p:grpSpPr>
          <a:xfrm>
            <a:off x="3904758" y="4449616"/>
            <a:ext cx="5496560" cy="612775"/>
            <a:chOff x="4315150" y="2341731"/>
            <a:chExt cx="4122956" cy="539804"/>
          </a:xfrm>
        </p:grpSpPr>
        <p:sp>
          <p:nvSpPr>
            <p:cNvPr id="37" name="矩形 36"/>
            <p:cNvSpPr/>
            <p:nvPr/>
          </p:nvSpPr>
          <p:spPr>
            <a:xfrm>
              <a:off x="4840998" y="2424520"/>
              <a:ext cx="3437543" cy="331154"/>
            </a:xfrm>
            <a:prstGeom prst="rect">
              <a:avLst/>
            </a:prstGeom>
            <a:ln w="15875">
              <a:noFill/>
            </a:ln>
          </p:spPr>
          <p:txBody>
            <a:bodyPr wrap="square" lIns="68580" tIns="34290" rIns="68580" bIns="34290">
              <a:spAutoFit/>
            </a:bodyPr>
            <a:lstStyle/>
            <a:p>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IntelliJ IDEA</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开发工具</a:t>
              </a:r>
              <a:endParaRPr 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38" name="平行四边形 3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4359275"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概述</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什么是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6187440" cy="567055"/>
            <a:chOff x="8472" y="5316"/>
            <a:chExt cx="9744" cy="893"/>
          </a:xfrm>
        </p:grpSpPr>
        <p:sp>
          <p:nvSpPr>
            <p:cNvPr id="15" name="TextBox 35"/>
            <p:cNvSpPr txBox="1">
              <a:spLocks noChangeArrowheads="1"/>
            </p:cNvSpPr>
            <p:nvPr/>
          </p:nvSpPr>
          <p:spPr bwMode="auto">
            <a:xfrm>
              <a:off x="9159" y="5316"/>
              <a:ext cx="9057" cy="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了解什么是Java，能够说出</a:t>
              </a:r>
              <a:r>
                <a:rPr lang="en-US" altLang="zh-CN" sz="2000" dirty="0">
                  <a:solidFill>
                    <a:srgbClr val="1369B2"/>
                  </a:solidFill>
                  <a:latin typeface="微软雅黑" panose="020B0503020204020204" pitchFamily="34" charset="-122"/>
                  <a:ea typeface="微软雅黑" panose="020B0503020204020204" pitchFamily="34" charset="-122"/>
                </a:rPr>
                <a:t>Java</a:t>
              </a:r>
              <a:r>
                <a:rPr lang="zh-CN" altLang="en-US" sz="2000" dirty="0">
                  <a:solidFill>
                    <a:srgbClr val="1369B2"/>
                  </a:solidFill>
                  <a:latin typeface="微软雅黑" panose="020B0503020204020204" pitchFamily="34" charset="-122"/>
                  <a:ea typeface="微软雅黑" panose="020B0503020204020204" pitchFamily="34" charset="-122"/>
                </a:rPr>
                <a:t>的三个技术平台</a:t>
              </a:r>
              <a:endParaRPr lang="zh-CN" altLang="en-US" sz="2000" dirty="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什么是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4" name="文本框 18"/>
          <p:cNvSpPr txBox="1"/>
          <p:nvPr>
            <p:custDataLst>
              <p:tags r:id="rId1"/>
            </p:custDataLst>
          </p:nvPr>
        </p:nvSpPr>
        <p:spPr>
          <a:xfrm>
            <a:off x="1272289" y="2558309"/>
            <a:ext cx="9754962" cy="232727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indent="539750" algn="l">
              <a:lnSpc>
                <a:spcPct val="150000"/>
              </a:lnSpc>
            </a:pPr>
            <a:r>
              <a:rPr lang="en-US" altLang="zh-CN" sz="2000" dirty="0">
                <a:solidFill>
                  <a:srgbClr val="1369B2"/>
                </a:solidFill>
                <a:latin typeface="微软雅黑" panose="020B0503020204020204" pitchFamily="34" charset="-122"/>
                <a:sym typeface="+mn-ea"/>
              </a:rPr>
              <a:t>Java</a:t>
            </a:r>
            <a:r>
              <a:rPr lang="zh-CN" altLang="zh-CN" sz="2000" dirty="0">
                <a:solidFill>
                  <a:srgbClr val="595959"/>
                </a:solidFill>
                <a:latin typeface="微软雅黑" panose="020B0503020204020204" pitchFamily="34" charset="-122"/>
                <a:sym typeface="+mn-ea"/>
              </a:rPr>
              <a:t>是一种</a:t>
            </a:r>
            <a:r>
              <a:rPr lang="zh-CN" altLang="zh-CN" sz="2000" dirty="0">
                <a:solidFill>
                  <a:srgbClr val="1369B2"/>
                </a:solidFill>
                <a:latin typeface="微软雅黑" panose="020B0503020204020204" pitchFamily="34" charset="-122"/>
                <a:sym typeface="+mn-ea"/>
              </a:rPr>
              <a:t>高级计算机语言</a:t>
            </a:r>
            <a:r>
              <a:rPr lang="zh-CN" altLang="zh-CN" sz="2000" dirty="0">
                <a:solidFill>
                  <a:srgbClr val="595959"/>
                </a:solidFill>
                <a:latin typeface="微软雅黑" panose="020B0503020204020204" pitchFamily="34" charset="-122"/>
                <a:sym typeface="+mn-ea"/>
              </a:rPr>
              <a:t>，它是由</a:t>
            </a:r>
            <a:r>
              <a:rPr lang="en-US" altLang="zh-CN" sz="2000" dirty="0">
                <a:solidFill>
                  <a:srgbClr val="1369B2"/>
                </a:solidFill>
                <a:latin typeface="微软雅黑" panose="020B0503020204020204" pitchFamily="34" charset="-122"/>
                <a:sym typeface="+mn-ea"/>
              </a:rPr>
              <a:t>SUN</a:t>
            </a:r>
            <a:r>
              <a:rPr lang="zh-CN" altLang="zh-CN" sz="2000" dirty="0">
                <a:solidFill>
                  <a:srgbClr val="1369B2"/>
                </a:solidFill>
                <a:latin typeface="微软雅黑" panose="020B0503020204020204" pitchFamily="34" charset="-122"/>
                <a:sym typeface="+mn-ea"/>
              </a:rPr>
              <a:t>公司</a:t>
            </a:r>
            <a:r>
              <a:rPr lang="zh-CN" altLang="zh-CN" sz="2000" dirty="0">
                <a:solidFill>
                  <a:srgbClr val="595959"/>
                </a:solidFill>
                <a:latin typeface="微软雅黑" panose="020B0503020204020204" pitchFamily="34" charset="-122"/>
                <a:sym typeface="+mn-ea"/>
              </a:rPr>
              <a:t>（已被</a:t>
            </a:r>
            <a:r>
              <a:rPr lang="en-US" altLang="zh-CN" sz="2000" dirty="0">
                <a:solidFill>
                  <a:srgbClr val="595959"/>
                </a:solidFill>
                <a:latin typeface="微软雅黑" panose="020B0503020204020204" pitchFamily="34" charset="-122"/>
                <a:sym typeface="+mn-ea"/>
              </a:rPr>
              <a:t>Oracle</a:t>
            </a:r>
            <a:r>
              <a:rPr lang="zh-CN" altLang="zh-CN" sz="2000" dirty="0">
                <a:solidFill>
                  <a:srgbClr val="595959"/>
                </a:solidFill>
                <a:latin typeface="微软雅黑" panose="020B0503020204020204" pitchFamily="34" charset="-122"/>
                <a:sym typeface="+mn-ea"/>
              </a:rPr>
              <a:t>公司收购）于</a:t>
            </a:r>
            <a:r>
              <a:rPr lang="en-US" altLang="zh-CN" sz="2000" dirty="0">
                <a:solidFill>
                  <a:srgbClr val="595959"/>
                </a:solidFill>
                <a:latin typeface="微软雅黑" panose="020B0503020204020204" pitchFamily="34" charset="-122"/>
                <a:sym typeface="+mn-ea"/>
              </a:rPr>
              <a:t>1995</a:t>
            </a:r>
            <a:r>
              <a:rPr lang="zh-CN" altLang="zh-CN" sz="2000" dirty="0">
                <a:solidFill>
                  <a:srgbClr val="595959"/>
                </a:solidFill>
                <a:latin typeface="微软雅黑" panose="020B0503020204020204" pitchFamily="34" charset="-122"/>
                <a:sym typeface="+mn-ea"/>
              </a:rPr>
              <a:t>年</a:t>
            </a:r>
            <a:r>
              <a:rPr lang="en-US" altLang="zh-CN" sz="2000" dirty="0">
                <a:solidFill>
                  <a:srgbClr val="595959"/>
                </a:solidFill>
                <a:latin typeface="微软雅黑" panose="020B0503020204020204" pitchFamily="34" charset="-122"/>
                <a:sym typeface="+mn-ea"/>
              </a:rPr>
              <a:t>5</a:t>
            </a:r>
            <a:r>
              <a:rPr lang="zh-CN" altLang="zh-CN" sz="2000" dirty="0">
                <a:solidFill>
                  <a:srgbClr val="595959"/>
                </a:solidFill>
                <a:latin typeface="微软雅黑" panose="020B0503020204020204" pitchFamily="34" charset="-122"/>
                <a:sym typeface="+mn-ea"/>
              </a:rPr>
              <a:t>月推出的一种可以编写</a:t>
            </a:r>
            <a:r>
              <a:rPr lang="zh-CN" altLang="zh-CN" sz="2000" dirty="0">
                <a:solidFill>
                  <a:srgbClr val="1369B2"/>
                </a:solidFill>
                <a:latin typeface="微软雅黑" panose="020B0503020204020204" pitchFamily="34" charset="-122"/>
                <a:sym typeface="+mn-ea"/>
              </a:rPr>
              <a:t>跨平台</a:t>
            </a:r>
            <a:r>
              <a:rPr sz="2000" dirty="0">
                <a:solidFill>
                  <a:srgbClr val="595959"/>
                </a:solidFill>
                <a:latin typeface="微软雅黑" panose="020B0503020204020204" pitchFamily="34" charset="-122"/>
                <a:sym typeface="+mn-ea"/>
              </a:rPr>
              <a:t>应用软件、完全</a:t>
            </a:r>
            <a:r>
              <a:rPr sz="2000" dirty="0">
                <a:solidFill>
                  <a:srgbClr val="1369B2"/>
                </a:solidFill>
                <a:latin typeface="微软雅黑" panose="020B0503020204020204" pitchFamily="34" charset="-122"/>
                <a:sym typeface="+mn-ea"/>
              </a:rPr>
              <a:t>面向对象</a:t>
            </a:r>
            <a:r>
              <a:rPr sz="2000" dirty="0">
                <a:solidFill>
                  <a:srgbClr val="595959"/>
                </a:solidFill>
                <a:latin typeface="微软雅黑" panose="020B0503020204020204" pitchFamily="34" charset="-122"/>
                <a:sym typeface="+mn-ea"/>
              </a:rPr>
              <a:t>的程序设计语言。Java语言</a:t>
            </a:r>
            <a:r>
              <a:rPr sz="2000" dirty="0">
                <a:solidFill>
                  <a:srgbClr val="1369B2"/>
                </a:solidFill>
                <a:latin typeface="微软雅黑" panose="020B0503020204020204" pitchFamily="34" charset="-122"/>
                <a:sym typeface="+mn-ea"/>
              </a:rPr>
              <a:t>简单易用</a:t>
            </a:r>
            <a:r>
              <a:rPr sz="2000" dirty="0">
                <a:solidFill>
                  <a:srgbClr val="595959"/>
                </a:solidFill>
                <a:latin typeface="微软雅黑" panose="020B0503020204020204" pitchFamily="34" charset="-122"/>
                <a:sym typeface="+mn-ea"/>
              </a:rPr>
              <a:t>、</a:t>
            </a:r>
            <a:r>
              <a:rPr sz="2000" dirty="0">
                <a:solidFill>
                  <a:srgbClr val="1369B2"/>
                </a:solidFill>
                <a:latin typeface="微软雅黑" panose="020B0503020204020204" pitchFamily="34" charset="-122"/>
                <a:sym typeface="+mn-ea"/>
              </a:rPr>
              <a:t>安全可靠</a:t>
            </a:r>
            <a:r>
              <a:rPr sz="2000" dirty="0">
                <a:solidFill>
                  <a:srgbClr val="595959"/>
                </a:solidFill>
                <a:latin typeface="微软雅黑" panose="020B0503020204020204" pitchFamily="34" charset="-122"/>
                <a:sym typeface="+mn-ea"/>
              </a:rPr>
              <a:t>,自问世以来,与之相关的技术和应用发展得非常快。在计算机、移动电话、家用电器等领域中,Java技术无处不在</a:t>
            </a:r>
            <a:r>
              <a:rPr lang="zh-CN" altLang="zh-CN" sz="2000" dirty="0">
                <a:solidFill>
                  <a:srgbClr val="595959"/>
                </a:solidFill>
                <a:latin typeface="微软雅黑" panose="020B0503020204020204" pitchFamily="34" charset="-122"/>
                <a:sym typeface="+mn-ea"/>
              </a:rPr>
              <a:t>。SUN公司将Java划分为三个技术平台，分别是</a:t>
            </a:r>
            <a:r>
              <a:rPr lang="zh-CN" altLang="zh-CN" sz="2000" dirty="0">
                <a:solidFill>
                  <a:srgbClr val="1369B2"/>
                </a:solidFill>
                <a:latin typeface="微软雅黑" panose="020B0503020204020204" pitchFamily="34" charset="-122"/>
                <a:sym typeface="+mn-ea"/>
              </a:rPr>
              <a:t>Java SE</a:t>
            </a:r>
            <a:r>
              <a:rPr lang="zh-CN" altLang="zh-CN" sz="2000" dirty="0">
                <a:solidFill>
                  <a:srgbClr val="595959"/>
                </a:solidFill>
                <a:latin typeface="微软雅黑" panose="020B0503020204020204" pitchFamily="34" charset="-122"/>
                <a:sym typeface="+mn-ea"/>
              </a:rPr>
              <a:t>、</a:t>
            </a:r>
            <a:r>
              <a:rPr lang="zh-CN" altLang="zh-CN" sz="2000" dirty="0">
                <a:solidFill>
                  <a:srgbClr val="1369B2"/>
                </a:solidFill>
                <a:latin typeface="微软雅黑" panose="020B0503020204020204" pitchFamily="34" charset="-122"/>
                <a:sym typeface="+mn-ea"/>
              </a:rPr>
              <a:t>Java EE</a:t>
            </a:r>
            <a:r>
              <a:rPr lang="zh-CN" altLang="zh-CN" sz="2000" dirty="0">
                <a:solidFill>
                  <a:srgbClr val="595959"/>
                </a:solidFill>
                <a:latin typeface="微软雅黑" panose="020B0503020204020204" pitchFamily="34" charset="-122"/>
                <a:sym typeface="+mn-ea"/>
              </a:rPr>
              <a:t>和</a:t>
            </a:r>
            <a:r>
              <a:rPr lang="zh-CN" altLang="zh-CN" sz="2000" dirty="0">
                <a:solidFill>
                  <a:srgbClr val="1369B2"/>
                </a:solidFill>
                <a:latin typeface="微软雅黑" panose="020B0503020204020204" pitchFamily="34" charset="-122"/>
                <a:sym typeface="+mn-ea"/>
              </a:rPr>
              <a:t>Java ME</a:t>
            </a:r>
            <a:r>
              <a:rPr lang="zh-CN" altLang="zh-CN" sz="2000" dirty="0">
                <a:solidFill>
                  <a:srgbClr val="595959"/>
                </a:solidFill>
                <a:latin typeface="微软雅黑" panose="020B0503020204020204" pitchFamily="34" charset="-122"/>
                <a:sym typeface="+mn-ea"/>
              </a:rPr>
              <a:t>。</a:t>
            </a:r>
            <a:endParaRPr lang="zh-CN" altLang="zh-CN" sz="2000" dirty="0">
              <a:solidFill>
                <a:srgbClr val="595959"/>
              </a:solidFill>
              <a:latin typeface="微软雅黑" panose="020B0503020204020204" pitchFamily="34" charset="-122"/>
              <a:sym typeface="+mn-ea"/>
            </a:endParaRPr>
          </a:p>
          <a:p>
            <a:pPr indent="539750" algn="l">
              <a:lnSpc>
                <a:spcPct val="150000"/>
              </a:lnSpc>
            </a:pPr>
            <a:endParaRPr lang="zh-CN" altLang="zh-CN" sz="2000" dirty="0">
              <a:solidFill>
                <a:srgbClr val="595959"/>
              </a:solidFill>
              <a:latin typeface="微软雅黑" panose="020B0503020204020204" pitchFamily="34" charset="-122"/>
              <a:sym typeface="+mn-ea"/>
            </a:endParaRPr>
          </a:p>
        </p:txBody>
      </p:sp>
      <p:sp>
        <p:nvSpPr>
          <p:cNvPr id="9" name="圆角矩形 8"/>
          <p:cNvSpPr/>
          <p:nvPr/>
        </p:nvSpPr>
        <p:spPr>
          <a:xfrm>
            <a:off x="1004894" y="2315104"/>
            <a:ext cx="10202312" cy="275399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911206" y="2223384"/>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895031" y="4671383"/>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Chevron 3"/>
          <p:cNvSpPr/>
          <p:nvPr>
            <p:custDataLst>
              <p:tags r:id="rId2"/>
            </p:custDataLst>
          </p:nvPr>
        </p:nvSpPr>
        <p:spPr>
          <a:xfrm>
            <a:off x="1004893" y="1124317"/>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145034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什么是</a:t>
            </a:r>
            <a:r>
              <a:rPr lang="en-US" altLang="zh-CN" sz="2000" dirty="0">
                <a:solidFill>
                  <a:srgbClr val="1369B2"/>
                </a:solidFill>
                <a:latin typeface="微软雅黑" panose="020B0503020204020204" pitchFamily="34" charset="-122"/>
                <a:ea typeface="微软雅黑" panose="020B0503020204020204" pitchFamily="34" charset="-122"/>
              </a:rPr>
              <a:t>Java</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什么是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685458" y="1369954"/>
            <a:ext cx="1049655"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Java SE</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54100" y="2460784"/>
            <a:ext cx="10225106" cy="1938020"/>
          </a:xfrm>
          <a:prstGeom prst="rect">
            <a:avLst/>
          </a:prstGeom>
          <a:noFill/>
          <a:ln w="9525">
            <a:noFill/>
          </a:ln>
        </p:spPr>
        <p:txBody>
          <a:bodyPr wrap="square">
            <a:spAutoFit/>
          </a:bodyPr>
          <a:lstStyle/>
          <a:p>
            <a:pPr marL="266700" indent="0" fontAlgn="auto">
              <a:lnSpc>
                <a:spcPct val="150000"/>
              </a:lnSpc>
            </a:pPr>
            <a:r>
              <a:rPr lang="en-US" sz="2000" b="0" dirty="0">
                <a:solidFill>
                  <a:srgbClr val="1369B2"/>
                </a:solidFill>
                <a:uFillTx/>
                <a:latin typeface="Times New Roman" panose="02020603050405020304" charset="0"/>
                <a:ea typeface="微软雅黑" panose="020B0503020204020204" pitchFamily="34" charset="-122"/>
                <a:cs typeface="宋体" panose="02010600030101010101" pitchFamily="2" charset="-122"/>
              </a:rPr>
              <a:t>Java SE</a:t>
            </a:r>
            <a:r>
              <a:rPr lang="zh-CN" sz="2000" b="0" dirty="0">
                <a:solidFill>
                  <a:srgbClr val="595959"/>
                </a:solidFill>
                <a:uFillTx/>
                <a:latin typeface="Times New Roman" panose="02020603050405020304" charset="0"/>
                <a:ea typeface="微软雅黑" panose="020B0503020204020204" pitchFamily="34" charset="-122"/>
              </a:rPr>
              <a:t>（</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Java Platform Standard Edition</a:t>
            </a:r>
            <a:r>
              <a:rPr lang="zh-CN" sz="2000" b="0" dirty="0">
                <a:solidFill>
                  <a:srgbClr val="595959"/>
                </a:solidFill>
                <a:uFillTx/>
                <a:latin typeface="Times New Roman" panose="02020603050405020304" charset="0"/>
                <a:ea typeface="微软雅黑" panose="020B0503020204020204" pitchFamily="34" charset="-122"/>
              </a:rPr>
              <a:t>）是</a:t>
            </a:r>
            <a:r>
              <a:rPr lang="zh-CN" sz="2000" b="0" dirty="0">
                <a:solidFill>
                  <a:srgbClr val="1369B2"/>
                </a:solidFill>
                <a:uFillTx/>
                <a:latin typeface="Times New Roman" panose="02020603050405020304" charset="0"/>
                <a:ea typeface="微软雅黑" panose="020B0503020204020204" pitchFamily="34" charset="-122"/>
              </a:rPr>
              <a:t>标准版技术</a:t>
            </a:r>
            <a:r>
              <a:rPr lang="zh-CN" sz="2000" b="0" dirty="0">
                <a:solidFill>
                  <a:srgbClr val="1369B2"/>
                </a:solidFill>
                <a:uFillTx/>
                <a:ea typeface="微软雅黑" panose="020B0503020204020204" pitchFamily="34" charset="-122"/>
              </a:rPr>
              <a:t>平台</a:t>
            </a:r>
            <a:r>
              <a:rPr lang="zh-CN" sz="2000" b="0" dirty="0">
                <a:solidFill>
                  <a:srgbClr val="595959"/>
                </a:solidFill>
                <a:uFillTx/>
                <a:latin typeface="Times New Roman" panose="02020603050405020304" charset="0"/>
                <a:ea typeface="微软雅黑" panose="020B0503020204020204" pitchFamily="34" charset="-122"/>
              </a:rPr>
              <a:t>，它是为开发普通桌面和商务应用程序提供的解决方案。</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Java</a:t>
            </a:r>
            <a:r>
              <a:rPr lang="en-US" sz="2000" b="0" dirty="0">
                <a:solidFill>
                  <a:srgbClr val="595959"/>
                </a:solidFill>
                <a:uFillTx/>
                <a:latin typeface="Times New Roman" panose="02020603050405020304" charset="0"/>
                <a:ea typeface="微软雅黑" panose="020B0503020204020204" pitchFamily="34" charset="-122"/>
              </a:rPr>
              <a:t> </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SE</a:t>
            </a:r>
            <a:r>
              <a:rPr lang="zh-CN" sz="2000" b="0" dirty="0">
                <a:solidFill>
                  <a:srgbClr val="595959"/>
                </a:solidFill>
                <a:uFillTx/>
                <a:latin typeface="Times New Roman" panose="02020603050405020304" charset="0"/>
                <a:ea typeface="微软雅黑" panose="020B0503020204020204" pitchFamily="34" charset="-122"/>
              </a:rPr>
              <a:t>是三个平台中</a:t>
            </a:r>
            <a:r>
              <a:rPr lang="zh-CN" sz="2000" b="0" dirty="0">
                <a:solidFill>
                  <a:srgbClr val="1369B2"/>
                </a:solidFill>
                <a:uFillTx/>
                <a:latin typeface="Times New Roman" panose="02020603050405020304" charset="0"/>
                <a:ea typeface="微软雅黑" panose="020B0503020204020204" pitchFamily="34" charset="-122"/>
              </a:rPr>
              <a:t>最核心</a:t>
            </a:r>
            <a:r>
              <a:rPr lang="zh-CN" sz="2000" b="0" dirty="0">
                <a:solidFill>
                  <a:srgbClr val="595959"/>
                </a:solidFill>
                <a:uFillTx/>
                <a:latin typeface="Times New Roman" panose="02020603050405020304" charset="0"/>
                <a:ea typeface="微软雅黑" panose="020B0503020204020204" pitchFamily="34" charset="-122"/>
              </a:rPr>
              <a:t>的部分，</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Java</a:t>
            </a:r>
            <a:r>
              <a:rPr lang="en-US" sz="2000" b="0" dirty="0">
                <a:solidFill>
                  <a:srgbClr val="595959"/>
                </a:solidFill>
                <a:uFillTx/>
                <a:latin typeface="Times New Roman" panose="02020603050405020304" charset="0"/>
                <a:ea typeface="微软雅黑" panose="020B0503020204020204" pitchFamily="34" charset="-122"/>
              </a:rPr>
              <a:t> </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EE</a:t>
            </a:r>
            <a:r>
              <a:rPr lang="zh-CN" sz="2000" b="0" dirty="0">
                <a:solidFill>
                  <a:srgbClr val="595959"/>
                </a:solidFill>
                <a:uFillTx/>
                <a:latin typeface="Times New Roman" panose="02020603050405020304" charset="0"/>
                <a:ea typeface="微软雅黑" panose="020B0503020204020204" pitchFamily="34" charset="-122"/>
              </a:rPr>
              <a:t>和</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Java</a:t>
            </a:r>
            <a:r>
              <a:rPr lang="en-US" sz="2000" b="0" dirty="0">
                <a:solidFill>
                  <a:srgbClr val="595959"/>
                </a:solidFill>
                <a:uFillTx/>
                <a:latin typeface="Times New Roman" panose="02020603050405020304" charset="0"/>
                <a:ea typeface="微软雅黑" panose="020B0503020204020204" pitchFamily="34" charset="-122"/>
              </a:rPr>
              <a:t> </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ME</a:t>
            </a:r>
            <a:r>
              <a:rPr lang="zh-CN" sz="2000" b="0" dirty="0">
                <a:solidFill>
                  <a:srgbClr val="595959"/>
                </a:solidFill>
                <a:uFillTx/>
                <a:latin typeface="Times New Roman" panose="02020603050405020304" charset="0"/>
                <a:ea typeface="微软雅黑" panose="020B0503020204020204" pitchFamily="34" charset="-122"/>
              </a:rPr>
              <a:t>都是从</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Java</a:t>
            </a:r>
            <a:r>
              <a:rPr lang="en-US" sz="2000" b="0" dirty="0">
                <a:solidFill>
                  <a:srgbClr val="595959"/>
                </a:solidFill>
                <a:uFillTx/>
                <a:latin typeface="Times New Roman" panose="02020603050405020304" charset="0"/>
                <a:ea typeface="微软雅黑" panose="020B0503020204020204" pitchFamily="34" charset="-122"/>
              </a:rPr>
              <a:t> </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SE</a:t>
            </a:r>
            <a:r>
              <a:rPr lang="zh-CN" sz="2000" b="0" dirty="0">
                <a:solidFill>
                  <a:srgbClr val="595959"/>
                </a:solidFill>
                <a:uFillTx/>
                <a:latin typeface="Times New Roman" panose="02020603050405020304" charset="0"/>
                <a:ea typeface="微软雅黑" panose="020B0503020204020204" pitchFamily="34" charset="-122"/>
              </a:rPr>
              <a:t>的基础上发展而来的，</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Java</a:t>
            </a:r>
            <a:r>
              <a:rPr lang="en-US" sz="2000" b="0" dirty="0">
                <a:solidFill>
                  <a:srgbClr val="595959"/>
                </a:solidFill>
                <a:uFillTx/>
                <a:latin typeface="Times New Roman" panose="02020603050405020304" charset="0"/>
                <a:ea typeface="微软雅黑" panose="020B0503020204020204" pitchFamily="34" charset="-122"/>
              </a:rPr>
              <a:t> </a:t>
            </a:r>
            <a:r>
              <a:rPr lang="en-US" sz="2000" b="0" dirty="0">
                <a:solidFill>
                  <a:srgbClr val="595959"/>
                </a:solidFill>
                <a:uFillTx/>
                <a:latin typeface="Times New Roman" panose="02020603050405020304" charset="0"/>
                <a:ea typeface="微软雅黑" panose="020B0503020204020204" pitchFamily="34" charset="-122"/>
                <a:cs typeface="宋体" panose="02010600030101010101" pitchFamily="2" charset="-122"/>
              </a:rPr>
              <a:t>SE</a:t>
            </a:r>
            <a:r>
              <a:rPr lang="zh-CN" sz="2000" b="0" dirty="0">
                <a:solidFill>
                  <a:srgbClr val="595959"/>
                </a:solidFill>
                <a:uFillTx/>
                <a:latin typeface="Times New Roman" panose="02020603050405020304" charset="0"/>
                <a:ea typeface="微软雅黑" panose="020B0503020204020204" pitchFamily="34" charset="-122"/>
              </a:rPr>
              <a:t>平台中包括了</a:t>
            </a:r>
            <a:r>
              <a:rPr lang="zh-CN" sz="2000" b="0" dirty="0">
                <a:solidFill>
                  <a:srgbClr val="1369B2"/>
                </a:solidFill>
                <a:uFillTx/>
                <a:latin typeface="Times New Roman" panose="02020603050405020304" charset="0"/>
                <a:ea typeface="微软雅黑" panose="020B0503020204020204" pitchFamily="34" charset="-122"/>
              </a:rPr>
              <a:t>Java最核心的类库</a:t>
            </a:r>
            <a:r>
              <a:rPr lang="zh-CN" sz="2000" b="0" dirty="0">
                <a:solidFill>
                  <a:srgbClr val="595959"/>
                </a:solidFill>
                <a:uFillTx/>
                <a:latin typeface="Times New Roman" panose="02020603050405020304" charset="0"/>
                <a:ea typeface="微软雅黑" panose="020B0503020204020204" pitchFamily="34" charset="-122"/>
              </a:rPr>
              <a:t>，如</a:t>
            </a:r>
            <a:r>
              <a:rPr lang="zh-CN" sz="2000" b="0" dirty="0">
                <a:solidFill>
                  <a:srgbClr val="1369B2"/>
                </a:solidFill>
                <a:uFillTx/>
                <a:latin typeface="Times New Roman" panose="02020603050405020304" charset="0"/>
                <a:ea typeface="微软雅黑" panose="020B0503020204020204" pitchFamily="34" charset="-122"/>
              </a:rPr>
              <a:t>集合</a:t>
            </a:r>
            <a:r>
              <a:rPr lang="zh-CN" sz="2000" b="0" dirty="0">
                <a:solidFill>
                  <a:srgbClr val="595959"/>
                </a:solidFill>
                <a:uFillTx/>
                <a:latin typeface="Times New Roman" panose="02020603050405020304" charset="0"/>
                <a:ea typeface="微软雅黑" panose="020B0503020204020204" pitchFamily="34" charset="-122"/>
              </a:rPr>
              <a:t>、</a:t>
            </a:r>
            <a:r>
              <a:rPr lang="en-US" sz="2000" b="0" dirty="0">
                <a:solidFill>
                  <a:srgbClr val="1369B2"/>
                </a:solidFill>
                <a:uFillTx/>
                <a:latin typeface="Times New Roman" panose="02020603050405020304" charset="0"/>
                <a:ea typeface="微软雅黑" panose="020B0503020204020204" pitchFamily="34" charset="-122"/>
                <a:cs typeface="宋体" panose="02010600030101010101" pitchFamily="2" charset="-122"/>
              </a:rPr>
              <a:t>IO</a:t>
            </a:r>
            <a:r>
              <a:rPr lang="zh-CN" sz="2000" b="0" dirty="0">
                <a:solidFill>
                  <a:srgbClr val="595959"/>
                </a:solidFill>
                <a:uFillTx/>
                <a:latin typeface="Times New Roman" panose="02020603050405020304" charset="0"/>
                <a:ea typeface="微软雅黑" panose="020B0503020204020204" pitchFamily="34" charset="-122"/>
              </a:rPr>
              <a:t>、</a:t>
            </a:r>
            <a:r>
              <a:rPr lang="zh-CN" sz="2000" b="0" dirty="0">
                <a:solidFill>
                  <a:srgbClr val="1369B2"/>
                </a:solidFill>
                <a:uFillTx/>
                <a:latin typeface="Times New Roman" panose="02020603050405020304" charset="0"/>
                <a:ea typeface="微软雅黑" panose="020B0503020204020204" pitchFamily="34" charset="-122"/>
              </a:rPr>
              <a:t>数据库连接</a:t>
            </a:r>
            <a:r>
              <a:rPr lang="zh-CN" sz="2000" b="0" dirty="0">
                <a:solidFill>
                  <a:srgbClr val="595959"/>
                </a:solidFill>
                <a:uFillTx/>
                <a:latin typeface="Times New Roman" panose="02020603050405020304" charset="0"/>
                <a:ea typeface="微软雅黑" panose="020B0503020204020204" pitchFamily="34" charset="-122"/>
              </a:rPr>
              <a:t>以及</a:t>
            </a:r>
            <a:r>
              <a:rPr lang="zh-CN" sz="2000" b="0" dirty="0">
                <a:solidFill>
                  <a:srgbClr val="1369B2"/>
                </a:solidFill>
                <a:uFillTx/>
                <a:latin typeface="Times New Roman" panose="02020603050405020304" charset="0"/>
                <a:ea typeface="微软雅黑" panose="020B0503020204020204" pitchFamily="34" charset="-122"/>
              </a:rPr>
              <a:t>网络编程</a:t>
            </a:r>
            <a:r>
              <a:rPr lang="zh-CN" sz="2000" b="0" dirty="0">
                <a:solidFill>
                  <a:srgbClr val="595959"/>
                </a:solidFill>
                <a:uFillTx/>
                <a:latin typeface="Times New Roman" panose="02020603050405020304" charset="0"/>
                <a:ea typeface="微软雅黑" panose="020B0503020204020204" pitchFamily="34" charset="-122"/>
              </a:rPr>
              <a:t>等。</a:t>
            </a:r>
            <a:endParaRPr lang="zh-CN" altLang="en-US" sz="2000" b="0" dirty="0">
              <a:solidFill>
                <a:srgbClr val="595959"/>
              </a:solidFill>
              <a:uFillTx/>
              <a:latin typeface="Times New Roman" panose="02020603050405020304"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什么是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685458" y="1369954"/>
            <a:ext cx="104267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Java EE</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6192" y="2691606"/>
            <a:ext cx="10121014" cy="1476375"/>
          </a:xfrm>
          <a:prstGeom prst="rect">
            <a:avLst/>
          </a:prstGeom>
          <a:noFill/>
          <a:ln w="9525">
            <a:noFill/>
          </a:ln>
        </p:spPr>
        <p:txBody>
          <a:bodyPr wrap="square">
            <a:spAutoFit/>
          </a:bodyPr>
          <a:lstStyle/>
          <a:p>
            <a:pPr marL="266700" indent="0" fontAlgn="auto">
              <a:lnSpc>
                <a:spcPct val="150000"/>
              </a:lnSpc>
            </a:pPr>
            <a:r>
              <a:rPr lang="zh-CN" sz="2000" b="0" dirty="0">
                <a:solidFill>
                  <a:srgbClr val="1369B2"/>
                </a:solidFill>
                <a:uFillTx/>
                <a:latin typeface="Times New Roman" panose="02020603050405020304" charset="0"/>
                <a:ea typeface="微软雅黑" panose="020B0503020204020204" pitchFamily="34" charset="-122"/>
              </a:rPr>
              <a:t>Java EE</a:t>
            </a:r>
            <a:r>
              <a:rPr lang="zh-CN" sz="2000" b="0" dirty="0">
                <a:solidFill>
                  <a:srgbClr val="595959"/>
                </a:solidFill>
                <a:uFillTx/>
                <a:latin typeface="Times New Roman" panose="02020603050405020304" charset="0"/>
                <a:ea typeface="微软雅黑" panose="020B0503020204020204" pitchFamily="34" charset="-122"/>
              </a:rPr>
              <a:t>(Java Platform Enterprise Edition) 是</a:t>
            </a:r>
            <a:r>
              <a:rPr lang="zh-CN" sz="2000" b="0" dirty="0">
                <a:solidFill>
                  <a:srgbClr val="1369B2"/>
                </a:solidFill>
                <a:uFillTx/>
                <a:latin typeface="Times New Roman" panose="02020603050405020304" charset="0"/>
                <a:ea typeface="微软雅黑" panose="020B0503020204020204" pitchFamily="34" charset="-122"/>
              </a:rPr>
              <a:t>企业版技术平台</a:t>
            </a:r>
            <a:r>
              <a:rPr lang="zh-CN" sz="2000" b="0" dirty="0">
                <a:solidFill>
                  <a:srgbClr val="595959"/>
                </a:solidFill>
                <a:uFillTx/>
                <a:latin typeface="Times New Roman" panose="02020603050405020304" charset="0"/>
                <a:ea typeface="微软雅黑" panose="020B0503020204020204" pitchFamily="34" charset="-122"/>
              </a:rPr>
              <a:t>，它是为开发企业级应用程序提供的解决方案。Java EE用于</a:t>
            </a:r>
            <a:r>
              <a:rPr lang="zh-CN" sz="2000" b="0" dirty="0">
                <a:solidFill>
                  <a:srgbClr val="1369B2"/>
                </a:solidFill>
                <a:uFillTx/>
                <a:latin typeface="Times New Roman" panose="02020603050405020304" charset="0"/>
                <a:ea typeface="微软雅黑" panose="020B0503020204020204" pitchFamily="34" charset="-122"/>
              </a:rPr>
              <a:t>开发</a:t>
            </a:r>
            <a:r>
              <a:rPr lang="zh-CN" sz="2000" b="0" dirty="0">
                <a:solidFill>
                  <a:srgbClr val="595959"/>
                </a:solidFill>
                <a:uFillTx/>
                <a:latin typeface="Times New Roman" panose="02020603050405020304" charset="0"/>
                <a:ea typeface="微软雅黑" panose="020B0503020204020204" pitchFamily="34" charset="-122"/>
              </a:rPr>
              <a:t>、</a:t>
            </a:r>
            <a:r>
              <a:rPr lang="zh-CN" sz="2000" b="0" dirty="0">
                <a:solidFill>
                  <a:srgbClr val="1369B2"/>
                </a:solidFill>
                <a:uFillTx/>
                <a:latin typeface="Times New Roman" panose="02020603050405020304" charset="0"/>
                <a:ea typeface="微软雅黑" panose="020B0503020204020204" pitchFamily="34" charset="-122"/>
              </a:rPr>
              <a:t>装配</a:t>
            </a:r>
            <a:r>
              <a:rPr lang="zh-CN" sz="2000" b="0" dirty="0">
                <a:solidFill>
                  <a:srgbClr val="595959"/>
                </a:solidFill>
                <a:uFillTx/>
                <a:latin typeface="Times New Roman" panose="02020603050405020304" charset="0"/>
                <a:ea typeface="微软雅黑" panose="020B0503020204020204" pitchFamily="34" charset="-122"/>
              </a:rPr>
              <a:t>以及</a:t>
            </a:r>
            <a:r>
              <a:rPr lang="zh-CN" sz="2000" b="0" dirty="0">
                <a:solidFill>
                  <a:srgbClr val="1369B2"/>
                </a:solidFill>
                <a:uFillTx/>
                <a:latin typeface="Times New Roman" panose="02020603050405020304" charset="0"/>
                <a:ea typeface="微软雅黑" panose="020B0503020204020204" pitchFamily="34" charset="-122"/>
              </a:rPr>
              <a:t>部署企业级应用程序</a:t>
            </a:r>
            <a:r>
              <a:rPr lang="zh-CN" sz="2000" b="0" dirty="0">
                <a:solidFill>
                  <a:srgbClr val="595959"/>
                </a:solidFill>
                <a:uFillTx/>
                <a:latin typeface="Times New Roman" panose="02020603050405020304" charset="0"/>
                <a:ea typeface="微软雅黑" panose="020B0503020204020204" pitchFamily="34" charset="-122"/>
              </a:rPr>
              <a:t>，主要包括</a:t>
            </a:r>
            <a:r>
              <a:rPr lang="zh-CN" sz="2000" b="0" dirty="0">
                <a:solidFill>
                  <a:srgbClr val="1369B2"/>
                </a:solidFill>
                <a:uFillTx/>
                <a:latin typeface="Times New Roman" panose="02020603050405020304" charset="0"/>
                <a:ea typeface="微软雅黑" panose="020B0503020204020204" pitchFamily="34" charset="-122"/>
              </a:rPr>
              <a:t>Servlet</a:t>
            </a:r>
            <a:r>
              <a:rPr lang="zh-CN" sz="2000" b="0" dirty="0">
                <a:solidFill>
                  <a:srgbClr val="595959"/>
                </a:solidFill>
                <a:uFillTx/>
                <a:latin typeface="Times New Roman" panose="02020603050405020304" charset="0"/>
                <a:ea typeface="微软雅黑" panose="020B0503020204020204" pitchFamily="34" charset="-122"/>
              </a:rPr>
              <a:t>、</a:t>
            </a:r>
            <a:r>
              <a:rPr lang="zh-CN" sz="2000" b="0" dirty="0">
                <a:solidFill>
                  <a:srgbClr val="1369B2"/>
                </a:solidFill>
                <a:uFillTx/>
                <a:latin typeface="Times New Roman" panose="02020603050405020304" charset="0"/>
                <a:ea typeface="微软雅黑" panose="020B0503020204020204" pitchFamily="34" charset="-122"/>
              </a:rPr>
              <a:t>JSP</a:t>
            </a:r>
            <a:r>
              <a:rPr lang="zh-CN" sz="2000" b="0" dirty="0">
                <a:solidFill>
                  <a:srgbClr val="595959"/>
                </a:solidFill>
                <a:uFillTx/>
                <a:latin typeface="Times New Roman" panose="02020603050405020304" charset="0"/>
                <a:ea typeface="微软雅黑" panose="020B0503020204020204" pitchFamily="34" charset="-122"/>
              </a:rPr>
              <a:t>、</a:t>
            </a:r>
            <a:r>
              <a:rPr lang="zh-CN" sz="2000" b="0" dirty="0">
                <a:solidFill>
                  <a:srgbClr val="1369B2"/>
                </a:solidFill>
                <a:uFillTx/>
                <a:latin typeface="Times New Roman" panose="02020603050405020304" charset="0"/>
                <a:ea typeface="微软雅黑" panose="020B0503020204020204" pitchFamily="34" charset="-122"/>
              </a:rPr>
              <a:t>JavaBean</a:t>
            </a:r>
            <a:r>
              <a:rPr lang="zh-CN" sz="2000" b="0" dirty="0">
                <a:solidFill>
                  <a:srgbClr val="595959"/>
                </a:solidFill>
                <a:uFillTx/>
                <a:latin typeface="Times New Roman" panose="02020603050405020304" charset="0"/>
                <a:ea typeface="微软雅黑" panose="020B0503020204020204" pitchFamily="34" charset="-122"/>
              </a:rPr>
              <a:t>、</a:t>
            </a:r>
            <a:r>
              <a:rPr lang="zh-CN" sz="2000" b="0" dirty="0">
                <a:solidFill>
                  <a:srgbClr val="1369B2"/>
                </a:solidFill>
                <a:uFillTx/>
                <a:latin typeface="Times New Roman" panose="02020603050405020304" charset="0"/>
                <a:ea typeface="微软雅黑" panose="020B0503020204020204" pitchFamily="34" charset="-122"/>
              </a:rPr>
              <a:t>JDBC</a:t>
            </a:r>
            <a:r>
              <a:rPr lang="zh-CN" sz="2000" b="0" dirty="0">
                <a:solidFill>
                  <a:srgbClr val="595959"/>
                </a:solidFill>
                <a:uFillTx/>
                <a:latin typeface="Times New Roman" panose="02020603050405020304" charset="0"/>
                <a:ea typeface="微软雅黑" panose="020B0503020204020204" pitchFamily="34" charset="-122"/>
              </a:rPr>
              <a:t>、</a:t>
            </a:r>
            <a:r>
              <a:rPr lang="zh-CN" sz="2000" b="0" dirty="0">
                <a:solidFill>
                  <a:srgbClr val="1369B2"/>
                </a:solidFill>
                <a:uFillTx/>
                <a:latin typeface="Times New Roman" panose="02020603050405020304" charset="0"/>
                <a:ea typeface="微软雅黑" panose="020B0503020204020204" pitchFamily="34" charset="-122"/>
              </a:rPr>
              <a:t>EJB</a:t>
            </a:r>
            <a:r>
              <a:rPr lang="zh-CN" sz="2000" b="0" dirty="0">
                <a:solidFill>
                  <a:srgbClr val="595959"/>
                </a:solidFill>
                <a:uFillTx/>
                <a:latin typeface="Times New Roman" panose="02020603050405020304" charset="0"/>
                <a:ea typeface="微软雅黑" panose="020B0503020204020204" pitchFamily="34" charset="-122"/>
              </a:rPr>
              <a:t>、</a:t>
            </a:r>
            <a:r>
              <a:rPr lang="zh-CN" sz="2000" b="0" dirty="0">
                <a:solidFill>
                  <a:srgbClr val="1369B2"/>
                </a:solidFill>
                <a:uFillTx/>
                <a:latin typeface="Times New Roman" panose="02020603050405020304" charset="0"/>
                <a:ea typeface="微软雅黑" panose="020B0503020204020204" pitchFamily="34" charset="-122"/>
              </a:rPr>
              <a:t>Web Service</a:t>
            </a:r>
            <a:r>
              <a:rPr lang="zh-CN" sz="2000" b="0" dirty="0">
                <a:solidFill>
                  <a:srgbClr val="595959"/>
                </a:solidFill>
                <a:uFillTx/>
                <a:latin typeface="Times New Roman" panose="02020603050405020304" charset="0"/>
                <a:ea typeface="微软雅黑" panose="020B0503020204020204" pitchFamily="34" charset="-122"/>
              </a:rPr>
              <a:t>等技术。</a:t>
            </a:r>
            <a:endParaRPr lang="zh-CN" altLang="en-US" sz="2000" b="0" dirty="0">
              <a:solidFill>
                <a:srgbClr val="595959"/>
              </a:solidFill>
              <a:uFillTx/>
              <a:latin typeface="Times New Roman" panose="02020603050405020304"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什么是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685458" y="1369954"/>
            <a:ext cx="1151255"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Java ME</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71177" y="2364454"/>
            <a:ext cx="10136030" cy="2346091"/>
          </a:xfrm>
          <a:prstGeom prst="rect">
            <a:avLst/>
          </a:prstGeom>
          <a:noFill/>
          <a:ln w="9525">
            <a:noFill/>
          </a:ln>
        </p:spPr>
        <p:txBody>
          <a:bodyPr wrap="square">
            <a:spAutoFit/>
          </a:bodyPr>
          <a:lstStyle/>
          <a:p>
            <a:pPr marL="266700" indent="0" fontAlgn="auto">
              <a:lnSpc>
                <a:spcPct val="150000"/>
              </a:lnSpc>
            </a:pPr>
            <a:r>
              <a:rPr lang="zh-CN" sz="2000" b="0" dirty="0">
                <a:solidFill>
                  <a:srgbClr val="1369B2"/>
                </a:solidFill>
                <a:uFillTx/>
                <a:latin typeface="Times New Roman" panose="02020603050405020304" charset="0"/>
                <a:ea typeface="微软雅黑" panose="020B0503020204020204" pitchFamily="34" charset="-122"/>
              </a:rPr>
              <a:t>Java ME</a:t>
            </a:r>
            <a:r>
              <a:rPr lang="zh-CN" sz="2000" b="0" dirty="0">
                <a:solidFill>
                  <a:srgbClr val="595959"/>
                </a:solidFill>
                <a:uFillTx/>
                <a:latin typeface="Times New Roman" panose="02020603050405020304" charset="0"/>
                <a:ea typeface="微软雅黑" panose="020B0503020204020204" pitchFamily="34" charset="-122"/>
              </a:rPr>
              <a:t>(Java Platform Micro Edition) 是</a:t>
            </a:r>
            <a:r>
              <a:rPr lang="zh-CN" sz="2000" b="0" dirty="0">
                <a:solidFill>
                  <a:srgbClr val="1369B2"/>
                </a:solidFill>
                <a:uFillTx/>
                <a:latin typeface="Times New Roman" panose="02020603050405020304" charset="0"/>
                <a:ea typeface="微软雅黑" panose="020B0503020204020204" pitchFamily="34" charset="-122"/>
              </a:rPr>
              <a:t>小型版技术平台</a:t>
            </a:r>
            <a:r>
              <a:rPr lang="zh-CN" sz="2000" b="0" dirty="0">
                <a:solidFill>
                  <a:srgbClr val="595959"/>
                </a:solidFill>
                <a:uFillTx/>
                <a:latin typeface="Times New Roman" panose="02020603050405020304" charset="0"/>
                <a:ea typeface="微软雅黑" panose="020B0503020204020204" pitchFamily="34" charset="-122"/>
              </a:rPr>
              <a:t>，它是为开发</a:t>
            </a:r>
            <a:r>
              <a:rPr lang="zh-CN" sz="2000" b="0" dirty="0">
                <a:solidFill>
                  <a:srgbClr val="1369B2"/>
                </a:solidFill>
                <a:uFillTx/>
                <a:latin typeface="Times New Roman" panose="02020603050405020304" charset="0"/>
                <a:ea typeface="微软雅黑" panose="020B0503020204020204" pitchFamily="34" charset="-122"/>
              </a:rPr>
              <a:t>电子消费产品</a:t>
            </a:r>
            <a:r>
              <a:rPr lang="zh-CN" sz="2000" b="0" dirty="0">
                <a:solidFill>
                  <a:srgbClr val="595959"/>
                </a:solidFill>
                <a:uFillTx/>
                <a:latin typeface="Times New Roman" panose="02020603050405020304" charset="0"/>
                <a:ea typeface="微软雅黑" panose="020B0503020204020204" pitchFamily="34" charset="-122"/>
              </a:rPr>
              <a:t>和</a:t>
            </a:r>
            <a:r>
              <a:rPr lang="zh-CN" sz="2000" b="0" dirty="0">
                <a:solidFill>
                  <a:srgbClr val="1369B2"/>
                </a:solidFill>
                <a:uFillTx/>
                <a:latin typeface="Times New Roman" panose="02020603050405020304" charset="0"/>
                <a:ea typeface="微软雅黑" panose="020B0503020204020204" pitchFamily="34" charset="-122"/>
              </a:rPr>
              <a:t>嵌入式设备</a:t>
            </a:r>
            <a:r>
              <a:rPr lang="zh-CN" sz="2000" b="0" dirty="0">
                <a:solidFill>
                  <a:srgbClr val="595959"/>
                </a:solidFill>
                <a:uFillTx/>
                <a:latin typeface="Times New Roman" panose="02020603050405020304" charset="0"/>
                <a:ea typeface="微软雅黑" panose="020B0503020204020204" pitchFamily="34" charset="-122"/>
              </a:rPr>
              <a:t>提供的解决方案。JavaME主要用于</a:t>
            </a:r>
            <a:r>
              <a:rPr lang="zh-CN" sz="2000" b="0" dirty="0">
                <a:solidFill>
                  <a:srgbClr val="1369B2"/>
                </a:solidFill>
                <a:uFillTx/>
                <a:latin typeface="Times New Roman" panose="02020603050405020304" charset="0"/>
                <a:ea typeface="微软雅黑" panose="020B0503020204020204" pitchFamily="34" charset="-122"/>
              </a:rPr>
              <a:t>小型数字电子设备</a:t>
            </a:r>
            <a:r>
              <a:rPr lang="zh-CN" sz="2000" b="0" dirty="0">
                <a:solidFill>
                  <a:srgbClr val="595959"/>
                </a:solidFill>
                <a:uFillTx/>
                <a:latin typeface="Times New Roman" panose="02020603050405020304" charset="0"/>
                <a:ea typeface="微软雅黑" panose="020B0503020204020204" pitchFamily="34" charset="-122"/>
              </a:rPr>
              <a:t>上软件程序的开发。例如，为家用电器增加智能化控制和联网功能，为手机增加新的游戏和通讯录管理功能。此外，Java ME还提供了HTTP等高级</a:t>
            </a:r>
            <a:r>
              <a:rPr lang="zh-CN" sz="2000" b="0" dirty="0">
                <a:solidFill>
                  <a:srgbClr val="1369B2"/>
                </a:solidFill>
                <a:uFillTx/>
                <a:latin typeface="Times New Roman" panose="02020603050405020304" charset="0"/>
                <a:ea typeface="微软雅黑" panose="020B0503020204020204" pitchFamily="34" charset="-122"/>
              </a:rPr>
              <a:t>Internet协议</a:t>
            </a:r>
            <a:r>
              <a:rPr lang="zh-CN" sz="2000" b="0" dirty="0">
                <a:solidFill>
                  <a:srgbClr val="595959"/>
                </a:solidFill>
                <a:uFillTx/>
                <a:latin typeface="Times New Roman" panose="02020603050405020304" charset="0"/>
                <a:ea typeface="微软雅黑" panose="020B0503020204020204" pitchFamily="34" charset="-122"/>
              </a:rPr>
              <a:t>，使移动电话能以Client/Server方式直接访问Internet的全部信息，提供高效率的无线交流。</a:t>
            </a:r>
            <a:endParaRPr lang="zh-CN" altLang="en-US" sz="2000" b="0" dirty="0">
              <a:solidFill>
                <a:srgbClr val="595959"/>
              </a:solidFill>
              <a:uFillTx/>
              <a:latin typeface="Times New Roman" panose="02020603050405020304"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的特点</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429635"/>
            <a:ext cx="5755640" cy="530225"/>
            <a:chOff x="8472" y="5401"/>
            <a:chExt cx="9064" cy="835"/>
          </a:xfrm>
        </p:grpSpPr>
        <p:sp>
          <p:nvSpPr>
            <p:cNvPr id="15" name="TextBox 35"/>
            <p:cNvSpPr txBox="1">
              <a:spLocks noChangeArrowheads="1"/>
            </p:cNvSpPr>
            <p:nvPr/>
          </p:nvSpPr>
          <p:spPr bwMode="auto">
            <a:xfrm>
              <a:off x="9159" y="5401"/>
              <a:ext cx="8377" cy="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了解</a:t>
              </a:r>
              <a:r>
                <a:rPr lang="en-US" altLang="zh-CN" sz="2000" dirty="0">
                  <a:solidFill>
                    <a:srgbClr val="1369B2"/>
                  </a:solidFill>
                  <a:latin typeface="微软雅黑" panose="020B0503020204020204" pitchFamily="34" charset="-122"/>
                  <a:ea typeface="微软雅黑" panose="020B0503020204020204" pitchFamily="34" charset="-122"/>
                </a:rPr>
                <a:t>Java</a:t>
              </a:r>
              <a:r>
                <a:rPr lang="zh-CN" altLang="en-US" sz="2000" dirty="0">
                  <a:solidFill>
                    <a:srgbClr val="1369B2"/>
                  </a:solidFill>
                  <a:latin typeface="微软雅黑" panose="020B0503020204020204" pitchFamily="34" charset="-122"/>
                  <a:ea typeface="微软雅黑" panose="020B0503020204020204" pitchFamily="34" charset="-122"/>
                </a:rPr>
                <a:t>的特点</a:t>
              </a:r>
              <a:r>
                <a:rPr lang="zh-CN" altLang="en-US" sz="2000" dirty="0">
                  <a:solidFill>
                    <a:srgbClr val="595959"/>
                  </a:solidFill>
                  <a:latin typeface="微软雅黑" panose="020B0503020204020204" pitchFamily="34" charset="-122"/>
                  <a:ea typeface="微软雅黑" panose="020B0503020204020204" pitchFamily="34" charset="-122"/>
                </a:rPr>
                <a:t>，能够说出</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en-US" sz="2000" dirty="0">
                  <a:solidFill>
                    <a:srgbClr val="595959"/>
                  </a:solidFill>
                  <a:latin typeface="微软雅黑" panose="020B0503020204020204" pitchFamily="34" charset="-122"/>
                  <a:ea typeface="微软雅黑" panose="020B0503020204020204" pitchFamily="34" charset="-122"/>
                </a:rPr>
                <a:t>的主要特点</a:t>
              </a:r>
              <a:endParaRPr lang="zh-CN" altLang="en-US" sz="2000" dirty="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的特点</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MH_Number_1"/>
          <p:cNvSpPr/>
          <p:nvPr>
            <p:custDataLst>
              <p:tags r:id="rId1"/>
            </p:custDataLst>
          </p:nvPr>
        </p:nvSpPr>
        <p:spPr>
          <a:xfrm>
            <a:off x="8259684" y="1485794"/>
            <a:ext cx="3040528" cy="985083"/>
          </a:xfrm>
          <a:prstGeom prst="roundRect">
            <a:avLst>
              <a:gd name="adj" fmla="val 12189"/>
            </a:avLst>
          </a:prstGeom>
          <a:solidFill>
            <a:srgbClr val="5B9BD5"/>
          </a:solidFill>
          <a:ln w="25400" cap="flat" cmpd="sng">
            <a:solidFill>
              <a:srgbClr val="FFFFFF"/>
            </a:solidFill>
            <a:prstDash val="solid"/>
            <a:round/>
            <a:headEnd type="none" w="med" len="med"/>
            <a:tailEnd type="none" w="med" len="med"/>
          </a:ln>
        </p:spPr>
        <p:txBody>
          <a:bodyPr wrap="square" lIns="89985" tIns="46792" rIns="89985" bIns="46792" anchor="ctr" anchorCtr="1">
            <a:normAutofit/>
          </a:bodyPr>
          <a:lstStyle/>
          <a:p>
            <a:pPr lvl="0" algn="ctr">
              <a:lnSpc>
                <a:spcPct val="130000"/>
              </a:lnSpc>
            </a:pPr>
            <a:r>
              <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安全性</a:t>
            </a:r>
            <a:endPar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MH_Number_1"/>
          <p:cNvSpPr/>
          <p:nvPr>
            <p:custDataLst>
              <p:tags r:id="rId2"/>
            </p:custDataLst>
          </p:nvPr>
        </p:nvSpPr>
        <p:spPr>
          <a:xfrm>
            <a:off x="1420276" y="1485794"/>
            <a:ext cx="3040528" cy="985083"/>
          </a:xfrm>
          <a:prstGeom prst="roundRect">
            <a:avLst>
              <a:gd name="adj" fmla="val 12189"/>
            </a:avLst>
          </a:prstGeom>
          <a:solidFill>
            <a:srgbClr val="5B9BD5"/>
          </a:solidFill>
          <a:ln w="25400" cap="flat" cmpd="sng">
            <a:solidFill>
              <a:srgbClr val="FFFFFF"/>
            </a:solidFill>
            <a:prstDash val="solid"/>
            <a:round/>
            <a:headEnd type="none" w="med" len="med"/>
            <a:tailEnd type="none" w="med" len="med"/>
          </a:ln>
        </p:spPr>
        <p:txBody>
          <a:bodyPr wrap="square" lIns="89985" tIns="46792" rIns="89985" bIns="46792" anchor="ctr" anchorCtr="1">
            <a:normAutofit/>
          </a:bodyPr>
          <a:lstStyle/>
          <a:p>
            <a:pPr lvl="0" algn="ctr">
              <a:lnSpc>
                <a:spcPct val="130000"/>
              </a:lnSpc>
            </a:pPr>
            <a:r>
              <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简单</a:t>
            </a:r>
            <a:endPar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MH_Entry_2">
            <a:hlinkClick r:id="" action="ppaction://noaction"/>
          </p:cNvPr>
          <p:cNvSpPr/>
          <p:nvPr>
            <p:custDataLst>
              <p:tags r:id="rId3"/>
            </p:custDataLst>
          </p:nvPr>
        </p:nvSpPr>
        <p:spPr>
          <a:xfrm>
            <a:off x="4801202" y="2950186"/>
            <a:ext cx="3037588" cy="3143608"/>
          </a:xfrm>
          <a:prstGeom prst="roundRect">
            <a:avLst>
              <a:gd name="adj" fmla="val 4289"/>
            </a:avLst>
          </a:prstGeom>
          <a:solidFill>
            <a:srgbClr val="FFFFFF"/>
          </a:solidFill>
          <a:ln w="25400" cap="flat" cmpd="sng" algn="ctr">
            <a:solidFill>
              <a:srgbClr val="5B9BD5"/>
            </a:solidFill>
            <a:prstDash val="solid"/>
          </a:ln>
          <a:effectLst/>
        </p:spPr>
        <p:txBody>
          <a:bodyPr wrap="square" anchor="ctr" anchorCtr="1">
            <a:noAutofit/>
          </a:bodyPr>
          <a:lstStyle/>
          <a:p>
            <a:pPr indent="0" algn="l" fontAlgn="base">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语言是一个纯粹的</a:t>
            </a:r>
            <a:r>
              <a:rPr lang="zh-CN" altLang="zh-CN" sz="2000" dirty="0">
                <a:solidFill>
                  <a:srgbClr val="1369B2"/>
                </a:solidFill>
                <a:latin typeface="微软雅黑" panose="020B0503020204020204" pitchFamily="34" charset="-122"/>
                <a:ea typeface="微软雅黑" panose="020B0503020204020204" pitchFamily="34" charset="-122"/>
              </a:rPr>
              <a:t>面向对象程序设计语言</a:t>
            </a:r>
            <a:r>
              <a:rPr lang="zh-CN" altLang="zh-CN" sz="2000" dirty="0">
                <a:solidFill>
                  <a:srgbClr val="595959"/>
                </a:solidFill>
                <a:latin typeface="微软雅黑" panose="020B0503020204020204" pitchFamily="34" charset="-122"/>
                <a:ea typeface="微软雅黑" panose="020B0503020204020204" pitchFamily="34" charset="-122"/>
              </a:rPr>
              <a:t>，它提供了</a:t>
            </a:r>
            <a:r>
              <a:rPr lang="zh-CN" altLang="zh-CN" sz="2000" dirty="0">
                <a:solidFill>
                  <a:srgbClr val="1369B2"/>
                </a:solidFill>
                <a:latin typeface="微软雅黑" panose="020B0503020204020204" pitchFamily="34" charset="-122"/>
                <a:ea typeface="微软雅黑" panose="020B0503020204020204" pitchFamily="34" charset="-122"/>
              </a:rPr>
              <a:t>类</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接口</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继承</a:t>
            </a:r>
            <a:r>
              <a:rPr lang="zh-CN" altLang="zh-CN" sz="2000" dirty="0">
                <a:solidFill>
                  <a:srgbClr val="595959"/>
                </a:solidFill>
                <a:latin typeface="微软雅黑" panose="020B0503020204020204" pitchFamily="34" charset="-122"/>
                <a:ea typeface="微软雅黑" panose="020B0503020204020204" pitchFamily="34" charset="-122"/>
              </a:rPr>
              <a:t>等原语</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p:txBody>
      </p:sp>
      <p:sp>
        <p:nvSpPr>
          <p:cNvPr id="13" name="MH_Entry_2">
            <a:hlinkClick r:id="" action="ppaction://noaction"/>
          </p:cNvPr>
          <p:cNvSpPr/>
          <p:nvPr>
            <p:custDataLst>
              <p:tags r:id="rId4"/>
            </p:custDataLst>
          </p:nvPr>
        </p:nvSpPr>
        <p:spPr>
          <a:xfrm>
            <a:off x="1420276" y="2957557"/>
            <a:ext cx="3040528" cy="3140666"/>
          </a:xfrm>
          <a:prstGeom prst="roundRect">
            <a:avLst>
              <a:gd name="adj" fmla="val 4289"/>
            </a:avLst>
          </a:prstGeom>
          <a:solidFill>
            <a:srgbClr val="FFFFFF"/>
          </a:solidFill>
          <a:ln w="25400" cap="flat" cmpd="sng" algn="ctr">
            <a:solidFill>
              <a:srgbClr val="5B9BD5"/>
            </a:solidFill>
            <a:prstDash val="solid"/>
          </a:ln>
          <a:effectLst/>
        </p:spPr>
        <p:txBody>
          <a:bodyPr wrap="square" anchor="ctr" anchorCtr="1">
            <a:noAutofit/>
          </a:bodyPr>
          <a:lstStyle/>
          <a:p>
            <a:pPr indent="0" algn="l"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语言是一种相对简单的编程语言，能够通过最基本的方法完成指定的任务。</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4" name="MH_Entry_2">
            <a:hlinkClick r:id="" action="ppaction://noaction"/>
          </p:cNvPr>
          <p:cNvSpPr/>
          <p:nvPr>
            <p:custDataLst>
              <p:tags r:id="rId5"/>
            </p:custDataLst>
          </p:nvPr>
        </p:nvSpPr>
        <p:spPr>
          <a:xfrm>
            <a:off x="8261155" y="2950186"/>
            <a:ext cx="3037588" cy="3143608"/>
          </a:xfrm>
          <a:prstGeom prst="roundRect">
            <a:avLst>
              <a:gd name="adj" fmla="val 4289"/>
            </a:avLst>
          </a:prstGeom>
          <a:solidFill>
            <a:srgbClr val="FFFFFF"/>
          </a:solidFill>
          <a:ln w="25400" cap="flat" cmpd="sng" algn="ctr">
            <a:solidFill>
              <a:srgbClr val="5B9BD5"/>
            </a:solidFill>
            <a:prstDash val="solid"/>
          </a:ln>
          <a:effectLst/>
        </p:spPr>
        <p:txBody>
          <a:bodyPr wrap="square" anchor="ctr" anchorCtr="1">
            <a:noAutofit/>
          </a:bodyPr>
          <a:lstStyle/>
          <a:p>
            <a:pPr indent="0" algn="l"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语言安全可靠</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编译器在编译程序时，不显示存储安排决策，</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程序中的存储是在程序运行时由</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解释程序决定。</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5" name="MH_Number_1"/>
          <p:cNvSpPr/>
          <p:nvPr>
            <p:custDataLst>
              <p:tags r:id="rId6"/>
            </p:custDataLst>
          </p:nvPr>
        </p:nvSpPr>
        <p:spPr>
          <a:xfrm>
            <a:off x="4798262" y="1485794"/>
            <a:ext cx="3040528" cy="985083"/>
          </a:xfrm>
          <a:prstGeom prst="roundRect">
            <a:avLst>
              <a:gd name="adj" fmla="val 12189"/>
            </a:avLst>
          </a:prstGeom>
          <a:solidFill>
            <a:srgbClr val="5B9BD5"/>
          </a:solidFill>
          <a:ln w="25400" cap="flat" cmpd="sng">
            <a:solidFill>
              <a:srgbClr val="FFFFFF"/>
            </a:solidFill>
            <a:prstDash val="solid"/>
            <a:round/>
            <a:headEnd type="none" w="med" len="med"/>
            <a:tailEnd type="none" w="med" len="med"/>
          </a:ln>
        </p:spPr>
        <p:txBody>
          <a:bodyPr wrap="square" lIns="89985" tIns="46792" rIns="89985" bIns="46792" anchor="ctr" anchorCtr="1">
            <a:normAutofit/>
          </a:bodyPr>
          <a:lstStyle/>
          <a:p>
            <a:pPr lvl="0" algn="ctr">
              <a:lnSpc>
                <a:spcPct val="130000"/>
              </a:lnSpc>
            </a:pPr>
            <a:r>
              <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面向对象</a:t>
            </a:r>
            <a:endPar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1.1.2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的特点</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MH_Number_1"/>
          <p:cNvSpPr/>
          <p:nvPr>
            <p:custDataLst>
              <p:tags r:id="rId1"/>
            </p:custDataLst>
          </p:nvPr>
        </p:nvSpPr>
        <p:spPr>
          <a:xfrm>
            <a:off x="8259684" y="1413794"/>
            <a:ext cx="3040528" cy="985083"/>
          </a:xfrm>
          <a:prstGeom prst="roundRect">
            <a:avLst>
              <a:gd name="adj" fmla="val 12189"/>
            </a:avLst>
          </a:prstGeom>
          <a:solidFill>
            <a:srgbClr val="5B9BD5"/>
          </a:solidFill>
          <a:ln w="25400" cap="flat" cmpd="sng">
            <a:solidFill>
              <a:srgbClr val="FFFFFF"/>
            </a:solidFill>
            <a:prstDash val="solid"/>
            <a:round/>
            <a:headEnd type="none" w="med" len="med"/>
            <a:tailEnd type="none" w="med" len="med"/>
          </a:ln>
        </p:spPr>
        <p:txBody>
          <a:bodyPr wrap="square" lIns="89985" tIns="46792" rIns="89985" bIns="46792" anchor="ctr" anchorCtr="1">
            <a:normAutofit/>
          </a:bodyPr>
          <a:lstStyle/>
          <a:p>
            <a:pPr lvl="0" algn="ctr">
              <a:lnSpc>
                <a:spcPct val="130000"/>
              </a:lnSpc>
            </a:pPr>
            <a:r>
              <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分布式</a:t>
            </a:r>
            <a:endPar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MH_Number_1"/>
          <p:cNvSpPr/>
          <p:nvPr>
            <p:custDataLst>
              <p:tags r:id="rId2"/>
            </p:custDataLst>
          </p:nvPr>
        </p:nvSpPr>
        <p:spPr>
          <a:xfrm>
            <a:off x="1420276" y="1413794"/>
            <a:ext cx="3040528" cy="985083"/>
          </a:xfrm>
          <a:prstGeom prst="roundRect">
            <a:avLst>
              <a:gd name="adj" fmla="val 12189"/>
            </a:avLst>
          </a:prstGeom>
          <a:solidFill>
            <a:srgbClr val="5B9BD5"/>
          </a:solidFill>
          <a:ln w="25400" cap="flat" cmpd="sng">
            <a:solidFill>
              <a:srgbClr val="FFFFFF"/>
            </a:solidFill>
            <a:prstDash val="solid"/>
            <a:round/>
            <a:headEnd type="none" w="med" len="med"/>
            <a:tailEnd type="none" w="med" len="med"/>
          </a:ln>
        </p:spPr>
        <p:txBody>
          <a:bodyPr wrap="square" lIns="89985" tIns="46792" rIns="89985" bIns="46792" anchor="ctr" anchorCtr="1">
            <a:normAutofit/>
          </a:bodyPr>
          <a:lstStyle/>
          <a:p>
            <a:pPr lvl="0" algn="ctr">
              <a:lnSpc>
                <a:spcPct val="130000"/>
              </a:lnSpc>
            </a:pPr>
            <a:r>
              <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跨平台性</a:t>
            </a:r>
            <a:endPar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MH_Entry_2">
            <a:hlinkClick r:id="" action="ppaction://noaction"/>
          </p:cNvPr>
          <p:cNvSpPr/>
          <p:nvPr>
            <p:custDataLst>
              <p:tags r:id="rId3"/>
            </p:custDataLst>
          </p:nvPr>
        </p:nvSpPr>
        <p:spPr>
          <a:xfrm>
            <a:off x="4801202" y="2878186"/>
            <a:ext cx="3037588" cy="2783608"/>
          </a:xfrm>
          <a:prstGeom prst="roundRect">
            <a:avLst>
              <a:gd name="adj" fmla="val 4289"/>
            </a:avLst>
          </a:prstGeom>
          <a:solidFill>
            <a:srgbClr val="FFFFFF"/>
          </a:solidFill>
          <a:ln w="25400" cap="flat" cmpd="sng" algn="ctr">
            <a:solidFill>
              <a:srgbClr val="5B9BD5"/>
            </a:solidFill>
            <a:prstDash val="solid"/>
          </a:ln>
          <a:effectLst/>
        </p:spPr>
        <p:txBody>
          <a:bodyPr wrap="square" anchor="ctr" anchorCtr="1">
            <a:noAutofit/>
          </a:bodyPr>
          <a:lstStyle/>
          <a:p>
            <a:pPr indent="0" algn="l" fontAlgn="base">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语言支持多线程。</a:t>
            </a:r>
            <a:r>
              <a:rPr lang="zh-CN" altLang="zh-CN" sz="2000" dirty="0">
                <a:solidFill>
                  <a:srgbClr val="1369B2"/>
                </a:solidFill>
                <a:latin typeface="微软雅黑" panose="020B0503020204020204" pitchFamily="34" charset="-122"/>
                <a:ea typeface="微软雅黑" panose="020B0503020204020204" pitchFamily="34" charset="-122"/>
              </a:rPr>
              <a:t>多线程</a:t>
            </a:r>
            <a:r>
              <a:rPr lang="zh-CN" altLang="zh-CN" sz="2000" dirty="0">
                <a:solidFill>
                  <a:srgbClr val="595959"/>
                </a:solidFill>
                <a:latin typeface="微软雅黑" panose="020B0503020204020204" pitchFamily="34" charset="-122"/>
                <a:ea typeface="微软雅黑" panose="020B0503020204020204" pitchFamily="34" charset="-122"/>
              </a:rPr>
              <a:t>简单理解为程序中多个任务可以并发执行，多线程可以在很大程度上提高程序的执行效率</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p:txBody>
      </p:sp>
      <p:sp>
        <p:nvSpPr>
          <p:cNvPr id="14" name="MH_Entry_2">
            <a:hlinkClick r:id="" action="ppaction://noaction"/>
          </p:cNvPr>
          <p:cNvSpPr/>
          <p:nvPr>
            <p:custDataLst>
              <p:tags r:id="rId4"/>
            </p:custDataLst>
          </p:nvPr>
        </p:nvSpPr>
        <p:spPr>
          <a:xfrm>
            <a:off x="1423216" y="2881128"/>
            <a:ext cx="3037588" cy="2780666"/>
          </a:xfrm>
          <a:prstGeom prst="roundRect">
            <a:avLst>
              <a:gd name="adj" fmla="val 4289"/>
            </a:avLst>
          </a:prstGeom>
          <a:solidFill>
            <a:srgbClr val="FFFFFF"/>
          </a:solidFill>
          <a:ln w="25400" cap="flat" cmpd="sng" algn="ctr">
            <a:solidFill>
              <a:srgbClr val="5B9BD5"/>
            </a:solidFill>
            <a:prstDash val="solid"/>
          </a:ln>
          <a:effectLst/>
        </p:spPr>
        <p:txBody>
          <a:bodyPr wrap="square" anchor="ctr" anchorCtr="1">
            <a:normAutofit/>
          </a:bodyPr>
          <a:lstStyle/>
          <a:p>
            <a:pPr indent="0" algn="ctr" fontAlgn="base">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通过</a:t>
            </a:r>
            <a:r>
              <a:rPr lang="en-US" altLang="zh-CN" sz="2000" dirty="0">
                <a:solidFill>
                  <a:srgbClr val="1369B2"/>
                </a:solidFill>
                <a:latin typeface="微软雅黑" panose="020B0503020204020204" pitchFamily="34" charset="-122"/>
                <a:ea typeface="微软雅黑" panose="020B0503020204020204" pitchFamily="34" charset="-122"/>
              </a:rPr>
              <a:t>JVM</a:t>
            </a:r>
            <a:r>
              <a:rPr lang="zh-CN" altLang="zh-CN" sz="2000" dirty="0">
                <a:solidFill>
                  <a:srgbClr val="595959"/>
                </a:solidFill>
                <a:latin typeface="微软雅黑" panose="020B0503020204020204" pitchFamily="34" charset="-122"/>
                <a:ea typeface="微软雅黑" panose="020B0503020204020204" pitchFamily="34" charset="-122"/>
              </a:rPr>
              <a:t>（虚拟机）以及字节码实现跨平台</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p:txBody>
      </p:sp>
      <p:sp>
        <p:nvSpPr>
          <p:cNvPr id="15" name="MH_Entry_2">
            <a:hlinkClick r:id="" action="ppaction://noaction"/>
          </p:cNvPr>
          <p:cNvSpPr/>
          <p:nvPr>
            <p:custDataLst>
              <p:tags r:id="rId5"/>
            </p:custDataLst>
          </p:nvPr>
        </p:nvSpPr>
        <p:spPr>
          <a:xfrm>
            <a:off x="8261155" y="2878186"/>
            <a:ext cx="3037588" cy="2783608"/>
          </a:xfrm>
          <a:prstGeom prst="roundRect">
            <a:avLst>
              <a:gd name="adj" fmla="val 4289"/>
            </a:avLst>
          </a:prstGeom>
          <a:solidFill>
            <a:srgbClr val="FFFFFF"/>
          </a:solidFill>
          <a:ln w="25400" cap="flat" cmpd="sng" algn="ctr">
            <a:solidFill>
              <a:srgbClr val="5B9BD5"/>
            </a:solidFill>
            <a:prstDash val="solid"/>
          </a:ln>
          <a:effectLst/>
        </p:spPr>
        <p:txBody>
          <a:bodyPr wrap="square" anchor="ctr" anchorCtr="1">
            <a:noAutofit/>
          </a:bodyPr>
          <a:lstStyle/>
          <a:p>
            <a:pPr indent="0" algn="l" fontAlgn="base">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是</a:t>
            </a:r>
            <a:r>
              <a:rPr lang="zh-CN" altLang="zh-CN" sz="2000" dirty="0">
                <a:solidFill>
                  <a:srgbClr val="1369B2"/>
                </a:solidFill>
                <a:latin typeface="微软雅黑" panose="020B0503020204020204" pitchFamily="34" charset="-122"/>
                <a:ea typeface="微软雅黑" panose="020B0503020204020204" pitchFamily="34" charset="-122"/>
              </a:rPr>
              <a:t>分布式语言</a:t>
            </a:r>
            <a:r>
              <a:rPr lang="zh-CN" altLang="zh-CN" sz="2000" dirty="0">
                <a:solidFill>
                  <a:srgbClr val="595959"/>
                </a:solidFill>
                <a:latin typeface="微软雅黑" panose="020B0503020204020204" pitchFamily="34" charset="-122"/>
                <a:ea typeface="微软雅黑" panose="020B0503020204020204" pitchFamily="34" charset="-122"/>
              </a:rPr>
              <a:t>，既支持各种层次的网络连接，又可以通过</a:t>
            </a:r>
            <a:r>
              <a:rPr lang="en-US" altLang="zh-CN" sz="2000" dirty="0">
                <a:solidFill>
                  <a:srgbClr val="595959"/>
                </a:solidFill>
                <a:latin typeface="微软雅黑" panose="020B0503020204020204" pitchFamily="34" charset="-122"/>
                <a:ea typeface="微软雅黑" panose="020B0503020204020204" pitchFamily="34" charset="-122"/>
              </a:rPr>
              <a:t>Socket</a:t>
            </a:r>
            <a:r>
              <a:rPr lang="zh-CN" altLang="zh-CN" sz="2000" dirty="0">
                <a:solidFill>
                  <a:srgbClr val="595959"/>
                </a:solidFill>
                <a:latin typeface="微软雅黑" panose="020B0503020204020204" pitchFamily="34" charset="-122"/>
                <a:ea typeface="微软雅黑" panose="020B0503020204020204" pitchFamily="34" charset="-122"/>
              </a:rPr>
              <a:t>类支持可靠的流</a:t>
            </a:r>
            <a:r>
              <a:rPr lang="en-US"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stream</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进行网络连接</a:t>
            </a:r>
            <a:r>
              <a:rPr lang="en-US" altLang="zh-CN" sz="2000" noProof="1">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noProof="1">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MH_Number_1"/>
          <p:cNvSpPr/>
          <p:nvPr>
            <p:custDataLst>
              <p:tags r:id="rId6"/>
            </p:custDataLst>
          </p:nvPr>
        </p:nvSpPr>
        <p:spPr>
          <a:xfrm>
            <a:off x="4798262" y="1413794"/>
            <a:ext cx="3040528" cy="985083"/>
          </a:xfrm>
          <a:prstGeom prst="roundRect">
            <a:avLst>
              <a:gd name="adj" fmla="val 12189"/>
            </a:avLst>
          </a:prstGeom>
          <a:solidFill>
            <a:srgbClr val="5B9BD5"/>
          </a:solidFill>
          <a:ln w="25400" cap="flat" cmpd="sng">
            <a:solidFill>
              <a:srgbClr val="FFFFFF"/>
            </a:solidFill>
            <a:prstDash val="solid"/>
            <a:round/>
            <a:headEnd type="none" w="med" len="med"/>
            <a:tailEnd type="none" w="med" len="med"/>
          </a:ln>
        </p:spPr>
        <p:txBody>
          <a:bodyPr wrap="square" lIns="89985" tIns="46792" rIns="89985" bIns="46792" anchor="ctr" anchorCtr="1">
            <a:normAutofit/>
          </a:bodyPr>
          <a:lstStyle/>
          <a:p>
            <a:pPr lvl="0" algn="ctr">
              <a:lnSpc>
                <a:spcPct val="130000"/>
              </a:lnSpc>
            </a:pPr>
            <a:r>
              <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rPr>
              <a:t>支持多线程</a:t>
            </a:r>
            <a:endPar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1.1.3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的发展史</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429635"/>
            <a:ext cx="5594985" cy="1043940"/>
            <a:chOff x="8472" y="5401"/>
            <a:chExt cx="8811" cy="1644"/>
          </a:xfrm>
        </p:grpSpPr>
        <p:sp>
          <p:nvSpPr>
            <p:cNvPr id="15" name="TextBox 35"/>
            <p:cNvSpPr txBox="1">
              <a:spLocks noChangeArrowheads="1"/>
            </p:cNvSpPr>
            <p:nvPr/>
          </p:nvSpPr>
          <p:spPr bwMode="auto">
            <a:xfrm>
              <a:off x="9325" y="540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了解</a:t>
              </a:r>
              <a:r>
                <a:rPr lang="en-US" altLang="zh-CN" sz="2000" dirty="0">
                  <a:solidFill>
                    <a:srgbClr val="1369B2"/>
                  </a:solidFill>
                  <a:latin typeface="微软雅黑" panose="020B0503020204020204" pitchFamily="34" charset="-122"/>
                  <a:ea typeface="微软雅黑" panose="020B0503020204020204" pitchFamily="34" charset="-122"/>
                </a:rPr>
                <a:t>Java</a:t>
              </a:r>
              <a:r>
                <a:rPr lang="zh-CN" altLang="en-US" sz="2000" dirty="0">
                  <a:solidFill>
                    <a:srgbClr val="1369B2"/>
                  </a:solidFill>
                  <a:latin typeface="微软雅黑" panose="020B0503020204020204" pitchFamily="34" charset="-122"/>
                  <a:ea typeface="微软雅黑" panose="020B0503020204020204" pitchFamily="34" charset="-122"/>
                </a:rPr>
                <a:t>的发展史，</a:t>
              </a:r>
              <a:r>
                <a:rPr lang="zh-CN" altLang="en-US" sz="2000" dirty="0">
                  <a:solidFill>
                    <a:srgbClr val="595959"/>
                  </a:solidFill>
                  <a:latin typeface="微软雅黑" panose="020B0503020204020204" pitchFamily="34" charset="-122"/>
                  <a:ea typeface="微软雅黑" panose="020B0503020204020204" pitchFamily="34" charset="-122"/>
                </a:rPr>
                <a:t>能够说出</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en-US" sz="2000" dirty="0">
                  <a:solidFill>
                    <a:srgbClr val="595959"/>
                  </a:solidFill>
                  <a:latin typeface="微软雅黑" panose="020B0503020204020204" pitchFamily="34" charset="-122"/>
                  <a:ea typeface="微软雅黑" panose="020B0503020204020204" pitchFamily="34" charset="-122"/>
                </a:rPr>
                <a:t>的发展史</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1.1.3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的发展史</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962025"/>
            <a:ext cx="2640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101984"/>
            <a:ext cx="1704340" cy="398780"/>
          </a:xfrm>
          <a:prstGeom prst="rect">
            <a:avLst/>
          </a:prstGeom>
          <a:noFill/>
        </p:spPr>
        <p:txBody>
          <a:bodyPr wrap="none" rtlCol="0">
            <a:spAutoFit/>
          </a:bodyPr>
          <a:lstStyle/>
          <a:p>
            <a:pPr algn="l"/>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en-US" sz="2000" dirty="0">
                <a:solidFill>
                  <a:srgbClr val="1369B2"/>
                </a:solidFill>
                <a:latin typeface="微软雅黑" panose="020B0503020204020204" pitchFamily="34" charset="-122"/>
                <a:ea typeface="微软雅黑" panose="020B0503020204020204" pitchFamily="34" charset="-122"/>
                <a:sym typeface="+mn-ea"/>
              </a:rPr>
              <a:t>的发展史</a:t>
            </a:r>
            <a:endParaRPr lang="zh-CN" altLang="en-US" sz="2000" dirty="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046220" y="962025"/>
            <a:ext cx="4154805" cy="55308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Java的发展史具体如下</a:t>
            </a:r>
            <a:r>
              <a:rPr lang="zh-CN" altLang="en-US" sz="2000" dirty="0">
                <a:solidFill>
                  <a:srgbClr val="595959"/>
                </a:solidFill>
                <a:latin typeface="微软雅黑" panose="020B0503020204020204" pitchFamily="34" charset="-122"/>
                <a:ea typeface="微软雅黑" panose="020B0503020204020204" pitchFamily="34" charset="-122"/>
                <a:cs typeface="+mn-ea"/>
              </a:rPr>
              <a:t>表</a:t>
            </a:r>
            <a:r>
              <a:rPr lang="zh-CN" altLang="zh-CN" sz="2000" dirty="0">
                <a:solidFill>
                  <a:srgbClr val="595959"/>
                </a:solidFill>
                <a:latin typeface="微软雅黑" panose="020B0503020204020204" pitchFamily="34" charset="-122"/>
                <a:ea typeface="微软雅黑" panose="020B0503020204020204" pitchFamily="34" charset="-122"/>
                <a:cs typeface="+mn-ea"/>
              </a:rPr>
              <a:t>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5" name="表格 14"/>
          <p:cNvGraphicFramePr>
            <a:graphicFrameLocks noGrp="1"/>
          </p:cNvGraphicFramePr>
          <p:nvPr>
            <p:custDataLst>
              <p:tags r:id="rId2"/>
            </p:custDataLst>
          </p:nvPr>
        </p:nvGraphicFramePr>
        <p:xfrm>
          <a:off x="1143635" y="2133794"/>
          <a:ext cx="10208424" cy="3639774"/>
        </p:xfrm>
        <a:graphic>
          <a:graphicData uri="http://schemas.openxmlformats.org/drawingml/2006/table">
            <a:tbl>
              <a:tblPr>
                <a:tableStyleId>{7DF18680-E054-41AD-8BC1-D1AEF772440D}</a:tableStyleId>
              </a:tblPr>
              <a:tblGrid>
                <a:gridCol w="2690614"/>
                <a:gridCol w="7517810"/>
              </a:tblGrid>
              <a:tr h="551638">
                <a:tc>
                  <a:txBody>
                    <a:bodyPr/>
                    <a:lstStyle/>
                    <a:p>
                      <a:pPr indent="267970" algn="ctr">
                        <a:lnSpc>
                          <a:spcPct val="100000"/>
                        </a:lnSpc>
                        <a:spcAft>
                          <a:spcPts val="0"/>
                        </a:spcAft>
                      </a:pPr>
                      <a:r>
                        <a:rPr lang="zh-CN" sz="18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时间</a:t>
                      </a:r>
                      <a:endParaRPr lang="zh-CN" sz="18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nchor="ctr">
                    <a:solidFill>
                      <a:srgbClr val="F2F2F2"/>
                    </a:solidFill>
                  </a:tcPr>
                </a:tc>
                <a:tc>
                  <a:txBody>
                    <a:bodyPr/>
                    <a:lstStyle/>
                    <a:p>
                      <a:pPr indent="267970" algn="ctr">
                        <a:lnSpc>
                          <a:spcPct val="100000"/>
                        </a:lnSpc>
                        <a:spcAft>
                          <a:spcPts val="0"/>
                        </a:spcAft>
                      </a:pPr>
                      <a:r>
                        <a:rPr lang="zh-CN" altLang="en-US" sz="1800" b="1" kern="100" dirty="0">
                          <a:solidFill>
                            <a:srgbClr val="595959"/>
                          </a:solidFill>
                          <a:effectLst/>
                          <a:latin typeface="微软雅黑" panose="020B0503020204020204" pitchFamily="34" charset="-122"/>
                          <a:ea typeface="微软雅黑" panose="020B0503020204020204" pitchFamily="34" charset="-122"/>
                        </a:rPr>
                        <a:t>事件</a:t>
                      </a:r>
                      <a:endParaRPr lang="zh-CN" altLang="en-US" sz="1800" b="1" kern="100" dirty="0">
                        <a:solidFill>
                          <a:srgbClr val="595959"/>
                        </a:solidFill>
                        <a:effectLst/>
                        <a:latin typeface="微软雅黑" panose="020B0503020204020204" pitchFamily="34" charset="-122"/>
                        <a:ea typeface="微软雅黑" panose="020B0503020204020204" pitchFamily="34" charset="-122"/>
                      </a:endParaRPr>
                    </a:p>
                  </a:txBody>
                  <a:tcPr marL="76030" marR="76030" marT="0" marB="0" anchor="ctr">
                    <a:solidFill>
                      <a:srgbClr val="F2F2F2"/>
                    </a:solidFill>
                  </a:tcPr>
                </a:tc>
              </a:tr>
              <a:tr h="497714">
                <a:tc>
                  <a:txBody>
                    <a:bodyPr/>
                    <a:lstStyle/>
                    <a:p>
                      <a:pPr algn="ctr">
                        <a:lnSpc>
                          <a:spcPct val="100000"/>
                        </a:lnSpc>
                        <a:spcAft>
                          <a:spcPts val="0"/>
                        </a:spcAft>
                        <a:buClrTx/>
                        <a:buSzTx/>
                        <a:buFontTx/>
                        <a:buNone/>
                      </a:pPr>
                      <a:r>
                        <a:rPr lang="zh-CN" sz="18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1995年5月23日</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nchor="ctr">
                    <a:solidFill>
                      <a:srgbClr val="F2F2F2"/>
                    </a:solidFill>
                  </a:tcPr>
                </a:tc>
                <a:tc>
                  <a:txBody>
                    <a:bodyPr/>
                    <a:lstStyle/>
                    <a:p>
                      <a:pPr algn="l">
                        <a:lnSpc>
                          <a:spcPct val="100000"/>
                        </a:lnSpc>
                        <a:spcAft>
                          <a:spcPts val="0"/>
                        </a:spcAft>
                        <a:buClrTx/>
                        <a:buSzTx/>
                        <a:buFontTx/>
                        <a:buNone/>
                      </a:pPr>
                      <a:r>
                        <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Java语言诞生</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solidFill>
                      <a:srgbClr val="F2F2F2"/>
                    </a:solidFill>
                  </a:tcPr>
                </a:tc>
              </a:tr>
              <a:tr h="497714">
                <a:tc>
                  <a:txBody>
                    <a:bodyPr/>
                    <a:lstStyle/>
                    <a:p>
                      <a:pPr algn="ctr">
                        <a:lnSpc>
                          <a:spcPct val="100000"/>
                        </a:lnSpc>
                        <a:spcAft>
                          <a:spcPts val="0"/>
                        </a:spcAft>
                        <a:buClrTx/>
                        <a:buSzTx/>
                        <a:buFontTx/>
                        <a:buNone/>
                      </a:pPr>
                      <a:r>
                        <a:rPr lang="zh-CN" altLang="en-US" sz="18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1998年12月8日</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nchor="ctr">
                    <a:solidFill>
                      <a:srgbClr val="F2F2F2"/>
                    </a:solidFill>
                  </a:tcPr>
                </a:tc>
                <a:tc>
                  <a:txBody>
                    <a:bodyPr/>
                    <a:lstStyle/>
                    <a:p>
                      <a:pPr algn="l">
                        <a:lnSpc>
                          <a:spcPct val="100000"/>
                        </a:lnSpc>
                        <a:spcAft>
                          <a:spcPts val="0"/>
                        </a:spcAft>
                        <a:buClrTx/>
                        <a:buSzTx/>
                        <a:buFontTx/>
                        <a:buNone/>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Java 1.2企业平台J2EE发布</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solidFill>
                      <a:srgbClr val="F2F2F2"/>
                    </a:solidFill>
                  </a:tcPr>
                </a:tc>
              </a:tr>
              <a:tr h="540657">
                <a:tc>
                  <a:txBody>
                    <a:bodyPr/>
                    <a:lstStyle/>
                    <a:p>
                      <a:pPr algn="ctr">
                        <a:lnSpc>
                          <a:spcPct val="100000"/>
                        </a:lnSpc>
                        <a:spcAft>
                          <a:spcPts val="0"/>
                        </a:spcAft>
                        <a:buClrTx/>
                        <a:buSzTx/>
                        <a:buFontTx/>
                        <a:buNone/>
                      </a:pPr>
                      <a:r>
                        <a:rPr lang="zh-CN" altLang="en-US" sz="18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1999年6月</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nchor="ctr">
                    <a:solidFill>
                      <a:srgbClr val="F2F2F2"/>
                    </a:solidFill>
                  </a:tcPr>
                </a:tc>
                <a:tc>
                  <a:txBody>
                    <a:bodyPr/>
                    <a:lstStyle/>
                    <a:p>
                      <a:pPr algn="l">
                        <a:lnSpc>
                          <a:spcPct val="100000"/>
                        </a:lnSpc>
                        <a:spcAft>
                          <a:spcPts val="0"/>
                        </a:spcAft>
                        <a:buClrTx/>
                        <a:buSzTx/>
                        <a:buFontTx/>
                        <a:buNone/>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SUN公司发布Java的3个版本：标准版（J2SE）、企业版（J2EE）和微型版（J2ME）</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solidFill>
                      <a:srgbClr val="F2F2F2"/>
                    </a:solidFill>
                  </a:tcPr>
                </a:tc>
              </a:tr>
              <a:tr h="497714">
                <a:tc>
                  <a:txBody>
                    <a:bodyPr/>
                    <a:lstStyle/>
                    <a:p>
                      <a:pPr algn="ctr">
                        <a:lnSpc>
                          <a:spcPct val="100000"/>
                        </a:lnSpc>
                        <a:spcAft>
                          <a:spcPts val="0"/>
                        </a:spcAft>
                        <a:buClrTx/>
                        <a:buSzTx/>
                        <a:buFontTx/>
                        <a:buNone/>
                      </a:pPr>
                      <a:r>
                        <a:rPr lang="zh-CN" altLang="en-US" sz="18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2001年9月24日</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nchor="ctr">
                    <a:solidFill>
                      <a:srgbClr val="F2F2F2"/>
                    </a:solidFill>
                  </a:tcPr>
                </a:tc>
                <a:tc>
                  <a:txBody>
                    <a:bodyPr/>
                    <a:lstStyle/>
                    <a:p>
                      <a:pPr algn="l">
                        <a:lnSpc>
                          <a:spcPct val="100000"/>
                        </a:lnSpc>
                        <a:spcAft>
                          <a:spcPts val="0"/>
                        </a:spcAft>
                        <a:buClrTx/>
                        <a:buSzTx/>
                        <a:buFontTx/>
                        <a:buNone/>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J2EE 1.3发布</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solidFill>
                      <a:srgbClr val="F2F2F2"/>
                    </a:solidFill>
                  </a:tcPr>
                </a:tc>
              </a:tr>
              <a:tr h="497714">
                <a:tc>
                  <a:txBody>
                    <a:bodyPr/>
                    <a:lstStyle/>
                    <a:p>
                      <a:pPr algn="ctr">
                        <a:lnSpc>
                          <a:spcPct val="100000"/>
                        </a:lnSpc>
                        <a:spcAft>
                          <a:spcPts val="0"/>
                        </a:spcAft>
                        <a:buClrTx/>
                        <a:buSzTx/>
                        <a:buFontTx/>
                        <a:buNone/>
                      </a:pPr>
                      <a:r>
                        <a:rPr lang="zh-CN" altLang="en-US" sz="18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2002年2月26日</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nchor="ctr">
                    <a:solidFill>
                      <a:srgbClr val="F2F2F2"/>
                    </a:solidFill>
                  </a:tcPr>
                </a:tc>
                <a:tc>
                  <a:txBody>
                    <a:bodyPr/>
                    <a:lstStyle/>
                    <a:p>
                      <a:pPr algn="l">
                        <a:lnSpc>
                          <a:spcPct val="100000"/>
                        </a:lnSpc>
                        <a:spcAft>
                          <a:spcPts val="0"/>
                        </a:spcAft>
                        <a:buClrTx/>
                        <a:buSzTx/>
                        <a:buFontTx/>
                        <a:buNone/>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J2SE 1.4发布，自此Java的计算能力有了大幅提升</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solidFill>
                      <a:srgbClr val="F2F2F2"/>
                    </a:solidFill>
                  </a:tcPr>
                </a:tc>
              </a:tr>
              <a:tr h="540657">
                <a:tc>
                  <a:txBody>
                    <a:bodyPr/>
                    <a:lstStyle/>
                    <a:p>
                      <a:pPr algn="ctr">
                        <a:lnSpc>
                          <a:spcPct val="100000"/>
                        </a:lnSpc>
                        <a:spcAft>
                          <a:spcPts val="0"/>
                        </a:spcAft>
                        <a:buClrTx/>
                        <a:buSzTx/>
                        <a:buFontTx/>
                        <a:buNone/>
                      </a:pPr>
                      <a:r>
                        <a:rPr lang="zh-CN" altLang="en-US" sz="18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2004年9月30日</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nchor="ctr">
                    <a:solidFill>
                      <a:srgbClr val="F2F2F2"/>
                    </a:solidFill>
                  </a:tcPr>
                </a:tc>
                <a:tc>
                  <a:txBody>
                    <a:bodyPr/>
                    <a:lstStyle/>
                    <a:p>
                      <a:pPr algn="l">
                        <a:lnSpc>
                          <a:spcPct val="100000"/>
                        </a:lnSpc>
                        <a:spcAft>
                          <a:spcPts val="0"/>
                        </a:spcAft>
                        <a:buClrTx/>
                        <a:buSzTx/>
                        <a:buFontTx/>
                        <a:buNone/>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J2SE 1.5的发布成为Java语言发展史上的又一里程碑。为了表示该版本的重要性，J2SE 1.5更名为Java SE 5.0</a:t>
                      </a:r>
                      <a:endPar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76030" marR="7603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1.1.3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的发展史</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962025"/>
            <a:ext cx="2640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101984"/>
            <a:ext cx="1704340" cy="398780"/>
          </a:xfrm>
          <a:prstGeom prst="rect">
            <a:avLst/>
          </a:prstGeom>
          <a:noFill/>
        </p:spPr>
        <p:txBody>
          <a:bodyPr wrap="none" rtlCol="0">
            <a:spAutoFit/>
          </a:bodyPr>
          <a:lstStyle/>
          <a:p>
            <a:pPr algn="l"/>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en-US" sz="2000" dirty="0">
                <a:solidFill>
                  <a:srgbClr val="1369B2"/>
                </a:solidFill>
                <a:latin typeface="微软雅黑" panose="020B0503020204020204" pitchFamily="34" charset="-122"/>
                <a:ea typeface="微软雅黑" panose="020B0503020204020204" pitchFamily="34" charset="-122"/>
                <a:sym typeface="+mn-ea"/>
              </a:rPr>
              <a:t>的发展史</a:t>
            </a:r>
            <a:endParaRPr lang="zh-CN" altLang="en-US" sz="2000" dirty="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15" name="表格 14"/>
          <p:cNvGraphicFramePr>
            <a:graphicFrameLocks noGrp="1"/>
          </p:cNvGraphicFramePr>
          <p:nvPr>
            <p:custDataLst>
              <p:tags r:id="rId2"/>
            </p:custDataLst>
          </p:nvPr>
        </p:nvGraphicFramePr>
        <p:xfrm>
          <a:off x="1663372" y="1924209"/>
          <a:ext cx="9208135" cy="3819017"/>
        </p:xfrm>
        <a:graphic>
          <a:graphicData uri="http://schemas.openxmlformats.org/drawingml/2006/table">
            <a:tbl>
              <a:tblPr>
                <a:tableStyleId>{7DF18680-E054-41AD-8BC1-D1AEF772440D}</a:tableStyleId>
              </a:tblPr>
              <a:tblGrid>
                <a:gridCol w="2426970"/>
                <a:gridCol w="678116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时间</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sym typeface="+mn-ea"/>
                        </a:rPr>
                        <a:t>事件</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2005年6月</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JavaOne大会召开，SUN公司公开Java SE 6。自此，Java的各种版本进行了更名，取消了名称中的数字2，J2EE更名为Java EE，J2SE更名为Java SE，J2ME更名为Java ME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2009年12月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SUN公司发布Java EE 6</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2011年7月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7</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2014年3月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8</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2017年9月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9</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2018年3月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10</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1.1.3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的发展史</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962025"/>
            <a:ext cx="2640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101984"/>
            <a:ext cx="1704340" cy="398780"/>
          </a:xfrm>
          <a:prstGeom prst="rect">
            <a:avLst/>
          </a:prstGeom>
          <a:noFill/>
        </p:spPr>
        <p:txBody>
          <a:bodyPr wrap="none" rtlCol="0">
            <a:spAutoFit/>
          </a:bodyPr>
          <a:lstStyle/>
          <a:p>
            <a:pPr algn="l"/>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en-US" sz="2000" dirty="0">
                <a:solidFill>
                  <a:srgbClr val="1369B2"/>
                </a:solidFill>
                <a:latin typeface="微软雅黑" panose="020B0503020204020204" pitchFamily="34" charset="-122"/>
                <a:ea typeface="微软雅黑" panose="020B0503020204020204" pitchFamily="34" charset="-122"/>
                <a:sym typeface="+mn-ea"/>
              </a:rPr>
              <a:t>的发展史</a:t>
            </a:r>
            <a:endParaRPr lang="zh-CN" altLang="en-US" sz="2000" dirty="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15" name="表格 14"/>
          <p:cNvGraphicFramePr>
            <a:graphicFrameLocks noGrp="1"/>
          </p:cNvGraphicFramePr>
          <p:nvPr>
            <p:custDataLst>
              <p:tags r:id="rId2"/>
            </p:custDataLst>
          </p:nvPr>
        </p:nvGraphicFramePr>
        <p:xfrm>
          <a:off x="1663372" y="1924209"/>
          <a:ext cx="9208135" cy="3662680"/>
        </p:xfrm>
        <a:graphic>
          <a:graphicData uri="http://schemas.openxmlformats.org/drawingml/2006/table">
            <a:tbl>
              <a:tblPr>
                <a:tableStyleId>{7DF18680-E054-41AD-8BC1-D1AEF772440D}</a:tableStyleId>
              </a:tblPr>
              <a:tblGrid>
                <a:gridCol w="2426970"/>
                <a:gridCol w="678116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时间</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sym typeface="+mn-ea"/>
                        </a:rPr>
                        <a:t>事件</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2018年9月</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11</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2019年3月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12</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2019年9月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13</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2020年3月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14</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2020年9月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15</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2021年3月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16</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2021年5月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Oracle公司发布Java SE 17</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en-US" altLang="zh-CN" sz="3400" b="1" dirty="0">
                <a:solidFill>
                  <a:srgbClr val="1369B2"/>
                </a:solidFill>
                <a:latin typeface="微软雅黑" panose="020B0503020204020204" pitchFamily="34" charset="-122"/>
                <a:ea typeface="微软雅黑" panose="020B0503020204020204" pitchFamily="34" charset="-122"/>
                <a:cs typeface="+mn-ea"/>
                <a:sym typeface="+mn-lt"/>
              </a:rPr>
              <a:t>JDK</a:t>
            </a:r>
            <a:r>
              <a:rPr lang="zh-CN" altLang="en-US" sz="3400" b="1" dirty="0">
                <a:solidFill>
                  <a:srgbClr val="1369B2"/>
                </a:solidFill>
                <a:latin typeface="微软雅黑" panose="020B0503020204020204" pitchFamily="34" charset="-122"/>
                <a:ea typeface="微软雅黑" panose="020B0503020204020204" pitchFamily="34" charset="-122"/>
                <a:cs typeface="+mn-ea"/>
                <a:sym typeface="+mn-lt"/>
              </a:rPr>
              <a:t>的使用</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JDK</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509169"/>
            <a:ext cx="5515610" cy="582295"/>
            <a:chOff x="8472" y="5693"/>
            <a:chExt cx="8686" cy="917"/>
          </a:xfrm>
        </p:grpSpPr>
        <p:sp>
          <p:nvSpPr>
            <p:cNvPr id="15" name="TextBox 35"/>
            <p:cNvSpPr txBox="1">
              <a:spLocks noChangeArrowheads="1"/>
            </p:cNvSpPr>
            <p:nvPr/>
          </p:nvSpPr>
          <p:spPr bwMode="auto">
            <a:xfrm>
              <a:off x="9200" y="5693"/>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掌握</a:t>
              </a:r>
              <a:r>
                <a:rPr lang="en-US" altLang="zh-CN" sz="2000" dirty="0">
                  <a:solidFill>
                    <a:srgbClr val="595959"/>
                  </a:solidFill>
                  <a:latin typeface="微软雅黑" panose="020B0503020204020204" pitchFamily="34" charset="-122"/>
                  <a:ea typeface="微软雅黑" panose="020B0503020204020204" pitchFamily="34" charset="-122"/>
                </a:rPr>
                <a:t>JDK</a:t>
              </a:r>
              <a:r>
                <a:rPr lang="zh-CN" altLang="en-US" sz="2000" dirty="0">
                  <a:solidFill>
                    <a:srgbClr val="595959"/>
                  </a:solidFill>
                  <a:latin typeface="微软雅黑" panose="020B0503020204020204" pitchFamily="34" charset="-122"/>
                  <a:ea typeface="微软雅黑" panose="020B0503020204020204" pitchFamily="34" charset="-122"/>
                </a:rPr>
                <a:t>的安装，能够独立</a:t>
              </a:r>
              <a:r>
                <a:rPr lang="zh-CN" altLang="en-US" sz="2000" dirty="0">
                  <a:solidFill>
                    <a:srgbClr val="1369B2"/>
                  </a:solidFill>
                  <a:latin typeface="微软雅黑" panose="020B0503020204020204" pitchFamily="34" charset="-122"/>
                  <a:ea typeface="微软雅黑" panose="020B0503020204020204" pitchFamily="34" charset="-122"/>
                </a:rPr>
                <a:t>安装</a:t>
              </a:r>
              <a:r>
                <a:rPr lang="en-US" altLang="zh-CN" sz="2000" dirty="0">
                  <a:solidFill>
                    <a:srgbClr val="1369B2"/>
                  </a:solidFill>
                  <a:latin typeface="微软雅黑" panose="020B0503020204020204" pitchFamily="34" charset="-122"/>
                  <a:ea typeface="微软雅黑" panose="020B0503020204020204" pitchFamily="34" charset="-122"/>
                </a:rPr>
                <a:t>JDK</a:t>
              </a:r>
              <a:endParaRPr lang="en-US" altLang="zh-CN" sz="2000" dirty="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JDK</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1"/>
          <p:cNvSpPr txBox="1"/>
          <p:nvPr>
            <p:custDataLst>
              <p:tags r:id="rId1"/>
            </p:custDataLst>
          </p:nvPr>
        </p:nvSpPr>
        <p:spPr>
          <a:xfrm>
            <a:off x="1000125" y="1911033"/>
            <a:ext cx="10462542" cy="1014730"/>
          </a:xfrm>
          <a:prstGeom prst="rect">
            <a:avLst/>
          </a:prstGeom>
          <a:noFill/>
          <a:ln>
            <a:noFill/>
          </a:ln>
        </p:spPr>
        <p:txBody>
          <a:bodyPr wrap="square" rtlCol="0">
            <a:spAutoFit/>
          </a:bodyPr>
          <a:lstStyle/>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rPr>
              <a:t>从</a:t>
            </a:r>
            <a:r>
              <a:rPr lang="en-US" altLang="zh-CN" sz="2000" dirty="0">
                <a:solidFill>
                  <a:srgbClr val="595959"/>
                </a:solidFill>
                <a:latin typeface="微软雅黑" panose="020B0503020204020204" pitchFamily="34" charset="-122"/>
                <a:ea typeface="微软雅黑" panose="020B0503020204020204" pitchFamily="34" charset="-122"/>
              </a:rPr>
              <a:t>Oracle</a:t>
            </a:r>
            <a:r>
              <a:rPr lang="zh-CN" altLang="en-US" sz="2000" dirty="0">
                <a:solidFill>
                  <a:srgbClr val="595959"/>
                </a:solidFill>
                <a:latin typeface="微软雅黑" panose="020B0503020204020204" pitchFamily="34" charset="-122"/>
                <a:ea typeface="微软雅黑" panose="020B0503020204020204" pitchFamily="34" charset="-122"/>
              </a:rPr>
              <a:t>官网下载安装文件“</a:t>
            </a:r>
            <a:r>
              <a:rPr lang="en-US" altLang="zh-CN" sz="2000" dirty="0">
                <a:solidFill>
                  <a:srgbClr val="1369B2"/>
                </a:solidFill>
                <a:latin typeface="微软雅黑" panose="020B0503020204020204" pitchFamily="34" charset="-122"/>
                <a:ea typeface="微软雅黑" panose="020B0503020204020204" pitchFamily="34" charset="-122"/>
              </a:rPr>
              <a:t>jdk-11.0.11-windows-x64-bin.exe</a:t>
            </a:r>
            <a:r>
              <a:rPr lang="zh-CN" altLang="zh-CN" sz="2000"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微软雅黑" panose="020B0503020204020204" pitchFamily="34" charset="-122"/>
                <a:ea typeface="微软雅黑" panose="020B0503020204020204" pitchFamily="34" charset="-122"/>
              </a:rPr>
              <a:t>找到安装文件的所在位置，双击文件，开始安装</a:t>
            </a:r>
            <a:r>
              <a:rPr lang="zh-CN" altLang="en-US" sz="2000" dirty="0">
                <a:solidFill>
                  <a:srgbClr val="595959"/>
                </a:solidFill>
                <a:latin typeface="微软雅黑" panose="020B0503020204020204" pitchFamily="34" charset="-122"/>
                <a:ea typeface="微软雅黑" panose="020B0503020204020204" pitchFamily="34" charset="-122"/>
                <a:sym typeface="+mn-lt"/>
              </a:rPr>
              <a:t>。</a:t>
            </a:r>
            <a:endParaRPr lang="zh-CN" altLang="en-US" sz="2000" dirty="0">
              <a:solidFill>
                <a:srgbClr val="595959"/>
              </a:solidFill>
              <a:latin typeface="微软雅黑" panose="020B0503020204020204" pitchFamily="34" charset="-122"/>
              <a:ea typeface="微软雅黑" panose="020B0503020204020204" pitchFamily="34" charset="-122"/>
              <a:sym typeface="+mn-lt"/>
            </a:endParaRPr>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06" y="3131992"/>
            <a:ext cx="1728470" cy="172847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5100501" y="3959519"/>
            <a:ext cx="4629689" cy="398780"/>
          </a:xfrm>
          <a:prstGeom prst="rect">
            <a:avLst/>
          </a:prstGeom>
          <a:noFill/>
        </p:spPr>
        <p:txBody>
          <a:bodyPr wrap="square" rtlCol="0">
            <a:spAutoFit/>
          </a:bodyPr>
          <a:lstStyle/>
          <a:p>
            <a:r>
              <a:rPr lang="zh-CN" altLang="zh-CN" sz="2000" dirty="0">
                <a:solidFill>
                  <a:srgbClr val="595959"/>
                </a:solidFill>
                <a:latin typeface="微软雅黑" panose="020B0503020204020204" pitchFamily="34" charset="-122"/>
                <a:ea typeface="微软雅黑" panose="020B0503020204020204" pitchFamily="34" charset="-122"/>
              </a:rPr>
              <a:t>双击文件，进入</a:t>
            </a:r>
            <a:r>
              <a:rPr lang="en-US" altLang="zh-CN" sz="2000" dirty="0">
                <a:solidFill>
                  <a:srgbClr val="595959"/>
                </a:solidFill>
                <a:latin typeface="微软雅黑" panose="020B0503020204020204" pitchFamily="34" charset="-122"/>
                <a:ea typeface="微软雅黑" panose="020B0503020204020204" pitchFamily="34" charset="-122"/>
              </a:rPr>
              <a:t>JDK 11</a:t>
            </a:r>
            <a:r>
              <a:rPr lang="zh-CN" altLang="zh-CN" sz="2000" dirty="0">
                <a:solidFill>
                  <a:srgbClr val="595959"/>
                </a:solidFill>
                <a:latin typeface="微软雅黑" panose="020B0503020204020204" pitchFamily="34" charset="-122"/>
                <a:ea typeface="微软雅黑" panose="020B0503020204020204" pitchFamily="34" charset="-122"/>
              </a:rPr>
              <a:t>安装界面</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0" name="矩形 19"/>
          <p:cNvSpPr/>
          <p:nvPr/>
        </p:nvSpPr>
        <p:spPr>
          <a:xfrm>
            <a:off x="2246630" y="4860462"/>
            <a:ext cx="1400175" cy="398780"/>
          </a:xfrm>
          <a:prstGeom prst="rect">
            <a:avLst/>
          </a:prstGeom>
        </p:spPr>
        <p:txBody>
          <a:bodyPr wrap="none">
            <a:spAutoFit/>
          </a:bodyPr>
          <a:lstStyle/>
          <a:p>
            <a:r>
              <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rPr>
              <a:t>JDK</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安装包</a:t>
            </a:r>
            <a:endPar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4" name="直接箭头连接符 3"/>
          <p:cNvCxnSpPr/>
          <p:nvPr/>
        </p:nvCxnSpPr>
        <p:spPr>
          <a:xfrm>
            <a:off x="3646805" y="4158909"/>
            <a:ext cx="139242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Chevron 3"/>
          <p:cNvSpPr/>
          <p:nvPr>
            <p:custDataLst>
              <p:tags r:id="rId3"/>
            </p:custDataLst>
          </p:nvPr>
        </p:nvSpPr>
        <p:spPr>
          <a:xfrm>
            <a:off x="1000125" y="1105535"/>
            <a:ext cx="296735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270803" y="1245494"/>
            <a:ext cx="2468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步骤一：下载安装包</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JDK</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对象 1"/>
          <p:cNvGraphicFramePr/>
          <p:nvPr/>
        </p:nvGraphicFramePr>
        <p:xfrm>
          <a:off x="3712210" y="2178050"/>
          <a:ext cx="4766310" cy="3632200"/>
        </p:xfrm>
        <a:graphic>
          <a:graphicData uri="http://schemas.openxmlformats.org/presentationml/2006/ole">
            <mc:AlternateContent xmlns:mc="http://schemas.openxmlformats.org/markup-compatibility/2006">
              <mc:Choice xmlns:v="urn:schemas-microsoft-com:vml" Requires="v">
                <p:oleObj spid="_x0000_s1032" name="" r:id="rId1" imgW="4762500" imgH="3629025" progId="Paint.Picture">
                  <p:embed/>
                </p:oleObj>
              </mc:Choice>
              <mc:Fallback>
                <p:oleObj name="" r:id="rId1" imgW="4762500" imgH="3629025" progId="Paint.Picture">
                  <p:embed/>
                  <p:pic>
                    <p:nvPicPr>
                      <p:cNvPr id="0" name="图片 2"/>
                      <p:cNvPicPr/>
                      <p:nvPr/>
                    </p:nvPicPr>
                    <p:blipFill>
                      <a:blip r:embed="rId2"/>
                      <a:stretch>
                        <a:fillRect/>
                      </a:stretch>
                    </p:blipFill>
                    <p:spPr>
                      <a:xfrm>
                        <a:off x="3712210" y="2178050"/>
                        <a:ext cx="4766310" cy="3632200"/>
                      </a:xfrm>
                      <a:prstGeom prst="rect">
                        <a:avLst/>
                      </a:prstGeom>
                    </p:spPr>
                  </p:pic>
                </p:oleObj>
              </mc:Fallback>
            </mc:AlternateContent>
          </a:graphicData>
        </a:graphic>
      </p:graphicFrame>
      <p:sp>
        <p:nvSpPr>
          <p:cNvPr id="11" name="矩形 10"/>
          <p:cNvSpPr/>
          <p:nvPr/>
        </p:nvSpPr>
        <p:spPr>
          <a:xfrm>
            <a:off x="6604000" y="5490210"/>
            <a:ext cx="870585" cy="295910"/>
          </a:xfrm>
          <a:prstGeom prst="rect">
            <a:avLst/>
          </a:prstGeom>
          <a:noFill/>
          <a:ln w="38100">
            <a:solidFill>
              <a:srgbClr val="FF0000"/>
            </a:solidFill>
          </a:ln>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Chevron 3"/>
          <p:cNvSpPr/>
          <p:nvPr>
            <p:custDataLst>
              <p:tags r:id="rId3"/>
            </p:custDataLst>
          </p:nvPr>
        </p:nvSpPr>
        <p:spPr>
          <a:xfrm>
            <a:off x="1000125" y="1105535"/>
            <a:ext cx="24853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199048" y="1245494"/>
            <a:ext cx="2162175"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sym typeface="+mn-ea"/>
              </a:rPr>
              <a:t>步骤二：安装</a:t>
            </a:r>
            <a:r>
              <a:rPr lang="en-US" altLang="zh-CN" sz="2000" dirty="0">
                <a:solidFill>
                  <a:srgbClr val="1369B2"/>
                </a:solidFill>
                <a:latin typeface="微软雅黑" panose="020B0503020204020204" pitchFamily="34" charset="-122"/>
                <a:ea typeface="微软雅黑" panose="020B0503020204020204" pitchFamily="34" charset="-122"/>
                <a:sym typeface="+mn-ea"/>
              </a:rPr>
              <a:t>JDK</a:t>
            </a:r>
            <a:endParaRPr lang="en-US" altLang="zh-CN" sz="2000" dirty="0">
              <a:solidFill>
                <a:srgbClr val="1369B2"/>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4034155" y="1162050"/>
            <a:ext cx="6704330" cy="553085"/>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在下图中，单击“下一步”按钮进入</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JDK</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自定义安装界面。</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JDK</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4" name="对象 3"/>
          <p:cNvGraphicFramePr/>
          <p:nvPr/>
        </p:nvGraphicFramePr>
        <p:xfrm>
          <a:off x="3712210" y="2261870"/>
          <a:ext cx="4766310" cy="3632200"/>
        </p:xfrm>
        <a:graphic>
          <a:graphicData uri="http://schemas.openxmlformats.org/presentationml/2006/ole">
            <mc:AlternateContent xmlns:mc="http://schemas.openxmlformats.org/markup-compatibility/2006">
              <mc:Choice xmlns:v="urn:schemas-microsoft-com:vml" Requires="v">
                <p:oleObj spid="_x0000_s2056" name="" r:id="rId1" imgW="4762500" imgH="3629025" progId="Paint.Picture">
                  <p:embed/>
                </p:oleObj>
              </mc:Choice>
              <mc:Fallback>
                <p:oleObj name="" r:id="rId1" imgW="4762500" imgH="3629025" progId="Paint.Picture">
                  <p:embed/>
                  <p:pic>
                    <p:nvPicPr>
                      <p:cNvPr id="0" name="图片 4"/>
                      <p:cNvPicPr/>
                      <p:nvPr/>
                    </p:nvPicPr>
                    <p:blipFill>
                      <a:blip r:embed="rId2"/>
                      <a:stretch>
                        <a:fillRect/>
                      </a:stretch>
                    </p:blipFill>
                    <p:spPr>
                      <a:xfrm>
                        <a:off x="3712210" y="2261870"/>
                        <a:ext cx="4766310" cy="3632200"/>
                      </a:xfrm>
                      <a:prstGeom prst="rect">
                        <a:avLst/>
                      </a:prstGeom>
                    </p:spPr>
                  </p:pic>
                </p:oleObj>
              </mc:Fallback>
            </mc:AlternateContent>
          </a:graphicData>
        </a:graphic>
      </p:graphicFrame>
      <p:sp>
        <p:nvSpPr>
          <p:cNvPr id="11" name="矩形 10"/>
          <p:cNvSpPr/>
          <p:nvPr/>
        </p:nvSpPr>
        <p:spPr>
          <a:xfrm>
            <a:off x="6664325" y="5574030"/>
            <a:ext cx="870585" cy="295910"/>
          </a:xfrm>
          <a:prstGeom prst="rect">
            <a:avLst/>
          </a:prstGeom>
          <a:noFill/>
          <a:ln w="38100">
            <a:solidFill>
              <a:srgbClr val="FF0000"/>
            </a:solidFill>
          </a:ln>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Chevron 3"/>
          <p:cNvSpPr/>
          <p:nvPr>
            <p:custDataLst>
              <p:tags r:id="rId3"/>
            </p:custDataLst>
          </p:nvPr>
        </p:nvSpPr>
        <p:spPr>
          <a:xfrm>
            <a:off x="1000125" y="1105535"/>
            <a:ext cx="24853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199048" y="1245494"/>
            <a:ext cx="2214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步骤三：</a:t>
            </a:r>
            <a:r>
              <a:rPr lang="zh-CN" sz="2000" dirty="0">
                <a:solidFill>
                  <a:srgbClr val="1369B2"/>
                </a:solidFill>
                <a:latin typeface="微软雅黑" panose="020B0503020204020204" pitchFamily="34" charset="-122"/>
                <a:ea typeface="微软雅黑" panose="020B0503020204020204" pitchFamily="34" charset="-122"/>
                <a:sym typeface="+mn-ea"/>
              </a:rPr>
              <a:t>选择功能</a:t>
            </a:r>
            <a:endParaRPr lang="zh-CN" sz="2000" dirty="0">
              <a:solidFill>
                <a:srgbClr val="1369B2"/>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3973830" y="937260"/>
            <a:ext cx="7348220"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在下图</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左侧有两个功能模块</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。开发工具和源代码，可以根据自己的需求选择所要安装的模块，本书选择“开发工具”模块。</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JDK</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4" name="对象 3"/>
          <p:cNvGraphicFramePr/>
          <p:nvPr/>
        </p:nvGraphicFramePr>
        <p:xfrm>
          <a:off x="3712210" y="2318385"/>
          <a:ext cx="4766310" cy="3632200"/>
        </p:xfrm>
        <a:graphic>
          <a:graphicData uri="http://schemas.openxmlformats.org/presentationml/2006/ole">
            <mc:AlternateContent xmlns:mc="http://schemas.openxmlformats.org/markup-compatibility/2006">
              <mc:Choice xmlns:v="urn:schemas-microsoft-com:vml" Requires="v">
                <p:oleObj spid="_x0000_s3080" name="" r:id="rId1" imgW="4762500" imgH="3629025" progId="Paint.Picture">
                  <p:embed/>
                </p:oleObj>
              </mc:Choice>
              <mc:Fallback>
                <p:oleObj name="" r:id="rId1" imgW="4762500" imgH="3629025" progId="Paint.Picture">
                  <p:embed/>
                  <p:pic>
                    <p:nvPicPr>
                      <p:cNvPr id="0" name="图片 4"/>
                      <p:cNvPicPr/>
                      <p:nvPr/>
                    </p:nvPicPr>
                    <p:blipFill>
                      <a:blip r:embed="rId2"/>
                      <a:stretch>
                        <a:fillRect/>
                      </a:stretch>
                    </p:blipFill>
                    <p:spPr>
                      <a:xfrm>
                        <a:off x="3712210" y="2318385"/>
                        <a:ext cx="4766310" cy="3632200"/>
                      </a:xfrm>
                      <a:prstGeom prst="rect">
                        <a:avLst/>
                      </a:prstGeom>
                    </p:spPr>
                  </p:pic>
                </p:oleObj>
              </mc:Fallback>
            </mc:AlternateContent>
          </a:graphicData>
        </a:graphic>
      </p:graphicFrame>
      <p:sp>
        <p:nvSpPr>
          <p:cNvPr id="11" name="矩形 10"/>
          <p:cNvSpPr/>
          <p:nvPr/>
        </p:nvSpPr>
        <p:spPr>
          <a:xfrm>
            <a:off x="6633845" y="5592445"/>
            <a:ext cx="870585" cy="295910"/>
          </a:xfrm>
          <a:prstGeom prst="rect">
            <a:avLst/>
          </a:prstGeom>
          <a:noFill/>
          <a:ln w="38100">
            <a:solidFill>
              <a:srgbClr val="FF0000"/>
            </a:solidFill>
          </a:ln>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Chevron 3"/>
          <p:cNvSpPr/>
          <p:nvPr>
            <p:custDataLst>
              <p:tags r:id="rId3"/>
            </p:custDataLst>
          </p:nvPr>
        </p:nvSpPr>
        <p:spPr>
          <a:xfrm>
            <a:off x="1000125" y="1105535"/>
            <a:ext cx="30270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199048" y="1245494"/>
            <a:ext cx="2722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步骤四：</a:t>
            </a:r>
            <a:r>
              <a:rPr lang="zh-CN" sz="2000" dirty="0">
                <a:solidFill>
                  <a:srgbClr val="1369B2"/>
                </a:solidFill>
                <a:latin typeface="微软雅黑" panose="020B0503020204020204" pitchFamily="34" charset="-122"/>
                <a:ea typeface="微软雅黑" panose="020B0503020204020204" pitchFamily="34" charset="-122"/>
                <a:sym typeface="+mn-ea"/>
              </a:rPr>
              <a:t>更改安装目录</a:t>
            </a:r>
            <a:endParaRPr lang="zh-CN" sz="2000" dirty="0">
              <a:solidFill>
                <a:srgbClr val="1369B2"/>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3973830" y="937260"/>
            <a:ext cx="7348220"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在步骤三中，界面右侧有一个“更改”按钮，</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可以更改JDK的安装目录。确定安装目录之后，直接单击“确定”按钮即可</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安装</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JDK</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4" name="对象 3"/>
          <p:cNvGraphicFramePr/>
          <p:nvPr/>
        </p:nvGraphicFramePr>
        <p:xfrm>
          <a:off x="3711575" y="2138045"/>
          <a:ext cx="4766310" cy="3632200"/>
        </p:xfrm>
        <a:graphic>
          <a:graphicData uri="http://schemas.openxmlformats.org/presentationml/2006/ole">
            <mc:AlternateContent xmlns:mc="http://schemas.openxmlformats.org/markup-compatibility/2006">
              <mc:Choice xmlns:v="urn:schemas-microsoft-com:vml" Requires="v">
                <p:oleObj spid="_x0000_s4104" name="" r:id="rId1" imgW="4762500" imgH="3629025" progId="Paint.Picture">
                  <p:embed/>
                </p:oleObj>
              </mc:Choice>
              <mc:Fallback>
                <p:oleObj name="" r:id="rId1" imgW="4762500" imgH="3629025" progId="Paint.Picture">
                  <p:embed/>
                  <p:pic>
                    <p:nvPicPr>
                      <p:cNvPr id="0" name="图片 4"/>
                      <p:cNvPicPr/>
                      <p:nvPr/>
                    </p:nvPicPr>
                    <p:blipFill>
                      <a:blip r:embed="rId2"/>
                      <a:stretch>
                        <a:fillRect/>
                      </a:stretch>
                    </p:blipFill>
                    <p:spPr>
                      <a:xfrm>
                        <a:off x="3711575" y="2138045"/>
                        <a:ext cx="4766310" cy="3632200"/>
                      </a:xfrm>
                      <a:prstGeom prst="rect">
                        <a:avLst/>
                      </a:prstGeom>
                    </p:spPr>
                  </p:pic>
                </p:oleObj>
              </mc:Fallback>
            </mc:AlternateContent>
          </a:graphicData>
        </a:graphic>
      </p:graphicFrame>
      <p:sp>
        <p:nvSpPr>
          <p:cNvPr id="11" name="矩形 10"/>
          <p:cNvSpPr/>
          <p:nvPr/>
        </p:nvSpPr>
        <p:spPr>
          <a:xfrm>
            <a:off x="6616700" y="5412105"/>
            <a:ext cx="870585" cy="295910"/>
          </a:xfrm>
          <a:prstGeom prst="rect">
            <a:avLst/>
          </a:prstGeom>
          <a:noFill/>
          <a:ln w="38100">
            <a:solidFill>
              <a:srgbClr val="FF0000"/>
            </a:solidFill>
          </a:ln>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Chevron 3"/>
          <p:cNvSpPr/>
          <p:nvPr>
            <p:custDataLst>
              <p:tags r:id="rId3"/>
            </p:custDataLst>
          </p:nvPr>
        </p:nvSpPr>
        <p:spPr>
          <a:xfrm>
            <a:off x="569595" y="1105535"/>
            <a:ext cx="2884170" cy="772993"/>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768518" y="1245494"/>
            <a:ext cx="2670175"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步骤五：完成</a:t>
            </a:r>
            <a:r>
              <a:rPr lang="en-US" altLang="zh-CN" sz="2000" dirty="0">
                <a:solidFill>
                  <a:srgbClr val="1369B2"/>
                </a:solidFill>
                <a:latin typeface="微软雅黑" panose="020B0503020204020204" pitchFamily="34" charset="-122"/>
                <a:ea typeface="微软雅黑" panose="020B0503020204020204" pitchFamily="34" charset="-122"/>
                <a:sym typeface="+mn-ea"/>
              </a:rPr>
              <a:t>JDK</a:t>
            </a:r>
            <a:r>
              <a:rPr lang="zh-CN" altLang="en-US" sz="2000" dirty="0">
                <a:solidFill>
                  <a:srgbClr val="1369B2"/>
                </a:solidFill>
                <a:latin typeface="微软雅黑" panose="020B0503020204020204" pitchFamily="34" charset="-122"/>
                <a:ea typeface="微软雅黑" panose="020B0503020204020204" pitchFamily="34" charset="-122"/>
                <a:sym typeface="+mn-ea"/>
              </a:rPr>
              <a:t>安装</a:t>
            </a:r>
            <a:endParaRPr lang="en-US" sz="2000" dirty="0">
              <a:solidFill>
                <a:srgbClr val="1369B2"/>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3471545" y="937260"/>
            <a:ext cx="7993380"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选择安装选项</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后，在</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步骤三</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中，单击“下一步”按钮</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开始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安装。</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完成</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后进入</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界面</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单击“关闭”按钮，关闭窗口，完成JDK安装</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JDK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目录介绍</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509169"/>
            <a:ext cx="6115486" cy="1043940"/>
            <a:chOff x="8472" y="5693"/>
            <a:chExt cx="8596" cy="1644"/>
          </a:xfrm>
        </p:grpSpPr>
        <p:sp>
          <p:nvSpPr>
            <p:cNvPr id="15" name="TextBox 35"/>
            <p:cNvSpPr txBox="1">
              <a:spLocks noChangeArrowheads="1"/>
            </p:cNvSpPr>
            <p:nvPr/>
          </p:nvSpPr>
          <p:spPr bwMode="auto">
            <a:xfrm>
              <a:off x="9110" y="5693"/>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熟悉</a:t>
              </a:r>
              <a:r>
                <a:rPr lang="zh-CN" altLang="en-US" sz="2000" dirty="0">
                  <a:solidFill>
                    <a:srgbClr val="1369B2"/>
                  </a:solidFill>
                  <a:latin typeface="微软雅黑" panose="020B0503020204020204" pitchFamily="34" charset="-122"/>
                  <a:ea typeface="微软雅黑" panose="020B0503020204020204" pitchFamily="34" charset="-122"/>
                </a:rPr>
                <a:t>JDK目录介绍</a:t>
              </a:r>
              <a:r>
                <a:rPr lang="zh-CN" altLang="en-US" sz="2000" dirty="0">
                  <a:solidFill>
                    <a:srgbClr val="595959"/>
                  </a:solidFill>
                  <a:latin typeface="微软雅黑" panose="020B0503020204020204" pitchFamily="34" charset="-122"/>
                  <a:ea typeface="微软雅黑" panose="020B0503020204020204" pitchFamily="34" charset="-122"/>
                </a:rPr>
                <a:t>，能够说出</a:t>
              </a:r>
              <a:r>
                <a:rPr lang="en-US" altLang="zh-CN" sz="2000" dirty="0">
                  <a:solidFill>
                    <a:srgbClr val="595959"/>
                  </a:solidFill>
                  <a:latin typeface="微软雅黑" panose="020B0503020204020204" pitchFamily="34" charset="-122"/>
                  <a:ea typeface="微软雅黑" panose="020B0503020204020204" pitchFamily="34" charset="-122"/>
                </a:rPr>
                <a:t>JDK</a:t>
              </a:r>
              <a:r>
                <a:rPr lang="zh-CN" altLang="en-US" sz="2000" dirty="0">
                  <a:solidFill>
                    <a:srgbClr val="595959"/>
                  </a:solidFill>
                  <a:latin typeface="微软雅黑" panose="020B0503020204020204" pitchFamily="34" charset="-122"/>
                  <a:ea typeface="微软雅黑" panose="020B0503020204020204" pitchFamily="34" charset="-122"/>
                </a:rPr>
                <a:t>安装目录下各子文件夹的意义和作用</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1.2.2  JDK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目录介绍</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TextBox 35"/>
          <p:cNvSpPr txBox="1">
            <a:spLocks noChangeArrowheads="1"/>
          </p:cNvSpPr>
          <p:nvPr/>
        </p:nvSpPr>
        <p:spPr bwMode="auto">
          <a:xfrm>
            <a:off x="3065780" y="1146359"/>
            <a:ext cx="8554891"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JDK</a:t>
            </a:r>
            <a:r>
              <a:rPr lang="zh-CN" altLang="zh-CN" sz="2000" dirty="0">
                <a:solidFill>
                  <a:srgbClr val="595959"/>
                </a:solidFill>
                <a:latin typeface="微软雅黑" panose="020B0503020204020204" pitchFamily="34" charset="-122"/>
                <a:ea typeface="微软雅黑" panose="020B0503020204020204" pitchFamily="34" charset="-122"/>
              </a:rPr>
              <a:t>安装完毕后，会在磁盘上生成一个目录，该目录被称为</a:t>
            </a:r>
            <a:r>
              <a:rPr lang="en-US" altLang="zh-CN" sz="2000" dirty="0">
                <a:solidFill>
                  <a:srgbClr val="595959"/>
                </a:solidFill>
                <a:latin typeface="微软雅黑" panose="020B0503020204020204" pitchFamily="34" charset="-122"/>
                <a:ea typeface="微软雅黑" panose="020B0503020204020204" pitchFamily="34" charset="-122"/>
              </a:rPr>
              <a:t>JDK</a:t>
            </a:r>
            <a:r>
              <a:rPr lang="zh-CN" altLang="zh-CN" sz="2000" dirty="0">
                <a:solidFill>
                  <a:srgbClr val="595959"/>
                </a:solidFill>
                <a:latin typeface="微软雅黑" panose="020B0503020204020204" pitchFamily="34" charset="-122"/>
                <a:ea typeface="微软雅黑" panose="020B0503020204020204" pitchFamily="34" charset="-122"/>
              </a:rPr>
              <a:t>安装目录</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43635" y="1105535"/>
            <a:ext cx="20129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42558" y="1245494"/>
            <a:ext cx="1654175"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sym typeface="+mn-ea"/>
              </a:rPr>
              <a:t>JDK</a:t>
            </a:r>
            <a:r>
              <a:rPr lang="zh-CN" altLang="en-US" sz="2000" dirty="0">
                <a:solidFill>
                  <a:srgbClr val="1369B2"/>
                </a:solidFill>
                <a:latin typeface="微软雅黑" panose="020B0503020204020204" pitchFamily="34" charset="-122"/>
                <a:ea typeface="微软雅黑" panose="020B0503020204020204" pitchFamily="34" charset="-122"/>
                <a:sym typeface="+mn-ea"/>
              </a:rPr>
              <a:t>目录介绍</a:t>
            </a:r>
            <a:endParaRPr lang="zh-CN" altLang="en-US" sz="2000" dirty="0">
              <a:solidFill>
                <a:srgbClr val="1369B2"/>
              </a:solidFill>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3359785" y="1951990"/>
            <a:ext cx="6183365" cy="4536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zh-CN" altLang="en-US" sz="3400" b="1" dirty="0">
                <a:solidFill>
                  <a:srgbClr val="1369B2"/>
                </a:solidFill>
                <a:latin typeface="微软雅黑" panose="020B0503020204020204" pitchFamily="34" charset="-122"/>
                <a:ea typeface="微软雅黑" panose="020B0503020204020204" pitchFamily="34" charset="-122"/>
                <a:cs typeface="+mn-ea"/>
                <a:sym typeface="+mn-lt"/>
              </a:rPr>
              <a:t>第一个</a:t>
            </a:r>
            <a:r>
              <a:rPr lang="en-US" altLang="zh-CN" sz="3400" b="1" dirty="0">
                <a:solidFill>
                  <a:srgbClr val="1369B2"/>
                </a:solidFill>
                <a:latin typeface="微软雅黑" panose="020B0503020204020204" pitchFamily="34" charset="-122"/>
                <a:ea typeface="微软雅黑" panose="020B0503020204020204" pitchFamily="34" charset="-122"/>
                <a:cs typeface="+mn-ea"/>
                <a:sym typeface="+mn-lt"/>
              </a:rPr>
              <a:t>Java</a:t>
            </a:r>
            <a:r>
              <a:rPr lang="zh-CN" altLang="en-US" sz="3400" b="1" dirty="0">
                <a:solidFill>
                  <a:srgbClr val="1369B2"/>
                </a:solidFill>
                <a:latin typeface="微软雅黑" panose="020B0503020204020204" pitchFamily="34" charset="-122"/>
                <a:ea typeface="微软雅黑" panose="020B0503020204020204" pitchFamily="34" charset="-122"/>
                <a:cs typeface="+mn-ea"/>
                <a:sym typeface="+mn-lt"/>
              </a:rPr>
              <a:t>程序</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第一个</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5" name="TextBox 35"/>
          <p:cNvSpPr txBox="1">
            <a:spLocks noChangeArrowheads="1"/>
          </p:cNvSpPr>
          <p:nvPr/>
        </p:nvSpPr>
        <p:spPr bwMode="auto">
          <a:xfrm>
            <a:off x="5815965" y="353568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掌握</a:t>
            </a:r>
            <a:r>
              <a:rPr lang="zh-CN" altLang="en-US" sz="2000" dirty="0">
                <a:solidFill>
                  <a:srgbClr val="1369B2"/>
                </a:solidFill>
                <a:latin typeface="微软雅黑" panose="020B0503020204020204" pitchFamily="34" charset="-122"/>
                <a:ea typeface="微软雅黑" panose="020B0503020204020204" pitchFamily="34" charset="-122"/>
              </a:rPr>
              <a:t>第一个Java程序</a:t>
            </a:r>
            <a:r>
              <a:rPr lang="zh-CN" altLang="en-US" sz="2000" dirty="0">
                <a:solidFill>
                  <a:srgbClr val="595959"/>
                </a:solidFill>
                <a:latin typeface="微软雅黑" panose="020B0503020204020204" pitchFamily="34" charset="-122"/>
                <a:ea typeface="微软雅黑" panose="020B0503020204020204" pitchFamily="34" charset="-122"/>
              </a:rPr>
              <a:t>，能够编写并运行</a:t>
            </a:r>
            <a:r>
              <a:rPr lang="en-US" altLang="zh-CN" sz="2000" dirty="0">
                <a:solidFill>
                  <a:srgbClr val="595959"/>
                </a:solidFill>
                <a:latin typeface="微软雅黑" panose="020B0503020204020204" pitchFamily="34" charset="-122"/>
                <a:ea typeface="微软雅黑" panose="020B0503020204020204" pitchFamily="34" charset="-122"/>
              </a:rPr>
              <a:t>HelloWorld</a:t>
            </a:r>
            <a:r>
              <a:rPr lang="zh-CN" altLang="en-US" sz="2000" dirty="0">
                <a:solidFill>
                  <a:srgbClr val="595959"/>
                </a:solidFill>
                <a:latin typeface="微软雅黑" panose="020B0503020204020204" pitchFamily="34" charset="-122"/>
                <a:ea typeface="微软雅黑" panose="020B0503020204020204" pitchFamily="34" charset="-122"/>
              </a:rPr>
              <a:t>程序</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5379720" y="3775710"/>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第一个</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圆角矩形 9"/>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p:cNvSpPr txBox="1"/>
          <p:nvPr/>
        </p:nvSpPr>
        <p:spPr>
          <a:xfrm flipH="1">
            <a:off x="1050502" y="1331599"/>
            <a:ext cx="1624965" cy="39878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STEP  01</a:t>
            </a:r>
            <a:endParaRPr lang="en-US" altLang="zh-CN"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1"/>
          <p:cNvSpPr txBox="1"/>
          <p:nvPr>
            <p:custDataLst>
              <p:tags r:id="rId1"/>
            </p:custDataLst>
          </p:nvPr>
        </p:nvSpPr>
        <p:spPr>
          <a:xfrm>
            <a:off x="2916980" y="1031179"/>
            <a:ext cx="7937288" cy="1014730"/>
          </a:xfrm>
          <a:prstGeom prst="rect">
            <a:avLst/>
          </a:prstGeom>
          <a:noFill/>
          <a:ln>
            <a:noFill/>
          </a:ln>
        </p:spPr>
        <p:txBody>
          <a:bodyPr wrap="square" rtlCol="0">
            <a:spAutoFit/>
          </a:body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i="0" u="none" strike="noStrike" kern="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编写</a:t>
            </a:r>
            <a:r>
              <a:rPr kumimoji="0" lang="en-US" altLang="zh-CN" sz="2000" i="0" u="none" strike="noStrike" kern="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Java</a:t>
            </a:r>
            <a:r>
              <a:rPr kumimoji="0" lang="zh-CN" altLang="en-US" sz="2000" i="0" u="none" strike="noStrike" kern="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源文件。</a:t>
            </a:r>
            <a:endParaRPr kumimoji="0" lang="en-US" altLang="zh-CN" sz="2000" i="0" u="none" strike="noStrike" kern="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a:p>
            <a:pPr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JDK</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安装目录的</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bin</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目录下新建文本文档，重命名</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HelloWorld.java</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p:cNvPicPr>
            <a:picLocks noChangeAspect="1"/>
          </p:cNvPicPr>
          <p:nvPr/>
        </p:nvPicPr>
        <p:blipFill>
          <a:blip r:embed="rId2"/>
          <a:stretch>
            <a:fillRect/>
          </a:stretch>
        </p:blipFill>
        <p:spPr>
          <a:xfrm>
            <a:off x="1826629" y="2423246"/>
            <a:ext cx="8906368" cy="2848717"/>
          </a:xfrm>
          <a:prstGeom prst="rect">
            <a:avLst/>
          </a:prstGeom>
        </p:spPr>
      </p:pic>
      <p:sp>
        <p:nvSpPr>
          <p:cNvPr id="23" name="矩形 22"/>
          <p:cNvSpPr/>
          <p:nvPr/>
        </p:nvSpPr>
        <p:spPr>
          <a:xfrm>
            <a:off x="2423206" y="2674464"/>
            <a:ext cx="8640000" cy="2346283"/>
          </a:xfrm>
          <a:prstGeom prst="rect">
            <a:avLst/>
          </a:prstGeom>
        </p:spPr>
        <p:txBody>
          <a:bodyPr wrap="square">
            <a:spAutoFit/>
          </a:bodyPr>
          <a:lstStyle/>
          <a:p>
            <a:pPr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public class </a:t>
            </a:r>
            <a:r>
              <a:rPr lang="en-US" altLang="zh-CN" sz="2000" dirty="0" err="1">
                <a:solidFill>
                  <a:srgbClr val="595959"/>
                </a:solidFill>
                <a:latin typeface="微软雅黑" panose="020B0503020204020204" pitchFamily="34" charset="-122"/>
                <a:ea typeface="微软雅黑" panose="020B0503020204020204" pitchFamily="34" charset="-122"/>
              </a:rPr>
              <a:t>HelloWord</a:t>
            </a:r>
            <a:r>
              <a:rPr lang="en-US" altLang="zh-CN"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public static void main(String[] </a:t>
            </a:r>
            <a:r>
              <a:rPr lang="en-US" altLang="zh-CN" sz="2000" dirty="0" err="1">
                <a:solidFill>
                  <a:srgbClr val="595959"/>
                </a:solidFill>
                <a:latin typeface="微软雅黑" panose="020B0503020204020204" pitchFamily="34" charset="-122"/>
                <a:ea typeface="微软雅黑" panose="020B0503020204020204" pitchFamily="34" charset="-122"/>
              </a:rPr>
              <a:t>args</a:t>
            </a:r>
            <a:r>
              <a:rPr lang="en-US" altLang="zh-CN"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r>
              <a:rPr lang="en-US" altLang="zh-CN" sz="2000" dirty="0" err="1">
                <a:solidFill>
                  <a:srgbClr val="595959"/>
                </a:solidFill>
                <a:latin typeface="微软雅黑" panose="020B0503020204020204" pitchFamily="34" charset="-122"/>
                <a:ea typeface="微软雅黑" panose="020B0503020204020204" pitchFamily="34" charset="-122"/>
              </a:rPr>
              <a:t>System.out.println</a:t>
            </a:r>
            <a:r>
              <a:rPr lang="en-US" altLang="zh-CN" sz="2000" dirty="0">
                <a:solidFill>
                  <a:srgbClr val="595959"/>
                </a:solidFill>
                <a:latin typeface="微软雅黑" panose="020B0503020204020204" pitchFamily="34" charset="-122"/>
                <a:ea typeface="微软雅黑" panose="020B0503020204020204" pitchFamily="34" charset="-122"/>
              </a:rPr>
              <a:t>("hello world");</a:t>
            </a:r>
            <a:endParaRPr lang="en-US" altLang="zh-CN" sz="2000" dirty="0">
              <a:solidFill>
                <a:srgbClr val="595959"/>
              </a:solidFill>
              <a:latin typeface="微软雅黑" panose="020B0503020204020204" pitchFamily="34" charset="-122"/>
              <a:ea typeface="微软雅黑" panose="020B0503020204020204" pitchFamily="34" charset="-122"/>
            </a:endParaRPr>
          </a:p>
          <a:p>
            <a:pPr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endParaRPr lang="en-US" altLang="zh-CN" sz="2000" dirty="0">
              <a:solidFill>
                <a:srgbClr val="595959"/>
              </a:solidFill>
              <a:latin typeface="微软雅黑" panose="020B0503020204020204" pitchFamily="34" charset="-122"/>
              <a:ea typeface="微软雅黑" panose="020B0503020204020204" pitchFamily="34" charset="-122"/>
            </a:endParaRPr>
          </a:p>
          <a:p>
            <a:pPr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9206" y="2588623"/>
            <a:ext cx="7071245" cy="2998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第一个</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1"/>
          <p:cNvSpPr txBox="1"/>
          <p:nvPr>
            <p:custDataLst>
              <p:tags r:id="rId2"/>
            </p:custDataLst>
          </p:nvPr>
        </p:nvSpPr>
        <p:spPr>
          <a:xfrm>
            <a:off x="2916980" y="1045946"/>
            <a:ext cx="8074226" cy="1014730"/>
          </a:xfrm>
          <a:prstGeom prst="rect">
            <a:avLst/>
          </a:prstGeom>
          <a:noFill/>
          <a:ln>
            <a:noFill/>
          </a:ln>
        </p:spPr>
        <p:txBody>
          <a:bodyPr wrap="square" rtlCol="0">
            <a:spAutoFit/>
          </a:bodyPr>
          <a:lstStyle/>
          <a:p>
            <a:pPr marL="0" marR="0" lvl="0" indent="0" defTabSz="457200" eaLnBrk="1" fontAlgn="auto" latinLnBrk="0" hangingPunct="1">
              <a:lnSpc>
                <a:spcPct val="150000"/>
              </a:lnSpc>
              <a:spcBef>
                <a:spcPts val="0"/>
              </a:spcBef>
              <a:spcAft>
                <a:spcPts val="0"/>
              </a:spcAft>
              <a:buClrTx/>
              <a:buSzTx/>
              <a:buFontTx/>
              <a:buNone/>
              <a:defRPr/>
            </a:pPr>
            <a:r>
              <a:rPr kumimoji="0" lang="zh-CN" altLang="en-US" sz="2000" i="0" u="none" strike="noStrike" kern="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运行程序。</a:t>
            </a:r>
            <a:endParaRPr kumimoji="0" lang="en-US" altLang="zh-CN" sz="2000" i="0" u="none" strike="noStrike" kern="0" cap="none" spc="0" normalizeH="0" baseline="0" noProof="0" dirty="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输入“</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java HelloWorld”</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命令，运行编译好的字节码文件。</a:t>
            </a:r>
            <a:endPar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圆角矩形 9"/>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p:cNvSpPr txBox="1"/>
          <p:nvPr/>
        </p:nvSpPr>
        <p:spPr>
          <a:xfrm flipH="1">
            <a:off x="1050502" y="1331599"/>
            <a:ext cx="1624965" cy="39878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STEP  02</a:t>
            </a:r>
            <a:endParaRPr lang="en-US" altLang="zh-CN"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14" name="直线箭头连接符 6"/>
          <p:cNvCxnSpPr>
            <a:endCxn id="17" idx="2"/>
          </p:cNvCxnSpPr>
          <p:nvPr/>
        </p:nvCxnSpPr>
        <p:spPr>
          <a:xfrm>
            <a:off x="8255206" y="4738953"/>
            <a:ext cx="2093759" cy="7129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对角圆角矩形 16"/>
          <p:cNvSpPr/>
          <p:nvPr/>
        </p:nvSpPr>
        <p:spPr>
          <a:xfrm>
            <a:off x="10348965" y="5172473"/>
            <a:ext cx="1578241" cy="558804"/>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运行命令</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8" name="对角圆角矩形 17"/>
          <p:cNvSpPr/>
          <p:nvPr/>
        </p:nvSpPr>
        <p:spPr>
          <a:xfrm>
            <a:off x="601097" y="5232800"/>
            <a:ext cx="1536705" cy="644994"/>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运行结果</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0" name="矩形 19"/>
          <p:cNvSpPr/>
          <p:nvPr/>
        </p:nvSpPr>
        <p:spPr>
          <a:xfrm>
            <a:off x="4439206" y="3592610"/>
            <a:ext cx="4583696" cy="41066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1" name="直线箭头连接符 6"/>
          <p:cNvCxnSpPr>
            <a:stCxn id="20" idx="1"/>
            <a:endCxn id="26" idx="0"/>
          </p:cNvCxnSpPr>
          <p:nvPr/>
        </p:nvCxnSpPr>
        <p:spPr>
          <a:xfrm flipH="1">
            <a:off x="2141776" y="3798579"/>
            <a:ext cx="2297430" cy="723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对角圆角矩形 25"/>
          <p:cNvSpPr/>
          <p:nvPr/>
        </p:nvSpPr>
        <p:spPr>
          <a:xfrm>
            <a:off x="528955" y="3232150"/>
            <a:ext cx="1612900" cy="1276985"/>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zh-CN" sz="2000" dirty="0">
                <a:solidFill>
                  <a:srgbClr val="595959"/>
                </a:solidFill>
                <a:latin typeface="微软雅黑" panose="020B0503020204020204" pitchFamily="34" charset="-122"/>
                <a:ea typeface="微软雅黑" panose="020B0503020204020204" pitchFamily="34" charset="-122"/>
              </a:rPr>
              <a:t>进入</a:t>
            </a:r>
            <a:r>
              <a:rPr lang="en-US" altLang="zh-CN" sz="2000" dirty="0">
                <a:solidFill>
                  <a:srgbClr val="595959"/>
                </a:solidFill>
                <a:latin typeface="微软雅黑" panose="020B0503020204020204" pitchFamily="34" charset="-122"/>
                <a:ea typeface="微软雅黑" panose="020B0503020204020204" pitchFamily="34" charset="-122"/>
              </a:rPr>
              <a:t>JDK</a:t>
            </a:r>
            <a:r>
              <a:rPr lang="zh-CN" altLang="zh-CN" sz="2000" dirty="0">
                <a:solidFill>
                  <a:srgbClr val="595959"/>
                </a:solidFill>
                <a:latin typeface="微软雅黑" panose="020B0503020204020204" pitchFamily="34" charset="-122"/>
                <a:ea typeface="微软雅黑" panose="020B0503020204020204" pitchFamily="34" charset="-122"/>
              </a:rPr>
              <a:t>安装目录的</a:t>
            </a:r>
            <a:r>
              <a:rPr lang="en-US" altLang="zh-CN" sz="2000" dirty="0">
                <a:solidFill>
                  <a:srgbClr val="595959"/>
                </a:solidFill>
                <a:latin typeface="微软雅黑" panose="020B0503020204020204" pitchFamily="34" charset="-122"/>
                <a:ea typeface="微软雅黑" panose="020B0503020204020204" pitchFamily="34" charset="-122"/>
              </a:rPr>
              <a:t>bin</a:t>
            </a:r>
            <a:r>
              <a:rPr lang="zh-CN" altLang="zh-CN" sz="2000" dirty="0">
                <a:solidFill>
                  <a:srgbClr val="595959"/>
                </a:solidFill>
                <a:latin typeface="微软雅黑" panose="020B0503020204020204" pitchFamily="34" charset="-122"/>
                <a:ea typeface="微软雅黑" panose="020B0503020204020204" pitchFamily="34" charset="-122"/>
              </a:rPr>
              <a:t>目录</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32" name="矩形 31"/>
          <p:cNvSpPr/>
          <p:nvPr/>
        </p:nvSpPr>
        <p:spPr>
          <a:xfrm>
            <a:off x="6444752" y="4135673"/>
            <a:ext cx="2578150" cy="2392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对角圆角矩形 32"/>
          <p:cNvSpPr/>
          <p:nvPr/>
        </p:nvSpPr>
        <p:spPr>
          <a:xfrm>
            <a:off x="10271206" y="3177680"/>
            <a:ext cx="1656000" cy="945562"/>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编译</a:t>
            </a:r>
            <a:r>
              <a:rPr lang="en-US" altLang="zh-CN" sz="2000" dirty="0">
                <a:solidFill>
                  <a:srgbClr val="595959"/>
                </a:solidFill>
                <a:latin typeface="微软雅黑" panose="020B0503020204020204" pitchFamily="34" charset="-122"/>
                <a:ea typeface="微软雅黑" panose="020B0503020204020204" pitchFamily="34" charset="-122"/>
              </a:rPr>
              <a:t>Java</a:t>
            </a:r>
            <a:endParaRPr lang="en-US" altLang="zh-CN" sz="2000" dirty="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源文件</a:t>
            </a:r>
            <a:endParaRPr lang="zh-CN" altLang="en-US" sz="2000" dirty="0">
              <a:solidFill>
                <a:srgbClr val="595959"/>
              </a:solidFill>
              <a:latin typeface="微软雅黑" panose="020B0503020204020204" pitchFamily="34" charset="-122"/>
              <a:ea typeface="微软雅黑" panose="020B0503020204020204" pitchFamily="34" charset="-122"/>
            </a:endParaRPr>
          </a:p>
        </p:txBody>
      </p:sp>
      <p:cxnSp>
        <p:nvCxnSpPr>
          <p:cNvPr id="34" name="直线箭头连接符 6"/>
          <p:cNvCxnSpPr>
            <a:endCxn id="33" idx="2"/>
          </p:cNvCxnSpPr>
          <p:nvPr/>
        </p:nvCxnSpPr>
        <p:spPr>
          <a:xfrm flipV="1">
            <a:off x="9022902" y="3650461"/>
            <a:ext cx="1248304" cy="5886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线箭头连接符 6"/>
          <p:cNvCxnSpPr>
            <a:endCxn id="18" idx="3"/>
          </p:cNvCxnSpPr>
          <p:nvPr/>
        </p:nvCxnSpPr>
        <p:spPr>
          <a:xfrm flipH="1">
            <a:off x="1369450" y="5058644"/>
            <a:ext cx="905425" cy="1741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528984" y="2637794"/>
            <a:ext cx="576406" cy="576406"/>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000" dirty="0">
                <a:solidFill>
                  <a:schemeClr val="bg1"/>
                </a:solidFill>
                <a:latin typeface="微软雅黑" panose="020B0503020204020204" pitchFamily="34" charset="-122"/>
              </a:rPr>
              <a:t>1</a:t>
            </a:r>
            <a:endParaRPr lang="zh-CN" altLang="en-US" sz="2000" dirty="0">
              <a:solidFill>
                <a:schemeClr val="bg1"/>
              </a:solidFill>
              <a:latin typeface="微软雅黑" panose="020B0503020204020204" pitchFamily="34" charset="-122"/>
            </a:endParaRPr>
          </a:p>
        </p:txBody>
      </p:sp>
      <p:sp>
        <p:nvSpPr>
          <p:cNvPr id="44" name="椭圆 43"/>
          <p:cNvSpPr/>
          <p:nvPr/>
        </p:nvSpPr>
        <p:spPr>
          <a:xfrm>
            <a:off x="9727594" y="2811160"/>
            <a:ext cx="576406" cy="576406"/>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000" dirty="0">
                <a:solidFill>
                  <a:schemeClr val="bg1"/>
                </a:solidFill>
                <a:latin typeface="微软雅黑" panose="020B0503020204020204" pitchFamily="34" charset="-122"/>
              </a:rPr>
              <a:t>2</a:t>
            </a:r>
            <a:endParaRPr lang="zh-CN" altLang="en-US" sz="2000" dirty="0">
              <a:solidFill>
                <a:schemeClr val="bg1"/>
              </a:solidFill>
              <a:latin typeface="微软雅黑" panose="020B0503020204020204" pitchFamily="34" charset="-122"/>
            </a:endParaRPr>
          </a:p>
        </p:txBody>
      </p:sp>
      <p:sp>
        <p:nvSpPr>
          <p:cNvPr id="45" name="椭圆 44"/>
          <p:cNvSpPr/>
          <p:nvPr/>
        </p:nvSpPr>
        <p:spPr>
          <a:xfrm>
            <a:off x="9772559" y="4722871"/>
            <a:ext cx="576406" cy="576406"/>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000" dirty="0">
                <a:solidFill>
                  <a:schemeClr val="bg1"/>
                </a:solidFill>
                <a:latin typeface="微软雅黑" panose="020B0503020204020204" pitchFamily="34" charset="-122"/>
              </a:rPr>
              <a:t>3</a:t>
            </a:r>
            <a:endParaRPr lang="zh-CN" altLang="en-US" sz="2000" dirty="0">
              <a:solidFill>
                <a:schemeClr val="bg1"/>
              </a:solidFill>
              <a:latin typeface="微软雅黑" panose="020B0503020204020204" pitchFamily="34" charset="-122"/>
            </a:endParaRPr>
          </a:p>
        </p:txBody>
      </p:sp>
      <p:sp>
        <p:nvSpPr>
          <p:cNvPr id="47" name="椭圆 46"/>
          <p:cNvSpPr/>
          <p:nvPr/>
        </p:nvSpPr>
        <p:spPr>
          <a:xfrm>
            <a:off x="528984" y="4581388"/>
            <a:ext cx="576406" cy="576406"/>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2000" dirty="0">
                <a:solidFill>
                  <a:schemeClr val="bg1"/>
                </a:solidFill>
                <a:latin typeface="微软雅黑" panose="020B0503020204020204" pitchFamily="34" charset="-122"/>
              </a:rPr>
              <a:t>4</a:t>
            </a:r>
            <a:endParaRPr lang="zh-CN" altLang="en-US" sz="2000" dirty="0">
              <a:solidFill>
                <a:schemeClr val="bg1"/>
              </a:solidFill>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4223206" y="3122771"/>
            <a:ext cx="6733001" cy="614045"/>
          </a:xfrm>
          <a:prstGeom prst="rect">
            <a:avLst/>
          </a:prstGeom>
          <a:noFill/>
        </p:spPr>
        <p:txBody>
          <a:bodyPr wrap="square" lIns="91443" tIns="45720" rIns="91443" bIns="45720" rtlCol="0">
            <a:spAutoFit/>
          </a:bodyPr>
          <a:lstStyle/>
          <a:p>
            <a:r>
              <a:rPr lang="zh-CN" altLang="en-US" sz="3400" b="1" dirty="0">
                <a:solidFill>
                  <a:srgbClr val="1369B2"/>
                </a:solidFill>
                <a:latin typeface="微软雅黑" panose="020B0503020204020204" pitchFamily="34" charset="-122"/>
                <a:ea typeface="微软雅黑" panose="020B0503020204020204" pitchFamily="34" charset="-122"/>
                <a:cs typeface="+mn-ea"/>
                <a:sym typeface="+mn-lt"/>
              </a:rPr>
              <a:t>系统环境变量</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1.4.1  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501549"/>
            <a:ext cx="6043295" cy="991870"/>
            <a:chOff x="8472" y="5681"/>
            <a:chExt cx="9517" cy="1562"/>
          </a:xfrm>
        </p:grpSpPr>
        <p:sp>
          <p:nvSpPr>
            <p:cNvPr id="15" name="TextBox 35"/>
            <p:cNvSpPr txBox="1">
              <a:spLocks noChangeArrowheads="1"/>
            </p:cNvSpPr>
            <p:nvPr/>
          </p:nvSpPr>
          <p:spPr bwMode="auto">
            <a:xfrm>
              <a:off x="9159" y="5681"/>
              <a:ext cx="8830" cy="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掌握</a:t>
              </a:r>
              <a:r>
                <a:rPr lang="en-US" altLang="zh-CN" sz="2000" dirty="0">
                  <a:solidFill>
                    <a:srgbClr val="1369B2"/>
                  </a:solidFill>
                  <a:latin typeface="微软雅黑" panose="020B0503020204020204" pitchFamily="34" charset="-122"/>
                  <a:ea typeface="微软雅黑" panose="020B0503020204020204" pitchFamily="34" charset="-122"/>
                </a:rPr>
                <a:t>PATH</a:t>
              </a:r>
              <a:r>
                <a:rPr lang="zh-CN" altLang="en-US" sz="2000" dirty="0">
                  <a:solidFill>
                    <a:srgbClr val="1369B2"/>
                  </a:solidFill>
                  <a:latin typeface="微软雅黑" panose="020B0503020204020204" pitchFamily="34" charset="-122"/>
                  <a:ea typeface="微软雅黑" panose="020B0503020204020204" pitchFamily="34" charset="-122"/>
                </a:rPr>
                <a:t>环境变量</a:t>
              </a:r>
              <a:r>
                <a:rPr lang="zh-CN" altLang="en-US" sz="2000" dirty="0">
                  <a:solidFill>
                    <a:srgbClr val="595959"/>
                  </a:solidFill>
                  <a:latin typeface="微软雅黑" panose="020B0503020204020204" pitchFamily="34" charset="-122"/>
                  <a:ea typeface="微软雅黑" panose="020B0503020204020204" pitchFamily="34" charset="-122"/>
                </a:rPr>
                <a:t>的配置，能够正确在</a:t>
              </a:r>
              <a:r>
                <a:rPr lang="en-US" altLang="zh-CN" sz="2000" dirty="0">
                  <a:solidFill>
                    <a:srgbClr val="595959"/>
                  </a:solidFill>
                  <a:latin typeface="微软雅黑" panose="020B0503020204020204" pitchFamily="34" charset="-122"/>
                  <a:ea typeface="微软雅黑" panose="020B0503020204020204" pitchFamily="34" charset="-122"/>
                </a:rPr>
                <a:t>PATH</a:t>
              </a:r>
              <a:r>
                <a:rPr lang="zh-CN" altLang="en-US" sz="2000" dirty="0">
                  <a:solidFill>
                    <a:srgbClr val="595959"/>
                  </a:solidFill>
                  <a:latin typeface="微软雅黑" panose="020B0503020204020204" pitchFamily="34" charset="-122"/>
                  <a:ea typeface="微软雅黑" panose="020B0503020204020204" pitchFamily="34" charset="-122"/>
                </a:rPr>
                <a:t>环境变量中配置</a:t>
              </a:r>
              <a:r>
                <a:rPr lang="en-US" altLang="zh-CN" sz="2000" dirty="0">
                  <a:solidFill>
                    <a:srgbClr val="595959"/>
                  </a:solidFill>
                  <a:latin typeface="微软雅黑" panose="020B0503020204020204" pitchFamily="34" charset="-122"/>
                  <a:ea typeface="微软雅黑" panose="020B0503020204020204" pitchFamily="34" charset="-122"/>
                </a:rPr>
                <a:t>JDK</a:t>
              </a:r>
              <a:r>
                <a:rPr lang="zh-CN" altLang="en-US" sz="2000" dirty="0">
                  <a:solidFill>
                    <a:srgbClr val="595959"/>
                  </a:solidFill>
                  <a:latin typeface="微软雅黑" panose="020B0503020204020204" pitchFamily="34" charset="-122"/>
                  <a:ea typeface="微软雅黑" panose="020B0503020204020204" pitchFamily="34" charset="-122"/>
                </a:rPr>
                <a:t>的安装路径</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1.4.1  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27857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340610"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rPr>
              <a:t>PATH</a:t>
            </a:r>
            <a:r>
              <a:rPr lang="zh-CN" altLang="en-US" sz="2000" dirty="0">
                <a:solidFill>
                  <a:srgbClr val="1369B2"/>
                </a:solidFill>
                <a:latin typeface="微软雅黑" panose="020B0503020204020204" pitchFamily="34" charset="-122"/>
                <a:ea typeface="微软雅黑" panose="020B0503020204020204" pitchFamily="34" charset="-122"/>
              </a:rPr>
              <a:t>环境变量介绍</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464945" y="2660650"/>
            <a:ext cx="9259570" cy="2399665"/>
          </a:xfrm>
          <a:prstGeom prst="rect">
            <a:avLst/>
          </a:prstGeom>
          <a:noFill/>
        </p:spPr>
        <p:txBody>
          <a:bodyPr wrap="square" rtlCol="0">
            <a:spAutoFit/>
          </a:bodyPr>
          <a:lstStyle/>
          <a:p>
            <a:pPr algn="l">
              <a:lnSpc>
                <a:spcPct val="150000"/>
              </a:lnSpc>
              <a:buClrTx/>
              <a:buSzTx/>
              <a:buNone/>
            </a:pPr>
            <a:r>
              <a:rPr lang="en-US" altLang="zh-CN" sz="2000" dirty="0">
                <a:solidFill>
                  <a:srgbClr val="1369B2"/>
                </a:solidFill>
                <a:latin typeface="微软雅黑" panose="020B0503020204020204" pitchFamily="34" charset="-122"/>
                <a:ea typeface="微软雅黑" panose="020B0503020204020204" pitchFamily="34" charset="-122"/>
                <a:sym typeface="+mn-ea"/>
              </a:rPr>
              <a:t>PATH</a:t>
            </a:r>
            <a:r>
              <a:rPr lang="zh-CN" altLang="zh-CN" sz="2000" dirty="0">
                <a:solidFill>
                  <a:srgbClr val="1369B2"/>
                </a:solidFill>
                <a:latin typeface="微软雅黑" panose="020B0503020204020204" pitchFamily="34" charset="-122"/>
                <a:ea typeface="微软雅黑" panose="020B0503020204020204" pitchFamily="34" charset="-122"/>
                <a:sym typeface="+mn-ea"/>
              </a:rPr>
              <a:t>环境变量</a:t>
            </a:r>
            <a:r>
              <a:rPr lang="zh-CN" altLang="zh-CN" sz="2000" dirty="0">
                <a:solidFill>
                  <a:srgbClr val="595959"/>
                </a:solidFill>
                <a:latin typeface="微软雅黑" panose="020B0503020204020204" pitchFamily="34" charset="-122"/>
                <a:ea typeface="微软雅黑" panose="020B0503020204020204" pitchFamily="34" charset="-122"/>
                <a:sym typeface="+mn-ea"/>
              </a:rPr>
              <a:t>用于保存一系列命令（可执行程序）的路径，每个路径之间以分号分隔。当在命令行窗口运行一个命令时，操作系统首先会在当前目录下</a:t>
            </a:r>
            <a:r>
              <a:rPr lang="zh-CN" altLang="zh-CN" sz="2000" dirty="0">
                <a:solidFill>
                  <a:srgbClr val="1369B2"/>
                </a:solidFill>
                <a:latin typeface="微软雅黑" panose="020B0503020204020204" pitchFamily="34" charset="-122"/>
                <a:ea typeface="微软雅黑" panose="020B0503020204020204" pitchFamily="34" charset="-122"/>
                <a:sym typeface="+mn-ea"/>
              </a:rPr>
              <a:t>查找</a:t>
            </a:r>
            <a:r>
              <a:rPr lang="zh-CN" altLang="zh-CN" sz="2000" dirty="0">
                <a:solidFill>
                  <a:srgbClr val="595959"/>
                </a:solidFill>
                <a:latin typeface="微软雅黑" panose="020B0503020204020204" pitchFamily="34" charset="-122"/>
                <a:ea typeface="微软雅黑" panose="020B0503020204020204" pitchFamily="34" charset="-122"/>
                <a:sym typeface="+mn-ea"/>
              </a:rPr>
              <a:t>是否存在该命令对应的</a:t>
            </a:r>
            <a:r>
              <a:rPr lang="zh-CN" altLang="zh-CN" sz="2000" dirty="0">
                <a:solidFill>
                  <a:srgbClr val="1369B2"/>
                </a:solidFill>
                <a:latin typeface="微软雅黑" panose="020B0503020204020204" pitchFamily="34" charset="-122"/>
                <a:ea typeface="微软雅黑" panose="020B0503020204020204" pitchFamily="34" charset="-122"/>
                <a:sym typeface="+mn-ea"/>
              </a:rPr>
              <a:t>可执行文件</a:t>
            </a:r>
            <a:r>
              <a:rPr lang="zh-CN" altLang="zh-CN" sz="2000" dirty="0">
                <a:solidFill>
                  <a:srgbClr val="595959"/>
                </a:solidFill>
                <a:latin typeface="微软雅黑" panose="020B0503020204020204" pitchFamily="34" charset="-122"/>
                <a:ea typeface="微软雅黑" panose="020B0503020204020204" pitchFamily="34" charset="-122"/>
                <a:sym typeface="+mn-ea"/>
              </a:rPr>
              <a:t>，如果未找到，操作系统会继续在</a:t>
            </a:r>
            <a:r>
              <a:rPr lang="en-US" altLang="zh-CN" sz="2000" dirty="0">
                <a:solidFill>
                  <a:srgbClr val="595959"/>
                </a:solidFill>
                <a:latin typeface="微软雅黑" panose="020B0503020204020204" pitchFamily="34" charset="-122"/>
                <a:ea typeface="微软雅黑" panose="020B0503020204020204" pitchFamily="34" charset="-122"/>
                <a:sym typeface="+mn-ea"/>
              </a:rPr>
              <a:t>PATH</a:t>
            </a:r>
            <a:r>
              <a:rPr lang="zh-CN" altLang="zh-CN" sz="2000" dirty="0">
                <a:solidFill>
                  <a:srgbClr val="595959"/>
                </a:solidFill>
                <a:latin typeface="微软雅黑" panose="020B0503020204020204" pitchFamily="34" charset="-122"/>
                <a:ea typeface="微软雅黑" panose="020B0503020204020204" pitchFamily="34" charset="-122"/>
                <a:sym typeface="+mn-ea"/>
              </a:rPr>
              <a:t>环境变量中定义的路径下寻找这个文件，如果仍未找到，系统会报错</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配置系统</a:t>
            </a:r>
            <a:r>
              <a:rPr lang="en-US" altLang="zh-CN" sz="2000" dirty="0">
                <a:solidFill>
                  <a:srgbClr val="595959"/>
                </a:solidFill>
                <a:latin typeface="微软雅黑" panose="020B0503020204020204" pitchFamily="34" charset="-122"/>
                <a:ea typeface="微软雅黑" panose="020B0503020204020204" pitchFamily="34" charset="-122"/>
                <a:sym typeface="+mn-ea"/>
              </a:rPr>
              <a:t>PATH</a:t>
            </a:r>
            <a:r>
              <a:rPr lang="zh-CN" altLang="zh-CN" sz="2000" dirty="0">
                <a:solidFill>
                  <a:srgbClr val="595959"/>
                </a:solidFill>
                <a:latin typeface="微软雅黑" panose="020B0503020204020204" pitchFamily="34" charset="-122"/>
                <a:ea typeface="微软雅黑" panose="020B0503020204020204" pitchFamily="34" charset="-122"/>
                <a:sym typeface="+mn-ea"/>
              </a:rPr>
              <a:t>环境变量的步骤如下</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519045"/>
            <a:ext cx="9864090" cy="26822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7148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p:nvPr/>
        </p:nvGraphicFramePr>
        <p:xfrm>
          <a:off x="1047052" y="1877927"/>
          <a:ext cx="5242560" cy="4194175"/>
        </p:xfrm>
        <a:graphic>
          <a:graphicData uri="http://schemas.openxmlformats.org/presentationml/2006/ole">
            <mc:AlternateContent xmlns:mc="http://schemas.openxmlformats.org/markup-compatibility/2006">
              <mc:Choice xmlns:v="urn:schemas-microsoft-com:vml" Requires="v">
                <p:oleObj spid="_x0000_s5128" name="" r:id="rId1" imgW="5238750" imgH="4191000" progId="Paint.Picture">
                  <p:embed/>
                </p:oleObj>
              </mc:Choice>
              <mc:Fallback>
                <p:oleObj name="" r:id="rId1" imgW="5238750" imgH="4191000" progId="Paint.Picture">
                  <p:embed/>
                  <p:pic>
                    <p:nvPicPr>
                      <p:cNvPr id="0" name="图片 4"/>
                      <p:cNvPicPr/>
                      <p:nvPr/>
                    </p:nvPicPr>
                    <p:blipFill>
                      <a:blip r:embed="rId2"/>
                      <a:stretch>
                        <a:fillRect/>
                      </a:stretch>
                    </p:blipFill>
                    <p:spPr>
                      <a:xfrm>
                        <a:off x="1047052" y="1877927"/>
                        <a:ext cx="5242560" cy="4194175"/>
                      </a:xfrm>
                      <a:prstGeom prst="rect">
                        <a:avLst/>
                      </a:prstGeom>
                    </p:spPr>
                  </p:pic>
                </p:oleObj>
              </mc:Fallback>
            </mc:AlternateContent>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1.4.1  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3" name="组合 32"/>
          <p:cNvGrpSpPr/>
          <p:nvPr/>
        </p:nvGrpSpPr>
        <p:grpSpPr>
          <a:xfrm>
            <a:off x="1055206" y="976324"/>
            <a:ext cx="1697355" cy="593725"/>
            <a:chOff x="-2086" y="2064008"/>
            <a:chExt cx="1697355" cy="593725"/>
          </a:xfrm>
        </p:grpSpPr>
        <p:sp>
          <p:nvSpPr>
            <p:cNvPr id="34" name="箭头: 五边形 31"/>
            <p:cNvSpPr/>
            <p:nvPr/>
          </p:nvSpPr>
          <p:spPr>
            <a:xfrm>
              <a:off x="56969" y="2064008"/>
              <a:ext cx="1638300" cy="593725"/>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5" name="文本框 34"/>
            <p:cNvSpPr txBox="1"/>
            <p:nvPr/>
          </p:nvSpPr>
          <p:spPr>
            <a:xfrm>
              <a:off x="-2086" y="2168643"/>
              <a:ext cx="1490650" cy="39878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步骤</a:t>
              </a:r>
              <a:r>
                <a:rPr lang="en-US" altLang="zh-CN" sz="2000" dirty="0">
                  <a:solidFill>
                    <a:schemeClr val="bg1"/>
                  </a:solidFill>
                  <a:latin typeface="微软雅黑" panose="020B0503020204020204" pitchFamily="34" charset="-122"/>
                  <a:ea typeface="微软雅黑" panose="020B0503020204020204" pitchFamily="34" charset="-122"/>
                </a:rPr>
                <a:t>1</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4" name="文本框 3"/>
          <p:cNvSpPr txBox="1"/>
          <p:nvPr/>
        </p:nvSpPr>
        <p:spPr>
          <a:xfrm>
            <a:off x="2783206" y="1080959"/>
            <a:ext cx="4968000" cy="398780"/>
          </a:xfrm>
          <a:prstGeom prst="rect">
            <a:avLst/>
          </a:prstGeom>
          <a:noFill/>
        </p:spPr>
        <p:txBody>
          <a:bodyPr wrap="square" rtlCol="0">
            <a:spAutoFit/>
          </a:bodyPr>
          <a:lstStyle/>
          <a:p>
            <a:r>
              <a:rPr lang="zh-CN" altLang="zh-CN" sz="2000" dirty="0">
                <a:solidFill>
                  <a:srgbClr val="595959"/>
                </a:solidFill>
                <a:latin typeface="微软雅黑" panose="020B0503020204020204" pitchFamily="34" charset="-122"/>
                <a:ea typeface="微软雅黑" panose="020B0503020204020204" pitchFamily="34" charset="-122"/>
              </a:rPr>
              <a:t>查看</a:t>
            </a:r>
            <a:r>
              <a:rPr lang="en-US" altLang="zh-CN" sz="2000" dirty="0">
                <a:solidFill>
                  <a:srgbClr val="595959"/>
                </a:solidFill>
                <a:latin typeface="微软雅黑" panose="020B0503020204020204" pitchFamily="34" charset="-122"/>
                <a:ea typeface="微软雅黑" panose="020B0503020204020204" pitchFamily="34" charset="-122"/>
              </a:rPr>
              <a:t>Windows</a:t>
            </a:r>
            <a:r>
              <a:rPr lang="zh-CN" altLang="zh-CN" sz="2000" dirty="0">
                <a:solidFill>
                  <a:srgbClr val="595959"/>
                </a:solidFill>
                <a:latin typeface="微软雅黑" panose="020B0503020204020204" pitchFamily="34" charset="-122"/>
                <a:ea typeface="微软雅黑" panose="020B0503020204020204" pitchFamily="34" charset="-122"/>
              </a:rPr>
              <a:t>系统属性中的环境变量</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圆角矩形标注 1"/>
          <p:cNvSpPr/>
          <p:nvPr/>
        </p:nvSpPr>
        <p:spPr>
          <a:xfrm>
            <a:off x="6455206" y="2355014"/>
            <a:ext cx="5242560" cy="3240000"/>
          </a:xfrm>
          <a:prstGeom prst="wedgeRoundRectCallout">
            <a:avLst>
              <a:gd name="adj1" fmla="val -62259"/>
              <a:gd name="adj2" fmla="val -36769"/>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indent="0" algn="l"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zh-CN" sz="2000" dirty="0">
                <a:solidFill>
                  <a:srgbClr val="595959"/>
                </a:solidFill>
                <a:latin typeface="微软雅黑" panose="020B0503020204020204" pitchFamily="34" charset="-122"/>
                <a:ea typeface="微软雅黑" panose="020B0503020204020204" pitchFamily="34" charset="-122"/>
              </a:rPr>
              <a:t>右键单击桌面上的计算机→属性，在弹出的系统窗口左边选择“高级系统设置”选项，弹出系统属性对话框，在系统属性对话框的“高级”选项卡下单击“环境变量”按钮，弹出“环境变量”对话框</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1.4.1  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8" name="组合 7"/>
          <p:cNvGrpSpPr/>
          <p:nvPr/>
        </p:nvGrpSpPr>
        <p:grpSpPr>
          <a:xfrm>
            <a:off x="1127206" y="1066104"/>
            <a:ext cx="1697355" cy="575945"/>
            <a:chOff x="-2086" y="2081788"/>
            <a:chExt cx="1697355" cy="575945"/>
          </a:xfrm>
        </p:grpSpPr>
        <p:sp>
          <p:nvSpPr>
            <p:cNvPr id="11" name="箭头: 五边形 31"/>
            <p:cNvSpPr/>
            <p:nvPr/>
          </p:nvSpPr>
          <p:spPr>
            <a:xfrm>
              <a:off x="56969" y="2081788"/>
              <a:ext cx="1638300" cy="575945"/>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2" name="文本框 11"/>
            <p:cNvSpPr txBox="1"/>
            <p:nvPr/>
          </p:nvSpPr>
          <p:spPr>
            <a:xfrm>
              <a:off x="-2086" y="2168643"/>
              <a:ext cx="1490650" cy="39878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步骤</a:t>
              </a:r>
              <a:r>
                <a:rPr lang="en-US" altLang="zh-CN" sz="2000" dirty="0">
                  <a:solidFill>
                    <a:schemeClr val="bg1"/>
                  </a:solidFill>
                  <a:latin typeface="微软雅黑" panose="020B0503020204020204" pitchFamily="34" charset="-122"/>
                  <a:ea typeface="微软雅黑" panose="020B0503020204020204" pitchFamily="34" charset="-122"/>
                </a:rPr>
                <a:t>2</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4" name="文本框 3"/>
          <p:cNvSpPr txBox="1"/>
          <p:nvPr/>
        </p:nvSpPr>
        <p:spPr>
          <a:xfrm>
            <a:off x="3071206" y="1125794"/>
            <a:ext cx="3240000" cy="398780"/>
          </a:xfrm>
          <a:prstGeom prst="rect">
            <a:avLst/>
          </a:prstGeom>
          <a:noFill/>
        </p:spPr>
        <p:txBody>
          <a:bodyPr wrap="square" rtlCol="0">
            <a:spAutoFit/>
          </a:bodyPr>
          <a:lstStyle/>
          <a:p>
            <a:r>
              <a:rPr lang="zh-CN" altLang="zh-CN" sz="2000" dirty="0">
                <a:solidFill>
                  <a:srgbClr val="595959"/>
                </a:solidFill>
                <a:latin typeface="微软雅黑" panose="020B0503020204020204" pitchFamily="34" charset="-122"/>
                <a:ea typeface="微软雅黑" panose="020B0503020204020204" pitchFamily="34" charset="-122"/>
              </a:rPr>
              <a:t>设置</a:t>
            </a:r>
            <a:r>
              <a:rPr lang="en-US" altLang="zh-CN" sz="2000" dirty="0">
                <a:solidFill>
                  <a:srgbClr val="595959"/>
                </a:solidFill>
                <a:latin typeface="微软雅黑" panose="020B0503020204020204" pitchFamily="34" charset="-122"/>
                <a:ea typeface="微软雅黑" panose="020B0503020204020204" pitchFamily="34" charset="-122"/>
              </a:rPr>
              <a:t>PATH</a:t>
            </a:r>
            <a:r>
              <a:rPr lang="zh-CN" altLang="zh-CN" sz="2000" dirty="0">
                <a:solidFill>
                  <a:srgbClr val="595959"/>
                </a:solidFill>
                <a:latin typeface="微软雅黑" panose="020B0503020204020204" pitchFamily="34" charset="-122"/>
                <a:ea typeface="微软雅黑" panose="020B0503020204020204" pitchFamily="34" charset="-122"/>
              </a:rPr>
              <a:t>系统环境变量</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6329680" y="1666240"/>
            <a:ext cx="4616631" cy="4932000"/>
          </a:xfrm>
          <a:prstGeom prst="rect">
            <a:avLst/>
          </a:prstGeom>
        </p:spPr>
      </p:pic>
      <p:sp>
        <p:nvSpPr>
          <p:cNvPr id="9" name="原创设计师QQ598969553          _3"/>
          <p:cNvSpPr/>
          <p:nvPr/>
        </p:nvSpPr>
        <p:spPr>
          <a:xfrm>
            <a:off x="1002350" y="2020666"/>
            <a:ext cx="4590731" cy="147575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原创设计师QQ598969553          _4"/>
          <p:cNvSpPr/>
          <p:nvPr/>
        </p:nvSpPr>
        <p:spPr>
          <a:xfrm>
            <a:off x="1335725" y="2340095"/>
            <a:ext cx="3923980" cy="929640"/>
          </a:xfrm>
          <a:prstGeom prst="rect">
            <a:avLst/>
          </a:prstGeom>
        </p:spPr>
        <p:txBody>
          <a:bodyPr wrap="square">
            <a:spAutoFit/>
          </a:bodyPr>
          <a:lstStyle/>
          <a:p>
            <a:pPr algn="ctr">
              <a:lnSpc>
                <a:spcPct val="130000"/>
              </a:lnSpc>
            </a:pPr>
            <a:r>
              <a:rPr lang="en-US" altLang="zh-CN" sz="1400" dirty="0">
                <a:solidFill>
                  <a:srgbClr val="595959"/>
                </a:solidFill>
                <a:latin typeface="微软雅黑" panose="020B0503020204020204" pitchFamily="34" charset="-122"/>
                <a:ea typeface="微软雅黑" panose="020B0503020204020204" pitchFamily="34" charset="-122"/>
                <a:sym typeface="+mn-ea"/>
              </a:rPr>
              <a:t>系统变量对话框中，从系统变量区域选中名为PATH的系统变量，单击“编辑”按钮，弹出</a:t>
            </a:r>
            <a:r>
              <a:rPr lang="zh-CN" altLang="en-US" sz="1400" dirty="0">
                <a:solidFill>
                  <a:srgbClr val="595959"/>
                </a:solidFill>
                <a:latin typeface="微软雅黑" panose="020B0503020204020204" pitchFamily="34" charset="-122"/>
                <a:ea typeface="微软雅黑" panose="020B0503020204020204" pitchFamily="34" charset="-122"/>
                <a:sym typeface="+mn-ea"/>
              </a:rPr>
              <a:t>右</a:t>
            </a:r>
            <a:r>
              <a:rPr lang="en-US" altLang="zh-CN" sz="1400" dirty="0">
                <a:solidFill>
                  <a:srgbClr val="595959"/>
                </a:solidFill>
                <a:latin typeface="微软雅黑" panose="020B0503020204020204" pitchFamily="34" charset="-122"/>
                <a:ea typeface="微软雅黑" panose="020B0503020204020204" pitchFamily="34" charset="-122"/>
                <a:sym typeface="+mn-ea"/>
              </a:rPr>
              <a:t>侧的编辑</a:t>
            </a:r>
            <a:r>
              <a:rPr lang="zh-CN" altLang="en-US" sz="1400" dirty="0">
                <a:solidFill>
                  <a:srgbClr val="595959"/>
                </a:solidFill>
                <a:latin typeface="微软雅黑" panose="020B0503020204020204" pitchFamily="34" charset="-122"/>
                <a:ea typeface="微软雅黑" panose="020B0503020204020204" pitchFamily="34" charset="-122"/>
                <a:sym typeface="+mn-ea"/>
              </a:rPr>
              <a:t>环境</a:t>
            </a:r>
            <a:r>
              <a:rPr lang="en-US" altLang="zh-CN" sz="1400" dirty="0">
                <a:solidFill>
                  <a:srgbClr val="595959"/>
                </a:solidFill>
                <a:latin typeface="微软雅黑" panose="020B0503020204020204" pitchFamily="34" charset="-122"/>
                <a:ea typeface="微软雅黑" panose="020B0503020204020204" pitchFamily="34" charset="-122"/>
                <a:sym typeface="+mn-ea"/>
              </a:rPr>
              <a:t>变量对话框。</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1.4.1  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原创设计师QQ598969553          _3"/>
          <p:cNvSpPr/>
          <p:nvPr/>
        </p:nvSpPr>
        <p:spPr>
          <a:xfrm>
            <a:off x="1002350" y="2020666"/>
            <a:ext cx="4590731" cy="147575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原创设计师QQ598969553          _4"/>
          <p:cNvSpPr/>
          <p:nvPr/>
        </p:nvSpPr>
        <p:spPr>
          <a:xfrm>
            <a:off x="1335725" y="2340095"/>
            <a:ext cx="3923980" cy="929640"/>
          </a:xfrm>
          <a:prstGeom prst="rect">
            <a:avLst/>
          </a:prstGeom>
        </p:spPr>
        <p:txBody>
          <a:bodyPr wrap="square">
            <a:spAutoFit/>
          </a:bodyPr>
          <a:lstStyle/>
          <a:p>
            <a:pPr algn="ctr">
              <a:lnSpc>
                <a:spcPct val="130000"/>
              </a:lnSpc>
            </a:pPr>
            <a:r>
              <a:rPr sz="1400" dirty="0">
                <a:solidFill>
                  <a:srgbClr val="595959"/>
                </a:solidFill>
                <a:latin typeface="微软雅黑" panose="020B0503020204020204" pitchFamily="34" charset="-122"/>
                <a:ea typeface="微软雅黑" panose="020B0503020204020204" pitchFamily="34" charset="-122"/>
                <a:sym typeface="+mn-ea"/>
              </a:rPr>
              <a:t>单击“新建”按钮，在弹出的输入框中添加javac命令所在的路径，例如，C:\Program\Files\Java\jdk-11.0.11\bin</a:t>
            </a:r>
            <a:endParaRPr sz="1400" dirty="0">
              <a:solidFill>
                <a:srgbClr val="595959"/>
              </a:solidFill>
              <a:latin typeface="微软雅黑" panose="020B0503020204020204" pitchFamily="34" charset="-122"/>
              <a:ea typeface="微软雅黑" panose="020B0503020204020204" pitchFamily="34" charset="-122"/>
              <a:sym typeface="+mn-ea"/>
            </a:endParaRPr>
          </a:p>
        </p:txBody>
      </p:sp>
      <p:pic>
        <p:nvPicPr>
          <p:cNvPr id="2" name="图片 -2147482536"/>
          <p:cNvPicPr>
            <a:picLocks noChangeAspect="1"/>
          </p:cNvPicPr>
          <p:nvPr/>
        </p:nvPicPr>
        <p:blipFill>
          <a:blip r:embed="rId1"/>
          <a:stretch>
            <a:fillRect/>
          </a:stretch>
        </p:blipFill>
        <p:spPr>
          <a:xfrm>
            <a:off x="6070600" y="1170623"/>
            <a:ext cx="5019675" cy="53625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1.4.1  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7" name="组合 6"/>
          <p:cNvGrpSpPr/>
          <p:nvPr/>
        </p:nvGrpSpPr>
        <p:grpSpPr>
          <a:xfrm>
            <a:off x="1086925" y="1087425"/>
            <a:ext cx="1697355" cy="601345"/>
            <a:chOff x="-2086" y="2056388"/>
            <a:chExt cx="1697355" cy="601345"/>
          </a:xfrm>
        </p:grpSpPr>
        <p:sp>
          <p:nvSpPr>
            <p:cNvPr id="8" name="箭头: 五边形 31"/>
            <p:cNvSpPr/>
            <p:nvPr/>
          </p:nvSpPr>
          <p:spPr>
            <a:xfrm>
              <a:off x="56969" y="2056388"/>
              <a:ext cx="1638300" cy="601345"/>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1" name="文本框 10"/>
            <p:cNvSpPr txBox="1"/>
            <p:nvPr/>
          </p:nvSpPr>
          <p:spPr>
            <a:xfrm>
              <a:off x="-2086" y="2168643"/>
              <a:ext cx="1490650" cy="39878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步骤</a:t>
              </a:r>
              <a:r>
                <a:rPr lang="en-US" altLang="zh-CN" sz="2000" dirty="0">
                  <a:solidFill>
                    <a:schemeClr val="bg1"/>
                  </a:solidFill>
                  <a:latin typeface="微软雅黑" panose="020B0503020204020204" pitchFamily="34" charset="-122"/>
                  <a:ea typeface="微软雅黑" panose="020B0503020204020204" pitchFamily="34" charset="-122"/>
                </a:rPr>
                <a:t>3</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12" name="文本框 11"/>
          <p:cNvSpPr txBox="1"/>
          <p:nvPr/>
        </p:nvSpPr>
        <p:spPr>
          <a:xfrm>
            <a:off x="2875973" y="1215071"/>
            <a:ext cx="4875233" cy="398780"/>
          </a:xfrm>
          <a:prstGeom prst="rect">
            <a:avLst/>
          </a:prstGeom>
          <a:noFill/>
        </p:spPr>
        <p:txBody>
          <a:bodyPr wrap="square" rtlCol="0">
            <a:spAutoFit/>
          </a:bodyPr>
          <a:lstStyle/>
          <a:p>
            <a:r>
              <a:rPr lang="zh-CN" altLang="zh-CN" sz="2000" dirty="0">
                <a:solidFill>
                  <a:srgbClr val="595959"/>
                </a:solidFill>
                <a:latin typeface="微软雅黑" panose="020B0503020204020204" pitchFamily="34" charset="-122"/>
                <a:ea typeface="微软雅黑" panose="020B0503020204020204" pitchFamily="34" charset="-122"/>
              </a:rPr>
              <a:t>查看</a:t>
            </a:r>
            <a:r>
              <a:rPr lang="en-US" altLang="zh-CN" sz="2000" dirty="0">
                <a:solidFill>
                  <a:srgbClr val="595959"/>
                </a:solidFill>
                <a:latin typeface="微软雅黑" panose="020B0503020204020204" pitchFamily="34" charset="-122"/>
                <a:ea typeface="微软雅黑" panose="020B0503020204020204" pitchFamily="34" charset="-122"/>
              </a:rPr>
              <a:t>PATH</a:t>
            </a:r>
            <a:r>
              <a:rPr lang="zh-CN" altLang="zh-CN" sz="2000" dirty="0">
                <a:solidFill>
                  <a:srgbClr val="595959"/>
                </a:solidFill>
                <a:latin typeface="微软雅黑" panose="020B0503020204020204" pitchFamily="34" charset="-122"/>
                <a:ea typeface="微软雅黑" panose="020B0503020204020204" pitchFamily="34" charset="-122"/>
              </a:rPr>
              <a:t>系统环境变量</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2355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459" y="2130502"/>
            <a:ext cx="451485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标注 1"/>
          <p:cNvSpPr/>
          <p:nvPr/>
        </p:nvSpPr>
        <p:spPr>
          <a:xfrm>
            <a:off x="6671206" y="2853794"/>
            <a:ext cx="3456000" cy="2376000"/>
          </a:xfrm>
          <a:prstGeom prst="wedgeRoundRectCallout">
            <a:avLst>
              <a:gd name="adj1" fmla="val -69471"/>
              <a:gd name="adj2" fmla="val -37408"/>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lnSpc>
                <a:spcPct val="150000"/>
              </a:lnSpc>
              <a:buClrTx/>
              <a:buSzTx/>
              <a:buFontTx/>
            </a:pPr>
            <a:r>
              <a:rPr lang="en-US" altLang="zh-CN" sz="2000" dirty="0">
                <a:solidFill>
                  <a:srgbClr val="595959"/>
                </a:solidFill>
                <a:latin typeface="微软雅黑" panose="020B0503020204020204" pitchFamily="34" charset="-122"/>
                <a:ea typeface="微软雅黑" panose="020B0503020204020204" pitchFamily="34" charset="-122"/>
              </a:rPr>
              <a:t>打开命令行窗口,执行set PATH命令，查看设置后的PATH变量的变量值。环境变量中显示出了javac命令的路径信息。</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16" name="矩形 15"/>
          <p:cNvSpPr/>
          <p:nvPr/>
        </p:nvSpPr>
        <p:spPr>
          <a:xfrm>
            <a:off x="6815206" y="3429794"/>
            <a:ext cx="1296000" cy="402572"/>
          </a:xfrm>
          <a:prstGeom prst="rect">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3" name="矩形 2"/>
          <p:cNvSpPr/>
          <p:nvPr/>
        </p:nvSpPr>
        <p:spPr>
          <a:xfrm>
            <a:off x="9203055" y="2954655"/>
            <a:ext cx="574675" cy="402590"/>
          </a:xfrm>
          <a:prstGeom prst="rect">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1.4.1  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圆角矩形标注 1"/>
          <p:cNvSpPr/>
          <p:nvPr/>
        </p:nvSpPr>
        <p:spPr>
          <a:xfrm>
            <a:off x="7174661" y="3285756"/>
            <a:ext cx="4032000" cy="2608013"/>
          </a:xfrm>
          <a:prstGeom prst="wedgeRoundRectCallout">
            <a:avLst>
              <a:gd name="adj1" fmla="val -62121"/>
              <a:gd name="adj2" fmla="val -52371"/>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lnSpc>
                <a:spcPct val="150000"/>
              </a:lnSpc>
              <a:buClrTx/>
              <a:buSzTx/>
              <a:buFontTx/>
            </a:pPr>
            <a:r>
              <a:rPr lang="en-US" altLang="zh-CN" sz="2000" dirty="0">
                <a:solidFill>
                  <a:srgbClr val="595959"/>
                </a:solidFill>
                <a:latin typeface="微软雅黑" panose="020B0503020204020204" pitchFamily="34" charset="-122"/>
                <a:ea typeface="微软雅黑" panose="020B0503020204020204" pitchFamily="34" charset="-122"/>
              </a:rPr>
              <a:t>在命令行窗口中执行javac命令，如果能正常地显示帮助信息，说明系统PATH环境变量配置成功，这样系统就会永久性地保存PATH环境变量的设置</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17" name="矩形 16"/>
          <p:cNvSpPr/>
          <p:nvPr/>
        </p:nvSpPr>
        <p:spPr>
          <a:xfrm>
            <a:off x="9671612" y="3573894"/>
            <a:ext cx="720000" cy="288000"/>
          </a:xfrm>
          <a:prstGeom prst="rect">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grpSp>
        <p:nvGrpSpPr>
          <p:cNvPr id="15" name="组合 14"/>
          <p:cNvGrpSpPr/>
          <p:nvPr/>
        </p:nvGrpSpPr>
        <p:grpSpPr>
          <a:xfrm>
            <a:off x="1086925" y="1103935"/>
            <a:ext cx="1697355" cy="584835"/>
            <a:chOff x="-2086" y="2072898"/>
            <a:chExt cx="1697355" cy="584835"/>
          </a:xfrm>
        </p:grpSpPr>
        <p:sp>
          <p:nvSpPr>
            <p:cNvPr id="18" name="箭头: 五边形 31"/>
            <p:cNvSpPr/>
            <p:nvPr/>
          </p:nvSpPr>
          <p:spPr>
            <a:xfrm>
              <a:off x="56969" y="2072898"/>
              <a:ext cx="1638300" cy="584835"/>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9" name="文本框 18"/>
            <p:cNvSpPr txBox="1"/>
            <p:nvPr/>
          </p:nvSpPr>
          <p:spPr>
            <a:xfrm>
              <a:off x="-2086" y="2168643"/>
              <a:ext cx="1490650" cy="39878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步骤</a:t>
              </a:r>
              <a:r>
                <a:rPr lang="en-US" altLang="zh-CN" sz="2000" dirty="0">
                  <a:solidFill>
                    <a:schemeClr val="bg1"/>
                  </a:solidFill>
                  <a:latin typeface="微软雅黑" panose="020B0503020204020204" pitchFamily="34" charset="-122"/>
                  <a:ea typeface="微软雅黑" panose="020B0503020204020204" pitchFamily="34" charset="-122"/>
                </a:rPr>
                <a:t>4</a:t>
              </a:r>
              <a:endParaRPr lang="en-US" altLang="zh-CN" sz="2000" dirty="0">
                <a:solidFill>
                  <a:schemeClr val="bg1"/>
                </a:solidFill>
                <a:latin typeface="微软雅黑" panose="020B0503020204020204" pitchFamily="34" charset="-122"/>
                <a:ea typeface="微软雅黑" panose="020B0503020204020204" pitchFamily="34" charset="-122"/>
              </a:endParaRPr>
            </a:p>
          </p:txBody>
        </p:sp>
      </p:grpSp>
      <p:sp>
        <p:nvSpPr>
          <p:cNvPr id="20" name="文本框 19"/>
          <p:cNvSpPr txBox="1"/>
          <p:nvPr/>
        </p:nvSpPr>
        <p:spPr>
          <a:xfrm>
            <a:off x="2875973" y="1215071"/>
            <a:ext cx="4875233" cy="398780"/>
          </a:xfrm>
          <a:prstGeom prst="rect">
            <a:avLst/>
          </a:prstGeom>
          <a:noFill/>
        </p:spPr>
        <p:txBody>
          <a:bodyPr wrap="square" rtlCol="0">
            <a:spAutoFit/>
          </a:bodyPr>
          <a:lstStyle/>
          <a:p>
            <a:r>
              <a:rPr lang="zh-CN" altLang="zh-CN" sz="2000" dirty="0">
                <a:solidFill>
                  <a:srgbClr val="595959"/>
                </a:solidFill>
                <a:latin typeface="微软雅黑" panose="020B0503020204020204" pitchFamily="34" charset="-122"/>
                <a:ea typeface="微软雅黑" panose="020B0503020204020204" pitchFamily="34" charset="-122"/>
              </a:rPr>
              <a:t>验证设置的</a:t>
            </a:r>
            <a:r>
              <a:rPr lang="en-US" altLang="zh-CN" sz="2000" dirty="0">
                <a:solidFill>
                  <a:srgbClr val="595959"/>
                </a:solidFill>
                <a:latin typeface="微软雅黑" panose="020B0503020204020204" pitchFamily="34" charset="-122"/>
                <a:ea typeface="微软雅黑" panose="020B0503020204020204" pitchFamily="34" charset="-122"/>
              </a:rPr>
              <a:t>PATH</a:t>
            </a:r>
            <a:r>
              <a:rPr lang="zh-CN" altLang="zh-CN" sz="2000" dirty="0">
                <a:solidFill>
                  <a:srgbClr val="595959"/>
                </a:solidFill>
                <a:latin typeface="微软雅黑" panose="020B0503020204020204" pitchFamily="34" charset="-122"/>
                <a:ea typeface="微软雅黑" panose="020B0503020204020204" pitchFamily="34" charset="-122"/>
              </a:rPr>
              <a:t>系统环境变量</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3" name="对象 2"/>
          <p:cNvGraphicFramePr/>
          <p:nvPr/>
        </p:nvGraphicFramePr>
        <p:xfrm>
          <a:off x="1146175" y="1845945"/>
          <a:ext cx="5499100" cy="4744720"/>
        </p:xfrm>
        <a:graphic>
          <a:graphicData uri="http://schemas.openxmlformats.org/presentationml/2006/ole">
            <mc:AlternateContent xmlns:mc="http://schemas.openxmlformats.org/markup-compatibility/2006">
              <mc:Choice xmlns:v="urn:schemas-microsoft-com:vml" Requires="v">
                <p:oleObj spid="_x0000_s6152" name="" r:id="rId1" imgW="5648325" imgH="4953000" progId="Paint.Picture">
                  <p:embed/>
                </p:oleObj>
              </mc:Choice>
              <mc:Fallback>
                <p:oleObj name="" r:id="rId1" imgW="5648325" imgH="4953000" progId="Paint.Picture">
                  <p:embed/>
                  <p:pic>
                    <p:nvPicPr>
                      <p:cNvPr id="0" name="图片 3"/>
                      <p:cNvPicPr/>
                      <p:nvPr/>
                    </p:nvPicPr>
                    <p:blipFill>
                      <a:blip r:embed="rId2"/>
                      <a:stretch>
                        <a:fillRect/>
                      </a:stretch>
                    </p:blipFill>
                    <p:spPr>
                      <a:xfrm>
                        <a:off x="1146175" y="1845945"/>
                        <a:ext cx="5499100" cy="474472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5379720" y="3504734"/>
            <a:ext cx="5866130" cy="1505585"/>
            <a:chOff x="8472" y="5681"/>
            <a:chExt cx="9238" cy="2371"/>
          </a:xfrm>
        </p:grpSpPr>
        <p:sp>
          <p:nvSpPr>
            <p:cNvPr id="16" name="TextBox 35"/>
            <p:cNvSpPr txBox="1">
              <a:spLocks noChangeArrowheads="1"/>
            </p:cNvSpPr>
            <p:nvPr/>
          </p:nvSpPr>
          <p:spPr bwMode="auto">
            <a:xfrm>
              <a:off x="9159" y="5681"/>
              <a:ext cx="8551"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掌握</a:t>
              </a:r>
              <a:r>
                <a:rPr lang="en-US" altLang="zh-CN" sz="2000" dirty="0">
                  <a:solidFill>
                    <a:srgbClr val="1369B2"/>
                  </a:solidFill>
                  <a:latin typeface="微软雅黑" panose="020B0503020204020204" pitchFamily="34" charset="-122"/>
                  <a:ea typeface="微软雅黑" panose="020B0503020204020204" pitchFamily="34" charset="-122"/>
                </a:rPr>
                <a:t>CLASSPATH</a:t>
              </a:r>
              <a:r>
                <a:rPr lang="zh-CN" altLang="en-US" sz="2000" dirty="0">
                  <a:solidFill>
                    <a:srgbClr val="1369B2"/>
                  </a:solidFill>
                  <a:latin typeface="微软雅黑" panose="020B0503020204020204" pitchFamily="34" charset="-122"/>
                  <a:ea typeface="微软雅黑" panose="020B0503020204020204" pitchFamily="34" charset="-122"/>
                </a:rPr>
                <a:t>环境变量</a:t>
              </a:r>
              <a:r>
                <a:rPr lang="zh-CN" altLang="en-US" sz="2000" dirty="0">
                  <a:solidFill>
                    <a:srgbClr val="595959"/>
                  </a:solidFill>
                  <a:latin typeface="微软雅黑" panose="020B0503020204020204" pitchFamily="34" charset="-122"/>
                  <a:ea typeface="微软雅黑" panose="020B0503020204020204" pitchFamily="34" charset="-122"/>
                </a:rPr>
                <a:t>的配置，能够正确在</a:t>
              </a:r>
              <a:r>
                <a:rPr lang="en-US" altLang="zh-CN" sz="2000" dirty="0">
                  <a:solidFill>
                    <a:srgbClr val="595959"/>
                  </a:solidFill>
                  <a:latin typeface="微软雅黑" panose="020B0503020204020204" pitchFamily="34" charset="-122"/>
                  <a:ea typeface="微软雅黑" panose="020B0503020204020204" pitchFamily="34" charset="-122"/>
                  <a:sym typeface="+mn-ea"/>
                </a:rPr>
                <a:t>CLASSPATH</a:t>
              </a:r>
              <a:r>
                <a:rPr lang="zh-CN" altLang="en-US" sz="2000" dirty="0">
                  <a:solidFill>
                    <a:srgbClr val="595959"/>
                  </a:solidFill>
                  <a:latin typeface="微软雅黑" panose="020B0503020204020204" pitchFamily="34" charset="-122"/>
                  <a:ea typeface="微软雅黑" panose="020B0503020204020204" pitchFamily="34" charset="-122"/>
                  <a:sym typeface="+mn-ea"/>
                </a:rPr>
                <a:t>环境变量中配置字节码文件所在的路径</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8472" y="5946"/>
              <a:ext cx="638" cy="638"/>
              <a:chOff x="8881" y="4685"/>
              <a:chExt cx="638" cy="638"/>
            </a:xfrm>
          </p:grpSpPr>
          <p:sp>
            <p:nvSpPr>
              <p:cNvPr id="21" name="椭圆 20"/>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 name="Title 1"/>
          <p:cNvSpPr txBox="1"/>
          <p:nvPr/>
        </p:nvSpPr>
        <p:spPr>
          <a:xfrm>
            <a:off x="1143690" y="266995"/>
            <a:ext cx="487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1.4.2  CLASSPATH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87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1.4.2  CLASSPATH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36099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3120390"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rPr>
              <a:t>CLASSPATH</a:t>
            </a:r>
            <a:r>
              <a:rPr lang="zh-CN" altLang="en-US" sz="2000" dirty="0">
                <a:solidFill>
                  <a:srgbClr val="1369B2"/>
                </a:solidFill>
                <a:latin typeface="微软雅黑" panose="020B0503020204020204" pitchFamily="34" charset="-122"/>
                <a:ea typeface="微软雅黑" panose="020B0503020204020204" pitchFamily="34" charset="-122"/>
              </a:rPr>
              <a:t>环境变量介绍</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464945" y="2608580"/>
            <a:ext cx="9259570" cy="1476375"/>
          </a:xfrm>
          <a:prstGeom prst="rect">
            <a:avLst/>
          </a:prstGeom>
          <a:noFill/>
        </p:spPr>
        <p:txBody>
          <a:bodyPr wrap="square" rtlCol="0">
            <a:spAutoFit/>
          </a:bodyPr>
          <a:lstStyle/>
          <a:p>
            <a:pPr algn="l">
              <a:lnSpc>
                <a:spcPct val="150000"/>
              </a:lnSpc>
              <a:buClrTx/>
              <a:buSzTx/>
              <a:buNone/>
            </a:pPr>
            <a:r>
              <a:rPr lang="en-US" altLang="zh-CN" sz="2000" dirty="0">
                <a:solidFill>
                  <a:srgbClr val="1369B2"/>
                </a:solidFill>
                <a:latin typeface="微软雅黑" panose="020B0503020204020204" pitchFamily="34" charset="-122"/>
                <a:ea typeface="微软雅黑" panose="020B0503020204020204" pitchFamily="34" charset="-122"/>
                <a:sym typeface="+mn-ea"/>
              </a:rPr>
              <a:t>CLASSPATH</a:t>
            </a:r>
            <a:r>
              <a:rPr lang="zh-CN" altLang="zh-CN" sz="2000" dirty="0">
                <a:solidFill>
                  <a:srgbClr val="1369B2"/>
                </a:solidFill>
                <a:latin typeface="微软雅黑" panose="020B0503020204020204" pitchFamily="34" charset="-122"/>
                <a:ea typeface="微软雅黑" panose="020B0503020204020204" pitchFamily="34" charset="-122"/>
                <a:sym typeface="+mn-ea"/>
              </a:rPr>
              <a:t>环境变量</a:t>
            </a:r>
            <a:r>
              <a:rPr lang="zh-CN" altLang="zh-CN" sz="2000" dirty="0">
                <a:solidFill>
                  <a:srgbClr val="595959"/>
                </a:solidFill>
                <a:latin typeface="微软雅黑" panose="020B0503020204020204" pitchFamily="34" charset="-122"/>
                <a:ea typeface="微软雅黑" panose="020B0503020204020204" pitchFamily="34" charset="-122"/>
                <a:sym typeface="+mn-ea"/>
              </a:rPr>
              <a:t>用于保存一系列类包的路径，它和</a:t>
            </a:r>
            <a:r>
              <a:rPr lang="en-US" altLang="zh-CN" sz="2000" dirty="0">
                <a:solidFill>
                  <a:srgbClr val="595959"/>
                </a:solidFill>
                <a:latin typeface="微软雅黑" panose="020B0503020204020204" pitchFamily="34" charset="-122"/>
                <a:ea typeface="微软雅黑" panose="020B0503020204020204" pitchFamily="34" charset="-122"/>
                <a:sym typeface="+mn-ea"/>
              </a:rPr>
              <a:t>PATH</a:t>
            </a:r>
            <a:r>
              <a:rPr lang="zh-CN" altLang="zh-CN" sz="2000" dirty="0">
                <a:solidFill>
                  <a:srgbClr val="595959"/>
                </a:solidFill>
                <a:latin typeface="微软雅黑" panose="020B0503020204020204" pitchFamily="34" charset="-122"/>
                <a:ea typeface="微软雅黑" panose="020B0503020204020204" pitchFamily="34" charset="-122"/>
                <a:sym typeface="+mn-ea"/>
              </a:rPr>
              <a:t>环境变量的查看与配置方式完全相同。当</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虚拟机需要运行一个类时，会在</a:t>
            </a:r>
            <a:r>
              <a:rPr lang="en-US" altLang="zh-CN" sz="2000" dirty="0">
                <a:solidFill>
                  <a:srgbClr val="595959"/>
                </a:solidFill>
                <a:latin typeface="微软雅黑" panose="020B0503020204020204" pitchFamily="34" charset="-122"/>
                <a:ea typeface="微软雅黑" panose="020B0503020204020204" pitchFamily="34" charset="-122"/>
                <a:sym typeface="+mn-ea"/>
              </a:rPr>
              <a:t>CLASSPATH</a:t>
            </a:r>
            <a:r>
              <a:rPr lang="zh-CN" altLang="zh-CN" sz="2000" dirty="0">
                <a:solidFill>
                  <a:srgbClr val="595959"/>
                </a:solidFill>
                <a:latin typeface="微软雅黑" panose="020B0503020204020204" pitchFamily="34" charset="-122"/>
                <a:ea typeface="微软雅黑" panose="020B0503020204020204" pitchFamily="34" charset="-122"/>
                <a:sym typeface="+mn-ea"/>
              </a:rPr>
              <a:t>环境变量定义的路径下寻找所需的</a:t>
            </a:r>
            <a:r>
              <a:rPr lang="en-US" altLang="zh-CN" sz="2000" dirty="0">
                <a:solidFill>
                  <a:srgbClr val="1369B2"/>
                </a:solidFill>
                <a:latin typeface="微软雅黑" panose="020B0503020204020204" pitchFamily="34" charset="-122"/>
                <a:ea typeface="微软雅黑" panose="020B0503020204020204" pitchFamily="34" charset="-122"/>
                <a:sym typeface="+mn-ea"/>
              </a:rPr>
              <a:t>.class</a:t>
            </a:r>
            <a:r>
              <a:rPr lang="zh-CN" altLang="zh-CN" sz="2000" dirty="0">
                <a:solidFill>
                  <a:srgbClr val="1369B2"/>
                </a:solidFill>
                <a:latin typeface="微软雅黑" panose="020B0503020204020204" pitchFamily="34" charset="-122"/>
                <a:ea typeface="微软雅黑" panose="020B0503020204020204" pitchFamily="34" charset="-122"/>
                <a:sym typeface="+mn-ea"/>
              </a:rPr>
              <a:t>文件</a:t>
            </a:r>
            <a:r>
              <a:rPr lang="zh-CN" altLang="zh-CN" sz="2000" dirty="0">
                <a:solidFill>
                  <a:srgbClr val="595959"/>
                </a:solidFill>
                <a:latin typeface="微软雅黑" panose="020B0503020204020204" pitchFamily="34" charset="-122"/>
                <a:ea typeface="微软雅黑" panose="020B0503020204020204" pitchFamily="34" charset="-122"/>
                <a:sym typeface="+mn-ea"/>
              </a:rPr>
              <a:t>和</a:t>
            </a:r>
            <a:r>
              <a:rPr lang="zh-CN" altLang="zh-CN" sz="2000" dirty="0">
                <a:solidFill>
                  <a:srgbClr val="1369B2"/>
                </a:solidFill>
                <a:latin typeface="微软雅黑" panose="020B0503020204020204" pitchFamily="34" charset="-122"/>
                <a:ea typeface="微软雅黑" panose="020B0503020204020204" pitchFamily="34" charset="-122"/>
                <a:sym typeface="+mn-ea"/>
              </a:rPr>
              <a:t>类包</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375535"/>
            <a:ext cx="9864090" cy="194310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37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383222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87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1.4.2  CLASSPATH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37590" y="1106170"/>
            <a:ext cx="37731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56858" y="1232159"/>
            <a:ext cx="3120390" cy="398780"/>
          </a:xfrm>
          <a:prstGeom prst="rect">
            <a:avLst/>
          </a:prstGeom>
          <a:noFill/>
        </p:spPr>
        <p:txBody>
          <a:bodyPr wrap="none" rtlCol="0">
            <a:spAutoFit/>
          </a:bodyPr>
          <a:lstStyle/>
          <a:p>
            <a:r>
              <a:rPr lang="en-US" sz="2000" dirty="0">
                <a:solidFill>
                  <a:srgbClr val="1369B2"/>
                </a:solidFill>
                <a:latin typeface="微软雅黑" panose="020B0503020204020204" pitchFamily="34" charset="-122"/>
                <a:ea typeface="微软雅黑" panose="020B0503020204020204" pitchFamily="34" charset="-122"/>
                <a:sym typeface="+mn-ea"/>
              </a:rPr>
              <a:t>CLASSPATH</a:t>
            </a:r>
            <a:r>
              <a:rPr lang="zh-CN" altLang="en-US" sz="2000" dirty="0">
                <a:solidFill>
                  <a:srgbClr val="1369B2"/>
                </a:solidFill>
                <a:latin typeface="微软雅黑" panose="020B0503020204020204" pitchFamily="34" charset="-122"/>
                <a:ea typeface="微软雅黑" panose="020B0503020204020204" pitchFamily="34" charset="-122"/>
                <a:sym typeface="+mn-ea"/>
              </a:rPr>
              <a:t>环境变量配置</a:t>
            </a:r>
            <a:endParaRPr lang="zh-CN" altLang="en-US" sz="2000" dirty="0">
              <a:solidFill>
                <a:srgbClr val="1369B2"/>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143635" y="2181225"/>
            <a:ext cx="9898380" cy="1014730"/>
          </a:xfrm>
          <a:prstGeom prst="rect">
            <a:avLst/>
          </a:prstGeom>
          <a:noFill/>
        </p:spPr>
        <p:txBody>
          <a:bodyPr wrap="square" rtlCol="0">
            <a:spAutoFit/>
          </a:bodyPr>
          <a:lstStyle/>
          <a:p>
            <a:pPr>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为了让Java虚拟机能找到所需的class文件，就需要对</a:t>
            </a:r>
            <a:r>
              <a:rPr lang="zh-CN" altLang="zh-CN" sz="2000" dirty="0">
                <a:solidFill>
                  <a:srgbClr val="1369B2"/>
                </a:solidFill>
                <a:latin typeface="微软雅黑" panose="020B0503020204020204" pitchFamily="34" charset="-122"/>
                <a:ea typeface="微软雅黑" panose="020B0503020204020204" pitchFamily="34" charset="-122"/>
                <a:cs typeface="+mn-ea"/>
              </a:rPr>
              <a:t>CLASSPATH环境变量</a:t>
            </a:r>
            <a:r>
              <a:rPr lang="zh-CN" altLang="zh-CN" sz="2000" dirty="0">
                <a:solidFill>
                  <a:srgbClr val="595959"/>
                </a:solidFill>
                <a:latin typeface="微软雅黑" panose="020B0503020204020204" pitchFamily="34" charset="-122"/>
                <a:ea typeface="微软雅黑" panose="020B0503020204020204" pitchFamily="34" charset="-122"/>
                <a:cs typeface="+mn-ea"/>
              </a:rPr>
              <a:t>进行设置，保存HelloWorld.class文件路径。在命令行窗口执行下面的命令。</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2944495" y="3824605"/>
            <a:ext cx="6181090" cy="678180"/>
          </a:xfrm>
          <a:prstGeom prst="rect">
            <a:avLst/>
          </a:prstGeom>
        </p:spPr>
      </p:pic>
      <p:sp>
        <p:nvSpPr>
          <p:cNvPr id="10" name="矩形 9"/>
          <p:cNvSpPr/>
          <p:nvPr/>
        </p:nvSpPr>
        <p:spPr>
          <a:xfrm>
            <a:off x="3029585" y="3949700"/>
            <a:ext cx="6095365" cy="368300"/>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set CLASSPATH=C:\Program Files\Java\jdk-11.0.11\bin</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1143635" y="5132070"/>
            <a:ext cx="8347075" cy="553085"/>
          </a:xfrm>
          <a:prstGeom prst="rect">
            <a:avLst/>
          </a:prstGeom>
          <a:noFill/>
          <a:ln w="9525">
            <a:noFill/>
          </a:ln>
        </p:spPr>
        <p:txBody>
          <a:bodyPr wrap="square">
            <a:spAutoFit/>
          </a:bodyPr>
          <a:lstStyle/>
          <a:p>
            <a:pPr algn="l">
              <a:lnSpc>
                <a:spcPct val="150000"/>
              </a:lnSpc>
              <a:buClrTx/>
              <a:buSzTx/>
              <a:buNone/>
            </a:pPr>
            <a:r>
              <a:rPr lang="zh-CN" altLang="zh-CN" sz="2000" b="0" dirty="0">
                <a:solidFill>
                  <a:srgbClr val="595959"/>
                </a:solidFill>
                <a:latin typeface="微软雅黑" panose="020B0503020204020204" pitchFamily="34" charset="-122"/>
                <a:ea typeface="微软雅黑" panose="020B0503020204020204" pitchFamily="34" charset="-122"/>
                <a:cs typeface="+mn-ea"/>
              </a:rPr>
              <a:t>执行完上述命令之后，再次执行java HelloWorld命令运行程序。</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879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1.4.2  CLASSPATH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环境变量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571158" y="138519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命令运行结果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114165" y="1330960"/>
            <a:ext cx="642874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执行java HelloWorld命令运行程序，结果如下图所示。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013460" y="4428490"/>
            <a:ext cx="10184765" cy="1476375"/>
          </a:xfrm>
          <a:prstGeom prst="rect">
            <a:avLst/>
          </a:prstGeom>
          <a:noFill/>
        </p:spPr>
        <p:txBody>
          <a:bodyPr wrap="squar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由上图可知，Java HelloWorld命令成功运行，输出了“hello world”结果。在命令窗口中设置CLASSPATH后，程序会根据CLASSPATH的设置，去指定的目录寻找类文件，因此，虽然C盘根目录下没有HelloWorld.class文件，但Java HelloWorld命令仍能正确执行。</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1"/>
          <p:cNvPicPr>
            <a:picLocks noChangeAspect="1"/>
          </p:cNvPicPr>
          <p:nvPr/>
        </p:nvPicPr>
        <p:blipFill>
          <a:blip r:embed="rId2"/>
          <a:stretch>
            <a:fillRect/>
          </a:stretch>
        </p:blipFill>
        <p:spPr>
          <a:xfrm>
            <a:off x="3256915" y="2449830"/>
            <a:ext cx="5676265" cy="15621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en-US" altLang="zh-CN" sz="3400" b="1" dirty="0">
                <a:solidFill>
                  <a:srgbClr val="1369B2"/>
                </a:solidFill>
                <a:latin typeface="微软雅黑" panose="020B0503020204020204" pitchFamily="34" charset="-122"/>
                <a:ea typeface="微软雅黑" panose="020B0503020204020204" pitchFamily="34" charset="-122"/>
                <a:cs typeface="+mn-ea"/>
                <a:sym typeface="+mn-lt"/>
              </a:rPr>
              <a:t>Java</a:t>
            </a:r>
            <a:r>
              <a:rPr lang="zh-CN" altLang="en-US" sz="3400" b="1" dirty="0">
                <a:solidFill>
                  <a:srgbClr val="1369B2"/>
                </a:solidFill>
                <a:latin typeface="微软雅黑" panose="020B0503020204020204" pitchFamily="34" charset="-122"/>
                <a:ea typeface="微软雅黑" panose="020B0503020204020204" pitchFamily="34" charset="-122"/>
                <a:cs typeface="+mn-ea"/>
                <a:sym typeface="+mn-lt"/>
              </a:rPr>
              <a:t>的运行机制</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程序的运行机制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501549"/>
            <a:ext cx="6043295" cy="991870"/>
            <a:chOff x="8472" y="5681"/>
            <a:chExt cx="9517" cy="1562"/>
          </a:xfrm>
        </p:grpSpPr>
        <p:sp>
          <p:nvSpPr>
            <p:cNvPr id="15" name="TextBox 35"/>
            <p:cNvSpPr txBox="1">
              <a:spLocks noChangeArrowheads="1"/>
            </p:cNvSpPr>
            <p:nvPr/>
          </p:nvSpPr>
          <p:spPr bwMode="auto">
            <a:xfrm>
              <a:off x="9159" y="5681"/>
              <a:ext cx="8830" cy="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了解</a:t>
              </a:r>
              <a:r>
                <a:rPr lang="en-US" altLang="zh-CN" sz="2000" dirty="0">
                  <a:solidFill>
                    <a:srgbClr val="1369B2"/>
                  </a:solidFill>
                  <a:latin typeface="微软雅黑" panose="020B0503020204020204" pitchFamily="34" charset="-122"/>
                  <a:ea typeface="微软雅黑" panose="020B0503020204020204" pitchFamily="34" charset="-122"/>
                </a:rPr>
                <a:t>Java</a:t>
              </a:r>
              <a:r>
                <a:rPr lang="zh-CN" altLang="en-US" sz="2000" dirty="0">
                  <a:solidFill>
                    <a:srgbClr val="1369B2"/>
                  </a:solidFill>
                  <a:latin typeface="微软雅黑" panose="020B0503020204020204" pitchFamily="34" charset="-122"/>
                  <a:ea typeface="微软雅黑" panose="020B0503020204020204" pitchFamily="34" charset="-122"/>
                </a:rPr>
                <a:t>程序的运行机制</a:t>
              </a:r>
              <a:r>
                <a:rPr lang="zh-CN" altLang="en-US" sz="2000" dirty="0">
                  <a:solidFill>
                    <a:srgbClr val="595959"/>
                  </a:solidFill>
                  <a:latin typeface="微软雅黑" panose="020B0503020204020204" pitchFamily="34" charset="-122"/>
                  <a:ea typeface="微软雅黑" panose="020B0503020204020204" pitchFamily="34" charset="-122"/>
                </a:rPr>
                <a:t>，能够说出</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en-US" sz="2000" dirty="0">
                  <a:solidFill>
                    <a:srgbClr val="595959"/>
                  </a:solidFill>
                  <a:latin typeface="微软雅黑" panose="020B0503020204020204" pitchFamily="34" charset="-122"/>
                  <a:ea typeface="微软雅黑" panose="020B0503020204020204" pitchFamily="34" charset="-122"/>
                </a:rPr>
                <a:t>程序的编译和运行的过程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的运行机制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4295140" y="932180"/>
            <a:ext cx="7160260"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下面以</a:t>
            </a:r>
            <a:r>
              <a:rPr 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节中的第一个</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程序</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为例，对</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程序的编译运行过程进行详细地分析，</a:t>
            </a:r>
            <a:r>
              <a:rPr 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程序</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从编写到运行的过程如下所示。</a:t>
            </a:r>
            <a:endPar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14"/>
          <p:cNvSpPr txBox="1"/>
          <p:nvPr/>
        </p:nvSpPr>
        <p:spPr>
          <a:xfrm>
            <a:off x="1519555" y="2475230"/>
            <a:ext cx="9401175" cy="2861310"/>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编写</a:t>
            </a:r>
            <a:r>
              <a:rPr lang="en-US" altLang="zh-CN" sz="2000" dirty="0">
                <a:solidFill>
                  <a:srgbClr val="1369B2"/>
                </a:solidFill>
                <a:latin typeface="微软雅黑" panose="020B0503020204020204" pitchFamily="34" charset="-122"/>
                <a:ea typeface="微软雅黑" panose="020B0503020204020204" pitchFamily="34" charset="-122"/>
              </a:rPr>
              <a:t>HelloWorld.java</a:t>
            </a:r>
            <a:r>
              <a:rPr lang="zh-CN" altLang="zh-CN" sz="2000" dirty="0">
                <a:solidFill>
                  <a:srgbClr val="595959"/>
                </a:solidFill>
                <a:latin typeface="微软雅黑" panose="020B0503020204020204" pitchFamily="34" charset="-122"/>
                <a:ea typeface="微软雅黑" panose="020B0503020204020204" pitchFamily="34" charset="-122"/>
              </a:rPr>
              <a:t>文件。</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使用</a:t>
            </a:r>
            <a:r>
              <a:rPr lang="en-US" altLang="zh-CN" sz="2000" dirty="0" err="1">
                <a:solidFill>
                  <a:srgbClr val="1369B2"/>
                </a:solidFill>
                <a:latin typeface="微软雅黑" panose="020B0503020204020204" pitchFamily="34" charset="-122"/>
                <a:ea typeface="微软雅黑" panose="020B0503020204020204" pitchFamily="34" charset="-122"/>
                <a:sym typeface="+mn-ea"/>
              </a:rPr>
              <a:t>javac</a:t>
            </a:r>
            <a:r>
              <a:rPr lang="en-US" altLang="zh-CN" sz="2000" dirty="0">
                <a:solidFill>
                  <a:srgbClr val="1369B2"/>
                </a:solidFill>
                <a:latin typeface="微软雅黑" panose="020B0503020204020204" pitchFamily="34" charset="-122"/>
                <a:ea typeface="微软雅黑" panose="020B0503020204020204" pitchFamily="34" charset="-122"/>
                <a:sym typeface="+mn-ea"/>
              </a:rPr>
              <a:t> HelloWorld.java</a:t>
            </a:r>
            <a:r>
              <a:rPr lang="zh-CN" altLang="zh-CN" sz="2000" dirty="0">
                <a:solidFill>
                  <a:srgbClr val="595959"/>
                </a:solidFill>
                <a:latin typeface="微软雅黑" panose="020B0503020204020204" pitchFamily="34" charset="-122"/>
                <a:ea typeface="微软雅黑" panose="020B0503020204020204" pitchFamily="34" charset="-122"/>
                <a:sym typeface="+mn-ea"/>
              </a:rPr>
              <a:t>命令开启</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编译器，编译</a:t>
            </a:r>
            <a:r>
              <a:rPr lang="en-US" altLang="zh-CN" sz="2000" dirty="0">
                <a:solidFill>
                  <a:srgbClr val="595959"/>
                </a:solidFill>
                <a:latin typeface="微软雅黑" panose="020B0503020204020204" pitchFamily="34" charset="-122"/>
                <a:ea typeface="微软雅黑" panose="020B0503020204020204" pitchFamily="34" charset="-122"/>
                <a:sym typeface="+mn-ea"/>
              </a:rPr>
              <a:t>HelloWorld.java</a:t>
            </a:r>
            <a:r>
              <a:rPr lang="zh-CN" altLang="zh-CN" sz="2000" dirty="0">
                <a:solidFill>
                  <a:srgbClr val="595959"/>
                </a:solidFill>
                <a:latin typeface="微软雅黑" panose="020B0503020204020204" pitchFamily="34" charset="-122"/>
                <a:ea typeface="微软雅黑" panose="020B0503020204020204" pitchFamily="34" charset="-122"/>
                <a:sym typeface="+mn-ea"/>
              </a:rPr>
              <a:t>文件。编译结束后，编译器会自动生成一个名为</a:t>
            </a:r>
            <a:r>
              <a:rPr lang="en-US" altLang="zh-CN" sz="2000" dirty="0" err="1">
                <a:solidFill>
                  <a:srgbClr val="1369B2"/>
                </a:solidFill>
                <a:latin typeface="微软雅黑" panose="020B0503020204020204" pitchFamily="34" charset="-122"/>
                <a:ea typeface="微软雅黑" panose="020B0503020204020204" pitchFamily="34" charset="-122"/>
                <a:sym typeface="+mn-ea"/>
              </a:rPr>
              <a:t>HelloWorld.class</a:t>
            </a:r>
            <a:r>
              <a:rPr lang="zh-CN" altLang="zh-CN" sz="2000" dirty="0">
                <a:solidFill>
                  <a:srgbClr val="595959"/>
                </a:solidFill>
                <a:latin typeface="微软雅黑" panose="020B0503020204020204" pitchFamily="34" charset="-122"/>
                <a:ea typeface="微软雅黑" panose="020B0503020204020204" pitchFamily="34" charset="-122"/>
                <a:sym typeface="+mn-ea"/>
              </a:rPr>
              <a:t>的字节码文件。</a:t>
            </a:r>
            <a:endParaRPr lang="zh-CN" altLang="en-US"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使用</a:t>
            </a:r>
            <a:r>
              <a:rPr lang="en-US" altLang="zh-CN" sz="2000" dirty="0">
                <a:solidFill>
                  <a:srgbClr val="1369B2"/>
                </a:solidFill>
                <a:latin typeface="微软雅黑" panose="020B0503020204020204" pitchFamily="34" charset="-122"/>
                <a:ea typeface="微软雅黑" panose="020B0503020204020204" pitchFamily="34" charset="-122"/>
                <a:sym typeface="+mn-ea"/>
              </a:rPr>
              <a:t>java HelloWorld</a:t>
            </a:r>
            <a:r>
              <a:rPr lang="zh-CN" altLang="zh-CN" sz="2000" dirty="0">
                <a:solidFill>
                  <a:srgbClr val="595959"/>
                </a:solidFill>
                <a:latin typeface="微软雅黑" panose="020B0503020204020204" pitchFamily="34" charset="-122"/>
                <a:ea typeface="微软雅黑" panose="020B0503020204020204" pitchFamily="34" charset="-122"/>
                <a:sym typeface="+mn-ea"/>
              </a:rPr>
              <a:t>命令启动</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虚拟机运行程序，</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虚拟机首先将编译好的</a:t>
            </a:r>
            <a:r>
              <a:rPr lang="zh-CN" altLang="zh-CN" sz="2000" dirty="0">
                <a:solidFill>
                  <a:srgbClr val="1369B2"/>
                </a:solidFill>
                <a:latin typeface="微软雅黑" panose="020B0503020204020204" pitchFamily="34" charset="-122"/>
                <a:ea typeface="微软雅黑" panose="020B0503020204020204" pitchFamily="34" charset="-122"/>
                <a:sym typeface="+mn-ea"/>
              </a:rPr>
              <a:t>字节码文件</a:t>
            </a:r>
            <a:r>
              <a:rPr lang="zh-CN" altLang="zh-CN" sz="2000" dirty="0">
                <a:solidFill>
                  <a:srgbClr val="595959"/>
                </a:solidFill>
                <a:latin typeface="微软雅黑" panose="020B0503020204020204" pitchFamily="34" charset="-122"/>
                <a:ea typeface="微软雅黑" panose="020B0503020204020204" pitchFamily="34" charset="-122"/>
                <a:sym typeface="+mn-ea"/>
              </a:rPr>
              <a:t>加载到内存，这个过程被称为</a:t>
            </a:r>
            <a:r>
              <a:rPr lang="zh-CN" altLang="zh-CN" sz="2000" dirty="0">
                <a:solidFill>
                  <a:srgbClr val="1369B2"/>
                </a:solidFill>
                <a:latin typeface="微软雅黑" panose="020B0503020204020204" pitchFamily="34" charset="-122"/>
                <a:ea typeface="微软雅黑" panose="020B0503020204020204" pitchFamily="34" charset="-122"/>
                <a:sym typeface="+mn-ea"/>
              </a:rPr>
              <a:t>类加载</a:t>
            </a:r>
            <a:r>
              <a:rPr lang="zh-CN" altLang="zh-CN" sz="2000" dirty="0">
                <a:solidFill>
                  <a:srgbClr val="595959"/>
                </a:solidFill>
                <a:latin typeface="微软雅黑" panose="020B0503020204020204" pitchFamily="34" charset="-122"/>
                <a:ea typeface="微软雅黑" panose="020B0503020204020204" pitchFamily="34" charset="-122"/>
                <a:sym typeface="+mn-ea"/>
              </a:rPr>
              <a:t>，由类加载器完成。然后</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虚拟机</a:t>
            </a:r>
            <a:r>
              <a:rPr lang="zh-CN" altLang="zh-CN" sz="2000" dirty="0">
                <a:solidFill>
                  <a:srgbClr val="595959"/>
                </a:solidFill>
                <a:latin typeface="微软雅黑" panose="020B0503020204020204" pitchFamily="34" charset="-122"/>
                <a:ea typeface="微软雅黑" panose="020B0503020204020204" pitchFamily="34" charset="-122"/>
                <a:sym typeface="+mn-ea"/>
              </a:rPr>
              <a:t>针对加载到内存中的</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类进行解释执行，输出运行结果。</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037590" y="1106170"/>
            <a:ext cx="3257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241593" y="1232159"/>
            <a:ext cx="297434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Java程序的编译运行过程</a:t>
            </a:r>
            <a:endParaRPr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的运行机制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Rectangle 2"/>
          <p:cNvSpPr>
            <a:spLocks noChangeArrowheads="1"/>
          </p:cNvSpPr>
          <p:nvPr/>
        </p:nvSpPr>
        <p:spPr bwMode="auto">
          <a:xfrm>
            <a:off x="6599206" y="2205793"/>
            <a:ext cx="1302091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9" name="文本框 8"/>
          <p:cNvSpPr txBox="1"/>
          <p:nvPr/>
        </p:nvSpPr>
        <p:spPr>
          <a:xfrm>
            <a:off x="1487226" y="2397509"/>
            <a:ext cx="9495360" cy="193802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通过上面的分析不难发现，</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程序是由</a:t>
            </a:r>
            <a:r>
              <a:rPr lang="en-US" altLang="zh-CN" sz="2000" dirty="0">
                <a:solidFill>
                  <a:srgbClr val="1369B2"/>
                </a:solidFill>
                <a:latin typeface="微软雅黑" panose="020B0503020204020204" pitchFamily="34" charset="-122"/>
                <a:ea typeface="微软雅黑" panose="020B0503020204020204" pitchFamily="34" charset="-122"/>
              </a:rPr>
              <a:t>Java</a:t>
            </a:r>
            <a:r>
              <a:rPr lang="zh-CN" altLang="zh-CN" sz="2000" dirty="0">
                <a:solidFill>
                  <a:srgbClr val="1369B2"/>
                </a:solidFill>
                <a:latin typeface="微软雅黑" panose="020B0503020204020204" pitchFamily="34" charset="-122"/>
                <a:ea typeface="微软雅黑" panose="020B0503020204020204" pitchFamily="34" charset="-122"/>
              </a:rPr>
              <a:t>虚拟机</a:t>
            </a:r>
            <a:r>
              <a:rPr lang="zh-CN" altLang="zh-CN" sz="2000" dirty="0">
                <a:solidFill>
                  <a:srgbClr val="595959"/>
                </a:solidFill>
                <a:latin typeface="微软雅黑" panose="020B0503020204020204" pitchFamily="34" charset="-122"/>
                <a:ea typeface="微软雅黑" panose="020B0503020204020204" pitchFamily="34" charset="-122"/>
              </a:rPr>
              <a:t>负责解释执行的，并非操作系统。这样做的好处是可以实现</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程序的</a:t>
            </a:r>
            <a:r>
              <a:rPr lang="zh-CN" altLang="zh-CN" sz="2000" dirty="0">
                <a:solidFill>
                  <a:srgbClr val="1369B2"/>
                </a:solidFill>
                <a:latin typeface="微软雅黑" panose="020B0503020204020204" pitchFamily="34" charset="-122"/>
                <a:ea typeface="微软雅黑" panose="020B0503020204020204" pitchFamily="34" charset="-122"/>
              </a:rPr>
              <a:t>跨平台</a:t>
            </a:r>
            <a:r>
              <a:rPr lang="zh-CN" altLang="zh-CN" sz="2000" dirty="0">
                <a:solidFill>
                  <a:srgbClr val="595959"/>
                </a:solidFill>
                <a:latin typeface="微软雅黑" panose="020B0503020204020204" pitchFamily="34" charset="-122"/>
                <a:ea typeface="微软雅黑" panose="020B0503020204020204" pitchFamily="34" charset="-122"/>
              </a:rPr>
              <a:t>。也就是说，在不同的</a:t>
            </a:r>
            <a:r>
              <a:rPr lang="zh-CN" altLang="zh-CN" sz="2000" dirty="0">
                <a:solidFill>
                  <a:srgbClr val="1369B2"/>
                </a:solidFill>
                <a:latin typeface="微软雅黑" panose="020B0503020204020204" pitchFamily="34" charset="-122"/>
                <a:ea typeface="微软雅黑" panose="020B0503020204020204" pitchFamily="34" charset="-122"/>
              </a:rPr>
              <a:t>操作系统</a:t>
            </a:r>
            <a:r>
              <a:rPr lang="zh-CN" altLang="zh-CN" sz="2000" dirty="0">
                <a:solidFill>
                  <a:srgbClr val="595959"/>
                </a:solidFill>
                <a:latin typeface="微软雅黑" panose="020B0503020204020204" pitchFamily="34" charset="-122"/>
                <a:ea typeface="微软雅黑" panose="020B0503020204020204" pitchFamily="34" charset="-122"/>
              </a:rPr>
              <a:t>上，可以运行相同的</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程序，不同操作系统只需安装不同版本的</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虚拟机即可。不同操作系统安装不同版本</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虚拟机示意图</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037590" y="1106170"/>
            <a:ext cx="3257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241593" y="1232159"/>
            <a:ext cx="297434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Java程序的编译运行过程</a:t>
            </a:r>
            <a:endParaRPr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的运行机制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Rectangle 2"/>
          <p:cNvSpPr>
            <a:spLocks noChangeArrowheads="1"/>
          </p:cNvSpPr>
          <p:nvPr/>
        </p:nvSpPr>
        <p:spPr bwMode="auto">
          <a:xfrm>
            <a:off x="6599206" y="2205793"/>
            <a:ext cx="1302091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3269226" y="2093406"/>
          <a:ext cx="5652480" cy="2304000"/>
        </p:xfrm>
        <a:graphic>
          <a:graphicData uri="http://schemas.openxmlformats.org/presentationml/2006/ole">
            <mc:AlternateContent xmlns:mc="http://schemas.openxmlformats.org/markup-compatibility/2006">
              <mc:Choice xmlns:v="urn:schemas-microsoft-com:vml" Requires="v">
                <p:oleObj spid="_x0000_s18507" name="" r:id="rId1" imgW="10299700" imgH="4191000" progId="Visio.Drawing.11">
                  <p:embed/>
                </p:oleObj>
              </mc:Choice>
              <mc:Fallback>
                <p:oleObj name="" r:id="rId1" imgW="10299700" imgH="41910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9226" y="2093406"/>
                        <a:ext cx="5652480" cy="2304000"/>
                      </a:xfrm>
                      <a:prstGeom prst="rect">
                        <a:avLst/>
                      </a:prstGeom>
                      <a:noFill/>
                    </p:spPr>
                  </p:pic>
                </p:oleObj>
              </mc:Fallback>
            </mc:AlternateContent>
          </a:graphicData>
        </a:graphic>
      </p:graphicFrame>
      <p:sp>
        <p:nvSpPr>
          <p:cNvPr id="11" name="文本框 10"/>
          <p:cNvSpPr txBox="1"/>
          <p:nvPr/>
        </p:nvSpPr>
        <p:spPr>
          <a:xfrm>
            <a:off x="1037590" y="4852670"/>
            <a:ext cx="10460990" cy="1014730"/>
          </a:xfrm>
          <a:prstGeom prst="rect">
            <a:avLst/>
          </a:prstGeom>
          <a:noFill/>
        </p:spPr>
        <p:txBody>
          <a:bodyPr wrap="square" rtlCol="0">
            <a:spAutoFit/>
          </a:bodyPr>
          <a:lstStyle/>
          <a:p>
            <a:pPr indent="0"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程序的</a:t>
            </a:r>
            <a:r>
              <a:rPr lang="zh-CN" altLang="zh-CN" sz="2000" dirty="0">
                <a:solidFill>
                  <a:srgbClr val="1369B2"/>
                </a:solidFill>
                <a:latin typeface="微软雅黑" panose="020B0503020204020204" pitchFamily="34" charset="-122"/>
                <a:ea typeface="微软雅黑" panose="020B0503020204020204" pitchFamily="34" charset="-122"/>
              </a:rPr>
              <a:t>跨平台</a:t>
            </a:r>
            <a:r>
              <a:rPr lang="zh-CN" altLang="zh-CN" sz="2000" dirty="0">
                <a:solidFill>
                  <a:srgbClr val="595959"/>
                </a:solidFill>
                <a:latin typeface="微软雅黑" panose="020B0503020204020204" pitchFamily="34" charset="-122"/>
                <a:ea typeface="微软雅黑" panose="020B0503020204020204" pitchFamily="34" charset="-122"/>
              </a:rPr>
              <a:t>特性，有效地解决了程序设计语言在不同操作系统编译时产生不同机器代码的问题，大大降低了</a:t>
            </a:r>
            <a:r>
              <a:rPr lang="zh-CN" altLang="zh-CN" sz="2000" dirty="0">
                <a:solidFill>
                  <a:srgbClr val="1369B2"/>
                </a:solidFill>
                <a:latin typeface="微软雅黑" panose="020B0503020204020204" pitchFamily="34" charset="-122"/>
                <a:ea typeface="微软雅黑" panose="020B0503020204020204" pitchFamily="34" charset="-122"/>
              </a:rPr>
              <a:t>程序开发</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维护</a:t>
            </a:r>
            <a:r>
              <a:rPr lang="zh-CN" altLang="zh-CN" sz="2000" dirty="0">
                <a:solidFill>
                  <a:srgbClr val="595959"/>
                </a:solidFill>
                <a:latin typeface="微软雅黑" panose="020B0503020204020204" pitchFamily="34" charset="-122"/>
                <a:ea typeface="微软雅黑" panose="020B0503020204020204" pitchFamily="34" charset="-122"/>
              </a:rPr>
              <a:t>的成本。</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3"/>
            </p:custDataLst>
          </p:nvPr>
        </p:nvSpPr>
        <p:spPr>
          <a:xfrm>
            <a:off x="1037590" y="1106170"/>
            <a:ext cx="3257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560363" y="1240414"/>
            <a:ext cx="2212340" cy="398780"/>
          </a:xfrm>
          <a:prstGeom prst="rect">
            <a:avLst/>
          </a:prstGeom>
          <a:noFill/>
        </p:spPr>
        <p:txBody>
          <a:bodyPr wrap="none" rtlCol="0">
            <a:spAutoFit/>
          </a:bodyPr>
          <a:lstStyle/>
          <a:p>
            <a:r>
              <a:rPr sz="2000" dirty="0">
                <a:solidFill>
                  <a:srgbClr val="1369B2"/>
                </a:solidFill>
                <a:latin typeface="微软雅黑" panose="020B0503020204020204" pitchFamily="34" charset="-122"/>
                <a:ea typeface="微软雅黑" panose="020B0503020204020204" pitchFamily="34" charset="-122"/>
                <a:sym typeface="+mn-ea"/>
              </a:rPr>
              <a:t>Java虚拟机示意图</a:t>
            </a:r>
            <a:endParaRPr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en-US" altLang="zh-CN" sz="3400" b="1" dirty="0">
                <a:solidFill>
                  <a:srgbClr val="1369B2"/>
                </a:solidFill>
                <a:latin typeface="微软雅黑" panose="020B0503020204020204" pitchFamily="34" charset="-122"/>
                <a:ea typeface="微软雅黑" panose="020B0503020204020204" pitchFamily="34" charset="-122"/>
                <a:cs typeface="+mn-ea"/>
                <a:sym typeface="+mn-lt"/>
              </a:rPr>
              <a:t>IntelliJ IDEA</a:t>
            </a:r>
            <a:r>
              <a:rPr lang="zh-CN" altLang="en-US" sz="3400" b="1" dirty="0">
                <a:solidFill>
                  <a:srgbClr val="1369B2"/>
                </a:solidFill>
                <a:latin typeface="微软雅黑" panose="020B0503020204020204" pitchFamily="34" charset="-122"/>
                <a:ea typeface="微软雅黑" panose="020B0503020204020204" pitchFamily="34" charset="-122"/>
                <a:cs typeface="+mn-ea"/>
                <a:sym typeface="+mn-lt"/>
              </a:rPr>
              <a:t>开发工具</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1.6</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横卷形 13"/>
          <p:cNvSpPr/>
          <p:nvPr/>
        </p:nvSpPr>
        <p:spPr>
          <a:xfrm>
            <a:off x="982980" y="1368425"/>
            <a:ext cx="10079990" cy="3969385"/>
          </a:xfrm>
          <a:prstGeom prst="horizontalScroll">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endParaRPr lang="zh-CN" altLang="en-US" dirty="0">
              <a:solidFill>
                <a:srgbClr val="595959"/>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1"/>
          <a:stretch>
            <a:fillRect/>
          </a:stretch>
        </p:blipFill>
        <p:spPr>
          <a:xfrm>
            <a:off x="8632351" y="2267130"/>
            <a:ext cx="2209524" cy="2171429"/>
          </a:xfrm>
          <a:prstGeom prst="rect">
            <a:avLst/>
          </a:prstGeom>
        </p:spPr>
      </p:pic>
      <p:sp>
        <p:nvSpPr>
          <p:cNvPr id="2" name="文本框 1"/>
          <p:cNvSpPr txBox="1"/>
          <p:nvPr/>
        </p:nvSpPr>
        <p:spPr>
          <a:xfrm>
            <a:off x="1775206" y="2157765"/>
            <a:ext cx="6552000" cy="2399665"/>
          </a:xfrm>
          <a:prstGeom prst="rect">
            <a:avLst/>
          </a:prstGeom>
          <a:noFill/>
        </p:spPr>
        <p:txBody>
          <a:bodyPr wrap="square" rtlCol="0">
            <a:spAutoFit/>
          </a:bodyPr>
          <a:lstStyle/>
          <a:p>
            <a:pPr indent="539750">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IntelliJ IDEA</a:t>
            </a:r>
            <a:r>
              <a:rPr lang="zh-CN" altLang="zh-CN" sz="2000" dirty="0">
                <a:solidFill>
                  <a:srgbClr val="595959"/>
                </a:solidFill>
                <a:latin typeface="微软雅黑" panose="020B0503020204020204" pitchFamily="34" charset="-122"/>
                <a:ea typeface="微软雅黑" panose="020B0503020204020204" pitchFamily="34" charset="-122"/>
              </a:rPr>
              <a:t>简称</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在智能代码助手、代码自动提示、重构、</a:t>
            </a:r>
            <a:r>
              <a:rPr lang="en-US" altLang="zh-CN" sz="2000" dirty="0">
                <a:solidFill>
                  <a:srgbClr val="595959"/>
                </a:solidFill>
                <a:latin typeface="微软雅黑" panose="020B0503020204020204" pitchFamily="34" charset="-122"/>
                <a:ea typeface="微软雅黑" panose="020B0503020204020204" pitchFamily="34" charset="-122"/>
              </a:rPr>
              <a:t>J2EE</a:t>
            </a:r>
            <a:r>
              <a:rPr lang="zh-CN" altLang="zh-CN" sz="2000" dirty="0">
                <a:solidFill>
                  <a:srgbClr val="595959"/>
                </a:solidFill>
                <a:latin typeface="微软雅黑" panose="020B0503020204020204" pitchFamily="34" charset="-122"/>
                <a:ea typeface="微软雅黑" panose="020B0503020204020204" pitchFamily="34" charset="-122"/>
              </a:rPr>
              <a:t>支持、</a:t>
            </a:r>
            <a:r>
              <a:rPr lang="en-US" altLang="zh-CN" sz="2000" dirty="0">
                <a:solidFill>
                  <a:srgbClr val="595959"/>
                </a:solidFill>
                <a:latin typeface="微软雅黑" panose="020B0503020204020204" pitchFamily="34" charset="-122"/>
                <a:ea typeface="微软雅黑" panose="020B0503020204020204" pitchFamily="34" charset="-122"/>
              </a:rPr>
              <a:t>Ant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JUnit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CVS</a:t>
            </a:r>
            <a:r>
              <a:rPr lang="zh-CN" altLang="zh-CN" sz="2000" dirty="0">
                <a:solidFill>
                  <a:srgbClr val="595959"/>
                </a:solidFill>
                <a:latin typeface="微软雅黑" panose="020B0503020204020204" pitchFamily="34" charset="-122"/>
                <a:ea typeface="微软雅黑" panose="020B0503020204020204" pitchFamily="34" charset="-122"/>
              </a:rPr>
              <a:t>整合、代码审查、创新的</a:t>
            </a:r>
            <a:r>
              <a:rPr lang="en-US" altLang="zh-CN" sz="2000" dirty="0">
                <a:solidFill>
                  <a:srgbClr val="595959"/>
                </a:solidFill>
                <a:latin typeface="微软雅黑" panose="020B0503020204020204" pitchFamily="34" charset="-122"/>
                <a:ea typeface="微软雅黑" panose="020B0503020204020204" pitchFamily="34" charset="-122"/>
              </a:rPr>
              <a:t>GUI</a:t>
            </a:r>
            <a:r>
              <a:rPr lang="zh-CN" altLang="zh-CN" sz="2000" dirty="0">
                <a:solidFill>
                  <a:srgbClr val="595959"/>
                </a:solidFill>
                <a:latin typeface="微软雅黑" panose="020B0503020204020204" pitchFamily="34" charset="-122"/>
                <a:ea typeface="微软雅黑" panose="020B0503020204020204" pitchFamily="34" charset="-122"/>
              </a:rPr>
              <a:t>设计等方面的功能是非常完善的。</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539750">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本书后续章节的</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程序编写及运行都将采用</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开发工具。</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0" y="266995"/>
            <a:ext cx="639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开发工具</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501549"/>
            <a:ext cx="5866130" cy="991870"/>
            <a:chOff x="8472" y="5681"/>
            <a:chExt cx="9238" cy="1562"/>
          </a:xfrm>
        </p:grpSpPr>
        <p:sp>
          <p:nvSpPr>
            <p:cNvPr id="15" name="TextBox 35"/>
            <p:cNvSpPr txBox="1">
              <a:spLocks noChangeArrowheads="1"/>
            </p:cNvSpPr>
            <p:nvPr/>
          </p:nvSpPr>
          <p:spPr bwMode="auto">
            <a:xfrm>
              <a:off x="9159" y="5681"/>
              <a:ext cx="8551" cy="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mn-lt"/>
                </a:rPr>
                <a:t>掌握</a:t>
              </a:r>
              <a:r>
                <a:rPr sz="2000" dirty="0">
                  <a:solidFill>
                    <a:srgbClr val="1369B2"/>
                  </a:solidFill>
                  <a:latin typeface="微软雅黑" panose="020B0503020204020204" pitchFamily="34" charset="-122"/>
                  <a:ea typeface="微软雅黑" panose="020B0503020204020204" pitchFamily="34" charset="-122"/>
                </a:rPr>
                <a:t>IntelliJ IDEA的安装与启动</a:t>
              </a:r>
              <a:r>
                <a:rPr lang="zh-CN" sz="2000" dirty="0">
                  <a:solidFill>
                    <a:srgbClr val="595959"/>
                  </a:solidFill>
                  <a:latin typeface="微软雅黑" panose="020B0503020204020204" pitchFamily="34" charset="-122"/>
                  <a:ea typeface="微软雅黑" panose="020B0503020204020204" pitchFamily="34" charset="-122"/>
                </a:rPr>
                <a:t>，能够独立安装</a:t>
              </a:r>
              <a:r>
                <a:rPr lang="zh-CN" sz="2000" dirty="0">
                  <a:solidFill>
                    <a:srgbClr val="595959"/>
                  </a:solidFill>
                  <a:latin typeface="微软雅黑" panose="020B0503020204020204" pitchFamily="34" charset="-122"/>
                  <a:ea typeface="微软雅黑" panose="020B0503020204020204" pitchFamily="34" charset="-122"/>
                  <a:sym typeface="+mn-ea"/>
                </a:rPr>
                <a:t>并启动</a:t>
              </a:r>
              <a:r>
                <a:rPr sz="2000" dirty="0">
                  <a:solidFill>
                    <a:srgbClr val="595959"/>
                  </a:solidFill>
                  <a:latin typeface="微软雅黑" panose="020B0503020204020204" pitchFamily="34" charset="-122"/>
                  <a:ea typeface="微软雅黑" panose="020B0503020204020204" pitchFamily="34" charset="-122"/>
                  <a:sym typeface="+mn-ea"/>
                </a:rPr>
                <a:t>IntelliJ IDEA</a:t>
              </a:r>
              <a:endParaRPr lang="zh-CN" sz="2000" dirty="0">
                <a:solidFill>
                  <a:srgbClr val="595959"/>
                </a:solidFill>
                <a:latin typeface="微软雅黑" panose="020B0503020204020204" pitchFamily="34" charset="-122"/>
                <a:ea typeface="微软雅黑" panose="020B0503020204020204" pitchFamily="34" charset="-122"/>
                <a:sym typeface="+mn-ea"/>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 name="Title 1"/>
          <p:cNvSpPr txBox="1"/>
          <p:nvPr/>
        </p:nvSpPr>
        <p:spPr>
          <a:xfrm>
            <a:off x="1143690" y="266995"/>
            <a:ext cx="639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的安装与启动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639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的安装与启动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p:cNvSpPr/>
          <p:nvPr/>
        </p:nvSpPr>
        <p:spPr>
          <a:xfrm>
            <a:off x="1063570" y="2414444"/>
            <a:ext cx="944880" cy="398780"/>
          </a:xfrm>
          <a:prstGeom prst="rect">
            <a:avLst/>
          </a:prstGeom>
        </p:spPr>
        <p:txBody>
          <a:bodyPr wrap="none">
            <a:spAutoFit/>
          </a:bodyPr>
          <a:lstStyle/>
          <a:p>
            <a:r>
              <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步骤一</a:t>
            </a:r>
            <a:endPar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1" name="文本框 10"/>
          <p:cNvSpPr txBox="1"/>
          <p:nvPr/>
        </p:nvSpPr>
        <p:spPr>
          <a:xfrm>
            <a:off x="2131060" y="2277745"/>
            <a:ext cx="2374265" cy="2861310"/>
          </a:xfrm>
          <a:prstGeom prst="rect">
            <a:avLst/>
          </a:prstGeom>
          <a:noFill/>
        </p:spPr>
        <p:txBody>
          <a:bodyPr wrap="square" rtlCol="0">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登录</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en-US" sz="2000" dirty="0">
                <a:solidFill>
                  <a:srgbClr val="595959"/>
                </a:solidFill>
                <a:latin typeface="微软雅黑" panose="020B0503020204020204" pitchFamily="34" charset="-122"/>
                <a:ea typeface="微软雅黑" panose="020B0503020204020204" pitchFamily="34" charset="-122"/>
              </a:rPr>
              <a:t>官网下载</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en-US" sz="2000" dirty="0">
                <a:solidFill>
                  <a:srgbClr val="595959"/>
                </a:solidFill>
                <a:latin typeface="微软雅黑" panose="020B0503020204020204" pitchFamily="34" charset="-122"/>
                <a:ea typeface="微软雅黑" panose="020B0503020204020204" pitchFamily="34" charset="-122"/>
              </a:rPr>
              <a:t>安装包，</a:t>
            </a:r>
            <a:r>
              <a:rPr lang="zh-CN" altLang="zh-CN" sz="2000" dirty="0">
                <a:solidFill>
                  <a:srgbClr val="595959"/>
                </a:solidFill>
                <a:latin typeface="微软雅黑" panose="020B0503020204020204" pitchFamily="34" charset="-122"/>
                <a:ea typeface="微软雅黑" panose="020B0503020204020204" pitchFamily="34" charset="-122"/>
              </a:rPr>
              <a:t>旗舰版比社区版的组件更全面，因此这里我们选择使用旗舰版</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4867275" y="1918970"/>
            <a:ext cx="5848052" cy="3492000"/>
          </a:xfrm>
          <a:prstGeom prst="rect">
            <a:avLst/>
          </a:prstGeom>
        </p:spPr>
      </p:pic>
      <p:sp>
        <p:nvSpPr>
          <p:cNvPr id="5" name="Chevron 3"/>
          <p:cNvSpPr/>
          <p:nvPr>
            <p:custDataLst>
              <p:tags r:id="rId2"/>
            </p:custDataLst>
          </p:nvPr>
        </p:nvSpPr>
        <p:spPr>
          <a:xfrm>
            <a:off x="1063625" y="934085"/>
            <a:ext cx="3257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299378" y="1068329"/>
            <a:ext cx="2802890"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sym typeface="+mn-ea"/>
              </a:rPr>
              <a:t>安装</a:t>
            </a:r>
            <a:r>
              <a:rPr lang="en-US" altLang="zh-CN" sz="2000" dirty="0">
                <a:solidFill>
                  <a:srgbClr val="1369B2"/>
                </a:solidFill>
                <a:latin typeface="微软雅黑" panose="020B0503020204020204" pitchFamily="34" charset="-122"/>
                <a:ea typeface="微软雅黑" panose="020B0503020204020204" pitchFamily="34" charset="-122"/>
                <a:sym typeface="+mn-ea"/>
              </a:rPr>
              <a:t>IDEA</a:t>
            </a:r>
            <a:r>
              <a:rPr lang="zh-CN" altLang="en-US" sz="2000" dirty="0">
                <a:solidFill>
                  <a:srgbClr val="1369B2"/>
                </a:solidFill>
                <a:latin typeface="微软雅黑" panose="020B0503020204020204" pitchFamily="34" charset="-122"/>
                <a:ea typeface="微软雅黑" panose="020B0503020204020204" pitchFamily="34" charset="-122"/>
                <a:sym typeface="+mn-ea"/>
              </a:rPr>
              <a:t>开发工具步骤</a:t>
            </a:r>
            <a:endParaRPr lang="zh-CN" altLang="en-US"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639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的安装与启动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4" name="文本框 23"/>
          <p:cNvSpPr txBox="1"/>
          <p:nvPr/>
        </p:nvSpPr>
        <p:spPr>
          <a:xfrm>
            <a:off x="2160270" y="1887855"/>
            <a:ext cx="2353310" cy="2861310"/>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下载完成后，双击安装包，进入</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安装欢迎界面，单击“</a:t>
            </a:r>
            <a:r>
              <a:rPr lang="en-US" altLang="zh-CN" sz="2000" dirty="0">
                <a:solidFill>
                  <a:srgbClr val="595959"/>
                </a:solidFill>
                <a:latin typeface="微软雅黑" panose="020B0503020204020204" pitchFamily="34" charset="-122"/>
                <a:ea typeface="微软雅黑" panose="020B0503020204020204" pitchFamily="34" charset="-122"/>
              </a:rPr>
              <a:t>Next</a:t>
            </a:r>
            <a:r>
              <a:rPr lang="zh-CN" altLang="zh-CN" sz="2000" dirty="0">
                <a:solidFill>
                  <a:srgbClr val="595959"/>
                </a:solidFill>
                <a:latin typeface="微软雅黑" panose="020B0503020204020204" pitchFamily="34" charset="-122"/>
                <a:ea typeface="微软雅黑" panose="020B0503020204020204" pitchFamily="34" charset="-122"/>
              </a:rPr>
              <a:t>”按钮，进入安装路径设置界面</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对象 1"/>
          <p:cNvGraphicFramePr/>
          <p:nvPr/>
        </p:nvGraphicFramePr>
        <p:xfrm>
          <a:off x="4942840" y="1875155"/>
          <a:ext cx="5696585" cy="3924300"/>
        </p:xfrm>
        <a:graphic>
          <a:graphicData uri="http://schemas.openxmlformats.org/presentationml/2006/ole">
            <mc:AlternateContent xmlns:mc="http://schemas.openxmlformats.org/markup-compatibility/2006">
              <mc:Choice xmlns:v="urn:schemas-microsoft-com:vml" Requires="v">
                <p:oleObj spid="_x0000_s19464" name="" r:id="rId1" imgW="4791075" imgH="3676650" progId="Paint.Picture">
                  <p:embed/>
                </p:oleObj>
              </mc:Choice>
              <mc:Fallback>
                <p:oleObj name="" r:id="rId1" imgW="4791075" imgH="3676650" progId="Paint.Picture">
                  <p:embed/>
                  <p:pic>
                    <p:nvPicPr>
                      <p:cNvPr id="0" name="图片 2"/>
                      <p:cNvPicPr/>
                      <p:nvPr/>
                    </p:nvPicPr>
                    <p:blipFill>
                      <a:blip r:embed="rId2"/>
                      <a:stretch>
                        <a:fillRect/>
                      </a:stretch>
                    </p:blipFill>
                    <p:spPr>
                      <a:xfrm>
                        <a:off x="4942840" y="1875155"/>
                        <a:ext cx="5696585" cy="3924300"/>
                      </a:xfrm>
                      <a:prstGeom prst="rect">
                        <a:avLst/>
                      </a:prstGeom>
                    </p:spPr>
                  </p:pic>
                </p:oleObj>
              </mc:Fallback>
            </mc:AlternateContent>
          </a:graphicData>
        </a:graphic>
      </p:graphicFrame>
      <p:sp>
        <p:nvSpPr>
          <p:cNvPr id="10" name="矩形 9"/>
          <p:cNvSpPr/>
          <p:nvPr/>
        </p:nvSpPr>
        <p:spPr>
          <a:xfrm>
            <a:off x="1143580" y="2044239"/>
            <a:ext cx="944880" cy="398780"/>
          </a:xfrm>
          <a:prstGeom prst="rect">
            <a:avLst/>
          </a:prstGeom>
        </p:spPr>
        <p:txBody>
          <a:bodyPr wrap="none">
            <a:spAutoFit/>
          </a:bodyPr>
          <a:lstStyle/>
          <a:p>
            <a:r>
              <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步骤二</a:t>
            </a:r>
            <a:endPar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988684" y="1916872"/>
            <a:ext cx="944880" cy="398780"/>
          </a:xfrm>
          <a:prstGeom prst="rect">
            <a:avLst/>
          </a:prstGeom>
        </p:spPr>
        <p:txBody>
          <a:bodyPr wrap="none">
            <a:spAutoFit/>
          </a:bodyPr>
          <a:lstStyle/>
          <a:p>
            <a:r>
              <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步骤三</a:t>
            </a:r>
            <a:endParaRPr lang="zh-CN" altLang="en-US" sz="2000" dirty="0"/>
          </a:p>
        </p:txBody>
      </p:sp>
      <p:sp>
        <p:nvSpPr>
          <p:cNvPr id="12" name="文本框 11"/>
          <p:cNvSpPr txBox="1"/>
          <p:nvPr/>
        </p:nvSpPr>
        <p:spPr>
          <a:xfrm>
            <a:off x="1933575" y="1773555"/>
            <a:ext cx="3014980" cy="2861310"/>
          </a:xfrm>
          <a:prstGeom prst="rect">
            <a:avLst/>
          </a:prstGeom>
          <a:noFill/>
        </p:spPr>
        <p:txBody>
          <a:bodyPr wrap="square" rtlCol="0">
            <a:spAutoFit/>
          </a:bodyPr>
          <a:lstStyle/>
          <a:p>
            <a:pPr>
              <a:lnSpc>
                <a:spcPct val="150000"/>
              </a:lnSpc>
            </a:pPr>
            <a:r>
              <a:rPr sz="2000" dirty="0">
                <a:solidFill>
                  <a:srgbClr val="595959"/>
                </a:solidFill>
                <a:latin typeface="微软雅黑" panose="020B0503020204020204" pitchFamily="34" charset="-122"/>
                <a:ea typeface="微软雅黑" panose="020B0503020204020204" pitchFamily="34" charset="-122"/>
              </a:rPr>
              <a:t>IDEA有默认安装路径，读者可以单击“Browser”按钮修改安装路径。设置完安装路径之后，单击“Next”按钮，进入基本安装选项配置界面</a:t>
            </a:r>
            <a:r>
              <a:rPr lang="zh-CN" sz="2000" dirty="0">
                <a:solidFill>
                  <a:srgbClr val="595959"/>
                </a:solidFill>
                <a:latin typeface="微软雅黑" panose="020B0503020204020204" pitchFamily="34" charset="-122"/>
                <a:ea typeface="微软雅黑" panose="020B0503020204020204" pitchFamily="34" charset="-122"/>
              </a:rPr>
              <a:t>。</a:t>
            </a:r>
            <a:endParaRPr lang="zh-CN"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对象 1"/>
          <p:cNvGraphicFramePr/>
          <p:nvPr/>
        </p:nvGraphicFramePr>
        <p:xfrm>
          <a:off x="5302885" y="1773555"/>
          <a:ext cx="4794885" cy="3679825"/>
        </p:xfrm>
        <a:graphic>
          <a:graphicData uri="http://schemas.openxmlformats.org/presentationml/2006/ole">
            <mc:AlternateContent xmlns:mc="http://schemas.openxmlformats.org/markup-compatibility/2006">
              <mc:Choice xmlns:v="urn:schemas-microsoft-com:vml" Requires="v">
                <p:oleObj spid="_x0000_s20488" name="" r:id="rId1" imgW="4791075" imgH="3676650" progId="Paint.Picture">
                  <p:embed/>
                </p:oleObj>
              </mc:Choice>
              <mc:Fallback>
                <p:oleObj name="" r:id="rId1" imgW="4791075" imgH="3676650" progId="Paint.Picture">
                  <p:embed/>
                  <p:pic>
                    <p:nvPicPr>
                      <p:cNvPr id="0" name="图片 2"/>
                      <p:cNvPicPr/>
                      <p:nvPr/>
                    </p:nvPicPr>
                    <p:blipFill>
                      <a:blip r:embed="rId2"/>
                      <a:stretch>
                        <a:fillRect/>
                      </a:stretch>
                    </p:blipFill>
                    <p:spPr>
                      <a:xfrm>
                        <a:off x="5302885" y="1773555"/>
                        <a:ext cx="4794885" cy="3679825"/>
                      </a:xfrm>
                      <a:prstGeom prst="rect">
                        <a:avLst/>
                      </a:prstGeom>
                    </p:spPr>
                  </p:pic>
                </p:oleObj>
              </mc:Fallback>
            </mc:AlternateContent>
          </a:graphicData>
        </a:graphic>
      </p:graphicFrame>
      <p:sp>
        <p:nvSpPr>
          <p:cNvPr id="4" name="Title 1"/>
          <p:cNvSpPr txBox="1"/>
          <p:nvPr/>
        </p:nvSpPr>
        <p:spPr>
          <a:xfrm>
            <a:off x="1143690" y="266995"/>
            <a:ext cx="639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的安装与启动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365885" y="2133600"/>
            <a:ext cx="963930" cy="398780"/>
          </a:xfrm>
          <a:prstGeom prst="rect">
            <a:avLst/>
          </a:prstGeom>
        </p:spPr>
        <p:txBody>
          <a:bodyPr wrap="square">
            <a:spAutoFit/>
          </a:bodyPr>
          <a:lstStyle/>
          <a:p>
            <a:r>
              <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步骤四</a:t>
            </a:r>
            <a:endParaRPr lang="zh-CN" altLang="en-US" sz="2000" dirty="0"/>
          </a:p>
        </p:txBody>
      </p:sp>
      <p:sp>
        <p:nvSpPr>
          <p:cNvPr id="25" name="文本框 24"/>
          <p:cNvSpPr txBox="1"/>
          <p:nvPr/>
        </p:nvSpPr>
        <p:spPr>
          <a:xfrm>
            <a:off x="2420620" y="1990090"/>
            <a:ext cx="2971165" cy="3322955"/>
          </a:xfrm>
          <a:prstGeom prst="rect">
            <a:avLst/>
          </a:prstGeom>
          <a:noFill/>
        </p:spPr>
        <p:txBody>
          <a:bodyPr wrap="square" rtlCol="0">
            <a:spAutoFit/>
          </a:bodyPr>
          <a:lstStyle/>
          <a:p>
            <a:pPr>
              <a:lnSpc>
                <a:spcPct val="150000"/>
              </a:lnSpc>
            </a:pPr>
            <a:r>
              <a:rPr sz="2000">
                <a:solidFill>
                  <a:srgbClr val="595959"/>
                </a:solidFill>
                <a:latin typeface="微软雅黑" panose="020B0503020204020204" pitchFamily="34" charset="-122"/>
                <a:ea typeface="微软雅黑" panose="020B0503020204020204" pitchFamily="34" charset="-122"/>
              </a:rPr>
              <a:t>勾选 “64-bit launcher”复选框。勾选了该复选框，IDEA在安装完成后会生成桌面快捷方式。勾选之后，单击“Next”按钮，进入选择开始菜单界面</a:t>
            </a:r>
            <a:r>
              <a:rPr lang="zh-CN" sz="2000">
                <a:solidFill>
                  <a:srgbClr val="595959"/>
                </a:solidFill>
                <a:latin typeface="微软雅黑" panose="020B0503020204020204" pitchFamily="34" charset="-122"/>
                <a:ea typeface="微软雅黑" panose="020B0503020204020204" pitchFamily="34" charset="-122"/>
              </a:rPr>
              <a:t>。</a:t>
            </a:r>
            <a:endParaRPr lang="zh-CN" sz="2000">
              <a:solidFill>
                <a:srgbClr val="595959"/>
              </a:solidFill>
              <a:latin typeface="微软雅黑" panose="020B0503020204020204" pitchFamily="34" charset="-122"/>
              <a:ea typeface="微软雅黑" panose="020B0503020204020204" pitchFamily="34" charset="-122"/>
            </a:endParaRPr>
          </a:p>
        </p:txBody>
      </p:sp>
      <p:graphicFrame>
        <p:nvGraphicFramePr>
          <p:cNvPr id="2" name="对象 1"/>
          <p:cNvGraphicFramePr/>
          <p:nvPr/>
        </p:nvGraphicFramePr>
        <p:xfrm>
          <a:off x="5807075" y="1990090"/>
          <a:ext cx="4794885" cy="3679825"/>
        </p:xfrm>
        <a:graphic>
          <a:graphicData uri="http://schemas.openxmlformats.org/presentationml/2006/ole">
            <mc:AlternateContent xmlns:mc="http://schemas.openxmlformats.org/markup-compatibility/2006">
              <mc:Choice xmlns:v="urn:schemas-microsoft-com:vml" Requires="v">
                <p:oleObj spid="_x0000_s21512" name="" r:id="rId1" imgW="4791075" imgH="3676650" progId="Paint.Picture">
                  <p:embed/>
                </p:oleObj>
              </mc:Choice>
              <mc:Fallback>
                <p:oleObj name="" r:id="rId1" imgW="4791075" imgH="3676650" progId="Paint.Picture">
                  <p:embed/>
                  <p:pic>
                    <p:nvPicPr>
                      <p:cNvPr id="0" name="图片 2"/>
                      <p:cNvPicPr/>
                      <p:nvPr/>
                    </p:nvPicPr>
                    <p:blipFill>
                      <a:blip r:embed="rId2"/>
                      <a:stretch>
                        <a:fillRect/>
                      </a:stretch>
                    </p:blipFill>
                    <p:spPr>
                      <a:xfrm>
                        <a:off x="5807075" y="1990090"/>
                        <a:ext cx="4794885" cy="3679825"/>
                      </a:xfrm>
                      <a:prstGeom prst="rect">
                        <a:avLst/>
                      </a:prstGeom>
                    </p:spPr>
                  </p:pic>
                </p:oleObj>
              </mc:Fallback>
            </mc:AlternateContent>
          </a:graphicData>
        </a:graphic>
      </p:graphicFrame>
      <p:sp>
        <p:nvSpPr>
          <p:cNvPr id="4" name="Title 1"/>
          <p:cNvSpPr txBox="1"/>
          <p:nvPr/>
        </p:nvSpPr>
        <p:spPr>
          <a:xfrm>
            <a:off x="1143690" y="266995"/>
            <a:ext cx="639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的安装与启动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136650" y="2133600"/>
            <a:ext cx="973455" cy="398780"/>
          </a:xfrm>
          <a:prstGeom prst="rect">
            <a:avLst/>
          </a:prstGeom>
        </p:spPr>
        <p:txBody>
          <a:bodyPr wrap="square">
            <a:spAutoFit/>
          </a:bodyPr>
          <a:lstStyle/>
          <a:p>
            <a:r>
              <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步骤五</a:t>
            </a:r>
            <a:endParaRPr lang="zh-CN" altLang="en-US" sz="2000" dirty="0"/>
          </a:p>
        </p:txBody>
      </p:sp>
      <p:sp>
        <p:nvSpPr>
          <p:cNvPr id="25" name="文本框 24"/>
          <p:cNvSpPr txBox="1"/>
          <p:nvPr/>
        </p:nvSpPr>
        <p:spPr>
          <a:xfrm>
            <a:off x="2277110" y="1990090"/>
            <a:ext cx="2722245" cy="1476375"/>
          </a:xfrm>
          <a:prstGeom prst="rect">
            <a:avLst/>
          </a:prstGeom>
          <a:noFill/>
        </p:spPr>
        <p:txBody>
          <a:bodyPr wrap="square" rtlCol="0">
            <a:spAutoFit/>
          </a:bodyPr>
          <a:lstStyle/>
          <a:p>
            <a:pPr>
              <a:lnSpc>
                <a:spcPct val="150000"/>
              </a:lnSpc>
            </a:pPr>
            <a:r>
              <a:rPr sz="2000">
                <a:solidFill>
                  <a:srgbClr val="595959"/>
                </a:solidFill>
                <a:latin typeface="微软雅黑" panose="020B0503020204020204" pitchFamily="34" charset="-122"/>
                <a:ea typeface="微软雅黑" panose="020B0503020204020204" pitchFamily="34" charset="-122"/>
              </a:rPr>
              <a:t>单击“Install”按钮开始安装IDEA，IDEA安装界面</a:t>
            </a:r>
            <a:r>
              <a:rPr lang="zh-CN" sz="2000">
                <a:solidFill>
                  <a:srgbClr val="595959"/>
                </a:solidFill>
                <a:latin typeface="微软雅黑" panose="020B0503020204020204" pitchFamily="34" charset="-122"/>
                <a:ea typeface="微软雅黑" panose="020B0503020204020204" pitchFamily="34" charset="-122"/>
              </a:rPr>
              <a:t>。</a:t>
            </a:r>
            <a:endParaRPr lang="zh-CN" sz="2000">
              <a:solidFill>
                <a:srgbClr val="595959"/>
              </a:solidFill>
              <a:latin typeface="微软雅黑" panose="020B0503020204020204" pitchFamily="34" charset="-122"/>
              <a:ea typeface="微软雅黑" panose="020B0503020204020204" pitchFamily="34" charset="-122"/>
            </a:endParaRPr>
          </a:p>
        </p:txBody>
      </p:sp>
      <p:graphicFrame>
        <p:nvGraphicFramePr>
          <p:cNvPr id="4" name="对象 3"/>
          <p:cNvGraphicFramePr/>
          <p:nvPr/>
        </p:nvGraphicFramePr>
        <p:xfrm>
          <a:off x="5518785" y="1701800"/>
          <a:ext cx="4794885" cy="3679825"/>
        </p:xfrm>
        <a:graphic>
          <a:graphicData uri="http://schemas.openxmlformats.org/presentationml/2006/ole">
            <mc:AlternateContent xmlns:mc="http://schemas.openxmlformats.org/markup-compatibility/2006">
              <mc:Choice xmlns:v="urn:schemas-microsoft-com:vml" Requires="v">
                <p:oleObj spid="_x0000_s22536" name="" r:id="rId1" imgW="4791075" imgH="3676650" progId="Paint.Picture">
                  <p:embed/>
                </p:oleObj>
              </mc:Choice>
              <mc:Fallback>
                <p:oleObj name="" r:id="rId1" imgW="4791075" imgH="3676650" progId="Paint.Picture">
                  <p:embed/>
                  <p:pic>
                    <p:nvPicPr>
                      <p:cNvPr id="0" name="图片 4"/>
                      <p:cNvPicPr/>
                      <p:nvPr/>
                    </p:nvPicPr>
                    <p:blipFill>
                      <a:blip r:embed="rId2"/>
                      <a:stretch>
                        <a:fillRect/>
                      </a:stretch>
                    </p:blipFill>
                    <p:spPr>
                      <a:xfrm>
                        <a:off x="5518785" y="1701800"/>
                        <a:ext cx="4794885" cy="3679825"/>
                      </a:xfrm>
                      <a:prstGeom prst="rect">
                        <a:avLst/>
                      </a:prstGeom>
                    </p:spPr>
                  </p:pic>
                </p:oleObj>
              </mc:Fallback>
            </mc:AlternateContent>
          </a:graphicData>
        </a:graphic>
      </p:graphicFrame>
      <p:sp>
        <p:nvSpPr>
          <p:cNvPr id="2" name="Title 1"/>
          <p:cNvSpPr txBox="1"/>
          <p:nvPr/>
        </p:nvSpPr>
        <p:spPr>
          <a:xfrm>
            <a:off x="1143690" y="266995"/>
            <a:ext cx="639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的安装与启动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27175" y="2133600"/>
            <a:ext cx="972185" cy="398780"/>
          </a:xfrm>
          <a:prstGeom prst="rect">
            <a:avLst/>
          </a:prstGeom>
        </p:spPr>
        <p:txBody>
          <a:bodyPr wrap="square">
            <a:spAutoFit/>
          </a:bodyPr>
          <a:lstStyle/>
          <a:p>
            <a:r>
              <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步骤六</a:t>
            </a:r>
            <a:endParaRPr lang="zh-CN" altLang="en-US" sz="2000" dirty="0"/>
          </a:p>
        </p:txBody>
      </p:sp>
      <p:sp>
        <p:nvSpPr>
          <p:cNvPr id="25" name="文本框 24"/>
          <p:cNvSpPr txBox="1"/>
          <p:nvPr/>
        </p:nvSpPr>
        <p:spPr>
          <a:xfrm>
            <a:off x="2635885" y="1990090"/>
            <a:ext cx="2404110" cy="1476375"/>
          </a:xfrm>
          <a:prstGeom prst="rect">
            <a:avLst/>
          </a:prstGeom>
          <a:noFill/>
        </p:spPr>
        <p:txBody>
          <a:bodyPr wrap="square" rtlCol="0">
            <a:spAutoFit/>
          </a:bodyPr>
          <a:lstStyle/>
          <a:p>
            <a:pPr>
              <a:lnSpc>
                <a:spcPct val="150000"/>
              </a:lnSpc>
            </a:pPr>
            <a:r>
              <a:rPr sz="2000">
                <a:solidFill>
                  <a:srgbClr val="595959"/>
                </a:solidFill>
                <a:latin typeface="微软雅黑" panose="020B0503020204020204" pitchFamily="34" charset="-122"/>
                <a:ea typeface="微软雅黑" panose="020B0503020204020204" pitchFamily="34" charset="-122"/>
              </a:rPr>
              <a:t>IDEA安装完成之后，会自动进入安装完成界面</a:t>
            </a:r>
            <a:r>
              <a:rPr lang="zh-CN" sz="2000">
                <a:solidFill>
                  <a:srgbClr val="595959"/>
                </a:solidFill>
                <a:latin typeface="微软雅黑" panose="020B0503020204020204" pitchFamily="34" charset="-122"/>
                <a:ea typeface="微软雅黑" panose="020B0503020204020204" pitchFamily="34" charset="-122"/>
              </a:rPr>
              <a:t>。</a:t>
            </a:r>
            <a:endParaRPr lang="zh-CN" sz="2000">
              <a:solidFill>
                <a:srgbClr val="595959"/>
              </a:solidFill>
              <a:latin typeface="微软雅黑" panose="020B0503020204020204" pitchFamily="34" charset="-122"/>
              <a:ea typeface="微软雅黑" panose="020B0503020204020204" pitchFamily="34" charset="-122"/>
            </a:endParaRPr>
          </a:p>
        </p:txBody>
      </p:sp>
      <p:graphicFrame>
        <p:nvGraphicFramePr>
          <p:cNvPr id="4" name="对象 3"/>
          <p:cNvGraphicFramePr/>
          <p:nvPr/>
        </p:nvGraphicFramePr>
        <p:xfrm>
          <a:off x="5518785" y="1773555"/>
          <a:ext cx="4794885" cy="3679825"/>
        </p:xfrm>
        <a:graphic>
          <a:graphicData uri="http://schemas.openxmlformats.org/presentationml/2006/ole">
            <mc:AlternateContent xmlns:mc="http://schemas.openxmlformats.org/markup-compatibility/2006">
              <mc:Choice xmlns:v="urn:schemas-microsoft-com:vml" Requires="v">
                <p:oleObj spid="_x0000_s23560" name="" r:id="rId1" imgW="4791075" imgH="3676650" progId="Paint.Picture">
                  <p:embed/>
                </p:oleObj>
              </mc:Choice>
              <mc:Fallback>
                <p:oleObj name="" r:id="rId1" imgW="4791075" imgH="3676650" progId="Paint.Picture">
                  <p:embed/>
                  <p:pic>
                    <p:nvPicPr>
                      <p:cNvPr id="0" name="图片 4"/>
                      <p:cNvPicPr/>
                      <p:nvPr/>
                    </p:nvPicPr>
                    <p:blipFill>
                      <a:blip r:embed="rId2"/>
                      <a:stretch>
                        <a:fillRect/>
                      </a:stretch>
                    </p:blipFill>
                    <p:spPr>
                      <a:xfrm>
                        <a:off x="5518785" y="1773555"/>
                        <a:ext cx="4794885" cy="3679825"/>
                      </a:xfrm>
                      <a:prstGeom prst="rect">
                        <a:avLst/>
                      </a:prstGeom>
                    </p:spPr>
                  </p:pic>
                </p:oleObj>
              </mc:Fallback>
            </mc:AlternateContent>
          </a:graphicData>
        </a:graphic>
      </p:graphicFrame>
      <p:sp>
        <p:nvSpPr>
          <p:cNvPr id="2" name="Title 1"/>
          <p:cNvSpPr txBox="1"/>
          <p:nvPr/>
        </p:nvSpPr>
        <p:spPr>
          <a:xfrm>
            <a:off x="1143690" y="266995"/>
            <a:ext cx="639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的安装与启动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671955" y="2261870"/>
            <a:ext cx="963930" cy="398780"/>
          </a:xfrm>
          <a:prstGeom prst="rect">
            <a:avLst/>
          </a:prstGeom>
        </p:spPr>
        <p:txBody>
          <a:bodyPr wrap="square">
            <a:spAutoFit/>
          </a:bodyPr>
          <a:lstStyle/>
          <a:p>
            <a:r>
              <a:rPr lang="zh-CN" altLang="en-US" sz="2000"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步骤七</a:t>
            </a:r>
            <a:endParaRPr lang="zh-CN" altLang="en-US" sz="2000" dirty="0"/>
          </a:p>
        </p:txBody>
      </p:sp>
      <p:sp>
        <p:nvSpPr>
          <p:cNvPr id="25" name="文本框 24"/>
          <p:cNvSpPr txBox="1"/>
          <p:nvPr/>
        </p:nvSpPr>
        <p:spPr>
          <a:xfrm>
            <a:off x="2635885" y="2133600"/>
            <a:ext cx="2369820" cy="1014730"/>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单击“</a:t>
            </a:r>
            <a:r>
              <a:rPr lang="en-US" altLang="zh-CN" sz="2000" dirty="0">
                <a:solidFill>
                  <a:srgbClr val="595959"/>
                </a:solidFill>
                <a:latin typeface="微软雅黑" panose="020B0503020204020204" pitchFamily="34" charset="-122"/>
                <a:ea typeface="微软雅黑" panose="020B0503020204020204" pitchFamily="34" charset="-122"/>
                <a:sym typeface="+mn-ea"/>
              </a:rPr>
              <a:t>Finish</a:t>
            </a:r>
            <a:r>
              <a:rPr lang="zh-CN" altLang="zh-CN" sz="2000" dirty="0">
                <a:solidFill>
                  <a:srgbClr val="595959"/>
                </a:solidFill>
                <a:latin typeface="微软雅黑" panose="020B0503020204020204" pitchFamily="34" charset="-122"/>
                <a:ea typeface="微软雅黑" panose="020B0503020204020204" pitchFamily="34" charset="-122"/>
                <a:sym typeface="+mn-ea"/>
              </a:rPr>
              <a:t>”按钮完成</a:t>
            </a:r>
            <a:r>
              <a:rPr lang="en-US" altLang="zh-CN" sz="2000" dirty="0">
                <a:solidFill>
                  <a:srgbClr val="595959"/>
                </a:solidFill>
                <a:latin typeface="微软雅黑" panose="020B0503020204020204" pitchFamily="34" charset="-122"/>
                <a:ea typeface="微软雅黑" panose="020B0503020204020204" pitchFamily="34" charset="-122"/>
                <a:sym typeface="+mn-ea"/>
              </a:rPr>
              <a:t>IDEA</a:t>
            </a:r>
            <a:r>
              <a:rPr lang="zh-CN" altLang="zh-CN" sz="2000" dirty="0">
                <a:solidFill>
                  <a:srgbClr val="595959"/>
                </a:solidFill>
                <a:latin typeface="微软雅黑" panose="020B0503020204020204" pitchFamily="34" charset="-122"/>
                <a:ea typeface="微软雅黑" panose="020B0503020204020204" pitchFamily="34" charset="-122"/>
                <a:sym typeface="+mn-ea"/>
              </a:rPr>
              <a:t>的安装</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sz="2000">
              <a:solidFill>
                <a:srgbClr val="595959"/>
              </a:solidFill>
              <a:latin typeface="微软雅黑" panose="020B0503020204020204" pitchFamily="34" charset="-122"/>
              <a:ea typeface="微软雅黑" panose="020B0503020204020204" pitchFamily="34" charset="-122"/>
            </a:endParaRPr>
          </a:p>
        </p:txBody>
      </p:sp>
      <p:graphicFrame>
        <p:nvGraphicFramePr>
          <p:cNvPr id="2" name="对象 1"/>
          <p:cNvGraphicFramePr/>
          <p:nvPr/>
        </p:nvGraphicFramePr>
        <p:xfrm>
          <a:off x="5374640" y="1990090"/>
          <a:ext cx="4794885" cy="3679825"/>
        </p:xfrm>
        <a:graphic>
          <a:graphicData uri="http://schemas.openxmlformats.org/presentationml/2006/ole">
            <mc:AlternateContent xmlns:mc="http://schemas.openxmlformats.org/markup-compatibility/2006">
              <mc:Choice xmlns:v="urn:schemas-microsoft-com:vml" Requires="v">
                <p:oleObj spid="_x0000_s24584" name="" r:id="rId1" imgW="4791075" imgH="3676650" progId="Paint.Picture">
                  <p:embed/>
                </p:oleObj>
              </mc:Choice>
              <mc:Fallback>
                <p:oleObj name="" r:id="rId1" imgW="4791075" imgH="3676650" progId="Paint.Picture">
                  <p:embed/>
                  <p:pic>
                    <p:nvPicPr>
                      <p:cNvPr id="0" name="图片 2"/>
                      <p:cNvPicPr/>
                      <p:nvPr/>
                    </p:nvPicPr>
                    <p:blipFill>
                      <a:blip r:embed="rId2"/>
                      <a:stretch>
                        <a:fillRect/>
                      </a:stretch>
                    </p:blipFill>
                    <p:spPr>
                      <a:xfrm>
                        <a:off x="5374640" y="1990090"/>
                        <a:ext cx="4794885" cy="3679825"/>
                      </a:xfrm>
                      <a:prstGeom prst="rect">
                        <a:avLst/>
                      </a:prstGeom>
                    </p:spPr>
                  </p:pic>
                </p:oleObj>
              </mc:Fallback>
            </mc:AlternateContent>
          </a:graphicData>
        </a:graphic>
      </p:graphicFrame>
      <p:sp>
        <p:nvSpPr>
          <p:cNvPr id="4" name="Title 1"/>
          <p:cNvSpPr txBox="1"/>
          <p:nvPr/>
        </p:nvSpPr>
        <p:spPr>
          <a:xfrm>
            <a:off x="1143690" y="266995"/>
            <a:ext cx="639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的安装与启动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807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1.6.1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的安装与启动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3" name="文本框 22"/>
          <p:cNvSpPr txBox="1"/>
          <p:nvPr/>
        </p:nvSpPr>
        <p:spPr>
          <a:xfrm>
            <a:off x="1055370" y="2574290"/>
            <a:ext cx="4679315" cy="2399665"/>
          </a:xfrm>
          <a:prstGeom prst="rect">
            <a:avLst/>
          </a:prstGeom>
          <a:no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IDEA</a:t>
            </a:r>
            <a:r>
              <a:rPr lang="zh-CN" altLang="zh-CN" sz="2000" dirty="0">
                <a:solidFill>
                  <a:srgbClr val="595959"/>
                </a:solidFill>
                <a:latin typeface="微软雅黑" panose="020B0503020204020204" pitchFamily="34" charset="-122"/>
                <a:ea typeface="微软雅黑" panose="020B0503020204020204" pitchFamily="34" charset="-122"/>
              </a:rPr>
              <a:t>启动完成后会弹出一个对话框，提示需要购买</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。因为</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旗舰版有</a:t>
            </a:r>
            <a:r>
              <a:rPr lang="en-US" altLang="zh-CN" sz="2000" dirty="0">
                <a:solidFill>
                  <a:srgbClr val="595959"/>
                </a:solidFill>
                <a:latin typeface="微软雅黑" panose="020B0503020204020204" pitchFamily="34" charset="-122"/>
                <a:ea typeface="微软雅黑" panose="020B0503020204020204" pitchFamily="34" charset="-122"/>
              </a:rPr>
              <a:t>30</a:t>
            </a:r>
            <a:r>
              <a:rPr lang="zh-CN" altLang="zh-CN" sz="2000" dirty="0">
                <a:solidFill>
                  <a:srgbClr val="595959"/>
                </a:solidFill>
                <a:latin typeface="微软雅黑" panose="020B0503020204020204" pitchFamily="34" charset="-122"/>
                <a:ea typeface="微软雅黑" panose="020B0503020204020204" pitchFamily="34" charset="-122"/>
              </a:rPr>
              <a:t>天免费试用期，所以这里我们可以关闭该对话框，免费使</a:t>
            </a:r>
            <a:r>
              <a:rPr lang="zh-CN" altLang="en-US" sz="2000" dirty="0">
                <a:solidFill>
                  <a:srgbClr val="595959"/>
                </a:solidFill>
                <a:latin typeface="微软雅黑" panose="020B0503020204020204" pitchFamily="34" charset="-122"/>
                <a:ea typeface="微软雅黑" panose="020B0503020204020204" pitchFamily="34" charset="-122"/>
              </a:rPr>
              <a:t>用</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。关闭提示购买的对话框之后，进入</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界面</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20485"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22975" y="2205990"/>
            <a:ext cx="5112385" cy="313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hevron 3"/>
          <p:cNvSpPr/>
          <p:nvPr>
            <p:custDataLst>
              <p:tags r:id="rId2"/>
            </p:custDataLst>
          </p:nvPr>
        </p:nvSpPr>
        <p:spPr>
          <a:xfrm>
            <a:off x="1063625" y="1149350"/>
            <a:ext cx="26219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299378" y="1283594"/>
            <a:ext cx="229489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sym typeface="+mn-ea"/>
              </a:rPr>
              <a:t>启动</a:t>
            </a:r>
            <a:r>
              <a:rPr lang="en-US" altLang="zh-CN" sz="2000" dirty="0">
                <a:solidFill>
                  <a:srgbClr val="1369B2"/>
                </a:solidFill>
                <a:latin typeface="微软雅黑" panose="020B0503020204020204" pitchFamily="34" charset="-122"/>
                <a:ea typeface="微软雅黑" panose="020B0503020204020204" pitchFamily="34" charset="-122"/>
                <a:sym typeface="+mn-ea"/>
              </a:rPr>
              <a:t>IDEA</a:t>
            </a:r>
            <a:r>
              <a:rPr lang="zh-CN" altLang="en-US" sz="2000" dirty="0">
                <a:solidFill>
                  <a:srgbClr val="1369B2"/>
                </a:solidFill>
                <a:latin typeface="微软雅黑" panose="020B0503020204020204" pitchFamily="34" charset="-122"/>
                <a:ea typeface="微软雅黑" panose="020B0503020204020204" pitchFamily="34" charset="-122"/>
                <a:sym typeface="+mn-ea"/>
              </a:rPr>
              <a:t>开发工具</a:t>
            </a:r>
            <a:endParaRPr lang="zh-CN" altLang="en-US"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501549"/>
            <a:ext cx="5489575" cy="1043940"/>
            <a:chOff x="8472" y="5681"/>
            <a:chExt cx="8645" cy="1644"/>
          </a:xfrm>
        </p:grpSpPr>
        <p:sp>
          <p:nvSpPr>
            <p:cNvPr id="15" name="TextBox 35"/>
            <p:cNvSpPr txBox="1">
              <a:spLocks noChangeArrowheads="1"/>
            </p:cNvSpPr>
            <p:nvPr/>
          </p:nvSpPr>
          <p:spPr bwMode="auto">
            <a:xfrm>
              <a:off x="9147" y="5681"/>
              <a:ext cx="7970"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mn-lt"/>
                </a:rPr>
                <a:t>掌握</a:t>
              </a:r>
              <a:r>
                <a:rPr lang="zh-CN" altLang="en-US" sz="2000" dirty="0">
                  <a:solidFill>
                    <a:srgbClr val="1369B2"/>
                  </a:solidFill>
                  <a:latin typeface="微软雅黑" panose="020B0503020204020204" pitchFamily="34" charset="-122"/>
                  <a:ea typeface="微软雅黑" panose="020B0503020204020204" pitchFamily="34" charset="-122"/>
                  <a:sym typeface="+mn-lt"/>
                </a:rPr>
                <a:t>使用</a:t>
              </a:r>
              <a:r>
                <a:rPr lang="en-US" altLang="zh-CN" sz="2000" dirty="0">
                  <a:solidFill>
                    <a:srgbClr val="1369B2"/>
                  </a:solidFill>
                  <a:latin typeface="微软雅黑" panose="020B0503020204020204" pitchFamily="34" charset="-122"/>
                  <a:ea typeface="微软雅黑" panose="020B0503020204020204" pitchFamily="34" charset="-122"/>
                  <a:sym typeface="+mn-lt"/>
                </a:rPr>
                <a:t>IntelliJ IDEA</a:t>
              </a:r>
              <a:r>
                <a:rPr lang="zh-CN" altLang="en-US" sz="2000" dirty="0">
                  <a:solidFill>
                    <a:srgbClr val="1369B2"/>
                  </a:solidFill>
                  <a:latin typeface="微软雅黑" panose="020B0503020204020204" pitchFamily="34" charset="-122"/>
                  <a:ea typeface="微软雅黑" panose="020B0503020204020204" pitchFamily="34" charset="-122"/>
                  <a:sym typeface="+mn-lt"/>
                </a:rPr>
                <a:t>进行开发</a:t>
              </a:r>
              <a:r>
                <a:rPr lang="zh-CN" altLang="en-US" sz="2000" dirty="0">
                  <a:solidFill>
                    <a:srgbClr val="595959"/>
                  </a:solidFill>
                  <a:latin typeface="微软雅黑" panose="020B0503020204020204" pitchFamily="34" charset="-122"/>
                  <a:ea typeface="微软雅黑" panose="020B0503020204020204" pitchFamily="34" charset="-122"/>
                  <a:sym typeface="+mn-lt"/>
                </a:rPr>
                <a:t>，能够使用</a:t>
              </a:r>
              <a:r>
                <a:rPr lang="en-US" altLang="zh-CN" sz="2000" dirty="0">
                  <a:solidFill>
                    <a:srgbClr val="595959"/>
                  </a:solidFill>
                  <a:latin typeface="微软雅黑" panose="020B0503020204020204" pitchFamily="34" charset="-122"/>
                  <a:ea typeface="微软雅黑" panose="020B0503020204020204" pitchFamily="34" charset="-122"/>
                  <a:sym typeface="+mn-lt"/>
                </a:rPr>
                <a:t>IntelliJ IDEA</a:t>
              </a:r>
              <a:r>
                <a:rPr lang="zh-CN" altLang="en-US" sz="2000" dirty="0">
                  <a:solidFill>
                    <a:srgbClr val="595959"/>
                  </a:solidFill>
                  <a:latin typeface="微软雅黑" panose="020B0503020204020204" pitchFamily="34" charset="-122"/>
                  <a:ea typeface="微软雅黑" panose="020B0503020204020204" pitchFamily="34" charset="-122"/>
                  <a:sym typeface="+mn-lt"/>
                </a:rPr>
                <a:t>编写和运行</a:t>
              </a:r>
              <a:r>
                <a:rPr lang="en-US" altLang="zh-CN" sz="2000" dirty="0">
                  <a:solidFill>
                    <a:srgbClr val="595959"/>
                  </a:solidFill>
                  <a:latin typeface="微软雅黑" panose="020B0503020204020204" pitchFamily="34" charset="-122"/>
                  <a:ea typeface="微软雅黑" panose="020B0503020204020204" pitchFamily="34" charset="-122"/>
                  <a:sym typeface="+mn-lt"/>
                </a:rPr>
                <a:t>HelloWorld</a:t>
              </a:r>
              <a:r>
                <a:rPr lang="zh-CN" altLang="en-US" sz="2000" dirty="0">
                  <a:solidFill>
                    <a:srgbClr val="595959"/>
                  </a:solidFill>
                  <a:latin typeface="微软雅黑" panose="020B0503020204020204" pitchFamily="34" charset="-122"/>
                  <a:ea typeface="微软雅黑" panose="020B0503020204020204" pitchFamily="34" charset="-122"/>
                  <a:sym typeface="+mn-lt"/>
                </a:rPr>
                <a:t>程序</a:t>
              </a:r>
              <a:endParaRPr lang="zh-CN" altLang="en-US" sz="2000" dirty="0">
                <a:solidFill>
                  <a:srgbClr val="595959"/>
                </a:solidFill>
                <a:latin typeface="微软雅黑" panose="020B0503020204020204" pitchFamily="34" charset="-122"/>
                <a:ea typeface="微软雅黑" panose="020B0503020204020204" pitchFamily="34" charset="-122"/>
                <a:sym typeface="+mn-lt"/>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1" name="Title 1"/>
          <p:cNvSpPr txBox="1"/>
          <p:nvPr/>
        </p:nvSpPr>
        <p:spPr>
          <a:xfrm>
            <a:off x="1143690" y="266995"/>
            <a:ext cx="466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66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5" name="文本框 44"/>
          <p:cNvSpPr txBox="1"/>
          <p:nvPr/>
        </p:nvSpPr>
        <p:spPr>
          <a:xfrm>
            <a:off x="1494155" y="2639695"/>
            <a:ext cx="2945130" cy="1938020"/>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步骤一：</a:t>
            </a:r>
            <a:r>
              <a:rPr lang="zh-CN" altLang="zh-CN" sz="2000" dirty="0">
                <a:solidFill>
                  <a:srgbClr val="595959"/>
                </a:solidFill>
                <a:latin typeface="微软雅黑" panose="020B0503020204020204" pitchFamily="34" charset="-122"/>
                <a:ea typeface="微软雅黑" panose="020B0503020204020204" pitchFamily="34" charset="-122"/>
              </a:rPr>
              <a:t>单击</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Create New Project</a:t>
            </a:r>
            <a:r>
              <a:rPr lang="zh-CN" altLang="zh-CN" sz="2000" dirty="0">
                <a:solidFill>
                  <a:srgbClr val="595959"/>
                </a:solidFill>
                <a:latin typeface="微软雅黑" panose="020B0503020204020204" pitchFamily="34" charset="-122"/>
                <a:ea typeface="微软雅黑" panose="020B0503020204020204" pitchFamily="34" charset="-122"/>
              </a:rPr>
              <a:t>”选项创建新项目，单击之后进入</a:t>
            </a:r>
            <a:r>
              <a:rPr lang="en-US" altLang="zh-CN" sz="2000" dirty="0">
                <a:solidFill>
                  <a:srgbClr val="595959"/>
                </a:solidFill>
                <a:latin typeface="微软雅黑" panose="020B0503020204020204" pitchFamily="34" charset="-122"/>
                <a:ea typeface="微软雅黑" panose="020B0503020204020204" pitchFamily="34" charset="-122"/>
              </a:rPr>
              <a:t>New Project</a:t>
            </a:r>
            <a:r>
              <a:rPr lang="zh-CN" altLang="zh-CN" sz="2000" dirty="0">
                <a:solidFill>
                  <a:srgbClr val="595959"/>
                </a:solidFill>
                <a:latin typeface="微软雅黑" panose="020B0503020204020204" pitchFamily="34" charset="-122"/>
                <a:ea typeface="微软雅黑" panose="020B0503020204020204" pitchFamily="34" charset="-122"/>
              </a:rPr>
              <a:t>界面</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nvGraphicFramePr>
        <p:xfrm>
          <a:off x="4438650" y="1485900"/>
          <a:ext cx="6440183" cy="4284000"/>
        </p:xfrm>
        <a:graphic>
          <a:graphicData uri="http://schemas.openxmlformats.org/presentationml/2006/ole">
            <mc:AlternateContent xmlns:mc="http://schemas.openxmlformats.org/markup-compatibility/2006">
              <mc:Choice xmlns:v="urn:schemas-microsoft-com:vml" Requires="v">
                <p:oleObj spid="_x0000_s25608" name="" r:id="rId1" imgW="6915150" imgH="4600575" progId="Paint.Picture">
                  <p:embed/>
                </p:oleObj>
              </mc:Choice>
              <mc:Fallback>
                <p:oleObj name="" r:id="rId1" imgW="6915150" imgH="4600575" progId="Paint.Picture">
                  <p:embed/>
                  <p:pic>
                    <p:nvPicPr>
                      <p:cNvPr id="0" name="图片 2"/>
                      <p:cNvPicPr/>
                      <p:nvPr/>
                    </p:nvPicPr>
                    <p:blipFill>
                      <a:blip r:embed="rId2"/>
                      <a:stretch>
                        <a:fillRect/>
                      </a:stretch>
                    </p:blipFill>
                    <p:spPr>
                      <a:xfrm>
                        <a:off x="4438650" y="1485900"/>
                        <a:ext cx="6440183" cy="4284000"/>
                      </a:xfrm>
                      <a:prstGeom prst="rect">
                        <a:avLst/>
                      </a:prstGeom>
                    </p:spPr>
                  </p:pic>
                </p:oleObj>
              </mc:Fallback>
            </mc:AlternateContent>
          </a:graphicData>
        </a:graphic>
      </p:graphicFrame>
      <p:sp>
        <p:nvSpPr>
          <p:cNvPr id="5" name="Chevron 3"/>
          <p:cNvSpPr/>
          <p:nvPr>
            <p:custDataLst>
              <p:tags r:id="rId3"/>
            </p:custDataLst>
          </p:nvPr>
        </p:nvSpPr>
        <p:spPr>
          <a:xfrm>
            <a:off x="1063625" y="934085"/>
            <a:ext cx="3257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299378" y="1068329"/>
            <a:ext cx="2720340"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sym typeface="+mn-ea"/>
              </a:rPr>
              <a:t>创建</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en-US" sz="2000" dirty="0">
                <a:solidFill>
                  <a:srgbClr val="1369B2"/>
                </a:solidFill>
                <a:latin typeface="微软雅黑" panose="020B0503020204020204" pitchFamily="34" charset="-122"/>
                <a:ea typeface="微软雅黑" panose="020B0503020204020204" pitchFamily="34" charset="-122"/>
                <a:sym typeface="+mn-ea"/>
              </a:rPr>
              <a:t>项目具体步骤</a:t>
            </a:r>
            <a:endParaRPr lang="zh-CN" altLang="en-US"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66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8" name="文本框 47"/>
          <p:cNvSpPr txBox="1"/>
          <p:nvPr/>
        </p:nvSpPr>
        <p:spPr>
          <a:xfrm>
            <a:off x="1366520" y="1917700"/>
            <a:ext cx="3000375" cy="3322955"/>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步骤二：</a:t>
            </a:r>
            <a:r>
              <a:rPr lang="zh-CN" altLang="zh-CN" sz="2000" dirty="0">
                <a:solidFill>
                  <a:srgbClr val="595959"/>
                </a:solidFill>
                <a:latin typeface="微软雅黑" panose="020B0503020204020204" pitchFamily="34" charset="-122"/>
                <a:ea typeface="微软雅黑" panose="020B0503020204020204" pitchFamily="34" charset="-122"/>
              </a:rPr>
              <a:t>需要设置</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程序开发所需要的</a:t>
            </a:r>
            <a:r>
              <a:rPr lang="en-US" altLang="zh-CN" sz="2000" dirty="0">
                <a:solidFill>
                  <a:srgbClr val="595959"/>
                </a:solidFill>
                <a:latin typeface="微软雅黑" panose="020B0503020204020204" pitchFamily="34" charset="-122"/>
                <a:ea typeface="微软雅黑" panose="020B0503020204020204" pitchFamily="34" charset="-122"/>
              </a:rPr>
              <a:t>JDK</a:t>
            </a:r>
            <a:r>
              <a:rPr lang="zh-CN" altLang="zh-CN" sz="2000" dirty="0">
                <a:solidFill>
                  <a:srgbClr val="595959"/>
                </a:solidFill>
                <a:latin typeface="微软雅黑" panose="020B0503020204020204" pitchFamily="34" charset="-122"/>
                <a:ea typeface="微软雅黑" panose="020B0503020204020204" pitchFamily="34" charset="-122"/>
              </a:rPr>
              <a:t>。在左侧栏选中</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，在右侧栏顶部</a:t>
            </a:r>
            <a:r>
              <a:rPr lang="en-US" altLang="zh-CN" sz="2000" dirty="0">
                <a:solidFill>
                  <a:srgbClr val="595959"/>
                </a:solidFill>
                <a:latin typeface="微软雅黑" panose="020B0503020204020204" pitchFamily="34" charset="-122"/>
                <a:ea typeface="微软雅黑" panose="020B0503020204020204" pitchFamily="34" charset="-122"/>
              </a:rPr>
              <a:t>Project SDK</a:t>
            </a:r>
            <a:r>
              <a:rPr lang="zh-CN" altLang="zh-CN" sz="2000" dirty="0">
                <a:solidFill>
                  <a:srgbClr val="595959"/>
                </a:solidFill>
                <a:latin typeface="微软雅黑" panose="020B0503020204020204" pitchFamily="34" charset="-122"/>
                <a:ea typeface="微软雅黑" panose="020B0503020204020204" pitchFamily="34" charset="-122"/>
              </a:rPr>
              <a:t>后面选择下载好的</a:t>
            </a:r>
            <a:r>
              <a:rPr lang="en-US" altLang="zh-CN" sz="2000" dirty="0">
                <a:solidFill>
                  <a:srgbClr val="595959"/>
                </a:solidFill>
                <a:latin typeface="微软雅黑" panose="020B0503020204020204" pitchFamily="34" charset="-122"/>
                <a:ea typeface="微软雅黑" panose="020B0503020204020204" pitchFamily="34" charset="-122"/>
              </a:rPr>
              <a:t>JDK</a:t>
            </a:r>
            <a:r>
              <a:rPr lang="zh-CN" altLang="zh-CN" sz="2000" dirty="0">
                <a:solidFill>
                  <a:srgbClr val="595959"/>
                </a:solidFill>
                <a:latin typeface="微软雅黑" panose="020B0503020204020204" pitchFamily="34" charset="-122"/>
                <a:ea typeface="微软雅黑" panose="020B0503020204020204" pitchFamily="34" charset="-122"/>
              </a:rPr>
              <a:t>，然后单击“</a:t>
            </a:r>
            <a:r>
              <a:rPr lang="en-US" altLang="zh-CN" sz="2000" dirty="0">
                <a:solidFill>
                  <a:srgbClr val="595959"/>
                </a:solidFill>
                <a:latin typeface="微软雅黑" panose="020B0503020204020204" pitchFamily="34" charset="-122"/>
                <a:ea typeface="微软雅黑" panose="020B0503020204020204" pitchFamily="34" charset="-122"/>
              </a:rPr>
              <a:t>Next</a:t>
            </a:r>
            <a:r>
              <a:rPr lang="zh-CN" altLang="zh-CN" sz="2000" dirty="0">
                <a:solidFill>
                  <a:srgbClr val="595959"/>
                </a:solidFill>
                <a:latin typeface="微软雅黑" panose="020B0503020204020204" pitchFamily="34" charset="-122"/>
                <a:ea typeface="微软雅黑" panose="020B0503020204020204" pitchFamily="34" charset="-122"/>
              </a:rPr>
              <a:t>”按钮进入选择模板创建项目界面</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nvGraphicFramePr>
        <p:xfrm>
          <a:off x="5039995" y="1395730"/>
          <a:ext cx="5898759" cy="4068000"/>
        </p:xfrm>
        <a:graphic>
          <a:graphicData uri="http://schemas.openxmlformats.org/presentationml/2006/ole">
            <mc:AlternateContent xmlns:mc="http://schemas.openxmlformats.org/markup-compatibility/2006">
              <mc:Choice xmlns:v="urn:schemas-microsoft-com:vml" Requires="v">
                <p:oleObj spid="_x0000_s26632" name="" r:id="rId1" imgW="7181850" imgH="4953000" progId="Paint.Picture">
                  <p:embed/>
                </p:oleObj>
              </mc:Choice>
              <mc:Fallback>
                <p:oleObj name="" r:id="rId1" imgW="7181850" imgH="4953000" progId="Paint.Picture">
                  <p:embed/>
                  <p:pic>
                    <p:nvPicPr>
                      <p:cNvPr id="0" name="图片 2"/>
                      <p:cNvPicPr/>
                      <p:nvPr/>
                    </p:nvPicPr>
                    <p:blipFill>
                      <a:blip r:embed="rId2"/>
                      <a:stretch>
                        <a:fillRect/>
                      </a:stretch>
                    </p:blipFill>
                    <p:spPr>
                      <a:xfrm>
                        <a:off x="5039995" y="1395730"/>
                        <a:ext cx="5898759" cy="40680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66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8" name="文本框 47"/>
          <p:cNvSpPr txBox="1"/>
          <p:nvPr/>
        </p:nvSpPr>
        <p:spPr>
          <a:xfrm>
            <a:off x="1511935" y="1998980"/>
            <a:ext cx="3564255" cy="2861310"/>
          </a:xfrm>
          <a:prstGeom prst="rect">
            <a:avLst/>
          </a:prstGeom>
          <a:noFill/>
        </p:spPr>
        <p:txBody>
          <a:bodyPr wrap="square" rtlCol="0">
            <a:spAutoFit/>
          </a:bodyPr>
          <a:lstStyle/>
          <a:p>
            <a:pPr>
              <a:lnSpc>
                <a:spcPct val="150000"/>
              </a:lnSpc>
            </a:pPr>
            <a:r>
              <a:rPr lang="zh-CN" sz="2000" dirty="0">
                <a:solidFill>
                  <a:srgbClr val="1369B2"/>
                </a:solidFill>
                <a:latin typeface="微软雅黑" panose="020B0503020204020204" pitchFamily="34" charset="-122"/>
                <a:ea typeface="微软雅黑" panose="020B0503020204020204" pitchFamily="34" charset="-122"/>
              </a:rPr>
              <a:t>步骤三：</a:t>
            </a:r>
            <a:r>
              <a:rPr sz="2000" dirty="0">
                <a:solidFill>
                  <a:srgbClr val="595959"/>
                </a:solidFill>
                <a:latin typeface="微软雅黑" panose="020B0503020204020204" pitchFamily="34" charset="-122"/>
                <a:ea typeface="微软雅黑" panose="020B0503020204020204" pitchFamily="34" charset="-122"/>
              </a:rPr>
              <a:t>需要设置Java程序开发所需要的JDK。在左侧栏选中Java，在右侧栏顶部Project SDK后面选择下载好的JDK，然后单击“Next”按钮进入选择模板创建项目界面</a:t>
            </a:r>
            <a:endParaRPr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4" name="对象 3"/>
          <p:cNvGraphicFramePr/>
          <p:nvPr/>
        </p:nvGraphicFramePr>
        <p:xfrm>
          <a:off x="5400040" y="2052320"/>
          <a:ext cx="5185410" cy="2754630"/>
        </p:xfrm>
        <a:graphic>
          <a:graphicData uri="http://schemas.openxmlformats.org/presentationml/2006/ole">
            <mc:AlternateContent xmlns:mc="http://schemas.openxmlformats.org/markup-compatibility/2006">
              <mc:Choice xmlns:v="urn:schemas-microsoft-com:vml" Requires="v">
                <p:oleObj spid="_x0000_s27656" name="" r:id="rId1" imgW="5181600" imgH="2752725" progId="Paint.Picture">
                  <p:embed/>
                </p:oleObj>
              </mc:Choice>
              <mc:Fallback>
                <p:oleObj name="" r:id="rId1" imgW="5181600" imgH="2752725" progId="Paint.Picture">
                  <p:embed/>
                  <p:pic>
                    <p:nvPicPr>
                      <p:cNvPr id="0" name="图片 4"/>
                      <p:cNvPicPr/>
                      <p:nvPr/>
                    </p:nvPicPr>
                    <p:blipFill>
                      <a:blip r:embed="rId2"/>
                      <a:stretch>
                        <a:fillRect/>
                      </a:stretch>
                    </p:blipFill>
                    <p:spPr>
                      <a:xfrm>
                        <a:off x="5400040" y="2052320"/>
                        <a:ext cx="5185410" cy="275463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66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8" name="文本框 47"/>
          <p:cNvSpPr txBox="1"/>
          <p:nvPr/>
        </p:nvSpPr>
        <p:spPr>
          <a:xfrm>
            <a:off x="1602105" y="2691130"/>
            <a:ext cx="2408555" cy="1476375"/>
          </a:xfrm>
          <a:prstGeom prst="rect">
            <a:avLst/>
          </a:prstGeom>
          <a:noFill/>
        </p:spPr>
        <p:txBody>
          <a:bodyPr wrap="square" rtlCol="0">
            <a:spAutoFit/>
          </a:bodyPr>
          <a:lstStyle/>
          <a:p>
            <a:pPr>
              <a:lnSpc>
                <a:spcPct val="150000"/>
              </a:lnSpc>
            </a:pPr>
            <a:r>
              <a:rPr lang="zh-CN" sz="2000" dirty="0">
                <a:solidFill>
                  <a:srgbClr val="1369B2"/>
                </a:solidFill>
                <a:latin typeface="微软雅黑" panose="020B0503020204020204" pitchFamily="34" charset="-122"/>
                <a:ea typeface="微软雅黑" panose="020B0503020204020204" pitchFamily="34" charset="-122"/>
              </a:rPr>
              <a:t>步骤四：</a:t>
            </a:r>
            <a:r>
              <a:rPr sz="2000" dirty="0">
                <a:solidFill>
                  <a:srgbClr val="595959"/>
                </a:solidFill>
                <a:latin typeface="微软雅黑" panose="020B0503020204020204" pitchFamily="34" charset="-122"/>
                <a:ea typeface="微软雅黑" panose="020B0503020204020204" pitchFamily="34" charset="-122"/>
              </a:rPr>
              <a:t>单击“Next”按钮进入项目设置界面</a:t>
            </a:r>
            <a:r>
              <a:rPr lang="zh-CN" sz="2000" dirty="0">
                <a:solidFill>
                  <a:srgbClr val="595959"/>
                </a:solidFill>
                <a:latin typeface="微软雅黑" panose="020B0503020204020204" pitchFamily="34" charset="-122"/>
                <a:ea typeface="微软雅黑" panose="020B0503020204020204" pitchFamily="34" charset="-122"/>
              </a:rPr>
              <a:t>。</a:t>
            </a:r>
            <a:endParaRPr lang="zh-CN"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对象 1"/>
          <p:cNvGraphicFramePr/>
          <p:nvPr/>
        </p:nvGraphicFramePr>
        <p:xfrm>
          <a:off x="4657090" y="1630045"/>
          <a:ext cx="5547995" cy="3784600"/>
        </p:xfrm>
        <a:graphic>
          <a:graphicData uri="http://schemas.openxmlformats.org/presentationml/2006/ole">
            <mc:AlternateContent xmlns:mc="http://schemas.openxmlformats.org/markup-compatibility/2006">
              <mc:Choice xmlns:v="urn:schemas-microsoft-com:vml" Requires="v">
                <p:oleObj spid="_x0000_s28680" name="" r:id="rId1" imgW="5543550" imgH="3781425" progId="Paint.Picture">
                  <p:embed/>
                </p:oleObj>
              </mc:Choice>
              <mc:Fallback>
                <p:oleObj name="" r:id="rId1" imgW="5543550" imgH="3781425" progId="Paint.Picture">
                  <p:embed/>
                  <p:pic>
                    <p:nvPicPr>
                      <p:cNvPr id="0" name="图片 2"/>
                      <p:cNvPicPr/>
                      <p:nvPr/>
                    </p:nvPicPr>
                    <p:blipFill>
                      <a:blip r:embed="rId2"/>
                      <a:stretch>
                        <a:fillRect/>
                      </a:stretch>
                    </p:blipFill>
                    <p:spPr>
                      <a:xfrm>
                        <a:off x="4657090" y="1630045"/>
                        <a:ext cx="5547995" cy="37846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483737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圆角矩形标注 1"/>
          <p:cNvSpPr/>
          <p:nvPr/>
        </p:nvSpPr>
        <p:spPr>
          <a:xfrm>
            <a:off x="6949440" y="1431925"/>
            <a:ext cx="4545330" cy="4054475"/>
          </a:xfrm>
          <a:prstGeom prst="wedgeRoundRectCallout">
            <a:avLst>
              <a:gd name="adj1" fmla="val -64696"/>
              <a:gd name="adj2" fmla="val -17874"/>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indent="0"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rPr>
              <a:t>左侧栏是chapter01项目的目录结构，其中.idea目录下的所有文件，以及chapter01.iml文件都是IDEA开发工具使用的配置文件，不需要开发者操作。src是source单词的缩写，该目录用于保存程序的源文件。External Libraries是扩展类库，即Java程序编写和运行所依赖的JDK中的类</a:t>
            </a:r>
            <a:r>
              <a:rPr lang="zh-CN" sz="2000" dirty="0">
                <a:solidFill>
                  <a:srgbClr val="595959"/>
                </a:solidFill>
                <a:latin typeface="微软雅黑" panose="020B0503020204020204" pitchFamily="34" charset="-122"/>
                <a:ea typeface="微软雅黑" panose="020B0503020204020204" pitchFamily="34" charset="-122"/>
              </a:rPr>
              <a:t>。</a:t>
            </a:r>
            <a:endParaRPr lang="zh-CN"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3" name="对象 2"/>
          <p:cNvGraphicFramePr>
            <a:graphicFrameLocks noChangeAspect="1"/>
          </p:cNvGraphicFramePr>
          <p:nvPr/>
        </p:nvGraphicFramePr>
        <p:xfrm>
          <a:off x="1143635" y="1431925"/>
          <a:ext cx="5145415" cy="3996000"/>
        </p:xfrm>
        <a:graphic>
          <a:graphicData uri="http://schemas.openxmlformats.org/presentationml/2006/ole">
            <mc:AlternateContent xmlns:mc="http://schemas.openxmlformats.org/markup-compatibility/2006">
              <mc:Choice xmlns:v="urn:schemas-microsoft-com:vml" Requires="v">
                <p:oleObj spid="_x0000_s29704" name="" r:id="rId1" imgW="7696200" imgH="5181600" progId="Paint.Picture">
                  <p:embed/>
                </p:oleObj>
              </mc:Choice>
              <mc:Fallback>
                <p:oleObj name="" r:id="rId1" imgW="7696200" imgH="5181600" progId="Paint.Picture">
                  <p:embed/>
                  <p:pic>
                    <p:nvPicPr>
                      <p:cNvPr id="0" name="图片 3"/>
                      <p:cNvPicPr/>
                      <p:nvPr/>
                    </p:nvPicPr>
                    <p:blipFill>
                      <a:blip r:embed="rId2"/>
                      <a:stretch>
                        <a:fillRect/>
                      </a:stretch>
                    </p:blipFill>
                    <p:spPr>
                      <a:xfrm>
                        <a:off x="1143635" y="1431925"/>
                        <a:ext cx="5145415" cy="39960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73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圆角矩形标注 1"/>
          <p:cNvSpPr/>
          <p:nvPr/>
        </p:nvSpPr>
        <p:spPr>
          <a:xfrm>
            <a:off x="6409055" y="2244725"/>
            <a:ext cx="3145155" cy="2261235"/>
          </a:xfrm>
          <a:prstGeom prst="wedgeRoundRectCallout">
            <a:avLst>
              <a:gd name="adj1" fmla="val -77538"/>
              <a:gd name="adj2" fmla="val -13016"/>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indent="0" algn="l" fontAlgn="auto">
              <a:lnSpc>
                <a:spcPct val="150000"/>
              </a:lnSpc>
            </a:pPr>
            <a:r>
              <a:rPr sz="2000" dirty="0">
                <a:solidFill>
                  <a:srgbClr val="595959"/>
                </a:solidFill>
                <a:latin typeface="微软雅黑" panose="020B0503020204020204" pitchFamily="34" charset="-122"/>
                <a:ea typeface="微软雅黑" panose="020B0503020204020204" pitchFamily="34" charset="-122"/>
              </a:rPr>
              <a:t>右键单击chapter01项目下的src目录，依次选择“New”→”Java Class”，进入New Java Class选项界面</a:t>
            </a:r>
            <a:r>
              <a:rPr lang="zh-CN" sz="2000" dirty="0">
                <a:solidFill>
                  <a:srgbClr val="595959"/>
                </a:solidFill>
                <a:latin typeface="微软雅黑" panose="020B0503020204020204" pitchFamily="34" charset="-122"/>
                <a:ea typeface="微软雅黑" panose="020B0503020204020204" pitchFamily="34" charset="-122"/>
              </a:rPr>
              <a:t>。</a:t>
            </a:r>
            <a:endParaRPr lang="zh-CN"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5" name="对象 4"/>
          <p:cNvGraphicFramePr/>
          <p:nvPr/>
        </p:nvGraphicFramePr>
        <p:xfrm>
          <a:off x="2144395" y="2032635"/>
          <a:ext cx="3385185" cy="2685415"/>
        </p:xfrm>
        <a:graphic>
          <a:graphicData uri="http://schemas.openxmlformats.org/presentationml/2006/ole">
            <mc:AlternateContent xmlns:mc="http://schemas.openxmlformats.org/markup-compatibility/2006">
              <mc:Choice xmlns:v="urn:schemas-microsoft-com:vml" Requires="v">
                <p:oleObj spid="_x0000_s30728" name="" r:id="rId1" imgW="2305050" imgH="1924050" progId="Paint.Picture">
                  <p:embed/>
                </p:oleObj>
              </mc:Choice>
              <mc:Fallback>
                <p:oleObj name="" r:id="rId1" imgW="2305050" imgH="1924050" progId="Paint.Picture">
                  <p:embed/>
                  <p:pic>
                    <p:nvPicPr>
                      <p:cNvPr id="0" name="图片 5"/>
                      <p:cNvPicPr/>
                      <p:nvPr/>
                    </p:nvPicPr>
                    <p:blipFill>
                      <a:blip r:embed="rId2"/>
                      <a:stretch>
                        <a:fillRect/>
                      </a:stretch>
                    </p:blipFill>
                    <p:spPr>
                      <a:xfrm>
                        <a:off x="2144395" y="2032635"/>
                        <a:ext cx="3385185" cy="2685415"/>
                      </a:xfrm>
                      <a:prstGeom prst="rect">
                        <a:avLst/>
                      </a:prstGeom>
                    </p:spPr>
                  </p:pic>
                </p:oleObj>
              </mc:Fallback>
            </mc:AlternateContent>
          </a:graphicData>
        </a:graphic>
      </p:graphicFrame>
      <p:sp>
        <p:nvSpPr>
          <p:cNvPr id="3" name="Chevron 3"/>
          <p:cNvSpPr/>
          <p:nvPr>
            <p:custDataLst>
              <p:tags r:id="rId3"/>
            </p:custDataLst>
          </p:nvPr>
        </p:nvSpPr>
        <p:spPr>
          <a:xfrm>
            <a:off x="1063625" y="934085"/>
            <a:ext cx="20980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299378" y="1068329"/>
            <a:ext cx="1706880"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sym typeface="+mn-ea"/>
              </a:rPr>
              <a:t>编写程序代码</a:t>
            </a:r>
            <a:endParaRPr lang="zh-CN"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73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圆角矩形标注 1"/>
          <p:cNvSpPr/>
          <p:nvPr/>
        </p:nvSpPr>
        <p:spPr>
          <a:xfrm>
            <a:off x="6882130" y="1339850"/>
            <a:ext cx="4631690" cy="4074795"/>
          </a:xfrm>
          <a:prstGeom prst="wedgeRoundRectCallout">
            <a:avLst>
              <a:gd name="adj1" fmla="val -54483"/>
              <a:gd name="adj2" fmla="val -16158"/>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indent="0" algn="l" fontAlgn="auto">
              <a:lnSpc>
                <a:spcPct val="150000"/>
              </a:lnSpc>
            </a:pPr>
            <a:r>
              <a:rPr sz="2000" dirty="0">
                <a:solidFill>
                  <a:srgbClr val="595959"/>
                </a:solidFill>
                <a:latin typeface="微软雅黑" panose="020B0503020204020204" pitchFamily="34" charset="-122"/>
                <a:ea typeface="微软雅黑" panose="020B0503020204020204" pitchFamily="34" charset="-122"/>
              </a:rPr>
              <a:t>HelloWorld文件以.java为后缀名，右侧区域显示的是HelloWorld.java文件创建时的默认代码。其中，HelloWorld为类的名称；class为定义类的关键字；public是类的权限修饰符，表示该类是公有类，即所有Java程序均可访问该类；在HelloWorld后面的一对{}中，可以编写类的程序代码</a:t>
            </a:r>
            <a:r>
              <a:rPr lang="zh-CN" sz="2000" dirty="0">
                <a:solidFill>
                  <a:srgbClr val="595959"/>
                </a:solidFill>
                <a:latin typeface="微软雅黑" panose="020B0503020204020204" pitchFamily="34" charset="-122"/>
                <a:ea typeface="微软雅黑" panose="020B0503020204020204" pitchFamily="34" charset="-122"/>
              </a:rPr>
              <a:t>。</a:t>
            </a:r>
            <a:endParaRPr lang="zh-CN"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5" name="对象 4"/>
          <p:cNvGraphicFramePr>
            <a:graphicFrameLocks noChangeAspect="1"/>
          </p:cNvGraphicFramePr>
          <p:nvPr/>
        </p:nvGraphicFramePr>
        <p:xfrm>
          <a:off x="1143635" y="1811655"/>
          <a:ext cx="5508000" cy="3236655"/>
        </p:xfrm>
        <a:graphic>
          <a:graphicData uri="http://schemas.openxmlformats.org/presentationml/2006/ole">
            <mc:AlternateContent xmlns:mc="http://schemas.openxmlformats.org/markup-compatibility/2006">
              <mc:Choice xmlns:v="urn:schemas-microsoft-com:vml" Requires="v">
                <p:oleObj spid="_x0000_s31752" name="" r:id="rId1" imgW="6143625" imgH="3609975" progId="Paint.Picture">
                  <p:embed/>
                </p:oleObj>
              </mc:Choice>
              <mc:Fallback>
                <p:oleObj name="" r:id="rId1" imgW="6143625" imgH="3609975" progId="Paint.Picture">
                  <p:embed/>
                  <p:pic>
                    <p:nvPicPr>
                      <p:cNvPr id="0" name="图片 5"/>
                      <p:cNvPicPr/>
                      <p:nvPr/>
                    </p:nvPicPr>
                    <p:blipFill>
                      <a:blip r:embed="rId2"/>
                      <a:stretch>
                        <a:fillRect/>
                      </a:stretch>
                    </p:blipFill>
                    <p:spPr>
                      <a:xfrm>
                        <a:off x="1143635" y="1811655"/>
                        <a:ext cx="5508000" cy="323665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73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圆角矩形标注 1"/>
          <p:cNvSpPr/>
          <p:nvPr/>
        </p:nvSpPr>
        <p:spPr>
          <a:xfrm>
            <a:off x="8001635" y="2830830"/>
            <a:ext cx="3239770" cy="1197610"/>
          </a:xfrm>
          <a:prstGeom prst="wedgeRoundRectCallout">
            <a:avLst>
              <a:gd name="adj1" fmla="val -70246"/>
              <a:gd name="adj2" fmla="val -17921"/>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我们可以在该文件中编写</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代码</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3" name="对象 2"/>
          <p:cNvGraphicFramePr>
            <a:graphicFrameLocks noChangeAspect="1"/>
          </p:cNvGraphicFramePr>
          <p:nvPr/>
        </p:nvGraphicFramePr>
        <p:xfrm>
          <a:off x="1061085" y="1701800"/>
          <a:ext cx="6264000" cy="2708369"/>
        </p:xfrm>
        <a:graphic>
          <a:graphicData uri="http://schemas.openxmlformats.org/presentationml/2006/ole">
            <mc:AlternateContent xmlns:mc="http://schemas.openxmlformats.org/markup-compatibility/2006">
              <mc:Choice xmlns:v="urn:schemas-microsoft-com:vml" Requires="v">
                <p:oleObj spid="_x0000_s32776" name="" r:id="rId1" imgW="7181850" imgH="3105150" progId="Paint.Picture">
                  <p:embed/>
                </p:oleObj>
              </mc:Choice>
              <mc:Fallback>
                <p:oleObj name="" r:id="rId1" imgW="7181850" imgH="3105150" progId="Paint.Picture">
                  <p:embed/>
                  <p:pic>
                    <p:nvPicPr>
                      <p:cNvPr id="0" name="图片 3"/>
                      <p:cNvPicPr/>
                      <p:nvPr/>
                    </p:nvPicPr>
                    <p:blipFill>
                      <a:blip r:embed="rId2"/>
                      <a:stretch>
                        <a:fillRect/>
                      </a:stretch>
                    </p:blipFill>
                    <p:spPr>
                      <a:xfrm>
                        <a:off x="1061085" y="1701800"/>
                        <a:ext cx="6264000" cy="2708369"/>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73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进行开发</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圆角矩形标注 1"/>
          <p:cNvSpPr/>
          <p:nvPr/>
        </p:nvSpPr>
        <p:spPr>
          <a:xfrm>
            <a:off x="7309485" y="3042285"/>
            <a:ext cx="2620010" cy="1622425"/>
          </a:xfrm>
          <a:prstGeom prst="wedgeRoundRectCallout">
            <a:avLst>
              <a:gd name="adj1" fmla="val -75602"/>
              <a:gd name="adj2" fmla="val -27458"/>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13" name="文本框 12"/>
          <p:cNvSpPr txBox="1"/>
          <p:nvPr/>
        </p:nvSpPr>
        <p:spPr>
          <a:xfrm>
            <a:off x="7371080" y="3041650"/>
            <a:ext cx="2626995" cy="1476375"/>
          </a:xfrm>
          <a:prstGeom prst="rect">
            <a:avLst/>
          </a:prstGeom>
          <a:noFill/>
        </p:spPr>
        <p:txBody>
          <a:bodyPr wrap="square" rtlCol="0">
            <a:spAutoFit/>
          </a:bodyPr>
          <a:lstStyle/>
          <a:p>
            <a:pPr indent="0" fontAlgn="auto">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单击工具栏中的“   ”</a:t>
            </a:r>
            <a:r>
              <a:rPr lang="zh-CN" altLang="zh-CN" sz="2000" dirty="0">
                <a:solidFill>
                  <a:srgbClr val="595959"/>
                </a:solidFill>
                <a:latin typeface="微软雅黑" panose="020B0503020204020204" pitchFamily="34" charset="-122"/>
                <a:ea typeface="微软雅黑" panose="020B0503020204020204" pitchFamily="34" charset="-122"/>
              </a:rPr>
              <a:t>按钮运行程序，控制台会显示运行结果</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1"/>
          <a:stretch>
            <a:fillRect/>
          </a:stretch>
        </p:blipFill>
        <p:spPr>
          <a:xfrm>
            <a:off x="9556384" y="3242949"/>
            <a:ext cx="149127" cy="161905"/>
          </a:xfrm>
          <a:prstGeom prst="rect">
            <a:avLst/>
          </a:prstGeom>
        </p:spPr>
      </p:pic>
      <p:graphicFrame>
        <p:nvGraphicFramePr>
          <p:cNvPr id="3" name="对象 2"/>
          <p:cNvGraphicFramePr>
            <a:graphicFrameLocks noChangeAspect="1"/>
          </p:cNvGraphicFramePr>
          <p:nvPr/>
        </p:nvGraphicFramePr>
        <p:xfrm>
          <a:off x="1645285" y="1701800"/>
          <a:ext cx="4974870" cy="3456000"/>
        </p:xfrm>
        <a:graphic>
          <a:graphicData uri="http://schemas.openxmlformats.org/presentationml/2006/ole">
            <mc:AlternateContent xmlns:mc="http://schemas.openxmlformats.org/markup-compatibility/2006">
              <mc:Choice xmlns:v="urn:schemas-microsoft-com:vml" Requires="v">
                <p:oleObj spid="_x0000_s33800" name="" r:id="rId2" imgW="6562725" imgH="4572000" progId="Paint.Picture">
                  <p:embed/>
                </p:oleObj>
              </mc:Choice>
              <mc:Fallback>
                <p:oleObj name="" r:id="rId2" imgW="6562725" imgH="4572000" progId="Paint.Picture">
                  <p:embed/>
                  <p:pic>
                    <p:nvPicPr>
                      <p:cNvPr id="0" name="图片 3"/>
                      <p:cNvPicPr/>
                      <p:nvPr/>
                    </p:nvPicPr>
                    <p:blipFill>
                      <a:blip r:embed="rId3"/>
                      <a:stretch>
                        <a:fillRect/>
                      </a:stretch>
                    </p:blipFill>
                    <p:spPr>
                      <a:xfrm>
                        <a:off x="1645285" y="1701800"/>
                        <a:ext cx="4974870" cy="3456000"/>
                      </a:xfrm>
                      <a:prstGeom prst="rect">
                        <a:avLst/>
                      </a:prstGeom>
                    </p:spPr>
                  </p:pic>
                </p:oleObj>
              </mc:Fallback>
            </mc:AlternateContent>
          </a:graphicData>
        </a:graphic>
      </p:graphicFrame>
      <p:sp>
        <p:nvSpPr>
          <p:cNvPr id="5" name="Chevron 3"/>
          <p:cNvSpPr/>
          <p:nvPr>
            <p:custDataLst>
              <p:tags r:id="rId4"/>
            </p:custDataLst>
          </p:nvPr>
        </p:nvSpPr>
        <p:spPr>
          <a:xfrm>
            <a:off x="1063625" y="934085"/>
            <a:ext cx="16421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299378" y="1068329"/>
            <a:ext cx="1198880"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sym typeface="+mn-ea"/>
              </a:rPr>
              <a:t>运行程序</a:t>
            </a:r>
            <a:endParaRPr lang="zh-CN"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501549"/>
            <a:ext cx="5489575" cy="1505585"/>
            <a:chOff x="8472" y="5681"/>
            <a:chExt cx="8645" cy="2371"/>
          </a:xfrm>
        </p:grpSpPr>
        <p:sp>
          <p:nvSpPr>
            <p:cNvPr id="15" name="TextBox 35"/>
            <p:cNvSpPr txBox="1">
              <a:spLocks noChangeArrowheads="1"/>
            </p:cNvSpPr>
            <p:nvPr/>
          </p:nvSpPr>
          <p:spPr bwMode="auto">
            <a:xfrm>
              <a:off x="9159" y="5681"/>
              <a:ext cx="7958"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mn-lt"/>
                </a:rPr>
                <a:t>掌握</a:t>
              </a:r>
              <a:r>
                <a:rPr lang="en-US" altLang="zh-CN" sz="2000" dirty="0">
                  <a:solidFill>
                    <a:srgbClr val="1369B2"/>
                  </a:solidFill>
                  <a:latin typeface="微软雅黑" panose="020B0503020204020204" pitchFamily="34" charset="-122"/>
                  <a:ea typeface="微软雅黑" panose="020B0503020204020204" pitchFamily="34" charset="-122"/>
                  <a:sym typeface="+mn-lt"/>
                </a:rPr>
                <a:t>IntelliJ IDEA</a:t>
              </a:r>
              <a:r>
                <a:rPr lang="zh-CN" altLang="en-US" sz="2000" dirty="0">
                  <a:solidFill>
                    <a:srgbClr val="1369B2"/>
                  </a:solidFill>
                  <a:latin typeface="微软雅黑" panose="020B0503020204020204" pitchFamily="34" charset="-122"/>
                  <a:ea typeface="微软雅黑" panose="020B0503020204020204" pitchFamily="34" charset="-122"/>
                  <a:sym typeface="+mn-lt"/>
                </a:rPr>
                <a:t>调试工具</a:t>
              </a:r>
              <a:r>
                <a:rPr lang="zh-CN" altLang="en-US" sz="2000" dirty="0">
                  <a:solidFill>
                    <a:srgbClr val="595959"/>
                  </a:solidFill>
                  <a:latin typeface="微软雅黑" panose="020B0503020204020204" pitchFamily="34" charset="-122"/>
                  <a:ea typeface="微软雅黑" panose="020B0503020204020204" pitchFamily="34" charset="-122"/>
                  <a:sym typeface="+mn-lt"/>
                </a:rPr>
                <a:t>，能够进入</a:t>
              </a:r>
              <a:r>
                <a:rPr lang="en-US" altLang="zh-CN" sz="2000" dirty="0">
                  <a:solidFill>
                    <a:srgbClr val="595959"/>
                  </a:solidFill>
                  <a:latin typeface="微软雅黑" panose="020B0503020204020204" pitchFamily="34" charset="-122"/>
                  <a:ea typeface="微软雅黑" panose="020B0503020204020204" pitchFamily="34" charset="-122"/>
                  <a:sym typeface="+mn-lt"/>
                </a:rPr>
                <a:t>IntelliJ IDEA</a:t>
              </a:r>
              <a:r>
                <a:rPr lang="zh-CN" altLang="en-US" sz="2000" dirty="0">
                  <a:solidFill>
                    <a:srgbClr val="595959"/>
                  </a:solidFill>
                  <a:latin typeface="微软雅黑" panose="020B0503020204020204" pitchFamily="34" charset="-122"/>
                  <a:ea typeface="微软雅黑" panose="020B0503020204020204" pitchFamily="34" charset="-122"/>
                  <a:sym typeface="+mn-lt"/>
                </a:rPr>
                <a:t>的</a:t>
              </a:r>
              <a:r>
                <a:rPr lang="en-US" altLang="zh-CN" sz="2000" dirty="0">
                  <a:solidFill>
                    <a:srgbClr val="595959"/>
                  </a:solidFill>
                  <a:latin typeface="微软雅黑" panose="020B0503020204020204" pitchFamily="34" charset="-122"/>
                  <a:ea typeface="微软雅黑" panose="020B0503020204020204" pitchFamily="34" charset="-122"/>
                  <a:sym typeface="+mn-lt"/>
                </a:rPr>
                <a:t>Debug</a:t>
              </a:r>
              <a:r>
                <a:rPr lang="zh-CN" altLang="en-US" sz="2000" dirty="0">
                  <a:solidFill>
                    <a:srgbClr val="595959"/>
                  </a:solidFill>
                  <a:latin typeface="微软雅黑" panose="020B0503020204020204" pitchFamily="34" charset="-122"/>
                  <a:ea typeface="微软雅黑" panose="020B0503020204020204" pitchFamily="34" charset="-122"/>
                  <a:sym typeface="+mn-lt"/>
                </a:rPr>
                <a:t>模式对</a:t>
              </a:r>
              <a:r>
                <a:rPr lang="en-US" altLang="zh-CN" sz="2000" dirty="0">
                  <a:solidFill>
                    <a:srgbClr val="595959"/>
                  </a:solidFill>
                  <a:latin typeface="微软雅黑" panose="020B0503020204020204" pitchFamily="34" charset="-122"/>
                  <a:ea typeface="微软雅黑" panose="020B0503020204020204" pitchFamily="34" charset="-122"/>
                  <a:sym typeface="+mn-lt"/>
                </a:rPr>
                <a:t>HelloWorld</a:t>
              </a:r>
              <a:r>
                <a:rPr lang="zh-CN" altLang="en-US" sz="2000" dirty="0">
                  <a:solidFill>
                    <a:srgbClr val="595959"/>
                  </a:solidFill>
                  <a:latin typeface="微软雅黑" panose="020B0503020204020204" pitchFamily="34" charset="-122"/>
                  <a:ea typeface="微软雅黑" panose="020B0503020204020204" pitchFamily="34" charset="-122"/>
                  <a:sym typeface="+mn-lt"/>
                </a:rPr>
                <a:t>程序进行调试</a:t>
              </a:r>
              <a:endParaRPr lang="zh-CN" altLang="en-US" sz="2000" dirty="0">
                <a:solidFill>
                  <a:srgbClr val="595959"/>
                </a:solidFill>
                <a:latin typeface="微软雅黑" panose="020B0503020204020204" pitchFamily="34" charset="-122"/>
                <a:ea typeface="微软雅黑" panose="020B0503020204020204" pitchFamily="34" charset="-122"/>
                <a:sym typeface="+mn-lt"/>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1.6.3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调试工具</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0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1.6.3 </a:t>
            </a:r>
            <a:r>
              <a:rPr lang="en-US" altLang="zh-CN" sz="2400" b="1" dirty="0">
                <a:solidFill>
                  <a:srgbClr val="595959"/>
                </a:solidFill>
                <a:latin typeface="微软雅黑" panose="020B0503020204020204" pitchFamily="34" charset="-122"/>
                <a:ea typeface="微软雅黑" panose="020B0503020204020204" pitchFamily="34" charset="-122"/>
                <a:cs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rPr>
              <a:t>调试工具</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圆角矩形标注 1"/>
          <p:cNvSpPr/>
          <p:nvPr/>
        </p:nvSpPr>
        <p:spPr>
          <a:xfrm>
            <a:off x="6668770" y="1507490"/>
            <a:ext cx="3672205" cy="3844290"/>
          </a:xfrm>
          <a:prstGeom prst="wedgeRoundRectCallout">
            <a:avLst>
              <a:gd name="adj1" fmla="val -57095"/>
              <a:gd name="adj2" fmla="val -21318"/>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 name="文本框 6"/>
          <p:cNvSpPr txBox="1"/>
          <p:nvPr/>
        </p:nvSpPr>
        <p:spPr>
          <a:xfrm>
            <a:off x="6812086" y="1507339"/>
            <a:ext cx="3384000" cy="3784600"/>
          </a:xfrm>
          <a:prstGeom prst="rect">
            <a:avLst/>
          </a:prstGeom>
          <a:noFill/>
        </p:spPr>
        <p:txBody>
          <a:bodyPr wrap="square" rtlCol="0">
            <a:spAutoFit/>
          </a:bodyPr>
          <a:lstStyle/>
          <a:p>
            <a:pPr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自带了调试工具，下面以</a:t>
            </a:r>
            <a:r>
              <a:rPr lang="en-US" altLang="zh-CN" sz="2000" dirty="0">
                <a:solidFill>
                  <a:srgbClr val="595959"/>
                </a:solidFill>
                <a:latin typeface="微软雅黑" panose="020B0503020204020204" pitchFamily="34" charset="-122"/>
                <a:ea typeface="微软雅黑" panose="020B0503020204020204" pitchFamily="34" charset="-122"/>
              </a:rPr>
              <a:t>1.6.2</a:t>
            </a:r>
            <a:r>
              <a:rPr lang="zh-CN" altLang="zh-CN" sz="2000" dirty="0">
                <a:solidFill>
                  <a:srgbClr val="595959"/>
                </a:solidFill>
                <a:latin typeface="微软雅黑" panose="020B0503020204020204" pitchFamily="34" charset="-122"/>
                <a:ea typeface="微软雅黑" panose="020B0503020204020204" pitchFamily="34" charset="-122"/>
              </a:rPr>
              <a:t>节中的</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程序为例，演示</a:t>
            </a:r>
            <a:r>
              <a:rPr lang="en-US" altLang="zh-CN" sz="2000" dirty="0">
                <a:solidFill>
                  <a:srgbClr val="595959"/>
                </a:solidFill>
                <a:latin typeface="微软雅黑" panose="020B0503020204020204" pitchFamily="34" charset="-122"/>
                <a:ea typeface="微软雅黑" panose="020B0503020204020204" pitchFamily="34" charset="-122"/>
              </a:rPr>
              <a:t>IDEA</a:t>
            </a:r>
            <a:r>
              <a:rPr lang="zh-CN" altLang="zh-CN" sz="2000" dirty="0">
                <a:solidFill>
                  <a:srgbClr val="595959"/>
                </a:solidFill>
                <a:latin typeface="微软雅黑" panose="020B0503020204020204" pitchFamily="34" charset="-122"/>
                <a:ea typeface="微软雅黑" panose="020B0503020204020204" pitchFamily="34" charset="-122"/>
              </a:rPr>
              <a:t>调试工具的使用。首先在图</a:t>
            </a:r>
            <a:r>
              <a:rPr lang="en-US" altLang="zh-CN" sz="2000" dirty="0">
                <a:solidFill>
                  <a:srgbClr val="595959"/>
                </a:solidFill>
                <a:latin typeface="微软雅黑" panose="020B0503020204020204" pitchFamily="34" charset="-122"/>
                <a:ea typeface="微软雅黑" panose="020B0503020204020204" pitchFamily="34" charset="-122"/>
              </a:rPr>
              <a:t>1-39</a:t>
            </a:r>
            <a:r>
              <a:rPr lang="zh-CN" altLang="zh-CN" sz="2000" dirty="0">
                <a:solidFill>
                  <a:srgbClr val="595959"/>
                </a:solidFill>
                <a:latin typeface="微软雅黑" panose="020B0503020204020204" pitchFamily="34" charset="-122"/>
                <a:ea typeface="微软雅黑" panose="020B0503020204020204" pitchFamily="34" charset="-122"/>
              </a:rPr>
              <a:t>中的第</a:t>
            </a:r>
            <a:r>
              <a:rPr lang="en-US" altLang="zh-CN" sz="2000" dirty="0">
                <a:solidFill>
                  <a:srgbClr val="595959"/>
                </a:solidFill>
                <a:latin typeface="微软雅黑" panose="020B0503020204020204" pitchFamily="34" charset="-122"/>
                <a:ea typeface="微软雅黑" panose="020B0503020204020204" pitchFamily="34" charset="-122"/>
              </a:rPr>
              <a:t>7</a:t>
            </a:r>
            <a:r>
              <a:rPr lang="zh-CN" altLang="zh-CN" sz="2000" dirty="0">
                <a:solidFill>
                  <a:srgbClr val="595959"/>
                </a:solidFill>
                <a:latin typeface="微软雅黑" panose="020B0503020204020204" pitchFamily="34" charset="-122"/>
                <a:ea typeface="微软雅黑" panose="020B0503020204020204" pitchFamily="34" charset="-122"/>
              </a:rPr>
              <a:t>行代码设置断点，左键单击行号后面的空白区域，便可插入断点。然后单击“</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zh-CN" sz="2000" dirty="0">
                <a:solidFill>
                  <a:srgbClr val="595959"/>
                </a:solidFill>
                <a:latin typeface="微软雅黑" panose="020B0503020204020204" pitchFamily="34" charset="-122"/>
                <a:ea typeface="微软雅黑" panose="020B0503020204020204" pitchFamily="34" charset="-122"/>
              </a:rPr>
              <a:t>”调试按钮进入</a:t>
            </a:r>
            <a:r>
              <a:rPr lang="en-US" altLang="zh-CN" sz="2000" dirty="0" err="1">
                <a:solidFill>
                  <a:srgbClr val="595959"/>
                </a:solidFill>
                <a:latin typeface="微软雅黑" panose="020B0503020204020204" pitchFamily="34" charset="-122"/>
                <a:ea typeface="微软雅黑" panose="020B0503020204020204" pitchFamily="34" charset="-122"/>
              </a:rPr>
              <a:t>Dubug</a:t>
            </a:r>
            <a:r>
              <a:rPr lang="zh-CN" altLang="zh-CN" sz="2000" dirty="0">
                <a:solidFill>
                  <a:srgbClr val="595959"/>
                </a:solidFill>
                <a:latin typeface="微软雅黑" panose="020B0503020204020204" pitchFamily="34" charset="-122"/>
                <a:ea typeface="微软雅黑" panose="020B0503020204020204" pitchFamily="34" charset="-122"/>
              </a:rPr>
              <a:t>模式。</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8" name="图片 5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63006" y="4468229"/>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对象 2"/>
          <p:cNvGraphicFramePr>
            <a:graphicFrameLocks noChangeAspect="1"/>
          </p:cNvGraphicFramePr>
          <p:nvPr/>
        </p:nvGraphicFramePr>
        <p:xfrm>
          <a:off x="1667510" y="1586230"/>
          <a:ext cx="4728721" cy="3456000"/>
        </p:xfrm>
        <a:graphic>
          <a:graphicData uri="http://schemas.openxmlformats.org/presentationml/2006/ole">
            <mc:AlternateContent xmlns:mc="http://schemas.openxmlformats.org/markup-compatibility/2006">
              <mc:Choice xmlns:v="urn:schemas-microsoft-com:vml" Requires="v">
                <p:oleObj spid="_x0000_s34824" name="" r:id="rId2" imgW="6562725" imgH="4572000" progId="Paint.Picture">
                  <p:embed/>
                </p:oleObj>
              </mc:Choice>
              <mc:Fallback>
                <p:oleObj name="" r:id="rId2" imgW="6562725" imgH="4572000" progId="Paint.Picture">
                  <p:embed/>
                  <p:pic>
                    <p:nvPicPr>
                      <p:cNvPr id="0" name="图片 3"/>
                      <p:cNvPicPr/>
                      <p:nvPr/>
                    </p:nvPicPr>
                    <p:blipFill>
                      <a:blip r:embed="rId3"/>
                      <a:stretch>
                        <a:fillRect/>
                      </a:stretch>
                    </p:blipFill>
                    <p:spPr>
                      <a:xfrm>
                        <a:off x="1667510" y="1586230"/>
                        <a:ext cx="4728721" cy="34560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48881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1.6.3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ea"/>
              </a:rPr>
              <a:t>IntelliJ IDEA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ea"/>
              </a:rPr>
              <a:t>调试工具</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23145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239779"/>
            <a:ext cx="1960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常用调试快捷键</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502361" y="1138935"/>
            <a:ext cx="8173231" cy="499624"/>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sym typeface="+mn-ea"/>
              </a:rPr>
              <a:t>可以使用快捷键调试程序，</a:t>
            </a:r>
            <a:r>
              <a:rPr lang="en-US" altLang="zh-CN" sz="2000" dirty="0">
                <a:solidFill>
                  <a:srgbClr val="595959"/>
                </a:solidFill>
                <a:latin typeface="微软雅黑" panose="020B0503020204020204" pitchFamily="34" charset="-122"/>
                <a:ea typeface="微软雅黑" panose="020B0503020204020204" pitchFamily="34" charset="-122"/>
                <a:sym typeface="+mn-ea"/>
              </a:rPr>
              <a:t>IDEA</a:t>
            </a:r>
            <a:r>
              <a:rPr lang="zh-CN" altLang="zh-CN" sz="2000" dirty="0">
                <a:solidFill>
                  <a:srgbClr val="595959"/>
                </a:solidFill>
                <a:latin typeface="微软雅黑" panose="020B0503020204020204" pitchFamily="34" charset="-122"/>
                <a:ea typeface="微软雅黑" panose="020B0503020204020204" pitchFamily="34" charset="-122"/>
                <a:sym typeface="+mn-ea"/>
              </a:rPr>
              <a:t>常用的调试快捷键及含义</a:t>
            </a:r>
            <a:r>
              <a:rPr lang="zh-CN" altLang="en-US" sz="2000" dirty="0">
                <a:solidFill>
                  <a:srgbClr val="595959"/>
                </a:solidFill>
                <a:latin typeface="微软雅黑" panose="020B0503020204020204" pitchFamily="34" charset="-122"/>
                <a:ea typeface="微软雅黑" panose="020B0503020204020204" pitchFamily="34" charset="-122"/>
                <a:cs typeface="+mn-ea"/>
              </a:rPr>
              <a:t>，具体</a:t>
            </a:r>
            <a:r>
              <a:rPr lang="zh-CN" altLang="zh-CN" sz="2000" dirty="0">
                <a:solidFill>
                  <a:srgbClr val="595959"/>
                </a:solidFill>
                <a:latin typeface="微软雅黑" panose="020B0503020204020204" pitchFamily="34" charset="-122"/>
                <a:ea typeface="微软雅黑" panose="020B0503020204020204" pitchFamily="34" charset="-122"/>
                <a:cs typeface="+mn-ea"/>
              </a:rPr>
              <a:t>如下</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5" name="表格 14"/>
          <p:cNvGraphicFramePr>
            <a:graphicFrameLocks noGrp="1"/>
          </p:cNvGraphicFramePr>
          <p:nvPr>
            <p:custDataLst>
              <p:tags r:id="rId2"/>
            </p:custDataLst>
          </p:nvPr>
        </p:nvGraphicFramePr>
        <p:xfrm>
          <a:off x="3722697" y="2349794"/>
          <a:ext cx="7272000" cy="3734678"/>
        </p:xfrm>
        <a:graphic>
          <a:graphicData uri="http://schemas.openxmlformats.org/drawingml/2006/table">
            <a:tbl>
              <a:tblPr>
                <a:tableStyleId>{7DF18680-E054-41AD-8BC1-D1AEF772440D}</a:tableStyleId>
              </a:tblPr>
              <a:tblGrid>
                <a:gridCol w="1566706"/>
                <a:gridCol w="5705294"/>
              </a:tblGrid>
              <a:tr h="530288">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快捷键</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操作名称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57770">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F8</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单步调试（不进入函数内部）</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57770">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F7</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单步调试（进入函数内部）</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57770">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Shift+F7</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选择要进入的函数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57770">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Shift+F8</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跳出函数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57770">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Alt+F9</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运行到断点</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57770">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Alt+F8</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执行表达式查看结果</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57770">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F9</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继续执行，进入下一个断点或执行完程序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26245" y="2334315"/>
            <a:ext cx="979360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本章主要介绍</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开发入门</a:t>
            </a:r>
            <a:r>
              <a:rPr lang="zh-CN" altLang="zh-CN" sz="2000" dirty="0">
                <a:solidFill>
                  <a:srgbClr val="595959"/>
                </a:solidFill>
                <a:latin typeface="微软雅黑" panose="020B0503020204020204" pitchFamily="34" charset="-122"/>
                <a:ea typeface="微软雅黑" panose="020B0503020204020204" pitchFamily="34" charset="-122"/>
                <a:sym typeface="+mn-ea"/>
              </a:rPr>
              <a:t>的一些知识。首先介绍了</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语言</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语言的相关特性</a:t>
            </a:r>
            <a:r>
              <a:rPr lang="zh-CN" altLang="zh-CN" sz="2000" dirty="0">
                <a:solidFill>
                  <a:srgbClr val="595959"/>
                </a:solidFill>
                <a:latin typeface="微软雅黑" panose="020B0503020204020204" pitchFamily="34" charset="-122"/>
                <a:ea typeface="微软雅黑" panose="020B0503020204020204" pitchFamily="34" charset="-122"/>
                <a:sym typeface="+mn-ea"/>
              </a:rPr>
              <a:t>和</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语言的发展史</a:t>
            </a:r>
            <a:r>
              <a:rPr lang="zh-CN" altLang="zh-CN" sz="2000" dirty="0">
                <a:solidFill>
                  <a:srgbClr val="595959"/>
                </a:solidFill>
                <a:latin typeface="微软雅黑" panose="020B0503020204020204" pitchFamily="34" charset="-122"/>
                <a:ea typeface="微软雅黑" panose="020B0503020204020204" pitchFamily="34" charset="-122"/>
                <a:sym typeface="+mn-ea"/>
              </a:rPr>
              <a:t>；其次介绍了</a:t>
            </a:r>
            <a:r>
              <a:rPr lang="en-US" altLang="zh-CN" sz="2000" dirty="0">
                <a:solidFill>
                  <a:srgbClr val="1369B2"/>
                </a:solidFill>
                <a:latin typeface="微软雅黑" panose="020B0503020204020204" pitchFamily="34" charset="-122"/>
                <a:ea typeface="微软雅黑" panose="020B0503020204020204" pitchFamily="34" charset="-122"/>
                <a:sym typeface="+mn-ea"/>
              </a:rPr>
              <a:t>JDK</a:t>
            </a:r>
            <a:r>
              <a:rPr lang="zh-CN" altLang="zh-CN" sz="2000" dirty="0">
                <a:solidFill>
                  <a:srgbClr val="1369B2"/>
                </a:solidFill>
                <a:latin typeface="微软雅黑" panose="020B0503020204020204" pitchFamily="34" charset="-122"/>
                <a:ea typeface="微软雅黑" panose="020B0503020204020204" pitchFamily="34" charset="-122"/>
                <a:sym typeface="+mn-ea"/>
              </a:rPr>
              <a:t>的概念</a:t>
            </a:r>
            <a:r>
              <a:rPr lang="zh-CN" altLang="zh-CN" sz="2000" dirty="0">
                <a:solidFill>
                  <a:srgbClr val="595959"/>
                </a:solidFill>
                <a:latin typeface="微软雅黑" panose="020B0503020204020204" pitchFamily="34" charset="-122"/>
                <a:ea typeface="微软雅黑" panose="020B0503020204020204" pitchFamily="34" charset="-122"/>
                <a:sym typeface="+mn-ea"/>
              </a:rPr>
              <a:t>，并在</a:t>
            </a:r>
            <a:r>
              <a:rPr lang="en-US" altLang="zh-CN" sz="2000" dirty="0">
                <a:solidFill>
                  <a:srgbClr val="595959"/>
                </a:solidFill>
                <a:latin typeface="微软雅黑" panose="020B0503020204020204" pitchFamily="34" charset="-122"/>
                <a:ea typeface="微软雅黑" panose="020B0503020204020204" pitchFamily="34" charset="-122"/>
                <a:sym typeface="+mn-ea"/>
              </a:rPr>
              <a:t>Windows 7</a:t>
            </a:r>
            <a:r>
              <a:rPr lang="zh-CN" altLang="zh-CN" sz="2000" dirty="0">
                <a:solidFill>
                  <a:srgbClr val="595959"/>
                </a:solidFill>
                <a:latin typeface="微软雅黑" panose="020B0503020204020204" pitchFamily="34" charset="-122"/>
                <a:ea typeface="微软雅黑" panose="020B0503020204020204" pitchFamily="34" charset="-122"/>
                <a:sym typeface="+mn-ea"/>
              </a:rPr>
              <a:t>系统中安装了</a:t>
            </a:r>
            <a:r>
              <a:rPr lang="en-US" altLang="zh-CN" sz="2000" dirty="0">
                <a:solidFill>
                  <a:srgbClr val="595959"/>
                </a:solidFill>
                <a:latin typeface="微软雅黑" panose="020B0503020204020204" pitchFamily="34" charset="-122"/>
                <a:ea typeface="微软雅黑" panose="020B0503020204020204" pitchFamily="34" charset="-122"/>
                <a:sym typeface="+mn-ea"/>
              </a:rPr>
              <a:t>JDK</a:t>
            </a:r>
            <a:r>
              <a:rPr lang="zh-CN" altLang="zh-CN" sz="2000" dirty="0">
                <a:solidFill>
                  <a:srgbClr val="595959"/>
                </a:solidFill>
                <a:latin typeface="微软雅黑" panose="020B0503020204020204" pitchFamily="34" charset="-122"/>
                <a:ea typeface="微软雅黑" panose="020B0503020204020204" pitchFamily="34" charset="-122"/>
                <a:sym typeface="+mn-ea"/>
              </a:rPr>
              <a:t>；然后带领读者编写了一个简单的</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程序，并讲解了</a:t>
            </a:r>
            <a:r>
              <a:rPr lang="zh-CN" altLang="zh-CN" sz="2000" dirty="0">
                <a:solidFill>
                  <a:srgbClr val="1369B2"/>
                </a:solidFill>
                <a:latin typeface="微软雅黑" panose="020B0503020204020204" pitchFamily="34" charset="-122"/>
                <a:ea typeface="微软雅黑" panose="020B0503020204020204" pitchFamily="34" charset="-122"/>
                <a:sym typeface="+mn-ea"/>
              </a:rPr>
              <a:t>环境变量的配置和</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程序的运行机制</a:t>
            </a:r>
            <a:r>
              <a:rPr lang="zh-CN" altLang="zh-CN" sz="2000" dirty="0">
                <a:solidFill>
                  <a:srgbClr val="595959"/>
                </a:solidFill>
                <a:latin typeface="微软雅黑" panose="020B0503020204020204" pitchFamily="34" charset="-122"/>
                <a:ea typeface="微软雅黑" panose="020B0503020204020204" pitchFamily="34" charset="-122"/>
                <a:sym typeface="+mn-ea"/>
              </a:rPr>
              <a:t>；最后为读者介绍了常用的</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开发工具</a:t>
            </a:r>
            <a:r>
              <a:rPr lang="en-US" altLang="zh-CN" sz="2000" dirty="0">
                <a:solidFill>
                  <a:srgbClr val="595959"/>
                </a:solidFill>
                <a:latin typeface="微软雅黑" panose="020B0503020204020204" pitchFamily="34" charset="-122"/>
                <a:ea typeface="微软雅黑" panose="020B0503020204020204" pitchFamily="34" charset="-122"/>
                <a:sym typeface="+mn-ea"/>
              </a:rPr>
              <a:t>IDEA</a:t>
            </a:r>
            <a:r>
              <a:rPr lang="zh-CN" altLang="zh-CN" sz="2000" dirty="0">
                <a:solidFill>
                  <a:srgbClr val="595959"/>
                </a:solidFill>
                <a:latin typeface="微软雅黑" panose="020B0503020204020204" pitchFamily="34" charset="-122"/>
                <a:ea typeface="微软雅黑" panose="020B0503020204020204" pitchFamily="34" charset="-122"/>
                <a:sym typeface="+mn-ea"/>
              </a:rPr>
              <a:t>，包括</a:t>
            </a:r>
            <a:r>
              <a:rPr lang="en-US" altLang="zh-CN" sz="2000" dirty="0">
                <a:solidFill>
                  <a:srgbClr val="595959"/>
                </a:solidFill>
                <a:latin typeface="微软雅黑" panose="020B0503020204020204" pitchFamily="34" charset="-122"/>
                <a:ea typeface="微软雅黑" panose="020B0503020204020204" pitchFamily="34" charset="-122"/>
                <a:sym typeface="+mn-ea"/>
              </a:rPr>
              <a:t>IDEA</a:t>
            </a:r>
            <a:r>
              <a:rPr lang="zh-CN" altLang="zh-CN" sz="2000" dirty="0">
                <a:solidFill>
                  <a:srgbClr val="595959"/>
                </a:solidFill>
                <a:latin typeface="微软雅黑" panose="020B0503020204020204" pitchFamily="34" charset="-122"/>
                <a:ea typeface="微软雅黑" panose="020B0503020204020204" pitchFamily="34" charset="-122"/>
                <a:sym typeface="+mn-ea"/>
              </a:rPr>
              <a:t>的特点、下载、安装以及入门程序的编写和调试。通过本章的学习，读者能够对</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语言有一个基础认识，为后面学习</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知识开启了大门</a:t>
            </a:r>
            <a:r>
              <a:rPr sz="2000" dirty="0">
                <a:solidFill>
                  <a:srgbClr val="595959"/>
                </a:solidFill>
                <a:latin typeface="微软雅黑" panose="020B0503020204020204" pitchFamily="34" charset="-122"/>
                <a:ea typeface="微软雅黑" panose="020B0503020204020204" pitchFamily="34" charset="-122"/>
                <a:sym typeface="+mn-ea"/>
              </a:rPr>
              <a:t>。</a:t>
            </a:r>
            <a:endParaRPr lang="zh-CN" sz="2000" dirty="0">
              <a:solidFill>
                <a:srgbClr val="595959"/>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839206" y="1822505"/>
            <a:ext cx="10512000" cy="3778874"/>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347710" y="141379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066530" y="141379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785350" y="141379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04170" y="141379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t"/>
  <p:tag name="KSO_WM_UNIT_INDEX" val="1_1"/>
  <p:tag name="KSO_WM_UNIT_ID" val="diagram160805_1*r_t*1_1"/>
  <p:tag name="KSO_WM_UNIT_CLEAR" val="1"/>
  <p:tag name="KSO_WM_UNIT_LAYERLEVEL" val="1_1"/>
  <p:tag name="KSO_WM_UNIT_DIAGRAM_CONTRAST_TITLE_CNT" val="5"/>
  <p:tag name="KSO_WM_UNIT_DIAGRAM_DIMENSION_TITLE_CNT" val="1"/>
  <p:tag name="KSO_WM_UNIT_VALUE" val="6"/>
  <p:tag name="KSO_WM_UNIT_HIGHLIGHT" val="0"/>
  <p:tag name="KSO_WM_UNIT_COMPATIBLE" val="0"/>
  <p:tag name="KSO_WM_UNIT_PRESET_TEXT_INDEX" val="3"/>
  <p:tag name="KSO_WM_UNIT_PRESET_TEXT_LEN" val="5"/>
  <p:tag name="KSO_WM_DIAGRAM_GROUP_CODE" val="r1-1"/>
  <p:tag name="KSO_WM_UNIT_FILL_FORE_SCHEMECOLOR_INDEX" val="5"/>
  <p:tag name="KSO_WM_UNIT_FILL_TYPE" val="1"/>
</p:tagLst>
</file>

<file path=ppt/tags/tag7.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t"/>
  <p:tag name="KSO_WM_UNIT_INDEX" val="1_4"/>
  <p:tag name="KSO_WM_UNIT_ID" val="diagram160805_1*r_t*1_4"/>
  <p:tag name="KSO_WM_UNIT_CLEAR" val="1"/>
  <p:tag name="KSO_WM_UNIT_LAYERLEVEL" val="1_1"/>
  <p:tag name="KSO_WM_UNIT_DIAGRAM_CONTRAST_TITLE_CNT" val="5"/>
  <p:tag name="KSO_WM_UNIT_DIAGRAM_DIMENSION_TITLE_CNT" val="1"/>
  <p:tag name="KSO_WM_UNIT_VALUE" val="6"/>
  <p:tag name="KSO_WM_UNIT_HIGHLIGHT" val="0"/>
  <p:tag name="KSO_WM_UNIT_COMPATIBLE" val="0"/>
  <p:tag name="KSO_WM_UNIT_PRESET_TEXT_INDEX" val="3"/>
  <p:tag name="KSO_WM_UNIT_PRESET_TEXT_LEN" val="5"/>
  <p:tag name="KSO_WM_DIAGRAM_GROUP_CODE" val="r1-1"/>
  <p:tag name="KSO_WM_UNIT_FILL_FORE_SCHEMECOLOR_INDEX" val="5"/>
  <p:tag name="KSO_WM_UNIT_FILL_TYPE" val="1"/>
</p:tagLst>
</file>

<file path=ppt/tags/tag8.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v"/>
  <p:tag name="KSO_WM_UNIT_INDEX" val="1_4"/>
  <p:tag name="KSO_WM_UNIT_ID" val="diagram160805_1*r_v*1_4"/>
  <p:tag name="KSO_WM_UNIT_CLEAR" val="1"/>
  <p:tag name="KSO_WM_UNIT_LAYERLEVEL" val="1_1"/>
  <p:tag name="KSO_WM_UNIT_DIAGRAM_CONTRAST_TITLE_CNT" val="5"/>
  <p:tag name="KSO_WM_UNIT_DIAGRAM_DIMENSION_TITLE_CNT" val="1"/>
  <p:tag name="KSO_WM_UNIT_VALUE" val="12"/>
  <p:tag name="KSO_WM_UNIT_HIGHLIGHT" val="0"/>
  <p:tag name="KSO_WM_UNIT_COMPATIBLE" val="0"/>
  <p:tag name="KSO_WM_UNIT_PRESET_TEXT_INDEX" val="3"/>
  <p:tag name="KSO_WM_UNIT_PRESET_TEXT_LEN" val="12"/>
  <p:tag name="KSO_WM_DIAGRAM_GROUP_CODE" val="r1-1"/>
  <p:tag name="KSO_WM_UNIT_LINE_FORE_SCHEMECOLOR_INDEX" val="5"/>
  <p:tag name="KSO_WM_UNIT_LINE_FILL_TYPE" val="2"/>
  <p:tag name="KSO_WM_UNIT_TEXT_FILL_FORE_SCHEMECOLOR_INDEX" val="5"/>
  <p:tag name="KSO_WM_UNIT_TEXT_FILL_TYPE" val="1"/>
</p:tagLst>
</file>

<file path=ppt/tags/tag9.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v"/>
  <p:tag name="KSO_WM_UNIT_INDEX" val="1_2"/>
  <p:tag name="KSO_WM_UNIT_ID" val="diagram160805_1*r_v*1_2"/>
  <p:tag name="KSO_WM_UNIT_CLEAR" val="1"/>
  <p:tag name="KSO_WM_UNIT_LAYERLEVEL" val="1_1"/>
  <p:tag name="KSO_WM_UNIT_DIAGRAM_CONTRAST_TITLE_CNT" val="5"/>
  <p:tag name="KSO_WM_UNIT_DIAGRAM_DIMENSION_TITLE_CNT" val="1"/>
  <p:tag name="KSO_WM_UNIT_VALUE" val="12"/>
  <p:tag name="KSO_WM_UNIT_HIGHLIGHT" val="0"/>
  <p:tag name="KSO_WM_UNIT_COMPATIBLE" val="0"/>
  <p:tag name="KSO_WM_UNIT_PRESET_TEXT_INDEX" val="3"/>
  <p:tag name="KSO_WM_UNIT_PRESET_TEXT_LEN" val="12"/>
  <p:tag name="KSO_WM_DIAGRAM_GROUP_CODE" val="r1-1"/>
  <p:tag name="KSO_WM_UNIT_LINE_FORE_SCHEMECOLOR_INDEX" val="5"/>
  <p:tag name="KSO_WM_UNIT_LINE_FILL_TYPE" val="2"/>
  <p:tag name="KSO_WM_UNIT_TEXT_FILL_FORE_SCHEMECOLOR_INDEX" val="5"/>
  <p:tag name="KSO_WM_UNIT_TEXT_FILL_TYPE" val="1"/>
</p:tagLst>
</file>

<file path=ppt/tags/tag10.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v"/>
  <p:tag name="KSO_WM_UNIT_INDEX" val="1_3"/>
  <p:tag name="KSO_WM_UNIT_ID" val="diagram160805_1*r_v*1_3"/>
  <p:tag name="KSO_WM_UNIT_CLEAR" val="1"/>
  <p:tag name="KSO_WM_UNIT_LAYERLEVEL" val="1_1"/>
  <p:tag name="KSO_WM_UNIT_DIAGRAM_CONTRAST_TITLE_CNT" val="5"/>
  <p:tag name="KSO_WM_UNIT_DIAGRAM_DIMENSION_TITLE_CNT" val="1"/>
  <p:tag name="KSO_WM_UNIT_VALUE" val="12"/>
  <p:tag name="KSO_WM_UNIT_HIGHLIGHT" val="0"/>
  <p:tag name="KSO_WM_UNIT_COMPATIBLE" val="0"/>
  <p:tag name="KSO_WM_UNIT_PRESET_TEXT_INDEX" val="3"/>
  <p:tag name="KSO_WM_UNIT_PRESET_TEXT_LEN" val="12"/>
  <p:tag name="KSO_WM_DIAGRAM_GROUP_CODE" val="r1-1"/>
  <p:tag name="KSO_WM_UNIT_LINE_FORE_SCHEMECOLOR_INDEX" val="5"/>
  <p:tag name="KSO_WM_UNIT_LINE_FILL_TYPE" val="2"/>
  <p:tag name="KSO_WM_UNIT_TEXT_FILL_FORE_SCHEMECOLOR_INDEX" val="5"/>
  <p:tag name="KSO_WM_UNIT_TEXT_FILL_TYPE" val="1"/>
</p:tagLst>
</file>

<file path=ppt/tags/tag11.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t"/>
  <p:tag name="KSO_WM_UNIT_INDEX" val="1_2"/>
  <p:tag name="KSO_WM_UNIT_ID" val="diagram160805_1*r_t*1_2"/>
  <p:tag name="KSO_WM_UNIT_CLEAR" val="1"/>
  <p:tag name="KSO_WM_UNIT_LAYERLEVEL" val="1_1"/>
  <p:tag name="KSO_WM_UNIT_DIAGRAM_CONTRAST_TITLE_CNT" val="5"/>
  <p:tag name="KSO_WM_UNIT_DIAGRAM_DIMENSION_TITLE_CNT" val="1"/>
  <p:tag name="KSO_WM_UNIT_VALUE" val="6"/>
  <p:tag name="KSO_WM_UNIT_HIGHLIGHT" val="0"/>
  <p:tag name="KSO_WM_UNIT_COMPATIBLE" val="0"/>
  <p:tag name="KSO_WM_UNIT_PRESET_TEXT_INDEX" val="3"/>
  <p:tag name="KSO_WM_UNIT_PRESET_TEXT_LEN" val="5"/>
  <p:tag name="KSO_WM_DIAGRAM_GROUP_CODE" val="r1-1"/>
  <p:tag name="KSO_WM_UNIT_FILL_FORE_SCHEMECOLOR_INDEX" val="5"/>
  <p:tag name="KSO_WM_UNIT_FILL_TYPE" val="1"/>
</p:tagLst>
</file>

<file path=ppt/tags/tag12.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t"/>
  <p:tag name="KSO_WM_UNIT_INDEX" val="1_1"/>
  <p:tag name="KSO_WM_UNIT_ID" val="diagram160805_1*r_t*1_1"/>
  <p:tag name="KSO_WM_UNIT_CLEAR" val="1"/>
  <p:tag name="KSO_WM_UNIT_LAYERLEVEL" val="1_1"/>
  <p:tag name="KSO_WM_UNIT_DIAGRAM_CONTRAST_TITLE_CNT" val="5"/>
  <p:tag name="KSO_WM_UNIT_DIAGRAM_DIMENSION_TITLE_CNT" val="1"/>
  <p:tag name="KSO_WM_UNIT_VALUE" val="6"/>
  <p:tag name="KSO_WM_UNIT_HIGHLIGHT" val="0"/>
  <p:tag name="KSO_WM_UNIT_COMPATIBLE" val="0"/>
  <p:tag name="KSO_WM_UNIT_PRESET_TEXT_INDEX" val="3"/>
  <p:tag name="KSO_WM_UNIT_PRESET_TEXT_LEN" val="5"/>
  <p:tag name="KSO_WM_DIAGRAM_GROUP_CODE" val="r1-1"/>
  <p:tag name="KSO_WM_UNIT_FILL_FORE_SCHEMECOLOR_INDEX" val="5"/>
  <p:tag name="KSO_WM_UNIT_FILL_TYPE" val="1"/>
</p:tagLst>
</file>

<file path=ppt/tags/tag13.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t"/>
  <p:tag name="KSO_WM_UNIT_INDEX" val="1_4"/>
  <p:tag name="KSO_WM_UNIT_ID" val="diagram160805_1*r_t*1_4"/>
  <p:tag name="KSO_WM_UNIT_CLEAR" val="1"/>
  <p:tag name="KSO_WM_UNIT_LAYERLEVEL" val="1_1"/>
  <p:tag name="KSO_WM_UNIT_DIAGRAM_CONTRAST_TITLE_CNT" val="5"/>
  <p:tag name="KSO_WM_UNIT_DIAGRAM_DIMENSION_TITLE_CNT" val="1"/>
  <p:tag name="KSO_WM_UNIT_VALUE" val="6"/>
  <p:tag name="KSO_WM_UNIT_HIGHLIGHT" val="0"/>
  <p:tag name="KSO_WM_UNIT_COMPATIBLE" val="0"/>
  <p:tag name="KSO_WM_UNIT_PRESET_TEXT_INDEX" val="3"/>
  <p:tag name="KSO_WM_UNIT_PRESET_TEXT_LEN" val="5"/>
  <p:tag name="KSO_WM_DIAGRAM_GROUP_CODE" val="r1-1"/>
  <p:tag name="KSO_WM_UNIT_FILL_FORE_SCHEMECOLOR_INDEX" val="5"/>
  <p:tag name="KSO_WM_UNIT_FILL_TYPE" val="1"/>
</p:tagLst>
</file>

<file path=ppt/tags/tag14.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v"/>
  <p:tag name="KSO_WM_UNIT_INDEX" val="1_4"/>
  <p:tag name="KSO_WM_UNIT_ID" val="diagram160805_1*r_v*1_4"/>
  <p:tag name="KSO_WM_UNIT_CLEAR" val="1"/>
  <p:tag name="KSO_WM_UNIT_LAYERLEVEL" val="1_1"/>
  <p:tag name="KSO_WM_UNIT_DIAGRAM_CONTRAST_TITLE_CNT" val="5"/>
  <p:tag name="KSO_WM_UNIT_DIAGRAM_DIMENSION_TITLE_CNT" val="1"/>
  <p:tag name="KSO_WM_UNIT_VALUE" val="12"/>
  <p:tag name="KSO_WM_UNIT_HIGHLIGHT" val="0"/>
  <p:tag name="KSO_WM_UNIT_COMPATIBLE" val="0"/>
  <p:tag name="KSO_WM_UNIT_PRESET_TEXT_INDEX" val="3"/>
  <p:tag name="KSO_WM_UNIT_PRESET_TEXT_LEN" val="12"/>
  <p:tag name="KSO_WM_DIAGRAM_GROUP_CODE" val="r1-1"/>
  <p:tag name="KSO_WM_UNIT_LINE_FORE_SCHEMECOLOR_INDEX" val="5"/>
  <p:tag name="KSO_WM_UNIT_LINE_FILL_TYPE" val="2"/>
  <p:tag name="KSO_WM_UNIT_TEXT_FILL_FORE_SCHEMECOLOR_INDEX" val="5"/>
  <p:tag name="KSO_WM_UNIT_TEXT_FILL_TYPE" val="1"/>
</p:tagLst>
</file>

<file path=ppt/tags/tag15.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v"/>
  <p:tag name="KSO_WM_UNIT_INDEX" val="1_2"/>
  <p:tag name="KSO_WM_UNIT_ID" val="diagram160805_1*r_v*1_2"/>
  <p:tag name="KSO_WM_UNIT_CLEAR" val="1"/>
  <p:tag name="KSO_WM_UNIT_LAYERLEVEL" val="1_1"/>
  <p:tag name="KSO_WM_UNIT_DIAGRAM_CONTRAST_TITLE_CNT" val="5"/>
  <p:tag name="KSO_WM_UNIT_DIAGRAM_DIMENSION_TITLE_CNT" val="1"/>
  <p:tag name="KSO_WM_UNIT_VALUE" val="12"/>
  <p:tag name="KSO_WM_UNIT_HIGHLIGHT" val="0"/>
  <p:tag name="KSO_WM_UNIT_COMPATIBLE" val="0"/>
  <p:tag name="KSO_WM_UNIT_PRESET_TEXT_INDEX" val="3"/>
  <p:tag name="KSO_WM_UNIT_PRESET_TEXT_LEN" val="12"/>
  <p:tag name="KSO_WM_DIAGRAM_GROUP_CODE" val="r1-1"/>
  <p:tag name="KSO_WM_UNIT_LINE_FORE_SCHEMECOLOR_INDEX" val="5"/>
  <p:tag name="KSO_WM_UNIT_LINE_FILL_TYPE" val="2"/>
  <p:tag name="KSO_WM_UNIT_TEXT_FILL_FORE_SCHEMECOLOR_INDEX" val="5"/>
  <p:tag name="KSO_WM_UNIT_TEXT_FILL_TYPE" val="1"/>
</p:tagLst>
</file>

<file path=ppt/tags/tag16.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v"/>
  <p:tag name="KSO_WM_UNIT_INDEX" val="1_3"/>
  <p:tag name="KSO_WM_UNIT_ID" val="diagram160805_1*r_v*1_3"/>
  <p:tag name="KSO_WM_UNIT_CLEAR" val="1"/>
  <p:tag name="KSO_WM_UNIT_LAYERLEVEL" val="1_1"/>
  <p:tag name="KSO_WM_UNIT_DIAGRAM_CONTRAST_TITLE_CNT" val="5"/>
  <p:tag name="KSO_WM_UNIT_DIAGRAM_DIMENSION_TITLE_CNT" val="1"/>
  <p:tag name="KSO_WM_UNIT_VALUE" val="12"/>
  <p:tag name="KSO_WM_UNIT_HIGHLIGHT" val="0"/>
  <p:tag name="KSO_WM_UNIT_COMPATIBLE" val="0"/>
  <p:tag name="KSO_WM_UNIT_PRESET_TEXT_INDEX" val="3"/>
  <p:tag name="KSO_WM_UNIT_PRESET_TEXT_LEN" val="12"/>
  <p:tag name="KSO_WM_DIAGRAM_GROUP_CODE" val="r1-1"/>
  <p:tag name="KSO_WM_UNIT_LINE_FORE_SCHEMECOLOR_INDEX" val="5"/>
  <p:tag name="KSO_WM_UNIT_LINE_FILL_TYPE" val="2"/>
  <p:tag name="KSO_WM_UNIT_TEXT_FILL_FORE_SCHEMECOLOR_INDEX" val="5"/>
  <p:tag name="KSO_WM_UNIT_TEXT_FILL_TYPE" val="1"/>
</p:tagLst>
</file>

<file path=ppt/tags/tag17.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t"/>
  <p:tag name="KSO_WM_UNIT_INDEX" val="1_2"/>
  <p:tag name="KSO_WM_UNIT_ID" val="diagram160805_1*r_t*1_2"/>
  <p:tag name="KSO_WM_UNIT_CLEAR" val="1"/>
  <p:tag name="KSO_WM_UNIT_LAYERLEVEL" val="1_1"/>
  <p:tag name="KSO_WM_UNIT_DIAGRAM_CONTRAST_TITLE_CNT" val="5"/>
  <p:tag name="KSO_WM_UNIT_DIAGRAM_DIMENSION_TITLE_CNT" val="1"/>
  <p:tag name="KSO_WM_UNIT_VALUE" val="6"/>
  <p:tag name="KSO_WM_UNIT_HIGHLIGHT" val="0"/>
  <p:tag name="KSO_WM_UNIT_COMPATIBLE" val="0"/>
  <p:tag name="KSO_WM_UNIT_PRESET_TEXT_INDEX" val="3"/>
  <p:tag name="KSO_WM_UNIT_PRESET_TEXT_LEN" val="5"/>
  <p:tag name="KSO_WM_DIAGRAM_GROUP_CODE" val="r1-1"/>
  <p:tag name="KSO_WM_UNIT_FILL_FORE_SCHEMECOLOR_INDEX" val="5"/>
  <p:tag name="KSO_WM_UNIT_FILL_TYPE"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3.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4.xml><?xml version="1.0" encoding="utf-8"?>
<p:tagLst xmlns:p="http://schemas.openxmlformats.org/presentationml/2006/main">
  <p:tag name="PA" val="v5.2.7"/>
  <p:tag name="RESOURCELIBID_ANIM" val="450"/>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p="http://schemas.openxmlformats.org/presentationml/2006/main">
  <p:tag name="PA" val="v5.2.7"/>
  <p:tag name="RESOURCELIBID_ANIM" val="450"/>
</p:tagLst>
</file>

<file path=ppt/tags/tag32.xml><?xml version="1.0" encoding="utf-8"?>
<p:tagLst xmlns:p="http://schemas.openxmlformats.org/presentationml/2006/main">
  <p:tag name="PA" val="v5.2.7"/>
  <p:tag name="RESOURCELIBID_ANIM" val="450"/>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p="http://schemas.openxmlformats.org/presentationml/2006/main">
  <p:tag name="KSO_WM_UNIT_PLACING_PICTURE_USER_VIEWPORT" val="{&quot;height&quot;:6164,&quot;width&quot;:14774}"/>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48.xml><?xml version="1.0" encoding="utf-8"?>
<p:tagLst xmlns:p="http://schemas.openxmlformats.org/presentationml/2006/main">
  <p:tag name="ISPRING_RESOURCE_PATHS_HASH_PRESENTER" val="417f8e4a56fc57c2e92e6fdc581ab83ee55365e"/>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8032</Words>
  <Application>WPS 演示</Application>
  <PresentationFormat>自定义</PresentationFormat>
  <Paragraphs>643</Paragraphs>
  <Slides>75</Slides>
  <Notes>75</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23</vt:i4>
      </vt:variant>
      <vt:variant>
        <vt:lpstr>幻灯片标题</vt:lpstr>
      </vt:variant>
      <vt:variant>
        <vt:i4>75</vt:i4>
      </vt:variant>
    </vt:vector>
  </HeadingPairs>
  <TitlesOfParts>
    <vt:vector size="119" baseType="lpstr">
      <vt:lpstr>Arial</vt:lpstr>
      <vt:lpstr>宋体</vt:lpstr>
      <vt:lpstr>Wingdings</vt:lpstr>
      <vt:lpstr>微软雅黑</vt:lpstr>
      <vt:lpstr>思源黑体 CN Medium</vt:lpstr>
      <vt:lpstr>黑体</vt:lpstr>
      <vt:lpstr>字魂58号-创中黑</vt:lpstr>
      <vt:lpstr>Source Han Sans K Bold</vt:lpstr>
      <vt:lpstr>Calibri</vt:lpstr>
      <vt:lpstr>MS UI Gothic</vt:lpstr>
      <vt:lpstr>U.S. 101</vt:lpstr>
      <vt:lpstr>Roboto</vt:lpstr>
      <vt:lpstr>Open Sans Light</vt:lpstr>
      <vt:lpstr>Times New Roman</vt:lpstr>
      <vt:lpstr>字魂105号-简雅黑</vt:lpstr>
      <vt:lpstr>Arial Unicode MS</vt:lpstr>
      <vt:lpstr>Times New Roman</vt:lpstr>
      <vt:lpstr>Segoe Print</vt:lpstr>
      <vt:lpstr>Open Sans</vt:lpstr>
      <vt:lpstr>webwppDefTheme</vt:lpstr>
      <vt:lpstr>Office 主题</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Visio.Drawing.11</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tk</cp:lastModifiedBy>
  <cp:revision>331</cp:revision>
  <dcterms:created xsi:type="dcterms:W3CDTF">2020-09-03T07:01:00Z</dcterms:created>
  <dcterms:modified xsi:type="dcterms:W3CDTF">2022-09-08T02:40:01Z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y fmtid="{D5CDD505-2E9C-101B-9397-08002B2CF9AE}" pid="3" name="ICV">
    <vt:lpwstr>03013A3A94CD454694814E0E696C3A33</vt:lpwstr>
  </property>
</Properties>
</file>