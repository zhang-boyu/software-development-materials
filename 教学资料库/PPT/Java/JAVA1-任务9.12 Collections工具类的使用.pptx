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503" r:id="rId8"/>
    <p:sldId id="502" r:id="rId9"/>
    <p:sldId id="516" r:id="rId10"/>
    <p:sldId id="505" r:id="rId11"/>
    <p:sldId id="456" r:id="rId12"/>
    <p:sldId id="517" r:id="rId13"/>
    <p:sldId id="458" r:id="rId14"/>
    <p:sldId id="518" r:id="rId15"/>
    <p:sldId id="519" r:id="rId16"/>
    <p:sldId id="520" r:id="rId17"/>
    <p:sldId id="347" r:id="rId18"/>
  </p:sldIdLst>
  <p:sldSz cx="12198350" cy="6858000"/>
  <p:notesSz cx="6858000" cy="9144000"/>
  <p:custDataLst>
    <p:tags r:id="rId22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34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50435" y="3500755"/>
            <a:ext cx="7016115" cy="29997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ArrayList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类的字符串集合，添加元素并输出集合元素；反转该集合元素并输出；按自然顺序排序并输出；打乱集合元素并输出；交换集合首尾元素并输出。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ArrayList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类的整数集合，添加元素并输出集合元素；找出集合中的最大元素和最小元素并输出；替换集合中的一个整数再次输出集合元素；利用二分法查找出集合中某个元素的索引并输出。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‌Collections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工具类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6605588" y="422116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‌‌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添加、排序操作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2"/>
          <p:cNvSpPr>
            <a:spLocks noChangeArrowheads="1"/>
          </p:cNvSpPr>
          <p:nvPr/>
        </p:nvSpPr>
        <p:spPr bwMode="auto">
          <a:xfrm>
            <a:off x="6605588" y="472789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‌‌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查找、替换操作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6" grpId="0" bldLvl="0" autoUpdateAnimBg="0"/>
      <p:bldP spid="6" grpId="1"/>
      <p:bldP spid="10" grpId="0" bldLvl="0" autoUpdateAnimBg="0"/>
      <p:bldP spid="1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‌Collections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工具类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Collections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工具类位于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java.util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包中，它提供了大量的静态方法用于对集合中的元素进行排序、查找和修改操作。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6507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‌‌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添加、排序操作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14625" y="2637155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26797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30935" y="2204720"/>
            <a:ext cx="10408285" cy="8604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 Collections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工具类提供了一系列方法用于对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List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集合进行添加和排序操作，常用的方法如表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9-8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3"/>
            </p:custDataLst>
          </p:nvPr>
        </p:nvGraphicFramePr>
        <p:xfrm>
          <a:off x="1346835" y="3284855"/>
          <a:ext cx="9791065" cy="3213100"/>
        </p:xfrm>
        <a:graphic>
          <a:graphicData uri="http://schemas.openxmlformats.org/drawingml/2006/table">
            <a:tbl>
              <a:tblPr/>
              <a:tblGrid>
                <a:gridCol w="5330825"/>
                <a:gridCol w="4460240"/>
              </a:tblGrid>
              <a:tr h="266700">
                <a:tc>
                  <a:txBody>
                    <a:bodyPr/>
                    <a:p>
                      <a:pPr marL="85725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方法声明</a:t>
                      </a:r>
                      <a:endParaRPr lang="zh-CN" sz="18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功能描述</a:t>
                      </a:r>
                      <a:endParaRPr lang="zh-CN" sz="18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0085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static &lt;T&gt; boolean addAll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Collection&lt;? super T&gt; c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zh-CN" altLang="en-US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T...elements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将所有指定元素添加到指定集合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c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中。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T...elements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代表可变参数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3390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static void reverse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List list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反转指定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List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集合中元素的顺序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3390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static void shuffle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List list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随机打乱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List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集合中元素的顺序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9450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static void sort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List list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根据元素的自然顺序（从小到大）对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List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集合中的元素进行排序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0085"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static void swap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List list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int i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int j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将指定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List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集合中索引为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的元素和索引为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j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的元素进行交换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3650615" y="2715260"/>
            <a:ext cx="609600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sym typeface="+mn-ea"/>
              </a:rPr>
              <a:t>表</a:t>
            </a:r>
            <a:r>
              <a:rPr lang="en-US" altLang="zh-CN" sz="2000">
                <a:latin typeface="Times New Roman" panose="02020603050405020304"/>
                <a:sym typeface="+mn-ea"/>
              </a:rPr>
              <a:t>9-8 Collections</a:t>
            </a:r>
            <a:r>
              <a:rPr lang="zh-CN" altLang="en-US" sz="2000">
                <a:latin typeface="Times New Roman" panose="02020603050405020304"/>
                <a:sym typeface="+mn-ea"/>
              </a:rPr>
              <a:t>常用的添加和排序方法</a:t>
            </a:r>
            <a:endParaRPr lang="zh-CN" altLang="en-US" sz="20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6507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‌‌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查找、替换操作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14625" y="2637155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26797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30935" y="2204720"/>
            <a:ext cx="10408285" cy="1245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Collections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类还提供了一些常用方法用于操作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Set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集合、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List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集合和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Map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集合等进行查找和替换的操作，常用的方法如表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9-9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78860" y="2924810"/>
            <a:ext cx="609600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sym typeface="+mn-ea"/>
              </a:rPr>
              <a:t>表</a:t>
            </a:r>
            <a:r>
              <a:rPr lang="en-US" altLang="zh-CN" sz="2000">
                <a:latin typeface="Times New Roman" panose="02020603050405020304"/>
                <a:sym typeface="+mn-ea"/>
              </a:rPr>
              <a:t>9-9 Collections</a:t>
            </a:r>
            <a:r>
              <a:rPr lang="zh-CN" altLang="en-US" sz="2000">
                <a:latin typeface="Times New Roman" panose="02020603050405020304"/>
                <a:sym typeface="+mn-ea"/>
              </a:rPr>
              <a:t>常用的查找和替换方法</a:t>
            </a:r>
            <a:endParaRPr lang="zh-CN" altLang="en-US" sz="2000">
              <a:latin typeface="Times New Roman" panose="02020603050405020304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1174750" y="3358515"/>
          <a:ext cx="10137775" cy="3055620"/>
        </p:xfrm>
        <a:graphic>
          <a:graphicData uri="http://schemas.openxmlformats.org/drawingml/2006/table">
            <a:tbl>
              <a:tblPr/>
              <a:tblGrid>
                <a:gridCol w="5908675"/>
                <a:gridCol w="4229100"/>
              </a:tblGrid>
              <a:tr h="34290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方法声明</a:t>
                      </a:r>
                      <a:endParaRPr lang="zh-CN" sz="18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功能描述</a:t>
                      </a:r>
                      <a:endParaRPr lang="zh-CN" sz="18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3920"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static int binarySearch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List list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key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使用二分法搜索指定对象在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List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集合中的索引，要求查找的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List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集合中的元素必须是有序的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static Object max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Collection col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根据元素的自然顺序，返回给定集合中最大的元素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static Object min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Collection col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根据元素的自然顺序，返回给定集合中最小的元素</a:t>
                      </a:r>
                      <a:endParaRPr lang="zh-CN" sz="16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9600"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static boolean replaceAll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List list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oldVal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Object newVal</a:t>
                      </a:r>
                      <a:r>
                        <a:rPr 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用一个新值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newVal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替换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List</a:t>
                      </a:r>
                      <a:r>
                        <a:rPr lang="zh-CN" sz="16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集合中所有的旧值</a:t>
                      </a:r>
                      <a:r>
                        <a:rPr lang="en-US" altLang="zh-CN" sz="1600">
                          <a:latin typeface="Times New Roman" panose="02020603050405020304"/>
                          <a:ea typeface="宋体" panose="02010600030101010101" pitchFamily="2" charset="-122"/>
                        </a:rPr>
                        <a:t>oldVal</a:t>
                      </a:r>
                      <a:endParaRPr lang="en-US" altLang="zh-CN" sz="16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4708525" y="3500755"/>
            <a:ext cx="6926580" cy="341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ArrayList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类的字符串集合，添加元素并输出集合元素；反转该集合元素并输出；按自然顺序排序并输出；打乱集合元素并输出；交换集合首尾元素并输出。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ArrayList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类的整数集合，添加元素并输出集合元素；找出集合中的最大元素和最小元素并输出；替换集合中的一个整数再次输出集合元素；利用二分法查找出集合中某个元素的索引并输出。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Collections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工具类中添加、排序操作中的常用方法知识点可以得到文件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9-21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9-21 Example20.java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8590" y="292481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1import java.util.ArrayList;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2import java.util.Collections;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3public class Example20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4public static void main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String[] args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5   ArrayList&lt;String&gt; list = new ArrayList&lt;&gt;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6   Collections.addAll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list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"d"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"z"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"b"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"m"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添加元素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7   System.out.println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排序前：</a:t>
            </a:r>
            <a:r>
              <a:rPr lang="en-US" altLang="zh-CN" sz="2000">
                <a:latin typeface="Times New Roman" panose="02020603050405020304"/>
              </a:rPr>
              <a:t> " + list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8   Collections.reverse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list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反转集合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9   System.out.println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反转后：</a:t>
            </a:r>
            <a:r>
              <a:rPr lang="en-US" altLang="zh-CN" sz="2000">
                <a:latin typeface="Times New Roman" panose="02020603050405020304"/>
              </a:rPr>
              <a:t> " + list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 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10  Collections.sort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list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按自然顺序排列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Collections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工具类中添加、排序操作中的常用方法知识点可以得到文件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9-21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9-21 Example20.java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14755" y="3068955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11 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"</a:t>
            </a:r>
            <a:r>
              <a:rPr lang="zh-CN" altLang="en-US" sz="2000">
                <a:latin typeface="Times New Roman" panose="02020603050405020304"/>
                <a:sym typeface="+mn-ea"/>
              </a:rPr>
              <a:t>按自然顺序排序后：</a:t>
            </a:r>
            <a:r>
              <a:rPr lang="en-US" altLang="zh-CN" sz="2000">
                <a:latin typeface="Times New Roman" panose="02020603050405020304"/>
                <a:sym typeface="+mn-ea"/>
              </a:rPr>
              <a:t> " + list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12  Collections.shuffle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list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 // </a:t>
            </a:r>
            <a:r>
              <a:rPr lang="zh-CN" altLang="en-US" sz="2000">
                <a:latin typeface="Times New Roman" panose="02020603050405020304"/>
                <a:sym typeface="+mn-ea"/>
              </a:rPr>
              <a:t>随机打乱集合元素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13 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"</a:t>
            </a:r>
            <a:r>
              <a:rPr lang="zh-CN" altLang="en-US" sz="2000">
                <a:latin typeface="Times New Roman" panose="02020603050405020304"/>
                <a:sym typeface="+mn-ea"/>
              </a:rPr>
              <a:t>按随机顺序排序后：</a:t>
            </a:r>
            <a:r>
              <a:rPr lang="en-US" altLang="zh-CN" sz="2000">
                <a:latin typeface="Times New Roman" panose="02020603050405020304"/>
                <a:sym typeface="+mn-ea"/>
              </a:rPr>
              <a:t> " + list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 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14  Collections.swap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list</a:t>
            </a:r>
            <a:r>
              <a:rPr lang="zh-CN" altLang="en-US" sz="2000">
                <a:latin typeface="Times New Roman" panose="02020603050405020304"/>
                <a:sym typeface="+mn-ea"/>
              </a:rPr>
              <a:t>，</a:t>
            </a:r>
            <a:r>
              <a:rPr lang="en-US" altLang="zh-CN" sz="2000">
                <a:latin typeface="Times New Roman" panose="02020603050405020304"/>
                <a:sym typeface="+mn-ea"/>
              </a:rPr>
              <a:t> 0</a:t>
            </a:r>
            <a:r>
              <a:rPr lang="zh-CN" altLang="en-US" sz="2000">
                <a:latin typeface="Times New Roman" panose="02020603050405020304"/>
                <a:sym typeface="+mn-ea"/>
              </a:rPr>
              <a:t>，</a:t>
            </a:r>
            <a:r>
              <a:rPr lang="en-US" altLang="zh-CN" sz="2000">
                <a:latin typeface="Times New Roman" panose="02020603050405020304"/>
                <a:sym typeface="+mn-ea"/>
              </a:rPr>
              <a:t> list.size</a:t>
            </a:r>
            <a:r>
              <a:rPr lang="zh-CN" altLang="en-US" sz="2000">
                <a:latin typeface="Times New Roman" panose="02020603050405020304"/>
                <a:sym typeface="+mn-ea"/>
              </a:rPr>
              <a:t>（）</a:t>
            </a:r>
            <a:r>
              <a:rPr lang="en-US" altLang="zh-CN" sz="2000">
                <a:latin typeface="Times New Roman" panose="02020603050405020304"/>
                <a:sym typeface="+mn-ea"/>
              </a:rPr>
              <a:t>-1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 // </a:t>
            </a:r>
            <a:r>
              <a:rPr lang="zh-CN" altLang="en-US" sz="2000">
                <a:latin typeface="Times New Roman" panose="02020603050405020304"/>
                <a:sym typeface="+mn-ea"/>
              </a:rPr>
              <a:t>将集合首尾元素交换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15 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"</a:t>
            </a:r>
            <a:r>
              <a:rPr lang="zh-CN" altLang="en-US" sz="2000">
                <a:latin typeface="Times New Roman" panose="02020603050405020304"/>
                <a:sym typeface="+mn-ea"/>
              </a:rPr>
              <a:t>集合首尾元素交换后：</a:t>
            </a:r>
            <a:r>
              <a:rPr lang="en-US" altLang="zh-CN" sz="2000">
                <a:latin typeface="Times New Roman" panose="02020603050405020304"/>
                <a:sym typeface="+mn-ea"/>
              </a:rPr>
              <a:t> " + list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 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16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17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9730" y="213296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9-21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9-30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26970" y="4436745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9-30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9-19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9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750" y="2934335"/>
            <a:ext cx="3863975" cy="14135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Collections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工具类中添加、排序操作中的常用方法知识点可以得到文件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9-22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9-22 Example21.java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8590" y="292481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1import java.util.ArrayList;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2import java.util.Collections;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3public class Example21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4public static void main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String[] args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5  ArrayList&lt;Integer&gt; list = new ArrayList&lt;&gt;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6  Collections.addAll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list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5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7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-2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6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8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;// </a:t>
            </a:r>
            <a:r>
              <a:rPr lang="zh-CN" altLang="en-US" sz="2000">
                <a:latin typeface="Times New Roman" panose="02020603050405020304"/>
              </a:rPr>
              <a:t>向集合中添加所有指定元素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7  System.out.println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集合中的元素：</a:t>
            </a:r>
            <a:r>
              <a:rPr lang="en-US" altLang="zh-CN" sz="2000">
                <a:latin typeface="Times New Roman" panose="02020603050405020304"/>
              </a:rPr>
              <a:t> " + list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8  System.out.println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集合中的最大元素：</a:t>
            </a:r>
            <a:r>
              <a:rPr lang="en-US" altLang="zh-CN" sz="2000">
                <a:latin typeface="Times New Roman" panose="02020603050405020304"/>
              </a:rPr>
              <a:t> " + Collections.max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list</a:t>
            </a:r>
            <a:r>
              <a:rPr lang="zh-CN" altLang="en-US" sz="2000">
                <a:latin typeface="Times New Roman" panose="02020603050405020304"/>
              </a:rPr>
              <a:t>））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9  System.out.println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集合中的最小元素：</a:t>
            </a:r>
            <a:r>
              <a:rPr lang="en-US" altLang="zh-CN" sz="2000">
                <a:latin typeface="Times New Roman" panose="02020603050405020304"/>
              </a:rPr>
              <a:t> " + Collections.min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list</a:t>
            </a:r>
            <a:r>
              <a:rPr lang="zh-CN" altLang="en-US" sz="2000">
                <a:latin typeface="Times New Roman" panose="02020603050405020304"/>
              </a:rPr>
              <a:t>））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10 Collections.replaceAll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list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7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0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将集合中的</a:t>
            </a:r>
            <a:r>
              <a:rPr lang="en-US" altLang="zh-CN" sz="2000">
                <a:latin typeface="Times New Roman" panose="02020603050405020304"/>
              </a:rPr>
              <a:t>7</a:t>
            </a:r>
            <a:r>
              <a:rPr lang="zh-CN" altLang="en-US" sz="2000">
                <a:latin typeface="Times New Roman" panose="02020603050405020304"/>
              </a:rPr>
              <a:t>用</a:t>
            </a:r>
            <a:r>
              <a:rPr lang="en-US" altLang="zh-CN" sz="2000">
                <a:latin typeface="Times New Roman" panose="02020603050405020304"/>
              </a:rPr>
              <a:t>0</a:t>
            </a:r>
            <a:r>
              <a:rPr lang="zh-CN" altLang="en-US" sz="2000">
                <a:latin typeface="Times New Roman" panose="02020603050405020304"/>
              </a:rPr>
              <a:t>替换掉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：根据任务描述以及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Collections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工具类中添加、排序操作中的常用方法知识点可以得到文件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9-22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9-22 Example21.java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8590" y="3284855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11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"</a:t>
            </a:r>
            <a:r>
              <a:rPr lang="zh-CN" altLang="en-US" sz="2000">
                <a:latin typeface="Times New Roman" panose="02020603050405020304"/>
                <a:sym typeface="+mn-ea"/>
              </a:rPr>
              <a:t>替换后的集合：</a:t>
            </a:r>
            <a:r>
              <a:rPr lang="en-US" altLang="zh-CN" sz="2000">
                <a:latin typeface="Times New Roman" panose="02020603050405020304"/>
                <a:sym typeface="+mn-ea"/>
              </a:rPr>
              <a:t> " + list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12 Collections.sort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list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 //</a:t>
            </a:r>
            <a:r>
              <a:rPr lang="zh-CN" altLang="en-US" sz="2000">
                <a:latin typeface="Times New Roman" panose="02020603050405020304"/>
                <a:sym typeface="+mn-ea"/>
              </a:rPr>
              <a:t>使用二分查找前，必须保证元素有序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13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"</a:t>
            </a:r>
            <a:r>
              <a:rPr lang="zh-CN" altLang="en-US" sz="2000">
                <a:latin typeface="Times New Roman" panose="02020603050405020304"/>
                <a:sym typeface="+mn-ea"/>
              </a:rPr>
              <a:t>集合排序后为：</a:t>
            </a:r>
            <a:r>
              <a:rPr lang="en-US" altLang="zh-CN" sz="2000">
                <a:latin typeface="Times New Roman" panose="02020603050405020304"/>
                <a:sym typeface="+mn-ea"/>
              </a:rPr>
              <a:t> "+list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14 int index = Collections.binarySearch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list</a:t>
            </a:r>
            <a:r>
              <a:rPr lang="zh-CN" altLang="en-US" sz="2000">
                <a:latin typeface="Times New Roman" panose="02020603050405020304"/>
                <a:sym typeface="+mn-ea"/>
              </a:rPr>
              <a:t>，</a:t>
            </a:r>
            <a:r>
              <a:rPr lang="en-US" altLang="zh-CN" sz="2000">
                <a:latin typeface="Times New Roman" panose="02020603050405020304"/>
                <a:sym typeface="+mn-ea"/>
              </a:rPr>
              <a:t> 8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15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"</a:t>
            </a:r>
            <a:r>
              <a:rPr lang="zh-CN" altLang="en-US" sz="2000">
                <a:latin typeface="Times New Roman" panose="02020603050405020304"/>
                <a:sym typeface="+mn-ea"/>
              </a:rPr>
              <a:t>集合通过二分查找方法查找元素</a:t>
            </a:r>
            <a:r>
              <a:rPr lang="en-US" altLang="zh-CN" sz="2000">
                <a:latin typeface="Times New Roman" panose="02020603050405020304"/>
                <a:sym typeface="+mn-ea"/>
              </a:rPr>
              <a:t>8</a:t>
            </a:r>
            <a:r>
              <a:rPr lang="zh-CN" altLang="en-US" sz="2000">
                <a:latin typeface="Times New Roman" panose="02020603050405020304"/>
                <a:sym typeface="+mn-ea"/>
              </a:rPr>
              <a:t>所在索引为：</a:t>
            </a:r>
            <a:r>
              <a:rPr lang="en-US" altLang="zh-CN" sz="2000">
                <a:latin typeface="Times New Roman" panose="02020603050405020304"/>
                <a:sym typeface="+mn-ea"/>
              </a:rPr>
              <a:t>"+index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}</a:t>
            </a: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9730" y="213296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9-22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9-31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26970" y="4436745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9-31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9-22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70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145" y="2675255"/>
            <a:ext cx="4912360" cy="17043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TABLE_ENDDRAG_ORIGIN_RECT" val="770*252"/>
  <p:tag name="TABLE_ENDDRAG_RECT" val="145*255*770*252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TABLE_ENDDRAG_ORIGIN_RECT" val="798*234"/>
  <p:tag name="TABLE_ENDDRAG_RECT" val="123*272*798*234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3240</Words>
  <Application>WPS 演示</Application>
  <PresentationFormat>自定义</PresentationFormat>
  <Paragraphs>252</Paragraphs>
  <Slides>15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568</cp:revision>
  <dcterms:created xsi:type="dcterms:W3CDTF">2015-03-26T06:11:00Z</dcterms:created>
  <dcterms:modified xsi:type="dcterms:W3CDTF">2025-07-12T03:06:57Z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AC346007FB424F7BB4E04C3A7E4C406A_13</vt:lpwstr>
  </property>
</Properties>
</file>