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39" r:id="rId5"/>
    <p:sldId id="340" r:id="rId6"/>
    <p:sldId id="373" r:id="rId7"/>
    <p:sldId id="352" r:id="rId8"/>
    <p:sldId id="374" r:id="rId9"/>
    <p:sldId id="376" r:id="rId10"/>
    <p:sldId id="377" r:id="rId11"/>
    <p:sldId id="382" r:id="rId12"/>
    <p:sldId id="383" r:id="rId13"/>
    <p:sldId id="378" r:id="rId14"/>
    <p:sldId id="347" r:id="rId15"/>
  </p:sldIdLst>
  <p:sldSz cx="12198350" cy="6858000"/>
  <p:notesSz cx="6858000" cy="9144000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60"/>
        <p:guide pos="3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30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tags" Target="../tags/tag27.xml"/><Relationship Id="rId4" Type="http://schemas.openxmlformats.org/officeDocument/2006/relationships/image" Target="../media/image8.pn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notesSlide" Target="../notesSlides/notesSlide11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3230" y="3789045"/>
            <a:ext cx="559435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+mn-ea"/>
                <a:ea typeface="+mn-ea"/>
                <a:cs typeface="+mn-ea"/>
              </a:rPr>
              <a:t>去</a:t>
            </a:r>
            <a:r>
              <a:rPr lang="en-US" altLang="zh-CN" sz="1800">
                <a:latin typeface="+mn-ea"/>
                <a:ea typeface="+mn-ea"/>
                <a:cs typeface="+mn-ea"/>
              </a:rPr>
              <a:t>Eclipse</a:t>
            </a:r>
            <a:r>
              <a:rPr lang="zh-CN" altLang="en-US" sz="1800">
                <a:latin typeface="+mn-ea"/>
                <a:ea typeface="+mn-ea"/>
                <a:cs typeface="+mn-ea"/>
              </a:rPr>
              <a:t>官方网站网下载并安装集成开发环境</a:t>
            </a:r>
            <a:r>
              <a:rPr lang="en-US" altLang="zh-CN" sz="1800">
                <a:latin typeface="+mn-ea"/>
                <a:ea typeface="+mn-ea"/>
                <a:cs typeface="+mn-ea"/>
              </a:rPr>
              <a:t>Eclipse</a:t>
            </a:r>
            <a:r>
              <a:rPr lang="zh-CN" altLang="en-US" sz="1800">
                <a:latin typeface="+mn-ea"/>
                <a:ea typeface="+mn-ea"/>
                <a:cs typeface="+mn-ea"/>
              </a:rPr>
              <a:t>。</a:t>
            </a:r>
            <a:endParaRPr lang="zh-CN" altLang="en-US" sz="1800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  知识链接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41415" y="3507740"/>
            <a:ext cx="5594350" cy="48958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集成开发环境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原因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40780" y="3933190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IntelliJ IDEA简介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81127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使用集成开发环境原因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970" y="2131695"/>
            <a:ext cx="1138682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9750" algn="l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由于记事本编写代码速度慢且不易排错，为了提高程序的开发效率可以使用集成开发工具进行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程序开发，目前主要流行的开发工具有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IDEA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，本课程我们选用了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开发工具，下面我们先来简单了解下此工具。</a:t>
            </a:r>
            <a:endParaRPr lang="zh-CN" altLang="en-US" sz="2400" dirty="0">
              <a:latin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Eclipse</a:t>
            </a:r>
            <a:r>
              <a:rPr 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简介</a:t>
            </a:r>
            <a:endParaRPr 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8970" y="2131695"/>
            <a:ext cx="1138682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是一款功能强大的开放源码集成开发环境（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IDE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），被广泛应用于各种软件开发场景中。</a:t>
            </a:r>
            <a:endParaRPr lang="zh-CN" altLang="en-US" sz="2400" dirty="0">
              <a:latin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它具有丰富的工具和插件，支持多种编程语言和平台，例如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Java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C/C++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PHP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等，可以帮助开发人员更高效地进行软件开发。</a:t>
            </a:r>
            <a:endParaRPr lang="zh-CN" altLang="en-US" sz="2400" dirty="0">
              <a:latin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具有强大的代码编排功能，可以帮助程序开发人员完成语法修正、代码修正、代码补全、信息提示等工作，大大提高了程序开发的效率。</a:t>
            </a:r>
            <a:endParaRPr lang="zh-CN" altLang="en-US" sz="2400" dirty="0">
              <a:latin typeface="微软雅黑" panose="020B0503020204020204" pitchFamily="3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的设计思想是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一切皆插件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。就其本身而言，它只是一个框架和一组服务，它所有的功能都是将插件组件加入到</a:t>
            </a:r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框架中来实现的。</a:t>
            </a:r>
            <a:endParaRPr lang="zh-CN" altLang="en-US" sz="2400" dirty="0">
              <a:latin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任务实现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4585" y="3644900"/>
            <a:ext cx="361061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Eclipse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02045" y="4008120"/>
            <a:ext cx="361061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Eclipse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17285" y="4366260"/>
            <a:ext cx="361061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Eclipse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界面设置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4" grpId="0"/>
      <p:bldP spid="3" grpId="0"/>
      <p:bldP spid="2" grpId="0"/>
      <p:bldP spid="4" grpId="1"/>
      <p:bldP spid="3" grpId="1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445389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下载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Eclipse</a:t>
            </a:r>
            <a:endParaRPr lang="en-US" altLang="zh-CN" sz="2600" b="1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06880" y="2132965"/>
            <a:ext cx="7906385" cy="6553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l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Eclipse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官方网站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https://www.eclipse.org/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，点击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Download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Eclipse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下载界面下载界面如图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1-12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87015" y="5373370"/>
            <a:ext cx="6096000" cy="373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l" defTabSz="266700">
              <a:lnSpc>
                <a:spcPts val="2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1600">
                <a:latin typeface="宋体" panose="02010600030101010101" pitchFamily="2" charset="-122"/>
                <a:sym typeface="+mn-ea"/>
              </a:rPr>
              <a:t>图</a:t>
            </a:r>
            <a:r>
              <a:rPr lang="en-US" altLang="zh-CN" sz="1600">
                <a:latin typeface="宋体" panose="02010600030101010101" pitchFamily="2" charset="-122"/>
                <a:sym typeface="+mn-ea"/>
              </a:rPr>
              <a:t>1-12 Eclipse</a:t>
            </a:r>
            <a:r>
              <a:rPr lang="zh-CN" altLang="en-US" sz="1600">
                <a:latin typeface="宋体" panose="02010600030101010101" pitchFamily="2" charset="-122"/>
                <a:sym typeface="+mn-ea"/>
              </a:rPr>
              <a:t>下载界面</a:t>
            </a:r>
            <a:endParaRPr lang="zh-CN" altLang="en-US" sz="1600">
              <a:latin typeface="宋体" panose="02010600030101010101" pitchFamily="2" charset="-122"/>
              <a:sym typeface="+mn-ea"/>
            </a:endParaRPr>
          </a:p>
        </p:txBody>
      </p:sp>
      <p:pic>
        <p:nvPicPr>
          <p:cNvPr id="3" name="图片 1" descr="C:/Users/Lenovo/Desktop/图片1.png图片1"/>
          <p:cNvPicPr>
            <a:picLocks noChangeAspect="1"/>
          </p:cNvPicPr>
          <p:nvPr/>
        </p:nvPicPr>
        <p:blipFill>
          <a:blip r:embed="rId3"/>
          <a:srcRect t="6147" b="6147"/>
          <a:stretch>
            <a:fillRect/>
          </a:stretch>
        </p:blipFill>
        <p:spPr>
          <a:xfrm>
            <a:off x="3147060" y="2916555"/>
            <a:ext cx="4318000" cy="23279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Eclipse</a:t>
            </a:r>
            <a:endParaRPr lang="en-US" alt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277110"/>
            <a:ext cx="30099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1</a:t>
            </a:r>
            <a:r>
              <a:rPr lang="zh-CN" altLang="en-US"/>
              <a:t>）下载完毕后会出现如图</a:t>
            </a:r>
            <a:r>
              <a:rPr lang="en-US" altLang="zh-CN"/>
              <a:t>1-13</a:t>
            </a:r>
            <a:r>
              <a:rPr lang="zh-CN" altLang="en-US"/>
              <a:t>所示的安装向导界面，选择第一项：</a:t>
            </a:r>
            <a:r>
              <a:rPr lang="en-US" altLang="zh-CN"/>
              <a:t>Eclipse IDE for Java Developers</a:t>
            </a:r>
            <a:r>
              <a:rPr lang="zh-CN" altLang="en-US"/>
              <a:t>进入安装环节，成功安装界面如图</a:t>
            </a:r>
            <a:r>
              <a:rPr lang="en-US" altLang="zh-CN"/>
              <a:t>1-14</a:t>
            </a:r>
            <a:r>
              <a:rPr lang="zh-CN" altLang="en-US"/>
              <a:t>所示。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63185" y="58766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1-13 IntelliJ IDEA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安装开始界面 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5" name="图片 115" descr="截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085" y="1844675"/>
            <a:ext cx="3646170" cy="38728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Eclipse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2277110"/>
            <a:ext cx="30099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2</a:t>
            </a:r>
            <a:r>
              <a:rPr lang="zh-CN" altLang="en-US"/>
              <a:t>）然后单击“下一步”按钮，进入如图1-14所示的安装选项设置界面。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63185" y="48688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1-14 Eclipse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成功安装界面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3" descr="C:/Users/Lenovo/Desktop/截图1.png截图1"/>
          <p:cNvPicPr>
            <a:picLocks noChangeAspect="1"/>
          </p:cNvPicPr>
          <p:nvPr/>
        </p:nvPicPr>
        <p:blipFill>
          <a:blip r:embed="rId3"/>
          <a:srcRect t="10665" b="10665"/>
          <a:stretch>
            <a:fillRect/>
          </a:stretch>
        </p:blipFill>
        <p:spPr>
          <a:xfrm>
            <a:off x="4803140" y="2277110"/>
            <a:ext cx="4545965" cy="23831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503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Eclipse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界面设置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90980" y="2277110"/>
            <a:ext cx="89160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  </a:t>
            </a:r>
            <a:r>
              <a:rPr lang="zh-CN" altLang="en-US"/>
              <a:t>设置项目存放路径即</a:t>
            </a:r>
            <a:r>
              <a:rPr lang="en-US" altLang="zh-CN"/>
              <a:t>Workspace</a:t>
            </a:r>
            <a:r>
              <a:rPr lang="zh-CN" altLang="en-US"/>
              <a:t>的路径，如图</a:t>
            </a:r>
            <a:r>
              <a:rPr lang="en-US" altLang="zh-CN"/>
              <a:t>1-15</a:t>
            </a:r>
            <a:r>
              <a:rPr lang="zh-CN" altLang="en-US"/>
              <a:t>所示。然后选择</a:t>
            </a:r>
            <a:r>
              <a:rPr lang="en-US" altLang="zh-CN"/>
              <a:t>“Launch”</a:t>
            </a:r>
            <a:r>
              <a:rPr lang="zh-CN" altLang="en-US"/>
              <a:t>进入工作区界面</a:t>
            </a:r>
            <a:r>
              <a:rPr lang="en-US" altLang="zh-CN"/>
              <a:t>,</a:t>
            </a:r>
            <a:r>
              <a:rPr lang="zh-CN" altLang="en-US"/>
              <a:t>如图</a:t>
            </a:r>
            <a:r>
              <a:rPr lang="en-US" altLang="zh-CN"/>
              <a:t>1-16</a:t>
            </a:r>
            <a:r>
              <a:rPr lang="zh-CN" altLang="en-US"/>
              <a:t>所示</a:t>
            </a:r>
            <a:r>
              <a:rPr lang="en-US" altLang="zh-CN"/>
              <a:t>.</a:t>
            </a:r>
            <a:endParaRPr lang="en-US" altLang="zh-CN"/>
          </a:p>
        </p:txBody>
      </p:sp>
      <p:pic>
        <p:nvPicPr>
          <p:cNvPr id="16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78635" y="2924810"/>
            <a:ext cx="4034790" cy="2623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7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57595" y="2922270"/>
            <a:ext cx="4249420" cy="26422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418590" y="5661025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1-15 Eclipse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设置工作区界面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5810885" y="5732780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1-16 Eclipse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工作区界面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252.7,&quot;left&quot;:111.7,&quot;top&quot;:230.1,&quot;width&quot;:745.85}"/>
</p:tagLst>
</file>

<file path=ppt/tags/tag27.xml><?xml version="1.0" encoding="utf-8"?>
<p:tagLst xmlns:p="http://schemas.openxmlformats.org/presentationml/2006/main">
  <p:tag name="KSO_WM_DIAGRAM_VIRTUALLY_FRAME" val="{&quot;height&quot;:252.7,&quot;left&quot;:111.7,&quot;top&quot;:230.1,&quot;width&quot;:745.85}"/>
</p:tagLst>
</file>

<file path=ppt/tags/tag28.xml><?xml version="1.0" encoding="utf-8"?>
<p:tagLst xmlns:p="http://schemas.openxmlformats.org/presentationml/2006/main">
  <p:tag name="KSO_WM_DIAGRAM_VIRTUALLY_FRAME" val="{&quot;height&quot;:252.7,&quot;left&quot;:111.7,&quot;top&quot;:230.1,&quot;width&quot;:745.85}"/>
</p:tagLst>
</file>

<file path=ppt/tags/tag29.xml><?xml version="1.0" encoding="utf-8"?>
<p:tagLst xmlns:p="http://schemas.openxmlformats.org/presentationml/2006/main">
  <p:tag name="KSO_WM_DIAGRAM_VIRTUALLY_FRAME" val="{&quot;height&quot;:252.7,&quot;left&quot;:111.7,&quot;top&quot;:230.1,&quot;width&quot;:745.85}"/>
</p:tagLst>
</file>

<file path=ppt/tags/tag30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1012</Words>
  <Application>WPS 演示</Application>
  <PresentationFormat>自定义</PresentationFormat>
  <Paragraphs>117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Wingdings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507</cp:revision>
  <dcterms:created xsi:type="dcterms:W3CDTF">2015-03-26T06:11:00Z</dcterms:created>
  <dcterms:modified xsi:type="dcterms:W3CDTF">2025-09-22T14:39:03Z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44382A5985E24C2D9A0DE04EC351237B_13</vt:lpwstr>
  </property>
</Properties>
</file>