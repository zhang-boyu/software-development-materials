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8" r:id="rId3"/>
    <p:sldId id="373" r:id="rId5"/>
    <p:sldId id="374" r:id="rId6"/>
    <p:sldId id="340" r:id="rId7"/>
    <p:sldId id="353" r:id="rId8"/>
    <p:sldId id="395" r:id="rId9"/>
    <p:sldId id="396" r:id="rId10"/>
    <p:sldId id="397" r:id="rId11"/>
    <p:sldId id="398" r:id="rId12"/>
    <p:sldId id="399" r:id="rId13"/>
    <p:sldId id="400" r:id="rId14"/>
    <p:sldId id="401" r:id="rId15"/>
    <p:sldId id="402" r:id="rId16"/>
    <p:sldId id="403" r:id="rId17"/>
    <p:sldId id="344" r:id="rId18"/>
    <p:sldId id="341" r:id="rId19"/>
    <p:sldId id="368" r:id="rId20"/>
    <p:sldId id="347" r:id="rId21"/>
  </p:sldIdLst>
  <p:sldSz cx="12198350" cy="6858000"/>
  <p:notesSz cx="6858000" cy="9144000"/>
  <p:custDataLst>
    <p:tags r:id="rId25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9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159"/>
        <p:guide pos="39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5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6819583" y="1403033"/>
            <a:ext cx="4849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  <p:pic>
        <p:nvPicPr>
          <p:cNvPr id="3079" name="Picture 10" descr="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49275"/>
            <a:ext cx="49418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23230" y="3789045"/>
            <a:ext cx="559435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定义一个类，输出学生的班级+学号+姓名+年龄，将输出的学生信息分两行书写。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Java程序的基本格式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6605588" y="41087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标识符的定义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6605588" y="432530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关键字的使用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9" name="矩形 6"/>
          <p:cNvSpPr>
            <a:spLocks noChangeArrowheads="1"/>
          </p:cNvSpPr>
          <p:nvPr/>
        </p:nvSpPr>
        <p:spPr bwMode="auto">
          <a:xfrm>
            <a:off x="6605588" y="468534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矩形 6"/>
          <p:cNvSpPr>
            <a:spLocks noChangeArrowheads="1"/>
          </p:cNvSpPr>
          <p:nvPr/>
        </p:nvSpPr>
        <p:spPr bwMode="auto">
          <a:xfrm>
            <a:off x="6603048" y="504856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5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0" dur="10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5" grpId="0" bldLvl="0" autoUpdateAnimBg="0"/>
      <p:bldP spid="5136" grpId="0" bldLvl="0" autoUpdateAnimBg="0"/>
      <p:bldP spid="5138" grpId="0" bldLvl="0" autoUpdateAnimBg="0"/>
      <p:bldP spid="5139" grpId="0" bldLvl="0" autoUpdateAnimBg="0"/>
      <p:bldP spid="3" grpId="0" bldLvl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Java程序的基本格式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1130935" y="2281079"/>
            <a:ext cx="10225106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66700" indent="0" fontAlgn="auto">
              <a:lnSpc>
                <a:spcPct val="150000"/>
              </a:lnSpc>
            </a:pPr>
            <a:r>
              <a:rPr sz="2000" b="0" dirty="0">
                <a:uFillTx/>
                <a:ea typeface="微软雅黑" panose="020B0503020204020204" pitchFamily="34" charset="-122"/>
              </a:rPr>
              <a:t>Java程序代码必须放在一个</a:t>
            </a:r>
            <a:r>
              <a:rPr sz="2000" b="0" dirty="0">
                <a:solidFill>
                  <a:srgbClr val="FF0000"/>
                </a:solidFill>
                <a:uFillTx/>
                <a:ea typeface="微软雅黑" panose="020B0503020204020204" pitchFamily="34" charset="-122"/>
              </a:rPr>
              <a:t>类</a:t>
            </a:r>
            <a:r>
              <a:rPr sz="2000" b="0" dirty="0">
                <a:uFillTx/>
                <a:ea typeface="微软雅黑" panose="020B0503020204020204" pitchFamily="34" charset="-122"/>
              </a:rPr>
              <a:t>中，我们可以简单地将一个类理解为一个Java程序。类使用</a:t>
            </a:r>
            <a:r>
              <a:rPr sz="2000" b="0" dirty="0">
                <a:solidFill>
                  <a:srgbClr val="FF0000"/>
                </a:solidFill>
                <a:uFillTx/>
                <a:ea typeface="微软雅黑" panose="020B0503020204020204" pitchFamily="34" charset="-122"/>
              </a:rPr>
              <a:t>class关键字</a:t>
            </a:r>
            <a:r>
              <a:rPr sz="2000" b="0" dirty="0">
                <a:uFillTx/>
                <a:ea typeface="微软雅黑" panose="020B0503020204020204" pitchFamily="34" charset="-122"/>
              </a:rPr>
              <a:t>定义，在class前面可以有</a:t>
            </a:r>
            <a:r>
              <a:rPr sz="2000" b="0" dirty="0">
                <a:solidFill>
                  <a:srgbClr val="FF0000"/>
                </a:solidFill>
                <a:uFillTx/>
                <a:ea typeface="微软雅黑" panose="020B0503020204020204" pitchFamily="34" charset="-122"/>
              </a:rPr>
              <a:t>类的修饰符</a:t>
            </a:r>
            <a:r>
              <a:rPr sz="2000" b="0" dirty="0">
                <a:uFillTx/>
                <a:ea typeface="微软雅黑" panose="020B0503020204020204" pitchFamily="34" charset="-122"/>
              </a:rPr>
              <a:t>，修饰符可以是public、private等。类的定义格式如下：</a:t>
            </a:r>
            <a:endParaRPr sz="2000" b="0" dirty="0">
              <a:uFillTx/>
              <a:ea typeface="微软雅黑" panose="020B0503020204020204" pitchFamily="34" charset="-122"/>
            </a:endParaRPr>
          </a:p>
        </p:txBody>
      </p: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87015" y="4053205"/>
            <a:ext cx="6599555" cy="137287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1" algn="l" fontAlgn="auto">
              <a:lnSpc>
                <a:spcPct val="150000"/>
              </a:lnSpc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修饰符 class 类名{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程序代码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Java程序的基本格式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Chevron 3"/>
          <p:cNvSpPr/>
          <p:nvPr>
            <p:custDataLst>
              <p:tags r:id="rId3"/>
            </p:custDataLst>
          </p:nvPr>
        </p:nvSpPr>
        <p:spPr>
          <a:xfrm>
            <a:off x="928370" y="1464310"/>
            <a:ext cx="38284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99048" y="1604269"/>
            <a:ext cx="34823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编写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程序的四点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注意事项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40130" y="2244090"/>
            <a:ext cx="1040320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（1）Java程序代码可分为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结构定义语句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功能执行语句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，其中，结构定义语句用于声明一个类或方法，功能执行语句用于实现具体的功能。每条功能执行语句的最后必须用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分号(;)结束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，如下面的语句。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33955" y="3797300"/>
            <a:ext cx="7322185" cy="69469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System.out.println("这是第一个Java程序！")</a:t>
            </a:r>
            <a:r>
              <a:rPr lang="zh-CN" altLang="en-US" sz="18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  <a:endParaRPr lang="zh-CN" altLang="en-US" sz="18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43635" y="4647565"/>
            <a:ext cx="104032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注意：在程序中不要将英文的分号(;)误写成中文的分号（；），如果写成中文的分号，编译器会报告 “illegal character”（非法字符）错误信息。</a:t>
            </a:r>
            <a:endParaRPr 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Java程序的基本格式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Chevron 3"/>
          <p:cNvSpPr/>
          <p:nvPr>
            <p:custDataLst>
              <p:tags r:id="rId3"/>
            </p:custDataLst>
          </p:nvPr>
        </p:nvSpPr>
        <p:spPr>
          <a:xfrm>
            <a:off x="928370" y="1464310"/>
            <a:ext cx="38284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99048" y="1604269"/>
            <a:ext cx="34823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编写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程序的四点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注意事项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05890" y="2273935"/>
            <a:ext cx="93789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（2）Java语言是严格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区分大小写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的。在定义类时，不能将class写成Class，否则编译器会报错。程序中定义一个computer类的同时，还可以定义一个Computer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类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，computer和Computer是两个完全不同的符号，在使用时务必注意。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Java程序的基本格式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Chevron 3"/>
          <p:cNvSpPr/>
          <p:nvPr>
            <p:custDataLst>
              <p:tags r:id="rId3"/>
            </p:custDataLst>
          </p:nvPr>
        </p:nvSpPr>
        <p:spPr>
          <a:xfrm>
            <a:off x="928370" y="1464310"/>
            <a:ext cx="38284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99048" y="1604269"/>
            <a:ext cx="34823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编写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程序的四点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注意事项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40130" y="2100580"/>
            <a:ext cx="104032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（3）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在编写Java程序时，出于可读性的考虑，应该让自己编写的程序代码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整齐美观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层次清晰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。常用的编排方式是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一行只写一条语句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，符号“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”与语句同行，符号“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”独占一行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 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3410" y="3420110"/>
            <a:ext cx="8178800" cy="232283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315845" y="3430905"/>
            <a:ext cx="7531100" cy="216852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HelloWorld {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public static void main(String[]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{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System.out.println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这是第一个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}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Java程序的基本格式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Chevron 3"/>
          <p:cNvSpPr/>
          <p:nvPr>
            <p:custDataLst>
              <p:tags r:id="rId3"/>
            </p:custDataLst>
          </p:nvPr>
        </p:nvSpPr>
        <p:spPr>
          <a:xfrm>
            <a:off x="928370" y="1464310"/>
            <a:ext cx="38284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99048" y="1604269"/>
            <a:ext cx="34823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编写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程序的四点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注意事项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00125" y="2244090"/>
            <a:ext cx="1049337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Java程序中一个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连续的字符串不能分成两行书写</a:t>
            </a: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例如，</a:t>
            </a: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的</a:t>
            </a: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语句在编译时会出错</a:t>
            </a: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 </a:t>
            </a:r>
            <a:endParaRPr 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5330" y="2985770"/>
            <a:ext cx="8178800" cy="109537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437765" y="3011805"/>
            <a:ext cx="7531100" cy="922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System.out.println("这是第一个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	Java程序！");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07745" y="4138295"/>
            <a:ext cx="105632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为了便于阅读，需要将一个比较长的字符串分两行书写，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可以先将字符串分成两个字符串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加号</a:t>
            </a:r>
            <a:r>
              <a:rPr 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</a:t>
            </a:r>
            <a:r>
              <a:rPr 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将这两个字符串连起来，在加号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(+)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处换行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，上面的语句可以修改成如下形式。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5170" y="5365115"/>
            <a:ext cx="8178800" cy="96901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2438400" y="5365115"/>
            <a:ext cx="7531100" cy="922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System.out.println("这是第一个" 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	    "Java程序！");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标识符的定义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163320" y="2517775"/>
            <a:ext cx="9864090" cy="232346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08430" y="2746375"/>
            <a:ext cx="937323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在编程过程中，经常需要在程序中定义一些符号，用来标记一些名称，如包名、类名、方法名、参数名、变量名等，这些符号被称为标识符。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标识符可以由字母、数字、下画线（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）和美元符号（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$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）组成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，但标识符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不能以数字开头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不能是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中的关键字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标识符的定义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1" name="MH_Number_1"/>
          <p:cNvSpPr/>
          <p:nvPr>
            <p:custDataLst>
              <p:tags r:id="rId3"/>
            </p:custDataLst>
          </p:nvPr>
        </p:nvSpPr>
        <p:spPr>
          <a:xfrm>
            <a:off x="2069465" y="2267585"/>
            <a:ext cx="1758950" cy="649605"/>
          </a:xfrm>
          <a:prstGeom prst="roundRect">
            <a:avLst>
              <a:gd name="adj" fmla="val 12189"/>
            </a:avLst>
          </a:prstGeom>
          <a:solidFill>
            <a:srgbClr val="5B9BD5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89985" tIns="46792" rIns="89985" bIns="46792" anchor="ctr" anchorCtr="1">
            <a:normAutofit/>
          </a:bodyPr>
          <a:p>
            <a:pPr lvl="0" algn="ctr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合法标识符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MH_Entry_2">
            <a:hlinkClick r:id="" action="ppaction://noaction"/>
          </p:cNvPr>
          <p:cNvSpPr/>
          <p:nvPr>
            <p:custDataLst>
              <p:tags r:id="rId4"/>
            </p:custDataLst>
          </p:nvPr>
        </p:nvSpPr>
        <p:spPr>
          <a:xfrm>
            <a:off x="4576276" y="1450118"/>
            <a:ext cx="3037588" cy="2299491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25400" cap="flat" cmpd="sng" algn="ctr">
            <a:solidFill>
              <a:srgbClr val="5B9BD5"/>
            </a:solidFill>
            <a:prstDash val="solid"/>
          </a:ln>
          <a:effectLst/>
        </p:spPr>
        <p:txBody>
          <a:bodyPr wrap="square" anchor="ctr" anchorCtr="1">
            <a:noAutofit/>
          </a:bodyPr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username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username123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user_name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userName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$username 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箭头连接符 6"/>
          <p:cNvCxnSpPr>
            <a:endCxn id="23" idx="1"/>
          </p:cNvCxnSpPr>
          <p:nvPr/>
        </p:nvCxnSpPr>
        <p:spPr>
          <a:xfrm>
            <a:off x="3828415" y="2585720"/>
            <a:ext cx="748030" cy="14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H_Entry_2">
            <a:hlinkClick r:id="" action="ppaction://noaction"/>
          </p:cNvPr>
          <p:cNvSpPr/>
          <p:nvPr>
            <p:custDataLst>
              <p:tags r:id="rId5"/>
            </p:custDataLst>
          </p:nvPr>
        </p:nvSpPr>
        <p:spPr>
          <a:xfrm>
            <a:off x="4576443" y="4160024"/>
            <a:ext cx="6610589" cy="1934297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25400" cap="flat" cmpd="sng" algn="ctr">
            <a:solidFill>
              <a:srgbClr val="5B9BD5"/>
            </a:solidFill>
            <a:prstDash val="solid"/>
          </a:ln>
          <a:effectLst/>
        </p:spPr>
        <p:txBody>
          <a:bodyPr wrap="square" anchor="ctr" anchorCtr="1">
            <a:noAutofit/>
          </a:bodyPr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123name     //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不能以数字开头</a:t>
            </a:r>
            <a:endParaRPr lang="zh-CN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Class	     //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不能是关键字</a:t>
            </a:r>
            <a:endParaRPr lang="zh-CN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98.3	     //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不能是数字开头也不能包含特殊符号“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Hello World //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不能包含空格特殊字符</a:t>
            </a:r>
            <a:endParaRPr lang="zh-CN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MH_Number_1"/>
          <p:cNvSpPr/>
          <p:nvPr>
            <p:custDataLst>
              <p:tags r:id="rId6"/>
            </p:custDataLst>
          </p:nvPr>
        </p:nvSpPr>
        <p:spPr>
          <a:xfrm>
            <a:off x="2068830" y="4802505"/>
            <a:ext cx="1760220" cy="649605"/>
          </a:xfrm>
          <a:prstGeom prst="roundRect">
            <a:avLst>
              <a:gd name="adj" fmla="val 12189"/>
            </a:avLst>
          </a:prstGeom>
          <a:solidFill>
            <a:srgbClr val="5B9BD5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89985" tIns="46792" rIns="89985" bIns="46792" anchor="ctr" anchorCtr="1">
            <a:normAutofit/>
          </a:bodyPr>
          <a:p>
            <a:pPr lvl="0" algn="ctr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不合法标识符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8" name="直接箭头连接符 7"/>
          <p:cNvCxnSpPr>
            <a:stCxn id="25" idx="3"/>
            <a:endCxn id="22" idx="1"/>
          </p:cNvCxnSpPr>
          <p:nvPr/>
        </p:nvCxnSpPr>
        <p:spPr>
          <a:xfrm flipV="1">
            <a:off x="3828895" y="5127172"/>
            <a:ext cx="747395" cy="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hevron 3"/>
          <p:cNvSpPr/>
          <p:nvPr>
            <p:custDataLst>
              <p:tags r:id="rId7"/>
            </p:custDataLst>
          </p:nvPr>
        </p:nvSpPr>
        <p:spPr>
          <a:xfrm>
            <a:off x="1143635" y="1392555"/>
            <a:ext cx="250888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86068" y="1532514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标识符书写方式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标识符的定义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Chevron 3"/>
          <p:cNvSpPr/>
          <p:nvPr>
            <p:custDataLst>
              <p:tags r:id="rId3"/>
            </p:custDataLst>
          </p:nvPr>
        </p:nvSpPr>
        <p:spPr>
          <a:xfrm>
            <a:off x="1143635" y="1464310"/>
            <a:ext cx="250888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86068" y="160426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标识符书写规范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28090" y="2273935"/>
            <a:ext cx="9556750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（1）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包名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所有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字母一律小写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。例如：cn.itcast.test。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（2）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类名和接口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名每个单词的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首字母都大写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。例如：ArrayList、Iterator。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（3）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常量名所有字母都大写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单词之间用下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画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连接。例如：DAY_OF_MONTH。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（4）变量名和方法名的第一个单词首字母小写，从第二个单词开始每个单词首字母大写。例如：lineNumber、getLineNumber。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（5）在程序中，应该尽量使用有意义的英文单词定义标识符，使得程序便于阅读。例如，使用userName定义用户名，password定义密码。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关键字的使用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MH_Text_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936875" y="1503680"/>
            <a:ext cx="8482330" cy="887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关键字是编程语言里事先定义好并赋予了特殊含义的单词。和其他语言一样，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中预留了许多关键字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，下面列举了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中所有的关键字。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467690" y="2548489"/>
          <a:ext cx="9127515" cy="39624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783515"/>
                <a:gridCol w="1872000"/>
                <a:gridCol w="1944000"/>
                <a:gridCol w="1728000"/>
                <a:gridCol w="1800000"/>
              </a:tblGrid>
              <a:tr h="396240">
                <a:tc>
                  <a:txBody>
                    <a:bodyPr/>
                    <a:lstStyle/>
                    <a:p>
                      <a:pPr marL="0" algn="l" defTabSz="1219200" rtl="0" eaLnBrk="1" latinLnBrk="0" hangingPunct="1"/>
                      <a:r>
                        <a:rPr lang="en-US" altLang="zh-CN" sz="2000" b="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abstract</a:t>
                      </a:r>
                      <a:endParaRPr lang="zh-CN" altLang="en-US" sz="2000" b="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/>
                      <a:r>
                        <a:rPr lang="en-US" altLang="zh-CN" sz="2000" b="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continue</a:t>
                      </a:r>
                      <a:endParaRPr lang="zh-CN" altLang="en-US" sz="2000" b="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/>
                      <a:r>
                        <a:rPr lang="en-US" altLang="zh-CN" sz="2000" b="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for</a:t>
                      </a:r>
                      <a:endParaRPr lang="zh-CN" altLang="en-US" sz="2000" b="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/>
                      <a:r>
                        <a:rPr lang="en-US" altLang="zh-CN" sz="2000" b="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new</a:t>
                      </a:r>
                      <a:endParaRPr lang="zh-CN" altLang="en-US" sz="2000" b="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/>
                      <a:r>
                        <a:rPr lang="en-US" altLang="zh-CN" sz="2000" b="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switch</a:t>
                      </a:r>
                      <a:endParaRPr lang="zh-CN" altLang="en-US" sz="2000" b="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assert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default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goto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package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synchronized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boolean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do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if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private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this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break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double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implements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protected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throw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byte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else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import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public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throws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case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enum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instanceof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transient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catch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extends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int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short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try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char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final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interface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static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void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class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finally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long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strictfp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volatile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const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float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native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super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while</a:t>
                      </a:r>
                      <a:endParaRPr lang="zh-CN" altLang="en-US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Chevron 3"/>
          <p:cNvSpPr/>
          <p:nvPr>
            <p:custDataLst>
              <p:tags r:id="rId5"/>
            </p:custDataLst>
          </p:nvPr>
        </p:nvSpPr>
        <p:spPr>
          <a:xfrm>
            <a:off x="1143635" y="1679575"/>
            <a:ext cx="179324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14313" y="1819534"/>
            <a:ext cx="14503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关键字的使用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181" y="2743384"/>
            <a:ext cx="9936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关键字都是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小写</a:t>
            </a:r>
            <a:r>
              <a:rPr lang="zh-CN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不能使用关键字命名标识符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goto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是保留的关键字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，虽然在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中还没有任何意义，但在程序中不能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用来作为自定义的标识符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null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虽然不属于关键字，但它们具有特殊的意义，也不能作为标识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符使用。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Chevron 3"/>
          <p:cNvSpPr/>
          <p:nvPr>
            <p:custDataLst>
              <p:tags r:id="rId3"/>
            </p:custDataLst>
          </p:nvPr>
        </p:nvSpPr>
        <p:spPr>
          <a:xfrm>
            <a:off x="1143635" y="1679575"/>
            <a:ext cx="339471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86068" y="1819534"/>
            <a:ext cx="272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关键字使用的注意事项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86630" y="1741805"/>
            <a:ext cx="629285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编写Java程序时，关键字的使用需要注意以下几点。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5473065" y="3750310"/>
            <a:ext cx="568071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定义一个类，输出学生的班级+学号+姓名+年龄，将输出的学生信息分两行书写。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6" grpId="0" bldLvl="0" autoUpdateAnimBg="0"/>
      <p:bldP spid="5137" grpId="0" bldLvl="0" autoUpdateAnimBg="0"/>
      <p:bldP spid="5137" grpId="1" bldLvl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实现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3068955"/>
            <a:ext cx="964755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400" b="1">
                <a:latin typeface="+mj-ea"/>
                <a:ea typeface="+mj-ea"/>
                <a:cs typeface="+mj-ea"/>
              </a:rPr>
              <a:t>1  public class Example01 {</a:t>
            </a:r>
            <a:endParaRPr sz="2400" b="1">
              <a:latin typeface="+mj-ea"/>
              <a:ea typeface="+mj-ea"/>
              <a:cs typeface="+mj-ea"/>
            </a:endParaRPr>
          </a:p>
          <a:p>
            <a:r>
              <a:rPr lang="en-US" sz="2400" b="1">
                <a:latin typeface="+mj-ea"/>
                <a:ea typeface="+mj-ea"/>
                <a:cs typeface="+mj-ea"/>
              </a:rPr>
              <a:t>2     </a:t>
            </a:r>
            <a:r>
              <a:rPr sz="2400" b="1">
                <a:latin typeface="+mj-ea"/>
                <a:ea typeface="+mj-ea"/>
                <a:cs typeface="+mj-ea"/>
              </a:rPr>
              <a:t>public static void main(String[] args) {</a:t>
            </a:r>
            <a:endParaRPr sz="2400" b="1">
              <a:latin typeface="+mj-ea"/>
              <a:ea typeface="+mj-ea"/>
              <a:cs typeface="+mj-ea"/>
            </a:endParaRPr>
          </a:p>
          <a:p>
            <a:r>
              <a:rPr sz="2400" b="1">
                <a:latin typeface="+mj-ea"/>
                <a:ea typeface="+mj-ea"/>
                <a:cs typeface="+mj-ea"/>
              </a:rPr>
              <a:t>3	System.out.println("我是软件2401班学号为001的学生，"</a:t>
            </a:r>
            <a:endParaRPr sz="2400" b="1">
              <a:latin typeface="+mj-ea"/>
              <a:ea typeface="+mj-ea"/>
              <a:cs typeface="+mj-ea"/>
            </a:endParaRPr>
          </a:p>
          <a:p>
            <a:r>
              <a:rPr sz="2400" b="1">
                <a:latin typeface="+mj-ea"/>
                <a:ea typeface="+mj-ea"/>
                <a:cs typeface="+mj-ea"/>
              </a:rPr>
              <a:t>4				+ "我叫笑笑今年19岁。");</a:t>
            </a:r>
            <a:endParaRPr sz="2400" b="1">
              <a:latin typeface="+mj-ea"/>
              <a:ea typeface="+mj-ea"/>
              <a:cs typeface="+mj-ea"/>
            </a:endParaRPr>
          </a:p>
          <a:p>
            <a:r>
              <a:rPr sz="2400" b="1">
                <a:latin typeface="+mj-ea"/>
                <a:ea typeface="+mj-ea"/>
                <a:cs typeface="+mj-ea"/>
              </a:rPr>
              <a:t>5	  }</a:t>
            </a:r>
            <a:endParaRPr sz="2400" b="1">
              <a:latin typeface="+mj-ea"/>
              <a:ea typeface="+mj-ea"/>
              <a:cs typeface="+mj-ea"/>
            </a:endParaRPr>
          </a:p>
          <a:p>
            <a:r>
              <a:rPr sz="2400" b="1">
                <a:latin typeface="+mj-ea"/>
                <a:ea typeface="+mj-ea"/>
                <a:cs typeface="+mj-ea"/>
              </a:rPr>
              <a:t>6  }</a:t>
            </a:r>
            <a:endParaRPr sz="2400" b="1">
              <a:latin typeface="+mj-ea"/>
              <a:ea typeface="+mj-ea"/>
              <a:cs typeface="+mj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15260" y="2348865"/>
            <a:ext cx="609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sz="2000">
                <a:latin typeface="Times New Roman" panose="02020603050405020304"/>
                <a:sym typeface="+mn-ea"/>
              </a:rPr>
              <a:t>文件</a:t>
            </a:r>
            <a:r>
              <a:rPr lang="en-US" altLang="zh-CN" sz="2000">
                <a:latin typeface="Times New Roman" panose="02020603050405020304"/>
                <a:sym typeface="+mn-ea"/>
              </a:rPr>
              <a:t>2-1 </a:t>
            </a:r>
            <a:r>
              <a:rPr sz="2000" b="1">
                <a:latin typeface="+mj-ea"/>
                <a:ea typeface="+mj-ea"/>
                <a:cs typeface="+mj-ea"/>
                <a:sym typeface="+mn-ea"/>
              </a:rPr>
              <a:t>Example01</a:t>
            </a:r>
            <a:r>
              <a:rPr lang="en-US" sz="2000" b="1">
                <a:latin typeface="+mj-ea"/>
                <a:ea typeface="+mj-ea"/>
                <a:cs typeface="+mj-ea"/>
                <a:sym typeface="+mn-ea"/>
              </a:rPr>
              <a:t>.Java</a:t>
            </a:r>
            <a:endParaRPr lang="en-US" sz="2000" b="1">
              <a:latin typeface="+mj-ea"/>
              <a:ea typeface="+mj-ea"/>
              <a:cs typeface="+mj-ea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输出结果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218815" y="4002088"/>
            <a:ext cx="5080000" cy="506730"/>
          </a:xfrm>
          <a:prstGeom prst="rect">
            <a:avLst/>
          </a:prstGeom>
        </p:spPr>
        <p:txBody>
          <a:bodyPr>
            <a:spAutoFit/>
          </a:bodyPr>
          <a:p>
            <a:pPr marL="0" indent="26670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2-1</a:t>
            </a:r>
            <a:r>
              <a:rPr lang="en-US" altLang="zh-CN" sz="1800"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zh-CN" sz="1800">
                <a:latin typeface="Times New Roman" panose="02020603050405020304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Times New Roman" panose="02020603050405020304"/>
                <a:ea typeface="宋体" panose="02010600030101010101" pitchFamily="2" charset="-122"/>
              </a:rPr>
              <a:t>2-1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</a:rPr>
              <a:t>运行结果</a:t>
            </a:r>
            <a:endParaRPr lang="zh-CN" altLang="en-US" sz="1800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21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305" y="2852420"/>
            <a:ext cx="6012815" cy="11614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80.7,&quot;left&quot;:90.05,&quot;top&quot;:87.05,&quot;width&quot;:301.45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80.7,&quot;left&quot;:90.05,&quot;top&quot;:87.05,&quot;width&quot;:301.45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80.7,&quot;left&quot;:90.05,&quot;top&quot;:87.05,&quot;width&quot;:301.45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80.7,&quot;left&quot;:90.05,&quot;top&quot;:87.05,&quot;width&quot;:301.45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TEMPLATE_CATEGORY" val="diagram"/>
  <p:tag name="KSO_WM_TEMPLATE_INDEX" val="160805"/>
  <p:tag name="KSO_WM_TAG_VERSION" val="1.0"/>
  <p:tag name="KSO_WM_BEAUTIFY_FLAG" val="#wm#"/>
  <p:tag name="KSO_WM_UNIT_TYPE" val="r_t"/>
  <p:tag name="KSO_WM_UNIT_INDEX" val="1_4"/>
  <p:tag name="KSO_WM_UNIT_ID" val="diagram160805_1*r_t*1_4"/>
  <p:tag name="KSO_WM_UNIT_CLEAR" val="1"/>
  <p:tag name="KSO_WM_UNIT_LAYERLEVEL" val="1_1"/>
  <p:tag name="KSO_WM_UNIT_DIAGRAM_CONTRAST_TITLE_CNT" val="5"/>
  <p:tag name="KSO_WM_UNIT_DIAGRAM_DIMENSION_TITLE_CNT" val="1"/>
  <p:tag name="KSO_WM_UNIT_VALUE" val="6"/>
  <p:tag name="KSO_WM_UNIT_HIGHLIGHT" val="0"/>
  <p:tag name="KSO_WM_UNIT_COMPATIBLE" val="0"/>
  <p:tag name="KSO_WM_UNIT_PRESET_TEXT_INDEX" val="3"/>
  <p:tag name="KSO_WM_UNIT_PRESET_TEXT_LEN" val="5"/>
  <p:tag name="KSO_WM_DIAGRAM_GROUP_CODE" val="r1-1"/>
  <p:tag name="KSO_WM_UNIT_FILL_FORE_SCHEMECOLOR_INDEX" val="5"/>
  <p:tag name="KSO_WM_UNIT_FILL_TYPE" val="1"/>
</p:tagLst>
</file>

<file path=ppt/tags/tag33.xml><?xml version="1.0" encoding="utf-8"?>
<p:tagLst xmlns:p="http://schemas.openxmlformats.org/presentationml/2006/main">
  <p:tag name="KSO_WM_TEMPLATE_CATEGORY" val="diagram"/>
  <p:tag name="KSO_WM_TEMPLATE_INDEX" val="160805"/>
  <p:tag name="KSO_WM_TAG_VERSION" val="1.0"/>
  <p:tag name="KSO_WM_BEAUTIFY_FLAG" val="#wm#"/>
  <p:tag name="KSO_WM_UNIT_TYPE" val="r_v"/>
  <p:tag name="KSO_WM_UNIT_INDEX" val="1_2"/>
  <p:tag name="KSO_WM_UNIT_ID" val="diagram160805_1*r_v*1_2"/>
  <p:tag name="KSO_WM_UNIT_CLEAR" val="1"/>
  <p:tag name="KSO_WM_UNIT_LAYERLEVEL" val="1_1"/>
  <p:tag name="KSO_WM_UNIT_DIAGRAM_CONTRAST_TITLE_CNT" val="5"/>
  <p:tag name="KSO_WM_UNIT_DIAGRAM_DIMENSION_TITLE_CNT" val="1"/>
  <p:tag name="KSO_WM_UNIT_VALUE" val="12"/>
  <p:tag name="KSO_WM_UNIT_HIGHLIGHT" val="0"/>
  <p:tag name="KSO_WM_UNIT_COMPATIBLE" val="0"/>
  <p:tag name="KSO_WM_UNIT_PRESET_TEXT_INDEX" val="3"/>
  <p:tag name="KSO_WM_UNIT_PRESET_TEXT_LEN" val="12"/>
  <p:tag name="KSO_WM_DIAGRAM_GROUP_CODE" val="r1-1"/>
  <p:tag name="KSO_WM_UNIT_LINE_FORE_SCHEMECOLOR_INDEX" val="5"/>
  <p:tag name="KSO_WM_UNIT_LINE_FILL_TYPE" val="2"/>
  <p:tag name="KSO_WM_UNIT_TEXT_FILL_FORE_SCHEMECOLOR_INDEX" val="5"/>
  <p:tag name="KSO_WM_UNIT_TEXT_FILL_TYPE" val="1"/>
</p:tagLst>
</file>

<file path=ppt/tags/tag34.xml><?xml version="1.0" encoding="utf-8"?>
<p:tagLst xmlns:p="http://schemas.openxmlformats.org/presentationml/2006/main">
  <p:tag name="KSO_WM_TEMPLATE_CATEGORY" val="diagram"/>
  <p:tag name="KSO_WM_TEMPLATE_INDEX" val="160805"/>
  <p:tag name="KSO_WM_TAG_VERSION" val="1.0"/>
  <p:tag name="KSO_WM_BEAUTIFY_FLAG" val="#wm#"/>
  <p:tag name="KSO_WM_UNIT_TYPE" val="r_v"/>
  <p:tag name="KSO_WM_UNIT_INDEX" val="1_4"/>
  <p:tag name="KSO_WM_UNIT_ID" val="diagram160805_1*r_v*1_4"/>
  <p:tag name="KSO_WM_UNIT_CLEAR" val="1"/>
  <p:tag name="KSO_WM_UNIT_LAYERLEVEL" val="1_1"/>
  <p:tag name="KSO_WM_UNIT_DIAGRAM_CONTRAST_TITLE_CNT" val="5"/>
  <p:tag name="KSO_WM_UNIT_DIAGRAM_DIMENSION_TITLE_CNT" val="1"/>
  <p:tag name="KSO_WM_UNIT_VALUE" val="12"/>
  <p:tag name="KSO_WM_UNIT_HIGHLIGHT" val="0"/>
  <p:tag name="KSO_WM_UNIT_COMPATIBLE" val="0"/>
  <p:tag name="KSO_WM_UNIT_PRESET_TEXT_INDEX" val="3"/>
  <p:tag name="KSO_WM_UNIT_PRESET_TEXT_LEN" val="12"/>
  <p:tag name="KSO_WM_DIAGRAM_GROUP_CODE" val="r1-1"/>
  <p:tag name="KSO_WM_UNIT_LINE_FORE_SCHEMECOLOR_INDEX" val="5"/>
  <p:tag name="KSO_WM_UNIT_LINE_FILL_TYPE" val="2"/>
  <p:tag name="KSO_WM_UNIT_TEXT_FILL_FORE_SCHEMECOLOR_INDEX" val="5"/>
  <p:tag name="KSO_WM_UNIT_TEXT_FILL_TYPE" val="1"/>
</p:tagLst>
</file>

<file path=ppt/tags/tag35.xml><?xml version="1.0" encoding="utf-8"?>
<p:tagLst xmlns:p="http://schemas.openxmlformats.org/presentationml/2006/main">
  <p:tag name="KSO_WM_TEMPLATE_CATEGORY" val="diagram"/>
  <p:tag name="KSO_WM_TEMPLATE_INDEX" val="160805"/>
  <p:tag name="KSO_WM_TAG_VERSION" val="1.0"/>
  <p:tag name="KSO_WM_BEAUTIFY_FLAG" val="#wm#"/>
  <p:tag name="KSO_WM_UNIT_TYPE" val="r_t"/>
  <p:tag name="KSO_WM_UNIT_INDEX" val="1_2"/>
  <p:tag name="KSO_WM_UNIT_ID" val="diagram160805_1*r_t*1_2"/>
  <p:tag name="KSO_WM_UNIT_CLEAR" val="1"/>
  <p:tag name="KSO_WM_UNIT_LAYERLEVEL" val="1_1"/>
  <p:tag name="KSO_WM_UNIT_DIAGRAM_CONTRAST_TITLE_CNT" val="5"/>
  <p:tag name="KSO_WM_UNIT_DIAGRAM_DIMENSION_TITLE_CNT" val="1"/>
  <p:tag name="KSO_WM_UNIT_VALUE" val="6"/>
  <p:tag name="KSO_WM_UNIT_HIGHLIGHT" val="0"/>
  <p:tag name="KSO_WM_UNIT_COMPATIBLE" val="0"/>
  <p:tag name="KSO_WM_UNIT_PRESET_TEXT_INDEX" val="3"/>
  <p:tag name="KSO_WM_UNIT_PRESET_TEXT_LEN" val="5"/>
  <p:tag name="KSO_WM_DIAGRAM_GROUP_CODE" val="r1-1"/>
  <p:tag name="KSO_WM_UNIT_FILL_FORE_SCHEMECOLOR_INDEX" val="5"/>
  <p:tag name="KSO_WM_UNIT_FILL_TYPE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75.05,&quot;left&quot;:90.05,&quot;top&quot;:87.05,&quot;width&quot;:197.55}"/>
</p:tagLst>
</file>

<file path=ppt/tags/tag3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80.7,&quot;left&quot;:90.05,&quot;top&quot;:87.05,&quot;width&quot;:197.55}"/>
</p:tagLst>
</file>

<file path=ppt/tags/tag4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2.xml><?xml version="1.0" encoding="utf-8"?>
<p:tagLst xmlns:p="http://schemas.openxmlformats.org/presentationml/2006/main">
  <p:tag name="MH" val="20170719143502"/>
  <p:tag name="MH_LIBRARY" val="GRAPHIC"/>
  <p:tag name="MH_TYPE" val="Text"/>
  <p:tag name="MH_ORDER" val="1"/>
</p:tagLst>
</file>

<file path=ppt/tags/tag43.xml><?xml version="1.0" encoding="utf-8"?>
<p:tagLst xmlns:p="http://schemas.openxmlformats.org/presentationml/2006/main">
  <p:tag name="KSO_WM_UNIT_TABLE_BEAUTIFY" val="smartTable{dc0e49d2-ae5c-4383-ad35-cb72b9fe4160}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69.4,&quot;left&quot;:90.05,&quot;top&quot;:115.3,&quot;width&quot;:141.2}"/>
</p:tagLst>
</file>

<file path=ppt/tags/tag4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52.45,&quot;left&quot;:90.05,&quot;top&quot;:92.7,&quot;width&quot;:267.3}"/>
</p:tagLst>
</file>

<file path=ppt/tags/tag4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2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2560</Words>
  <Application>WPS 演示</Application>
  <PresentationFormat>自定义</PresentationFormat>
  <Paragraphs>335</Paragraphs>
  <Slides>18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505</cp:revision>
  <dcterms:created xsi:type="dcterms:W3CDTF">2015-03-26T06:11:00Z</dcterms:created>
  <dcterms:modified xsi:type="dcterms:W3CDTF">2024-10-12T01:22:04Z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7DC74C7E919446C29900AD4D147C7ACF_13</vt:lpwstr>
  </property>
</Properties>
</file>