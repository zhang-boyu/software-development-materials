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89" r:id="rId9"/>
    <p:sldId id="490" r:id="rId10"/>
    <p:sldId id="491" r:id="rId11"/>
    <p:sldId id="492" r:id="rId12"/>
    <p:sldId id="493" r:id="rId13"/>
    <p:sldId id="494" r:id="rId14"/>
    <p:sldId id="495" r:id="rId15"/>
    <p:sldId id="407" r:id="rId16"/>
    <p:sldId id="456" r:id="rId17"/>
    <p:sldId id="496" r:id="rId18"/>
    <p:sldId id="458" r:id="rId19"/>
    <p:sldId id="497" r:id="rId20"/>
    <p:sldId id="498" r:id="rId21"/>
    <p:sldId id="499" r:id="rId22"/>
    <p:sldId id="500" r:id="rId23"/>
    <p:sldId id="347" r:id="rId24"/>
  </p:sldIdLst>
  <p:sldSz cx="12198350" cy="6858000"/>
  <p:notesSz cx="6858000" cy="9144000"/>
  <p:custDataLst>
    <p:tags r:id="rId2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45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TreeSet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集合，向该集合添加元素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99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；获取首尾元素；比较并获取集合中小于或等于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的最大的一个元素和集合中大于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的最小的一个元素；删除第一个元素。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类并实现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Comparable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接口，声明属性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以及构造方法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 name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int age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），重写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方法，重写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Comparable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compareTo( 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方法。创建一个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TreeSet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集合，向该集合添加元素并输出。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588" y="422116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类存储方式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6605588" y="479710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类的特有方法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6605588" y="543337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TreeSet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集合添加元素机制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  <p:bldP spid="7" grpId="0" bldLvl="0" autoUpdateAnimBg="0"/>
      <p:bldP spid="7" grpId="1"/>
      <p:bldP spid="8" grpId="0" bldLvl="0" autoUpdateAnimBg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8446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接口的另一个实现类，它内部采用平衡二叉树来存储元素，这样的结构可以保证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集合中没有重复的元素，并且可以对元素进行排序。所谓二叉树就是说每个节点最多有两个子节点的有序树，每个节点及其子节点组成的树称为子树，通常左侧的子节点称为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左子树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，右侧的节点称为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右子树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，其中左子树上的元素小于它的根结点，而右子树上的元素大于它的根结点。二叉树中元素的存储结构如图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9-17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8446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-2147482616" name="对象 -2147482617"/>
          <p:cNvGraphicFramePr>
            <a:graphicFrameLocks noChangeAspect="1"/>
          </p:cNvGraphicFramePr>
          <p:nvPr/>
        </p:nvGraphicFramePr>
        <p:xfrm>
          <a:off x="311150" y="2277110"/>
          <a:ext cx="4789805" cy="2493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3933190" imgH="1851025" progId="Visio.Drawing.11">
                  <p:embed/>
                </p:oleObj>
              </mc:Choice>
              <mc:Fallback>
                <p:oleObj name="" r:id="rId3" imgW="3933190" imgH="185102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150" y="2277110"/>
                        <a:ext cx="4789805" cy="2493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019040" y="2060575"/>
            <a:ext cx="6462395" cy="3553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9-1</a:t>
            </a:r>
            <a:r>
              <a:rPr lang="en-US" altLang="zh-CN" sz="1800">
                <a:latin typeface="Times New Roman" panose="02020603050405020304"/>
                <a:ea typeface="Times New Roman" panose="02020603050405020304"/>
              </a:rPr>
              <a:t>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所示是一个二叉树模型。在二叉树中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对于同一层的元素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左边的元素总是小于右边的元素。为了更好地理解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TreeSet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中二叉树存放元素的原理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接下来分析二叉树中元素的存储过程。当二叉树中存入新元素时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新元素首先会与第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个元素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最顶层元素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进行比较。如果小于第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个元素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就执行左边的分支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继续和该分支的元素进行比较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；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如果大于第</a:t>
            </a:r>
            <a:r>
              <a:rPr lang="en-US" altLang="zh-CN" sz="18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个元素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就执行右边的分支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继续和该分支的元素进行比较。如此进行下去，直到与最后一个元素进行比较。如果新元素小于最后一个元素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就将其放在最后一个元素的左子树上</a:t>
            </a:r>
            <a:r>
              <a:rPr lang="zh-CN" altLang="en-US" sz="18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如果大于最后一个元素就将其放在最后一个元素的右子树上。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5229225"/>
            <a:ext cx="42164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1800">
                <a:latin typeface="宋体" panose="02010600030101010101" pitchFamily="2" charset="-122"/>
                <a:sym typeface="+mn-ea"/>
              </a:rPr>
              <a:t>9-17 </a:t>
            </a:r>
            <a:r>
              <a:rPr lang="zh-CN" altLang="en-US" sz="1800">
                <a:latin typeface="宋体" panose="02010600030101010101" pitchFamily="2" charset="-122"/>
                <a:sym typeface="+mn-ea"/>
              </a:rPr>
              <a:t>二叉树中元素的存储结构</a:t>
            </a:r>
            <a:endParaRPr lang="zh-CN" altLang="en-US" sz="180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3550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类存储方式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047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上面通过文字描述的方式对二叉树的存储原理进行了讲解，接下来通过一个具体的例子演示二叉树的存储方式。假设向集合中存入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个元素，依次为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13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17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17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如果以二叉树的方式存储，在集合中会形成树状结构，如图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9-18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8446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9040" y="2171700"/>
            <a:ext cx="6462395" cy="31692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defTabSz="266700">
              <a:lnSpc>
                <a:spcPct val="125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从图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可以看出，在向集合中依次存入元素时，首先将第一个元素放在二叉树的最顶端。随后存入的元素与第一个元素比较。如果小于第一个元素，就将该元素放左子树上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如果大于第一个元素，就将该元素放在右子树上。以此类推，按照左子树元素小于右子树元素的顺序进行排序。当二叉树中已经存入一个为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的元素，再向集合中存入一个为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的元素时，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会将重复的元素去掉。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0845" y="5229225"/>
            <a:ext cx="42164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>
              <a:lnSpc>
                <a:spcPct val="125000"/>
              </a:lnSpc>
            </a:pPr>
            <a:r>
              <a:rPr lang="zh-CN" altLang="en-US" sz="1800"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1800">
                <a:latin typeface="宋体" panose="02010600030101010101" pitchFamily="2" charset="-122"/>
                <a:sym typeface="+mn-ea"/>
              </a:rPr>
              <a:t>9-18 </a:t>
            </a:r>
            <a:r>
              <a:rPr lang="zh-CN" altLang="en-US" sz="1800">
                <a:latin typeface="宋体" panose="02010600030101010101" pitchFamily="2" charset="-122"/>
                <a:sym typeface="+mn-ea"/>
              </a:rPr>
              <a:t>二叉树中元素的存储方式</a:t>
            </a:r>
            <a:endParaRPr lang="zh-CN" altLang="en-US" sz="1800"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-2147482615" name="对象 -2147482616"/>
          <p:cNvGraphicFramePr>
            <a:graphicFrameLocks noChangeAspect="1"/>
          </p:cNvGraphicFramePr>
          <p:nvPr/>
        </p:nvGraphicFramePr>
        <p:xfrm>
          <a:off x="626745" y="2420620"/>
          <a:ext cx="4153535" cy="215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3107055" imgH="1575435" progId="Visio.Drawing.11">
                  <p:embed/>
                </p:oleObj>
              </mc:Choice>
              <mc:Fallback>
                <p:oleObj name="" r:id="rId3" imgW="3107055" imgH="157543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745" y="2420620"/>
                        <a:ext cx="4153535" cy="2151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3550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类的特有方法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988820"/>
            <a:ext cx="9742805" cy="11010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针对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集合存储元素的特殊性，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在继承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接口的基础上实现了一些特有的方法。具体如表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9-5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7060" y="292449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9-5 TreeSet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类的特有方法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2680970" y="3317240"/>
          <a:ext cx="6833870" cy="3135630"/>
        </p:xfrm>
        <a:graphic>
          <a:graphicData uri="http://schemas.openxmlformats.org/drawingml/2006/table">
            <a:tbl>
              <a:tblPr/>
              <a:tblGrid>
                <a:gridCol w="1950085"/>
                <a:gridCol w="4883785"/>
              </a:tblGrid>
              <a:tr h="318770">
                <a:tc>
                  <a:txBody>
                    <a:bodyPr/>
                    <a:p>
                      <a:pPr marL="0" indent="2667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12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12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first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TreeSet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集合的首个元素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last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TreeSet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集合的最后一个元素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lower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o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TreeSet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集合中小于给定元素的最大元素，如果没有返回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null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710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floor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o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TreeSet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集合中小于或等于给定元素的最大元素，如果没有返回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null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higher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o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TreeSet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集合中大于给定元素的最小元素，如果没有返回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null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075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ceiling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o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TreeSet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集合中大于或等于给定元素的最小元素，如果没有返回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null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pollFirst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移除并返回集合的第一个元素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 marL="0" indent="11430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pollLast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移除并返回集合的最后一个元素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3550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集合添加元素机制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988820"/>
            <a:ext cx="9742805" cy="11010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集合添加元素时，不论元素的添加顺序如何，这些元素都能够按照一定的顺序进行排列，比如子任务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。其原因是每次向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集合中存入一个元素时，就会将该元素与其他元素进行比较，最后将它插入到有序的对象序列中。集合中的元素在进行比较时。都会调用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compareTo( )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方法，该方法是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接口中定义的，因此要想对集合中的元素进行排序，就必须实现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中大部分的类都实现了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接口，并默认实现了接口中的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CompareTo( )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方法，如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Integer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Double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String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3550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集合添加元素机制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988820"/>
            <a:ext cx="9742805" cy="11010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在实际开发中，除了会向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集合中存储一些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中默认的类型数据外，还会存储一些用户自定义的类型数据，如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Student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类型数据、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Teacher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类型数据等。由于这些自定义类型的数据没有实现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接口，因此也就无法直接在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集合中进行排序操作。为了解决这个问题，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提供了两种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的排序规则，分别为：自然排序和自定义排序。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在默认情况下，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集合都是采用自然排序，接下来将对这两种排序规则进行详细讲解。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3550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TreeSet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集合添加元素机制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988820"/>
            <a:ext cx="9742805" cy="11010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自然排序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自然排序要求向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TreeSet.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集合中存储的元素所在类必须实现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接口，并重写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compareTo( )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方法，然后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集合就会对该类型元素使用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compareTo( )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方法进行比较，并默认进行升序排序。具体应用见子任务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自定义排序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有时候，用户自定义的类型数据所在的类没有实现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接口或者对于实现了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Comparable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接口的类而不想按照定义的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compareTo( )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方法进行排序。例如，希望存储在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集合中的字符串可以按照长度而不是英文字母的顺序来进行排序，这时，可以通过在创建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TreeSet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集合时就自定义一个比较器来对元素进行定制排序。具体应用见子任务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TreeSet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集合，向该集合添加元素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99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；获取首尾元素；比较并获取集合中小于或等于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的最大的一个元素和集合中大于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的最小的一个元素；删除第一个元素。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Student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类并实现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Comparable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接口，声明属性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以及构造方法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Student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String name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 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），重写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toString( 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方法，重写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Comparable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compareTo( 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方法。创建一个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TreeSet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集合，向该集合添加元素并输出。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TreeSet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类的特有方法知识点可以得到文件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9-11 Example10.java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java.util.TreeSet;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Example10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   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      TreeSet ts = new TreeSet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创建</a:t>
            </a:r>
            <a:r>
              <a:rPr lang="en-US" altLang="zh-CN" sz="2000">
                <a:latin typeface="Times New Roman" panose="02020603050405020304"/>
              </a:rPr>
              <a:t>TreeSet</a:t>
            </a:r>
            <a:r>
              <a:rPr lang="zh-CN" altLang="en-US" sz="2000">
                <a:latin typeface="Times New Roman" panose="02020603050405020304"/>
              </a:rPr>
              <a:t>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// 1</a:t>
            </a:r>
            <a:r>
              <a:rPr lang="zh-CN" altLang="en-US" sz="2000">
                <a:latin typeface="Times New Roman" panose="02020603050405020304"/>
              </a:rPr>
              <a:t>、向</a:t>
            </a:r>
            <a:r>
              <a:rPr lang="en-US" altLang="zh-CN" sz="2000">
                <a:latin typeface="Times New Roman" panose="02020603050405020304"/>
              </a:rPr>
              <a:t>TreeSet</a:t>
            </a:r>
            <a:r>
              <a:rPr lang="zh-CN" altLang="en-US" sz="2000">
                <a:latin typeface="Times New Roman" panose="02020603050405020304"/>
              </a:rPr>
              <a:t>集合中添加元素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55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81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99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80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创建的</a:t>
            </a:r>
            <a:r>
              <a:rPr lang="en-US" altLang="zh-CN" sz="2000">
                <a:latin typeface="Times New Roman" panose="02020603050405020304"/>
              </a:rPr>
              <a:t>TreeSet</a:t>
            </a:r>
            <a:r>
              <a:rPr lang="zh-CN" altLang="en-US" sz="2000">
                <a:latin typeface="Times New Roman" panose="02020603050405020304"/>
              </a:rPr>
              <a:t>集合为：</a:t>
            </a:r>
            <a:r>
              <a:rPr lang="en-US" altLang="zh-CN" sz="2000">
                <a:latin typeface="Times New Roman" panose="02020603050405020304"/>
              </a:rPr>
              <a:t>"+ts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TreeSet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类的特有方法知识点可以得到文件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9-11 Example10.java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78066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/</a:t>
            </a:r>
            <a:r>
              <a:rPr lang="en-US" altLang="zh-CN" sz="2000">
                <a:latin typeface="Times New Roman" panose="02020603050405020304"/>
                <a:sym typeface="+mn-ea"/>
              </a:rPr>
              <a:t>/ 2</a:t>
            </a:r>
            <a:r>
              <a:rPr lang="zh-CN" altLang="en-US" sz="2000">
                <a:latin typeface="Times New Roman" panose="02020603050405020304"/>
                <a:sym typeface="+mn-ea"/>
              </a:rPr>
              <a:t>、获取首尾元素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10 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"TreeSet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集合首元素为：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"+ts.first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"TreeSet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集合尾部元素为：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"+ts.last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// 3</a:t>
            </a:r>
            <a:r>
              <a:rPr lang="zh-CN" altLang="en-US" sz="2000">
                <a:latin typeface="Times New Roman" panose="02020603050405020304"/>
                <a:sym typeface="+mn-ea"/>
              </a:rPr>
              <a:t>、比较并获取元素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集合中小于或等于</a:t>
            </a:r>
            <a:r>
              <a:rPr lang="en-US" altLang="zh-CN" sz="2000">
                <a:latin typeface="Times New Roman" panose="02020603050405020304"/>
                <a:sym typeface="+mn-ea"/>
              </a:rPr>
              <a:t>80</a:t>
            </a:r>
            <a:r>
              <a:rPr lang="zh-CN" altLang="en-US" sz="2000">
                <a:latin typeface="Times New Roman" panose="02020603050405020304"/>
                <a:sym typeface="+mn-ea"/>
              </a:rPr>
              <a:t>的最大的一个元素为：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"+ts.floor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80</a:t>
            </a:r>
            <a:r>
              <a:rPr lang="zh-CN" altLang="en-US" sz="2000">
                <a:latin typeface="Times New Roman" panose="02020603050405020304"/>
                <a:sym typeface="+mn-ea"/>
              </a:rPr>
              <a:t>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;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集合中大于</a:t>
            </a:r>
            <a:r>
              <a:rPr lang="en-US" altLang="zh-CN" sz="2000">
                <a:latin typeface="Times New Roman" panose="02020603050405020304"/>
                <a:sym typeface="+mn-ea"/>
              </a:rPr>
              <a:t>80</a:t>
            </a:r>
            <a:r>
              <a:rPr lang="zh-CN" altLang="en-US" sz="2000">
                <a:latin typeface="Times New Roman" panose="02020603050405020304"/>
                <a:sym typeface="+mn-ea"/>
              </a:rPr>
              <a:t>的最小的一个元素为：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"+ts.higher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80</a:t>
            </a:r>
            <a:r>
              <a:rPr lang="zh-CN" altLang="en-US" sz="2000">
                <a:latin typeface="Times New Roman" panose="02020603050405020304"/>
                <a:sym typeface="+mn-ea"/>
              </a:rPr>
              <a:t>））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// 4</a:t>
            </a:r>
            <a:r>
              <a:rPr lang="zh-CN" altLang="en-US" sz="2000">
                <a:latin typeface="Times New Roman" panose="02020603050405020304"/>
                <a:sym typeface="+mn-ea"/>
              </a:rPr>
              <a:t>、删除元素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 Object first = ts.pollFirst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删除的第一个元素是：</a:t>
            </a:r>
            <a:r>
              <a:rPr lang="en-US" altLang="zh-CN" sz="2000">
                <a:latin typeface="Times New Roman" panose="02020603050405020304"/>
                <a:sym typeface="+mn-ea"/>
              </a:rPr>
              <a:t>"+first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删除第一个元素后</a:t>
            </a:r>
            <a:r>
              <a:rPr lang="en-US" altLang="zh-CN" sz="2000">
                <a:latin typeface="Times New Roman" panose="02020603050405020304"/>
                <a:sym typeface="+mn-ea"/>
              </a:rPr>
              <a:t>TreeSet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集合变为：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"+ts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17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18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9-19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37790" y="4869180"/>
            <a:ext cx="5080000" cy="68389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9-19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8" name="图片 1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435" y="2790190"/>
            <a:ext cx="5258435" cy="2113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：结合任务描述和知识链接中自然排序知识点可以得到文件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9-12 Example11.java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1public class Student implements Comparable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	private String name;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	private int age;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	publicStudent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 name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int age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	  this.name=name;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	  this.age=age;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// </a:t>
            </a:r>
            <a:r>
              <a:rPr lang="zh-CN" altLang="en-US" sz="2000">
                <a:latin typeface="Times New Roman" panose="02020603050405020304"/>
              </a:rPr>
              <a:t>重写</a:t>
            </a:r>
            <a:r>
              <a:rPr lang="en-US" altLang="zh-CN" sz="2000">
                <a:latin typeface="Times New Roman" panose="02020603050405020304"/>
              </a:rPr>
              <a:t>toString( )</a:t>
            </a:r>
            <a:r>
              <a:rPr lang="zh-CN" altLang="en-US" sz="2000">
                <a:latin typeface="Times New Roman" panose="02020603050405020304"/>
              </a:rPr>
              <a:t>方法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public String toString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   return name+":"+age;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：结合任务描述和知识链接中自然排序知识点可以得到文件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9-12 Example11.java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  //</a:t>
            </a:r>
            <a:r>
              <a:rPr lang="zh-CN" altLang="en-US" sz="2000">
                <a:latin typeface="Times New Roman" panose="02020603050405020304"/>
              </a:rPr>
              <a:t>重写</a:t>
            </a:r>
            <a:r>
              <a:rPr lang="en-US" altLang="zh-CN" sz="2000">
                <a:latin typeface="Times New Roman" panose="02020603050405020304"/>
              </a:rPr>
              <a:t>Comparable</a:t>
            </a:r>
            <a:r>
              <a:rPr lang="zh-CN" altLang="en-US" sz="2000">
                <a:latin typeface="Times New Roman" panose="02020603050405020304"/>
              </a:rPr>
              <a:t>接口的</a:t>
            </a:r>
            <a:r>
              <a:rPr lang="en-US" altLang="zh-CN" sz="2000">
                <a:latin typeface="Times New Roman" panose="02020603050405020304"/>
              </a:rPr>
              <a:t>compareTo( )</a:t>
            </a:r>
            <a:r>
              <a:rPr lang="zh-CN" altLang="en-US" sz="2000">
                <a:latin typeface="Times New Roman" panose="02020603050405020304"/>
              </a:rPr>
              <a:t>方法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11  public int compareTo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Object obj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12      Student stu = 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Student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obj;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   //</a:t>
            </a:r>
            <a:r>
              <a:rPr lang="zh-CN" altLang="en-US" sz="2000">
                <a:latin typeface="Times New Roman" panose="02020603050405020304"/>
              </a:rPr>
              <a:t>定义比较方式，先比较</a:t>
            </a:r>
            <a:r>
              <a:rPr lang="en-US" altLang="zh-CN" sz="2000">
                <a:latin typeface="Times New Roman" panose="02020603050405020304"/>
              </a:rPr>
              <a:t>age</a:t>
            </a:r>
            <a:r>
              <a:rPr lang="zh-CN" altLang="en-US" sz="2000">
                <a:latin typeface="Times New Roman" panose="02020603050405020304"/>
              </a:rPr>
              <a:t>，再比较</a:t>
            </a:r>
            <a:r>
              <a:rPr lang="en-US" altLang="zh-CN" sz="2000">
                <a:latin typeface="Times New Roman" panose="02020603050405020304"/>
              </a:rPr>
              <a:t>name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13      if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this.age-stu.age&gt;0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14          return 1;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15  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16      if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this.age-stu.age==0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17          return this.name.compareTo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stu.name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18   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19      return -1;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20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：结合任务描述和知识链接中自然排序知识点可以得到文件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9-12 Example11.java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 21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22import java.util.TreeSet;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23public class Example11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24	public staticvoidmain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25	TreeSet ts = new TreeSet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26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new Student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"Tom"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18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27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new Student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"Mike"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20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28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new Student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"Rose"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20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29    ts.add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new Student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"Mike"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20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30  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ts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31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32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9-12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9-20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38680" y="400494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9-20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9-12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9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535" y="2924810"/>
            <a:ext cx="5880100" cy="6750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TABLE_ENDDRAG_ORIGIN_RECT" val="538*246"/>
  <p:tag name="TABLE_ENDDRAG_RECT" val="211*273*538*246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4964</Words>
  <Application>WPS 演示</Application>
  <PresentationFormat>自定义</PresentationFormat>
  <Paragraphs>331</Paragraphs>
  <Slides>21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550</cp:revision>
  <dcterms:created xsi:type="dcterms:W3CDTF">2015-03-26T06:11:00Z</dcterms:created>
  <dcterms:modified xsi:type="dcterms:W3CDTF">2025-07-12T01:55:09Z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BF87D70BBEFF482EB4E38FF5F6F4AB6F_13</vt:lpwstr>
  </property>
</Properties>
</file>