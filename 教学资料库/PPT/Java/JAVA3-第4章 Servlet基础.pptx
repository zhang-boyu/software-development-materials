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1" r:id="rId3"/>
    <p:sldMasterId id="2147483663" r:id="rId4"/>
    <p:sldMasterId id="2147483676" r:id="rId5"/>
  </p:sldMasterIdLst>
  <p:notesMasterIdLst>
    <p:notesMasterId r:id="rId7"/>
  </p:notesMasterIdLst>
  <p:sldIdLst>
    <p:sldId id="2807" r:id="rId6"/>
    <p:sldId id="2862" r:id="rId8"/>
    <p:sldId id="2863" r:id="rId9"/>
    <p:sldId id="2818" r:id="rId10"/>
    <p:sldId id="2784" r:id="rId11"/>
    <p:sldId id="2797" r:id="rId12"/>
    <p:sldId id="2798" r:id="rId13"/>
    <p:sldId id="2819" r:id="rId14"/>
    <p:sldId id="2809" r:id="rId15"/>
    <p:sldId id="2810" r:id="rId16"/>
    <p:sldId id="2811" r:id="rId17"/>
    <p:sldId id="2859" r:id="rId18"/>
    <p:sldId id="2821" r:id="rId19"/>
    <p:sldId id="2813" r:id="rId20"/>
    <p:sldId id="2814" r:id="rId21"/>
    <p:sldId id="2822" r:id="rId22"/>
    <p:sldId id="2823" r:id="rId23"/>
    <p:sldId id="2827" r:id="rId24"/>
    <p:sldId id="2824" r:id="rId25"/>
    <p:sldId id="2825" r:id="rId26"/>
    <p:sldId id="2832" r:id="rId27"/>
    <p:sldId id="2833" r:id="rId28"/>
    <p:sldId id="2831" r:id="rId29"/>
    <p:sldId id="2834" r:id="rId30"/>
    <p:sldId id="2835" r:id="rId31"/>
    <p:sldId id="2837" r:id="rId32"/>
    <p:sldId id="2838" r:id="rId33"/>
    <p:sldId id="2839" r:id="rId34"/>
    <p:sldId id="2858" r:id="rId35"/>
    <p:sldId id="2840" r:id="rId36"/>
    <p:sldId id="2841" r:id="rId37"/>
    <p:sldId id="2842" r:id="rId38"/>
    <p:sldId id="2847" r:id="rId39"/>
    <p:sldId id="2849" r:id="rId40"/>
    <p:sldId id="2851" r:id="rId41"/>
    <p:sldId id="2850" r:id="rId42"/>
    <p:sldId id="2853" r:id="rId43"/>
    <p:sldId id="2854" r:id="rId44"/>
    <p:sldId id="2855" r:id="rId45"/>
    <p:sldId id="2857" r:id="rId46"/>
    <p:sldId id="2864" r:id="rId47"/>
    <p:sldId id="2860" r:id="rId48"/>
    <p:sldId id="2861" r:id="rId49"/>
    <p:sldId id="2865" r:id="rId50"/>
    <p:sldId id="2817" r:id="rId51"/>
  </p:sldIdLst>
  <p:sldSz cx="12858750" cy="7232650"/>
  <p:notesSz cx="6858000" cy="9144000"/>
  <p:custDataLst>
    <p:tags r:id="rId5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445" indent="-1822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065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4685" indent="-55372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7305" indent="-73914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4730" algn="l" defTabSz="9137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1930" algn="l" defTabSz="9137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199130" algn="l" defTabSz="9137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5695" algn="l" defTabSz="9137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3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pos="512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5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212E3C"/>
    <a:srgbClr val="FBBF09"/>
    <a:srgbClr val="EF4232"/>
    <a:srgbClr val="03A9F0"/>
    <a:srgbClr val="FFFFFF"/>
    <a:srgbClr val="FABCA8"/>
    <a:srgbClr val="57562F"/>
    <a:srgbClr val="FBCDBE"/>
    <a:srgbClr val="6B6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89" autoAdjust="0"/>
    <p:restoredTop sz="92986" autoAdjust="0"/>
  </p:normalViewPr>
  <p:slideViewPr>
    <p:cSldViewPr showGuides="1">
      <p:cViewPr varScale="1">
        <p:scale>
          <a:sx n="71" d="100"/>
          <a:sy n="71" d="100"/>
        </p:scale>
        <p:origin x="-474" y="-96"/>
      </p:cViewPr>
      <p:guideLst>
        <p:guide orient="horz" pos="373"/>
        <p:guide pos="4050"/>
        <p:guide pos="512"/>
        <p:guide orient="horz" pos="4183"/>
        <p:guide pos="7588"/>
      </p:guideLst>
    </p:cSldViewPr>
  </p:slideViewPr>
  <p:outlineViewPr>
    <p:cViewPr>
      <p:scale>
        <a:sx n="100" d="100"/>
        <a:sy n="100" d="100"/>
      </p:scale>
      <p:origin x="0" y="-144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5" Type="http://schemas.openxmlformats.org/officeDocument/2006/relationships/tags" Target="tags/tag1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29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49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6906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626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409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129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7860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5060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2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oleObject" Target="../embeddings/oleObject6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5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oleObject" Target="../embeddings/oleObject9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8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84039" y="6703600"/>
            <a:ext cx="2893219" cy="386187"/>
          </a:xfrm>
          <a:prstGeom prst="rect">
            <a:avLst/>
          </a:prstGeom>
        </p:spPr>
        <p:txBody>
          <a:bodyPr lIns="91397" tIns="45699" rIns="91397" bIns="45699"/>
          <a:lstStyle/>
          <a:p>
            <a:fld id="{E3AD87B8-9A4B-45E2-BBE5-FB86ADE2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259461" y="6703600"/>
            <a:ext cx="4339828" cy="386187"/>
          </a:xfrm>
          <a:prstGeom prst="rect">
            <a:avLst/>
          </a:prstGeom>
        </p:spPr>
        <p:txBody>
          <a:bodyPr lIns="91397" tIns="45699" rIns="91397" bIns="45699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081492" y="6703600"/>
            <a:ext cx="2893219" cy="386187"/>
          </a:xfrm>
          <a:prstGeom prst="rect">
            <a:avLst/>
          </a:prstGeom>
        </p:spPr>
        <p:txBody>
          <a:bodyPr lIns="91397" tIns="45699" rIns="91397" bIns="45699"/>
          <a:lstStyle/>
          <a:p>
            <a:fld id="{37AAA611-6692-4583-86AB-5AB9B972BD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039" y="385072"/>
            <a:ext cx="11090672" cy="1397978"/>
          </a:xfrm>
          <a:prstGeom prst="rect">
            <a:avLst/>
          </a:prstGeom>
        </p:spPr>
        <p:txBody>
          <a:bodyPr lIns="128583" tIns="64291" rIns="128583" bIns="64291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84039" y="1925358"/>
            <a:ext cx="11090672" cy="4589051"/>
          </a:xfrm>
          <a:prstGeom prst="rect">
            <a:avLst/>
          </a:prstGeom>
        </p:spPr>
        <p:txBody>
          <a:bodyPr lIns="128583" tIns="64291" rIns="128583" bIns="64291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4039" y="6703596"/>
            <a:ext cx="2893219" cy="385072"/>
          </a:xfrm>
          <a:prstGeom prst="rect">
            <a:avLst/>
          </a:prstGeom>
        </p:spPr>
        <p:txBody>
          <a:bodyPr lIns="128583" tIns="64291" rIns="128583" bIns="64291"/>
          <a:lstStyle/>
          <a:p>
            <a:fld id="{ACA37975-6AF7-4301-9DC5-87C074AA59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59461" y="6703596"/>
            <a:ext cx="4339828" cy="385072"/>
          </a:xfrm>
          <a:prstGeom prst="rect">
            <a:avLst/>
          </a:prstGeom>
        </p:spPr>
        <p:txBody>
          <a:bodyPr lIns="128583" tIns="64291" rIns="128583" bIns="64291"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492" y="6703596"/>
            <a:ext cx="2893219" cy="385072"/>
          </a:xfrm>
          <a:prstGeom prst="rect">
            <a:avLst/>
          </a:prstGeom>
        </p:spPr>
        <p:txBody>
          <a:bodyPr lIns="128583" tIns="64291" rIns="128583" bIns="64291"/>
          <a:lstStyle/>
          <a:p>
            <a:fld id="{D27987A4-0198-42B4-AAAE-EDBADA4485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 advClick="0" advTm="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3134148"/>
            <a:ext cx="9965531" cy="4821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965531" y="3134148"/>
            <a:ext cx="2893219" cy="4821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 rot="5400000">
            <a:off x="29692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 rot="5400000">
            <a:off x="72554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 rot="5400000">
            <a:off x="115417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 rot="5400000">
            <a:off x="158279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0" y="3616328"/>
          <a:ext cx="5956102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" r:id="rId2" imgW="6007100" imgH="2743200" progId="">
                  <p:embed/>
                </p:oleObj>
              </mc:Choice>
              <mc:Fallback>
                <p:oleObj name="" r:id="rId2" imgW="6007100" imgH="274320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16328"/>
                        <a:ext cx="5956102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9965531" y="3616328"/>
          <a:ext cx="2893219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" r:id="rId4" imgW="5753100" imgH="4356100" progId="">
                  <p:embed/>
                </p:oleObj>
              </mc:Choice>
              <mc:Fallback>
                <p:oleObj name="" r:id="rId4" imgW="5753100" imgH="435610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1930"/>
                      <a:stretch>
                        <a:fillRect/>
                      </a:stretch>
                    </p:blipFill>
                    <p:spPr bwMode="auto">
                      <a:xfrm>
                        <a:off x="9965531" y="3616328"/>
                        <a:ext cx="2893219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5985125" y="3616325"/>
          <a:ext cx="3944689" cy="193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" r:id="rId6" imgW="3556000" imgH="2540000" progId="">
                  <p:embed/>
                </p:oleObj>
              </mc:Choice>
              <mc:Fallback>
                <p:oleObj name="" r:id="rId6" imgW="3556000" imgH="254000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125" y="3616325"/>
                        <a:ext cx="3944689" cy="19303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3616328"/>
            <a:ext cx="12858750" cy="1928707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pic>
        <p:nvPicPr>
          <p:cNvPr id="2060" name="Picture 12" descr="glaba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156" y="2009075"/>
            <a:ext cx="1850678" cy="142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642939" y="6830842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4393406" y="6830842"/>
            <a:ext cx="4071938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215439" y="6830842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fld id="{A06949FC-71C0-4A9C-8FC5-2FA6268B5FA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911328" y="6122640"/>
            <a:ext cx="3545086" cy="39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34" tIns="57368" rIns="114734" bIns="57368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b="1" smtClean="0">
                <a:solidFill>
                  <a:srgbClr val="000000"/>
                </a:solidFill>
                <a:latin typeface="Arial" panose="020B0604020202020204" pitchFamily="34" charset="0"/>
              </a:rPr>
              <a:t>大连理工大学出版社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 rot="5400000">
            <a:off x="6404827" y="5390974"/>
            <a:ext cx="287967" cy="1238995"/>
          </a:xfrm>
          <a:prstGeom prst="moon">
            <a:avLst>
              <a:gd name="adj" fmla="val 21208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ctrTitle"/>
          </p:nvPr>
        </p:nvSpPr>
        <p:spPr>
          <a:xfrm>
            <a:off x="1607344" y="1767981"/>
            <a:ext cx="8679656" cy="1309244"/>
          </a:xfrm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5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2143125" y="3134148"/>
            <a:ext cx="7608094" cy="401814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663F6-5E52-463E-9D66-231098FB4AD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5752" y="4647653"/>
            <a:ext cx="10929938" cy="143648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5752" y="3065506"/>
            <a:ext cx="10929938" cy="1582142"/>
          </a:xfrm>
        </p:spPr>
        <p:txBody>
          <a:bodyPr anchor="b"/>
          <a:lstStyle>
            <a:lvl1pPr marL="0" indent="0">
              <a:buNone/>
              <a:defRPr sz="2500"/>
            </a:lvl1pPr>
            <a:lvl2pPr marL="573405" indent="0">
              <a:buNone/>
              <a:defRPr sz="2300"/>
            </a:lvl2pPr>
            <a:lvl3pPr marL="1147445" indent="0">
              <a:buNone/>
              <a:defRPr sz="2000"/>
            </a:lvl3pPr>
            <a:lvl4pPr marL="1720850" indent="0">
              <a:buNone/>
              <a:defRPr sz="1800"/>
            </a:lvl4pPr>
            <a:lvl5pPr marL="2294890" indent="0">
              <a:buNone/>
              <a:defRPr sz="1800"/>
            </a:lvl5pPr>
            <a:lvl6pPr marL="2868295" indent="0">
              <a:buNone/>
              <a:defRPr sz="1800"/>
            </a:lvl6pPr>
            <a:lvl7pPr marL="3442335" indent="0">
              <a:buNone/>
              <a:defRPr sz="1800"/>
            </a:lvl7pPr>
            <a:lvl8pPr marL="4015740" indent="0">
              <a:buNone/>
              <a:defRPr sz="1800"/>
            </a:lvl8pPr>
            <a:lvl9pPr marL="4589145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C1D46F-9ACD-4C4C-BAAB-C2CC66BCC77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2939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5615A0-2C08-4381-A3BC-51F88417D0E0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9" y="289641"/>
            <a:ext cx="11572875" cy="120544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2938" y="1618976"/>
            <a:ext cx="5681514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3405" indent="0">
              <a:buNone/>
              <a:defRPr sz="2500" b="1"/>
            </a:lvl2pPr>
            <a:lvl3pPr marL="1147445" indent="0">
              <a:buNone/>
              <a:defRPr sz="2300" b="1"/>
            </a:lvl3pPr>
            <a:lvl4pPr marL="1720850" indent="0">
              <a:buNone/>
              <a:defRPr sz="2000" b="1"/>
            </a:lvl4pPr>
            <a:lvl5pPr marL="2294890" indent="0">
              <a:buNone/>
              <a:defRPr sz="2000" b="1"/>
            </a:lvl5pPr>
            <a:lvl6pPr marL="2868295" indent="0">
              <a:buNone/>
              <a:defRPr sz="2000" b="1"/>
            </a:lvl6pPr>
            <a:lvl7pPr marL="3442335" indent="0">
              <a:buNone/>
              <a:defRPr sz="2000" b="1"/>
            </a:lvl7pPr>
            <a:lvl8pPr marL="4015740" indent="0">
              <a:buNone/>
              <a:defRPr sz="2000" b="1"/>
            </a:lvl8pPr>
            <a:lvl9pPr marL="4589145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2938" y="2293691"/>
            <a:ext cx="5681514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32067" y="1618976"/>
            <a:ext cx="5683746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3405" indent="0">
              <a:buNone/>
              <a:defRPr sz="2500" b="1"/>
            </a:lvl2pPr>
            <a:lvl3pPr marL="1147445" indent="0">
              <a:buNone/>
              <a:defRPr sz="2300" b="1"/>
            </a:lvl3pPr>
            <a:lvl4pPr marL="1720850" indent="0">
              <a:buNone/>
              <a:defRPr sz="2000" b="1"/>
            </a:lvl4pPr>
            <a:lvl5pPr marL="2294890" indent="0">
              <a:buNone/>
              <a:defRPr sz="2000" b="1"/>
            </a:lvl5pPr>
            <a:lvl6pPr marL="2868295" indent="0">
              <a:buNone/>
              <a:defRPr sz="2000" b="1"/>
            </a:lvl6pPr>
            <a:lvl7pPr marL="3442335" indent="0">
              <a:buNone/>
              <a:defRPr sz="2000" b="1"/>
            </a:lvl7pPr>
            <a:lvl8pPr marL="4015740" indent="0">
              <a:buNone/>
              <a:defRPr sz="2000" b="1"/>
            </a:lvl8pPr>
            <a:lvl9pPr marL="4589145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32067" y="2293691"/>
            <a:ext cx="5683746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A11DA9-A2C9-41D0-9133-C993095558B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09F4FB-12C6-40B5-A6AA-EB02BB20573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CEC60-5D95-4E68-8DD0-1E98DC0B60A1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7967"/>
            <a:ext cx="4230440" cy="1225532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7414" y="287967"/>
            <a:ext cx="7188398" cy="6172866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2938" y="1513505"/>
            <a:ext cx="4230440" cy="4947334"/>
          </a:xfrm>
        </p:spPr>
        <p:txBody>
          <a:bodyPr/>
          <a:lstStyle>
            <a:lvl1pPr marL="0" indent="0">
              <a:buNone/>
              <a:defRPr sz="1800"/>
            </a:lvl1pPr>
            <a:lvl2pPr marL="573405" indent="0">
              <a:buNone/>
              <a:defRPr sz="1500"/>
            </a:lvl2pPr>
            <a:lvl3pPr marL="1147445" indent="0">
              <a:buNone/>
              <a:defRPr sz="1300"/>
            </a:lvl3pPr>
            <a:lvl4pPr marL="1720850" indent="0">
              <a:buNone/>
              <a:defRPr sz="1100"/>
            </a:lvl4pPr>
            <a:lvl5pPr marL="2294890" indent="0">
              <a:buNone/>
              <a:defRPr sz="1100"/>
            </a:lvl5pPr>
            <a:lvl6pPr marL="2868295" indent="0">
              <a:buNone/>
              <a:defRPr sz="1100"/>
            </a:lvl6pPr>
            <a:lvl7pPr marL="3442335" indent="0">
              <a:buNone/>
              <a:defRPr sz="1100"/>
            </a:lvl7pPr>
            <a:lvl8pPr marL="4015740" indent="0">
              <a:buNone/>
              <a:defRPr sz="1100"/>
            </a:lvl8pPr>
            <a:lvl9pPr marL="4589145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CBA71-A108-4D8F-B30F-B26305DB52E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405" y="5062858"/>
            <a:ext cx="7715250" cy="59769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20405" y="646251"/>
            <a:ext cx="7715250" cy="4339590"/>
          </a:xfrm>
        </p:spPr>
        <p:txBody>
          <a:bodyPr/>
          <a:lstStyle>
            <a:lvl1pPr marL="0" indent="0">
              <a:buNone/>
              <a:defRPr sz="4000"/>
            </a:lvl1pPr>
            <a:lvl2pPr marL="573405" indent="0">
              <a:buNone/>
              <a:defRPr sz="3500"/>
            </a:lvl2pPr>
            <a:lvl3pPr marL="1147445" indent="0">
              <a:buNone/>
              <a:defRPr sz="3000"/>
            </a:lvl3pPr>
            <a:lvl4pPr marL="1720850" indent="0">
              <a:buNone/>
              <a:defRPr sz="2500"/>
            </a:lvl4pPr>
            <a:lvl5pPr marL="2294890" indent="0">
              <a:buNone/>
              <a:defRPr sz="2500"/>
            </a:lvl5pPr>
            <a:lvl6pPr marL="2868295" indent="0">
              <a:buNone/>
              <a:defRPr sz="2500"/>
            </a:lvl6pPr>
            <a:lvl7pPr marL="3442335" indent="0">
              <a:buNone/>
              <a:defRPr sz="2500"/>
            </a:lvl7pPr>
            <a:lvl8pPr marL="4015740" indent="0">
              <a:buNone/>
              <a:defRPr sz="2500"/>
            </a:lvl8pPr>
            <a:lvl9pPr marL="4589145" indent="0">
              <a:buNone/>
              <a:defRPr sz="2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20405" y="5660557"/>
            <a:ext cx="7715250" cy="848831"/>
          </a:xfrm>
        </p:spPr>
        <p:txBody>
          <a:bodyPr/>
          <a:lstStyle>
            <a:lvl1pPr marL="0" indent="0">
              <a:buNone/>
              <a:defRPr sz="1800"/>
            </a:lvl1pPr>
            <a:lvl2pPr marL="573405" indent="0">
              <a:buNone/>
              <a:defRPr sz="1500"/>
            </a:lvl2pPr>
            <a:lvl3pPr marL="1147445" indent="0">
              <a:buNone/>
              <a:defRPr sz="1300"/>
            </a:lvl3pPr>
            <a:lvl4pPr marL="1720850" indent="0">
              <a:buNone/>
              <a:defRPr sz="1100"/>
            </a:lvl4pPr>
            <a:lvl5pPr marL="2294890" indent="0">
              <a:buNone/>
              <a:defRPr sz="1100"/>
            </a:lvl5pPr>
            <a:lvl6pPr marL="2868295" indent="0">
              <a:buNone/>
              <a:defRPr sz="1100"/>
            </a:lvl6pPr>
            <a:lvl7pPr marL="3442335" indent="0">
              <a:buNone/>
              <a:defRPr sz="1100"/>
            </a:lvl7pPr>
            <a:lvl8pPr marL="4015740" indent="0">
              <a:buNone/>
              <a:defRPr sz="1100"/>
            </a:lvl8pPr>
            <a:lvl9pPr marL="4589145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AFEE6-9698-4489-8D7B-8AB64B9E138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500B73-9DD7-41C0-B2B2-946A4EF25305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22595" y="622817"/>
            <a:ext cx="2893219" cy="60472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2937" y="622817"/>
            <a:ext cx="8465344" cy="60472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50D9E-967D-4F62-8A3B-AB60B140641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3134148"/>
            <a:ext cx="9965531" cy="4821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965531" y="3134148"/>
            <a:ext cx="2893219" cy="4821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 rot="5400000">
            <a:off x="29692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 rot="5400000">
            <a:off x="72554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 rot="5400000">
            <a:off x="115417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 rot="5400000">
            <a:off x="158279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0" y="3616327"/>
          <a:ext cx="5956102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" r:id="rId2" imgW="6007100" imgH="2743200" progId="">
                  <p:embed/>
                </p:oleObj>
              </mc:Choice>
              <mc:Fallback>
                <p:oleObj name="" r:id="rId2" imgW="6007100" imgH="274320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16327"/>
                        <a:ext cx="5956102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9965531" y="3616327"/>
          <a:ext cx="2893219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" r:id="rId4" imgW="5753100" imgH="4356100" progId="">
                  <p:embed/>
                </p:oleObj>
              </mc:Choice>
              <mc:Fallback>
                <p:oleObj name="" r:id="rId4" imgW="5753100" imgH="43561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1930"/>
                      <a:stretch>
                        <a:fillRect/>
                      </a:stretch>
                    </p:blipFill>
                    <p:spPr bwMode="auto">
                      <a:xfrm>
                        <a:off x="9965531" y="3616327"/>
                        <a:ext cx="2893219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5985125" y="3616325"/>
          <a:ext cx="3944689" cy="193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" r:id="rId6" imgW="3556000" imgH="2540000" progId="">
                  <p:embed/>
                </p:oleObj>
              </mc:Choice>
              <mc:Fallback>
                <p:oleObj name="" r:id="rId6" imgW="3556000" imgH="25400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125" y="3616325"/>
                        <a:ext cx="3944689" cy="19303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3616327"/>
            <a:ext cx="12858750" cy="1928707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pic>
        <p:nvPicPr>
          <p:cNvPr id="2060" name="Picture 12" descr="glaba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156" y="2009072"/>
            <a:ext cx="1850678" cy="142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642939" y="6830839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4393406" y="6830839"/>
            <a:ext cx="4071938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215439" y="6830839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fld id="{EBF8A45F-0071-45ED-BE0D-974A8D396AE5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911328" y="6122640"/>
            <a:ext cx="3545086" cy="39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b="1" smtClean="0">
                <a:solidFill>
                  <a:srgbClr val="000000"/>
                </a:solidFill>
                <a:latin typeface="Arial" panose="020B0604020202020204" pitchFamily="34" charset="0"/>
              </a:rPr>
              <a:t>大连理工大学出版社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 rot="5400000">
            <a:off x="6404827" y="5390971"/>
            <a:ext cx="287967" cy="1238995"/>
          </a:xfrm>
          <a:prstGeom prst="moon">
            <a:avLst>
              <a:gd name="adj" fmla="val 21208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ctrTitle"/>
          </p:nvPr>
        </p:nvSpPr>
        <p:spPr>
          <a:xfrm>
            <a:off x="1607344" y="1767981"/>
            <a:ext cx="8679656" cy="1309244"/>
          </a:xfrm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5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2143125" y="3134148"/>
            <a:ext cx="7608094" cy="401814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F88E9-69DC-4EC5-8914-FF7FBBA0F66A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5752" y="4647650"/>
            <a:ext cx="10929938" cy="143648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5752" y="3065506"/>
            <a:ext cx="10929938" cy="1582142"/>
          </a:xfrm>
        </p:spPr>
        <p:txBody>
          <a:bodyPr anchor="b"/>
          <a:lstStyle>
            <a:lvl1pPr marL="0" indent="0">
              <a:buNone/>
              <a:defRPr sz="2500"/>
            </a:lvl1pPr>
            <a:lvl2pPr marL="574040" indent="0">
              <a:buNone/>
              <a:defRPr sz="2300"/>
            </a:lvl2pPr>
            <a:lvl3pPr marL="1147445" indent="0">
              <a:buNone/>
              <a:defRPr sz="2000"/>
            </a:lvl3pPr>
            <a:lvl4pPr marL="1721485" indent="0">
              <a:buNone/>
              <a:defRPr sz="1800"/>
            </a:lvl4pPr>
            <a:lvl5pPr marL="2295525" indent="0">
              <a:buNone/>
              <a:defRPr sz="1800"/>
            </a:lvl5pPr>
            <a:lvl6pPr marL="2869565" indent="0">
              <a:buNone/>
              <a:defRPr sz="1800"/>
            </a:lvl6pPr>
            <a:lvl7pPr marL="3442970" indent="0">
              <a:buNone/>
              <a:defRPr sz="1800"/>
            </a:lvl7pPr>
            <a:lvl8pPr marL="4017010" indent="0">
              <a:buNone/>
              <a:defRPr sz="1800"/>
            </a:lvl8pPr>
            <a:lvl9pPr marL="459105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5BFFFA-BEFE-4A33-9C51-DF95B351EF6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2939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8854D0-8EA4-4302-A4F8-EC9BEF706FF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9" y="289641"/>
            <a:ext cx="11572875" cy="120544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2938" y="1618976"/>
            <a:ext cx="5681514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7445" indent="0">
              <a:buNone/>
              <a:defRPr sz="2300" b="1"/>
            </a:lvl3pPr>
            <a:lvl4pPr marL="1721485" indent="0">
              <a:buNone/>
              <a:defRPr sz="2000" b="1"/>
            </a:lvl4pPr>
            <a:lvl5pPr marL="2295525" indent="0">
              <a:buNone/>
              <a:defRPr sz="2000" b="1"/>
            </a:lvl5pPr>
            <a:lvl6pPr marL="2869565" indent="0">
              <a:buNone/>
              <a:defRPr sz="2000" b="1"/>
            </a:lvl6pPr>
            <a:lvl7pPr marL="3442970" indent="0">
              <a:buNone/>
              <a:defRPr sz="2000" b="1"/>
            </a:lvl7pPr>
            <a:lvl8pPr marL="4017010" indent="0">
              <a:buNone/>
              <a:defRPr sz="2000" b="1"/>
            </a:lvl8pPr>
            <a:lvl9pPr marL="4591050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2938" y="2293690"/>
            <a:ext cx="5681514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32067" y="1618976"/>
            <a:ext cx="5683746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7445" indent="0">
              <a:buNone/>
              <a:defRPr sz="2300" b="1"/>
            </a:lvl3pPr>
            <a:lvl4pPr marL="1721485" indent="0">
              <a:buNone/>
              <a:defRPr sz="2000" b="1"/>
            </a:lvl4pPr>
            <a:lvl5pPr marL="2295525" indent="0">
              <a:buNone/>
              <a:defRPr sz="2000" b="1"/>
            </a:lvl5pPr>
            <a:lvl6pPr marL="2869565" indent="0">
              <a:buNone/>
              <a:defRPr sz="2000" b="1"/>
            </a:lvl6pPr>
            <a:lvl7pPr marL="3442970" indent="0">
              <a:buNone/>
              <a:defRPr sz="2000" b="1"/>
            </a:lvl7pPr>
            <a:lvl8pPr marL="4017010" indent="0">
              <a:buNone/>
              <a:defRPr sz="2000" b="1"/>
            </a:lvl8pPr>
            <a:lvl9pPr marL="4591050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32067" y="2293690"/>
            <a:ext cx="5683746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635C7E-A300-462C-B8A1-3DF062782332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3BF04-3DA2-4977-94CE-A7D20174D492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24BACC-19FD-40F0-8AE0-3ABB509727A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7967"/>
            <a:ext cx="4230440" cy="1225532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7414" y="287967"/>
            <a:ext cx="7188398" cy="6172866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2938" y="1513502"/>
            <a:ext cx="4230440" cy="4947334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7445" indent="0">
              <a:buNone/>
              <a:defRPr sz="1300"/>
            </a:lvl3pPr>
            <a:lvl4pPr marL="1721485" indent="0">
              <a:buNone/>
              <a:defRPr sz="1100"/>
            </a:lvl4pPr>
            <a:lvl5pPr marL="2295525" indent="0">
              <a:buNone/>
              <a:defRPr sz="1100"/>
            </a:lvl5pPr>
            <a:lvl6pPr marL="2869565" indent="0">
              <a:buNone/>
              <a:defRPr sz="1100"/>
            </a:lvl6pPr>
            <a:lvl7pPr marL="3442970" indent="0">
              <a:buNone/>
              <a:defRPr sz="1100"/>
            </a:lvl7pPr>
            <a:lvl8pPr marL="4017010" indent="0">
              <a:buNone/>
              <a:defRPr sz="1100"/>
            </a:lvl8pPr>
            <a:lvl9pPr marL="459105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5E326B-995E-4A83-93BB-8839774CA879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405" y="5062857"/>
            <a:ext cx="7715250" cy="59769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20405" y="646251"/>
            <a:ext cx="7715250" cy="4339590"/>
          </a:xfrm>
        </p:spPr>
        <p:txBody>
          <a:bodyPr/>
          <a:lstStyle>
            <a:lvl1pPr marL="0" indent="0">
              <a:buNone/>
              <a:defRPr sz="4000"/>
            </a:lvl1pPr>
            <a:lvl2pPr marL="574040" indent="0">
              <a:buNone/>
              <a:defRPr sz="3500"/>
            </a:lvl2pPr>
            <a:lvl3pPr marL="1147445" indent="0">
              <a:buNone/>
              <a:defRPr sz="3000"/>
            </a:lvl3pPr>
            <a:lvl4pPr marL="1721485" indent="0">
              <a:buNone/>
              <a:defRPr sz="2500"/>
            </a:lvl4pPr>
            <a:lvl5pPr marL="2295525" indent="0">
              <a:buNone/>
              <a:defRPr sz="2500"/>
            </a:lvl5pPr>
            <a:lvl6pPr marL="2869565" indent="0">
              <a:buNone/>
              <a:defRPr sz="2500"/>
            </a:lvl6pPr>
            <a:lvl7pPr marL="3442970" indent="0">
              <a:buNone/>
              <a:defRPr sz="2500"/>
            </a:lvl7pPr>
            <a:lvl8pPr marL="4017010" indent="0">
              <a:buNone/>
              <a:defRPr sz="2500"/>
            </a:lvl8pPr>
            <a:lvl9pPr marL="4591050" indent="0">
              <a:buNone/>
              <a:defRPr sz="2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20405" y="5660556"/>
            <a:ext cx="7715250" cy="848831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7445" indent="0">
              <a:buNone/>
              <a:defRPr sz="1300"/>
            </a:lvl3pPr>
            <a:lvl4pPr marL="1721485" indent="0">
              <a:buNone/>
              <a:defRPr sz="1100"/>
            </a:lvl4pPr>
            <a:lvl5pPr marL="2295525" indent="0">
              <a:buNone/>
              <a:defRPr sz="1100"/>
            </a:lvl5pPr>
            <a:lvl6pPr marL="2869565" indent="0">
              <a:buNone/>
              <a:defRPr sz="1100"/>
            </a:lvl6pPr>
            <a:lvl7pPr marL="3442970" indent="0">
              <a:buNone/>
              <a:defRPr sz="1100"/>
            </a:lvl7pPr>
            <a:lvl8pPr marL="4017010" indent="0">
              <a:buNone/>
              <a:defRPr sz="1100"/>
            </a:lvl8pPr>
            <a:lvl9pPr marL="459105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87A3B8-8656-498B-B584-A4DC8CC8FD2D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CB4C4C-8F74-430E-83D2-C4B24A692EB3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22595" y="622814"/>
            <a:ext cx="2893219" cy="60472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2937" y="622814"/>
            <a:ext cx="8465344" cy="60472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75E51C-864E-4B24-AC84-909B6DB4310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52117" y="622812"/>
            <a:ext cx="8358188" cy="5943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2939" y="1366167"/>
            <a:ext cx="5679281" cy="53039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2939" y="6750476"/>
            <a:ext cx="3000375" cy="338193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93406" y="6750476"/>
            <a:ext cx="4071938" cy="338193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15439" y="6750476"/>
            <a:ext cx="3000375" cy="338193"/>
          </a:xfrm>
        </p:spPr>
        <p:txBody>
          <a:bodyPr/>
          <a:lstStyle>
            <a:lvl1pPr>
              <a:defRPr/>
            </a:lvl1pPr>
          </a:lstStyle>
          <a:p>
            <a:fld id="{FBD54A42-9C1A-4611-B8F5-7C89536AAE4D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3134148"/>
            <a:ext cx="9965531" cy="4821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965531" y="3134148"/>
            <a:ext cx="2893219" cy="4821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 rot="5400000">
            <a:off x="296924" y="3197760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 rot="5400000">
            <a:off x="725549" y="3197760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 rot="5400000">
            <a:off x="1154174" y="3197760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 rot="5400000">
            <a:off x="1582799" y="3197760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0" y="3616325"/>
          <a:ext cx="5956102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2" imgW="6007100" imgH="2743200" progId="">
                  <p:embed/>
                </p:oleObj>
              </mc:Choice>
              <mc:Fallback>
                <p:oleObj name="" r:id="rId2" imgW="6007100" imgH="274320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16325"/>
                        <a:ext cx="5956102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9965531" y="3616325"/>
          <a:ext cx="2893219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4" imgW="5753100" imgH="4356100" progId="">
                  <p:embed/>
                </p:oleObj>
              </mc:Choice>
              <mc:Fallback>
                <p:oleObj name="" r:id="rId4" imgW="5753100" imgH="43561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1930"/>
                      <a:stretch>
                        <a:fillRect/>
                      </a:stretch>
                    </p:blipFill>
                    <p:spPr bwMode="auto">
                      <a:xfrm>
                        <a:off x="9965531" y="3616325"/>
                        <a:ext cx="2893219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5985124" y="3616325"/>
          <a:ext cx="3944689" cy="193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6" imgW="3556000" imgH="2540000" progId="">
                  <p:embed/>
                </p:oleObj>
              </mc:Choice>
              <mc:Fallback>
                <p:oleObj name="" r:id="rId6" imgW="3556000" imgH="25400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124" y="3616325"/>
                        <a:ext cx="3944689" cy="19303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3616325"/>
            <a:ext cx="12858750" cy="1928707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pic>
        <p:nvPicPr>
          <p:cNvPr id="2060" name="Picture 12" descr="glaba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156" y="2009070"/>
            <a:ext cx="1850678" cy="142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642938" y="6830836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4393406" y="6830836"/>
            <a:ext cx="4071938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215438" y="6830836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fld id="{EBF8A45F-0071-45ED-BE0D-974A8D396AE5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911328" y="6122640"/>
            <a:ext cx="3545086" cy="39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803" tIns="57401" rIns="114803" bIns="57401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b="1" smtClean="0">
                <a:solidFill>
                  <a:srgbClr val="000000"/>
                </a:solidFill>
                <a:latin typeface="Arial" panose="020B0604020202020204" pitchFamily="34" charset="0"/>
              </a:rPr>
              <a:t>大连理工大学出版社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 rot="5400000">
            <a:off x="6404827" y="5390969"/>
            <a:ext cx="287967" cy="1238995"/>
          </a:xfrm>
          <a:prstGeom prst="moon">
            <a:avLst>
              <a:gd name="adj" fmla="val 21208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ctrTitle"/>
          </p:nvPr>
        </p:nvSpPr>
        <p:spPr>
          <a:xfrm>
            <a:off x="1607344" y="1767981"/>
            <a:ext cx="8679656" cy="1309244"/>
          </a:xfrm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5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2143125" y="3134148"/>
            <a:ext cx="7608094" cy="401814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F88E9-69DC-4EC5-8914-FF7FBBA0F66A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5752" y="4647648"/>
            <a:ext cx="10929938" cy="143648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5752" y="3065506"/>
            <a:ext cx="10929938" cy="1582142"/>
          </a:xfrm>
        </p:spPr>
        <p:txBody>
          <a:bodyPr anchor="b"/>
          <a:lstStyle>
            <a:lvl1pPr marL="0" indent="0">
              <a:buNone/>
              <a:defRPr sz="2500"/>
            </a:lvl1pPr>
            <a:lvl2pPr marL="574040" indent="0">
              <a:buNone/>
              <a:defRPr sz="2300"/>
            </a:lvl2pPr>
            <a:lvl3pPr marL="1148080" indent="0">
              <a:buNone/>
              <a:defRPr sz="2000"/>
            </a:lvl3pPr>
            <a:lvl4pPr marL="1722120" indent="0">
              <a:buNone/>
              <a:defRPr sz="1800"/>
            </a:lvl4pPr>
            <a:lvl5pPr marL="2296160" indent="0">
              <a:buNone/>
              <a:defRPr sz="1800"/>
            </a:lvl5pPr>
            <a:lvl6pPr marL="2870200" indent="0">
              <a:buNone/>
              <a:defRPr sz="1800"/>
            </a:lvl6pPr>
            <a:lvl7pPr marL="3444240" indent="0">
              <a:buNone/>
              <a:defRPr sz="1800"/>
            </a:lvl7pPr>
            <a:lvl8pPr marL="4018280" indent="0">
              <a:buNone/>
              <a:defRPr sz="1800"/>
            </a:lvl8pPr>
            <a:lvl9pPr marL="459232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5BFFFA-BEFE-4A33-9C51-DF95B351EF6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2938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8854D0-8EA4-4302-A4F8-EC9BEF706FF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9641"/>
            <a:ext cx="11572875" cy="120544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2938" y="1618976"/>
            <a:ext cx="5681514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8080" indent="0">
              <a:buNone/>
              <a:defRPr sz="2300" b="1"/>
            </a:lvl3pPr>
            <a:lvl4pPr marL="1722120" indent="0">
              <a:buNone/>
              <a:defRPr sz="2000" b="1"/>
            </a:lvl4pPr>
            <a:lvl5pPr marL="2296160" indent="0">
              <a:buNone/>
              <a:defRPr sz="2000" b="1"/>
            </a:lvl5pPr>
            <a:lvl6pPr marL="2870200" indent="0">
              <a:buNone/>
              <a:defRPr sz="2000" b="1"/>
            </a:lvl6pPr>
            <a:lvl7pPr marL="3444240" indent="0">
              <a:buNone/>
              <a:defRPr sz="2000" b="1"/>
            </a:lvl7pPr>
            <a:lvl8pPr marL="4018280" indent="0">
              <a:buNone/>
              <a:defRPr sz="2000" b="1"/>
            </a:lvl8pPr>
            <a:lvl9pPr marL="4592320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2938" y="2293688"/>
            <a:ext cx="5681514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32067" y="1618976"/>
            <a:ext cx="5683746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8080" indent="0">
              <a:buNone/>
              <a:defRPr sz="2300" b="1"/>
            </a:lvl3pPr>
            <a:lvl4pPr marL="1722120" indent="0">
              <a:buNone/>
              <a:defRPr sz="2000" b="1"/>
            </a:lvl4pPr>
            <a:lvl5pPr marL="2296160" indent="0">
              <a:buNone/>
              <a:defRPr sz="2000" b="1"/>
            </a:lvl5pPr>
            <a:lvl6pPr marL="2870200" indent="0">
              <a:buNone/>
              <a:defRPr sz="2000" b="1"/>
            </a:lvl6pPr>
            <a:lvl7pPr marL="3444240" indent="0">
              <a:buNone/>
              <a:defRPr sz="2000" b="1"/>
            </a:lvl7pPr>
            <a:lvl8pPr marL="4018280" indent="0">
              <a:buNone/>
              <a:defRPr sz="2000" b="1"/>
            </a:lvl8pPr>
            <a:lvl9pPr marL="4592320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32067" y="2293688"/>
            <a:ext cx="5683746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635C7E-A300-462C-B8A1-3DF062782332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3BF04-3DA2-4977-94CE-A7D20174D492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24BACC-19FD-40F0-8AE0-3ABB509727A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7967"/>
            <a:ext cx="4230440" cy="1225532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7414" y="287967"/>
            <a:ext cx="7188398" cy="6172866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2938" y="1513500"/>
            <a:ext cx="4230440" cy="4947334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8080" indent="0">
              <a:buNone/>
              <a:defRPr sz="1300"/>
            </a:lvl3pPr>
            <a:lvl4pPr marL="1722120" indent="0">
              <a:buNone/>
              <a:defRPr sz="1100"/>
            </a:lvl4pPr>
            <a:lvl5pPr marL="2296160" indent="0">
              <a:buNone/>
              <a:defRPr sz="1100"/>
            </a:lvl5pPr>
            <a:lvl6pPr marL="2870200" indent="0">
              <a:buNone/>
              <a:defRPr sz="1100"/>
            </a:lvl6pPr>
            <a:lvl7pPr marL="3444240" indent="0">
              <a:buNone/>
              <a:defRPr sz="1100"/>
            </a:lvl7pPr>
            <a:lvl8pPr marL="4018280" indent="0">
              <a:buNone/>
              <a:defRPr sz="1100"/>
            </a:lvl8pPr>
            <a:lvl9pPr marL="459232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5E326B-995E-4A83-93BB-8839774CA879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405" y="5062855"/>
            <a:ext cx="7715250" cy="59769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20405" y="646251"/>
            <a:ext cx="7715250" cy="4339590"/>
          </a:xfrm>
        </p:spPr>
        <p:txBody>
          <a:bodyPr/>
          <a:lstStyle>
            <a:lvl1pPr marL="0" indent="0">
              <a:buNone/>
              <a:defRPr sz="4000"/>
            </a:lvl1pPr>
            <a:lvl2pPr marL="574040" indent="0">
              <a:buNone/>
              <a:defRPr sz="3500"/>
            </a:lvl2pPr>
            <a:lvl3pPr marL="1148080" indent="0">
              <a:buNone/>
              <a:defRPr sz="3000"/>
            </a:lvl3pPr>
            <a:lvl4pPr marL="1722120" indent="0">
              <a:buNone/>
              <a:defRPr sz="2500"/>
            </a:lvl4pPr>
            <a:lvl5pPr marL="2296160" indent="0">
              <a:buNone/>
              <a:defRPr sz="2500"/>
            </a:lvl5pPr>
            <a:lvl6pPr marL="2870200" indent="0">
              <a:buNone/>
              <a:defRPr sz="2500"/>
            </a:lvl6pPr>
            <a:lvl7pPr marL="3444240" indent="0">
              <a:buNone/>
              <a:defRPr sz="2500"/>
            </a:lvl7pPr>
            <a:lvl8pPr marL="4018280" indent="0">
              <a:buNone/>
              <a:defRPr sz="2500"/>
            </a:lvl8pPr>
            <a:lvl9pPr marL="4592320" indent="0">
              <a:buNone/>
              <a:defRPr sz="2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20405" y="5660554"/>
            <a:ext cx="7715250" cy="848831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8080" indent="0">
              <a:buNone/>
              <a:defRPr sz="1300"/>
            </a:lvl3pPr>
            <a:lvl4pPr marL="1722120" indent="0">
              <a:buNone/>
              <a:defRPr sz="1100"/>
            </a:lvl4pPr>
            <a:lvl5pPr marL="2296160" indent="0">
              <a:buNone/>
              <a:defRPr sz="1100"/>
            </a:lvl5pPr>
            <a:lvl6pPr marL="2870200" indent="0">
              <a:buNone/>
              <a:defRPr sz="1100"/>
            </a:lvl6pPr>
            <a:lvl7pPr marL="3444240" indent="0">
              <a:buNone/>
              <a:defRPr sz="1100"/>
            </a:lvl7pPr>
            <a:lvl8pPr marL="4018280" indent="0">
              <a:buNone/>
              <a:defRPr sz="1100"/>
            </a:lvl8pPr>
            <a:lvl9pPr marL="459232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87A3B8-8656-498B-B584-A4DC8CC8FD2D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CB4C4C-8F74-430E-83D2-C4B24A692EB3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22594" y="622812"/>
            <a:ext cx="2893219" cy="60472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2937" y="622812"/>
            <a:ext cx="8465344" cy="60472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75E51C-864E-4B24-AC84-909B6DB4310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52117" y="622812"/>
            <a:ext cx="8358188" cy="5943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2938" y="1366167"/>
            <a:ext cx="5679281" cy="53039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2938" y="6750474"/>
            <a:ext cx="3000375" cy="338193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93406" y="6750474"/>
            <a:ext cx="4071938" cy="338193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15438" y="6750474"/>
            <a:ext cx="3000375" cy="338193"/>
          </a:xfrm>
        </p:spPr>
        <p:txBody>
          <a:bodyPr/>
          <a:lstStyle>
            <a:lvl1pPr>
              <a:defRPr/>
            </a:lvl1pPr>
          </a:lstStyle>
          <a:p>
            <a:fld id="{FBD54A42-9C1A-4611-B8F5-7C89536AAE4D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035969" y="592677"/>
            <a:ext cx="10822781" cy="681410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89327"/>
            <a:ext cx="2035969" cy="6964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 rot="5400000">
            <a:off x="40408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9" name="AutoShape 5"/>
          <p:cNvSpPr>
            <a:spLocks noChangeArrowheads="1"/>
          </p:cNvSpPr>
          <p:nvPr/>
        </p:nvSpPr>
        <p:spPr bwMode="auto">
          <a:xfrm rot="5400000">
            <a:off x="83270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rot="5400000">
            <a:off x="126133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1" name="AutoShape 7"/>
          <p:cNvSpPr>
            <a:spLocks noChangeArrowheads="1"/>
          </p:cNvSpPr>
          <p:nvPr/>
        </p:nvSpPr>
        <p:spPr bwMode="auto">
          <a:xfrm rot="5400000">
            <a:off x="168995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9" y="1366167"/>
            <a:ext cx="11572875" cy="530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2939" y="6750479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93406" y="6750479"/>
            <a:ext cx="4071938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>
            <a:lvl1pPr algn="ct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15439" y="6750479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>
            <a:lvl1pPr algn="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fld id="{E885DCAE-4A19-439B-9674-D186DD8CF82A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652117" y="622812"/>
            <a:ext cx="8358188" cy="59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5pPr>
      <a:lvl6pPr marL="57340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6pPr>
      <a:lvl7pPr marL="114744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7pPr>
      <a:lvl8pPr marL="172085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8pPr>
      <a:lvl9pPr marL="229489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430530" indent="-43053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932180" indent="-358775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3300">
          <a:solidFill>
            <a:schemeClr val="tx1"/>
          </a:solidFill>
          <a:latin typeface="+mn-lt"/>
        </a:defRPr>
      </a:lvl2pPr>
      <a:lvl3pPr marL="1434465" indent="-28702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•"/>
        <a:defRPr sz="2800">
          <a:solidFill>
            <a:schemeClr val="tx1"/>
          </a:solidFill>
          <a:latin typeface="+mn-lt"/>
        </a:defRPr>
      </a:lvl3pPr>
      <a:lvl4pPr marL="200787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500">
          <a:solidFill>
            <a:schemeClr val="tx1"/>
          </a:solidFill>
          <a:latin typeface="+mn-lt"/>
        </a:defRPr>
      </a:lvl4pPr>
      <a:lvl5pPr marL="258127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5pPr>
      <a:lvl6pPr marL="315531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6pPr>
      <a:lvl7pPr marL="372872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7pPr>
      <a:lvl8pPr marL="430276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8pPr>
      <a:lvl9pPr marL="487616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340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744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085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489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29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233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1574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8914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035969" y="592677"/>
            <a:ext cx="10822781" cy="681410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89327"/>
            <a:ext cx="2035969" cy="6964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 rot="5400000">
            <a:off x="40408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9" name="AutoShape 5"/>
          <p:cNvSpPr>
            <a:spLocks noChangeArrowheads="1"/>
          </p:cNvSpPr>
          <p:nvPr/>
        </p:nvSpPr>
        <p:spPr bwMode="auto">
          <a:xfrm rot="5400000">
            <a:off x="83270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rot="5400000">
            <a:off x="126133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1" name="AutoShape 7"/>
          <p:cNvSpPr>
            <a:spLocks noChangeArrowheads="1"/>
          </p:cNvSpPr>
          <p:nvPr/>
        </p:nvSpPr>
        <p:spPr bwMode="auto">
          <a:xfrm rot="5400000">
            <a:off x="168995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9" y="1366167"/>
            <a:ext cx="11572875" cy="530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2939" y="6750476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t" anchorCtr="0" compatLnSpc="1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93406" y="6750476"/>
            <a:ext cx="4071938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t" anchorCtr="0" compatLnSpc="1"/>
          <a:lstStyle>
            <a:lvl1pPr algn="ct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15439" y="6750476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t" anchorCtr="0" compatLnSpc="1"/>
          <a:lstStyle>
            <a:lvl1pPr algn="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fld id="{6D880ADB-E83C-41C4-A643-1A294B5D6C9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652117" y="622812"/>
            <a:ext cx="8358188" cy="59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5pPr>
      <a:lvl6pPr marL="57404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6pPr>
      <a:lvl7pPr marL="114744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7pPr>
      <a:lvl8pPr marL="172148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8pPr>
      <a:lvl9pPr marL="229552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430530" indent="-43053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932815" indent="-358775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3300">
          <a:solidFill>
            <a:schemeClr val="tx1"/>
          </a:solidFill>
          <a:latin typeface="+mn-lt"/>
        </a:defRPr>
      </a:lvl2pPr>
      <a:lvl3pPr marL="1434465" indent="-28702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•"/>
        <a:defRPr sz="2800">
          <a:solidFill>
            <a:schemeClr val="tx1"/>
          </a:solidFill>
          <a:latin typeface="+mn-lt"/>
        </a:defRPr>
      </a:lvl3pPr>
      <a:lvl4pPr marL="200850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500">
          <a:solidFill>
            <a:schemeClr val="tx1"/>
          </a:solidFill>
          <a:latin typeface="+mn-lt"/>
        </a:defRPr>
      </a:lvl4pPr>
      <a:lvl5pPr marL="258254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5pPr>
      <a:lvl6pPr marL="315658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6pPr>
      <a:lvl7pPr marL="372999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7pPr>
      <a:lvl8pPr marL="430403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8pPr>
      <a:lvl9pPr marL="487807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04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744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148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552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956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297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1701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105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035969" y="592676"/>
            <a:ext cx="10822781" cy="681410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89327"/>
            <a:ext cx="2035969" cy="6964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 rot="5400000">
            <a:off x="40408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9" name="AutoShape 5"/>
          <p:cNvSpPr>
            <a:spLocks noChangeArrowheads="1"/>
          </p:cNvSpPr>
          <p:nvPr/>
        </p:nvSpPr>
        <p:spPr bwMode="auto">
          <a:xfrm rot="5400000">
            <a:off x="83270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rot="5400000">
            <a:off x="126133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1" name="AutoShape 7"/>
          <p:cNvSpPr>
            <a:spLocks noChangeArrowheads="1"/>
          </p:cNvSpPr>
          <p:nvPr/>
        </p:nvSpPr>
        <p:spPr bwMode="auto">
          <a:xfrm rot="5400000">
            <a:off x="168995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8" y="1366167"/>
            <a:ext cx="11572875" cy="530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2938" y="6750474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t" anchorCtr="0" compatLnSpc="1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93406" y="6750474"/>
            <a:ext cx="4071938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t" anchorCtr="0" compatLnSpc="1"/>
          <a:lstStyle>
            <a:lvl1pPr algn="ct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15438" y="6750474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t" anchorCtr="0" compatLnSpc="1"/>
          <a:lstStyle>
            <a:lvl1pPr algn="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fld id="{6D880ADB-E83C-41C4-A643-1A294B5D6C9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652117" y="622812"/>
            <a:ext cx="8358188" cy="59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5pPr>
      <a:lvl6pPr marL="57404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6pPr>
      <a:lvl7pPr marL="114808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7pPr>
      <a:lvl8pPr marL="172212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8pPr>
      <a:lvl9pPr marL="229616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430530" indent="-43053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932815" indent="-358775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3300">
          <a:solidFill>
            <a:schemeClr val="tx1"/>
          </a:solidFill>
          <a:latin typeface="+mn-lt"/>
        </a:defRPr>
      </a:lvl2pPr>
      <a:lvl3pPr marL="1435100" indent="-28702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•"/>
        <a:defRPr sz="2800">
          <a:solidFill>
            <a:schemeClr val="tx1"/>
          </a:solidFill>
          <a:latin typeface="+mn-lt"/>
        </a:defRPr>
      </a:lvl3pPr>
      <a:lvl4pPr marL="200914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500">
          <a:solidFill>
            <a:schemeClr val="tx1"/>
          </a:solidFill>
          <a:latin typeface="+mn-lt"/>
        </a:defRPr>
      </a:lvl4pPr>
      <a:lvl5pPr marL="258318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5pPr>
      <a:lvl6pPr marL="315722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6pPr>
      <a:lvl7pPr marL="373126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7pPr>
      <a:lvl8pPr marL="430530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8pPr>
      <a:lvl9pPr marL="487934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04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808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12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616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020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424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1828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232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>
            <a:off x="0" y="0"/>
            <a:ext cx="7256762" cy="7256364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 rot="5400000" flipV="1">
            <a:off x="1608166" y="1145782"/>
            <a:ext cx="4826927" cy="4827192"/>
          </a:xfrm>
          <a:custGeom>
            <a:avLst/>
            <a:gdLst>
              <a:gd name="connsiteX0" fmla="*/ 0 w 4343400"/>
              <a:gd name="connsiteY0" fmla="*/ 0 h 4343400"/>
              <a:gd name="connsiteX1" fmla="*/ 4343400 w 4343400"/>
              <a:gd name="connsiteY1" fmla="*/ 4343400 h 4343400"/>
              <a:gd name="connsiteX2" fmla="*/ 3486149 w 4343400"/>
              <a:gd name="connsiteY2" fmla="*/ 4343400 h 4343400"/>
              <a:gd name="connsiteX3" fmla="*/ 0 w 4343400"/>
              <a:gd name="connsiteY3" fmla="*/ 857251 h 4343400"/>
              <a:gd name="connsiteX4" fmla="*/ 0 w 4343400"/>
              <a:gd name="connsiteY4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4343400">
                <a:moveTo>
                  <a:pt x="0" y="0"/>
                </a:moveTo>
                <a:lnTo>
                  <a:pt x="4343400" y="4343400"/>
                </a:lnTo>
                <a:lnTo>
                  <a:pt x="3486149" y="4343400"/>
                </a:lnTo>
                <a:lnTo>
                  <a:pt x="0" y="8572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7167" y="1960141"/>
            <a:ext cx="8595718" cy="62228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&lt;&lt;JSP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与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Servlet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开发技术与典型应用教程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&gt;&gt;</a:t>
            </a:r>
            <a:endParaRPr kumimoji="1" lang="zh-CN" altLang="en-US" sz="3200" b="1" dirty="0">
              <a:solidFill>
                <a:srgbClr val="52658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7327" y="2896245"/>
            <a:ext cx="6016403" cy="649181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en-US" altLang="zh-CN" sz="17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JSP and  servlet  development  technology  and  typical application  course</a:t>
            </a:r>
            <a:endParaRPr kumimoji="1" lang="zh-CN" altLang="en-US" sz="17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 rot="2679144">
            <a:off x="1518042" y="2942040"/>
            <a:ext cx="5266506" cy="56072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lang="zh-CN" altLang="en-US" sz="2800" b="1" cap="all" dirty="0" smtClean="0">
                <a:solidFill>
                  <a:schemeClr val="accent1"/>
                </a:solidFill>
                <a:latin typeface="Agency FB" panose="020B0503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第四章 </a:t>
            </a:r>
            <a:r>
              <a:rPr lang="en-US" altLang="zh-CN" sz="2800" b="1" cap="all" dirty="0" smtClean="0">
                <a:solidFill>
                  <a:schemeClr val="accent1"/>
                </a:solidFill>
                <a:latin typeface="Agency FB" panose="020B0503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   Servlet</a:t>
            </a:r>
            <a:r>
              <a:rPr lang="zh-CN" altLang="en-US" sz="2800" b="1" cap="all" dirty="0" smtClean="0">
                <a:solidFill>
                  <a:schemeClr val="accent1"/>
                </a:solidFill>
                <a:latin typeface="Agency FB" panose="020B0503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基础</a:t>
            </a:r>
            <a:endParaRPr lang="zh-CN" altLang="en-US" sz="2800" b="1" cap="all" dirty="0">
              <a:solidFill>
                <a:schemeClr val="accent1"/>
              </a:solidFill>
              <a:latin typeface="Agency FB" panose="020B0503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flipH="1">
            <a:off x="8229575" y="3976365"/>
            <a:ext cx="4629176" cy="3279999"/>
          </a:xfrm>
          <a:prstGeom prst="rtTriangle">
            <a:avLst/>
          </a:prstGeom>
          <a:solidFill>
            <a:srgbClr val="43536A"/>
          </a:solidFill>
          <a:ln>
            <a:solidFill>
              <a:srgbClr val="435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直角三角形 15"/>
          <p:cNvSpPr/>
          <p:nvPr/>
        </p:nvSpPr>
        <p:spPr>
          <a:xfrm rot="13500000" flipV="1">
            <a:off x="2775844" y="-1270801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73591" y="397636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000" b="1" dirty="0">
                <a:solidFill>
                  <a:srgbClr val="526580"/>
                </a:solidFill>
                <a:cs typeface="+mn-ea"/>
              </a:rPr>
              <a:t>大连理工大学出版社</a:t>
            </a:r>
            <a:endParaRPr kumimoji="1" lang="zh-CN" altLang="en-US" sz="2000" b="1" dirty="0">
              <a:solidFill>
                <a:srgbClr val="526580"/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8" grpId="0"/>
      <p:bldP spid="9" grpId="0"/>
      <p:bldP spid="12" grpId="0" animBg="1"/>
      <p:bldP spid="16" grpId="0" animBg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8"/>
          <p:cNvSpPr/>
          <p:nvPr/>
        </p:nvSpPr>
        <p:spPr>
          <a:xfrm>
            <a:off x="-12756" y="0"/>
            <a:ext cx="7266302" cy="7265903"/>
          </a:xfrm>
          <a:custGeom>
            <a:avLst/>
            <a:gdLst>
              <a:gd name="connsiteX0" fmla="*/ 0 w 5896303"/>
              <a:gd name="connsiteY0" fmla="*/ 0 h 5896303"/>
              <a:gd name="connsiteX1" fmla="*/ 5896303 w 5896303"/>
              <a:gd name="connsiteY1" fmla="*/ 5896303 h 5896303"/>
              <a:gd name="connsiteX2" fmla="*/ 5579364 w 5896303"/>
              <a:gd name="connsiteY2" fmla="*/ 5896303 h 5896303"/>
              <a:gd name="connsiteX3" fmla="*/ 0 w 5896303"/>
              <a:gd name="connsiteY3" fmla="*/ 316939 h 5896303"/>
              <a:gd name="connsiteX4" fmla="*/ 0 w 5896303"/>
              <a:gd name="connsiteY4" fmla="*/ 0 h 5896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96303" h="5896303">
                <a:moveTo>
                  <a:pt x="0" y="0"/>
                </a:moveTo>
                <a:lnTo>
                  <a:pt x="5896303" y="5896303"/>
                </a:lnTo>
                <a:lnTo>
                  <a:pt x="5579364" y="5896303"/>
                </a:lnTo>
                <a:lnTo>
                  <a:pt x="0" y="316939"/>
                </a:lnTo>
                <a:lnTo>
                  <a:pt x="0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等腰三角形 5"/>
          <p:cNvSpPr/>
          <p:nvPr/>
        </p:nvSpPr>
        <p:spPr>
          <a:xfrm flipV="1">
            <a:off x="1072486" y="448922"/>
            <a:ext cx="4158592" cy="2029130"/>
          </a:xfrm>
          <a:prstGeom prst="triangle">
            <a:avLst/>
          </a:prstGeom>
          <a:noFill/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4" name="等腰三角形 4"/>
          <p:cNvSpPr/>
          <p:nvPr/>
        </p:nvSpPr>
        <p:spPr>
          <a:xfrm flipV="1">
            <a:off x="1072486" y="-1"/>
            <a:ext cx="4158592" cy="2029130"/>
          </a:xfrm>
          <a:prstGeom prst="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7" name="TextBox 32"/>
          <p:cNvSpPr txBox="1">
            <a:spLocks noChangeArrowheads="1"/>
          </p:cNvSpPr>
          <p:nvPr/>
        </p:nvSpPr>
        <p:spPr bwMode="auto">
          <a:xfrm>
            <a:off x="3667936" y="1993039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32"/>
          <p:cNvSpPr txBox="1">
            <a:spLocks noChangeArrowheads="1"/>
          </p:cNvSpPr>
          <p:nvPr/>
        </p:nvSpPr>
        <p:spPr bwMode="auto">
          <a:xfrm>
            <a:off x="4718283" y="3125828"/>
            <a:ext cx="1477498" cy="1297274"/>
          </a:xfrm>
          <a:prstGeom prst="diamond">
            <a:avLst/>
          </a:prstGeom>
          <a:solidFill>
            <a:srgbClr val="43536A"/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TextBox 32"/>
          <p:cNvSpPr txBox="1">
            <a:spLocks noChangeArrowheads="1"/>
          </p:cNvSpPr>
          <p:nvPr/>
        </p:nvSpPr>
        <p:spPr bwMode="auto">
          <a:xfrm>
            <a:off x="5768630" y="4258615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直角三角形 25"/>
          <p:cNvSpPr/>
          <p:nvPr/>
        </p:nvSpPr>
        <p:spPr>
          <a:xfrm>
            <a:off x="1" y="1014235"/>
            <a:ext cx="6218757" cy="6218415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85715" y="1975485"/>
            <a:ext cx="7177405" cy="101409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 smtClean="0"/>
              <a:t>掌握</a:t>
            </a:r>
            <a:r>
              <a:rPr lang="en-US" altLang="zh-CN" sz="2400" b="1" dirty="0" smtClean="0"/>
              <a:t>Form</a:t>
            </a:r>
            <a:r>
              <a:rPr lang="zh-CN" altLang="zh-CN" sz="2400" b="1" dirty="0" smtClean="0"/>
              <a:t>数据的获取、</a:t>
            </a:r>
            <a:r>
              <a:rPr lang="en-US" altLang="zh-CN" sz="2400" b="1" dirty="0" smtClean="0"/>
              <a:t>Cookie</a:t>
            </a:r>
            <a:r>
              <a:rPr lang="zh-CN" altLang="zh-CN" sz="2400" b="1" dirty="0" smtClean="0"/>
              <a:t>和</a:t>
            </a:r>
            <a:r>
              <a:rPr lang="en-US" altLang="zh-CN" sz="2400" b="1" dirty="0" smtClean="0"/>
              <a:t>Session</a:t>
            </a:r>
            <a:r>
              <a:rPr lang="zh-CN" altLang="zh-CN" sz="2400" b="1" dirty="0" smtClean="0"/>
              <a:t>的使用、</a:t>
            </a:r>
            <a:r>
              <a:rPr lang="en-US" altLang="zh-CN" sz="2400" b="1" dirty="0" smtClean="0"/>
              <a:t>Form</a:t>
            </a:r>
            <a:r>
              <a:rPr lang="zh-CN" altLang="zh-CN" sz="2400" b="1" dirty="0" smtClean="0"/>
              <a:t>数据的获取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149340" y="3405187"/>
            <a:ext cx="6311900" cy="49917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lang="zh-CN" altLang="zh-CN" sz="2400" b="1" dirty="0" smtClean="0"/>
              <a:t>理解请求和转发的区别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077447" y="4557315"/>
            <a:ext cx="5904518" cy="49917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lang="zh-CN" altLang="zh-CN" sz="2400" b="1" dirty="0" smtClean="0"/>
              <a:t>了解</a:t>
            </a:r>
            <a:r>
              <a:rPr lang="en-US" altLang="zh-CN" sz="2400" b="1" dirty="0" smtClean="0"/>
              <a:t>Servlet</a:t>
            </a:r>
            <a:r>
              <a:rPr lang="zh-CN" altLang="zh-CN" sz="2400" b="1" dirty="0" smtClean="0"/>
              <a:t>生命周期、</a:t>
            </a:r>
            <a:r>
              <a:rPr lang="en-US" altLang="zh-CN" sz="2400" b="1" dirty="0" smtClean="0"/>
              <a:t>HTTP</a:t>
            </a:r>
            <a:r>
              <a:rPr lang="zh-CN" altLang="zh-CN" sz="2400" b="1" dirty="0" smtClean="0"/>
              <a:t>请求响应模型</a:t>
            </a:r>
            <a:endParaRPr kumimoji="1" lang="zh-CN" altLang="en-US" sz="2400" b="1" dirty="0"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49959" y="147317"/>
            <a:ext cx="2237740" cy="728345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3900" dirty="0">
                <a:solidFill>
                  <a:schemeClr val="bg1"/>
                </a:solidFill>
                <a:cs typeface="+mn-ea"/>
                <a:sym typeface="+mn-lt"/>
              </a:rPr>
              <a:t>能力目标</a:t>
            </a:r>
            <a:endParaRPr kumimoji="1" lang="en-US" altLang="zh-CN" sz="39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12" grpId="0" animBg="1"/>
      <p:bldP spid="17" grpId="0" animBg="1"/>
      <p:bldP spid="26" grpId="0" animBg="1"/>
      <p:bldP spid="27" grpId="0"/>
      <p:bldP spid="29" grpId="0"/>
      <p:bldP spid="33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8"/>
          <p:cNvSpPr/>
          <p:nvPr/>
        </p:nvSpPr>
        <p:spPr>
          <a:xfrm>
            <a:off x="-12756" y="0"/>
            <a:ext cx="7266302" cy="7265903"/>
          </a:xfrm>
          <a:custGeom>
            <a:avLst/>
            <a:gdLst>
              <a:gd name="connsiteX0" fmla="*/ 0 w 5896303"/>
              <a:gd name="connsiteY0" fmla="*/ 0 h 5896303"/>
              <a:gd name="connsiteX1" fmla="*/ 5896303 w 5896303"/>
              <a:gd name="connsiteY1" fmla="*/ 5896303 h 5896303"/>
              <a:gd name="connsiteX2" fmla="*/ 5579364 w 5896303"/>
              <a:gd name="connsiteY2" fmla="*/ 5896303 h 5896303"/>
              <a:gd name="connsiteX3" fmla="*/ 0 w 5896303"/>
              <a:gd name="connsiteY3" fmla="*/ 316939 h 5896303"/>
              <a:gd name="connsiteX4" fmla="*/ 0 w 5896303"/>
              <a:gd name="connsiteY4" fmla="*/ 0 h 5896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96303" h="5896303">
                <a:moveTo>
                  <a:pt x="0" y="0"/>
                </a:moveTo>
                <a:lnTo>
                  <a:pt x="5896303" y="5896303"/>
                </a:lnTo>
                <a:lnTo>
                  <a:pt x="5579364" y="5896303"/>
                </a:lnTo>
                <a:lnTo>
                  <a:pt x="0" y="316939"/>
                </a:lnTo>
                <a:lnTo>
                  <a:pt x="0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等腰三角形 5"/>
          <p:cNvSpPr/>
          <p:nvPr/>
        </p:nvSpPr>
        <p:spPr>
          <a:xfrm flipV="1">
            <a:off x="1072486" y="448922"/>
            <a:ext cx="4158592" cy="2029130"/>
          </a:xfrm>
          <a:prstGeom prst="triangle">
            <a:avLst/>
          </a:prstGeom>
          <a:noFill/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4" name="等腰三角形 4"/>
          <p:cNvSpPr/>
          <p:nvPr/>
        </p:nvSpPr>
        <p:spPr>
          <a:xfrm flipV="1">
            <a:off x="1072486" y="-1"/>
            <a:ext cx="4158592" cy="2029130"/>
          </a:xfrm>
          <a:prstGeom prst="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7" name="TextBox 32"/>
          <p:cNvSpPr txBox="1">
            <a:spLocks noChangeArrowheads="1"/>
          </p:cNvSpPr>
          <p:nvPr/>
        </p:nvSpPr>
        <p:spPr bwMode="auto">
          <a:xfrm>
            <a:off x="3667936" y="1993039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32"/>
          <p:cNvSpPr txBox="1">
            <a:spLocks noChangeArrowheads="1"/>
          </p:cNvSpPr>
          <p:nvPr/>
        </p:nvSpPr>
        <p:spPr bwMode="auto">
          <a:xfrm>
            <a:off x="4718283" y="3125828"/>
            <a:ext cx="1477498" cy="1297274"/>
          </a:xfrm>
          <a:prstGeom prst="diamond">
            <a:avLst/>
          </a:prstGeom>
          <a:solidFill>
            <a:srgbClr val="43536A"/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TextBox 32"/>
          <p:cNvSpPr txBox="1">
            <a:spLocks noChangeArrowheads="1"/>
          </p:cNvSpPr>
          <p:nvPr/>
        </p:nvSpPr>
        <p:spPr bwMode="auto">
          <a:xfrm>
            <a:off x="5768630" y="4258615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直角三角形 25"/>
          <p:cNvSpPr/>
          <p:nvPr/>
        </p:nvSpPr>
        <p:spPr>
          <a:xfrm>
            <a:off x="1" y="1014235"/>
            <a:ext cx="6218757" cy="6218415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85715" y="1975485"/>
            <a:ext cx="7177405" cy="537513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400" b="1" dirty="0" smtClean="0"/>
              <a:t>培养自主学习的习惯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997327" y="3117155"/>
            <a:ext cx="6311900" cy="49917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lang="zh-CN" altLang="zh-CN" sz="2400" b="1" dirty="0" smtClean="0"/>
              <a:t>培养知识迁移的能力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077447" y="4264397"/>
            <a:ext cx="5431790" cy="49917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lang="zh-CN" altLang="zh-CN" sz="2400" b="1" dirty="0" smtClean="0"/>
              <a:t>培养团队协作的能力</a:t>
            </a:r>
            <a:endParaRPr kumimoji="1" lang="zh-CN" altLang="en-US" sz="2400" b="1" dirty="0"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38717" y="147317"/>
            <a:ext cx="2260225" cy="730002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3900" dirty="0" smtClean="0">
                <a:solidFill>
                  <a:schemeClr val="bg1"/>
                </a:solidFill>
                <a:cs typeface="+mn-ea"/>
                <a:sym typeface="+mn-lt"/>
              </a:rPr>
              <a:t>素质目标</a:t>
            </a:r>
            <a:endParaRPr kumimoji="1" lang="en-US" altLang="zh-CN" sz="39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12" grpId="0" animBg="1"/>
      <p:bldP spid="17" grpId="0" animBg="1"/>
      <p:bldP spid="26" grpId="0" animBg="1"/>
      <p:bldP spid="27" grpId="0"/>
      <p:bldP spid="29" grpId="0"/>
      <p:bldP spid="33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3255127" y="1672109"/>
            <a:ext cx="6330635" cy="868501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800" b="1" dirty="0" smtClean="0">
                <a:solidFill>
                  <a:srgbClr val="43536A"/>
                </a:solidFill>
                <a:cs typeface="+mn-ea"/>
              </a:rPr>
              <a:t>4.1  </a:t>
            </a:r>
            <a:r>
              <a:rPr lang="en-US" altLang="zh-CN" sz="4800" dirty="0" smtClean="0"/>
              <a:t>HTTP</a:t>
            </a:r>
            <a:r>
              <a:rPr lang="zh-CN" altLang="zh-CN" sz="4800" dirty="0" smtClean="0"/>
              <a:t>请求响应模型</a:t>
            </a:r>
            <a:endParaRPr kumimoji="1" lang="zh-CN" altLang="en-US" sz="48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84" y="606069"/>
            <a:ext cx="11264801" cy="656296"/>
          </a:xfrm>
        </p:spPr>
        <p:txBody>
          <a:bodyPr/>
          <a:lstStyle/>
          <a:p>
            <a:pPr marL="457200" indent="-457200">
              <a:lnSpc>
                <a:spcPts val="4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第四章   </a:t>
            </a:r>
            <a:r>
              <a:rPr lang="en-US" altLang="zh-CN" dirty="0" smtClean="0"/>
              <a:t>Servlet</a:t>
            </a:r>
            <a:r>
              <a:rPr lang="zh-CN" altLang="zh-CN" dirty="0" smtClean="0"/>
              <a:t>基础</a:t>
            </a:r>
            <a:endParaRPr lang="zh-CN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1100788" y="2104157"/>
            <a:ext cx="2436799" cy="900204"/>
          </a:xfrm>
          <a:prstGeom prst="rect">
            <a:avLst/>
          </a:prstGeom>
        </p:spPr>
        <p:txBody>
          <a:bodyPr wrap="none" lIns="91397" tIns="45699" rIns="91397" bIns="45699">
            <a:spAutoFit/>
          </a:bodyPr>
          <a:lstStyle/>
          <a:p>
            <a:pPr marL="573405" indent="-573405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37674" y="2330723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lnSpc>
                <a:spcPts val="4000"/>
              </a:lnSpc>
            </a:pPr>
            <a:r>
              <a:rPr lang="en-US" sz="2600" dirty="0" smtClean="0">
                <a:ea typeface="宋体" panose="02010600030101010101" pitchFamily="2" charset="-122"/>
              </a:rPr>
              <a:t>HTTP</a:t>
            </a:r>
            <a:r>
              <a:rPr lang="zh-CN" altLang="en-US" sz="2600" dirty="0" smtClean="0">
                <a:ea typeface="宋体" panose="02010600030101010101" pitchFamily="2" charset="-122"/>
              </a:rPr>
              <a:t>请求响应模型</a:t>
            </a:r>
            <a:endParaRPr lang="zh-CN" altLang="en-US" sz="24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549055" y="4205652"/>
            <a:ext cx="12280552" cy="302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180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4465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787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127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531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2872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276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61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zh-CN" altLang="en-US" sz="2600" dirty="0" smtClean="0">
                <a:ea typeface="宋体" panose="02010600030101010101" pitchFamily="2" charset="-122"/>
              </a:rPr>
              <a:t>理解：</a:t>
            </a:r>
            <a:r>
              <a:rPr lang="en-US" altLang="zh-CN" sz="2600" dirty="0" smtClean="0">
                <a:ea typeface="宋体" panose="02010600030101010101" pitchFamily="2" charset="-122"/>
              </a:rPr>
              <a:t>HTTP</a:t>
            </a:r>
            <a:r>
              <a:rPr lang="zh-CN" altLang="en-US" sz="2600" dirty="0" smtClean="0">
                <a:ea typeface="宋体" panose="02010600030101010101" pitchFamily="2" charset="-122"/>
              </a:rPr>
              <a:t>请求响应模型</a:t>
            </a:r>
            <a:endParaRPr lang="en-US" altLang="zh-CN" sz="2600" dirty="0" smtClean="0">
              <a:ea typeface="宋体" panose="02010600030101010101" pitchFamily="2" charset="-122"/>
            </a:endParaRPr>
          </a:p>
          <a:p>
            <a:pPr marL="456565" indent="-456565">
              <a:lnSpc>
                <a:spcPct val="200000"/>
              </a:lnSpc>
            </a:pPr>
            <a:endParaRPr lang="zh-CN" altLang="en-US" sz="2600" dirty="0"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1594" y="4385359"/>
            <a:ext cx="2436758" cy="630879"/>
          </a:xfrm>
          <a:prstGeom prst="rect">
            <a:avLst/>
          </a:prstGeom>
        </p:spPr>
        <p:txBody>
          <a:bodyPr wrap="none" lIns="91377" tIns="45689" rIns="91377" bIns="45689">
            <a:spAutoFit/>
          </a:bodyPr>
          <a:lstStyle/>
          <a:p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教学要求：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812751" y="1888133"/>
            <a:ext cx="10147718" cy="2331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当在浏览器中输入某个网址，浏览器就会呈现出这个网址对应的网页内容，在你每天上网浏览网页重复这个过程的时候，你是否想过浏览器是怎样向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服务器发出请求，而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服务器接受到请求后是如何处理然后返回响应的？浏览器与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服务器的通信过程是基于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协议的，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Hyper Text Transfer Protocol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）是超文本传输协议的缩写，采用的是请求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/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响应模型。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68735" y="1600101"/>
            <a:ext cx="11264801" cy="656296"/>
          </a:xfrm>
        </p:spPr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HTTP</a:t>
            </a:r>
            <a:r>
              <a:rPr lang="zh-CN" altLang="en-US" dirty="0" smtClean="0">
                <a:ea typeface="宋体" panose="02010600030101010101" pitchFamily="2" charset="-122"/>
              </a:rPr>
              <a:t>请求响应模型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668735" y="1816125"/>
            <a:ext cx="11449272" cy="3993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分析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请求响应模型过程如下：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．连接至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服务器</a:t>
            </a: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/>
              <a:t>2</a:t>
            </a:r>
            <a:r>
              <a:rPr lang="zh-CN" altLang="zh-CN" dirty="0" smtClean="0"/>
              <a:t>．发送</a:t>
            </a:r>
            <a:r>
              <a:rPr lang="en-US" altLang="zh-CN" dirty="0" smtClean="0"/>
              <a:t>HTTP</a:t>
            </a:r>
            <a:r>
              <a:rPr lang="zh-CN" altLang="zh-CN" dirty="0" smtClean="0"/>
              <a:t>请求</a:t>
            </a:r>
            <a:endParaRPr lang="en-US" altLang="zh-CN" dirty="0" smtClean="0"/>
          </a:p>
          <a:p>
            <a:pPr>
              <a:lnSpc>
                <a:spcPct val="200000"/>
              </a:lnSpc>
            </a:pPr>
            <a:r>
              <a:rPr lang="en-US" altLang="zh-CN" dirty="0" smtClean="0"/>
              <a:t>3</a:t>
            </a:r>
            <a:r>
              <a:rPr lang="zh-CN" altLang="zh-CN" dirty="0" smtClean="0"/>
              <a:t>．服务端接受请求并返回</a:t>
            </a:r>
            <a:r>
              <a:rPr lang="en-US" altLang="zh-CN" dirty="0" smtClean="0"/>
              <a:t>HTTP</a:t>
            </a:r>
            <a:r>
              <a:rPr lang="zh-CN" altLang="zh-CN" dirty="0" smtClean="0"/>
              <a:t>响应</a:t>
            </a:r>
            <a:endParaRPr lang="en-US" altLang="zh-CN" dirty="0" smtClean="0"/>
          </a:p>
          <a:p>
            <a:pPr>
              <a:lnSpc>
                <a:spcPct val="200000"/>
              </a:lnSpc>
            </a:pPr>
            <a:r>
              <a:rPr lang="en-US" altLang="zh-CN" dirty="0" smtClean="0"/>
              <a:t>4</a:t>
            </a:r>
            <a:r>
              <a:rPr lang="zh-CN" altLang="zh-CN" dirty="0" smtClean="0"/>
              <a:t>．服务器关闭连接，浏览器解析</a:t>
            </a:r>
            <a:r>
              <a:rPr lang="en-US" altLang="zh-CN" dirty="0" smtClean="0"/>
              <a:t>HTTP</a:t>
            </a:r>
            <a:r>
              <a:rPr lang="zh-CN" altLang="zh-CN" dirty="0" smtClean="0"/>
              <a:t>响应</a:t>
            </a:r>
            <a:endParaRPr lang="zh-CN" altLang="zh-CN" dirty="0" smtClean="0"/>
          </a:p>
          <a:p>
            <a:pPr>
              <a:lnSpc>
                <a:spcPct val="200000"/>
              </a:lnSpc>
            </a:pPr>
            <a:endParaRPr lang="zh-CN" altLang="zh-CN" dirty="0" smtClean="0"/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759028" y="654622"/>
            <a:ext cx="11264801" cy="656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ctr" anchorCtr="0" compatLnSpc="1"/>
          <a:lstStyle/>
          <a:p>
            <a:pPr lvl="0" algn="ctr"/>
            <a:r>
              <a:rPr lang="en-US" altLang="zh-CN" sz="4000" b="1" kern="0" dirty="0" smtClean="0">
                <a:solidFill>
                  <a:schemeClr val="bg1"/>
                </a:solidFill>
                <a:latin typeface="+mj-lt"/>
                <a:cs typeface="+mj-cs"/>
              </a:rPr>
              <a:t>HTTP</a:t>
            </a:r>
            <a:r>
              <a:rPr lang="zh-CN" altLang="en-US" sz="4000" b="1" kern="0" dirty="0" smtClean="0">
                <a:solidFill>
                  <a:schemeClr val="bg1"/>
                </a:solidFill>
                <a:latin typeface="+mj-lt"/>
                <a:cs typeface="+mj-cs"/>
              </a:rPr>
              <a:t>请求响应模型</a:t>
            </a:r>
            <a:endParaRPr lang="zh-CN" altLang="en-US" sz="4000" b="1" kern="0" dirty="0" smtClean="0">
              <a:solidFill>
                <a:schemeClr val="bg1"/>
              </a:solidFill>
              <a:latin typeface="+mj-lt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444775" y="1761854"/>
            <a:ext cx="4005383" cy="806946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400" b="1" dirty="0" smtClean="0">
                <a:solidFill>
                  <a:srgbClr val="43536A"/>
                </a:solidFill>
                <a:cs typeface="+mn-ea"/>
              </a:rPr>
              <a:t>4.2  Servlet</a:t>
            </a:r>
            <a:r>
              <a:rPr kumimoji="1" lang="zh-CN" altLang="en-US" sz="4400" b="1" dirty="0" smtClean="0">
                <a:solidFill>
                  <a:srgbClr val="43536A"/>
                </a:solidFill>
                <a:cs typeface="+mn-ea"/>
              </a:rPr>
              <a:t>实现</a:t>
            </a:r>
            <a:endParaRPr kumimoji="1" lang="zh-CN" altLang="en-US" sz="44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92" y="606069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第四章   </a:t>
            </a:r>
            <a:r>
              <a:rPr lang="en-US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基础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0787" y="2104160"/>
            <a:ext cx="2436671" cy="900143"/>
          </a:xfrm>
          <a:prstGeom prst="rect">
            <a:avLst/>
          </a:prstGeom>
        </p:spPr>
        <p:txBody>
          <a:bodyPr wrap="none" lIns="91334" tIns="45669" rIns="91334" bIns="45669">
            <a:spAutoFit/>
          </a:bodyPr>
          <a:lstStyle/>
          <a:p>
            <a:pPr marL="573405" indent="-573405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37683" y="2104157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en-US" altLang="zh-CN" sz="2600" dirty="0" smtClean="0">
                <a:ea typeface="宋体" panose="02010600030101010101" pitchFamily="2" charset="-122"/>
              </a:rPr>
              <a:t>Servlet</a:t>
            </a:r>
            <a:r>
              <a:rPr lang="zh-CN" altLang="en-US" sz="2600" dirty="0" smtClean="0">
                <a:ea typeface="宋体" panose="02010600030101010101" pitchFamily="2" charset="-122"/>
              </a:rPr>
              <a:t>实现</a:t>
            </a:r>
            <a:endParaRPr lang="zh-CN" altLang="en-US" sz="23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37587" y="4749895"/>
            <a:ext cx="12280552" cy="302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180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4465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787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127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531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2872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276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61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zh-CN" altLang="en-US" sz="2600" dirty="0">
                <a:ea typeface="宋体" panose="02010600030101010101" pitchFamily="2" charset="-122"/>
              </a:rPr>
              <a:t>掌握</a:t>
            </a:r>
            <a:r>
              <a:rPr lang="zh-CN" altLang="en-US" sz="2600" dirty="0" smtClean="0">
                <a:ea typeface="宋体" panose="02010600030101010101" pitchFamily="2" charset="-122"/>
              </a:rPr>
              <a:t>：</a:t>
            </a:r>
            <a:r>
              <a:rPr lang="en-US" altLang="zh-CN" sz="2600" dirty="0" smtClean="0">
                <a:ea typeface="宋体" panose="02010600030101010101" pitchFamily="2" charset="-122"/>
              </a:rPr>
              <a:t>Servlet</a:t>
            </a:r>
            <a:r>
              <a:rPr lang="zh-CN" altLang="en-US" sz="2600" dirty="0" smtClean="0">
                <a:ea typeface="宋体" panose="02010600030101010101" pitchFamily="2" charset="-122"/>
              </a:rPr>
              <a:t>的实现方式</a:t>
            </a:r>
            <a:endParaRPr lang="en-US" altLang="zh-CN" sz="2600" dirty="0" smtClean="0"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20126" y="4929602"/>
            <a:ext cx="2436758" cy="630879"/>
          </a:xfrm>
          <a:prstGeom prst="rect">
            <a:avLst/>
          </a:prstGeom>
        </p:spPr>
        <p:txBody>
          <a:bodyPr wrap="none" lIns="91377" tIns="45689" rIns="91377" bIns="45689">
            <a:spAutoFit/>
          </a:bodyPr>
          <a:lstStyle/>
          <a:p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教学要求：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252264" y="1805092"/>
            <a:ext cx="12225783" cy="122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基于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的请求响应模型，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容器在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通信和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服务器平台之间实现了一个抽象层。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容器负责把请求传递给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，并把结果响应返回给客户。而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JSP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则是以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为基础开发，它被翻译成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再执行。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2770" name="Picture 2" descr="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261023" y="3256285"/>
            <a:ext cx="5904656" cy="324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实现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252264" y="1600101"/>
            <a:ext cx="12606486" cy="581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其中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 API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提供了大量的类和接口，熟悉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 API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常用的类和接口是深入掌握和运用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Serlvet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技术的基础。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701183" y="2536205"/>
            <a:ext cx="2664296" cy="3674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实现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08695" y="1456085"/>
            <a:ext cx="12225783" cy="4459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Annotation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是与一个程序元素相关联信息或者元数据的标注，可以通过反射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API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获取到这些标注信息，可以在程序运行期间根据标识信息，对程序的执行作出相应的改变。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Annotation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不影响程序的执行，但是对例如编译器警告或者像文档生成器等辅助工具产生影响。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Servlet3.0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以后，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web.xml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中对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配置，可以通过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@WebServlet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注解代替。在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中，设置了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@WebServlet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注解，当请求该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时，服务器就会自动读取其中的信息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,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注解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@WebServlet("/ServletByHttpServlet")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，则表示该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默认的请求路径为“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/ ServletByHttpServlet”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，这里省略了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urlPatterns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属性名，完整的写法应该是“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@WebServlet(urlPatterns = “/ServletByHttpServlet”)”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，如果在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@WebServlet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中需要设置多个属性，必须给属性值加上属性名称，中间用逗号隔开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,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否则会报错。若没有设置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@WebServlet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name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属性，默认值会是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的类完整名称。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3878915" y="1761854"/>
            <a:ext cx="5137103" cy="806946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400" b="1" dirty="0" smtClean="0">
                <a:solidFill>
                  <a:srgbClr val="43536A"/>
                </a:solidFill>
                <a:cs typeface="+mn-ea"/>
              </a:rPr>
              <a:t>4.3  Servlet</a:t>
            </a:r>
            <a:r>
              <a:rPr kumimoji="1" lang="zh-CN" altLang="en-US" sz="4400" b="1" dirty="0" smtClean="0">
                <a:solidFill>
                  <a:srgbClr val="43536A"/>
                </a:solidFill>
                <a:cs typeface="+mn-ea"/>
              </a:rPr>
              <a:t>生命周期</a:t>
            </a:r>
            <a:endParaRPr kumimoji="1" lang="zh-CN" altLang="en-US" sz="44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98" y="606069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第四章 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基础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0792" y="2104164"/>
            <a:ext cx="2436585" cy="900103"/>
          </a:xfrm>
          <a:prstGeom prst="rect">
            <a:avLst/>
          </a:prstGeom>
        </p:spPr>
        <p:txBody>
          <a:bodyPr wrap="none" lIns="91291" tIns="45649" rIns="91291" bIns="45649">
            <a:spAutoFit/>
          </a:bodyPr>
          <a:lstStyle/>
          <a:p>
            <a:pPr marL="572770" indent="-572770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37688" y="2104157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596" tIns="57300" rIns="114596" bIns="57300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en-US" altLang="zh-CN" sz="2600" dirty="0" smtClean="0">
                <a:ea typeface="宋体" panose="02010600030101010101" pitchFamily="2" charset="-122"/>
              </a:rPr>
              <a:t>Servlet</a:t>
            </a:r>
            <a:r>
              <a:rPr lang="zh-CN" altLang="en-US" sz="2600" dirty="0" smtClean="0">
                <a:ea typeface="宋体" panose="02010600030101010101" pitchFamily="2" charset="-122"/>
              </a:rPr>
              <a:t>生命周期</a:t>
            </a:r>
            <a:endParaRPr lang="zh-CN" altLang="en-US" sz="23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37587" y="4749895"/>
            <a:ext cx="12280552" cy="302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596" tIns="57300" rIns="114596" bIns="57300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180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4465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787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127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531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2872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276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61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lvl="1" indent="-45656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zh-CN" altLang="en-US" sz="2600" dirty="0" smtClean="0"/>
              <a:t>理</a:t>
            </a:r>
            <a:r>
              <a:rPr lang="zh-CN" altLang="en-US" sz="2600" dirty="0"/>
              <a:t>解</a:t>
            </a:r>
            <a:r>
              <a:rPr lang="zh-CN" altLang="en-US" sz="2600" dirty="0" smtClean="0"/>
              <a:t>：</a:t>
            </a:r>
            <a:r>
              <a:rPr lang="en-US" altLang="zh-CN" sz="2600" dirty="0" smtClean="0"/>
              <a:t>Servlet</a:t>
            </a:r>
            <a:r>
              <a:rPr lang="zh-CN" altLang="en-US" sz="2600" dirty="0" smtClean="0"/>
              <a:t>生命周期</a:t>
            </a:r>
            <a:endParaRPr lang="en-US" altLang="zh-CN" sz="2600" dirty="0" smtClean="0"/>
          </a:p>
        </p:txBody>
      </p:sp>
      <p:sp>
        <p:nvSpPr>
          <p:cNvPr id="4" name="矩形 3"/>
          <p:cNvSpPr/>
          <p:nvPr/>
        </p:nvSpPr>
        <p:spPr>
          <a:xfrm>
            <a:off x="1120126" y="4929604"/>
            <a:ext cx="2436671" cy="630839"/>
          </a:xfrm>
          <a:prstGeom prst="rect">
            <a:avLst/>
          </a:prstGeom>
        </p:spPr>
        <p:txBody>
          <a:bodyPr wrap="none" lIns="91334" tIns="45669" rIns="91334" bIns="45669">
            <a:spAutoFit/>
          </a:bodyPr>
          <a:lstStyle/>
          <a:p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教学要求：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5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524719" y="1744117"/>
            <a:ext cx="12081767" cy="144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89" tIns="57394" rIns="114789" bIns="57394" anchor="ctr">
            <a:spAutoFit/>
          </a:bodyPr>
          <a:lstStyle/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部署在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容器中，其生命周期由容器来管理，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的生命周期开始于将它装入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服务器的时，结束于终止或重新装入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时。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的生命周期通过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javax.servlet.Servlet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接口中的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init()、service()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和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destroy()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方法来表示。 。 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117007" y="3112269"/>
            <a:ext cx="6048672" cy="3676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2464266" y="1761854"/>
            <a:ext cx="7966403" cy="806946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400" b="1" dirty="0" smtClean="0">
                <a:solidFill>
                  <a:srgbClr val="43536A"/>
                </a:solidFill>
                <a:cs typeface="+mn-ea"/>
              </a:rPr>
              <a:t>4.4  Servlet</a:t>
            </a:r>
            <a:r>
              <a:rPr kumimoji="1" lang="zh-CN" altLang="en-US" sz="4400" b="1" dirty="0" smtClean="0">
                <a:solidFill>
                  <a:srgbClr val="43536A"/>
                </a:solidFill>
                <a:cs typeface="+mn-ea"/>
              </a:rPr>
              <a:t>请求处理及响应生成</a:t>
            </a:r>
            <a:endParaRPr kumimoji="1" lang="zh-CN" altLang="en-US" sz="44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92" y="606069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第四章  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基础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0787" y="1852086"/>
            <a:ext cx="2436671" cy="900143"/>
          </a:xfrm>
          <a:prstGeom prst="rect">
            <a:avLst/>
          </a:prstGeom>
        </p:spPr>
        <p:txBody>
          <a:bodyPr wrap="none" lIns="91334" tIns="45669" rIns="91334" bIns="45669">
            <a:spAutoFit/>
          </a:bodyPr>
          <a:lstStyle/>
          <a:p>
            <a:pPr marL="573405" indent="-573405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37683" y="1816125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en-US" altLang="zh-CN" sz="2600" dirty="0" smtClean="0">
                <a:ea typeface="宋体" panose="02010600030101010101" pitchFamily="2" charset="-122"/>
              </a:rPr>
              <a:t>Servlet</a:t>
            </a:r>
            <a:r>
              <a:rPr lang="zh-CN" altLang="en-US" sz="2600" dirty="0" smtClean="0">
                <a:ea typeface="宋体" panose="02010600030101010101" pitchFamily="2" charset="-122"/>
              </a:rPr>
              <a:t>请求处理及响应生成</a:t>
            </a:r>
            <a:endParaRPr lang="zh-CN" altLang="en-US" sz="2300" dirty="0"/>
          </a:p>
          <a:p>
            <a:pPr marL="1073785" lvl="1" indent="-532765">
              <a:lnSpc>
                <a:spcPct val="200000"/>
              </a:lnSpc>
            </a:pPr>
            <a:r>
              <a:rPr lang="zh-CN" altLang="en-US" sz="2300" dirty="0" smtClean="0"/>
              <a:t>什么是</a:t>
            </a:r>
            <a:r>
              <a:rPr lang="en-US" altLang="zh-CN" sz="2300" dirty="0" smtClean="0"/>
              <a:t>Form</a:t>
            </a:r>
            <a:r>
              <a:rPr lang="zh-CN" altLang="en-US" sz="2300" dirty="0" smtClean="0"/>
              <a:t>表单数据</a:t>
            </a:r>
            <a:endParaRPr lang="en-US" altLang="zh-CN" sz="2300" dirty="0" smtClean="0"/>
          </a:p>
          <a:p>
            <a:pPr marL="1073785" lvl="1" indent="-532765">
              <a:lnSpc>
                <a:spcPct val="200000"/>
              </a:lnSpc>
            </a:pPr>
            <a:r>
              <a:rPr lang="zh-CN" altLang="en-US" sz="2300" dirty="0" smtClean="0"/>
              <a:t>如何在</a:t>
            </a:r>
            <a:r>
              <a:rPr lang="en-US" altLang="zh-CN" sz="2300" dirty="0" smtClean="0"/>
              <a:t>Servlet</a:t>
            </a:r>
            <a:r>
              <a:rPr lang="zh-CN" altLang="en-US" sz="2300" dirty="0" smtClean="0"/>
              <a:t>中读取表单数据</a:t>
            </a:r>
            <a:endParaRPr lang="en-US" altLang="zh-CN" sz="2300" dirty="0" smtClean="0"/>
          </a:p>
          <a:p>
            <a:pPr marL="1073785" lvl="1" indent="-532765">
              <a:lnSpc>
                <a:spcPct val="200000"/>
              </a:lnSpc>
            </a:pPr>
            <a:r>
              <a:rPr lang="zh-CN" altLang="en-US" sz="2300" dirty="0" smtClean="0"/>
              <a:t> 如何在</a:t>
            </a:r>
            <a:r>
              <a:rPr lang="en-US" altLang="zh-CN" sz="2300" dirty="0" smtClean="0"/>
              <a:t>Servlet</a:t>
            </a:r>
            <a:r>
              <a:rPr lang="zh-CN" altLang="en-US" sz="2300" dirty="0" smtClean="0"/>
              <a:t>中读取请求报头</a:t>
            </a:r>
            <a:endParaRPr lang="en-US" altLang="zh-CN" sz="2300" dirty="0" smtClean="0"/>
          </a:p>
          <a:p>
            <a:pPr marL="1073785" lvl="1" indent="-532765">
              <a:lnSpc>
                <a:spcPct val="200000"/>
              </a:lnSpc>
            </a:pPr>
            <a:r>
              <a:rPr lang="zh-CN" altLang="zh-CN" sz="2400" dirty="0" smtClean="0"/>
              <a:t>什么是</a:t>
            </a:r>
            <a:r>
              <a:rPr lang="en-US" altLang="zh-CN" sz="2400" dirty="0" smtClean="0"/>
              <a:t>HTTP</a:t>
            </a:r>
            <a:r>
              <a:rPr lang="zh-CN" altLang="zh-CN" sz="2400" dirty="0" smtClean="0"/>
              <a:t>响应报头及</a:t>
            </a:r>
            <a:r>
              <a:rPr lang="en-US" altLang="zh-CN" sz="2400" dirty="0" smtClean="0"/>
              <a:t>HTTP</a:t>
            </a:r>
            <a:r>
              <a:rPr lang="zh-CN" altLang="zh-CN" sz="2400" dirty="0" smtClean="0"/>
              <a:t>状态代码</a:t>
            </a:r>
            <a:endParaRPr lang="en-US" altLang="zh-CN" sz="2400" dirty="0" smtClean="0"/>
          </a:p>
          <a:p>
            <a:pPr marL="1073785" lvl="1" indent="-532765">
              <a:lnSpc>
                <a:spcPct val="200000"/>
              </a:lnSpc>
            </a:pPr>
            <a:r>
              <a:rPr lang="zh-CN" altLang="zh-CN" sz="2400" dirty="0" smtClean="0"/>
              <a:t>服务器响应的生成：</a:t>
            </a:r>
            <a:r>
              <a:rPr lang="en-US" altLang="zh-CN" sz="2400" dirty="0" smtClean="0"/>
              <a:t>HTTP</a:t>
            </a:r>
            <a:r>
              <a:rPr lang="zh-CN" altLang="zh-CN" sz="2400" dirty="0" smtClean="0"/>
              <a:t>响应报头及状态代码</a:t>
            </a:r>
            <a:endParaRPr lang="zh-CN" alt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84" y="606069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第四章  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基础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2696" y="1744117"/>
            <a:ext cx="12280552" cy="3026998"/>
          </a:xfrm>
        </p:spPr>
        <p:txBody>
          <a:bodyPr/>
          <a:lstStyle/>
          <a:p>
            <a:pPr marL="573405" indent="-573405">
              <a:lnSpc>
                <a:spcPct val="150000"/>
              </a:lnSpc>
              <a:buNone/>
            </a:pPr>
            <a:r>
              <a:rPr lang="zh-CN" altLang="en-US" b="1" dirty="0">
                <a:ea typeface="楷体_GB2312" pitchFamily="1" charset="-122"/>
              </a:rPr>
              <a:t>教学要求</a:t>
            </a:r>
            <a:endParaRPr lang="zh-CN" altLang="en-US" b="1" dirty="0">
              <a:ea typeface="楷体_GB2312" pitchFamily="1" charset="-122"/>
            </a:endParaRPr>
          </a:p>
          <a:p>
            <a:pPr marL="457200" lvl="1" indent="-457200">
              <a:lnSpc>
                <a:spcPct val="20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ea typeface="宋体" panose="02010600030101010101" pitchFamily="2" charset="-122"/>
              </a:rPr>
              <a:t>．掌握</a:t>
            </a:r>
            <a:r>
              <a:rPr lang="zh-CN" altLang="en-US" sz="2400" dirty="0" smtClean="0">
                <a:ea typeface="宋体" panose="02010600030101010101" pitchFamily="2" charset="-122"/>
              </a:rPr>
              <a:t>：如何在</a:t>
            </a:r>
            <a:r>
              <a:rPr lang="en-US" altLang="zh-CN" sz="2400" dirty="0" smtClean="0">
                <a:ea typeface="宋体" panose="02010600030101010101" pitchFamily="2" charset="-122"/>
              </a:rPr>
              <a:t>Servlet</a:t>
            </a:r>
            <a:r>
              <a:rPr lang="zh-CN" altLang="en-US" sz="2400" dirty="0" smtClean="0">
                <a:ea typeface="宋体" panose="02010600030101010101" pitchFamily="2" charset="-122"/>
              </a:rPr>
              <a:t>中读取表单数据、如何在</a:t>
            </a:r>
            <a:r>
              <a:rPr lang="en-US" altLang="zh-CN" sz="2400" dirty="0" smtClean="0">
                <a:ea typeface="宋体" panose="02010600030101010101" pitchFamily="2" charset="-122"/>
              </a:rPr>
              <a:t>Servlet</a:t>
            </a:r>
            <a:r>
              <a:rPr lang="zh-CN" altLang="en-US" sz="2400" dirty="0" smtClean="0">
                <a:ea typeface="宋体" panose="02010600030101010101" pitchFamily="2" charset="-122"/>
              </a:rPr>
              <a:t>中读取请求报头</a:t>
            </a:r>
            <a:endParaRPr lang="zh-CN" altLang="en-US" sz="2400" dirty="0">
              <a:ea typeface="宋体" panose="02010600030101010101" pitchFamily="2" charset="-122"/>
            </a:endParaRPr>
          </a:p>
          <a:p>
            <a:pPr marL="457200" lvl="1" indent="-457200">
              <a:lnSpc>
                <a:spcPct val="20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ea typeface="宋体" panose="02010600030101010101" pitchFamily="2" charset="-122"/>
              </a:rPr>
              <a:t>．理解</a:t>
            </a:r>
            <a:r>
              <a:rPr lang="zh-CN" altLang="en-US" sz="2400" dirty="0" smtClean="0">
                <a:ea typeface="宋体" panose="02010600030101010101" pitchFamily="2" charset="-122"/>
              </a:rPr>
              <a:t>：什么是</a:t>
            </a:r>
            <a:r>
              <a:rPr lang="en-US" altLang="zh-CN" sz="2400" dirty="0" smtClean="0">
                <a:ea typeface="宋体" panose="02010600030101010101" pitchFamily="2" charset="-122"/>
              </a:rPr>
              <a:t>Form</a:t>
            </a:r>
            <a:r>
              <a:rPr lang="zh-CN" altLang="en-US" sz="2400" dirty="0" smtClean="0">
                <a:ea typeface="宋体" panose="02010600030101010101" pitchFamily="2" charset="-122"/>
              </a:rPr>
              <a:t>表单数据、服务器响应的生成：</a:t>
            </a:r>
            <a:r>
              <a:rPr lang="en-US" altLang="zh-CN" sz="2400" dirty="0" smtClean="0">
                <a:ea typeface="宋体" panose="02010600030101010101" pitchFamily="2" charset="-122"/>
              </a:rPr>
              <a:t>HTTP</a:t>
            </a:r>
            <a:r>
              <a:rPr lang="zh-CN" altLang="en-US" sz="2400" dirty="0" smtClean="0">
                <a:ea typeface="宋体" panose="02010600030101010101" pitchFamily="2" charset="-122"/>
              </a:rPr>
              <a:t>响应报头及状态代码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457200" lvl="1" indent="-457200">
              <a:lnSpc>
                <a:spcPct val="20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ea typeface="宋体" panose="02010600030101010101" pitchFamily="2" charset="-122"/>
              </a:rPr>
              <a:t>．了解</a:t>
            </a:r>
            <a:r>
              <a:rPr lang="zh-CN" altLang="en-US" sz="2400" dirty="0" smtClean="0">
                <a:ea typeface="宋体" panose="02010600030101010101" pitchFamily="2" charset="-122"/>
              </a:rPr>
              <a:t>：什么是</a:t>
            </a:r>
            <a:r>
              <a:rPr lang="en-US" altLang="zh-CN" sz="2400" dirty="0" smtClean="0">
                <a:ea typeface="宋体" panose="02010600030101010101" pitchFamily="2" charset="-122"/>
              </a:rPr>
              <a:t>HTTP</a:t>
            </a:r>
            <a:r>
              <a:rPr lang="zh-CN" altLang="en-US" sz="2400" dirty="0" smtClean="0">
                <a:ea typeface="宋体" panose="02010600030101010101" pitchFamily="2" charset="-122"/>
              </a:rPr>
              <a:t>响应报头及</a:t>
            </a:r>
            <a:r>
              <a:rPr lang="en-US" altLang="zh-CN" sz="2400" dirty="0" smtClean="0">
                <a:ea typeface="宋体" panose="02010600030101010101" pitchFamily="2" charset="-122"/>
              </a:rPr>
              <a:t>HTTP</a:t>
            </a:r>
            <a:r>
              <a:rPr lang="zh-CN" altLang="en-US" sz="2400" dirty="0" smtClean="0">
                <a:ea typeface="宋体" panose="02010600030101010101" pitchFamily="2" charset="-122"/>
              </a:rPr>
              <a:t>状态代码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marL="457200" lvl="1" indent="-457200">
              <a:lnSpc>
                <a:spcPct val="200000"/>
              </a:lnSpc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什么是</a:t>
            </a:r>
            <a:r>
              <a:rPr lang="en-US" dirty="0" smtClean="0">
                <a:ea typeface="宋体" panose="02010600030101010101" pitchFamily="2" charset="-122"/>
              </a:rPr>
              <a:t>Form</a:t>
            </a:r>
            <a:r>
              <a:rPr lang="zh-CN" altLang="en-US" dirty="0" smtClean="0">
                <a:ea typeface="宋体" panose="02010600030101010101" pitchFamily="2" charset="-122"/>
              </a:rPr>
              <a:t>表单数据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740743" y="2536205"/>
            <a:ext cx="11721727" cy="669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Form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表单主要用于采集和提交用户输入的信息。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64879" y="3400301"/>
            <a:ext cx="7272808" cy="3459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请求处理及响应生成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2937" y="1366167"/>
            <a:ext cx="12215813" cy="5303943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如何在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中读取表单数据</a:t>
            </a:r>
            <a:endParaRPr lang="zh-CN" altLang="en-US" sz="3000" dirty="0">
              <a:ea typeface="宋体" panose="02010600030101010101" pitchFamily="2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252264" y="1948781"/>
            <a:ext cx="12606486" cy="4547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只需要调用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HttpServletRequest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getParameter()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方法，在调用参数中提供表单项的名字（大小写敏感）即可读取到表单数据，而且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GET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请求和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POST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请求的处理方法完全相同。</a:t>
            </a: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．单个值的读取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使用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getParameter(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表单项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getParameter()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的返回值是一个字符串。如果指定的表单项存在，但没有值，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getParameter()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返回空字符串；如果指定的表单项不存在，则返回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null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。</a:t>
            </a: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．</a:t>
            </a:r>
            <a:r>
              <a:rPr lang="zh-CN" altLang="zh-CN" dirty="0" smtClean="0"/>
              <a:t>多个值的读取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对于多选框，用户可能会选择多个选项，这个时候需要调用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HttpServletRequest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中的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getParameterValues ()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方法来获取值。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getParameterValues ()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的返回值是字符串数组。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1887503" y="1761854"/>
            <a:ext cx="9119923" cy="806946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400" b="1" dirty="0" smtClean="0">
                <a:solidFill>
                  <a:srgbClr val="43536A"/>
                </a:solidFill>
                <a:cs typeface="+mn-ea"/>
              </a:rPr>
              <a:t>4.5 HTTP</a:t>
            </a:r>
            <a:r>
              <a:rPr kumimoji="1" lang="zh-CN" altLang="en-US" sz="4400" b="1" dirty="0" smtClean="0">
                <a:solidFill>
                  <a:srgbClr val="43536A"/>
                </a:solidFill>
                <a:cs typeface="+mn-ea"/>
              </a:rPr>
              <a:t>请求响应模型应用程序体验</a:t>
            </a:r>
            <a:endParaRPr kumimoji="1" lang="zh-CN" altLang="en-US" sz="44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92" y="606069"/>
            <a:ext cx="11264801" cy="656296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第四章  </a:t>
            </a:r>
            <a:r>
              <a:rPr lang="en-US" altLang="zh-CN" dirty="0">
                <a:ea typeface="宋体" panose="02010600030101010101" pitchFamily="2" charset="-122"/>
              </a:rPr>
              <a:t>Servlet</a:t>
            </a:r>
            <a:r>
              <a:rPr lang="zh-CN" altLang="en-US" dirty="0">
                <a:ea typeface="宋体" panose="02010600030101010101" pitchFamily="2" charset="-122"/>
              </a:rPr>
              <a:t>基础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0787" y="2104160"/>
            <a:ext cx="2436671" cy="900143"/>
          </a:xfrm>
          <a:prstGeom prst="rect">
            <a:avLst/>
          </a:prstGeom>
        </p:spPr>
        <p:txBody>
          <a:bodyPr wrap="none" lIns="91334" tIns="45669" rIns="91334" bIns="45669">
            <a:spAutoFit/>
          </a:bodyPr>
          <a:lstStyle/>
          <a:p>
            <a:pPr marL="573405" indent="-573405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37683" y="2104157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en-US" altLang="zh-CN" sz="2600" dirty="0" smtClean="0">
                <a:ea typeface="宋体" panose="02010600030101010101" pitchFamily="2" charset="-122"/>
              </a:rPr>
              <a:t> HTTP</a:t>
            </a:r>
            <a:r>
              <a:rPr lang="zh-CN" altLang="en-US" sz="2600" dirty="0" smtClean="0">
                <a:ea typeface="宋体" panose="02010600030101010101" pitchFamily="2" charset="-122"/>
              </a:rPr>
              <a:t>请求响应模型应用程序体验</a:t>
            </a:r>
            <a:endParaRPr lang="zh-CN" altLang="en-US" sz="23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37587" y="4749895"/>
            <a:ext cx="12280552" cy="302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180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4465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787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127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531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2872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276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61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zh-CN" altLang="en-US" sz="2600" dirty="0">
                <a:ea typeface="宋体" panose="02010600030101010101" pitchFamily="2" charset="-122"/>
              </a:rPr>
              <a:t>掌握</a:t>
            </a:r>
            <a:r>
              <a:rPr lang="zh-CN" altLang="en-US" sz="2600" dirty="0" smtClean="0">
                <a:ea typeface="宋体" panose="02010600030101010101" pitchFamily="2" charset="-122"/>
              </a:rPr>
              <a:t>：</a:t>
            </a:r>
            <a:r>
              <a:rPr lang="en-US" altLang="zh-CN" sz="2600" dirty="0" smtClean="0">
                <a:ea typeface="宋体" panose="02010600030101010101" pitchFamily="2" charset="-122"/>
              </a:rPr>
              <a:t> HTTP</a:t>
            </a:r>
            <a:r>
              <a:rPr lang="zh-CN" altLang="en-US" sz="2600" dirty="0" smtClean="0">
                <a:ea typeface="宋体" panose="02010600030101010101" pitchFamily="2" charset="-122"/>
              </a:rPr>
              <a:t>请求响应模型应用程序</a:t>
            </a:r>
            <a:endParaRPr lang="en-US" altLang="zh-CN" sz="2600" dirty="0" smtClean="0">
              <a:ea typeface="宋体" panose="02010600030101010101" pitchFamily="2" charset="-122"/>
            </a:endParaRPr>
          </a:p>
          <a:p>
            <a:pPr marL="456565" indent="-456565">
              <a:lnSpc>
                <a:spcPct val="200000"/>
              </a:lnSpc>
            </a:pPr>
            <a:endParaRPr lang="zh-CN" altLang="en-US" sz="2600" dirty="0"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20126" y="4929602"/>
            <a:ext cx="2436758" cy="630879"/>
          </a:xfrm>
          <a:prstGeom prst="rect">
            <a:avLst/>
          </a:prstGeom>
        </p:spPr>
        <p:txBody>
          <a:bodyPr wrap="none" lIns="91377" tIns="45689" rIns="91377" bIns="45689">
            <a:spAutoFit/>
          </a:bodyPr>
          <a:lstStyle/>
          <a:p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教学要求：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HTTP</a:t>
            </a:r>
            <a:r>
              <a:rPr lang="zh-CN" altLang="en-US" dirty="0" smtClean="0">
                <a:ea typeface="宋体" panose="02010600030101010101" pitchFamily="2" charset="-122"/>
              </a:rPr>
              <a:t>请求响应模型应用程序体验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1013522" y="1732724"/>
            <a:ext cx="12606487" cy="1384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89" tIns="57394" rIns="114789" bIns="57394" anchor="ctr">
            <a:spAutoFit/>
          </a:bodyPr>
          <a:lstStyle/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完成一个登录验证功能。输入用户名和密码，提交后后台进行验证（在后台验证时先假设一个正确的用户名和密码），如果验证成功，显示登录成功界面；如果验证失败，回到登录界面重新登陆。在页面进行跳转时用到了设置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头部信息进行页面跳转和通过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sendRedirect()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进行页面跳转等多种方式。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0961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892871" y="3328293"/>
            <a:ext cx="9583301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761113" y="1761854"/>
            <a:ext cx="3372709" cy="806946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400" b="1" dirty="0" smtClean="0">
                <a:solidFill>
                  <a:srgbClr val="43536A"/>
                </a:solidFill>
                <a:cs typeface="+mn-ea"/>
              </a:rPr>
              <a:t>4.6 </a:t>
            </a:r>
            <a:r>
              <a:rPr kumimoji="1" lang="zh-CN" altLang="en-US" sz="4400" b="1" dirty="0" smtClean="0">
                <a:solidFill>
                  <a:srgbClr val="43536A"/>
                </a:solidFill>
                <a:cs typeface="+mn-ea"/>
              </a:rPr>
              <a:t>会话跟踪</a:t>
            </a:r>
            <a:endParaRPr kumimoji="1" lang="zh-CN" altLang="en-US" sz="44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92" y="606069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第四章  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基础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0787" y="1852086"/>
            <a:ext cx="2436671" cy="900143"/>
          </a:xfrm>
          <a:prstGeom prst="rect">
            <a:avLst/>
          </a:prstGeom>
        </p:spPr>
        <p:txBody>
          <a:bodyPr wrap="none" lIns="91334" tIns="45669" rIns="91334" bIns="45669">
            <a:spAutoFit/>
          </a:bodyPr>
          <a:lstStyle/>
          <a:p>
            <a:pPr marL="573405" indent="-573405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37683" y="1816125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zh-CN" altLang="en-US" sz="2600" dirty="0" smtClean="0">
                <a:ea typeface="宋体" panose="02010600030101010101" pitchFamily="2" charset="-122"/>
              </a:rPr>
              <a:t>会话跟踪</a:t>
            </a:r>
            <a:endParaRPr lang="zh-CN" altLang="en-US" sz="2600" dirty="0" smtClean="0">
              <a:ea typeface="宋体" panose="02010600030101010101" pitchFamily="2" charset="-122"/>
            </a:endParaRPr>
          </a:p>
          <a:p>
            <a:pPr marL="1073785" lvl="1" indent="-532765">
              <a:lnSpc>
                <a:spcPct val="200000"/>
              </a:lnSpc>
            </a:pPr>
            <a:r>
              <a:rPr lang="en-US" altLang="zh-CN" sz="2300" dirty="0" smtClean="0"/>
              <a:t>Cookie</a:t>
            </a:r>
            <a:r>
              <a:rPr lang="zh-CN" altLang="en-US" sz="2300" dirty="0" smtClean="0"/>
              <a:t>的使用</a:t>
            </a:r>
            <a:endParaRPr lang="en-US" altLang="zh-CN" sz="2300" dirty="0" smtClean="0"/>
          </a:p>
          <a:p>
            <a:pPr marL="1073785" lvl="1" indent="-532765">
              <a:lnSpc>
                <a:spcPct val="200000"/>
              </a:lnSpc>
            </a:pPr>
            <a:r>
              <a:rPr lang="en-US" altLang="zh-CN" sz="2300" dirty="0" smtClean="0"/>
              <a:t>Session</a:t>
            </a:r>
            <a:r>
              <a:rPr lang="zh-CN" altLang="en-US" sz="2300" dirty="0" smtClean="0"/>
              <a:t>的使用</a:t>
            </a:r>
            <a:endParaRPr lang="en-US" altLang="zh-CN" sz="2300" dirty="0" smtClean="0"/>
          </a:p>
        </p:txBody>
      </p:sp>
      <p:sp>
        <p:nvSpPr>
          <p:cNvPr id="5" name="矩形 4"/>
          <p:cNvSpPr/>
          <p:nvPr/>
        </p:nvSpPr>
        <p:spPr>
          <a:xfrm>
            <a:off x="1120126" y="4929602"/>
            <a:ext cx="2436758" cy="630879"/>
          </a:xfrm>
          <a:prstGeom prst="rect">
            <a:avLst/>
          </a:prstGeom>
        </p:spPr>
        <p:txBody>
          <a:bodyPr wrap="none" lIns="91377" tIns="45689" rIns="91377" bIns="45689">
            <a:spAutoFit/>
          </a:bodyPr>
          <a:lstStyle/>
          <a:p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教学要求：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537587" y="4749895"/>
            <a:ext cx="12280552" cy="302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180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4465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787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127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531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2872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276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61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lvl="1" indent="-45656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zh-CN" altLang="en-US" sz="2600" dirty="0">
                <a:ea typeface="宋体" panose="02010600030101010101" pitchFamily="2" charset="-122"/>
              </a:rPr>
              <a:t>掌握</a:t>
            </a:r>
            <a:r>
              <a:rPr lang="zh-CN" altLang="en-US" sz="2600" dirty="0" smtClean="0">
                <a:ea typeface="宋体" panose="02010600030101010101" pitchFamily="2" charset="-122"/>
              </a:rPr>
              <a:t>：</a:t>
            </a:r>
            <a:r>
              <a:rPr lang="en-US" altLang="zh-CN" sz="2600" dirty="0" smtClean="0">
                <a:ea typeface="宋体" panose="02010600030101010101" pitchFamily="2" charset="-122"/>
              </a:rPr>
              <a:t> </a:t>
            </a:r>
            <a:r>
              <a:rPr lang="en-US" altLang="zh-CN" sz="2300" dirty="0" smtClean="0"/>
              <a:t>Cookie</a:t>
            </a:r>
            <a:r>
              <a:rPr lang="zh-CN" altLang="en-US" sz="2300" dirty="0" smtClean="0"/>
              <a:t>的使用、</a:t>
            </a:r>
            <a:r>
              <a:rPr lang="en-US" altLang="zh-CN" sz="2300" dirty="0" smtClean="0"/>
              <a:t>Session</a:t>
            </a:r>
            <a:r>
              <a:rPr lang="zh-CN" altLang="en-US" sz="2300" dirty="0" smtClean="0"/>
              <a:t>的使用</a:t>
            </a:r>
            <a:endParaRPr lang="en-US" altLang="zh-CN" sz="2300" dirty="0" smtClean="0"/>
          </a:p>
          <a:p>
            <a:pPr marL="456565" indent="-456565">
              <a:lnSpc>
                <a:spcPct val="200000"/>
              </a:lnSpc>
            </a:pPr>
            <a:endParaRPr lang="zh-CN" altLang="en-US" sz="2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Cookie</a:t>
            </a:r>
            <a:r>
              <a:rPr lang="zh-CN" altLang="en-US" smtClean="0">
                <a:ea typeface="宋体" panose="02010600030101010101" pitchFamily="2" charset="-122"/>
              </a:rPr>
              <a:t>的使用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668735" y="2320181"/>
            <a:ext cx="11721727" cy="2243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实际上是一小段的文本信息。客户端请求服务器，如果服务器需要记录该用户状态，就使用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response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向客户端浏览器颁发一个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，客户端浏览器会把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保存起来。当浏览器再请求该网站时，浏览器把请求的网址连同该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一同提交给服务器，服务器检查该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，以此来辨认用户状态。服务器还可以根据需要修改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的内容。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会话跟踪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Cookie</a:t>
            </a:r>
            <a:r>
              <a:rPr lang="zh-CN" altLang="en-US" smtClean="0">
                <a:ea typeface="宋体" panose="02010600030101010101" pitchFamily="2" charset="-122"/>
              </a:rPr>
              <a:t>的使用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740743" y="2408703"/>
            <a:ext cx="11721727" cy="3439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对象使用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key-value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属性对的形式保存用户状态，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key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表示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的名字，名字必须是唯一的；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value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对象中存放的数据，可以是任何对象。一个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对象保存一个属性对，一个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request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或者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response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同时使用多个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。</a:t>
            </a: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/>
              <a:t>Cookie c = </a:t>
            </a:r>
            <a:r>
              <a:rPr lang="en-US" altLang="zh-CN" b="1" dirty="0" smtClean="0"/>
              <a:t>new </a:t>
            </a:r>
            <a:r>
              <a:rPr lang="en-US" altLang="zh-CN" dirty="0" smtClean="0"/>
              <a:t>Cookie(“Name”,str);</a:t>
            </a:r>
            <a:endParaRPr lang="zh-CN" altLang="zh-CN" dirty="0" smtClean="0"/>
          </a:p>
          <a:p>
            <a:pPr>
              <a:lnSpc>
                <a:spcPct val="200000"/>
              </a:lnSpc>
            </a:pPr>
            <a:r>
              <a:rPr lang="en-US" altLang="zh-CN" dirty="0" smtClean="0"/>
              <a:t>response.addCookie(c);</a:t>
            </a:r>
            <a:endParaRPr lang="zh-CN" altLang="zh-CN" dirty="0" smtClean="0"/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会话跟踪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dirty="0" smtClean="0"/>
              <a:t>Session</a:t>
            </a:r>
            <a:r>
              <a:rPr lang="zh-CN" altLang="zh-CN" dirty="0" smtClean="0"/>
              <a:t>的使用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812751" y="2259206"/>
            <a:ext cx="11721727" cy="3439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Session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是另一种记录客户状态的机制，不同的是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保存在客户端浏览器中，而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Session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保存在服务器上。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Session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是一种连接状态变量，客户端浏览器访问服务器的时候，服务器把客户端信息以某种形式记录在服务器上。</a:t>
            </a: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/>
              <a:t>HttpSession session = req.getSession(); //</a:t>
            </a:r>
            <a:r>
              <a:rPr lang="zh-CN" altLang="en-US" dirty="0" smtClean="0"/>
              <a:t>获取</a:t>
            </a:r>
            <a:r>
              <a:rPr lang="en-US" altLang="zh-CN" dirty="0" smtClean="0"/>
              <a:t>Session</a:t>
            </a:r>
            <a:r>
              <a:rPr lang="zh-CN" altLang="en-US" dirty="0" smtClean="0"/>
              <a:t>对象</a:t>
            </a:r>
            <a:endParaRPr lang="zh-CN" altLang="en-US" dirty="0" smtClean="0"/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/>
              <a:t>session.setAttribute("loginTime", new Date());//</a:t>
            </a:r>
            <a:r>
              <a:rPr lang="zh-CN" altLang="en-US" dirty="0" smtClean="0"/>
              <a:t>设置</a:t>
            </a:r>
            <a:r>
              <a:rPr lang="en-US" altLang="zh-CN" dirty="0" smtClean="0"/>
              <a:t>Session</a:t>
            </a:r>
            <a:r>
              <a:rPr lang="zh-CN" altLang="en-US" dirty="0" smtClean="0"/>
              <a:t>中的属性</a:t>
            </a:r>
            <a:endParaRPr lang="zh-CN" altLang="en-US" dirty="0" smtClean="0"/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会话跟踪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sz="2400" dirty="0" smtClean="0"/>
              <a:t>Request</a:t>
            </a:r>
            <a:r>
              <a:rPr lang="zh-CN" altLang="zh-CN" sz="2400" dirty="0" smtClean="0"/>
              <a:t>、</a:t>
            </a:r>
            <a:r>
              <a:rPr lang="en-US" altLang="zh-CN" sz="2400" dirty="0" smtClean="0"/>
              <a:t>Cookie</a:t>
            </a:r>
            <a:r>
              <a:rPr lang="zh-CN" altLang="zh-CN" sz="2400" dirty="0" smtClean="0"/>
              <a:t>、</a:t>
            </a:r>
            <a:r>
              <a:rPr lang="en-US" altLang="zh-CN" sz="2400" dirty="0" smtClean="0"/>
              <a:t>Session</a:t>
            </a:r>
            <a:r>
              <a:rPr lang="zh-CN" altLang="zh-CN" sz="2400" dirty="0" smtClean="0"/>
              <a:t>三种存放会话信息方式比较</a:t>
            </a:r>
            <a:endParaRPr lang="zh-CN" altLang="en-US" sz="2400" dirty="0" smtClean="0">
              <a:ea typeface="宋体" panose="02010600030101010101" pitchFamily="2" charset="-122"/>
            </a:endParaRPr>
          </a:p>
        </p:txBody>
      </p:sp>
      <p:pic>
        <p:nvPicPr>
          <p:cNvPr id="31746" name="Picture 2" descr="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828975" y="2188484"/>
            <a:ext cx="6336704" cy="4722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444776" y="1761854"/>
            <a:ext cx="4005383" cy="806946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400" b="1" dirty="0" smtClean="0">
                <a:solidFill>
                  <a:srgbClr val="43536A"/>
                </a:solidFill>
                <a:cs typeface="+mn-ea"/>
              </a:rPr>
              <a:t>4.7  Servlet</a:t>
            </a:r>
            <a:r>
              <a:rPr kumimoji="1" lang="zh-CN" altLang="en-US" sz="4400" b="1" dirty="0" smtClean="0">
                <a:solidFill>
                  <a:srgbClr val="43536A"/>
                </a:solidFill>
                <a:cs typeface="+mn-ea"/>
              </a:rPr>
              <a:t>异常</a:t>
            </a:r>
            <a:endParaRPr kumimoji="1" lang="zh-CN" altLang="en-US" sz="44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92" y="606069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第四章  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基础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0787" y="1852086"/>
            <a:ext cx="2436671" cy="900143"/>
          </a:xfrm>
          <a:prstGeom prst="rect">
            <a:avLst/>
          </a:prstGeom>
        </p:spPr>
        <p:txBody>
          <a:bodyPr wrap="none" lIns="91334" tIns="45669" rIns="91334" bIns="45669">
            <a:spAutoFit/>
          </a:bodyPr>
          <a:lstStyle/>
          <a:p>
            <a:pPr marL="573405" indent="-573405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37683" y="1816125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en-US" altLang="zh-CN" sz="2600" dirty="0" smtClean="0">
                <a:ea typeface="宋体" panose="02010600030101010101" pitchFamily="2" charset="-122"/>
              </a:rPr>
              <a:t>Servlet</a:t>
            </a:r>
            <a:r>
              <a:rPr lang="zh-CN" altLang="en-US" sz="2600" dirty="0" smtClean="0">
                <a:ea typeface="宋体" panose="02010600030101010101" pitchFamily="2" charset="-122"/>
              </a:rPr>
              <a:t>异常</a:t>
            </a:r>
            <a:endParaRPr lang="en-US" altLang="zh-CN" sz="2600" dirty="0" smtClean="0">
              <a:ea typeface="宋体" panose="02010600030101010101" pitchFamily="2" charset="-122"/>
            </a:endParaRPr>
          </a:p>
          <a:p>
            <a:pPr marL="1073785" lvl="1" indent="-532765">
              <a:lnSpc>
                <a:spcPct val="200000"/>
              </a:lnSpc>
            </a:pPr>
            <a:r>
              <a:rPr lang="en-US" altLang="zh-CN" sz="2300" dirty="0" smtClean="0"/>
              <a:t>ServletException</a:t>
            </a:r>
            <a:r>
              <a:rPr lang="zh-CN" altLang="en-US" sz="2300" dirty="0" smtClean="0"/>
              <a:t>类</a:t>
            </a:r>
            <a:endParaRPr lang="en-US" altLang="zh-CN" sz="2300" dirty="0" smtClean="0"/>
          </a:p>
          <a:p>
            <a:pPr marL="1073785" lvl="1" indent="-532765">
              <a:lnSpc>
                <a:spcPct val="200000"/>
              </a:lnSpc>
            </a:pPr>
            <a:r>
              <a:rPr lang="en-US" altLang="zh-CN" sz="2300" dirty="0" smtClean="0"/>
              <a:t>ServletException</a:t>
            </a:r>
            <a:r>
              <a:rPr lang="zh-CN" altLang="en-US" sz="2300" dirty="0" smtClean="0"/>
              <a:t>类</a:t>
            </a:r>
            <a:endParaRPr lang="en-US" altLang="zh-CN" sz="2300" dirty="0" smtClean="0"/>
          </a:p>
          <a:p>
            <a:pPr marL="456565" indent="-456565">
              <a:lnSpc>
                <a:spcPct val="200000"/>
              </a:lnSpc>
            </a:pPr>
            <a:endParaRPr lang="en-US" altLang="zh-CN" sz="2300" dirty="0" smtClean="0"/>
          </a:p>
        </p:txBody>
      </p:sp>
      <p:sp>
        <p:nvSpPr>
          <p:cNvPr id="5" name="矩形 4"/>
          <p:cNvSpPr/>
          <p:nvPr/>
        </p:nvSpPr>
        <p:spPr>
          <a:xfrm>
            <a:off x="1120126" y="4929602"/>
            <a:ext cx="2436758" cy="630879"/>
          </a:xfrm>
          <a:prstGeom prst="rect">
            <a:avLst/>
          </a:prstGeom>
        </p:spPr>
        <p:txBody>
          <a:bodyPr wrap="none" lIns="91377" tIns="45689" rIns="91377" bIns="45689">
            <a:spAutoFit/>
          </a:bodyPr>
          <a:lstStyle/>
          <a:p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教学要求：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537587" y="4749895"/>
            <a:ext cx="12280552" cy="302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180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4465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787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127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531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2872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276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61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lvl="1" indent="-456565">
              <a:lnSpc>
                <a:spcPct val="200000"/>
              </a:lnSpc>
              <a:buNone/>
            </a:pPr>
            <a:r>
              <a:rPr lang="zh-CN" altLang="en-US" sz="2600" dirty="0" smtClean="0">
                <a:ea typeface="宋体" panose="02010600030101010101" pitchFamily="2" charset="-122"/>
              </a:rPr>
              <a:t>理解：</a:t>
            </a:r>
            <a:r>
              <a:rPr lang="en-US" altLang="zh-CN" sz="2600" dirty="0" smtClean="0">
                <a:ea typeface="宋体" panose="02010600030101010101" pitchFamily="2" charset="-122"/>
              </a:rPr>
              <a:t> </a:t>
            </a:r>
            <a:r>
              <a:rPr lang="en-US" altLang="zh-CN" sz="2300" dirty="0" smtClean="0"/>
              <a:t>Servlet</a:t>
            </a:r>
            <a:r>
              <a:rPr lang="zh-CN" altLang="en-US" sz="2300" dirty="0" smtClean="0"/>
              <a:t>异常</a:t>
            </a:r>
            <a:endParaRPr lang="en-US" altLang="zh-CN" sz="2300" dirty="0" smtClean="0"/>
          </a:p>
          <a:p>
            <a:pPr marL="456565" indent="-456565">
              <a:lnSpc>
                <a:spcPct val="200000"/>
              </a:lnSpc>
            </a:pPr>
            <a:endParaRPr lang="zh-CN" altLang="en-US" sz="2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740743" y="1760631"/>
            <a:ext cx="11721727" cy="3439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javax.servlet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包中定义了两个异常类，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ServletException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UnavailableException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。 </a:t>
            </a: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1 ServletException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类</a:t>
            </a: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ServletException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类定义了一个通用的异常，可以被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init()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、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service()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等方法抛出。</a:t>
            </a: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2 UnavailableException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类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UnavailableException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类是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ServletException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类的子类，该异常被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抛出，用于向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容器指示这个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永久地或者暂时地不可用。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478182" y="1761854"/>
            <a:ext cx="3938570" cy="806946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400" b="1" dirty="0" smtClean="0">
                <a:solidFill>
                  <a:srgbClr val="43536A"/>
                </a:solidFill>
                <a:cs typeface="+mn-ea"/>
              </a:rPr>
              <a:t>4.8 </a:t>
            </a:r>
            <a:r>
              <a:rPr kumimoji="1" lang="zh-CN" altLang="en-US" sz="4400" b="1" dirty="0" smtClean="0">
                <a:solidFill>
                  <a:srgbClr val="43536A"/>
                </a:solidFill>
                <a:cs typeface="+mn-ea"/>
              </a:rPr>
              <a:t>请求和转发</a:t>
            </a:r>
            <a:endParaRPr kumimoji="1" lang="zh-CN" altLang="en-US" sz="44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92" y="606069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第四章  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基础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0787" y="1852086"/>
            <a:ext cx="2436671" cy="900143"/>
          </a:xfrm>
          <a:prstGeom prst="rect">
            <a:avLst/>
          </a:prstGeom>
        </p:spPr>
        <p:txBody>
          <a:bodyPr wrap="none" lIns="91334" tIns="45669" rIns="91334" bIns="45669">
            <a:spAutoFit/>
          </a:bodyPr>
          <a:lstStyle/>
          <a:p>
            <a:pPr marL="573405" indent="-573405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37683" y="1816125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zh-CN" altLang="en-US" sz="2600" dirty="0" smtClean="0">
                <a:ea typeface="宋体" panose="02010600030101010101" pitchFamily="2" charset="-122"/>
              </a:rPr>
              <a:t>请求和转发</a:t>
            </a:r>
            <a:endParaRPr lang="en-US" altLang="zh-CN" sz="2300" dirty="0" smtClean="0"/>
          </a:p>
          <a:p>
            <a:pPr marL="1073785" lvl="1" indent="-532765">
              <a:lnSpc>
                <a:spcPct val="200000"/>
              </a:lnSpc>
            </a:pPr>
            <a:r>
              <a:rPr lang="en-US" altLang="zh-CN" sz="2300" dirty="0" smtClean="0"/>
              <a:t>RequestDispatcher</a:t>
            </a:r>
            <a:r>
              <a:rPr lang="zh-CN" altLang="en-US" sz="2300" dirty="0" smtClean="0"/>
              <a:t>接口</a:t>
            </a:r>
            <a:endParaRPr lang="en-US" altLang="zh-CN" sz="2300" dirty="0" smtClean="0"/>
          </a:p>
          <a:p>
            <a:pPr marL="1073785" lvl="1" indent="-532765">
              <a:lnSpc>
                <a:spcPct val="200000"/>
              </a:lnSpc>
            </a:pPr>
            <a:r>
              <a:rPr lang="en-US" altLang="zh-CN" sz="2300" dirty="0" smtClean="0"/>
              <a:t>sendRedirect()</a:t>
            </a:r>
            <a:r>
              <a:rPr lang="zh-CN" altLang="en-US" sz="2300" dirty="0" smtClean="0"/>
              <a:t>与</a:t>
            </a:r>
            <a:r>
              <a:rPr lang="en-US" altLang="zh-CN" sz="2300" dirty="0" smtClean="0"/>
              <a:t>forward()</a:t>
            </a:r>
            <a:r>
              <a:rPr lang="zh-CN" altLang="en-US" sz="2300" dirty="0" smtClean="0"/>
              <a:t>方法的区别</a:t>
            </a:r>
            <a:endParaRPr lang="en-US" altLang="zh-CN" sz="2300" dirty="0" smtClean="0"/>
          </a:p>
        </p:txBody>
      </p:sp>
      <p:sp>
        <p:nvSpPr>
          <p:cNvPr id="5" name="矩形 4"/>
          <p:cNvSpPr/>
          <p:nvPr/>
        </p:nvSpPr>
        <p:spPr>
          <a:xfrm>
            <a:off x="1120126" y="4929602"/>
            <a:ext cx="2436758" cy="630879"/>
          </a:xfrm>
          <a:prstGeom prst="rect">
            <a:avLst/>
          </a:prstGeom>
        </p:spPr>
        <p:txBody>
          <a:bodyPr wrap="none" lIns="91377" tIns="45689" rIns="91377" bIns="45689">
            <a:spAutoFit/>
          </a:bodyPr>
          <a:lstStyle/>
          <a:p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教学要求：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537587" y="4749895"/>
            <a:ext cx="12280552" cy="302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180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4465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787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127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531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2872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276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61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lvl="1" indent="-45656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zh-CN" altLang="en-US" sz="2600" dirty="0">
                <a:ea typeface="宋体" panose="02010600030101010101" pitchFamily="2" charset="-122"/>
              </a:rPr>
              <a:t>掌</a:t>
            </a:r>
            <a:r>
              <a:rPr lang="zh-CN" altLang="en-US" sz="2600" dirty="0" smtClean="0">
                <a:ea typeface="宋体" panose="02010600030101010101" pitchFamily="2" charset="-122"/>
              </a:rPr>
              <a:t>握：</a:t>
            </a:r>
            <a:r>
              <a:rPr lang="en-US" altLang="zh-CN" sz="2600" dirty="0" smtClean="0">
                <a:ea typeface="宋体" panose="02010600030101010101" pitchFamily="2" charset="-122"/>
              </a:rPr>
              <a:t> </a:t>
            </a:r>
            <a:r>
              <a:rPr lang="en-US" altLang="zh-CN" sz="2300" dirty="0" smtClean="0"/>
              <a:t>sendRedirect()</a:t>
            </a:r>
            <a:r>
              <a:rPr lang="zh-CN" altLang="en-US" sz="2300" dirty="0" smtClean="0"/>
              <a:t>与</a:t>
            </a:r>
            <a:r>
              <a:rPr lang="en-US" altLang="zh-CN" sz="2300" dirty="0" smtClean="0"/>
              <a:t>forward()</a:t>
            </a:r>
            <a:r>
              <a:rPr lang="zh-CN" altLang="en-US" sz="2300" dirty="0" smtClean="0"/>
              <a:t>方法的使用</a:t>
            </a:r>
            <a:endParaRPr lang="en-US" altLang="zh-CN" sz="2300" dirty="0" smtClean="0"/>
          </a:p>
          <a:p>
            <a:pPr marL="456565" indent="-456565">
              <a:lnSpc>
                <a:spcPct val="200000"/>
              </a:lnSpc>
            </a:pPr>
            <a:endParaRPr lang="zh-CN" altLang="en-US" sz="2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RequestDispatcher</a:t>
            </a:r>
            <a:r>
              <a:rPr lang="zh-CN" altLang="en-US" dirty="0" smtClean="0">
                <a:ea typeface="宋体" panose="02010600030101010101" pitchFamily="2" charset="-122"/>
              </a:rPr>
              <a:t>接口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524719" y="2308820"/>
            <a:ext cx="11721727" cy="4547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RequestDispatcher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由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容器创建，利用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RequestDispatcher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对象，可以把请求转发给其他的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或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JSP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页面。</a:t>
            </a: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 smtClean="0"/>
              <a:t>有三种方法可以用来得到</a:t>
            </a:r>
            <a:r>
              <a:rPr lang="en-US" altLang="zh-CN" dirty="0" smtClean="0"/>
              <a:t>RequestDispatcher</a:t>
            </a:r>
            <a:r>
              <a:rPr lang="zh-CN" altLang="en-US" dirty="0" smtClean="0"/>
              <a:t>对象。</a:t>
            </a:r>
            <a:endParaRPr lang="zh-CN" altLang="en-US" dirty="0" smtClean="0"/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．利用</a:t>
            </a:r>
            <a:r>
              <a:rPr lang="en-US" altLang="zh-CN" dirty="0" smtClean="0"/>
              <a:t>ServletRequest</a:t>
            </a:r>
            <a:r>
              <a:rPr lang="zh-CN" altLang="en-US" dirty="0" smtClean="0"/>
              <a:t>接口中的</a:t>
            </a:r>
            <a:r>
              <a:rPr lang="en-US" altLang="zh-CN" dirty="0" smtClean="0"/>
              <a:t>getRequestDispatcher()</a:t>
            </a:r>
            <a:r>
              <a:rPr lang="zh-CN" altLang="en-US" dirty="0" smtClean="0"/>
              <a:t>方法：</a:t>
            </a:r>
            <a:endParaRPr lang="zh-CN" altLang="en-US" dirty="0" smtClean="0"/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/>
              <a:t>public RequestDispatcher getRequestDispatcher(java.lang.String path)</a:t>
            </a:r>
            <a:endParaRPr lang="en-US" altLang="zh-CN" dirty="0" smtClean="0"/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．利用</a:t>
            </a:r>
            <a:r>
              <a:rPr lang="en-US" altLang="zh-CN" dirty="0" smtClean="0"/>
              <a:t>ServletContext</a:t>
            </a:r>
            <a:r>
              <a:rPr lang="zh-CN" altLang="en-US" dirty="0" smtClean="0"/>
              <a:t>接口中的</a:t>
            </a:r>
            <a:r>
              <a:rPr lang="en-US" altLang="zh-CN" dirty="0" smtClean="0"/>
              <a:t>getNamedDispatcher()</a:t>
            </a:r>
            <a:endParaRPr lang="en-US" altLang="zh-CN" dirty="0" smtClean="0"/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/>
              <a:t>public RequestDispatcher getNamedDispatcher (java.lang.String name)</a:t>
            </a:r>
            <a:endParaRPr lang="en-US" altLang="zh-CN" dirty="0" smtClean="0"/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．利用</a:t>
            </a:r>
            <a:r>
              <a:rPr lang="en-US" altLang="zh-CN" dirty="0" smtClean="0"/>
              <a:t>ServletContext</a:t>
            </a:r>
            <a:r>
              <a:rPr lang="zh-CN" altLang="en-US" dirty="0" smtClean="0"/>
              <a:t>接口中的</a:t>
            </a:r>
            <a:r>
              <a:rPr lang="en-US" altLang="zh-CN" dirty="0" smtClean="0"/>
              <a:t>getRequestDispatcher()</a:t>
            </a:r>
            <a:r>
              <a:rPr lang="zh-CN" altLang="en-US" dirty="0" smtClean="0"/>
              <a:t>方法：</a:t>
            </a:r>
            <a:endParaRPr lang="zh-CN" altLang="en-US" dirty="0" smtClean="0"/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/>
              <a:t>public RequestDispatcher getRequestDispatcher (java.lang.String path)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请求和转发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sendRedirect()</a:t>
            </a:r>
            <a:r>
              <a:rPr lang="zh-CN" altLang="en-US" dirty="0" smtClean="0">
                <a:ea typeface="宋体" panose="02010600030101010101" pitchFamily="2" charset="-122"/>
              </a:rPr>
              <a:t>与</a:t>
            </a:r>
            <a:r>
              <a:rPr lang="en-US" altLang="zh-CN" dirty="0" smtClean="0">
                <a:ea typeface="宋体" panose="02010600030101010101" pitchFamily="2" charset="-122"/>
              </a:rPr>
              <a:t>forward()</a:t>
            </a:r>
            <a:r>
              <a:rPr lang="zh-CN" altLang="en-US" dirty="0" smtClean="0">
                <a:ea typeface="宋体" panose="02010600030101010101" pitchFamily="2" charset="-122"/>
              </a:rPr>
              <a:t>方法的区别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pic>
        <p:nvPicPr>
          <p:cNvPr id="32770" name="Picture 2" descr="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60823" y="2752229"/>
            <a:ext cx="7995200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225966" y="1761854"/>
            <a:ext cx="4443002" cy="806946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400" b="1" dirty="0" smtClean="0">
                <a:solidFill>
                  <a:srgbClr val="43536A"/>
                </a:solidFill>
                <a:cs typeface="+mn-ea"/>
              </a:rPr>
              <a:t>4.9 Servlet</a:t>
            </a:r>
            <a:r>
              <a:rPr kumimoji="1" lang="zh-CN" altLang="en-US" sz="4400" b="1" dirty="0" smtClean="0">
                <a:solidFill>
                  <a:srgbClr val="43536A"/>
                </a:solidFill>
                <a:cs typeface="+mn-ea"/>
              </a:rPr>
              <a:t>上下文</a:t>
            </a:r>
            <a:endParaRPr kumimoji="1" lang="zh-CN" altLang="en-US" sz="44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92" y="606069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第四章  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基础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0787" y="1852086"/>
            <a:ext cx="2436671" cy="900143"/>
          </a:xfrm>
          <a:prstGeom prst="rect">
            <a:avLst/>
          </a:prstGeom>
        </p:spPr>
        <p:txBody>
          <a:bodyPr wrap="none" lIns="91334" tIns="45669" rIns="91334" bIns="45669">
            <a:spAutoFit/>
          </a:bodyPr>
          <a:lstStyle/>
          <a:p>
            <a:pPr marL="573405" indent="-573405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37683" y="1816125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en-US" altLang="zh-CN" sz="2600" dirty="0" smtClean="0">
                <a:ea typeface="宋体" panose="02010600030101010101" pitchFamily="2" charset="-122"/>
              </a:rPr>
              <a:t>Servlet</a:t>
            </a:r>
            <a:r>
              <a:rPr lang="zh-CN" altLang="en-US" sz="2600" dirty="0" smtClean="0">
                <a:ea typeface="宋体" panose="02010600030101010101" pitchFamily="2" charset="-122"/>
              </a:rPr>
              <a:t>上下文</a:t>
            </a:r>
            <a:endParaRPr lang="en-US" altLang="zh-CN" sz="2300" dirty="0" smtClean="0"/>
          </a:p>
          <a:p>
            <a:pPr marL="1073785" lvl="1" indent="-532765">
              <a:lnSpc>
                <a:spcPct val="200000"/>
              </a:lnSpc>
            </a:pPr>
            <a:endParaRPr lang="en-US" altLang="zh-CN" sz="2300" dirty="0" smtClean="0"/>
          </a:p>
        </p:txBody>
      </p:sp>
      <p:sp>
        <p:nvSpPr>
          <p:cNvPr id="5" name="矩形 4"/>
          <p:cNvSpPr/>
          <p:nvPr/>
        </p:nvSpPr>
        <p:spPr>
          <a:xfrm>
            <a:off x="1120126" y="4929602"/>
            <a:ext cx="2436758" cy="630879"/>
          </a:xfrm>
          <a:prstGeom prst="rect">
            <a:avLst/>
          </a:prstGeom>
        </p:spPr>
        <p:txBody>
          <a:bodyPr wrap="none" lIns="91377" tIns="45689" rIns="91377" bIns="45689">
            <a:spAutoFit/>
          </a:bodyPr>
          <a:lstStyle/>
          <a:p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教学要求：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537587" y="4749895"/>
            <a:ext cx="12280552" cy="302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180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4465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787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127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531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2872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276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61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lvl="1" indent="-45656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zh-CN" altLang="en-US" sz="2600" dirty="0" smtClean="0">
                <a:ea typeface="宋体" panose="02010600030101010101" pitchFamily="2" charset="-122"/>
              </a:rPr>
              <a:t>理解：</a:t>
            </a:r>
            <a:r>
              <a:rPr lang="en-US" altLang="zh-CN" sz="2600" dirty="0" smtClean="0">
                <a:ea typeface="宋体" panose="02010600030101010101" pitchFamily="2" charset="-122"/>
              </a:rPr>
              <a:t> </a:t>
            </a:r>
            <a:r>
              <a:rPr lang="en-US" altLang="zh-CN" sz="2300" dirty="0" smtClean="0"/>
              <a:t>ServletContext</a:t>
            </a:r>
            <a:r>
              <a:rPr lang="zh-CN" altLang="en-US" sz="2300" dirty="0" smtClean="0"/>
              <a:t>接口</a:t>
            </a:r>
            <a:endParaRPr lang="en-US" altLang="zh-CN" sz="2300" dirty="0" smtClean="0"/>
          </a:p>
          <a:p>
            <a:pPr marL="456565" indent="-456565">
              <a:lnSpc>
                <a:spcPct val="200000"/>
              </a:lnSpc>
            </a:pPr>
            <a:endParaRPr lang="zh-CN" altLang="en-US" sz="2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96727" y="1744117"/>
            <a:ext cx="11721727" cy="2797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ServletContext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接口定义了运行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视图。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ServletContext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实例是通过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getServletContext()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方法获得的。使用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ServletContext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对象，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可以记录事件日志，获取资源的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地址，并且设置和保存上下文内可以访问的其他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的属性。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ServletContext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的已知路径为根路径。比如，假定一个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上下文位于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http://www.sina.com.cn/news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。以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/news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请求路径开头的所有请求，已知为上下文路径，被路由到和该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ServletContext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关联的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9024" y="654622"/>
            <a:ext cx="11264801" cy="656296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典型模块应用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59483" y="1312069"/>
            <a:ext cx="11269266" cy="449027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案例 </a:t>
            </a:r>
            <a:r>
              <a:rPr lang="en-US" altLang="zh-CN" dirty="0" smtClean="0">
                <a:ea typeface="宋体" panose="02010600030101010101" pitchFamily="2" charset="-122"/>
              </a:rPr>
              <a:t>4-1 </a:t>
            </a:r>
            <a:r>
              <a:rPr lang="zh-CN" altLang="en-US" dirty="0" smtClean="0">
                <a:ea typeface="宋体" panose="02010600030101010101" pitchFamily="2" charset="-122"/>
              </a:rPr>
              <a:t>网上购物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indent="0">
              <a:lnSpc>
                <a:spcPct val="200000"/>
              </a:lnSpc>
              <a:spcBef>
                <a:spcPct val="0"/>
              </a:spcBef>
              <a:buNone/>
            </a:pPr>
            <a:r>
              <a:rPr lang="zh-CN" altLang="zh-CN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网上购物是网站中一个常见的功能，</a:t>
            </a:r>
            <a:r>
              <a:rPr lang="zh-CN" altLang="en-US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用户首先在访问登录页面（</a:t>
            </a:r>
            <a:r>
              <a:rPr lang="en-US" altLang="zh-CN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Login</a:t>
            </a:r>
            <a:r>
              <a:rPr lang="zh-CN" altLang="en-US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），此页面会判断当前时间是上午还是下午，然后根据时间跳转到商品不同的购物页面（</a:t>
            </a:r>
            <a:r>
              <a:rPr lang="en-US" altLang="zh-CN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morningShow.html</a:t>
            </a:r>
            <a:r>
              <a:rPr lang="zh-CN" altLang="en-US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afternoonShow.html</a:t>
            </a:r>
            <a:r>
              <a:rPr lang="zh-CN" altLang="en-US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）。在购物页面进行商品选择后，会提交到</a:t>
            </a:r>
            <a:r>
              <a:rPr lang="en-US" altLang="zh-CN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ShowBuy</a:t>
            </a:r>
            <a:r>
              <a:rPr lang="zh-CN" altLang="en-US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页面，显示所购买商品，可以回退反复进行选择商品，商品将会以一次排列下来。</a:t>
            </a:r>
            <a:endParaRPr lang="en-US" altLang="zh-CN" sz="1800" kern="12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algn="ctr">
              <a:lnSpc>
                <a:spcPct val="200000"/>
              </a:lnSpc>
              <a:spcBef>
                <a:spcPct val="0"/>
              </a:spcBef>
              <a:buNone/>
            </a:pPr>
            <a:r>
              <a:rPr lang="zh-CN" altLang="zh-CN" sz="1800" dirty="0" smtClean="0"/>
              <a:t>网上购物程序中的文件</a:t>
            </a:r>
            <a:endParaRPr lang="en-US" altLang="zh-CN" sz="1800" kern="12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>
              <a:lnSpc>
                <a:spcPct val="200000"/>
              </a:lnSpc>
              <a:spcBef>
                <a:spcPct val="0"/>
              </a:spcBef>
              <a:buNone/>
            </a:pPr>
            <a:endParaRPr lang="zh-CN" altLang="zh-CN" sz="1800" kern="12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38913" name="Picture 1"/>
          <p:cNvPicPr>
            <a:picLocks noChangeAspect="1" noChangeArrowheads="1"/>
          </p:cNvPicPr>
          <p:nvPr/>
        </p:nvPicPr>
        <p:blipFill>
          <a:blip r:embed="rId1" cstate="print"/>
          <a:srcRect t="6061"/>
          <a:stretch>
            <a:fillRect/>
          </a:stretch>
        </p:blipFill>
        <p:spPr bwMode="auto">
          <a:xfrm>
            <a:off x="1964879" y="4480421"/>
            <a:ext cx="8551523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9024" y="654622"/>
            <a:ext cx="11264801" cy="656296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典型模块应用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59483" y="1634044"/>
            <a:ext cx="11269266" cy="449027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案例 </a:t>
            </a:r>
            <a:r>
              <a:rPr lang="en-US" altLang="zh-CN" dirty="0" smtClean="0">
                <a:ea typeface="宋体" panose="02010600030101010101" pitchFamily="2" charset="-122"/>
              </a:rPr>
              <a:t>4-2 </a:t>
            </a:r>
            <a:r>
              <a:rPr lang="zh-CN" altLang="zh-CN" dirty="0" smtClean="0"/>
              <a:t>使用</a:t>
            </a:r>
            <a:r>
              <a:rPr lang="en-US" altLang="zh-CN" dirty="0" smtClean="0"/>
              <a:t>Cookie</a:t>
            </a:r>
            <a:r>
              <a:rPr lang="zh-CN" altLang="zh-CN" dirty="0" smtClean="0"/>
              <a:t>保存用户名密码</a:t>
            </a: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31745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40943" y="2608213"/>
            <a:ext cx="6523037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604839" y="622812"/>
            <a:ext cx="8358188" cy="59435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本章小结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236687" y="1528093"/>
            <a:ext cx="12009759" cy="4489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89" tIns="57394" rIns="114789" bIns="57394" anchor="ctr">
            <a:spAutoFit/>
          </a:bodyPr>
          <a:lstStyle/>
          <a:p>
            <a:pPr indent="457200">
              <a:lnSpc>
                <a:spcPct val="16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 API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提供了大量的类和接口，熟悉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 API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常用的类和接口是深入掌握和运用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Serlvet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技术的基础。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配置相关的接口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javax.servlet.ServletConfig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主要用于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容器在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初始化期间传递信息给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实现常用到的相关类有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javax.servlet.http.HttpServlet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lnSpc>
                <a:spcPct val="16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部署在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容器中，其生命周期由容器来管理，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的生命周期开始于将它装入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服务器的时，结束于终止或重新装入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时。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lnSpc>
                <a:spcPct val="16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通过调用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HttpServletRequest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对象的相关方法读取表单数据和请求报头信息，调用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HttpServletResponse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对象的相关方法设置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响应报头及状态代码。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lnSpc>
                <a:spcPct val="16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协议是无状态的协议，服务器无法从连接上跟踪会话，因此在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 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应用设计时通常使用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Session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来跟踪会话，以弥补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协议的不足。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保存在客户端，而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Session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保存在服务器上。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lnSpc>
                <a:spcPct val="160000"/>
              </a:lnSpc>
            </a:pP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604839" y="622812"/>
            <a:ext cx="8358188" cy="59435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本章小结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236687" y="1600101"/>
            <a:ext cx="12009759" cy="2714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89" tIns="57394" rIns="114789" bIns="57394" anchor="ctr">
            <a:spAutoFit/>
          </a:bodyPr>
          <a:lstStyle/>
          <a:p>
            <a:pPr indent="457200">
              <a:lnSpc>
                <a:spcPct val="16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HttpServletResponse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对象的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sendRedirect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方法与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RequestDispatcher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对象的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forward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方法都可以实现用户请求的转发，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sendRedirect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方法使客户端浏览器重新跳转到其指定的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路径，而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forward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方法在服务器端内部将请求转发给另一个资源。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lnSpc>
                <a:spcPct val="16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在编程时需强调代码规范，培养科学严谨、精益求精的工匠精神。工匠精神是一种职业精神，它是职业道德、职业能力和职业品质的体现，是从业者的一种职业价值取向和行为表现。在职位岗位上要保证软件系统运行时正确、稳定，保证客户的需求被精确采集和纳入软件开发计划，保证软件运行时遇到问题能被及时解决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实战演练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252263" y="1467235"/>
            <a:ext cx="12606487" cy="4991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89" tIns="57394" rIns="114789" bIns="57394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实战 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4-1]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修改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4.5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节中的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请求响应模型应用程序，当登录成功后，转入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loginOK.html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时，需要在将登录者的用户名传入到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loginOK.html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页面并上显示出。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实战 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4-2] 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使用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完成一个基于浏览器的个性化网页设置。对于同一个页面，不同的客户端（不同的电脑）可以对其颜色、字体等进行个性化设置，设置后相互之间不影响。这样每次不同的客户端（不同的电脑）访问同一个页面看到的是自己个性化的网页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实战 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4-3] 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使用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Session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完成一个购物网站功能。在一个页面中进行购物，购物完成后跳转到另外一个页面显示所购商品的名称和数量，可以回到购物页面进行反复购物，商品数量进行累加。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实战 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4-4] 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选用合适的方式（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sendRedirect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forward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）完成一下功能。在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页面输入“天问一号”，提交给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页面，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页面自动跳转到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页面，将在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页面上输入的数据在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页面上显示。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实战 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4-5] 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统计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站点上的一个特定页面的访问次数，考虑这样一个场景，在某个新闻网站报道了神舟十二号载人飞船发射圆满成功，希望知道这个新闻每天的访问量。选用合适的方式（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Session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Cookie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）完成这个功能。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>
            <a:off x="0" y="0"/>
            <a:ext cx="7256762" cy="7256364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 rot="5400000" flipV="1">
            <a:off x="1608166" y="1145782"/>
            <a:ext cx="4826927" cy="4827192"/>
          </a:xfrm>
          <a:custGeom>
            <a:avLst/>
            <a:gdLst>
              <a:gd name="connsiteX0" fmla="*/ 0 w 4343400"/>
              <a:gd name="connsiteY0" fmla="*/ 0 h 4343400"/>
              <a:gd name="connsiteX1" fmla="*/ 4343400 w 4343400"/>
              <a:gd name="connsiteY1" fmla="*/ 4343400 h 4343400"/>
              <a:gd name="connsiteX2" fmla="*/ 3486149 w 4343400"/>
              <a:gd name="connsiteY2" fmla="*/ 4343400 h 4343400"/>
              <a:gd name="connsiteX3" fmla="*/ 0 w 4343400"/>
              <a:gd name="connsiteY3" fmla="*/ 857251 h 4343400"/>
              <a:gd name="connsiteX4" fmla="*/ 0 w 4343400"/>
              <a:gd name="connsiteY4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4343400">
                <a:moveTo>
                  <a:pt x="0" y="0"/>
                </a:moveTo>
                <a:lnTo>
                  <a:pt x="4343400" y="4343400"/>
                </a:lnTo>
                <a:lnTo>
                  <a:pt x="3486149" y="4343400"/>
                </a:lnTo>
                <a:lnTo>
                  <a:pt x="0" y="8572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7167" y="1960141"/>
            <a:ext cx="8595718" cy="62228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&lt;&lt;JSP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与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Servlet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开发技术与典型应用教程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&gt;&gt;</a:t>
            </a:r>
            <a:endParaRPr kumimoji="1" lang="zh-CN" altLang="en-US" sz="3200" b="1" dirty="0">
              <a:solidFill>
                <a:srgbClr val="52658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09295" y="2896245"/>
            <a:ext cx="6016403" cy="56072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感谢观看 </a:t>
            </a:r>
            <a:r>
              <a:rPr kumimoji="1" lang="en-US" altLang="zh-CN" sz="28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THANK YOU!</a:t>
            </a:r>
            <a:endParaRPr kumimoji="1" lang="zh-CN" altLang="en-US" sz="2800" dirty="0">
              <a:solidFill>
                <a:prstClr val="white">
                  <a:lumMod val="50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2" name="直角三角形 11"/>
          <p:cNvSpPr/>
          <p:nvPr/>
        </p:nvSpPr>
        <p:spPr>
          <a:xfrm flipH="1">
            <a:off x="8229575" y="3976365"/>
            <a:ext cx="4629176" cy="3279999"/>
          </a:xfrm>
          <a:prstGeom prst="rtTriangle">
            <a:avLst/>
          </a:prstGeom>
          <a:solidFill>
            <a:srgbClr val="43536A"/>
          </a:solidFill>
          <a:ln>
            <a:solidFill>
              <a:srgbClr val="435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直角三角形 15"/>
          <p:cNvSpPr/>
          <p:nvPr/>
        </p:nvSpPr>
        <p:spPr>
          <a:xfrm rot="13500000" flipV="1">
            <a:off x="2775844" y="-1270801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73591" y="397636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000" b="1" dirty="0">
                <a:solidFill>
                  <a:srgbClr val="526580"/>
                </a:solidFill>
                <a:cs typeface="+mn-ea"/>
              </a:rPr>
              <a:t>大连理工大学出版社</a:t>
            </a:r>
            <a:endParaRPr kumimoji="1" lang="zh-CN" altLang="en-US" sz="2000" b="1" dirty="0">
              <a:solidFill>
                <a:srgbClr val="526580"/>
              </a:solidFill>
              <a:cs typeface="+mn-ea"/>
            </a:endParaRPr>
          </a:p>
        </p:txBody>
      </p:sp>
      <p:sp>
        <p:nvSpPr>
          <p:cNvPr id="10" name="文本框 8"/>
          <p:cNvSpPr txBox="1"/>
          <p:nvPr/>
        </p:nvSpPr>
        <p:spPr>
          <a:xfrm rot="2679144">
            <a:off x="1518042" y="2942040"/>
            <a:ext cx="5266506" cy="56072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>
              <a:buNone/>
            </a:pPr>
            <a:r>
              <a:rPr kumimoji="1" lang="zh-CN" altLang="en-US" sz="2800" b="1" dirty="0" smtClean="0">
                <a:solidFill>
                  <a:srgbClr val="526580"/>
                </a:solidFill>
                <a:latin typeface="+mn-ea"/>
                <a:ea typeface="+mn-ea"/>
                <a:cs typeface="+mn-ea"/>
                <a:sym typeface="宋体" panose="02010600030101010101" pitchFamily="2" charset="-122"/>
              </a:rPr>
              <a:t>第四章   </a:t>
            </a:r>
            <a:r>
              <a:rPr kumimoji="1" lang="en-US" altLang="zh-CN" sz="2800" b="1" dirty="0" smtClean="0">
                <a:solidFill>
                  <a:srgbClr val="526580"/>
                </a:solidFill>
                <a:latin typeface="+mn-ea"/>
                <a:ea typeface="+mn-ea"/>
                <a:cs typeface="+mn-ea"/>
                <a:sym typeface="宋体" panose="02010600030101010101" pitchFamily="2" charset="-122"/>
              </a:rPr>
              <a:t> Servlet</a:t>
            </a:r>
            <a:r>
              <a:rPr kumimoji="1" lang="zh-CN" altLang="en-US" sz="2800" b="1" dirty="0" smtClean="0">
                <a:solidFill>
                  <a:srgbClr val="526580"/>
                </a:solidFill>
                <a:latin typeface="+mn-ea"/>
                <a:ea typeface="+mn-ea"/>
                <a:cs typeface="+mn-ea"/>
                <a:sym typeface="宋体" panose="02010600030101010101" pitchFamily="2" charset="-122"/>
              </a:rPr>
              <a:t>基础</a:t>
            </a:r>
            <a:endParaRPr kumimoji="1" lang="zh-CN" altLang="en-US" sz="2800" b="1" dirty="0">
              <a:solidFill>
                <a:srgbClr val="526580"/>
              </a:solidFill>
              <a:latin typeface="+mn-ea"/>
              <a:ea typeface="+mn-ea"/>
              <a:cs typeface="+mn-ea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8" grpId="0"/>
      <p:bldP spid="12" grpId="0" animBg="1"/>
      <p:bldP spid="16" grpId="0" animBg="1"/>
      <p:bldP spid="4" grpId="0"/>
      <p:bldP spid="10" grpId="0"/>
    </p:bldLst>
  </p:timing>
</p:sld>
</file>

<file path=ppt/tags/tag1.xml><?xml version="1.0" encoding="utf-8"?>
<p:tagLst xmlns:p="http://schemas.openxmlformats.org/presentationml/2006/main">
  <p:tag name="ISPRING_PRESENTATION_TITLE" val="bt026.pptx"/>
</p:tagLst>
</file>

<file path=ppt/theme/theme1.xml><?xml version="1.0" encoding="utf-8"?>
<a:theme xmlns:a="http://schemas.openxmlformats.org/drawingml/2006/main" name="自定义设计方案">
  <a:themeElements>
    <a:clrScheme name="自定义 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366"/>
      </a:accent1>
      <a:accent2>
        <a:srgbClr val="003366"/>
      </a:accent2>
      <a:accent3>
        <a:srgbClr val="003366"/>
      </a:accent3>
      <a:accent4>
        <a:srgbClr val="003366"/>
      </a:accent4>
      <a:accent5>
        <a:srgbClr val="003366"/>
      </a:accent5>
      <a:accent6>
        <a:srgbClr val="003366"/>
      </a:accent6>
      <a:hlink>
        <a:srgbClr val="003366"/>
      </a:hlink>
      <a:folHlink>
        <a:srgbClr val="003366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9D9D9">
            <a:alpha val="50196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灰白简约科技PPT模板">
  <a:themeElements>
    <a:clrScheme name="灰白简约科技PPT模板 3">
      <a:dk1>
        <a:srgbClr val="000000"/>
      </a:dk1>
      <a:lt1>
        <a:srgbClr val="FFFFFF"/>
      </a:lt1>
      <a:dk2>
        <a:srgbClr val="333399"/>
      </a:dk2>
      <a:lt2>
        <a:srgbClr val="C0C0C0"/>
      </a:lt2>
      <a:accent1>
        <a:srgbClr val="88BEF4"/>
      </a:accent1>
      <a:accent2>
        <a:srgbClr val="F1900F"/>
      </a:accent2>
      <a:accent3>
        <a:srgbClr val="FFFFFF"/>
      </a:accent3>
      <a:accent4>
        <a:srgbClr val="000000"/>
      </a:accent4>
      <a:accent5>
        <a:srgbClr val="C3DBF8"/>
      </a:accent5>
      <a:accent6>
        <a:srgbClr val="DA820C"/>
      </a:accent6>
      <a:hlink>
        <a:srgbClr val="CC3300"/>
      </a:hlink>
      <a:folHlink>
        <a:srgbClr val="0066CC"/>
      </a:folHlink>
    </a:clrScheme>
    <a:fontScheme name="灰白简约科技PPT模板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灰白简约科技PPT模板 1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2">
        <a:dk1>
          <a:srgbClr val="000000"/>
        </a:dk1>
        <a:lt1>
          <a:srgbClr val="FFFFFF"/>
        </a:lt1>
        <a:dk2>
          <a:srgbClr val="26728A"/>
        </a:dk2>
        <a:lt2>
          <a:srgbClr val="DDDDDD"/>
        </a:lt2>
        <a:accent1>
          <a:srgbClr val="9FCAD3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8A8AE7"/>
        </a:accent6>
        <a:hlink>
          <a:srgbClr val="71A5DF"/>
        </a:hlink>
        <a:folHlink>
          <a:srgbClr val="F1CA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3">
        <a:dk1>
          <a:srgbClr val="000000"/>
        </a:dk1>
        <a:lt1>
          <a:srgbClr val="FFFFFF"/>
        </a:lt1>
        <a:dk2>
          <a:srgbClr val="333399"/>
        </a:dk2>
        <a:lt2>
          <a:srgbClr val="C0C0C0"/>
        </a:lt2>
        <a:accent1>
          <a:srgbClr val="88BEF4"/>
        </a:accent1>
        <a:accent2>
          <a:srgbClr val="F1900F"/>
        </a:accent2>
        <a:accent3>
          <a:srgbClr val="FFFFFF"/>
        </a:accent3>
        <a:accent4>
          <a:srgbClr val="000000"/>
        </a:accent4>
        <a:accent5>
          <a:srgbClr val="C3DBF8"/>
        </a:accent5>
        <a:accent6>
          <a:srgbClr val="DA820C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灰白简约科技PPT模板">
  <a:themeElements>
    <a:clrScheme name="灰白简约科技PPT模板 3">
      <a:dk1>
        <a:srgbClr val="000000"/>
      </a:dk1>
      <a:lt1>
        <a:srgbClr val="FFFFFF"/>
      </a:lt1>
      <a:dk2>
        <a:srgbClr val="333399"/>
      </a:dk2>
      <a:lt2>
        <a:srgbClr val="C0C0C0"/>
      </a:lt2>
      <a:accent1>
        <a:srgbClr val="88BEF4"/>
      </a:accent1>
      <a:accent2>
        <a:srgbClr val="F1900F"/>
      </a:accent2>
      <a:accent3>
        <a:srgbClr val="FFFFFF"/>
      </a:accent3>
      <a:accent4>
        <a:srgbClr val="000000"/>
      </a:accent4>
      <a:accent5>
        <a:srgbClr val="C3DBF8"/>
      </a:accent5>
      <a:accent6>
        <a:srgbClr val="DA820C"/>
      </a:accent6>
      <a:hlink>
        <a:srgbClr val="CC3300"/>
      </a:hlink>
      <a:folHlink>
        <a:srgbClr val="0066CC"/>
      </a:folHlink>
    </a:clrScheme>
    <a:fontScheme name="灰白简约科技PPT模板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灰白简约科技PPT模板 1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2">
        <a:dk1>
          <a:srgbClr val="000000"/>
        </a:dk1>
        <a:lt1>
          <a:srgbClr val="FFFFFF"/>
        </a:lt1>
        <a:dk2>
          <a:srgbClr val="26728A"/>
        </a:dk2>
        <a:lt2>
          <a:srgbClr val="DDDDDD"/>
        </a:lt2>
        <a:accent1>
          <a:srgbClr val="9FCAD3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8A8AE7"/>
        </a:accent6>
        <a:hlink>
          <a:srgbClr val="71A5DF"/>
        </a:hlink>
        <a:folHlink>
          <a:srgbClr val="F1CA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3">
        <a:dk1>
          <a:srgbClr val="000000"/>
        </a:dk1>
        <a:lt1>
          <a:srgbClr val="FFFFFF"/>
        </a:lt1>
        <a:dk2>
          <a:srgbClr val="333399"/>
        </a:dk2>
        <a:lt2>
          <a:srgbClr val="C0C0C0"/>
        </a:lt2>
        <a:accent1>
          <a:srgbClr val="88BEF4"/>
        </a:accent1>
        <a:accent2>
          <a:srgbClr val="F1900F"/>
        </a:accent2>
        <a:accent3>
          <a:srgbClr val="FFFFFF"/>
        </a:accent3>
        <a:accent4>
          <a:srgbClr val="000000"/>
        </a:accent4>
        <a:accent5>
          <a:srgbClr val="C3DBF8"/>
        </a:accent5>
        <a:accent6>
          <a:srgbClr val="DA820C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灰白简约科技PPT模板">
  <a:themeElements>
    <a:clrScheme name="灰白简约科技PPT模板 3">
      <a:dk1>
        <a:srgbClr val="000000"/>
      </a:dk1>
      <a:lt1>
        <a:srgbClr val="FFFFFF"/>
      </a:lt1>
      <a:dk2>
        <a:srgbClr val="333399"/>
      </a:dk2>
      <a:lt2>
        <a:srgbClr val="C0C0C0"/>
      </a:lt2>
      <a:accent1>
        <a:srgbClr val="88BEF4"/>
      </a:accent1>
      <a:accent2>
        <a:srgbClr val="F1900F"/>
      </a:accent2>
      <a:accent3>
        <a:srgbClr val="FFFFFF"/>
      </a:accent3>
      <a:accent4>
        <a:srgbClr val="000000"/>
      </a:accent4>
      <a:accent5>
        <a:srgbClr val="C3DBF8"/>
      </a:accent5>
      <a:accent6>
        <a:srgbClr val="DA820C"/>
      </a:accent6>
      <a:hlink>
        <a:srgbClr val="CC3300"/>
      </a:hlink>
      <a:folHlink>
        <a:srgbClr val="0066CC"/>
      </a:folHlink>
    </a:clrScheme>
    <a:fontScheme name="灰白简约科技PPT模板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灰白简约科技PPT模板 1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2">
        <a:dk1>
          <a:srgbClr val="000000"/>
        </a:dk1>
        <a:lt1>
          <a:srgbClr val="FFFFFF"/>
        </a:lt1>
        <a:dk2>
          <a:srgbClr val="26728A"/>
        </a:dk2>
        <a:lt2>
          <a:srgbClr val="DDDDDD"/>
        </a:lt2>
        <a:accent1>
          <a:srgbClr val="9FCAD3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8A8AE7"/>
        </a:accent6>
        <a:hlink>
          <a:srgbClr val="71A5DF"/>
        </a:hlink>
        <a:folHlink>
          <a:srgbClr val="F1CA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3">
        <a:dk1>
          <a:srgbClr val="000000"/>
        </a:dk1>
        <a:lt1>
          <a:srgbClr val="FFFFFF"/>
        </a:lt1>
        <a:dk2>
          <a:srgbClr val="333399"/>
        </a:dk2>
        <a:lt2>
          <a:srgbClr val="C0C0C0"/>
        </a:lt2>
        <a:accent1>
          <a:srgbClr val="88BEF4"/>
        </a:accent1>
        <a:accent2>
          <a:srgbClr val="F1900F"/>
        </a:accent2>
        <a:accent3>
          <a:srgbClr val="FFFFFF"/>
        </a:accent3>
        <a:accent4>
          <a:srgbClr val="000000"/>
        </a:accent4>
        <a:accent5>
          <a:srgbClr val="C3DBF8"/>
        </a:accent5>
        <a:accent6>
          <a:srgbClr val="DA820C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6147</Words>
  <Application>WPS 演示</Application>
  <PresentationFormat>自定义</PresentationFormat>
  <Paragraphs>321</Paragraphs>
  <Slides>45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45</vt:i4>
      </vt:variant>
    </vt:vector>
  </HeadingPairs>
  <TitlesOfParts>
    <vt:vector size="61" baseType="lpstr">
      <vt:lpstr>Arial</vt:lpstr>
      <vt:lpstr>宋体</vt:lpstr>
      <vt:lpstr>Wingdings</vt:lpstr>
      <vt:lpstr>Calibri</vt:lpstr>
      <vt:lpstr>Agency FB</vt:lpstr>
      <vt:lpstr>方正正黑简体</vt:lpstr>
      <vt:lpstr>黑体</vt:lpstr>
      <vt:lpstr>Arial</vt:lpstr>
      <vt:lpstr>楷体_GB2312</vt:lpstr>
      <vt:lpstr>新宋体</vt:lpstr>
      <vt:lpstr>微软雅黑</vt:lpstr>
      <vt:lpstr>Arial Unicode MS</vt:lpstr>
      <vt:lpstr>自定义设计方案</vt:lpstr>
      <vt:lpstr>灰白简约科技PPT模板</vt:lpstr>
      <vt:lpstr>1_灰白简约科技PPT模板</vt:lpstr>
      <vt:lpstr>2_灰白简约科技PPT模板</vt:lpstr>
      <vt:lpstr>PowerPoint 演示文稿</vt:lpstr>
      <vt:lpstr>PowerPoint 演示文稿</vt:lpstr>
      <vt:lpstr>PowerPoint 演示文稿</vt:lpstr>
      <vt:lpstr>PowerPoint 演示文稿</vt:lpstr>
      <vt:lpstr>第四章   Servlet基础</vt:lpstr>
      <vt:lpstr>授课任务</vt:lpstr>
      <vt:lpstr>HTTP请求响应模型</vt:lpstr>
      <vt:lpstr>PowerPoint 演示文稿</vt:lpstr>
      <vt:lpstr>第四章   Servlet基础</vt:lpstr>
      <vt:lpstr>授课任务</vt:lpstr>
      <vt:lpstr>Servlet实现</vt:lpstr>
      <vt:lpstr>Servlet实现</vt:lpstr>
      <vt:lpstr>PowerPoint 演示文稿</vt:lpstr>
      <vt:lpstr>第四章 Servlet基础</vt:lpstr>
      <vt:lpstr>授课任务</vt:lpstr>
      <vt:lpstr>PowerPoint 演示文稿</vt:lpstr>
      <vt:lpstr>第四章  Servlet基础</vt:lpstr>
      <vt:lpstr>第四章  Servlet基础</vt:lpstr>
      <vt:lpstr>授课任务</vt:lpstr>
      <vt:lpstr>Servlet请求处理及响应生成</vt:lpstr>
      <vt:lpstr>PowerPoint 演示文稿</vt:lpstr>
      <vt:lpstr>第四章  Servlet基础</vt:lpstr>
      <vt:lpstr>HTTP请求响应模型应用程序体验</vt:lpstr>
      <vt:lpstr>PowerPoint 演示文稿</vt:lpstr>
      <vt:lpstr>第四章  Servlet基础</vt:lpstr>
      <vt:lpstr>授课任务</vt:lpstr>
      <vt:lpstr>会话跟踪</vt:lpstr>
      <vt:lpstr>会话跟踪</vt:lpstr>
      <vt:lpstr>会话跟踪</vt:lpstr>
      <vt:lpstr>PowerPoint 演示文稿</vt:lpstr>
      <vt:lpstr>第四章  Servlet基础</vt:lpstr>
      <vt:lpstr>授课任务</vt:lpstr>
      <vt:lpstr>PowerPoint 演示文稿</vt:lpstr>
      <vt:lpstr>第四章  Servlet基础</vt:lpstr>
      <vt:lpstr>授课任务</vt:lpstr>
      <vt:lpstr>请求和转发</vt:lpstr>
      <vt:lpstr>PowerPoint 演示文稿</vt:lpstr>
      <vt:lpstr>第四章  Servlet基础</vt:lpstr>
      <vt:lpstr>授课任务</vt:lpstr>
      <vt:lpstr>典型模块应用</vt:lpstr>
      <vt:lpstr>典型模块应用</vt:lpstr>
      <vt:lpstr>本章小结</vt:lpstr>
      <vt:lpstr>本章小结</vt:lpstr>
      <vt:lpstr>实战演练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bt026.pptx</dc:title>
  <dc:creator/>
  <cp:lastModifiedBy>fx</cp:lastModifiedBy>
  <cp:revision>3</cp:revision>
  <dcterms:created xsi:type="dcterms:W3CDTF">2016-09-20T02:06:00Z</dcterms:created>
  <dcterms:modified xsi:type="dcterms:W3CDTF">2026-07-21T11:22:03Z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E2294E9DBB7945288D93E8453E08630E_12</vt:lpwstr>
  </property>
  <property fmtid="{D5CDD505-2E9C-101B-9397-08002B2CF9AE}" pid="3" name="KSOProductBuildVer">
    <vt:lpwstr>2052-12.1.0.26895</vt:lpwstr>
  </property>
</Properties>
</file>