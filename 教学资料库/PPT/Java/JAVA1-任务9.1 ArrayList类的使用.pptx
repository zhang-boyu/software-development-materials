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62" r:id="rId3"/>
    <p:sldId id="373" r:id="rId5"/>
    <p:sldId id="374" r:id="rId6"/>
    <p:sldId id="340" r:id="rId7"/>
    <p:sldId id="353" r:id="rId8"/>
    <p:sldId id="463" r:id="rId9"/>
    <p:sldId id="464" r:id="rId10"/>
    <p:sldId id="418" r:id="rId11"/>
    <p:sldId id="465" r:id="rId12"/>
    <p:sldId id="419" r:id="rId13"/>
    <p:sldId id="466" r:id="rId14"/>
    <p:sldId id="407" r:id="rId15"/>
    <p:sldId id="456" r:id="rId16"/>
    <p:sldId id="468" r:id="rId17"/>
    <p:sldId id="458" r:id="rId18"/>
    <p:sldId id="347" r:id="rId19"/>
  </p:sldIdLst>
  <p:sldSz cx="12198350" cy="6858000"/>
  <p:notesSz cx="6858000" cy="9144000"/>
  <p:custDataLst>
    <p:tags r:id="rId23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3" userDrawn="1">
          <p15:clr>
            <a:srgbClr val="A4A3A4"/>
          </p15:clr>
        </p15:guide>
        <p15:guide id="2" pos="39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213"/>
        <p:guide pos="392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gs" Target="tags/tag35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emf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5045075" y="1403350"/>
            <a:ext cx="662432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程序设计项目教程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子任务2：在子任务1的基础上，定义子类Cat的属性color以及设置和获取方法；定义测试类输出Cat实例相关属性信息。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94985" y="3500755"/>
            <a:ext cx="5594350" cy="175323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创建一个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ArrayList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集合，向集合中添加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个元素，输出集合元素及其长度，输出第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个元素，删除索引为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的元素，替换索引为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的元素为李宏，输出新的集合元素。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67375" y="4797425"/>
            <a:ext cx="5594350" cy="5067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..</a:t>
            </a:r>
            <a:endParaRPr lang="en-US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集合的概念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矩形 3"/>
          <p:cNvSpPr>
            <a:spLocks noChangeArrowheads="1"/>
          </p:cNvSpPr>
          <p:nvPr/>
        </p:nvSpPr>
        <p:spPr bwMode="auto">
          <a:xfrm>
            <a:off x="6605588" y="4108768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Collection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接口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6603048" y="4477068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List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接口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3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 bldLvl="0" autoUpdateAnimBg="0"/>
      <p:bldP spid="3" grpId="0" bldLvl="0" autoUpdateAnimBg="0"/>
      <p:bldP spid="2" grpId="1"/>
      <p:bldP spid="3" grpId="1"/>
      <p:bldP spid="4" grpId="0" bldLvl="0" autoUpdateAnimBg="0"/>
      <p:bldP spid="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集合的概念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420620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为了存储不同类型的多个对象，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Java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提供了一系列特殊的类，这些类可以存储任意类型的对象，并且存储的长度可变，被统称为集合。集合可以简单理解为一个长度可变，可以存储不同数据类型的动态数组。集合都位于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java.util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包中，使用集合时必须导入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java.util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包。以下是集合体系核心架构图，如图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9-1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所示。其中，虚线框里都是接口类型，实线框里是具体的实现类。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集合的概念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420620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880" y="2493010"/>
            <a:ext cx="8307070" cy="258699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218815" y="5516880"/>
            <a:ext cx="5080000" cy="398780"/>
          </a:xfrm>
          <a:prstGeom prst="rect">
            <a:avLst/>
          </a:prstGeom>
        </p:spPr>
        <p:txBody>
          <a:bodyPr>
            <a:spAutoFit/>
          </a:bodyPr>
          <a:p>
            <a:pPr marL="0" indent="0" algn="ctr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9-1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集合核心体系架构图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集合的概念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426970" y="2277110"/>
            <a:ext cx="8155305" cy="44513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ctr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表</a:t>
            </a:r>
            <a:r>
              <a:rPr lang="en-US" altLang="zh-CN" sz="2400">
                <a:latin typeface="Times New Roman" panose="02020603050405020304"/>
                <a:ea typeface="宋体" panose="02010600030101010101" pitchFamily="2" charset="-122"/>
              </a:rPr>
              <a:t>9-1 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集合中的核心接口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1" name="表格 10"/>
          <p:cNvGraphicFramePr/>
          <p:nvPr/>
        </p:nvGraphicFramePr>
        <p:xfrm>
          <a:off x="2498725" y="2861310"/>
          <a:ext cx="8316595" cy="3143250"/>
        </p:xfrm>
        <a:graphic>
          <a:graphicData uri="http://schemas.openxmlformats.org/drawingml/2006/table">
            <a:tbl>
              <a:tblPr/>
              <a:tblGrid>
                <a:gridCol w="1137285"/>
                <a:gridCol w="7179310"/>
              </a:tblGrid>
              <a:tr h="349250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接口</a:t>
                      </a:r>
                      <a:endParaRPr lang="zh-CN" sz="18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26670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描述</a:t>
                      </a:r>
                      <a:endParaRPr lang="zh-CN" sz="18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98500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latin typeface="Times New Roman" panose="02020603050405020304"/>
                          <a:ea typeface="宋体" panose="02010600030101010101" pitchFamily="2" charset="-122"/>
                        </a:rPr>
                        <a:t>Collection</a:t>
                      </a:r>
                      <a:endParaRPr lang="en-US" altLang="zh-CN" sz="18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集合中最基本的接口，一般不直接使用该接口</a:t>
                      </a:r>
                      <a:endParaRPr lang="zh-CN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98500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latin typeface="Times New Roman" panose="02020603050405020304"/>
                          <a:ea typeface="宋体" panose="02010600030101010101" pitchFamily="2" charset="-122"/>
                        </a:rPr>
                        <a:t>List</a:t>
                      </a:r>
                      <a:endParaRPr lang="en-US" altLang="zh-CN" sz="18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latin typeface="Times New Roman" panose="02020603050405020304"/>
                          <a:ea typeface="宋体" panose="02010600030101010101" pitchFamily="2" charset="-122"/>
                        </a:rPr>
                        <a:t>Collection</a:t>
                      </a:r>
                      <a:r>
                        <a:rPr lang="zh-CN" sz="18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的子接口，用于存储一组有序、不唯一的对象，是集合中常用的接口之一</a:t>
                      </a:r>
                      <a:endParaRPr lang="zh-CN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98500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latin typeface="Times New Roman" panose="02020603050405020304"/>
                          <a:ea typeface="宋体" panose="02010600030101010101" pitchFamily="2" charset="-122"/>
                        </a:rPr>
                        <a:t>Set</a:t>
                      </a:r>
                      <a:endParaRPr lang="en-US" altLang="zh-CN" sz="18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latin typeface="Times New Roman" panose="02020603050405020304"/>
                          <a:ea typeface="宋体" panose="02010600030101010101" pitchFamily="2" charset="-122"/>
                        </a:rPr>
                        <a:t>Collection</a:t>
                      </a:r>
                      <a:r>
                        <a:rPr lang="zh-CN" sz="18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的子接口，用于存储一组无序、唯一的对象</a:t>
                      </a:r>
                      <a:endParaRPr lang="zh-CN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98500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latin typeface="Times New Roman" panose="02020603050405020304"/>
                          <a:ea typeface="宋体" panose="02010600030101010101" pitchFamily="2" charset="-122"/>
                        </a:rPr>
                        <a:t>Map</a:t>
                      </a:r>
                      <a:endParaRPr lang="en-US" altLang="zh-CN" sz="18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用于存储一组键值对象，提供键到值的映射</a:t>
                      </a:r>
                      <a:endParaRPr lang="zh-CN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Collection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接口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420620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  Collection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接口是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Java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单列集合中的根接口，它定义了各种具体单列集合的共性，其他单列集合大多直接或间接继承该接口，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Collection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接口的定义如下所示。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public interface Collection&lt;E&gt; extends Iterable&lt;E&gt;{</a:t>
            </a:r>
            <a:endParaRPr lang="en-US" altLang="zh-CN"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    //Query Operations</a:t>
            </a:r>
            <a:endParaRPr lang="en-US" altLang="zh-CN"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}</a:t>
            </a:r>
            <a:endParaRPr lang="en-US" altLang="zh-CN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Collection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接口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58545" y="2145030"/>
            <a:ext cx="10882630" cy="5530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ctr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表</a:t>
            </a:r>
            <a:r>
              <a:rPr lang="en-US" altLang="zh-CN" sz="2400">
                <a:latin typeface="Times New Roman" panose="02020603050405020304"/>
                <a:ea typeface="宋体" panose="02010600030101010101" pitchFamily="2" charset="-122"/>
              </a:rPr>
              <a:t>9-2 Collection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接口的常用方法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1039495" y="2747645"/>
          <a:ext cx="10967085" cy="2743200"/>
        </p:xfrm>
        <a:graphic>
          <a:graphicData uri="http://schemas.openxmlformats.org/drawingml/2006/table">
            <a:tbl>
              <a:tblPr/>
              <a:tblGrid>
                <a:gridCol w="4920615"/>
                <a:gridCol w="6046470"/>
              </a:tblGrid>
              <a:tr h="215900">
                <a:tc>
                  <a:txBody>
                    <a:bodyPr/>
                    <a:p>
                      <a:pPr marL="85725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4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方法声明</a:t>
                      </a:r>
                      <a:endParaRPr lang="zh-CN" sz="24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4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功能描述</a:t>
                      </a:r>
                      <a:endParaRPr lang="zh-CN" sz="24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5900">
                <a:tc>
                  <a:txBody>
                    <a:bodyPr/>
                    <a:p>
                      <a:pPr marL="85725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latin typeface="Times New Roman" panose="02020603050405020304"/>
                          <a:ea typeface="宋体" panose="02010600030101010101" pitchFamily="2" charset="-122"/>
                        </a:rPr>
                        <a:t>boolean add</a:t>
                      </a:r>
                      <a:r>
                        <a:rPr lang="zh-CN" sz="2400">
                          <a:latin typeface="Times New Roman" panose="02020603050405020304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2400">
                          <a:latin typeface="Times New Roman" panose="02020603050405020304"/>
                          <a:ea typeface="宋体" panose="02010600030101010101" pitchFamily="2" charset="-122"/>
                        </a:rPr>
                        <a:t>Object o</a:t>
                      </a:r>
                      <a:r>
                        <a:rPr lang="zh-CN" sz="240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  <a:endParaRPr lang="zh-CN" sz="24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向集合中添加一个元素</a:t>
                      </a:r>
                      <a:endParaRPr lang="zh-CN" sz="2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85725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latin typeface="Times New Roman" panose="02020603050405020304"/>
                          <a:ea typeface="宋体" panose="02010600030101010101" pitchFamily="2" charset="-122"/>
                        </a:rPr>
                        <a:t>boolean addAll</a:t>
                      </a:r>
                      <a:r>
                        <a:rPr lang="zh-CN" sz="2400">
                          <a:latin typeface="Times New Roman" panose="02020603050405020304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2400">
                          <a:latin typeface="Times New Roman" panose="02020603050405020304"/>
                          <a:ea typeface="宋体" panose="02010600030101010101" pitchFamily="2" charset="-122"/>
                        </a:rPr>
                        <a:t>Collection c</a:t>
                      </a:r>
                      <a:r>
                        <a:rPr lang="zh-CN" sz="240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  <a:endParaRPr lang="zh-CN" sz="24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将指定集合</a:t>
                      </a:r>
                      <a:r>
                        <a:rPr lang="en-US" altLang="zh-CN" sz="2400">
                          <a:latin typeface="Times New Roman" panose="02020603050405020304"/>
                          <a:ea typeface="宋体" panose="02010600030101010101" pitchFamily="2" charset="-122"/>
                        </a:rPr>
                        <a:t>c</a:t>
                      </a:r>
                      <a:r>
                        <a:rPr lang="zh-CN" sz="2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中的所有元素添加到本集合中</a:t>
                      </a:r>
                      <a:endParaRPr lang="zh-CN" sz="2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5900">
                <a:tc>
                  <a:txBody>
                    <a:bodyPr/>
                    <a:p>
                      <a:pPr marL="85725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latin typeface="Times New Roman" panose="02020603050405020304"/>
                          <a:ea typeface="宋体" panose="02010600030101010101" pitchFamily="2" charset="-122"/>
                        </a:rPr>
                        <a:t>void clear</a:t>
                      </a:r>
                      <a:r>
                        <a:rPr lang="zh-CN" sz="2400">
                          <a:latin typeface="Times New Roman" panose="02020603050405020304"/>
                          <a:ea typeface="宋体" panose="02010600030101010101" pitchFamily="2" charset="-122"/>
                        </a:rPr>
                        <a:t>（）</a:t>
                      </a:r>
                      <a:endParaRPr lang="zh-CN" sz="24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删除集合中的所有元素</a:t>
                      </a:r>
                      <a:endParaRPr lang="zh-CN" sz="2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5900">
                <a:tc>
                  <a:txBody>
                    <a:bodyPr/>
                    <a:p>
                      <a:pPr marL="85725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latin typeface="Times New Roman" panose="02020603050405020304"/>
                          <a:ea typeface="宋体" panose="02010600030101010101" pitchFamily="2" charset="-122"/>
                        </a:rPr>
                        <a:t>boolean remove</a:t>
                      </a:r>
                      <a:r>
                        <a:rPr lang="zh-CN" sz="2400">
                          <a:latin typeface="Times New Roman" panose="02020603050405020304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2400">
                          <a:latin typeface="Times New Roman" panose="02020603050405020304"/>
                          <a:ea typeface="宋体" panose="02010600030101010101" pitchFamily="2" charset="-122"/>
                        </a:rPr>
                        <a:t>Object o</a:t>
                      </a:r>
                      <a:r>
                        <a:rPr lang="zh-CN" sz="240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  <a:endParaRPr lang="zh-CN" sz="24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删除集合中指定的元素</a:t>
                      </a:r>
                      <a:endParaRPr lang="zh-CN" sz="2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5900">
                <a:tc>
                  <a:txBody>
                    <a:bodyPr/>
                    <a:p>
                      <a:pPr marL="85725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latin typeface="Times New Roman" panose="02020603050405020304"/>
                          <a:ea typeface="宋体" panose="02010600030101010101" pitchFamily="2" charset="-122"/>
                        </a:rPr>
                        <a:t>boolean removeAll</a:t>
                      </a:r>
                      <a:r>
                        <a:rPr lang="zh-CN" sz="2400">
                          <a:latin typeface="Times New Roman" panose="02020603050405020304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2400">
                          <a:latin typeface="Times New Roman" panose="02020603050405020304"/>
                          <a:ea typeface="宋体" panose="02010600030101010101" pitchFamily="2" charset="-122"/>
                        </a:rPr>
                        <a:t>Collection c</a:t>
                      </a:r>
                      <a:r>
                        <a:rPr lang="zh-CN" sz="240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  <a:endParaRPr lang="zh-CN" sz="24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删除当前集合中包含集合</a:t>
                      </a:r>
                      <a:r>
                        <a:rPr lang="en-US" altLang="zh-CN" sz="2400">
                          <a:latin typeface="Times New Roman" panose="02020603050405020304"/>
                          <a:ea typeface="宋体" panose="02010600030101010101" pitchFamily="2" charset="-122"/>
                        </a:rPr>
                        <a:t>c</a:t>
                      </a:r>
                      <a:r>
                        <a:rPr lang="zh-CN" sz="2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中的所有元素</a:t>
                      </a:r>
                      <a:endParaRPr lang="zh-CN" sz="2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1058545" y="3998595"/>
            <a:ext cx="10882630" cy="922020"/>
          </a:xfrm>
          <a:prstGeom prst="rect">
            <a:avLst/>
          </a:prstGeom>
        </p:spPr>
        <p:txBody>
          <a:bodyPr wrap="square">
            <a:spAutoFit/>
          </a:bodyPr>
          <a:p>
            <a:endParaRPr lang="en-US" altLang="zh-CN" sz="2400"/>
          </a:p>
          <a:p>
            <a:pPr marL="0" indent="266700" algn="l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86790" y="5589270"/>
            <a:ext cx="981075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/>
              <a:t>   </a:t>
            </a:r>
            <a:r>
              <a:rPr lang="zh-CN" altLang="en-US" sz="2400"/>
              <a:t>在开发中，很少直接使用</a:t>
            </a:r>
            <a:r>
              <a:rPr lang="en-US" altLang="zh-CN" sz="2400"/>
              <a:t>Collection</a:t>
            </a:r>
            <a:r>
              <a:rPr lang="zh-CN" altLang="en-US" sz="2400"/>
              <a:t>接口，基本上都是使用其子接口，</a:t>
            </a:r>
            <a:r>
              <a:rPr lang="en-US" altLang="zh-CN" sz="2400"/>
              <a:t>Collection</a:t>
            </a:r>
            <a:r>
              <a:rPr lang="zh-CN" altLang="en-US" sz="2400"/>
              <a:t>接口的子接口主要有</a:t>
            </a:r>
            <a:r>
              <a:rPr lang="en-US" altLang="zh-CN" sz="2400"/>
              <a:t>List</a:t>
            </a:r>
            <a:r>
              <a:rPr lang="zh-CN" altLang="en-US" sz="2400"/>
              <a:t>、</a:t>
            </a:r>
            <a:r>
              <a:rPr lang="en-US" altLang="zh-CN" sz="2400"/>
              <a:t>Set</a:t>
            </a:r>
            <a:r>
              <a:rPr lang="zh-CN" altLang="en-US" sz="2400"/>
              <a:t>等。</a:t>
            </a:r>
            <a:endParaRPr lang="zh-CN" altLang="en-US"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List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接口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02690" y="2493010"/>
            <a:ext cx="9742805" cy="188595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ym typeface="+mn-ea"/>
              </a:rPr>
              <a:t>    List</a:t>
            </a:r>
            <a:r>
              <a:rPr lang="zh-CN" altLang="en-US" sz="2400">
                <a:sym typeface="+mn-ea"/>
              </a:rPr>
              <a:t>接口继承自</a:t>
            </a:r>
            <a:r>
              <a:rPr lang="en-US" altLang="zh-CN" sz="2400">
                <a:sym typeface="+mn-ea"/>
              </a:rPr>
              <a:t>Collection</a:t>
            </a:r>
            <a:r>
              <a:rPr lang="zh-CN" altLang="en-US" sz="2400">
                <a:sym typeface="+mn-ea"/>
              </a:rPr>
              <a:t>接口，</a:t>
            </a:r>
            <a:r>
              <a:rPr lang="en-US" altLang="zh-CN" sz="2400">
                <a:sym typeface="+mn-ea"/>
              </a:rPr>
              <a:t>List</a:t>
            </a:r>
            <a:r>
              <a:rPr lang="zh-CN" altLang="en-US" sz="2400">
                <a:sym typeface="+mn-ea"/>
              </a:rPr>
              <a:t>接口实例中允许存储重复的元素，所有的元素以线性方式进行存储。在程序中可以通过索引访问</a:t>
            </a:r>
            <a:r>
              <a:rPr lang="en-US" altLang="zh-CN" sz="2400">
                <a:sym typeface="+mn-ea"/>
              </a:rPr>
              <a:t>List</a:t>
            </a:r>
            <a:r>
              <a:rPr lang="zh-CN" altLang="en-US" sz="2400">
                <a:sym typeface="+mn-ea"/>
              </a:rPr>
              <a:t>接口实例中存储的元素。另外，</a:t>
            </a:r>
            <a:r>
              <a:rPr lang="en-US" altLang="zh-CN" sz="2400">
                <a:sym typeface="+mn-ea"/>
              </a:rPr>
              <a:t>List</a:t>
            </a:r>
            <a:r>
              <a:rPr lang="zh-CN" altLang="en-US" sz="2400">
                <a:sym typeface="+mn-ea"/>
              </a:rPr>
              <a:t>接口实例中存储的元素是有序的，即元素的存入顺序和取出顺序一致。</a:t>
            </a:r>
            <a:endParaRPr lang="zh-CN" altLang="en-US" sz="2400">
              <a:sym typeface="+mn-ea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ym typeface="+mn-ea"/>
              </a:rPr>
              <a:t>    List</a:t>
            </a:r>
            <a:r>
              <a:rPr lang="zh-CN" altLang="en-US" sz="2400">
                <a:sym typeface="+mn-ea"/>
              </a:rPr>
              <a:t>作为</a:t>
            </a:r>
            <a:r>
              <a:rPr lang="en-US" altLang="zh-CN" sz="2400">
                <a:sym typeface="+mn-ea"/>
              </a:rPr>
              <a:t>Collection</a:t>
            </a:r>
            <a:r>
              <a:rPr lang="zh-CN" altLang="en-US" sz="2400">
                <a:sym typeface="+mn-ea"/>
              </a:rPr>
              <a:t>集合的子接口，不但继承了</a:t>
            </a:r>
            <a:r>
              <a:rPr lang="en-US" altLang="zh-CN" sz="2400">
                <a:sym typeface="+mn-ea"/>
              </a:rPr>
              <a:t>Collection</a:t>
            </a:r>
            <a:r>
              <a:rPr lang="zh-CN" altLang="en-US" sz="2400">
                <a:sym typeface="+mn-ea"/>
              </a:rPr>
              <a:t>接口中的全部方法，而且还增加了一些根据元素索引操作集合的特有方法。</a:t>
            </a:r>
            <a:endParaRPr lang="zh-CN" altLang="en-US" sz="2400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562735" y="213296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sym typeface="+mn-ea"/>
              </a:rPr>
              <a:t> 1</a:t>
            </a:r>
            <a:r>
              <a:rPr lang="zh-CN" altLang="en-US" sz="2400">
                <a:sym typeface="+mn-ea"/>
              </a:rPr>
              <a:t>、</a:t>
            </a:r>
            <a:r>
              <a:rPr lang="en-US" altLang="zh-CN" sz="2400">
                <a:sym typeface="+mn-ea"/>
              </a:rPr>
              <a:t>List</a:t>
            </a:r>
            <a:r>
              <a:rPr lang="zh-CN" altLang="en-US" sz="2400">
                <a:sym typeface="+mn-ea"/>
              </a:rPr>
              <a:t>接口简介</a:t>
            </a:r>
            <a:endParaRPr lang="zh-CN" altLang="en-US" sz="2400"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List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接口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59175" y="1989137"/>
            <a:ext cx="5080000" cy="475615"/>
          </a:xfrm>
          <a:prstGeom prst="rect">
            <a:avLst/>
          </a:prstGeom>
        </p:spPr>
        <p:txBody>
          <a:bodyPr>
            <a:spAutoFit/>
          </a:bodyPr>
          <a:p>
            <a:pPr marL="0" indent="266700" algn="ctr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表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9-3 List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接口的常用方法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8" name="表格 7"/>
          <p:cNvGraphicFramePr/>
          <p:nvPr>
            <p:custDataLst>
              <p:tags r:id="rId3"/>
            </p:custDataLst>
          </p:nvPr>
        </p:nvGraphicFramePr>
        <p:xfrm>
          <a:off x="2282825" y="2493010"/>
          <a:ext cx="8057515" cy="3927475"/>
        </p:xfrm>
        <a:graphic>
          <a:graphicData uri="http://schemas.openxmlformats.org/drawingml/2006/table">
            <a:tbl>
              <a:tblPr/>
              <a:tblGrid>
                <a:gridCol w="4103370"/>
                <a:gridCol w="3954145"/>
              </a:tblGrid>
              <a:tr h="283210">
                <a:tc>
                  <a:txBody>
                    <a:bodyPr/>
                    <a:p>
                      <a:pPr marL="85725" indent="26670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方法声明</a:t>
                      </a:r>
                      <a:endParaRPr lang="zh-CN" sz="14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26670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功能描述</a:t>
                      </a:r>
                      <a:endParaRPr lang="zh-CN" sz="14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5775">
                <a:tc>
                  <a:txBody>
                    <a:bodyPr/>
                    <a:p>
                      <a:pPr marL="85725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Void add</a:t>
                      </a:r>
                      <a:r>
                        <a:rPr 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int index</a:t>
                      </a:r>
                      <a:r>
                        <a:rPr 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Object element</a:t>
                      </a:r>
                      <a:r>
                        <a:rPr 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  <a:endParaRPr 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将元素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element</a:t>
                      </a: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插入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List</a:t>
                      </a: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的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index</a:t>
                      </a: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索引处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6410">
                <a:tc>
                  <a:txBody>
                    <a:bodyPr/>
                    <a:p>
                      <a:pPr marL="85725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boolean addAll</a:t>
                      </a:r>
                      <a:r>
                        <a:rPr 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intindex</a:t>
                      </a:r>
                      <a:r>
                        <a:rPr 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Collection c</a:t>
                      </a:r>
                      <a:r>
                        <a:rPr 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  <a:endParaRPr 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将集合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c</a:t>
                      </a: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所包含的所有元素插入到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List</a:t>
                      </a: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集合的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index</a:t>
                      </a: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索引处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2570">
                <a:tc>
                  <a:txBody>
                    <a:bodyPr/>
                    <a:p>
                      <a:pPr marL="85725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Object get</a:t>
                      </a:r>
                      <a:r>
                        <a:rPr 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int index</a:t>
                      </a:r>
                      <a:r>
                        <a:rPr 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  <a:endParaRPr 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返回集合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index</a:t>
                      </a: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索引处的元素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3205">
                <a:tc>
                  <a:txBody>
                    <a:bodyPr/>
                    <a:p>
                      <a:pPr marL="85725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Object remove</a:t>
                      </a:r>
                      <a:r>
                        <a:rPr 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int index</a:t>
                      </a:r>
                      <a:r>
                        <a:rPr 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  <a:endParaRPr 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删除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index</a:t>
                      </a: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索引处的元素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5775">
                <a:tc>
                  <a:txBody>
                    <a:bodyPr/>
                    <a:p>
                      <a:pPr marL="85725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Object set</a:t>
                      </a:r>
                      <a:r>
                        <a:rPr 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int index</a:t>
                      </a:r>
                      <a:r>
                        <a:rPr 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zh-CN" altLang="en-US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Object element</a:t>
                      </a:r>
                      <a:r>
                        <a:rPr 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  <a:endParaRPr 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将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index</a:t>
                      </a: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索引处元素替换成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element</a:t>
                      </a: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对象，并将替换后的元素返回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5775">
                <a:tc>
                  <a:txBody>
                    <a:bodyPr/>
                    <a:p>
                      <a:pPr marL="85725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int indexOf</a:t>
                      </a:r>
                      <a:r>
                        <a:rPr 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Object o</a:t>
                      </a:r>
                      <a:r>
                        <a:rPr 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  <a:endParaRPr 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返回对象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o</a:t>
                      </a: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在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List</a:t>
                      </a: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中第一次出现的位置索引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5775">
                <a:tc>
                  <a:txBody>
                    <a:bodyPr/>
                    <a:p>
                      <a:pPr marL="85725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int lastIndexOf</a:t>
                      </a:r>
                      <a:r>
                        <a:rPr 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Object o</a:t>
                      </a:r>
                      <a:r>
                        <a:rPr 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  <a:endParaRPr 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返回对象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o</a:t>
                      </a: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在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List</a:t>
                      </a: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中最后一次出现的位置索引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28980">
                <a:tc>
                  <a:txBody>
                    <a:bodyPr/>
                    <a:p>
                      <a:pPr marL="85725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List subList</a:t>
                      </a:r>
                      <a:r>
                        <a:rPr 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int fromIndex</a:t>
                      </a:r>
                      <a:r>
                        <a:rPr 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zh-CN" altLang="en-US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int toIndex</a:t>
                      </a:r>
                      <a:r>
                        <a:rPr 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  <a:endParaRPr 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返回从索引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fromIndex</a:t>
                      </a: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（包括）到 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toIndex</a:t>
                      </a:r>
                      <a:r>
                        <a:rPr 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（不包括）处所有元素集合组成的子集合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8" name="矩形 5"/>
          <p:cNvSpPr>
            <a:spLocks noChangeArrowheads="1"/>
          </p:cNvSpPr>
          <p:nvPr/>
        </p:nvSpPr>
        <p:spPr bwMode="auto">
          <a:xfrm>
            <a:off x="5379085" y="3500755"/>
            <a:ext cx="6122035" cy="1753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创建一个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ArrayList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集合，向集合中添加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个元素，输出集合元素及其长度，输出第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个元素，删除索引为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的元素，替换索引为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的元素为李宏，输出新的集合元素。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8" grpId="0" bldLvl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8590" y="209550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结合任务描述和知识链接中相关知识点可以得到文件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9-1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所示的代码。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：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002915" y="2492375"/>
            <a:ext cx="56718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4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sz="2400">
                <a:latin typeface="+mn-ea"/>
                <a:ea typeface="+mn-ea"/>
                <a:cs typeface="+mn-ea"/>
                <a:sym typeface="+mn-ea"/>
              </a:rPr>
              <a:t>9</a:t>
            </a:r>
            <a:r>
              <a:rPr sz="2400">
                <a:latin typeface="+mn-ea"/>
                <a:ea typeface="+mn-ea"/>
                <a:cs typeface="+mn-ea"/>
                <a:sym typeface="+mn-ea"/>
              </a:rPr>
              <a:t>-</a:t>
            </a:r>
            <a:r>
              <a:rPr lang="en-US" sz="2400">
                <a:latin typeface="+mn-ea"/>
                <a:ea typeface="+mn-ea"/>
                <a:cs typeface="+mn-ea"/>
                <a:sym typeface="+mn-ea"/>
              </a:rPr>
              <a:t>1 </a:t>
            </a:r>
            <a:r>
              <a:rPr sz="2400">
                <a:latin typeface="+mn-ea"/>
                <a:ea typeface="+mn-ea"/>
                <a:cs typeface="+mn-ea"/>
                <a:sym typeface="+mn-ea"/>
              </a:rPr>
              <a:t>Example0</a:t>
            </a:r>
            <a:r>
              <a:rPr lang="en-US" sz="2400">
                <a:latin typeface="+mn-ea"/>
                <a:ea typeface="+mn-ea"/>
                <a:cs typeface="+mn-ea"/>
                <a:sym typeface="+mn-ea"/>
              </a:rPr>
              <a:t>1</a:t>
            </a:r>
            <a:r>
              <a:rPr sz="2400">
                <a:latin typeface="+mn-ea"/>
                <a:ea typeface="+mn-ea"/>
                <a:cs typeface="+mn-ea"/>
                <a:sym typeface="+mn-ea"/>
              </a:rPr>
              <a:t>.Java</a:t>
            </a:r>
            <a:endParaRPr sz="2400"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78635" y="3068955"/>
            <a:ext cx="6407785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1import java.util.*;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2 public class Example01 {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3    public static void main</a:t>
            </a:r>
            <a:r>
              <a:rPr lang="zh-CN" altLang="en-US" sz="2400">
                <a:latin typeface="Times New Roman" panose="02020603050405020304"/>
              </a:rPr>
              <a:t>（</a:t>
            </a:r>
            <a:r>
              <a:rPr lang="en-US" altLang="zh-CN" sz="2400">
                <a:latin typeface="Times New Roman" panose="02020603050405020304"/>
              </a:rPr>
              <a:t>String[] args</a:t>
            </a:r>
            <a:r>
              <a:rPr lang="zh-CN" altLang="en-US" sz="2400">
                <a:latin typeface="Times New Roman" panose="02020603050405020304"/>
              </a:rPr>
              <a:t>）</a:t>
            </a:r>
            <a:r>
              <a:rPr lang="en-US" altLang="zh-CN" sz="2400">
                <a:latin typeface="Times New Roman" panose="02020603050405020304"/>
              </a:rPr>
              <a:t> {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4        ArrayList list = new ArrayList</a:t>
            </a:r>
            <a:r>
              <a:rPr lang="zh-CN" altLang="en-US" sz="2400">
                <a:latin typeface="Times New Roman" panose="02020603050405020304"/>
              </a:rPr>
              <a:t>（）</a:t>
            </a:r>
            <a:r>
              <a:rPr lang="en-US" altLang="zh-CN" sz="2400">
                <a:latin typeface="Times New Roman" panose="02020603050405020304"/>
              </a:rPr>
              <a:t>; // </a:t>
            </a:r>
            <a:r>
              <a:rPr lang="zh-CN" altLang="en-US" sz="2400">
                <a:latin typeface="Times New Roman" panose="02020603050405020304"/>
              </a:rPr>
              <a:t>创建</a:t>
            </a:r>
            <a:r>
              <a:rPr lang="en-US" altLang="zh-CN" sz="2400">
                <a:latin typeface="Times New Roman" panose="02020603050405020304"/>
              </a:rPr>
              <a:t>ArrayList</a:t>
            </a:r>
            <a:r>
              <a:rPr lang="zh-CN" altLang="en-US" sz="2400">
                <a:latin typeface="Times New Roman" panose="02020603050405020304"/>
              </a:rPr>
              <a:t>集合</a:t>
            </a:r>
            <a:endParaRPr lang="zh-CN" altLang="en-US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5        list.add</a:t>
            </a:r>
            <a:r>
              <a:rPr lang="zh-CN" altLang="en-US" sz="2400">
                <a:latin typeface="Times New Roman" panose="02020603050405020304"/>
              </a:rPr>
              <a:t>（</a:t>
            </a:r>
            <a:r>
              <a:rPr lang="en-US" altLang="zh-CN" sz="2400">
                <a:latin typeface="Times New Roman" panose="02020603050405020304"/>
              </a:rPr>
              <a:t>"</a:t>
            </a:r>
            <a:r>
              <a:rPr lang="zh-CN" altLang="en-US" sz="2400">
                <a:latin typeface="Times New Roman" panose="02020603050405020304"/>
              </a:rPr>
              <a:t>张华</a:t>
            </a:r>
            <a:r>
              <a:rPr lang="en-US" altLang="zh-CN" sz="2400">
                <a:latin typeface="Times New Roman" panose="02020603050405020304"/>
              </a:rPr>
              <a:t>"</a:t>
            </a:r>
            <a:r>
              <a:rPr lang="zh-CN" altLang="en-US" sz="2400">
                <a:latin typeface="Times New Roman" panose="02020603050405020304"/>
              </a:rPr>
              <a:t>）</a:t>
            </a:r>
            <a:r>
              <a:rPr lang="en-US" altLang="zh-CN" sz="2400">
                <a:latin typeface="Times New Roman" panose="02020603050405020304"/>
              </a:rPr>
              <a:t>; //</a:t>
            </a:r>
            <a:r>
              <a:rPr lang="zh-CN" altLang="en-US" sz="2400">
                <a:latin typeface="Times New Roman" panose="02020603050405020304"/>
              </a:rPr>
              <a:t>向集合中添加元素</a:t>
            </a:r>
            <a:endParaRPr lang="zh-CN" altLang="en-US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6        list.add</a:t>
            </a:r>
            <a:r>
              <a:rPr lang="zh-CN" altLang="en-US" sz="2400">
                <a:latin typeface="Times New Roman" panose="02020603050405020304"/>
              </a:rPr>
              <a:t>（</a:t>
            </a:r>
            <a:r>
              <a:rPr lang="en-US" altLang="zh-CN" sz="2400">
                <a:latin typeface="Times New Roman" panose="02020603050405020304"/>
              </a:rPr>
              <a:t>"</a:t>
            </a:r>
            <a:r>
              <a:rPr lang="zh-CN" altLang="en-US" sz="2400">
                <a:latin typeface="Times New Roman" panose="02020603050405020304"/>
              </a:rPr>
              <a:t>李红</a:t>
            </a:r>
            <a:r>
              <a:rPr lang="en-US" altLang="zh-CN" sz="2400">
                <a:latin typeface="Times New Roman" panose="02020603050405020304"/>
              </a:rPr>
              <a:t>"</a:t>
            </a:r>
            <a:r>
              <a:rPr lang="zh-CN" altLang="en-US" sz="2400">
                <a:latin typeface="Times New Roman" panose="02020603050405020304"/>
              </a:rPr>
              <a:t>）</a:t>
            </a:r>
            <a:r>
              <a:rPr lang="en-US" altLang="zh-CN" sz="2400">
                <a:latin typeface="Times New Roman" panose="02020603050405020304"/>
              </a:rPr>
              <a:t>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7        list.add</a:t>
            </a:r>
            <a:r>
              <a:rPr lang="zh-CN" altLang="en-US" sz="2400">
                <a:latin typeface="Times New Roman" panose="02020603050405020304"/>
              </a:rPr>
              <a:t>（</a:t>
            </a:r>
            <a:r>
              <a:rPr lang="en-US" altLang="zh-CN" sz="2400">
                <a:latin typeface="Times New Roman" panose="02020603050405020304"/>
              </a:rPr>
              <a:t>"</a:t>
            </a:r>
            <a:r>
              <a:rPr lang="zh-CN" altLang="en-US" sz="2400">
                <a:latin typeface="Times New Roman" panose="02020603050405020304"/>
              </a:rPr>
              <a:t>王磊</a:t>
            </a:r>
            <a:r>
              <a:rPr lang="en-US" altLang="zh-CN" sz="2400">
                <a:latin typeface="Times New Roman" panose="02020603050405020304"/>
              </a:rPr>
              <a:t>"</a:t>
            </a:r>
            <a:r>
              <a:rPr lang="zh-CN" altLang="en-US" sz="2400">
                <a:latin typeface="Times New Roman" panose="02020603050405020304"/>
              </a:rPr>
              <a:t>）</a:t>
            </a:r>
            <a:r>
              <a:rPr lang="en-US" altLang="zh-CN" sz="2400">
                <a:latin typeface="Times New Roman" panose="02020603050405020304"/>
              </a:rPr>
              <a:t>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8        list.add</a:t>
            </a:r>
            <a:r>
              <a:rPr lang="zh-CN" altLang="en-US" sz="2400">
                <a:latin typeface="Times New Roman" panose="02020603050405020304"/>
                <a:sym typeface="+mn-ea"/>
              </a:rPr>
              <a:t>（</a:t>
            </a:r>
            <a:r>
              <a:rPr lang="en-US" altLang="zh-CN" sz="2400">
                <a:latin typeface="Times New Roman" panose="02020603050405020304"/>
                <a:sym typeface="+mn-ea"/>
              </a:rPr>
              <a:t>"</a:t>
            </a:r>
            <a:r>
              <a:rPr lang="zh-CN" altLang="en-US" sz="2400">
                <a:latin typeface="Times New Roman" panose="02020603050405020304"/>
                <a:sym typeface="+mn-ea"/>
              </a:rPr>
              <a:t>赵永</a:t>
            </a:r>
            <a:r>
              <a:rPr lang="en-US" altLang="zh-CN" sz="2400">
                <a:latin typeface="Times New Roman" panose="02020603050405020304"/>
                <a:sym typeface="+mn-ea"/>
              </a:rPr>
              <a:t>"</a:t>
            </a:r>
            <a:r>
              <a:rPr lang="zh-CN" altLang="en-US" sz="2400">
                <a:latin typeface="Times New Roman" panose="02020603050405020304"/>
                <a:sym typeface="+mn-ea"/>
              </a:rPr>
              <a:t>）</a:t>
            </a:r>
            <a:r>
              <a:rPr lang="en-US" altLang="zh-CN" sz="2400">
                <a:latin typeface="Times New Roman" panose="02020603050405020304"/>
                <a:sym typeface="+mn-ea"/>
              </a:rPr>
              <a:t>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8590" y="209550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结合任务描述和知识链接中相关知识点可以得到文件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9-1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所示的代码。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：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002915" y="2492375"/>
            <a:ext cx="56718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4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sz="2400">
                <a:latin typeface="+mn-ea"/>
                <a:ea typeface="+mn-ea"/>
                <a:cs typeface="+mn-ea"/>
                <a:sym typeface="+mn-ea"/>
              </a:rPr>
              <a:t>9</a:t>
            </a:r>
            <a:r>
              <a:rPr sz="2400">
                <a:latin typeface="+mn-ea"/>
                <a:ea typeface="+mn-ea"/>
                <a:cs typeface="+mn-ea"/>
                <a:sym typeface="+mn-ea"/>
              </a:rPr>
              <a:t>-</a:t>
            </a:r>
            <a:r>
              <a:rPr lang="en-US" sz="2400">
                <a:latin typeface="+mn-ea"/>
                <a:ea typeface="+mn-ea"/>
                <a:cs typeface="+mn-ea"/>
                <a:sym typeface="+mn-ea"/>
              </a:rPr>
              <a:t>1 </a:t>
            </a:r>
            <a:r>
              <a:rPr sz="2400">
                <a:latin typeface="+mn-ea"/>
                <a:ea typeface="+mn-ea"/>
                <a:cs typeface="+mn-ea"/>
                <a:sym typeface="+mn-ea"/>
              </a:rPr>
              <a:t>Example0</a:t>
            </a:r>
            <a:r>
              <a:rPr lang="en-US" sz="2400">
                <a:latin typeface="+mn-ea"/>
                <a:ea typeface="+mn-ea"/>
                <a:cs typeface="+mn-ea"/>
                <a:sym typeface="+mn-ea"/>
              </a:rPr>
              <a:t>1</a:t>
            </a:r>
            <a:r>
              <a:rPr sz="2400">
                <a:latin typeface="+mn-ea"/>
                <a:ea typeface="+mn-ea"/>
                <a:cs typeface="+mn-ea"/>
                <a:sym typeface="+mn-ea"/>
              </a:rPr>
              <a:t>.Java</a:t>
            </a:r>
            <a:endParaRPr sz="2400"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10845" y="3068955"/>
            <a:ext cx="11676380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9        System.out.println</a:t>
            </a:r>
            <a:r>
              <a:rPr lang="zh-CN" altLang="en-US" sz="2400">
                <a:latin typeface="Times New Roman" panose="02020603050405020304"/>
              </a:rPr>
              <a:t>（</a:t>
            </a:r>
            <a:r>
              <a:rPr lang="en-US" altLang="zh-CN" sz="2400">
                <a:latin typeface="Times New Roman" panose="02020603050405020304"/>
              </a:rPr>
              <a:t>"</a:t>
            </a:r>
            <a:r>
              <a:rPr lang="zh-CN" altLang="en-US" sz="2400">
                <a:latin typeface="Times New Roman" panose="02020603050405020304"/>
              </a:rPr>
              <a:t>集合元素为：</a:t>
            </a:r>
            <a:r>
              <a:rPr lang="en-US" altLang="zh-CN" sz="2400">
                <a:latin typeface="Times New Roman" panose="02020603050405020304"/>
              </a:rPr>
              <a:t>"+list</a:t>
            </a:r>
            <a:r>
              <a:rPr lang="zh-CN" altLang="en-US" sz="2400">
                <a:latin typeface="Times New Roman" panose="02020603050405020304"/>
              </a:rPr>
              <a:t>）</a:t>
            </a:r>
            <a:r>
              <a:rPr lang="en-US" altLang="zh-CN" sz="2400">
                <a:latin typeface="Times New Roman" panose="02020603050405020304"/>
              </a:rPr>
              <a:t>;//</a:t>
            </a:r>
            <a:r>
              <a:rPr lang="zh-CN" altLang="en-US" sz="2400">
                <a:latin typeface="Times New Roman" panose="02020603050405020304"/>
              </a:rPr>
              <a:t>输出集合元素</a:t>
            </a:r>
            <a:endParaRPr lang="zh-CN" altLang="en-US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10       System.out.println</a:t>
            </a:r>
            <a:r>
              <a:rPr lang="zh-CN" altLang="en-US" sz="2400">
                <a:latin typeface="Times New Roman" panose="02020603050405020304"/>
              </a:rPr>
              <a:t>（</a:t>
            </a:r>
            <a:r>
              <a:rPr lang="en-US" altLang="zh-CN" sz="2400">
                <a:latin typeface="Times New Roman" panose="02020603050405020304"/>
              </a:rPr>
              <a:t>"</a:t>
            </a:r>
            <a:r>
              <a:rPr lang="zh-CN" altLang="en-US" sz="2400">
                <a:latin typeface="Times New Roman" panose="02020603050405020304"/>
              </a:rPr>
              <a:t>集合的长度：</a:t>
            </a:r>
            <a:r>
              <a:rPr lang="en-US" altLang="zh-CN" sz="2400">
                <a:latin typeface="Times New Roman" panose="02020603050405020304"/>
              </a:rPr>
              <a:t>" + list.size</a:t>
            </a:r>
            <a:r>
              <a:rPr lang="zh-CN" altLang="en-US" sz="2400">
                <a:latin typeface="Times New Roman" panose="02020603050405020304"/>
              </a:rPr>
              <a:t>（））</a:t>
            </a:r>
            <a:r>
              <a:rPr lang="en-US" altLang="zh-CN" sz="2400">
                <a:latin typeface="Times New Roman" panose="02020603050405020304"/>
              </a:rPr>
              <a:t>; //</a:t>
            </a:r>
            <a:r>
              <a:rPr lang="zh-CN" altLang="en-US" sz="2400">
                <a:latin typeface="Times New Roman" panose="02020603050405020304"/>
              </a:rPr>
              <a:t>获取集合中元素的个数</a:t>
            </a:r>
            <a:endParaRPr lang="zh-CN" altLang="en-US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11       System.out.println</a:t>
            </a:r>
            <a:r>
              <a:rPr lang="zh-CN" altLang="en-US" sz="2400">
                <a:latin typeface="Times New Roman" panose="02020603050405020304"/>
              </a:rPr>
              <a:t>（</a:t>
            </a:r>
            <a:r>
              <a:rPr lang="en-US" altLang="zh-CN" sz="2400">
                <a:latin typeface="Times New Roman" panose="02020603050405020304"/>
              </a:rPr>
              <a:t>"</a:t>
            </a:r>
            <a:r>
              <a:rPr lang="zh-CN" altLang="en-US" sz="2400">
                <a:latin typeface="Times New Roman" panose="02020603050405020304"/>
              </a:rPr>
              <a:t>第</a:t>
            </a:r>
            <a:r>
              <a:rPr lang="en-US" altLang="zh-CN" sz="2400">
                <a:latin typeface="Times New Roman" panose="02020603050405020304"/>
              </a:rPr>
              <a:t>2</a:t>
            </a:r>
            <a:r>
              <a:rPr lang="zh-CN" altLang="en-US" sz="2400">
                <a:latin typeface="Times New Roman" panose="02020603050405020304"/>
              </a:rPr>
              <a:t>个元素是：</a:t>
            </a:r>
            <a:r>
              <a:rPr lang="en-US" altLang="zh-CN" sz="2400">
                <a:latin typeface="Times New Roman" panose="02020603050405020304"/>
              </a:rPr>
              <a:t>" + list.get</a:t>
            </a:r>
            <a:r>
              <a:rPr lang="zh-CN" altLang="en-US" sz="2400">
                <a:latin typeface="Times New Roman" panose="02020603050405020304"/>
              </a:rPr>
              <a:t>（</a:t>
            </a:r>
            <a:r>
              <a:rPr lang="en-US" altLang="zh-CN" sz="2400">
                <a:latin typeface="Times New Roman" panose="02020603050405020304"/>
              </a:rPr>
              <a:t>1</a:t>
            </a:r>
            <a:r>
              <a:rPr lang="zh-CN" altLang="en-US" sz="2400">
                <a:latin typeface="Times New Roman" panose="02020603050405020304"/>
              </a:rPr>
              <a:t>））</a:t>
            </a:r>
            <a:r>
              <a:rPr lang="en-US" altLang="zh-CN" sz="2400">
                <a:latin typeface="Times New Roman" panose="02020603050405020304"/>
              </a:rPr>
              <a:t>; //</a:t>
            </a:r>
            <a:r>
              <a:rPr lang="zh-CN" altLang="en-US" sz="2400">
                <a:latin typeface="Times New Roman" panose="02020603050405020304"/>
              </a:rPr>
              <a:t>取出并打印指定位置的元素</a:t>
            </a:r>
            <a:endParaRPr lang="zh-CN" altLang="en-US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12       list.remove</a:t>
            </a:r>
            <a:r>
              <a:rPr lang="zh-CN" altLang="en-US" sz="2400">
                <a:latin typeface="Times New Roman" panose="02020603050405020304"/>
              </a:rPr>
              <a:t>（</a:t>
            </a:r>
            <a:r>
              <a:rPr lang="en-US" altLang="zh-CN" sz="2400">
                <a:latin typeface="Times New Roman" panose="02020603050405020304"/>
              </a:rPr>
              <a:t>3</a:t>
            </a:r>
            <a:r>
              <a:rPr lang="zh-CN" altLang="en-US" sz="2400">
                <a:latin typeface="Times New Roman" panose="02020603050405020304"/>
              </a:rPr>
              <a:t>）</a:t>
            </a:r>
            <a:r>
              <a:rPr lang="en-US" altLang="zh-CN" sz="2400">
                <a:latin typeface="Times New Roman" panose="02020603050405020304"/>
              </a:rPr>
              <a:t>;  //</a:t>
            </a:r>
            <a:r>
              <a:rPr lang="zh-CN" altLang="en-US" sz="2400">
                <a:latin typeface="Times New Roman" panose="02020603050405020304"/>
              </a:rPr>
              <a:t>删除索引为</a:t>
            </a:r>
            <a:r>
              <a:rPr lang="en-US" altLang="zh-CN" sz="2400">
                <a:latin typeface="Times New Roman" panose="02020603050405020304"/>
              </a:rPr>
              <a:t>3</a:t>
            </a:r>
            <a:r>
              <a:rPr lang="zh-CN" altLang="en-US" sz="2400">
                <a:latin typeface="Times New Roman" panose="02020603050405020304"/>
              </a:rPr>
              <a:t>的元素</a:t>
            </a:r>
            <a:endParaRPr lang="zh-CN" altLang="en-US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13       System.out.println</a:t>
            </a:r>
            <a:r>
              <a:rPr lang="zh-CN" altLang="en-US" sz="2400">
                <a:latin typeface="Times New Roman" panose="02020603050405020304"/>
              </a:rPr>
              <a:t>（</a:t>
            </a:r>
            <a:r>
              <a:rPr lang="en-US" altLang="zh-CN" sz="2400">
                <a:latin typeface="Times New Roman" panose="02020603050405020304"/>
              </a:rPr>
              <a:t>"</a:t>
            </a:r>
            <a:r>
              <a:rPr lang="zh-CN" altLang="en-US" sz="2400">
                <a:latin typeface="Times New Roman" panose="02020603050405020304"/>
              </a:rPr>
              <a:t>删除索引为</a:t>
            </a:r>
            <a:r>
              <a:rPr lang="en-US" altLang="zh-CN" sz="2400">
                <a:latin typeface="Times New Roman" panose="02020603050405020304"/>
              </a:rPr>
              <a:t>3</a:t>
            </a:r>
            <a:r>
              <a:rPr lang="zh-CN" altLang="en-US" sz="2400">
                <a:latin typeface="Times New Roman" panose="02020603050405020304"/>
              </a:rPr>
              <a:t>的元素：</a:t>
            </a:r>
            <a:r>
              <a:rPr lang="en-US" altLang="zh-CN" sz="2400">
                <a:latin typeface="Times New Roman" panose="02020603050405020304"/>
              </a:rPr>
              <a:t>"+list</a:t>
            </a:r>
            <a:r>
              <a:rPr lang="zh-CN" altLang="en-US" sz="2400">
                <a:latin typeface="Times New Roman" panose="02020603050405020304"/>
              </a:rPr>
              <a:t>）</a:t>
            </a:r>
            <a:r>
              <a:rPr lang="en-US" altLang="zh-CN" sz="2400">
                <a:latin typeface="Times New Roman" panose="02020603050405020304"/>
              </a:rPr>
              <a:t>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14       list.set</a:t>
            </a:r>
            <a:r>
              <a:rPr lang="zh-CN" altLang="en-US" sz="2400">
                <a:latin typeface="Times New Roman" panose="02020603050405020304"/>
              </a:rPr>
              <a:t>（</a:t>
            </a:r>
            <a:r>
              <a:rPr lang="en-US" altLang="zh-CN" sz="2400">
                <a:latin typeface="Times New Roman" panose="02020603050405020304"/>
              </a:rPr>
              <a:t>1</a:t>
            </a:r>
            <a:r>
              <a:rPr lang="zh-CN" altLang="en-US" sz="2400">
                <a:latin typeface="Times New Roman" panose="02020603050405020304"/>
              </a:rPr>
              <a:t>，</a:t>
            </a:r>
            <a:r>
              <a:rPr lang="en-US" altLang="zh-CN" sz="2400">
                <a:latin typeface="Times New Roman" panose="02020603050405020304"/>
              </a:rPr>
              <a:t>"</a:t>
            </a:r>
            <a:r>
              <a:rPr lang="zh-CN" altLang="en-US" sz="2400">
                <a:latin typeface="Times New Roman" panose="02020603050405020304"/>
              </a:rPr>
              <a:t>李宏</a:t>
            </a:r>
            <a:r>
              <a:rPr lang="en-US" altLang="zh-CN" sz="2400">
                <a:latin typeface="Times New Roman" panose="02020603050405020304"/>
              </a:rPr>
              <a:t>"</a:t>
            </a:r>
            <a:r>
              <a:rPr lang="zh-CN" altLang="en-US" sz="2400">
                <a:latin typeface="Times New Roman" panose="02020603050405020304"/>
              </a:rPr>
              <a:t>）</a:t>
            </a:r>
            <a:r>
              <a:rPr lang="en-US" altLang="zh-CN" sz="2400">
                <a:latin typeface="Times New Roman" panose="02020603050405020304"/>
              </a:rPr>
              <a:t>; //</a:t>
            </a:r>
            <a:r>
              <a:rPr lang="zh-CN" altLang="en-US" sz="2400">
                <a:latin typeface="Times New Roman" panose="02020603050405020304"/>
              </a:rPr>
              <a:t>替换索引为</a:t>
            </a:r>
            <a:r>
              <a:rPr lang="en-US" altLang="zh-CN" sz="2400">
                <a:latin typeface="Times New Roman" panose="02020603050405020304"/>
              </a:rPr>
              <a:t>1</a:t>
            </a:r>
            <a:r>
              <a:rPr lang="zh-CN" altLang="en-US" sz="2400">
                <a:latin typeface="Times New Roman" panose="02020603050405020304"/>
              </a:rPr>
              <a:t>的元素为李宏</a:t>
            </a:r>
            <a:endParaRPr lang="zh-CN" altLang="en-US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15       System.out.println</a:t>
            </a:r>
            <a:r>
              <a:rPr lang="zh-CN" altLang="en-US" sz="2400">
                <a:latin typeface="Times New Roman" panose="02020603050405020304"/>
              </a:rPr>
              <a:t>（</a:t>
            </a:r>
            <a:r>
              <a:rPr lang="en-US" altLang="zh-CN" sz="2400">
                <a:latin typeface="Times New Roman" panose="02020603050405020304"/>
              </a:rPr>
              <a:t>"</a:t>
            </a:r>
            <a:r>
              <a:rPr lang="zh-CN" altLang="en-US" sz="2400">
                <a:latin typeface="Times New Roman" panose="02020603050405020304"/>
              </a:rPr>
              <a:t>替换索引为</a:t>
            </a:r>
            <a:r>
              <a:rPr lang="en-US" altLang="zh-CN" sz="2400">
                <a:latin typeface="Times New Roman" panose="02020603050405020304"/>
              </a:rPr>
              <a:t>1</a:t>
            </a:r>
            <a:r>
              <a:rPr lang="zh-CN" altLang="en-US" sz="2400">
                <a:latin typeface="Times New Roman" panose="02020603050405020304"/>
              </a:rPr>
              <a:t>的元素为李宏后的集合为：</a:t>
            </a:r>
            <a:r>
              <a:rPr lang="en-US" altLang="zh-CN" sz="2400">
                <a:latin typeface="Times New Roman" panose="02020603050405020304"/>
              </a:rPr>
              <a:t>"+list</a:t>
            </a:r>
            <a:r>
              <a:rPr lang="zh-CN" altLang="en-US" sz="2400">
                <a:latin typeface="Times New Roman" panose="02020603050405020304"/>
              </a:rPr>
              <a:t>）</a:t>
            </a:r>
            <a:r>
              <a:rPr lang="en-US" altLang="zh-CN" sz="2400">
                <a:latin typeface="Times New Roman" panose="02020603050405020304"/>
              </a:rPr>
              <a:t>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16     }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17   }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09550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9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-1的运行结果如图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9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-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2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所示: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142" name="图片 1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6970" y="2708910"/>
            <a:ext cx="5611495" cy="20091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9" name="文本框 8"/>
          <p:cNvSpPr txBox="1"/>
          <p:nvPr/>
        </p:nvSpPr>
        <p:spPr>
          <a:xfrm>
            <a:off x="2642870" y="5013325"/>
            <a:ext cx="5080000" cy="398780"/>
          </a:xfrm>
          <a:prstGeom prst="rect">
            <a:avLst/>
          </a:prstGeom>
        </p:spPr>
        <p:txBody>
          <a:bodyPr>
            <a:spAutoFit/>
          </a:bodyPr>
          <a:p>
            <a:pPr marL="0" indent="0" algn="ctr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9-2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9-1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的运行结果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8.xml><?xml version="1.0" encoding="utf-8"?>
<p:tagLst xmlns:p="http://schemas.openxmlformats.org/presentationml/2006/main">
  <p:tag name="TABLE_ENDDRAG_ORIGIN_RECT" val="634*309"/>
  <p:tag name="TABLE_ENDDRAG_RECT" val="271*178*634*309"/>
</p:tagLst>
</file>

<file path=ppt/tags/tag2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5.xml><?xml version="1.0" encoding="utf-8"?>
<p:tagLst xmlns:p="http://schemas.openxmlformats.org/presentationml/2006/main">
  <p:tag name="COMMONDATA" val="eyJoZGlkIjoiZjNjMmJiYWQ1NjYxMzU5Y2Q4YWViZjliZTZhYjA5ODEifQ=="/>
  <p:tag name="commondata" val="eyJoZGlkIjoiNjVkZWMxOGJhY2FhZmUwNmY0MTcyMjU1MWFkZGYzMDc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2724</Words>
  <Application>WPS 演示</Application>
  <PresentationFormat>自定义</PresentationFormat>
  <Paragraphs>271</Paragraphs>
  <Slides>16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1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Times New Roman</vt:lpstr>
      <vt:lpstr>Arial Unicode MS</vt:lpstr>
      <vt:lpstr>等线</vt:lpstr>
      <vt:lpstr>黑体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丝雨</cp:lastModifiedBy>
  <cp:revision>530</cp:revision>
  <dcterms:created xsi:type="dcterms:W3CDTF">2015-03-26T06:11:00Z</dcterms:created>
  <dcterms:modified xsi:type="dcterms:W3CDTF">2025-07-09T12:30:10Z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EE5D663A1A514E8E9253D45B83D4185B_13</vt:lpwstr>
  </property>
</Properties>
</file>