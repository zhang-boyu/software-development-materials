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499" r:id="rId3"/>
    <p:sldId id="373" r:id="rId5"/>
    <p:sldId id="374" r:id="rId6"/>
    <p:sldId id="486" r:id="rId7"/>
    <p:sldId id="340" r:id="rId8"/>
    <p:sldId id="353" r:id="rId9"/>
    <p:sldId id="487" r:id="rId10"/>
    <p:sldId id="489" r:id="rId11"/>
    <p:sldId id="490" r:id="rId12"/>
    <p:sldId id="488" r:id="rId13"/>
    <p:sldId id="491" r:id="rId14"/>
    <p:sldId id="492" r:id="rId15"/>
    <p:sldId id="407" r:id="rId16"/>
    <p:sldId id="341" r:id="rId17"/>
    <p:sldId id="458" r:id="rId18"/>
    <p:sldId id="493" r:id="rId19"/>
    <p:sldId id="494" r:id="rId20"/>
    <p:sldId id="495" r:id="rId21"/>
    <p:sldId id="496" r:id="rId22"/>
    <p:sldId id="497" r:id="rId23"/>
    <p:sldId id="498" r:id="rId24"/>
    <p:sldId id="347" r:id="rId25"/>
  </p:sldIdLst>
  <p:sldSz cx="12198350" cy="6858000"/>
  <p:notesSz cx="6858000" cy="9144000"/>
  <p:custDataLst>
    <p:tags r:id="rId29"/>
  </p:custDataLst>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Arial" panose="020B0604020202020204" pitchFamily="34"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205" userDrawn="1">
          <p15:clr>
            <a:srgbClr val="A4A3A4"/>
          </p15:clr>
        </p15:guide>
        <p15:guide id="2" pos="388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AA5500"/>
    <a:srgbClr val="66FF66"/>
    <a:srgbClr val="66FF33"/>
    <a:srgbClr val="33333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howGuides="1">
      <p:cViewPr varScale="1">
        <p:scale>
          <a:sx n="120" d="100"/>
          <a:sy n="120" d="100"/>
        </p:scale>
        <p:origin x="514" y="67"/>
      </p:cViewPr>
      <p:guideLst>
        <p:guide orient="horz" pos="2205"/>
        <p:guide pos="3887"/>
      </p:guideLst>
    </p:cSldViewPr>
  </p:slideViewPr>
  <p:notesTextViewPr>
    <p:cViewPr>
      <p:scale>
        <a:sx n="1" d="1"/>
        <a:sy n="1" d="1"/>
      </p:scale>
      <p:origin x="0" y="0"/>
    </p:cViewPr>
  </p:notesTextViewPr>
  <p:gridSpacing cx="72005" cy="72005"/>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9" Type="http://schemas.openxmlformats.org/officeDocument/2006/relationships/tags" Target="tags/tag40.xml"/><Relationship Id="rId28" Type="http://schemas.openxmlformats.org/officeDocument/2006/relationships/tableStyles" Target="tableStyles.xml"/><Relationship Id="rId27" Type="http://schemas.openxmlformats.org/officeDocument/2006/relationships/viewProps" Target="viewProps.xml"/><Relationship Id="rId26" Type="http://schemas.openxmlformats.org/officeDocument/2006/relationships/presProps" Target="presProps.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050" name="页眉占位符 1"/>
          <p:cNvSpPr>
            <a:spLocks noGrp="1" noChangeArrowheads="1"/>
          </p:cNvSpPr>
          <p:nvPr>
            <p:ph type="hdr" sz="quarter" idx="4294967295"/>
          </p:nvPr>
        </p:nvSpPr>
        <p:spPr bwMode="auto">
          <a:xfrm>
            <a:off x="0"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eaLnBrk="1" hangingPunct="1">
              <a:buFont typeface="Arial" panose="020B0604020202020204" pitchFamily="34" charset="0"/>
              <a:buNone/>
              <a:defRPr sz="1200"/>
            </a:lvl1pPr>
          </a:lstStyle>
          <a:p>
            <a:pPr>
              <a:defRPr/>
            </a:pPr>
            <a:endParaRPr lang="zh-CN" altLang="zh-CN"/>
          </a:p>
        </p:txBody>
      </p:sp>
      <p:sp>
        <p:nvSpPr>
          <p:cNvPr id="2051" name="日期占位符 2"/>
          <p:cNvSpPr>
            <a:spLocks noGrp="1" noChangeArrowheads="1"/>
          </p:cNvSpPr>
          <p:nvPr>
            <p:ph type="dt" idx="1"/>
          </p:nvPr>
        </p:nvSpPr>
        <p:spPr bwMode="auto">
          <a:xfrm>
            <a:off x="3884613" y="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lvl1pPr algn="r" eaLnBrk="1" hangingPunct="1">
              <a:buFont typeface="Arial" panose="020B0604020202020204" pitchFamily="34" charset="0"/>
              <a:buNone/>
              <a:defRPr/>
            </a:lvl1pPr>
          </a:lstStyle>
          <a:p>
            <a:pPr>
              <a:defRPr/>
            </a:pPr>
            <a:fld id="{8B23A044-4FB7-42A8-963C-A1DC19AE4035}" type="datetime1">
              <a:rPr lang="zh-CN" altLang="en-US"/>
            </a:fld>
            <a:endParaRPr lang="zh-CN" altLang="en-US" sz="1200"/>
          </a:p>
        </p:txBody>
      </p:sp>
      <p:sp>
        <p:nvSpPr>
          <p:cNvPr id="2052" name="幻灯片图像占位符 3"/>
          <p:cNvSpPr>
            <a:spLocks noGrp="1" noRot="1" noChangeAspect="1" noChangeArrowheads="1"/>
          </p:cNvSpPr>
          <p:nvPr>
            <p:ph type="sldImg" idx="2"/>
          </p:nvPr>
        </p:nvSpPr>
        <p:spPr bwMode="auto">
          <a:xfrm>
            <a:off x="379413" y="685800"/>
            <a:ext cx="609917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2053" name="备注占位符 4"/>
          <p:cNvSpPr>
            <a:spLocks noGrp="1" noRot="1" noChangeAspect="1" noChangeArrowheads="1"/>
          </p:cNvSpPr>
          <p:nvPr/>
        </p:nvSpPr>
        <p:spPr bwMode="auto">
          <a:xfrm>
            <a:off x="685800" y="4343400"/>
            <a:ext cx="5486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defTabSz="0" eaLnBrk="0" hangingPunct="0">
              <a:spcBef>
                <a:spcPct val="30000"/>
              </a:spcBef>
              <a:defRPr sz="1200">
                <a:solidFill>
                  <a:schemeClr val="tx1"/>
                </a:solidFill>
                <a:latin typeface="Arial" panose="020B0604020202020204" pitchFamily="34" charset="0"/>
              </a:defRPr>
            </a:lvl1pPr>
            <a:lvl2pPr defTabSz="0" eaLnBrk="0" hangingPunct="0">
              <a:spcBef>
                <a:spcPct val="30000"/>
              </a:spcBef>
              <a:defRPr sz="1200">
                <a:solidFill>
                  <a:schemeClr val="tx1"/>
                </a:solidFill>
                <a:latin typeface="Arial" panose="020B0604020202020204" pitchFamily="34" charset="0"/>
              </a:defRPr>
            </a:lvl2pPr>
            <a:lvl3pPr defTabSz="0" eaLnBrk="0" hangingPunct="0">
              <a:spcBef>
                <a:spcPct val="30000"/>
              </a:spcBef>
              <a:defRPr sz="1200">
                <a:solidFill>
                  <a:schemeClr val="tx1"/>
                </a:solidFill>
                <a:latin typeface="Arial" panose="020B0604020202020204" pitchFamily="34" charset="0"/>
              </a:defRPr>
            </a:lvl3pPr>
            <a:lvl4pPr defTabSz="0" eaLnBrk="0" hangingPunct="0">
              <a:spcBef>
                <a:spcPct val="30000"/>
              </a:spcBef>
              <a:defRPr sz="1200">
                <a:solidFill>
                  <a:schemeClr val="tx1"/>
                </a:solidFill>
                <a:latin typeface="Arial" panose="020B0604020202020204" pitchFamily="34" charset="0"/>
              </a:defRPr>
            </a:lvl4pPr>
            <a:lvl5pPr defTabSz="0" eaLnBrk="0" hangingPunct="0">
              <a:spcBef>
                <a:spcPct val="30000"/>
              </a:spcBef>
              <a:defRPr sz="1200">
                <a:solidFill>
                  <a:schemeClr val="tx1"/>
                </a:solidFill>
                <a:latin typeface="Arial" panose="020B0604020202020204" pitchFamily="34" charset="0"/>
              </a:defRPr>
            </a:lvl5pPr>
            <a:lvl6pPr marL="457200" defTabSz="0" eaLnBrk="0" fontAlgn="base" hangingPunct="0">
              <a:spcBef>
                <a:spcPct val="30000"/>
              </a:spcBef>
              <a:spcAft>
                <a:spcPct val="0"/>
              </a:spcAft>
              <a:defRPr sz="1200">
                <a:solidFill>
                  <a:schemeClr val="tx1"/>
                </a:solidFill>
                <a:latin typeface="Arial" panose="020B0604020202020204" pitchFamily="34" charset="0"/>
              </a:defRPr>
            </a:lvl6pPr>
            <a:lvl7pPr marL="914400" defTabSz="0" eaLnBrk="0" fontAlgn="base" hangingPunct="0">
              <a:spcBef>
                <a:spcPct val="30000"/>
              </a:spcBef>
              <a:spcAft>
                <a:spcPct val="0"/>
              </a:spcAft>
              <a:defRPr sz="1200">
                <a:solidFill>
                  <a:schemeClr val="tx1"/>
                </a:solidFill>
                <a:latin typeface="Arial" panose="020B0604020202020204" pitchFamily="34" charset="0"/>
              </a:defRPr>
            </a:lvl7pPr>
            <a:lvl8pPr marL="1371600" defTabSz="0" eaLnBrk="0" fontAlgn="base" hangingPunct="0">
              <a:spcBef>
                <a:spcPct val="30000"/>
              </a:spcBef>
              <a:spcAft>
                <a:spcPct val="0"/>
              </a:spcAft>
              <a:defRPr sz="1200">
                <a:solidFill>
                  <a:schemeClr val="tx1"/>
                </a:solidFill>
                <a:latin typeface="Arial" panose="020B0604020202020204" pitchFamily="34" charset="0"/>
              </a:defRPr>
            </a:lvl8pPr>
            <a:lvl9pPr marL="1828800" defTabSz="0" eaLnBrk="0" fontAlgn="base" hangingPunct="0">
              <a:spcBef>
                <a:spcPct val="30000"/>
              </a:spcBef>
              <a:spcAft>
                <a:spcPct val="0"/>
              </a:spcAft>
              <a:defRPr sz="1200">
                <a:solidFill>
                  <a:schemeClr val="tx1"/>
                </a:solidFill>
                <a:latin typeface="Arial" panose="020B0604020202020204" pitchFamily="34" charset="0"/>
              </a:defRPr>
            </a:lvl9pPr>
          </a:lstStyle>
          <a:p>
            <a:pPr>
              <a:defRPr/>
            </a:pPr>
            <a:r>
              <a:rPr lang="zh-CN" altLang="en-US" smtClean="0"/>
              <a:t>单击此处编辑母版文本样式</a:t>
            </a:r>
            <a:endParaRPr lang="zh-CN" altLang="en-US" smtClean="0"/>
          </a:p>
          <a:p>
            <a:pPr>
              <a:defRPr/>
            </a:pPr>
            <a:r>
              <a:rPr lang="zh-CN" altLang="en-US" smtClean="0"/>
              <a:t>第二级</a:t>
            </a:r>
            <a:endParaRPr lang="zh-CN" altLang="en-US" smtClean="0"/>
          </a:p>
          <a:p>
            <a:pPr>
              <a:defRPr/>
            </a:pPr>
            <a:r>
              <a:rPr lang="zh-CN" altLang="en-US" smtClean="0"/>
              <a:t>第三级</a:t>
            </a:r>
            <a:endParaRPr lang="zh-CN" altLang="en-US" smtClean="0"/>
          </a:p>
          <a:p>
            <a:pPr>
              <a:defRPr/>
            </a:pPr>
            <a:r>
              <a:rPr lang="zh-CN" altLang="en-US" smtClean="0"/>
              <a:t>第四级</a:t>
            </a:r>
            <a:endParaRPr lang="zh-CN" altLang="en-US" smtClean="0"/>
          </a:p>
          <a:p>
            <a:pPr>
              <a:defRPr/>
            </a:pPr>
            <a:r>
              <a:rPr lang="zh-CN" altLang="en-US" smtClean="0"/>
              <a:t>第五级</a:t>
            </a:r>
            <a:endParaRPr lang="zh-CN" altLang="en-US" smtClean="0"/>
          </a:p>
        </p:txBody>
      </p:sp>
      <p:sp>
        <p:nvSpPr>
          <p:cNvPr id="2054" name="页脚占位符 5"/>
          <p:cNvSpPr>
            <a:spLocks noGrp="1" noChangeArrowheads="1"/>
          </p:cNvSpPr>
          <p:nvPr>
            <p:ph type="ftr" sz="quarter" idx="4"/>
          </p:nvPr>
        </p:nvSpPr>
        <p:spPr bwMode="auto">
          <a:xfrm>
            <a:off x="0"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eaLnBrk="1" hangingPunct="1">
              <a:buFont typeface="Arial" panose="020B0604020202020204" pitchFamily="34" charset="0"/>
              <a:buNone/>
              <a:defRPr sz="1200"/>
            </a:lvl1pPr>
          </a:lstStyle>
          <a:p>
            <a:pPr>
              <a:defRPr/>
            </a:pPr>
            <a:endParaRPr lang="zh-CN" altLang="zh-CN"/>
          </a:p>
        </p:txBody>
      </p:sp>
      <p:sp>
        <p:nvSpPr>
          <p:cNvPr id="2055" name="灯片编号占位符 6"/>
          <p:cNvSpPr>
            <a:spLocks noGrp="1" noChangeArrowheads="1"/>
          </p:cNvSpPr>
          <p:nvPr>
            <p:ph type="sldNum" sz="quarter" idx="5"/>
          </p:nvPr>
        </p:nvSpPr>
        <p:spPr bwMode="auto">
          <a:xfrm>
            <a:off x="3884613" y="8685213"/>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b" anchorCtr="0" compatLnSpc="1"/>
          <a:lstStyle>
            <a:lvl1pPr algn="r" eaLnBrk="1" hangingPunct="1">
              <a:buFont typeface="Arial" panose="020B0604020202020204" pitchFamily="34" charset="0"/>
              <a:buNone/>
              <a:defRPr/>
            </a:lvl1pPr>
          </a:lstStyle>
          <a:p>
            <a:pPr>
              <a:defRPr/>
            </a:pPr>
            <a:fld id="{922C8440-6A44-4042-B683-65AB25C1BFCC}" type="slidenum">
              <a:rPr lang="zh-CN" altLang="en-US"/>
            </a:fld>
            <a:endParaRPr lang="zh-CN" altLang="en-US" sz="1200"/>
          </a:p>
        </p:txBody>
      </p:sp>
    </p:spTree>
  </p:cSld>
  <p:clrMap bg1="lt1" tx1="dk1" bg2="lt2" tx2="dk2" accent1="accent1" accent2="accent2" accent3="accent3" accent4="accent4" accent5="accent5" accent6="accent6" hlink="hlink" folHlink="folHlink"/>
  <p:hf hdr="0" ftr="0"/>
  <p:notesStyle>
    <a:lvl1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1pPr>
    <a:lvl2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2pPr>
    <a:lvl3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3pPr>
    <a:lvl4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4pPr>
    <a:lvl5pPr algn="l" defTabSz="0" rtl="0" eaLnBrk="0" fontAlgn="base" hangingPunct="0">
      <a:spcBef>
        <a:spcPct val="30000"/>
      </a:spcBef>
      <a:spcAft>
        <a:spcPct val="0"/>
      </a:spcAft>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日期占位符 2"/>
          <p:cNvSpPr>
            <a:spLocks noGrp="1"/>
          </p:cNvSpPr>
          <p:nvPr>
            <p:ph type="dt" idx="1"/>
          </p:nvPr>
        </p:nvSpPr>
        <p:spPr/>
        <p:txBody>
          <a:bodyPr/>
          <a:lstStyle/>
          <a:p>
            <a:pPr>
              <a:defRPr/>
            </a:pPr>
            <a:fld id="{8B23A044-4FB7-42A8-963C-A1DC19AE4035}" type="datetime1">
              <a:rPr lang="zh-CN" altLang="en-US"/>
            </a:fld>
            <a:endParaRPr lang="zh-CN" altLang="en-US" sz="1200"/>
          </a:p>
        </p:txBody>
      </p:sp>
      <p:sp>
        <p:nvSpPr>
          <p:cNvPr id="4" name="灯片编号占位符 3"/>
          <p:cNvSpPr>
            <a:spLocks noGrp="1"/>
          </p:cNvSpPr>
          <p:nvPr>
            <p:ph type="sldNum" sz="quarter" idx="5"/>
          </p:nvPr>
        </p:nvSpPr>
        <p:spPr/>
        <p:txBody>
          <a:bodyPr/>
          <a:lstStyle/>
          <a:p>
            <a:pPr>
              <a:defRPr/>
            </a:pPr>
            <a:fld id="{922C8440-6A44-4042-B683-65AB25C1BFCC}" type="slidenum">
              <a:rPr lang="zh-CN" altLang="en-US"/>
            </a:fld>
            <a:endParaRPr lang="zh-CN" altLang="en-US" sz="1200"/>
          </a:p>
        </p:txBody>
      </p:sp>
      <p:sp>
        <p:nvSpPr>
          <p:cNvPr id="5" name="文本占位符 4"/>
          <p:cNvSpPr>
            <a:spLocks noGrp="1"/>
          </p:cNvSpPr>
          <p:nvPr>
            <p:ph type="body" sz="quarter"/>
          </p:nvPr>
        </p:nvSpPr>
        <p:spPr>
          <a:xfrm>
            <a:off x="662016" y="3931500"/>
            <a:ext cx="5296132" cy="3216682"/>
          </a:xfrm>
          <a:prstGeom prst="rect">
            <a:avLst/>
          </a:prstGeom>
        </p:spPr>
        <p:txBody>
          <a:bodyPr/>
          <a:lstStyle/>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5588" y="1122363"/>
            <a:ext cx="9148762" cy="2387600"/>
          </a:xfrm>
          <a:prstGeom prst="rect">
            <a:avLst/>
          </a:prstGeo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5588" y="3602038"/>
            <a:ext cx="9148762"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838200" y="1825625"/>
            <a:ext cx="10521950"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21950" cy="2852737"/>
          </a:xfrm>
          <a:prstGeom prst="rect">
            <a:avLst/>
          </a:prstGeo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21950" cy="1500187"/>
          </a:xfrm>
          <a:prstGeom prst="rect">
            <a:avLst/>
          </a:prstGeo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编辑母版文本样式</a:t>
            </a:r>
            <a:endParaRPr lang="zh-CN" altLang="en-US"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5375" y="1825625"/>
            <a:ext cx="5184775" cy="435133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21950" cy="1325563"/>
          </a:xfrm>
          <a:prstGeom prst="rect">
            <a:avLst/>
          </a:prstGeo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60962"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60962"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5375" y="1681163"/>
            <a:ext cx="5186363"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5375" y="2505075"/>
            <a:ext cx="5186363" cy="3684588"/>
          </a:xfrm>
          <a:prstGeom prst="rect">
            <a:avLst/>
          </a:prstGeo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6363" y="987425"/>
            <a:ext cx="6175375"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5412" cy="1600200"/>
          </a:xfrm>
          <a:prstGeom prst="rect">
            <a:avLst/>
          </a:prstGeo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6363" y="987425"/>
            <a:ext cx="6175375"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sym typeface="Calibri" panose="020F0502020204030204" pitchFamily="34" charset="0"/>
            </a:endParaRPr>
          </a:p>
        </p:txBody>
      </p:sp>
      <p:sp>
        <p:nvSpPr>
          <p:cNvPr id="4" name="文本占位符 3"/>
          <p:cNvSpPr>
            <a:spLocks noGrp="1"/>
          </p:cNvSpPr>
          <p:nvPr>
            <p:ph type="body" sz="half" idx="2" hasCustomPrompt="1"/>
          </p:nvPr>
        </p:nvSpPr>
        <p:spPr>
          <a:xfrm>
            <a:off x="839788" y="2057400"/>
            <a:ext cx="3935412"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21950" cy="1325563"/>
          </a:xfrm>
          <a:prstGeom prst="rect">
            <a:avLst/>
          </a:prstGeom>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1825625"/>
            <a:ext cx="10521950" cy="43513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9663" y="365125"/>
            <a:ext cx="2630487" cy="5811838"/>
          </a:xfrm>
          <a:prstGeom prst="rect">
            <a:avLst/>
          </a:prstGeo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9063" cy="5811838"/>
          </a:xfrm>
          <a:prstGeom prst="rect">
            <a:avLst/>
          </a:prstGeo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rgbClr val="F6F6F6"/>
        </a:solidFill>
        <a:effectLst/>
      </p:bgPr>
    </p:bg>
    <p:spTree>
      <p:nvGrpSpPr>
        <p:cNvPr id="1" name=""/>
        <p:cNvGrpSpPr/>
        <p:nvPr/>
      </p:nvGrpSpPr>
      <p:grpSpPr>
        <a:xfrm>
          <a:off x="0" y="0"/>
          <a:ext cx="0" cy="0"/>
          <a:chOff x="0" y="0"/>
          <a:chExt cx="0" cy="0"/>
        </a:xfrm>
      </p:grpSpPr>
      <p:sp>
        <p:nvSpPr>
          <p:cNvPr id="1026" name="直接连接符 7"/>
          <p:cNvSpPr>
            <a:spLocks noChangeShapeType="1"/>
          </p:cNvSpPr>
          <p:nvPr/>
        </p:nvSpPr>
        <p:spPr bwMode="auto">
          <a:xfrm>
            <a:off x="6557963" y="6740525"/>
            <a:ext cx="5637212"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7" name="直接连接符 8"/>
          <p:cNvSpPr>
            <a:spLocks noChangeShapeType="1"/>
          </p:cNvSpPr>
          <p:nvPr/>
        </p:nvSpPr>
        <p:spPr bwMode="auto">
          <a:xfrm>
            <a:off x="0" y="6740525"/>
            <a:ext cx="5637213" cy="1588"/>
          </a:xfrm>
          <a:prstGeom prst="line">
            <a:avLst/>
          </a:prstGeom>
          <a:noFill/>
          <a:ln w="22479">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1028" name="TextBox 15"/>
          <p:cNvSpPr>
            <a:spLocks noChangeArrowheads="1"/>
          </p:cNvSpPr>
          <p:nvPr/>
        </p:nvSpPr>
        <p:spPr bwMode="auto">
          <a:xfrm>
            <a:off x="5695950" y="6488113"/>
            <a:ext cx="792163"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fld id="{929913C5-467F-4262-8E10-4784E1F23762}" type="slidenum">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fld>
            <a:r>
              <a:rPr lang="zh-CN" altLang="en-US"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 </a:t>
            </a:r>
            <a:endParaRPr lang="zh-CN" altLang="en-US" b="1" smtClean="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1029" name="直接连接符 10"/>
          <p:cNvSpPr>
            <a:spLocks noChangeShapeType="1"/>
          </p:cNvSpPr>
          <p:nvPr/>
        </p:nvSpPr>
        <p:spPr bwMode="auto">
          <a:xfrm>
            <a:off x="0" y="333375"/>
            <a:ext cx="12196763" cy="0"/>
          </a:xfrm>
          <a:prstGeom prst="line">
            <a:avLst/>
          </a:prstGeom>
          <a:noFill/>
          <a:ln w="152400">
            <a:solidFill>
              <a:srgbClr val="C8C8C8"/>
            </a:solidFill>
            <a:round/>
          </a:ln>
          <a:extLst>
            <a:ext uri="{909E8E84-426E-40DD-AFC4-6F175D3DCCD1}">
              <a14:hiddenFill xmlns:a14="http://schemas.microsoft.com/office/drawing/2010/main">
                <a:noFill/>
              </a14:hiddenFill>
            </a:ext>
          </a:extLst>
        </p:spPr>
        <p:txBody>
          <a:bodyPr/>
          <a:lstStyle/>
          <a:p>
            <a:endParaRPr lang="zh-CN" altLang="en-US"/>
          </a:p>
        </p:txBody>
      </p:sp>
      <p:grpSp>
        <p:nvGrpSpPr>
          <p:cNvPr id="1030" name="组合 11"/>
          <p:cNvGrpSpPr/>
          <p:nvPr/>
        </p:nvGrpSpPr>
        <p:grpSpPr bwMode="auto">
          <a:xfrm rot="-5400000">
            <a:off x="10190163" y="-101600"/>
            <a:ext cx="1463675" cy="1666875"/>
            <a:chOff x="0" y="0"/>
            <a:chExt cx="2260994" cy="1512168"/>
          </a:xfrm>
        </p:grpSpPr>
        <p:sp>
          <p:nvSpPr>
            <p:cNvPr id="1031" name="燕尾形 12"/>
            <p:cNvSpPr>
              <a:spLocks noChangeArrowheads="1"/>
            </p:cNvSpPr>
            <p:nvPr/>
          </p:nvSpPr>
          <p:spPr bwMode="auto">
            <a:xfrm>
              <a:off x="4905" y="0"/>
              <a:ext cx="674374" cy="1512168"/>
            </a:xfrm>
            <a:prstGeom prst="chevron">
              <a:avLst>
                <a:gd name="adj" fmla="val 34773"/>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2" name="燕尾形 13"/>
            <p:cNvSpPr>
              <a:spLocks noChangeArrowheads="1"/>
            </p:cNvSpPr>
            <p:nvPr/>
          </p:nvSpPr>
          <p:spPr bwMode="auto">
            <a:xfrm>
              <a:off x="201087" y="0"/>
              <a:ext cx="792083" cy="1512168"/>
            </a:xfrm>
            <a:prstGeom prst="chevron">
              <a:avLst>
                <a:gd name="adj" fmla="val 5000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latin typeface="宋体" panose="02010600030101010101" pitchFamily="2" charset="-122"/>
                <a:sym typeface="宋体" panose="02010600030101010101" pitchFamily="2" charset="-122"/>
              </a:endParaRPr>
            </a:p>
          </p:txBody>
        </p:sp>
        <p:sp>
          <p:nvSpPr>
            <p:cNvPr id="1033" name="五边形 14"/>
            <p:cNvSpPr>
              <a:spLocks noChangeArrowheads="1"/>
            </p:cNvSpPr>
            <p:nvPr/>
          </p:nvSpPr>
          <p:spPr bwMode="auto">
            <a:xfrm>
              <a:off x="340866" y="0"/>
              <a:ext cx="1925034" cy="1512168"/>
            </a:xfrm>
            <a:prstGeom prst="homePlate">
              <a:avLst>
                <a:gd name="adj" fmla="val 0"/>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buFont typeface="Arial" panose="020B0604020202020204" pitchFamily="34" charset="0"/>
                <a:defRPr>
                  <a:solidFill>
                    <a:schemeClr val="tx1"/>
                  </a:solidFill>
                  <a:latin typeface="Arial" panose="020B0604020202020204" pitchFamily="34" charset="0"/>
                  <a:ea typeface="宋体" panose="02010600030101010101" pitchFamily="2" charset="-122"/>
                </a:defRPr>
              </a:lvl1pPr>
              <a:lvl2pPr marL="742950" indent="-285750">
                <a:buFont typeface="Arial" panose="020B0604020202020204" pitchFamily="34" charset="0"/>
                <a:defRPr>
                  <a:solidFill>
                    <a:schemeClr val="tx1"/>
                  </a:solidFill>
                  <a:latin typeface="Arial" panose="020B0604020202020204" pitchFamily="34" charset="0"/>
                  <a:ea typeface="宋体" panose="02010600030101010101" pitchFamily="2" charset="-122"/>
                </a:defRPr>
              </a:lvl2pPr>
              <a:lvl3pPr marL="11430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3pPr>
              <a:lvl4pPr marL="16002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4pPr>
              <a:lvl5pPr marL="2057400" indent="-228600">
                <a:buFont typeface="Arial" panose="020B0604020202020204" pitchFamily="34" charse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defRPr/>
              </a:pPr>
              <a:endParaRPr lang="zh-CN" altLang="zh-CN" smtClean="0">
                <a:solidFill>
                  <a:srgbClr val="FFFFFF"/>
                </a:solidFill>
                <a:latin typeface="宋体" panose="02010600030101010101" pitchFamily="2" charset="-122"/>
                <a:sym typeface="宋体" panose="02010600030101010101" pitchFamily="2" charset="-122"/>
              </a:endParaRPr>
            </a:p>
          </p:txBody>
        </p:sp>
      </p:gr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marL="914400" indent="-914400" algn="ctr" rtl="0" eaLnBrk="0" fontAlgn="base" hangingPunct="0">
        <a:spcBef>
          <a:spcPct val="0"/>
        </a:spcBef>
        <a:spcAft>
          <a:spcPct val="0"/>
        </a:spcAft>
        <a:defRPr sz="4400" kern="1200">
          <a:solidFill>
            <a:schemeClr val="tx1"/>
          </a:solidFill>
          <a:latin typeface="+mj-lt"/>
          <a:ea typeface="+mj-ea"/>
          <a:cs typeface="+mj-cs"/>
          <a:sym typeface="Calibri" panose="020F0502020204030204" pitchFamily="34" charset="0"/>
        </a:defRPr>
      </a:lvl1pPr>
      <a:lvl2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2pPr>
      <a:lvl3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3pPr>
      <a:lvl4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4pPr>
      <a:lvl5pPr marL="914400" indent="-914400" algn="ctr" rtl="0" eaLnBrk="0" fontAlgn="base" hangingPunct="0">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5pPr>
      <a:lvl6pPr marL="13716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6pPr>
      <a:lvl7pPr marL="18288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7pPr>
      <a:lvl8pPr marL="22860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8pPr>
      <a:lvl9pPr marL="2743200" indent="-914400" algn="ctr" rtl="0" fontAlgn="base">
        <a:spcBef>
          <a:spcPct val="0"/>
        </a:spcBef>
        <a:spcAft>
          <a:spcPct val="0"/>
        </a:spcAft>
        <a:defRPr sz="4400">
          <a:solidFill>
            <a:schemeClr val="tx1"/>
          </a:solidFill>
          <a:latin typeface="Calibri" panose="020F0502020204030204" pitchFamily="34" charset="0"/>
          <a:ea typeface="宋体" panose="02010600030101010101" pitchFamily="2" charset="-122"/>
          <a:sym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sym typeface="Calibri" panose="020F0502020204030204" pitchFamily="34"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sym typeface="Calibri" panose="020F0502020204030204" pitchFamily="34" charset="0"/>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sym typeface="Calibri" panose="020F0502020204030204" pitchFamily="34" charset="0"/>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sym typeface="Calibri" panose="020F050202020403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2.pn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9" Type="http://schemas.openxmlformats.org/officeDocument/2006/relationships/tags" Target="../tags/tag9.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5" Type="http://schemas.openxmlformats.org/officeDocument/2006/relationships/notesSlide" Target="../notesSlides/notesSlide2.xml"/><Relationship Id="rId14" Type="http://schemas.openxmlformats.org/officeDocument/2006/relationships/slideLayout" Target="../slideLayouts/slideLayout1.xml"/><Relationship Id="rId13" Type="http://schemas.openxmlformats.org/officeDocument/2006/relationships/tags" Target="../tags/tag13.xml"/><Relationship Id="rId12" Type="http://schemas.openxmlformats.org/officeDocument/2006/relationships/tags" Target="../tags/tag12.xml"/><Relationship Id="rId11" Type="http://schemas.openxmlformats.org/officeDocument/2006/relationships/tags" Target="../tags/tag11.xml"/><Relationship Id="rId10" Type="http://schemas.openxmlformats.org/officeDocument/2006/relationships/tags" Target="../tags/tag10.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2.xml"/><Relationship Id="rId2" Type="http://schemas.openxmlformats.org/officeDocument/2006/relationships/tags" Target="../tags/tag15.xml"/><Relationship Id="rId1" Type="http://schemas.openxmlformats.org/officeDocument/2006/relationships/tags" Target="../tags/tag14.xml"/></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2.xml"/><Relationship Id="rId2" Type="http://schemas.openxmlformats.org/officeDocument/2006/relationships/tags" Target="../tags/tag17.xml"/><Relationship Id="rId1" Type="http://schemas.openxmlformats.org/officeDocument/2006/relationships/tags" Target="../tags/tag16.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2.xml"/><Relationship Id="rId2" Type="http://schemas.openxmlformats.org/officeDocument/2006/relationships/tags" Target="../tags/tag19.xml"/><Relationship Id="rId1" Type="http://schemas.openxmlformats.org/officeDocument/2006/relationships/tags" Target="../tags/tag18.xml"/></Relationships>
</file>

<file path=ppt/slides/_rels/slide9.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21.xml"/><Relationship Id="rId1" Type="http://schemas.openxmlformats.org/officeDocument/2006/relationships/tags" Target="../tags/tag20.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10.xml"/><Relationship Id="rId3" Type="http://schemas.openxmlformats.org/officeDocument/2006/relationships/slideLayout" Target="../slideLayouts/slideLayout2.xml"/><Relationship Id="rId2" Type="http://schemas.openxmlformats.org/officeDocument/2006/relationships/tags" Target="../tags/tag23.xml"/><Relationship Id="rId1" Type="http://schemas.openxmlformats.org/officeDocument/2006/relationships/tags" Target="../tags/tag22.xml"/></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2.xml"/><Relationship Id="rId2" Type="http://schemas.openxmlformats.org/officeDocument/2006/relationships/tags" Target="../tags/tag25.xml"/><Relationship Id="rId1" Type="http://schemas.openxmlformats.org/officeDocument/2006/relationships/tags" Target="../tags/tag24.xml"/></Relationships>
</file>

<file path=ppt/slides/_rels/slide12.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27.xml"/><Relationship Id="rId1" Type="http://schemas.openxmlformats.org/officeDocument/2006/relationships/tags" Target="../tags/tag2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2.xml"/><Relationship Id="rId2" Type="http://schemas.openxmlformats.org/officeDocument/2006/relationships/tags" Target="../tags/tag29.xml"/><Relationship Id="rId1" Type="http://schemas.openxmlformats.org/officeDocument/2006/relationships/tags" Target="../tags/tag28.xml"/></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image" Target="../media/image4.jpeg"/><Relationship Id="rId2" Type="http://schemas.openxmlformats.org/officeDocument/2006/relationships/tags" Target="../tags/tag31.xml"/><Relationship Id="rId1" Type="http://schemas.openxmlformats.org/officeDocument/2006/relationships/tags" Target="../tags/tag3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2.xml"/><Relationship Id="rId2" Type="http://schemas.openxmlformats.org/officeDocument/2006/relationships/tags" Target="../tags/tag33.xml"/><Relationship Id="rId1" Type="http://schemas.openxmlformats.org/officeDocument/2006/relationships/tags" Target="../tags/tag32.xml"/></Relationships>
</file>

<file path=ppt/slides/_rels/slide18.xml.rels><?xml version="1.0" encoding="UTF-8" standalone="yes"?>
<Relationships xmlns="http://schemas.openxmlformats.org/package/2006/relationships"><Relationship Id="rId5" Type="http://schemas.openxmlformats.org/officeDocument/2006/relationships/notesSlide" Target="../notesSlides/notesSlide18.xml"/><Relationship Id="rId4" Type="http://schemas.openxmlformats.org/officeDocument/2006/relationships/slideLayout" Target="../slideLayouts/slideLayout2.xml"/><Relationship Id="rId3" Type="http://schemas.openxmlformats.org/officeDocument/2006/relationships/image" Target="../media/image5.png"/><Relationship Id="rId2" Type="http://schemas.openxmlformats.org/officeDocument/2006/relationships/tags" Target="../tags/tag35.xml"/><Relationship Id="rId1" Type="http://schemas.openxmlformats.org/officeDocument/2006/relationships/tags" Target="../tags/tag34.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1.xml"/><Relationship Id="rId1" Type="http://schemas.openxmlformats.org/officeDocument/2006/relationships/image" Target="../media/image3.jpeg"/></Relationships>
</file>

<file path=ppt/slides/_rels/slide20.xml.rels><?xml version="1.0" encoding="UTF-8" standalone="yes"?>
<Relationships xmlns="http://schemas.openxmlformats.org/package/2006/relationships"><Relationship Id="rId4" Type="http://schemas.openxmlformats.org/officeDocument/2006/relationships/notesSlide" Target="../notesSlides/notesSlide20.xml"/><Relationship Id="rId3" Type="http://schemas.openxmlformats.org/officeDocument/2006/relationships/slideLayout" Target="../slideLayouts/slideLayout2.xml"/><Relationship Id="rId2" Type="http://schemas.openxmlformats.org/officeDocument/2006/relationships/tags" Target="../tags/tag37.xml"/><Relationship Id="rId1" Type="http://schemas.openxmlformats.org/officeDocument/2006/relationships/tags" Target="../tags/tag36.xml"/></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21.xml"/><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tags" Target="../tags/tag39.xml"/><Relationship Id="rId1" Type="http://schemas.openxmlformats.org/officeDocument/2006/relationships/tags" Target="../tags/tag38.xml"/></Relationships>
</file>

<file path=ppt/slides/_rels/slide22.xml.rels><?xml version="1.0" encoding="UTF-8" standalone="yes"?>
<Relationships xmlns="http://schemas.openxmlformats.org/package/2006/relationships"><Relationship Id="rId4" Type="http://schemas.openxmlformats.org/officeDocument/2006/relationships/notesSlide" Target="../notesSlides/notesSlide22.xml"/><Relationship Id="rId3" Type="http://schemas.openxmlformats.org/officeDocument/2006/relationships/slideLayout" Target="../slideLayouts/slideLayout1.xml"/><Relationship Id="rId2" Type="http://schemas.openxmlformats.org/officeDocument/2006/relationships/image" Target="../media/image8.jpeg"/><Relationship Id="rId1" Type="http://schemas.openxmlformats.org/officeDocument/2006/relationships/image" Target="../media/image7.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矩形 1"/>
          <p:cNvSpPr>
            <a:spLocks noChangeArrowheads="1"/>
          </p:cNvSpPr>
          <p:nvPr/>
        </p:nvSpPr>
        <p:spPr bwMode="auto">
          <a:xfrm>
            <a:off x="0" y="0"/>
            <a:ext cx="12199938"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3075" name="Picture 3" descr="F:\品牌VI\无锡职院\资源库LOGO\2uqt7gw81r.jpg2uqt7gw81r"/>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419225" y="328613"/>
            <a:ext cx="8331200" cy="6027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6" name="Picture 4" descr="03"/>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88" y="4367213"/>
            <a:ext cx="12196762" cy="2506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7" name="TextBox 7"/>
          <p:cNvSpPr>
            <a:spLocks noChangeArrowheads="1"/>
          </p:cNvSpPr>
          <p:nvPr/>
        </p:nvSpPr>
        <p:spPr bwMode="auto">
          <a:xfrm>
            <a:off x="409575" y="376238"/>
            <a:ext cx="2665413" cy="334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rPr>
              <a:t>无锡职业技术学院内部资料</a:t>
            </a:r>
            <a:endParaRPr lang="zh-CN" altLang="en-US" sz="1600">
              <a:solidFill>
                <a:schemeClr val="bg1"/>
              </a:solidFill>
              <a:latin typeface="Arial Unicode MS" panose="020B0604020202020204" pitchFamily="34" charset="-122"/>
              <a:ea typeface="Arial Unicode MS" panose="020B0604020202020204" pitchFamily="34" charset="-122"/>
              <a:cs typeface="Arial Unicode MS" panose="020B0604020202020204" pitchFamily="34" charset="-122"/>
              <a:sym typeface="Arial Unicode MS" panose="020B0604020202020204" pitchFamily="34" charset="-122"/>
            </a:endParaRPr>
          </a:p>
        </p:txBody>
      </p:sp>
      <p:sp>
        <p:nvSpPr>
          <p:cNvPr id="3078" name="TextBox 15"/>
          <p:cNvSpPr>
            <a:spLocks noChangeArrowheads="1"/>
          </p:cNvSpPr>
          <p:nvPr/>
        </p:nvSpPr>
        <p:spPr bwMode="auto">
          <a:xfrm>
            <a:off x="5045075" y="1403350"/>
            <a:ext cx="6624320" cy="768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en-US" altLang="zh-CN"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JAVA</a:t>
            </a:r>
            <a:r>
              <a:rPr lang="zh-CN" altLang="en-US" sz="4400" b="1" dirty="0" smtClean="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rPr>
              <a:t>程序设计项目教程</a:t>
            </a:r>
            <a:endParaRPr lang="zh-CN" altLang="en-US" sz="4400" b="1" dirty="0">
              <a:solidFill>
                <a:srgbClr val="595959"/>
              </a:solidFill>
              <a:latin typeface="微软雅黑" panose="020B0503020204020204" pitchFamily="34" charset="-122"/>
              <a:ea typeface="微软雅黑" panose="020B0503020204020204" pitchFamily="34" charset="-122"/>
              <a:cs typeface="微软雅黑" panose="020B0503020204020204" pitchFamily="34" charset="-122"/>
              <a:sym typeface="经典繁仿黑" pitchFamily="1" charset="-122"/>
            </a:endParaRPr>
          </a:p>
        </p:txBody>
      </p:sp>
    </p:spTree>
  </p:cSld>
  <p:clrMapOvr>
    <a:masterClrMapping/>
  </p:clrMapOvr>
  <p:transition spd="slow">
    <p:cover dir="l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2"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4103"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06" name="任意多边形 10"/>
          <p:cNvSpPr>
            <a:spLocks noChangeArrowheads="1"/>
          </p:cNvSpPr>
          <p:nvPr>
            <p:custDataLst>
              <p:tags r:id="rId1"/>
            </p:custDataLst>
          </p:nvPr>
        </p:nvSpPr>
        <p:spPr bwMode="auto">
          <a:xfrm flipV="1">
            <a:off x="0" y="2590800"/>
            <a:ext cx="12199938" cy="1630363"/>
          </a:xfrm>
          <a:custGeom>
            <a:avLst/>
            <a:gdLst>
              <a:gd name="T0" fmla="*/ 0 w 10521680"/>
              <a:gd name="T1" fmla="*/ 0 h 1828800"/>
              <a:gd name="T2" fmla="*/ 7670639 w 10521680"/>
              <a:gd name="T3" fmla="*/ 0 h 1828800"/>
              <a:gd name="T4" fmla="*/ 8437771 w 10521680"/>
              <a:gd name="T5" fmla="*/ 1295748 h 1828800"/>
              <a:gd name="T6" fmla="*/ 16402222 w 10521680"/>
              <a:gd name="T7" fmla="*/ 1295748 h 1828800"/>
              <a:gd name="T8" fmla="*/ 0 60000 65536"/>
              <a:gd name="T9" fmla="*/ 0 60000 65536"/>
              <a:gd name="T10" fmla="*/ 0 60000 65536"/>
              <a:gd name="T11" fmla="*/ 0 60000 65536"/>
              <a:gd name="T12" fmla="*/ 0 w 10521680"/>
              <a:gd name="T13" fmla="*/ 0 h 1828800"/>
              <a:gd name="T14" fmla="*/ 10521680 w 10521680"/>
              <a:gd name="T15" fmla="*/ 1828800 h 1828800"/>
            </a:gdLst>
            <a:ahLst/>
            <a:cxnLst>
              <a:cxn ang="T8">
                <a:pos x="T0" y="T1"/>
              </a:cxn>
              <a:cxn ang="T9">
                <a:pos x="T2" y="T3"/>
              </a:cxn>
              <a:cxn ang="T10">
                <a:pos x="T4" y="T5"/>
              </a:cxn>
              <a:cxn ang="T11">
                <a:pos x="T6" y="T7"/>
              </a:cxn>
            </a:cxnLst>
            <a:rect l="T12" t="T13" r="T14" b="T15"/>
            <a:pathLst>
              <a:path w="10521680" h="1828800">
                <a:moveTo>
                  <a:pt x="0" y="0"/>
                </a:moveTo>
                <a:lnTo>
                  <a:pt x="4920553" y="0"/>
                </a:lnTo>
                <a:lnTo>
                  <a:pt x="5412652" y="1828800"/>
                </a:lnTo>
                <a:lnTo>
                  <a:pt x="10521680" y="1828800"/>
                </a:lnTo>
              </a:path>
            </a:pathLst>
          </a:custGeom>
          <a:noFill/>
          <a:ln w="57150" cap="flat" cmpd="sng">
            <a:solidFill>
              <a:srgbClr val="3B79CE"/>
            </a:solidFill>
            <a:miter lim="800000"/>
          </a:ln>
          <a:extLst>
            <a:ext uri="{909E8E84-426E-40DD-AFC4-6F175D3DCCD1}">
              <a14:hiddenFill xmlns:a14="http://schemas.microsoft.com/office/drawing/2010/main">
                <a:solidFill>
                  <a:srgbClr val="FFFFFF"/>
                </a:solidFill>
              </a14:hiddenFill>
            </a:ext>
          </a:extLst>
        </p:spPr>
        <p:txBody>
          <a:bodyPr anchor="ctr"/>
          <a:lstStyle/>
          <a:p>
            <a:endParaRPr lang="zh-CN" altLang="en-US"/>
          </a:p>
        </p:txBody>
      </p:sp>
      <p:grpSp>
        <p:nvGrpSpPr>
          <p:cNvPr id="4107" name="组合 11"/>
          <p:cNvGrpSpPr/>
          <p:nvPr>
            <p:custDataLst>
              <p:tags r:id="rId2"/>
            </p:custDataLst>
          </p:nvPr>
        </p:nvGrpSpPr>
        <p:grpSpPr bwMode="auto">
          <a:xfrm>
            <a:off x="1085850" y="3875088"/>
            <a:ext cx="692150" cy="692150"/>
            <a:chOff x="0" y="0"/>
            <a:chExt cx="692150" cy="692150"/>
          </a:xfrm>
        </p:grpSpPr>
        <p:sp>
          <p:nvSpPr>
            <p:cNvPr id="4122" name="椭圆 12"/>
            <p:cNvSpPr>
              <a:spLocks noChangeArrowheads="1"/>
            </p:cNvSpPr>
            <p:nvPr>
              <p:custDataLst>
                <p:tags r:id="rId3"/>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4"/>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4108" name="TextBox 8"/>
          <p:cNvSpPr>
            <a:spLocks noChangeArrowheads="1"/>
          </p:cNvSpPr>
          <p:nvPr>
            <p:custDataLst>
              <p:tags r:id="rId5"/>
            </p:custDataLst>
          </p:nvPr>
        </p:nvSpPr>
        <p:spPr bwMode="auto">
          <a:xfrm>
            <a:off x="408940" y="3162300"/>
            <a:ext cx="212852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24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2400" b="1">
              <a:solidFill>
                <a:srgbClr val="595959"/>
              </a:solidFill>
              <a:latin typeface="专业字体设计服务/WWW.ZTSGC.COM/" charset="-122"/>
              <a:ea typeface="微软雅黑" panose="020B0503020204020204" pitchFamily="34" charset="-122"/>
              <a:sym typeface="专业字体设计服务/WWW.ZTSGC.COM/" charset="-122"/>
            </a:endParaRPr>
          </a:p>
        </p:txBody>
      </p:sp>
      <p:sp>
        <p:nvSpPr>
          <p:cNvPr id="4109" name="TextBox 8"/>
          <p:cNvSpPr>
            <a:spLocks noChangeArrowheads="1"/>
          </p:cNvSpPr>
          <p:nvPr>
            <p:custDataLst>
              <p:tags r:id="rId6"/>
            </p:custDataLst>
          </p:nvPr>
        </p:nvSpPr>
        <p:spPr bwMode="auto">
          <a:xfrm>
            <a:off x="2406015" y="3162300"/>
            <a:ext cx="29070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4110" name="TextBox 16"/>
          <p:cNvSpPr>
            <a:spLocks noChangeArrowheads="1"/>
          </p:cNvSpPr>
          <p:nvPr>
            <p:custDataLst>
              <p:tags r:id="rId7"/>
            </p:custDataLst>
          </p:nvPr>
        </p:nvSpPr>
        <p:spPr bwMode="auto">
          <a:xfrm>
            <a:off x="8114983" y="2997200"/>
            <a:ext cx="2173287"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rPr>
              <a:t>任务实现</a:t>
            </a:r>
            <a:endParaRPr lang="zh-CN" altLang="zh-CN" sz="2400" b="1">
              <a:solidFill>
                <a:srgbClr val="5F5E5C"/>
              </a:solidFill>
              <a:latin typeface="微软雅黑" panose="020B0503020204020204" pitchFamily="34" charset="-122"/>
              <a:ea typeface="微软雅黑" panose="020B0503020204020204" pitchFamily="34" charset="-122"/>
              <a:sym typeface="微软雅黑" panose="020B0503020204020204" pitchFamily="34" charset="-122"/>
            </a:endParaRPr>
          </a:p>
        </p:txBody>
      </p:sp>
      <p:grpSp>
        <p:nvGrpSpPr>
          <p:cNvPr id="4112" name="组合 18"/>
          <p:cNvGrpSpPr/>
          <p:nvPr>
            <p:custDataLst>
              <p:tags r:id="rId8"/>
            </p:custDataLst>
          </p:nvPr>
        </p:nvGrpSpPr>
        <p:grpSpPr bwMode="auto">
          <a:xfrm>
            <a:off x="3452813" y="3875088"/>
            <a:ext cx="692150" cy="692150"/>
            <a:chOff x="0" y="0"/>
            <a:chExt cx="692150" cy="692150"/>
          </a:xfrm>
        </p:grpSpPr>
        <p:sp>
          <p:nvSpPr>
            <p:cNvPr id="4120" name="椭圆 19"/>
            <p:cNvSpPr>
              <a:spLocks noChangeArrowheads="1"/>
            </p:cNvSpPr>
            <p:nvPr>
              <p:custDataLst>
                <p:tags r:id="rId9"/>
              </p:custDataLst>
            </p:nvPr>
          </p:nvSpPr>
          <p:spPr bwMode="auto">
            <a:xfrm>
              <a:off x="0" y="0"/>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1" name="椭圆 20"/>
            <p:cNvSpPr>
              <a:spLocks noChangeArrowheads="1"/>
            </p:cNvSpPr>
            <p:nvPr>
              <p:custDataLst>
                <p:tags r:id="rId10"/>
              </p:custDataLst>
            </p:nvPr>
          </p:nvSpPr>
          <p:spPr bwMode="auto">
            <a:xfrm>
              <a:off x="76200" y="76200"/>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2</a:t>
              </a:r>
              <a:endParaRPr lang="zh-CN" altLang="zh-CN">
                <a:solidFill>
                  <a:srgbClr val="FFFFFF"/>
                </a:solidFill>
                <a:latin typeface="Impact" panose="020B0806030902050204" pitchFamily="34" charset="0"/>
                <a:sym typeface="Impact" panose="020B0806030902050204" pitchFamily="34" charset="0"/>
              </a:endParaRPr>
            </a:p>
          </p:txBody>
        </p:sp>
      </p:grpSp>
      <p:grpSp>
        <p:nvGrpSpPr>
          <p:cNvPr id="4113" name="组合 21"/>
          <p:cNvGrpSpPr/>
          <p:nvPr>
            <p:custDataLst>
              <p:tags r:id="rId11"/>
            </p:custDataLst>
          </p:nvPr>
        </p:nvGrpSpPr>
        <p:grpSpPr bwMode="auto">
          <a:xfrm>
            <a:off x="9190673" y="2204720"/>
            <a:ext cx="692150" cy="692150"/>
            <a:chOff x="1499235" y="-40005"/>
            <a:chExt cx="692150" cy="692150"/>
          </a:xfrm>
        </p:grpSpPr>
        <p:sp>
          <p:nvSpPr>
            <p:cNvPr id="4118" name="椭圆 22"/>
            <p:cNvSpPr>
              <a:spLocks noChangeArrowheads="1"/>
            </p:cNvSpPr>
            <p:nvPr>
              <p:custDataLst>
                <p:tags r:id="rId12"/>
              </p:custDataLst>
            </p:nvPr>
          </p:nvSpPr>
          <p:spPr bwMode="auto">
            <a:xfrm>
              <a:off x="1499235" y="-40005"/>
              <a:ext cx="692150" cy="69215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19" name="椭圆 23"/>
            <p:cNvSpPr>
              <a:spLocks noChangeArrowheads="1"/>
            </p:cNvSpPr>
            <p:nvPr>
              <p:custDataLst>
                <p:tags r:id="rId13"/>
              </p:custDataLst>
            </p:nvPr>
          </p:nvSpPr>
          <p:spPr bwMode="auto">
            <a:xfrm>
              <a:off x="1575435" y="32385"/>
              <a:ext cx="539750" cy="5397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3</a:t>
              </a:r>
              <a:endParaRPr lang="zh-CN" altLang="zh-CN">
                <a:solidFill>
                  <a:srgbClr val="FFFFFF"/>
                </a:solidFill>
                <a:latin typeface="Impact" panose="020B0806030902050204" pitchFamily="34" charset="0"/>
                <a:sym typeface="Impact" panose="020B0806030902050204" pitchFamily="34" charset="0"/>
              </a:endParaRPr>
            </a:p>
          </p:txBody>
        </p:sp>
      </p:grpSp>
      <p:sp>
        <p:nvSpPr>
          <p:cNvPr id="4115" name="Text Box 2"/>
          <p:cNvSpPr>
            <a:spLocks noChangeArrowheads="1"/>
          </p:cNvSpPr>
          <p:nvPr/>
        </p:nvSpPr>
        <p:spPr bwMode="auto">
          <a:xfrm>
            <a:off x="5378450" y="3070225"/>
            <a:ext cx="1296988" cy="647700"/>
          </a:xfrm>
          <a:prstGeom prst="rect">
            <a:avLst/>
          </a:prstGeom>
          <a:solidFill>
            <a:srgbClr val="3B79CE"/>
          </a:solidFill>
          <a:ln>
            <a:noFill/>
          </a:ln>
          <a:extLs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sz="3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目录</a:t>
            </a:r>
            <a:endParaRPr lang="zh-CN" altLang="zh-CN"/>
          </a:p>
        </p:txBody>
      </p:sp>
    </p:spTree>
  </p:cSld>
  <p:clrMapOvr>
    <a:masterClrMapping/>
  </p:clrMapOvr>
  <p:transition spd="slow">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4714240" y="3500755"/>
            <a:ext cx="6729730" cy="2999740"/>
          </a:xfrm>
          <a:prstGeom prst="rect">
            <a:avLst/>
          </a:prstGeom>
        </p:spPr>
        <p:txBody>
          <a:bodyPr wrap="square">
            <a:spAutoFit/>
          </a:bodyPr>
          <a:p>
            <a:pPr marL="0" indent="266700" algn="just" defTabSz="266700">
              <a:lnSpc>
                <a:spcPct val="150000"/>
              </a:lnSpc>
              <a:spcBef>
                <a:spcPct val="0"/>
              </a:spcBef>
              <a:spcAft>
                <a:spcPct val="0"/>
              </a:spcAft>
            </a:pPr>
            <a:r>
              <a:rPr sz="1800">
                <a:latin typeface="微软雅黑" panose="020B0503020204020204" pitchFamily="34" charset="-122"/>
                <a:ea typeface="微软雅黑" panose="020B0503020204020204" pitchFamily="34" charset="-122"/>
                <a:cs typeface="微软雅黑" panose="020B0503020204020204" pitchFamily="34" charset="-122"/>
                <a:sym typeface="+mn-ea"/>
              </a:rPr>
              <a:t>子任务1：定义一个学生类Student，其中包括属性姓名、年龄、性别、爱好；定义一个测试类用来输出学生信息。</a:t>
            </a: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r>
              <a:rPr sz="1800">
                <a:latin typeface="微软雅黑" panose="020B0503020204020204" pitchFamily="34" charset="-122"/>
                <a:ea typeface="微软雅黑" panose="020B0503020204020204" pitchFamily="34" charset="-122"/>
                <a:cs typeface="微软雅黑" panose="020B0503020204020204" pitchFamily="34" charset="-122"/>
                <a:sym typeface="+mn-ea"/>
              </a:rPr>
              <a:t>子任务2：定义一个学生类Student，其中定义一个成员方法public void setName(String name) 用来初始化成员变量并输出学生姓名，再定义另一个成员方法public void  show()，该方法调用第一个成员方法setName(String name)；编写测试类。</a:t>
            </a: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模块一  </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任务描述</a:t>
            </a: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文本框 1"/>
          <p:cNvSpPr txBox="1"/>
          <p:nvPr/>
        </p:nvSpPr>
        <p:spPr>
          <a:xfrm>
            <a:off x="4714240" y="3500755"/>
            <a:ext cx="6729730" cy="2584450"/>
          </a:xfrm>
          <a:prstGeom prst="rect">
            <a:avLst/>
          </a:prstGeom>
        </p:spPr>
        <p:txBody>
          <a:bodyPr wrap="square">
            <a:spAutoFit/>
          </a:bodyPr>
          <a:p>
            <a:pPr marL="0" indent="266700" algn="just" defTabSz="266700">
              <a:lnSpc>
                <a:spcPct val="150000"/>
              </a:lnSpc>
              <a:spcBef>
                <a:spcPct val="0"/>
              </a:spcBef>
              <a:spcAft>
                <a:spcPct val="0"/>
              </a:spcAft>
            </a:pPr>
            <a:r>
              <a:rPr sz="1800">
                <a:latin typeface="微软雅黑" panose="020B0503020204020204" pitchFamily="34" charset="-122"/>
                <a:ea typeface="微软雅黑" panose="020B0503020204020204" pitchFamily="34" charset="-122"/>
                <a:cs typeface="微软雅黑" panose="020B0503020204020204" pitchFamily="34" charset="-122"/>
                <a:sym typeface="+mn-ea"/>
              </a:rPr>
              <a:t>子任务3：定义一个学生类Student，其中包括一个无参构造方法public Student () 和一个有参构造方法public Student(String name,int age),在有参构造方法中调用无参构造方法并在该方法中初始化这两个属性；定义一个成员方法public void  show()；编写测试类。</a:t>
            </a: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266700" algn="just" defTabSz="266700">
              <a:lnSpc>
                <a:spcPct val="150000"/>
              </a:lnSpc>
              <a:spcBef>
                <a:spcPct val="0"/>
              </a:spcBef>
              <a:spcAft>
                <a:spcPct val="0"/>
              </a:spcAft>
            </a:pPr>
            <a:endParaRPr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3" dur="1000" decel="50000" fill="hold">
                                          <p:stCondLst>
                                            <p:cond delay="0"/>
                                          </p:stCondLst>
                                        </p:cTn>
                                        <p:tgtEl>
                                          <p:spTgt spid="2"/>
                                        </p:tgtEl>
                                        <p:attrNameLst>
                                          <p:attrName>ppt_x</p:attrName>
                                          <p:attrName>ppt_y</p:attrName>
                                        </p:attrNameLst>
                                      </p:cBhvr>
                                    </p:animMotion>
                                    <p:animEffect transition="in" filter="fade">
                                      <p:cBhvr>
                                        <p:cTn id="14"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1316990" y="-15875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宋体" panose="02010600030101010101" pitchFamily="2" charset="-122"/>
                <a:sym typeface="宋体" panose="02010600030101010101" pitchFamily="2" charset="-122"/>
              </a:rPr>
              <a:t>..</a:t>
            </a:r>
            <a:endParaRPr lang="en-US"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82870" cy="80708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模块二</a:t>
            </a:r>
            <a:r>
              <a:rPr lang="en-US" altLang="zh-CN"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 </a:t>
            </a: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知识链接</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marL="571500" indent="-571500" algn="ctr" eaLnBrk="1" hangingPunct="1">
              <a:buFont typeface="Arial" panose="020B0604020202020204" pitchFamily="34" charset="0"/>
              <a:buChar char="•"/>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2" name="矩形 2"/>
          <p:cNvSpPr>
            <a:spLocks noChangeArrowheads="1"/>
          </p:cNvSpPr>
          <p:nvPr/>
        </p:nvSpPr>
        <p:spPr bwMode="auto">
          <a:xfrm>
            <a:off x="6389688" y="3545523"/>
            <a:ext cx="3598862"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285750" indent="-285750" algn="just" defTabSz="266700">
              <a:lnSpc>
                <a:spcPct val="150000"/>
              </a:lnSpc>
              <a:spcBef>
                <a:spcPct val="0"/>
              </a:spcBef>
              <a:spcAft>
                <a:spcPct val="0"/>
              </a:spcAft>
              <a:buFont typeface="Arial" panose="020B0604020202020204" pitchFamily="34" charset="0"/>
              <a:buChar char="•"/>
            </a:pPr>
            <a:r>
              <a:rPr lang="zh-CN" sz="1800">
                <a:latin typeface="微软雅黑" panose="020B0503020204020204" pitchFamily="34" charset="-122"/>
                <a:ea typeface="微软雅黑" panose="020B0503020204020204" pitchFamily="34" charset="-122"/>
                <a:cs typeface="微软雅黑" panose="020B0503020204020204" pitchFamily="34" charset="-122"/>
                <a:sym typeface="+mn-ea"/>
              </a:rPr>
              <a:t>this关键字</a:t>
            </a: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a:p>
            <a:pPr marL="0" indent="0" algn="just" defTabSz="266700">
              <a:lnSpc>
                <a:spcPct val="150000"/>
              </a:lnSpc>
              <a:spcBef>
                <a:spcPct val="0"/>
              </a:spcBef>
              <a:spcAft>
                <a:spcPct val="0"/>
              </a:spcAft>
              <a:buFont typeface="Arial" panose="020B0604020202020204" pitchFamily="34" charset="0"/>
              <a:buNone/>
            </a:pPr>
            <a:endParaRPr lang="zh-CN" sz="18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0"/>
                                  </p:stCondLst>
                                  <p:childTnLst>
                                    <p:set>
                                      <p:cBhvr>
                                        <p:cTn id="11" dur="1" fill="hold">
                                          <p:stCondLst>
                                            <p:cond delay="0"/>
                                          </p:stCondLst>
                                        </p:cTn>
                                        <p:tgtEl>
                                          <p:spTgt spid="2"/>
                                        </p:tgtEl>
                                        <p:attrNameLst>
                                          <p:attrName>style.visibility</p:attrName>
                                        </p:attrNameLst>
                                      </p:cBhvr>
                                      <p:to>
                                        <p:strVal val="visible"/>
                                      </p:to>
                                    </p:set>
                                    <p:animScale>
                                      <p:cBhvr>
                                        <p:cTn id="12"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2"/>
                                        </p:tgtEl>
                                        <p:attrNameLst>
                                          <p:attrName>ppt_x</p:attrName>
                                          <p:attrName>ppt_y</p:attrName>
                                        </p:attrNameLst>
                                      </p:cBhvr>
                                      <p:rCtr x="0" y="0"/>
                                    </p:animMotion>
                                    <p:animEffect>
                                      <p:cBhvr>
                                        <p:cTn id="14" dur="1000"/>
                                        <p:tgtEl>
                                          <p:spTgt spid="2"/>
                                        </p:tgtEl>
                                      </p:cBhvr>
                                    </p:animEffect>
                                  </p:childTnLst>
                                </p:cTn>
                              </p:par>
                              <p:par>
                                <p:cTn id="15" presetID="52" presetClass="entr" presetSubtype="0" fill="hold" grpId="1" nodeType="withEffect">
                                  <p:stCondLst>
                                    <p:cond delay="0"/>
                                  </p:stCondLst>
                                  <p:childTnLst>
                                    <p:set>
                                      <p:cBhvr>
                                        <p:cTn id="16" dur="1" fill="hold">
                                          <p:stCondLst>
                                            <p:cond delay="0"/>
                                          </p:stCondLst>
                                        </p:cTn>
                                        <p:tgtEl>
                                          <p:spTgt spid="2"/>
                                        </p:tgtEl>
                                        <p:attrNameLst>
                                          <p:attrName>style.visibility</p:attrName>
                                        </p:attrNameLst>
                                      </p:cBhvr>
                                      <p:to>
                                        <p:strVal val="visible"/>
                                      </p:to>
                                    </p:set>
                                    <p:animScale>
                                      <p:cBhvr>
                                        <p:cTn id="17" dur="1000" decel="50000" fill="hold">
                                          <p:stCondLst>
                                            <p:cond delay="0"/>
                                          </p:stCondLst>
                                        </p:cTn>
                                        <p:tgtEl>
                                          <p:spTgt spid="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18" dur="1000" decel="50000" fill="hold">
                                          <p:stCondLst>
                                            <p:cond delay="0"/>
                                          </p:stCondLst>
                                        </p:cTn>
                                        <p:tgtEl>
                                          <p:spTgt spid="2"/>
                                        </p:tgtEl>
                                        <p:attrNameLst>
                                          <p:attrName>ppt_x</p:attrName>
                                          <p:attrName>ppt_y</p:attrName>
                                        </p:attrNameLst>
                                      </p:cBhvr>
                                    </p:animMotion>
                                    <p:animEffect transition="in" filter="fade">
                                      <p:cBhvr>
                                        <p:cTn id="19"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2" grpId="0" bldLvl="0" autoUpdateAnimBg="0"/>
      <p:bldP spid="2" grpId="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this关键字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000">
                <a:latin typeface="宋体" panose="02010600030101010101" pitchFamily="2" charset="-122"/>
                <a:cs typeface="宋体" panose="02010600030101010101" pitchFamily="2" charset="-122"/>
              </a:rPr>
              <a:t>  </a:t>
            </a:r>
            <a:r>
              <a:rPr sz="2000">
                <a:latin typeface="宋体" panose="02010600030101010101" pitchFamily="2" charset="-122"/>
                <a:cs typeface="宋体" panose="02010600030101010101" pitchFamily="2" charset="-122"/>
              </a:rPr>
              <a:t>在Java中this关键字作用有三个：使用它调用本类的属性；使用它调用成员方法；使用它调用构造方法</a:t>
            </a:r>
            <a:r>
              <a:rPr lang="zh-CN" sz="2000">
                <a:latin typeface="宋体" panose="02010600030101010101" pitchFamily="2" charset="-122"/>
                <a:cs typeface="宋体" panose="02010600030101010101" pitchFamily="2" charset="-122"/>
              </a:rPr>
              <a:t>：</a:t>
            </a:r>
            <a:endParaRPr lang="zh-CN" sz="20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b="1">
                <a:latin typeface="宋体" panose="02010600030101010101" pitchFamily="2" charset="-122"/>
                <a:cs typeface="宋体" panose="02010600030101010101" pitchFamily="2" charset="-122"/>
              </a:rPr>
              <a:t>使用this关键字调用本类中的属性</a:t>
            </a:r>
            <a:endParaRPr lang="zh-CN" sz="20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a:latin typeface="宋体" panose="02010600030101010101" pitchFamily="2" charset="-122"/>
                <a:cs typeface="宋体" panose="02010600030101010101" pitchFamily="2" charset="-122"/>
              </a:rPr>
              <a:t>在文件6-7中的构造方法public Student(String n, int a,String s,String h)中使用了参数n表示姓名，a表示年龄，s表示性别，h表示爱好，虽然语法上没有问题，但是可读性很差。这时可以将这些参数和成员变量命名一致，但这样导致命名冲突。解决的办法是在成员变量前面加上this关键字加以区分，如this.name是成员变量，name 是参数，也是局部变量。</a:t>
            </a:r>
            <a:endParaRPr lang="zh-CN" sz="2000">
              <a:latin typeface="宋体" panose="02010600030101010101" pitchFamily="2" charset="-122"/>
              <a:cs typeface="宋体" panose="02010600030101010101" pitchFamily="2"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this关键字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sz="2400">
                <a:latin typeface="宋体" panose="02010600030101010101" pitchFamily="2" charset="-122"/>
                <a:cs typeface="宋体" panose="02010600030101010101" pitchFamily="2" charset="-122"/>
              </a:rPr>
              <a:t>在Java中this关键字作用有三个：使用它调用本类的属性；使用它调用成员方法；使用它调用构造方法</a:t>
            </a:r>
            <a:r>
              <a:rPr lang="zh-CN" sz="2400">
                <a:latin typeface="宋体" panose="02010600030101010101" pitchFamily="2" charset="-122"/>
                <a:cs typeface="宋体" panose="02010600030101010101" pitchFamily="2" charset="-122"/>
              </a:rPr>
              <a:t>：</a:t>
            </a:r>
            <a:endParaRPr lang="zh-CN" sz="24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b="1">
                <a:latin typeface="宋体" panose="02010600030101010101" pitchFamily="2" charset="-122"/>
                <a:cs typeface="宋体" panose="02010600030101010101" pitchFamily="2" charset="-122"/>
              </a:rPr>
              <a:t>使用this关键字调用本类中的属性，</a:t>
            </a:r>
            <a:r>
              <a:rPr lang="zh-CN" sz="2000">
                <a:latin typeface="宋体" panose="02010600030101010101" pitchFamily="2" charset="-122"/>
                <a:cs typeface="宋体" panose="02010600030101010101" pitchFamily="2" charset="-122"/>
              </a:rPr>
              <a:t>如以下代码：</a:t>
            </a:r>
            <a:endParaRPr lang="zh-CN" sz="20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b="1">
                <a:latin typeface="宋体" panose="02010600030101010101" pitchFamily="2" charset="-122"/>
                <a:cs typeface="宋体" panose="02010600030101010101" pitchFamily="2" charset="-122"/>
              </a:rPr>
              <a:t>public Student(String name,int age,String sex,String hobby) {</a:t>
            </a:r>
            <a:endParaRPr lang="zh-CN" sz="20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b="1">
                <a:latin typeface="宋体" panose="02010600030101010101" pitchFamily="2" charset="-122"/>
                <a:cs typeface="宋体" panose="02010600030101010101" pitchFamily="2" charset="-122"/>
              </a:rPr>
              <a:t> this.name = name;</a:t>
            </a:r>
            <a:endParaRPr lang="zh-CN" sz="20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b="1">
                <a:latin typeface="宋体" panose="02010600030101010101" pitchFamily="2" charset="-122"/>
                <a:cs typeface="宋体" panose="02010600030101010101" pitchFamily="2" charset="-122"/>
              </a:rPr>
              <a:t> this.age = age;</a:t>
            </a:r>
            <a:endParaRPr lang="zh-CN" sz="20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b="1">
                <a:latin typeface="宋体" panose="02010600030101010101" pitchFamily="2" charset="-122"/>
                <a:cs typeface="宋体" panose="02010600030101010101" pitchFamily="2" charset="-122"/>
              </a:rPr>
              <a:t> this.sex=sex;</a:t>
            </a:r>
            <a:endParaRPr lang="zh-CN" sz="20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b="1">
                <a:latin typeface="宋体" panose="02010600030101010101" pitchFamily="2" charset="-122"/>
                <a:cs typeface="宋体" panose="02010600030101010101" pitchFamily="2" charset="-122"/>
              </a:rPr>
              <a:t> this.hobby=hobby;</a:t>
            </a:r>
            <a:endParaRPr lang="zh-CN" sz="20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lang="zh-CN" sz="2000" b="1">
                <a:latin typeface="宋体" panose="02010600030101010101" pitchFamily="2" charset="-122"/>
                <a:cs typeface="宋体" panose="02010600030101010101" pitchFamily="2" charset="-122"/>
              </a:rPr>
              <a:t>}</a:t>
            </a:r>
            <a:endParaRPr lang="zh-CN" sz="2000">
              <a:latin typeface="宋体" panose="02010600030101010101" pitchFamily="2" charset="-122"/>
              <a:cs typeface="宋体" panose="02010600030101010101" pitchFamily="2"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this关键字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lang="en-US" sz="2400" b="1">
                <a:latin typeface="宋体" panose="02010600030101010101" pitchFamily="2" charset="-122"/>
                <a:cs typeface="宋体" panose="02010600030101010101" pitchFamily="2" charset="-122"/>
              </a:rPr>
              <a:t> </a:t>
            </a:r>
            <a:r>
              <a:rPr sz="2400" b="1">
                <a:latin typeface="宋体" panose="02010600030101010101" pitchFamily="2" charset="-122"/>
                <a:cs typeface="宋体" panose="02010600030101010101" pitchFamily="2" charset="-122"/>
              </a:rPr>
              <a:t>使用this关键字调用成员方法</a:t>
            </a:r>
            <a:endParaRPr sz="24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400">
                <a:latin typeface="宋体" panose="02010600030101010101" pitchFamily="2" charset="-122"/>
                <a:cs typeface="宋体" panose="02010600030101010101" pitchFamily="2" charset="-122"/>
              </a:rPr>
              <a:t>使用this关键字也可以用来调用成员方法，例如以下代码：</a:t>
            </a:r>
            <a:endParaRPr sz="24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public class Student {</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String name;</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public void setName(String name) {</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this.name=name;</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System.out.println(this.name);</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public void show() {</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	     this.setName("李红");</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a:t>
            </a:r>
            <a:endParaRPr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000">
                <a:latin typeface="宋体" panose="02010600030101010101" pitchFamily="2" charset="-122"/>
                <a:cs typeface="宋体" panose="02010600030101010101" pitchFamily="2" charset="-122"/>
              </a:rPr>
              <a:t>}</a:t>
            </a:r>
            <a:r>
              <a:rPr sz="2000">
                <a:solidFill>
                  <a:srgbClr val="FF0000"/>
                </a:solidFill>
                <a:latin typeface="宋体" panose="02010600030101010101" pitchFamily="2" charset="-122"/>
                <a:cs typeface="宋体" panose="02010600030101010101" pitchFamily="2" charset="-122"/>
              </a:rPr>
              <a:t>上述代码中，在show()方法中使用this关键字调用了setName()方法。需要注意的是此处的this关键字也可以省略不写。</a:t>
            </a:r>
            <a:endParaRPr sz="2000">
              <a:solidFill>
                <a:srgbClr val="FF0000"/>
              </a:solidFill>
              <a:latin typeface="宋体" panose="02010600030101010101" pitchFamily="2" charset="-122"/>
              <a:cs typeface="宋体" panose="02010600030101010101" pitchFamily="2"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this关键字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sz="2400" b="1">
                <a:latin typeface="宋体" panose="02010600030101010101" pitchFamily="2" charset="-122"/>
                <a:cs typeface="宋体" panose="02010600030101010101" pitchFamily="2" charset="-122"/>
              </a:rPr>
              <a:t>使用this关键字调用构造方法</a:t>
            </a:r>
            <a:endParaRPr sz="24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400">
                <a:latin typeface="宋体" panose="02010600030101010101" pitchFamily="2" charset="-122"/>
                <a:cs typeface="宋体" panose="02010600030101010101" pitchFamily="2" charset="-122"/>
              </a:rPr>
              <a:t>构造方法是在实例化对象时被Java虚拟机自动调用，在程序中不能像调用其他成员方法一样调用构造方法，但可以在一个构造方法中使用“this(参数1,参数2…)”的形式调用其他的构造方法。</a:t>
            </a:r>
            <a:endParaRPr sz="2400" b="1">
              <a:latin typeface="宋体" panose="02010600030101010101" pitchFamily="2" charset="-122"/>
              <a:cs typeface="宋体" panose="02010600030101010101" pitchFamily="2"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this关键字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sz="2400" b="1">
                <a:latin typeface="宋体" panose="02010600030101010101" pitchFamily="2" charset="-122"/>
                <a:cs typeface="宋体" panose="02010600030101010101" pitchFamily="2" charset="-122"/>
              </a:rPr>
              <a:t>使用this关键字调用构造方法</a:t>
            </a:r>
            <a:endParaRPr sz="24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000">
                <a:latin typeface="宋体" panose="02010600030101010101" pitchFamily="2" charset="-122"/>
                <a:cs typeface="宋体" panose="02010600030101010101" pitchFamily="2" charset="-122"/>
              </a:rPr>
              <a:t>例如以下代码：</a:t>
            </a:r>
            <a:endParaRPr sz="24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1 class Student {</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2	private String name;</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3	private int age;</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4	public Student () {</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5		System.out.println("调用了无参的构造方法");</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6	}</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7 public Student (String name,int age) {</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8	this();  // 调用无参的构造方法</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9   this.name=name;</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10  this.age=age;</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a:t>
            </a:r>
            <a:endParaRPr sz="18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1800">
                <a:latin typeface="宋体" panose="02010600030101010101" pitchFamily="2" charset="-122"/>
                <a:cs typeface="宋体" panose="02010600030101010101" pitchFamily="2" charset="-122"/>
              </a:rPr>
              <a:t>}</a:t>
            </a:r>
            <a:endParaRPr sz="1800">
              <a:latin typeface="宋体" panose="02010600030101010101" pitchFamily="2" charset="-122"/>
              <a:cs typeface="宋体" panose="02010600030101010101" pitchFamily="2" charset="-12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this关键字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sz="2400" b="1">
                <a:latin typeface="宋体" panose="02010600030101010101" pitchFamily="2" charset="-122"/>
                <a:cs typeface="宋体" panose="02010600030101010101" pitchFamily="2" charset="-122"/>
              </a:rPr>
              <a:t>使用this调用类的构造方法时，应注意以下三点。</a:t>
            </a:r>
            <a:endParaRPr sz="2400" b="1">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400">
                <a:latin typeface="宋体" panose="02010600030101010101" pitchFamily="2" charset="-122"/>
                <a:cs typeface="宋体" panose="02010600030101010101" pitchFamily="2" charset="-122"/>
              </a:rPr>
              <a:t>（1）只能在构造方法中使用this调用其他的构造方法，不能在成员方法中通过this调用构造方法。</a:t>
            </a:r>
            <a:endParaRPr sz="24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400">
                <a:latin typeface="宋体" panose="02010600030101010101" pitchFamily="2" charset="-122"/>
                <a:cs typeface="宋体" panose="02010600030101010101" pitchFamily="2" charset="-122"/>
              </a:rPr>
              <a:t>（2）在构造方法中，使用this调用其他构造方法的语句必须位于第一行，且只能出现一次。下面程序的写法是错误的。</a:t>
            </a:r>
            <a:endParaRPr sz="2400">
              <a:latin typeface="宋体" panose="02010600030101010101" pitchFamily="2" charset="-122"/>
              <a:cs typeface="宋体" panose="02010600030101010101" pitchFamily="2" charset="-122"/>
            </a:endParaRPr>
          </a:p>
          <a:p>
            <a:pPr marL="0" indent="266700" algn="just" defTabSz="266700">
              <a:lnSpc>
                <a:spcPct val="150000"/>
              </a:lnSpc>
              <a:spcBef>
                <a:spcPct val="0"/>
              </a:spcBef>
              <a:spcAft>
                <a:spcPct val="0"/>
              </a:spcAft>
            </a:pPr>
            <a:r>
              <a:rPr sz="2400">
                <a:latin typeface="宋体" panose="02010600030101010101" pitchFamily="2" charset="-122"/>
                <a:cs typeface="宋体" panose="02010600030101010101" pitchFamily="2" charset="-122"/>
              </a:rPr>
              <a:t>（3）不能在一个类的两个构造方法中使用this互相调用，下面程序的写法是错误的。</a:t>
            </a:r>
            <a:endParaRPr sz="2400">
              <a:latin typeface="宋体" panose="02010600030101010101" pitchFamily="2" charset="-122"/>
              <a:cs typeface="宋体" panose="02010600030101010101" pitchFamily="2"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this关键字</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1</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模块二</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知识链接</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7" name="文本框 6"/>
          <p:cNvSpPr txBox="1"/>
          <p:nvPr/>
        </p:nvSpPr>
        <p:spPr>
          <a:xfrm>
            <a:off x="1202690" y="2204720"/>
            <a:ext cx="9742805" cy="1512570"/>
          </a:xfrm>
          <a:prstGeom prst="rect">
            <a:avLst/>
          </a:prstGeom>
        </p:spPr>
        <p:txBody>
          <a:bodyPr>
            <a:noAutofit/>
          </a:bodyPr>
          <a:p>
            <a:pPr marL="0" indent="266700" algn="just" defTabSz="266700">
              <a:lnSpc>
                <a:spcPct val="150000"/>
              </a:lnSpc>
              <a:spcBef>
                <a:spcPct val="0"/>
              </a:spcBef>
              <a:spcAft>
                <a:spcPct val="0"/>
              </a:spcAft>
            </a:pPr>
            <a:r>
              <a:rPr lang="en-US" sz="2400">
                <a:latin typeface="宋体" panose="02010600030101010101" pitchFamily="2" charset="-122"/>
                <a:cs typeface="宋体" panose="02010600030101010101" pitchFamily="2" charset="-122"/>
              </a:rPr>
              <a:t> </a:t>
            </a:r>
            <a:r>
              <a:rPr sz="2400" b="1">
                <a:latin typeface="宋体" panose="02010600030101010101" pitchFamily="2" charset="-122"/>
                <a:cs typeface="宋体" panose="02010600030101010101" pitchFamily="2" charset="-122"/>
              </a:rPr>
              <a:t>使用this调用类的构造方法时，应注意以下三点。</a:t>
            </a:r>
            <a:endParaRPr sz="2400" b="1">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sz="2400">
                <a:latin typeface="宋体" panose="02010600030101010101" pitchFamily="2" charset="-122"/>
                <a:cs typeface="宋体" panose="02010600030101010101" pitchFamily="2" charset="-122"/>
              </a:rPr>
              <a:t>（3）不能在一个类的两个构造方法中使用this互相调用，下面程序的写法是错误的。如以下代码：</a:t>
            </a:r>
            <a:endParaRPr sz="24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class Student {</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	public Student () {</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        this("张三");  	// 调用有参构造方法</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		System.out.println("调用无参构造方法。");</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	}</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	public Student (String name) {</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		this();                  	// 调用无参构造方法</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		System.out.println("调用有参构造方法。");</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	}</a:t>
            </a:r>
            <a:endParaRPr lang="zh-CN" sz="2000">
              <a:latin typeface="宋体" panose="02010600030101010101" pitchFamily="2" charset="-122"/>
              <a:cs typeface="宋体" panose="02010600030101010101" pitchFamily="2" charset="-122"/>
            </a:endParaRPr>
          </a:p>
          <a:p>
            <a:pPr marL="0" indent="266700" algn="just" defTabSz="266700" latinLnBrk="0">
              <a:lnSpc>
                <a:spcPct val="100000"/>
              </a:lnSpc>
              <a:spcBef>
                <a:spcPct val="0"/>
              </a:spcBef>
              <a:spcAft>
                <a:spcPct val="0"/>
              </a:spcAft>
            </a:pPr>
            <a:r>
              <a:rPr lang="zh-CN" sz="2000">
                <a:latin typeface="宋体" panose="02010600030101010101" pitchFamily="2" charset="-122"/>
                <a:cs typeface="宋体" panose="02010600030101010101" pitchFamily="2" charset="-122"/>
              </a:rPr>
              <a:t>}</a:t>
            </a:r>
            <a:endParaRPr lang="zh-CN" sz="2000">
              <a:latin typeface="宋体" panose="02010600030101010101" pitchFamily="2" charset="-122"/>
              <a:cs typeface="宋体" panose="02010600030101010101" pitchFamily="2" charset="-122"/>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06695" y="3500755"/>
            <a:ext cx="6174740" cy="922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a:latin typeface="微软雅黑" panose="020B0503020204020204" pitchFamily="34" charset="-122"/>
                <a:ea typeface="微软雅黑" panose="020B0503020204020204" pitchFamily="34" charset="-122"/>
                <a:cs typeface="微软雅黑" panose="020B0503020204020204" pitchFamily="34" charset="-122"/>
                <a:sym typeface="+mn-ea"/>
              </a:rPr>
              <a:t>子任务1：定义一个学生类Student，其中包括属性姓名、年龄、性别、爱好；定义一个测试类用来输出学生信息。</a:t>
            </a: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子任务</a:t>
            </a:r>
            <a:r>
              <a:rPr lang="en-US" altLang="zh-CN" sz="2600" b="1">
                <a:solidFill>
                  <a:schemeClr val="accent1">
                    <a:lumMod val="75000"/>
                  </a:schemeClr>
                </a:solidFill>
              </a:rPr>
              <a:t>1</a:t>
            </a:r>
            <a:r>
              <a:rPr lang="zh-CN" sz="2600" b="1">
                <a:solidFill>
                  <a:schemeClr val="accent1">
                    <a:lumMod val="75000"/>
                  </a:schemeClr>
                </a:solidFill>
              </a:rPr>
              <a:t>源码</a:t>
            </a:r>
            <a:endParaRPr lang="zh-CN" sz="2600" b="1">
              <a:solidFill>
                <a:schemeClr val="accent1">
                  <a:lumMod val="75000"/>
                </a:schemeClr>
              </a:solidFill>
            </a:endParaRPr>
          </a:p>
        </p:txBody>
      </p:sp>
      <p:sp>
        <p:nvSpPr>
          <p:cNvPr id="3" name="文本框 2"/>
          <p:cNvSpPr txBox="1"/>
          <p:nvPr/>
        </p:nvSpPr>
        <p:spPr>
          <a:xfrm>
            <a:off x="1094105" y="2095500"/>
            <a:ext cx="10746105" cy="1238885"/>
          </a:xfrm>
          <a:prstGeom prst="rect">
            <a:avLst/>
          </a:prstGeom>
          <a:noFill/>
        </p:spPr>
        <p:txBody>
          <a:bodyPr wrap="square" rtlCol="0" anchor="t">
            <a:noAutofit/>
          </a:bodyPr>
          <a:lstStyle/>
          <a:p>
            <a:pPr algn="ctr"/>
            <a:r>
              <a:rPr sz="2000">
                <a:latin typeface="微软雅黑" panose="020B0503020204020204" pitchFamily="34" charset="-122"/>
                <a:ea typeface="微软雅黑" panose="020B0503020204020204" pitchFamily="34" charset="-122"/>
                <a:cs typeface="微软雅黑" panose="020B0503020204020204" pitchFamily="34" charset="-122"/>
                <a:sym typeface="+mn-ea"/>
              </a:rPr>
              <a:t>结合任务描述和知识链接中使用this关键字调用本类中的属性，可以得到文件6-8所示的代码：</a:t>
            </a:r>
            <a:r>
              <a:rPr lang="en-US" altLang="zh-CN" sz="2000">
                <a:latin typeface="Times New Roman" panose="02020603050405020304" charset="0"/>
                <a:cs typeface="Times New Roman" panose="02020603050405020304" charset="0"/>
                <a:sym typeface="+mn-ea"/>
              </a:rPr>
              <a:t>文件6-8 Example06.Java</a:t>
            </a:r>
            <a:endParaRPr lang="en-US" altLang="zh-CN" sz="2000">
              <a:latin typeface="Times New Roman" panose="02020603050405020304" charset="0"/>
              <a:cs typeface="Times New Roman" panose="02020603050405020304" charset="0"/>
            </a:endParaRPr>
          </a:p>
          <a:p>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410845" y="2637155"/>
            <a:ext cx="6329680" cy="4654550"/>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 public class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String name;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int age;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String sex;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String  hobby;</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public Student(String name,int age,String sex,String hobby)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this.name = 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    this.age = age;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9	 this.sex=sex;</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10	 this.hobby=hobby;</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11	 }</a:t>
            </a: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315075" y="2780665"/>
            <a:ext cx="5958205" cy="3689350"/>
          </a:xfrm>
          <a:prstGeom prst="rect">
            <a:avLst/>
          </a:prstGeom>
        </p:spPr>
        <p:txBody>
          <a:bodyPr wrap="square">
            <a:noAutofit/>
          </a:bodyPr>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12	 public void show(){</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13      System.out.println(name+" "+age+" "+sex+" "+hobby);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14		}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15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16 public class Example06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17  public static void main(String[] args)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18  Student stu=new Student("李明",18,"男","唱歌");</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19  stu.show();</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20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21  }</a:t>
            </a:r>
            <a:endParaRPr sz="2000">
              <a:latin typeface="Times New Roman" panose="02020603050405020304" charset="0"/>
              <a:cs typeface="Times New Roman" panose="02020603050405020304"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运行结果</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5" name="文本框 4"/>
          <p:cNvSpPr txBox="1"/>
          <p:nvPr/>
        </p:nvSpPr>
        <p:spPr>
          <a:xfrm>
            <a:off x="1994535" y="2171542"/>
            <a:ext cx="5080000" cy="645160"/>
          </a:xfrm>
          <a:prstGeom prst="rect">
            <a:avLst/>
          </a:prstGeom>
        </p:spPr>
        <p:txBody>
          <a:bodyPr>
            <a:spAutoFit/>
          </a:bodyPr>
          <a:p>
            <a:pPr marL="0" indent="266700" algn="just"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运行结果如图</a:t>
            </a:r>
            <a:r>
              <a:rPr lang="en-US" altLang="zh-CN" sz="2400">
                <a:latin typeface="Times New Roman" panose="02020603050405020304"/>
                <a:ea typeface="宋体" panose="02010600030101010101" pitchFamily="2" charset="-122"/>
              </a:rPr>
              <a:t>6-10</a:t>
            </a:r>
            <a:r>
              <a:rPr lang="zh-CN" altLang="en-US" sz="2400">
                <a:latin typeface="宋体" panose="02010600030101010101" pitchFamily="2" charset="-122"/>
                <a:ea typeface="宋体" panose="02010600030101010101" pitchFamily="2" charset="-122"/>
              </a:rPr>
              <a:t>所示：</a:t>
            </a:r>
            <a:endParaRPr lang="zh-CN" altLang="en-US" sz="2400">
              <a:latin typeface="宋体" panose="02010600030101010101" pitchFamily="2" charset="-122"/>
              <a:ea typeface="宋体" panose="02010600030101010101" pitchFamily="2" charset="-122"/>
            </a:endParaRPr>
          </a:p>
        </p:txBody>
      </p:sp>
      <p:pic>
        <p:nvPicPr>
          <p:cNvPr id="6" name="图片 5"/>
          <p:cNvPicPr/>
          <p:nvPr/>
        </p:nvPicPr>
        <p:blipFill>
          <a:blip r:embed="rId3"/>
          <a:stretch>
            <a:fillRect/>
          </a:stretch>
        </p:blipFill>
        <p:spPr>
          <a:xfrm>
            <a:off x="3559175" y="2958465"/>
            <a:ext cx="4904105" cy="1039495"/>
          </a:xfrm>
          <a:prstGeom prst="rect">
            <a:avLst/>
          </a:prstGeom>
        </p:spPr>
      </p:pic>
      <p:sp>
        <p:nvSpPr>
          <p:cNvPr id="7" name="文本框 6"/>
          <p:cNvSpPr txBox="1"/>
          <p:nvPr/>
        </p:nvSpPr>
        <p:spPr>
          <a:xfrm>
            <a:off x="2930525" y="4139724"/>
            <a:ext cx="5080000" cy="645160"/>
          </a:xfrm>
          <a:prstGeom prst="rect">
            <a:avLst/>
          </a:prstGeom>
        </p:spPr>
        <p:txBody>
          <a:bodyPr>
            <a:spAutoFit/>
          </a:bodyPr>
          <a:p>
            <a:pPr marL="0" indent="0" algn="ctr"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图</a:t>
            </a:r>
            <a:r>
              <a:rPr lang="en-US" altLang="zh-CN" sz="2400">
                <a:latin typeface="Times New Roman" panose="02020603050405020304"/>
                <a:ea typeface="宋体" panose="02010600030101010101" pitchFamily="2" charset="-122"/>
              </a:rPr>
              <a:t>6-10</a:t>
            </a:r>
            <a:r>
              <a:rPr lang="zh-CN" altLang="en-US" sz="2400">
                <a:latin typeface="宋体" panose="02010600030101010101" pitchFamily="2" charset="-122"/>
                <a:ea typeface="宋体" panose="02010600030101010101" pitchFamily="2" charset="-122"/>
              </a:rPr>
              <a:t>文件</a:t>
            </a:r>
            <a:r>
              <a:rPr lang="en-US" altLang="zh-CN" sz="2400">
                <a:latin typeface="Times New Roman" panose="02020603050405020304"/>
                <a:ea typeface="宋体" panose="02010600030101010101" pitchFamily="2" charset="-122"/>
              </a:rPr>
              <a:t>6-8</a:t>
            </a:r>
            <a:r>
              <a:rPr lang="zh-CN" altLang="en-US" sz="2400">
                <a:latin typeface="宋体" panose="02010600030101010101" pitchFamily="2" charset="-122"/>
                <a:ea typeface="宋体" panose="02010600030101010101" pitchFamily="2" charset="-122"/>
              </a:rPr>
              <a:t>运行结果</a:t>
            </a:r>
            <a:endParaRPr lang="zh-CN" altLang="en-US" sz="2400">
              <a:latin typeface="宋体" panose="02010600030101010101" pitchFamily="2" charset="-122"/>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06695" y="3500755"/>
            <a:ext cx="617474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a:latin typeface="微软雅黑" panose="020B0503020204020204" pitchFamily="34" charset="-122"/>
                <a:ea typeface="微软雅黑" panose="020B0503020204020204" pitchFamily="34" charset="-122"/>
                <a:cs typeface="微软雅黑" panose="020B0503020204020204" pitchFamily="34" charset="-122"/>
                <a:sym typeface="+mn-ea"/>
              </a:rPr>
              <a:t>子任务2：定义一个学生类Student，其中定义一个成员方法public void setName(String name) 用来初始化成员变量并输出学生姓名，再定义另一个成员方法public void  show()，该方法调用第一个成员方法setName(String name)；编写测试类。</a:t>
            </a: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子任务</a:t>
            </a:r>
            <a:r>
              <a:rPr lang="en-US" altLang="zh-CN" sz="2600" b="1">
                <a:solidFill>
                  <a:schemeClr val="accent1">
                    <a:lumMod val="75000"/>
                  </a:schemeClr>
                </a:solidFill>
              </a:rPr>
              <a:t>2</a:t>
            </a:r>
            <a:r>
              <a:rPr lang="zh-CN" sz="2600" b="1">
                <a:solidFill>
                  <a:schemeClr val="accent1">
                    <a:lumMod val="75000"/>
                  </a:schemeClr>
                </a:solidFill>
              </a:rPr>
              <a:t>源码</a:t>
            </a:r>
            <a:endParaRPr lang="zh-CN" sz="2600" b="1">
              <a:solidFill>
                <a:schemeClr val="accent1">
                  <a:lumMod val="75000"/>
                </a:schemeClr>
              </a:solidFill>
            </a:endParaRPr>
          </a:p>
        </p:txBody>
      </p:sp>
      <p:sp>
        <p:nvSpPr>
          <p:cNvPr id="3" name="文本框 2"/>
          <p:cNvSpPr txBox="1"/>
          <p:nvPr/>
        </p:nvSpPr>
        <p:spPr>
          <a:xfrm>
            <a:off x="1094105" y="2095500"/>
            <a:ext cx="10746105" cy="1238885"/>
          </a:xfrm>
          <a:prstGeom prst="rect">
            <a:avLst/>
          </a:prstGeom>
          <a:noFill/>
        </p:spPr>
        <p:txBody>
          <a:bodyPr wrap="square" rtlCol="0" anchor="t">
            <a:noAutofit/>
          </a:bodyPr>
          <a:lstStyle/>
          <a:p>
            <a:pPr algn="ctr"/>
            <a:r>
              <a:rPr sz="2000">
                <a:latin typeface="微软雅黑" panose="020B0503020204020204" pitchFamily="34" charset="-122"/>
                <a:ea typeface="微软雅黑" panose="020B0503020204020204" pitchFamily="34" charset="-122"/>
                <a:cs typeface="微软雅黑" panose="020B0503020204020204" pitchFamily="34" charset="-122"/>
                <a:sym typeface="+mn-ea"/>
              </a:rPr>
              <a:t>结合任务描述和知识链接中使用this关键字调用成员方法，可以得到文件6-9所示的代码：</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2000">
                <a:latin typeface="Times New Roman" panose="02020603050405020304" charset="0"/>
                <a:cs typeface="Times New Roman" panose="02020603050405020304" charset="0"/>
                <a:sym typeface="+mn-ea"/>
              </a:rPr>
              <a:t>文件6-9 Example07.Java</a:t>
            </a:r>
            <a:endParaRPr lang="en-US" altLang="zh-CN" sz="2000">
              <a:latin typeface="Times New Roman" panose="02020603050405020304" charset="0"/>
              <a:cs typeface="Times New Roman" panose="02020603050405020304" charset="0"/>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842645" y="2924810"/>
            <a:ext cx="5514975" cy="3481705"/>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 public class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String 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public void setName(String name)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this.name=name;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System.out.println(this.name);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public void  show()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   this.setName("李红");</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9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10  }</a:t>
            </a: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026785" y="2996565"/>
            <a:ext cx="5958205" cy="2557780"/>
          </a:xfrm>
          <a:prstGeom prst="rect">
            <a:avLst/>
          </a:prstGeom>
        </p:spPr>
        <p:txBody>
          <a:bodyPr wrap="square">
            <a:noAutofit/>
          </a:bodyPr>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11  public class Example07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12    public static void main(String[] args)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13      Student stu1=new Student();</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14      stu1.show();</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15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16  }</a:t>
            </a:r>
            <a:endParaRPr sz="2000">
              <a:latin typeface="Times New Roman" panose="02020603050405020304" charset="0"/>
              <a:cs typeface="Times New Roman" panose="0202060305040502030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运行结果</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5" name="文本框 4"/>
          <p:cNvSpPr txBox="1"/>
          <p:nvPr/>
        </p:nvSpPr>
        <p:spPr>
          <a:xfrm>
            <a:off x="1994535" y="2171542"/>
            <a:ext cx="5080000" cy="645160"/>
          </a:xfrm>
          <a:prstGeom prst="rect">
            <a:avLst/>
          </a:prstGeom>
        </p:spPr>
        <p:txBody>
          <a:bodyPr>
            <a:spAutoFit/>
          </a:bodyPr>
          <a:p>
            <a:pPr marL="0" indent="266700" algn="just"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运行结果如图</a:t>
            </a:r>
            <a:r>
              <a:rPr lang="en-US" altLang="zh-CN" sz="2400">
                <a:latin typeface="Times New Roman" panose="02020603050405020304"/>
                <a:ea typeface="宋体" panose="02010600030101010101" pitchFamily="2" charset="-122"/>
              </a:rPr>
              <a:t>6-11</a:t>
            </a:r>
            <a:r>
              <a:rPr lang="zh-CN" altLang="en-US" sz="2400">
                <a:latin typeface="宋体" panose="02010600030101010101" pitchFamily="2" charset="-122"/>
                <a:ea typeface="宋体" panose="02010600030101010101" pitchFamily="2" charset="-122"/>
              </a:rPr>
              <a:t>所示：</a:t>
            </a:r>
            <a:endParaRPr lang="zh-CN" altLang="en-US" sz="2400">
              <a:latin typeface="宋体" panose="02010600030101010101" pitchFamily="2" charset="-122"/>
              <a:ea typeface="宋体" panose="02010600030101010101" pitchFamily="2" charset="-122"/>
            </a:endParaRPr>
          </a:p>
        </p:txBody>
      </p:sp>
      <p:sp>
        <p:nvSpPr>
          <p:cNvPr id="7" name="文本框 6"/>
          <p:cNvSpPr txBox="1"/>
          <p:nvPr/>
        </p:nvSpPr>
        <p:spPr>
          <a:xfrm>
            <a:off x="2930525" y="4139724"/>
            <a:ext cx="5080000" cy="645160"/>
          </a:xfrm>
          <a:prstGeom prst="rect">
            <a:avLst/>
          </a:prstGeom>
        </p:spPr>
        <p:txBody>
          <a:bodyPr>
            <a:spAutoFit/>
          </a:bodyPr>
          <a:p>
            <a:pPr marL="0" indent="0" algn="ctr"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图</a:t>
            </a:r>
            <a:r>
              <a:rPr lang="en-US" altLang="zh-CN" sz="2400">
                <a:latin typeface="Times New Roman" panose="02020603050405020304"/>
                <a:ea typeface="宋体" panose="02010600030101010101" pitchFamily="2" charset="-122"/>
              </a:rPr>
              <a:t>6-11</a:t>
            </a:r>
            <a:r>
              <a:rPr lang="zh-CN" altLang="en-US" sz="2400">
                <a:latin typeface="宋体" panose="02010600030101010101" pitchFamily="2" charset="-122"/>
                <a:ea typeface="宋体" panose="02010600030101010101" pitchFamily="2" charset="-122"/>
              </a:rPr>
              <a:t>文件</a:t>
            </a:r>
            <a:r>
              <a:rPr lang="en-US" altLang="zh-CN" sz="2400">
                <a:latin typeface="Times New Roman" panose="02020603050405020304"/>
                <a:ea typeface="宋体" panose="02010600030101010101" pitchFamily="2" charset="-122"/>
              </a:rPr>
              <a:t>6-9</a:t>
            </a:r>
            <a:r>
              <a:rPr lang="zh-CN" altLang="en-US" sz="2400">
                <a:latin typeface="宋体" panose="02010600030101010101" pitchFamily="2" charset="-122"/>
                <a:ea typeface="宋体" panose="02010600030101010101" pitchFamily="2" charset="-122"/>
              </a:rPr>
              <a:t>运行结果</a:t>
            </a:r>
            <a:endParaRPr lang="zh-CN" altLang="en-US" sz="2400">
              <a:latin typeface="宋体" panose="02010600030101010101" pitchFamily="2" charset="-122"/>
              <a:ea typeface="宋体" panose="02010600030101010101" pitchFamily="2" charset="-122"/>
            </a:endParaRPr>
          </a:p>
        </p:txBody>
      </p:sp>
      <p:pic>
        <p:nvPicPr>
          <p:cNvPr id="84" name="图片 2"/>
          <p:cNvPicPr>
            <a:picLocks noChangeAspect="1"/>
          </p:cNvPicPr>
          <p:nvPr/>
        </p:nvPicPr>
        <p:blipFill>
          <a:blip r:embed="rId3"/>
          <a:stretch>
            <a:fillRect/>
          </a:stretch>
        </p:blipFill>
        <p:spPr>
          <a:xfrm>
            <a:off x="2570480" y="2968625"/>
            <a:ext cx="5705475" cy="886460"/>
          </a:xfrm>
          <a:prstGeom prst="rect">
            <a:avLst/>
          </a:prstGeom>
          <a:noFill/>
          <a:ln>
            <a:solidFill>
              <a:schemeClr val="tx1"/>
            </a:solid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矩形 2"/>
          <p:cNvSpPr>
            <a:spLocks noChangeArrowheads="1"/>
          </p:cNvSpPr>
          <p:nvPr/>
        </p:nvSpPr>
        <p:spPr bwMode="auto">
          <a:xfrm>
            <a:off x="0" y="0"/>
            <a:ext cx="12199938" cy="6858000"/>
          </a:xfrm>
          <a:prstGeom prst="rect">
            <a:avLst/>
          </a:prstGeom>
          <a:solidFill>
            <a:srgbClr val="F6F6F6"/>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宋体" panose="02010600030101010101" pitchFamily="2" charset="-122"/>
                <a:sym typeface="宋体" panose="02010600030101010101" pitchFamily="2" charset="-122"/>
              </a:rPr>
              <a:t>，</a:t>
            </a:r>
            <a:endParaRPr lang="zh-CN" altLang="zh-CN">
              <a:solidFill>
                <a:srgbClr val="FFFFFF"/>
              </a:solidFill>
              <a:latin typeface="宋体" panose="02010600030101010101" pitchFamily="2" charset="-122"/>
              <a:sym typeface="宋体" panose="02010600030101010101" pitchFamily="2" charset="-122"/>
            </a:endParaRPr>
          </a:p>
        </p:txBody>
      </p:sp>
      <p:sp>
        <p:nvSpPr>
          <p:cNvPr id="5123" name="直接连接符 3"/>
          <p:cNvSpPr>
            <a:spLocks noChangeShapeType="1"/>
          </p:cNvSpPr>
          <p:nvPr/>
        </p:nvSpPr>
        <p:spPr bwMode="auto">
          <a:xfrm>
            <a:off x="0" y="3429000"/>
            <a:ext cx="12199938" cy="0"/>
          </a:xfrm>
          <a:prstGeom prst="line">
            <a:avLst/>
          </a:prstGeom>
          <a:noFill/>
          <a:ln w="57150">
            <a:solidFill>
              <a:srgbClr val="3B79CE"/>
            </a:solidFill>
            <a:round/>
          </a:ln>
          <a:extLst>
            <a:ext uri="{909E8E84-426E-40DD-AFC4-6F175D3DCCD1}">
              <a14:hiddenFill xmlns:a14="http://schemas.microsoft.com/office/drawing/2010/main">
                <a:noFill/>
              </a14:hiddenFill>
            </a:ext>
          </a:extLst>
        </p:spPr>
        <p:txBody>
          <a:bodyPr/>
          <a:lstStyle/>
          <a:p>
            <a:endParaRPr lang="zh-CN" altLang="en-US"/>
          </a:p>
        </p:txBody>
      </p:sp>
      <p:sp>
        <p:nvSpPr>
          <p:cNvPr id="5124" name="椭圆 4"/>
          <p:cNvSpPr>
            <a:spLocks noChangeArrowheads="1"/>
          </p:cNvSpPr>
          <p:nvPr/>
        </p:nvSpPr>
        <p:spPr bwMode="auto">
          <a:xfrm>
            <a:off x="1417638" y="1809750"/>
            <a:ext cx="3240087" cy="3238500"/>
          </a:xfrm>
          <a:prstGeom prst="ellipse">
            <a:avLst/>
          </a:prstGeom>
          <a:solidFill>
            <a:schemeClr val="bg1"/>
          </a:solidFill>
          <a:ln w="190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5125" name="矩形 6"/>
          <p:cNvSpPr>
            <a:spLocks noChangeArrowheads="1"/>
          </p:cNvSpPr>
          <p:nvPr/>
        </p:nvSpPr>
        <p:spPr bwMode="auto">
          <a:xfrm>
            <a:off x="11501438" y="6257925"/>
            <a:ext cx="696912" cy="441325"/>
          </a:xfrm>
          <a:prstGeom prst="rect">
            <a:avLst/>
          </a:prstGeom>
          <a:solidFill>
            <a:srgbClr val="3F95D2"/>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26" name="TextBox 15"/>
          <p:cNvSpPr>
            <a:spLocks noChangeArrowheads="1"/>
          </p:cNvSpPr>
          <p:nvPr/>
        </p:nvSpPr>
        <p:spPr bwMode="auto">
          <a:xfrm>
            <a:off x="11726863" y="6308725"/>
            <a:ext cx="471487" cy="339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r>
              <a:rPr lang="zh-CN" altLang="zh-CN" sz="1600">
                <a:solidFill>
                  <a:schemeClr val="bg1"/>
                </a:solidFill>
                <a:latin typeface="Calibri" panose="020F0502020204030204" pitchFamily="34" charset="0"/>
                <a:sym typeface="宋体" panose="02010600030101010101" pitchFamily="2" charset="-122"/>
              </a:rPr>
              <a:t>* </a:t>
            </a:r>
            <a:endParaRPr lang="zh-CN" altLang="zh-CN" sz="16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1" name="文本框 17"/>
          <p:cNvSpPr>
            <a:spLocks noChangeArrowheads="1"/>
          </p:cNvSpPr>
          <p:nvPr/>
        </p:nvSpPr>
        <p:spPr bwMode="auto">
          <a:xfrm>
            <a:off x="0" y="344488"/>
            <a:ext cx="1201738" cy="430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r" eaLnBrk="1" hangingPunct="1">
              <a:buFont typeface="Arial" panose="020B0604020202020204" pitchFamily="34" charset="0"/>
              <a:buNone/>
            </a:pPr>
            <a:r>
              <a:rPr lang="zh-CN" altLang="zh-CN" sz="2200">
                <a:solidFill>
                  <a:srgbClr val="FFFFFF"/>
                </a:solidFill>
                <a:ea typeface="微软雅黑" panose="020B0503020204020204" pitchFamily="34" charset="-122"/>
              </a:rPr>
              <a:t>过渡页</a:t>
            </a:r>
            <a:endParaRPr lang="zh-CN" altLang="zh-CN" sz="2200">
              <a:solidFill>
                <a:srgbClr val="FFFFFF"/>
              </a:solidFill>
              <a:ea typeface="微软雅黑" panose="020B0503020204020204" pitchFamily="34" charset="-122"/>
            </a:endParaRPr>
          </a:p>
        </p:txBody>
      </p:sp>
      <p:sp>
        <p:nvSpPr>
          <p:cNvPr id="5132" name="燕尾形 1"/>
          <p:cNvSpPr>
            <a:spLocks noChangeArrowheads="1"/>
          </p:cNvSpPr>
          <p:nvPr/>
        </p:nvSpPr>
        <p:spPr bwMode="auto">
          <a:xfrm>
            <a:off x="11857038"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3" name="燕尾形 22"/>
          <p:cNvSpPr>
            <a:spLocks noChangeArrowheads="1"/>
          </p:cNvSpPr>
          <p:nvPr/>
        </p:nvSpPr>
        <p:spPr bwMode="auto">
          <a:xfrm>
            <a:off x="11969750" y="3536950"/>
            <a:ext cx="107950" cy="288925"/>
          </a:xfrm>
          <a:prstGeom prst="chevron">
            <a:avLst>
              <a:gd name="adj" fmla="val 50000"/>
            </a:avLst>
          </a:prstGeom>
          <a:solidFill>
            <a:srgbClr val="BFBFBF"/>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latin typeface="宋体" panose="02010600030101010101" pitchFamily="2" charset="-122"/>
              <a:sym typeface="宋体" panose="02010600030101010101" pitchFamily="2" charset="-122"/>
            </a:endParaRPr>
          </a:p>
        </p:txBody>
      </p:sp>
      <p:sp>
        <p:nvSpPr>
          <p:cNvPr id="5134" name="椭圆 1"/>
          <p:cNvSpPr>
            <a:spLocks noChangeArrowheads="1"/>
          </p:cNvSpPr>
          <p:nvPr/>
        </p:nvSpPr>
        <p:spPr bwMode="auto">
          <a:xfrm>
            <a:off x="1597025" y="1989138"/>
            <a:ext cx="2881313" cy="2879725"/>
          </a:xfrm>
          <a:prstGeom prst="ellipse">
            <a:avLst/>
          </a:prstGeom>
          <a:blipFill dpi="0" rotWithShape="1">
            <a:blip r:embed="rId1"/>
            <a:srcRect/>
            <a:stretch>
              <a:fillRect/>
            </a:stretch>
          </a:blipFill>
          <a:ln w="571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sp>
        <p:nvSpPr>
          <p:cNvPr id="5137" name="TextBox 8"/>
          <p:cNvSpPr>
            <a:spLocks noChangeArrowheads="1"/>
          </p:cNvSpPr>
          <p:nvPr/>
        </p:nvSpPr>
        <p:spPr bwMode="auto">
          <a:xfrm>
            <a:off x="5092700" y="2708275"/>
            <a:ext cx="5111750" cy="7200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en-US" sz="3600" b="1" dirty="0" smtClean="0">
                <a:solidFill>
                  <a:srgbClr val="595959"/>
                </a:solidFill>
                <a:latin typeface="微软雅黑" panose="020B0503020204020204" pitchFamily="34" charset="-122"/>
                <a:ea typeface="微软雅黑" panose="020B0503020204020204" pitchFamily="34" charset="-122"/>
                <a:sym typeface="微软雅黑" panose="020B0503020204020204" pitchFamily="34" charset="-122"/>
              </a:rPr>
              <a:t>模块三  任务</a:t>
            </a:r>
            <a:r>
              <a:rPr lang="zh-CN" altLang="zh-CN" sz="3600" b="1">
                <a:solidFill>
                  <a:srgbClr val="595959"/>
                </a:solidFill>
                <a:latin typeface="专业字体设计服务/WWW.ZTSGC.COM/" charset="-122"/>
                <a:ea typeface="微软雅黑" panose="020B0503020204020204" pitchFamily="34" charset="-122"/>
                <a:sym typeface="专业字体设计服务/WWW.ZTSGC.COM/" charset="-122"/>
              </a:rPr>
              <a:t>实现</a:t>
            </a:r>
            <a:endParaRPr lang="zh-CN" altLang="zh-CN" sz="3600" b="1">
              <a:solidFill>
                <a:srgbClr val="595959"/>
              </a:solidFill>
              <a:latin typeface="专业字体设计服务/WWW.ZTSGC.COM/" charset="-122"/>
              <a:ea typeface="微软雅黑" panose="020B0503020204020204" pitchFamily="34" charset="-122"/>
              <a:sym typeface="专业字体设计服务/WWW.ZTSGC.COM/" charset="-122"/>
            </a:endParaRPr>
          </a:p>
          <a:p>
            <a:pPr algn="ctr" eaLnBrk="1" hangingPunct="1">
              <a:buFont typeface="Arial" panose="020B0604020202020204" pitchFamily="34" charset="0"/>
              <a:buNone/>
            </a:pPr>
            <a:endParaRPr lang="zh-CN" altLang="en-US" sz="3600" b="1" dirty="0">
              <a:solidFill>
                <a:srgbClr val="595959"/>
              </a:solidFill>
              <a:latin typeface="微软雅黑" panose="020B0503020204020204" pitchFamily="34" charset="-122"/>
              <a:ea typeface="微软雅黑" panose="020B0503020204020204" pitchFamily="34" charset="-122"/>
              <a:sym typeface="微软雅黑" panose="020B0503020204020204" pitchFamily="34" charset="-122"/>
            </a:endParaRPr>
          </a:p>
        </p:txBody>
      </p:sp>
      <p:sp>
        <p:nvSpPr>
          <p:cNvPr id="5138" name="矩形 5"/>
          <p:cNvSpPr>
            <a:spLocks noChangeArrowheads="1"/>
          </p:cNvSpPr>
          <p:nvPr/>
        </p:nvSpPr>
        <p:spPr bwMode="auto">
          <a:xfrm>
            <a:off x="5306695" y="3500755"/>
            <a:ext cx="6174740" cy="216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285750" indent="-285750">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indent="266700" algn="just" defTabSz="266700">
              <a:lnSpc>
                <a:spcPct val="150000"/>
              </a:lnSpc>
              <a:spcBef>
                <a:spcPct val="0"/>
              </a:spcBef>
              <a:spcAft>
                <a:spcPct val="0"/>
              </a:spcAft>
            </a:pPr>
            <a:r>
              <a:rPr>
                <a:latin typeface="微软雅黑" panose="020B0503020204020204" pitchFamily="34" charset="-122"/>
                <a:ea typeface="微软雅黑" panose="020B0503020204020204" pitchFamily="34" charset="-122"/>
                <a:cs typeface="微软雅黑" panose="020B0503020204020204" pitchFamily="34" charset="-122"/>
                <a:sym typeface="+mn-ea"/>
              </a:rPr>
              <a:t>子任务3：定义一个学生类Student，其中包括一个无参构造方法public Student () 和一个有参构造方法public Student(String name,int age),在有参构造方法中调用无参构造方法并在该方法中初始化这两个属性；定义一个成员方法public void  show()；编写测试类。</a:t>
            </a:r>
            <a:endParaRPr>
              <a:latin typeface="微软雅黑" panose="020B0503020204020204" pitchFamily="34" charset="-122"/>
              <a:ea typeface="微软雅黑" panose="020B0503020204020204" pitchFamily="34" charset="-122"/>
              <a:cs typeface="微软雅黑" panose="020B0503020204020204" pitchFamily="34" charset="-122"/>
              <a:sym typeface="+mn-ea"/>
            </a:endParaRPr>
          </a:p>
        </p:txBody>
      </p:sp>
      <p:sp>
        <p:nvSpPr>
          <p:cNvPr id="5"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Tree>
  </p:cSld>
  <p:clrMapOvr>
    <a:masterClrMapping/>
  </p:clrMapOvr>
  <p:transition spd="slow">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5137"/>
                                        </p:tgtEl>
                                        <p:attrNameLst>
                                          <p:attrName>style.visibility</p:attrName>
                                        </p:attrNameLst>
                                      </p:cBhvr>
                                      <p:to>
                                        <p:strVal val="visible"/>
                                      </p:to>
                                    </p:set>
                                    <p:animEffect>
                                      <p:cBhvr>
                                        <p:cTn id="7" dur="500"/>
                                        <p:tgtEl>
                                          <p:spTgt spid="5137"/>
                                        </p:tgtEl>
                                      </p:cBhvr>
                                    </p:animEffect>
                                  </p:childTnLst>
                                </p:cTn>
                              </p:par>
                              <p:par>
                                <p:cTn id="8" presetID="63" presetClass="path" presetSubtype="0" accel="50000" fill="hold" grpId="1" nodeType="withEffect">
                                  <p:stCondLst>
                                    <p:cond delay="0"/>
                                  </p:stCondLst>
                                  <p:childTnLst>
                                    <p:animMotion origin="layout" path="M -0.87919 -4.81481E-6 L -3.14501E-6 -4.81481E-6 " pathEditMode="relative" rAng="0" ptsTypes="AA">
                                      <p:cBhvr>
                                        <p:cTn id="9" dur="500" fill="hold"/>
                                        <p:tgtEl>
                                          <p:spTgt spid="5137"/>
                                        </p:tgtEl>
                                        <p:attrNameLst>
                                          <p:attrName>ppt_x</p:attrName>
                                          <p:attrName>ppt_y</p:attrName>
                                        </p:attrNameLst>
                                      </p:cBhvr>
                                      <p:rCtr x="4396000" y="0"/>
                                    </p:animMotion>
                                  </p:childTnLst>
                                </p:cTn>
                              </p:par>
                              <p:par>
                                <p:cTn id="10" presetID="52" presetClass="entr" presetSubtype="0" fill="hold" grpId="0" nodeType="withEffect">
                                  <p:stCondLst>
                                    <p:cond delay="400"/>
                                  </p:stCondLst>
                                  <p:childTnLst>
                                    <p:set>
                                      <p:cBhvr>
                                        <p:cTn id="11" dur="1" fill="hold">
                                          <p:stCondLst>
                                            <p:cond delay="0"/>
                                          </p:stCondLst>
                                        </p:cTn>
                                        <p:tgtEl>
                                          <p:spTgt spid="5138"/>
                                        </p:tgtEl>
                                        <p:attrNameLst>
                                          <p:attrName>style.visibility</p:attrName>
                                        </p:attrNameLst>
                                      </p:cBhvr>
                                      <p:to>
                                        <p:strVal val="visible"/>
                                      </p:to>
                                    </p:set>
                                    <p:animScale>
                                      <p:cBhvr>
                                        <p:cTn id="12" dur="1000" decel="50000" fill="hold">
                                          <p:stCondLst>
                                            <p:cond delay="0"/>
                                          </p:stCondLst>
                                        </p:cTn>
                                        <p:tgtEl>
                                          <p:spTgt spid="513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rAng="0" ptsTypes="">
                                      <p:cBhvr>
                                        <p:cTn id="13" dur="1000" decel="50000" fill="hold">
                                          <p:stCondLst>
                                            <p:cond delay="0"/>
                                          </p:stCondLst>
                                        </p:cTn>
                                        <p:tgtEl>
                                          <p:spTgt spid="5138"/>
                                        </p:tgtEl>
                                        <p:attrNameLst>
                                          <p:attrName>ppt_x</p:attrName>
                                          <p:attrName>ppt_y</p:attrName>
                                        </p:attrNameLst>
                                      </p:cBhvr>
                                      <p:rCtr x="0" y="0"/>
                                    </p:animMotion>
                                    <p:animEffect>
                                      <p:cBhvr>
                                        <p:cTn id="14" dur="1000"/>
                                        <p:tgtEl>
                                          <p:spTgt spid="51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37" grpId="0" bldLvl="0" autoUpdateAnimBg="0"/>
      <p:bldP spid="5137" grpId="1" bldLvl="0" autoUpdateAnimBg="0"/>
      <p:bldP spid="5138" grpId="0" bldLvl="0" autoUpdateAnimBg="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sz="2600" b="1">
                <a:solidFill>
                  <a:schemeClr val="accent1">
                    <a:lumMod val="75000"/>
                  </a:schemeClr>
                </a:solidFill>
              </a:rPr>
              <a:t>子任务</a:t>
            </a:r>
            <a:r>
              <a:rPr lang="en-US" altLang="zh-CN" sz="2600" b="1">
                <a:solidFill>
                  <a:schemeClr val="accent1">
                    <a:lumMod val="75000"/>
                  </a:schemeClr>
                </a:solidFill>
              </a:rPr>
              <a:t>3</a:t>
            </a:r>
            <a:r>
              <a:rPr lang="zh-CN" sz="2600" b="1">
                <a:solidFill>
                  <a:schemeClr val="accent1">
                    <a:lumMod val="75000"/>
                  </a:schemeClr>
                </a:solidFill>
              </a:rPr>
              <a:t>源码</a:t>
            </a:r>
            <a:endParaRPr lang="zh-CN" sz="2600" b="1">
              <a:solidFill>
                <a:schemeClr val="accent1">
                  <a:lumMod val="75000"/>
                </a:schemeClr>
              </a:solidFill>
            </a:endParaRPr>
          </a:p>
        </p:txBody>
      </p:sp>
      <p:sp>
        <p:nvSpPr>
          <p:cNvPr id="3" name="文本框 2"/>
          <p:cNvSpPr txBox="1"/>
          <p:nvPr/>
        </p:nvSpPr>
        <p:spPr>
          <a:xfrm>
            <a:off x="1094105" y="2095500"/>
            <a:ext cx="10746105" cy="1238885"/>
          </a:xfrm>
          <a:prstGeom prst="rect">
            <a:avLst/>
          </a:prstGeom>
          <a:noFill/>
        </p:spPr>
        <p:txBody>
          <a:bodyPr wrap="square" rtlCol="0" anchor="t">
            <a:noAutofit/>
          </a:bodyPr>
          <a:lstStyle/>
          <a:p>
            <a:pPr algn="ctr"/>
            <a:r>
              <a:rPr sz="2000">
                <a:latin typeface="微软雅黑" panose="020B0503020204020204" pitchFamily="34" charset="-122"/>
                <a:ea typeface="微软雅黑" panose="020B0503020204020204" pitchFamily="34" charset="-122"/>
                <a:cs typeface="微软雅黑" panose="020B0503020204020204" pitchFamily="34" charset="-122"/>
                <a:sym typeface="+mn-ea"/>
              </a:rPr>
              <a:t>结合任务描述和知识链接中使用this关键字调用构造方法，可以得到文件6-</a:t>
            </a:r>
            <a:r>
              <a:rPr lang="en-US" sz="2000">
                <a:latin typeface="微软雅黑" panose="020B0503020204020204" pitchFamily="34" charset="-122"/>
                <a:ea typeface="微软雅黑" panose="020B0503020204020204" pitchFamily="34" charset="-122"/>
                <a:cs typeface="微软雅黑" panose="020B0503020204020204" pitchFamily="34" charset="-122"/>
                <a:sym typeface="+mn-ea"/>
              </a:rPr>
              <a:t>10</a:t>
            </a:r>
            <a:r>
              <a:rPr sz="2000">
                <a:latin typeface="微软雅黑" panose="020B0503020204020204" pitchFamily="34" charset="-122"/>
                <a:ea typeface="微软雅黑" panose="020B0503020204020204" pitchFamily="34" charset="-122"/>
                <a:cs typeface="微软雅黑" panose="020B0503020204020204" pitchFamily="34" charset="-122"/>
                <a:sym typeface="+mn-ea"/>
              </a:rPr>
              <a:t>所示的代码：</a:t>
            </a:r>
            <a:endParaRPr sz="2000">
              <a:latin typeface="微软雅黑" panose="020B0503020204020204" pitchFamily="34" charset="-122"/>
              <a:ea typeface="微软雅黑" panose="020B0503020204020204" pitchFamily="34" charset="-122"/>
              <a:cs typeface="微软雅黑" panose="020B0503020204020204" pitchFamily="34" charset="-122"/>
              <a:sym typeface="+mn-ea"/>
            </a:endParaRPr>
          </a:p>
          <a:p>
            <a:pPr algn="ctr"/>
            <a:r>
              <a:rPr lang="en-US" altLang="zh-CN" sz="2000" b="1">
                <a:latin typeface="Times New Roman" panose="02020603050405020304" charset="0"/>
                <a:cs typeface="Times New Roman" panose="02020603050405020304" charset="0"/>
                <a:sym typeface="+mn-ea"/>
              </a:rPr>
              <a:t>文件6-10 Example07.Java</a:t>
            </a:r>
            <a:endParaRPr lang="en-US" altLang="zh-CN" sz="2000" b="1">
              <a:latin typeface="Times New Roman" panose="02020603050405020304" charset="0"/>
              <a:cs typeface="Times New Roman" panose="02020603050405020304" charset="0"/>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zh-CN" altLang="zh-CN">
                  <a:solidFill>
                    <a:srgbClr val="FFFFFF"/>
                  </a:solidFill>
                  <a:latin typeface="Impact" panose="020B0806030902050204" pitchFamily="34" charset="0"/>
                  <a:sym typeface="Impact" panose="020B0806030902050204" pitchFamily="34" charset="0"/>
                </a:rPr>
                <a:t>1</a:t>
              </a:r>
              <a:endParaRPr lang="zh-CN" altLang="zh-CN">
                <a:solidFill>
                  <a:srgbClr val="FFFFFF"/>
                </a:solidFill>
                <a:latin typeface="Impact" panose="020B0806030902050204" pitchFamily="34" charset="0"/>
                <a:sym typeface="Impact" panose="020B0806030902050204" pitchFamily="34" charset="0"/>
              </a:endParaRPr>
            </a:p>
          </p:txBody>
        </p:sp>
      </p:grpSp>
      <p:sp>
        <p:nvSpPr>
          <p:cNvPr id="5" name="TextBox 4"/>
          <p:cNvSpPr>
            <a:spLocks noChangeArrowheads="1"/>
          </p:cNvSpPr>
          <p:nvPr/>
        </p:nvSpPr>
        <p:spPr bwMode="auto">
          <a:xfrm>
            <a:off x="10133330" y="189230"/>
            <a:ext cx="1707515"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专业字体设计服务/WWW.ZTSGC.COM/"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6" name="文本框 5"/>
          <p:cNvSpPr txBox="1"/>
          <p:nvPr/>
        </p:nvSpPr>
        <p:spPr>
          <a:xfrm>
            <a:off x="842645" y="2708910"/>
            <a:ext cx="5920740" cy="3481705"/>
          </a:xfrm>
          <a:prstGeom prst="rect">
            <a:avLst/>
          </a:prstGeom>
        </p:spPr>
        <p:txBody>
          <a:bodyPr>
            <a:noAutofit/>
          </a:bodyPr>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 public class Student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2	private String 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3   private int age;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4	public Student ()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5	   System.out.println("调用了无参的构造方法");</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6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7  public Student (String name,int age) {</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8   this();  // 调用无参的构造方法</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9   this.name=name;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10  this.age=age;</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11  System.out.println("调用了有参的构造方法");</a:t>
            </a:r>
            <a:endParaRPr lang="en-US" altLang="zh-CN"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lang="en-US" altLang="zh-CN" sz="2000">
                <a:latin typeface="Times New Roman" panose="02020603050405020304" charset="0"/>
                <a:cs typeface="Times New Roman" panose="02020603050405020304" charset="0"/>
              </a:rPr>
              <a:t>12 }</a:t>
            </a:r>
            <a:endParaRPr lang="en-US" altLang="zh-CN" sz="2000">
              <a:latin typeface="Times New Roman" panose="02020603050405020304" charset="0"/>
              <a:cs typeface="Times New Roman" panose="02020603050405020304" charset="0"/>
            </a:endParaRPr>
          </a:p>
        </p:txBody>
      </p:sp>
      <p:sp>
        <p:nvSpPr>
          <p:cNvPr id="8" name="文本框 7"/>
          <p:cNvSpPr txBox="1"/>
          <p:nvPr/>
        </p:nvSpPr>
        <p:spPr>
          <a:xfrm>
            <a:off x="6386830" y="2853055"/>
            <a:ext cx="5958205" cy="2557780"/>
          </a:xfrm>
          <a:prstGeom prst="rect">
            <a:avLst/>
          </a:prstGeom>
        </p:spPr>
        <p:txBody>
          <a:bodyPr wrap="square">
            <a:noAutofit/>
          </a:bodyPr>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13  public void show()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14   System.out.println(name+" "+age);</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15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16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17public class Example08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18  public static void main(String[] args)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19  Student stu1=new Student();</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20  Student stu2=new Student("李红",17);</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21  stu2.show();</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22	}</a:t>
            </a:r>
            <a:endParaRPr sz="2000">
              <a:latin typeface="Times New Roman" panose="02020603050405020304" charset="0"/>
              <a:cs typeface="Times New Roman" panose="02020603050405020304" charset="0"/>
            </a:endParaRPr>
          </a:p>
          <a:p>
            <a:pPr marL="0" indent="266700" algn="just" defTabSz="266700" latinLnBrk="0">
              <a:lnSpc>
                <a:spcPct val="100000"/>
              </a:lnSpc>
              <a:spcBef>
                <a:spcPct val="0"/>
              </a:spcBef>
              <a:spcAft>
                <a:spcPct val="0"/>
              </a:spcAft>
            </a:pPr>
            <a:r>
              <a:rPr sz="2000">
                <a:latin typeface="Times New Roman" panose="02020603050405020304" charset="0"/>
                <a:cs typeface="Times New Roman" panose="02020603050405020304" charset="0"/>
              </a:rPr>
              <a:t>23 }</a:t>
            </a:r>
            <a:endParaRPr sz="2000">
              <a:latin typeface="Times New Roman" panose="02020603050405020304" charset="0"/>
              <a:cs typeface="Times New Roman" panose="02020603050405020304"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346835" y="1555750"/>
            <a:ext cx="3228340" cy="429260"/>
          </a:xfrm>
          <a:prstGeom prst="rect">
            <a:avLst/>
          </a:prstGeom>
          <a:noFill/>
        </p:spPr>
        <p:txBody>
          <a:bodyPr wrap="square" rtlCol="0" anchor="t">
            <a:noAutofit/>
          </a:bodyPr>
          <a:lstStyle/>
          <a:p>
            <a:r>
              <a:rPr lang="zh-CN" altLang="en-US" sz="2600" dirty="0">
                <a:solidFill>
                  <a:srgbClr val="1369B2"/>
                </a:solidFill>
                <a:latin typeface="微软雅黑" panose="020B0503020204020204" pitchFamily="34" charset="-122"/>
                <a:ea typeface="微软雅黑" panose="020B0503020204020204" pitchFamily="34" charset="-122"/>
                <a:sym typeface="+mn-ea"/>
              </a:rPr>
              <a:t>运行结果</a:t>
            </a:r>
            <a:endParaRPr lang="zh-CN" altLang="en-US" sz="2600" dirty="0">
              <a:solidFill>
                <a:srgbClr val="1369B2"/>
              </a:solidFill>
              <a:latin typeface="微软雅黑" panose="020B0503020204020204" pitchFamily="34" charset="-122"/>
              <a:ea typeface="微软雅黑" panose="020B0503020204020204" pitchFamily="34" charset="-122"/>
              <a:sym typeface="+mn-ea"/>
            </a:endParaRPr>
          </a:p>
        </p:txBody>
      </p:sp>
      <p:grpSp>
        <p:nvGrpSpPr>
          <p:cNvPr id="4" name="组合 3"/>
          <p:cNvGrpSpPr/>
          <p:nvPr/>
        </p:nvGrpSpPr>
        <p:grpSpPr>
          <a:xfrm>
            <a:off x="478155" y="1479550"/>
            <a:ext cx="692150" cy="692150"/>
            <a:chOff x="1710" y="6103"/>
            <a:chExt cx="1090" cy="1090"/>
          </a:xfrm>
        </p:grpSpPr>
        <p:sp>
          <p:nvSpPr>
            <p:cNvPr id="4122" name="椭圆 12"/>
            <p:cNvSpPr>
              <a:spLocks noChangeArrowheads="1"/>
            </p:cNvSpPr>
            <p:nvPr>
              <p:custDataLst>
                <p:tags r:id="rId1"/>
              </p:custDataLst>
            </p:nvPr>
          </p:nvSpPr>
          <p:spPr bwMode="auto">
            <a:xfrm>
              <a:off x="1710" y="6103"/>
              <a:ext cx="1090" cy="1090"/>
            </a:xfrm>
            <a:prstGeom prst="ellipse">
              <a:avLst/>
            </a:prstGeom>
            <a:solidFill>
              <a:schemeClr val="bg1"/>
            </a:solidFill>
            <a:ln w="6350">
              <a:solidFill>
                <a:srgbClr val="3B79CE"/>
              </a:solidFill>
              <a:round/>
            </a:ln>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Impact" panose="020B0806030902050204" pitchFamily="34" charset="0"/>
                <a:sym typeface="Impact" panose="020B0806030902050204" pitchFamily="34" charset="0"/>
              </a:endParaRPr>
            </a:p>
          </p:txBody>
        </p:sp>
        <p:sp>
          <p:nvSpPr>
            <p:cNvPr id="4123" name="椭圆 13"/>
            <p:cNvSpPr>
              <a:spLocks noChangeArrowheads="1"/>
            </p:cNvSpPr>
            <p:nvPr>
              <p:custDataLst>
                <p:tags r:id="rId2"/>
              </p:custDataLst>
            </p:nvPr>
          </p:nvSpPr>
          <p:spPr bwMode="auto">
            <a:xfrm>
              <a:off x="1830" y="6223"/>
              <a:ext cx="850" cy="850"/>
            </a:xfrm>
            <a:prstGeom prst="ellipse">
              <a:avLst/>
            </a:prstGeom>
            <a:solidFill>
              <a:srgbClr val="3B79CE"/>
            </a:solidFill>
            <a:ln>
              <a:noFill/>
            </a:ln>
            <a:extLst>
              <a:ext uri="{91240B29-F687-4F45-9708-019B960494DF}">
                <a14:hiddenLine xmlns:a14="http://schemas.microsoft.com/office/drawing/2010/main" w="9525">
                  <a:solidFill>
                    <a:srgbClr val="000000"/>
                  </a:solidFill>
                  <a:rou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r>
                <a:rPr lang="en-US" altLang="zh-CN">
                  <a:solidFill>
                    <a:srgbClr val="FFFFFF"/>
                  </a:solidFill>
                  <a:latin typeface="Impact" panose="020B0806030902050204" pitchFamily="34" charset="0"/>
                  <a:sym typeface="Impact" panose="020B0806030902050204" pitchFamily="34" charset="0"/>
                </a:rPr>
                <a:t>2</a:t>
              </a:r>
              <a:endParaRPr lang="en-US" altLang="zh-CN">
                <a:solidFill>
                  <a:srgbClr val="FFFFFF"/>
                </a:solidFill>
                <a:latin typeface="Impact" panose="020B0806030902050204" pitchFamily="34" charset="0"/>
                <a:sym typeface="Impact" panose="020B0806030902050204" pitchFamily="34" charset="0"/>
              </a:endParaRPr>
            </a:p>
          </p:txBody>
        </p:sp>
      </p:grpSp>
      <p:sp>
        <p:nvSpPr>
          <p:cNvPr id="3" name="TextBox 4"/>
          <p:cNvSpPr>
            <a:spLocks noChangeArrowheads="1"/>
          </p:cNvSpPr>
          <p:nvPr/>
        </p:nvSpPr>
        <p:spPr bwMode="auto">
          <a:xfrm>
            <a:off x="10133013" y="188913"/>
            <a:ext cx="1625600" cy="8375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ts val="400"/>
              </a:spcBef>
              <a:spcAft>
                <a:spcPts val="300"/>
              </a:spcAft>
              <a:buFont typeface="Arial" panose="020B0604020202020204" pitchFamily="34" charset="0"/>
              <a:buNone/>
            </a:pPr>
            <a:r>
              <a:rPr lang="zh-CN" altLang="en-US"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模块三</a:t>
            </a:r>
            <a:r>
              <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rPr>
              <a:t> </a:t>
            </a:r>
            <a:endParaRPr lang="zh-CN" altLang="zh-CN" b="1" dirty="0" smtClean="0">
              <a:solidFill>
                <a:schemeClr val="bg1"/>
              </a:solidFill>
              <a:latin typeface="宋体" panose="02010600030101010101" pitchFamily="2" charset="-122"/>
              <a:cs typeface="宋体" panose="02010600030101010101" pitchFamily="2" charset="-122"/>
              <a:sym typeface="微软雅黑" panose="020B0503020204020204" pitchFamily="34" charset="-122"/>
            </a:endParaRPr>
          </a:p>
          <a:p>
            <a:pPr eaLnBrk="1" hangingPunct="1">
              <a:spcAft>
                <a:spcPts val="300"/>
              </a:spcAft>
              <a:buFont typeface="Arial" panose="020B0604020202020204" pitchFamily="34" charset="0"/>
              <a:buNone/>
            </a:pPr>
            <a:r>
              <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rPr>
              <a:t>任务实现</a:t>
            </a:r>
            <a:endParaRPr lang="zh-CN" altLang="zh-CN" sz="2800" b="1" dirty="0" smtClean="0">
              <a:solidFill>
                <a:schemeClr val="bg1"/>
              </a:solidFill>
              <a:latin typeface="宋体" panose="02010600030101010101" pitchFamily="2" charset="-122"/>
              <a:cs typeface="宋体" panose="02010600030101010101" pitchFamily="2" charset="-122"/>
              <a:sym typeface="华康俪金黑W8(P)" pitchFamily="2" charset="-122"/>
            </a:endParaRPr>
          </a:p>
        </p:txBody>
      </p:sp>
      <p:sp>
        <p:nvSpPr>
          <p:cNvPr id="5" name="文本框 4"/>
          <p:cNvSpPr txBox="1"/>
          <p:nvPr/>
        </p:nvSpPr>
        <p:spPr>
          <a:xfrm>
            <a:off x="1994535" y="2171542"/>
            <a:ext cx="5080000" cy="645160"/>
          </a:xfrm>
          <a:prstGeom prst="rect">
            <a:avLst/>
          </a:prstGeom>
        </p:spPr>
        <p:txBody>
          <a:bodyPr>
            <a:spAutoFit/>
          </a:bodyPr>
          <a:p>
            <a:pPr marL="0" indent="266700" algn="just"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运行结果如图</a:t>
            </a:r>
            <a:r>
              <a:rPr lang="en-US" altLang="zh-CN" sz="2400">
                <a:latin typeface="Times New Roman" panose="02020603050405020304"/>
                <a:ea typeface="宋体" panose="02010600030101010101" pitchFamily="2" charset="-122"/>
              </a:rPr>
              <a:t>6-12</a:t>
            </a:r>
            <a:r>
              <a:rPr lang="zh-CN" altLang="en-US" sz="2400">
                <a:latin typeface="宋体" panose="02010600030101010101" pitchFamily="2" charset="-122"/>
                <a:ea typeface="宋体" panose="02010600030101010101" pitchFamily="2" charset="-122"/>
              </a:rPr>
              <a:t>所示：</a:t>
            </a:r>
            <a:endParaRPr lang="zh-CN" altLang="en-US" sz="2400">
              <a:latin typeface="宋体" panose="02010600030101010101" pitchFamily="2" charset="-122"/>
              <a:ea typeface="宋体" panose="02010600030101010101" pitchFamily="2" charset="-122"/>
            </a:endParaRPr>
          </a:p>
        </p:txBody>
      </p:sp>
      <p:sp>
        <p:nvSpPr>
          <p:cNvPr id="7" name="文本框 6"/>
          <p:cNvSpPr txBox="1"/>
          <p:nvPr/>
        </p:nvSpPr>
        <p:spPr>
          <a:xfrm>
            <a:off x="2570480" y="4653439"/>
            <a:ext cx="5080000" cy="645160"/>
          </a:xfrm>
          <a:prstGeom prst="rect">
            <a:avLst/>
          </a:prstGeom>
        </p:spPr>
        <p:txBody>
          <a:bodyPr>
            <a:spAutoFit/>
          </a:bodyPr>
          <a:p>
            <a:pPr marL="0" indent="0" algn="ctr" defTabSz="266700">
              <a:lnSpc>
                <a:spcPct val="150000"/>
              </a:lnSpc>
              <a:spcBef>
                <a:spcPct val="0"/>
              </a:spcBef>
              <a:spcAft>
                <a:spcPct val="0"/>
              </a:spcAft>
            </a:pPr>
            <a:r>
              <a:rPr lang="zh-CN" altLang="en-US" sz="2400">
                <a:latin typeface="宋体" panose="02010600030101010101" pitchFamily="2" charset="-122"/>
                <a:ea typeface="宋体" panose="02010600030101010101" pitchFamily="2" charset="-122"/>
              </a:rPr>
              <a:t>图</a:t>
            </a:r>
            <a:r>
              <a:rPr lang="en-US" altLang="zh-CN" sz="2400">
                <a:latin typeface="Times New Roman" panose="02020603050405020304"/>
                <a:ea typeface="宋体" panose="02010600030101010101" pitchFamily="2" charset="-122"/>
              </a:rPr>
              <a:t>6-12</a:t>
            </a:r>
            <a:r>
              <a:rPr lang="zh-CN" altLang="en-US" sz="2400">
                <a:latin typeface="宋体" panose="02010600030101010101" pitchFamily="2" charset="-122"/>
                <a:ea typeface="宋体" panose="02010600030101010101" pitchFamily="2" charset="-122"/>
              </a:rPr>
              <a:t>文件</a:t>
            </a:r>
            <a:r>
              <a:rPr lang="en-US" altLang="zh-CN" sz="2400">
                <a:latin typeface="Times New Roman" panose="02020603050405020304"/>
                <a:ea typeface="宋体" panose="02010600030101010101" pitchFamily="2" charset="-122"/>
              </a:rPr>
              <a:t>6-10</a:t>
            </a:r>
            <a:r>
              <a:rPr lang="zh-CN" altLang="en-US" sz="2400">
                <a:latin typeface="宋体" panose="02010600030101010101" pitchFamily="2" charset="-122"/>
                <a:ea typeface="宋体" panose="02010600030101010101" pitchFamily="2" charset="-122"/>
              </a:rPr>
              <a:t>运行结果</a:t>
            </a:r>
            <a:endParaRPr lang="zh-CN" altLang="en-US" sz="2400">
              <a:latin typeface="宋体" panose="02010600030101010101" pitchFamily="2" charset="-122"/>
              <a:ea typeface="宋体" panose="02010600030101010101" pitchFamily="2" charset="-122"/>
            </a:endParaRPr>
          </a:p>
        </p:txBody>
      </p:sp>
      <p:pic>
        <p:nvPicPr>
          <p:cNvPr id="85" name="图片 5"/>
          <p:cNvPicPr>
            <a:picLocks noChangeAspect="1"/>
          </p:cNvPicPr>
          <p:nvPr/>
        </p:nvPicPr>
        <p:blipFill>
          <a:blip r:embed="rId3"/>
          <a:stretch>
            <a:fillRect/>
          </a:stretch>
        </p:blipFill>
        <p:spPr>
          <a:xfrm>
            <a:off x="2930525" y="2924810"/>
            <a:ext cx="4128135" cy="1510030"/>
          </a:xfrm>
          <a:prstGeom prst="rect">
            <a:avLst/>
          </a:prstGeom>
          <a:noFill/>
          <a:ln>
            <a:solidFill>
              <a:schemeClr val="tx1"/>
            </a:solid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矩形 1"/>
          <p:cNvSpPr>
            <a:spLocks noChangeArrowheads="1"/>
          </p:cNvSpPr>
          <p:nvPr/>
        </p:nvSpPr>
        <p:spPr bwMode="auto">
          <a:xfrm>
            <a:off x="0" y="0"/>
            <a:ext cx="12198350" cy="68580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algn="ctr" eaLnBrk="1" hangingPunct="1">
              <a:buFont typeface="Arial" panose="020B0604020202020204" pitchFamily="34" charset="0"/>
              <a:buNone/>
            </a:pPr>
            <a:endParaRPr lang="zh-CN" altLang="zh-CN">
              <a:solidFill>
                <a:srgbClr val="FFFFFF"/>
              </a:solidFill>
              <a:latin typeface="宋体" panose="02010600030101010101" pitchFamily="2" charset="-122"/>
              <a:sym typeface="宋体" panose="02010600030101010101" pitchFamily="2" charset="-122"/>
            </a:endParaRPr>
          </a:p>
        </p:txBody>
      </p:sp>
      <p:pic>
        <p:nvPicPr>
          <p:cNvPr id="7171" name="Picture 4" descr="03"/>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0" y="2205038"/>
            <a:ext cx="12198350" cy="22923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72" name="Picture 8" descr="0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087938" y="4797425"/>
            <a:ext cx="1679575" cy="1296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3" name="文本框 1"/>
          <p:cNvSpPr txBox="1">
            <a:spLocks noChangeArrowheads="1"/>
          </p:cNvSpPr>
          <p:nvPr/>
        </p:nvSpPr>
        <p:spPr bwMode="auto">
          <a:xfrm>
            <a:off x="4732338" y="3016250"/>
            <a:ext cx="2236787"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r>
              <a:rPr lang="zh-CN" altLang="en-US" sz="4000">
                <a:solidFill>
                  <a:schemeClr val="bg1"/>
                </a:solidFill>
                <a:latin typeface="微软雅黑" panose="020B0503020204020204" pitchFamily="34" charset="-122"/>
                <a:ea typeface="微软雅黑" panose="020B0503020204020204" pitchFamily="34" charset="-122"/>
              </a:rPr>
              <a:t>感谢关注</a:t>
            </a:r>
            <a:endParaRPr lang="zh-CN" altLang="en-US" sz="4000">
              <a:solidFill>
                <a:schemeClr val="bg1"/>
              </a:solidFill>
              <a:latin typeface="微软雅黑" panose="020B0503020204020204" pitchFamily="34" charset="-122"/>
              <a:ea typeface="微软雅黑" panose="020B0503020204020204" pitchFamily="34" charset="-122"/>
            </a:endParaRPr>
          </a:p>
        </p:txBody>
      </p:sp>
    </p:spTree>
  </p:cSld>
  <p:clrMapOvr>
    <a:masterClrMapping/>
  </p:clrMapOvr>
  <p:transition spd="slow">
    <p:fade/>
  </p:transition>
</p:sld>
</file>

<file path=ppt/tags/tag1.xml><?xml version="1.0" encoding="utf-8"?>
<p:tagLst xmlns:p="http://schemas.openxmlformats.org/presentationml/2006/main">
  <p:tag name="KSO_WM_DIAGRAM_VIRTUALLY_FRAME" val="{&quot;height&quot;:185.62503937007872,&quot;left&quot;:0,&quot;top&quot;:174,&quot;width&quot;:960.6250393700788}"/>
</p:tagLst>
</file>

<file path=ppt/tags/tag2.xml><?xml version="1.0" encoding="utf-8"?>
<p:tagLst xmlns:p="http://schemas.openxmlformats.org/presentationml/2006/main">
  <p:tag name="KSO_WM_DIAGRAM_VIRTUALLY_FRAME" val="{&quot;height&quot;:186.02503937007873,&quot;left&quot;:0,&quot;top&quot;:173.6,&quot;width&quot;:960.6250393700788}"/>
</p:tagLst>
</file>

<file path=ppt/tags/tag3.xml><?xml version="1.0" encoding="utf-8"?>
<p:tagLst xmlns:p="http://schemas.openxmlformats.org/presentationml/2006/main">
  <p:tag name="KSO_WM_DIAGRAM_VIRTUALLY_FRAME" val="{&quot;height&quot;:186.02503937007873,&quot;left&quot;:0,&quot;top&quot;:173.6,&quot;width&quot;:960.6250393700788}"/>
</p:tagLst>
</file>

<file path=ppt/tags/tag4.xml><?xml version="1.0" encoding="utf-8"?>
<p:tagLst xmlns:p="http://schemas.openxmlformats.org/presentationml/2006/main">
  <p:tag name="KSO_WM_DIAGRAM_VIRTUALLY_FRAME" val="{&quot;height&quot;:186.02503937007873,&quot;left&quot;:0,&quot;top&quot;:173.6,&quot;width&quot;:960.6250393700788}"/>
</p:tagLst>
</file>

<file path=ppt/tags/tag5.xml><?xml version="1.0" encoding="utf-8"?>
<p:tagLst xmlns:p="http://schemas.openxmlformats.org/presentationml/2006/main">
  <p:tag name="KSO_WM_DIAGRAM_VIRTUALLY_FRAME" val="{&quot;height&quot;:186.02503937007873,&quot;left&quot;:0,&quot;top&quot;:173.6,&quot;width&quot;:960.6250393700788}"/>
</p:tagLst>
</file>

<file path=ppt/tags/tag6.xml><?xml version="1.0" encoding="utf-8"?>
<p:tagLst xmlns:p="http://schemas.openxmlformats.org/presentationml/2006/main">
  <p:tag name="KSO_WM_DIAGRAM_VIRTUALLY_FRAME" val="{&quot;height&quot;:186.02503937007873,&quot;left&quot;:0,&quot;top&quot;:173.6,&quot;width&quot;:960.6250393700788}"/>
</p:tagLst>
</file>

<file path=ppt/tags/tag7.xml><?xml version="1.0" encoding="utf-8"?>
<p:tagLst xmlns:p="http://schemas.openxmlformats.org/presentationml/2006/main">
  <p:tag name="KSO_WM_DIAGRAM_VIRTUALLY_FRAME" val="{&quot;height&quot;:186.02503937007873,&quot;left&quot;:0,&quot;top&quot;:173.6,&quot;width&quot;:960.6250393700788}"/>
</p:tagLst>
</file>

<file path=ppt/tags/tag8.xml><?xml version="1.0" encoding="utf-8"?>
<p:tagLst xmlns:p="http://schemas.openxmlformats.org/presentationml/2006/main">
  <p:tag name="KSO_WM_DIAGRAM_VIRTUALLY_FRAME" val="{&quot;height&quot;:186.02503937007873,&quot;left&quot;:0,&quot;top&quot;:173.6,&quot;width&quot;:960.6250393700788}"/>
</p:tagLst>
</file>

<file path=ppt/tags/tag9.xml><?xml version="1.0" encoding="utf-8"?>
<p:tagLst xmlns:p="http://schemas.openxmlformats.org/presentationml/2006/main">
  <p:tag name="KSO_WM_DIAGRAM_VIRTUALLY_FRAME" val="{&quot;height&quot;:186.02503937007873,&quot;left&quot;:0,&quot;top&quot;:173.6,&quot;width&quot;:960.6250393700788}"/>
</p:tagLst>
</file>

<file path=ppt/tags/tag10.xml><?xml version="1.0" encoding="utf-8"?>
<p:tagLst xmlns:p="http://schemas.openxmlformats.org/presentationml/2006/main">
  <p:tag name="KSO_WM_DIAGRAM_VIRTUALLY_FRAME" val="{&quot;height&quot;:186.02503937007873,&quot;left&quot;:0,&quot;top&quot;:173.6,&quot;width&quot;:960.6250393700788}"/>
</p:tagLst>
</file>

<file path=ppt/tags/tag11.xml><?xml version="1.0" encoding="utf-8"?>
<p:tagLst xmlns:p="http://schemas.openxmlformats.org/presentationml/2006/main">
  <p:tag name="KSO_WM_DIAGRAM_VIRTUALLY_FRAME" val="{&quot;height&quot;:186.02503937007873,&quot;left&quot;:0,&quot;top&quot;:173.6,&quot;width&quot;:960.6250393700788}"/>
</p:tagLst>
</file>

<file path=ppt/tags/tag12.xml><?xml version="1.0" encoding="utf-8"?>
<p:tagLst xmlns:p="http://schemas.openxmlformats.org/presentationml/2006/main">
  <p:tag name="KSO_WM_DIAGRAM_VIRTUALLY_FRAME" val="{&quot;height&quot;:186.02503937007873,&quot;left&quot;:0,&quot;top&quot;:173.6,&quot;width&quot;:960.6250393700788}"/>
</p:tagLst>
</file>

<file path=ppt/tags/tag13.xml><?xml version="1.0" encoding="utf-8"?>
<p:tagLst xmlns:p="http://schemas.openxmlformats.org/presentationml/2006/main">
  <p:tag name="KSO_WM_DIAGRAM_VIRTUALLY_FRAME" val="{&quot;height&quot;:186.02503937007873,&quot;left&quot;:0,&quot;top&quot;:173.6,&quot;width&quot;:960.6250393700788}"/>
</p:tagLst>
</file>

<file path=ppt/tags/tag14.xml><?xml version="1.0" encoding="utf-8"?>
<p:tagLst xmlns:p="http://schemas.openxmlformats.org/presentationml/2006/main">
  <p:tag name="KSO_WM_DIAGRAM_VIRTUALLY_FRAME" val="{&quot;height&quot;:185.62503937007872,&quot;left&quot;:0,&quot;top&quot;:174,&quot;width&quot;:960.6250393700788}"/>
</p:tagLst>
</file>

<file path=ppt/tags/tag15.xml><?xml version="1.0" encoding="utf-8"?>
<p:tagLst xmlns:p="http://schemas.openxmlformats.org/presentationml/2006/main">
  <p:tag name="KSO_WM_DIAGRAM_VIRTUALLY_FRAME" val="{&quot;height&quot;:185.62503937007872,&quot;left&quot;:0,&quot;top&quot;:174,&quot;width&quot;:960.6250393700788}"/>
</p:tagLst>
</file>

<file path=ppt/tags/tag16.xml><?xml version="1.0" encoding="utf-8"?>
<p:tagLst xmlns:p="http://schemas.openxmlformats.org/presentationml/2006/main">
  <p:tag name="KSO_WM_DIAGRAM_VIRTUALLY_FRAME" val="{&quot;height&quot;:185.62503937007872,&quot;left&quot;:0,&quot;top&quot;:174,&quot;width&quot;:960.6250393700788}"/>
</p:tagLst>
</file>

<file path=ppt/tags/tag17.xml><?xml version="1.0" encoding="utf-8"?>
<p:tagLst xmlns:p="http://schemas.openxmlformats.org/presentationml/2006/main">
  <p:tag name="KSO_WM_DIAGRAM_VIRTUALLY_FRAME" val="{&quot;height&quot;:185.62503937007872,&quot;left&quot;:0,&quot;top&quot;:174,&quot;width&quot;:960.6250393700788}"/>
</p:tagLst>
</file>

<file path=ppt/tags/tag18.xml><?xml version="1.0" encoding="utf-8"?>
<p:tagLst xmlns:p="http://schemas.openxmlformats.org/presentationml/2006/main">
  <p:tag name="KSO_WM_DIAGRAM_VIRTUALLY_FRAME" val="{&quot;height&quot;:185.62503937007872,&quot;left&quot;:0,&quot;top&quot;:174,&quot;width&quot;:960.6250393700788}"/>
</p:tagLst>
</file>

<file path=ppt/tags/tag19.xml><?xml version="1.0" encoding="utf-8"?>
<p:tagLst xmlns:p="http://schemas.openxmlformats.org/presentationml/2006/main">
  <p:tag name="KSO_WM_DIAGRAM_VIRTUALLY_FRAME" val="{&quot;height&quot;:185.62503937007872,&quot;left&quot;:0,&quot;top&quot;:174,&quot;width&quot;:960.6250393700788}"/>
</p:tagLst>
</file>

<file path=ppt/tags/tag20.xml><?xml version="1.0" encoding="utf-8"?>
<p:tagLst xmlns:p="http://schemas.openxmlformats.org/presentationml/2006/main">
  <p:tag name="KSO_WM_DIAGRAM_VIRTUALLY_FRAME" val="{&quot;height&quot;:185.62503937007872,&quot;left&quot;:0,&quot;top&quot;:174,&quot;width&quot;:960.6250393700788}"/>
</p:tagLst>
</file>

<file path=ppt/tags/tag21.xml><?xml version="1.0" encoding="utf-8"?>
<p:tagLst xmlns:p="http://schemas.openxmlformats.org/presentationml/2006/main">
  <p:tag name="KSO_WM_DIAGRAM_VIRTUALLY_FRAME" val="{&quot;height&quot;:185.62503937007872,&quot;left&quot;:0,&quot;top&quot;:174,&quot;width&quot;:960.6250393700788}"/>
</p:tagLst>
</file>

<file path=ppt/tags/tag22.xml><?xml version="1.0" encoding="utf-8"?>
<p:tagLst xmlns:p="http://schemas.openxmlformats.org/presentationml/2006/main">
  <p:tag name="KSO_WM_DIAGRAM_VIRTUALLY_FRAME" val="{&quot;height&quot;:185.62503937007872,&quot;left&quot;:0,&quot;top&quot;:174,&quot;width&quot;:960.6250393700788}"/>
</p:tagLst>
</file>

<file path=ppt/tags/tag23.xml><?xml version="1.0" encoding="utf-8"?>
<p:tagLst xmlns:p="http://schemas.openxmlformats.org/presentationml/2006/main">
  <p:tag name="KSO_WM_DIAGRAM_VIRTUALLY_FRAME" val="{&quot;height&quot;:185.62503937007872,&quot;left&quot;:0,&quot;top&quot;:174,&quot;width&quot;:960.6250393700788}"/>
</p:tagLst>
</file>

<file path=ppt/tags/tag24.xml><?xml version="1.0" encoding="utf-8"?>
<p:tagLst xmlns:p="http://schemas.openxmlformats.org/presentationml/2006/main">
  <p:tag name="KSO_WM_DIAGRAM_VIRTUALLY_FRAME" val="{&quot;height&quot;:185.62503937007872,&quot;left&quot;:0,&quot;top&quot;:174,&quot;width&quot;:960.6250393700788}"/>
</p:tagLst>
</file>

<file path=ppt/tags/tag25.xml><?xml version="1.0" encoding="utf-8"?>
<p:tagLst xmlns:p="http://schemas.openxmlformats.org/presentationml/2006/main">
  <p:tag name="KSO_WM_DIAGRAM_VIRTUALLY_FRAME" val="{&quot;height&quot;:185.62503937007872,&quot;left&quot;:0,&quot;top&quot;:174,&quot;width&quot;:960.6250393700788}"/>
</p:tagLst>
</file>

<file path=ppt/tags/tag26.xml><?xml version="1.0" encoding="utf-8"?>
<p:tagLst xmlns:p="http://schemas.openxmlformats.org/presentationml/2006/main">
  <p:tag name="KSO_WM_DIAGRAM_VIRTUALLY_FRAME" val="{&quot;height&quot;:185.62503937007872,&quot;left&quot;:0,&quot;top&quot;:174,&quot;width&quot;:960.6250393700788}"/>
</p:tagLst>
</file>

<file path=ppt/tags/tag27.xml><?xml version="1.0" encoding="utf-8"?>
<p:tagLst xmlns:p="http://schemas.openxmlformats.org/presentationml/2006/main">
  <p:tag name="KSO_WM_DIAGRAM_VIRTUALLY_FRAME" val="{&quot;height&quot;:185.62503937007872,&quot;left&quot;:0,&quot;top&quot;:174,&quot;width&quot;:960.6250393700788}"/>
</p:tagLst>
</file>

<file path=ppt/tags/tag28.xml><?xml version="1.0" encoding="utf-8"?>
<p:tagLst xmlns:p="http://schemas.openxmlformats.org/presentationml/2006/main">
  <p:tag name="KSO_WM_DIAGRAM_VIRTUALLY_FRAME" val="{&quot;height&quot;:185.62503937007872,&quot;left&quot;:0,&quot;top&quot;:174,&quot;width&quot;:960.6250393700788}"/>
</p:tagLst>
</file>

<file path=ppt/tags/tag29.xml><?xml version="1.0" encoding="utf-8"?>
<p:tagLst xmlns:p="http://schemas.openxmlformats.org/presentationml/2006/main">
  <p:tag name="KSO_WM_DIAGRAM_VIRTUALLY_FRAME" val="{&quot;height&quot;:185.62503937007872,&quot;left&quot;:0,&quot;top&quot;:174,&quot;width&quot;:960.6250393700788}"/>
</p:tagLst>
</file>

<file path=ppt/tags/tag30.xml><?xml version="1.0" encoding="utf-8"?>
<p:tagLst xmlns:p="http://schemas.openxmlformats.org/presentationml/2006/main">
  <p:tag name="KSO_WM_DIAGRAM_VIRTUALLY_FRAME" val="{&quot;height&quot;:185.62503937007872,&quot;left&quot;:0,&quot;top&quot;:174,&quot;width&quot;:960.6250393700788}"/>
</p:tagLst>
</file>

<file path=ppt/tags/tag31.xml><?xml version="1.0" encoding="utf-8"?>
<p:tagLst xmlns:p="http://schemas.openxmlformats.org/presentationml/2006/main">
  <p:tag name="KSO_WM_DIAGRAM_VIRTUALLY_FRAME" val="{&quot;height&quot;:185.62503937007872,&quot;left&quot;:0,&quot;top&quot;:174,&quot;width&quot;:960.6250393700788}"/>
</p:tagLst>
</file>

<file path=ppt/tags/tag32.xml><?xml version="1.0" encoding="utf-8"?>
<p:tagLst xmlns:p="http://schemas.openxmlformats.org/presentationml/2006/main">
  <p:tag name="KSO_WM_DIAGRAM_VIRTUALLY_FRAME" val="{&quot;height&quot;:185.62503937007872,&quot;left&quot;:0,&quot;top&quot;:174,&quot;width&quot;:960.6250393700788}"/>
</p:tagLst>
</file>

<file path=ppt/tags/tag33.xml><?xml version="1.0" encoding="utf-8"?>
<p:tagLst xmlns:p="http://schemas.openxmlformats.org/presentationml/2006/main">
  <p:tag name="KSO_WM_DIAGRAM_VIRTUALLY_FRAME" val="{&quot;height&quot;:185.62503937007872,&quot;left&quot;:0,&quot;top&quot;:174,&quot;width&quot;:960.6250393700788}"/>
</p:tagLst>
</file>

<file path=ppt/tags/tag34.xml><?xml version="1.0" encoding="utf-8"?>
<p:tagLst xmlns:p="http://schemas.openxmlformats.org/presentationml/2006/main">
  <p:tag name="KSO_WM_DIAGRAM_VIRTUALLY_FRAME" val="{&quot;height&quot;:185.62503937007872,&quot;left&quot;:0,&quot;top&quot;:174,&quot;width&quot;:960.6250393700788}"/>
</p:tagLst>
</file>

<file path=ppt/tags/tag35.xml><?xml version="1.0" encoding="utf-8"?>
<p:tagLst xmlns:p="http://schemas.openxmlformats.org/presentationml/2006/main">
  <p:tag name="KSO_WM_DIAGRAM_VIRTUALLY_FRAME" val="{&quot;height&quot;:185.62503937007872,&quot;left&quot;:0,&quot;top&quot;:174,&quot;width&quot;:960.6250393700788}"/>
</p:tagLst>
</file>

<file path=ppt/tags/tag36.xml><?xml version="1.0" encoding="utf-8"?>
<p:tagLst xmlns:p="http://schemas.openxmlformats.org/presentationml/2006/main">
  <p:tag name="KSO_WM_DIAGRAM_VIRTUALLY_FRAME" val="{&quot;height&quot;:185.62503937007872,&quot;left&quot;:0,&quot;top&quot;:174,&quot;width&quot;:960.6250393700788}"/>
</p:tagLst>
</file>

<file path=ppt/tags/tag37.xml><?xml version="1.0" encoding="utf-8"?>
<p:tagLst xmlns:p="http://schemas.openxmlformats.org/presentationml/2006/main">
  <p:tag name="KSO_WM_DIAGRAM_VIRTUALLY_FRAME" val="{&quot;height&quot;:185.62503937007872,&quot;left&quot;:0,&quot;top&quot;:174,&quot;width&quot;:960.6250393700788}"/>
</p:tagLst>
</file>

<file path=ppt/tags/tag38.xml><?xml version="1.0" encoding="utf-8"?>
<p:tagLst xmlns:p="http://schemas.openxmlformats.org/presentationml/2006/main">
  <p:tag name="KSO_WM_DIAGRAM_VIRTUALLY_FRAME" val="{&quot;height&quot;:185.62503937007872,&quot;left&quot;:0,&quot;top&quot;:174,&quot;width&quot;:960.6250393700788}"/>
</p:tagLst>
</file>

<file path=ppt/tags/tag39.xml><?xml version="1.0" encoding="utf-8"?>
<p:tagLst xmlns:p="http://schemas.openxmlformats.org/presentationml/2006/main">
  <p:tag name="KSO_WM_DIAGRAM_VIRTUALLY_FRAME" val="{&quot;height&quot;:185.62503937007872,&quot;left&quot;:0,&quot;top&quot;:174,&quot;width&quot;:960.6250393700788}"/>
</p:tagLst>
</file>

<file path=ppt/tags/tag40.xml><?xml version="1.0" encoding="utf-8"?>
<p:tagLst xmlns:p="http://schemas.openxmlformats.org/presentationml/2006/main">
  <p:tag name="COMMONDATA" val="eyJoZGlkIjoiZjNjMmJiYWQ1NjYxMzU5Y2Q4YWViZjliZTZhYjA5ODEifQ=="/>
  <p:tag name="commondata" val="eyJoZGlkIjoiNjVkZWMxOGJhY2FhZmUwNmY0MTcyMjU1MWFkZGYzMDcifQ=="/>
</p:tagLst>
</file>

<file path=ppt/theme/theme1.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主题">
      <a:majorFont>
        <a:latin typeface="Calibri"/>
        <a:ea typeface="宋体"/>
        <a:cs typeface=""/>
      </a:majorFont>
      <a:minorFont>
        <a:latin typeface="Calibri"/>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alt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1F497D"/>
      </a:dk2>
      <a:lt2>
        <a:srgbClr val="EEECE1"/>
      </a:lt2>
      <a:accent1>
        <a:srgbClr val="4F81BD"/>
      </a:accent1>
      <a:accent2>
        <a:srgbClr val="C0504D"/>
      </a:accent2>
      <a:accent3>
        <a:srgbClr val="FFFFFF"/>
      </a:accent3>
      <a:accent4>
        <a:srgbClr val="000000"/>
      </a:accent4>
      <a:accent5>
        <a:srgbClr val="B2C1DB"/>
      </a:accent5>
      <a:accent6>
        <a:srgbClr val="AE4845"/>
      </a:accent6>
      <a:hlink>
        <a:srgbClr val="0000FF"/>
      </a:hlink>
      <a:folHlink>
        <a:srgbClr val="800080"/>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4215</Words>
  <Application>WPS 演示</Application>
  <PresentationFormat>自定义</PresentationFormat>
  <Paragraphs>329</Paragraphs>
  <Slides>22</Slides>
  <Notes>11</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22</vt:i4>
      </vt:variant>
    </vt:vector>
  </HeadingPairs>
  <TitlesOfParts>
    <vt:vector size="38" baseType="lpstr">
      <vt:lpstr>Arial</vt:lpstr>
      <vt:lpstr>宋体</vt:lpstr>
      <vt:lpstr>Wingdings</vt:lpstr>
      <vt:lpstr>Arial Unicode MS</vt:lpstr>
      <vt:lpstr>Calibri</vt:lpstr>
      <vt:lpstr>微软雅黑</vt:lpstr>
      <vt:lpstr>经典繁仿黑</vt:lpstr>
      <vt:lpstr>Impact</vt:lpstr>
      <vt:lpstr>专业字体设计服务/WWW.ZTSGC.COM/</vt:lpstr>
      <vt:lpstr>华康俪金黑W8(P)</vt:lpstr>
      <vt:lpstr>Arial Unicode MS</vt:lpstr>
      <vt:lpstr>等线</vt:lpstr>
      <vt:lpstr>Times New Roman</vt:lpstr>
      <vt:lpstr>黑体</vt:lpstr>
      <vt:lpstr>Times New Roman</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user</dc:creator>
  <cp:lastModifiedBy>丝雨</cp:lastModifiedBy>
  <cp:revision>547</cp:revision>
  <dcterms:created xsi:type="dcterms:W3CDTF">2015-03-26T06:11:00Z</dcterms:created>
  <dcterms:modified xsi:type="dcterms:W3CDTF">2025-07-07T01:36:23Z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2052-12.1.0.21915</vt:lpwstr>
  </property>
  <property fmtid="{D5CDD505-2E9C-101B-9397-08002B2CF9AE}" pid="3" name="ICV">
    <vt:lpwstr>B6FB7F370E394A2C9087BF909CE180E7_13</vt:lpwstr>
  </property>
</Properties>
</file>