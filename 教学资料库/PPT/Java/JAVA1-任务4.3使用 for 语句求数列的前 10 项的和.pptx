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38" r:id="rId4"/>
    <p:sldId id="373" r:id="rId6"/>
    <p:sldId id="374" r:id="rId7"/>
    <p:sldId id="340" r:id="rId8"/>
    <p:sldId id="353" r:id="rId9"/>
    <p:sldId id="449" r:id="rId10"/>
    <p:sldId id="453" r:id="rId11"/>
    <p:sldId id="454" r:id="rId12"/>
    <p:sldId id="420" r:id="rId13"/>
    <p:sldId id="455" r:id="rId14"/>
    <p:sldId id="451" r:id="rId15"/>
    <p:sldId id="457" r:id="rId16"/>
    <p:sldId id="407" r:id="rId17"/>
    <p:sldId id="341" r:id="rId18"/>
    <p:sldId id="452" r:id="rId19"/>
    <p:sldId id="347" r:id="rId20"/>
  </p:sldIdLst>
  <p:sldSz cx="12198350" cy="6858000"/>
  <p:notesSz cx="6858000" cy="9144000"/>
  <p:custDataLst>
    <p:tags r:id="rId2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28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53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800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4.png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2" Type="http://schemas.openxmlformats.org/officeDocument/2006/relationships/notesSlide" Target="../notesSlides/notesSlide11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46.xml"/><Relationship Id="rId2" Type="http://schemas.openxmlformats.org/officeDocument/2006/relationships/tags" Target="../tags/tag29.xml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image" Target="../media/image5.png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94985" y="3500755"/>
            <a:ext cx="559435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已知数列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1,3,5,7,9,…,2</a:t>
            </a:r>
            <a:r>
              <a:rPr lang="en-US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n+1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n=0,1,2,……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），统计该数列的前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项的和。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6605588" y="4108768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for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语句的说明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605588" y="450056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种循环结构语句的区别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3" grpId="0" bldLvl="0" autoUpdateAnimBg="0"/>
      <p:bldP spid="2" grpId="1"/>
      <p:bldP spid="3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92481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for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语句是最常用的循环结构语句之一，一般用在循环次数已知的情况下。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for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语句的语法格式如下：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for (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1;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2;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表达式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3){ 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</a:rPr>
              <a:t>语句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} 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094105" y="21717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70218" y="2244984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5080" y="24206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在上述语法格式中，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for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关键字后面的圆括号中包括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3 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部分内容，分别是表达式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1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，通常是初始化表达式；表达式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2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，通常是循环条件；表达式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3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，通常是操作表达式，它们之间用分号（</a:t>
            </a: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;</a:t>
            </a:r>
            <a:r>
              <a:rPr lang="zh-CN" altLang="en-US" sz="24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）分隔。花括号中的语句为循环体。</a:t>
            </a:r>
            <a:endParaRPr lang="en-US" altLang="zh-CN" sz="24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Chevron 3"/>
          <p:cNvSpPr/>
          <p:nvPr>
            <p:custDataLst>
              <p:tags r:id="rId3"/>
            </p:custDataLst>
          </p:nvPr>
        </p:nvSpPr>
        <p:spPr>
          <a:xfrm>
            <a:off x="1094105" y="2171700"/>
            <a:ext cx="231203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70218" y="2244984"/>
            <a:ext cx="94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流程图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07330" y="1340485"/>
            <a:ext cx="3070860" cy="5305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706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语句的说明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6835" y="2171700"/>
            <a:ext cx="9272905" cy="444754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语句主要用于按预定的次数执行语句的场合。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语句的执行流程。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首先执行表达式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，设定循环变量的初始值，也就是循环计数的起点；然后判断表达式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的值为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true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还是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false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，进而判断循环是否结束，通常表达式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是关系表达式，当关系表达式的值为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true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时，程序继续进行循环，当关系表达式的值为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false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时，循环结束；最后执行表达式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以控制循环变量的值，表达式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是递增（或递减）表达式，用于控制循环变量的值递增（或递减）。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706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语句的说明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6835" y="2171700"/>
            <a:ext cx="9272905" cy="444754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每次循环中循环变量增长（或减少）的值，通常称为循环步长；这样完成一次循环后，重新判断表达式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2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的值为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true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还是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false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，直到其值为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false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，则结束整个循环。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1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、表达式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2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和表达式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3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都可以为空（但分号不能省略），三者都为空的时候，相当于构建了一个无限循环。表达式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1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和表达式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3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可以使用逗号语句，来执行多个操作。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sym typeface="+mn-ea"/>
              </a:rPr>
              <a:t>逗号语句是用逗号分隔的语句序列。如以下语句：</a:t>
            </a:r>
            <a:r>
              <a:rPr lang="en-US" altLang="zh-CN" sz="2000">
                <a:latin typeface="宋体" panose="02010600030101010101" pitchFamily="2" charset="-122"/>
                <a:sym typeface="+mn-ea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sym typeface="+mn-ea"/>
              </a:rPr>
              <a:t>for(i=0,j=10;i&lt;j;i++,j--){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sym typeface="+mn-ea"/>
              </a:rPr>
              <a:t>…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sym typeface="+mn-ea"/>
              </a:rPr>
              <a:t>}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706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for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语句的说明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46835" y="2171700"/>
            <a:ext cx="9272905" cy="444754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）如果循环变量在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for 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后的圆括号中定义，变量的作用域仅限于循环体内。例如：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for(int i=0;i&lt;10;i++){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…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}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System.out.println(i); //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超出循环体，非法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循环体即每次循环要执行的操作，若该循环体只有一条语句，则可以不加花括号，若超过一条语句，则必须用花括号包裹。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706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种循环结构语句的区别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10" name="表格 9"/>
          <p:cNvGraphicFramePr/>
          <p:nvPr>
            <p:custDataLst>
              <p:tags r:id="rId3"/>
            </p:custDataLst>
          </p:nvPr>
        </p:nvGraphicFramePr>
        <p:xfrm>
          <a:off x="8286433" y="1988185"/>
          <a:ext cx="2315210" cy="121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5210"/>
              </a:tblGrid>
              <a:tr h="121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0;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while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(i &lt; 5) {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System.out.println(i);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i++;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8" name="组合 27"/>
          <p:cNvGrpSpPr/>
          <p:nvPr>
            <p:custDataLst>
              <p:tags r:id="rId4"/>
            </p:custDataLst>
          </p:nvPr>
        </p:nvGrpSpPr>
        <p:grpSpPr>
          <a:xfrm>
            <a:off x="354330" y="2181860"/>
            <a:ext cx="6567805" cy="900000"/>
            <a:chOff x="697" y="2566"/>
            <a:chExt cx="10343" cy="1417"/>
          </a:xfrm>
        </p:grpSpPr>
        <p:sp>
          <p:nvSpPr>
            <p:cNvPr id="25" name="圆角矩形 24"/>
            <p:cNvSpPr/>
            <p:nvPr>
              <p:custDataLst>
                <p:tags r:id="rId5"/>
              </p:custDataLst>
            </p:nvPr>
          </p:nvSpPr>
          <p:spPr>
            <a:xfrm>
              <a:off x="2688" y="2566"/>
              <a:ext cx="8352" cy="1417"/>
            </a:xfrm>
            <a:prstGeom prst="roundRect">
              <a:avLst>
                <a:gd name="adj" fmla="val 4184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圆角矩形 23"/>
            <p:cNvSpPr/>
            <p:nvPr>
              <p:custDataLst>
                <p:tags r:id="rId6"/>
              </p:custDataLst>
            </p:nvPr>
          </p:nvSpPr>
          <p:spPr>
            <a:xfrm>
              <a:off x="697" y="2566"/>
              <a:ext cx="3685" cy="1417"/>
            </a:xfrm>
            <a:prstGeom prst="roundRect">
              <a:avLst>
                <a:gd name="adj" fmla="val 15028"/>
              </a:avLst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sz="2400" b="1">
                  <a:solidFill>
                    <a:schemeClr val="accent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while循环</a:t>
              </a:r>
              <a:endParaRPr kumimoji="0" lang="zh-CN" altLang="zh-CN" sz="2400" b="1" i="0" u="none" strike="noStrike" cap="none" normalizeH="0" baseline="0" smtClean="0">
                <a:ln>
                  <a:noFill/>
                </a:ln>
                <a:solidFill>
                  <a:schemeClr val="accent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7"/>
              </p:custDataLst>
            </p:nvPr>
          </p:nvSpPr>
          <p:spPr>
            <a:xfrm>
              <a:off x="4502" y="2666"/>
              <a:ext cx="6403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60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执行循环体的前提是布尔表达式为true，如果表达式一开始就为false，那么循环体一次都不会执行。</a:t>
              </a:r>
              <a:endParaRPr lang="zh-CN" altLang="en-US"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8"/>
            </p:custDataLst>
          </p:nvPr>
        </p:nvGrpSpPr>
        <p:grpSpPr>
          <a:xfrm>
            <a:off x="354330" y="3858260"/>
            <a:ext cx="6567805" cy="899795"/>
            <a:chOff x="697" y="2566"/>
            <a:chExt cx="10343" cy="1417"/>
          </a:xfrm>
        </p:grpSpPr>
        <p:sp>
          <p:nvSpPr>
            <p:cNvPr id="30" name="圆角矩形 29"/>
            <p:cNvSpPr/>
            <p:nvPr>
              <p:custDataLst>
                <p:tags r:id="rId9"/>
              </p:custDataLst>
            </p:nvPr>
          </p:nvSpPr>
          <p:spPr>
            <a:xfrm>
              <a:off x="2688" y="2566"/>
              <a:ext cx="8352" cy="1417"/>
            </a:xfrm>
            <a:prstGeom prst="roundRect">
              <a:avLst>
                <a:gd name="adj" fmla="val 4184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圆角矩形 30"/>
            <p:cNvSpPr/>
            <p:nvPr>
              <p:custDataLst>
                <p:tags r:id="rId10"/>
              </p:custDataLst>
            </p:nvPr>
          </p:nvSpPr>
          <p:spPr>
            <a:xfrm>
              <a:off x="697" y="2566"/>
              <a:ext cx="3685" cy="1417"/>
            </a:xfrm>
            <a:prstGeom prst="roundRect">
              <a:avLst>
                <a:gd name="adj" fmla="val 15028"/>
              </a:avLst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zh-CN" sz="2400" b="1" i="0" u="none" strike="noStrike" cap="none" normalizeH="0" baseline="0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do</a:t>
              </a:r>
              <a:r>
                <a:rPr kumimoji="0" lang="en-US" altLang="zh-CN" sz="2400" b="1" i="0" u="none" strike="noStrike" cap="none" normalizeH="0" baseline="0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-</a:t>
              </a:r>
              <a:r>
                <a:rPr kumimoji="0" lang="zh-CN" altLang="zh-CN" sz="2400" b="1" i="0" u="none" strike="noStrike" cap="none" normalizeH="0" baseline="0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while循环</a:t>
              </a:r>
              <a:endParaRPr kumimoji="0" lang="zh-CN" altLang="zh-CN" sz="2400" b="1" i="0" u="none" strike="noStrike" cap="none" normalizeH="0" baseline="0" smtClean="0">
                <a:ln>
                  <a:noFill/>
                </a:ln>
                <a:solidFill>
                  <a:schemeClr val="accent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4502" y="2666"/>
              <a:ext cx="6403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60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至少执行一次循环体，因为循环体在表达式评估后执行，所以do</a:t>
              </a:r>
              <a:r>
                <a:rPr lang="en-US" sz="160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-</a:t>
              </a:r>
              <a:r>
                <a:rPr sz="160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while循环的循环体至少执行一次，即使表达式一开始就为false</a:t>
              </a:r>
              <a:endParaRPr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12"/>
            </p:custDataLst>
          </p:nvPr>
        </p:nvGrpSpPr>
        <p:grpSpPr>
          <a:xfrm>
            <a:off x="354330" y="5563870"/>
            <a:ext cx="6567805" cy="899795"/>
            <a:chOff x="697" y="2566"/>
            <a:chExt cx="10343" cy="1417"/>
          </a:xfrm>
        </p:grpSpPr>
        <p:sp>
          <p:nvSpPr>
            <p:cNvPr id="34" name="圆角矩形 33"/>
            <p:cNvSpPr/>
            <p:nvPr>
              <p:custDataLst>
                <p:tags r:id="rId13"/>
              </p:custDataLst>
            </p:nvPr>
          </p:nvSpPr>
          <p:spPr>
            <a:xfrm>
              <a:off x="2688" y="2566"/>
              <a:ext cx="8352" cy="1417"/>
            </a:xfrm>
            <a:prstGeom prst="roundRect">
              <a:avLst>
                <a:gd name="adj" fmla="val 41848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圆角矩形 34"/>
            <p:cNvSpPr/>
            <p:nvPr>
              <p:custDataLst>
                <p:tags r:id="rId14"/>
              </p:custDataLst>
            </p:nvPr>
          </p:nvSpPr>
          <p:spPr>
            <a:xfrm>
              <a:off x="697" y="2566"/>
              <a:ext cx="3685" cy="1417"/>
            </a:xfrm>
            <a:prstGeom prst="roundRect">
              <a:avLst>
                <a:gd name="adj" fmla="val 15028"/>
              </a:avLst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ctr" anchorCtr="0" compatLnSpc="1">
              <a:norm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r>
                <a:rPr kumimoji="0" lang="zh-CN" altLang="zh-CN" sz="2400" b="1" i="0" u="none" strike="noStrike" cap="none" normalizeH="0" baseline="0" smtClean="0">
                  <a:ln>
                    <a:noFill/>
                  </a:ln>
                  <a:solidFill>
                    <a:schemeClr val="accent3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for循环</a:t>
              </a:r>
              <a:endParaRPr kumimoji="0" lang="zh-CN" altLang="zh-CN" sz="2400" b="1" i="0" u="none" strike="noStrike" cap="none" normalizeH="0" baseline="0" smtClean="0">
                <a:ln>
                  <a:noFill/>
                </a:ln>
                <a:solidFill>
                  <a:schemeClr val="accent3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15"/>
              </p:custDataLst>
            </p:nvPr>
          </p:nvSpPr>
          <p:spPr>
            <a:xfrm>
              <a:off x="4502" y="2666"/>
              <a:ext cx="6403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600">
                  <a:latin typeface="宋体" panose="02010600030101010101" pitchFamily="2" charset="-122"/>
                  <a:cs typeface="宋体" panose="02010600030101010101" pitchFamily="2" charset="-122"/>
                  <a:sym typeface="+mn-ea"/>
                </a:rPr>
                <a:t>提供了一种更简洁的循环结构，它将初始化、循环条件和迭代步骤结合在一个语句中，并且使用分号作为分隔符。</a:t>
              </a:r>
              <a:endParaRPr sz="1600">
                <a:latin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37" name="图片 36" descr="右箭头-三个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530975" y="1678940"/>
            <a:ext cx="1905000" cy="1905000"/>
          </a:xfrm>
          <a:prstGeom prst="rect">
            <a:avLst/>
          </a:prstGeom>
        </p:spPr>
      </p:pic>
      <p:graphicFrame>
        <p:nvGraphicFramePr>
          <p:cNvPr id="38" name="表格 37"/>
          <p:cNvGraphicFramePr/>
          <p:nvPr>
            <p:custDataLst>
              <p:tags r:id="rId18"/>
            </p:custDataLst>
          </p:nvPr>
        </p:nvGraphicFramePr>
        <p:xfrm>
          <a:off x="8286433" y="3729990"/>
          <a:ext cx="2315210" cy="121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5210"/>
              </a:tblGrid>
              <a:tr h="121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5;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do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{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System.out.println(i);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i++;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 </a:t>
                      </a:r>
                      <a:r>
                        <a:rPr lang="zh-CN" altLang="en-US" sz="14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while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(i &lt; 5);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9" name="图片 38" descr="右箭头-三个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6586220" y="3312795"/>
            <a:ext cx="1905000" cy="1905000"/>
          </a:xfrm>
          <a:prstGeom prst="rect">
            <a:avLst/>
          </a:prstGeom>
        </p:spPr>
      </p:pic>
      <p:graphicFrame>
        <p:nvGraphicFramePr>
          <p:cNvPr id="40" name="表格 39"/>
          <p:cNvGraphicFramePr/>
          <p:nvPr>
            <p:custDataLst>
              <p:tags r:id="rId20"/>
            </p:custDataLst>
          </p:nvPr>
        </p:nvGraphicFramePr>
        <p:xfrm>
          <a:off x="8286433" y="5471795"/>
          <a:ext cx="2315210" cy="121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5210"/>
              </a:tblGrid>
              <a:tr h="1214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for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140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 = 0; i &lt; 5; i++) {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 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System.out.println(i);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}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dash"/>
                    </a:lnL>
                    <a:lnR w="12700">
                      <a:solidFill>
                        <a:schemeClr val="tx1"/>
                      </a:solidFill>
                      <a:prstDash val="dash"/>
                    </a:lnR>
                    <a:lnT w="12700">
                      <a:solidFill>
                        <a:schemeClr val="tx1"/>
                      </a:solidFill>
                      <a:prstDash val="dash"/>
                    </a:lnT>
                    <a:lnB w="12700">
                      <a:solidFill>
                        <a:schemeClr val="tx1"/>
                      </a:solidFill>
                      <a:prstDash val="dash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7065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种循环结构语句的区别</a:t>
            </a:r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endParaRPr lang="en-US" altLang="zh-CN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62735" y="2348865"/>
            <a:ext cx="9372600" cy="325120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2000" b="0">
                <a:solidFill>
                  <a:srgbClr val="000000"/>
                </a:solidFill>
                <a:latin typeface="宋体" panose="02010600030101010101" pitchFamily="2" charset="-122"/>
              </a:rPr>
              <a:t>总结：</a:t>
            </a:r>
            <a:endParaRPr lang="zh-CN" altLang="en-US" sz="2000" b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r>
              <a:rPr lang="zh-CN" altLang="en-US" sz="2000" b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000" b="0">
                <a:solidFill>
                  <a:srgbClr val="000000"/>
                </a:solidFill>
                <a:latin typeface="宋体" panose="02010600030101010101" pitchFamily="2" charset="-122"/>
              </a:rPr>
              <a:t>while 和 for 语句都在循环前判断条件表达式的值，而 do...while </a:t>
            </a:r>
            <a:r>
              <a:rPr lang="zh-CN" altLang="en-US" sz="2000" b="0">
                <a:solidFill>
                  <a:srgbClr val="000000"/>
                </a:solidFill>
                <a:latin typeface="宋体" panose="02010600030101010101" pitchFamily="2" charset="-122"/>
              </a:rPr>
              <a:t>语句至少执行一 次循环体，不管条件表达式的值是否为 true；while 和 do...while 语句适用于循环次数不确 定的场景，for 语句适用于循环次数确定的场景。for 语句是较简洁的，通常是首选循环结 构语句。</a:t>
            </a:r>
            <a:endParaRPr lang="zh-CN" altLang="en-US" sz="2000" b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循环变量的初始值是什么</a:t>
            </a:r>
            <a:r>
              <a:rPr lang="en-US" altLang="zh-CN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en-US" altLang="zh-CN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zh-CN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数列的第</a:t>
            </a:r>
            <a:r>
              <a:rPr lang="en-US" altLang="zh-CN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</a:t>
            </a: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项的表达式是什么</a:t>
            </a:r>
            <a:r>
              <a:rPr lang="en-US" altLang="zh-CN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en-US" altLang="zh-CN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5"/>
          <p:cNvSpPr>
            <a:spLocks noChangeArrowheads="1"/>
          </p:cNvSpPr>
          <p:nvPr/>
        </p:nvSpPr>
        <p:spPr bwMode="auto">
          <a:xfrm>
            <a:off x="6605588" y="44688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循环体是什么</a:t>
            </a:r>
            <a:r>
              <a:rPr lang="en-US" altLang="zh-CN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en-US" altLang="zh-CN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矩形 5"/>
          <p:cNvSpPr>
            <a:spLocks noChangeArrowheads="1"/>
          </p:cNvSpPr>
          <p:nvPr/>
        </p:nvSpPr>
        <p:spPr bwMode="auto">
          <a:xfrm>
            <a:off x="6603683" y="49006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循环条件是什么</a:t>
            </a:r>
            <a:r>
              <a:rPr lang="en-US" altLang="zh-CN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en-US" altLang="zh-CN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3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6" grpId="0" bldLvl="0" autoUpdateAnimBg="0"/>
      <p:bldP spid="2" grpId="0" bldLvl="0" autoUpdateAnimBg="0"/>
      <p:bldP spid="4" grpId="0" bldLvl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131695"/>
            <a:ext cx="10271125" cy="5549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4.3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中的描述和知识链接中</a:t>
            </a:r>
            <a:r>
              <a:rPr lang="zh-CN" sz="2000">
                <a:latin typeface="+mn-ea"/>
                <a:ea typeface="+mn-ea"/>
                <a:cs typeface="+mn-ea"/>
                <a:sym typeface="+mn-ea"/>
              </a:rPr>
              <a:t>相关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知识点可以得到文件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564765"/>
            <a:ext cx="7790815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 public class Example03 {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2 public static void main(String[] args) {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3 int a,sum;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4 a=0;sum=0;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5 for(int n=0;n&lt;10;n++) {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6 a=2*n+1;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7 sum+=a;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8 }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9 System.out.println("</a:t>
            </a:r>
            <a:r>
              <a:rPr lang="zh-CN" altLang="en-US" sz="1800">
                <a:latin typeface="Times New Roman" panose="02020603050405020304"/>
              </a:rPr>
              <a:t>该数列的第</a:t>
            </a:r>
            <a:r>
              <a:rPr lang="en-US" altLang="zh-CN" sz="1800">
                <a:latin typeface="Times New Roman" panose="02020603050405020304"/>
              </a:rPr>
              <a:t> 10 </a:t>
            </a:r>
            <a:r>
              <a:rPr lang="zh-CN" altLang="en-US" sz="1800">
                <a:latin typeface="Times New Roman" panose="02020603050405020304"/>
              </a:rPr>
              <a:t>项是：</a:t>
            </a:r>
            <a:r>
              <a:rPr lang="en-US" altLang="zh-CN" sz="1800">
                <a:latin typeface="Times New Roman" panose="02020603050405020304"/>
              </a:rPr>
              <a:t>"+a);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10 System.out.println("</a:t>
            </a:r>
            <a:r>
              <a:rPr lang="zh-CN" altLang="en-US" sz="1800">
                <a:latin typeface="Times New Roman" panose="02020603050405020304"/>
              </a:rPr>
              <a:t>数列的前</a:t>
            </a:r>
            <a:r>
              <a:rPr lang="en-US" altLang="zh-CN" sz="1800">
                <a:latin typeface="Times New Roman" panose="02020603050405020304"/>
              </a:rPr>
              <a:t> 10 </a:t>
            </a:r>
            <a:r>
              <a:rPr lang="zh-CN" altLang="en-US" sz="1800">
                <a:latin typeface="Times New Roman" panose="02020603050405020304"/>
              </a:rPr>
              <a:t>项的和是：</a:t>
            </a:r>
            <a:r>
              <a:rPr lang="en-US" altLang="zh-CN" sz="1800">
                <a:latin typeface="Times New Roman" panose="02020603050405020304"/>
              </a:rPr>
              <a:t>"+sum);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11 }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Times New Roman" panose="02020603050405020304"/>
              </a:rPr>
              <a:t>12 } </a:t>
            </a: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8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8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输出结果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355215" y="2060258"/>
            <a:ext cx="5080000" cy="55308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-9</a:t>
            </a:r>
            <a:r>
              <a:rPr lang="zh-CN" altLang="en-US" sz="2000">
                <a:latin typeface="宋体" panose="02010600030101010101" pitchFamily="2" charset="-122"/>
                <a:ea typeface="宋体" panose="02010600030101010101" pitchFamily="2" charset="-122"/>
              </a:rPr>
              <a:t>所示：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18815" y="4148138"/>
            <a:ext cx="5080000" cy="5067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+mn-ea"/>
                <a:ea typeface="+mn-ea"/>
                <a:cs typeface="+mn-ea"/>
              </a:rPr>
              <a:t>图</a:t>
            </a:r>
            <a:r>
              <a:rPr lang="en-US" altLang="zh-CN" sz="1800">
                <a:latin typeface="+mn-ea"/>
                <a:ea typeface="+mn-ea"/>
                <a:cs typeface="+mn-ea"/>
              </a:rPr>
              <a:t> 4-9 </a:t>
            </a:r>
            <a:r>
              <a:rPr lang="zh-CN" altLang="en-US" sz="1800">
                <a:latin typeface="+mn-ea"/>
                <a:ea typeface="+mn-ea"/>
                <a:cs typeface="+mn-ea"/>
              </a:rPr>
              <a:t>文件</a:t>
            </a:r>
            <a:r>
              <a:rPr lang="en-US" altLang="zh-CN" sz="1800">
                <a:latin typeface="+mn-ea"/>
                <a:ea typeface="+mn-ea"/>
                <a:cs typeface="+mn-ea"/>
              </a:rPr>
              <a:t> 4-3 </a:t>
            </a:r>
            <a:r>
              <a:rPr lang="zh-CN" altLang="en-US" sz="1800">
                <a:latin typeface="+mn-ea"/>
                <a:ea typeface="+mn-ea"/>
                <a:cs typeface="+mn-ea"/>
              </a:rPr>
              <a:t>的运行结果</a:t>
            </a:r>
            <a:endParaRPr lang="zh-CN" altLang="en-US" sz="1800">
              <a:latin typeface="+mn-ea"/>
              <a:ea typeface="+mn-ea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14625" y="2708910"/>
            <a:ext cx="6529070" cy="15271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  <p:tag name="KSO_WM_DIAGRAM_VIRTUALLY_FRAME" val="{&quot;height&quot;:157.05,&quot;left&quot;:83,&quot;top&quot;:97.3,&quot;width&quot;:188.1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TABLE_ENDDRAG_ORIGIN_RECT" val="182*94"/>
  <p:tag name="TABLE_ENDDRAG_RECT" val="434*246*182*94"/>
</p:tagLst>
</file>

<file path=ppt/tags/tag31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2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3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4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5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6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7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8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39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40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41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42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43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44.xml><?xml version="1.0" encoding="utf-8"?>
<p:tagLst xmlns:p="http://schemas.openxmlformats.org/presentationml/2006/main">
  <p:tag name="TABLE_ENDDRAG_ORIGIN_RECT" val="182*94"/>
  <p:tag name="TABLE_ENDDRAG_RECT" val="434*246*182*94"/>
</p:tagLst>
</file>

<file path=ppt/tags/tag45.xml><?xml version="1.0" encoding="utf-8"?>
<p:tagLst xmlns:p="http://schemas.openxmlformats.org/presentationml/2006/main">
  <p:tag name="KSO_WM_DIAGRAM_VIRTUALLY_FRAME" val="{&quot;height&quot;:424.25,&quot;left&quot;:27.9,&quot;top&quot;:91,&quot;width&quot;:640.7}"/>
</p:tagLst>
</file>

<file path=ppt/tags/tag46.xml><?xml version="1.0" encoding="utf-8"?>
<p:tagLst xmlns:p="http://schemas.openxmlformats.org/presentationml/2006/main">
  <p:tag name="TABLE_ENDDRAG_ORIGIN_RECT" val="182*94"/>
  <p:tag name="TABLE_ENDDRAG_RECT" val="434*246*182*94"/>
</p:tagLst>
</file>

<file path=ppt/tags/tag4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4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53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2024</Words>
  <Application>WPS 演示</Application>
  <PresentationFormat>自定义</PresentationFormat>
  <Paragraphs>218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44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TT9E365D44tCID</vt:lpstr>
      <vt:lpstr>Times New Roman</vt:lpstr>
      <vt:lpstr>黑体</vt:lpstr>
      <vt:lpstr>ksdb</vt:lpstr>
      <vt:lpstr>Arial Unicode MS</vt:lpstr>
      <vt:lpstr>等线</vt:lpstr>
      <vt:lpstr>Arial</vt:lpstr>
      <vt:lpstr>TTD8295216tCID</vt:lpstr>
      <vt:lpstr>TimesNewRoman</vt:lpstr>
      <vt:lpstr>CourierNew</vt:lpstr>
      <vt:lpstr>TT9E365D44tCID</vt:lpstr>
      <vt:lpstr>Times New Roman</vt:lpstr>
      <vt:lpstr>TimesNewRoman</vt:lpstr>
      <vt:lpstr>专业字体设计服务/WWW.ZTSGC.COM/</vt:lpstr>
      <vt:lpstr>华康俪金黑W8(P)</vt:lpstr>
      <vt:lpstr>经典繁仿黑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532</cp:revision>
  <dcterms:created xsi:type="dcterms:W3CDTF">2015-03-26T06:11:00Z</dcterms:created>
  <dcterms:modified xsi:type="dcterms:W3CDTF">2025-12-09T03:50:24Z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82E62C6B823B44DE8CD71895630EE9E2_13</vt:lpwstr>
  </property>
</Properties>
</file>