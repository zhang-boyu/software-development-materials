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67" r:id="rId3"/>
    <p:sldId id="373" r:id="rId5"/>
    <p:sldId id="374" r:id="rId6"/>
    <p:sldId id="340" r:id="rId7"/>
    <p:sldId id="353" r:id="rId8"/>
    <p:sldId id="460" r:id="rId9"/>
    <p:sldId id="461" r:id="rId10"/>
    <p:sldId id="418" r:id="rId11"/>
    <p:sldId id="459" r:id="rId12"/>
    <p:sldId id="462" r:id="rId13"/>
    <p:sldId id="463" r:id="rId14"/>
    <p:sldId id="464" r:id="rId15"/>
    <p:sldId id="407" r:id="rId16"/>
    <p:sldId id="341" r:id="rId17"/>
    <p:sldId id="458" r:id="rId18"/>
    <p:sldId id="466" r:id="rId19"/>
    <p:sldId id="465" r:id="rId20"/>
    <p:sldId id="347" r:id="rId21"/>
  </p:sldIdLst>
  <p:sldSz cx="12198350" cy="6858000"/>
  <p:notesSz cx="6858000" cy="9144000"/>
  <p:custDataLst>
    <p:tags r:id="rId25"/>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5" userDrawn="1">
          <p15:clr>
            <a:srgbClr val="A4A3A4"/>
          </p15:clr>
        </p15:guide>
        <p15:guide id="2" pos="39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A5500"/>
    <a:srgbClr val="66FF66"/>
    <a:srgbClr val="66FF33"/>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20" d="100"/>
          <a:sy n="120" d="100"/>
        </p:scale>
        <p:origin x="514" y="67"/>
      </p:cViewPr>
      <p:guideLst>
        <p:guide orient="horz" pos="2205"/>
        <p:guide pos="3914"/>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gs" Target="tags/tag39.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a:lvl1pPr>
          </a:lstStyle>
          <a:p>
            <a:pPr>
              <a:defRPr/>
            </a:pPr>
            <a:fld id="{8B23A044-4FB7-42A8-963C-A1DC19AE4035}"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eaLnBrk="0" hangingPunct="0">
              <a:spcBef>
                <a:spcPct val="30000"/>
              </a:spcBef>
              <a:defRPr sz="1200">
                <a:solidFill>
                  <a:schemeClr val="tx1"/>
                </a:solidFill>
                <a:latin typeface="Arial" panose="020B0604020202020204" pitchFamily="34" charset="0"/>
              </a:defRPr>
            </a:lvl1pPr>
            <a:lvl2pPr defTabSz="0" eaLnBrk="0" hangingPunct="0">
              <a:spcBef>
                <a:spcPct val="30000"/>
              </a:spcBef>
              <a:defRPr sz="1200">
                <a:solidFill>
                  <a:schemeClr val="tx1"/>
                </a:solidFill>
                <a:latin typeface="Arial" panose="020B0604020202020204" pitchFamily="34" charset="0"/>
              </a:defRPr>
            </a:lvl2pPr>
            <a:lvl3pPr defTabSz="0" eaLnBrk="0" hangingPunct="0">
              <a:spcBef>
                <a:spcPct val="30000"/>
              </a:spcBef>
              <a:defRPr sz="1200">
                <a:solidFill>
                  <a:schemeClr val="tx1"/>
                </a:solidFill>
                <a:latin typeface="Arial" panose="020B0604020202020204" pitchFamily="34" charset="0"/>
              </a:defRPr>
            </a:lvl3pPr>
            <a:lvl4pPr defTabSz="0" eaLnBrk="0" hangingPunct="0">
              <a:spcBef>
                <a:spcPct val="30000"/>
              </a:spcBef>
              <a:defRPr sz="1200">
                <a:solidFill>
                  <a:schemeClr val="tx1"/>
                </a:solidFill>
                <a:latin typeface="Arial" panose="020B0604020202020204" pitchFamily="34" charset="0"/>
              </a:defRPr>
            </a:lvl4pPr>
            <a:lvl5pPr defTabSz="0" eaLnBrk="0" hangingPunct="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defRPr/>
            </a:pPr>
            <a:r>
              <a:rPr lang="zh-CN" altLang="en-US" smtClean="0"/>
              <a:t>单击此处编辑母版文本样式</a:t>
            </a:r>
            <a:endParaRPr lang="zh-CN" altLang="en-US" smtClean="0"/>
          </a:p>
          <a:p>
            <a:pPr>
              <a:defRPr/>
            </a:pPr>
            <a:r>
              <a:rPr lang="zh-CN" altLang="en-US" smtClean="0"/>
              <a:t>第二级</a:t>
            </a:r>
            <a:endParaRPr lang="zh-CN" altLang="en-US" smtClean="0"/>
          </a:p>
          <a:p>
            <a:pPr>
              <a:defRPr/>
            </a:pPr>
            <a:r>
              <a:rPr lang="zh-CN" altLang="en-US" smtClean="0"/>
              <a:t>第三级</a:t>
            </a:r>
            <a:endParaRPr lang="zh-CN" altLang="en-US" smtClean="0"/>
          </a:p>
          <a:p>
            <a:pPr>
              <a:defRPr/>
            </a:pPr>
            <a:r>
              <a:rPr lang="zh-CN" altLang="en-US" smtClean="0"/>
              <a:t>第四级</a:t>
            </a:r>
            <a:endParaRPr lang="zh-CN" altLang="en-US" smtClean="0"/>
          </a:p>
          <a:p>
            <a:pPr>
              <a:defRPr/>
            </a:pPr>
            <a:r>
              <a:rPr lang="zh-CN" altLang="en-US" smtClean="0"/>
              <a:t>第五级</a:t>
            </a:r>
            <a:endParaRPr lang="zh-CN" altLang="en-US" smtClean="0"/>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a:lvl1pPr>
          </a:lstStyle>
          <a:p>
            <a:pPr>
              <a:defRPr/>
            </a:pPr>
            <a:fld id="{922C8440-6A44-4042-B683-65AB25C1BFCC}"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5588" y="1122363"/>
            <a:ext cx="9148762" cy="2387600"/>
          </a:xfrm>
          <a:prstGeom prst="rect">
            <a:avLst/>
          </a:prstGeo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5588" y="3602038"/>
            <a:ext cx="9148762"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838200" y="1825625"/>
            <a:ext cx="105219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195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2195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5375"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195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60962"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60962"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5375" y="1681163"/>
            <a:ext cx="5186363"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5375" y="2505075"/>
            <a:ext cx="5186363"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6363" y="987425"/>
            <a:ext cx="6175375"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6363" y="987425"/>
            <a:ext cx="6175375"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sym typeface="Calibri" panose="020F0502020204030204" pitchFamily="34" charset="0"/>
            </a:endParaRPr>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2195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9663" y="365125"/>
            <a:ext cx="2630487"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9063"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6F6F6"/>
        </a:solidFill>
        <a:effectLst/>
      </p:bgPr>
    </p:bg>
    <p:spTree>
      <p:nvGrpSpPr>
        <p:cNvPr id="1" name=""/>
        <p:cNvGrpSpPr/>
        <p:nvPr/>
      </p:nvGrpSpPr>
      <p:grpSpPr>
        <a:xfrm>
          <a:off x="0" y="0"/>
          <a:ext cx="0" cy="0"/>
          <a:chOff x="0" y="0"/>
          <a:chExt cx="0" cy="0"/>
        </a:xfrm>
      </p:grpSpPr>
      <p:sp>
        <p:nvSpPr>
          <p:cNvPr id="1026" name="直接连接符 7"/>
          <p:cNvSpPr>
            <a:spLocks noChangeShapeType="1"/>
          </p:cNvSpPr>
          <p:nvPr/>
        </p:nvSpPr>
        <p:spPr bwMode="auto">
          <a:xfrm>
            <a:off x="6557963" y="6740525"/>
            <a:ext cx="5637212"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 name="直接连接符 8"/>
          <p:cNvSpPr>
            <a:spLocks noChangeShapeType="1"/>
          </p:cNvSpPr>
          <p:nvPr/>
        </p:nvSpPr>
        <p:spPr bwMode="auto">
          <a:xfrm>
            <a:off x="0" y="6740525"/>
            <a:ext cx="5637213"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 name="TextBox 15"/>
          <p:cNvSpPr>
            <a:spLocks noChangeArrowheads="1"/>
          </p:cNvSpPr>
          <p:nvPr/>
        </p:nvSpPr>
        <p:spPr bwMode="auto">
          <a:xfrm>
            <a:off x="5695950" y="6488113"/>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fld id="{929913C5-467F-4262-8E10-4784E1F23762}" type="slidenum">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fld>
            <a:r>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 </a:t>
            </a:r>
            <a:endParaRPr lang="zh-CN" altLang="en-US" b="1"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1029" name="直接连接符 10"/>
          <p:cNvSpPr>
            <a:spLocks noChangeShapeType="1"/>
          </p:cNvSpPr>
          <p:nvPr/>
        </p:nvSpPr>
        <p:spPr bwMode="auto">
          <a:xfrm>
            <a:off x="0" y="333375"/>
            <a:ext cx="12196763" cy="0"/>
          </a:xfrm>
          <a:prstGeom prst="line">
            <a:avLst/>
          </a:prstGeom>
          <a:noFill/>
          <a:ln w="152400">
            <a:solidFill>
              <a:srgbClr val="C8C8C8"/>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030" name="组合 11"/>
          <p:cNvGrpSpPr/>
          <p:nvPr/>
        </p:nvGrpSpPr>
        <p:grpSpPr bwMode="auto">
          <a:xfrm rot="-5400000">
            <a:off x="10190163" y="-101600"/>
            <a:ext cx="1463675" cy="1666875"/>
            <a:chOff x="0" y="0"/>
            <a:chExt cx="2260994" cy="1512168"/>
          </a:xfrm>
        </p:grpSpPr>
        <p:sp>
          <p:nvSpPr>
            <p:cNvPr id="1031" name="燕尾形 12"/>
            <p:cNvSpPr>
              <a:spLocks noChangeArrowheads="1"/>
            </p:cNvSpPr>
            <p:nvPr/>
          </p:nvSpPr>
          <p:spPr bwMode="auto">
            <a:xfrm>
              <a:off x="4905" y="0"/>
              <a:ext cx="674374" cy="1512168"/>
            </a:xfrm>
            <a:prstGeom prst="chevron">
              <a:avLst>
                <a:gd name="adj" fmla="val 34773"/>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2" name="燕尾形 13"/>
            <p:cNvSpPr>
              <a:spLocks noChangeArrowheads="1"/>
            </p:cNvSpPr>
            <p:nvPr/>
          </p:nvSpPr>
          <p:spPr bwMode="auto">
            <a:xfrm>
              <a:off x="201087" y="0"/>
              <a:ext cx="792083" cy="1512168"/>
            </a:xfrm>
            <a:prstGeom prst="chevron">
              <a:avLst>
                <a:gd name="adj" fmla="val 5000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3" name="五边形 14"/>
            <p:cNvSpPr>
              <a:spLocks noChangeArrowheads="1"/>
            </p:cNvSpPr>
            <p:nvPr/>
          </p:nvSpPr>
          <p:spPr bwMode="auto">
            <a:xfrm>
              <a:off x="340866" y="0"/>
              <a:ext cx="1925034" cy="1512168"/>
            </a:xfrm>
            <a:prstGeom prst="homePlate">
              <a:avLst>
                <a:gd name="adj" fmla="val 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solidFill>
                  <a:srgbClr val="FFFFFF"/>
                </a:solidFill>
                <a:latin typeface="宋体" panose="02010600030101010101" pitchFamily="2" charset="-122"/>
                <a:sym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914400" indent="-914400" algn="ctr" rtl="0" eaLnBrk="0" fontAlgn="base" hangingPunct="0">
        <a:spcBef>
          <a:spcPct val="0"/>
        </a:spcBef>
        <a:spcAft>
          <a:spcPct val="0"/>
        </a:spcAft>
        <a:defRPr sz="4400" kern="1200">
          <a:solidFill>
            <a:schemeClr val="tx1"/>
          </a:solidFill>
          <a:latin typeface="+mj-lt"/>
          <a:ea typeface="+mj-ea"/>
          <a:cs typeface="+mj-cs"/>
          <a:sym typeface="Calibri" panose="020F0502020204030204" pitchFamily="34" charset="0"/>
        </a:defRPr>
      </a:lvl1pPr>
      <a:lvl2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3716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8288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2860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7432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2.xml"/><Relationship Id="rId14" Type="http://schemas.openxmlformats.org/officeDocument/2006/relationships/slideLayout" Target="../slideLayouts/slideLayout1.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tags" Target="../tags/tag34.xml"/><Relationship Id="rId1" Type="http://schemas.openxmlformats.org/officeDocument/2006/relationships/tags" Target="../tags/tag33.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tags" Target="../tags/tag38.xml"/><Relationship Id="rId1" Type="http://schemas.openxmlformats.org/officeDocument/2006/relationships/tags" Target="../tags/tag37.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矩形 1"/>
          <p:cNvSpPr>
            <a:spLocks noChangeArrowheads="1"/>
          </p:cNvSpPr>
          <p:nvPr/>
        </p:nvSpPr>
        <p:spPr bwMode="auto">
          <a:xfrm>
            <a:off x="0" y="0"/>
            <a:ext cx="12199938"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3075" name="Picture 3" descr="F:\品牌VI\无锡职院\资源库LOGO\2uqt7gw81r.jpg2uqt7gw81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9225" y="328613"/>
            <a:ext cx="8331200" cy="602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descr="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8" y="4367213"/>
            <a:ext cx="12196762"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Box 7"/>
          <p:cNvSpPr>
            <a:spLocks noChangeArrowheads="1"/>
          </p:cNvSpPr>
          <p:nvPr/>
        </p:nvSpPr>
        <p:spPr bwMode="auto">
          <a:xfrm>
            <a:off x="409575" y="376238"/>
            <a:ext cx="26654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无锡职业技术学院内部资料</a:t>
            </a:r>
            <a:endPar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3078" name="TextBox 15"/>
          <p:cNvSpPr>
            <a:spLocks noChangeArrowheads="1"/>
          </p:cNvSpPr>
          <p:nvPr/>
        </p:nvSpPr>
        <p:spPr bwMode="auto">
          <a:xfrm>
            <a:off x="5045075" y="1403350"/>
            <a:ext cx="662432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en-US" altLang="zh-CN"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JAVA</a:t>
            </a:r>
            <a:r>
              <a:rPr lang="zh-CN" altLang="en-US"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程序设计项目教程</a:t>
            </a:r>
            <a:endParaRPr lang="zh-CN" altLang="en-US" sz="4400" b="1"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endParaRPr>
          </a:p>
        </p:txBody>
      </p:sp>
    </p:spTree>
  </p:cSld>
  <p:clrMapOvr>
    <a:masterClrMapping/>
  </p:clrMapOvr>
  <p:transition spd="slow">
    <p:cover dir="l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2"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3"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06" name="任意多边形 10"/>
          <p:cNvSpPr>
            <a:spLocks noChangeArrowheads="1"/>
          </p:cNvSpPr>
          <p:nvPr>
            <p:custDataLst>
              <p:tags r:id="rId1"/>
            </p:custDataLst>
          </p:nvPr>
        </p:nvSpPr>
        <p:spPr bwMode="auto">
          <a:xfrm flipV="1">
            <a:off x="0" y="2590800"/>
            <a:ext cx="12199938" cy="1630363"/>
          </a:xfrm>
          <a:custGeom>
            <a:avLst/>
            <a:gdLst>
              <a:gd name="T0" fmla="*/ 0 w 10521680"/>
              <a:gd name="T1" fmla="*/ 0 h 1828800"/>
              <a:gd name="T2" fmla="*/ 7670639 w 10521680"/>
              <a:gd name="T3" fmla="*/ 0 h 1828800"/>
              <a:gd name="T4" fmla="*/ 8437771 w 10521680"/>
              <a:gd name="T5" fmla="*/ 1295748 h 1828800"/>
              <a:gd name="T6" fmla="*/ 16402222 w 10521680"/>
              <a:gd name="T7" fmla="*/ 1295748 h 1828800"/>
              <a:gd name="T8" fmla="*/ 0 60000 65536"/>
              <a:gd name="T9" fmla="*/ 0 60000 65536"/>
              <a:gd name="T10" fmla="*/ 0 60000 65536"/>
              <a:gd name="T11" fmla="*/ 0 60000 65536"/>
              <a:gd name="T12" fmla="*/ 0 w 10521680"/>
              <a:gd name="T13" fmla="*/ 0 h 1828800"/>
              <a:gd name="T14" fmla="*/ 10521680 w 10521680"/>
              <a:gd name="T15" fmla="*/ 1828800 h 1828800"/>
            </a:gdLst>
            <a:ahLst/>
            <a:cxnLst>
              <a:cxn ang="T8">
                <a:pos x="T0" y="T1"/>
              </a:cxn>
              <a:cxn ang="T9">
                <a:pos x="T2" y="T3"/>
              </a:cxn>
              <a:cxn ang="T10">
                <a:pos x="T4" y="T5"/>
              </a:cxn>
              <a:cxn ang="T11">
                <a:pos x="T6" y="T7"/>
              </a:cxn>
            </a:cxnLst>
            <a:rect l="T12" t="T13" r="T14" b="T15"/>
            <a:pathLst>
              <a:path w="10521680" h="1828800">
                <a:moveTo>
                  <a:pt x="0" y="0"/>
                </a:moveTo>
                <a:lnTo>
                  <a:pt x="4920553" y="0"/>
                </a:lnTo>
                <a:lnTo>
                  <a:pt x="5412652" y="1828800"/>
                </a:lnTo>
                <a:lnTo>
                  <a:pt x="10521680" y="1828800"/>
                </a:lnTo>
              </a:path>
            </a:pathLst>
          </a:custGeom>
          <a:noFill/>
          <a:ln w="57150" cap="flat" cmpd="sng">
            <a:solidFill>
              <a:srgbClr val="3B79CE"/>
            </a:solidFill>
            <a:miter lim="800000"/>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grpSp>
        <p:nvGrpSpPr>
          <p:cNvPr id="4107" name="组合 11"/>
          <p:cNvGrpSpPr/>
          <p:nvPr>
            <p:custDataLst>
              <p:tags r:id="rId2"/>
            </p:custDataLst>
          </p:nvPr>
        </p:nvGrpSpPr>
        <p:grpSpPr bwMode="auto">
          <a:xfrm>
            <a:off x="1085850" y="3875088"/>
            <a:ext cx="692150" cy="692150"/>
            <a:chOff x="0" y="0"/>
            <a:chExt cx="692150" cy="692150"/>
          </a:xfrm>
        </p:grpSpPr>
        <p:sp>
          <p:nvSpPr>
            <p:cNvPr id="4122" name="椭圆 12"/>
            <p:cNvSpPr>
              <a:spLocks noChangeArrowheads="1"/>
            </p:cNvSpPr>
            <p:nvPr>
              <p:custDataLst>
                <p:tags r:id="rId3"/>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4"/>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4108" name="TextBox 8"/>
          <p:cNvSpPr>
            <a:spLocks noChangeArrowheads="1"/>
          </p:cNvSpPr>
          <p:nvPr>
            <p:custDataLst>
              <p:tags r:id="rId5"/>
            </p:custDataLst>
          </p:nvPr>
        </p:nvSpPr>
        <p:spPr bwMode="auto">
          <a:xfrm>
            <a:off x="408940" y="3162300"/>
            <a:ext cx="212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2400" b="1">
              <a:solidFill>
                <a:srgbClr val="595959"/>
              </a:solidFill>
              <a:latin typeface="专业字体设计服务/WWW.ZTSGC.COM/" charset="-122"/>
              <a:ea typeface="微软雅黑" panose="020B0503020204020204" pitchFamily="34" charset="-122"/>
              <a:sym typeface="专业字体设计服务/WWW.ZTSGC.COM/" charset="-122"/>
            </a:endParaRPr>
          </a:p>
        </p:txBody>
      </p:sp>
      <p:sp>
        <p:nvSpPr>
          <p:cNvPr id="4109" name="TextBox 8"/>
          <p:cNvSpPr>
            <a:spLocks noChangeArrowheads="1"/>
          </p:cNvSpPr>
          <p:nvPr>
            <p:custDataLst>
              <p:tags r:id="rId6"/>
            </p:custDataLst>
          </p:nvPr>
        </p:nvSpPr>
        <p:spPr bwMode="auto">
          <a:xfrm>
            <a:off x="2406015" y="3162300"/>
            <a:ext cx="2907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10" name="TextBox 16"/>
          <p:cNvSpPr>
            <a:spLocks noChangeArrowheads="1"/>
          </p:cNvSpPr>
          <p:nvPr>
            <p:custDataLst>
              <p:tags r:id="rId7"/>
            </p:custDataLst>
          </p:nvPr>
        </p:nvSpPr>
        <p:spPr bwMode="auto">
          <a:xfrm>
            <a:off x="8114983" y="2997200"/>
            <a:ext cx="21732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任务实现</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112" name="组合 18"/>
          <p:cNvGrpSpPr/>
          <p:nvPr>
            <p:custDataLst>
              <p:tags r:id="rId8"/>
            </p:custDataLst>
          </p:nvPr>
        </p:nvGrpSpPr>
        <p:grpSpPr bwMode="auto">
          <a:xfrm>
            <a:off x="3452813" y="3875088"/>
            <a:ext cx="692150" cy="692150"/>
            <a:chOff x="0" y="0"/>
            <a:chExt cx="692150" cy="692150"/>
          </a:xfrm>
        </p:grpSpPr>
        <p:sp>
          <p:nvSpPr>
            <p:cNvPr id="4120" name="椭圆 19"/>
            <p:cNvSpPr>
              <a:spLocks noChangeArrowheads="1"/>
            </p:cNvSpPr>
            <p:nvPr>
              <p:custDataLst>
                <p:tags r:id="rId9"/>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1" name="椭圆 20"/>
            <p:cNvSpPr>
              <a:spLocks noChangeArrowheads="1"/>
            </p:cNvSpPr>
            <p:nvPr>
              <p:custDataLst>
                <p:tags r:id="rId10"/>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2</a:t>
              </a:r>
              <a:endParaRPr lang="zh-CN" altLang="zh-CN">
                <a:solidFill>
                  <a:srgbClr val="FFFFFF"/>
                </a:solidFill>
                <a:latin typeface="Impact" panose="020B0806030902050204" pitchFamily="34" charset="0"/>
                <a:sym typeface="Impact" panose="020B0806030902050204" pitchFamily="34" charset="0"/>
              </a:endParaRPr>
            </a:p>
          </p:txBody>
        </p:sp>
      </p:grpSp>
      <p:grpSp>
        <p:nvGrpSpPr>
          <p:cNvPr id="4113" name="组合 21"/>
          <p:cNvGrpSpPr/>
          <p:nvPr>
            <p:custDataLst>
              <p:tags r:id="rId11"/>
            </p:custDataLst>
          </p:nvPr>
        </p:nvGrpSpPr>
        <p:grpSpPr bwMode="auto">
          <a:xfrm>
            <a:off x="9190673" y="2204720"/>
            <a:ext cx="692150" cy="692150"/>
            <a:chOff x="1499235" y="-40005"/>
            <a:chExt cx="692150" cy="692150"/>
          </a:xfrm>
        </p:grpSpPr>
        <p:sp>
          <p:nvSpPr>
            <p:cNvPr id="4118" name="椭圆 22"/>
            <p:cNvSpPr>
              <a:spLocks noChangeArrowheads="1"/>
            </p:cNvSpPr>
            <p:nvPr>
              <p:custDataLst>
                <p:tags r:id="rId12"/>
              </p:custDataLst>
            </p:nvPr>
          </p:nvSpPr>
          <p:spPr bwMode="auto">
            <a:xfrm>
              <a:off x="1499235" y="-40005"/>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19" name="椭圆 23"/>
            <p:cNvSpPr>
              <a:spLocks noChangeArrowheads="1"/>
            </p:cNvSpPr>
            <p:nvPr>
              <p:custDataLst>
                <p:tags r:id="rId13"/>
              </p:custDataLst>
            </p:nvPr>
          </p:nvSpPr>
          <p:spPr bwMode="auto">
            <a:xfrm>
              <a:off x="1575435" y="32385"/>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3</a:t>
              </a:r>
              <a:endParaRPr lang="zh-CN" altLang="zh-CN">
                <a:solidFill>
                  <a:srgbClr val="FFFFFF"/>
                </a:solidFill>
                <a:latin typeface="Impact" panose="020B0806030902050204" pitchFamily="34" charset="0"/>
                <a:sym typeface="Impact" panose="020B0806030902050204" pitchFamily="34" charset="0"/>
              </a:endParaRPr>
            </a:p>
          </p:txBody>
        </p:sp>
      </p:grpSp>
      <p:sp>
        <p:nvSpPr>
          <p:cNvPr id="4115" name="Text Box 2"/>
          <p:cNvSpPr>
            <a:spLocks noChangeArrowheads="1"/>
          </p:cNvSpPr>
          <p:nvPr/>
        </p:nvSpPr>
        <p:spPr bwMode="auto">
          <a:xfrm>
            <a:off x="5378450" y="3070225"/>
            <a:ext cx="1296988" cy="647700"/>
          </a:xfrm>
          <a:prstGeom prst="rect">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3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目录</a:t>
            </a:r>
            <a:endParaRPr lang="zh-CN" altLang="zh-CN"/>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5594985" y="3500755"/>
            <a:ext cx="5594350" cy="922020"/>
          </a:xfrm>
          <a:prstGeom prst="rect">
            <a:avLst/>
          </a:prstGeom>
        </p:spPr>
        <p:txBody>
          <a:bodyPr wrap="square">
            <a:spAutoFit/>
          </a:bodyPr>
          <a:p>
            <a:pPr marL="0" indent="266700" algn="just" defTabSz="266700">
              <a:lnSpc>
                <a:spcPct val="150000"/>
              </a:lnSpc>
              <a:spcBef>
                <a:spcPct val="0"/>
              </a:spcBef>
              <a:spcAft>
                <a:spcPct val="0"/>
              </a:spcAft>
            </a:pPr>
            <a:r>
              <a:rPr sz="1800">
                <a:latin typeface="微软雅黑" panose="020B0503020204020204" pitchFamily="34" charset="-122"/>
                <a:ea typeface="微软雅黑" panose="020B0503020204020204" pitchFamily="34" charset="-122"/>
                <a:cs typeface="微软雅黑" panose="020B0503020204020204" pitchFamily="34" charset="-122"/>
              </a:rPr>
              <a:t>访问学生类的公有属性hobby、sex、保护类型age、私有属性name。</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1101090" y="-9906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宋体" panose="02010600030101010101" pitchFamily="2" charset="-122"/>
                <a:sym typeface="宋体" panose="02010600030101010101" pitchFamily="2" charset="-122"/>
              </a:rPr>
              <a:t>..</a:t>
            </a:r>
            <a:endParaRPr lang="en-US"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模块二</a:t>
            </a:r>
            <a:r>
              <a:rPr lang="en-US" altLang="zh-CN"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marL="571500" indent="-571500" algn="ctr" eaLnBrk="1" hangingPunct="1">
              <a:buFont typeface="Arial" panose="020B0604020202020204" pitchFamily="34" charset="0"/>
              <a:buChar char="•"/>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2"/>
          <p:cNvSpPr>
            <a:spLocks noChangeArrowheads="1"/>
          </p:cNvSpPr>
          <p:nvPr/>
        </p:nvSpPr>
        <p:spPr bwMode="auto">
          <a:xfrm>
            <a:off x="6605588" y="3605213"/>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spcBef>
                <a:spcPct val="0"/>
              </a:spcBef>
              <a:spcAft>
                <a:spcPct val="0"/>
              </a:spcAft>
              <a:buFont typeface="Arial" panose="020B0604020202020204" pitchFamily="34" charset="0"/>
              <a:buChar char="•"/>
            </a:pP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访问控制权限</a:t>
            </a:r>
            <a:endParaRPr lang="zh-CN"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矩形 3"/>
          <p:cNvSpPr>
            <a:spLocks noChangeArrowheads="1"/>
          </p:cNvSpPr>
          <p:nvPr/>
        </p:nvSpPr>
        <p:spPr bwMode="auto">
          <a:xfrm>
            <a:off x="6605588" y="4108768"/>
            <a:ext cx="35988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atin typeface="微软雅黑" panose="020B0503020204020204" pitchFamily="34" charset="-122"/>
                <a:ea typeface="微软雅黑" panose="020B0503020204020204" pitchFamily="34" charset="-122"/>
                <a:cs typeface="微软雅黑" panose="020B0503020204020204" pitchFamily="34" charset="-122"/>
                <a:sym typeface="+mn-ea"/>
              </a:rPr>
              <a:t>包的定义与访问</a:t>
            </a:r>
            <a:endParaRPr lang="zh-CN">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矩形 3"/>
          <p:cNvSpPr>
            <a:spLocks noChangeArrowheads="1"/>
          </p:cNvSpPr>
          <p:nvPr/>
        </p:nvSpPr>
        <p:spPr bwMode="auto">
          <a:xfrm>
            <a:off x="6602413" y="4477068"/>
            <a:ext cx="35988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atin typeface="微软雅黑" panose="020B0503020204020204" pitchFamily="34" charset="-122"/>
                <a:ea typeface="微软雅黑" panose="020B0503020204020204" pitchFamily="34" charset="-122"/>
                <a:cs typeface="微软雅黑" panose="020B0503020204020204" pitchFamily="34" charset="-122"/>
                <a:sym typeface="+mn-ea"/>
              </a:rPr>
              <a:t>Java中常用的程序包</a:t>
            </a:r>
            <a:endParaRPr lang="zh-CN">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矩形 6"/>
          <p:cNvSpPr>
            <a:spLocks noChangeArrowheads="1"/>
          </p:cNvSpPr>
          <p:nvPr/>
        </p:nvSpPr>
        <p:spPr bwMode="auto">
          <a:xfrm>
            <a:off x="6605588" y="4868863"/>
            <a:ext cx="35988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atin typeface="微软雅黑" panose="020B0503020204020204" pitchFamily="34" charset="-122"/>
                <a:ea typeface="微软雅黑" panose="020B0503020204020204" pitchFamily="34" charset="-122"/>
                <a:cs typeface="微软雅黑" panose="020B0503020204020204" pitchFamily="34" charset="-122"/>
                <a:sym typeface="+mn-ea"/>
              </a:rPr>
              <a:t>导入包</a:t>
            </a:r>
            <a:endParaRPr lang="zh-CN">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2"/>
                                        </p:tgtEl>
                                        <p:attrNameLst>
                                          <p:attrName>ppt_x</p:attrName>
                                          <p:attrName>ppt_y</p:attrName>
                                        </p:attrNameLst>
                                      </p:cBhvr>
                                      <p:rCtr x="0" y="0"/>
                                    </p:animMotion>
                                    <p:animEffect>
                                      <p:cBhvr>
                                        <p:cTn id="14" dur="1000"/>
                                        <p:tgtEl>
                                          <p:spTgt spid="2"/>
                                        </p:tgtEl>
                                      </p:cBhvr>
                                    </p:animEffect>
                                  </p:childTnLst>
                                </p:cTn>
                              </p:par>
                              <p:par>
                                <p:cTn id="15" presetID="52" presetClass="entr" presetSubtype="0" fill="hold" grpId="0" nodeType="withEffect">
                                  <p:stCondLst>
                                    <p:cond delay="200"/>
                                  </p:stCondLst>
                                  <p:iterate type="lt">
                                    <p:tmAbs val="0"/>
                                  </p:iterate>
                                  <p:childTnLst>
                                    <p:set>
                                      <p:cBhvr>
                                        <p:cTn id="16" dur="1" fill="hold">
                                          <p:stCondLst>
                                            <p:cond delay="0"/>
                                          </p:stCondLst>
                                        </p:cTn>
                                        <p:tgtEl>
                                          <p:spTgt spid="3"/>
                                        </p:tgtEl>
                                        <p:attrNameLst>
                                          <p:attrName>style.visibility</p:attrName>
                                        </p:attrNameLst>
                                      </p:cBhvr>
                                      <p:to>
                                        <p:strVal val="visible"/>
                                      </p:to>
                                    </p:set>
                                    <p:animScale>
                                      <p:cBhvr>
                                        <p:cTn id="17"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8" dur="1000" decel="50000" fill="hold">
                                          <p:stCondLst>
                                            <p:cond delay="0"/>
                                          </p:stCondLst>
                                        </p:cTn>
                                        <p:tgtEl>
                                          <p:spTgt spid="3"/>
                                        </p:tgtEl>
                                        <p:attrNameLst>
                                          <p:attrName>ppt_x</p:attrName>
                                          <p:attrName>ppt_y</p:attrName>
                                        </p:attrNameLst>
                                      </p:cBhvr>
                                      <p:rCtr x="0" y="0"/>
                                    </p:animMotion>
                                    <p:animEffect>
                                      <p:cBhvr>
                                        <p:cTn id="19" dur="1000"/>
                                        <p:tgtEl>
                                          <p:spTgt spid="3"/>
                                        </p:tgtEl>
                                      </p:cBhvr>
                                    </p:animEffect>
                                  </p:childTnLst>
                                </p:cTn>
                              </p:par>
                              <p:par>
                                <p:cTn id="20" presetID="52" presetClass="entr" presetSubtype="0" fill="hold" grpId="1" nodeType="withEffect">
                                  <p:stCondLst>
                                    <p:cond delay="0"/>
                                  </p:stCondLst>
                                  <p:childTnLst>
                                    <p:set>
                                      <p:cBhvr>
                                        <p:cTn id="21" dur="1" fill="hold">
                                          <p:stCondLst>
                                            <p:cond delay="0"/>
                                          </p:stCondLst>
                                        </p:cTn>
                                        <p:tgtEl>
                                          <p:spTgt spid="2"/>
                                        </p:tgtEl>
                                        <p:attrNameLst>
                                          <p:attrName>style.visibility</p:attrName>
                                        </p:attrNameLst>
                                      </p:cBhvr>
                                      <p:to>
                                        <p:strVal val="visible"/>
                                      </p:to>
                                    </p:set>
                                    <p:animScale>
                                      <p:cBhvr>
                                        <p:cTn id="2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2"/>
                                        </p:tgtEl>
                                        <p:attrNameLst>
                                          <p:attrName>ppt_x</p:attrName>
                                          <p:attrName>ppt_y</p:attrName>
                                        </p:attrNameLst>
                                      </p:cBhvr>
                                    </p:animMotion>
                                    <p:animEffect transition="in" filter="fade">
                                      <p:cBhvr>
                                        <p:cTn id="24" dur="1000"/>
                                        <p:tgtEl>
                                          <p:spTgt spid="2"/>
                                        </p:tgtEl>
                                      </p:cBhvr>
                                    </p:animEffect>
                                  </p:childTnLst>
                                </p:cTn>
                              </p:par>
                              <p:par>
                                <p:cTn id="25" presetID="52" presetClass="entr" presetSubtype="0" fill="hold" grpId="1" nodeType="withEffect">
                                  <p:stCondLst>
                                    <p:cond delay="0"/>
                                  </p:stCondLst>
                                  <p:iterate type="lt">
                                    <p:tmPct val="0"/>
                                  </p:iterate>
                                  <p:childTnLst>
                                    <p:set>
                                      <p:cBhvr>
                                        <p:cTn id="26" dur="1" fill="hold">
                                          <p:stCondLst>
                                            <p:cond delay="0"/>
                                          </p:stCondLst>
                                        </p:cTn>
                                        <p:tgtEl>
                                          <p:spTgt spid="3"/>
                                        </p:tgtEl>
                                        <p:attrNameLst>
                                          <p:attrName>style.visibility</p:attrName>
                                        </p:attrNameLst>
                                      </p:cBhvr>
                                      <p:to>
                                        <p:strVal val="visible"/>
                                      </p:to>
                                    </p:set>
                                    <p:animScale>
                                      <p:cBhvr>
                                        <p:cTn id="27"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3"/>
                                        </p:tgtEl>
                                        <p:attrNameLst>
                                          <p:attrName>ppt_x</p:attrName>
                                          <p:attrName>ppt_y</p:attrName>
                                        </p:attrNameLst>
                                      </p:cBhvr>
                                    </p:animMotion>
                                    <p:animEffect transition="in" filter="fade">
                                      <p:cBhvr>
                                        <p:cTn id="29" dur="1000"/>
                                        <p:tgtEl>
                                          <p:spTgt spid="3"/>
                                        </p:tgtEl>
                                      </p:cBhvr>
                                    </p:animEffect>
                                  </p:childTnLst>
                                </p:cTn>
                              </p:par>
                              <p:par>
                                <p:cTn id="30" presetID="52" presetClass="entr" presetSubtype="0" fill="hold" grpId="0" nodeType="withEffect">
                                  <p:stCondLst>
                                    <p:cond delay="200"/>
                                  </p:stCondLst>
                                  <p:iterate type="lt">
                                    <p:tmAbs val="0"/>
                                  </p:iterate>
                                  <p:childTnLst>
                                    <p:set>
                                      <p:cBhvr>
                                        <p:cTn id="31" dur="1" fill="hold">
                                          <p:stCondLst>
                                            <p:cond delay="0"/>
                                          </p:stCondLst>
                                        </p:cTn>
                                        <p:tgtEl>
                                          <p:spTgt spid="4"/>
                                        </p:tgtEl>
                                        <p:attrNameLst>
                                          <p:attrName>style.visibility</p:attrName>
                                        </p:attrNameLst>
                                      </p:cBhvr>
                                      <p:to>
                                        <p:strVal val="visible"/>
                                      </p:to>
                                    </p:set>
                                    <p:animScale>
                                      <p:cBhvr>
                                        <p:cTn id="32"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3" dur="1000" decel="50000" fill="hold">
                                          <p:stCondLst>
                                            <p:cond delay="0"/>
                                          </p:stCondLst>
                                        </p:cTn>
                                        <p:tgtEl>
                                          <p:spTgt spid="4"/>
                                        </p:tgtEl>
                                        <p:attrNameLst>
                                          <p:attrName>ppt_x</p:attrName>
                                          <p:attrName>ppt_y</p:attrName>
                                        </p:attrNameLst>
                                      </p:cBhvr>
                                      <p:rCtr x="0" y="0"/>
                                    </p:animMotion>
                                    <p:animEffect>
                                      <p:cBhvr>
                                        <p:cTn id="34" dur="1000"/>
                                        <p:tgtEl>
                                          <p:spTgt spid="4"/>
                                        </p:tgtEl>
                                      </p:cBhvr>
                                    </p:animEffect>
                                  </p:childTnLst>
                                </p:cTn>
                              </p:par>
                              <p:par>
                                <p:cTn id="35" presetID="52" presetClass="entr" presetSubtype="0" fill="hold" grpId="1" nodeType="withEffect">
                                  <p:stCondLst>
                                    <p:cond delay="0"/>
                                  </p:stCondLst>
                                  <p:iterate type="lt">
                                    <p:tmPct val="0"/>
                                  </p:iterate>
                                  <p:childTnLst>
                                    <p:set>
                                      <p:cBhvr>
                                        <p:cTn id="36" dur="1" fill="hold">
                                          <p:stCondLst>
                                            <p:cond delay="0"/>
                                          </p:stCondLst>
                                        </p:cTn>
                                        <p:tgtEl>
                                          <p:spTgt spid="4"/>
                                        </p:tgtEl>
                                        <p:attrNameLst>
                                          <p:attrName>style.visibility</p:attrName>
                                        </p:attrNameLst>
                                      </p:cBhvr>
                                      <p:to>
                                        <p:strVal val="visible"/>
                                      </p:to>
                                    </p:set>
                                    <p:animScale>
                                      <p:cBhvr>
                                        <p:cTn id="3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1000" decel="50000" fill="hold">
                                          <p:stCondLst>
                                            <p:cond delay="0"/>
                                          </p:stCondLst>
                                        </p:cTn>
                                        <p:tgtEl>
                                          <p:spTgt spid="4"/>
                                        </p:tgtEl>
                                        <p:attrNameLst>
                                          <p:attrName>ppt_x</p:attrName>
                                          <p:attrName>ppt_y</p:attrName>
                                        </p:attrNameLst>
                                      </p:cBhvr>
                                    </p:animMotion>
                                    <p:animEffect transition="in" filter="fade">
                                      <p:cBhvr>
                                        <p:cTn id="39" dur="1000"/>
                                        <p:tgtEl>
                                          <p:spTgt spid="4"/>
                                        </p:tgtEl>
                                      </p:cBhvr>
                                    </p:animEffect>
                                  </p:childTnLst>
                                </p:cTn>
                              </p:par>
                              <p:par>
                                <p:cTn id="40" presetID="52" presetClass="entr" presetSubtype="0" fill="hold" grpId="0" nodeType="withEffect">
                                  <p:stCondLst>
                                    <p:cond delay="200"/>
                                  </p:stCondLst>
                                  <p:iterate type="lt">
                                    <p:tmAbs val="0"/>
                                  </p:iterate>
                                  <p:childTnLst>
                                    <p:set>
                                      <p:cBhvr>
                                        <p:cTn id="41" dur="1" fill="hold">
                                          <p:stCondLst>
                                            <p:cond delay="0"/>
                                          </p:stCondLst>
                                        </p:cTn>
                                        <p:tgtEl>
                                          <p:spTgt spid="7"/>
                                        </p:tgtEl>
                                        <p:attrNameLst>
                                          <p:attrName>style.visibility</p:attrName>
                                        </p:attrNameLst>
                                      </p:cBhvr>
                                      <p:to>
                                        <p:strVal val="visible"/>
                                      </p:to>
                                    </p:set>
                                    <p:animScale>
                                      <p:cBhvr>
                                        <p:cTn id="42"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43" dur="1000" decel="50000" fill="hold">
                                          <p:stCondLst>
                                            <p:cond delay="0"/>
                                          </p:stCondLst>
                                        </p:cTn>
                                        <p:tgtEl>
                                          <p:spTgt spid="7"/>
                                        </p:tgtEl>
                                        <p:attrNameLst>
                                          <p:attrName>ppt_x</p:attrName>
                                          <p:attrName>ppt_y</p:attrName>
                                        </p:attrNameLst>
                                      </p:cBhvr>
                                      <p:rCtr x="0" y="0"/>
                                    </p:animMotion>
                                    <p:animEffect>
                                      <p:cBhvr>
                                        <p:cTn id="44" dur="1000"/>
                                        <p:tgtEl>
                                          <p:spTgt spid="7"/>
                                        </p:tgtEl>
                                      </p:cBhvr>
                                    </p:animEffect>
                                  </p:childTnLst>
                                </p:cTn>
                              </p:par>
                              <p:par>
                                <p:cTn id="45" presetID="52" presetClass="entr" presetSubtype="0" fill="hold" grpId="1" nodeType="withEffect">
                                  <p:stCondLst>
                                    <p:cond delay="0"/>
                                  </p:stCondLst>
                                  <p:iterate type="lt">
                                    <p:tmPct val="0"/>
                                  </p:iterate>
                                  <p:childTnLst>
                                    <p:set>
                                      <p:cBhvr>
                                        <p:cTn id="46" dur="1" fill="hold">
                                          <p:stCondLst>
                                            <p:cond delay="0"/>
                                          </p:stCondLst>
                                        </p:cTn>
                                        <p:tgtEl>
                                          <p:spTgt spid="7"/>
                                        </p:tgtEl>
                                        <p:attrNameLst>
                                          <p:attrName>style.visibility</p:attrName>
                                        </p:attrNameLst>
                                      </p:cBhvr>
                                      <p:to>
                                        <p:strVal val="visible"/>
                                      </p:to>
                                    </p:set>
                                    <p:animScale>
                                      <p:cBhvr>
                                        <p:cTn id="47"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7"/>
                                        </p:tgtEl>
                                        <p:attrNameLst>
                                          <p:attrName>ppt_x</p:attrName>
                                          <p:attrName>ppt_y</p:attrName>
                                        </p:attrNameLst>
                                      </p:cBhvr>
                                    </p:animMotion>
                                    <p:animEffect transition="in" filter="fade">
                                      <p:cBhvr>
                                        <p:cTn id="4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bldLvl="0" autoUpdateAnimBg="0"/>
      <p:bldP spid="3" grpId="0" bldLvl="0" autoUpdateAnimBg="0"/>
      <p:bldP spid="2" grpId="1"/>
      <p:bldP spid="3" grpId="1"/>
      <p:bldP spid="4" grpId="0" bldLvl="0" autoUpdateAnimBg="0"/>
      <p:bldP spid="4" grpId="1"/>
      <p:bldP spid="7" grpId="0" bldLvl="0" autoUpdateAnimBg="0"/>
      <p:bldP spid="7"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访问控制权限</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493010"/>
            <a:ext cx="9742805" cy="1512570"/>
          </a:xfrm>
          <a:prstGeom prst="rect">
            <a:avLst/>
          </a:prstGeom>
        </p:spPr>
        <p:txBody>
          <a:bodyPr>
            <a:noAutofit/>
          </a:bodyPr>
          <a:p>
            <a:pPr marL="0" indent="266700" algn="just" defTabSz="266700">
              <a:lnSpc>
                <a:spcPct val="150000"/>
              </a:lnSpc>
              <a:spcBef>
                <a:spcPct val="0"/>
              </a:spcBef>
              <a:spcAft>
                <a:spcPct val="0"/>
              </a:spcAft>
            </a:pPr>
            <a:r>
              <a:rPr lang="en-US" sz="2000">
                <a:latin typeface="宋体" panose="02010600030101010101" pitchFamily="2" charset="-122"/>
                <a:cs typeface="宋体" panose="02010600030101010101" pitchFamily="2" charset="-122"/>
              </a:rPr>
              <a:t>  </a:t>
            </a:r>
            <a:r>
              <a:rPr sz="2000">
                <a:latin typeface="宋体" panose="02010600030101010101" pitchFamily="2" charset="-122"/>
                <a:cs typeface="宋体" panose="02010600030101010101" pitchFamily="2" charset="-122"/>
              </a:rPr>
              <a:t>在Java中，针对类、成员方法和属性，Java提供了4种访问控制权限，分别是private、default、protected和public。下面通过一张图将这4种访问控制权限按级别由低到高依次列出，如图6-3所示。</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endParaRPr sz="2000">
              <a:latin typeface="宋体" panose="02010600030101010101" pitchFamily="2" charset="-122"/>
              <a:cs typeface="宋体" panose="02010600030101010101" pitchFamily="2" charset="-122"/>
            </a:endParaRPr>
          </a:p>
          <a:p>
            <a:pPr marL="0" indent="266700" algn="ctr" defTabSz="266700">
              <a:lnSpc>
                <a:spcPct val="150000"/>
              </a:lnSpc>
              <a:spcBef>
                <a:spcPct val="0"/>
              </a:spcBef>
              <a:spcAft>
                <a:spcPct val="0"/>
              </a:spcAft>
            </a:pPr>
            <a:r>
              <a:rPr sz="2000">
                <a:latin typeface="宋体" panose="02010600030101010101" pitchFamily="2" charset="-122"/>
                <a:cs typeface="宋体" panose="02010600030101010101" pitchFamily="2" charset="-122"/>
              </a:rPr>
              <a:t>图6-3访问控制权限</a:t>
            </a:r>
            <a:endParaRPr sz="2000">
              <a:latin typeface="宋体" panose="02010600030101010101" pitchFamily="2" charset="-122"/>
              <a:cs typeface="宋体" panose="02010600030101010101" pitchFamily="2" charset="-122"/>
            </a:endParaRPr>
          </a:p>
        </p:txBody>
      </p:sp>
      <p:grpSp>
        <p:nvGrpSpPr>
          <p:cNvPr id="70" name="组合 70"/>
          <p:cNvGrpSpPr/>
          <p:nvPr/>
        </p:nvGrpSpPr>
        <p:grpSpPr>
          <a:xfrm>
            <a:off x="4226560" y="4220845"/>
            <a:ext cx="3611880" cy="661670"/>
            <a:chOff x="2166" y="148724"/>
            <a:chExt cx="5688" cy="1220"/>
          </a:xfrm>
        </p:grpSpPr>
        <p:sp>
          <p:nvSpPr>
            <p:cNvPr id="71" name="文本框 13"/>
            <p:cNvSpPr txBox="1"/>
            <p:nvPr/>
          </p:nvSpPr>
          <p:spPr>
            <a:xfrm>
              <a:off x="5200" y="148729"/>
              <a:ext cx="1121" cy="585"/>
            </a:xfrm>
            <a:prstGeom prst="rect">
              <a:avLst/>
            </a:prstGeom>
            <a:noFill/>
            <a:ln w="6350">
              <a:solidFill>
                <a:schemeClr val="tx1"/>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marL="0" indent="0" algn="just" rtl="0" eaLnBrk="1" fontAlgn="auto" latinLnBrk="0" hangingPunct="1">
                <a:lnSpc>
                  <a:spcPct val="150000"/>
                </a:lnSpc>
              </a:pPr>
              <a:r>
                <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rPr>
                <a:t>protected</a:t>
              </a:r>
              <a:endPar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72" name="文本框 15"/>
            <p:cNvSpPr txBox="1"/>
            <p:nvPr/>
          </p:nvSpPr>
          <p:spPr>
            <a:xfrm>
              <a:off x="6688" y="148724"/>
              <a:ext cx="1121" cy="585"/>
            </a:xfrm>
            <a:prstGeom prst="rect">
              <a:avLst/>
            </a:prstGeom>
            <a:noFill/>
            <a:ln w="6350">
              <a:solidFill>
                <a:schemeClr val="tx1"/>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marL="0" indent="190500" algn="just" rtl="0" eaLnBrk="1" fontAlgn="auto" latinLnBrk="0" hangingPunct="1">
                <a:lnSpc>
                  <a:spcPct val="150000"/>
                </a:lnSpc>
              </a:pPr>
              <a:r>
                <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rPr>
                <a:t>public</a:t>
              </a:r>
              <a:endPar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endParaRPr>
            </a:p>
            <a:p>
              <a:pPr indent="190500" algn="just" rtl="0" eaLnBrk="1" fontAlgn="auto" latinLnBrk="0" hangingPunct="1">
                <a:lnSpc>
                  <a:spcPct val="150000"/>
                </a:lnSpc>
              </a:pPr>
              <a:r>
                <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73" name="文本框 17"/>
            <p:cNvSpPr txBox="1"/>
            <p:nvPr/>
          </p:nvSpPr>
          <p:spPr>
            <a:xfrm>
              <a:off x="2166" y="148730"/>
              <a:ext cx="1121" cy="585"/>
            </a:xfrm>
            <a:prstGeom prst="rect">
              <a:avLst/>
            </a:prstGeom>
            <a:noFill/>
            <a:ln w="6350">
              <a:solidFill>
                <a:schemeClr val="tx1"/>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indent="190500" algn="just" rtl="0" eaLnBrk="1" fontAlgn="auto" latinLnBrk="0" hangingPunct="1">
                <a:lnSpc>
                  <a:spcPct val="150000"/>
                </a:lnSpc>
              </a:pPr>
              <a:r>
                <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rPr>
                <a:t>private</a:t>
              </a:r>
              <a:endPar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endParaRPr>
            </a:p>
            <a:p>
              <a:pPr indent="190500" algn="just" rtl="0" eaLnBrk="1" fontAlgn="auto" latinLnBrk="0" hangingPunct="1">
                <a:lnSpc>
                  <a:spcPct val="150000"/>
                </a:lnSpc>
              </a:pPr>
              <a:r>
                <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74" name="文本框 18"/>
            <p:cNvSpPr txBox="1"/>
            <p:nvPr/>
          </p:nvSpPr>
          <p:spPr>
            <a:xfrm>
              <a:off x="3701" y="148738"/>
              <a:ext cx="1121" cy="585"/>
            </a:xfrm>
            <a:prstGeom prst="rect">
              <a:avLst/>
            </a:prstGeom>
            <a:noFill/>
            <a:ln w="6350">
              <a:solidFill>
                <a:schemeClr val="tx1"/>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marL="0" indent="95250" algn="just" rtl="0" eaLnBrk="1" fontAlgn="auto" latinLnBrk="0" hangingPunct="1">
                <a:lnSpc>
                  <a:spcPct val="150000"/>
                </a:lnSpc>
              </a:pPr>
              <a:r>
                <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rPr>
                <a:t>default</a:t>
              </a:r>
              <a:endPar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endParaRPr>
            </a:p>
            <a:p>
              <a:pPr indent="190500" algn="just" rtl="0" eaLnBrk="1" fontAlgn="auto" latinLnBrk="0" hangingPunct="1">
                <a:lnSpc>
                  <a:spcPct val="150000"/>
                </a:lnSpc>
              </a:pPr>
              <a:r>
                <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95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75" name="直接箭头连接符 22"/>
            <p:cNvCxnSpPr/>
            <p:nvPr/>
          </p:nvCxnSpPr>
          <p:spPr>
            <a:xfrm>
              <a:off x="2265" y="149498"/>
              <a:ext cx="5589" cy="0"/>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sp>
          <p:nvSpPr>
            <p:cNvPr id="76" name="文本框 23"/>
            <p:cNvSpPr txBox="1"/>
            <p:nvPr/>
          </p:nvSpPr>
          <p:spPr>
            <a:xfrm>
              <a:off x="3744" y="149307"/>
              <a:ext cx="2769" cy="637"/>
            </a:xfrm>
            <a:prstGeom prst="rect">
              <a:avLst/>
            </a:prstGeom>
            <a:no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marL="0" indent="228600" algn="l" rtl="0" eaLnBrk="1" fontAlgn="auto" latinLnBrk="0" hangingPunct="1">
                <a:lnSpc>
                  <a:spcPts val="2200"/>
                </a:lnSpc>
              </a:pPr>
              <a:r>
                <a:rPr lang="en-US" altLang="zh-CN" sz="1200" kern="100">
                  <a:latin typeface="宋体" panose="02010600030101010101" pitchFamily="2" charset="-122"/>
                  <a:ea typeface="宋体" panose="02010600030101010101" pitchFamily="2" charset="-122"/>
                  <a:cs typeface="宋体" panose="02010600030101010101" pitchFamily="2" charset="-122"/>
                  <a:sym typeface="Times New Roman" panose="02020603050405020304"/>
                </a:rPr>
                <a:t>级别由低到高</a:t>
              </a:r>
              <a:endParaRPr lang="en-US" altLang="zh-CN" sz="1200" kern="100">
                <a:latin typeface="宋体" panose="02010600030101010101" pitchFamily="2" charset="-122"/>
                <a:ea typeface="宋体" panose="02010600030101010101" pitchFamily="2" charset="-122"/>
                <a:cs typeface="宋体" panose="02010600030101010101" pitchFamily="2" charset="-122"/>
                <a:sym typeface="Times New Roman" panose="02020603050405020304"/>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访问控制权限</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170305" y="2277110"/>
            <a:ext cx="9742805" cy="1512570"/>
          </a:xfrm>
          <a:prstGeom prst="rect">
            <a:avLst/>
          </a:prstGeom>
        </p:spPr>
        <p:txBody>
          <a:bodyPr>
            <a:noAutofit/>
          </a:bodyPr>
          <a:p>
            <a:pPr marL="0" indent="266700" algn="just" defTabSz="266700">
              <a:lnSpc>
                <a:spcPct val="150000"/>
              </a:lnSpc>
              <a:spcBef>
                <a:spcPct val="0"/>
              </a:spcBef>
              <a:spcAft>
                <a:spcPct val="0"/>
              </a:spcAft>
            </a:pPr>
            <a:r>
              <a:rPr lang="en-US" sz="2000">
                <a:latin typeface="宋体" panose="02010600030101010101" pitchFamily="2" charset="-122"/>
                <a:cs typeface="宋体" panose="02010600030101010101" pitchFamily="2" charset="-122"/>
              </a:rPr>
              <a:t> </a:t>
            </a:r>
            <a:r>
              <a:rPr sz="2000">
                <a:latin typeface="宋体" panose="02010600030101010101" pitchFamily="2" charset="-122"/>
                <a:cs typeface="宋体" panose="02010600030101010101" pitchFamily="2" charset="-122"/>
              </a:rPr>
              <a:t>1.private：private属于私有访问权限，用于修饰类的属性和方法，也可以修饰内部类。类的成员一旦使用了private关键字修饰，则该成员只能在本类中进行访问。</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2.default：default属于默认访问权限，如果一个类中的属性或方法没有任何的访问权限声明，则该属性或方法就是默认的访问权限，默认的访问权限可以被本包中的其他类访问，但是不能被其他包的类访问。</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3.protected：protected属于受保护的访问权限。如果一个类中的成员使用了protected访问权限，则只能被本包及不同包的子类访问。</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4.public：public属于公共访问权限。如果一个类中的成员使用了public访问权限，则该成员可以在所有类中被访问，不管是否在同一包中</a:t>
            </a:r>
            <a:r>
              <a:rPr lang="zh-CN" sz="2000">
                <a:latin typeface="宋体" panose="02010600030101010101" pitchFamily="2" charset="-122"/>
                <a:cs typeface="宋体" panose="02010600030101010101" pitchFamily="2" charset="-122"/>
              </a:rPr>
              <a:t>。</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endParaRPr sz="2000">
              <a:latin typeface="宋体" panose="02010600030101010101" pitchFamily="2" charset="-122"/>
              <a:cs typeface="宋体" panose="02010600030101010101" pitchFamily="2" charset="-122"/>
            </a:endParaRPr>
          </a:p>
          <a:p>
            <a:pPr marL="0" indent="266700" algn="ctr" defTabSz="266700">
              <a:lnSpc>
                <a:spcPct val="150000"/>
              </a:lnSpc>
              <a:spcBef>
                <a:spcPct val="0"/>
              </a:spcBef>
              <a:spcAft>
                <a:spcPct val="0"/>
              </a:spcAft>
            </a:pPr>
            <a:endParaRPr sz="2000">
              <a:latin typeface="宋体" panose="02010600030101010101" pitchFamily="2" charset="-122"/>
              <a:cs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访问控制权限</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170305" y="2277110"/>
            <a:ext cx="9742805" cy="1512570"/>
          </a:xfrm>
          <a:prstGeom prst="rect">
            <a:avLst/>
          </a:prstGeom>
        </p:spPr>
        <p:txBody>
          <a:bodyPr>
            <a:noAutofit/>
          </a:bodyPr>
          <a:p>
            <a:pPr marL="0" indent="266700" algn="just" defTabSz="266700">
              <a:lnSpc>
                <a:spcPct val="150000"/>
              </a:lnSpc>
              <a:spcBef>
                <a:spcPct val="0"/>
              </a:spcBef>
              <a:spcAft>
                <a:spcPct val="0"/>
              </a:spcAft>
            </a:pPr>
            <a:r>
              <a:rPr lang="en-US" sz="2000">
                <a:latin typeface="宋体" panose="02010600030101010101" pitchFamily="2" charset="-122"/>
                <a:cs typeface="宋体" panose="02010600030101010101" pitchFamily="2" charset="-122"/>
              </a:rPr>
              <a:t> </a:t>
            </a:r>
            <a:endParaRPr sz="2000">
              <a:latin typeface="宋体" panose="02010600030101010101" pitchFamily="2" charset="-122"/>
              <a:cs typeface="宋体" panose="02010600030101010101" pitchFamily="2" charset="-122"/>
            </a:endParaRPr>
          </a:p>
          <a:p>
            <a:pPr marL="0" indent="266700" algn="ctr" defTabSz="266700">
              <a:lnSpc>
                <a:spcPct val="150000"/>
              </a:lnSpc>
              <a:spcBef>
                <a:spcPct val="0"/>
              </a:spcBef>
              <a:spcAft>
                <a:spcPct val="0"/>
              </a:spcAft>
            </a:pPr>
            <a:endParaRPr sz="2000">
              <a:latin typeface="宋体" panose="02010600030101010101" pitchFamily="2" charset="-122"/>
              <a:cs typeface="宋体" panose="02010600030101010101" pitchFamily="2" charset="-122"/>
            </a:endParaRPr>
          </a:p>
        </p:txBody>
      </p:sp>
      <p:sp>
        <p:nvSpPr>
          <p:cNvPr id="5" name="文本框 4"/>
          <p:cNvSpPr txBox="1"/>
          <p:nvPr/>
        </p:nvSpPr>
        <p:spPr>
          <a:xfrm>
            <a:off x="1922780" y="2204720"/>
            <a:ext cx="8190865" cy="1106805"/>
          </a:xfrm>
          <a:prstGeom prst="rect">
            <a:avLst/>
          </a:prstGeom>
        </p:spPr>
        <p:txBody>
          <a:bodyPr wrap="square">
            <a:spAutoFit/>
          </a:bodyPr>
          <a:p>
            <a:pPr marL="0" indent="266700" algn="just" defTabSz="266700">
              <a:lnSpc>
                <a:spcPct val="150000"/>
              </a:lnSpc>
              <a:spcBef>
                <a:spcPct val="0"/>
              </a:spcBef>
              <a:spcAft>
                <a:spcPct val="0"/>
              </a:spcAft>
            </a:pPr>
            <a:r>
              <a:rPr lang="zh-CN" altLang="en-US" sz="2400">
                <a:latin typeface="宋体" panose="02010600030101010101" pitchFamily="2" charset="-122"/>
                <a:ea typeface="宋体" panose="02010600030101010101" pitchFamily="2" charset="-122"/>
              </a:rPr>
              <a:t>下面通过一张表总结上述访问控制权限，如下表所示。</a:t>
            </a:r>
            <a:endParaRPr lang="zh-CN" altLang="en-US" sz="2400">
              <a:latin typeface="宋体" panose="02010600030101010101" pitchFamily="2" charset="-122"/>
              <a:ea typeface="宋体" panose="02010600030101010101" pitchFamily="2" charset="-122"/>
            </a:endParaRPr>
          </a:p>
          <a:p>
            <a:pPr marL="0" indent="266700" algn="ctr"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表</a:t>
            </a:r>
            <a:r>
              <a:rPr lang="en-US" altLang="zh-CN" sz="2000">
                <a:latin typeface="Times New Roman" panose="02020603050405020304"/>
                <a:ea typeface="宋体" panose="02010600030101010101" pitchFamily="2" charset="-122"/>
              </a:rPr>
              <a:t>6-1</a:t>
            </a:r>
            <a:r>
              <a:rPr lang="zh-CN" altLang="en-US" sz="2000">
                <a:latin typeface="宋体" panose="02010600030101010101" pitchFamily="2" charset="-122"/>
                <a:ea typeface="宋体" panose="02010600030101010101" pitchFamily="2" charset="-122"/>
              </a:rPr>
              <a:t>访问控制权限</a:t>
            </a:r>
            <a:endParaRPr lang="zh-CN" altLang="en-US" sz="2000">
              <a:latin typeface="宋体" panose="02010600030101010101" pitchFamily="2" charset="-122"/>
              <a:ea typeface="宋体" panose="02010600030101010101" pitchFamily="2" charset="-122"/>
            </a:endParaRPr>
          </a:p>
        </p:txBody>
      </p:sp>
      <p:graphicFrame>
        <p:nvGraphicFramePr>
          <p:cNvPr id="6" name="表格 5"/>
          <p:cNvGraphicFramePr/>
          <p:nvPr>
            <p:custDataLst>
              <p:tags r:id="rId3"/>
            </p:custDataLst>
          </p:nvPr>
        </p:nvGraphicFramePr>
        <p:xfrm>
          <a:off x="3218815" y="3311525"/>
          <a:ext cx="6530340" cy="2797810"/>
        </p:xfrm>
        <a:graphic>
          <a:graphicData uri="http://schemas.openxmlformats.org/drawingml/2006/table">
            <a:tbl>
              <a:tblPr/>
              <a:tblGrid>
                <a:gridCol w="1600200"/>
                <a:gridCol w="1159510"/>
                <a:gridCol w="1231900"/>
                <a:gridCol w="1304925"/>
                <a:gridCol w="1233805"/>
              </a:tblGrid>
              <a:tr h="411480">
                <a:tc>
                  <a:txBody>
                    <a:bodyPr/>
                    <a:p>
                      <a:pPr marL="0" indent="0" algn="ctr">
                        <a:lnSpc>
                          <a:spcPct val="150000"/>
                        </a:lnSpc>
                        <a:spcBef>
                          <a:spcPct val="0"/>
                        </a:spcBef>
                        <a:spcAft>
                          <a:spcPct val="0"/>
                        </a:spcAft>
                      </a:pPr>
                      <a:r>
                        <a:rPr lang="zh-CN" sz="1800">
                          <a:latin typeface="宋体" panose="02010600030101010101" pitchFamily="2" charset="-122"/>
                          <a:ea typeface="宋体" panose="02010600030101010101" pitchFamily="2" charset="-122"/>
                        </a:rPr>
                        <a:t>访问范围</a:t>
                      </a:r>
                      <a:endParaRPr lang="zh-CN" sz="1800">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800">
                          <a:latin typeface="Times New Roman" panose="02020603050405020304"/>
                          <a:ea typeface="宋体" panose="02010600030101010101" pitchFamily="2" charset="-122"/>
                        </a:rPr>
                        <a:t>private</a:t>
                      </a:r>
                      <a:endParaRPr lang="en-US" altLang="zh-CN" sz="18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800">
                          <a:latin typeface="Times New Roman" panose="02020603050405020304"/>
                          <a:ea typeface="宋体" panose="02010600030101010101" pitchFamily="2" charset="-122"/>
                        </a:rPr>
                        <a:t>default</a:t>
                      </a:r>
                      <a:endParaRPr lang="en-US" altLang="zh-CN" sz="18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800">
                          <a:latin typeface="Times New Roman" panose="02020603050405020304"/>
                          <a:ea typeface="宋体" panose="02010600030101010101" pitchFamily="2" charset="-122"/>
                        </a:rPr>
                        <a:t>protected</a:t>
                      </a:r>
                      <a:endParaRPr lang="en-US" altLang="zh-CN" sz="18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800">
                          <a:latin typeface="Times New Roman" panose="02020603050405020304"/>
                          <a:ea typeface="宋体" panose="02010600030101010101" pitchFamily="2" charset="-122"/>
                        </a:rPr>
                        <a:t>public</a:t>
                      </a:r>
                      <a:endParaRPr lang="en-US" altLang="zh-CN" sz="18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11480">
                <a:tc>
                  <a:txBody>
                    <a:bodyPr/>
                    <a:p>
                      <a:pPr marL="0" indent="0" algn="ctr">
                        <a:lnSpc>
                          <a:spcPct val="150000"/>
                        </a:lnSpc>
                        <a:spcBef>
                          <a:spcPct val="0"/>
                        </a:spcBef>
                        <a:spcAft>
                          <a:spcPct val="0"/>
                        </a:spcAft>
                      </a:pPr>
                      <a:r>
                        <a:rPr lang="zh-CN" sz="1800">
                          <a:latin typeface="宋体" panose="02010600030101010101" pitchFamily="2" charset="-122"/>
                          <a:ea typeface="宋体" panose="02010600030101010101" pitchFamily="2" charset="-122"/>
                        </a:rPr>
                        <a:t>同一类中</a:t>
                      </a:r>
                      <a:endParaRPr lang="zh-CN" sz="1800">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just">
                        <a:lnSpc>
                          <a:spcPct val="150000"/>
                        </a:lnSpc>
                        <a:spcBef>
                          <a:spcPct val="0"/>
                        </a:spcBef>
                        <a:spcAft>
                          <a:spcPct val="0"/>
                        </a:spcAft>
                      </a:pPr>
                      <a:r>
                        <a:rPr lang="en-US" altLang="zh-CN" sz="1800">
                          <a:latin typeface="Times New Roman" panose="02020603050405020304"/>
                          <a:ea typeface="宋体" panose="02010600030101010101" pitchFamily="2" charset="-122"/>
                        </a:rPr>
                        <a:t>√</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just">
                        <a:lnSpc>
                          <a:spcPct val="150000"/>
                        </a:lnSpc>
                        <a:spcBef>
                          <a:spcPct val="0"/>
                        </a:spcBef>
                        <a:spcAft>
                          <a:spcPct val="0"/>
                        </a:spcAft>
                      </a:pPr>
                      <a:r>
                        <a:rPr lang="en-US" altLang="zh-CN" sz="1800">
                          <a:latin typeface="Times New Roman" panose="02020603050405020304"/>
                          <a:ea typeface="宋体" panose="02010600030101010101" pitchFamily="2" charset="-122"/>
                        </a:rPr>
                        <a:t>√</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just">
                        <a:lnSpc>
                          <a:spcPct val="150000"/>
                        </a:lnSpc>
                        <a:spcBef>
                          <a:spcPct val="0"/>
                        </a:spcBef>
                        <a:spcAft>
                          <a:spcPct val="0"/>
                        </a:spcAft>
                      </a:pPr>
                      <a:r>
                        <a:rPr lang="en-US" altLang="zh-CN" sz="1800">
                          <a:latin typeface="Times New Roman" panose="02020603050405020304"/>
                          <a:ea typeface="宋体" panose="02010600030101010101" pitchFamily="2" charset="-122"/>
                        </a:rPr>
                        <a:t>√</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just">
                        <a:lnSpc>
                          <a:spcPct val="150000"/>
                        </a:lnSpc>
                        <a:spcBef>
                          <a:spcPct val="0"/>
                        </a:spcBef>
                        <a:spcAft>
                          <a:spcPct val="0"/>
                        </a:spcAft>
                      </a:pPr>
                      <a:r>
                        <a:rPr lang="en-US" altLang="zh-CN" sz="1800">
                          <a:latin typeface="Times New Roman" panose="02020603050405020304"/>
                          <a:ea typeface="宋体" panose="02010600030101010101" pitchFamily="2" charset="-122"/>
                        </a:rPr>
                        <a:t>√</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81685">
                <a:tc>
                  <a:txBody>
                    <a:bodyPr/>
                    <a:p>
                      <a:pPr marL="0" indent="0" algn="ctr">
                        <a:lnSpc>
                          <a:spcPct val="150000"/>
                        </a:lnSpc>
                        <a:spcBef>
                          <a:spcPct val="0"/>
                        </a:spcBef>
                        <a:spcAft>
                          <a:spcPct val="0"/>
                        </a:spcAft>
                      </a:pPr>
                      <a:r>
                        <a:rPr lang="zh-CN" sz="1800">
                          <a:latin typeface="宋体" panose="02010600030101010101" pitchFamily="2" charset="-122"/>
                          <a:ea typeface="宋体" panose="02010600030101010101" pitchFamily="2" charset="-122"/>
                        </a:rPr>
                        <a:t>同一包中的类</a:t>
                      </a:r>
                      <a:endParaRPr lang="zh-CN" sz="1800">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ctr">
                        <a:lnSpc>
                          <a:spcPct val="150000"/>
                        </a:lnSpc>
                        <a:spcBef>
                          <a:spcPct val="0"/>
                        </a:spcBef>
                        <a:spcAft>
                          <a:spcPct val="0"/>
                        </a:spcAft>
                      </a:pPr>
                      <a:r>
                        <a:rPr lang="en-US" altLang="zh-CN" sz="1800">
                          <a:latin typeface="Times New Roman" panose="02020603050405020304"/>
                          <a:ea typeface="宋体" panose="02010600030101010101" pitchFamily="2" charset="-122"/>
                        </a:rPr>
                        <a:t> </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just">
                        <a:lnSpc>
                          <a:spcPct val="150000"/>
                        </a:lnSpc>
                        <a:spcBef>
                          <a:spcPct val="0"/>
                        </a:spcBef>
                        <a:spcAft>
                          <a:spcPct val="0"/>
                        </a:spcAft>
                      </a:pPr>
                      <a:r>
                        <a:rPr lang="en-US" altLang="zh-CN" sz="1800">
                          <a:latin typeface="Times New Roman" panose="02020603050405020304"/>
                          <a:ea typeface="宋体" panose="02010600030101010101" pitchFamily="2" charset="-122"/>
                        </a:rPr>
                        <a:t>√</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just">
                        <a:lnSpc>
                          <a:spcPct val="150000"/>
                        </a:lnSpc>
                        <a:spcBef>
                          <a:spcPct val="0"/>
                        </a:spcBef>
                        <a:spcAft>
                          <a:spcPct val="0"/>
                        </a:spcAft>
                      </a:pPr>
                      <a:r>
                        <a:rPr lang="en-US" altLang="zh-CN" sz="1800">
                          <a:latin typeface="Times New Roman" panose="02020603050405020304"/>
                          <a:ea typeface="宋体" panose="02010600030101010101" pitchFamily="2" charset="-122"/>
                        </a:rPr>
                        <a:t>√</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just">
                        <a:lnSpc>
                          <a:spcPct val="150000"/>
                        </a:lnSpc>
                        <a:spcBef>
                          <a:spcPct val="0"/>
                        </a:spcBef>
                        <a:spcAft>
                          <a:spcPct val="0"/>
                        </a:spcAft>
                      </a:pPr>
                      <a:r>
                        <a:rPr lang="en-US" altLang="zh-CN" sz="1800">
                          <a:latin typeface="Times New Roman" panose="02020603050405020304"/>
                          <a:ea typeface="宋体" panose="02010600030101010101" pitchFamily="2" charset="-122"/>
                        </a:rPr>
                        <a:t>√</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81685">
                <a:tc>
                  <a:txBody>
                    <a:bodyPr/>
                    <a:p>
                      <a:pPr marL="0" indent="0" algn="ctr">
                        <a:lnSpc>
                          <a:spcPct val="150000"/>
                        </a:lnSpc>
                        <a:spcBef>
                          <a:spcPct val="0"/>
                        </a:spcBef>
                        <a:spcAft>
                          <a:spcPct val="0"/>
                        </a:spcAft>
                      </a:pPr>
                      <a:r>
                        <a:rPr lang="zh-CN" sz="1800">
                          <a:latin typeface="宋体" panose="02010600030101010101" pitchFamily="2" charset="-122"/>
                          <a:ea typeface="宋体" panose="02010600030101010101" pitchFamily="2" charset="-122"/>
                        </a:rPr>
                        <a:t>不同包的子类</a:t>
                      </a:r>
                      <a:endParaRPr lang="zh-CN" sz="1800">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ctr">
                        <a:lnSpc>
                          <a:spcPct val="150000"/>
                        </a:lnSpc>
                        <a:spcBef>
                          <a:spcPct val="0"/>
                        </a:spcBef>
                        <a:spcAft>
                          <a:spcPct val="0"/>
                        </a:spcAft>
                      </a:pPr>
                      <a:r>
                        <a:rPr lang="en-US" altLang="zh-CN" sz="1800">
                          <a:latin typeface="Times New Roman" panose="02020603050405020304"/>
                          <a:ea typeface="宋体" panose="02010600030101010101" pitchFamily="2" charset="-122"/>
                        </a:rPr>
                        <a:t> </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ctr">
                        <a:lnSpc>
                          <a:spcPct val="150000"/>
                        </a:lnSpc>
                        <a:spcBef>
                          <a:spcPct val="0"/>
                        </a:spcBef>
                        <a:spcAft>
                          <a:spcPct val="0"/>
                        </a:spcAft>
                      </a:pPr>
                      <a:r>
                        <a:rPr lang="en-US" altLang="zh-CN" sz="1800">
                          <a:latin typeface="Times New Roman" panose="02020603050405020304"/>
                          <a:ea typeface="宋体" panose="02010600030101010101" pitchFamily="2" charset="-122"/>
                        </a:rPr>
                        <a:t> </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just">
                        <a:lnSpc>
                          <a:spcPct val="150000"/>
                        </a:lnSpc>
                        <a:spcBef>
                          <a:spcPct val="0"/>
                        </a:spcBef>
                        <a:spcAft>
                          <a:spcPct val="0"/>
                        </a:spcAft>
                      </a:pPr>
                      <a:r>
                        <a:rPr lang="en-US" altLang="zh-CN" sz="1800">
                          <a:latin typeface="Times New Roman" panose="02020603050405020304"/>
                          <a:ea typeface="宋体" panose="02010600030101010101" pitchFamily="2" charset="-122"/>
                        </a:rPr>
                        <a:t>√</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just">
                        <a:lnSpc>
                          <a:spcPct val="150000"/>
                        </a:lnSpc>
                        <a:spcBef>
                          <a:spcPct val="0"/>
                        </a:spcBef>
                        <a:spcAft>
                          <a:spcPct val="0"/>
                        </a:spcAft>
                      </a:pPr>
                      <a:r>
                        <a:rPr lang="en-US" altLang="zh-CN" sz="1800">
                          <a:latin typeface="Times New Roman" panose="02020603050405020304"/>
                          <a:ea typeface="宋体" panose="02010600030101010101" pitchFamily="2" charset="-122"/>
                        </a:rPr>
                        <a:t>√</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11480">
                <a:tc>
                  <a:txBody>
                    <a:bodyPr/>
                    <a:p>
                      <a:pPr marL="0" indent="0" algn="ctr">
                        <a:lnSpc>
                          <a:spcPct val="150000"/>
                        </a:lnSpc>
                        <a:spcBef>
                          <a:spcPct val="0"/>
                        </a:spcBef>
                        <a:spcAft>
                          <a:spcPct val="0"/>
                        </a:spcAft>
                      </a:pPr>
                      <a:r>
                        <a:rPr lang="zh-CN" sz="1800">
                          <a:latin typeface="宋体" panose="02010600030101010101" pitchFamily="2" charset="-122"/>
                          <a:ea typeface="宋体" panose="02010600030101010101" pitchFamily="2" charset="-122"/>
                        </a:rPr>
                        <a:t>全局范围</a:t>
                      </a:r>
                      <a:endParaRPr lang="zh-CN" sz="1800">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ctr">
                        <a:lnSpc>
                          <a:spcPct val="150000"/>
                        </a:lnSpc>
                        <a:spcBef>
                          <a:spcPct val="0"/>
                        </a:spcBef>
                        <a:spcAft>
                          <a:spcPct val="0"/>
                        </a:spcAft>
                      </a:pPr>
                      <a:r>
                        <a:rPr lang="en-US" altLang="zh-CN" sz="1800">
                          <a:latin typeface="Times New Roman" panose="02020603050405020304"/>
                          <a:ea typeface="宋体" panose="02010600030101010101" pitchFamily="2" charset="-122"/>
                        </a:rPr>
                        <a:t> </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ctr">
                        <a:lnSpc>
                          <a:spcPct val="150000"/>
                        </a:lnSpc>
                        <a:spcBef>
                          <a:spcPct val="0"/>
                        </a:spcBef>
                        <a:spcAft>
                          <a:spcPct val="0"/>
                        </a:spcAft>
                      </a:pPr>
                      <a:r>
                        <a:rPr lang="en-US" altLang="zh-CN" sz="1800">
                          <a:latin typeface="Times New Roman" panose="02020603050405020304"/>
                          <a:ea typeface="宋体" panose="02010600030101010101" pitchFamily="2" charset="-122"/>
                        </a:rPr>
                        <a:t> </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ctr">
                        <a:lnSpc>
                          <a:spcPct val="150000"/>
                        </a:lnSpc>
                        <a:spcBef>
                          <a:spcPct val="0"/>
                        </a:spcBef>
                        <a:spcAft>
                          <a:spcPct val="0"/>
                        </a:spcAft>
                      </a:pPr>
                      <a:r>
                        <a:rPr lang="en-US" altLang="zh-CN" sz="1800">
                          <a:latin typeface="Times New Roman" panose="02020603050405020304"/>
                          <a:ea typeface="宋体" panose="02010600030101010101" pitchFamily="2" charset="-122"/>
                        </a:rPr>
                        <a:t> </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266700" algn="just">
                        <a:lnSpc>
                          <a:spcPct val="150000"/>
                        </a:lnSpc>
                        <a:spcBef>
                          <a:spcPct val="0"/>
                        </a:spcBef>
                        <a:spcAft>
                          <a:spcPct val="0"/>
                        </a:spcAft>
                      </a:pPr>
                      <a:r>
                        <a:rPr lang="en-US" altLang="zh-CN" sz="1800">
                          <a:latin typeface="Times New Roman" panose="02020603050405020304"/>
                          <a:ea typeface="宋体" panose="02010600030101010101" pitchFamily="2" charset="-122"/>
                        </a:rPr>
                        <a:t>√</a:t>
                      </a:r>
                      <a:endParaRPr lang="en-US" altLang="zh-CN" sz="1800">
                        <a:latin typeface="Times New Roman" panose="020206030504050203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包的定义与访问</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10" name="文本框 9"/>
          <p:cNvSpPr txBox="1"/>
          <p:nvPr/>
        </p:nvSpPr>
        <p:spPr>
          <a:xfrm>
            <a:off x="1094105" y="2171700"/>
            <a:ext cx="9721850" cy="3784600"/>
          </a:xfrm>
          <a:prstGeom prst="rect">
            <a:avLst/>
          </a:prstGeom>
        </p:spPr>
        <p:txBody>
          <a:bodyPr wrap="square">
            <a:spAutoFit/>
          </a:bodyPr>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  </a:t>
            </a:r>
            <a:r>
              <a:rPr sz="2000">
                <a:latin typeface="宋体" panose="02010600030101010101" pitchFamily="2" charset="-122"/>
                <a:ea typeface="宋体" panose="02010600030101010101" pitchFamily="2" charset="-122"/>
              </a:rPr>
              <a:t>为更好地利用和管理类，Java引入了包的机制。</a:t>
            </a:r>
            <a:r>
              <a:rPr sz="2000">
                <a:solidFill>
                  <a:srgbClr val="FF0000"/>
                </a:solidFill>
                <a:latin typeface="宋体" panose="02010600030101010101" pitchFamily="2" charset="-122"/>
                <a:ea typeface="宋体" panose="02010600030101010101" pitchFamily="2" charset="-122"/>
              </a:rPr>
              <a:t>所谓包就是一组相关类的集合。</a:t>
            </a:r>
            <a:r>
              <a:rPr sz="2000">
                <a:latin typeface="宋体" panose="02010600030101010101" pitchFamily="2" charset="-122"/>
                <a:ea typeface="宋体" panose="02010600030101010101" pitchFamily="2" charset="-122"/>
              </a:rPr>
              <a:t>包和操作系统管理磁盘的“文件夹”或“目录”概念基本相似。因此在设计包时，应该尽可能地将功能相近、用途相似、相互之间关系密切的类放在同一个包中。</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sz="2000">
                <a:latin typeface="宋体" panose="02010600030101010101" pitchFamily="2" charset="-122"/>
                <a:ea typeface="宋体" panose="02010600030101010101" pitchFamily="2" charset="-122"/>
              </a:rPr>
              <a:t>  </a:t>
            </a:r>
            <a:r>
              <a:rPr sz="2000">
                <a:latin typeface="宋体" panose="02010600030101010101" pitchFamily="2" charset="-122"/>
                <a:ea typeface="宋体" panose="02010600030101010101" pitchFamily="2" charset="-122"/>
              </a:rPr>
              <a:t>同一个包中的类是可见的。如果一个类没有访问控制符，说明它具有缺省的访问控制符特性。此时，这个类只能被同一个包中的类访问或引用。这一访问特性又称为包访问性。</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sz="2000">
                <a:latin typeface="宋体" panose="02010600030101010101" pitchFamily="2" charset="-122"/>
                <a:ea typeface="宋体" panose="02010600030101010101" pitchFamily="2" charset="-122"/>
              </a:rPr>
              <a:t>  </a:t>
            </a:r>
            <a:r>
              <a:rPr sz="2000">
                <a:latin typeface="宋体" panose="02010600030101010101" pitchFamily="2" charset="-122"/>
                <a:ea typeface="宋体" panose="02010600030101010101" pitchFamily="2" charset="-122"/>
              </a:rPr>
              <a:t>在Java中，同一个包中的类和接口之间的相互访问权限要高于不同包的类和接口，所以在设计类时应该有意识地规划组织类。</a:t>
            </a:r>
            <a:endParaRPr sz="2000">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Java中常用的程序包</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3</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10" name="文本框 9"/>
          <p:cNvSpPr txBox="1"/>
          <p:nvPr/>
        </p:nvSpPr>
        <p:spPr>
          <a:xfrm>
            <a:off x="1094105" y="2171700"/>
            <a:ext cx="9721850" cy="4707890"/>
          </a:xfrm>
          <a:prstGeom prst="rect">
            <a:avLst/>
          </a:prstGeom>
        </p:spPr>
        <p:txBody>
          <a:bodyPr wrap="square">
            <a:spAutoFit/>
          </a:bodyPr>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 </a:t>
            </a:r>
            <a:r>
              <a:rPr sz="2000">
                <a:latin typeface="宋体" panose="02010600030101010101" pitchFamily="2" charset="-122"/>
                <a:ea typeface="宋体" panose="02010600030101010101" pitchFamily="2" charset="-122"/>
              </a:rPr>
              <a:t>1.</a:t>
            </a: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ava.lang包</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ava.lang包是Java语言的核心类库，包含了运行Java程序必不可少的系统类，如基本数据类型、基本数学函数、字符串处理、线程、异常处理类等</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ea typeface="宋体" panose="02010600030101010101" pitchFamily="2" charset="-122"/>
              </a:rPr>
              <a:t>2.</a:t>
            </a: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ava.io包</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io包是Java语言的标准输入/输出类库，包含了实现Java与操作系统、用户界面以及其他Java程序做数据交换所使用的类，如基本输入/输出流、文件输入/输出流、过滤输入/输出流、管道输入/输出流、随机输入/输出流等。</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ea typeface="宋体" panose="02010600030101010101" pitchFamily="2" charset="-122"/>
              </a:rPr>
              <a:t>3.</a:t>
            </a: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ava.util包</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ava.util包包括了Java语言中的一些低级的实用工具，如处理时间的Date类，处理变长数组的Vector类，实现栈和杂凑表的Stack类和Hashtable类等。</a:t>
            </a:r>
            <a:endParaRPr sz="2000">
              <a:latin typeface="宋体" panose="02010600030101010101" pitchFamily="2" charset="-122"/>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Java中常用的程序包</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3</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10" name="文本框 9"/>
          <p:cNvSpPr txBox="1"/>
          <p:nvPr/>
        </p:nvSpPr>
        <p:spPr>
          <a:xfrm>
            <a:off x="1094105" y="2171700"/>
            <a:ext cx="9721850" cy="3784600"/>
          </a:xfrm>
          <a:prstGeom prst="rect">
            <a:avLst/>
          </a:prstGeom>
        </p:spPr>
        <p:txBody>
          <a:bodyPr wrap="square">
            <a:spAutoFit/>
          </a:bodyPr>
          <a:p>
            <a:pPr marL="0" indent="266700" algn="just" defTabSz="266700">
              <a:lnSpc>
                <a:spcPct val="150000"/>
              </a:lnSpc>
              <a:spcBef>
                <a:spcPct val="0"/>
              </a:spcBef>
              <a:spcAft>
                <a:spcPct val="0"/>
              </a:spcAft>
            </a:pPr>
            <a:r>
              <a:rPr lang="en-US" altLang="zh-CN" sz="2000">
                <a:latin typeface="宋体" panose="02010600030101010101" pitchFamily="2" charset="-122"/>
                <a:ea typeface="宋体" panose="02010600030101010101" pitchFamily="2" charset="-122"/>
              </a:rPr>
              <a:t> </a:t>
            </a:r>
            <a:r>
              <a:rPr sz="2000">
                <a:latin typeface="宋体" panose="02010600030101010101" pitchFamily="2" charset="-122"/>
                <a:ea typeface="宋体" panose="02010600030101010101" pitchFamily="2" charset="-122"/>
              </a:rPr>
              <a:t>4.</a:t>
            </a: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ava.awt包</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awt包是Java语言用来构建用户界面（GUI）的类库，它包括了许多界面元素和资源，主要在三个方面提供界面设计支持：低级绘图操作，如Graphics类等；图形界面组件和布局管理，如Checkbox类、Container类、LayoutManager接口等；以及界面用户交互控制和事件响应，如Event类。</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ea typeface="宋体" panose="02010600030101010101" pitchFamily="2" charset="-122"/>
              </a:rPr>
              <a:t>5.</a:t>
            </a: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ava.applet包</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ava.applet包用来实现运行于Internet浏览器中的Java Applet的工具类库，它仅包含少量几个接口和一个非常有用的类Java.applet.Applet。</a:t>
            </a:r>
            <a:endParaRPr sz="2000">
              <a:latin typeface="宋体" panose="02010600030101010101" pitchFamily="2" charset="-122"/>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Java中常用的程序包</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3</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10" name="文本框 9"/>
          <p:cNvSpPr txBox="1"/>
          <p:nvPr/>
        </p:nvSpPr>
        <p:spPr>
          <a:xfrm>
            <a:off x="1094105" y="2171700"/>
            <a:ext cx="9721850" cy="4246245"/>
          </a:xfrm>
          <a:prstGeom prst="rect">
            <a:avLst/>
          </a:prstGeom>
        </p:spPr>
        <p:txBody>
          <a:bodyPr wrap="square">
            <a:spAutoFit/>
          </a:bodyPr>
          <a:p>
            <a:pPr marL="0" indent="266700" algn="just" defTabSz="266700">
              <a:lnSpc>
                <a:spcPct val="150000"/>
              </a:lnSpc>
              <a:spcBef>
                <a:spcPct val="0"/>
              </a:spcBef>
              <a:spcAft>
                <a:spcPct val="0"/>
              </a:spcAft>
            </a:pPr>
            <a:r>
              <a:rPr sz="2000">
                <a:latin typeface="宋体" panose="02010600030101010101" pitchFamily="2" charset="-122"/>
                <a:ea typeface="宋体" panose="02010600030101010101" pitchFamily="2" charset="-122"/>
              </a:rPr>
              <a:t>6.</a:t>
            </a: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ava.net包</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net包是Java语言用来实现网络功能的类库。实现的功能，如：底层的网络通信，如实现套接字通信的Socket类、ServerSocket类；编写用户自己的Telnet、FTP、邮件服务等实现网上通信的类；用于访问Internet上资源的类，如URL类等。</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ea typeface="宋体" panose="02010600030101010101" pitchFamily="2" charset="-122"/>
              </a:rPr>
              <a:t>7.</a:t>
            </a: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ava.sql包</a:t>
            </a:r>
            <a:endParaRPr sz="20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sz="2000">
                <a:latin typeface="宋体" panose="02010600030101010101" pitchFamily="2" charset="-122"/>
                <a:ea typeface="宋体" panose="02010600030101010101" pitchFamily="2" charset="-122"/>
              </a:rPr>
              <a:t>j</a:t>
            </a:r>
            <a:r>
              <a:rPr sz="2000">
                <a:latin typeface="宋体" panose="02010600030101010101" pitchFamily="2" charset="-122"/>
                <a:ea typeface="宋体" panose="02010600030101010101" pitchFamily="2" charset="-122"/>
              </a:rPr>
              <a:t>ava.sql包是实现JDBC（Java database connection）的类库。利用这个包可以使Java程序具有访问不同种类数据库的功能，如Oracle、Sybase、DB2、SQL Server等。只要安装了合适的驱动程序，同一个Java程序几乎不需修改就可以存取、修改这些不同的数据库中的数据。</a:t>
            </a:r>
            <a:endParaRPr sz="2000">
              <a:latin typeface="宋体" panose="02010600030101010101" pitchFamily="2" charset="-122"/>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导入包</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4</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10" name="文本框 9"/>
          <p:cNvSpPr txBox="1"/>
          <p:nvPr/>
        </p:nvSpPr>
        <p:spPr>
          <a:xfrm>
            <a:off x="1130935" y="1988820"/>
            <a:ext cx="10017125" cy="4661535"/>
          </a:xfrm>
          <a:prstGeom prst="rect">
            <a:avLst/>
          </a:prstGeom>
        </p:spPr>
        <p:txBody>
          <a:bodyPr wrap="square">
            <a:spAutoFit/>
          </a:bodyPr>
          <a:p>
            <a:pPr marL="0" indent="266700" algn="just" defTabSz="266700">
              <a:lnSpc>
                <a:spcPct val="150000"/>
              </a:lnSpc>
              <a:spcBef>
                <a:spcPct val="0"/>
              </a:spcBef>
              <a:spcAft>
                <a:spcPct val="0"/>
              </a:spcAft>
            </a:pPr>
            <a:r>
              <a:rPr lang="en-US" sz="1800">
                <a:latin typeface="宋体" panose="02010600030101010101" pitchFamily="2" charset="-122"/>
                <a:ea typeface="宋体" panose="02010600030101010101" pitchFamily="2" charset="-122"/>
              </a:rPr>
              <a:t>  </a:t>
            </a:r>
            <a:r>
              <a:rPr sz="1800">
                <a:latin typeface="宋体" panose="02010600030101010101" pitchFamily="2" charset="-122"/>
                <a:ea typeface="宋体" panose="02010600030101010101" pitchFamily="2" charset="-122"/>
              </a:rPr>
              <a:t>将类组织成包的目的是为了更好地引用包中的类，通常一个类只能引用与它在同一个包中的类。如果需要使用其它包中的public类，通常可使用以下方式：</a:t>
            </a:r>
            <a:endParaRPr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sz="1800">
                <a:latin typeface="宋体" panose="02010600030101010101" pitchFamily="2" charset="-122"/>
                <a:ea typeface="宋体" panose="02010600030101010101" pitchFamily="2" charset="-122"/>
              </a:rPr>
              <a:t>1.加载需要使用的类</a:t>
            </a:r>
            <a:endParaRPr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sz="1800">
                <a:latin typeface="宋体" panose="02010600030101010101" pitchFamily="2" charset="-122"/>
                <a:ea typeface="宋体" panose="02010600030101010101" pitchFamily="2" charset="-122"/>
              </a:rPr>
              <a:t>在程序文件的开始部分利用import语句将需要使用的整个类加载到当前程序中，这样在程序中需要引用这个类的地方就不需再使用包名作为前缀。如：</a:t>
            </a:r>
            <a:endParaRPr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sz="1800">
                <a:latin typeface="宋体" panose="02010600030101010101" pitchFamily="2" charset="-122"/>
                <a:ea typeface="宋体" panose="02010600030101010101" pitchFamily="2" charset="-122"/>
              </a:rPr>
              <a:t>import Java.util.ArrayList;//导入处理数组的包</a:t>
            </a:r>
            <a:endParaRPr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sz="1800">
                <a:latin typeface="宋体" panose="02010600030101010101" pitchFamily="2" charset="-122"/>
                <a:ea typeface="宋体" panose="02010600030101010101" pitchFamily="2" charset="-122"/>
              </a:rPr>
              <a:t>ArrayList a = new ArrayList();//新建ArrayList的实例</a:t>
            </a:r>
            <a:endParaRPr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sz="1800">
                <a:latin typeface="宋体" panose="02010600030101010101" pitchFamily="2" charset="-122"/>
                <a:ea typeface="宋体" panose="02010600030101010101" pitchFamily="2" charset="-122"/>
              </a:rPr>
              <a:t>2.加载整个包</a:t>
            </a:r>
            <a:endParaRPr sz="18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sz="1800">
                <a:latin typeface="宋体" panose="02010600030101010101" pitchFamily="2" charset="-122"/>
                <a:ea typeface="宋体" panose="02010600030101010101" pitchFamily="2" charset="-122"/>
              </a:rPr>
              <a:t>有些情况下可以直接利用import语句引入整个包，此时这个包中的所有类都会被加载到当前程序中，凡是用这个包中的类，都不需要再使用包名前缀。加载整个包的import语句可以写为：import Java.util.*;</a:t>
            </a:r>
            <a:endParaRPr sz="1800">
              <a:latin typeface="宋体" panose="02010600030101010101" pitchFamily="2" charset="-122"/>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79085" y="3500755"/>
            <a:ext cx="6122035"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a:latin typeface="微软雅黑" panose="020B0503020204020204" pitchFamily="34" charset="-122"/>
                <a:ea typeface="微软雅黑" panose="020B0503020204020204" pitchFamily="34" charset="-122"/>
                <a:cs typeface="微软雅黑" panose="020B0503020204020204" pitchFamily="34" charset="-122"/>
                <a:sym typeface="+mn-ea"/>
              </a:rPr>
              <a:t>访问学生类的公有属性hobby、sex、保护类型age、私有属性name。</a:t>
            </a:r>
            <a:endParaRPr>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1094105" y="2131695"/>
            <a:ext cx="10746105" cy="1238885"/>
          </a:xfrm>
          <a:prstGeom prst="rect">
            <a:avLst/>
          </a:prstGeom>
          <a:noFill/>
        </p:spPr>
        <p:txBody>
          <a:bodyPr wrap="square" rtlCol="0" anchor="t">
            <a:noAutofit/>
          </a:bodyPr>
          <a:lstStyle/>
          <a:p>
            <a:r>
              <a:rPr sz="2000">
                <a:latin typeface="+mn-ea"/>
                <a:ea typeface="+mn-ea"/>
                <a:cs typeface="+mn-ea"/>
                <a:sym typeface="+mn-ea"/>
              </a:rPr>
              <a:t>结合任务6-4中的描述和知识链接中访问控制权限知识点可以得到文件6-4所示的代码：</a:t>
            </a:r>
            <a:endParaRPr sz="2000">
              <a:latin typeface="+mn-ea"/>
              <a:ea typeface="+mn-ea"/>
              <a:cs typeface="+mn-ea"/>
              <a:sym typeface="+mn-ea"/>
            </a:endParaRPr>
          </a:p>
          <a:p>
            <a:r>
              <a:rPr lang="en-US" sz="2000">
                <a:latin typeface="+mn-ea"/>
                <a:ea typeface="+mn-ea"/>
                <a:cs typeface="+mn-ea"/>
                <a:sym typeface="+mn-ea"/>
              </a:rPr>
              <a:t>     </a:t>
            </a:r>
            <a:r>
              <a:rPr sz="2000">
                <a:latin typeface="+mn-ea"/>
                <a:ea typeface="+mn-ea"/>
                <a:cs typeface="+mn-ea"/>
                <a:sym typeface="+mn-ea"/>
              </a:rPr>
              <a:t>文件6-4 Example03.Java</a:t>
            </a:r>
            <a:endParaRPr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410845" y="2924810"/>
            <a:ext cx="6329680" cy="465455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 public class Student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2	private String name="李红";//私有属性</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只能在本类中进行访问</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3	protected int age;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4	public String sex;</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5	public String hobby;</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6	public String toString(){</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7		return name+" "+age+" "+sex+" "+hobby;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8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9	}</a:t>
            </a:r>
            <a:endParaRPr lang="en-US" altLang="zh-CN" sz="2000">
              <a:latin typeface="Times New Roman" panose="02020603050405020304" charset="0"/>
              <a:cs typeface="Times New Roman" panose="02020603050405020304" charset="0"/>
            </a:endParaRPr>
          </a:p>
        </p:txBody>
      </p:sp>
      <p:sp>
        <p:nvSpPr>
          <p:cNvPr id="8" name="文本框 7"/>
          <p:cNvSpPr txBox="1"/>
          <p:nvPr/>
        </p:nvSpPr>
        <p:spPr>
          <a:xfrm>
            <a:off x="6386830" y="3068955"/>
            <a:ext cx="5958205" cy="2861310"/>
          </a:xfrm>
          <a:prstGeom prst="rect">
            <a:avLst/>
          </a:prstGeom>
        </p:spPr>
        <p:txBody>
          <a:bodyPr wrap="square">
            <a:spAutoFit/>
          </a:bodyPr>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10 public class Example03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11  public static void main(String[] args)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12	 Student stu1=new Student();</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13	 stu1.age=18;</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14	 stu1.sex="女";</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15	 stu1.hobby="唱歌";</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16	 System.out.println(stu1.toString());</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17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18 }</a:t>
            </a:r>
            <a:endParaRPr sz="200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运行结果</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332990"/>
            <a:ext cx="5080000" cy="553085"/>
          </a:xfrm>
          <a:prstGeom prst="rect">
            <a:avLst/>
          </a:prstGeom>
        </p:spPr>
        <p:txBody>
          <a:bodyPr>
            <a:spAutoFit/>
          </a:bodyPr>
          <a:p>
            <a:pPr marL="0" indent="266700" algn="just" defTabSz="266700">
              <a:lnSpc>
                <a:spcPct val="150000"/>
              </a:lnSpc>
              <a:spcBef>
                <a:spcPct val="0"/>
              </a:spcBef>
              <a:spcAft>
                <a:spcPct val="0"/>
              </a:spcAft>
            </a:pPr>
            <a:r>
              <a:rPr lang="zh-CN" altLang="en-US" sz="2000">
                <a:latin typeface="宋体" panose="02010600030101010101" pitchFamily="2" charset="-122"/>
                <a:ea typeface="宋体" panose="02010600030101010101" pitchFamily="2" charset="-122"/>
              </a:rPr>
              <a:t>文件</a:t>
            </a:r>
            <a:r>
              <a:rPr lang="en-US" altLang="zh-CN" sz="2000">
                <a:latin typeface="Times New Roman" panose="02020603050405020304"/>
                <a:ea typeface="宋体" panose="02010600030101010101" pitchFamily="2" charset="-122"/>
              </a:rPr>
              <a:t>6-4</a:t>
            </a:r>
            <a:r>
              <a:rPr lang="zh-CN" altLang="en-US" sz="2000">
                <a:latin typeface="宋体" panose="02010600030101010101" pitchFamily="2" charset="-122"/>
                <a:ea typeface="宋体" panose="02010600030101010101" pitchFamily="2" charset="-122"/>
              </a:rPr>
              <a:t>的运行结果如图</a:t>
            </a:r>
            <a:r>
              <a:rPr lang="en-US" altLang="zh-CN" sz="2000">
                <a:latin typeface="Times New Roman" panose="02020603050405020304"/>
                <a:ea typeface="宋体" panose="02010600030101010101" pitchFamily="2" charset="-122"/>
              </a:rPr>
              <a:t>6-4</a:t>
            </a:r>
            <a:r>
              <a:rPr lang="zh-CN" altLang="en-US" sz="2000">
                <a:latin typeface="宋体" panose="02010600030101010101" pitchFamily="2" charset="-122"/>
                <a:ea typeface="宋体" panose="02010600030101010101" pitchFamily="2" charset="-122"/>
              </a:rPr>
              <a:t>所示。</a:t>
            </a:r>
            <a:endParaRPr lang="zh-CN" altLang="en-US" sz="2000">
              <a:latin typeface="宋体" panose="02010600030101010101" pitchFamily="2" charset="-122"/>
              <a:ea typeface="宋体" panose="02010600030101010101" pitchFamily="2" charset="-122"/>
            </a:endParaRPr>
          </a:p>
        </p:txBody>
      </p:sp>
      <p:pic>
        <p:nvPicPr>
          <p:cNvPr id="11" name="图片 10"/>
          <p:cNvPicPr/>
          <p:nvPr/>
        </p:nvPicPr>
        <p:blipFill>
          <a:blip r:embed="rId3"/>
          <a:stretch>
            <a:fillRect/>
          </a:stretch>
        </p:blipFill>
        <p:spPr>
          <a:xfrm>
            <a:off x="2498725" y="2997200"/>
            <a:ext cx="4187190" cy="850265"/>
          </a:xfrm>
          <a:prstGeom prst="rect">
            <a:avLst/>
          </a:prstGeom>
        </p:spPr>
      </p:pic>
      <p:sp>
        <p:nvSpPr>
          <p:cNvPr id="12" name="文本框 11"/>
          <p:cNvSpPr txBox="1"/>
          <p:nvPr/>
        </p:nvSpPr>
        <p:spPr>
          <a:xfrm>
            <a:off x="2570480" y="4076700"/>
            <a:ext cx="3392805" cy="512445"/>
          </a:xfrm>
          <a:prstGeom prst="rect">
            <a:avLst/>
          </a:prstGeom>
        </p:spPr>
        <p:txBody>
          <a:bodyPr>
            <a:noAutofit/>
          </a:bodyPr>
          <a:p>
            <a:r>
              <a:rPr lang="zh-CN" altLang="en-US" sz="1800">
                <a:latin typeface="宋体" panose="02010600030101010101" pitchFamily="2" charset="-122"/>
                <a:ea typeface="宋体" panose="02010600030101010101" pitchFamily="2" charset="-122"/>
              </a:rPr>
              <a:t>图</a:t>
            </a:r>
            <a:r>
              <a:rPr lang="en-US" altLang="zh-CN" sz="1800">
                <a:latin typeface="Times New Roman" panose="02020603050405020304"/>
                <a:ea typeface="宋体" panose="02010600030101010101" pitchFamily="2" charset="-122"/>
              </a:rPr>
              <a:t>6-4 </a:t>
            </a:r>
            <a:r>
              <a:rPr lang="zh-CN" altLang="en-US" sz="1800">
                <a:latin typeface="宋体" panose="02010600030101010101" pitchFamily="2" charset="-122"/>
                <a:ea typeface="宋体" panose="02010600030101010101" pitchFamily="2" charset="-122"/>
              </a:rPr>
              <a:t>文件</a:t>
            </a:r>
            <a:r>
              <a:rPr lang="en-US" altLang="zh-CN" sz="1800">
                <a:latin typeface="Times New Roman" panose="02020603050405020304"/>
                <a:ea typeface="宋体" panose="02010600030101010101" pitchFamily="2" charset="-122"/>
              </a:rPr>
              <a:t>6-4</a:t>
            </a:r>
            <a:r>
              <a:rPr lang="zh-CN" altLang="en-US" sz="1800">
                <a:latin typeface="宋体" panose="02010600030101010101" pitchFamily="2" charset="-122"/>
                <a:ea typeface="宋体" panose="02010600030101010101" pitchFamily="2" charset="-122"/>
              </a:rPr>
              <a:t>的运行结果</a:t>
            </a:r>
            <a:endParaRPr lang="zh-CN" altLang="en-US" sz="1800">
              <a:latin typeface="宋体" panose="02010600030101010101" pitchFamily="2" charset="-122"/>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说明</a:t>
            </a:r>
            <a:endParaRPr lang="zh-CN" sz="2600" b="1">
              <a:solidFill>
                <a:schemeClr val="accent1">
                  <a:lumMod val="75000"/>
                </a:schemeClr>
              </a:solidFill>
            </a:endParaRPr>
          </a:p>
        </p:txBody>
      </p:sp>
      <p:sp>
        <p:nvSpPr>
          <p:cNvPr id="3" name="文本框 2"/>
          <p:cNvSpPr txBox="1"/>
          <p:nvPr/>
        </p:nvSpPr>
        <p:spPr>
          <a:xfrm>
            <a:off x="1094105" y="2131695"/>
            <a:ext cx="10746105" cy="1238885"/>
          </a:xfrm>
          <a:prstGeom prst="rect">
            <a:avLst/>
          </a:prstGeom>
          <a:noFill/>
        </p:spPr>
        <p:txBody>
          <a:bodyPr wrap="square" rtlCol="0" anchor="t">
            <a:noAutofit/>
          </a:bodyPr>
          <a:lstStyle/>
          <a:p>
            <a:r>
              <a:rPr sz="2000">
                <a:latin typeface="+mn-ea"/>
                <a:ea typeface="+mn-ea"/>
                <a:cs typeface="+mn-ea"/>
                <a:sym typeface="+mn-ea"/>
              </a:rPr>
              <a:t>结合任务6-4中的描述和知识链接中访问控制权限知识点可以得到文件6-4所示的代码：</a:t>
            </a:r>
            <a:endParaRPr sz="2000">
              <a:latin typeface="+mn-ea"/>
              <a:ea typeface="+mn-ea"/>
              <a:cs typeface="+mn-ea"/>
              <a:sym typeface="+mn-ea"/>
            </a:endParaRPr>
          </a:p>
          <a:p>
            <a:r>
              <a:rPr lang="en-US" sz="2000">
                <a:latin typeface="+mn-ea"/>
                <a:ea typeface="+mn-ea"/>
                <a:cs typeface="+mn-ea"/>
                <a:sym typeface="+mn-ea"/>
              </a:rPr>
              <a:t>     </a:t>
            </a:r>
            <a:r>
              <a:rPr sz="2000">
                <a:latin typeface="+mn-ea"/>
                <a:ea typeface="+mn-ea"/>
                <a:cs typeface="+mn-ea"/>
                <a:sym typeface="+mn-ea"/>
              </a:rPr>
              <a:t>文件6-4 Example03.Java</a:t>
            </a:r>
            <a:endParaRPr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3</a:t>
              </a:r>
              <a:endParaRPr lang="en-US"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410845" y="2924810"/>
            <a:ext cx="6329680" cy="465455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1public class Student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2	private String 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3	protected int age;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4	public String sex;</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5	public String hobby;</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6	public String toString(){</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7		return name+" "+age+" "+sex+" "+hobby;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8}</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9	}</a:t>
            </a:r>
            <a:endParaRPr lang="en-US" altLang="zh-CN" sz="2000">
              <a:latin typeface="Times New Roman" panose="02020603050405020304" charset="0"/>
              <a:cs typeface="Times New Roman" panose="02020603050405020304" charset="0"/>
            </a:endParaRPr>
          </a:p>
        </p:txBody>
      </p:sp>
      <p:sp>
        <p:nvSpPr>
          <p:cNvPr id="8" name="文本框 7"/>
          <p:cNvSpPr txBox="1"/>
          <p:nvPr/>
        </p:nvSpPr>
        <p:spPr>
          <a:xfrm>
            <a:off x="6386830" y="3068955"/>
            <a:ext cx="5958205" cy="3169285"/>
          </a:xfrm>
          <a:prstGeom prst="rect">
            <a:avLst/>
          </a:prstGeom>
        </p:spPr>
        <p:txBody>
          <a:bodyPr wrap="square">
            <a:spAutoFit/>
          </a:bodyPr>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10 public class Example03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11 public static void main(String[] args)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12  Student stu1=new Student();</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13  stu1.name ="李红";</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14	 stu1.age=18;</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15	 stu1.sex="女";</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16	 stu1.hobby="唱歌";</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17	 System.out.println(stu1.toString());</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18	}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19}</a:t>
            </a:r>
            <a:endParaRPr sz="200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运行结果</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4</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74445" y="2277110"/>
            <a:ext cx="9518015" cy="1014730"/>
          </a:xfrm>
          <a:prstGeom prst="rect">
            <a:avLst/>
          </a:prstGeom>
        </p:spPr>
        <p:txBody>
          <a:bodyPr wrap="square">
            <a:spAutoFit/>
          </a:bodyPr>
          <a:p>
            <a:pPr marL="0" indent="266700" algn="just" defTabSz="266700">
              <a:lnSpc>
                <a:spcPct val="150000"/>
              </a:lnSpc>
              <a:spcBef>
                <a:spcPct val="0"/>
              </a:spcBef>
              <a:spcAft>
                <a:spcPct val="0"/>
              </a:spcAft>
            </a:pPr>
            <a:r>
              <a:rPr sz="2000">
                <a:ea typeface="宋体" panose="02010600030101010101" pitchFamily="2" charset="-122"/>
              </a:rPr>
              <a:t>运行会出现以下错误提示：The field Student.name is not visible，即name属性不能在Example03类中被访问。</a:t>
            </a:r>
            <a:endParaRPr sz="2000">
              <a:ea typeface="宋体" panose="02010600030101010101" pitchFamily="2" charset="-122"/>
            </a:endParaRPr>
          </a:p>
        </p:txBody>
      </p:sp>
      <p:sp>
        <p:nvSpPr>
          <p:cNvPr id="12" name="文本框 11"/>
          <p:cNvSpPr txBox="1"/>
          <p:nvPr/>
        </p:nvSpPr>
        <p:spPr>
          <a:xfrm>
            <a:off x="3794760" y="4869180"/>
            <a:ext cx="3392805" cy="512445"/>
          </a:xfrm>
          <a:prstGeom prst="rect">
            <a:avLst/>
          </a:prstGeom>
        </p:spPr>
        <p:txBody>
          <a:bodyPr>
            <a:noAutofit/>
          </a:bodyPr>
          <a:p>
            <a:pPr algn="ctr"/>
            <a:r>
              <a:rPr sz="2000">
                <a:ea typeface="宋体" panose="02010600030101010101" pitchFamily="2" charset="-122"/>
              </a:rPr>
              <a:t>图6-5 文件6-5的运行结果</a:t>
            </a:r>
            <a:endParaRPr sz="2000">
              <a:ea typeface="宋体" panose="02010600030101010101" pitchFamily="2" charset="-122"/>
            </a:endParaRPr>
          </a:p>
        </p:txBody>
      </p:sp>
      <p:pic>
        <p:nvPicPr>
          <p:cNvPr id="78" name="图片 3"/>
          <p:cNvPicPr>
            <a:picLocks noChangeAspect="1"/>
          </p:cNvPicPr>
          <p:nvPr/>
        </p:nvPicPr>
        <p:blipFill>
          <a:blip r:embed="rId3"/>
          <a:srcRect t="5491"/>
          <a:stretch>
            <a:fillRect/>
          </a:stretch>
        </p:blipFill>
        <p:spPr>
          <a:xfrm>
            <a:off x="1274445" y="3500755"/>
            <a:ext cx="10175875" cy="1125220"/>
          </a:xfrm>
          <a:prstGeom prst="rect">
            <a:avLst/>
          </a:prstGeom>
          <a:noFill/>
          <a:ln>
            <a:solidFill>
              <a:schemeClr val="tx1"/>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
          <p:cNvSpPr>
            <a:spLocks noChangeArrowheads="1"/>
          </p:cNvSpPr>
          <p:nvPr/>
        </p:nvSpPr>
        <p:spPr bwMode="auto">
          <a:xfrm>
            <a:off x="0" y="0"/>
            <a:ext cx="1219835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7171" name="Picture 4" descr="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205038"/>
            <a:ext cx="1219835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8" descr="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938" y="4797425"/>
            <a:ext cx="167957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文本框 1"/>
          <p:cNvSpPr txBox="1">
            <a:spLocks noChangeArrowheads="1"/>
          </p:cNvSpPr>
          <p:nvPr/>
        </p:nvSpPr>
        <p:spPr bwMode="auto">
          <a:xfrm>
            <a:off x="4732338" y="3016250"/>
            <a:ext cx="2236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4000">
                <a:solidFill>
                  <a:schemeClr val="bg1"/>
                </a:solidFill>
                <a:latin typeface="微软雅黑" panose="020B0503020204020204" pitchFamily="34" charset="-122"/>
                <a:ea typeface="微软雅黑" panose="020B0503020204020204" pitchFamily="34" charset="-122"/>
              </a:rPr>
              <a:t>感谢关注</a:t>
            </a:r>
            <a:endParaRPr lang="zh-CN" altLang="en-US" sz="40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tags/tag1.xml><?xml version="1.0" encoding="utf-8"?>
<p:tagLst xmlns:p="http://schemas.openxmlformats.org/presentationml/2006/main">
  <p:tag name="KSO_WM_DIAGRAM_VIRTUALLY_FRAME" val="{&quot;height&quot;:185.62503937007872,&quot;left&quot;:0,&quot;top&quot;:174,&quot;width&quot;:960.6250393700788}"/>
</p:tagLst>
</file>

<file path=ppt/tags/tag2.xml><?xml version="1.0" encoding="utf-8"?>
<p:tagLst xmlns:p="http://schemas.openxmlformats.org/presentationml/2006/main">
  <p:tag name="KSO_WM_DIAGRAM_VIRTUALLY_FRAME" val="{&quot;height&quot;:186.02503937007873,&quot;left&quot;:0,&quot;top&quot;:173.6,&quot;width&quot;:960.6250393700788}"/>
</p:tagLst>
</file>

<file path=ppt/tags/tag3.xml><?xml version="1.0" encoding="utf-8"?>
<p:tagLst xmlns:p="http://schemas.openxmlformats.org/presentationml/2006/main">
  <p:tag name="KSO_WM_DIAGRAM_VIRTUALLY_FRAME" val="{&quot;height&quot;:186.02503937007873,&quot;left&quot;:0,&quot;top&quot;:173.6,&quot;width&quot;:960.6250393700788}"/>
</p:tagLst>
</file>

<file path=ppt/tags/tag4.xml><?xml version="1.0" encoding="utf-8"?>
<p:tagLst xmlns:p="http://schemas.openxmlformats.org/presentationml/2006/main">
  <p:tag name="KSO_WM_DIAGRAM_VIRTUALLY_FRAME" val="{&quot;height&quot;:186.02503937007873,&quot;left&quot;:0,&quot;top&quot;:173.6,&quot;width&quot;:960.6250393700788}"/>
</p:tagLst>
</file>

<file path=ppt/tags/tag5.xml><?xml version="1.0" encoding="utf-8"?>
<p:tagLst xmlns:p="http://schemas.openxmlformats.org/presentationml/2006/main">
  <p:tag name="KSO_WM_DIAGRAM_VIRTUALLY_FRAME" val="{&quot;height&quot;:186.02503937007873,&quot;left&quot;:0,&quot;top&quot;:173.6,&quot;width&quot;:960.6250393700788}"/>
</p:tagLst>
</file>

<file path=ppt/tags/tag6.xml><?xml version="1.0" encoding="utf-8"?>
<p:tagLst xmlns:p="http://schemas.openxmlformats.org/presentationml/2006/main">
  <p:tag name="KSO_WM_DIAGRAM_VIRTUALLY_FRAME" val="{&quot;height&quot;:186.02503937007873,&quot;left&quot;:0,&quot;top&quot;:173.6,&quot;width&quot;:960.6250393700788}"/>
</p:tagLst>
</file>

<file path=ppt/tags/tag7.xml><?xml version="1.0" encoding="utf-8"?>
<p:tagLst xmlns:p="http://schemas.openxmlformats.org/presentationml/2006/main">
  <p:tag name="KSO_WM_DIAGRAM_VIRTUALLY_FRAME" val="{&quot;height&quot;:186.02503937007873,&quot;left&quot;:0,&quot;top&quot;:173.6,&quot;width&quot;:960.6250393700788}"/>
</p:tagLst>
</file>

<file path=ppt/tags/tag8.xml><?xml version="1.0" encoding="utf-8"?>
<p:tagLst xmlns:p="http://schemas.openxmlformats.org/presentationml/2006/main">
  <p:tag name="KSO_WM_DIAGRAM_VIRTUALLY_FRAME" val="{&quot;height&quot;:186.02503937007873,&quot;left&quot;:0,&quot;top&quot;:173.6,&quot;width&quot;:960.6250393700788}"/>
</p:tagLst>
</file>

<file path=ppt/tags/tag9.xml><?xml version="1.0" encoding="utf-8"?>
<p:tagLst xmlns:p="http://schemas.openxmlformats.org/presentationml/2006/main">
  <p:tag name="KSO_WM_DIAGRAM_VIRTUALLY_FRAME" val="{&quot;height&quot;:186.02503937007873,&quot;left&quot;:0,&quot;top&quot;:173.6,&quot;width&quot;:960.6250393700788}"/>
</p:tagLst>
</file>

<file path=ppt/tags/tag10.xml><?xml version="1.0" encoding="utf-8"?>
<p:tagLst xmlns:p="http://schemas.openxmlformats.org/presentationml/2006/main">
  <p:tag name="KSO_WM_DIAGRAM_VIRTUALLY_FRAME" val="{&quot;height&quot;:186.02503937007873,&quot;left&quot;:0,&quot;top&quot;:173.6,&quot;width&quot;:960.6250393700788}"/>
</p:tagLst>
</file>

<file path=ppt/tags/tag11.xml><?xml version="1.0" encoding="utf-8"?>
<p:tagLst xmlns:p="http://schemas.openxmlformats.org/presentationml/2006/main">
  <p:tag name="KSO_WM_DIAGRAM_VIRTUALLY_FRAME" val="{&quot;height&quot;:186.02503937007873,&quot;left&quot;:0,&quot;top&quot;:173.6,&quot;width&quot;:960.6250393700788}"/>
</p:tagLst>
</file>

<file path=ppt/tags/tag12.xml><?xml version="1.0" encoding="utf-8"?>
<p:tagLst xmlns:p="http://schemas.openxmlformats.org/presentationml/2006/main">
  <p:tag name="KSO_WM_DIAGRAM_VIRTUALLY_FRAME" val="{&quot;height&quot;:186.02503937007873,&quot;left&quot;:0,&quot;top&quot;:173.6,&quot;width&quot;:960.6250393700788}"/>
</p:tagLst>
</file>

<file path=ppt/tags/tag13.xml><?xml version="1.0" encoding="utf-8"?>
<p:tagLst xmlns:p="http://schemas.openxmlformats.org/presentationml/2006/main">
  <p:tag name="KSO_WM_DIAGRAM_VIRTUALLY_FRAME" val="{&quot;height&quot;:186.02503937007873,&quot;left&quot;:0,&quot;top&quot;:173.6,&quot;width&quot;:960.6250393700788}"/>
</p:tagLst>
</file>

<file path=ppt/tags/tag14.xml><?xml version="1.0" encoding="utf-8"?>
<p:tagLst xmlns:p="http://schemas.openxmlformats.org/presentationml/2006/main">
  <p:tag name="KSO_WM_DIAGRAM_VIRTUALLY_FRAME" val="{&quot;height&quot;:185.62503937007872,&quot;left&quot;:0,&quot;top&quot;:174,&quot;width&quot;:960.6250393700788}"/>
</p:tagLst>
</file>

<file path=ppt/tags/tag15.xml><?xml version="1.0" encoding="utf-8"?>
<p:tagLst xmlns:p="http://schemas.openxmlformats.org/presentationml/2006/main">
  <p:tag name="KSO_WM_DIAGRAM_VIRTUALLY_FRAME" val="{&quot;height&quot;:185.62503937007872,&quot;left&quot;:0,&quot;top&quot;:174,&quot;width&quot;:960.6250393700788}"/>
</p:tagLst>
</file>

<file path=ppt/tags/tag16.xml><?xml version="1.0" encoding="utf-8"?>
<p:tagLst xmlns:p="http://schemas.openxmlformats.org/presentationml/2006/main">
  <p:tag name="KSO_WM_DIAGRAM_VIRTUALLY_FRAME" val="{&quot;height&quot;:185.62503937007872,&quot;left&quot;:0,&quot;top&quot;:174,&quot;width&quot;:960.6250393700788}"/>
</p:tagLst>
</file>

<file path=ppt/tags/tag17.xml><?xml version="1.0" encoding="utf-8"?>
<p:tagLst xmlns:p="http://schemas.openxmlformats.org/presentationml/2006/main">
  <p:tag name="KSO_WM_DIAGRAM_VIRTUALLY_FRAME" val="{&quot;height&quot;:185.62503937007872,&quot;left&quot;:0,&quot;top&quot;:174,&quot;width&quot;:960.6250393700788}"/>
</p:tagLst>
</file>

<file path=ppt/tags/tag18.xml><?xml version="1.0" encoding="utf-8"?>
<p:tagLst xmlns:p="http://schemas.openxmlformats.org/presentationml/2006/main">
  <p:tag name="KSO_WM_DIAGRAM_VIRTUALLY_FRAME" val="{&quot;height&quot;:185.62503937007872,&quot;left&quot;:0,&quot;top&quot;:174,&quot;width&quot;:960.6250393700788}"/>
</p:tagLst>
</file>

<file path=ppt/tags/tag19.xml><?xml version="1.0" encoding="utf-8"?>
<p:tagLst xmlns:p="http://schemas.openxmlformats.org/presentationml/2006/main">
  <p:tag name="KSO_WM_DIAGRAM_VIRTUALLY_FRAME" val="{&quot;height&quot;:185.62503937007872,&quot;left&quot;:0,&quot;top&quot;:174,&quot;width&quot;:960.6250393700788}"/>
</p:tagLst>
</file>

<file path=ppt/tags/tag20.xml><?xml version="1.0" encoding="utf-8"?>
<p:tagLst xmlns:p="http://schemas.openxmlformats.org/presentationml/2006/main">
  <p:tag name="TABLE_ENDDRAG_ORIGIN_RECT" val="514*215"/>
  <p:tag name="TABLE_ENDDRAG_RECT" val="253*246*514*215"/>
</p:tagLst>
</file>

<file path=ppt/tags/tag21.xml><?xml version="1.0" encoding="utf-8"?>
<p:tagLst xmlns:p="http://schemas.openxmlformats.org/presentationml/2006/main">
  <p:tag name="KSO_WM_DIAGRAM_VIRTUALLY_FRAME" val="{&quot;height&quot;:185.62503937007872,&quot;left&quot;:0,&quot;top&quot;:174,&quot;width&quot;:960.6250393700788}"/>
</p:tagLst>
</file>

<file path=ppt/tags/tag22.xml><?xml version="1.0" encoding="utf-8"?>
<p:tagLst xmlns:p="http://schemas.openxmlformats.org/presentationml/2006/main">
  <p:tag name="KSO_WM_DIAGRAM_VIRTUALLY_FRAME" val="{&quot;height&quot;:185.62503937007872,&quot;left&quot;:0,&quot;top&quot;:174,&quot;width&quot;:960.6250393700788}"/>
</p:tagLst>
</file>

<file path=ppt/tags/tag23.xml><?xml version="1.0" encoding="utf-8"?>
<p:tagLst xmlns:p="http://schemas.openxmlformats.org/presentationml/2006/main">
  <p:tag name="KSO_WM_DIAGRAM_VIRTUALLY_FRAME" val="{&quot;height&quot;:185.62503937007872,&quot;left&quot;:0,&quot;top&quot;:174,&quot;width&quot;:960.6250393700788}"/>
</p:tagLst>
</file>

<file path=ppt/tags/tag24.xml><?xml version="1.0" encoding="utf-8"?>
<p:tagLst xmlns:p="http://schemas.openxmlformats.org/presentationml/2006/main">
  <p:tag name="KSO_WM_DIAGRAM_VIRTUALLY_FRAME" val="{&quot;height&quot;:185.62503937007872,&quot;left&quot;:0,&quot;top&quot;:174,&quot;width&quot;:960.6250393700788}"/>
</p:tagLst>
</file>

<file path=ppt/tags/tag25.xml><?xml version="1.0" encoding="utf-8"?>
<p:tagLst xmlns:p="http://schemas.openxmlformats.org/presentationml/2006/main">
  <p:tag name="KSO_WM_DIAGRAM_VIRTUALLY_FRAME" val="{&quot;height&quot;:185.62503937007872,&quot;left&quot;:0,&quot;top&quot;:174,&quot;width&quot;:960.6250393700788}"/>
</p:tagLst>
</file>

<file path=ppt/tags/tag26.xml><?xml version="1.0" encoding="utf-8"?>
<p:tagLst xmlns:p="http://schemas.openxmlformats.org/presentationml/2006/main">
  <p:tag name="KSO_WM_DIAGRAM_VIRTUALLY_FRAME" val="{&quot;height&quot;:185.62503937007872,&quot;left&quot;:0,&quot;top&quot;:174,&quot;width&quot;:960.6250393700788}"/>
</p:tagLst>
</file>

<file path=ppt/tags/tag27.xml><?xml version="1.0" encoding="utf-8"?>
<p:tagLst xmlns:p="http://schemas.openxmlformats.org/presentationml/2006/main">
  <p:tag name="KSO_WM_DIAGRAM_VIRTUALLY_FRAME" val="{&quot;height&quot;:185.62503937007872,&quot;left&quot;:0,&quot;top&quot;:174,&quot;width&quot;:960.6250393700788}"/>
</p:tagLst>
</file>

<file path=ppt/tags/tag28.xml><?xml version="1.0" encoding="utf-8"?>
<p:tagLst xmlns:p="http://schemas.openxmlformats.org/presentationml/2006/main">
  <p:tag name="KSO_WM_DIAGRAM_VIRTUALLY_FRAME" val="{&quot;height&quot;:185.62503937007872,&quot;left&quot;:0,&quot;top&quot;:174,&quot;width&quot;:960.6250393700788}"/>
</p:tagLst>
</file>

<file path=ppt/tags/tag29.xml><?xml version="1.0" encoding="utf-8"?>
<p:tagLst xmlns:p="http://schemas.openxmlformats.org/presentationml/2006/main">
  <p:tag name="KSO_WM_DIAGRAM_VIRTUALLY_FRAME" val="{&quot;height&quot;:185.62503937007872,&quot;left&quot;:0,&quot;top&quot;:174,&quot;width&quot;:960.6250393700788}"/>
</p:tagLst>
</file>

<file path=ppt/tags/tag30.xml><?xml version="1.0" encoding="utf-8"?>
<p:tagLst xmlns:p="http://schemas.openxmlformats.org/presentationml/2006/main">
  <p:tag name="KSO_WM_DIAGRAM_VIRTUALLY_FRAME" val="{&quot;height&quot;:185.62503937007872,&quot;left&quot;:0,&quot;top&quot;:174,&quot;width&quot;:960.6250393700788}"/>
</p:tagLst>
</file>

<file path=ppt/tags/tag31.xml><?xml version="1.0" encoding="utf-8"?>
<p:tagLst xmlns:p="http://schemas.openxmlformats.org/presentationml/2006/main">
  <p:tag name="KSO_WM_DIAGRAM_VIRTUALLY_FRAME" val="{&quot;height&quot;:185.62503937007872,&quot;left&quot;:0,&quot;top&quot;:174,&quot;width&quot;:960.6250393700788}"/>
</p:tagLst>
</file>

<file path=ppt/tags/tag32.xml><?xml version="1.0" encoding="utf-8"?>
<p:tagLst xmlns:p="http://schemas.openxmlformats.org/presentationml/2006/main">
  <p:tag name="KSO_WM_DIAGRAM_VIRTUALLY_FRAME" val="{&quot;height&quot;:185.62503937007872,&quot;left&quot;:0,&quot;top&quot;:174,&quot;width&quot;:960.6250393700788}"/>
</p:tagLst>
</file>

<file path=ppt/tags/tag33.xml><?xml version="1.0" encoding="utf-8"?>
<p:tagLst xmlns:p="http://schemas.openxmlformats.org/presentationml/2006/main">
  <p:tag name="KSO_WM_DIAGRAM_VIRTUALLY_FRAME" val="{&quot;height&quot;:185.62503937007872,&quot;left&quot;:0,&quot;top&quot;:174,&quot;width&quot;:960.6250393700788}"/>
</p:tagLst>
</file>

<file path=ppt/tags/tag34.xml><?xml version="1.0" encoding="utf-8"?>
<p:tagLst xmlns:p="http://schemas.openxmlformats.org/presentationml/2006/main">
  <p:tag name="KSO_WM_DIAGRAM_VIRTUALLY_FRAME" val="{&quot;height&quot;:185.62503937007872,&quot;left&quot;:0,&quot;top&quot;:174,&quot;width&quot;:960.6250393700788}"/>
</p:tagLst>
</file>

<file path=ppt/tags/tag35.xml><?xml version="1.0" encoding="utf-8"?>
<p:tagLst xmlns:p="http://schemas.openxmlformats.org/presentationml/2006/main">
  <p:tag name="KSO_WM_DIAGRAM_VIRTUALLY_FRAME" val="{&quot;height&quot;:185.62503937007872,&quot;left&quot;:0,&quot;top&quot;:174,&quot;width&quot;:960.6250393700788}"/>
</p:tagLst>
</file>

<file path=ppt/tags/tag36.xml><?xml version="1.0" encoding="utf-8"?>
<p:tagLst xmlns:p="http://schemas.openxmlformats.org/presentationml/2006/main">
  <p:tag name="KSO_WM_DIAGRAM_VIRTUALLY_FRAME" val="{&quot;height&quot;:185.62503937007872,&quot;left&quot;:0,&quot;top&quot;:174,&quot;width&quot;:960.6250393700788}"/>
</p:tagLst>
</file>

<file path=ppt/tags/tag37.xml><?xml version="1.0" encoding="utf-8"?>
<p:tagLst xmlns:p="http://schemas.openxmlformats.org/presentationml/2006/main">
  <p:tag name="KSO_WM_DIAGRAM_VIRTUALLY_FRAME" val="{&quot;height&quot;:185.62503937007872,&quot;left&quot;:0,&quot;top&quot;:174,&quot;width&quot;:960.6250393700788}"/>
</p:tagLst>
</file>

<file path=ppt/tags/tag38.xml><?xml version="1.0" encoding="utf-8"?>
<p:tagLst xmlns:p="http://schemas.openxmlformats.org/presentationml/2006/main">
  <p:tag name="KSO_WM_DIAGRAM_VIRTUALLY_FRAME" val="{&quot;height&quot;:185.62503937007872,&quot;left&quot;:0,&quot;top&quot;:174,&quot;width&quot;:960.6250393700788}"/>
</p:tagLst>
</file>

<file path=ppt/tags/tag39.xml><?xml version="1.0" encoding="utf-8"?>
<p:tagLst xmlns:p="http://schemas.openxmlformats.org/presentationml/2006/main">
  <p:tag name="COMMONDATA" val="eyJoZGlkIjoiZjNjMmJiYWQ1NjYxMzU5Y2Q4YWViZjliZTZhYjA5ODEifQ=="/>
  <p:tag name="commondata" val="eyJoZGlkIjoiNjVkZWMxOGJhY2FhZmUwNmY0MTcyMjU1MWFkZGYzMDc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3519</Words>
  <Application>WPS 演示</Application>
  <PresentationFormat>自定义</PresentationFormat>
  <Paragraphs>308</Paragraphs>
  <Slides>18</Slides>
  <Notes>11</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18</vt:i4>
      </vt:variant>
    </vt:vector>
  </HeadingPairs>
  <TitlesOfParts>
    <vt:vector size="41" baseType="lpstr">
      <vt:lpstr>Arial</vt:lpstr>
      <vt:lpstr>宋体</vt:lpstr>
      <vt:lpstr>Wingdings</vt:lpstr>
      <vt:lpstr>Arial Unicode MS</vt:lpstr>
      <vt:lpstr>Calibri</vt:lpstr>
      <vt:lpstr>微软雅黑</vt:lpstr>
      <vt:lpstr>经典繁仿黑</vt:lpstr>
      <vt:lpstr>Impact</vt:lpstr>
      <vt:lpstr>专业字体设计服务/WWW.ZTSGC.COM/</vt:lpstr>
      <vt:lpstr>华康俪金黑W8(P)</vt:lpstr>
      <vt:lpstr>Times New Roman</vt:lpstr>
      <vt:lpstr>Times New Roman</vt:lpstr>
      <vt:lpstr>黑体</vt:lpstr>
      <vt:lpstr>Arial Unicode MS</vt:lpstr>
      <vt:lpstr>等线</vt:lpstr>
      <vt:lpstr>专业字体设计服务/WWW.ZTSGC.COM/</vt:lpstr>
      <vt:lpstr>华康俪金黑W8(P)</vt:lpstr>
      <vt:lpstr>经典繁仿黑</vt:lpstr>
      <vt:lpstr>Wonder Arial</vt:lpstr>
      <vt:lpstr>汉仪中黑繁</vt:lpstr>
      <vt:lpstr>Metrolite 2 Com Roman</vt:lpstr>
      <vt:lpstr>华康俪金黑W8</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丝雨</cp:lastModifiedBy>
  <cp:revision>540</cp:revision>
  <dcterms:created xsi:type="dcterms:W3CDTF">2015-03-26T06:11:00Z</dcterms:created>
  <dcterms:modified xsi:type="dcterms:W3CDTF">2025-12-13T12:35:29Z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BC1B93F63214434BB61717B9EE6625B4_13</vt:lpwstr>
  </property>
</Properties>
</file>