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50" r:id="rId3"/>
  </p:sldMasterIdLst>
  <p:notesMasterIdLst>
    <p:notesMasterId r:id="rId5"/>
  </p:notesMasterIdLst>
  <p:sldIdLst>
    <p:sldId id="2798" r:id="rId4"/>
    <p:sldId id="2784" r:id="rId6"/>
    <p:sldId id="2785" r:id="rId7"/>
    <p:sldId id="2787" r:id="rId8"/>
    <p:sldId id="2786" r:id="rId9"/>
    <p:sldId id="2788" r:id="rId10"/>
    <p:sldId id="2789" r:id="rId11"/>
    <p:sldId id="2790" r:id="rId12"/>
    <p:sldId id="2801" r:id="rId13"/>
    <p:sldId id="2802" r:id="rId14"/>
    <p:sldId id="2800" r:id="rId15"/>
  </p:sldIdLst>
  <p:sldSz cx="12858750" cy="7232650"/>
  <p:notesSz cx="6858000" cy="9144000"/>
  <p:custDataLst>
    <p:tags r:id="rId1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3" userDrawn="1">
          <p15:clr>
            <a:srgbClr val="A4A3A4"/>
          </p15:clr>
        </p15:guide>
        <p15:guide id="2" pos="4050" userDrawn="1">
          <p15:clr>
            <a:srgbClr val="A4A3A4"/>
          </p15:clr>
        </p15:guide>
        <p15:guide id="3" pos="512" userDrawn="1">
          <p15:clr>
            <a:srgbClr val="A4A3A4"/>
          </p15:clr>
        </p15:guide>
        <p15:guide id="5" orient="horz" pos="4183" userDrawn="1">
          <p15:clr>
            <a:srgbClr val="A4A3A4"/>
          </p15:clr>
        </p15:guide>
        <p15:guide id="6" pos="75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212E3C"/>
    <a:srgbClr val="FBBF09"/>
    <a:srgbClr val="EF4232"/>
    <a:srgbClr val="03A9F0"/>
    <a:srgbClr val="FFFFFF"/>
    <a:srgbClr val="FABCA8"/>
    <a:srgbClr val="57562F"/>
    <a:srgbClr val="FBCDBE"/>
    <a:srgbClr val="6B6A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89" autoAdjust="0"/>
    <p:restoredTop sz="92986" autoAdjust="0"/>
  </p:normalViewPr>
  <p:slideViewPr>
    <p:cSldViewPr showGuides="1">
      <p:cViewPr varScale="1">
        <p:scale>
          <a:sx n="69" d="100"/>
          <a:sy n="69" d="100"/>
        </p:scale>
        <p:origin x="-558" y="-96"/>
      </p:cViewPr>
      <p:guideLst>
        <p:guide orient="horz" pos="373"/>
        <p:guide pos="4050"/>
        <p:guide pos="512"/>
        <p:guide orient="horz" pos="4183"/>
        <p:guide pos="7588"/>
      </p:guideLst>
    </p:cSldViewPr>
  </p:slideViewPr>
  <p:outlineViewPr>
    <p:cViewPr>
      <p:scale>
        <a:sx n="100" d="100"/>
        <a:sy n="100" d="100"/>
      </p:scale>
      <p:origin x="0" y="-144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png"/><Relationship Id="rId4" Type="http://schemas.openxmlformats.org/officeDocument/2006/relationships/oleObject" Target="../embeddings/oleObject2.bin"/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84039" y="6703596"/>
            <a:ext cx="2893219" cy="386187"/>
          </a:xfrm>
          <a:prstGeom prst="rect">
            <a:avLst/>
          </a:prstGeom>
        </p:spPr>
        <p:txBody>
          <a:bodyPr/>
          <a:lstStyle/>
          <a:p>
            <a:fld id="{E3AD87B8-9A4B-45E2-BBE5-FB86ADE28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259461" y="6703596"/>
            <a:ext cx="4339828" cy="38618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081492" y="6703596"/>
            <a:ext cx="2893219" cy="386187"/>
          </a:xfrm>
          <a:prstGeom prst="rect">
            <a:avLst/>
          </a:prstGeom>
        </p:spPr>
        <p:txBody>
          <a:bodyPr/>
          <a:lstStyle/>
          <a:p>
            <a:fld id="{37AAA611-6692-4583-86AB-5AB9B972BD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3134148"/>
            <a:ext cx="9965531" cy="48217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9965531" y="3134148"/>
            <a:ext cx="2893219" cy="4821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2" name="AutoShape 4"/>
          <p:cNvSpPr>
            <a:spLocks noChangeArrowheads="1"/>
          </p:cNvSpPr>
          <p:nvPr/>
        </p:nvSpPr>
        <p:spPr bwMode="auto">
          <a:xfrm rot="5400000">
            <a:off x="296924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3" name="AutoShape 5"/>
          <p:cNvSpPr>
            <a:spLocks noChangeArrowheads="1"/>
          </p:cNvSpPr>
          <p:nvPr/>
        </p:nvSpPr>
        <p:spPr bwMode="auto">
          <a:xfrm rot="5400000">
            <a:off x="725549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4" name="AutoShape 6"/>
          <p:cNvSpPr>
            <a:spLocks noChangeArrowheads="1"/>
          </p:cNvSpPr>
          <p:nvPr/>
        </p:nvSpPr>
        <p:spPr bwMode="auto">
          <a:xfrm rot="5400000">
            <a:off x="1154174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5" name="AutoShape 7"/>
          <p:cNvSpPr>
            <a:spLocks noChangeArrowheads="1"/>
          </p:cNvSpPr>
          <p:nvPr/>
        </p:nvSpPr>
        <p:spPr bwMode="auto">
          <a:xfrm rot="5400000">
            <a:off x="1582799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graphicFrame>
        <p:nvGraphicFramePr>
          <p:cNvPr id="2056" name="Object 8"/>
          <p:cNvGraphicFramePr>
            <a:graphicFrameLocks noChangeAspect="1"/>
          </p:cNvGraphicFramePr>
          <p:nvPr/>
        </p:nvGraphicFramePr>
        <p:xfrm>
          <a:off x="0" y="3616326"/>
          <a:ext cx="5956102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" r:id="rId2" imgW="6007100" imgH="2743200" progId="">
                  <p:embed/>
                </p:oleObj>
              </mc:Choice>
              <mc:Fallback>
                <p:oleObj name="" r:id="rId2" imgW="6007100" imgH="274320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16326"/>
                        <a:ext cx="5956102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" name="Object 9"/>
          <p:cNvGraphicFramePr>
            <a:graphicFrameLocks noChangeAspect="1"/>
          </p:cNvGraphicFramePr>
          <p:nvPr/>
        </p:nvGraphicFramePr>
        <p:xfrm>
          <a:off x="9965531" y="3616326"/>
          <a:ext cx="2893219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" r:id="rId4" imgW="5753100" imgH="4356100" progId="">
                  <p:embed/>
                </p:oleObj>
              </mc:Choice>
              <mc:Fallback>
                <p:oleObj name="" r:id="rId4" imgW="5753100" imgH="435610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21930"/>
                      <a:stretch>
                        <a:fillRect/>
                      </a:stretch>
                    </p:blipFill>
                    <p:spPr bwMode="auto">
                      <a:xfrm>
                        <a:off x="9965531" y="3616326"/>
                        <a:ext cx="2893219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" name="Object 10"/>
          <p:cNvGraphicFramePr>
            <a:graphicFrameLocks noChangeAspect="1"/>
          </p:cNvGraphicFramePr>
          <p:nvPr/>
        </p:nvGraphicFramePr>
        <p:xfrm>
          <a:off x="5985125" y="3616325"/>
          <a:ext cx="3944689" cy="1930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" r:id="rId6" imgW="3556000" imgH="2540000" progId="">
                  <p:embed/>
                </p:oleObj>
              </mc:Choice>
              <mc:Fallback>
                <p:oleObj name="" r:id="rId6" imgW="3556000" imgH="25400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5125" y="3616325"/>
                        <a:ext cx="3944689" cy="1930381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3616326"/>
            <a:ext cx="12858750" cy="1928707"/>
          </a:xfrm>
          <a:prstGeom prst="rect">
            <a:avLst/>
          </a:prstGeom>
          <a:solidFill>
            <a:schemeClr val="accent1">
              <a:alpha val="28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pic>
        <p:nvPicPr>
          <p:cNvPr id="2060" name="Picture 12" descr="glabal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156" y="2009071"/>
            <a:ext cx="1850678" cy="1426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1" name="Rectangle 13"/>
          <p:cNvSpPr>
            <a:spLocks noGrp="1" noChangeArrowheads="1"/>
          </p:cNvSpPr>
          <p:nvPr>
            <p:ph type="dt" sz="half" idx="2"/>
          </p:nvPr>
        </p:nvSpPr>
        <p:spPr>
          <a:xfrm>
            <a:off x="642939" y="6830837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4393406" y="6830837"/>
            <a:ext cx="4071938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215439" y="6830837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fld id="{A06949FC-71C0-4A9C-8FC5-2FA6268B5FA6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64" name="Text Box 16"/>
          <p:cNvSpPr txBox="1">
            <a:spLocks noChangeArrowheads="1"/>
          </p:cNvSpPr>
          <p:nvPr/>
        </p:nvSpPr>
        <p:spPr bwMode="auto">
          <a:xfrm>
            <a:off x="4911328" y="6122640"/>
            <a:ext cx="3545086" cy="392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89" tIns="57394" rIns="114789" bIns="57394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b="1" smtClean="0">
                <a:solidFill>
                  <a:srgbClr val="000000"/>
                </a:solidFill>
                <a:latin typeface="Arial" panose="020B0604020202020204" pitchFamily="34" charset="0"/>
              </a:rPr>
              <a:t>大连理工大学出版社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65" name="AutoShape 17"/>
          <p:cNvSpPr>
            <a:spLocks noChangeArrowheads="1"/>
          </p:cNvSpPr>
          <p:nvPr/>
        </p:nvSpPr>
        <p:spPr bwMode="auto">
          <a:xfrm rot="5400000">
            <a:off x="6404827" y="5390970"/>
            <a:ext cx="287967" cy="1238995"/>
          </a:xfrm>
          <a:prstGeom prst="moon">
            <a:avLst>
              <a:gd name="adj" fmla="val 21208"/>
            </a:avLst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66" name="Rectangle 18"/>
          <p:cNvSpPr>
            <a:spLocks noGrp="1" noChangeArrowheads="1"/>
          </p:cNvSpPr>
          <p:nvPr>
            <p:ph type="ctrTitle"/>
          </p:nvPr>
        </p:nvSpPr>
        <p:spPr>
          <a:xfrm>
            <a:off x="1607344" y="1767981"/>
            <a:ext cx="8679656" cy="1309244"/>
          </a:xfrm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55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2067" name="Rectangle 19"/>
          <p:cNvSpPr>
            <a:spLocks noGrp="1" noChangeArrowheads="1"/>
          </p:cNvSpPr>
          <p:nvPr>
            <p:ph type="subTitle" idx="1"/>
          </p:nvPr>
        </p:nvSpPr>
        <p:spPr>
          <a:xfrm>
            <a:off x="2143125" y="3134148"/>
            <a:ext cx="7608094" cy="401814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4663F6-5E52-463E-9D66-231098FB4AD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5752" y="4647649"/>
            <a:ext cx="10929938" cy="1436485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5752" y="3065506"/>
            <a:ext cx="10929938" cy="1582142"/>
          </a:xfrm>
        </p:spPr>
        <p:txBody>
          <a:bodyPr anchor="b"/>
          <a:lstStyle>
            <a:lvl1pPr marL="0" indent="0">
              <a:buNone/>
              <a:defRPr sz="2500"/>
            </a:lvl1pPr>
            <a:lvl2pPr marL="574040" indent="0">
              <a:buNone/>
              <a:defRPr sz="2300"/>
            </a:lvl2pPr>
            <a:lvl3pPr marL="1148080" indent="0">
              <a:buNone/>
              <a:defRPr sz="2000"/>
            </a:lvl3pPr>
            <a:lvl4pPr marL="1722120" indent="0">
              <a:buNone/>
              <a:defRPr sz="1800"/>
            </a:lvl4pPr>
            <a:lvl5pPr marL="2295525" indent="0">
              <a:buNone/>
              <a:defRPr sz="1800"/>
            </a:lvl5pPr>
            <a:lvl6pPr marL="2869565" indent="0">
              <a:buNone/>
              <a:defRPr sz="1800"/>
            </a:lvl6pPr>
            <a:lvl7pPr marL="3443605" indent="0">
              <a:buNone/>
              <a:defRPr sz="1800"/>
            </a:lvl7pPr>
            <a:lvl8pPr marL="4017645" indent="0">
              <a:buNone/>
              <a:defRPr sz="1800"/>
            </a:lvl8pPr>
            <a:lvl9pPr marL="4591685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C1D46F-9ACD-4C4C-BAAB-C2CC66BCC777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2939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36531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5615A0-2C08-4381-A3BC-51F88417D0E0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9" y="289641"/>
            <a:ext cx="11572875" cy="1205442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2938" y="1618976"/>
            <a:ext cx="5681514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040" indent="0">
              <a:buNone/>
              <a:defRPr sz="2500" b="1"/>
            </a:lvl2pPr>
            <a:lvl3pPr marL="1148080" indent="0">
              <a:buNone/>
              <a:defRPr sz="2300" b="1"/>
            </a:lvl3pPr>
            <a:lvl4pPr marL="1722120" indent="0">
              <a:buNone/>
              <a:defRPr sz="2000" b="1"/>
            </a:lvl4pPr>
            <a:lvl5pPr marL="2295525" indent="0">
              <a:buNone/>
              <a:defRPr sz="2000" b="1"/>
            </a:lvl5pPr>
            <a:lvl6pPr marL="2869565" indent="0">
              <a:buNone/>
              <a:defRPr sz="2000" b="1"/>
            </a:lvl6pPr>
            <a:lvl7pPr marL="3443605" indent="0">
              <a:buNone/>
              <a:defRPr sz="2000" b="1"/>
            </a:lvl7pPr>
            <a:lvl8pPr marL="4017645" indent="0">
              <a:buNone/>
              <a:defRPr sz="2000" b="1"/>
            </a:lvl8pPr>
            <a:lvl9pPr marL="4591685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2938" y="2293689"/>
            <a:ext cx="5681514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32067" y="1618976"/>
            <a:ext cx="5683746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040" indent="0">
              <a:buNone/>
              <a:defRPr sz="2500" b="1"/>
            </a:lvl2pPr>
            <a:lvl3pPr marL="1148080" indent="0">
              <a:buNone/>
              <a:defRPr sz="2300" b="1"/>
            </a:lvl3pPr>
            <a:lvl4pPr marL="1722120" indent="0">
              <a:buNone/>
              <a:defRPr sz="2000" b="1"/>
            </a:lvl4pPr>
            <a:lvl5pPr marL="2295525" indent="0">
              <a:buNone/>
              <a:defRPr sz="2000" b="1"/>
            </a:lvl5pPr>
            <a:lvl6pPr marL="2869565" indent="0">
              <a:buNone/>
              <a:defRPr sz="2000" b="1"/>
            </a:lvl6pPr>
            <a:lvl7pPr marL="3443605" indent="0">
              <a:buNone/>
              <a:defRPr sz="2000" b="1"/>
            </a:lvl7pPr>
            <a:lvl8pPr marL="4017645" indent="0">
              <a:buNone/>
              <a:defRPr sz="2000" b="1"/>
            </a:lvl8pPr>
            <a:lvl9pPr marL="4591685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32067" y="2293689"/>
            <a:ext cx="5683746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A11DA9-A2C9-41D0-9133-C993095558B6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09F4FB-12C6-40B5-A6AA-EB02BB20573B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9CEC60-5D95-4E68-8DD0-1E98DC0B60A1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8" y="287967"/>
            <a:ext cx="4230440" cy="1225532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7414" y="287967"/>
            <a:ext cx="7188398" cy="6172866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2938" y="1513501"/>
            <a:ext cx="4230440" cy="4947334"/>
          </a:xfrm>
        </p:spPr>
        <p:txBody>
          <a:bodyPr/>
          <a:lstStyle>
            <a:lvl1pPr marL="0" indent="0">
              <a:buNone/>
              <a:defRPr sz="1800"/>
            </a:lvl1pPr>
            <a:lvl2pPr marL="574040" indent="0">
              <a:buNone/>
              <a:defRPr sz="1500"/>
            </a:lvl2pPr>
            <a:lvl3pPr marL="1148080" indent="0">
              <a:buNone/>
              <a:defRPr sz="1300"/>
            </a:lvl3pPr>
            <a:lvl4pPr marL="1722120" indent="0">
              <a:buNone/>
              <a:defRPr sz="1100"/>
            </a:lvl4pPr>
            <a:lvl5pPr marL="2295525" indent="0">
              <a:buNone/>
              <a:defRPr sz="1100"/>
            </a:lvl5pPr>
            <a:lvl6pPr marL="2869565" indent="0">
              <a:buNone/>
              <a:defRPr sz="1100"/>
            </a:lvl6pPr>
            <a:lvl7pPr marL="3443605" indent="0">
              <a:buNone/>
              <a:defRPr sz="1100"/>
            </a:lvl7pPr>
            <a:lvl8pPr marL="4017645" indent="0">
              <a:buNone/>
              <a:defRPr sz="1100"/>
            </a:lvl8pPr>
            <a:lvl9pPr marL="4591685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CBA71-A108-4D8F-B30F-B26305DB52E6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0405" y="5062856"/>
            <a:ext cx="7715250" cy="597699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20405" y="646251"/>
            <a:ext cx="7715250" cy="4339590"/>
          </a:xfrm>
        </p:spPr>
        <p:txBody>
          <a:bodyPr/>
          <a:lstStyle>
            <a:lvl1pPr marL="0" indent="0">
              <a:buNone/>
              <a:defRPr sz="4000"/>
            </a:lvl1pPr>
            <a:lvl2pPr marL="574040" indent="0">
              <a:buNone/>
              <a:defRPr sz="3500"/>
            </a:lvl2pPr>
            <a:lvl3pPr marL="1148080" indent="0">
              <a:buNone/>
              <a:defRPr sz="3000"/>
            </a:lvl3pPr>
            <a:lvl4pPr marL="1722120" indent="0">
              <a:buNone/>
              <a:defRPr sz="2500"/>
            </a:lvl4pPr>
            <a:lvl5pPr marL="2295525" indent="0">
              <a:buNone/>
              <a:defRPr sz="2500"/>
            </a:lvl5pPr>
            <a:lvl6pPr marL="2869565" indent="0">
              <a:buNone/>
              <a:defRPr sz="2500"/>
            </a:lvl6pPr>
            <a:lvl7pPr marL="3443605" indent="0">
              <a:buNone/>
              <a:defRPr sz="2500"/>
            </a:lvl7pPr>
            <a:lvl8pPr marL="4017645" indent="0">
              <a:buNone/>
              <a:defRPr sz="2500"/>
            </a:lvl8pPr>
            <a:lvl9pPr marL="4591685" indent="0">
              <a:buNone/>
              <a:defRPr sz="2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20405" y="5660555"/>
            <a:ext cx="7715250" cy="848831"/>
          </a:xfrm>
        </p:spPr>
        <p:txBody>
          <a:bodyPr/>
          <a:lstStyle>
            <a:lvl1pPr marL="0" indent="0">
              <a:buNone/>
              <a:defRPr sz="1800"/>
            </a:lvl1pPr>
            <a:lvl2pPr marL="574040" indent="0">
              <a:buNone/>
              <a:defRPr sz="1500"/>
            </a:lvl2pPr>
            <a:lvl3pPr marL="1148080" indent="0">
              <a:buNone/>
              <a:defRPr sz="1300"/>
            </a:lvl3pPr>
            <a:lvl4pPr marL="1722120" indent="0">
              <a:buNone/>
              <a:defRPr sz="1100"/>
            </a:lvl4pPr>
            <a:lvl5pPr marL="2295525" indent="0">
              <a:buNone/>
              <a:defRPr sz="1100"/>
            </a:lvl5pPr>
            <a:lvl6pPr marL="2869565" indent="0">
              <a:buNone/>
              <a:defRPr sz="1100"/>
            </a:lvl6pPr>
            <a:lvl7pPr marL="3443605" indent="0">
              <a:buNone/>
              <a:defRPr sz="1100"/>
            </a:lvl7pPr>
            <a:lvl8pPr marL="4017645" indent="0">
              <a:buNone/>
              <a:defRPr sz="1100"/>
            </a:lvl8pPr>
            <a:lvl9pPr marL="4591685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0AFEE6-9698-4489-8D7B-8AB64B9E1387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500B73-9DD7-41C0-B2B2-946A4EF25305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22595" y="622813"/>
            <a:ext cx="2893219" cy="604729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2937" y="622813"/>
            <a:ext cx="8465344" cy="604729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750D9E-967D-4F62-8A3B-AB60B1406417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035969" y="592677"/>
            <a:ext cx="10822781" cy="681410"/>
          </a:xfrm>
          <a:prstGeom prst="rect">
            <a:avLst/>
          </a:prstGeom>
          <a:solidFill>
            <a:schemeClr val="tx1"/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89327"/>
            <a:ext cx="2035969" cy="6964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 rot="5400000">
            <a:off x="40408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9" name="AutoShape 5"/>
          <p:cNvSpPr>
            <a:spLocks noChangeArrowheads="1"/>
          </p:cNvSpPr>
          <p:nvPr/>
        </p:nvSpPr>
        <p:spPr bwMode="auto">
          <a:xfrm rot="5400000">
            <a:off x="83270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0" name="AutoShape 6"/>
          <p:cNvSpPr>
            <a:spLocks noChangeArrowheads="1"/>
          </p:cNvSpPr>
          <p:nvPr/>
        </p:nvSpPr>
        <p:spPr bwMode="auto">
          <a:xfrm rot="5400000">
            <a:off x="126133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1" name="AutoShape 7"/>
          <p:cNvSpPr>
            <a:spLocks noChangeArrowheads="1"/>
          </p:cNvSpPr>
          <p:nvPr/>
        </p:nvSpPr>
        <p:spPr bwMode="auto">
          <a:xfrm rot="5400000">
            <a:off x="168995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2939" y="1366167"/>
            <a:ext cx="11572875" cy="530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42939" y="6750475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93406" y="6750475"/>
            <a:ext cx="4071938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algn="ct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15439" y="6750475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algn="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fld id="{E885DCAE-4A19-439B-9674-D186DD8CF82A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2652117" y="622812"/>
            <a:ext cx="8358188" cy="59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5pPr>
      <a:lvl6pPr marL="57404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6pPr>
      <a:lvl7pPr marL="114808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7pPr>
      <a:lvl8pPr marL="172212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8pPr>
      <a:lvl9pPr marL="2295525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430530" indent="-43053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3500">
          <a:solidFill>
            <a:schemeClr val="tx1"/>
          </a:solidFill>
          <a:latin typeface="+mn-lt"/>
          <a:ea typeface="+mn-ea"/>
          <a:cs typeface="+mn-cs"/>
        </a:defRPr>
      </a:lvl1pPr>
      <a:lvl2pPr marL="932815" indent="-358775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3300">
          <a:solidFill>
            <a:schemeClr val="tx1"/>
          </a:solidFill>
          <a:latin typeface="+mn-lt"/>
        </a:defRPr>
      </a:lvl2pPr>
      <a:lvl3pPr marL="1435100" indent="-28702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•"/>
        <a:defRPr sz="2800">
          <a:solidFill>
            <a:schemeClr val="tx1"/>
          </a:solidFill>
          <a:latin typeface="+mn-lt"/>
        </a:defRPr>
      </a:lvl3pPr>
      <a:lvl4pPr marL="200850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500">
          <a:solidFill>
            <a:schemeClr val="tx1"/>
          </a:solidFill>
          <a:latin typeface="+mn-lt"/>
        </a:defRPr>
      </a:lvl4pPr>
      <a:lvl5pPr marL="258254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5pPr>
      <a:lvl6pPr marL="315658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6pPr>
      <a:lvl7pPr marL="373062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7pPr>
      <a:lvl8pPr marL="430466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8pPr>
      <a:lvl9pPr marL="487870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04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808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212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5525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69565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3605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17645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1685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/>
        </p:nvSpPr>
        <p:spPr>
          <a:xfrm>
            <a:off x="0" y="0"/>
            <a:ext cx="7256762" cy="7256364"/>
          </a:xfrm>
          <a:prstGeom prst="rtTriangl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任意多边形 2"/>
          <p:cNvSpPr/>
          <p:nvPr/>
        </p:nvSpPr>
        <p:spPr>
          <a:xfrm rot="5400000" flipV="1">
            <a:off x="1608166" y="1145782"/>
            <a:ext cx="4826927" cy="4827192"/>
          </a:xfrm>
          <a:custGeom>
            <a:avLst/>
            <a:gdLst>
              <a:gd name="connsiteX0" fmla="*/ 0 w 4343400"/>
              <a:gd name="connsiteY0" fmla="*/ 0 h 4343400"/>
              <a:gd name="connsiteX1" fmla="*/ 4343400 w 4343400"/>
              <a:gd name="connsiteY1" fmla="*/ 4343400 h 4343400"/>
              <a:gd name="connsiteX2" fmla="*/ 3486149 w 4343400"/>
              <a:gd name="connsiteY2" fmla="*/ 4343400 h 4343400"/>
              <a:gd name="connsiteX3" fmla="*/ 0 w 4343400"/>
              <a:gd name="connsiteY3" fmla="*/ 857251 h 4343400"/>
              <a:gd name="connsiteX4" fmla="*/ 0 w 4343400"/>
              <a:gd name="connsiteY4" fmla="*/ 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3400" h="4343400">
                <a:moveTo>
                  <a:pt x="0" y="0"/>
                </a:moveTo>
                <a:lnTo>
                  <a:pt x="4343400" y="4343400"/>
                </a:lnTo>
                <a:lnTo>
                  <a:pt x="3486149" y="4343400"/>
                </a:lnTo>
                <a:lnTo>
                  <a:pt x="0" y="8572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57167" y="1960141"/>
            <a:ext cx="8595718" cy="62228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&lt;&lt;JSP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与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Servlet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开发技术与典型应用教程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&gt;&gt;</a:t>
            </a:r>
            <a:endParaRPr kumimoji="1" lang="zh-CN" altLang="en-US" sz="3200" b="1" dirty="0">
              <a:solidFill>
                <a:srgbClr val="52658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97327" y="2896245"/>
            <a:ext cx="6016403" cy="649181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/>
            <a:r>
              <a:rPr kumimoji="1" lang="en-US" altLang="zh-CN" sz="17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JSP and  servlet  development  technology  and  typical application  course</a:t>
            </a:r>
            <a:endParaRPr kumimoji="1" lang="zh-CN" altLang="en-US" sz="17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 rot="2648766">
            <a:off x="1518042" y="2639974"/>
            <a:ext cx="5266506" cy="1114723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/>
            <a:r>
              <a:rPr kumimoji="1" lang="zh-CN" altLang="en-US" sz="3100" b="1" dirty="0">
                <a:solidFill>
                  <a:srgbClr val="526580"/>
                </a:solidFill>
                <a:cs typeface="+mn-ea"/>
              </a:rPr>
              <a:t>第</a:t>
            </a:r>
            <a:r>
              <a:rPr kumimoji="1" lang="en-US" altLang="zh-CN" sz="3100" b="1" dirty="0">
                <a:solidFill>
                  <a:srgbClr val="526580"/>
                </a:solidFill>
                <a:cs typeface="+mn-ea"/>
              </a:rPr>
              <a:t>1</a:t>
            </a:r>
            <a:r>
              <a:rPr kumimoji="1" lang="zh-CN" altLang="en-US" sz="3100" b="1" dirty="0">
                <a:solidFill>
                  <a:srgbClr val="526580"/>
                </a:solidFill>
                <a:cs typeface="+mn-ea"/>
              </a:rPr>
              <a:t>章情境案例综述 </a:t>
            </a:r>
            <a:r>
              <a:rPr kumimoji="1" lang="zh-CN" altLang="en-US" sz="3100" b="1" dirty="0" smtClean="0">
                <a:solidFill>
                  <a:srgbClr val="526580"/>
                </a:solidFill>
                <a:cs typeface="+mn-ea"/>
              </a:rPr>
              <a:t>：</a:t>
            </a:r>
            <a:endParaRPr kumimoji="1" lang="en-US" altLang="zh-CN" sz="3100" b="1" dirty="0" smtClean="0">
              <a:solidFill>
                <a:srgbClr val="526580"/>
              </a:solidFill>
              <a:cs typeface="+mn-ea"/>
            </a:endParaRPr>
          </a:p>
          <a:p>
            <a:pPr algn="ctr"/>
            <a:r>
              <a:rPr kumimoji="1" lang="zh-CN" altLang="en-US" sz="3100" b="1" dirty="0" smtClean="0">
                <a:solidFill>
                  <a:srgbClr val="526580"/>
                </a:solidFill>
                <a:cs typeface="+mn-ea"/>
              </a:rPr>
              <a:t>生产性</a:t>
            </a:r>
            <a:r>
              <a:rPr kumimoji="1" lang="zh-CN" altLang="en-US" sz="3100" b="1" dirty="0">
                <a:solidFill>
                  <a:srgbClr val="526580"/>
                </a:solidFill>
                <a:cs typeface="+mn-ea"/>
              </a:rPr>
              <a:t>企业招聘</a:t>
            </a:r>
            <a:r>
              <a:rPr kumimoji="1" lang="zh-CN" altLang="en-US" sz="3100" b="1" dirty="0" smtClean="0">
                <a:solidFill>
                  <a:srgbClr val="526580"/>
                </a:solidFill>
                <a:cs typeface="+mn-ea"/>
              </a:rPr>
              <a:t>管理系统</a:t>
            </a:r>
            <a:endParaRPr kumimoji="1" lang="zh-CN" altLang="en-US" sz="3100" b="1" dirty="0">
              <a:solidFill>
                <a:srgbClr val="526580"/>
              </a:solidFill>
              <a:cs typeface="+mn-ea"/>
              <a:sym typeface="宋体" panose="02010600030101010101" pitchFamily="2" charset="-122"/>
            </a:endParaRPr>
          </a:p>
        </p:txBody>
      </p:sp>
      <p:sp>
        <p:nvSpPr>
          <p:cNvPr id="12" name="直角三角形 11"/>
          <p:cNvSpPr/>
          <p:nvPr/>
        </p:nvSpPr>
        <p:spPr>
          <a:xfrm flipH="1">
            <a:off x="8229575" y="3976365"/>
            <a:ext cx="4629176" cy="3279999"/>
          </a:xfrm>
          <a:prstGeom prst="rtTriangle">
            <a:avLst/>
          </a:prstGeom>
          <a:solidFill>
            <a:srgbClr val="43536A"/>
          </a:solidFill>
          <a:ln>
            <a:solidFill>
              <a:srgbClr val="4353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直角三角形 15"/>
          <p:cNvSpPr/>
          <p:nvPr/>
        </p:nvSpPr>
        <p:spPr>
          <a:xfrm rot="13500000" flipV="1">
            <a:off x="2775844" y="-1270801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73591" y="3976365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2000" b="1" dirty="0">
                <a:solidFill>
                  <a:srgbClr val="526580"/>
                </a:solidFill>
                <a:cs typeface="+mn-ea"/>
              </a:rPr>
              <a:t>大连理工大学出版社</a:t>
            </a:r>
            <a:endParaRPr kumimoji="1" lang="zh-CN" altLang="en-US" sz="2000" b="1" dirty="0">
              <a:solidFill>
                <a:srgbClr val="526580"/>
              </a:solidFill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/>
      <p:bldP spid="8" grpId="0"/>
      <p:bldP spid="9" grpId="0"/>
      <p:bldP spid="12" grpId="0" animBg="1"/>
      <p:bldP spid="16" grpId="0" animBg="1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213246" y="606069"/>
            <a:ext cx="11264801" cy="656296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第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章情境案例综述</a:t>
            </a:r>
            <a:r>
              <a:rPr lang="zh-CN" altLang="en-US" dirty="0"/>
              <a:t> </a:t>
            </a:r>
            <a:r>
              <a:rPr lang="zh-CN" altLang="en-US" dirty="0">
                <a:ea typeface="宋体" panose="02010600030101010101" pitchFamily="2" charset="-122"/>
              </a:rPr>
              <a:t>：生产性企业招聘管理系统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81103" y="1672109"/>
            <a:ext cx="11269266" cy="4470180"/>
          </a:xfrm>
        </p:spPr>
        <p:txBody>
          <a:bodyPr/>
          <a:lstStyle/>
          <a:p>
            <a:pPr marL="457200" indent="-457200"/>
            <a:r>
              <a:rPr lang="zh-CN" altLang="en-US" sz="2600" dirty="0" smtClean="0">
                <a:ea typeface="宋体" panose="02010600030101010101" pitchFamily="2" charset="-122"/>
              </a:rPr>
              <a:t>项目</a:t>
            </a:r>
            <a:r>
              <a:rPr lang="zh-CN" altLang="en-US" sz="2600" dirty="0">
                <a:ea typeface="宋体" panose="02010600030101010101" pitchFamily="2" charset="-122"/>
              </a:rPr>
              <a:t>背景 </a:t>
            </a:r>
            <a:endParaRPr lang="zh-CN" altLang="en-US" sz="2600" dirty="0">
              <a:ea typeface="宋体" panose="02010600030101010101" pitchFamily="2" charset="-122"/>
            </a:endParaRPr>
          </a:p>
          <a:p>
            <a:pPr marL="457200" indent="-457200"/>
            <a:r>
              <a:rPr lang="zh-CN" altLang="en-US" sz="2600" dirty="0" smtClean="0">
                <a:ea typeface="宋体" panose="02010600030101010101" pitchFamily="2" charset="-122"/>
              </a:rPr>
              <a:t>需求分析 </a:t>
            </a:r>
            <a:endParaRPr lang="zh-CN" altLang="en-US" sz="2600" dirty="0">
              <a:ea typeface="宋体" panose="02010600030101010101" pitchFamily="2" charset="-122"/>
            </a:endParaRPr>
          </a:p>
          <a:p>
            <a:pPr marL="1075055" lvl="1" indent="-533400"/>
            <a:r>
              <a:rPr lang="zh-CN" altLang="en-US" sz="2200" dirty="0" smtClean="0">
                <a:ea typeface="宋体" panose="02010600030101010101" pitchFamily="2" charset="-122"/>
              </a:rPr>
              <a:t>基本</a:t>
            </a:r>
            <a:r>
              <a:rPr lang="zh-CN" altLang="en-US" sz="2200" dirty="0">
                <a:ea typeface="宋体" panose="02010600030101010101" pitchFamily="2" charset="-122"/>
              </a:rPr>
              <a:t>框架</a:t>
            </a:r>
            <a:endParaRPr lang="zh-CN" altLang="en-US" sz="2200" dirty="0">
              <a:ea typeface="宋体" panose="02010600030101010101" pitchFamily="2" charset="-122"/>
            </a:endParaRPr>
          </a:p>
          <a:p>
            <a:pPr marL="1075055" lvl="1" indent="-533400"/>
            <a:r>
              <a:rPr lang="zh-CN" altLang="en-US" sz="2200" dirty="0" smtClean="0">
                <a:ea typeface="宋体" panose="02010600030101010101" pitchFamily="2" charset="-122"/>
              </a:rPr>
              <a:t>系统</a:t>
            </a:r>
            <a:r>
              <a:rPr lang="zh-CN" altLang="en-US" sz="2200" dirty="0">
                <a:ea typeface="宋体" panose="02010600030101010101" pitchFamily="2" charset="-122"/>
              </a:rPr>
              <a:t>业务流程图</a:t>
            </a:r>
            <a:endParaRPr lang="zh-CN" altLang="en-US" dirty="0">
              <a:ea typeface="宋体" panose="02010600030101010101" pitchFamily="2" charset="-122"/>
            </a:endParaRPr>
          </a:p>
          <a:p>
            <a:pPr marL="1075055" lvl="1" indent="-533400"/>
            <a:r>
              <a:rPr lang="zh-CN" altLang="en-US" sz="2200" dirty="0" smtClean="0">
                <a:ea typeface="宋体" panose="02010600030101010101" pitchFamily="2" charset="-122"/>
              </a:rPr>
              <a:t>功能需求 </a:t>
            </a:r>
            <a:endParaRPr lang="zh-CN" altLang="en-US" sz="2200" dirty="0">
              <a:ea typeface="宋体" panose="02010600030101010101" pitchFamily="2" charset="-122"/>
            </a:endParaRPr>
          </a:p>
          <a:p>
            <a:pPr marL="1075055" lvl="1" indent="-533400"/>
            <a:r>
              <a:rPr lang="zh-CN" altLang="en-US" sz="2200" dirty="0" smtClean="0">
                <a:ea typeface="宋体" panose="02010600030101010101" pitchFamily="2" charset="-122"/>
              </a:rPr>
              <a:t>系统</a:t>
            </a:r>
            <a:r>
              <a:rPr lang="zh-CN" altLang="en-US" sz="2200" dirty="0">
                <a:ea typeface="宋体" panose="02010600030101010101" pitchFamily="2" charset="-122"/>
              </a:rPr>
              <a:t>用户角色划分</a:t>
            </a:r>
            <a:endParaRPr lang="zh-CN" altLang="en-US" sz="2200" dirty="0">
              <a:ea typeface="宋体" panose="02010600030101010101" pitchFamily="2" charset="-122"/>
            </a:endParaRPr>
          </a:p>
          <a:p>
            <a:pPr marL="457200" indent="-457200"/>
            <a:r>
              <a:rPr lang="zh-CN" altLang="en-US" sz="2600" dirty="0" smtClean="0">
                <a:ea typeface="宋体" panose="02010600030101010101" pitchFamily="2" charset="-122"/>
              </a:rPr>
              <a:t>总体设计 </a:t>
            </a:r>
            <a:endParaRPr lang="zh-CN" altLang="en-US" sz="2600" dirty="0">
              <a:ea typeface="宋体" panose="02010600030101010101" pitchFamily="2" charset="-122"/>
            </a:endParaRPr>
          </a:p>
          <a:p>
            <a:pPr marL="1075055" lvl="1" indent="-533400"/>
            <a:r>
              <a:rPr lang="zh-CN" altLang="en-US" sz="2200" dirty="0" smtClean="0">
                <a:ea typeface="宋体" panose="02010600030101010101" pitchFamily="2" charset="-122"/>
              </a:rPr>
              <a:t>系统</a:t>
            </a:r>
            <a:r>
              <a:rPr lang="zh-CN" altLang="en-US" sz="2200" dirty="0">
                <a:ea typeface="宋体" panose="02010600030101010101" pitchFamily="2" charset="-122"/>
              </a:rPr>
              <a:t>架构设计 </a:t>
            </a:r>
            <a:endParaRPr lang="zh-CN" altLang="en-US" sz="2200" dirty="0">
              <a:ea typeface="宋体" panose="02010600030101010101" pitchFamily="2" charset="-122"/>
            </a:endParaRPr>
          </a:p>
          <a:p>
            <a:pPr marL="1075055" lvl="1" indent="-533400"/>
            <a:r>
              <a:rPr lang="zh-CN" altLang="en-US" sz="2200" dirty="0" smtClean="0">
                <a:ea typeface="宋体" panose="02010600030101010101" pitchFamily="2" charset="-122"/>
              </a:rPr>
              <a:t>硬件</a:t>
            </a:r>
            <a:r>
              <a:rPr lang="zh-CN" altLang="en-US" sz="2200" dirty="0">
                <a:ea typeface="宋体" panose="02010600030101010101" pitchFamily="2" charset="-122"/>
              </a:rPr>
              <a:t>环境</a:t>
            </a:r>
            <a:endParaRPr lang="zh-CN" altLang="en-US" dirty="0">
              <a:ea typeface="宋体" panose="02010600030101010101" pitchFamily="2" charset="-122"/>
            </a:endParaRPr>
          </a:p>
          <a:p>
            <a:pPr marL="1075055" lvl="1" indent="-533400"/>
            <a:r>
              <a:rPr lang="zh-CN" altLang="en-US" sz="2200" dirty="0" smtClean="0">
                <a:ea typeface="宋体" panose="02010600030101010101" pitchFamily="2" charset="-122"/>
              </a:rPr>
              <a:t>软件环境</a:t>
            </a:r>
            <a:endParaRPr lang="zh-CN" altLang="en-US" sz="2200" dirty="0"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76846" y="1456085"/>
            <a:ext cx="2436886" cy="7956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4040" lvl="0" indent="-574040">
              <a:lnSpc>
                <a:spcPct val="150000"/>
              </a:lnSpc>
              <a:spcBef>
                <a:spcPct val="20000"/>
              </a:spcBef>
              <a:buClr>
                <a:srgbClr val="333399"/>
              </a:buClr>
            </a:pPr>
            <a:r>
              <a:rPr lang="zh-CN" altLang="en-US" sz="3500" b="1" kern="0" dirty="0" smtClean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本课任务：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39750" y="620713"/>
            <a:ext cx="8010525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57404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114808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172212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2295525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mtClean="0">
                <a:ea typeface="宋体" panose="02010600030101010101" pitchFamily="2" charset="-122"/>
              </a:rPr>
              <a:t>1.1  </a:t>
            </a:r>
            <a:r>
              <a:rPr lang="zh-CN" altLang="en-US" smtClean="0">
                <a:ea typeface="宋体" panose="02010600030101010101" pitchFamily="2" charset="-122"/>
              </a:rPr>
              <a:t>项目背景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812751" y="1960141"/>
            <a:ext cx="1172170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ea typeface="宋体" panose="02010600030101010101" pitchFamily="2" charset="-122"/>
              </a:rPr>
              <a:t>基于某（基于法律方面的原因，将客户名称隐去）生产性企业的实际情况，通过企业调研、项目可行性分析等一系列过程，开发出一套生产性企业招聘管理系统，以期实现该企业员工招聘、培训管理规范化、透明化目标。 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620713"/>
            <a:ext cx="8010525" cy="622300"/>
          </a:xfrm>
        </p:spPr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1.2  </a:t>
            </a:r>
            <a:r>
              <a:rPr lang="zh-CN" altLang="en-US">
                <a:ea typeface="宋体" panose="02010600030101010101" pitchFamily="2" charset="-122"/>
              </a:rPr>
              <a:t>需求分析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611188" y="1549400"/>
            <a:ext cx="80137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mtClean="0">
                <a:ea typeface="宋体" panose="02010600030101010101" pitchFamily="2" charset="-122"/>
              </a:rPr>
              <a:t>1.2.1  </a:t>
            </a:r>
            <a:r>
              <a:rPr lang="zh-CN" altLang="en-US" smtClean="0">
                <a:ea typeface="宋体" panose="02010600030101010101" pitchFamily="2" charset="-122"/>
              </a:rPr>
              <a:t>基本框架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84213" y="2122488"/>
            <a:ext cx="7920037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>
                <a:ea typeface="宋体" panose="02010600030101010101" pitchFamily="2" charset="-122"/>
              </a:rPr>
              <a:t>该生产性企业招聘管理系统主要分成三个模块：人员招聘管理模块、人员培训管理模块、岗位管理模块。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2997200"/>
            <a:ext cx="5257800" cy="349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620713"/>
            <a:ext cx="8010525" cy="622300"/>
          </a:xfrm>
        </p:spPr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1.2  </a:t>
            </a:r>
            <a:r>
              <a:rPr lang="zh-CN" altLang="en-US">
                <a:ea typeface="宋体" panose="02010600030101010101" pitchFamily="2" charset="-122"/>
              </a:rPr>
              <a:t>需求分析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611188" y="1412875"/>
            <a:ext cx="80137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mtClean="0">
                <a:ea typeface="宋体" panose="02010600030101010101" pitchFamily="2" charset="-122"/>
              </a:rPr>
              <a:t>1.2.2  </a:t>
            </a:r>
            <a:r>
              <a:rPr lang="zh-CN" altLang="en-US" smtClean="0">
                <a:ea typeface="宋体" panose="02010600030101010101" pitchFamily="2" charset="-122"/>
              </a:rPr>
              <a:t>系统业务流程图 </a:t>
            </a:r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133600"/>
            <a:ext cx="4421188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620713"/>
            <a:ext cx="8010525" cy="622300"/>
          </a:xfrm>
        </p:spPr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1.2  </a:t>
            </a:r>
            <a:r>
              <a:rPr lang="zh-CN" altLang="en-US">
                <a:ea typeface="宋体" panose="02010600030101010101" pitchFamily="2" charset="-122"/>
              </a:rPr>
              <a:t>需求分析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611188" y="1549400"/>
            <a:ext cx="80137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mtClean="0">
                <a:ea typeface="宋体" panose="02010600030101010101" pitchFamily="2" charset="-122"/>
              </a:rPr>
              <a:t>1.2.3  </a:t>
            </a:r>
            <a:r>
              <a:rPr lang="zh-CN" altLang="en-US" smtClean="0">
                <a:ea typeface="宋体" panose="02010600030101010101" pitchFamily="2" charset="-122"/>
              </a:rPr>
              <a:t>功能需求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684213" y="2133600"/>
            <a:ext cx="8208962" cy="421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ea typeface="宋体" panose="02010600030101010101" pitchFamily="2" charset="-122"/>
              </a:rPr>
              <a:t>人员招聘管理</a:t>
            </a:r>
            <a:endParaRPr lang="zh-CN" altLang="en-US" b="1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ea typeface="宋体" panose="02010600030101010101" pitchFamily="2" charset="-122"/>
              </a:rPr>
              <a:t>目标：</a:t>
            </a:r>
            <a:r>
              <a:rPr lang="zh-CN" altLang="en-US">
                <a:ea typeface="宋体" panose="02010600030101010101" pitchFamily="2" charset="-122"/>
              </a:rPr>
              <a:t>记录人员招聘情况</a:t>
            </a:r>
            <a:endParaRPr lang="zh-CN" altLang="en-US" b="1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ea typeface="宋体" panose="02010600030101010101" pitchFamily="2" charset="-122"/>
              </a:rPr>
              <a:t>内容：</a:t>
            </a:r>
            <a:r>
              <a:rPr lang="zh-CN" altLang="en-US">
                <a:ea typeface="宋体" panose="02010600030101010101" pitchFamily="2" charset="-122"/>
              </a:rPr>
              <a:t>企业人员招聘申请表 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ea typeface="宋体" panose="02010600030101010101" pitchFamily="2" charset="-122"/>
              </a:rPr>
              <a:t>岗位管理</a:t>
            </a:r>
            <a:endParaRPr lang="zh-CN" altLang="en-US" b="1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ea typeface="宋体" panose="02010600030101010101" pitchFamily="2" charset="-122"/>
              </a:rPr>
              <a:t>目标：</a:t>
            </a:r>
            <a:r>
              <a:rPr lang="zh-CN" altLang="en-US">
                <a:ea typeface="宋体" panose="02010600030101010101" pitchFamily="2" charset="-122"/>
              </a:rPr>
              <a:t>企业空余缺口岗位管理情况及企业人员调配管理。</a:t>
            </a:r>
            <a:endParaRPr lang="zh-CN" altLang="en-US" b="1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ea typeface="宋体" panose="02010600030101010101" pitchFamily="2" charset="-122"/>
              </a:rPr>
              <a:t>内容：</a:t>
            </a:r>
            <a:r>
              <a:rPr lang="zh-CN" altLang="en-US">
                <a:ea typeface="宋体" panose="02010600030101010101" pitchFamily="2" charset="-122"/>
              </a:rPr>
              <a:t>企业员工内部档案接收登记表 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ea typeface="宋体" panose="02010600030101010101" pitchFamily="2" charset="-122"/>
              </a:rPr>
              <a:t>员工培训管理</a:t>
            </a:r>
            <a:endParaRPr lang="zh-CN" altLang="en-US" b="1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ea typeface="宋体" panose="02010600030101010101" pitchFamily="2" charset="-122"/>
              </a:rPr>
              <a:t>目标</a:t>
            </a:r>
            <a:r>
              <a:rPr lang="zh-CN" altLang="en-US">
                <a:ea typeface="宋体" panose="02010600030101010101" pitchFamily="2" charset="-122"/>
              </a:rPr>
              <a:t>：记录企业员工培训情况</a:t>
            </a:r>
            <a:endParaRPr lang="zh-CN" altLang="en-US" b="1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ea typeface="宋体" panose="02010600030101010101" pitchFamily="2" charset="-122"/>
              </a:rPr>
              <a:t>内容：</a:t>
            </a:r>
            <a:r>
              <a:rPr lang="zh-CN" altLang="en-US">
                <a:ea typeface="宋体" panose="02010600030101010101" pitchFamily="2" charset="-122"/>
              </a:rPr>
              <a:t>（</a:t>
            </a:r>
            <a:r>
              <a:rPr lang="en-US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）企业培训计划表 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ea typeface="宋体" panose="02010600030101010101" pitchFamily="2" charset="-122"/>
              </a:rPr>
              <a:t>           （</a:t>
            </a:r>
            <a:r>
              <a:rPr lang="en-US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）企业新进员工教育培训卡 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962175" y="2400838"/>
            <a:ext cx="12657832" cy="617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 anchor="ctr">
            <a:spAutoFit/>
          </a:bodyPr>
          <a:lstStyle/>
          <a:p>
            <a:pPr>
              <a:lnSpc>
                <a:spcPct val="180000"/>
              </a:lnSpc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885950" y="590550"/>
            <a:ext cx="5943600" cy="563563"/>
          </a:xfrm>
        </p:spPr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1.2  </a:t>
            </a:r>
            <a:r>
              <a:rPr lang="zh-CN" altLang="en-US">
                <a:ea typeface="宋体" panose="02010600030101010101" pitchFamily="2" charset="-122"/>
              </a:rPr>
              <a:t>需求分析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57200" y="1368425"/>
            <a:ext cx="5540127" cy="620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 smtClean="0">
                <a:ea typeface="宋体" panose="02010600030101010101" pitchFamily="2" charset="-122"/>
              </a:rPr>
              <a:t>1.2.4  </a:t>
            </a:r>
            <a:r>
              <a:rPr lang="zh-CN" altLang="en-US" dirty="0" smtClean="0">
                <a:ea typeface="宋体" panose="02010600030101010101" pitchFamily="2" charset="-122"/>
              </a:rPr>
              <a:t>系统用户角色划分</a:t>
            </a:r>
            <a:r>
              <a:rPr lang="zh-CN" altLang="en-US" sz="2400" dirty="0" smtClean="0">
                <a:ea typeface="宋体" panose="02010600030101010101" pitchFamily="2" charset="-122"/>
              </a:rPr>
              <a:t> 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graphicFrame>
        <p:nvGraphicFramePr>
          <p:cNvPr id="10" name="Group 4"/>
          <p:cNvGraphicFramePr>
            <a:graphicFrameLocks noGrp="1"/>
          </p:cNvGraphicFramePr>
          <p:nvPr>
            <p:ph sz="half" idx="4294967295"/>
          </p:nvPr>
        </p:nvGraphicFramePr>
        <p:xfrm>
          <a:off x="457200" y="2536205"/>
          <a:ext cx="8291512" cy="2272284"/>
        </p:xfrm>
        <a:graphic>
          <a:graphicData uri="http://schemas.openxmlformats.org/drawingml/2006/table">
            <a:tbl>
              <a:tblPr/>
              <a:tblGrid>
                <a:gridCol w="1550987"/>
                <a:gridCol w="1550988"/>
                <a:gridCol w="2897187"/>
                <a:gridCol w="2292350"/>
              </a:tblGrid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部门</a:t>
                      </a: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角色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角色权限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权限规划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43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人力资源部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管理员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维护空缺岗位基本信息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维护员工培训基本信息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维护员工招聘基本信息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1) 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空缺岗位管理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2) 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员工培训管理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）员工招聘管理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求职者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求职者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维护本人的求职基本信息</a:t>
                      </a:r>
                      <a:endParaRPr kumimoji="0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）个人招聘维护</a:t>
                      </a:r>
                      <a:endParaRPr kumimoji="0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962175" y="2400838"/>
            <a:ext cx="12657832" cy="617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 anchor="ctr">
            <a:spAutoFit/>
          </a:bodyPr>
          <a:lstStyle/>
          <a:p>
            <a:pPr>
              <a:lnSpc>
                <a:spcPct val="180000"/>
              </a:lnSpc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885950" y="590550"/>
            <a:ext cx="5943600" cy="563563"/>
          </a:xfrm>
        </p:spPr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1.3  </a:t>
            </a:r>
            <a:r>
              <a:rPr lang="zh-CN" altLang="en-US">
                <a:ea typeface="宋体" panose="02010600030101010101" pitchFamily="2" charset="-122"/>
              </a:rPr>
              <a:t>总体设计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57199" y="1366838"/>
            <a:ext cx="525209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 smtClean="0">
                <a:ea typeface="宋体" panose="02010600030101010101" pitchFamily="2" charset="-122"/>
              </a:rPr>
              <a:t>1.3.1  </a:t>
            </a:r>
            <a:r>
              <a:rPr lang="zh-CN" altLang="en-US" dirty="0" smtClean="0">
                <a:ea typeface="宋体" panose="02010600030101010101" pitchFamily="2" charset="-122"/>
              </a:rPr>
              <a:t>系统架构设计</a:t>
            </a:r>
            <a:r>
              <a:rPr lang="zh-CN" altLang="en-US" sz="2400" dirty="0" smtClean="0">
                <a:ea typeface="宋体" panose="02010600030101010101" pitchFamily="2" charset="-122"/>
              </a:rPr>
              <a:t> 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539750" y="1844675"/>
            <a:ext cx="8604250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80000"/>
              </a:lnSpc>
            </a:pPr>
            <a:r>
              <a:rPr lang="zh-CN" altLang="en-US">
                <a:ea typeface="宋体" panose="02010600030101010101" pitchFamily="2" charset="-122"/>
              </a:rPr>
              <a:t>采用</a:t>
            </a:r>
            <a:r>
              <a:rPr lang="en-US">
                <a:ea typeface="宋体" panose="02010600030101010101" pitchFamily="2" charset="-122"/>
              </a:rPr>
              <a:t>MVC(Model-View-Controller)</a:t>
            </a:r>
            <a:r>
              <a:rPr lang="zh-CN" altLang="en-US">
                <a:ea typeface="宋体" panose="02010600030101010101" pitchFamily="2" charset="-122"/>
              </a:rPr>
              <a:t>模式，即模型</a:t>
            </a:r>
            <a:r>
              <a:rPr lang="en-US">
                <a:ea typeface="宋体" panose="02010600030101010101" pitchFamily="2" charset="-122"/>
              </a:rPr>
              <a:t>-</a:t>
            </a:r>
            <a:r>
              <a:rPr lang="zh-CN" altLang="en-US">
                <a:ea typeface="宋体" panose="02010600030101010101" pitchFamily="2" charset="-122"/>
              </a:rPr>
              <a:t>视图</a:t>
            </a:r>
            <a:r>
              <a:rPr lang="en-US">
                <a:ea typeface="宋体" panose="02010600030101010101" pitchFamily="2" charset="-122"/>
              </a:rPr>
              <a:t>-</a:t>
            </a:r>
            <a:r>
              <a:rPr lang="zh-CN" altLang="en-US">
                <a:ea typeface="宋体" panose="02010600030101010101" pitchFamily="2" charset="-122"/>
              </a:rPr>
              <a:t>控制器模式。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lnSpc>
                <a:spcPct val="180000"/>
              </a:lnSpc>
            </a:pPr>
            <a:r>
              <a:rPr lang="en-US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．模型：业务逻辑层。实现具体的业务逻辑，状态管理的功能。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lnSpc>
                <a:spcPct val="180000"/>
              </a:lnSpc>
            </a:pPr>
            <a:r>
              <a:rPr lang="en-US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．视图：表示层。即与用户实现交互的界面，通常实现数据输入和输出功能。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lnSpc>
                <a:spcPct val="180000"/>
              </a:lnSpc>
            </a:pPr>
            <a:r>
              <a:rPr lang="en-US">
                <a:ea typeface="宋体" panose="02010600030101010101" pitchFamily="2" charset="-122"/>
              </a:rPr>
              <a:t>3</a:t>
            </a:r>
            <a:r>
              <a:rPr lang="zh-CN" altLang="en-US">
                <a:ea typeface="宋体" panose="02010600030101010101" pitchFamily="2" charset="-122"/>
              </a:rPr>
              <a:t>．控制器：控制层。起控制整个业务流程的作用，实现视图和模型部分的协同工作。</a:t>
            </a:r>
            <a:r>
              <a:rPr lang="zh-CN" altLang="en-US" sz="1600">
                <a:ea typeface="宋体" panose="02010600030101010101" pitchFamily="2" charset="-122"/>
              </a:rPr>
              <a:t> </a:t>
            </a:r>
            <a:endParaRPr lang="zh-CN" altLang="en-US" sz="1600">
              <a:ea typeface="宋体" panose="02010600030101010101" pitchFamily="2" charset="-122"/>
            </a:endParaRPr>
          </a:p>
        </p:txBody>
      </p: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4416425"/>
            <a:ext cx="4953000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962175" y="2400838"/>
            <a:ext cx="12657832" cy="617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 anchor="ctr">
            <a:spAutoFit/>
          </a:bodyPr>
          <a:lstStyle/>
          <a:p>
            <a:pPr>
              <a:lnSpc>
                <a:spcPct val="180000"/>
              </a:lnSpc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1885950" y="590550"/>
            <a:ext cx="5943600" cy="563563"/>
          </a:xfrm>
        </p:spPr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1.3  </a:t>
            </a:r>
            <a:r>
              <a:rPr lang="zh-CN" altLang="en-US">
                <a:ea typeface="宋体" panose="02010600030101010101" pitchFamily="2" charset="-122"/>
              </a:rPr>
              <a:t>总体设计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61963" y="1366838"/>
            <a:ext cx="40386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mtClean="0">
                <a:ea typeface="宋体" panose="02010600030101010101" pitchFamily="2" charset="-122"/>
              </a:rPr>
              <a:t>1.3.2  </a:t>
            </a:r>
            <a:r>
              <a:rPr lang="zh-CN" altLang="en-US" smtClean="0">
                <a:ea typeface="宋体" panose="02010600030101010101" pitchFamily="2" charset="-122"/>
              </a:rPr>
              <a:t>硬件环境</a:t>
            </a:r>
            <a:r>
              <a:rPr lang="zh-CN" altLang="en-US" sz="2400" smtClean="0">
                <a:ea typeface="宋体" panose="02010600030101010101" pitchFamily="2" charset="-122"/>
              </a:rPr>
              <a:t> </a:t>
            </a:r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39750" y="1844675"/>
            <a:ext cx="820896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ea typeface="宋体" panose="02010600030101010101" pitchFamily="2" charset="-122"/>
              </a:rPr>
              <a:t>本系统的硬件开发环境需达到如下配置：</a:t>
            </a:r>
            <a:endParaRPr lang="zh-CN" altLang="en-US" dirty="0"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en-US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．</a:t>
            </a:r>
            <a:r>
              <a:rPr lang="en-US" dirty="0">
                <a:ea typeface="宋体" panose="02010600030101010101" pitchFamily="2" charset="-122"/>
              </a:rPr>
              <a:t>CPU</a:t>
            </a:r>
            <a:r>
              <a:rPr lang="zh-CN" altLang="en-US" dirty="0" smtClean="0">
                <a:ea typeface="宋体" panose="02010600030101010101" pitchFamily="2" charset="-122"/>
              </a:rPr>
              <a:t>：</a:t>
            </a:r>
            <a:r>
              <a:rPr lang="en-US" altLang="zh-CN" dirty="0"/>
              <a:t>Intel </a:t>
            </a:r>
            <a:r>
              <a:rPr lang="en-US" altLang="zh-CN" dirty="0" smtClean="0"/>
              <a:t>Q470</a:t>
            </a:r>
            <a:r>
              <a:rPr lang="zh-CN" altLang="en-US" dirty="0" smtClean="0">
                <a:ea typeface="宋体" panose="02010600030101010101" pitchFamily="2" charset="-122"/>
              </a:rPr>
              <a:t>； </a:t>
            </a:r>
            <a:endParaRPr lang="zh-CN" altLang="en-US" dirty="0"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en-US" dirty="0">
                <a:ea typeface="宋体" panose="02010600030101010101" pitchFamily="2" charset="-122"/>
              </a:rPr>
              <a:t>2</a:t>
            </a:r>
            <a:r>
              <a:rPr lang="zh-CN" altLang="en-US" dirty="0">
                <a:ea typeface="宋体" panose="02010600030101010101" pitchFamily="2" charset="-122"/>
              </a:rPr>
              <a:t>． 内存</a:t>
            </a:r>
            <a:r>
              <a:rPr lang="zh-CN" altLang="en-US" dirty="0" smtClean="0">
                <a:ea typeface="宋体" panose="02010600030101010101" pitchFamily="2" charset="-122"/>
              </a:rPr>
              <a:t>：</a:t>
            </a:r>
            <a:r>
              <a:rPr lang="en-US" altLang="zh-CN" dirty="0"/>
              <a:t>32G</a:t>
            </a:r>
            <a:r>
              <a:rPr lang="zh-CN" altLang="en-US" dirty="0" smtClean="0">
                <a:ea typeface="宋体" panose="02010600030101010101" pitchFamily="2" charset="-122"/>
              </a:rPr>
              <a:t>。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962175" y="2400838"/>
            <a:ext cx="12657832" cy="617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 anchor="ctr">
            <a:spAutoFit/>
          </a:bodyPr>
          <a:lstStyle/>
          <a:p>
            <a:pPr>
              <a:lnSpc>
                <a:spcPct val="180000"/>
              </a:lnSpc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1885950" y="590550"/>
            <a:ext cx="5943600" cy="563563"/>
          </a:xfrm>
        </p:spPr>
        <p:txBody>
          <a:bodyPr/>
          <a:lstStyle/>
          <a:p>
            <a:r>
              <a:rPr lang="en-US">
                <a:ea typeface="宋体" panose="02010600030101010101" pitchFamily="2" charset="-122"/>
              </a:rPr>
              <a:t>1.3  </a:t>
            </a:r>
            <a:r>
              <a:rPr lang="zh-CN" altLang="en-US">
                <a:ea typeface="宋体" panose="02010600030101010101" pitchFamily="2" charset="-122"/>
              </a:rPr>
              <a:t>总体设计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57200" y="1366838"/>
            <a:ext cx="40386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marL="430530" indent="-43053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v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2815" indent="-358775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3300">
                <a:solidFill>
                  <a:schemeClr val="tx1"/>
                </a:solidFill>
                <a:latin typeface="+mn-lt"/>
              </a:defRPr>
            </a:lvl2pPr>
            <a:lvl3pPr marL="1435100" indent="-28702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•"/>
              <a:defRPr sz="2800">
                <a:solidFill>
                  <a:schemeClr val="tx1"/>
                </a:solidFill>
                <a:latin typeface="+mn-lt"/>
              </a:defRPr>
            </a:lvl3pPr>
            <a:lvl4pPr marL="20085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500">
                <a:solidFill>
                  <a:schemeClr val="tx1"/>
                </a:solidFill>
                <a:latin typeface="+mn-lt"/>
              </a:defRPr>
            </a:lvl4pPr>
            <a:lvl5pPr marL="258254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5pPr>
            <a:lvl6pPr marL="315658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6pPr>
            <a:lvl7pPr marL="373062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7pPr>
            <a:lvl8pPr marL="430466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8pPr>
            <a:lvl9pPr marL="4878705" indent="-28702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5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mtClean="0">
                <a:ea typeface="宋体" panose="02010600030101010101" pitchFamily="2" charset="-122"/>
              </a:rPr>
              <a:t>1.3.3  </a:t>
            </a:r>
            <a:r>
              <a:rPr lang="zh-CN" altLang="en-US" smtClean="0">
                <a:ea typeface="宋体" panose="02010600030101010101" pitchFamily="2" charset="-122"/>
              </a:rPr>
              <a:t>软件环境</a:t>
            </a:r>
            <a:r>
              <a:rPr lang="zh-CN" altLang="en-US" sz="2400" smtClean="0">
                <a:ea typeface="宋体" panose="02010600030101010101" pitchFamily="2" charset="-122"/>
              </a:rPr>
              <a:t> </a:t>
            </a:r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59050" y="2002964"/>
            <a:ext cx="8964612" cy="3334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支持本系统的软件开发环境在如下配置</a:t>
            </a:r>
            <a:r>
              <a:rPr lang="en-US" dirty="0"/>
              <a:t>(</a:t>
            </a:r>
            <a:r>
              <a:rPr lang="zh-CN" altLang="en-US" dirty="0"/>
              <a:t>或以上</a:t>
            </a:r>
            <a:r>
              <a:rPr lang="en-US" dirty="0"/>
              <a:t>)</a:t>
            </a:r>
            <a:r>
              <a:rPr lang="zh-CN" altLang="en-US" dirty="0"/>
              <a:t>：</a:t>
            </a:r>
            <a:endParaRPr lang="zh-CN" altLang="en-US" dirty="0"/>
          </a:p>
          <a:p>
            <a:pPr>
              <a:lnSpc>
                <a:spcPct val="200000"/>
              </a:lnSpc>
            </a:pPr>
            <a:r>
              <a:rPr lang="en-US" altLang="zh-CN" dirty="0"/>
              <a:t>1</a:t>
            </a:r>
            <a:r>
              <a:rPr lang="zh-CN" altLang="zh-CN" dirty="0"/>
              <a:t>．操作系统：</a:t>
            </a:r>
            <a:r>
              <a:rPr lang="en-US" altLang="zh-CN" dirty="0"/>
              <a:t>Windows10.0</a:t>
            </a:r>
            <a:r>
              <a:rPr lang="zh-CN" altLang="zh-CN" dirty="0"/>
              <a:t>；</a:t>
            </a:r>
            <a:endParaRPr lang="zh-CN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2</a:t>
            </a:r>
            <a:r>
              <a:rPr lang="zh-CN" altLang="zh-CN" dirty="0"/>
              <a:t>．数据库：</a:t>
            </a:r>
            <a:r>
              <a:rPr lang="en-US" altLang="zh-CN" dirty="0" err="1"/>
              <a:t>MySql</a:t>
            </a:r>
            <a:r>
              <a:rPr lang="en-US" altLang="zh-CN" dirty="0"/>
              <a:t> 8.0</a:t>
            </a:r>
            <a:r>
              <a:rPr lang="zh-CN" altLang="zh-CN" dirty="0"/>
              <a:t>；</a:t>
            </a:r>
            <a:endParaRPr lang="zh-CN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3</a:t>
            </a:r>
            <a:r>
              <a:rPr lang="zh-CN" altLang="zh-CN" dirty="0"/>
              <a:t>．</a:t>
            </a:r>
            <a:r>
              <a:rPr lang="en-US" altLang="zh-CN" dirty="0"/>
              <a:t>Web</a:t>
            </a:r>
            <a:r>
              <a:rPr lang="zh-CN" altLang="zh-CN" dirty="0"/>
              <a:t>服务器：</a:t>
            </a:r>
            <a:r>
              <a:rPr lang="en-US" altLang="zh-CN" dirty="0"/>
              <a:t>Tomcat 9.0</a:t>
            </a:r>
            <a:r>
              <a:rPr lang="zh-CN" altLang="zh-CN" dirty="0"/>
              <a:t>；</a:t>
            </a:r>
            <a:endParaRPr lang="zh-CN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4</a:t>
            </a:r>
            <a:r>
              <a:rPr lang="zh-CN" altLang="zh-CN" dirty="0"/>
              <a:t>．</a:t>
            </a:r>
            <a:r>
              <a:rPr lang="en-US" altLang="zh-CN" dirty="0"/>
              <a:t>IDE</a:t>
            </a:r>
            <a:r>
              <a:rPr lang="zh-CN" altLang="zh-CN" dirty="0"/>
              <a:t>： </a:t>
            </a:r>
            <a:r>
              <a:rPr lang="en-US" altLang="zh-CN" dirty="0"/>
              <a:t>Eclipse</a:t>
            </a:r>
            <a:r>
              <a:rPr lang="zh-CN" altLang="zh-CN" dirty="0"/>
              <a:t>、</a:t>
            </a:r>
            <a:r>
              <a:rPr lang="en-US" altLang="zh-CN" dirty="0" err="1"/>
              <a:t>Hbuilder</a:t>
            </a:r>
            <a:r>
              <a:rPr lang="zh-CN" altLang="zh-CN" dirty="0"/>
              <a:t>、</a:t>
            </a:r>
            <a:r>
              <a:rPr lang="en-US" altLang="zh-CN" dirty="0" err="1"/>
              <a:t>Axure</a:t>
            </a:r>
            <a:r>
              <a:rPr lang="zh-CN" altLang="zh-CN" dirty="0"/>
              <a:t>；</a:t>
            </a:r>
            <a:endParaRPr lang="zh-CN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5</a:t>
            </a:r>
            <a:r>
              <a:rPr lang="zh-CN" altLang="zh-CN" dirty="0"/>
              <a:t>．</a:t>
            </a:r>
            <a:r>
              <a:rPr lang="en-US" altLang="zh-CN" dirty="0"/>
              <a:t>jar</a:t>
            </a:r>
            <a:r>
              <a:rPr lang="zh-CN" altLang="zh-CN" dirty="0"/>
              <a:t>包：</a:t>
            </a:r>
            <a:r>
              <a:rPr lang="en-US" altLang="zh-CN" dirty="0"/>
              <a:t>jstl.jar</a:t>
            </a:r>
            <a:r>
              <a:rPr lang="zh-CN" altLang="zh-CN" dirty="0"/>
              <a:t>，</a:t>
            </a:r>
            <a:r>
              <a:rPr lang="en-US" altLang="zh-CN" dirty="0"/>
              <a:t>mysql-connector-java-8.0.12-bin.jar</a:t>
            </a:r>
            <a:r>
              <a:rPr lang="zh-CN" altLang="zh-CN" dirty="0"/>
              <a:t>，</a:t>
            </a:r>
            <a:r>
              <a:rPr lang="en-US" altLang="zh-CN" dirty="0"/>
              <a:t>smartupload.jar</a:t>
            </a:r>
            <a:r>
              <a:rPr lang="zh-CN" altLang="zh-CN" dirty="0"/>
              <a:t>，</a:t>
            </a:r>
            <a:r>
              <a:rPr lang="en-US" altLang="zh-CN" dirty="0"/>
              <a:t>standard.jar</a:t>
            </a:r>
            <a:r>
              <a:rPr lang="zh-CN" altLang="zh-CN" dirty="0"/>
              <a:t>。</a:t>
            </a:r>
            <a:endParaRPr lang="zh-CN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/>
        </p:nvSpPr>
        <p:spPr>
          <a:xfrm>
            <a:off x="0" y="0"/>
            <a:ext cx="7256762" cy="7256364"/>
          </a:xfrm>
          <a:prstGeom prst="rtTriangl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任意多边形 2"/>
          <p:cNvSpPr/>
          <p:nvPr/>
        </p:nvSpPr>
        <p:spPr>
          <a:xfrm rot="5400000" flipV="1">
            <a:off x="1608166" y="1145782"/>
            <a:ext cx="4826927" cy="4827192"/>
          </a:xfrm>
          <a:custGeom>
            <a:avLst/>
            <a:gdLst>
              <a:gd name="connsiteX0" fmla="*/ 0 w 4343400"/>
              <a:gd name="connsiteY0" fmla="*/ 0 h 4343400"/>
              <a:gd name="connsiteX1" fmla="*/ 4343400 w 4343400"/>
              <a:gd name="connsiteY1" fmla="*/ 4343400 h 4343400"/>
              <a:gd name="connsiteX2" fmla="*/ 3486149 w 4343400"/>
              <a:gd name="connsiteY2" fmla="*/ 4343400 h 4343400"/>
              <a:gd name="connsiteX3" fmla="*/ 0 w 4343400"/>
              <a:gd name="connsiteY3" fmla="*/ 857251 h 4343400"/>
              <a:gd name="connsiteX4" fmla="*/ 0 w 4343400"/>
              <a:gd name="connsiteY4" fmla="*/ 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3400" h="4343400">
                <a:moveTo>
                  <a:pt x="0" y="0"/>
                </a:moveTo>
                <a:lnTo>
                  <a:pt x="4343400" y="4343400"/>
                </a:lnTo>
                <a:lnTo>
                  <a:pt x="3486149" y="4343400"/>
                </a:lnTo>
                <a:lnTo>
                  <a:pt x="0" y="8572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57167" y="1960141"/>
            <a:ext cx="8595718" cy="62228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&lt;&lt;JSP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与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Servlet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开发技术与典型应用教程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&gt;&gt;</a:t>
            </a:r>
            <a:endParaRPr kumimoji="1" lang="zh-CN" altLang="en-US" sz="3200" b="1" dirty="0">
              <a:solidFill>
                <a:srgbClr val="52658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09295" y="2896245"/>
            <a:ext cx="6016403" cy="560725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感谢观看 </a:t>
            </a:r>
            <a:r>
              <a:rPr kumimoji="1" lang="en-US" altLang="zh-CN" sz="280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THANK YOU!</a:t>
            </a:r>
            <a:endParaRPr kumimoji="1" lang="zh-CN" altLang="en-US" sz="2800" dirty="0">
              <a:solidFill>
                <a:prstClr val="white">
                  <a:lumMod val="50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 rot="2648766">
            <a:off x="1518042" y="2655363"/>
            <a:ext cx="5266506" cy="1083945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/>
            <a:r>
              <a:rPr kumimoji="1" lang="zh-CN" altLang="en-US" sz="3100" b="1" dirty="0">
                <a:solidFill>
                  <a:srgbClr val="526580"/>
                </a:solidFill>
                <a:cs typeface="+mn-ea"/>
              </a:rPr>
              <a:t>第</a:t>
            </a:r>
            <a:r>
              <a:rPr kumimoji="1" lang="en-US" altLang="zh-CN" sz="3100" b="1" dirty="0">
                <a:solidFill>
                  <a:srgbClr val="526580"/>
                </a:solidFill>
                <a:cs typeface="+mn-ea"/>
              </a:rPr>
              <a:t>1</a:t>
            </a:r>
            <a:r>
              <a:rPr kumimoji="1" lang="zh-CN" altLang="en-US" sz="3100" b="1" dirty="0">
                <a:solidFill>
                  <a:srgbClr val="526580"/>
                </a:solidFill>
                <a:cs typeface="+mn-ea"/>
              </a:rPr>
              <a:t>章情境案例综述 ：</a:t>
            </a:r>
            <a:endParaRPr kumimoji="1" lang="en-US" altLang="zh-CN" sz="3100" b="1" dirty="0">
              <a:solidFill>
                <a:srgbClr val="526580"/>
              </a:solidFill>
              <a:cs typeface="+mn-ea"/>
            </a:endParaRPr>
          </a:p>
          <a:p>
            <a:pPr algn="ctr"/>
            <a:r>
              <a:rPr kumimoji="1" lang="zh-CN" altLang="en-US" sz="3100" b="1" dirty="0">
                <a:solidFill>
                  <a:srgbClr val="526580"/>
                </a:solidFill>
                <a:cs typeface="+mn-ea"/>
              </a:rPr>
              <a:t>生产性企业招聘管理系统</a:t>
            </a:r>
            <a:endParaRPr kumimoji="1" lang="zh-CN" altLang="en-US" sz="3100" b="1" dirty="0">
              <a:solidFill>
                <a:srgbClr val="526580"/>
              </a:solidFill>
              <a:cs typeface="+mn-ea"/>
              <a:sym typeface="宋体" panose="02010600030101010101" pitchFamily="2" charset="-122"/>
            </a:endParaRPr>
          </a:p>
        </p:txBody>
      </p:sp>
      <p:sp>
        <p:nvSpPr>
          <p:cNvPr id="12" name="直角三角形 11"/>
          <p:cNvSpPr/>
          <p:nvPr/>
        </p:nvSpPr>
        <p:spPr>
          <a:xfrm flipH="1">
            <a:off x="8229575" y="3976365"/>
            <a:ext cx="4629176" cy="3279999"/>
          </a:xfrm>
          <a:prstGeom prst="rtTriangle">
            <a:avLst/>
          </a:prstGeom>
          <a:solidFill>
            <a:srgbClr val="43536A"/>
          </a:solidFill>
          <a:ln>
            <a:solidFill>
              <a:srgbClr val="4353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直角三角形 15"/>
          <p:cNvSpPr/>
          <p:nvPr/>
        </p:nvSpPr>
        <p:spPr>
          <a:xfrm rot="13500000" flipV="1">
            <a:off x="2775844" y="-1270801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73591" y="3976365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2000" b="1" dirty="0">
                <a:solidFill>
                  <a:srgbClr val="526580"/>
                </a:solidFill>
                <a:cs typeface="+mn-ea"/>
              </a:rPr>
              <a:t>大连理工大学出版社</a:t>
            </a:r>
            <a:endParaRPr kumimoji="1" lang="zh-CN" altLang="en-US" sz="2000" b="1" dirty="0">
              <a:solidFill>
                <a:srgbClr val="526580"/>
              </a:solidFill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/>
      <p:bldP spid="8" grpId="0"/>
      <p:bldP spid="9" grpId="0"/>
      <p:bldP spid="12" grpId="0" animBg="1"/>
      <p:bldP spid="16" grpId="0" animBg="1"/>
      <p:bldP spid="4" grpId="0"/>
    </p:bldLst>
  </p:timing>
</p:sld>
</file>

<file path=ppt/tags/tag1.xml><?xml version="1.0" encoding="utf-8"?>
<p:tagLst xmlns:p="http://schemas.openxmlformats.org/presentationml/2006/main">
  <p:tag name="ISPRING_PRESENTATION_TITLE" val="bt026.pptx"/>
</p:tagLst>
</file>

<file path=ppt/theme/theme1.xml><?xml version="1.0" encoding="utf-8"?>
<a:theme xmlns:a="http://schemas.openxmlformats.org/drawingml/2006/main" name="自定义设计方案">
  <a:themeElements>
    <a:clrScheme name="自定义 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3366"/>
      </a:accent1>
      <a:accent2>
        <a:srgbClr val="003366"/>
      </a:accent2>
      <a:accent3>
        <a:srgbClr val="003366"/>
      </a:accent3>
      <a:accent4>
        <a:srgbClr val="003366"/>
      </a:accent4>
      <a:accent5>
        <a:srgbClr val="003366"/>
      </a:accent5>
      <a:accent6>
        <a:srgbClr val="003366"/>
      </a:accent6>
      <a:hlink>
        <a:srgbClr val="003366"/>
      </a:hlink>
      <a:folHlink>
        <a:srgbClr val="003366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9D9D9">
            <a:alpha val="50196"/>
          </a:srgb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灰白简约科技PPT模板">
  <a:themeElements>
    <a:clrScheme name="灰白简约科技PPT模板 3">
      <a:dk1>
        <a:srgbClr val="000000"/>
      </a:dk1>
      <a:lt1>
        <a:srgbClr val="FFFFFF"/>
      </a:lt1>
      <a:dk2>
        <a:srgbClr val="333399"/>
      </a:dk2>
      <a:lt2>
        <a:srgbClr val="C0C0C0"/>
      </a:lt2>
      <a:accent1>
        <a:srgbClr val="88BEF4"/>
      </a:accent1>
      <a:accent2>
        <a:srgbClr val="F1900F"/>
      </a:accent2>
      <a:accent3>
        <a:srgbClr val="FFFFFF"/>
      </a:accent3>
      <a:accent4>
        <a:srgbClr val="000000"/>
      </a:accent4>
      <a:accent5>
        <a:srgbClr val="C3DBF8"/>
      </a:accent5>
      <a:accent6>
        <a:srgbClr val="DA820C"/>
      </a:accent6>
      <a:hlink>
        <a:srgbClr val="CC3300"/>
      </a:hlink>
      <a:folHlink>
        <a:srgbClr val="0066CC"/>
      </a:folHlink>
    </a:clrScheme>
    <a:fontScheme name="灰白简约科技PPT模板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灰白简约科技PPT模板 1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2">
        <a:dk1>
          <a:srgbClr val="000000"/>
        </a:dk1>
        <a:lt1>
          <a:srgbClr val="FFFFFF"/>
        </a:lt1>
        <a:dk2>
          <a:srgbClr val="26728A"/>
        </a:dk2>
        <a:lt2>
          <a:srgbClr val="DDDDDD"/>
        </a:lt2>
        <a:accent1>
          <a:srgbClr val="9FCAD3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8A8AE7"/>
        </a:accent6>
        <a:hlink>
          <a:srgbClr val="71A5DF"/>
        </a:hlink>
        <a:folHlink>
          <a:srgbClr val="F1CA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3">
        <a:dk1>
          <a:srgbClr val="000000"/>
        </a:dk1>
        <a:lt1>
          <a:srgbClr val="FFFFFF"/>
        </a:lt1>
        <a:dk2>
          <a:srgbClr val="333399"/>
        </a:dk2>
        <a:lt2>
          <a:srgbClr val="C0C0C0"/>
        </a:lt2>
        <a:accent1>
          <a:srgbClr val="88BEF4"/>
        </a:accent1>
        <a:accent2>
          <a:srgbClr val="F1900F"/>
        </a:accent2>
        <a:accent3>
          <a:srgbClr val="FFFFFF"/>
        </a:accent3>
        <a:accent4>
          <a:srgbClr val="000000"/>
        </a:accent4>
        <a:accent5>
          <a:srgbClr val="C3DBF8"/>
        </a:accent5>
        <a:accent6>
          <a:srgbClr val="DA820C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1221</Words>
  <Application>WPS 演示</Application>
  <PresentationFormat>自定义</PresentationFormat>
  <Paragraphs>122</Paragraphs>
  <Slides>11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方正正黑简体</vt:lpstr>
      <vt:lpstr>黑体</vt:lpstr>
      <vt:lpstr>Arial</vt:lpstr>
      <vt:lpstr>楷体_GB2312</vt:lpstr>
      <vt:lpstr>新宋体</vt:lpstr>
      <vt:lpstr>Times New Roman</vt:lpstr>
      <vt:lpstr>微软雅黑</vt:lpstr>
      <vt:lpstr>Arial Unicode MS</vt:lpstr>
      <vt:lpstr>自定义设计方案</vt:lpstr>
      <vt:lpstr>灰白简约科技PPT模板</vt:lpstr>
      <vt:lpstr>PowerPoint 演示文稿</vt:lpstr>
      <vt:lpstr>第1章情境案例综述 ：生产性企业招聘管理系统 </vt:lpstr>
      <vt:lpstr>PowerPoint 演示文稿</vt:lpstr>
      <vt:lpstr>1.2  需求分析 </vt:lpstr>
      <vt:lpstr>1.2  需求分析 </vt:lpstr>
      <vt:lpstr>1.2  需求分析 </vt:lpstr>
      <vt:lpstr>1.2  需求分析 </vt:lpstr>
      <vt:lpstr>1.3  总体设计 </vt:lpstr>
      <vt:lpstr>1.3  总体设计 </vt:lpstr>
      <vt:lpstr>1.3  总体设计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bt026.pptx</dc:title>
  <dc:creator/>
  <cp:lastModifiedBy>fx</cp:lastModifiedBy>
  <cp:revision>3</cp:revision>
  <dcterms:created xsi:type="dcterms:W3CDTF">2016-09-20T02:06:00Z</dcterms:created>
  <dcterms:modified xsi:type="dcterms:W3CDTF">2026-07-21T11:20:52Z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E0DBE13BCF1144B9BC49B720C15E30E2_12</vt:lpwstr>
  </property>
  <property fmtid="{D5CDD505-2E9C-101B-9397-08002B2CF9AE}" pid="3" name="KSOProductBuildVer">
    <vt:lpwstr>2052-12.1.0.26895</vt:lpwstr>
  </property>
</Properties>
</file>