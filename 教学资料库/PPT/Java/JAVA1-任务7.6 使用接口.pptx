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05" r:id="rId3"/>
    <p:sldId id="373" r:id="rId5"/>
    <p:sldId id="374" r:id="rId6"/>
    <p:sldId id="493" r:id="rId7"/>
    <p:sldId id="340" r:id="rId8"/>
    <p:sldId id="353" r:id="rId9"/>
    <p:sldId id="452" r:id="rId10"/>
    <p:sldId id="466" r:id="rId11"/>
    <p:sldId id="495" r:id="rId12"/>
    <p:sldId id="487" r:id="rId13"/>
    <p:sldId id="496" r:id="rId14"/>
    <p:sldId id="488" r:id="rId15"/>
    <p:sldId id="497" r:id="rId16"/>
    <p:sldId id="492" r:id="rId17"/>
    <p:sldId id="498" r:id="rId18"/>
    <p:sldId id="478" r:id="rId19"/>
    <p:sldId id="479" r:id="rId20"/>
    <p:sldId id="481" r:id="rId21"/>
    <p:sldId id="499" r:id="rId22"/>
    <p:sldId id="500" r:id="rId23"/>
    <p:sldId id="501" r:id="rId24"/>
    <p:sldId id="502" r:id="rId25"/>
    <p:sldId id="503" r:id="rId26"/>
    <p:sldId id="504" r:id="rId27"/>
    <p:sldId id="347" r:id="rId28"/>
  </p:sldIdLst>
  <p:sldSz cx="12198350" cy="6858000"/>
  <p:notesSz cx="6858000" cy="9144000"/>
  <p:custDataLst>
    <p:tags r:id="rId32"/>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45" userDrawn="1">
          <p15:clr>
            <a:srgbClr val="A4A3A4"/>
          </p15:clr>
        </p15:guide>
        <p15:guide id="2" pos="39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45"/>
        <p:guide pos="3948"/>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46.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09:27:43"/>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1198.000 1306.000,'0.023'0.000,"0.035"0.000,0.040 0.000,0.039 0.000,0.036 0.000,0.030 0.000,0.024 0.000,0.019 0.000,0.014 0.000,0.010 0.000,0.006 0.000,0.063 0.000,0.095 0.000,0.106 0.000,0.290 0.000,0.270 0.000,0.194 0.000,0.131 0.000,0.081 0.000,0.043 0.000,0.944-0.062,0.590-0.038,0.302-0.019,0.091-0.005,-0.056 0.004,1.548-0.247,0.692-0.178,0.199-0.124,-0.136-0.081,-0.345-0.047,-0.457-0.022,3.225-0.623,0.975-0.209,-0.060-0.009,-0.681 0.113,-0.995 0.176,-1.096 0.199,0.369-0.003,0.222 0.017,-0.254 0.096,-0.540 0.140,-0.684 0.157,-0.725 0.157,-0.810 0.172,-0.283 0.109,-0.163 0.094,-0.073 0.077,-0.009 0.061,-1.788 0.063,2.967 0.002,0.015 0.036,-0.295 0.022,-0.466 0.012,-0.537 0.004,-0.539-0.001,-2.162-0.035,2.949 0.038,0.599 0.016,0.283 0.019,0.054 0.020,-0.102 0.020,1.491 0.032,-0.068-0.009,-0.494-0.018,-0.706-0.022,-0.772-0.023,-0.743-0.021,1.020 0.149,0.374 0.075,-0.112 0.023,-0.402-0.012,-0.547-0.032,-0.591-0.042,-0.059-0.053,-0.077-0.037,-0.194-0.034,-0.255-0.029,-0.275-0.023,-0.267-0.018,0.319-0.014,0.254-0.009,0.107-0.006,0.001-0.004,-0.069-0.002,0.535-0.002,0.129 0.000,-0.014 0.001,-0.105 0.001,-0.156 0.001,0.623 0.001,0.030 0.001,-0.230 0.001,-0.371 0.001,-0.426 0.001,-0.425 0.001,-0.157 0.000,-0.048 0.000,-0.048 0.000,-0.045 0.000,-0.040 0.000,0.832 0.089,0.248 0.046,-0.036 0.016,-0.205-0.004,-0.288-0.016,-0.313-0.021,-1.433-0.091,1.261 0.068,-0.065 0.002,-0.146 0.006,-0.189 0.009,-0.204 0.010,-0.200 0.010,0.022 0.007,-0.070-0.012,-0.085-0.017,-0.088-0.019,-0.083-0.019,0.077 0.002,0.058 0.011,0.053 0.017,0.045 0.019,0.036 0.019,-0.029-0.014,-0.006-0.008,-0.041-0.013,-0.060-0.015,-0.069-0.016,-0.070-0.015,-0.033-0.010,-0.098-0.015,-0.088-0.011,-0.074-0.008,-0.059-0.006,-0.044-0.004,-0.032-0.002,-0.021-0.001,-0.013 0.000,-0.007 0.000,-0.003 0.000,0.000 0.001,0.002 0.001,0.003 0.001,0.003 0.000,0.003 0.000,0.003 0.000,0.002 0.000,0.002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0.000,0.061 0.031,0.104 0.052,0.129 0.065,0.705 0.130,0.357 0.020,0.183-0.015,0.062-0.034,0.298-0.064,0.308-0.034,0.160-0.032,0.052-0.029,-0.022-0.025,1.662-0.020,0.835-0.018,0.308-0.013,-0.051-0.010,-0.278-0.006,-0.402-0.004,0.650-0.002,0.318-0.001,0.082 0.000,-0.075 0.001,-0.170 0.001,4.003 0.001,1.666 0.001,0.304 0.001,-0.560 0.001,-1.046 0.001,-1.257 0.001,0.447 0.000,0.106 0.000,-0.456 0.000,-0.782 0.000,-0.933 0.000,-0.961 0.000,1.780 0.000,0.491 0.000,-0.209 0.000,-0.631 0.000,-0.844 0.000,-0.712 0.000,-0.515 0.000,-0.376 0.000,-0.260 0.000,-0.166 0.000,-0.094 0.000,1.167 0.138,0.635 0.080,0.064 0.037,-0.312 0.007,-0.536-0.014,-0.645-0.026,-3.694-0.178,3.365 0.133,-0.352-0.032,-0.467-0.031,-0.513-0.028,-0.511-0.024,-0.477-0.020,0.171-0.015,-0.271-0.016,-0.318-0.011,-0.319-0.007,-0.291-0.004,-0.250-0.002,-0.202 0.000,-0.163 0.002,-0.041 0.001,-0.010 0.001,0.012 0.001,0.025 0.001,1.414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2-18T09:27:43"/>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662.000 947.000,'0.019'0.012,"0.028"0.019,0.032 0.021,0.031 0.021,0.028 0.019,0.024 0.016,0.019 0.013,0.014 0.010,0.010 0.007,0.007 0.005,0.004 0.003,0.003 0.002,0.001 0.001,0.000 0.000,0.019-0.030,0.082-0.014,0.098-0.016,0.127-0.010,0.038-0.019,0.009-0.016,-0.010-0.014,-0.021-0.011,0.286-0.008,0.157-0.006,0.078-0.004,0.023-0.003,-0.012-0.001,1.196-0.068,0.815-0.040,0.431-0.018,0.151-0.003,-0.043 0.007,2.921-0.178,1.353-0.108,0.436-0.062,-0.173-0.028,-0.542-0.004,-0.732 0.011,2.711-0.159,1.994-0.102,0.884-0.021,0.087 0.034,-0.452 0.069,0.246 0.025,-0.987 0.080,-1.029 0.072,-0.980 0.062,-0.876 0.050,-0.745 0.039,-0.607 0.030,4.023-0.148,1.286-0.035,-0.147 0.021,-1.010 0.054,-1.451 0.069,-7.996 0.291,7.521-0.177,-0.018 0.052,-0.495 0.046,-0.780 0.040,-0.919 0.033,-0.953 0.026,-0.224 0.020,-0.722 0.016,-0.703 0.011,-0.639 0.007,-0.551 0.003,0.139 0.002,-0.221-0.001,-0.358-0.002,-0.417-0.002,-0.421-0.002,-0.390-0.002,0.453-0.002,0.061-0.002,-0.137-0.002,-0.246-0.001,-0.291-0.001,0.207 0.000,0.150 0.000,0.029 0.000,-0.050 0.000,0.406 0.000,0.226 0.000,0.094 0.000,0.003 0.000,-0.056 0.000,-0.089 0.000,1.190-0.034,0.361-0.052,-0.056-0.059,-0.306-0.058,-0.433-0.052,0.325-0.007,-0.017 0.016,-0.251 0.031,-0.374 0.037,-0.418 0.038,-0.411 0.035,0.648-0.073,0.325-0.060,0.055-0.045,-0.118-0.032,-0.218-0.022,-0.263-0.013,0.905 0.029,0.527 0.035,0.194 0.044,0.350 0.046,-0.018 0.044,-0.252 0.039,-0.384 0.034,-0.439 0.027,0.683-0.063,-0.004-0.027,-0.288-0.005,-0.439 0.009,-0.495 0.017,-0.488 0.021,-1.911 0.076,2.102-0.213,0.044-0.058,-0.119-0.015,-0.215 0.013,-0.260 0.030,0.010 0.041,-0.002 0.019,-0.098 0.015,-0.156 0.012,-0.184 0.009,-0.191 0.006,0.811 0.015,0.462 0.019,0.200 0.021,0.014 0.021,-0.111 0.020,-0.186 0.018,1.219 0.012,0.263 0.015,-0.122 0.011,-0.349 0.008,-0.459 0.005,-0.489 0.003,-2.125-0.003,3.317 0.005,0.502 0.000,0.062 0.000,-0.216-0.001,-3.392-0.004,2.961-0.136,-0.272-0.081,-0.388-0.038,-0.437-0.007,-0.438 0.014,-0.409 0.026,-0.361 0.032,-1.151 0.152,1.281-0.118,-0.017 0.037,-0.070 0.033,-0.098 0.027,-0.108 0.022,1.444-0.117,0.719-0.100,0.261-0.082,-0.038-0.064,-0.032-0.040,-0.001-0.016,-0.194 0.023,-0.303 0.047,-0.351 0.058,0.014-0.126,-0.333-0.022,-0.380 0.028,-0.377 0.055,-0.342 0.068,-0.244 0.075,-0.199 0.061,-0.178 0.054,-0.150 0.044,-0.086 0.037,-0.052 0.023,-0.055 0.017,-0.054 0.012,-0.049 0.008,-0.042 0.005,-0.035 0.002,0.024-0.001,0.102 0.000,0.133-0.001,0.146-0.001,0.304-0.001,0.134-0.002,0.053-0.002,-0.004-0.001,-0.042-0.001,-0.064-0.001,0.035-0.001,-0.088-0.001,-0.114 0.000,-0.122 0.000,-0.119 0.000,-0.107 0.000,1.477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customXml" Target="../ink/ink1.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customXml" Target="../ink/ink2.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41.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45.xml"/><Relationship Id="rId1" Type="http://schemas.openxmlformats.org/officeDocument/2006/relationships/tags" Target="../tags/tag4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2999740"/>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，接口中包括方法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void eat()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void sleep()</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通过</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类实现该接口并进行测试。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：在任务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的基础上定义一个抽象类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Action,</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其中包括抽象方法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shout();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继承于</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Action</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类并实现</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定义一个测试类。</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2168525"/>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子任务</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，其中包括全局变量</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和抽象方法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void show()</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Color,</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包括方法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void color()</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Action</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，包括抽象方法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void shout()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并且该接口继承于</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Color</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Cat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类用于实现接口</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Action</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；定义一个测试类。</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接口的概念</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3"/>
          <p:cNvSpPr>
            <a:spLocks noChangeArrowheads="1"/>
          </p:cNvSpPr>
          <p:nvPr/>
        </p:nvSpPr>
        <p:spPr bwMode="auto">
          <a:xfrm>
            <a:off x="6605905" y="4109085"/>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接口的特性</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a:spLocks noChangeArrowheads="1"/>
          </p:cNvSpPr>
          <p:nvPr/>
        </p:nvSpPr>
        <p:spPr bwMode="auto">
          <a:xfrm>
            <a:off x="6605905" y="4509135"/>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接口的用途</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4"/>
          <p:cNvSpPr>
            <a:spLocks noChangeArrowheads="1"/>
          </p:cNvSpPr>
          <p:nvPr/>
        </p:nvSpPr>
        <p:spPr bwMode="auto">
          <a:xfrm>
            <a:off x="6605905" y="4869815"/>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接口的定义</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a:spLocks noChangeArrowheads="1"/>
          </p:cNvSpPr>
          <p:nvPr/>
        </p:nvSpPr>
        <p:spPr bwMode="auto">
          <a:xfrm>
            <a:off x="6605905" y="5274310"/>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实现接口并继承抽象类</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矩形 7"/>
          <p:cNvSpPr>
            <a:spLocks noChangeArrowheads="1"/>
          </p:cNvSpPr>
          <p:nvPr/>
        </p:nvSpPr>
        <p:spPr bwMode="auto">
          <a:xfrm>
            <a:off x="6605905" y="5655310"/>
            <a:ext cx="39947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接口继承接口</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0" nodeType="withEffect">
                                  <p:stCondLst>
                                    <p:cond delay="200"/>
                                  </p:stCondLst>
                                  <p:iterate type="lt">
                                    <p:tmAbs val="0"/>
                                  </p:iterate>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8" dur="1000" decel="50000" fill="hold">
                                          <p:stCondLst>
                                            <p:cond delay="0"/>
                                          </p:stCondLst>
                                        </p:cTn>
                                        <p:tgtEl>
                                          <p:spTgt spid="3"/>
                                        </p:tgtEl>
                                        <p:attrNameLst>
                                          <p:attrName>ppt_x</p:attrName>
                                          <p:attrName>ppt_y</p:attrName>
                                        </p:attrNameLst>
                                      </p:cBhvr>
                                      <p:rCtr x="0" y="0"/>
                                    </p:animMotion>
                                    <p:animEffect>
                                      <p:cBhvr>
                                        <p:cTn id="19" dur="1000"/>
                                        <p:tgtEl>
                                          <p:spTgt spid="3"/>
                                        </p:tgtEl>
                                      </p:cBhvr>
                                    </p:animEffect>
                                  </p:childTnLst>
                                </p:cTn>
                              </p:par>
                              <p:par>
                                <p:cTn id="20" presetID="52" presetClass="entr" presetSubtype="0" fill="hold" grpId="1" nodeType="withEffect">
                                  <p:stCondLst>
                                    <p:cond delay="0"/>
                                  </p:stCondLst>
                                  <p:childTnLst>
                                    <p:set>
                                      <p:cBhvr>
                                        <p:cTn id="21" dur="1" fill="hold">
                                          <p:stCondLst>
                                            <p:cond delay="0"/>
                                          </p:stCondLst>
                                        </p:cTn>
                                        <p:tgtEl>
                                          <p:spTgt spid="2"/>
                                        </p:tgtEl>
                                        <p:attrNameLst>
                                          <p:attrName>style.visibility</p:attrName>
                                        </p:attrNameLst>
                                      </p:cBhvr>
                                      <p:to>
                                        <p:strVal val="visible"/>
                                      </p:to>
                                    </p:set>
                                    <p:animScale>
                                      <p:cBhvr>
                                        <p:cTn id="2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
                                        </p:tgtEl>
                                        <p:attrNameLst>
                                          <p:attrName>ppt_x</p:attrName>
                                          <p:attrName>ppt_y</p:attrName>
                                        </p:attrNameLst>
                                      </p:cBhvr>
                                    </p:animMotion>
                                    <p:animEffect transition="in" filter="fade">
                                      <p:cBhvr>
                                        <p:cTn id="24" dur="1000"/>
                                        <p:tgtEl>
                                          <p:spTgt spid="2"/>
                                        </p:tgtEl>
                                      </p:cBhvr>
                                    </p:animEffect>
                                  </p:childTnLst>
                                </p:cTn>
                              </p:par>
                              <p:par>
                                <p:cTn id="25" presetID="52" presetClass="entr" presetSubtype="0" fill="hold" grpId="1" nodeType="withEffect">
                                  <p:stCondLst>
                                    <p:cond delay="0"/>
                                  </p:stCondLst>
                                  <p:iterate type="lt">
                                    <p:tmPct val="0"/>
                                  </p:iterate>
                                  <p:childTnLst>
                                    <p:set>
                                      <p:cBhvr>
                                        <p:cTn id="26" dur="1" fill="hold">
                                          <p:stCondLst>
                                            <p:cond delay="0"/>
                                          </p:stCondLst>
                                        </p:cTn>
                                        <p:tgtEl>
                                          <p:spTgt spid="3"/>
                                        </p:tgtEl>
                                        <p:attrNameLst>
                                          <p:attrName>style.visibility</p:attrName>
                                        </p:attrNameLst>
                                      </p:cBhvr>
                                      <p:to>
                                        <p:strVal val="visible"/>
                                      </p:to>
                                    </p:set>
                                    <p:animScale>
                                      <p:cBhvr>
                                        <p:cTn id="2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3"/>
                                        </p:tgtEl>
                                        <p:attrNameLst>
                                          <p:attrName>ppt_x</p:attrName>
                                          <p:attrName>ppt_y</p:attrName>
                                        </p:attrNameLst>
                                      </p:cBhvr>
                                    </p:animMotion>
                                    <p:animEffect transition="in" filter="fade">
                                      <p:cBhvr>
                                        <p:cTn id="29" dur="1000"/>
                                        <p:tgtEl>
                                          <p:spTgt spid="3"/>
                                        </p:tgtEl>
                                      </p:cBhvr>
                                    </p:animEffect>
                                  </p:childTnLst>
                                </p:cTn>
                              </p:par>
                              <p:par>
                                <p:cTn id="30" presetID="52" presetClass="entr" presetSubtype="0" fill="hold" grpId="0" nodeType="withEffect">
                                  <p:stCondLst>
                                    <p:cond delay="200"/>
                                  </p:stCondLst>
                                  <p:iterate type="lt">
                                    <p:tmAbs val="0"/>
                                  </p:iterate>
                                  <p:childTnLst>
                                    <p:set>
                                      <p:cBhvr>
                                        <p:cTn id="31" dur="1" fill="hold">
                                          <p:stCondLst>
                                            <p:cond delay="0"/>
                                          </p:stCondLst>
                                        </p:cTn>
                                        <p:tgtEl>
                                          <p:spTgt spid="4"/>
                                        </p:tgtEl>
                                        <p:attrNameLst>
                                          <p:attrName>style.visibility</p:attrName>
                                        </p:attrNameLst>
                                      </p:cBhvr>
                                      <p:to>
                                        <p:strVal val="visible"/>
                                      </p:to>
                                    </p:set>
                                    <p:animScale>
                                      <p:cBhvr>
                                        <p:cTn id="32"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3" dur="1000" decel="50000" fill="hold">
                                          <p:stCondLst>
                                            <p:cond delay="0"/>
                                          </p:stCondLst>
                                        </p:cTn>
                                        <p:tgtEl>
                                          <p:spTgt spid="4"/>
                                        </p:tgtEl>
                                        <p:attrNameLst>
                                          <p:attrName>ppt_x</p:attrName>
                                          <p:attrName>ppt_y</p:attrName>
                                        </p:attrNameLst>
                                      </p:cBhvr>
                                      <p:rCtr x="0" y="0"/>
                                    </p:animMotion>
                                    <p:animEffect>
                                      <p:cBhvr>
                                        <p:cTn id="34" dur="1000"/>
                                        <p:tgtEl>
                                          <p:spTgt spid="4"/>
                                        </p:tgtEl>
                                      </p:cBhvr>
                                    </p:animEffect>
                                  </p:childTnLst>
                                </p:cTn>
                              </p:par>
                              <p:par>
                                <p:cTn id="35" presetID="52" presetClass="entr" presetSubtype="0" fill="hold" grpId="1" nodeType="withEffect">
                                  <p:stCondLst>
                                    <p:cond delay="0"/>
                                  </p:stCondLst>
                                  <p:iterate type="lt">
                                    <p:tmPct val="0"/>
                                  </p:iterate>
                                  <p:childTnLst>
                                    <p:set>
                                      <p:cBhvr>
                                        <p:cTn id="36" dur="1" fill="hold">
                                          <p:stCondLst>
                                            <p:cond delay="0"/>
                                          </p:stCondLst>
                                        </p:cTn>
                                        <p:tgtEl>
                                          <p:spTgt spid="4"/>
                                        </p:tgtEl>
                                        <p:attrNameLst>
                                          <p:attrName>style.visibility</p:attrName>
                                        </p:attrNameLst>
                                      </p:cBhvr>
                                      <p:to>
                                        <p:strVal val="visible"/>
                                      </p:to>
                                    </p:set>
                                    <p:animScale>
                                      <p:cBhvr>
                                        <p:cTn id="3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4"/>
                                        </p:tgtEl>
                                        <p:attrNameLst>
                                          <p:attrName>ppt_x</p:attrName>
                                          <p:attrName>ppt_y</p:attrName>
                                        </p:attrNameLst>
                                      </p:cBhvr>
                                    </p:animMotion>
                                    <p:animEffect transition="in" filter="fade">
                                      <p:cBhvr>
                                        <p:cTn id="39" dur="1000"/>
                                        <p:tgtEl>
                                          <p:spTgt spid="4"/>
                                        </p:tgtEl>
                                      </p:cBhvr>
                                    </p:animEffect>
                                  </p:childTnLst>
                                </p:cTn>
                              </p:par>
                              <p:par>
                                <p:cTn id="40" presetID="52" presetClass="entr" presetSubtype="0" fill="hold" grpId="0" nodeType="withEffect">
                                  <p:stCondLst>
                                    <p:cond delay="200"/>
                                  </p:stCondLst>
                                  <p:iterate type="lt">
                                    <p:tmAbs val="0"/>
                                  </p:iterate>
                                  <p:childTnLst>
                                    <p:set>
                                      <p:cBhvr>
                                        <p:cTn id="41" dur="1" fill="hold">
                                          <p:stCondLst>
                                            <p:cond delay="0"/>
                                          </p:stCondLst>
                                        </p:cTn>
                                        <p:tgtEl>
                                          <p:spTgt spid="5"/>
                                        </p:tgtEl>
                                        <p:attrNameLst>
                                          <p:attrName>style.visibility</p:attrName>
                                        </p:attrNameLst>
                                      </p:cBhvr>
                                      <p:to>
                                        <p:strVal val="visible"/>
                                      </p:to>
                                    </p:set>
                                    <p:animScale>
                                      <p:cBhvr>
                                        <p:cTn id="42"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3" dur="1000" decel="50000" fill="hold">
                                          <p:stCondLst>
                                            <p:cond delay="0"/>
                                          </p:stCondLst>
                                        </p:cTn>
                                        <p:tgtEl>
                                          <p:spTgt spid="5"/>
                                        </p:tgtEl>
                                        <p:attrNameLst>
                                          <p:attrName>ppt_x</p:attrName>
                                          <p:attrName>ppt_y</p:attrName>
                                        </p:attrNameLst>
                                      </p:cBhvr>
                                      <p:rCtr x="0" y="0"/>
                                    </p:animMotion>
                                    <p:animEffect>
                                      <p:cBhvr>
                                        <p:cTn id="44" dur="1000"/>
                                        <p:tgtEl>
                                          <p:spTgt spid="5"/>
                                        </p:tgtEl>
                                      </p:cBhvr>
                                    </p:animEffect>
                                  </p:childTnLst>
                                </p:cTn>
                              </p:par>
                              <p:par>
                                <p:cTn id="45" presetID="52" presetClass="entr" presetSubtype="0" fill="hold" grpId="1" nodeType="withEffect">
                                  <p:stCondLst>
                                    <p:cond delay="0"/>
                                  </p:stCondLst>
                                  <p:iterate type="lt">
                                    <p:tmPct val="0"/>
                                  </p:iterate>
                                  <p:childTnLst>
                                    <p:set>
                                      <p:cBhvr>
                                        <p:cTn id="46" dur="1" fill="hold">
                                          <p:stCondLst>
                                            <p:cond delay="0"/>
                                          </p:stCondLst>
                                        </p:cTn>
                                        <p:tgtEl>
                                          <p:spTgt spid="5"/>
                                        </p:tgtEl>
                                        <p:attrNameLst>
                                          <p:attrName>style.visibility</p:attrName>
                                        </p:attrNameLst>
                                      </p:cBhvr>
                                      <p:to>
                                        <p:strVal val="visible"/>
                                      </p:to>
                                    </p:set>
                                    <p:animScale>
                                      <p:cBhvr>
                                        <p:cTn id="4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5"/>
                                        </p:tgtEl>
                                        <p:attrNameLst>
                                          <p:attrName>ppt_x</p:attrName>
                                          <p:attrName>ppt_y</p:attrName>
                                        </p:attrNameLst>
                                      </p:cBhvr>
                                    </p:animMotion>
                                    <p:animEffect transition="in" filter="fade">
                                      <p:cBhvr>
                                        <p:cTn id="49" dur="1000"/>
                                        <p:tgtEl>
                                          <p:spTgt spid="5"/>
                                        </p:tgtEl>
                                      </p:cBhvr>
                                    </p:animEffect>
                                  </p:childTnLst>
                                </p:cTn>
                              </p:par>
                              <p:par>
                                <p:cTn id="50" presetID="52" presetClass="entr" presetSubtype="0" fill="hold" grpId="0" nodeType="withEffect">
                                  <p:stCondLst>
                                    <p:cond delay="200"/>
                                  </p:stCondLst>
                                  <p:iterate type="lt">
                                    <p:tmAbs val="0"/>
                                  </p:iterate>
                                  <p:childTnLst>
                                    <p:set>
                                      <p:cBhvr>
                                        <p:cTn id="51" dur="1" fill="hold">
                                          <p:stCondLst>
                                            <p:cond delay="0"/>
                                          </p:stCondLst>
                                        </p:cTn>
                                        <p:tgtEl>
                                          <p:spTgt spid="6"/>
                                        </p:tgtEl>
                                        <p:attrNameLst>
                                          <p:attrName>style.visibility</p:attrName>
                                        </p:attrNameLst>
                                      </p:cBhvr>
                                      <p:to>
                                        <p:strVal val="visible"/>
                                      </p:to>
                                    </p:set>
                                    <p:animScale>
                                      <p:cBhvr>
                                        <p:cTn id="5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53" dur="1000" decel="50000" fill="hold">
                                          <p:stCondLst>
                                            <p:cond delay="0"/>
                                          </p:stCondLst>
                                        </p:cTn>
                                        <p:tgtEl>
                                          <p:spTgt spid="6"/>
                                        </p:tgtEl>
                                        <p:attrNameLst>
                                          <p:attrName>ppt_x</p:attrName>
                                          <p:attrName>ppt_y</p:attrName>
                                        </p:attrNameLst>
                                      </p:cBhvr>
                                      <p:rCtr x="0" y="0"/>
                                    </p:animMotion>
                                    <p:animEffect>
                                      <p:cBhvr>
                                        <p:cTn id="54" dur="1000"/>
                                        <p:tgtEl>
                                          <p:spTgt spid="6"/>
                                        </p:tgtEl>
                                      </p:cBhvr>
                                    </p:animEffect>
                                  </p:childTnLst>
                                </p:cTn>
                              </p:par>
                              <p:par>
                                <p:cTn id="55" presetID="52" presetClass="entr" presetSubtype="0" fill="hold" grpId="1" nodeType="withEffect">
                                  <p:stCondLst>
                                    <p:cond delay="0"/>
                                  </p:stCondLst>
                                  <p:iterate type="lt">
                                    <p:tmPct val="0"/>
                                  </p:iterate>
                                  <p:childTnLst>
                                    <p:set>
                                      <p:cBhvr>
                                        <p:cTn id="56" dur="1" fill="hold">
                                          <p:stCondLst>
                                            <p:cond delay="0"/>
                                          </p:stCondLst>
                                        </p:cTn>
                                        <p:tgtEl>
                                          <p:spTgt spid="6"/>
                                        </p:tgtEl>
                                        <p:attrNameLst>
                                          <p:attrName>style.visibility</p:attrName>
                                        </p:attrNameLst>
                                      </p:cBhvr>
                                      <p:to>
                                        <p:strVal val="visible"/>
                                      </p:to>
                                    </p:set>
                                    <p:animScale>
                                      <p:cBhvr>
                                        <p:cTn id="5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8" dur="1000" decel="50000" fill="hold">
                                          <p:stCondLst>
                                            <p:cond delay="0"/>
                                          </p:stCondLst>
                                        </p:cTn>
                                        <p:tgtEl>
                                          <p:spTgt spid="6"/>
                                        </p:tgtEl>
                                        <p:attrNameLst>
                                          <p:attrName>ppt_x</p:attrName>
                                          <p:attrName>ppt_y</p:attrName>
                                        </p:attrNameLst>
                                      </p:cBhvr>
                                    </p:animMotion>
                                    <p:animEffect transition="in" filter="fade">
                                      <p:cBhvr>
                                        <p:cTn id="59" dur="1000"/>
                                        <p:tgtEl>
                                          <p:spTgt spid="6"/>
                                        </p:tgtEl>
                                      </p:cBhvr>
                                    </p:animEffect>
                                  </p:childTnLst>
                                </p:cTn>
                              </p:par>
                              <p:par>
                                <p:cTn id="60" presetID="52" presetClass="entr" presetSubtype="0" fill="hold" grpId="0" nodeType="withEffect">
                                  <p:stCondLst>
                                    <p:cond delay="200"/>
                                  </p:stCondLst>
                                  <p:iterate type="lt">
                                    <p:tmAbs val="0"/>
                                  </p:iterate>
                                  <p:childTnLst>
                                    <p:set>
                                      <p:cBhvr>
                                        <p:cTn id="61" dur="1" fill="hold">
                                          <p:stCondLst>
                                            <p:cond delay="0"/>
                                          </p:stCondLst>
                                        </p:cTn>
                                        <p:tgtEl>
                                          <p:spTgt spid="8"/>
                                        </p:tgtEl>
                                        <p:attrNameLst>
                                          <p:attrName>style.visibility</p:attrName>
                                        </p:attrNameLst>
                                      </p:cBhvr>
                                      <p:to>
                                        <p:strVal val="visible"/>
                                      </p:to>
                                    </p:set>
                                    <p:animScale>
                                      <p:cBhvr>
                                        <p:cTn id="62"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63" dur="1000" decel="50000" fill="hold">
                                          <p:stCondLst>
                                            <p:cond delay="0"/>
                                          </p:stCondLst>
                                        </p:cTn>
                                        <p:tgtEl>
                                          <p:spTgt spid="8"/>
                                        </p:tgtEl>
                                        <p:attrNameLst>
                                          <p:attrName>ppt_x</p:attrName>
                                          <p:attrName>ppt_y</p:attrName>
                                        </p:attrNameLst>
                                      </p:cBhvr>
                                      <p:rCtr x="0" y="0"/>
                                    </p:animMotion>
                                    <p:animEffect>
                                      <p:cBhvr>
                                        <p:cTn id="64" dur="1000"/>
                                        <p:tgtEl>
                                          <p:spTgt spid="8"/>
                                        </p:tgtEl>
                                      </p:cBhvr>
                                    </p:animEffect>
                                  </p:childTnLst>
                                </p:cTn>
                              </p:par>
                              <p:par>
                                <p:cTn id="65" presetID="52" presetClass="entr" presetSubtype="0" fill="hold" grpId="1" nodeType="withEffect">
                                  <p:stCondLst>
                                    <p:cond delay="0"/>
                                  </p:stCondLst>
                                  <p:iterate type="lt">
                                    <p:tmPct val="0"/>
                                  </p:iterate>
                                  <p:childTnLst>
                                    <p:set>
                                      <p:cBhvr>
                                        <p:cTn id="66" dur="1" fill="hold">
                                          <p:stCondLst>
                                            <p:cond delay="0"/>
                                          </p:stCondLst>
                                        </p:cTn>
                                        <p:tgtEl>
                                          <p:spTgt spid="8"/>
                                        </p:tgtEl>
                                        <p:attrNameLst>
                                          <p:attrName>style.visibility</p:attrName>
                                        </p:attrNameLst>
                                      </p:cBhvr>
                                      <p:to>
                                        <p:strVal val="visible"/>
                                      </p:to>
                                    </p:set>
                                    <p:animScale>
                                      <p:cBhvr>
                                        <p:cTn id="6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8"/>
                                        </p:tgtEl>
                                        <p:attrNameLst>
                                          <p:attrName>ppt_x</p:attrName>
                                          <p:attrName>ppt_y</p:attrName>
                                        </p:attrNameLst>
                                      </p:cBhvr>
                                    </p:animMotion>
                                    <p:animEffect transition="in" filter="fade">
                                      <p:cBhvr>
                                        <p:cTn id="6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3" grpId="0" bldLvl="0" autoUpdateAnimBg="0"/>
      <p:bldP spid="2" grpId="1"/>
      <p:bldP spid="3" grpId="1"/>
      <p:bldP spid="4" grpId="0" bldLvl="0" autoUpdateAnimBg="0"/>
      <p:bldP spid="4" grpId="1"/>
      <p:bldP spid="5" grpId="0" bldLvl="0" autoUpdateAnimBg="0"/>
      <p:bldP spid="5" grpId="1"/>
      <p:bldP spid="6" grpId="0" bldLvl="0" autoUpdateAnimBg="0"/>
      <p:bldP spid="6" grpId="1"/>
      <p:bldP spid="8" grpId="0" bldLvl="0" autoUpdateAnimBg="0"/>
      <p:bldP spid="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接口的概念</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953770" y="2210435"/>
            <a:ext cx="10381615" cy="2437765"/>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在</a:t>
            </a:r>
            <a:r>
              <a:rPr lang="en-US" altLang="zh-CN" sz="2000">
                <a:latin typeface="宋体" panose="02010600030101010101" pitchFamily="2" charset="-122"/>
                <a:cs typeface="宋体" panose="02010600030101010101" pitchFamily="2" charset="-122"/>
              </a:rPr>
              <a:t>Java</a:t>
            </a:r>
            <a:r>
              <a:rPr lang="zh-CN" altLang="en-US" sz="2000">
                <a:latin typeface="宋体" panose="02010600030101010101" pitchFamily="2" charset="-122"/>
                <a:cs typeface="宋体" panose="02010600030101010101" pitchFamily="2" charset="-122"/>
              </a:rPr>
              <a:t>中，接口（</a:t>
            </a:r>
            <a:r>
              <a:rPr lang="en-US" altLang="zh-CN" sz="2000">
                <a:latin typeface="宋体" panose="02010600030101010101" pitchFamily="2" charset="-122"/>
                <a:cs typeface="宋体" panose="02010600030101010101" pitchFamily="2" charset="-122"/>
              </a:rPr>
              <a:t>Interface</a:t>
            </a:r>
            <a:r>
              <a:rPr lang="zh-CN" altLang="en-US" sz="2000">
                <a:latin typeface="宋体" panose="02010600030101010101" pitchFamily="2" charset="-122"/>
                <a:cs typeface="宋体" panose="02010600030101010101" pitchFamily="2" charset="-122"/>
              </a:rPr>
              <a:t>）是一种引用类型，是一种抽象的类型，它是方法声明的集合。接口中所有的方法都是隐式抽象的，即它们都没有方法体。接口是由抽象类衍生出来的一个概念，并由此产生了一种编程方式，可以称这种编程方式为面向接口编程。面向接口编程就是将程序的业务逻辑进行分离，以接口的形式去对接不同的业务模块。接口中不实现任何业务逻辑，业务逻辑由接口的实现类来完成。当业务需求变更时，只需要修改实现类中的业务逻辑，而不需要修改接口中的内容，以减少需求变更对系统产生的影响。在</a:t>
            </a:r>
            <a:r>
              <a:rPr lang="en-US" altLang="zh-CN" sz="2000">
                <a:latin typeface="宋体" panose="02010600030101010101" pitchFamily="2" charset="-122"/>
                <a:cs typeface="宋体" panose="02010600030101010101" pitchFamily="2" charset="-122"/>
              </a:rPr>
              <a:t>Java</a:t>
            </a:r>
            <a:r>
              <a:rPr lang="zh-CN" altLang="en-US" sz="2000">
                <a:latin typeface="宋体" panose="02010600030101010101" pitchFamily="2" charset="-122"/>
                <a:cs typeface="宋体" panose="02010600030101010101" pitchFamily="2" charset="-122"/>
              </a:rPr>
              <a:t>中，接口扮演着非常重要的角色，特别是在实现多态性和解耦方面。</a:t>
            </a:r>
            <a:endParaRPr lang="zh-CN" altLang="en-US" sz="2000">
              <a:latin typeface="宋体" panose="02010600030101010101" pitchFamily="2" charset="-122"/>
              <a:cs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073650" y="5446395"/>
              <a:ext cx="2825115" cy="88900"/>
            </p14:xfrm>
          </p:contentPart>
        </mc:Choice>
        <mc:Fallback xmlns="">
          <p:pic>
            <p:nvPicPr>
              <p:cNvPr id="5" name="墨迹 4"/>
            </p:nvPicPr>
            <p:blipFill>
              <a:blip r:embed="rId4"/>
            </p:blipFill>
            <p:spPr>
              <a:xfrm>
                <a:off x="5073650" y="5446395"/>
                <a:ext cx="2825115" cy="88900"/>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接口的特性</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2210435"/>
            <a:ext cx="9748520" cy="2437765"/>
          </a:xfrm>
          <a:prstGeom prst="rect">
            <a:avLst/>
          </a:prstGeom>
        </p:spPr>
        <p:txBody>
          <a:bodyPr>
            <a:noAutofit/>
          </a:bodyPr>
          <a:p>
            <a:pPr marL="0" indent="266700" algn="l" defTabSz="266700">
              <a:lnSpc>
                <a:spcPct val="150000"/>
              </a:lnSpc>
              <a:spcBef>
                <a:spcPct val="0"/>
              </a:spcBef>
              <a:spcAft>
                <a:spcPct val="0"/>
              </a:spcAft>
            </a:pPr>
            <a:r>
              <a:rPr lang="zh-CN" altLang="en-US" sz="1800">
                <a:latin typeface="宋体" panose="02010600030101010101" pitchFamily="2" charset="-122"/>
                <a:cs typeface="宋体" panose="02010600030101010101" pitchFamily="2" charset="-122"/>
              </a:rPr>
              <a:t>抽象性：接口中的所有方法都是抽象方法，不能直接被实例化。</a:t>
            </a:r>
            <a:endParaRPr lang="zh-CN" altLang="en-US" sz="1800">
              <a:latin typeface="宋体" panose="02010600030101010101" pitchFamily="2" charset="-122"/>
              <a:cs typeface="宋体" panose="02010600030101010101" pitchFamily="2" charset="-122"/>
            </a:endParaRPr>
          </a:p>
          <a:p>
            <a:pPr marL="0" indent="266700" algn="l" defTabSz="266700">
              <a:lnSpc>
                <a:spcPct val="150000"/>
              </a:lnSpc>
              <a:spcBef>
                <a:spcPct val="0"/>
              </a:spcBef>
              <a:spcAft>
                <a:spcPct val="0"/>
              </a:spcAft>
            </a:pPr>
            <a:r>
              <a:rPr lang="zh-CN" altLang="en-US" sz="1800">
                <a:latin typeface="宋体" panose="02010600030101010101" pitchFamily="2" charset="-122"/>
                <a:cs typeface="宋体" panose="02010600030101010101" pitchFamily="2" charset="-122"/>
              </a:rPr>
              <a:t>继承性：</a:t>
            </a:r>
            <a:r>
              <a:rPr lang="en-US" altLang="zh-CN" sz="1800">
                <a:latin typeface="宋体" panose="02010600030101010101" pitchFamily="2" charset="-122"/>
                <a:cs typeface="宋体" panose="02010600030101010101" pitchFamily="2" charset="-122"/>
              </a:rPr>
              <a:t>Java</a:t>
            </a:r>
            <a:r>
              <a:rPr lang="zh-CN" altLang="en-US" sz="1800">
                <a:latin typeface="宋体" panose="02010600030101010101" pitchFamily="2" charset="-122"/>
                <a:cs typeface="宋体" panose="02010600030101010101" pitchFamily="2" charset="-122"/>
              </a:rPr>
              <a:t>中的接口支持多继承，即一个接口可以继承多个其他接口。</a:t>
            </a:r>
            <a:endParaRPr lang="zh-CN" altLang="en-US" sz="1800">
              <a:latin typeface="宋体" panose="02010600030101010101" pitchFamily="2" charset="-122"/>
              <a:cs typeface="宋体" panose="02010600030101010101" pitchFamily="2" charset="-122"/>
            </a:endParaRPr>
          </a:p>
          <a:p>
            <a:pPr marL="0" indent="266700" algn="l" defTabSz="266700">
              <a:lnSpc>
                <a:spcPct val="150000"/>
              </a:lnSpc>
              <a:spcBef>
                <a:spcPct val="0"/>
              </a:spcBef>
              <a:spcAft>
                <a:spcPct val="0"/>
              </a:spcAft>
            </a:pPr>
            <a:r>
              <a:rPr lang="zh-CN" altLang="en-US" sz="1800">
                <a:latin typeface="宋体" panose="02010600030101010101" pitchFamily="2" charset="-122"/>
                <a:cs typeface="宋体" panose="02010600030101010101" pitchFamily="2" charset="-122"/>
              </a:rPr>
              <a:t>实现性：一个类可以通过使用</a:t>
            </a:r>
            <a:r>
              <a:rPr lang="en-US" altLang="zh-CN" sz="1800">
                <a:latin typeface="宋体" panose="02010600030101010101" pitchFamily="2" charset="-122"/>
                <a:cs typeface="宋体" panose="02010600030101010101" pitchFamily="2" charset="-122"/>
              </a:rPr>
              <a:t>implements</a:t>
            </a:r>
            <a:r>
              <a:rPr lang="zh-CN" altLang="en-US" sz="1800">
                <a:latin typeface="宋体" panose="02010600030101010101" pitchFamily="2" charset="-122"/>
                <a:cs typeface="宋体" panose="02010600030101010101" pitchFamily="2" charset="-122"/>
              </a:rPr>
              <a:t>关键字实现一个或多个接口，从而必须提供接口中所有方法的实现（除了默认方法和静态方法，这些方法有默认实现，但也可以被覆盖）。</a:t>
            </a:r>
            <a:endParaRPr lang="zh-CN" altLang="en-US" sz="1800">
              <a:latin typeface="宋体" panose="02010600030101010101" pitchFamily="2" charset="-122"/>
              <a:cs typeface="宋体" panose="02010600030101010101" pitchFamily="2" charset="-122"/>
            </a:endParaRPr>
          </a:p>
          <a:p>
            <a:pPr marL="0" indent="266700" algn="l" defTabSz="266700">
              <a:lnSpc>
                <a:spcPct val="150000"/>
              </a:lnSpc>
              <a:spcBef>
                <a:spcPct val="0"/>
              </a:spcBef>
              <a:spcAft>
                <a:spcPct val="0"/>
              </a:spcAft>
            </a:pPr>
            <a:r>
              <a:rPr lang="zh-CN" altLang="en-US" sz="1800">
                <a:latin typeface="宋体" panose="02010600030101010101" pitchFamily="2" charset="-122"/>
                <a:cs typeface="宋体" panose="02010600030101010101" pitchFamily="2" charset="-122"/>
              </a:rPr>
              <a:t>类型安全：接口可以作为引用类型，确保实现了该接口的类的实例能够按照接口的约定来执行操作，从而实现类型安全。</a:t>
            </a:r>
            <a:endParaRPr lang="zh-CN" altLang="en-US" sz="1800">
              <a:latin typeface="宋体" panose="02010600030101010101" pitchFamily="2" charset="-122"/>
              <a:cs typeface="宋体" panose="02010600030101010101" pitchFamily="2" charset="-122"/>
            </a:endParaRPr>
          </a:p>
          <a:p>
            <a:pPr marL="0" indent="266700" algn="l" defTabSz="266700">
              <a:lnSpc>
                <a:spcPct val="150000"/>
              </a:lnSpc>
              <a:spcBef>
                <a:spcPct val="0"/>
              </a:spcBef>
              <a:spcAft>
                <a:spcPct val="0"/>
              </a:spcAft>
            </a:pPr>
            <a:r>
              <a:rPr lang="zh-CN" altLang="en-US" sz="1800">
                <a:latin typeface="宋体" panose="02010600030101010101" pitchFamily="2" charset="-122"/>
                <a:cs typeface="宋体" panose="02010600030101010101" pitchFamily="2" charset="-122"/>
              </a:rPr>
              <a:t>常量池：在</a:t>
            </a:r>
            <a:r>
              <a:rPr lang="en-US" altLang="zh-CN" sz="1800">
                <a:latin typeface="宋体" panose="02010600030101010101" pitchFamily="2" charset="-122"/>
                <a:cs typeface="宋体" panose="02010600030101010101" pitchFamily="2" charset="-122"/>
              </a:rPr>
              <a:t>Java 9</a:t>
            </a:r>
            <a:r>
              <a:rPr lang="zh-CN" altLang="en-US" sz="1800">
                <a:latin typeface="宋体" panose="02010600030101010101" pitchFamily="2" charset="-122"/>
                <a:cs typeface="宋体" panose="02010600030101010101" pitchFamily="2" charset="-122"/>
              </a:rPr>
              <a:t>之前，接口中的字段默认为</a:t>
            </a:r>
            <a:r>
              <a:rPr lang="en-US" altLang="zh-CN" sz="1800">
                <a:latin typeface="宋体" panose="02010600030101010101" pitchFamily="2" charset="-122"/>
                <a:cs typeface="宋体" panose="02010600030101010101" pitchFamily="2" charset="-122"/>
              </a:rPr>
              <a:t>public static final</a:t>
            </a:r>
            <a:r>
              <a:rPr lang="zh-CN" altLang="en-US" sz="1800">
                <a:latin typeface="宋体" panose="02010600030101010101" pitchFamily="2" charset="-122"/>
                <a:cs typeface="宋体" panose="02010600030101010101" pitchFamily="2" charset="-122"/>
              </a:rPr>
              <a:t>，这些字段在编译时就已经确定其值，并被放置在常量池中。从</a:t>
            </a:r>
            <a:r>
              <a:rPr lang="en-US" altLang="zh-CN" sz="1800">
                <a:latin typeface="宋体" panose="02010600030101010101" pitchFamily="2" charset="-122"/>
                <a:cs typeface="宋体" panose="02010600030101010101" pitchFamily="2" charset="-122"/>
              </a:rPr>
              <a:t>Java 9</a:t>
            </a:r>
            <a:r>
              <a:rPr lang="zh-CN" altLang="en-US" sz="1800">
                <a:latin typeface="宋体" panose="02010600030101010101" pitchFamily="2" charset="-122"/>
                <a:cs typeface="宋体" panose="02010600030101010101" pitchFamily="2" charset="-122"/>
              </a:rPr>
              <a:t>开始，接口可以包含私有字段和静态非</a:t>
            </a:r>
            <a:r>
              <a:rPr lang="en-US" altLang="zh-CN" sz="1800">
                <a:latin typeface="宋体" panose="02010600030101010101" pitchFamily="2" charset="-122"/>
                <a:cs typeface="宋体" panose="02010600030101010101" pitchFamily="2" charset="-122"/>
              </a:rPr>
              <a:t>final</a:t>
            </a:r>
            <a:r>
              <a:rPr lang="zh-CN" altLang="en-US" sz="1800">
                <a:latin typeface="宋体" panose="02010600030101010101" pitchFamily="2" charset="-122"/>
                <a:cs typeface="宋体" panose="02010600030101010101" pitchFamily="2" charset="-122"/>
              </a:rPr>
              <a:t>字段。</a:t>
            </a:r>
            <a:endParaRPr lang="zh-CN" altLang="en-US" sz="1800">
              <a:latin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接口的用途</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2399665"/>
          </a:xfrm>
          <a:prstGeom prst="rect">
            <a:avLst/>
          </a:prstGeom>
        </p:spPr>
        <p:txBody>
          <a:bodyPr wrap="square">
            <a:spAutoFit/>
          </a:bodyPr>
          <a:p>
            <a:pPr marL="0" indent="266700" algn="just" defTabSz="266700" latinLnBrk="0">
              <a:lnSpc>
                <a:spcPct val="150000"/>
              </a:lnSpc>
              <a:spcBef>
                <a:spcPct val="0"/>
              </a:spcBef>
              <a:spcAft>
                <a:spcPct val="0"/>
              </a:spcAft>
            </a:pPr>
            <a:r>
              <a:rPr lang="en-US" altLang="zh-CN"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在</a:t>
            </a:r>
            <a:r>
              <a:rPr lang="en-US" altLang="zh-CN" sz="2000">
                <a:latin typeface="宋体" panose="02010600030101010101" pitchFamily="2" charset="-122"/>
                <a:cs typeface="宋体" panose="02010600030101010101" pitchFamily="2" charset="-122"/>
              </a:rPr>
              <a:t>Java</a:t>
            </a:r>
            <a:r>
              <a:rPr lang="zh-CN" altLang="en-US" sz="2000">
                <a:latin typeface="宋体" panose="02010600030101010101" pitchFamily="2" charset="-122"/>
                <a:cs typeface="宋体" panose="02010600030101010101" pitchFamily="2" charset="-122"/>
              </a:rPr>
              <a:t>中，使用接口的目的是为了克服单继承的限制，因为一个类只能有一个父类，而一个类可以同时实现多个父接口。在</a:t>
            </a:r>
            <a:r>
              <a:rPr lang="en-US" altLang="zh-CN" sz="2000">
                <a:latin typeface="宋体" panose="02010600030101010101" pitchFamily="2" charset="-122"/>
                <a:cs typeface="宋体" panose="02010600030101010101" pitchFamily="2" charset="-122"/>
              </a:rPr>
              <a:t>JDK 8</a:t>
            </a:r>
            <a:r>
              <a:rPr lang="zh-CN" altLang="en-US" sz="2000">
                <a:latin typeface="宋体" panose="02010600030101010101" pitchFamily="2" charset="-122"/>
                <a:cs typeface="宋体" panose="02010600030101010101" pitchFamily="2" charset="-122"/>
              </a:rPr>
              <a:t>之前，接口是由全局常量和抽象方法组成的。</a:t>
            </a:r>
            <a:r>
              <a:rPr lang="en-US" altLang="zh-CN" sz="2000">
                <a:latin typeface="宋体" panose="02010600030101010101" pitchFamily="2" charset="-122"/>
                <a:cs typeface="宋体" panose="02010600030101010101" pitchFamily="2" charset="-122"/>
              </a:rPr>
              <a:t>JDK 8</a:t>
            </a:r>
            <a:r>
              <a:rPr lang="zh-CN" altLang="en-US" sz="2000">
                <a:latin typeface="宋体" panose="02010600030101010101" pitchFamily="2" charset="-122"/>
                <a:cs typeface="宋体" panose="02010600030101010101" pitchFamily="2" charset="-122"/>
              </a:rPr>
              <a:t>对接口进行了重新定义，接口中除了抽象方法外，还可以定义默认方法和静态方法，默认方法使用</a:t>
            </a:r>
            <a:r>
              <a:rPr lang="en-US" altLang="zh-CN" sz="2000">
                <a:latin typeface="宋体" panose="02010600030101010101" pitchFamily="2" charset="-122"/>
                <a:cs typeface="宋体" panose="02010600030101010101" pitchFamily="2" charset="-122"/>
              </a:rPr>
              <a:t>default</a:t>
            </a:r>
            <a:r>
              <a:rPr lang="zh-CN" altLang="en-US" sz="2000">
                <a:latin typeface="宋体" panose="02010600030101010101" pitchFamily="2" charset="-122"/>
                <a:cs typeface="宋体" panose="02010600030101010101" pitchFamily="2" charset="-122"/>
              </a:rPr>
              <a:t>关键字修饰，静态方法使用</a:t>
            </a:r>
            <a:r>
              <a:rPr lang="en-US" altLang="zh-CN" sz="2000">
                <a:latin typeface="宋体" panose="02010600030101010101" pitchFamily="2" charset="-122"/>
                <a:cs typeface="宋体" panose="02010600030101010101" pitchFamily="2" charset="-122"/>
              </a:rPr>
              <a:t>static</a:t>
            </a:r>
            <a:r>
              <a:rPr lang="zh-CN" altLang="en-US" sz="2000">
                <a:latin typeface="宋体" panose="02010600030101010101" pitchFamily="2" charset="-122"/>
                <a:cs typeface="宋体" panose="02010600030101010101" pitchFamily="2" charset="-122"/>
              </a:rPr>
              <a:t>关键字修饰，且这两种方法都允许有方法体。</a:t>
            </a:r>
            <a:endParaRPr lang="zh-CN" altLang="en-US" sz="2000">
              <a:latin typeface="宋体" panose="02010600030101010101" pitchFamily="2" charset="-122"/>
              <a:cs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接口的用途</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2861310"/>
          </a:xfrm>
          <a:prstGeom prst="rect">
            <a:avLst/>
          </a:prstGeom>
        </p:spPr>
        <p:txBody>
          <a:bodyPr wrap="square">
            <a:spAutoFit/>
          </a:bodyPr>
          <a:p>
            <a:pPr marL="0" indent="266700" algn="just" defTabSz="266700" latinLnBrk="0">
              <a:lnSpc>
                <a:spcPct val="150000"/>
              </a:lnSpc>
              <a:spcBef>
                <a:spcPct val="0"/>
              </a:spcBef>
              <a:spcAft>
                <a:spcPct val="0"/>
              </a:spcAft>
            </a:pPr>
            <a:r>
              <a:rPr lang="en-US" altLang="zh-CN" sz="20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rPr>
              <a:t>定义标准：接口定义了一组方法，但不实现它们。这些方法由实现接口的类来具体实现。这有助于定义一组公共的标准或协议。</a:t>
            </a:r>
            <a:endParaRPr lang="zh-CN" altLang="en-US" sz="2000">
              <a:latin typeface="宋体" panose="02010600030101010101" pitchFamily="2" charset="-122"/>
              <a:cs typeface="宋体" panose="02010600030101010101" pitchFamily="2" charset="-122"/>
            </a:endParaRPr>
          </a:p>
          <a:p>
            <a:pPr marL="0" indent="266700" algn="just" defTabSz="266700" latinLnBrk="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解耦：通过接口，我们可以将类的实现与接口分开，这有助于降低类之间的耦合度，提高系统的可维护性和可扩展性。</a:t>
            </a:r>
            <a:endParaRPr lang="zh-CN" altLang="en-US" sz="2000">
              <a:latin typeface="宋体" panose="02010600030101010101" pitchFamily="2" charset="-122"/>
              <a:cs typeface="宋体" panose="02010600030101010101" pitchFamily="2" charset="-122"/>
            </a:endParaRPr>
          </a:p>
          <a:p>
            <a:pPr marL="0" indent="266700" algn="just" defTabSz="266700" latinLnBrk="0">
              <a:lnSpc>
                <a:spcPct val="150000"/>
              </a:lnSpc>
              <a:spcBef>
                <a:spcPct val="0"/>
              </a:spcBef>
              <a:spcAft>
                <a:spcPct val="0"/>
              </a:spcAft>
            </a:pPr>
            <a:r>
              <a:rPr lang="zh-CN" altLang="en-US" sz="2000">
                <a:latin typeface="宋体" panose="02010600030101010101" pitchFamily="2" charset="-122"/>
                <a:cs typeface="宋体" panose="02010600030101010101" pitchFamily="2" charset="-122"/>
              </a:rPr>
              <a:t>多态性：通过接口引用，我们可以实现多态性，即可以使用接口类型的变量来引用实现了该接口的类的实例，并调用接口中定义的方法。</a:t>
            </a:r>
            <a:endParaRPr lang="zh-CN" altLang="en-US" sz="2000">
              <a:latin typeface="宋体" panose="02010600030101010101" pitchFamily="2" charset="-122"/>
              <a:cs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803525" y="3890645"/>
              <a:ext cx="2748915" cy="131445"/>
            </p14:xfrm>
          </p:contentPart>
        </mc:Choice>
        <mc:Fallback xmlns="">
          <p:pic>
            <p:nvPicPr>
              <p:cNvPr id="5" name="墨迹 4"/>
            </p:nvPicPr>
            <p:blipFill>
              <a:blip r:embed="rId4"/>
            </p:blipFill>
            <p:spPr>
              <a:xfrm>
                <a:off x="2803525" y="3890645"/>
                <a:ext cx="2748915" cy="131445"/>
              </a:xfrm>
              <a:prstGeom prst="rect"/>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接口的定义</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322070" y="2132965"/>
            <a:ext cx="8790305" cy="2999740"/>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接口使用</a:t>
            </a:r>
            <a:r>
              <a:rPr lang="en-US" altLang="zh-CN" sz="1800">
                <a:latin typeface="宋体" panose="02010600030101010101" pitchFamily="2" charset="-122"/>
                <a:ea typeface="宋体" panose="02010600030101010101" pitchFamily="2" charset="-122"/>
              </a:rPr>
              <a:t>interface</a:t>
            </a:r>
            <a:r>
              <a:rPr lang="zh-CN" altLang="en-US" sz="1800">
                <a:latin typeface="宋体" panose="02010600030101010101" pitchFamily="2" charset="-122"/>
                <a:ea typeface="宋体" panose="02010600030101010101" pitchFamily="2" charset="-122"/>
              </a:rPr>
              <a:t>关键字声明，语法格式如下：</a:t>
            </a:r>
            <a:endParaRPr lang="zh-CN" altLang="en-US"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[public] interface </a:t>
            </a:r>
            <a:r>
              <a:rPr lang="zh-CN" altLang="en-US" sz="1800">
                <a:latin typeface="宋体" panose="02010600030101010101" pitchFamily="2" charset="-122"/>
                <a:ea typeface="宋体" panose="02010600030101010101" pitchFamily="2" charset="-122"/>
              </a:rPr>
              <a:t>接口名</a:t>
            </a:r>
            <a:r>
              <a:rPr lang="en-US" altLang="zh-CN" sz="1800">
                <a:latin typeface="宋体" panose="02010600030101010101" pitchFamily="2" charset="-122"/>
                <a:ea typeface="宋体" panose="02010600030101010101" pitchFamily="2" charset="-122"/>
              </a:rPr>
              <a:t> [extends </a:t>
            </a:r>
            <a:r>
              <a:rPr lang="zh-CN" altLang="en-US" sz="1800">
                <a:latin typeface="宋体" panose="02010600030101010101" pitchFamily="2" charset="-122"/>
                <a:ea typeface="宋体" panose="02010600030101010101" pitchFamily="2" charset="-122"/>
              </a:rPr>
              <a:t>接口</a:t>
            </a:r>
            <a:r>
              <a:rPr lang="en-US" altLang="zh-CN" sz="1800">
                <a:latin typeface="宋体" panose="02010600030101010101" pitchFamily="2" charset="-122"/>
                <a:ea typeface="宋体" panose="02010600030101010101" pitchFamily="2" charset="-122"/>
              </a:rPr>
              <a:t>1,</a:t>
            </a:r>
            <a:r>
              <a:rPr lang="zh-CN" altLang="en-US" sz="1800">
                <a:latin typeface="宋体" panose="02010600030101010101" pitchFamily="2" charset="-122"/>
                <a:ea typeface="宋体" panose="02010600030101010101" pitchFamily="2" charset="-122"/>
              </a:rPr>
              <a:t>接口</a:t>
            </a:r>
            <a:r>
              <a:rPr lang="en-US" altLang="zh-CN" sz="1800">
                <a:latin typeface="宋体" panose="02010600030101010101" pitchFamily="2" charset="-122"/>
                <a:ea typeface="宋体" panose="02010600030101010101" pitchFamily="2" charset="-122"/>
              </a:rPr>
              <a:t>2...]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[static] [final] </a:t>
            </a:r>
            <a:r>
              <a:rPr lang="zh-CN" altLang="en-US" sz="1800">
                <a:latin typeface="宋体" panose="02010600030101010101" pitchFamily="2" charset="-122"/>
                <a:ea typeface="宋体" panose="02010600030101010101" pitchFamily="2" charset="-122"/>
              </a:rPr>
              <a:t>数据类型</a:t>
            </a: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常量名</a:t>
            </a:r>
            <a:r>
              <a:rPr lang="en-US" altLang="zh-CN" sz="1800">
                <a:latin typeface="宋体" panose="02010600030101010101" pitchFamily="2" charset="-122"/>
                <a:ea typeface="宋体" panose="02010600030101010101" pitchFamily="2" charset="-122"/>
              </a:rPr>
              <a:t> = </a:t>
            </a:r>
            <a:r>
              <a:rPr lang="zh-CN" altLang="en-US" sz="1800">
                <a:latin typeface="宋体" panose="02010600030101010101" pitchFamily="2" charset="-122"/>
                <a:ea typeface="宋体" panose="02010600030101010101" pitchFamily="2" charset="-122"/>
              </a:rPr>
              <a:t>常量</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[abstract] </a:t>
            </a:r>
            <a:r>
              <a:rPr lang="zh-CN" altLang="en-US" sz="1800">
                <a:latin typeface="宋体" panose="02010600030101010101" pitchFamily="2" charset="-122"/>
                <a:ea typeface="宋体" panose="02010600030101010101" pitchFamily="2" charset="-122"/>
              </a:rPr>
              <a:t>返回值的数据类型</a:t>
            </a: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方法名</a:t>
            </a:r>
            <a:r>
              <a:rPr lang="en-US" altLang="zh-CN" sz="1800">
                <a:latin typeface="宋体" panose="02010600030101010101" pitchFamily="2" charset="-122"/>
                <a:ea typeface="宋体" panose="02010600030101010101" pitchFamily="2" charset="-122"/>
              </a:rPr>
              <a:t>(</a:t>
            </a:r>
            <a:r>
              <a:rPr lang="zh-CN" altLang="en-US" sz="1800">
                <a:latin typeface="宋体" panose="02010600030101010101" pitchFamily="2" charset="-122"/>
                <a:ea typeface="宋体" panose="02010600030101010101" pitchFamily="2" charset="-122"/>
              </a:rPr>
              <a:t>参数列表</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static </a:t>
            </a:r>
            <a:r>
              <a:rPr lang="zh-CN" altLang="en-US" sz="1800">
                <a:latin typeface="宋体" panose="02010600030101010101" pitchFamily="2" charset="-122"/>
                <a:ea typeface="宋体" panose="02010600030101010101" pitchFamily="2" charset="-122"/>
              </a:rPr>
              <a:t>返回值的数据类型</a:t>
            </a: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方法名</a:t>
            </a:r>
            <a:r>
              <a:rPr lang="en-US" altLang="zh-CN" sz="1800">
                <a:latin typeface="宋体" panose="02010600030101010101" pitchFamily="2" charset="-122"/>
                <a:ea typeface="宋体" panose="02010600030101010101" pitchFamily="2" charset="-122"/>
              </a:rPr>
              <a:t>(</a:t>
            </a:r>
            <a:r>
              <a:rPr lang="zh-CN" altLang="en-US" sz="1800">
                <a:latin typeface="宋体" panose="02010600030101010101" pitchFamily="2" charset="-122"/>
                <a:ea typeface="宋体" panose="02010600030101010101" pitchFamily="2" charset="-122"/>
              </a:rPr>
              <a:t>参数列表</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default </a:t>
            </a:r>
            <a:r>
              <a:rPr lang="zh-CN" altLang="en-US" sz="1800">
                <a:latin typeface="宋体" panose="02010600030101010101" pitchFamily="2" charset="-122"/>
                <a:ea typeface="宋体" panose="02010600030101010101" pitchFamily="2" charset="-122"/>
              </a:rPr>
              <a:t>返回值的数据类型</a:t>
            </a:r>
            <a:r>
              <a:rPr lang="en-US" altLang="zh-CN" sz="1800">
                <a:latin typeface="宋体" panose="02010600030101010101" pitchFamily="2" charset="-122"/>
                <a:ea typeface="宋体" panose="02010600030101010101" pitchFamily="2" charset="-122"/>
              </a:rPr>
              <a:t> </a:t>
            </a:r>
            <a:r>
              <a:rPr lang="zh-CN" altLang="en-US" sz="1800">
                <a:latin typeface="宋体" panose="02010600030101010101" pitchFamily="2" charset="-122"/>
                <a:ea typeface="宋体" panose="02010600030101010101" pitchFamily="2" charset="-122"/>
              </a:rPr>
              <a:t>方法名</a:t>
            </a:r>
            <a:r>
              <a:rPr lang="en-US" altLang="zh-CN" sz="1800">
                <a:latin typeface="宋体" panose="02010600030101010101" pitchFamily="2" charset="-122"/>
                <a:ea typeface="宋体" panose="02010600030101010101" pitchFamily="2" charset="-122"/>
              </a:rPr>
              <a:t>(</a:t>
            </a:r>
            <a:r>
              <a:rPr lang="zh-CN" altLang="en-US" sz="1800">
                <a:latin typeface="宋体" panose="02010600030101010101" pitchFamily="2" charset="-122"/>
                <a:ea typeface="宋体" panose="02010600030101010101" pitchFamily="2" charset="-122"/>
              </a:rPr>
              <a:t>参数列表</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p:txBody>
      </p:sp>
      <p:sp>
        <p:nvSpPr>
          <p:cNvPr id="10" name="文本框 9"/>
          <p:cNvSpPr txBox="1"/>
          <p:nvPr/>
        </p:nvSpPr>
        <p:spPr>
          <a:xfrm>
            <a:off x="1851025" y="5132705"/>
            <a:ext cx="8528685" cy="1322070"/>
          </a:xfrm>
          <a:prstGeom prst="rect">
            <a:avLst/>
          </a:prstGeom>
          <a:noFill/>
        </p:spPr>
        <p:txBody>
          <a:bodyPr wrap="square" rtlCol="0" anchor="t">
            <a:spAutoFit/>
          </a:bodyPr>
          <a:p>
            <a:r>
              <a:rPr lang="en-US" altLang="zh-CN" sz="2000"/>
              <a:t>     </a:t>
            </a:r>
            <a:r>
              <a:rPr lang="zh-CN" altLang="en-US" sz="2000"/>
              <a:t>上述语法格式中</a:t>
            </a:r>
            <a:r>
              <a:rPr lang="en-US" altLang="zh-CN" sz="2000"/>
              <a:t>,extends</a:t>
            </a:r>
            <a:r>
              <a:rPr lang="zh-CN" altLang="en-US" sz="2000"/>
              <a:t>接口</a:t>
            </a:r>
            <a:r>
              <a:rPr lang="en-US" altLang="zh-CN" sz="2000"/>
              <a:t>1,</a:t>
            </a:r>
            <a:r>
              <a:rPr lang="zh-CN" altLang="en-US" sz="2000"/>
              <a:t>接口</a:t>
            </a:r>
            <a:r>
              <a:rPr lang="en-US" altLang="zh-CN" sz="2000"/>
              <a:t>2,…”</a:t>
            </a:r>
            <a:r>
              <a:rPr lang="zh-CN" altLang="en-US" sz="2000"/>
              <a:t>表示一个接口可以有多个父接口，父接口之间使用逗号分隔。接口中的变量默认使用</a:t>
            </a:r>
            <a:r>
              <a:rPr lang="en-US" altLang="zh-CN" sz="2000"/>
              <a:t>public static final </a:t>
            </a:r>
            <a:r>
              <a:rPr lang="zh-CN" altLang="en-US" sz="2000"/>
              <a:t>进行修饰</a:t>
            </a:r>
            <a:r>
              <a:rPr lang="en-US" altLang="zh-CN" sz="2000"/>
              <a:t>,</a:t>
            </a:r>
            <a:r>
              <a:rPr lang="zh-CN" altLang="en-US" sz="2000"/>
              <a:t>即全局变量。接口中定义的抽象方法默认使用</a:t>
            </a:r>
            <a:r>
              <a:rPr lang="en-US" altLang="zh-CN" sz="2000"/>
              <a:t>public abstract</a:t>
            </a:r>
            <a:r>
              <a:rPr lang="zh-CN" altLang="en-US" sz="2000"/>
              <a:t>进行修饰。</a:t>
            </a:r>
            <a:endParaRPr lang="zh-CN"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接口的定义</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322070" y="2132965"/>
            <a:ext cx="8790305" cy="3415030"/>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例如：</a:t>
            </a:r>
            <a:endParaRPr lang="zh-CN" altLang="en-US"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interface Pet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void eat();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void sleep();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注意：在很多的</a:t>
            </a:r>
            <a:r>
              <a:rPr lang="en-US" altLang="zh-CN" sz="1800">
                <a:latin typeface="宋体" panose="02010600030101010101" pitchFamily="2" charset="-122"/>
                <a:ea typeface="宋体" panose="02010600030101010101" pitchFamily="2" charset="-122"/>
              </a:rPr>
              <a:t>Java</a:t>
            </a:r>
            <a:r>
              <a:rPr lang="zh-CN" altLang="en-US" sz="1800">
                <a:latin typeface="宋体" panose="02010600030101010101" pitchFamily="2" charset="-122"/>
                <a:ea typeface="宋体" panose="02010600030101010101" pitchFamily="2" charset="-122"/>
              </a:rPr>
              <a:t>程序中，经常看到编写接口中的方法时省略了</a:t>
            </a:r>
            <a:r>
              <a:rPr lang="en-US" altLang="zh-CN" sz="1800">
                <a:latin typeface="宋体" panose="02010600030101010101" pitchFamily="2" charset="-122"/>
                <a:ea typeface="宋体" panose="02010600030101010101" pitchFamily="2" charset="-122"/>
              </a:rPr>
              <a:t>public </a:t>
            </a:r>
            <a:r>
              <a:rPr lang="zh-CN" altLang="en-US" sz="1800">
                <a:latin typeface="宋体" panose="02010600030101010101" pitchFamily="2" charset="-122"/>
                <a:ea typeface="宋体" panose="02010600030101010101" pitchFamily="2" charset="-122"/>
              </a:rPr>
              <a:t>，有很多读者认为它的访问权限是</a:t>
            </a:r>
            <a:r>
              <a:rPr lang="en-US" altLang="zh-CN" sz="1800">
                <a:latin typeface="宋体" panose="02010600030101010101" pitchFamily="2" charset="-122"/>
                <a:ea typeface="宋体" panose="02010600030101010101" pitchFamily="2" charset="-122"/>
              </a:rPr>
              <a:t>default</a:t>
            </a:r>
            <a:r>
              <a:rPr lang="zh-CN" altLang="en-US" sz="1800">
                <a:latin typeface="宋体" panose="02010600030101010101" pitchFamily="2" charset="-122"/>
                <a:ea typeface="宋体" panose="02010600030101010101" pitchFamily="2" charset="-122"/>
              </a:rPr>
              <a:t>，这实际上是错误的。不管写不写访问权限，接口中方法的访问权限永远是</a:t>
            </a:r>
            <a:r>
              <a:rPr lang="en-US" altLang="zh-CN" sz="1800">
                <a:latin typeface="宋体" panose="02010600030101010101" pitchFamily="2" charset="-122"/>
                <a:ea typeface="宋体" panose="02010600030101010101" pitchFamily="2" charset="-122"/>
              </a:rPr>
              <a:t>public</a:t>
            </a:r>
            <a:r>
              <a:rPr lang="zh-CN" altLang="en-US" sz="1800">
                <a:latin typeface="宋体" panose="02010600030101010101" pitchFamily="2" charset="-122"/>
                <a:ea typeface="宋体" panose="02010600030101010101" pitchFamily="2" charset="-122"/>
              </a:rPr>
              <a:t>。</a:t>
            </a:r>
            <a:endParaRPr lang="zh-CN" altLang="en-US" sz="180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接口的实现</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5</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1938020"/>
          </a:xfrm>
          <a:prstGeom prst="rect">
            <a:avLst/>
          </a:prstGeom>
        </p:spPr>
        <p:txBody>
          <a:bodyPr wrap="square">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定义接口的实现类，语法格式如下：</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修饰符</a:t>
            </a:r>
            <a:r>
              <a:rPr lang="en-US" altLang="zh-CN" sz="2000">
                <a:latin typeface="宋体" panose="02010600030101010101" pitchFamily="2" charset="-122"/>
                <a:ea typeface="宋体" panose="02010600030101010101" pitchFamily="2" charset="-122"/>
              </a:rPr>
              <a:t> class </a:t>
            </a:r>
            <a:r>
              <a:rPr lang="zh-CN" altLang="en-US" sz="2000">
                <a:latin typeface="宋体" panose="02010600030101010101" pitchFamily="2" charset="-122"/>
                <a:ea typeface="宋体" panose="02010600030101010101" pitchFamily="2" charset="-122"/>
              </a:rPr>
              <a:t>类名</a:t>
            </a:r>
            <a:r>
              <a:rPr lang="en-US" altLang="zh-CN" sz="2000">
                <a:latin typeface="宋体" panose="02010600030101010101" pitchFamily="2" charset="-122"/>
                <a:ea typeface="宋体" panose="02010600030101010101" pitchFamily="2" charset="-122"/>
              </a:rPr>
              <a:t> implements </a:t>
            </a:r>
            <a:r>
              <a:rPr lang="zh-CN" altLang="en-US" sz="2000">
                <a:latin typeface="宋体" panose="02010600030101010101" pitchFamily="2" charset="-122"/>
                <a:ea typeface="宋体" panose="02010600030101010101" pitchFamily="2" charset="-122"/>
              </a:rPr>
              <a:t>接口</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接口</a:t>
            </a:r>
            <a:r>
              <a:rPr lang="en-US" altLang="zh-CN" sz="2000">
                <a:latin typeface="宋体" panose="02010600030101010101" pitchFamily="2" charset="-122"/>
                <a:ea typeface="宋体" panose="02010600030101010101" pitchFamily="2" charset="-122"/>
              </a:rPr>
              <a:t>2,...{</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接口的实现</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5</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3830955"/>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例如：</a:t>
            </a:r>
            <a:endParaRPr lang="zh-CN" altLang="en-US"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Class Cat implements Pet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void eat()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System.out.println("</a:t>
            </a:r>
            <a:r>
              <a:rPr lang="zh-CN" altLang="en-US" sz="1800">
                <a:latin typeface="宋体" panose="02010600030101010101" pitchFamily="2" charset="-122"/>
                <a:ea typeface="宋体" panose="02010600030101010101" pitchFamily="2" charset="-122"/>
              </a:rPr>
              <a:t>猫咪爱吃鱼</a:t>
            </a: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public void sleep()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System.out.println("</a:t>
            </a:r>
            <a:r>
              <a:rPr lang="zh-CN" altLang="en-US" sz="1800">
                <a:latin typeface="宋体" panose="02010600030101010101" pitchFamily="2" charset="-122"/>
                <a:ea typeface="宋体" panose="02010600030101010101" pitchFamily="2" charset="-122"/>
              </a:rPr>
              <a:t>猫咪喜欢中午睡觉</a:t>
            </a: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  </a:t>
            </a:r>
            <a:endParaRPr lang="en-US" altLang="zh-CN"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1800">
                <a:latin typeface="宋体" panose="02010600030101010101" pitchFamily="2" charset="-122"/>
                <a:ea typeface="宋体" panose="02010600030101010101" pitchFamily="2" charset="-122"/>
              </a:rPr>
              <a:t>}  </a:t>
            </a:r>
            <a:endParaRPr lang="en-US" altLang="zh-CN" sz="180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实现接口并继承抽象类</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6</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2399665"/>
          </a:xfrm>
          <a:prstGeom prst="rect">
            <a:avLst/>
          </a:prstGeom>
        </p:spPr>
        <p:txBody>
          <a:bodyPr wrap="square">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如果在开发中一个子类既要实现接口又要继承抽象类，则可以按照以下语法格式定义子类。</a:t>
            </a:r>
            <a:endParaRPr lang="zh-CN" altLang="en-US"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修饰符</a:t>
            </a:r>
            <a:r>
              <a:rPr lang="en-US" altLang="zh-CN" sz="2000">
                <a:latin typeface="宋体" panose="02010600030101010101" pitchFamily="2" charset="-122"/>
                <a:ea typeface="宋体" panose="02010600030101010101" pitchFamily="2" charset="-122"/>
              </a:rPr>
              <a:t>class </a:t>
            </a:r>
            <a:r>
              <a:rPr lang="zh-CN" altLang="en-US" sz="2000">
                <a:latin typeface="宋体" panose="02010600030101010101" pitchFamily="2" charset="-122"/>
                <a:ea typeface="宋体" panose="02010600030101010101" pitchFamily="2" charset="-122"/>
              </a:rPr>
              <a:t>类名</a:t>
            </a:r>
            <a:r>
              <a:rPr lang="en-US" altLang="zh-CN" sz="2000">
                <a:latin typeface="宋体" panose="02010600030101010101" pitchFamily="2" charset="-122"/>
                <a:ea typeface="宋体" panose="02010600030101010101" pitchFamily="2" charset="-122"/>
              </a:rPr>
              <a:t> extends </a:t>
            </a:r>
            <a:r>
              <a:rPr lang="zh-CN" altLang="en-US" sz="2000">
                <a:latin typeface="宋体" panose="02010600030101010101" pitchFamily="2" charset="-122"/>
                <a:ea typeface="宋体" panose="02010600030101010101" pitchFamily="2" charset="-122"/>
              </a:rPr>
              <a:t>父类名</a:t>
            </a:r>
            <a:r>
              <a:rPr lang="en-US" altLang="zh-CN" sz="2000">
                <a:latin typeface="宋体" panose="02010600030101010101" pitchFamily="2" charset="-122"/>
                <a:ea typeface="宋体" panose="02010600030101010101" pitchFamily="2" charset="-122"/>
              </a:rPr>
              <a:t> implements </a:t>
            </a:r>
            <a:r>
              <a:rPr lang="zh-CN" altLang="en-US" sz="2000">
                <a:latin typeface="宋体" panose="02010600030101010101" pitchFamily="2" charset="-122"/>
                <a:ea typeface="宋体" panose="02010600030101010101" pitchFamily="2" charset="-122"/>
              </a:rPr>
              <a:t>接口</a:t>
            </a:r>
            <a:r>
              <a:rPr lang="en-US" altLang="zh-CN" sz="2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接口</a:t>
            </a:r>
            <a:r>
              <a:rPr lang="en-US" altLang="zh-CN" sz="2000">
                <a:latin typeface="宋体" panose="02010600030101010101" pitchFamily="2" charset="-122"/>
                <a:ea typeface="宋体" panose="02010600030101010101" pitchFamily="2" charset="-122"/>
              </a:rPr>
              <a:t>2,... {</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5922645" cy="4927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接口继承接口</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7</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1346835" y="2132965"/>
            <a:ext cx="9150985" cy="645160"/>
          </a:xfrm>
          <a:prstGeom prst="rect">
            <a:avLst/>
          </a:prstGeom>
        </p:spPr>
        <p:txBody>
          <a:bodyPr wrap="square">
            <a:spAutoFit/>
          </a:bodyPr>
          <a:p>
            <a:pPr marL="0" indent="266700" algn="just" defTabSz="266700" latinLnBrk="0">
              <a:lnSpc>
                <a:spcPct val="150000"/>
              </a:lnSpc>
              <a:spcBef>
                <a:spcPct val="0"/>
              </a:spcBef>
              <a:spcAft>
                <a:spcPct val="0"/>
              </a:spcAft>
            </a:pPr>
            <a:r>
              <a:rPr lang="en-US" sz="2400">
                <a:latin typeface="宋体" panose="02010600030101010101" pitchFamily="2" charset="-122"/>
                <a:cs typeface="宋体" panose="02010600030101010101" pitchFamily="2" charset="-122"/>
              </a:rPr>
              <a:t>   </a:t>
            </a:r>
            <a:endParaRPr sz="2400">
              <a:latin typeface="宋体" panose="02010600030101010101" pitchFamily="2" charset="-122"/>
              <a:cs typeface="宋体" panose="02010600030101010101" pitchFamily="2" charset="-122"/>
            </a:endParaRPr>
          </a:p>
        </p:txBody>
      </p:sp>
      <p:sp>
        <p:nvSpPr>
          <p:cNvPr id="6" name="文本框 5"/>
          <p:cNvSpPr txBox="1"/>
          <p:nvPr/>
        </p:nvSpPr>
        <p:spPr>
          <a:xfrm>
            <a:off x="1634490" y="2277110"/>
            <a:ext cx="8333740" cy="1476375"/>
          </a:xfrm>
          <a:prstGeom prst="rect">
            <a:avLst/>
          </a:prstGeom>
        </p:spPr>
        <p:txBody>
          <a:bodyPr wrap="square">
            <a:spAutoFit/>
          </a:bodyPr>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在</a:t>
            </a:r>
            <a:r>
              <a:rPr lang="en-US" altLang="zh-CN" sz="2000">
                <a:latin typeface="宋体" panose="02010600030101010101" pitchFamily="2" charset="-122"/>
                <a:ea typeface="宋体" panose="02010600030101010101" pitchFamily="2" charset="-122"/>
              </a:rPr>
              <a:t>Java</a:t>
            </a:r>
            <a:r>
              <a:rPr lang="zh-CN" altLang="en-US" sz="2000">
                <a:latin typeface="宋体" panose="02010600030101010101" pitchFamily="2" charset="-122"/>
                <a:ea typeface="宋体" panose="02010600030101010101" pitchFamily="2" charset="-122"/>
              </a:rPr>
              <a:t>中，接口是不允许继承抽象类的，但是允许接口继承接口，并且一个接口可以同时继承多个接口。接口继承接口的方法可以参考前面接口定义的语法格式。</a:t>
            </a:r>
            <a:endParaRPr lang="zh-CN" altLang="en-US" sz="200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，接口中包括方法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void eat()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void sleep()</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；定义类</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类实现该接口并进行测试。</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346835" y="2131695"/>
            <a:ext cx="10271125" cy="1238885"/>
          </a:xfrm>
          <a:prstGeom prst="rect">
            <a:avLst/>
          </a:prstGeom>
          <a:noFill/>
        </p:spPr>
        <p:txBody>
          <a:bodyPr wrap="square" rtlCol="0" anchor="t">
            <a:noAutofit/>
          </a:bodyPr>
          <a:lstStyle/>
          <a:p>
            <a:r>
              <a:rPr lang="zh-CN" altLang="en-US" sz="1600">
                <a:latin typeface="+mn-ea"/>
                <a:ea typeface="+mn-ea"/>
                <a:cs typeface="+mn-ea"/>
                <a:sym typeface="+mn-ea"/>
              </a:rPr>
              <a:t>子任务</a:t>
            </a:r>
            <a:r>
              <a:rPr lang="en-US" altLang="zh-CN" sz="1600">
                <a:latin typeface="+mn-ea"/>
                <a:ea typeface="+mn-ea"/>
                <a:cs typeface="+mn-ea"/>
                <a:sym typeface="+mn-ea"/>
              </a:rPr>
              <a:t>1</a:t>
            </a:r>
            <a:r>
              <a:rPr lang="zh-CN" altLang="en-US" sz="1600">
                <a:latin typeface="+mn-ea"/>
                <a:ea typeface="+mn-ea"/>
                <a:cs typeface="+mn-ea"/>
                <a:sym typeface="+mn-ea"/>
              </a:rPr>
              <a:t>：结合任务描述和知识链接中接口的定义和实现方法相关知识点可以得到文件</a:t>
            </a:r>
            <a:r>
              <a:rPr lang="en-US" altLang="zh-CN" sz="1600">
                <a:latin typeface="+mn-ea"/>
                <a:ea typeface="+mn-ea"/>
                <a:cs typeface="+mn-ea"/>
                <a:sym typeface="+mn-ea"/>
              </a:rPr>
              <a:t>7-10</a:t>
            </a:r>
            <a:r>
              <a:rPr lang="zh-CN" altLang="en-US" sz="1600">
                <a:latin typeface="+mn-ea"/>
                <a:ea typeface="+mn-ea"/>
                <a:cs typeface="+mn-ea"/>
                <a:sym typeface="+mn-ea"/>
              </a:rPr>
              <a:t>所示的代码：</a:t>
            </a:r>
            <a:endParaRPr lang="zh-CN" altLang="en-US" sz="1600">
              <a:latin typeface="+mn-ea"/>
              <a:ea typeface="+mn-ea"/>
              <a:cs typeface="+mn-ea"/>
              <a:sym typeface="+mn-ea"/>
            </a:endParaRPr>
          </a:p>
          <a:p>
            <a:endParaRPr lang="zh-CN" altLang="en-US" sz="16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3291205" y="2526030"/>
            <a:ext cx="5671820" cy="337185"/>
          </a:xfrm>
          <a:prstGeom prst="rect">
            <a:avLst/>
          </a:prstGeom>
          <a:noFill/>
        </p:spPr>
        <p:txBody>
          <a:bodyPr wrap="square" rtlCol="0" anchor="t">
            <a:spAutoFit/>
          </a:bodyPr>
          <a:p>
            <a:pPr algn="ctr"/>
            <a:r>
              <a:rPr lang="zh-CN" altLang="en-US" sz="1600">
                <a:latin typeface="+mn-ea"/>
                <a:ea typeface="+mn-ea"/>
                <a:cs typeface="+mn-ea"/>
                <a:sym typeface="+mn-ea"/>
              </a:rPr>
              <a:t>文件</a:t>
            </a:r>
            <a:r>
              <a:rPr lang="en-US" altLang="zh-CN" sz="1600">
                <a:latin typeface="+mn-ea"/>
                <a:ea typeface="+mn-ea"/>
                <a:cs typeface="+mn-ea"/>
                <a:sym typeface="+mn-ea"/>
              </a:rPr>
              <a:t>7-10 Example10</a:t>
            </a:r>
            <a:endParaRPr lang="en-US" altLang="zh-CN" sz="1600">
              <a:latin typeface="+mn-ea"/>
              <a:ea typeface="+mn-ea"/>
              <a:cs typeface="+mn-ea"/>
              <a:sym typeface="+mn-ea"/>
            </a:endParaRPr>
          </a:p>
        </p:txBody>
      </p:sp>
      <p:sp>
        <p:nvSpPr>
          <p:cNvPr id="6" name="文本框 5"/>
          <p:cNvSpPr txBox="1"/>
          <p:nvPr/>
        </p:nvSpPr>
        <p:spPr>
          <a:xfrm>
            <a:off x="1346835" y="2708910"/>
            <a:ext cx="5539105"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a:t>
            </a:r>
            <a:r>
              <a:rPr lang="zh-CN" altLang="en-US" sz="1600">
                <a:latin typeface="Times New Roman" panose="02020603050405020304"/>
                <a:sym typeface="+mn-ea"/>
              </a:rPr>
              <a:t>定义接口</a:t>
            </a:r>
            <a:endParaRPr lang="zh-CN" altLang="en-US"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1public interface Pet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	   void eat();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3	   void sleep();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a:t>
            </a:r>
            <a:r>
              <a:rPr lang="zh-CN" altLang="en-US" sz="1600">
                <a:latin typeface="Times New Roman" panose="02020603050405020304"/>
                <a:sym typeface="+mn-ea"/>
              </a:rPr>
              <a:t>实现接口</a:t>
            </a:r>
            <a:endParaRPr lang="zh-CN" altLang="en-US"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4public class Cat implements Pet{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5	public void eat()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6        System.out.println("</a:t>
            </a:r>
            <a:r>
              <a:rPr lang="zh-CN" altLang="en-US" sz="1600">
                <a:latin typeface="Times New Roman" panose="02020603050405020304"/>
                <a:sym typeface="+mn-ea"/>
              </a:rPr>
              <a:t>猫咪爱吃鱼</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7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8  public void sleep()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9        System.out.println("</a:t>
            </a:r>
            <a:r>
              <a:rPr lang="zh-CN" altLang="en-US" sz="1600">
                <a:latin typeface="Times New Roman" panose="02020603050405020304"/>
                <a:sym typeface="+mn-ea"/>
              </a:rPr>
              <a:t>猫咪喜欢中午睡觉</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10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11}</a:t>
            </a:r>
            <a:endParaRPr lang="en-US" altLang="zh-CN" sz="1600">
              <a:latin typeface="Times New Roman" panose="02020603050405020304"/>
              <a:sym typeface="+mn-ea"/>
            </a:endParaRPr>
          </a:p>
        </p:txBody>
      </p:sp>
      <p:sp>
        <p:nvSpPr>
          <p:cNvPr id="7" name="文本框 6"/>
          <p:cNvSpPr txBox="1"/>
          <p:nvPr/>
        </p:nvSpPr>
        <p:spPr>
          <a:xfrm>
            <a:off x="5667375" y="2997200"/>
            <a:ext cx="5481955" cy="2061210"/>
          </a:xfrm>
          <a:prstGeom prst="rect">
            <a:avLst/>
          </a:prstGeom>
          <a:noFill/>
        </p:spPr>
        <p:txBody>
          <a:bodyPr wrap="square" rtlCol="0" anchor="t">
            <a:sp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a:t>
            </a:r>
            <a:r>
              <a:rPr lang="zh-CN" altLang="en-US" sz="1600">
                <a:latin typeface="Times New Roman" panose="02020603050405020304"/>
                <a:sym typeface="+mn-ea"/>
              </a:rPr>
              <a:t>定义测试类</a:t>
            </a:r>
            <a:endParaRPr lang="zh-CN" altLang="en-US"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12public class Example10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13	public static void main(String[] args)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14		Cat cat = new Cat();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15		cat.eat();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16		cat.sleep();</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17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18 }</a:t>
            </a:r>
            <a:endParaRPr lang="en-US" altLang="zh-CN" sz="1600">
              <a:latin typeface="Times New Roman" panose="02020603050405020304"/>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9225" y="2132648"/>
            <a:ext cx="5080000" cy="553085"/>
          </a:xfrm>
          <a:prstGeom prst="rect">
            <a:avLst/>
          </a:prstGeom>
        </p:spPr>
        <p:txBody>
          <a:bodyPr>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文件</a:t>
            </a:r>
            <a:r>
              <a:rPr lang="en-US" altLang="zh-CN" sz="2000">
                <a:latin typeface="宋体" panose="02010600030101010101" pitchFamily="2" charset="-122"/>
                <a:ea typeface="宋体" panose="02010600030101010101" pitchFamily="2" charset="-122"/>
              </a:rPr>
              <a:t>7-10</a:t>
            </a:r>
            <a:r>
              <a:rPr lang="zh-CN" altLang="en-US" sz="2000">
                <a:latin typeface="宋体" panose="02010600030101010101" pitchFamily="2" charset="-122"/>
                <a:ea typeface="宋体" panose="02010600030101010101" pitchFamily="2" charset="-122"/>
              </a:rPr>
              <a:t>的运行结果如图</a:t>
            </a:r>
            <a:r>
              <a:rPr lang="en-US" altLang="zh-CN" sz="2000">
                <a:latin typeface="宋体" panose="02010600030101010101" pitchFamily="2" charset="-122"/>
                <a:ea typeface="宋体" panose="02010600030101010101" pitchFamily="2" charset="-122"/>
              </a:rPr>
              <a:t>7-12</a:t>
            </a:r>
            <a:r>
              <a:rPr lang="zh-CN" altLang="en-US" sz="2000">
                <a:latin typeface="宋体" panose="02010600030101010101" pitchFamily="2" charset="-122"/>
                <a:ea typeface="宋体" panose="02010600030101010101" pitchFamily="2" charset="-122"/>
              </a:rPr>
              <a:t>所示：</a:t>
            </a:r>
            <a:endParaRPr lang="zh-CN" altLang="en-US" sz="2000">
              <a:latin typeface="宋体" panose="02010600030101010101" pitchFamily="2" charset="-122"/>
              <a:ea typeface="宋体" panose="02010600030101010101" pitchFamily="2" charset="-122"/>
            </a:endParaRPr>
          </a:p>
        </p:txBody>
      </p:sp>
      <p:sp>
        <p:nvSpPr>
          <p:cNvPr id="9" name="文本框 8"/>
          <p:cNvSpPr txBox="1"/>
          <p:nvPr/>
        </p:nvSpPr>
        <p:spPr>
          <a:xfrm>
            <a:off x="3291205" y="3724275"/>
            <a:ext cx="3255645" cy="368300"/>
          </a:xfrm>
          <a:prstGeom prst="rect">
            <a:avLst/>
          </a:prstGeom>
        </p:spPr>
        <p:txBody>
          <a:bodyPr wrap="square">
            <a:spAutoFit/>
          </a:bodyPr>
          <a:p>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7-12</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7-10</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
        <p:nvSpPr>
          <p:cNvPr id="10" name="文本框 9"/>
          <p:cNvSpPr txBox="1"/>
          <p:nvPr/>
        </p:nvSpPr>
        <p:spPr>
          <a:xfrm>
            <a:off x="1094105" y="4077335"/>
            <a:ext cx="9149080" cy="506730"/>
          </a:xfrm>
          <a:prstGeom prst="rect">
            <a:avLst/>
          </a:prstGeom>
          <a:noFill/>
        </p:spPr>
        <p:txBody>
          <a:bodyPr wrap="square" rtlCol="0" anchor="t">
            <a:spAutoFit/>
          </a:bodyPr>
          <a:p>
            <a:pPr marL="0" indent="0" latinLnBrk="0">
              <a:lnSpc>
                <a:spcPct val="150000"/>
              </a:lnSpc>
            </a:pPr>
            <a:r>
              <a:rPr lang="en-US" altLang="zh-CN"/>
              <a:t>      </a:t>
            </a:r>
            <a:r>
              <a:rPr lang="zh-CN" altLang="en-US"/>
              <a:t>注意：接口的实现类，必须实现接口中的所有抽象方法，否则程序编译报错。</a:t>
            </a:r>
            <a:endParaRPr lang="zh-CN" altLang="en-US"/>
          </a:p>
        </p:txBody>
      </p:sp>
      <p:pic>
        <p:nvPicPr>
          <p:cNvPr id="100" name="图片 5"/>
          <p:cNvPicPr>
            <a:picLocks noChangeAspect="1"/>
          </p:cNvPicPr>
          <p:nvPr/>
        </p:nvPicPr>
        <p:blipFill>
          <a:blip r:embed="rId3"/>
          <a:stretch>
            <a:fillRect/>
          </a:stretch>
        </p:blipFill>
        <p:spPr>
          <a:xfrm>
            <a:off x="1995170" y="2781935"/>
            <a:ext cx="4090670" cy="790575"/>
          </a:xfrm>
          <a:prstGeom prst="rect">
            <a:avLst/>
          </a:prstGeom>
          <a:noFill/>
          <a:ln>
            <a:solidFill>
              <a:sysClr val="windowText" lastClr="000000"/>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：在任务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的基础上定义一个抽象类</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Action,</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其中包括抽象方法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shout();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类</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继承于</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Action</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类并实现</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定义一个测试类。</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346835" y="2060575"/>
            <a:ext cx="10271125" cy="795655"/>
          </a:xfrm>
          <a:prstGeom prst="rect">
            <a:avLst/>
          </a:prstGeom>
          <a:noFill/>
        </p:spPr>
        <p:txBody>
          <a:bodyPr wrap="square" rtlCol="0" anchor="t">
            <a:noAutofit/>
          </a:bodyPr>
          <a:lstStyle/>
          <a:p>
            <a:r>
              <a:rPr lang="zh-CN" altLang="en-US" sz="1600">
                <a:latin typeface="+mn-ea"/>
                <a:ea typeface="+mn-ea"/>
                <a:cs typeface="+mn-ea"/>
                <a:sym typeface="+mn-ea"/>
              </a:rPr>
              <a:t>结合任务描述和知识链接中接口的定义和实现方法、实现接口并继承抽象类相关知识点可以得到文件</a:t>
            </a:r>
            <a:r>
              <a:rPr lang="en-US" altLang="zh-CN" sz="1600">
                <a:latin typeface="+mn-ea"/>
                <a:ea typeface="+mn-ea"/>
                <a:cs typeface="+mn-ea"/>
                <a:sym typeface="+mn-ea"/>
              </a:rPr>
              <a:t>7-11</a:t>
            </a:r>
            <a:r>
              <a:rPr lang="zh-CN" altLang="en-US" sz="1600">
                <a:latin typeface="+mn-ea"/>
                <a:ea typeface="+mn-ea"/>
                <a:cs typeface="+mn-ea"/>
                <a:sym typeface="+mn-ea"/>
              </a:rPr>
              <a:t>所示的代码：</a:t>
            </a:r>
            <a:endParaRPr lang="zh-CN" altLang="en-US" sz="1600">
              <a:latin typeface="+mn-ea"/>
              <a:ea typeface="+mn-ea"/>
              <a:cs typeface="+mn-ea"/>
              <a:sym typeface="+mn-ea"/>
            </a:endParaRPr>
          </a:p>
          <a:p>
            <a:endParaRPr lang="en-US" altLang="zh-CN" sz="16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3291205" y="2526030"/>
            <a:ext cx="5671820" cy="337185"/>
          </a:xfrm>
          <a:prstGeom prst="rect">
            <a:avLst/>
          </a:prstGeom>
          <a:noFill/>
        </p:spPr>
        <p:txBody>
          <a:bodyPr wrap="square" rtlCol="0" anchor="t">
            <a:spAutoFit/>
          </a:bodyPr>
          <a:p>
            <a:pPr algn="ctr"/>
            <a:r>
              <a:rPr lang="zh-CN" altLang="en-US" sz="1600">
                <a:latin typeface="+mn-ea"/>
                <a:ea typeface="+mn-ea"/>
                <a:cs typeface="+mn-ea"/>
                <a:sym typeface="+mn-ea"/>
              </a:rPr>
              <a:t>文件</a:t>
            </a:r>
            <a:r>
              <a:rPr lang="en-US" altLang="zh-CN" sz="1600">
                <a:latin typeface="+mn-ea"/>
                <a:ea typeface="+mn-ea"/>
                <a:cs typeface="+mn-ea"/>
                <a:sym typeface="+mn-ea"/>
              </a:rPr>
              <a:t>7-11  Example11</a:t>
            </a:r>
            <a:endParaRPr lang="en-US" altLang="zh-CN" sz="1600">
              <a:latin typeface="+mn-ea"/>
              <a:ea typeface="+mn-ea"/>
              <a:cs typeface="+mn-ea"/>
              <a:sym typeface="+mn-ea"/>
            </a:endParaRPr>
          </a:p>
        </p:txBody>
      </p:sp>
      <p:sp>
        <p:nvSpPr>
          <p:cNvPr id="6" name="文本框 5"/>
          <p:cNvSpPr txBox="1"/>
          <p:nvPr/>
        </p:nvSpPr>
        <p:spPr>
          <a:xfrm>
            <a:off x="1079500" y="2540000"/>
            <a:ext cx="5539105"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1 public interface Pet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 void eat();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3 void sleep();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4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5 public class Cat extends Action implements Pet{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zh-CN" altLang="en-US" sz="1600">
                <a:latin typeface="Times New Roman" panose="02020603050405020304"/>
                <a:sym typeface="+mn-ea"/>
              </a:rPr>
              <a:t>仅供作者通读核对</a:t>
            </a:r>
            <a:endParaRPr lang="zh-CN" altLang="en-US"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131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6 public void eat()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7 System.out.println("</a:t>
            </a:r>
            <a:r>
              <a:rPr lang="zh-CN" altLang="en-US" sz="1600">
                <a:latin typeface="Times New Roman" panose="02020603050405020304"/>
                <a:sym typeface="+mn-ea"/>
              </a:rPr>
              <a:t>猫咪爱吃鱼</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8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9 public void sleep()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10 System.out.println("</a:t>
            </a:r>
            <a:r>
              <a:rPr lang="zh-CN" altLang="en-US" sz="1600">
                <a:latin typeface="Times New Roman" panose="02020603050405020304"/>
                <a:sym typeface="+mn-ea"/>
              </a:rPr>
              <a:t>猫咪喜欢中午睡觉</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11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12 public void shout()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13 System.out.println("</a:t>
            </a:r>
            <a:r>
              <a:rPr lang="zh-CN" altLang="en-US" sz="1600">
                <a:latin typeface="Times New Roman" panose="02020603050405020304"/>
                <a:sym typeface="+mn-ea"/>
              </a:rPr>
              <a:t>喵喵</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14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15 }</a:t>
            </a:r>
            <a:endParaRPr lang="en-US" altLang="zh-CN" sz="1600">
              <a:latin typeface="Times New Roman" panose="02020603050405020304"/>
              <a:sym typeface="+mn-ea"/>
            </a:endParaRPr>
          </a:p>
        </p:txBody>
      </p:sp>
      <p:sp>
        <p:nvSpPr>
          <p:cNvPr id="7" name="文本框 6"/>
          <p:cNvSpPr txBox="1"/>
          <p:nvPr/>
        </p:nvSpPr>
        <p:spPr>
          <a:xfrm>
            <a:off x="5667375" y="2997200"/>
            <a:ext cx="5481955" cy="3046095"/>
          </a:xfrm>
          <a:prstGeom prst="rect">
            <a:avLst/>
          </a:prstGeom>
          <a:noFill/>
        </p:spPr>
        <p:txBody>
          <a:bodyPr wrap="square" rtlCol="0" anchor="t">
            <a:sp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16 //</a:t>
            </a:r>
            <a:r>
              <a:rPr lang="zh-CN" altLang="en-US" sz="1600">
                <a:latin typeface="Times New Roman" panose="02020603050405020304"/>
                <a:sym typeface="+mn-ea"/>
              </a:rPr>
              <a:t>定义测试类</a:t>
            </a:r>
            <a:endParaRPr lang="zh-CN" altLang="en-US"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17 public abstract class Action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18 public abstract void shout();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19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20 public class Example11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21 public static void main(String[] args)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22 Catcat = new Cat();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23 cat.eat();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24 cat.sleep();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25 cat.shout();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26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27 }</a:t>
            </a:r>
            <a:endParaRPr lang="en-US" altLang="zh-CN" sz="1600">
              <a:latin typeface="Times New Roman" panose="02020603050405020304"/>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9225" y="2132648"/>
            <a:ext cx="5080000" cy="506730"/>
          </a:xfrm>
          <a:prstGeom prst="rect">
            <a:avLst/>
          </a:prstGeom>
        </p:spPr>
        <p:txBody>
          <a:bodyPr>
            <a:spAutoFit/>
          </a:bodyPr>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7-11</a:t>
            </a:r>
            <a:r>
              <a:rPr lang="zh-CN" altLang="en-US" sz="1800">
                <a:latin typeface="宋体" panose="02010600030101010101" pitchFamily="2" charset="-122"/>
                <a:ea typeface="宋体" panose="02010600030101010101" pitchFamily="2" charset="-122"/>
              </a:rPr>
              <a:t>的运行结果如图</a:t>
            </a:r>
            <a:r>
              <a:rPr lang="en-US" altLang="zh-CN" sz="1800">
                <a:latin typeface="宋体" panose="02010600030101010101" pitchFamily="2" charset="-122"/>
                <a:ea typeface="宋体" panose="02010600030101010101" pitchFamily="2" charset="-122"/>
              </a:rPr>
              <a:t>7-13</a:t>
            </a:r>
            <a:r>
              <a:rPr lang="zh-CN" altLang="en-US" sz="1800">
                <a:latin typeface="宋体" panose="02010600030101010101" pitchFamily="2" charset="-122"/>
                <a:ea typeface="宋体" panose="02010600030101010101" pitchFamily="2" charset="-122"/>
              </a:rPr>
              <a:t>所示：</a:t>
            </a:r>
            <a:endParaRPr lang="zh-CN" altLang="en-US" sz="1800">
              <a:latin typeface="宋体" panose="02010600030101010101" pitchFamily="2" charset="-122"/>
              <a:ea typeface="宋体" panose="02010600030101010101" pitchFamily="2" charset="-122"/>
            </a:endParaRPr>
          </a:p>
        </p:txBody>
      </p:sp>
      <p:sp>
        <p:nvSpPr>
          <p:cNvPr id="9" name="文本框 8"/>
          <p:cNvSpPr txBox="1"/>
          <p:nvPr/>
        </p:nvSpPr>
        <p:spPr>
          <a:xfrm>
            <a:off x="2571115" y="3702050"/>
            <a:ext cx="3255645" cy="368300"/>
          </a:xfrm>
          <a:prstGeom prst="rect">
            <a:avLst/>
          </a:prstGeom>
        </p:spPr>
        <p:txBody>
          <a:bodyPr wrap="square">
            <a:spAutoFit/>
          </a:bodyPr>
          <a:p>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7-13 </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7-11</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
        <p:nvSpPr>
          <p:cNvPr id="10" name="文本框 9"/>
          <p:cNvSpPr txBox="1"/>
          <p:nvPr/>
        </p:nvSpPr>
        <p:spPr>
          <a:xfrm>
            <a:off x="1094105" y="4077335"/>
            <a:ext cx="9149080" cy="922020"/>
          </a:xfrm>
          <a:prstGeom prst="rect">
            <a:avLst/>
          </a:prstGeom>
          <a:noFill/>
        </p:spPr>
        <p:txBody>
          <a:bodyPr wrap="square" rtlCol="0" anchor="t">
            <a:spAutoFit/>
          </a:bodyPr>
          <a:p>
            <a:pPr marL="0" indent="0" latinLnBrk="0">
              <a:lnSpc>
                <a:spcPct val="150000"/>
              </a:lnSpc>
            </a:pPr>
            <a:r>
              <a:rPr lang="en-US" altLang="zh-CN"/>
              <a:t>      </a:t>
            </a:r>
            <a:r>
              <a:rPr lang="zh-CN" altLang="en-US"/>
              <a:t>由图</a:t>
            </a:r>
            <a:r>
              <a:rPr lang="en-US" altLang="zh-CN"/>
              <a:t>7-12</a:t>
            </a:r>
            <a:r>
              <a:rPr lang="zh-CN" altLang="en-US"/>
              <a:t>输出可知，</a:t>
            </a:r>
            <a:r>
              <a:rPr lang="en-US" altLang="zh-CN"/>
              <a:t>Cat</a:t>
            </a:r>
            <a:r>
              <a:rPr lang="zh-CN" altLang="en-US"/>
              <a:t>类成功重写了接口中的</a:t>
            </a:r>
            <a:r>
              <a:rPr lang="en-US" altLang="zh-CN"/>
              <a:t>eat()</a:t>
            </a:r>
            <a:r>
              <a:rPr lang="zh-CN" altLang="en-US"/>
              <a:t>和</a:t>
            </a:r>
            <a:r>
              <a:rPr lang="en-US" altLang="zh-CN"/>
              <a:t>sleep()</a:t>
            </a:r>
            <a:r>
              <a:rPr lang="zh-CN" altLang="en-US"/>
              <a:t>方法，也重写了抽象类中的</a:t>
            </a:r>
            <a:r>
              <a:rPr lang="en-US" altLang="zh-CN"/>
              <a:t>shout()</a:t>
            </a:r>
            <a:r>
              <a:rPr lang="zh-CN" altLang="en-US"/>
              <a:t>方法，这说明</a:t>
            </a:r>
            <a:r>
              <a:rPr lang="en-US" altLang="zh-CN"/>
              <a:t>Cat</a:t>
            </a:r>
            <a:r>
              <a:rPr lang="zh-CN" altLang="en-US"/>
              <a:t>类的实例化对象可以访问该类实现的接口和抽象类的方法。</a:t>
            </a:r>
            <a:endParaRPr lang="zh-CN" altLang="en-US"/>
          </a:p>
        </p:txBody>
      </p:sp>
      <p:pic>
        <p:nvPicPr>
          <p:cNvPr id="101" name="图片 6"/>
          <p:cNvPicPr>
            <a:picLocks noChangeAspect="1"/>
          </p:cNvPicPr>
          <p:nvPr/>
        </p:nvPicPr>
        <p:blipFill>
          <a:blip r:embed="rId3"/>
          <a:stretch>
            <a:fillRect/>
          </a:stretch>
        </p:blipFill>
        <p:spPr>
          <a:xfrm>
            <a:off x="2571115" y="2692400"/>
            <a:ext cx="3303270" cy="956310"/>
          </a:xfrm>
          <a:prstGeom prst="rect">
            <a:avLst/>
          </a:prstGeom>
          <a:noFill/>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子任务</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，其中包括全局变量</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NAME</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和抽象方法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void show()</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Color,</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包括方法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void color()</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Action</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，包括抽象方法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void shout()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并且该接口继承于</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Color</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类用于实现接口</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Action</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；定义一个测试类。</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346835" y="2131695"/>
            <a:ext cx="10271125" cy="795655"/>
          </a:xfrm>
          <a:prstGeom prst="rect">
            <a:avLst/>
          </a:prstGeom>
          <a:noFill/>
        </p:spPr>
        <p:txBody>
          <a:bodyPr wrap="square" rtlCol="0" anchor="t">
            <a:noAutofit/>
          </a:bodyPr>
          <a:lstStyle/>
          <a:p>
            <a:r>
              <a:rPr lang="zh-CN" altLang="en-US" sz="1600">
                <a:latin typeface="+mn-ea"/>
                <a:ea typeface="+mn-ea"/>
                <a:cs typeface="+mn-ea"/>
                <a:sym typeface="+mn-ea"/>
              </a:rPr>
              <a:t>结合任务描述和知识链接中接口的定义和实现方法、实现接口并继承抽象类相关知识点可以得到文件</a:t>
            </a:r>
            <a:r>
              <a:rPr lang="en-US" altLang="zh-CN" sz="1600">
                <a:latin typeface="+mn-ea"/>
                <a:ea typeface="+mn-ea"/>
                <a:cs typeface="+mn-ea"/>
                <a:sym typeface="+mn-ea"/>
              </a:rPr>
              <a:t>7-12</a:t>
            </a:r>
            <a:r>
              <a:rPr lang="zh-CN" altLang="en-US" sz="1600">
                <a:latin typeface="+mn-ea"/>
                <a:ea typeface="+mn-ea"/>
                <a:cs typeface="+mn-ea"/>
                <a:sym typeface="+mn-ea"/>
              </a:rPr>
              <a:t>所示的代码：</a:t>
            </a:r>
            <a:endParaRPr lang="zh-CN" altLang="en-US" sz="16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3291205" y="2526030"/>
            <a:ext cx="5671820" cy="337185"/>
          </a:xfrm>
          <a:prstGeom prst="rect">
            <a:avLst/>
          </a:prstGeom>
          <a:noFill/>
        </p:spPr>
        <p:txBody>
          <a:bodyPr wrap="square" rtlCol="0" anchor="t">
            <a:spAutoFit/>
          </a:bodyPr>
          <a:p>
            <a:pPr algn="ctr"/>
            <a:r>
              <a:rPr lang="zh-CN" altLang="en-US" sz="1600">
                <a:latin typeface="+mn-ea"/>
                <a:ea typeface="+mn-ea"/>
                <a:cs typeface="+mn-ea"/>
                <a:sym typeface="+mn-ea"/>
              </a:rPr>
              <a:t>文件</a:t>
            </a:r>
            <a:r>
              <a:rPr lang="en-US" altLang="zh-CN" sz="1600">
                <a:latin typeface="+mn-ea"/>
                <a:ea typeface="+mn-ea"/>
                <a:cs typeface="+mn-ea"/>
                <a:sym typeface="+mn-ea"/>
              </a:rPr>
              <a:t>7-12 Example12</a:t>
            </a:r>
            <a:endParaRPr lang="en-US" altLang="zh-CN" sz="1600">
              <a:latin typeface="+mn-ea"/>
              <a:ea typeface="+mn-ea"/>
              <a:cs typeface="+mn-ea"/>
              <a:sym typeface="+mn-ea"/>
            </a:endParaRPr>
          </a:p>
        </p:txBody>
      </p:sp>
      <p:sp>
        <p:nvSpPr>
          <p:cNvPr id="6" name="文本框 5"/>
          <p:cNvSpPr txBox="1"/>
          <p:nvPr/>
        </p:nvSpPr>
        <p:spPr>
          <a:xfrm>
            <a:off x="1170305" y="2924810"/>
            <a:ext cx="5539105"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1public interface Pet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	  public String NAME="</a:t>
            </a:r>
            <a:r>
              <a:rPr lang="zh-CN" altLang="en-US" sz="1600">
                <a:latin typeface="Times New Roman" panose="02020603050405020304"/>
                <a:sym typeface="+mn-ea"/>
              </a:rPr>
              <a:t>花花</a:t>
            </a:r>
            <a:r>
              <a:rPr lang="en-US" altLang="zh-CN" sz="1600">
                <a:latin typeface="Times New Roman" panose="02020603050405020304"/>
                <a:sym typeface="+mn-ea"/>
              </a:rPr>
              <a: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3	  void show();</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4}</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5public interface Color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6  void color();</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7}</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8public interface Action extends Pet,Color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9void shout();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10}</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11public class Cat implements  Action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12  public void show() {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13        System.out.println("</a:t>
            </a:r>
            <a:r>
              <a:rPr lang="zh-CN" altLang="en-US" sz="1600">
                <a:latin typeface="Times New Roman" panose="02020603050405020304"/>
                <a:sym typeface="+mn-ea"/>
              </a:rPr>
              <a:t>这只猫叫</a:t>
            </a:r>
            <a:r>
              <a:rPr lang="en-US" altLang="zh-CN" sz="1600">
                <a:latin typeface="Times New Roman" panose="02020603050405020304"/>
                <a:sym typeface="+mn-ea"/>
              </a:rPr>
              <a:t>"+NAME);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14    } </a:t>
            </a:r>
            <a:endParaRPr lang="en-US" altLang="zh-CN" sz="1600">
              <a:latin typeface="Times New Roman" panose="02020603050405020304"/>
              <a:sym typeface="+mn-ea"/>
            </a:endParaRPr>
          </a:p>
        </p:txBody>
      </p:sp>
      <p:sp>
        <p:nvSpPr>
          <p:cNvPr id="7" name="文本框 6"/>
          <p:cNvSpPr txBox="1"/>
          <p:nvPr/>
        </p:nvSpPr>
        <p:spPr>
          <a:xfrm>
            <a:off x="5667375" y="2997200"/>
            <a:ext cx="5481955" cy="3784600"/>
          </a:xfrm>
          <a:prstGeom prst="rect">
            <a:avLst/>
          </a:prstGeom>
          <a:noFill/>
        </p:spPr>
        <p:txBody>
          <a:bodyPr wrap="square" rtlCol="0" anchor="t">
            <a:spAutoFit/>
          </a:bodyPr>
          <a:p>
            <a:pPr marL="0" indent="266700" algn="just" defTabSz="266700" latinLnBrk="0">
              <a:lnSpc>
                <a:spcPct val="100000"/>
              </a:lnSpc>
              <a:spcBef>
                <a:spcPct val="0"/>
              </a:spcBef>
              <a:spcAft>
                <a:spcPct val="0"/>
              </a:spcAft>
            </a:pPr>
            <a:r>
              <a:rPr lang="en-US" altLang="zh-CN" sz="1600">
                <a:latin typeface="Times New Roman" panose="02020603050405020304"/>
                <a:sym typeface="+mn-ea"/>
              </a:rPr>
              <a:t>15  public void color(){</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16	  System.out.println("</a:t>
            </a:r>
            <a:r>
              <a:rPr lang="zh-CN" altLang="en-US" sz="1600">
                <a:latin typeface="Times New Roman" panose="02020603050405020304"/>
                <a:sym typeface="+mn-ea"/>
              </a:rPr>
              <a:t>白色</a:t>
            </a:r>
            <a:r>
              <a:rPr lang="en-US" altLang="zh-CN" sz="1600">
                <a:latin typeface="Times New Roman" panose="02020603050405020304"/>
                <a:sym typeface="+mn-ea"/>
              </a:rPr>
              <a: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17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18  public void shout()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19	  System.out.println("</a:t>
            </a:r>
            <a:r>
              <a:rPr lang="zh-CN" altLang="en-US" sz="1600">
                <a:latin typeface="Times New Roman" panose="02020603050405020304"/>
                <a:sym typeface="+mn-ea"/>
              </a:rPr>
              <a:t>喵喵</a:t>
            </a:r>
            <a:r>
              <a:rPr lang="en-US" altLang="zh-CN" sz="1600">
                <a:latin typeface="Times New Roman" panose="02020603050405020304"/>
                <a:sym typeface="+mn-ea"/>
              </a:rPr>
              <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20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21}</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22public class Example12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23	public static void main(String[] args)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24		Cat cat = new Cat();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25		cat.show();</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26		cat.color();</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27		cat.shout();</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28	}</a:t>
            </a:r>
            <a:endParaRPr lang="en-US" altLang="zh-CN" sz="1600">
              <a:latin typeface="Times New Roman" panose="02020603050405020304"/>
              <a:sym typeface="+mn-ea"/>
            </a:endParaRPr>
          </a:p>
          <a:p>
            <a:pPr marL="0" indent="266700" algn="just" defTabSz="266700" latinLnBrk="0">
              <a:lnSpc>
                <a:spcPct val="100000"/>
              </a:lnSpc>
              <a:spcBef>
                <a:spcPct val="0"/>
              </a:spcBef>
              <a:spcAft>
                <a:spcPct val="0"/>
              </a:spcAft>
            </a:pPr>
            <a:r>
              <a:rPr lang="en-US" altLang="zh-CN" sz="1600">
                <a:latin typeface="Times New Roman" panose="02020603050405020304"/>
                <a:sym typeface="+mn-ea"/>
              </a:rPr>
              <a:t>29}</a:t>
            </a:r>
            <a:endParaRPr lang="en-US" altLang="zh-CN" sz="1600">
              <a:latin typeface="Times New Roman" panose="02020603050405020304"/>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419225" y="2132648"/>
            <a:ext cx="5080000" cy="506730"/>
          </a:xfrm>
          <a:prstGeom prst="rect">
            <a:avLst/>
          </a:prstGeom>
        </p:spPr>
        <p:txBody>
          <a:bodyPr>
            <a:spAutoFit/>
          </a:bodyPr>
          <a:p>
            <a:pPr marL="0" indent="266700" algn="just" defTabSz="266700">
              <a:lnSpc>
                <a:spcPct val="150000"/>
              </a:lnSpc>
              <a:spcBef>
                <a:spcPct val="0"/>
              </a:spcBef>
              <a:spcAft>
                <a:spcPct val="0"/>
              </a:spcAft>
            </a:pP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7-12</a:t>
            </a:r>
            <a:r>
              <a:rPr lang="zh-CN" altLang="en-US" sz="1800">
                <a:latin typeface="宋体" panose="02010600030101010101" pitchFamily="2" charset="-122"/>
                <a:ea typeface="宋体" panose="02010600030101010101" pitchFamily="2" charset="-122"/>
              </a:rPr>
              <a:t>的运行结果如图</a:t>
            </a:r>
            <a:r>
              <a:rPr lang="en-US" altLang="zh-CN" sz="1800">
                <a:latin typeface="宋体" panose="02010600030101010101" pitchFamily="2" charset="-122"/>
                <a:ea typeface="宋体" panose="02010600030101010101" pitchFamily="2" charset="-122"/>
              </a:rPr>
              <a:t>7-14</a:t>
            </a:r>
            <a:r>
              <a:rPr lang="zh-CN" altLang="en-US" sz="1800">
                <a:latin typeface="宋体" panose="02010600030101010101" pitchFamily="2" charset="-122"/>
                <a:ea typeface="宋体" panose="02010600030101010101" pitchFamily="2" charset="-122"/>
              </a:rPr>
              <a:t>所示：</a:t>
            </a:r>
            <a:endParaRPr lang="zh-CN" altLang="en-US" sz="1800">
              <a:latin typeface="宋体" panose="02010600030101010101" pitchFamily="2" charset="-122"/>
              <a:ea typeface="宋体" panose="02010600030101010101" pitchFamily="2" charset="-122"/>
            </a:endParaRPr>
          </a:p>
        </p:txBody>
      </p:sp>
      <p:sp>
        <p:nvSpPr>
          <p:cNvPr id="9" name="文本框 8"/>
          <p:cNvSpPr txBox="1"/>
          <p:nvPr/>
        </p:nvSpPr>
        <p:spPr>
          <a:xfrm>
            <a:off x="2571115" y="3702050"/>
            <a:ext cx="3255645" cy="368300"/>
          </a:xfrm>
          <a:prstGeom prst="rect">
            <a:avLst/>
          </a:prstGeom>
        </p:spPr>
        <p:txBody>
          <a:bodyPr wrap="square">
            <a:spAutoFit/>
          </a:bodyPr>
          <a:p>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7-14</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7-12</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
        <p:nvSpPr>
          <p:cNvPr id="10" name="文本框 9"/>
          <p:cNvSpPr txBox="1"/>
          <p:nvPr/>
        </p:nvSpPr>
        <p:spPr>
          <a:xfrm>
            <a:off x="1170305" y="4077335"/>
            <a:ext cx="9489440" cy="922020"/>
          </a:xfrm>
          <a:prstGeom prst="rect">
            <a:avLst/>
          </a:prstGeom>
          <a:noFill/>
        </p:spPr>
        <p:txBody>
          <a:bodyPr wrap="square" rtlCol="0" anchor="t">
            <a:spAutoFit/>
          </a:bodyPr>
          <a:p>
            <a:pPr marL="0" indent="0" latinLnBrk="0">
              <a:lnSpc>
                <a:spcPct val="150000"/>
              </a:lnSpc>
            </a:pPr>
            <a:r>
              <a:rPr lang="en-US" altLang="zh-CN"/>
              <a:t>      </a:t>
            </a:r>
            <a:r>
              <a:rPr lang="zh-CN" altLang="en-US"/>
              <a:t>由以上运行结果可知，</a:t>
            </a:r>
            <a:r>
              <a:rPr lang="en-US" altLang="zh-CN"/>
              <a:t>Action</a:t>
            </a:r>
            <a:r>
              <a:rPr lang="zh-CN" altLang="en-US"/>
              <a:t>接口继承了父接口</a:t>
            </a:r>
            <a:r>
              <a:rPr lang="en-US" altLang="zh-CN"/>
              <a:t> Pet</a:t>
            </a:r>
            <a:r>
              <a:rPr lang="zh-CN" altLang="en-US"/>
              <a:t>和</a:t>
            </a:r>
            <a:r>
              <a:rPr lang="en-US" altLang="zh-CN"/>
              <a:t>Color</a:t>
            </a:r>
            <a:r>
              <a:rPr lang="zh-CN" altLang="en-US"/>
              <a:t>，在</a:t>
            </a:r>
            <a:r>
              <a:rPr lang="en-US" altLang="zh-CN"/>
              <a:t>Cat</a:t>
            </a:r>
            <a:r>
              <a:rPr lang="zh-CN" altLang="en-US"/>
              <a:t>类中实现了接口</a:t>
            </a:r>
            <a:r>
              <a:rPr lang="en-US" altLang="zh-CN"/>
              <a:t>Action</a:t>
            </a:r>
            <a:r>
              <a:rPr lang="zh-CN" altLang="en-US"/>
              <a:t>的方法</a:t>
            </a:r>
            <a:r>
              <a:rPr lang="en-US" altLang="zh-CN"/>
              <a:t>void shout()</a:t>
            </a:r>
            <a:r>
              <a:rPr lang="zh-CN" altLang="en-US"/>
              <a:t>和父接口</a:t>
            </a:r>
            <a:r>
              <a:rPr lang="en-US" altLang="zh-CN"/>
              <a:t> Pet</a:t>
            </a:r>
            <a:r>
              <a:rPr lang="zh-CN" altLang="en-US"/>
              <a:t>的</a:t>
            </a:r>
            <a:r>
              <a:rPr lang="en-US" altLang="zh-CN"/>
              <a:t>void show()</a:t>
            </a:r>
            <a:r>
              <a:rPr lang="zh-CN" altLang="en-US"/>
              <a:t>方法和父接口</a:t>
            </a:r>
            <a:r>
              <a:rPr lang="en-US" altLang="zh-CN"/>
              <a:t>Color</a:t>
            </a:r>
            <a:r>
              <a:rPr lang="zh-CN" altLang="en-US"/>
              <a:t>的</a:t>
            </a:r>
            <a:r>
              <a:rPr lang="en-US" altLang="zh-CN"/>
              <a:t>void color()</a:t>
            </a:r>
            <a:r>
              <a:rPr lang="zh-CN" altLang="en-US"/>
              <a:t>方法。</a:t>
            </a:r>
            <a:endParaRPr lang="zh-CN" altLang="en-US"/>
          </a:p>
        </p:txBody>
      </p:sp>
      <p:pic>
        <p:nvPicPr>
          <p:cNvPr id="102" name="图片 7"/>
          <p:cNvPicPr>
            <a:picLocks noChangeAspect="1"/>
          </p:cNvPicPr>
          <p:nvPr/>
        </p:nvPicPr>
        <p:blipFill>
          <a:blip r:embed="rId3"/>
          <a:stretch>
            <a:fillRect/>
          </a:stretch>
        </p:blipFill>
        <p:spPr>
          <a:xfrm>
            <a:off x="2066925" y="2682875"/>
            <a:ext cx="3375025" cy="981710"/>
          </a:xfrm>
          <a:prstGeom prst="rect">
            <a:avLst/>
          </a:prstGeom>
          <a:noFill/>
          <a:ln>
            <a:solidFill>
              <a:schemeClr val="tx1"/>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KSO_WM_DIAGRAM_VIRTUALLY_FRAME" val="{&quot;height&quot;:185.62503937007872,&quot;left&quot;:0,&quot;top&quot;:174,&quot;width&quot;:960.6250393700788}"/>
</p:tagLst>
</file>

<file path=ppt/tags/tag31.xml><?xml version="1.0" encoding="utf-8"?>
<p:tagLst xmlns:p="http://schemas.openxmlformats.org/presentationml/2006/main">
  <p:tag name="KSO_WM_DIAGRAM_VIRTUALLY_FRAME" val="{&quot;height&quot;:185.62503937007872,&quot;left&quot;:0,&quot;top&quot;:174,&quot;width&quot;:960.6250393700788}"/>
</p:tagLst>
</file>

<file path=ppt/tags/tag32.xml><?xml version="1.0" encoding="utf-8"?>
<p:tagLst xmlns:p="http://schemas.openxmlformats.org/presentationml/2006/main">
  <p:tag name="KSO_WM_DIAGRAM_VIRTUALLY_FRAME" val="{&quot;height&quot;:185.62503937007872,&quot;left&quot;:0,&quot;top&quot;:174,&quot;width&quot;:960.6250393700788}"/>
</p:tagLst>
</file>

<file path=ppt/tags/tag33.xml><?xml version="1.0" encoding="utf-8"?>
<p:tagLst xmlns:p="http://schemas.openxmlformats.org/presentationml/2006/main">
  <p:tag name="KSO_WM_DIAGRAM_VIRTUALLY_FRAME" val="{&quot;height&quot;:185.62503937007872,&quot;left&quot;:0,&quot;top&quot;:174,&quot;width&quot;:960.6250393700788}"/>
</p:tagLst>
</file>

<file path=ppt/tags/tag34.xml><?xml version="1.0" encoding="utf-8"?>
<p:tagLst xmlns:p="http://schemas.openxmlformats.org/presentationml/2006/main">
  <p:tag name="KSO_WM_DIAGRAM_VIRTUALLY_FRAME" val="{&quot;height&quot;:185.62503937007872,&quot;left&quot;:0,&quot;top&quot;:174,&quot;width&quot;:960.6250393700788}"/>
</p:tagLst>
</file>

<file path=ppt/tags/tag35.xml><?xml version="1.0" encoding="utf-8"?>
<p:tagLst xmlns:p="http://schemas.openxmlformats.org/presentationml/2006/main">
  <p:tag name="KSO_WM_DIAGRAM_VIRTUALLY_FRAME" val="{&quot;height&quot;:185.62503937007872,&quot;left&quot;:0,&quot;top&quot;:174,&quot;width&quot;:960.6250393700788}"/>
</p:tagLst>
</file>

<file path=ppt/tags/tag36.xml><?xml version="1.0" encoding="utf-8"?>
<p:tagLst xmlns:p="http://schemas.openxmlformats.org/presentationml/2006/main">
  <p:tag name="KSO_WM_DIAGRAM_VIRTUALLY_FRAME" val="{&quot;height&quot;:185.62503937007872,&quot;left&quot;:0,&quot;top&quot;:174,&quot;width&quot;:960.6250393700788}"/>
</p:tagLst>
</file>

<file path=ppt/tags/tag37.xml><?xml version="1.0" encoding="utf-8"?>
<p:tagLst xmlns:p="http://schemas.openxmlformats.org/presentationml/2006/main">
  <p:tag name="KSO_WM_DIAGRAM_VIRTUALLY_FRAME" val="{&quot;height&quot;:185.62503937007872,&quot;left&quot;:0,&quot;top&quot;:174,&quot;width&quot;:960.6250393700788}"/>
</p:tagLst>
</file>

<file path=ppt/tags/tag38.xml><?xml version="1.0" encoding="utf-8"?>
<p:tagLst xmlns:p="http://schemas.openxmlformats.org/presentationml/2006/main">
  <p:tag name="KSO_WM_DIAGRAM_VIRTUALLY_FRAME" val="{&quot;height&quot;:185.62503937007872,&quot;left&quot;:0,&quot;top&quot;:174,&quot;width&quot;:960.6250393700788}"/>
</p:tagLst>
</file>

<file path=ppt/tags/tag39.xml><?xml version="1.0" encoding="utf-8"?>
<p:tagLst xmlns:p="http://schemas.openxmlformats.org/presentationml/2006/main">
  <p:tag name="KSO_WM_DIAGRAM_VIRTUALLY_FRAME" val="{&quot;height&quot;:185.62503937007872,&quot;left&quot;:0,&quot;top&quot;:174,&quot;width&quot;:960.6250393700788}"/>
</p:tagLst>
</file>

<file path=ppt/tags/tag40.xml><?xml version="1.0" encoding="utf-8"?>
<p:tagLst xmlns:p="http://schemas.openxmlformats.org/presentationml/2006/main">
  <p:tag name="KSO_WM_DIAGRAM_VIRTUALLY_FRAME" val="{&quot;height&quot;:185.62503937007872,&quot;left&quot;:0,&quot;top&quot;:174,&quot;width&quot;:960.6250393700788}"/>
</p:tagLst>
</file>

<file path=ppt/tags/tag41.xml><?xml version="1.0" encoding="utf-8"?>
<p:tagLst xmlns:p="http://schemas.openxmlformats.org/presentationml/2006/main">
  <p:tag name="KSO_WM_DIAGRAM_VIRTUALLY_FRAME" val="{&quot;height&quot;:185.62503937007872,&quot;left&quot;:0,&quot;top&quot;:174,&quot;width&quot;:960.6250393700788}"/>
</p:tagLst>
</file>

<file path=ppt/tags/tag42.xml><?xml version="1.0" encoding="utf-8"?>
<p:tagLst xmlns:p="http://schemas.openxmlformats.org/presentationml/2006/main">
  <p:tag name="KSO_WM_DIAGRAM_VIRTUALLY_FRAME" val="{&quot;height&quot;:185.62503937007872,&quot;left&quot;:0,&quot;top&quot;:174,&quot;width&quot;:960.6250393700788}"/>
</p:tagLst>
</file>

<file path=ppt/tags/tag43.xml><?xml version="1.0" encoding="utf-8"?>
<p:tagLst xmlns:p="http://schemas.openxmlformats.org/presentationml/2006/main">
  <p:tag name="KSO_WM_DIAGRAM_VIRTUALLY_FRAME" val="{&quot;height&quot;:185.62503937007872,&quot;left&quot;:0,&quot;top&quot;:174,&quot;width&quot;:960.6250393700788}"/>
</p:tagLst>
</file>

<file path=ppt/tags/tag44.xml><?xml version="1.0" encoding="utf-8"?>
<p:tagLst xmlns:p="http://schemas.openxmlformats.org/presentationml/2006/main">
  <p:tag name="KSO_WM_DIAGRAM_VIRTUALLY_FRAME" val="{&quot;height&quot;:185.62503937007872,&quot;left&quot;:0,&quot;top&quot;:174,&quot;width&quot;:960.6250393700788}"/>
</p:tagLst>
</file>

<file path=ppt/tags/tag45.xml><?xml version="1.0" encoding="utf-8"?>
<p:tagLst xmlns:p="http://schemas.openxmlformats.org/presentationml/2006/main">
  <p:tag name="KSO_WM_DIAGRAM_VIRTUALLY_FRAME" val="{&quot;height&quot;:185.62503937007872,&quot;left&quot;:0,&quot;top&quot;:174,&quot;width&quot;:960.6250393700788}"/>
</p:tagLst>
</file>

<file path=ppt/tags/tag46.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5056</Words>
  <Application>WPS 演示</Application>
  <PresentationFormat>自定义</PresentationFormat>
  <Paragraphs>405</Paragraphs>
  <Slides>25</Slides>
  <Notes>11</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25</vt:i4>
      </vt:variant>
    </vt:vector>
  </HeadingPairs>
  <TitlesOfParts>
    <vt:vector size="49"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Arial Unicode MS</vt:lpstr>
      <vt:lpstr>等线</vt:lpstr>
      <vt:lpstr>Times New Roman</vt:lpstr>
      <vt:lpstr>黑体</vt:lpstr>
      <vt:lpstr>Times New Roman</vt:lpstr>
      <vt:lpstr>专业字体设计服务/WWW.ZTSGC.COM/</vt:lpstr>
      <vt:lpstr>华康俪金黑W8(P)</vt:lpstr>
      <vt:lpstr>经典繁仿黑</vt:lpstr>
      <vt:lpstr>ksdb</vt:lpstr>
      <vt:lpstr>Wonder Arial</vt:lpstr>
      <vt:lpstr>汉仪中黑繁</vt:lpstr>
      <vt:lpstr>Metrolite 2 Com Roman</vt:lpstr>
      <vt:lpstr>华康俪金黑W8</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551</cp:revision>
  <dcterms:created xsi:type="dcterms:W3CDTF">2015-03-26T06:11:00Z</dcterms:created>
  <dcterms:modified xsi:type="dcterms:W3CDTF">2026-01-12T01:22:19Z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BB2D8BDBDC96472AB87C82198A15B1AD_13</vt:lpwstr>
  </property>
</Properties>
</file>