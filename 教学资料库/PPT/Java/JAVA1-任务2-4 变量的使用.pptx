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95" r:id="rId8"/>
    <p:sldId id="411" r:id="rId9"/>
    <p:sldId id="412" r:id="rId10"/>
    <p:sldId id="396" r:id="rId11"/>
    <p:sldId id="413" r:id="rId12"/>
    <p:sldId id="414" r:id="rId13"/>
    <p:sldId id="415" r:id="rId14"/>
    <p:sldId id="416" r:id="rId15"/>
    <p:sldId id="417" r:id="rId16"/>
    <p:sldId id="418" r:id="rId17"/>
    <p:sldId id="344" r:id="rId18"/>
    <p:sldId id="341" r:id="rId19"/>
    <p:sldId id="368" r:id="rId20"/>
    <p:sldId id="347" r:id="rId21"/>
  </p:sldIdLst>
  <p:sldSz cx="12198350" cy="6858000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92"/>
        <p:guide pos="39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4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6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3" Type="http://schemas.openxmlformats.org/officeDocument/2006/relationships/image" Target="../media/image7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Relationship Id="rId3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image" Target="../media/image5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定义一个直角三角形的两条直角边为3和4，编程计算该直角三角形的面积。提示直角三角形的面积公式为(1.0/2)*a*b。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905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变量的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变量的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数据类型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371" y="1589734"/>
            <a:ext cx="9936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在程序运行期间，随时可能产生一些临时数据，应用程序会将这些数据保存在内存单元中，每个内存单元都用一个标识符标识，这些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用于标识内存单元的标识符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内存单元中存储的数据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635" y="4084320"/>
            <a:ext cx="5420995" cy="13906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84400" y="4297680"/>
            <a:ext cx="4503420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539750" algn="just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 = 0,y;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39750" algn="just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 = x+3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43635" y="3321685"/>
            <a:ext cx="49187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下面通过具体的代码学习变量的定义。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2530" name="图片 2" descr="varian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491" y="2345484"/>
            <a:ext cx="3714592" cy="23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261110" y="4723765"/>
            <a:ext cx="94234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 = 0,y”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，定义了两个变量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，相当于分配了两块内存单元。在定义变量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的同时为变量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分配了一个初始值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没有分配初始值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Chevron 3"/>
          <p:cNvSpPr/>
          <p:nvPr>
            <p:custDataLst>
              <p:tags r:id="rId4"/>
            </p:custDataLst>
          </p:nvPr>
        </p:nvSpPr>
        <p:spPr>
          <a:xfrm>
            <a:off x="1143635" y="1536065"/>
            <a:ext cx="36766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在内存中的状态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变量的定义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2531" name="图片 3" descr="varian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476" y="2275634"/>
            <a:ext cx="3688615" cy="23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1434465" y="4652010"/>
            <a:ext cx="94996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“y = x+3”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的作用是为变量赋值，在执行时，程序首先取出变量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相加，然后将相加的结果赋值给变量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在内存中的状态发生了变化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hevron 3"/>
          <p:cNvSpPr/>
          <p:nvPr>
            <p:custDataLst>
              <p:tags r:id="rId4"/>
            </p:custDataLst>
          </p:nvPr>
        </p:nvSpPr>
        <p:spPr>
          <a:xfrm>
            <a:off x="1143635" y="1464310"/>
            <a:ext cx="36766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p>
            <a:pPr algn="ctr">
              <a:lnSpc>
                <a:spcPct val="12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在内存中的状态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2355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266" y="2791622"/>
            <a:ext cx="5851211" cy="36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圆角矩形 12"/>
          <p:cNvSpPr/>
          <p:nvPr/>
        </p:nvSpPr>
        <p:spPr>
          <a:xfrm>
            <a:off x="3889266" y="2868630"/>
            <a:ext cx="4680000" cy="1584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281170" y="2791460"/>
            <a:ext cx="4871720" cy="1898015"/>
          </a:xfrm>
          <a:prstGeom prst="roundRect">
            <a:avLst/>
          </a:prstGeom>
          <a:noFill/>
          <a:ln w="9525" cap="flat" cmpd="sng" algn="ctr">
            <a:solidFill>
              <a:srgbClr val="1369B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Chevron 3"/>
          <p:cNvSpPr/>
          <p:nvPr>
            <p:custDataLst>
              <p:tags r:id="rId4"/>
            </p:custDataLst>
          </p:nvPr>
        </p:nvSpPr>
        <p:spPr>
          <a:xfrm>
            <a:off x="996950" y="1544320"/>
            <a:ext cx="3074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39383" y="1684279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变量的数据类型分类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281170" y="1369695"/>
            <a:ext cx="70986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在Java中，变量的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分为两种，即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。Java中的所有数据类型如下。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037591" y="1299845"/>
            <a:ext cx="2609616" cy="57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  </a:t>
            </a:r>
            <a:r>
              <a:rPr lang="zh-CN" altLang="en-US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整型类型变量</a:t>
            </a:r>
            <a:endParaRPr lang="zh-CN" altLang="en-US" sz="22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1037590" y="1974215"/>
            <a:ext cx="1035113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整型类型变量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用来存储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整数数值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，即没有小数部分的值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整数类型分为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种不同的类型，分别是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短整型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长整型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种类型所占存储空间的大小以及取值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变量存储的值不能超出的范围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56997" y="3893979"/>
          <a:ext cx="8338820" cy="25438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71115"/>
                <a:gridCol w="2950845"/>
                <a:gridCol w="2816860"/>
              </a:tblGrid>
              <a:tr h="520065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       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占用空间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取值范围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byte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8位（1个字节）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～ 2</a:t>
                      </a:r>
                      <a:r>
                        <a:rPr lang="en-US" altLang="zh-CN" sz="160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7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short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16位（2个字节）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～ 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32位（4个字节）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31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～ 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31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long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64位（8个字节）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63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～ 2</a:t>
                      </a:r>
                      <a:r>
                        <a:rPr lang="en-US" altLang="zh-CN" sz="1600" b="0" kern="100" baseline="50000" dirty="0">
                          <a:solidFill>
                            <a:srgbClr val="595959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63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1037590" y="1700569"/>
            <a:ext cx="1035113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注意：在为一个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类型的变量赋值时，所赋值的后面要加上字母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（或小写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），说明赋值为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类型。如果赋的值未超出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类型的取值范围，则可以省略字母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（或小写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635" y="3582035"/>
            <a:ext cx="10245090" cy="1945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512570" y="3867150"/>
            <a:ext cx="9526270" cy="1337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 num1 = 2200000000L;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所赋的值超出了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类型的取值范围，后面必须加上字母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 num2 = 198L;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所赋的值未超出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类型的取值范围，后面可以加上字母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long num3 = 198;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所赋的值未超出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类型的取值范围，后面可以省略字母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037590" y="1299845"/>
            <a:ext cx="3312795" cy="57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 </a:t>
            </a:r>
            <a:r>
              <a:rPr lang="zh-CN" altLang="en-US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浮点数类型变量</a:t>
            </a:r>
            <a:endParaRPr lang="zh-CN" altLang="en-US" sz="22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1037590" y="2421890"/>
            <a:ext cx="1035113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浮点数类型变量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用于存储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小数数值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类型所表示的浮点数比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类型更精确，两种浮点数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占存储空间的大小以及取值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变量存储的值不能超出的范围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992937" y="4017804"/>
          <a:ext cx="8338820" cy="150241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39240"/>
                <a:gridCol w="2136140"/>
                <a:gridCol w="4663440"/>
              </a:tblGrid>
              <a:tr h="520065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类型名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占用空间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取值范围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float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32位（4个字节）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1.4E-45 ～ 3.4E+38,-3.4E+38  ～ -1.4E-45</a:t>
                      </a:r>
                      <a:endParaRPr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double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64位（8个字节）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4.9E-324 ～ 1.7E+308, -1.7E+308  ～ -4.9E-324</a:t>
                      </a:r>
                      <a:endParaRPr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53160" y="3209290"/>
            <a:ext cx="10245090" cy="2679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12570" y="3464560"/>
            <a:ext cx="9526270" cy="21685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 f = 123.4f; 		// 为一个float类型的变量赋值，后面必须加上字母f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 d1 = 100.1; 		// 为一个double类型的变量赋值，后面可以省略字母d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 d2 = 199.3d; 	// 为一个double类型的变量赋值，后面可以加上字母d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 f = 100; 	 		// 声明一个float类型的变量并赋整数值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 d = 100; 		// 声明一个double类型的变量并赋整数值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Chevron 3"/>
          <p:cNvSpPr/>
          <p:nvPr>
            <p:custDataLst>
              <p:tags r:id="rId5"/>
            </p:custDataLst>
          </p:nvPr>
        </p:nvSpPr>
        <p:spPr>
          <a:xfrm>
            <a:off x="1100455" y="1728470"/>
            <a:ext cx="2439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2888" y="186842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浮点数声明方式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634740" y="1329055"/>
            <a:ext cx="775398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变量值后面必须要加上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</a:t>
            </a:r>
            <a:r>
              <a:rPr lang="zh-CN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变量值后面可以加上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sz="20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，也可以不加。也可以为一个浮点数类型变量赋予一个整数数值，JVM会自动将整数数值转换为浮点类型的值。</a:t>
            </a:r>
            <a:endParaRPr lang="zh-CN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65835" y="1299845"/>
            <a:ext cx="3312795" cy="57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 </a:t>
            </a:r>
            <a:r>
              <a:rPr lang="zh-CN" altLang="en-US" sz="2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en-US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类型变量</a:t>
            </a:r>
            <a:endParaRPr lang="zh-CN" altLang="en-US" sz="22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965835" y="1974215"/>
            <a:ext cx="1035113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中，字符型变量用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表示，用于存储一个单一字符。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类型的字符变量都会占用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。在给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类型的变量赋值时，需要用一对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英文半角格式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单引号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）把字符括起来，如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定义字符型变量，具体示例如下。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1880" y="4514850"/>
            <a:ext cx="10245090" cy="139001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440815" y="4728210"/>
            <a:ext cx="952627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 c = 'a'; 	// 为一个char类型的变量赋值字符a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 ch = 97; 	// 为一个char类型的变量赋值整数97，相当于赋值字符a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变量的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94080" y="1299845"/>
            <a:ext cx="3312795" cy="57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 </a:t>
            </a:r>
            <a:r>
              <a:rPr lang="zh-CN" altLang="en-US" sz="2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</a:t>
            </a:r>
            <a:r>
              <a:rPr lang="zh-CN" altLang="en-US" sz="22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类型变量</a:t>
            </a:r>
            <a:endParaRPr lang="zh-CN" altLang="en-US" sz="22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894080" y="2045970"/>
            <a:ext cx="1035113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boolean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定义布尔型变量，布尔型变量只有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字符型变量，具体示例如下。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0125" y="4227830"/>
            <a:ext cx="10245090" cy="139001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369060" y="4441190"/>
            <a:ext cx="9526270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boolean flag = false;	 // 定义一个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布尔</a:t>
            </a: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型的变量flag，初始值为false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flag = true; 	 // 改变变量flag的值为true</a:t>
            </a:r>
            <a:endParaRPr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5473065" y="3750310"/>
            <a:ext cx="568071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定义一个直角三角形的两条直角边为3和4，编程计算该直角三角形的面积。提示直角三角形的面积公式为(1.0/2)*a*b。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Example04{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 	 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a = 3;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b = 4;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double area=(1.0/2)*a*b;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System.out.println("直角三角形的面积为："+area);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0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840" y="3043555"/>
            <a:ext cx="4765675" cy="1383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UNIT_TABLE_BEAUTIFY" val="smartTable{1c1f46c1-1a22-4587-a1be-2e906e0a59b8}"/>
  <p:tag name="TABLE_ENDDRAG_ORIGIN_RECT" val="656*159"/>
  <p:tag name="TABLE_ENDDRAG_RECT" val="114*295*656*159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UNIT_TABLE_BEAUTIFY" val="smartTable{1c1f46c1-1a22-4587-a1be-2e906e0a59b8}"/>
  <p:tag name="TABLE_ENDDRAG_ORIGIN_RECT" val="656*159"/>
  <p:tag name="TABLE_ENDDRAG_RECT" val="114*295*656*159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UNIT_PLACING_PICTURE_USER_VIEWPORT" val="{&quot;height&quot;:2190,&quot;width&quot;:10324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COMMONDATA" val="eyJoZGlkIjoiZjNjMmJiYWQ1NjYxMzU5Y2Q4YWViZjliZTZhYjA5ODEifQ=="/>
  <p:tag name="commondata" val="eyJoZGlkIjoiN2JmMjBlMDBhZmM4YWY3MjlkMjk5NGJkZjE0OGIwNWY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2418</Words>
  <Application>WPS 演示</Application>
  <PresentationFormat>自定义</PresentationFormat>
  <Paragraphs>252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Administrator</cp:lastModifiedBy>
  <cp:revision>517</cp:revision>
  <dcterms:created xsi:type="dcterms:W3CDTF">2015-03-26T06:11:00Z</dcterms:created>
  <dcterms:modified xsi:type="dcterms:W3CDTF">2024-10-11T02:15:36Z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9C224745B4BA470DB06371A11851E5A6_13</vt:lpwstr>
  </property>
</Properties>
</file>