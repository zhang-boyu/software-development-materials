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393" r:id="rId4"/>
    <p:sldId id="394" r:id="rId6"/>
    <p:sldId id="395" r:id="rId7"/>
    <p:sldId id="396" r:id="rId8"/>
    <p:sldId id="397" r:id="rId9"/>
    <p:sldId id="398" r:id="rId10"/>
    <p:sldId id="399" r:id="rId11"/>
    <p:sldId id="400" r:id="rId12"/>
    <p:sldId id="344" r:id="rId13"/>
    <p:sldId id="383" r:id="rId14"/>
    <p:sldId id="382" r:id="rId15"/>
    <p:sldId id="347" r:id="rId16"/>
  </p:sldIdLst>
  <p:sldSz cx="12198350" cy="6858000"/>
  <p:notesSz cx="6858000" cy="9144000"/>
  <p:custDataLst>
    <p:tags r:id="rId2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8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8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28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sz="1800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：定义一个二维数组，使用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for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语句遍历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数组中的元素的值。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23230" y="4436745"/>
            <a:ext cx="559435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：定义一个二维数组，从控制台输入行数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，并输出该行所有元素的值。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2667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二维数组的声明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588" y="418052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访问二维数组元素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605588" y="458057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注意事项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  <p:bldP spid="4" grpId="0" bldLvl="0" autoUpdateAnimBg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702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二维数组的声明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与一维数组的声明类似，二维数组也有三种不同的声明方式，分别是指定数组的行数和列数、只指定二维数组行数的大小和初始化二维数时直接给组赋值，下面是这三种方法的详细说明。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702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二维数组的声明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2047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>
                <a:latin typeface="宋体" panose="02010600030101010101" pitchFamily="2" charset="-122"/>
                <a:cs typeface="宋体" panose="02010600030101010101" pitchFamily="2" charset="-122"/>
              </a:rPr>
              <a:t>．指定二维数组的行数和列数</a:t>
            </a:r>
            <a:endParaRPr lang="zh-CN" altLang="en-US" sz="20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 int[][] array = new int[rows][columns]; 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这里，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rows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是数组的行数，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columns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是数组的列数，且所有内部数组的长度都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是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columns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 b="1">
                <a:latin typeface="宋体" panose="02010600030101010101" pitchFamily="2" charset="-122"/>
                <a:cs typeface="宋体" panose="02010600030101010101" pitchFamily="2" charset="-122"/>
              </a:rPr>
              <a:t>．只指定二维数组行数的大小</a:t>
            </a:r>
            <a:endParaRPr lang="zh-CN" altLang="en-US" sz="20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 int[][] array = new int[rows][]; 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 b="1">
                <a:latin typeface="宋体" panose="02010600030101010101" pitchFamily="2" charset="-122"/>
                <a:cs typeface="宋体" panose="02010600030101010101" pitchFamily="2" charset="-122"/>
              </a:rPr>
              <a:t>．初始化二维数组时直接赋值</a:t>
            </a:r>
            <a:endParaRPr lang="zh-CN" altLang="en-US" sz="2000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 int[][] array = { {1, 2, 3}, {4, 5, 6}, {7, 8, 9} }; 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这种方式直接通过花括号内的数组列表来初始化二维数组。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702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访问二维数组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2047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．访问二维数组元素索引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可以通过两个索引来访问二维数组元素，第一个索引代表行，第二个索引代表列。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int secondElementInSecondRow = array[1][1]; //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访问第二行第二列的元素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．遍历二维数组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遍历二维数组通常涉及两层循环，外循环遍历行，内循环遍历列。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for (int i = 0; i &lt; array.length; i++) { //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外循环遍历行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for (int j = 0; j &lt; array[i].length; j++) { //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内循环遍历列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System.out.print(array[i][j] + " ");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}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System.out.println(); //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每遍历完一行后换行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702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注意事项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2047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使用第二种声明方式（只指定第一维的大小）时，需要单独初始化每个内部数组，否则会抛出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NullPointerException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。初始化二维数组时，可以直接指定数组的元素，这些元素可以是不同长度的数组，但通常会保持长度一致以便于处理。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遍历二维数组时，注意内循环的边界条件依赖于当前外循环所遍历的行的实际长度，因为二维数组的每行长度可能不同。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任务实现</a:t>
            </a:r>
            <a:endParaRPr lang="zh-CN" altLang="en-US" sz="3600" b="1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94985" y="3500755"/>
            <a:ext cx="559435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：定义一个二维数组，使用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for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语句遍历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数组中的元素的值。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23230" y="4436745"/>
            <a:ext cx="559435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：定义一个二维数组，从控制台输入行数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，并输出该行所有元素的值。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使用案例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专业字体设计服务/WWW.ZTSGC.COM/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481965" y="859790"/>
          <a:ext cx="6203315" cy="5285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3315"/>
              </a:tblGrid>
              <a:tr h="52851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public class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60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Example05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6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public static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6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void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main(</a:t>
                      </a:r>
                      <a:r>
                        <a:rPr lang="zh-CN" altLang="en-US" sz="16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[] args) {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6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//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6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创建一个二维数组 score，包含多个数据组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6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double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[][] score = {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{65.5, 70.3, 75.6}, </a:t>
                      </a:r>
                      <a:r>
                        <a:rPr lang="zh-CN" altLang="en-US" sz="16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第一组数据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{78.7, 67.8, 56.0}, </a:t>
                      </a:r>
                      <a:r>
                        <a:rPr lang="zh-CN" altLang="en-US" sz="16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第二组数据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{65.5, 75.7, 45.9}, </a:t>
                      </a:r>
                      <a:r>
                        <a:rPr lang="zh-CN" altLang="en-US" sz="16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第三组数据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{97.0, 54.7, 65.6}  </a:t>
                      </a:r>
                      <a:r>
                        <a:rPr lang="zh-CN" altLang="en-US" sz="16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第四组数据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};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6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外层循环遍历每一组数据</a:t>
                      </a:r>
                      <a:endParaRPr lang="zh-CN" altLang="en-US" sz="16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6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for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6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 = 0; i &lt; score.length; i++) {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  <a:r>
                        <a:rPr lang="zh-CN" altLang="en-US" sz="16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内层循环遍历当前组中的每个数据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  <a:r>
                        <a:rPr lang="zh-CN" altLang="en-US" sz="16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for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6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 = 0; j &lt; score[i].length; j++) {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</a:t>
                      </a:r>
                      <a:r>
                        <a:rPr lang="zh-CN" altLang="en-US" sz="16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输出当前组的数据，格式为 score[i][j]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    System.out.println("score[" + i + "][" + j + "]=" + score[i][j]);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}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}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}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}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dash"/>
                    </a:lnL>
                    <a:lnR w="12700">
                      <a:solidFill>
                        <a:schemeClr val="tx1"/>
                      </a:solidFill>
                      <a:prstDash val="dash"/>
                    </a:lnR>
                    <a:lnT w="12700">
                      <a:solidFill>
                        <a:schemeClr val="tx1"/>
                      </a:solidFill>
                      <a:prstDash val="dash"/>
                    </a:lnT>
                    <a:lnB w="12700">
                      <a:solidFill>
                        <a:schemeClr val="tx1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 flipV="1">
            <a:off x="6386830" y="4855210"/>
            <a:ext cx="1368425" cy="1397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8331835" y="2781300"/>
            <a:ext cx="229933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运行结果显示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7035165" y="1772920"/>
            <a:ext cx="676084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b="1">
                <a:solidFill>
                  <a:schemeClr val="accent1">
                    <a:lumMod val="75000"/>
                  </a:schemeClr>
                </a:solidFill>
              </a:rPr>
              <a:t>用for循环遍历数组中的元素的值</a:t>
            </a:r>
            <a:endParaRPr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5" name="图片 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535" y="3428683"/>
            <a:ext cx="2609850" cy="29051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使用案例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专业字体设计服务/WWW.ZTSGC.COM/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483235" y="1189355"/>
          <a:ext cx="5128260" cy="428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8260"/>
              </a:tblGrid>
              <a:tr h="4282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import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java.util.Scanner; </a:t>
                      </a:r>
                      <a:r>
                        <a:rPr lang="zh-CN" altLang="en-US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导入Scanner类以获取用户输入</a:t>
                      </a:r>
                      <a:endParaRPr lang="zh-CN" altLang="en-US" sz="11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public class </a:t>
                      </a:r>
                      <a:r>
                        <a:rPr lang="zh-CN" altLang="en-US" sz="110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Example06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public static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void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main(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String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[] args)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//</a:t>
                      </a:r>
                      <a:r>
                        <a:rPr lang="zh-CN" altLang="en-US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创建一个二维数组 score，包含多个数据组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double[][] score =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{65.5, 70.3, 75.6}, </a:t>
                      </a:r>
                      <a:r>
                        <a:rPr lang="zh-CN" altLang="en-US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第一组数据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{78.7, 67.8, 56.0}, </a:t>
                      </a:r>
                      <a:r>
                        <a:rPr lang="zh-CN" altLang="en-US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第二组数据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{65.5, 75.7, 45.9}, </a:t>
                      </a:r>
                      <a:r>
                        <a:rPr lang="zh-CN" altLang="en-US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第三组数据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{97.0, 54.7, 65.6}  </a:t>
                      </a:r>
                      <a:r>
                        <a:rPr lang="zh-CN" altLang="en-US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第四组数据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};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创建Scanner对象以获取用户输入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Scanner input =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new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Scanner(System.in);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提示用户输入希望查看的行数</a:t>
                      </a:r>
                      <a:endParaRPr lang="zh-CN" altLang="en-US" sz="11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System.out.println("当前数组有" + score.length + "行，您想查看第几行的元素？");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num = input.nextInt(); </a:t>
                      </a:r>
                      <a:r>
                        <a:rPr lang="zh-CN" altLang="en-US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获取用户输入的行号</a:t>
                      </a:r>
                      <a:endParaRPr lang="zh-CN" altLang="en-US" sz="11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输出所选行的所有元素</a:t>
                      </a:r>
                      <a:endParaRPr lang="zh-CN" altLang="en-US" sz="1100">
                        <a:solidFill>
                          <a:srgbClr val="AA55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zh-CN" altLang="en-US" sz="11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for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1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j = 0; j &lt; score[num - 1].length; j++) {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System.out.println("第" + num + "行的第[" + j + "]个元素的值是" + score[num - 1][j]);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input.close(); </a:t>
                      </a:r>
                      <a:r>
                        <a:rPr lang="zh-CN" altLang="en-US" sz="1100">
                          <a:solidFill>
                            <a:srgbClr val="AA55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// 关闭Scanner以释放资源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}</a:t>
                      </a: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endParaRPr lang="zh-CN" altLang="en-US" sz="1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dash"/>
                    </a:lnL>
                    <a:lnR w="12700">
                      <a:solidFill>
                        <a:schemeClr val="tx1"/>
                      </a:solidFill>
                      <a:prstDash val="dash"/>
                    </a:lnR>
                    <a:lnT w="12700">
                      <a:solidFill>
                        <a:schemeClr val="tx1"/>
                      </a:solidFill>
                      <a:prstDash val="dash"/>
                    </a:lnT>
                    <a:lnB w="12700">
                      <a:solidFill>
                        <a:schemeClr val="tx1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>
            <a:off x="5163185" y="4940935"/>
            <a:ext cx="1655445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7179310" y="3717290"/>
            <a:ext cx="300355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运行结果显示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6459220" y="1844675"/>
            <a:ext cx="559689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b="1">
                <a:solidFill>
                  <a:schemeClr val="accent1">
                    <a:lumMod val="75000"/>
                  </a:schemeClr>
                </a:solidFill>
              </a:rPr>
              <a:t>从控制台输入行数</a:t>
            </a:r>
            <a:br>
              <a:rPr sz="2600" b="1">
                <a:solidFill>
                  <a:schemeClr val="accent1">
                    <a:lumMod val="75000"/>
                  </a:schemeClr>
                </a:solidFill>
              </a:rPr>
            </a:br>
            <a:r>
              <a:rPr sz="2600" b="1">
                <a:solidFill>
                  <a:schemeClr val="accent1">
                    <a:lumMod val="75000"/>
                  </a:schemeClr>
                </a:solidFill>
              </a:rPr>
              <a:t>并输出该行所有元素的值</a:t>
            </a:r>
            <a:endParaRPr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6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603" y="4293235"/>
            <a:ext cx="2752725" cy="1447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TABLE_ENDDRAG_ORIGIN_RECT" val="488*418"/>
  <p:tag name="TABLE_ENDDRAG_RECT" val="21*57*488*418"/>
</p:tagLst>
</file>

<file path=ppt/tags/tag23.xml><?xml version="1.0" encoding="utf-8"?>
<p:tagLst xmlns:p="http://schemas.openxmlformats.org/presentationml/2006/main">
  <p:tag name="KSO_WM_DIAGRAM_VIRTUALLY_FRAME" val="{&quot;height&quot;:324.1,&quot;left&quot;:45.2,&quot;top&quot;:105.55,&quot;width&quot;:828.75}"/>
</p:tagLst>
</file>

<file path=ppt/tags/tag24.xml><?xml version="1.0" encoding="utf-8"?>
<p:tagLst xmlns:p="http://schemas.openxmlformats.org/presentationml/2006/main">
  <p:tag name="KSO_WM_DIAGRAM_VIRTUALLY_FRAME" val="{&quot;height&quot;:324.1,&quot;left&quot;:45.2,&quot;top&quot;:105.55,&quot;width&quot;:828.75}"/>
</p:tagLst>
</file>

<file path=ppt/tags/tag25.xml><?xml version="1.0" encoding="utf-8"?>
<p:tagLst xmlns:p="http://schemas.openxmlformats.org/presentationml/2006/main">
  <p:tag name="TABLE_ENDDRAG_ORIGIN_RECT" val="403*330"/>
  <p:tag name="TABLE_ENDDRAG_RECT" val="38*93*403*330"/>
</p:tagLst>
</file>

<file path=ppt/tags/tag26.xml><?xml version="1.0" encoding="utf-8"?>
<p:tagLst xmlns:p="http://schemas.openxmlformats.org/presentationml/2006/main">
  <p:tag name="KSO_WM_DIAGRAM_VIRTUALLY_FRAME" val="{&quot;height&quot;:324.1,&quot;left&quot;:45.2,&quot;top&quot;:105.55,&quot;width&quot;:828.75}"/>
</p:tagLst>
</file>

<file path=ppt/tags/tag27.xml><?xml version="1.0" encoding="utf-8"?>
<p:tagLst xmlns:p="http://schemas.openxmlformats.org/presentationml/2006/main">
  <p:tag name="KSO_WM_DIAGRAM_VIRTUALLY_FRAME" val="{&quot;height&quot;:324.1,&quot;left&quot;:45.2,&quot;top&quot;:105.55,&quot;width&quot;:828.75}"/>
</p:tagLst>
</file>

<file path=ppt/tags/tag28.xml><?xml version="1.0" encoding="utf-8"?>
<p:tagLst xmlns:p="http://schemas.openxmlformats.org/presentationml/2006/main">
  <p:tag name="COMMONDATA" val="eyJoZGlkIjoiZjNjMmJiYWQ1NjYxMzU5Y2Q4YWViZjliZTZhYjA5ODE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2666</Words>
  <Application>WPS 演示</Application>
  <PresentationFormat>自定义</PresentationFormat>
  <Paragraphs>172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4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黑体</vt:lpstr>
      <vt:lpstr>Arial Unicode MS</vt:lpstr>
      <vt:lpstr>等线</vt:lpstr>
      <vt:lpstr>专业字体设计服务/WWW.ZTSGC.COM/</vt:lpstr>
      <vt:lpstr>华康俪金黑W8(P)</vt:lpstr>
      <vt:lpstr>经典繁仿黑</vt:lpstr>
      <vt:lpstr>Wonder Arial</vt:lpstr>
      <vt:lpstr>汉仪中黑繁</vt:lpstr>
      <vt:lpstr>Metrolite 2 Com Roman</vt:lpstr>
      <vt:lpstr>华康俪金黑W8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501</cp:revision>
  <dcterms:created xsi:type="dcterms:W3CDTF">2015-03-26T06:11:00Z</dcterms:created>
  <dcterms:modified xsi:type="dcterms:W3CDTF">2026-01-10T13:13:14Z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66E6EA326170477E9C748D14EEE77480_12</vt:lpwstr>
  </property>
</Properties>
</file>