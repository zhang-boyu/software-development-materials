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338" r:id="rId4"/>
    <p:sldId id="373" r:id="rId6"/>
    <p:sldId id="374" r:id="rId7"/>
    <p:sldId id="340" r:id="rId8"/>
    <p:sldId id="353" r:id="rId9"/>
    <p:sldId id="451" r:id="rId10"/>
    <p:sldId id="454" r:id="rId11"/>
    <p:sldId id="407" r:id="rId12"/>
    <p:sldId id="455" r:id="rId13"/>
    <p:sldId id="347" r:id="rId14"/>
  </p:sldIdLst>
  <p:sldSz cx="12198350" cy="6858000"/>
  <p:notesSz cx="6858000" cy="9144000"/>
  <p:custDataLst>
    <p:tags r:id="rId1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05"/>
        <p:guide pos="39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25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sz="1800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求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～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的所有偶数之和。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do-while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语句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注意事项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do-while 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28090" y="29032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do 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{ 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}while(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条件表达式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);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1094105" y="21717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70218" y="224498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7065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do-while 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1094105" y="21717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70218" y="2244984"/>
            <a:ext cx="94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流程图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43095" y="5876925"/>
            <a:ext cx="299529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rgbClr val="000000"/>
                </a:solidFill>
                <a:latin typeface="TT9E365D44tCID"/>
                <a:ea typeface="TT9E365D44tCID"/>
              </a:rPr>
              <a:t>图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4-2 do-while </a:t>
            </a:r>
            <a:r>
              <a:rPr lang="zh-CN" altLang="en-US" sz="1600">
                <a:solidFill>
                  <a:srgbClr val="000000"/>
                </a:solidFill>
                <a:latin typeface="TT9E365D44tCID"/>
                <a:ea typeface="TT9E365D44tCID"/>
              </a:rPr>
              <a:t>语句的执行流程</a:t>
            </a:r>
            <a:endParaRPr lang="zh-CN" altLang="en-US" sz="1600">
              <a:solidFill>
                <a:srgbClr val="000000"/>
              </a:solidFill>
              <a:latin typeface="TT9E365D44tCID"/>
              <a:ea typeface="TT9E365D44tCID"/>
            </a:endParaRPr>
          </a:p>
        </p:txBody>
      </p:sp>
      <p:grpSp>
        <p:nvGrpSpPr>
          <p:cNvPr id="11" name="Group 31"/>
          <p:cNvGrpSpPr/>
          <p:nvPr/>
        </p:nvGrpSpPr>
        <p:grpSpPr>
          <a:xfrm>
            <a:off x="4731385" y="2852420"/>
            <a:ext cx="2823845" cy="2880995"/>
            <a:chOff x="4037" y="10578"/>
            <a:chExt cx="3138" cy="2919"/>
          </a:xfrm>
        </p:grpSpPr>
        <p:sp>
          <p:nvSpPr>
            <p:cNvPr id="26630" name="AutoShape 32"/>
            <p:cNvSpPr/>
            <p:nvPr/>
          </p:nvSpPr>
          <p:spPr>
            <a:xfrm>
              <a:off x="4737" y="12294"/>
              <a:ext cx="2433" cy="643"/>
            </a:xfrm>
            <a:prstGeom prst="diamond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marL="0" indent="0" algn="ctr" eaLnBrk="1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750" kern="1200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条件表达式</a:t>
              </a:r>
              <a:endParaRPr lang="en-US" altLang="zh-CN" sz="7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6631" name="Rectangle 33"/>
            <p:cNvSpPr/>
            <p:nvPr/>
          </p:nvSpPr>
          <p:spPr>
            <a:xfrm>
              <a:off x="4580" y="11221"/>
              <a:ext cx="2595" cy="429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marL="0" indent="0" algn="ctr" eaLnBrk="1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kern="100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执行语句</a:t>
              </a:r>
              <a:endParaRPr lang="en-US" altLang="zh-CN" sz="120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26632" name="Line 34"/>
            <p:cNvCxnSpPr/>
            <p:nvPr/>
          </p:nvCxnSpPr>
          <p:spPr>
            <a:xfrm>
              <a:off x="5914" y="10578"/>
              <a:ext cx="0" cy="64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26633" name="Line 35"/>
            <p:cNvCxnSpPr/>
            <p:nvPr/>
          </p:nvCxnSpPr>
          <p:spPr>
            <a:xfrm>
              <a:off x="5914" y="11650"/>
              <a:ext cx="0" cy="6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26634" name="Line 36"/>
            <p:cNvCxnSpPr/>
            <p:nvPr/>
          </p:nvCxnSpPr>
          <p:spPr>
            <a:xfrm>
              <a:off x="5914" y="12937"/>
              <a:ext cx="0" cy="5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26635" name="Line 37"/>
            <p:cNvCxnSpPr/>
            <p:nvPr/>
          </p:nvCxnSpPr>
          <p:spPr>
            <a:xfrm flipH="1">
              <a:off x="4117" y="12615"/>
              <a:ext cx="60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6636" name="Line 38"/>
            <p:cNvCxnSpPr/>
            <p:nvPr/>
          </p:nvCxnSpPr>
          <p:spPr>
            <a:xfrm flipH="1" flipV="1">
              <a:off x="4127" y="10895"/>
              <a:ext cx="5" cy="17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6637" name="Line 39"/>
            <p:cNvCxnSpPr/>
            <p:nvPr/>
          </p:nvCxnSpPr>
          <p:spPr>
            <a:xfrm>
              <a:off x="4117" y="10889"/>
              <a:ext cx="1796" cy="1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26638" name="Text Box 40"/>
            <p:cNvSpPr txBox="1"/>
            <p:nvPr/>
          </p:nvSpPr>
          <p:spPr>
            <a:xfrm>
              <a:off x="4037" y="12189"/>
              <a:ext cx="696" cy="32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0" indent="0" algn="ctr" eaLnBrk="1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kern="1200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t</a:t>
              </a:r>
              <a:r>
                <a:rPr lang="en-US" altLang="zh-CN" sz="900" kern="1200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rue</a:t>
              </a:r>
              <a:endParaRPr lang="en-US" altLang="zh-CN" sz="120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6639" name="Text Box 41"/>
            <p:cNvSpPr txBox="1"/>
            <p:nvPr/>
          </p:nvSpPr>
          <p:spPr>
            <a:xfrm>
              <a:off x="5993" y="12937"/>
              <a:ext cx="7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0" indent="0" algn="ctr" eaLnBrk="1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kern="1200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f</a:t>
              </a:r>
              <a:r>
                <a:rPr lang="en-US" altLang="zh-CN" sz="900" kern="1200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alse</a:t>
              </a:r>
              <a:endParaRPr lang="en-US" altLang="zh-CN" sz="120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注意事项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690" y="221043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do...while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语句的语法格式要求，在最后以分号结尾。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do...while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语句与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while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语句的区别。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while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语句先判断循环条件是否满足，再决定是否执行循环体。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do...while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语句先执行循环体，再判断循环条件是否满足。若首次执行循环，循环条件就不满足，则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while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语句的循环体一次都不被执行，而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do...while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语句的循环体至少被执行了一次。这导致完成同样功能的程序，如果使用不同循环结构语句，则运行结果不同。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确立循环体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0370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确立循环条件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5" grpId="0" bldLvl="0" autoUpdateAnimBg="0"/>
      <p:bldP spid="5136" grpId="0" bldLvl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专业字体设计服务/WWW.ZTSGC.COM/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770890" y="1873250"/>
          <a:ext cx="692975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755"/>
              </a:tblGrid>
              <a:tr h="3356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public class </a:t>
                      </a:r>
                      <a:r>
                        <a:rPr lang="zh-CN" altLang="en-US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Example02 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{</a:t>
                      </a:r>
                      <a:endParaRPr lang="zh-CN" altLang="en-US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lang="zh-CN" altLang="en-US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public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static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void 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main(</a:t>
                      </a:r>
                      <a:r>
                        <a:rPr lang="zh-CN" altLang="en-US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[] args) {</a:t>
                      </a:r>
                      <a:endParaRPr lang="zh-CN" altLang="en-US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sum = 0, i = 1; </a:t>
                      </a:r>
                      <a:r>
                        <a:rPr lang="zh-CN" altLang="en-US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sum变量用来存放偶数的和，i为循环变量，从1开始</a:t>
                      </a:r>
                      <a:endParaRPr lang="zh-CN" altLang="en-US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do 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{</a:t>
                      </a:r>
                      <a:endParaRPr lang="zh-CN" altLang="en-US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  <a:r>
                        <a:rPr lang="zh-CN" altLang="en-US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if 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(i % 2 == 0) {</a:t>
                      </a:r>
                      <a:r>
                        <a:rPr lang="zh-CN" altLang="en-US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// 判断i是否为偶数</a:t>
                      </a:r>
                      <a:endParaRPr lang="zh-CN" altLang="en-US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sum += i; </a:t>
                      </a:r>
                      <a:r>
                        <a:rPr lang="zh-CN" altLang="en-US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如果是偶数，将其累加到sum中</a:t>
                      </a:r>
                      <a:endParaRPr lang="zh-CN" altLang="en-US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}</a:t>
                      </a:r>
                      <a:endParaRPr lang="zh-CN" altLang="en-US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i++; </a:t>
                      </a:r>
                      <a:r>
                        <a:rPr lang="zh-CN" altLang="en-US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每次循环，i自增1</a:t>
                      </a:r>
                      <a:endParaRPr lang="zh-CN" altLang="en-US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} </a:t>
                      </a:r>
                      <a:r>
                        <a:rPr lang="zh-CN" altLang="en-US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while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(i &lt;= 100); </a:t>
                      </a:r>
                      <a:r>
                        <a:rPr lang="zh-CN" altLang="en-US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当i小于等于100时继续循环</a:t>
                      </a:r>
                      <a:endParaRPr lang="zh-CN" altLang="en-US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// 输出1到100之间偶数的和</a:t>
                      </a:r>
                      <a:endParaRPr lang="zh-CN" altLang="en-US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System.out.println("1-100偶数之和: " + sum);     }</a:t>
                      </a:r>
                      <a:endParaRPr lang="zh-CN" altLang="en-US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}</a:t>
                      </a:r>
                      <a:endParaRPr lang="zh-CN" altLang="en-US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dash"/>
                    </a:lnL>
                    <a:lnR w="12700">
                      <a:solidFill>
                        <a:schemeClr val="tx1"/>
                      </a:solidFill>
                      <a:prstDash val="dash"/>
                    </a:lnR>
                    <a:lnT w="12700">
                      <a:solidFill>
                        <a:schemeClr val="tx1"/>
                      </a:solidFill>
                      <a:prstDash val="dash"/>
                    </a:lnT>
                    <a:lnB w="12700">
                      <a:solidFill>
                        <a:schemeClr val="tx1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 flipV="1">
            <a:off x="7031990" y="5085080"/>
            <a:ext cx="1155700" cy="317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8403590" y="4220210"/>
            <a:ext cx="300355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运行结果显示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986790" y="1052830"/>
            <a:ext cx="723455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使用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do-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while循环语句求1-100的所有偶数之和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2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080" y="4868545"/>
            <a:ext cx="3202940" cy="494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TABLE_ENDDRAG_ORIGIN_RECT" val="545*309"/>
  <p:tag name="TABLE_ENDDRAG_RECT" val="66*80*545*309"/>
</p:tagLst>
</file>

<file path=ppt/tags/tag23.xml><?xml version="1.0" encoding="utf-8"?>
<p:tagLst xmlns:p="http://schemas.openxmlformats.org/presentationml/2006/main">
  <p:tag name="KSO_WM_DIAGRAM_VIRTUALLY_FRAME" val="{&quot;height&quot;:324.1,&quot;left&quot;:45.2,&quot;top&quot;:105.55,&quot;width&quot;:828.75}"/>
</p:tagLst>
</file>

<file path=ppt/tags/tag24.xml><?xml version="1.0" encoding="utf-8"?>
<p:tagLst xmlns:p="http://schemas.openxmlformats.org/presentationml/2006/main">
  <p:tag name="KSO_WM_DIAGRAM_VIRTUALLY_FRAME" val="{&quot;height&quot;:324.1,&quot;left&quot;:45.2,&quot;top&quot;:105.55,&quot;width&quot;:828.75}"/>
</p:tagLst>
</file>

<file path=ppt/tags/tag25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911</Words>
  <Application>WPS 演示</Application>
  <PresentationFormat>自定义</PresentationFormat>
  <Paragraphs>119</Paragraphs>
  <Slides>10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TT9E365D44tCID</vt:lpstr>
      <vt:lpstr>Times New Roman</vt:lpstr>
      <vt:lpstr>黑体</vt:lpstr>
      <vt:lpstr>ksdb</vt:lpstr>
      <vt:lpstr>Arial Unicode MS</vt:lpstr>
      <vt:lpstr>等线</vt:lpstr>
      <vt:lpstr>Calibri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530</cp:revision>
  <dcterms:created xsi:type="dcterms:W3CDTF">2015-03-26T06:11:00Z</dcterms:created>
  <dcterms:modified xsi:type="dcterms:W3CDTF">2026-01-10T14:12:57Z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CA0D6516D2154C2FA02888678D6CA1DD_13</vt:lpwstr>
  </property>
</Properties>
</file>