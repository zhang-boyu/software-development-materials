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62" r:id="rId3"/>
    <p:sldId id="373" r:id="rId5"/>
    <p:sldId id="374" r:id="rId6"/>
    <p:sldId id="340" r:id="rId7"/>
    <p:sldId id="353" r:id="rId8"/>
    <p:sldId id="469" r:id="rId9"/>
    <p:sldId id="470" r:id="rId10"/>
    <p:sldId id="471" r:id="rId11"/>
    <p:sldId id="472" r:id="rId12"/>
    <p:sldId id="473" r:id="rId13"/>
    <p:sldId id="463" r:id="rId14"/>
    <p:sldId id="474" r:id="rId15"/>
    <p:sldId id="475" r:id="rId16"/>
    <p:sldId id="407" r:id="rId17"/>
    <p:sldId id="456" r:id="rId18"/>
    <p:sldId id="458" r:id="rId19"/>
    <p:sldId id="476" r:id="rId20"/>
    <p:sldId id="477" r:id="rId21"/>
    <p:sldId id="478" r:id="rId22"/>
    <p:sldId id="479" r:id="rId23"/>
    <p:sldId id="480" r:id="rId24"/>
    <p:sldId id="481" r:id="rId25"/>
    <p:sldId id="482" r:id="rId26"/>
    <p:sldId id="484" r:id="rId27"/>
    <p:sldId id="483" r:id="rId28"/>
    <p:sldId id="485" r:id="rId29"/>
    <p:sldId id="487" r:id="rId30"/>
    <p:sldId id="488" r:id="rId31"/>
    <p:sldId id="489" r:id="rId32"/>
    <p:sldId id="490" r:id="rId33"/>
    <p:sldId id="486" r:id="rId34"/>
    <p:sldId id="347" r:id="rId35"/>
  </p:sldIdLst>
  <p:sldSz cx="12198350" cy="6858000"/>
  <p:notesSz cx="6858000" cy="9144000"/>
  <p:custDataLst>
    <p:tags r:id="rId39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3" userDrawn="1">
          <p15:clr>
            <a:srgbClr val="A4A3A4"/>
          </p15:clr>
        </p15:guide>
        <p15:guide id="2" pos="39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A5500"/>
    <a:srgbClr val="66FF66"/>
    <a:srgbClr val="66FF33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20" d="100"/>
          <a:sy n="120" d="100"/>
        </p:scale>
        <p:origin x="514" y="67"/>
      </p:cViewPr>
      <p:guideLst>
        <p:guide orient="horz" pos="2213"/>
        <p:guide pos="39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9" Type="http://schemas.openxmlformats.org/officeDocument/2006/relationships/tags" Target="tags/tag73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2052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79413" y="685800"/>
            <a:ext cx="609917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第二级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第三级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第四级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5588" y="1122363"/>
            <a:ext cx="9148762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5588" y="3602038"/>
            <a:ext cx="9148762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2195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2195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5375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6096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6096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5375" y="1681163"/>
            <a:ext cx="5186363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5375" y="2505075"/>
            <a:ext cx="5186363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>
              <a:sym typeface="Calibri" panose="020F050202020403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9663" y="365125"/>
            <a:ext cx="2630487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9063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直接连接符 7"/>
          <p:cNvSpPr>
            <a:spLocks noChangeShapeType="1"/>
          </p:cNvSpPr>
          <p:nvPr/>
        </p:nvSpPr>
        <p:spPr bwMode="auto">
          <a:xfrm>
            <a:off x="6557963" y="6740525"/>
            <a:ext cx="5637212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" name="直接连接符 8"/>
          <p:cNvSpPr>
            <a:spLocks noChangeShapeType="1"/>
          </p:cNvSpPr>
          <p:nvPr/>
        </p:nvSpPr>
        <p:spPr bwMode="auto">
          <a:xfrm>
            <a:off x="0" y="6740525"/>
            <a:ext cx="5637213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8" name="TextBox 15"/>
          <p:cNvSpPr>
            <a:spLocks noChangeArrowheads="1"/>
          </p:cNvSpPr>
          <p:nvPr/>
        </p:nvSpPr>
        <p:spPr bwMode="auto">
          <a:xfrm>
            <a:off x="5695950" y="6488113"/>
            <a:ext cx="7921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929913C5-467F-4262-8E10-4784E1F23762}" type="slidenum"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</a:fld>
            <a:r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 </a:t>
            </a:r>
            <a:endParaRPr lang="zh-CN" altLang="en-US" b="1" smtClean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1029" name="直接连接符 10"/>
          <p:cNvSpPr>
            <a:spLocks noChangeShapeType="1"/>
          </p:cNvSpPr>
          <p:nvPr/>
        </p:nvSpPr>
        <p:spPr bwMode="auto">
          <a:xfrm>
            <a:off x="0" y="333375"/>
            <a:ext cx="12196763" cy="0"/>
          </a:xfrm>
          <a:prstGeom prst="line">
            <a:avLst/>
          </a:prstGeom>
          <a:noFill/>
          <a:ln w="152400">
            <a:solidFill>
              <a:srgbClr val="C8C8C8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30" name="组合 11"/>
          <p:cNvGrpSpPr/>
          <p:nvPr/>
        </p:nvGrpSpPr>
        <p:grpSpPr bwMode="auto">
          <a:xfrm rot="-5400000">
            <a:off x="10190163" y="-101600"/>
            <a:ext cx="1463675" cy="1666875"/>
            <a:chOff x="0" y="0"/>
            <a:chExt cx="2260994" cy="1512168"/>
          </a:xfrm>
        </p:grpSpPr>
        <p:sp>
          <p:nvSpPr>
            <p:cNvPr id="1031" name="燕尾形 12"/>
            <p:cNvSpPr>
              <a:spLocks noChangeArrowheads="1"/>
            </p:cNvSpPr>
            <p:nvPr/>
          </p:nvSpPr>
          <p:spPr bwMode="auto">
            <a:xfrm>
              <a:off x="4905" y="0"/>
              <a:ext cx="674374" cy="1512168"/>
            </a:xfrm>
            <a:prstGeom prst="chevron">
              <a:avLst>
                <a:gd name="adj" fmla="val 34773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2" name="燕尾形 13"/>
            <p:cNvSpPr>
              <a:spLocks noChangeArrowheads="1"/>
            </p:cNvSpPr>
            <p:nvPr/>
          </p:nvSpPr>
          <p:spPr bwMode="auto">
            <a:xfrm>
              <a:off x="201087" y="0"/>
              <a:ext cx="792083" cy="1512168"/>
            </a:xfrm>
            <a:prstGeom prst="chevron">
              <a:avLst>
                <a:gd name="adj" fmla="val 5000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3" name="五边形 14"/>
            <p:cNvSpPr>
              <a:spLocks noChangeArrowheads="1"/>
            </p:cNvSpPr>
            <p:nvPr/>
          </p:nvSpPr>
          <p:spPr bwMode="auto">
            <a:xfrm>
              <a:off x="340866" y="0"/>
              <a:ext cx="1925034" cy="1512168"/>
            </a:xfrm>
            <a:prstGeom prst="homePlate">
              <a:avLst>
                <a:gd name="adj" fmla="val 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5pPr>
      <a:lvl6pPr marL="13716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6pPr>
      <a:lvl7pPr marL="18288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7pPr>
      <a:lvl8pPr marL="22860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8pPr>
      <a:lvl9pPr marL="27432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5" Type="http://schemas.openxmlformats.org/officeDocument/2006/relationships/notesSlide" Target="../notesSlides/notesSlide2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tags" Target="../tags/tag25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tags" Target="../tags/tag28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2.xml"/><Relationship Id="rId1" Type="http://schemas.openxmlformats.org/officeDocument/2006/relationships/tags" Target="../tags/tag31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tags" Target="../tags/tag33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40.xml"/><Relationship Id="rId1" Type="http://schemas.openxmlformats.org/officeDocument/2006/relationships/tags" Target="../tags/tag39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tags" Target="../tags/tag42.xml"/><Relationship Id="rId1" Type="http://schemas.openxmlformats.org/officeDocument/2006/relationships/tags" Target="../tags/tag41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44.xml"/><Relationship Id="rId1" Type="http://schemas.openxmlformats.org/officeDocument/2006/relationships/tags" Target="../tags/tag43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tags" Target="../tags/tag46.xml"/><Relationship Id="rId1" Type="http://schemas.openxmlformats.org/officeDocument/2006/relationships/tags" Target="../tags/tag45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48.xml"/><Relationship Id="rId1" Type="http://schemas.openxmlformats.org/officeDocument/2006/relationships/tags" Target="../tags/tag47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tags" Target="../tags/tag50.xml"/><Relationship Id="rId1" Type="http://schemas.openxmlformats.org/officeDocument/2006/relationships/tags" Target="../tags/tag49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52.xml"/><Relationship Id="rId1" Type="http://schemas.openxmlformats.org/officeDocument/2006/relationships/tags" Target="../tags/tag51.xml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tags" Target="../tags/tag54.xml"/><Relationship Id="rId1" Type="http://schemas.openxmlformats.org/officeDocument/2006/relationships/tags" Target="../tags/tag53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56.xml"/><Relationship Id="rId1" Type="http://schemas.openxmlformats.org/officeDocument/2006/relationships/tags" Target="../tags/tag55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58.xml"/><Relationship Id="rId1" Type="http://schemas.openxmlformats.org/officeDocument/2006/relationships/tags" Target="../tags/tag57.xml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tags" Target="../tags/tag60.xml"/><Relationship Id="rId1" Type="http://schemas.openxmlformats.org/officeDocument/2006/relationships/tags" Target="../tags/tag59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62.xml"/><Relationship Id="rId1" Type="http://schemas.openxmlformats.org/officeDocument/2006/relationships/tags" Target="../tags/tag61.xml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8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66.xml"/><Relationship Id="rId1" Type="http://schemas.openxmlformats.org/officeDocument/2006/relationships/tags" Target="../tags/tag65.xm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68.xml"/><Relationship Id="rId1" Type="http://schemas.openxmlformats.org/officeDocument/2006/relationships/tags" Target="../tags/tag67.xml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0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png"/><Relationship Id="rId2" Type="http://schemas.openxmlformats.org/officeDocument/2006/relationships/tags" Target="../tags/tag72.xml"/><Relationship Id="rId1" Type="http://schemas.openxmlformats.org/officeDocument/2006/relationships/tags" Target="../tags/tag71.xml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jpeg"/><Relationship Id="rId1" Type="http://schemas.openxmlformats.org/officeDocument/2006/relationships/image" Target="../media/image1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矩形 1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3075" name="Picture 3" descr="F:\品牌VI\无锡职院\资源库LOGO\2uqt7gw81r.jpg2uqt7gw81r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225" y="328613"/>
            <a:ext cx="8331200" cy="6027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 descr="0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4367213"/>
            <a:ext cx="12196762" cy="2506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TextBox 7"/>
          <p:cNvSpPr>
            <a:spLocks noChangeArrowheads="1"/>
          </p:cNvSpPr>
          <p:nvPr/>
        </p:nvSpPr>
        <p:spPr bwMode="auto">
          <a:xfrm>
            <a:off x="409575" y="376238"/>
            <a:ext cx="2665413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60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无锡职业技术学院内部资料</a:t>
            </a:r>
            <a:endParaRPr lang="zh-CN" altLang="en-US" sz="160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3078" name="TextBox 15"/>
          <p:cNvSpPr>
            <a:spLocks noChangeArrowheads="1"/>
          </p:cNvSpPr>
          <p:nvPr/>
        </p:nvSpPr>
        <p:spPr bwMode="auto">
          <a:xfrm>
            <a:off x="5045075" y="1403350"/>
            <a:ext cx="662432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en-US" altLang="zh-CN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JAVA</a:t>
            </a:r>
            <a:r>
              <a:rPr lang="zh-CN" altLang="en-US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程序设计项目教程</a:t>
            </a:r>
            <a:endParaRPr lang="zh-CN" altLang="en-US" sz="4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经典繁仿黑" pitchFamily="1" charset="-122"/>
            </a:endParaRPr>
          </a:p>
        </p:txBody>
      </p:sp>
    </p:spTree>
  </p:cSld>
  <p:clrMapOvr>
    <a:masterClrMapping/>
  </p:clrMapOvr>
  <p:transition spd="slow">
    <p:cover dir="l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2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3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06" name="任意多边形 10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flipV="1">
            <a:off x="0" y="2590800"/>
            <a:ext cx="12199938" cy="1630363"/>
          </a:xfrm>
          <a:custGeom>
            <a:avLst/>
            <a:gdLst>
              <a:gd name="T0" fmla="*/ 0 w 10521680"/>
              <a:gd name="T1" fmla="*/ 0 h 1828800"/>
              <a:gd name="T2" fmla="*/ 7670639 w 10521680"/>
              <a:gd name="T3" fmla="*/ 0 h 1828800"/>
              <a:gd name="T4" fmla="*/ 8437771 w 10521680"/>
              <a:gd name="T5" fmla="*/ 1295748 h 1828800"/>
              <a:gd name="T6" fmla="*/ 16402222 w 10521680"/>
              <a:gd name="T7" fmla="*/ 1295748 h 1828800"/>
              <a:gd name="T8" fmla="*/ 0 60000 65536"/>
              <a:gd name="T9" fmla="*/ 0 60000 65536"/>
              <a:gd name="T10" fmla="*/ 0 60000 65536"/>
              <a:gd name="T11" fmla="*/ 0 60000 65536"/>
              <a:gd name="T12" fmla="*/ 0 w 10521680"/>
              <a:gd name="T13" fmla="*/ 0 h 1828800"/>
              <a:gd name="T14" fmla="*/ 10521680 w 10521680"/>
              <a:gd name="T15" fmla="*/ 1828800 h 18288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521680" h="1828800">
                <a:moveTo>
                  <a:pt x="0" y="0"/>
                </a:moveTo>
                <a:lnTo>
                  <a:pt x="4920553" y="0"/>
                </a:lnTo>
                <a:lnTo>
                  <a:pt x="5412652" y="1828800"/>
                </a:lnTo>
                <a:lnTo>
                  <a:pt x="10521680" y="1828800"/>
                </a:lnTo>
              </a:path>
            </a:pathLst>
          </a:custGeom>
          <a:noFill/>
          <a:ln w="57150" cap="flat" cmpd="sng">
            <a:solidFill>
              <a:srgbClr val="3B79CE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grpSp>
        <p:nvGrpSpPr>
          <p:cNvPr id="4107" name="组合 11"/>
          <p:cNvGrpSpPr/>
          <p:nvPr>
            <p:custDataLst>
              <p:tags r:id="rId2"/>
            </p:custDataLst>
          </p:nvPr>
        </p:nvGrpSpPr>
        <p:grpSpPr bwMode="auto">
          <a:xfrm>
            <a:off x="1085850" y="3875088"/>
            <a:ext cx="692150" cy="692150"/>
            <a:chOff x="0" y="0"/>
            <a:chExt cx="692150" cy="69215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08" name="TextBox 8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08940" y="3162300"/>
            <a:ext cx="212852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24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</p:txBody>
      </p:sp>
      <p:sp>
        <p:nvSpPr>
          <p:cNvPr id="4109" name="TextBox 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406015" y="3162300"/>
            <a:ext cx="290703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10" name="TextBox 16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8114983" y="2997200"/>
            <a:ext cx="21732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任务实现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112" name="组合 18"/>
          <p:cNvGrpSpPr/>
          <p:nvPr>
            <p:custDataLst>
              <p:tags r:id="rId8"/>
            </p:custDataLst>
          </p:nvPr>
        </p:nvGrpSpPr>
        <p:grpSpPr bwMode="auto">
          <a:xfrm>
            <a:off x="3452813" y="3875088"/>
            <a:ext cx="692150" cy="692150"/>
            <a:chOff x="0" y="0"/>
            <a:chExt cx="692150" cy="692150"/>
          </a:xfrm>
        </p:grpSpPr>
        <p:sp>
          <p:nvSpPr>
            <p:cNvPr id="4120" name="椭圆 19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1" name="椭圆 20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grpSp>
        <p:nvGrpSpPr>
          <p:cNvPr id="4113" name="组合 21"/>
          <p:cNvGrpSpPr/>
          <p:nvPr>
            <p:custDataLst>
              <p:tags r:id="rId11"/>
            </p:custDataLst>
          </p:nvPr>
        </p:nvGrpSpPr>
        <p:grpSpPr bwMode="auto">
          <a:xfrm>
            <a:off x="9190673" y="2204720"/>
            <a:ext cx="692150" cy="692150"/>
            <a:chOff x="1499235" y="-40005"/>
            <a:chExt cx="692150" cy="692150"/>
          </a:xfrm>
        </p:grpSpPr>
        <p:sp>
          <p:nvSpPr>
            <p:cNvPr id="4118" name="椭圆 22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499235" y="-40005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19" name="椭圆 23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575435" y="32385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15" name="Text Box 2"/>
          <p:cNvSpPr>
            <a:spLocks noChangeArrowheads="1"/>
          </p:cNvSpPr>
          <p:nvPr/>
        </p:nvSpPr>
        <p:spPr bwMode="auto">
          <a:xfrm>
            <a:off x="5378450" y="3070225"/>
            <a:ext cx="1296988" cy="647700"/>
          </a:xfrm>
          <a:prstGeom prst="rect">
            <a:avLst/>
          </a:prstGeom>
          <a:solidFill>
            <a:srgbClr val="3B79C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目录</a:t>
            </a:r>
            <a:endParaRPr lang="zh-CN" altLang="zh-CN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子任务2：在子任务1的基础上，定义子类Cat的属性color以及设置和获取方法；定义测试类输出Cat实例相关属性信息。</a:t>
            </a: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模块一  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436745" y="3429000"/>
            <a:ext cx="7569835" cy="299974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子任务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获取字符串长度及访问字符串中的第一个字符。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子任务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字符串转换为大写。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子任务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字符串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“HelloWorld”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中的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“World”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替换为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“Java”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子任务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判断字符串是否以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“Str”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开头。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子任务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将字符串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本科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硕士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博士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先截取出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硕士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，后分割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					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字符串。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子任务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StringBuffer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实现字符串的添加、删除、修改和截取。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667375" y="4797425"/>
            <a:ext cx="5594350" cy="50673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-1101090" y="-9906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..</a:t>
            </a:r>
            <a:endParaRPr lang="en-US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模块二</a:t>
            </a:r>
            <a:r>
              <a:rPr lang="en-US" altLang="zh-CN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marL="571500" indent="-571500" algn="ctr" eaLnBrk="1" hangingPunct="1">
              <a:buFont typeface="Arial" panose="020B0604020202020204" pitchFamily="34" charset="0"/>
              <a:buChar char="•"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矩形 2"/>
          <p:cNvSpPr>
            <a:spLocks noChangeArrowheads="1"/>
          </p:cNvSpPr>
          <p:nvPr/>
        </p:nvSpPr>
        <p:spPr bwMode="auto">
          <a:xfrm>
            <a:off x="6605588" y="3605213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String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类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" name="矩形 3"/>
          <p:cNvSpPr>
            <a:spLocks noChangeArrowheads="1"/>
          </p:cNvSpPr>
          <p:nvPr/>
        </p:nvSpPr>
        <p:spPr bwMode="auto">
          <a:xfrm>
            <a:off x="6605588" y="4108768"/>
            <a:ext cx="35988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StringBuffer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类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2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2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2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 bldLvl="0" autoUpdateAnimBg="0"/>
      <p:bldP spid="3" grpId="0" bldLvl="0" autoUpdateAnimBg="0"/>
      <p:bldP spid="2" grpId="1"/>
      <p:bldP spid="3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String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46835" y="2420620"/>
            <a:ext cx="10284460" cy="419608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Java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定义了两种初始化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String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对象的方式。</a:t>
            </a:r>
            <a:endParaRPr lang="zh-CN" altLang="en-US" sz="24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第一种方式：使用字符串常量直接初始化一个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String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对象，语法格式：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  								</a:t>
            </a:r>
            <a:r>
              <a:rPr lang="en-US" altLang="zh-CN" sz="2400">
                <a:highlight>
                  <a:srgbClr val="C0C0C0"/>
                </a:highlight>
                <a:latin typeface="宋体" panose="02010600030101010101" pitchFamily="2" charset="-122"/>
                <a:cs typeface="宋体" panose="02010600030101010101" pitchFamily="2" charset="-122"/>
              </a:rPr>
              <a:t>	String </a:t>
            </a:r>
            <a:r>
              <a:rPr lang="zh-CN" altLang="en-US" sz="2400">
                <a:highlight>
                  <a:srgbClr val="C0C0C0"/>
                </a:highlight>
                <a:latin typeface="宋体" panose="02010600030101010101" pitchFamily="2" charset="-122"/>
                <a:cs typeface="宋体" panose="02010600030101010101" pitchFamily="2" charset="-122"/>
              </a:rPr>
              <a:t>变量名</a:t>
            </a:r>
            <a:r>
              <a:rPr lang="en-US" altLang="zh-CN" sz="2400">
                <a:highlight>
                  <a:srgbClr val="C0C0C0"/>
                </a:highlight>
                <a:latin typeface="宋体" panose="02010600030101010101" pitchFamily="2" charset="-122"/>
                <a:cs typeface="宋体" panose="02010600030101010101" pitchFamily="2" charset="-122"/>
              </a:rPr>
              <a:t>=</a:t>
            </a:r>
            <a:r>
              <a:rPr lang="zh-CN" altLang="en-US" sz="2400">
                <a:highlight>
                  <a:srgbClr val="C0C0C0"/>
                </a:highlight>
                <a:latin typeface="宋体" panose="02010600030101010101" pitchFamily="2" charset="-122"/>
                <a:cs typeface="宋体" panose="02010600030101010101" pitchFamily="2" charset="-122"/>
              </a:rPr>
              <a:t>字符串；</a:t>
            </a:r>
            <a:endParaRPr lang="zh-CN" altLang="en-US" sz="2400">
              <a:highlight>
                <a:srgbClr val="C0C0C0"/>
              </a:highlight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示例代码如下：</a:t>
            </a:r>
            <a:endParaRPr lang="zh-CN" altLang="en-US" sz="24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String str1=null;          //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将字符串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str1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设置为空</a:t>
            </a:r>
            <a:endParaRPr lang="zh-CN" altLang="en-US" sz="24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String str2=“”;         //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将字符串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str2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设置为空字符串</a:t>
            </a:r>
            <a:endParaRPr lang="zh-CN" altLang="en-US" sz="24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String str3=“hello”;     //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将字符串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str3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设置为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“hello”</a:t>
            </a:r>
            <a:endParaRPr lang="en-US" altLang="zh-CN"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String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46835" y="2133600"/>
            <a:ext cx="10284460" cy="419608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第二种方式：调用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String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类构造方法初始化字符串对象，其语法格式：</a:t>
            </a:r>
            <a:endParaRPr lang="zh-CN" altLang="en-US" sz="24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ctr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highlight>
                  <a:srgbClr val="C0C0C0"/>
                </a:highlight>
                <a:latin typeface="宋体" panose="02010600030101010101" pitchFamily="2" charset="-122"/>
                <a:cs typeface="宋体" panose="02010600030101010101" pitchFamily="2" charset="-122"/>
              </a:rPr>
              <a:t> String 变量名=new String(字符串)；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  	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						</a:t>
            </a:r>
            <a:endParaRPr lang="en-US" altLang="zh-CN" sz="24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String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类的常见构造方法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如下：</a:t>
            </a:r>
            <a:endParaRPr lang="zh-CN" altLang="en-US" sz="24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1644957" y="3949859"/>
          <a:ext cx="9208135" cy="2315845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4051935"/>
                <a:gridCol w="5156200"/>
              </a:tblGrid>
              <a:tr h="520065">
                <a:tc>
                  <a:txBody>
                    <a:bodyPr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方法声明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功能描述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String()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创建一个内容为空的字符串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String(String value)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String(String value)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String(char[] value)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根据指定的字符数组value创建对象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String(byte[] bytes)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根据指定的字节数组bytes创建对象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053465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String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977265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1357937" y="1868964"/>
          <a:ext cx="9208135" cy="3945255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3277870"/>
                <a:gridCol w="5930265"/>
              </a:tblGrid>
              <a:tr h="520065">
                <a:tc>
                  <a:txBody>
                    <a:bodyPr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方法声明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功能描述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int length()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返回当前字符串的长度，即字符串中字符的个数。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int indexOf(int ch)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返回指定字符ch在字符串中第一次出现位置的索引。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int lastIndexOf(int ch)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返回指定字符ch在字符串中最后一次出现位置的索引。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int indexOf(String str)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返回指定子字符串str在字符串第一次出现位置的索引。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int lastIndexOf(String str)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返回指定子字符串str在此字符串中最后一次出现位置的索引。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char charAt(int index) 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返回字符串中index位置上的字符，其中index的取值范围是0~(字符串长度-1)。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boolean endsWith(String suffix)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判断此字符串是否以指定的字符串结尾。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83820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String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76200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1274752" y="1556544"/>
          <a:ext cx="9208135" cy="479298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3277870"/>
                <a:gridCol w="5930265"/>
              </a:tblGrid>
              <a:tr h="520065">
                <a:tc>
                  <a:txBody>
                    <a:bodyPr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方法声明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功能描述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boolean equals(Object obj)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比较obj与当前字符串对象的内容是否相同。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boolean equalsIgnoreCase(String str)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以忽略大小写的方式比较str与当前字符串对象的内容是否相同。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int compareTo(String str)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按对应字符的Unicode编码比较str与当前字符串对象的大小。若当前字符串对象比str大，返回正整数；若比str小，返回负整数；若相等则返回0。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int compareToIgnoreCase(String str)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按对应字符的Unicode编码以忽略大小写的方式比较str与当前字符串对象的大小。若当前字符串对象比str大，返回正整数；若比str小，返回负整数；若相等则返回0。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boolean isEmpty()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判断字符串长度是否为0，如果为0则返回true，反之则返回flase。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boolean startsWith(String prefix)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判断此字符串是否以指定的字符串prefix开始。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909955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String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833755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1429692" y="1581944"/>
          <a:ext cx="9208135" cy="3945255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3587115"/>
                <a:gridCol w="5621020"/>
              </a:tblGrid>
              <a:tr h="520065">
                <a:tc>
                  <a:txBody>
                    <a:bodyPr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方法声明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功能描述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boolean contains(CharSequence cs)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判断此字符串中是否包含指定的字符序列cs。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String toLowerCase()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使用默认语言环境的规则将String中的所有字符都转换为小写。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String toUpperCase()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使用默认语言环境的规则将String中的所有字符都转换为大写。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static String valueOf(int i)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将int变量i转换成字符串。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char[] toCharArray()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将此字符串转换为一个字符数组。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String replace(CharSequence oldstr, CharSequence newstr)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使用newstr替换原字符串中的oldstr，返回一个新的字符串。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String concat(String str)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将str连接到当前字符串对象之后。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909955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String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833755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1357937" y="1826419"/>
          <a:ext cx="9208135" cy="2880995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3587115"/>
                <a:gridCol w="5621020"/>
              </a:tblGrid>
              <a:tr h="520065">
                <a:tc>
                  <a:txBody>
                    <a:bodyPr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方法声明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功能描述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String[] split(String regex)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根据参数regex将原来的字符串分割为若干个子字符串。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String substring(int beginIndex)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返回一个新字符串，它包含从指定的beginIndex处开始，直到此字符串末尾的所有字符。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731520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String substring(int beginIndex, int endIndex) 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返回一个新字符串，它包含从指定的beginIndex处开始，直到索引endIndex-1处的所有字符。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String trim() 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去除了原字符串首尾的空格。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StringBuffer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46835" y="2205355"/>
            <a:ext cx="9742805" cy="2437765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   StringBuffer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类和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String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类最大的区别在于它的内容和长度都是可以改变的。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StringBuffer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类就像一个字符容器，当在其中添加或者删除字符时，操作的都是这个字符容器，因此并不会产生新的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StringBuffer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对象。</a:t>
            </a:r>
            <a:endParaRPr lang="zh-CN" altLang="en-US"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196975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StringBuffer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120775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1357937" y="2155984"/>
          <a:ext cx="9208135" cy="4111625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3802380"/>
                <a:gridCol w="5405755"/>
              </a:tblGrid>
              <a:tr h="520065">
                <a:tc>
                  <a:txBody>
                    <a:bodyPr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方法声明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功能描述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StringBuffer()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创建初始容量为16，不含任何内容的字符串缓冲区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StringBuffer(int capacity)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创建初始容量为capacity，不含任何内容的字符串缓冲区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StringBuffer(String s)                                                                                                         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创建初始容量为s.length()+16，内容为s的字符串缓冲区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int length()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获取缓冲区中字符串内容的长度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int capacity()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获取字符串缓冲区的当前容量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StringBuffer append(char c)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添加参数到StringBuffer对象中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StringBuffer insert(int offset,String str)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在字符串的offset位置插入字符串str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StringBuffer deleteCharAt(int index)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移除此序列指定位置的字符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196975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StringBuffer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120775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1357937" y="1868964"/>
          <a:ext cx="9208135" cy="4676775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3802380"/>
                <a:gridCol w="5405755"/>
              </a:tblGrid>
              <a:tr h="520065">
                <a:tc>
                  <a:txBody>
                    <a:bodyPr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方法声明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功能描述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StringBuffer delete(int start,int end)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删除StringBuffer对象中指定范围的字符或字符串序列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StringBuffer replace(int start,int end,String s)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 fontAlgn="auto">
                        <a:lnSpc>
                          <a:spcPct val="23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在StringBuffer对象中替换指定的字符或字符串序列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void setCharAt(int index, char ch)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修改指定位置index处的字符序列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String toString()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返回StringBuffer缓冲区中的字符串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StringBuffer reverse()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反转字符串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String substring(int start)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获取缓冲区中字符串从索引start（含）至末尾的子串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String substring(int start,int end)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获取缓冲区中字符串从索引start（含）至索引end（不含）的子串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String toString()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获取缓冲区中的字符串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，</a:t>
            </a: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1" name="文本框 17"/>
          <p:cNvSpPr>
            <a:spLocks noChangeArrowheads="1"/>
          </p:cNvSpPr>
          <p:nvPr/>
        </p:nvSpPr>
        <p:spPr bwMode="auto">
          <a:xfrm>
            <a:off x="0" y="344488"/>
            <a:ext cx="1201738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zh-CN" altLang="zh-CN" sz="2200">
                <a:solidFill>
                  <a:srgbClr val="FFFFFF"/>
                </a:solidFill>
                <a:ea typeface="微软雅黑" panose="020B0503020204020204" pitchFamily="34" charset="-122"/>
              </a:rPr>
              <a:t>过渡页</a:t>
            </a:r>
            <a:endParaRPr lang="zh-CN" altLang="zh-CN" sz="2200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11750" cy="720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模块三  任务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实现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436745" y="3429000"/>
            <a:ext cx="7569835" cy="299974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子任务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获取字符串长度及访问字符串中的第一个字符。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子任务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字符串转换为大写。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子任务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字符串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“HelloWorld”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中的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“World”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替换为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“Java”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子任务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判断字符串是否以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“Str”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开头。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子任务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将字符串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本科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硕士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博士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先截取出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硕士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，后分割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					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字符串。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子任务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StringBuffer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实现字符串的添加、删除、修改和截取。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子任务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</a:rPr>
              <a:t>1-</a:t>
            </a:r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</a:rPr>
              <a:t>代码实现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18590" y="2095500"/>
            <a:ext cx="1027112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结合任务描述和知识链接中相关知识点可以得到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如下代码。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418590" y="2637155"/>
            <a:ext cx="9647555" cy="37846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public class Example01 {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public static void main(String[] args) {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String s = "ababcdedcba"; // 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定义字符串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s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// 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获取字符串长度，即字符个数</a:t>
            </a:r>
            <a:endParaRPr lang="zh-CN" altLang="en-US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System.out.println("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字符串的长度为：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" + s.length());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System.out.println("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字符串中第一个字符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:" + s.charAt(0));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}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}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子任务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1-</a:t>
            </a:r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运行结果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2095500"/>
            <a:ext cx="1027112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000">
                <a:latin typeface="+mn-ea"/>
                <a:ea typeface="+mn-ea"/>
                <a:cs typeface="+mn-ea"/>
                <a:sym typeface="+mn-ea"/>
              </a:rPr>
              <a:t>代码</a:t>
            </a:r>
            <a:r>
              <a:rPr sz="2000">
                <a:latin typeface="+mn-ea"/>
                <a:ea typeface="+mn-ea"/>
                <a:cs typeface="+mn-ea"/>
                <a:sym typeface="+mn-ea"/>
              </a:rPr>
              <a:t>运行结果如图所示: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8770" y="2914650"/>
            <a:ext cx="5365115" cy="165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子任务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</a:rPr>
              <a:t>2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</a:rPr>
              <a:t>-</a:t>
            </a:r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</a:rPr>
              <a:t>代码实现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18590" y="2095500"/>
            <a:ext cx="1027112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结合任务描述和知识链接中相关知识点可以得到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如下代码。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418590" y="2637155"/>
            <a:ext cx="9647555" cy="3322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public class Example02 {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public static void main(String[] args) {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String str = "abcd";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		System.out.println("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将字符串转换成大写之后的结果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:" +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        str.toUpperCase());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}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}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子任务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2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-</a:t>
            </a:r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运行结果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2095500"/>
            <a:ext cx="1027112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000">
                <a:latin typeface="+mn-ea"/>
                <a:ea typeface="+mn-ea"/>
                <a:cs typeface="+mn-ea"/>
                <a:sym typeface="+mn-ea"/>
              </a:rPr>
              <a:t>代码</a:t>
            </a:r>
            <a:r>
              <a:rPr sz="2000">
                <a:latin typeface="+mn-ea"/>
                <a:ea typeface="+mn-ea"/>
                <a:cs typeface="+mn-ea"/>
                <a:sym typeface="+mn-ea"/>
              </a:rPr>
              <a:t>运行结果如图所示: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7015" y="2997200"/>
            <a:ext cx="5683250" cy="17672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子任务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</a:rPr>
              <a:t>3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</a:rPr>
              <a:t>-</a:t>
            </a:r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</a:rPr>
              <a:t>代码实现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18590" y="2095500"/>
            <a:ext cx="1027112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结合任务描述和知识链接中相关知识点可以得到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如下代码。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418590" y="2493645"/>
            <a:ext cx="9647555" cy="37846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public class Example03 {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public static void main(String[] args) {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String s = "HelloWorld";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// 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字符串替换操作</a:t>
            </a:r>
            <a:endParaRPr lang="zh-CN" altLang="en-US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System.out.println("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将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World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替换成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Java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的结果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:" + s.replace("World",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        "Java"));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		}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}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子任务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3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-</a:t>
            </a:r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运行结果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2095500"/>
            <a:ext cx="1027112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000">
                <a:latin typeface="+mn-ea"/>
                <a:ea typeface="+mn-ea"/>
                <a:cs typeface="+mn-ea"/>
                <a:sym typeface="+mn-ea"/>
              </a:rPr>
              <a:t>代码</a:t>
            </a:r>
            <a:r>
              <a:rPr sz="2000">
                <a:latin typeface="+mn-ea"/>
                <a:ea typeface="+mn-ea"/>
                <a:cs typeface="+mn-ea"/>
                <a:sym typeface="+mn-ea"/>
              </a:rPr>
              <a:t>运行结果如图所示: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pic>
        <p:nvPicPr>
          <p:cNvPr id="6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0160" y="2971800"/>
            <a:ext cx="6052820" cy="16141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子任务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</a:rPr>
              <a:t>4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</a:rPr>
              <a:t>-</a:t>
            </a:r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</a:rPr>
              <a:t>代码实现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18590" y="2095500"/>
            <a:ext cx="1027112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结合任务描述和知识链接中相关知识点可以得到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如下代码。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418590" y="2493645"/>
            <a:ext cx="9647555" cy="37846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public class Example04 {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public static void main(String[] args) {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String s1 = "String"; // 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定义一个字符串</a:t>
            </a:r>
            <a:endParaRPr lang="zh-CN" altLang="en-US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String s2 = "string";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System.out.println("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判断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s1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字符串对象是否以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Str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开头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:" +s1.startsWith("Str"));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System.out.println("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判断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s2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字符串对象是否以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Str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开头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:" +s2.startsWith("Str"));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	}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}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子任务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4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-</a:t>
            </a:r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运行结果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2095500"/>
            <a:ext cx="1027112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000">
                <a:latin typeface="+mn-ea"/>
                <a:ea typeface="+mn-ea"/>
                <a:cs typeface="+mn-ea"/>
                <a:sym typeface="+mn-ea"/>
              </a:rPr>
              <a:t>代码</a:t>
            </a:r>
            <a:r>
              <a:rPr sz="2000">
                <a:latin typeface="+mn-ea"/>
                <a:ea typeface="+mn-ea"/>
                <a:cs typeface="+mn-ea"/>
                <a:sym typeface="+mn-ea"/>
              </a:rPr>
              <a:t>运行结果如图所示: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pic>
        <p:nvPicPr>
          <p:cNvPr id="9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2870" y="2925445"/>
            <a:ext cx="5958205" cy="21234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子任务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</a:rPr>
              <a:t>5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</a:rPr>
              <a:t>-</a:t>
            </a:r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</a:rPr>
              <a:t>代码实现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18590" y="2095500"/>
            <a:ext cx="1027112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结合任务描述和知识链接中相关知识点可以得到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如下代码。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418590" y="2493645"/>
            <a:ext cx="9647555" cy="42462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public class Example05 {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public static void main(String[] args) {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String str = "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本科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-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硕士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-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博士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";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// 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下面是字符串截取操作</a:t>
            </a:r>
            <a:endParaRPr lang="zh-CN" altLang="en-US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System.out.println("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从第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4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个字符截取到第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5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个字符的结果：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" +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        str.substring(3, 5));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// 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下面是字符串分割操作</a:t>
            </a:r>
            <a:endParaRPr lang="zh-CN" altLang="en-US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System.out.print("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分割后的字符串数组中的元素依次为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:");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子任务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</a:rPr>
              <a:t>5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</a:rPr>
              <a:t>-</a:t>
            </a:r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</a:rPr>
              <a:t>代码实现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418590" y="2171700"/>
            <a:ext cx="9647555" cy="42462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String[] strArray = str.split("-"); // 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将字符串转换为字符串数组</a:t>
            </a:r>
            <a:endParaRPr lang="zh-CN" altLang="en-US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for (int i = 0; i &lt; strArray.length; i++) {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    if (i != strArray.length - 1) {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        // 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如果不是数组的最后一个元素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,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在元素后面加逗号</a:t>
            </a:r>
            <a:endParaRPr lang="zh-CN" altLang="en-US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        System.out.print(strArray[i] + ",");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    } else {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        // 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数组的最后一个元素后面不加逗号</a:t>
            </a:r>
            <a:endParaRPr lang="zh-CN" altLang="en-US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        System.out.println(strArray[i]);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    }  }  }  }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子任务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5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-</a:t>
            </a:r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运行结果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2095500"/>
            <a:ext cx="1027112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000">
                <a:latin typeface="+mn-ea"/>
                <a:ea typeface="+mn-ea"/>
                <a:cs typeface="+mn-ea"/>
                <a:sym typeface="+mn-ea"/>
              </a:rPr>
              <a:t>代码</a:t>
            </a:r>
            <a:r>
              <a:rPr sz="2000">
                <a:latin typeface="+mn-ea"/>
                <a:ea typeface="+mn-ea"/>
                <a:cs typeface="+mn-ea"/>
                <a:sym typeface="+mn-ea"/>
              </a:rPr>
              <a:t>运行结果如图所示: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pic>
        <p:nvPicPr>
          <p:cNvPr id="10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9500" y="2925445"/>
            <a:ext cx="6549390" cy="20294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子任务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</a:rPr>
              <a:t>6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</a:rPr>
              <a:t>-</a:t>
            </a:r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</a:rPr>
              <a:t>代码实现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18590" y="2095500"/>
            <a:ext cx="1027112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结合任务描述和知识链接中相关知识点可以得到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如下代码。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418590" y="2420620"/>
            <a:ext cx="9647555" cy="47078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public static void main(String[] args) {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System.out.println("1.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添加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------------------------");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add();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System.out.println("2.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删除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------------------------");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remove();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System.out.println("3.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修改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------------------------");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alter();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System.out.println("4.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截取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------------------------");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sub(); }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子任务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</a:rPr>
              <a:t>6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</a:rPr>
              <a:t>-</a:t>
            </a:r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</a:rPr>
              <a:t>代码实现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46835" y="2348865"/>
            <a:ext cx="9647555" cy="42462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public static void add() {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StringBuffer sb = new StringBuffer();           // 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定义一个字符串缓冲区</a:t>
            </a:r>
            <a:endParaRPr lang="zh-CN" altLang="en-US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sb.append("abcdefg"); 				            // 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在末尾添加字符串</a:t>
            </a:r>
            <a:endParaRPr lang="zh-CN" altLang="en-US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sb.append("hij").append("klmn"); 	            // 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连续调用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append()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方法添加字符串</a:t>
            </a:r>
            <a:endParaRPr lang="zh-CN" altLang="en-US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System.out.println("append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添加结果：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" + sb);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sb.insert(2, "123"); 				// 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在指定位置插入字符串</a:t>
            </a:r>
            <a:endParaRPr lang="zh-CN" altLang="en-US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System.out.println("insert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添加结果：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" + sb);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}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子任务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</a:rPr>
              <a:t>6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</a:rPr>
              <a:t>-</a:t>
            </a:r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</a:rPr>
              <a:t>代码实现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418590" y="2493645"/>
            <a:ext cx="9647555" cy="47078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public static void remove() {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StringBuffer sb = new StringBuffer("abcdefg");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sb.delete(1, 5);    		 			// 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指定范围删除</a:t>
            </a:r>
            <a:endParaRPr lang="zh-CN" altLang="en-US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System.out.println("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删除指定位置结果：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" + sb);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sb.deleteCharAt(2); 				    // 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指定位置删除</a:t>
            </a:r>
            <a:endParaRPr lang="zh-CN" altLang="en-US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System.out.println("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删除指定位置结果：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" + sb);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sb.delete(0, sb.length()); 			    // 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清空字符串缓冲区</a:t>
            </a:r>
            <a:endParaRPr lang="zh-CN" altLang="en-US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System.out.println("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清空缓冲区结果：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" + sb);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}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子任务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</a:rPr>
              <a:t>6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</a:rPr>
              <a:t>-</a:t>
            </a:r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</a:rPr>
              <a:t>代码实现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418590" y="2493645"/>
            <a:ext cx="9647555" cy="42462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public static void alter() {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StringBuffer sb = new StringBuffer("abcdef");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sb.setCharAt(1, 'p');    			    // 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修改指定位置字符</a:t>
            </a:r>
            <a:endParaRPr lang="zh-CN" altLang="en-US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System.out.println("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修改指定位置字符结果：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" + sb);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sb.replace(1, 3, "qq"); 			// 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替换指定位置字符串或字符</a:t>
            </a:r>
            <a:endParaRPr lang="zh-CN" altLang="en-US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System.out.println("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替换指定位置字符（串）结果：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" + sb);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System.out.println("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字符串翻转结果：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" + sb.reverse());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}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子任务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</a:rPr>
              <a:t>6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</a:rPr>
              <a:t>-</a:t>
            </a:r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</a:rPr>
              <a:t>代码实现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418590" y="2277110"/>
            <a:ext cx="9647555" cy="37846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public static void sub() {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StringBuffer sb = new StringBuffer();   // 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定义一个字符串缓冲区</a:t>
            </a:r>
            <a:endParaRPr lang="zh-CN" altLang="en-US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System.out.println("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获取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sb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的初始容量：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" + sb.capacity());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sb.append("hello123"); 			    // 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在末尾添加字符串</a:t>
            </a:r>
            <a:endParaRPr lang="zh-CN" altLang="en-US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System.out.println("append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添加结果：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" + sb);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System.out.println("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截取第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6~8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个字符：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" + sb.substring(5,8));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}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}  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子任务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6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-</a:t>
            </a:r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运行结果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2095500"/>
            <a:ext cx="1027112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000">
                <a:latin typeface="+mn-ea"/>
                <a:ea typeface="+mn-ea"/>
                <a:cs typeface="+mn-ea"/>
                <a:sym typeface="+mn-ea"/>
              </a:rPr>
              <a:t>代码</a:t>
            </a:r>
            <a:r>
              <a:rPr sz="2000">
                <a:latin typeface="+mn-ea"/>
                <a:ea typeface="+mn-ea"/>
                <a:cs typeface="+mn-ea"/>
                <a:sym typeface="+mn-ea"/>
              </a:rPr>
              <a:t>运行结果如图所示: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pic>
        <p:nvPicPr>
          <p:cNvPr id="13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7905" y="1125220"/>
            <a:ext cx="4940935" cy="53098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矩形 1"/>
          <p:cNvSpPr>
            <a:spLocks noChangeArrowheads="1"/>
          </p:cNvSpPr>
          <p:nvPr/>
        </p:nvSpPr>
        <p:spPr bwMode="auto">
          <a:xfrm>
            <a:off x="0" y="0"/>
            <a:ext cx="1219835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7171" name="Picture 4" descr="0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05038"/>
            <a:ext cx="12198350" cy="229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8" descr="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7938" y="4797425"/>
            <a:ext cx="1679575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3" name="文本框 1"/>
          <p:cNvSpPr txBox="1">
            <a:spLocks noChangeArrowheads="1"/>
          </p:cNvSpPr>
          <p:nvPr/>
        </p:nvSpPr>
        <p:spPr bwMode="auto">
          <a:xfrm>
            <a:off x="4732338" y="3016250"/>
            <a:ext cx="223678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感谢关注</a:t>
            </a:r>
            <a:endParaRPr lang="zh-CN" altLang="en-US" sz="4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</p:sld>
</file>

<file path=ppt/tags/tag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4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5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6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7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8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9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0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1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8.xml><?xml version="1.0" encoding="utf-8"?>
<p:tagLst xmlns:p="http://schemas.openxmlformats.org/presentationml/2006/main">
  <p:tag name="KSO_WM_UNIT_TABLE_BEAUTIFY" val="smartTable{5c523ef4-0e63-4544-b03d-b2dc37b3770b}"/>
  <p:tag name="TABLE_ENDDRAG_ORIGIN_RECT" val="725*356"/>
  <p:tag name="TABLE_ENDDRAG_RECT" val="149*124*725*356"/>
</p:tagLst>
</file>

<file path=ppt/tags/tag1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1.xml><?xml version="1.0" encoding="utf-8"?>
<p:tagLst xmlns:p="http://schemas.openxmlformats.org/presentationml/2006/main">
  <p:tag name="KSO_WM_UNIT_TABLE_BEAUTIFY" val="smartTable{ee8e8964-bba3-4661-a0f6-67361d1d9681}"/>
  <p:tag name="TABLE_ENDDRAG_ORIGIN_RECT" val="725*356"/>
  <p:tag name="TABLE_ENDDRAG_RECT" val="149*124*725*356"/>
</p:tagLst>
</file>

<file path=ppt/tags/tag22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3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4.xml><?xml version="1.0" encoding="utf-8"?>
<p:tagLst xmlns:p="http://schemas.openxmlformats.org/presentationml/2006/main">
  <p:tag name="KSO_WM_UNIT_TABLE_BEAUTIFY" val="smartTable{5da712a7-1aca-4233-b591-ec8047bbb8e5}"/>
  <p:tag name="TABLE_ENDDRAG_ORIGIN_RECT" val="725*356"/>
  <p:tag name="TABLE_ENDDRAG_RECT" val="149*124*725*356"/>
</p:tagLst>
</file>

<file path=ppt/tags/tag2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7.xml><?xml version="1.0" encoding="utf-8"?>
<p:tagLst xmlns:p="http://schemas.openxmlformats.org/presentationml/2006/main">
  <p:tag name="KSO_WM_UNIT_TABLE_BEAUTIFY" val="smartTable{2bd70467-9e3c-40ea-b994-5ab2c764a952}"/>
  <p:tag name="TABLE_ENDDRAG_ORIGIN_RECT" val="725*356"/>
  <p:tag name="TABLE_ENDDRAG_RECT" val="149*124*725*356"/>
</p:tagLst>
</file>

<file path=ppt/tags/tag2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0.xml><?xml version="1.0" encoding="utf-8"?>
<p:tagLst xmlns:p="http://schemas.openxmlformats.org/presentationml/2006/main">
  <p:tag name="KSO_WM_UNIT_TABLE_BEAUTIFY" val="smartTable{cec756ad-9a94-40bc-bafc-2d322e8b78de}"/>
  <p:tag name="TABLE_ENDDRAG_ORIGIN_RECT" val="725*356"/>
  <p:tag name="TABLE_ENDDRAG_RECT" val="149*124*725*356"/>
</p:tagLst>
</file>

<file path=ppt/tags/tag3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2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3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5.xml><?xml version="1.0" encoding="utf-8"?>
<p:tagLst xmlns:p="http://schemas.openxmlformats.org/presentationml/2006/main">
  <p:tag name="KSO_WM_UNIT_TABLE_BEAUTIFY" val="smartTable{8e44df6a-2cbe-4921-9882-b26ce60cf0bf}"/>
  <p:tag name="TABLE_ENDDRAG_ORIGIN_RECT" val="725*356"/>
  <p:tag name="TABLE_ENDDRAG_RECT" val="149*124*725*356"/>
</p:tagLst>
</file>

<file path=ppt/tags/tag3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8.xml><?xml version="1.0" encoding="utf-8"?>
<p:tagLst xmlns:p="http://schemas.openxmlformats.org/presentationml/2006/main">
  <p:tag name="KSO_WM_UNIT_TABLE_BEAUTIFY" val="smartTable{03c47e47-747a-435b-b06f-c5defbccba2f}"/>
  <p:tag name="TABLE_ENDDRAG_ORIGIN_RECT" val="725*356"/>
  <p:tag name="TABLE_ENDDRAG_RECT" val="149*124*725*356"/>
</p:tagLst>
</file>

<file path=ppt/tags/tag3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4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4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42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43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4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4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4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4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4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4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5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5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52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53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5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5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5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5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5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5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6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6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62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63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6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6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6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6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6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6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7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7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72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73.xml><?xml version="1.0" encoding="utf-8"?>
<p:tagLst xmlns:p="http://schemas.openxmlformats.org/presentationml/2006/main">
  <p:tag name="COMMONDATA" val="eyJoZGlkIjoiZjNjMmJiYWQ1NjYxMzU5Y2Q4YWViZjliZTZhYjA5ODEifQ=="/>
  <p:tag name="commondata" val="eyJoZGlkIjoiNjVkZWMxOGJhY2FhZmUwNmY0MTcyMjU1MWFkZGYzMDcifQ=="/>
</p:tagLst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7474</Words>
  <Application>WPS 演示</Application>
  <PresentationFormat>自定义</PresentationFormat>
  <Paragraphs>601</Paragraphs>
  <Slides>32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52" baseType="lpstr">
      <vt:lpstr>Arial</vt:lpstr>
      <vt:lpstr>宋体</vt:lpstr>
      <vt:lpstr>Wingdings</vt:lpstr>
      <vt:lpstr>Arial Unicode MS</vt:lpstr>
      <vt:lpstr>Calibri</vt:lpstr>
      <vt:lpstr>微软雅黑</vt:lpstr>
      <vt:lpstr>经典繁仿黑</vt:lpstr>
      <vt:lpstr>Impact</vt:lpstr>
      <vt:lpstr>专业字体设计服务/WWW.ZTSGC.COM/</vt:lpstr>
      <vt:lpstr>华康俪金黑W8(P)</vt:lpstr>
      <vt:lpstr>Times New Roman</vt:lpstr>
      <vt:lpstr>Arial Unicode MS</vt:lpstr>
      <vt:lpstr>等线</vt:lpstr>
      <vt:lpstr>Times New Roman</vt:lpstr>
      <vt:lpstr>黑体</vt:lpstr>
      <vt:lpstr>Wonder Arial</vt:lpstr>
      <vt:lpstr>汉仪雅酷黑简</vt:lpstr>
      <vt:lpstr>方正公文小标宋</vt:lpstr>
      <vt:lpstr>汉仪尚巍手书W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吴静</cp:lastModifiedBy>
  <cp:revision>541</cp:revision>
  <dcterms:created xsi:type="dcterms:W3CDTF">2015-03-26T06:11:00Z</dcterms:created>
  <dcterms:modified xsi:type="dcterms:W3CDTF">2025-08-18T03:49:37Z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FBD28FAC4A8141CAB538A4A1DA1F33F5_13</vt:lpwstr>
  </property>
</Properties>
</file>