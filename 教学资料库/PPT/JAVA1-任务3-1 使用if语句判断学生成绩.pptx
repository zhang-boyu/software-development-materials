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53" r:id="rId8"/>
    <p:sldId id="395" r:id="rId9"/>
    <p:sldId id="352" r:id="rId10"/>
    <p:sldId id="397" r:id="rId11"/>
    <p:sldId id="407" r:id="rId12"/>
    <p:sldId id="408" r:id="rId13"/>
    <p:sldId id="341" r:id="rId14"/>
    <p:sldId id="368" r:id="rId15"/>
    <p:sldId id="347" r:id="rId16"/>
  </p:sldIdLst>
  <p:sldSz cx="12198350" cy="6858000"/>
  <p:notesSz cx="6858000" cy="9144000"/>
  <p:custDataLst>
    <p:tags r:id="rId2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60"/>
        <p:guide pos="39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28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23230" y="3789045"/>
            <a:ext cx="559435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从键盘录入给定某学生成绩，例如从键盘输入数学成绩，如果此成绩大于等于60分，就输出“及格”。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if语句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Java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三种基本结构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6" grpId="0" bldLvl="0" autoUpdateAnimBg="0"/>
      <p:bldP spid="5135" grpId="1"/>
      <p:bldP spid="513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if语句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130935" y="256413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202690" y="3500914"/>
            <a:ext cx="10225106" cy="14763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txBody>
          <a:bodyPr wrap="square">
            <a:spAutoFit/>
          </a:bodyPr>
          <a:p>
            <a:pPr marL="266700" indent="0" fontAlgn="auto">
              <a:lnSpc>
                <a:spcPct val="15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if(条件表达式){ </a:t>
            </a:r>
            <a:endParaRPr sz="2000" b="0" dirty="0">
              <a:uFillTx/>
              <a:ea typeface="微软雅黑" panose="020B0503020204020204" pitchFamily="34" charset="-122"/>
            </a:endParaRPr>
          </a:p>
          <a:p>
            <a:pPr marL="266700" indent="0" fontAlgn="auto">
              <a:lnSpc>
                <a:spcPct val="15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语句</a:t>
            </a:r>
            <a:endParaRPr sz="2000" b="0" dirty="0">
              <a:uFillTx/>
              <a:ea typeface="微软雅黑" panose="020B0503020204020204" pitchFamily="34" charset="-122"/>
            </a:endParaRPr>
          </a:p>
          <a:p>
            <a:pPr marL="266700" indent="0" fontAlgn="auto">
              <a:lnSpc>
                <a:spcPct val="15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}</a:t>
            </a:r>
            <a:endParaRPr sz="2000" b="0" dirty="0">
              <a:uFillTx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07048" y="263741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if语句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130935" y="256413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07048" y="263741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执行流程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graphicFrame>
        <p:nvGraphicFramePr>
          <p:cNvPr id="7" name="对象 -2147482622"/>
          <p:cNvGraphicFramePr>
            <a:graphicFrameLocks noChangeAspect="1"/>
          </p:cNvGraphicFramePr>
          <p:nvPr/>
        </p:nvGraphicFramePr>
        <p:xfrm>
          <a:off x="5252720" y="2434590"/>
          <a:ext cx="2733040" cy="3211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4" imgW="1678305" imgH="1959610" progId="Visio.Drawing.11">
                  <p:embed/>
                </p:oleObj>
              </mc:Choice>
              <mc:Fallback>
                <p:oleObj name="" r:id="rId4" imgW="1678305" imgH="195961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52720" y="2434590"/>
                        <a:ext cx="2733040" cy="32111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723005" y="564546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3-1 if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条件语句的执行流程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6835" y="1555750"/>
            <a:ext cx="384302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Ja</a:t>
            </a:r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va中的</a:t>
            </a:r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三种基本结构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948372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539750" algn="l">
              <a:lnSpc>
                <a:spcPct val="150000"/>
              </a:lnSpc>
            </a:pPr>
            <a:r>
              <a:rPr sz="2400" dirty="0">
                <a:latin typeface="微软雅黑" panose="020B0503020204020204" pitchFamily="34" charset="-122"/>
                <a:sym typeface="+mn-ea"/>
              </a:rPr>
              <a:t>Java 语言使用“顺序结构”、“选择结构”、“循环结构”这三种基本结构（或由它们派生出来的结构）来实现程序的流程控制。</a:t>
            </a:r>
            <a:endParaRPr lang="zh-CN" altLang="zh-CN" sz="2400" dirty="0">
              <a:solidFill>
                <a:srgbClr val="595959"/>
              </a:solidFill>
              <a:latin typeface="微软雅黑" panose="020B0503020204020204" pitchFamily="34" charset="-122"/>
              <a:ea typeface="+mj-ea"/>
              <a:cs typeface="+mj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6835" y="1555750"/>
            <a:ext cx="384302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Ja</a:t>
            </a:r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va中的</a:t>
            </a:r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三种基本结构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948372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539750" algn="l">
              <a:lnSpc>
                <a:spcPct val="150000"/>
              </a:lnSpc>
            </a:pPr>
            <a:r>
              <a:rPr sz="2400" dirty="0">
                <a:latin typeface="微软雅黑" panose="020B0503020204020204" pitchFamily="34" charset="-122"/>
                <a:sym typeface="+mn-ea"/>
              </a:rPr>
              <a:t>1.顺序结构</a:t>
            </a:r>
            <a:endParaRPr sz="2400" dirty="0">
              <a:latin typeface="微软雅黑" panose="020B0503020204020204" pitchFamily="34" charset="-122"/>
              <a:sym typeface="+mn-ea"/>
            </a:endParaRPr>
          </a:p>
          <a:p>
            <a:pPr indent="539750" algn="l">
              <a:lnSpc>
                <a:spcPct val="150000"/>
              </a:lnSpc>
            </a:pPr>
            <a:r>
              <a:rPr sz="2400" dirty="0">
                <a:latin typeface="微软雅黑" panose="020B0503020204020204" pitchFamily="34" charset="-122"/>
                <a:sym typeface="+mn-ea"/>
              </a:rPr>
              <a:t>顺序结构就是程序从上到下一行一行执行的结构，中间没有判断和跳转，直到程序结束。</a:t>
            </a:r>
            <a:endParaRPr sz="2400" dirty="0">
              <a:latin typeface="微软雅黑" panose="020B0503020204020204" pitchFamily="34" charset="-122"/>
              <a:sym typeface="+mn-ea"/>
            </a:endParaRPr>
          </a:p>
          <a:p>
            <a:pPr indent="539750" algn="l">
              <a:lnSpc>
                <a:spcPct val="150000"/>
              </a:lnSpc>
            </a:pPr>
            <a:r>
              <a:rPr sz="2400" dirty="0">
                <a:latin typeface="微软雅黑" panose="020B0503020204020204" pitchFamily="34" charset="-122"/>
                <a:sym typeface="+mn-ea"/>
              </a:rPr>
              <a:t>2. 选择结构</a:t>
            </a:r>
            <a:endParaRPr sz="2400" dirty="0">
              <a:latin typeface="微软雅黑" panose="020B0503020204020204" pitchFamily="34" charset="-122"/>
              <a:sym typeface="+mn-ea"/>
            </a:endParaRPr>
          </a:p>
          <a:p>
            <a:pPr indent="539750" algn="l">
              <a:lnSpc>
                <a:spcPct val="150000"/>
              </a:lnSpc>
            </a:pPr>
            <a:r>
              <a:rPr sz="2400" dirty="0">
                <a:latin typeface="微软雅黑" panose="020B0503020204020204" pitchFamily="34" charset="-122"/>
                <a:sym typeface="+mn-ea"/>
              </a:rPr>
              <a:t>选择结构提供了一种控制机制，使得程序的执行可以跳过某些语句不执行，转去执行特定选择的语句。</a:t>
            </a:r>
            <a:endParaRPr sz="2400" dirty="0">
              <a:latin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266700" algn="just" defTabSz="266700">
              <a:lnSpc>
                <a:spcPct val="150000"/>
              </a:lnSpc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从键盘录入给定某学生成绩，例如从键盘输入数学成绩，如果此成绩大于等于60分，就输出“及格”。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从键盘输入成绩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0370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判断成绩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6605588" y="44688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输出结果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bldLvl="0" autoUpdateAnimBg="0"/>
      <p:bldP spid="5136" grpId="0" bldLvl="0" autoUpdateAnimBg="0"/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13714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3-1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中的描述和知识链接中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if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语句相关知识点可以得到文件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3-1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lang="zh-CN" altLang="en-US" sz="2000" b="1">
              <a:latin typeface="+mn-ea"/>
              <a:ea typeface="+mn-ea"/>
              <a:cs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26970" y="2677160"/>
            <a:ext cx="7617460" cy="34664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3-1 Example01.</a:t>
            </a:r>
            <a:r>
              <a:rPr lang="en-US" altLang="zh-CN" sz="2400">
                <a:latin typeface="Times New Roman" panose="02020603050405020304"/>
                <a:ea typeface="Times New Roman" panose="02020603050405020304"/>
              </a:rPr>
              <a:t>Java</a:t>
            </a:r>
            <a:endParaRPr lang="en-US" altLang="zh-CN" sz="2400">
              <a:latin typeface="Times New Roman" panose="02020603050405020304"/>
              <a:ea typeface="Times New Roman" panose="02020603050405020304"/>
            </a:endParaRPr>
          </a:p>
          <a:p>
            <a:pPr marL="0" indent="266700" algn="just" defTabSz="26670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i="0">
                <a:latin typeface="Times New Roman" panose="02020603050405020304"/>
                <a:ea typeface="Segoe UI" panose="020B0502040204020203"/>
              </a:rPr>
              <a:t>1 import </a:t>
            </a:r>
            <a:r>
              <a:rPr lang="en-US" altLang="zh-CN" sz="2400" i="0">
                <a:latin typeface="Times New Roman" panose="02020603050405020304"/>
                <a:ea typeface="Times New Roman" panose="02020603050405020304"/>
              </a:rPr>
              <a:t>Java</a:t>
            </a:r>
            <a:r>
              <a:rPr lang="en-US" altLang="zh-CN" sz="2400" i="0">
                <a:latin typeface="Times New Roman" panose="02020603050405020304"/>
                <a:ea typeface="Segoe UI" panose="020B0502040204020203"/>
              </a:rPr>
              <a:t>.util.Scanner;</a:t>
            </a:r>
            <a:endParaRPr lang="en-US" altLang="zh-CN" sz="2400" i="0">
              <a:latin typeface="Times New Roman" panose="02020603050405020304"/>
              <a:ea typeface="Segoe UI" panose="020B0502040204020203"/>
            </a:endParaRPr>
          </a:p>
          <a:p>
            <a:pPr marL="0" indent="266700" algn="just" defTabSz="26670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i="0">
                <a:latin typeface="Times New Roman" panose="02020603050405020304"/>
                <a:ea typeface="Segoe UI" panose="020B0502040204020203"/>
              </a:rPr>
              <a:t>2 public class Example01 {</a:t>
            </a:r>
            <a:endParaRPr lang="en-US" altLang="zh-CN" sz="2400" i="0">
              <a:latin typeface="Times New Roman" panose="02020603050405020304"/>
              <a:ea typeface="Segoe UI" panose="020B0502040204020203"/>
            </a:endParaRPr>
          </a:p>
          <a:p>
            <a:pPr marL="0" indent="266700" algn="just" defTabSz="26670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i="0">
                <a:latin typeface="Times New Roman" panose="02020603050405020304"/>
                <a:ea typeface="Segoe UI" panose="020B0502040204020203"/>
              </a:rPr>
              <a:t>3	public static void main(String[] args) {</a:t>
            </a:r>
            <a:endParaRPr lang="en-US" altLang="zh-CN" sz="2400" i="0">
              <a:latin typeface="Times New Roman" panose="02020603050405020304"/>
              <a:ea typeface="Segoe UI" panose="020B0502040204020203"/>
            </a:endParaRPr>
          </a:p>
          <a:p>
            <a:pPr marL="0" indent="266700" algn="just" defTabSz="26670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i="0">
                <a:latin typeface="Times New Roman" panose="02020603050405020304"/>
                <a:ea typeface="Segoe UI" panose="020B0502040204020203"/>
              </a:rPr>
              <a:t>4		Scanner input=new Scanner(System.in);</a:t>
            </a:r>
            <a:endParaRPr lang="en-US" altLang="zh-CN" sz="2400" i="0">
              <a:latin typeface="Times New Roman" panose="02020603050405020304"/>
              <a:ea typeface="Segoe UI" panose="020B0502040204020203"/>
            </a:endParaRPr>
          </a:p>
          <a:p>
            <a:pPr marL="0" indent="266700" algn="just" defTabSz="26670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i="0">
                <a:latin typeface="Times New Roman" panose="02020603050405020304"/>
                <a:ea typeface="Segoe UI" panose="020B0502040204020203"/>
              </a:rPr>
              <a:t>5	    System.out.println("</a:t>
            </a:r>
            <a:r>
              <a:rPr lang="zh-CN" altLang="en-US" sz="2400" i="0">
                <a:latin typeface="Segoe UI" panose="020B0502040204020203"/>
                <a:ea typeface="Segoe UI" panose="020B0502040204020203"/>
              </a:rPr>
              <a:t>请从键盘输入数学成绩：</a:t>
            </a:r>
            <a:r>
              <a:rPr lang="en-US" altLang="zh-CN" sz="2400" i="0">
                <a:latin typeface="Times New Roman" panose="02020603050405020304"/>
                <a:ea typeface="Segoe UI" panose="020B0502040204020203"/>
              </a:rPr>
              <a:t>");</a:t>
            </a:r>
            <a:endParaRPr lang="en-US" altLang="zh-CN" sz="2400" i="0">
              <a:latin typeface="Times New Roman" panose="02020603050405020304"/>
              <a:ea typeface="Segoe UI" panose="020B0502040204020203"/>
            </a:endParaRPr>
          </a:p>
          <a:p>
            <a:pPr marL="0" indent="266700" algn="just" defTabSz="26670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i="0">
                <a:latin typeface="Times New Roman" panose="02020603050405020304"/>
                <a:ea typeface="Segoe UI" panose="020B0502040204020203"/>
              </a:rPr>
              <a:t>6	    int math_score=input.nextInt();</a:t>
            </a:r>
            <a:endParaRPr lang="en-US" altLang="zh-CN" sz="2400" i="0">
              <a:latin typeface="Times New Roman" panose="02020603050405020304"/>
              <a:ea typeface="Segoe UI" panose="020B0502040204020203"/>
            </a:endParaRPr>
          </a:p>
          <a:p>
            <a:pPr marL="0" indent="266700" algn="just" defTabSz="26670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i="0">
                <a:latin typeface="Times New Roman" panose="02020603050405020304"/>
                <a:ea typeface="Segoe UI" panose="020B0502040204020203"/>
              </a:rPr>
              <a:t>7	  	if(math_score&gt;=60) {</a:t>
            </a:r>
            <a:endParaRPr lang="en-US" altLang="zh-CN" sz="2400" i="0">
              <a:latin typeface="Times New Roman" panose="02020603050405020304"/>
              <a:ea typeface="Segoe UI" panose="020B0502040204020203"/>
            </a:endParaRPr>
          </a:p>
          <a:p>
            <a:pPr marL="0" indent="266700" algn="just" defTabSz="26670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i="0">
                <a:latin typeface="Times New Roman" panose="02020603050405020304"/>
                <a:ea typeface="Segoe UI" panose="020B0502040204020203"/>
              </a:rPr>
              <a:t>8	    	System.out.println("</a:t>
            </a:r>
            <a:r>
              <a:rPr lang="zh-CN" altLang="en-US" sz="2400" i="0">
                <a:latin typeface="Segoe UI" panose="020B0502040204020203"/>
                <a:ea typeface="Segoe UI" panose="020B0502040204020203"/>
              </a:rPr>
              <a:t>及格</a:t>
            </a:r>
            <a:r>
              <a:rPr lang="en-US" altLang="zh-CN" sz="2400" i="0">
                <a:latin typeface="Times New Roman" panose="02020603050405020304"/>
                <a:ea typeface="Segoe UI" panose="020B0502040204020203"/>
              </a:rPr>
              <a:t>");</a:t>
            </a:r>
            <a:endParaRPr lang="en-US" altLang="zh-CN" sz="2400" i="0">
              <a:latin typeface="Times New Roman" panose="02020603050405020304"/>
              <a:ea typeface="Segoe UI" panose="020B0502040204020203"/>
            </a:endParaRPr>
          </a:p>
          <a:p>
            <a:pPr marL="0" indent="266700" algn="just" defTabSz="26670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i="0">
                <a:latin typeface="Times New Roman" panose="02020603050405020304"/>
                <a:ea typeface="Segoe UI" panose="020B0502040204020203"/>
              </a:rPr>
              <a:t>9	    }	    	</a:t>
            </a:r>
            <a:endParaRPr lang="en-US" altLang="zh-CN" sz="2400" i="0">
              <a:latin typeface="Times New Roman" panose="02020603050405020304"/>
              <a:ea typeface="Segoe UI" panose="020B0502040204020203"/>
            </a:endParaRPr>
          </a:p>
          <a:p>
            <a:pPr marL="0" indent="266700" algn="just" defTabSz="26670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i="0">
                <a:latin typeface="Times New Roman" panose="02020603050405020304"/>
                <a:ea typeface="Segoe UI" panose="020B0502040204020203"/>
              </a:rPr>
              <a:t>10	}</a:t>
            </a:r>
            <a:endParaRPr lang="en-US" altLang="zh-CN" sz="2400" i="0">
              <a:latin typeface="Times New Roman" panose="02020603050405020304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输出结果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43" name="图片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715" y="2780665"/>
            <a:ext cx="5867400" cy="18897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2355215" y="2060258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3-2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51250" y="4796473"/>
            <a:ext cx="5080000" cy="5067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+mn-ea"/>
                <a:ea typeface="+mn-ea"/>
                <a:cs typeface="+mn-ea"/>
              </a:rPr>
              <a:t>图</a:t>
            </a:r>
            <a:r>
              <a:rPr lang="en-US" altLang="zh-CN" sz="1800">
                <a:latin typeface="+mn-ea"/>
                <a:ea typeface="+mn-ea"/>
                <a:cs typeface="+mn-ea"/>
              </a:rPr>
              <a:t>3-2 </a:t>
            </a:r>
            <a:r>
              <a:rPr lang="zh-CN" altLang="en-US" sz="1800">
                <a:latin typeface="+mn-ea"/>
                <a:ea typeface="+mn-ea"/>
                <a:cs typeface="+mn-ea"/>
              </a:rPr>
              <a:t>文件</a:t>
            </a:r>
            <a:r>
              <a:rPr lang="en-US" altLang="zh-CN" sz="1800">
                <a:latin typeface="+mn-ea"/>
                <a:ea typeface="+mn-ea"/>
                <a:cs typeface="+mn-ea"/>
              </a:rPr>
              <a:t>3-1</a:t>
            </a:r>
            <a:r>
              <a:rPr lang="zh-CN" altLang="en-US" sz="1800">
                <a:latin typeface="+mn-ea"/>
                <a:ea typeface="+mn-ea"/>
                <a:cs typeface="+mn-ea"/>
              </a:rPr>
              <a:t>的运行结果</a:t>
            </a:r>
            <a:endParaRPr lang="zh-CN" altLang="en-US" sz="1800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886</Words>
  <Application>WPS 演示</Application>
  <PresentationFormat>自定义</PresentationFormat>
  <Paragraphs>139</Paragraphs>
  <Slides>13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Segoe UI</vt:lpstr>
      <vt:lpstr>Arial Unicode MS</vt:lpstr>
      <vt:lpstr>黑体</vt:lpstr>
      <vt:lpstr>等线</vt:lpstr>
      <vt:lpstr>Office 主题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505</cp:revision>
  <dcterms:created xsi:type="dcterms:W3CDTF">2015-03-26T06:11:00Z</dcterms:created>
  <dcterms:modified xsi:type="dcterms:W3CDTF">2024-10-10T03:21:18Z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D47FA5641A284CE8A0415F6776C96E93_13</vt:lpwstr>
  </property>
</Properties>
</file>