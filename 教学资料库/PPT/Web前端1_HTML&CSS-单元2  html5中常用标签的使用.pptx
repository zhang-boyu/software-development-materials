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361" r:id="rId3"/>
    <p:sldId id="374" r:id="rId4"/>
    <p:sldId id="375" r:id="rId5"/>
    <p:sldId id="362" r:id="rId6"/>
    <p:sldId id="376" r:id="rId7"/>
    <p:sldId id="377" r:id="rId8"/>
    <p:sldId id="364" r:id="rId9"/>
    <p:sldId id="365" r:id="rId10"/>
    <p:sldId id="378" r:id="rId11"/>
    <p:sldId id="380" r:id="rId12"/>
    <p:sldId id="366" r:id="rId13"/>
    <p:sldId id="381" r:id="rId14"/>
    <p:sldId id="382" r:id="rId15"/>
    <p:sldId id="368" r:id="rId16"/>
    <p:sldId id="383" r:id="rId17"/>
    <p:sldId id="369" r:id="rId18"/>
    <p:sldId id="387" r:id="rId19"/>
    <p:sldId id="370" r:id="rId20"/>
    <p:sldId id="384" r:id="rId21"/>
    <p:sldId id="371" r:id="rId22"/>
    <p:sldId id="385" r:id="rId23"/>
    <p:sldId id="372" r:id="rId24"/>
    <p:sldId id="390" r:id="rId25"/>
    <p:sldId id="373" r:id="rId26"/>
    <p:sldId id="386" r:id="rId27"/>
    <p:sldId id="388" r:id="rId28"/>
    <p:sldId id="389" r:id="rId29"/>
    <p:sldId id="299" r:id="rId30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>
          <p15:clr>
            <a:srgbClr val="A4A3A4"/>
          </p15:clr>
        </p15:guide>
        <p15:guide id="2" orient="horz" pos="346">
          <p15:clr>
            <a:srgbClr val="A4A3A4"/>
          </p15:clr>
        </p15:guide>
        <p15:guide id="3" orient="horz" pos="3702">
          <p15:clr>
            <a:srgbClr val="A4A3A4"/>
          </p15:clr>
        </p15:guide>
        <p15:guide id="4" orient="horz" pos="572">
          <p15:clr>
            <a:srgbClr val="A4A3A4"/>
          </p15:clr>
        </p15:guide>
        <p15:guide id="5" pos="2880">
          <p15:clr>
            <a:srgbClr val="A4A3A4"/>
          </p15:clr>
        </p15:guide>
        <p15:guide id="6" pos="272">
          <p15:clr>
            <a:srgbClr val="A4A3A4"/>
          </p15:clr>
        </p15:guide>
        <p15:guide id="7" pos="5488">
          <p15:clr>
            <a:srgbClr val="A4A3A4"/>
          </p15:clr>
        </p15:guide>
        <p15:guide id="8" pos="3833">
          <p15:clr>
            <a:srgbClr val="A4A3A4"/>
          </p15:clr>
        </p15:guide>
        <p15:guide id="9" pos="4180">
          <p15:clr>
            <a:srgbClr val="A4A3A4"/>
          </p15:clr>
        </p15:guide>
        <p15:guide id="10" pos="15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02802F"/>
    <a:srgbClr val="FFFFFF"/>
    <a:srgbClr val="B1D3EC"/>
    <a:srgbClr val="0D0D0D"/>
    <a:srgbClr val="3A383B"/>
    <a:srgbClr val="07ABB5"/>
    <a:srgbClr val="3836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6" autoAdjust="0"/>
    <p:restoredTop sz="88717" autoAdjust="0"/>
  </p:normalViewPr>
  <p:slideViewPr>
    <p:cSldViewPr snapToGrid="0" showGuides="1">
      <p:cViewPr varScale="1">
        <p:scale>
          <a:sx n="56" d="100"/>
          <a:sy n="56" d="100"/>
        </p:scale>
        <p:origin x="1628" y="60"/>
      </p:cViewPr>
      <p:guideLst>
        <p:guide orient="horz" pos="2146"/>
        <p:guide orient="horz" pos="346"/>
        <p:guide orient="horz" pos="3702"/>
        <p:guide orient="horz" pos="572"/>
        <p:guide pos="2880"/>
        <p:guide pos="272"/>
        <p:guide pos="5488"/>
        <p:guide pos="3833"/>
        <p:guide pos="4180"/>
        <p:guide pos="15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2018/7/20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1190897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620530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207641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072123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675242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0538475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5561935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1362517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0192228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4161798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8321887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208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2858717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2600217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7666977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9081243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595916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7852153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8016121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0189050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826404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3455238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1228582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8997865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7159294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7474270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61607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55751C-E6EA-4D38-9B67-2E7BFD8C4C1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D88907-6C4F-4C89-B6CA-A82B149232DC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Tx/>
              <a:buNone/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2349500"/>
            <a:ext cx="9144000" cy="2159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2890838" y="3429000"/>
            <a:ext cx="625316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2514600"/>
            <a:ext cx="1828800" cy="1828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" name="文本框 16"/>
          <p:cNvSpPr txBox="1"/>
          <p:nvPr/>
        </p:nvSpPr>
        <p:spPr>
          <a:xfrm>
            <a:off x="2690037" y="2720975"/>
            <a:ext cx="6258701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en-US" altLang="zh-CN" sz="3200" dirty="0" smtClean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HTML5+CSS3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网页设计任务教程</a:t>
            </a:r>
          </a:p>
          <a:p>
            <a:pPr algn="r" eaLnBrk="1" hangingPunct="1"/>
            <a:endParaRPr lang="zh-CN" altLang="en-US" sz="4000" dirty="0">
              <a:solidFill>
                <a:schemeClr val="bg1"/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  <a:sym typeface="Arial" panose="020B060402020202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970069" y="3555036"/>
            <a:ext cx="58929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/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单元</a:t>
            </a:r>
            <a:r>
              <a:rPr lang="en-US" altLang="zh-CN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2  html5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中常用标签的使用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46"/>
          <p:cNvGrpSpPr>
            <a:grpSpLocks/>
          </p:cNvGrpSpPr>
          <p:nvPr/>
        </p:nvGrpSpPr>
        <p:grpSpPr bwMode="auto">
          <a:xfrm>
            <a:off x="0" y="284163"/>
            <a:ext cx="1692275" cy="530225"/>
            <a:chOff x="0" y="284389"/>
            <a:chExt cx="1692275" cy="529772"/>
          </a:xfrm>
        </p:grpSpPr>
        <p:sp>
          <p:nvSpPr>
            <p:cNvPr id="40" name="矩形 39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目录</a:t>
              </a:r>
            </a:p>
          </p:txBody>
        </p:sp>
        <p:sp>
          <p:nvSpPr>
            <p:cNvPr id="41" name="矩形 40"/>
            <p:cNvSpPr/>
            <p:nvPr/>
          </p:nvSpPr>
          <p:spPr>
            <a:xfrm>
              <a:off x="1577975" y="284389"/>
              <a:ext cx="114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2" name="矩形 41"/>
          <p:cNvSpPr/>
          <p:nvPr/>
        </p:nvSpPr>
        <p:spPr>
          <a:xfrm>
            <a:off x="8720138" y="6043613"/>
            <a:ext cx="423862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2837588" y="1735138"/>
            <a:ext cx="0" cy="3387725"/>
          </a:xfrm>
          <a:prstGeom prst="line">
            <a:avLst/>
          </a:prstGeom>
          <a:ln>
            <a:solidFill>
              <a:srgbClr val="0174A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3159524" y="782487"/>
            <a:ext cx="5814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2-1 </a:t>
            </a: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&lt;marquee&gt;</a:t>
            </a: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标签制作滚动字幕</a:t>
            </a:r>
            <a:endParaRPr lang="zh-HK" altLang="en-US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3159523" y="1269125"/>
            <a:ext cx="4484813" cy="383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2-2 </a:t>
            </a: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&lt;a&gt;</a:t>
            </a: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标签实现超链接</a:t>
            </a:r>
            <a:endParaRPr lang="zh-HK" altLang="en-US" b="1" spc="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6" name="组合 18"/>
          <p:cNvGrpSpPr>
            <a:grpSpLocks/>
          </p:cNvGrpSpPr>
          <p:nvPr/>
        </p:nvGrpSpPr>
        <p:grpSpPr bwMode="auto">
          <a:xfrm>
            <a:off x="692735" y="2450037"/>
            <a:ext cx="1411944" cy="1407337"/>
            <a:chOff x="1709739" y="2636838"/>
            <a:chExt cx="1590160" cy="1584325"/>
          </a:xfrm>
        </p:grpSpPr>
        <p:sp>
          <p:nvSpPr>
            <p:cNvPr id="47" name="Freeform 6"/>
            <p:cNvSpPr>
              <a:spLocks/>
            </p:cNvSpPr>
            <p:nvPr/>
          </p:nvSpPr>
          <p:spPr bwMode="auto">
            <a:xfrm>
              <a:off x="1709739" y="2636838"/>
              <a:ext cx="1468102" cy="1467130"/>
            </a:xfrm>
            <a:custGeom>
              <a:avLst/>
              <a:gdLst>
                <a:gd name="T0" fmla="*/ 2147483646 w 1276"/>
                <a:gd name="T1" fmla="*/ 2147483646 h 1274"/>
                <a:gd name="T2" fmla="*/ 2147483646 w 1276"/>
                <a:gd name="T3" fmla="*/ 2147483646 h 1274"/>
                <a:gd name="T4" fmla="*/ 2147483646 w 1276"/>
                <a:gd name="T5" fmla="*/ 2147483646 h 1274"/>
                <a:gd name="T6" fmla="*/ 2147483646 w 1276"/>
                <a:gd name="T7" fmla="*/ 2147483646 h 1274"/>
                <a:gd name="T8" fmla="*/ 2147483646 w 1276"/>
                <a:gd name="T9" fmla="*/ 2147483646 h 1274"/>
                <a:gd name="T10" fmla="*/ 2147483646 w 1276"/>
                <a:gd name="T11" fmla="*/ 2147483646 h 1274"/>
                <a:gd name="T12" fmla="*/ 2147483646 w 1276"/>
                <a:gd name="T13" fmla="*/ 2147483646 h 1274"/>
                <a:gd name="T14" fmla="*/ 0 w 1276"/>
                <a:gd name="T15" fmla="*/ 2147483646 h 1274"/>
                <a:gd name="T16" fmla="*/ 0 w 1276"/>
                <a:gd name="T17" fmla="*/ 2147483646 h 1274"/>
                <a:gd name="T18" fmla="*/ 2147483646 w 1276"/>
                <a:gd name="T19" fmla="*/ 0 h 1274"/>
                <a:gd name="T20" fmla="*/ 2147483646 w 1276"/>
                <a:gd name="T21" fmla="*/ 0 h 1274"/>
                <a:gd name="T22" fmla="*/ 2147483646 w 1276"/>
                <a:gd name="T23" fmla="*/ 2147483646 h 1274"/>
                <a:gd name="T24" fmla="*/ 2147483646 w 1276"/>
                <a:gd name="T25" fmla="*/ 2147483646 h 1274"/>
                <a:gd name="T26" fmla="*/ 2147483646 w 1276"/>
                <a:gd name="T27" fmla="*/ 2147483646 h 1274"/>
                <a:gd name="T28" fmla="*/ 2147483646 w 1276"/>
                <a:gd name="T29" fmla="*/ 2147483646 h 1274"/>
                <a:gd name="T30" fmla="*/ 2147483646 w 1276"/>
                <a:gd name="T31" fmla="*/ 2147483646 h 1274"/>
                <a:gd name="T32" fmla="*/ 2147483646 w 1276"/>
                <a:gd name="T33" fmla="*/ 2147483646 h 1274"/>
                <a:gd name="T34" fmla="*/ 2147483646 w 1276"/>
                <a:gd name="T35" fmla="*/ 2147483646 h 1274"/>
                <a:gd name="T36" fmla="*/ 2147483646 w 1276"/>
                <a:gd name="T37" fmla="*/ 2147483646 h 1274"/>
                <a:gd name="T38" fmla="*/ 2147483646 w 1276"/>
                <a:gd name="T39" fmla="*/ 2147483646 h 1274"/>
                <a:gd name="T40" fmla="*/ 2147483646 w 1276"/>
                <a:gd name="T41" fmla="*/ 2147483646 h 1274"/>
                <a:gd name="T42" fmla="*/ 2147483646 w 1276"/>
                <a:gd name="T43" fmla="*/ 2147483646 h 1274"/>
                <a:gd name="T44" fmla="*/ 2147483646 w 1276"/>
                <a:gd name="T45" fmla="*/ 2147483646 h 127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276"/>
                <a:gd name="T70" fmla="*/ 0 h 1274"/>
                <a:gd name="T71" fmla="*/ 1276 w 1276"/>
                <a:gd name="T72" fmla="*/ 1274 h 1274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276" h="1274">
                  <a:moveTo>
                    <a:pt x="691" y="1168"/>
                  </a:moveTo>
                  <a:cubicBezTo>
                    <a:pt x="681" y="1203"/>
                    <a:pt x="672" y="1235"/>
                    <a:pt x="662" y="1267"/>
                  </a:cubicBezTo>
                  <a:cubicBezTo>
                    <a:pt x="661" y="1270"/>
                    <a:pt x="657" y="1272"/>
                    <a:pt x="654" y="1273"/>
                  </a:cubicBezTo>
                  <a:cubicBezTo>
                    <a:pt x="651" y="1274"/>
                    <a:pt x="647" y="1274"/>
                    <a:pt x="643" y="1274"/>
                  </a:cubicBezTo>
                  <a:cubicBezTo>
                    <a:pt x="486" y="1274"/>
                    <a:pt x="329" y="1273"/>
                    <a:pt x="172" y="1274"/>
                  </a:cubicBezTo>
                  <a:cubicBezTo>
                    <a:pt x="140" y="1274"/>
                    <a:pt x="109" y="1269"/>
                    <a:pt x="81" y="1253"/>
                  </a:cubicBezTo>
                  <a:cubicBezTo>
                    <a:pt x="29" y="1221"/>
                    <a:pt x="1" y="1174"/>
                    <a:pt x="1" y="1113"/>
                  </a:cubicBezTo>
                  <a:cubicBezTo>
                    <a:pt x="0" y="1039"/>
                    <a:pt x="0" y="966"/>
                    <a:pt x="0" y="892"/>
                  </a:cubicBezTo>
                  <a:cubicBezTo>
                    <a:pt x="0" y="651"/>
                    <a:pt x="0" y="411"/>
                    <a:pt x="0" y="170"/>
                  </a:cubicBezTo>
                  <a:cubicBezTo>
                    <a:pt x="0" y="68"/>
                    <a:pt x="68" y="0"/>
                    <a:pt x="170" y="0"/>
                  </a:cubicBezTo>
                  <a:cubicBezTo>
                    <a:pt x="483" y="0"/>
                    <a:pt x="797" y="0"/>
                    <a:pt x="1110" y="0"/>
                  </a:cubicBezTo>
                  <a:cubicBezTo>
                    <a:pt x="1194" y="0"/>
                    <a:pt x="1258" y="51"/>
                    <a:pt x="1273" y="131"/>
                  </a:cubicBezTo>
                  <a:cubicBezTo>
                    <a:pt x="1276" y="143"/>
                    <a:pt x="1276" y="156"/>
                    <a:pt x="1276" y="168"/>
                  </a:cubicBezTo>
                  <a:cubicBezTo>
                    <a:pt x="1276" y="322"/>
                    <a:pt x="1276" y="475"/>
                    <a:pt x="1276" y="629"/>
                  </a:cubicBezTo>
                  <a:cubicBezTo>
                    <a:pt x="1276" y="634"/>
                    <a:pt x="1276" y="638"/>
                    <a:pt x="1275" y="645"/>
                  </a:cubicBezTo>
                  <a:cubicBezTo>
                    <a:pt x="1239" y="640"/>
                    <a:pt x="1205" y="643"/>
                    <a:pt x="1171" y="659"/>
                  </a:cubicBezTo>
                  <a:cubicBezTo>
                    <a:pt x="1171" y="509"/>
                    <a:pt x="1171" y="362"/>
                    <a:pt x="1171" y="214"/>
                  </a:cubicBezTo>
                  <a:cubicBezTo>
                    <a:pt x="816" y="214"/>
                    <a:pt x="462" y="214"/>
                    <a:pt x="106" y="214"/>
                  </a:cubicBezTo>
                  <a:cubicBezTo>
                    <a:pt x="106" y="219"/>
                    <a:pt x="106" y="224"/>
                    <a:pt x="106" y="230"/>
                  </a:cubicBezTo>
                  <a:cubicBezTo>
                    <a:pt x="106" y="521"/>
                    <a:pt x="106" y="812"/>
                    <a:pt x="105" y="1102"/>
                  </a:cubicBezTo>
                  <a:cubicBezTo>
                    <a:pt x="105" y="1141"/>
                    <a:pt x="125" y="1169"/>
                    <a:pt x="171" y="1168"/>
                  </a:cubicBezTo>
                  <a:cubicBezTo>
                    <a:pt x="338" y="1167"/>
                    <a:pt x="504" y="1168"/>
                    <a:pt x="671" y="1168"/>
                  </a:cubicBezTo>
                  <a:cubicBezTo>
                    <a:pt x="677" y="1168"/>
                    <a:pt x="683" y="1168"/>
                    <a:pt x="691" y="1168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7"/>
            <p:cNvSpPr>
              <a:spLocks noEditPoints="1"/>
            </p:cNvSpPr>
            <p:nvPr/>
          </p:nvSpPr>
          <p:spPr bwMode="auto">
            <a:xfrm>
              <a:off x="2571440" y="3653665"/>
              <a:ext cx="569443" cy="567498"/>
            </a:xfrm>
            <a:custGeom>
              <a:avLst/>
              <a:gdLst>
                <a:gd name="T0" fmla="*/ 2147483646 w 495"/>
                <a:gd name="T1" fmla="*/ 2147483646 h 493"/>
                <a:gd name="T2" fmla="*/ 2147483646 w 495"/>
                <a:gd name="T3" fmla="*/ 2147483646 h 493"/>
                <a:gd name="T4" fmla="*/ 2147483646 w 495"/>
                <a:gd name="T5" fmla="*/ 2147483646 h 493"/>
                <a:gd name="T6" fmla="*/ 2147483646 w 495"/>
                <a:gd name="T7" fmla="*/ 2147483646 h 493"/>
                <a:gd name="T8" fmla="*/ 2147483646 w 495"/>
                <a:gd name="T9" fmla="*/ 2147483646 h 493"/>
                <a:gd name="T10" fmla="*/ 2147483646 w 495"/>
                <a:gd name="T11" fmla="*/ 2147483646 h 493"/>
                <a:gd name="T12" fmla="*/ 2147483646 w 495"/>
                <a:gd name="T13" fmla="*/ 2147483646 h 493"/>
                <a:gd name="T14" fmla="*/ 2147483646 w 495"/>
                <a:gd name="T15" fmla="*/ 2147483646 h 493"/>
                <a:gd name="T16" fmla="*/ 2147483646 w 495"/>
                <a:gd name="T17" fmla="*/ 2147483646 h 493"/>
                <a:gd name="T18" fmla="*/ 2147483646 w 495"/>
                <a:gd name="T19" fmla="*/ 2147483646 h 493"/>
                <a:gd name="T20" fmla="*/ 2147483646 w 495"/>
                <a:gd name="T21" fmla="*/ 2147483646 h 493"/>
                <a:gd name="T22" fmla="*/ 2147483646 w 495"/>
                <a:gd name="T23" fmla="*/ 2147483646 h 493"/>
                <a:gd name="T24" fmla="*/ 2147483646 w 495"/>
                <a:gd name="T25" fmla="*/ 2147483646 h 493"/>
                <a:gd name="T26" fmla="*/ 2147483646 w 495"/>
                <a:gd name="T27" fmla="*/ 2147483646 h 493"/>
                <a:gd name="T28" fmla="*/ 2147483646 w 495"/>
                <a:gd name="T29" fmla="*/ 2147483646 h 493"/>
                <a:gd name="T30" fmla="*/ 2147483646 w 495"/>
                <a:gd name="T31" fmla="*/ 2147483646 h 493"/>
                <a:gd name="T32" fmla="*/ 2147483646 w 495"/>
                <a:gd name="T33" fmla="*/ 2147483646 h 493"/>
                <a:gd name="T34" fmla="*/ 2147483646 w 495"/>
                <a:gd name="T35" fmla="*/ 2147483646 h 493"/>
                <a:gd name="T36" fmla="*/ 2147483646 w 495"/>
                <a:gd name="T37" fmla="*/ 2147483646 h 493"/>
                <a:gd name="T38" fmla="*/ 2147483646 w 495"/>
                <a:gd name="T39" fmla="*/ 2147483646 h 493"/>
                <a:gd name="T40" fmla="*/ 2147483646 w 495"/>
                <a:gd name="T41" fmla="*/ 2147483646 h 49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95"/>
                <a:gd name="T64" fmla="*/ 0 h 493"/>
                <a:gd name="T65" fmla="*/ 495 w 495"/>
                <a:gd name="T66" fmla="*/ 493 h 49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95" h="493">
                  <a:moveTo>
                    <a:pt x="328" y="1"/>
                  </a:moveTo>
                  <a:cubicBezTo>
                    <a:pt x="384" y="56"/>
                    <a:pt x="439" y="112"/>
                    <a:pt x="495" y="167"/>
                  </a:cubicBezTo>
                  <a:cubicBezTo>
                    <a:pt x="473" y="190"/>
                    <a:pt x="450" y="213"/>
                    <a:pt x="427" y="236"/>
                  </a:cubicBezTo>
                  <a:cubicBezTo>
                    <a:pt x="365" y="298"/>
                    <a:pt x="303" y="360"/>
                    <a:pt x="240" y="421"/>
                  </a:cubicBezTo>
                  <a:cubicBezTo>
                    <a:pt x="233" y="428"/>
                    <a:pt x="225" y="433"/>
                    <a:pt x="216" y="436"/>
                  </a:cubicBezTo>
                  <a:cubicBezTo>
                    <a:pt x="157" y="454"/>
                    <a:pt x="98" y="471"/>
                    <a:pt x="40" y="488"/>
                  </a:cubicBezTo>
                  <a:cubicBezTo>
                    <a:pt x="28" y="492"/>
                    <a:pt x="18" y="493"/>
                    <a:pt x="9" y="484"/>
                  </a:cubicBezTo>
                  <a:cubicBezTo>
                    <a:pt x="0" y="475"/>
                    <a:pt x="3" y="464"/>
                    <a:pt x="6" y="454"/>
                  </a:cubicBezTo>
                  <a:cubicBezTo>
                    <a:pt x="23" y="395"/>
                    <a:pt x="40" y="335"/>
                    <a:pt x="58" y="276"/>
                  </a:cubicBezTo>
                  <a:cubicBezTo>
                    <a:pt x="60" y="270"/>
                    <a:pt x="63" y="264"/>
                    <a:pt x="67" y="259"/>
                  </a:cubicBezTo>
                  <a:cubicBezTo>
                    <a:pt x="154" y="173"/>
                    <a:pt x="240" y="87"/>
                    <a:pt x="327" y="1"/>
                  </a:cubicBezTo>
                  <a:cubicBezTo>
                    <a:pt x="328" y="1"/>
                    <a:pt x="329" y="0"/>
                    <a:pt x="328" y="1"/>
                  </a:cubicBezTo>
                  <a:close/>
                  <a:moveTo>
                    <a:pt x="102" y="292"/>
                  </a:moveTo>
                  <a:cubicBezTo>
                    <a:pt x="91" y="327"/>
                    <a:pt x="81" y="362"/>
                    <a:pt x="72" y="396"/>
                  </a:cubicBezTo>
                  <a:cubicBezTo>
                    <a:pt x="71" y="399"/>
                    <a:pt x="72" y="403"/>
                    <a:pt x="74" y="405"/>
                  </a:cubicBezTo>
                  <a:cubicBezTo>
                    <a:pt x="87" y="423"/>
                    <a:pt x="92" y="425"/>
                    <a:pt x="113" y="418"/>
                  </a:cubicBezTo>
                  <a:cubicBezTo>
                    <a:pt x="125" y="415"/>
                    <a:pt x="136" y="411"/>
                    <a:pt x="148" y="408"/>
                  </a:cubicBezTo>
                  <a:cubicBezTo>
                    <a:pt x="165" y="403"/>
                    <a:pt x="182" y="398"/>
                    <a:pt x="200" y="393"/>
                  </a:cubicBezTo>
                  <a:cubicBezTo>
                    <a:pt x="195" y="365"/>
                    <a:pt x="190" y="341"/>
                    <a:pt x="185" y="316"/>
                  </a:cubicBezTo>
                  <a:cubicBezTo>
                    <a:pt x="185" y="313"/>
                    <a:pt x="181" y="309"/>
                    <a:pt x="178" y="308"/>
                  </a:cubicBezTo>
                  <a:cubicBezTo>
                    <a:pt x="153" y="302"/>
                    <a:pt x="128" y="297"/>
                    <a:pt x="102" y="292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8"/>
            <p:cNvSpPr>
              <a:spLocks/>
            </p:cNvSpPr>
            <p:nvPr/>
          </p:nvSpPr>
          <p:spPr bwMode="auto">
            <a:xfrm>
              <a:off x="2262162" y="3371619"/>
              <a:ext cx="608346" cy="119627"/>
            </a:xfrm>
            <a:custGeom>
              <a:avLst/>
              <a:gdLst>
                <a:gd name="T0" fmla="*/ 0 w 529"/>
                <a:gd name="T1" fmla="*/ 2147483646 h 104"/>
                <a:gd name="T2" fmla="*/ 0 w 529"/>
                <a:gd name="T3" fmla="*/ 0 h 104"/>
                <a:gd name="T4" fmla="*/ 2147483646 w 529"/>
                <a:gd name="T5" fmla="*/ 0 h 104"/>
                <a:gd name="T6" fmla="*/ 2147483646 w 529"/>
                <a:gd name="T7" fmla="*/ 2147483646 h 104"/>
                <a:gd name="T8" fmla="*/ 0 w 529"/>
                <a:gd name="T9" fmla="*/ 2147483646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9"/>
                <a:gd name="T16" fmla="*/ 0 h 104"/>
                <a:gd name="T17" fmla="*/ 529 w 529"/>
                <a:gd name="T18" fmla="*/ 104 h 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9" h="104">
                  <a:moveTo>
                    <a:pt x="0" y="104"/>
                  </a:moveTo>
                  <a:cubicBezTo>
                    <a:pt x="0" y="69"/>
                    <a:pt x="0" y="35"/>
                    <a:pt x="0" y="0"/>
                  </a:cubicBezTo>
                  <a:cubicBezTo>
                    <a:pt x="177" y="0"/>
                    <a:pt x="352" y="0"/>
                    <a:pt x="529" y="0"/>
                  </a:cubicBezTo>
                  <a:cubicBezTo>
                    <a:pt x="529" y="35"/>
                    <a:pt x="529" y="69"/>
                    <a:pt x="529" y="104"/>
                  </a:cubicBezTo>
                  <a:cubicBezTo>
                    <a:pt x="353" y="104"/>
                    <a:pt x="177" y="104"/>
                    <a:pt x="0" y="104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9"/>
            <p:cNvSpPr>
              <a:spLocks/>
            </p:cNvSpPr>
            <p:nvPr/>
          </p:nvSpPr>
          <p:spPr bwMode="auto">
            <a:xfrm>
              <a:off x="2263134" y="3127502"/>
              <a:ext cx="607373" cy="119627"/>
            </a:xfrm>
            <a:custGeom>
              <a:avLst/>
              <a:gdLst>
                <a:gd name="T0" fmla="*/ 2147483646 w 528"/>
                <a:gd name="T1" fmla="*/ 0 h 104"/>
                <a:gd name="T2" fmla="*/ 2147483646 w 528"/>
                <a:gd name="T3" fmla="*/ 2147483646 h 104"/>
                <a:gd name="T4" fmla="*/ 0 w 528"/>
                <a:gd name="T5" fmla="*/ 2147483646 h 104"/>
                <a:gd name="T6" fmla="*/ 0 w 528"/>
                <a:gd name="T7" fmla="*/ 0 h 104"/>
                <a:gd name="T8" fmla="*/ 2147483646 w 528"/>
                <a:gd name="T9" fmla="*/ 0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8"/>
                <a:gd name="T16" fmla="*/ 0 h 104"/>
                <a:gd name="T17" fmla="*/ 528 w 528"/>
                <a:gd name="T18" fmla="*/ 104 h 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8" h="104">
                  <a:moveTo>
                    <a:pt x="528" y="0"/>
                  </a:moveTo>
                  <a:cubicBezTo>
                    <a:pt x="528" y="35"/>
                    <a:pt x="528" y="69"/>
                    <a:pt x="528" y="104"/>
                  </a:cubicBezTo>
                  <a:cubicBezTo>
                    <a:pt x="352" y="104"/>
                    <a:pt x="177" y="104"/>
                    <a:pt x="0" y="104"/>
                  </a:cubicBezTo>
                  <a:cubicBezTo>
                    <a:pt x="0" y="70"/>
                    <a:pt x="0" y="36"/>
                    <a:pt x="0" y="0"/>
                  </a:cubicBezTo>
                  <a:cubicBezTo>
                    <a:pt x="176" y="0"/>
                    <a:pt x="352" y="0"/>
                    <a:pt x="528" y="0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10"/>
            <p:cNvSpPr>
              <a:spLocks/>
            </p:cNvSpPr>
            <p:nvPr/>
          </p:nvSpPr>
          <p:spPr bwMode="auto">
            <a:xfrm>
              <a:off x="2263134" y="3615735"/>
              <a:ext cx="549991" cy="120599"/>
            </a:xfrm>
            <a:custGeom>
              <a:avLst/>
              <a:gdLst>
                <a:gd name="T0" fmla="*/ 0 w 478"/>
                <a:gd name="T1" fmla="*/ 0 h 105"/>
                <a:gd name="T2" fmla="*/ 2147483646 w 478"/>
                <a:gd name="T3" fmla="*/ 0 h 105"/>
                <a:gd name="T4" fmla="*/ 2147483646 w 478"/>
                <a:gd name="T5" fmla="*/ 2147483646 h 105"/>
                <a:gd name="T6" fmla="*/ 2147483646 w 478"/>
                <a:gd name="T7" fmla="*/ 2147483646 h 105"/>
                <a:gd name="T8" fmla="*/ 2147483646 w 478"/>
                <a:gd name="T9" fmla="*/ 2147483646 h 105"/>
                <a:gd name="T10" fmla="*/ 2147483646 w 478"/>
                <a:gd name="T11" fmla="*/ 2147483646 h 105"/>
                <a:gd name="T12" fmla="*/ 0 w 478"/>
                <a:gd name="T13" fmla="*/ 2147483646 h 105"/>
                <a:gd name="T14" fmla="*/ 0 w 478"/>
                <a:gd name="T15" fmla="*/ 0 h 1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78"/>
                <a:gd name="T25" fmla="*/ 0 h 105"/>
                <a:gd name="T26" fmla="*/ 478 w 478"/>
                <a:gd name="T27" fmla="*/ 105 h 10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78" h="105">
                  <a:moveTo>
                    <a:pt x="0" y="0"/>
                  </a:moveTo>
                  <a:cubicBezTo>
                    <a:pt x="159" y="0"/>
                    <a:pt x="318" y="0"/>
                    <a:pt x="478" y="0"/>
                  </a:cubicBezTo>
                  <a:cubicBezTo>
                    <a:pt x="476" y="3"/>
                    <a:pt x="474" y="6"/>
                    <a:pt x="472" y="8"/>
                  </a:cubicBezTo>
                  <a:cubicBezTo>
                    <a:pt x="443" y="38"/>
                    <a:pt x="413" y="68"/>
                    <a:pt x="383" y="97"/>
                  </a:cubicBezTo>
                  <a:cubicBezTo>
                    <a:pt x="379" y="101"/>
                    <a:pt x="372" y="104"/>
                    <a:pt x="366" y="104"/>
                  </a:cubicBezTo>
                  <a:cubicBezTo>
                    <a:pt x="247" y="105"/>
                    <a:pt x="127" y="105"/>
                    <a:pt x="8" y="105"/>
                  </a:cubicBezTo>
                  <a:cubicBezTo>
                    <a:pt x="6" y="105"/>
                    <a:pt x="3" y="104"/>
                    <a:pt x="0" y="104"/>
                  </a:cubicBezTo>
                  <a:cubicBezTo>
                    <a:pt x="0" y="69"/>
                    <a:pt x="0" y="35"/>
                    <a:pt x="0" y="0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11"/>
            <p:cNvSpPr>
              <a:spLocks/>
            </p:cNvSpPr>
            <p:nvPr/>
          </p:nvSpPr>
          <p:spPr bwMode="auto">
            <a:xfrm>
              <a:off x="3016880" y="3492218"/>
              <a:ext cx="283019" cy="281074"/>
            </a:xfrm>
            <a:custGeom>
              <a:avLst/>
              <a:gdLst>
                <a:gd name="T0" fmla="*/ 0 w 246"/>
                <a:gd name="T1" fmla="*/ 2147483646 h 244"/>
                <a:gd name="T2" fmla="*/ 2147483646 w 246"/>
                <a:gd name="T3" fmla="*/ 2147483646 h 244"/>
                <a:gd name="T4" fmla="*/ 2147483646 w 246"/>
                <a:gd name="T5" fmla="*/ 2147483646 h 244"/>
                <a:gd name="T6" fmla="*/ 2147483646 w 246"/>
                <a:gd name="T7" fmla="*/ 2147483646 h 244"/>
                <a:gd name="T8" fmla="*/ 2147483646 w 246"/>
                <a:gd name="T9" fmla="*/ 2147483646 h 244"/>
                <a:gd name="T10" fmla="*/ 2147483646 w 246"/>
                <a:gd name="T11" fmla="*/ 2147483646 h 244"/>
                <a:gd name="T12" fmla="*/ 0 w 246"/>
                <a:gd name="T13" fmla="*/ 2147483646 h 2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6"/>
                <a:gd name="T22" fmla="*/ 0 h 244"/>
                <a:gd name="T23" fmla="*/ 246 w 246"/>
                <a:gd name="T24" fmla="*/ 244 h 24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6" h="244">
                  <a:moveTo>
                    <a:pt x="0" y="87"/>
                  </a:moveTo>
                  <a:cubicBezTo>
                    <a:pt x="22" y="64"/>
                    <a:pt x="43" y="41"/>
                    <a:pt x="66" y="20"/>
                  </a:cubicBezTo>
                  <a:cubicBezTo>
                    <a:pt x="87" y="1"/>
                    <a:pt x="118" y="0"/>
                    <a:pt x="139" y="20"/>
                  </a:cubicBezTo>
                  <a:cubicBezTo>
                    <a:pt x="169" y="48"/>
                    <a:pt x="198" y="76"/>
                    <a:pt x="225" y="106"/>
                  </a:cubicBezTo>
                  <a:cubicBezTo>
                    <a:pt x="245" y="127"/>
                    <a:pt x="246" y="158"/>
                    <a:pt x="227" y="178"/>
                  </a:cubicBezTo>
                  <a:cubicBezTo>
                    <a:pt x="205" y="202"/>
                    <a:pt x="181" y="223"/>
                    <a:pt x="159" y="244"/>
                  </a:cubicBezTo>
                  <a:cubicBezTo>
                    <a:pt x="107" y="193"/>
                    <a:pt x="54" y="140"/>
                    <a:pt x="0" y="87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12"/>
            <p:cNvSpPr>
              <a:spLocks/>
            </p:cNvSpPr>
            <p:nvPr/>
          </p:nvSpPr>
          <p:spPr bwMode="auto">
            <a:xfrm>
              <a:off x="2017073" y="3372591"/>
              <a:ext cx="119627" cy="117682"/>
            </a:xfrm>
            <a:custGeom>
              <a:avLst/>
              <a:gdLst>
                <a:gd name="T0" fmla="*/ 0 w 104"/>
                <a:gd name="T1" fmla="*/ 2147483646 h 102"/>
                <a:gd name="T2" fmla="*/ 0 w 104"/>
                <a:gd name="T3" fmla="*/ 0 h 102"/>
                <a:gd name="T4" fmla="*/ 2147483646 w 104"/>
                <a:gd name="T5" fmla="*/ 0 h 102"/>
                <a:gd name="T6" fmla="*/ 2147483646 w 104"/>
                <a:gd name="T7" fmla="*/ 2147483646 h 102"/>
                <a:gd name="T8" fmla="*/ 0 w 104"/>
                <a:gd name="T9" fmla="*/ 21474836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"/>
                <a:gd name="T16" fmla="*/ 0 h 102"/>
                <a:gd name="T17" fmla="*/ 104 w 104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" h="102">
                  <a:moveTo>
                    <a:pt x="0" y="102"/>
                  </a:moveTo>
                  <a:cubicBezTo>
                    <a:pt x="0" y="68"/>
                    <a:pt x="0" y="34"/>
                    <a:pt x="0" y="0"/>
                  </a:cubicBezTo>
                  <a:cubicBezTo>
                    <a:pt x="35" y="0"/>
                    <a:pt x="69" y="0"/>
                    <a:pt x="104" y="0"/>
                  </a:cubicBezTo>
                  <a:cubicBezTo>
                    <a:pt x="104" y="34"/>
                    <a:pt x="104" y="67"/>
                    <a:pt x="104" y="102"/>
                  </a:cubicBezTo>
                  <a:cubicBezTo>
                    <a:pt x="70" y="102"/>
                    <a:pt x="36" y="102"/>
                    <a:pt x="0" y="102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13"/>
            <p:cNvSpPr>
              <a:spLocks/>
            </p:cNvSpPr>
            <p:nvPr/>
          </p:nvSpPr>
          <p:spPr bwMode="auto">
            <a:xfrm>
              <a:off x="2018045" y="3128475"/>
              <a:ext cx="118654" cy="118654"/>
            </a:xfrm>
            <a:custGeom>
              <a:avLst/>
              <a:gdLst>
                <a:gd name="T0" fmla="*/ 2147483646 w 103"/>
                <a:gd name="T1" fmla="*/ 2147483646 h 103"/>
                <a:gd name="T2" fmla="*/ 0 w 103"/>
                <a:gd name="T3" fmla="*/ 2147483646 h 103"/>
                <a:gd name="T4" fmla="*/ 0 w 103"/>
                <a:gd name="T5" fmla="*/ 0 h 103"/>
                <a:gd name="T6" fmla="*/ 2147483646 w 103"/>
                <a:gd name="T7" fmla="*/ 0 h 103"/>
                <a:gd name="T8" fmla="*/ 2147483646 w 103"/>
                <a:gd name="T9" fmla="*/ 2147483646 h 1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"/>
                <a:gd name="T16" fmla="*/ 0 h 103"/>
                <a:gd name="T17" fmla="*/ 103 w 103"/>
                <a:gd name="T18" fmla="*/ 103 h 1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" h="103">
                  <a:moveTo>
                    <a:pt x="103" y="103"/>
                  </a:moveTo>
                  <a:cubicBezTo>
                    <a:pt x="68" y="103"/>
                    <a:pt x="34" y="103"/>
                    <a:pt x="0" y="103"/>
                  </a:cubicBezTo>
                  <a:cubicBezTo>
                    <a:pt x="0" y="68"/>
                    <a:pt x="0" y="35"/>
                    <a:pt x="0" y="0"/>
                  </a:cubicBezTo>
                  <a:cubicBezTo>
                    <a:pt x="34" y="0"/>
                    <a:pt x="68" y="0"/>
                    <a:pt x="103" y="0"/>
                  </a:cubicBezTo>
                  <a:cubicBezTo>
                    <a:pt x="103" y="34"/>
                    <a:pt x="103" y="68"/>
                    <a:pt x="103" y="103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14"/>
            <p:cNvSpPr>
              <a:spLocks/>
            </p:cNvSpPr>
            <p:nvPr/>
          </p:nvSpPr>
          <p:spPr bwMode="auto">
            <a:xfrm>
              <a:off x="2018045" y="3616708"/>
              <a:ext cx="118654" cy="118654"/>
            </a:xfrm>
            <a:custGeom>
              <a:avLst/>
              <a:gdLst>
                <a:gd name="T0" fmla="*/ 2147483646 w 103"/>
                <a:gd name="T1" fmla="*/ 2147483646 h 103"/>
                <a:gd name="T2" fmla="*/ 0 w 103"/>
                <a:gd name="T3" fmla="*/ 2147483646 h 103"/>
                <a:gd name="T4" fmla="*/ 0 w 103"/>
                <a:gd name="T5" fmla="*/ 0 h 103"/>
                <a:gd name="T6" fmla="*/ 2147483646 w 103"/>
                <a:gd name="T7" fmla="*/ 0 h 103"/>
                <a:gd name="T8" fmla="*/ 2147483646 w 103"/>
                <a:gd name="T9" fmla="*/ 2147483646 h 1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"/>
                <a:gd name="T16" fmla="*/ 0 h 103"/>
                <a:gd name="T17" fmla="*/ 103 w 103"/>
                <a:gd name="T18" fmla="*/ 103 h 1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" h="103">
                  <a:moveTo>
                    <a:pt x="103" y="103"/>
                  </a:moveTo>
                  <a:cubicBezTo>
                    <a:pt x="68" y="103"/>
                    <a:pt x="35" y="103"/>
                    <a:pt x="0" y="103"/>
                  </a:cubicBezTo>
                  <a:cubicBezTo>
                    <a:pt x="0" y="68"/>
                    <a:pt x="0" y="35"/>
                    <a:pt x="0" y="0"/>
                  </a:cubicBezTo>
                  <a:cubicBezTo>
                    <a:pt x="34" y="0"/>
                    <a:pt x="68" y="0"/>
                    <a:pt x="103" y="0"/>
                  </a:cubicBezTo>
                  <a:cubicBezTo>
                    <a:pt x="103" y="33"/>
                    <a:pt x="103" y="67"/>
                    <a:pt x="103" y="103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6" name="文本框 55"/>
          <p:cNvSpPr txBox="1"/>
          <p:nvPr/>
        </p:nvSpPr>
        <p:spPr>
          <a:xfrm>
            <a:off x="226545" y="4131938"/>
            <a:ext cx="22359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spc="300" dirty="0">
                <a:solidFill>
                  <a:srgbClr val="0174A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CONTANTS</a:t>
            </a:r>
            <a:endParaRPr lang="zh-HK" altLang="en-US" sz="2400" b="1" spc="300" dirty="0">
              <a:solidFill>
                <a:srgbClr val="0174A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159523" y="1748248"/>
            <a:ext cx="4750626" cy="380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2-3 </a:t>
            </a: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&lt;a&gt;</a:t>
            </a: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标签实现锚点链接</a:t>
            </a:r>
            <a:endParaRPr lang="zh-HK" altLang="en-US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159523" y="2224479"/>
            <a:ext cx="5718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2-4 </a:t>
            </a: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使用文本类标签实现页面文本的显示</a:t>
            </a:r>
            <a:endParaRPr lang="zh-HK" altLang="en-US" b="1" spc="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3159523" y="2667700"/>
            <a:ext cx="7037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2-5 </a:t>
            </a: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使用文本格式类属性实现页面文本特殊显示效果</a:t>
            </a:r>
            <a:endParaRPr lang="zh-HK" altLang="en-US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3170157" y="3132692"/>
            <a:ext cx="4602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2-6 </a:t>
            </a: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使用转义字符显示特殊符号</a:t>
            </a:r>
            <a:endParaRPr lang="zh-HK" altLang="en-US" b="1" spc="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3170156" y="3597684"/>
            <a:ext cx="6187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2-7 </a:t>
            </a: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使用图像类标签显示图像、以及图像映射</a:t>
            </a:r>
            <a:endParaRPr lang="zh-HK" altLang="en-US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3159523" y="4052597"/>
            <a:ext cx="3900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2-8 &lt;iframe&gt;</a:t>
            </a: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标签使用</a:t>
            </a:r>
            <a:endParaRPr lang="zh-HK" altLang="en-US" b="1" spc="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3170157" y="4505897"/>
            <a:ext cx="62928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2-9 </a:t>
            </a: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audio</a:t>
            </a: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video</a:t>
            </a: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标签实现音视频播放</a:t>
            </a:r>
            <a:endParaRPr lang="zh-HK" altLang="en-US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3159523" y="4994630"/>
            <a:ext cx="3475192" cy="368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2-10 </a:t>
            </a: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表单的简单应用</a:t>
            </a:r>
            <a:endParaRPr lang="zh-HK" altLang="en-US" b="1" spc="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3180789" y="5435881"/>
            <a:ext cx="3985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2-11 </a:t>
            </a: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制作文本编辑器页面</a:t>
            </a:r>
            <a:endParaRPr lang="zh-HK" altLang="en-US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3180789" y="5890794"/>
            <a:ext cx="31455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2-12 </a:t>
            </a: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表单格式验证</a:t>
            </a:r>
            <a:endParaRPr lang="zh-HK" altLang="en-US" b="1" spc="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5330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65431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&lt;marquee&gt;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标签制作滚动字幕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2-1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6" name="矩形 38">
            <a:extLst/>
          </p:cNvPr>
          <p:cNvSpPr>
            <a:spLocks noChangeArrowheads="1"/>
          </p:cNvSpPr>
          <p:nvPr/>
        </p:nvSpPr>
        <p:spPr bwMode="auto">
          <a:xfrm>
            <a:off x="291199" y="1864998"/>
            <a:ext cx="8514003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1</a:t>
            </a:r>
            <a:r>
              <a:rPr lang="zh-CN" alt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HTML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属性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HTML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标签可以拥有属性。属性提供了有关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HTML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元素的更多的信息</a:t>
            </a:r>
            <a:r>
              <a:rPr lang="zh-CN" alt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。属性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总是以名称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/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值对的形式出现，比如：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name="value"</a:t>
            </a:r>
            <a:r>
              <a:rPr lang="zh-CN" alt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。</a:t>
            </a:r>
            <a:endParaRPr lang="en-US" altLang="zh-CN" sz="2800" dirty="0" smtClean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属性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总是在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HTML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元素的开始标签中规定</a:t>
            </a:r>
            <a:r>
              <a:rPr lang="zh-CN" alt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。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5421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4239" y="6043754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65431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&lt;marquee&gt;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标签制作滚动字幕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2-1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6" name="矩形 38">
            <a:extLst/>
          </p:cNvPr>
          <p:cNvSpPr>
            <a:spLocks noChangeArrowheads="1"/>
          </p:cNvSpPr>
          <p:nvPr/>
        </p:nvSpPr>
        <p:spPr bwMode="auto">
          <a:xfrm>
            <a:off x="291199" y="1864998"/>
            <a:ext cx="8514003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2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、属性实例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HTML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链接由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&lt;a&gt;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标签定义。链接的地址在</a:t>
            </a:r>
            <a:r>
              <a:rPr lang="en-US" altLang="zh-CN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href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属性中指定：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</a:t>
            </a: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a </a:t>
            </a:r>
            <a:r>
              <a:rPr lang="en-US" altLang="zh-CN" sz="20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href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="http://www.w3school.com.cn"&gt;Thisisalink&lt;/a&gt;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属性和属性值对大小写不敏感。不过，万维网联盟在其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HTML4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推荐标准中推荐小写的属性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/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属性值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。</a:t>
            </a:r>
            <a:endParaRPr lang="en-US" altLang="zh-CN" sz="2000" dirty="0" smtClean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始终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为属性值加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引号，属性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值应该始终被包括在引号内。双引号是最常用的，不过使用单引号也没有问题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。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在某些个别的情况下，比如属性值本身就含有双引号，那么您必须使用单引号，例如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：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name='</a:t>
            </a:r>
            <a:r>
              <a:rPr lang="en-US" altLang="zh-CN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Bill"HelloWorld"Gates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2655757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3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65431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&lt;marquee&gt;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标签制作滚动字幕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2-1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6" name="矩形 38">
            <a:extLst/>
          </p:cNvPr>
          <p:cNvSpPr>
            <a:spLocks noChangeArrowheads="1"/>
          </p:cNvSpPr>
          <p:nvPr/>
        </p:nvSpPr>
        <p:spPr bwMode="auto">
          <a:xfrm>
            <a:off x="291199" y="1864998"/>
            <a:ext cx="8514003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1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behavior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：设置文本在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marquee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元素内如何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滚。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2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0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bgcolor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：通过颜色名称或十六进制值设置背景颜色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。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3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direction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：设置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marquee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内文本滚动的方向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。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4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height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：以像素或百分比值设置高度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。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5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width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：以像素或百分比值设置宽度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。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6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0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scrollamount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：设定活动字幕的滚动速度，范围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1~6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，数字越大越快。默认值为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6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。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7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0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onMouseOut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="</a:t>
            </a:r>
            <a:r>
              <a:rPr lang="en-US" altLang="zh-CN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this.start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()"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：用来设置鼠标移出该区域时继续滚动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。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8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0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onMouseOver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="</a:t>
            </a:r>
            <a:r>
              <a:rPr lang="en-US" altLang="zh-CN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this.stop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()"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：用来设置鼠标移入该区域时停止滚动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。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itchFamily="65" charset="-122"/>
              <a:ea typeface="方正粗活意简体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7518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4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4778153" cy="762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&lt;a&gt;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标签实现超链接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2-2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33918" y="1867081"/>
            <a:ext cx="870274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&lt;a&gt;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标签定义超链接，用于从一个页面链接到另一个页面，其语法结构如下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：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a 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属性设置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&gt;...&lt;/a&gt;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其中，属性设置中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&lt;a&gt;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标签最重要的属性是</a:t>
            </a:r>
            <a:r>
              <a:rPr lang="en-US" altLang="zh-CN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href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属性，它指示链接的目标，链接目标可以是网址，也可以是文件路径，还可以是空（使用“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#”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表示），</a:t>
            </a:r>
            <a:r>
              <a:rPr lang="en-US" altLang="zh-CN" sz="2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href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属性必不可少；除此，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target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属性也是超链接非常重要的属性，属性值可以为：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_blank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（在新空白窗口中打开链接），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_parent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（在当前窗口的上一层里打开链接），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_self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（在当前窗口中打开链接），</a:t>
            </a:r>
            <a:r>
              <a:rPr lang="en-US" altLang="zh-CN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_top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（在顶层框架中打开链接）。</a:t>
            </a:r>
          </a:p>
        </p:txBody>
      </p:sp>
    </p:spTree>
    <p:extLst>
      <p:ext uri="{BB962C8B-B14F-4D97-AF65-F5344CB8AC3E}">
        <p14:creationId xmlns:p14="http://schemas.microsoft.com/office/powerpoint/2010/main" val="36575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5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5373577" cy="762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&lt;a&gt;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标签实现锚点链接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2-3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9405" y="2015938"/>
            <a:ext cx="864519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锚点链接是指在同一个页面跳转到指定位置的方式，类似于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word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的目录，点击目录可以转到内容处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。例如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：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&lt;a </a:t>
            </a:r>
            <a:r>
              <a:rPr lang="en-US" altLang="zh-CN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href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=”#bottom”&gt;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到页面底部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&lt;/a&gt;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……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&lt;p name=”bottom”&gt;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这里是内容</a:t>
            </a: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&lt;/p&gt;</a:t>
            </a: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现在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html5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规范中逐渐使用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id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属性代替了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name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属性，因为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id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在同一个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html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页面中是唯一的，更适合用于锚点连接。无论是使用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name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属性还是使用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id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属性，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a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标签内的</a:t>
            </a:r>
            <a:r>
              <a:rPr lang="en-US" altLang="zh-CN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href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属性值为“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#”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开头的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name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值或是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id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值。注意，不管采用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name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或者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id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，其属性值在同一个网页必须是唯一的。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65534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6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5373577" cy="762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&lt;a&gt;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标签实现锚点链接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2-3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97385" y="2521827"/>
            <a:ext cx="4618946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锚点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是页面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内的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超级链接。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19" name="文本框 18"/>
          <p:cNvSpPr txBox="1">
            <a:spLocks noChangeAspect="1"/>
          </p:cNvSpPr>
          <p:nvPr/>
        </p:nvSpPr>
        <p:spPr>
          <a:xfrm>
            <a:off x="376660" y="2459503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文本框 19"/>
          <p:cNvSpPr txBox="1">
            <a:spLocks noChangeAspect="1"/>
          </p:cNvSpPr>
          <p:nvPr/>
        </p:nvSpPr>
        <p:spPr>
          <a:xfrm>
            <a:off x="376660" y="3817273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文本框 20"/>
          <p:cNvSpPr txBox="1">
            <a:spLocks noChangeAspect="1"/>
          </p:cNvSpPr>
          <p:nvPr/>
        </p:nvSpPr>
        <p:spPr>
          <a:xfrm>
            <a:off x="376660" y="5004229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HK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97385" y="5096561"/>
            <a:ext cx="52950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&lt;p id="gates"&gt;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需要链接到的地方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&lt;p&gt;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97385" y="3832277"/>
            <a:ext cx="46362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&lt;a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 href="#gates"&gt;链接文字&lt;/a&gt;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228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7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69897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使用文本类标签实现页面文本的显示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2-4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65814" y="2513150"/>
            <a:ext cx="8612372" cy="2210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 h标签，是网页html 中对</a:t>
            </a:r>
            <a:r>
              <a:rPr lang="zh-CN" altLang="en-US" sz="2400" dirty="0">
                <a:solidFill>
                  <a:srgbClr val="0070C0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文本标题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所进行的着重强调的一种标签，以标签&lt;h1&gt;、&lt;h2&gt;、&lt;h3&gt;到&lt;h6&gt;定义标题头的六个不同文字大小的tags,本质是为了呈现内容结构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7276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8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69897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使用文本类标签实现页面文本的显示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2-4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28961" y="2542981"/>
            <a:ext cx="6490276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 err="1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br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=break row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换行，只有一个标签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</a:t>
            </a:r>
            <a:r>
              <a:rPr lang="en-US" altLang="zh-CN" sz="2400" dirty="0" err="1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br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/&gt;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11" name="文本框 10"/>
          <p:cNvSpPr txBox="1">
            <a:spLocks noChangeAspect="1"/>
          </p:cNvSpPr>
          <p:nvPr/>
        </p:nvSpPr>
        <p:spPr>
          <a:xfrm>
            <a:off x="376660" y="2459503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文本框 11"/>
          <p:cNvSpPr txBox="1">
            <a:spLocks noChangeAspect="1"/>
          </p:cNvSpPr>
          <p:nvPr/>
        </p:nvSpPr>
        <p:spPr>
          <a:xfrm>
            <a:off x="376660" y="3817273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文本框 12"/>
          <p:cNvSpPr txBox="1">
            <a:spLocks noChangeAspect="1"/>
          </p:cNvSpPr>
          <p:nvPr/>
        </p:nvSpPr>
        <p:spPr>
          <a:xfrm>
            <a:off x="376660" y="5004229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HK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228961" y="5062063"/>
            <a:ext cx="64331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span=span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范围，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span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标签用于小部分文字。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28961" y="3842854"/>
            <a:ext cx="53174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p=paragraph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段落，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p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标签定义段落。</a:t>
            </a:r>
          </a:p>
        </p:txBody>
      </p:sp>
    </p:spTree>
    <p:extLst>
      <p:ext uri="{BB962C8B-B14F-4D97-AF65-F5344CB8AC3E}">
        <p14:creationId xmlns:p14="http://schemas.microsoft.com/office/powerpoint/2010/main" val="207418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9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69897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使用文本类标签实现页面文本的显示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2-4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24868" y="2321001"/>
            <a:ext cx="5878819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 err="1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i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=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 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italic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，标签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显示斜体文本效果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11" name="文本框 10"/>
          <p:cNvSpPr txBox="1">
            <a:spLocks noChangeAspect="1"/>
          </p:cNvSpPr>
          <p:nvPr/>
        </p:nvSpPr>
        <p:spPr>
          <a:xfrm>
            <a:off x="376659" y="2223821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文本框 11"/>
          <p:cNvSpPr txBox="1">
            <a:spLocks noChangeAspect="1"/>
          </p:cNvSpPr>
          <p:nvPr/>
        </p:nvSpPr>
        <p:spPr>
          <a:xfrm>
            <a:off x="376659" y="3245890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文本框 12"/>
          <p:cNvSpPr txBox="1">
            <a:spLocks noChangeAspect="1"/>
          </p:cNvSpPr>
          <p:nvPr/>
        </p:nvSpPr>
        <p:spPr>
          <a:xfrm>
            <a:off x="376658" y="4275678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HK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307609" y="5164772"/>
            <a:ext cx="741252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trong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，表示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强调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，通过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字体加粗来表示语义强调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。</a:t>
            </a:r>
            <a:endParaRPr lang="en-US" altLang="zh-CN" sz="2400" dirty="0" smtClean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strong 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标签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和</a:t>
            </a:r>
            <a:r>
              <a:rPr lang="en-US" altLang="zh-CN" sz="2400" dirty="0" err="1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em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标签一样，用于强调文本，但它强调的程度更强一些</a:t>
            </a:r>
          </a:p>
        </p:txBody>
      </p:sp>
      <p:sp>
        <p:nvSpPr>
          <p:cNvPr id="16" name="矩形 15"/>
          <p:cNvSpPr/>
          <p:nvPr/>
        </p:nvSpPr>
        <p:spPr>
          <a:xfrm>
            <a:off x="1307609" y="3340556"/>
            <a:ext cx="43123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err="1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em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，文字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用斜体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来强调显示。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19" name="文本框 18"/>
          <p:cNvSpPr txBox="1">
            <a:spLocks noChangeAspect="1"/>
          </p:cNvSpPr>
          <p:nvPr/>
        </p:nvSpPr>
        <p:spPr>
          <a:xfrm>
            <a:off x="376658" y="5348196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 smtClean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307609" y="4219397"/>
            <a:ext cx="76802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b=bold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，b标签呈现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为粗体。</a:t>
            </a:r>
          </a:p>
        </p:txBody>
      </p:sp>
    </p:spTree>
    <p:extLst>
      <p:ext uri="{BB962C8B-B14F-4D97-AF65-F5344CB8AC3E}">
        <p14:creationId xmlns:p14="http://schemas.microsoft.com/office/powerpoint/2010/main" val="441733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01740" y="6043613"/>
            <a:ext cx="542261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10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176620" y="1034001"/>
            <a:ext cx="88078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使用文本格式类属性实现页面文本特殊显示效果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2-5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24868" y="2321003"/>
            <a:ext cx="7395270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word-spacing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，英文单词间的距离，中文汉字无效。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11" name="文本框 10"/>
          <p:cNvSpPr txBox="1">
            <a:spLocks noChangeAspect="1"/>
          </p:cNvSpPr>
          <p:nvPr/>
        </p:nvSpPr>
        <p:spPr>
          <a:xfrm>
            <a:off x="376659" y="2223821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文本框 11"/>
          <p:cNvSpPr txBox="1">
            <a:spLocks noChangeAspect="1"/>
          </p:cNvSpPr>
          <p:nvPr/>
        </p:nvSpPr>
        <p:spPr>
          <a:xfrm>
            <a:off x="376659" y="3245890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307609" y="3340556"/>
            <a:ext cx="69461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letter-spacing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，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英文单词，中文汉字间的距离。</a:t>
            </a:r>
          </a:p>
        </p:txBody>
      </p:sp>
    </p:spTree>
    <p:extLst>
      <p:ext uri="{BB962C8B-B14F-4D97-AF65-F5344CB8AC3E}">
        <p14:creationId xmlns:p14="http://schemas.microsoft.com/office/powerpoint/2010/main" val="3266897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01740" y="6043613"/>
            <a:ext cx="542261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11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176620" y="1034001"/>
            <a:ext cx="88078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使用文本格式类属性实现页面文本特殊显示效果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2-5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24868" y="2321003"/>
            <a:ext cx="7395270" cy="193899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text-decoration 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属性：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none 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默认。定义标准的文本。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underline 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定义文本下的一条线。</a:t>
            </a:r>
          </a:p>
          <a:p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overline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 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定义文本上的一条线。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line-through 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定义穿过文本下的一条线。</a:t>
            </a:r>
          </a:p>
        </p:txBody>
      </p:sp>
      <p:sp>
        <p:nvSpPr>
          <p:cNvPr id="11" name="文本框 10"/>
          <p:cNvSpPr txBox="1">
            <a:spLocks noChangeAspect="1"/>
          </p:cNvSpPr>
          <p:nvPr/>
        </p:nvSpPr>
        <p:spPr>
          <a:xfrm>
            <a:off x="376659" y="2223821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文本框 11"/>
          <p:cNvSpPr txBox="1">
            <a:spLocks noChangeAspect="1"/>
          </p:cNvSpPr>
          <p:nvPr/>
        </p:nvSpPr>
        <p:spPr>
          <a:xfrm>
            <a:off x="376659" y="4616871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324868" y="4713064"/>
            <a:ext cx="69653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text-indent 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属性规定文本块中首行文本的缩进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28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37944" y="6043613"/>
            <a:ext cx="606057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12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176621" y="1034001"/>
            <a:ext cx="50926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使用转义字符显示特殊符号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2-6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76658" y="2047609"/>
            <a:ext cx="8343480" cy="15696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HTML 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中的预留字符必须被替换为字符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实体：例如不能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使用小于号（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）和大于号（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&gt;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），这是因为浏览器会误认为它们是标签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。如果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希望正确地显示预留字符，我们必须在 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HTML 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源代码中使用字符实体（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character entities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）。</a:t>
            </a:r>
          </a:p>
        </p:txBody>
      </p:sp>
      <p:sp>
        <p:nvSpPr>
          <p:cNvPr id="11" name="文本框 10"/>
          <p:cNvSpPr txBox="1"/>
          <p:nvPr/>
        </p:nvSpPr>
        <p:spPr bwMode="auto">
          <a:xfrm>
            <a:off x="376658" y="3776754"/>
            <a:ext cx="82804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9144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        </a:t>
            </a:r>
            <a:r>
              <a:rPr kumimoji="0" lang="zh-CN" altLang="en-US" sz="2800" kern="1200" cap="none" spc="0" normalizeH="0" baseline="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字符</a:t>
            </a:r>
            <a:r>
              <a:rPr kumimoji="0" lang="zh-CN" altLang="en-US" sz="2800" kern="1200" cap="none" spc="0" normalizeH="0" baseline="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：“  </a:t>
            </a:r>
            <a:r>
              <a:rPr kumimoji="0" lang="zh-CN" altLang="en-US" sz="2800" kern="1200" cap="none" spc="0" normalizeH="0" baseline="0" noProof="0" dirty="0" smtClean="0">
                <a:solidFill>
                  <a:schemeClr val="accent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             </a:t>
            </a:r>
            <a:r>
              <a:rPr kumimoji="0" lang="zh-CN" altLang="en-US" sz="2800" kern="1200" cap="none" spc="0" normalizeH="0" baseline="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&amp;</a:t>
            </a:r>
            <a:r>
              <a:rPr kumimoji="0" lang="zh-CN" altLang="en-US" sz="2800" kern="1200" cap="none" spc="0" normalizeH="0" baseline="0" noProof="0" dirty="0" smtClean="0">
                <a:solidFill>
                  <a:schemeClr val="accent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           </a:t>
            </a:r>
            <a:r>
              <a:rPr kumimoji="0" lang="zh-CN" altLang="en-US" sz="2800" kern="1200" cap="none" spc="0" normalizeH="0" baseline="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&lt;</a:t>
            </a:r>
            <a:r>
              <a:rPr kumimoji="0" lang="zh-CN" altLang="en-US" sz="2800" kern="1200" cap="none" spc="0" normalizeH="0" baseline="0" noProof="0" dirty="0" smtClean="0">
                <a:solidFill>
                  <a:schemeClr val="accent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           </a:t>
            </a:r>
            <a:r>
              <a:rPr kumimoji="0" lang="zh-CN" altLang="en-US" sz="2800" kern="1200" cap="none" spc="0" normalizeH="0" baseline="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&gt;</a:t>
            </a:r>
            <a:r>
              <a:rPr kumimoji="0" lang="zh-CN" altLang="en-US" sz="2800" kern="1200" cap="none" spc="0" normalizeH="0" baseline="0" noProof="0" dirty="0" smtClean="0">
                <a:solidFill>
                  <a:schemeClr val="accent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 </a:t>
            </a:r>
            <a:endParaRPr kumimoji="0" lang="zh-CN" altLang="en-US" sz="2800" kern="1200" cap="none" spc="0" normalizeH="0" baseline="0" noProof="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  <a:cs typeface="+mn-cs"/>
            </a:endParaRPr>
          </a:p>
          <a:p>
            <a:pPr marR="0" defTabSz="9144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转义字符 ：&amp;quot</a:t>
            </a:r>
            <a:r>
              <a:rPr kumimoji="0" lang="zh-CN" altLang="en-US" sz="2800" kern="1200" cap="none" spc="0" normalizeH="0" baseline="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;</a:t>
            </a:r>
            <a:r>
              <a:rPr kumimoji="0" lang="zh-CN" altLang="en-US" sz="2800" kern="1200" cap="none" spc="0" normalizeH="0" baseline="0" noProof="0" dirty="0" smtClean="0">
                <a:solidFill>
                  <a:schemeClr val="accent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    </a:t>
            </a:r>
            <a:r>
              <a:rPr kumimoji="0" lang="zh-CN" altLang="en-US" sz="2800" kern="1200" cap="none" spc="0" normalizeH="0" baseline="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&amp;</a:t>
            </a:r>
            <a:r>
              <a:rPr kumimoji="0" lang="zh-CN" altLang="en-US" sz="2800" kern="1200" cap="none" spc="0" normalizeH="0" baseline="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amp</a:t>
            </a:r>
            <a:r>
              <a:rPr kumimoji="0" lang="zh-CN" altLang="en-US" sz="2800" kern="1200" cap="none" spc="0" normalizeH="0" baseline="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;   </a:t>
            </a:r>
            <a:r>
              <a:rPr kumimoji="0" lang="zh-CN" altLang="en-US" sz="2800" kern="1200" cap="none" spc="0" normalizeH="0" baseline="0" noProof="0" dirty="0" smtClean="0">
                <a:solidFill>
                  <a:schemeClr val="accent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  </a:t>
            </a:r>
            <a:r>
              <a:rPr kumimoji="0" lang="zh-CN" altLang="en-US" sz="2800" kern="1200" cap="none" spc="0" normalizeH="0" baseline="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&amp;lt</a:t>
            </a:r>
            <a:r>
              <a:rPr kumimoji="0" lang="zh-CN" altLang="en-US" sz="2800" kern="1200" cap="none" spc="0" normalizeH="0" baseline="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;   </a:t>
            </a:r>
            <a:r>
              <a:rPr kumimoji="0" lang="zh-CN" altLang="en-US" sz="2800" kern="1200" cap="none" spc="0" normalizeH="0" baseline="0" noProof="0" dirty="0" smtClean="0">
                <a:solidFill>
                  <a:schemeClr val="accent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   </a:t>
            </a:r>
            <a:r>
              <a:rPr kumimoji="0" lang="zh-CN" altLang="en-US" sz="2800" kern="1200" cap="none" spc="0" normalizeH="0" baseline="0" noProof="0" dirty="0">
                <a:solidFill>
                  <a:schemeClr val="tx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&amp;gt</a:t>
            </a:r>
            <a:r>
              <a:rPr kumimoji="0" lang="zh-CN" altLang="en-US" sz="2800" kern="1200" cap="none" spc="0" normalizeH="0" baseline="0" noProof="0" dirty="0" smtClean="0">
                <a:solidFill>
                  <a:schemeClr val="tx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;</a:t>
            </a:r>
            <a:endParaRPr kumimoji="0" lang="zh-CN" altLang="en-US" sz="2800" kern="1200" cap="none" spc="0" normalizeH="0" baseline="0" noProof="0" dirty="0">
              <a:solidFill>
                <a:schemeClr val="tx1"/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  <a:cs typeface="+mn-cs"/>
            </a:endParaRPr>
          </a:p>
          <a:p>
            <a:pPr marR="0" defTabSz="9144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+mn-ea"/>
              </a:rPr>
              <a:t>        字符：</a:t>
            </a:r>
            <a:r>
              <a:rPr lang="zh-CN" altLang="en-US" sz="280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+mn-ea"/>
              </a:rPr>
              <a:t>©</a:t>
            </a:r>
            <a:r>
              <a:rPr lang="zh-CN" altLang="en-US" sz="2800" noProof="0" dirty="0" smtClean="0">
                <a:solidFill>
                  <a:schemeClr val="accent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+mn-ea"/>
              </a:rPr>
              <a:t>              </a:t>
            </a:r>
            <a:r>
              <a:rPr lang="zh-CN" altLang="en-US" sz="280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+mn-ea"/>
              </a:rPr>
              <a:t>®</a:t>
            </a:r>
            <a:r>
              <a:rPr lang="zh-CN" altLang="en-US" sz="2800" noProof="0" dirty="0" smtClean="0">
                <a:solidFill>
                  <a:schemeClr val="accent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+mn-ea"/>
              </a:rPr>
              <a:t>           </a:t>
            </a:r>
            <a:r>
              <a:rPr lang="zh-CN" altLang="en-US" sz="280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+mn-ea"/>
              </a:rPr>
              <a:t>￥</a:t>
            </a:r>
            <a:r>
              <a:rPr lang="zh-CN" altLang="en-US" sz="2800" noProof="0" dirty="0" smtClean="0">
                <a:solidFill>
                  <a:schemeClr val="accent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+mn-ea"/>
              </a:rPr>
              <a:t>          </a:t>
            </a:r>
            <a:r>
              <a:rPr lang="zh-CN" altLang="en-US" sz="280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+mn-ea"/>
              </a:rPr>
              <a:t>￡</a:t>
            </a:r>
            <a:r>
              <a:rPr lang="zh-CN" altLang="en-US" sz="2800" noProof="0" dirty="0" smtClean="0">
                <a:solidFill>
                  <a:schemeClr val="accent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+mn-ea"/>
              </a:rPr>
              <a:t>  </a:t>
            </a:r>
            <a:endParaRPr lang="zh-CN" altLang="en-US" sz="2800" noProof="0" dirty="0">
              <a:solidFill>
                <a:schemeClr val="accent1"/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  <a:sym typeface="+mn-ea"/>
            </a:endParaRPr>
          </a:p>
          <a:p>
            <a:pPr marR="0" defTabSz="9144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+mn-ea"/>
              </a:rPr>
              <a:t>转义字符 ：&amp;copy</a:t>
            </a:r>
            <a:r>
              <a:rPr lang="zh-CN" altLang="en-US" sz="280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+mn-ea"/>
              </a:rPr>
              <a:t>;</a:t>
            </a:r>
            <a:r>
              <a:rPr lang="zh-CN" altLang="en-US" sz="2800" noProof="0" dirty="0" smtClean="0">
                <a:solidFill>
                  <a:schemeClr val="accent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+mn-ea"/>
              </a:rPr>
              <a:t>    </a:t>
            </a:r>
            <a:r>
              <a:rPr lang="zh-CN" altLang="en-US" sz="280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+mn-ea"/>
              </a:rPr>
              <a:t>&amp;</a:t>
            </a:r>
            <a:r>
              <a:rPr lang="zh-CN" altLang="en-US" sz="28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+mn-ea"/>
              </a:rPr>
              <a:t>reg</a:t>
            </a:r>
            <a:r>
              <a:rPr lang="zh-CN" altLang="en-US" sz="280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+mn-ea"/>
              </a:rPr>
              <a:t>;</a:t>
            </a:r>
            <a:r>
              <a:rPr lang="zh-CN" altLang="en-US" sz="2800" noProof="0" dirty="0" smtClean="0">
                <a:solidFill>
                  <a:schemeClr val="accent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+mn-ea"/>
              </a:rPr>
              <a:t>      </a:t>
            </a:r>
            <a:r>
              <a:rPr lang="zh-CN" altLang="en-US" sz="280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+mn-ea"/>
              </a:rPr>
              <a:t>&amp;</a:t>
            </a:r>
            <a:r>
              <a:rPr lang="zh-CN" altLang="en-US" sz="28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+mn-ea"/>
              </a:rPr>
              <a:t>yen</a:t>
            </a:r>
            <a:r>
              <a:rPr lang="zh-CN" altLang="en-US" sz="280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+mn-ea"/>
              </a:rPr>
              <a:t>;</a:t>
            </a:r>
            <a:r>
              <a:rPr lang="zh-CN" altLang="en-US" sz="2800" noProof="0" dirty="0" smtClean="0">
                <a:solidFill>
                  <a:schemeClr val="accent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+mn-ea"/>
              </a:rPr>
              <a:t>   </a:t>
            </a:r>
            <a:r>
              <a:rPr lang="zh-CN" altLang="en-US" sz="280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+mn-ea"/>
              </a:rPr>
              <a:t>&amp;</a:t>
            </a:r>
            <a:r>
              <a:rPr lang="zh-CN" altLang="en-US" sz="2800" noProof="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+mn-ea"/>
              </a:rPr>
              <a:t>pound</a:t>
            </a:r>
            <a:r>
              <a:rPr lang="zh-CN" altLang="en-US" sz="280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+mn-ea"/>
              </a:rPr>
              <a:t>;</a:t>
            </a:r>
            <a:r>
              <a:rPr lang="zh-CN" altLang="en-US" sz="2800" noProof="0" dirty="0" smtClean="0">
                <a:solidFill>
                  <a:schemeClr val="accent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+mn-ea"/>
              </a:rPr>
              <a:t> </a:t>
            </a:r>
            <a:endParaRPr lang="zh-CN" altLang="en-US" sz="2800" noProof="0" dirty="0">
              <a:solidFill>
                <a:schemeClr val="accent1"/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72012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76595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使用图像类标签显示图像、以及图像映射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2-7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24868" y="2321001"/>
            <a:ext cx="5878819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</a:t>
            </a:r>
            <a:r>
              <a:rPr lang="en-US" altLang="zh-CN" sz="2400" dirty="0" err="1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rc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属性，表示图片的地址。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10" name="文本框 9"/>
          <p:cNvSpPr txBox="1">
            <a:spLocks noChangeAspect="1"/>
          </p:cNvSpPr>
          <p:nvPr/>
        </p:nvSpPr>
        <p:spPr>
          <a:xfrm>
            <a:off x="376659" y="2223821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文本框 10"/>
          <p:cNvSpPr txBox="1">
            <a:spLocks noChangeAspect="1"/>
          </p:cNvSpPr>
          <p:nvPr/>
        </p:nvSpPr>
        <p:spPr>
          <a:xfrm>
            <a:off x="376658" y="3571388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文本框 11"/>
          <p:cNvSpPr txBox="1">
            <a:spLocks noChangeAspect="1"/>
          </p:cNvSpPr>
          <p:nvPr/>
        </p:nvSpPr>
        <p:spPr>
          <a:xfrm>
            <a:off x="376657" y="4926674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HK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307608" y="3667580"/>
            <a:ext cx="64379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a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lt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属性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，规定在图像无法显示时的替代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文本。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307608" y="5019006"/>
            <a:ext cx="67412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title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属性，图片正常加载鼠标划上去显示的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值。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537944" y="6043613"/>
            <a:ext cx="606057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13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26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76595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使用图像类标签显示图像、以及图像映射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2-7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 bwMode="auto">
          <a:xfrm>
            <a:off x="309206" y="1902600"/>
            <a:ext cx="735919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defTabSz="9144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800" kern="1200" cap="none" spc="0" normalizeH="0" baseline="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同一幅图，不同部分链接到不同的网页。</a:t>
            </a:r>
            <a:endParaRPr kumimoji="0" lang="zh-CN" altLang="en-US" sz="2800" kern="1200" cap="none" spc="0" normalizeH="0" baseline="0" noProof="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  <a:cs typeface="+mn-cs"/>
            </a:endParaRPr>
          </a:p>
        </p:txBody>
      </p:sp>
      <p:sp>
        <p:nvSpPr>
          <p:cNvPr id="19" name="文本框 18"/>
          <p:cNvSpPr txBox="1">
            <a:spLocks noChangeAspect="1"/>
          </p:cNvSpPr>
          <p:nvPr/>
        </p:nvSpPr>
        <p:spPr>
          <a:xfrm>
            <a:off x="309206" y="2840484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文本框 19"/>
          <p:cNvSpPr txBox="1">
            <a:spLocks noChangeAspect="1"/>
          </p:cNvSpPr>
          <p:nvPr/>
        </p:nvSpPr>
        <p:spPr>
          <a:xfrm>
            <a:off x="309205" y="3626853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68290" y="2914205"/>
            <a:ext cx="73276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coords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：设置或返回图像映射中可点击区域的坐标。</a:t>
            </a:r>
          </a:p>
        </p:txBody>
      </p:sp>
      <p:sp>
        <p:nvSpPr>
          <p:cNvPr id="22" name="文本框 21"/>
          <p:cNvSpPr txBox="1">
            <a:spLocks noChangeAspect="1"/>
          </p:cNvSpPr>
          <p:nvPr/>
        </p:nvSpPr>
        <p:spPr>
          <a:xfrm>
            <a:off x="298573" y="4466903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 smtClean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968290" y="3728240"/>
            <a:ext cx="42450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href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 : 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定义此区域的目标 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URL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019298" y="5387122"/>
            <a:ext cx="64379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id: 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设置或返回图像映射中可点击区域的坐标。</a:t>
            </a:r>
          </a:p>
        </p:txBody>
      </p:sp>
      <p:sp>
        <p:nvSpPr>
          <p:cNvPr id="25" name="矩形 24"/>
          <p:cNvSpPr/>
          <p:nvPr/>
        </p:nvSpPr>
        <p:spPr>
          <a:xfrm>
            <a:off x="987382" y="4520677"/>
            <a:ext cx="87238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shape: 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区域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的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形状：</a:t>
            </a:r>
            <a:r>
              <a:rPr lang="en-US" altLang="zh-CN" sz="2400" dirty="0" err="1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rect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 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(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矩形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) 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circle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(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圆圈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) 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 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poly(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不规则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)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537944" y="6043613"/>
            <a:ext cx="606057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14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236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6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18220" y="6043613"/>
            <a:ext cx="525781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15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37042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&lt;iframe&gt;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标签使用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2-8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61507" y="1784410"/>
            <a:ext cx="8358631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&lt;iframe&gt; 标签规定一个内联框架。一个内联框架被用来在当前 HTML 文档中嵌入另一个文档。</a:t>
            </a:r>
          </a:p>
          <a:p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所有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的主流浏览器都支持&lt;iframe&gt;标签。你可以把提示的文字放到 &lt;iframe&gt; 和 &lt;/iframe&gt;里面，这样不支持 &lt;iframe&gt;的浏览器就会出现提示的文字。</a:t>
            </a:r>
          </a:p>
          <a:p>
            <a:endParaRPr lang="en-US" altLang="zh-CN" sz="2400" dirty="0" smtClean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例如：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iframe name="myiframe" id="myrame" src="external_file.html" frameborder="0" align="left" width="200" height="200" scrolling="no"&gt;</a:t>
            </a:r>
          </a:p>
          <a:p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&lt;p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&gt;你的浏览器不支持iframe标签&lt;/p&gt;</a:t>
            </a:r>
          </a:p>
          <a:p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&lt;/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iframe&gt;</a:t>
            </a:r>
          </a:p>
        </p:txBody>
      </p:sp>
    </p:spTree>
    <p:extLst>
      <p:ext uri="{BB962C8B-B14F-4D97-AF65-F5344CB8AC3E}">
        <p14:creationId xmlns:p14="http://schemas.microsoft.com/office/powerpoint/2010/main" val="2178757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83930" y="6043613"/>
            <a:ext cx="560071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16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37042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&lt;iframe&gt;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标签使用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2-8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8344" y="1784410"/>
            <a:ext cx="850604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iframe 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的常用属性：</a:t>
            </a:r>
          </a:p>
          <a:p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name ：规定 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&lt;iframe&gt; 的名称。</a:t>
            </a:r>
          </a:p>
          <a:p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width：规定 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&lt;iframe&gt; 的宽度。</a:t>
            </a:r>
          </a:p>
          <a:p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height 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：规定 &lt;iframe&gt; 的高度。</a:t>
            </a:r>
          </a:p>
          <a:p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src 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：规定在 &lt;iframe&gt; 中显示的文档的 URL。</a:t>
            </a:r>
          </a:p>
          <a:p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frameborder ：规定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是否显示 &lt;iframe&gt; 周围的边框。 (0为无边框，1位有边框)。</a:t>
            </a:r>
          </a:p>
          <a:p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align ：规定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如何根据周围的元素来对齐 &lt;iframe&gt;。　(left,right,top,middle,bottom)。</a:t>
            </a:r>
          </a:p>
          <a:p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scrolling ：规定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是否在 &lt;iframe&gt; 中显示滚动条。 (yes,no,auto)</a:t>
            </a:r>
          </a:p>
        </p:txBody>
      </p:sp>
    </p:spTree>
    <p:extLst>
      <p:ext uri="{BB962C8B-B14F-4D97-AF65-F5344CB8AC3E}">
        <p14:creationId xmlns:p14="http://schemas.microsoft.com/office/powerpoint/2010/main" val="1710490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83930" y="6032183"/>
            <a:ext cx="560070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17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76489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audio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和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video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标签实现音视频播放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2-9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12602" y="1716140"/>
            <a:ext cx="8318795" cy="5026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audio标签是一对，其常用属性有：</a:t>
            </a: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autoplay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：如果出现该属性，则音频在就绪后马上播放。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controls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：如果出现该属性，则向用户显示控件，比如播放按钮。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loop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：如果出现该属性，则每当音频结束时重新开始播放。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preload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：如果出现该属性，则音频在页面加载时进行加载，并预备播放。如果使用 "autoplay"，则忽略该属性。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src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：要播放的音频的 URL。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audio&gt;标签支持的音频格式有：wav，mp3和ogg格式。</a:t>
            </a:r>
          </a:p>
        </p:txBody>
      </p:sp>
    </p:spTree>
    <p:extLst>
      <p:ext uri="{BB962C8B-B14F-4D97-AF65-F5344CB8AC3E}">
        <p14:creationId xmlns:p14="http://schemas.microsoft.com/office/powerpoint/2010/main" val="2818232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61070" y="6043613"/>
            <a:ext cx="582931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18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76489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audio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和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video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标签实现音视频播放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2-9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33916" y="1786416"/>
            <a:ext cx="848622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video标签也是一对，其常用属性有：</a:t>
            </a:r>
          </a:p>
          <a:p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autoplay：出现该属性，视频在就绪后马上播放。</a:t>
            </a:r>
          </a:p>
          <a:p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controls：出现该属性，则向用户显示控件，比如播放按钮。</a:t>
            </a:r>
          </a:p>
          <a:p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poster：属性规定视频下载时显示的图像，或者在用户点击播放按钮前显示的图像。</a:t>
            </a:r>
          </a:p>
          <a:p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loop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 ：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如果出现该属性，则当媒介文件完成播放后再次开始播放。</a:t>
            </a:r>
          </a:p>
          <a:p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preload：如果出现该属性，则视频在页面加载时进行加载，并预备播放。如果使用 "autoplay"，则忽略该属性。</a:t>
            </a:r>
          </a:p>
          <a:p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src：要播放的视频的 URL。</a:t>
            </a:r>
          </a:p>
          <a:p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height：设置视频播放器的高度。</a:t>
            </a:r>
          </a:p>
          <a:p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width：设置视频播放器的宽度。</a:t>
            </a:r>
          </a:p>
          <a:p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video标签支持的视频格式有：Ogg，MPEG4和WebM格式。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11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16044" y="6043613"/>
            <a:ext cx="527957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19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32151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表单的简单应用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42791" y="284163"/>
            <a:ext cx="1556175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2-10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92970" y="2106913"/>
            <a:ext cx="5309850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type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=“password”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密码文本框。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19" name="文本框 18"/>
          <p:cNvSpPr txBox="1">
            <a:spLocks noChangeAspect="1"/>
          </p:cNvSpPr>
          <p:nvPr/>
        </p:nvSpPr>
        <p:spPr>
          <a:xfrm>
            <a:off x="376659" y="2043066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文本框 19"/>
          <p:cNvSpPr txBox="1">
            <a:spLocks noChangeAspect="1"/>
          </p:cNvSpPr>
          <p:nvPr/>
        </p:nvSpPr>
        <p:spPr>
          <a:xfrm>
            <a:off x="376658" y="2667613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文本框 20"/>
          <p:cNvSpPr txBox="1">
            <a:spLocks noChangeAspect="1"/>
          </p:cNvSpPr>
          <p:nvPr/>
        </p:nvSpPr>
        <p:spPr>
          <a:xfrm>
            <a:off x="366024" y="3267968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HK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292969" y="2728072"/>
            <a:ext cx="39517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type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=“radio”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单选按钮。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296975" y="3360300"/>
            <a:ext cx="67412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type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=“checkbox”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复选按钮。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24" name="文本框 23"/>
          <p:cNvSpPr txBox="1">
            <a:spLocks noChangeAspect="1"/>
          </p:cNvSpPr>
          <p:nvPr/>
        </p:nvSpPr>
        <p:spPr>
          <a:xfrm>
            <a:off x="362018" y="3892125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 smtClean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文本框 24"/>
          <p:cNvSpPr txBox="1">
            <a:spLocks noChangeAspect="1"/>
          </p:cNvSpPr>
          <p:nvPr/>
        </p:nvSpPr>
        <p:spPr>
          <a:xfrm>
            <a:off x="358012" y="4546175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HK" sz="3600" b="1" dirty="0" smtClean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292969" y="3963832"/>
            <a:ext cx="29706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&lt;select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&gt;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下拉列表。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292969" y="4596060"/>
            <a:ext cx="45443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type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=“file”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文件上传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 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28" name="文本框 27"/>
          <p:cNvSpPr txBox="1">
            <a:spLocks noChangeAspect="1"/>
          </p:cNvSpPr>
          <p:nvPr/>
        </p:nvSpPr>
        <p:spPr>
          <a:xfrm>
            <a:off x="366024" y="5208598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 smtClean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6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332414" y="5325881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type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=“submit”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提交按钮。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332414" y="5897942"/>
            <a:ext cx="67412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type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=“reset”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重置按钮。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9921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16044" y="6043613"/>
            <a:ext cx="527957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20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39807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制作文本编辑器页面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93935" y="284163"/>
            <a:ext cx="1705031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2-11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04037" y="1680191"/>
            <a:ext cx="833592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1、http://kindeditor.net/down.php下载kindeditor开源编辑器， 并解压缩到网站根目录：</a:t>
            </a:r>
          </a:p>
          <a:p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&lt;script charset="utf-8" src="kindeditor/kindeditor-all-min.js"&gt;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&lt;/script&gt;</a:t>
            </a:r>
          </a:p>
          <a:p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script charset="utf-8" src="kindeditor/lang/zh_CN.js"&gt;</a:t>
            </a:r>
          </a:p>
          <a:p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&lt;/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script&gt;</a:t>
            </a:r>
          </a:p>
          <a:p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script&gt;</a:t>
            </a:r>
          </a:p>
          <a:p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	KindEditor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.ready(function(K) {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	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window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.editor = K.create('#editor_id');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	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})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;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1535546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16044" y="6043613"/>
            <a:ext cx="527957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21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39807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制作文本编辑器页面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93935" y="284163"/>
            <a:ext cx="1705031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2-11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pic>
        <p:nvPicPr>
          <p:cNvPr id="10" name="图片 9" descr="QQ截图2018041821344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94" y="1985023"/>
            <a:ext cx="2913307" cy="432370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矩形 2"/>
          <p:cNvSpPr/>
          <p:nvPr/>
        </p:nvSpPr>
        <p:spPr>
          <a:xfrm>
            <a:off x="3359887" y="1985023"/>
            <a:ext cx="5639079" cy="2810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textarea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 id="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editor_id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" name="content" style="width:700px;height:300px;"&gt;</a:t>
            </a:r>
            <a:endParaRPr lang="zh-CN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这里</a:t>
            </a:r>
            <a:r>
              <a:rPr lang="zh-CN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输入内容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... </a:t>
            </a:r>
            <a:endParaRPr lang="zh-CN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&lt;/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textarea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&gt;  </a:t>
            </a:r>
            <a:endParaRPr lang="zh-CN" altLang="zh-CN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7369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16044" y="6043613"/>
            <a:ext cx="527957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22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2768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表单格式验证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93935" y="284163"/>
            <a:ext cx="1705031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2-12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 bwMode="auto">
          <a:xfrm>
            <a:off x="309206" y="1902600"/>
            <a:ext cx="841093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正则表达式是对字符串操作的一种逻辑公式，就是用事先定义好的一些特定字符、及这些特定字符的组合，组成一个“规则字符串”，这个“规则字符串”用来表达对字符串的一种过滤逻辑</a:t>
            </a:r>
            <a:r>
              <a:rPr lang="zh-CN" alt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。</a:t>
            </a:r>
            <a:endParaRPr lang="en-US" altLang="zh-CN" sz="2800" dirty="0" smtClean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800" kern="1200" cap="none" spc="0" normalizeH="0" baseline="0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</a:rPr>
              <a:t>例如：电话号码、日期、身份证、数字、电子邮件、网址、邮编等特殊字符串进行格式验证。</a:t>
            </a:r>
            <a:endParaRPr kumimoji="0" lang="zh-CN" altLang="en-US" sz="2800" kern="1200" cap="none" spc="0" normalizeH="0" baseline="0" noProof="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8949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16044" y="6043613"/>
            <a:ext cx="527957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23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2768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表单格式验证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93935" y="284163"/>
            <a:ext cx="1705031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2-12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12650" y="1678586"/>
            <a:ext cx="8484781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1、关闭表单数据验证的两种方式：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1）在form元素默认禁用整个表单的验证功能，或者手工添加novalidate 属性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：&lt;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form action="#" novalidate&gt;。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2）给提交按钮添加formnovalidate属性：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&lt;input type="submit" formnovalidate="formnovalidate" value="Submit" /&gt;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。</a:t>
            </a:r>
            <a:endParaRPr lang="en-US" altLang="zh-CN" sz="2400" dirty="0" smtClean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例如：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&lt;input type="text" required name="money" id="money" pattern="^[0-9]+(.[0-9]{2})?$" placeholder="**.**"&gt;</a:t>
            </a:r>
          </a:p>
        </p:txBody>
      </p:sp>
    </p:spTree>
    <p:extLst>
      <p:ext uri="{BB962C8B-B14F-4D97-AF65-F5344CB8AC3E}">
        <p14:creationId xmlns:p14="http://schemas.microsoft.com/office/powerpoint/2010/main" val="862002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16044" y="6043613"/>
            <a:ext cx="527957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24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2768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表单格式验证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93935" y="284163"/>
            <a:ext cx="1705031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2-12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86444" y="1864998"/>
            <a:ext cx="82296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2、正则表达式&lt;input pattern="regexp"&gt;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pattern属性规定用于验证输入字段的模式。pattern属性适用于以下&lt;input&gt;类型：text,search,url,telephone,email以及password。regexp常用表达式如下：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1）^\d+$：正整数+ 0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2）^[0-9]*[1-9][0-9]*$：正整数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3）^((-\d+)|(0+))$：负整数+ 0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4）^-[0-9]*[1-9][0-9]*$：负整数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5）^-?\d+$：整数，正整数和负整数和0：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6）^\d+(\.\d+)?$：正浮点数+ 0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7）^(([0-9]+\.[0-9]*[1-9][0-9]*)|([0-9]*[1-9][0-9]*\.[0-9]+)|([0-9]*[1-9][0-9]*))$：正浮点数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8）^((-\d+(\.\d+)?)|(0+(\.0+)?))$：负浮点数+ 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0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4097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16044" y="6043613"/>
            <a:ext cx="527957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25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2768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表单格式验证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93935" y="284163"/>
            <a:ext cx="1705031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2-12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86444" y="1864998"/>
            <a:ext cx="82296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9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）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^(-(([0-9]+\.[0-9]*[1-9][0-9]*)|([0-9]*[1-9][0-9]*\.[0-9]+)|([0-9]*[1-9][0-9]*)))$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：负浮点数 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10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）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^(-?\d+)(\.\d+)?$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：浮点数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11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）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^[0-9]+(.[0-9]{2})?$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：金额校验，精确到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位小数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12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）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^[A-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Za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-z]+$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：由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26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个英文字母组成的字符串 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13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）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^[A-Z]+$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：由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26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个英文字母的大写组成的字符串 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14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）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^[a-z]+$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：由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26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个英文字母的小写组成的字符串 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15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）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^[A-Za-z0-9]+$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：由数字和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26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个英文字母组成的字符串 </a:t>
            </a:r>
            <a:endParaRPr lang="en-US" altLang="zh-CN" sz="2400" dirty="0" smtClean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16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）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^\w+$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：由数字、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26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个英文字母或者下划线组成的字符串 </a:t>
            </a:r>
            <a:endParaRPr lang="en-US" altLang="zh-CN" sz="2400" dirty="0" smtClean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17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）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^[\w-]+(\.[\w-]+)*@[\w-]+(\.[\w-]+)+$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email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地址 </a:t>
            </a:r>
          </a:p>
        </p:txBody>
      </p:sp>
    </p:spTree>
    <p:extLst>
      <p:ext uri="{BB962C8B-B14F-4D97-AF65-F5344CB8AC3E}">
        <p14:creationId xmlns:p14="http://schemas.microsoft.com/office/powerpoint/2010/main" val="3527323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16044" y="6043613"/>
            <a:ext cx="527957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26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2768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表单格式验证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93935" y="284163"/>
            <a:ext cx="1705031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2-12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29927" y="1680191"/>
            <a:ext cx="842066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18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）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^[a-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zA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-z]+://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注释：匹配 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(\w+(-\w+)*)(\.(\w+(-\w+)*))*(\?\S*)?$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：匹配 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url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 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19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）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^(?=.*\\d)(?=.*[a-z])(?=.*[A-Z]).{8,10}$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：密码的强度必须是包含大小写字母和数字的组合，不能使用特殊字符，长度在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8-10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之间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20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）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^[\\u4e00-\\u9fa5]{0,}$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：字符串仅能是中文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21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）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^[1-9]\\d{5}[1-9]\\d{3}((0\\d)|(1[0-2]))(([0|1|2]\\d)|3[0-1])\\d{3}([0-9]|X)$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18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位身份证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22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）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^\d{4}(\-|\/|\.)\d{1,2}\1\d{1,2}$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：检验日期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yyyy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-mm-</a:t>
            </a:r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dd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格式</a:t>
            </a:r>
          </a:p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23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）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^((1[3,5,8][0-9])|(14[5,7])|(17[0,6,7,8])|(19[7]))\d{8}$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：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13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15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18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开头的手机号正则表达式</a:t>
            </a:r>
          </a:p>
        </p:txBody>
      </p:sp>
    </p:spTree>
    <p:extLst>
      <p:ext uri="{BB962C8B-B14F-4D97-AF65-F5344CB8AC3E}">
        <p14:creationId xmlns:p14="http://schemas.microsoft.com/office/powerpoint/2010/main" val="2745751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2349500"/>
            <a:ext cx="9144000" cy="2159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2890838" y="3429000"/>
            <a:ext cx="625316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2514600"/>
            <a:ext cx="1828800" cy="1828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" name="文本框 16"/>
          <p:cNvSpPr txBox="1"/>
          <p:nvPr/>
        </p:nvSpPr>
        <p:spPr>
          <a:xfrm>
            <a:off x="2690037" y="2720975"/>
            <a:ext cx="6258701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en-US" altLang="zh-CN" sz="3200" dirty="0" smtClean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HTML5+CSS3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网页设计任务教程</a:t>
            </a:r>
          </a:p>
          <a:p>
            <a:pPr algn="r" eaLnBrk="1" hangingPunct="1"/>
            <a:endParaRPr lang="zh-CN" altLang="en-US" sz="4000" dirty="0">
              <a:solidFill>
                <a:schemeClr val="bg1"/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  <a:sym typeface="Arial" panose="020B060402020202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970069" y="3555036"/>
            <a:ext cx="58929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/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单元</a:t>
            </a:r>
            <a:r>
              <a:rPr lang="en-US" altLang="zh-CN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2  html5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中常用标签的使用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</p:bld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946</TotalTime>
  <Words>2899</Words>
  <Application>Microsoft Office PowerPoint</Application>
  <PresentationFormat>全屏显示(4:3)</PresentationFormat>
  <Paragraphs>321</Paragraphs>
  <Slides>29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7" baseType="lpstr">
      <vt:lpstr>方正粗活意简体</vt:lpstr>
      <vt:lpstr>方正水柱简体</vt:lpstr>
      <vt:lpstr>宋体</vt:lpstr>
      <vt:lpstr>微软雅黑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DY</dc:creator>
  <cp:lastModifiedBy>TJ</cp:lastModifiedBy>
  <cp:revision>472</cp:revision>
  <dcterms:created xsi:type="dcterms:W3CDTF">2014-11-08T02:42:00Z</dcterms:created>
  <dcterms:modified xsi:type="dcterms:W3CDTF">2018-07-20T01:03:25Z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2052-10.1.0.6930</vt:lpwstr>
  </property>
</Properties>
</file>