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38" r:id="rId3"/>
    <p:sldId id="373" r:id="rId5"/>
    <p:sldId id="374" r:id="rId6"/>
    <p:sldId id="340" r:id="rId7"/>
    <p:sldId id="353" r:id="rId8"/>
    <p:sldId id="437" r:id="rId9"/>
    <p:sldId id="344" r:id="rId10"/>
    <p:sldId id="341" r:id="rId11"/>
    <p:sldId id="368" r:id="rId12"/>
    <p:sldId id="347" r:id="rId13"/>
  </p:sldIdLst>
  <p:sldSz cx="12198350" cy="6858000"/>
  <p:notesSz cx="6858000" cy="9144000"/>
  <p:custDataLst>
    <p:tags r:id="rId17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93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A5500"/>
    <a:srgbClr val="66FF66"/>
    <a:srgbClr val="66FF33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20" d="100"/>
          <a:sy n="120" d="100"/>
        </p:scale>
        <p:origin x="514" y="67"/>
      </p:cViewPr>
      <p:guideLst>
        <p:guide orient="horz" pos="2159"/>
        <p:guide pos="393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gs" Target="tags/tag22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2052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79413" y="685800"/>
            <a:ext cx="609917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Rot="1" noChangeAspect="1"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第二级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第三级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第四级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5588" y="1122363"/>
            <a:ext cx="9148762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5588" y="3602038"/>
            <a:ext cx="9148762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2195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2195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5375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6096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6096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5375" y="1681163"/>
            <a:ext cx="5186363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5375" y="2505075"/>
            <a:ext cx="5186363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>
              <a:sym typeface="Calibri" panose="020F050202020403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9663" y="365125"/>
            <a:ext cx="2630487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9063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直接连接符 7"/>
          <p:cNvSpPr>
            <a:spLocks noChangeShapeType="1"/>
          </p:cNvSpPr>
          <p:nvPr/>
        </p:nvSpPr>
        <p:spPr bwMode="auto">
          <a:xfrm>
            <a:off x="6557963" y="6740525"/>
            <a:ext cx="5637212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7" name="直接连接符 8"/>
          <p:cNvSpPr>
            <a:spLocks noChangeShapeType="1"/>
          </p:cNvSpPr>
          <p:nvPr/>
        </p:nvSpPr>
        <p:spPr bwMode="auto">
          <a:xfrm>
            <a:off x="0" y="6740525"/>
            <a:ext cx="5637213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8" name="TextBox 15"/>
          <p:cNvSpPr>
            <a:spLocks noChangeArrowheads="1"/>
          </p:cNvSpPr>
          <p:nvPr/>
        </p:nvSpPr>
        <p:spPr bwMode="auto">
          <a:xfrm>
            <a:off x="5695950" y="6488113"/>
            <a:ext cx="7921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fld id="{929913C5-467F-4262-8E10-4784E1F23762}" type="slidenum"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</a:fld>
            <a:r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 </a:t>
            </a:r>
            <a:endParaRPr lang="zh-CN" altLang="en-US" b="1" smtClean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1029" name="直接连接符 10"/>
          <p:cNvSpPr>
            <a:spLocks noChangeShapeType="1"/>
          </p:cNvSpPr>
          <p:nvPr/>
        </p:nvSpPr>
        <p:spPr bwMode="auto">
          <a:xfrm>
            <a:off x="0" y="333375"/>
            <a:ext cx="12196763" cy="0"/>
          </a:xfrm>
          <a:prstGeom prst="line">
            <a:avLst/>
          </a:prstGeom>
          <a:noFill/>
          <a:ln w="152400">
            <a:solidFill>
              <a:srgbClr val="C8C8C8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30" name="组合 11"/>
          <p:cNvGrpSpPr/>
          <p:nvPr/>
        </p:nvGrpSpPr>
        <p:grpSpPr bwMode="auto">
          <a:xfrm rot="-5400000">
            <a:off x="10190163" y="-101600"/>
            <a:ext cx="1463675" cy="1666875"/>
            <a:chOff x="0" y="0"/>
            <a:chExt cx="2260994" cy="1512168"/>
          </a:xfrm>
        </p:grpSpPr>
        <p:sp>
          <p:nvSpPr>
            <p:cNvPr id="1031" name="燕尾形 12"/>
            <p:cNvSpPr>
              <a:spLocks noChangeArrowheads="1"/>
            </p:cNvSpPr>
            <p:nvPr/>
          </p:nvSpPr>
          <p:spPr bwMode="auto">
            <a:xfrm>
              <a:off x="4905" y="0"/>
              <a:ext cx="674374" cy="1512168"/>
            </a:xfrm>
            <a:prstGeom prst="chevron">
              <a:avLst>
                <a:gd name="adj" fmla="val 34773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2" name="燕尾形 13"/>
            <p:cNvSpPr>
              <a:spLocks noChangeArrowheads="1"/>
            </p:cNvSpPr>
            <p:nvPr/>
          </p:nvSpPr>
          <p:spPr bwMode="auto">
            <a:xfrm>
              <a:off x="201087" y="0"/>
              <a:ext cx="792083" cy="1512168"/>
            </a:xfrm>
            <a:prstGeom prst="chevron">
              <a:avLst>
                <a:gd name="adj" fmla="val 5000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3" name="五边形 14"/>
            <p:cNvSpPr>
              <a:spLocks noChangeArrowheads="1"/>
            </p:cNvSpPr>
            <p:nvPr/>
          </p:nvSpPr>
          <p:spPr bwMode="auto">
            <a:xfrm>
              <a:off x="340866" y="0"/>
              <a:ext cx="1925034" cy="1512168"/>
            </a:xfrm>
            <a:prstGeom prst="homePlate">
              <a:avLst>
                <a:gd name="adj" fmla="val 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5pPr>
      <a:lvl6pPr marL="13716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6pPr>
      <a:lvl7pPr marL="18288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7pPr>
      <a:lvl8pPr marL="22860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8pPr>
      <a:lvl9pPr marL="27432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5" Type="http://schemas.openxmlformats.org/officeDocument/2006/relationships/notesSlide" Target="../notesSlides/notesSlide2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9.xml"/><Relationship Id="rId1" Type="http://schemas.openxmlformats.org/officeDocument/2006/relationships/tags" Target="../tags/tag18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tags" Target="../tags/tag21.xml"/><Relationship Id="rId1" Type="http://schemas.openxmlformats.org/officeDocument/2006/relationships/tags" Target="../tags/tag20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矩形 1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3075" name="Picture 3" descr="F:\品牌VI\无锡职院\资源库LOGO\2uqt7gw81r.jpg2uqt7gw81r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9225" y="328613"/>
            <a:ext cx="8331200" cy="6027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 descr="0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4367213"/>
            <a:ext cx="12196762" cy="2506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TextBox 7"/>
          <p:cNvSpPr>
            <a:spLocks noChangeArrowheads="1"/>
          </p:cNvSpPr>
          <p:nvPr/>
        </p:nvSpPr>
        <p:spPr bwMode="auto">
          <a:xfrm>
            <a:off x="409575" y="376238"/>
            <a:ext cx="2665413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60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无锡职业技术学院内部资料</a:t>
            </a:r>
            <a:endParaRPr lang="zh-CN" altLang="en-US" sz="160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3078" name="TextBox 15"/>
          <p:cNvSpPr>
            <a:spLocks noChangeArrowheads="1"/>
          </p:cNvSpPr>
          <p:nvPr/>
        </p:nvSpPr>
        <p:spPr bwMode="auto">
          <a:xfrm>
            <a:off x="6819583" y="1403033"/>
            <a:ext cx="4849812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en-US" altLang="zh-CN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JAVA</a:t>
            </a:r>
            <a:r>
              <a:rPr lang="zh-CN" altLang="en-US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程序设计</a:t>
            </a:r>
            <a:endParaRPr lang="zh-CN" altLang="en-US" sz="4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经典繁仿黑" pitchFamily="1" charset="-122"/>
            </a:endParaRPr>
          </a:p>
        </p:txBody>
      </p:sp>
      <p:pic>
        <p:nvPicPr>
          <p:cNvPr id="3079" name="Picture 10" descr="0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9900" y="549275"/>
            <a:ext cx="4941888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 dir="l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2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3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06" name="任意多边形 10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 flipV="1">
            <a:off x="0" y="2590800"/>
            <a:ext cx="12199938" cy="1630363"/>
          </a:xfrm>
          <a:custGeom>
            <a:avLst/>
            <a:gdLst>
              <a:gd name="T0" fmla="*/ 0 w 10521680"/>
              <a:gd name="T1" fmla="*/ 0 h 1828800"/>
              <a:gd name="T2" fmla="*/ 7670639 w 10521680"/>
              <a:gd name="T3" fmla="*/ 0 h 1828800"/>
              <a:gd name="T4" fmla="*/ 8437771 w 10521680"/>
              <a:gd name="T5" fmla="*/ 1295748 h 1828800"/>
              <a:gd name="T6" fmla="*/ 16402222 w 10521680"/>
              <a:gd name="T7" fmla="*/ 1295748 h 1828800"/>
              <a:gd name="T8" fmla="*/ 0 60000 65536"/>
              <a:gd name="T9" fmla="*/ 0 60000 65536"/>
              <a:gd name="T10" fmla="*/ 0 60000 65536"/>
              <a:gd name="T11" fmla="*/ 0 60000 65536"/>
              <a:gd name="T12" fmla="*/ 0 w 10521680"/>
              <a:gd name="T13" fmla="*/ 0 h 1828800"/>
              <a:gd name="T14" fmla="*/ 10521680 w 10521680"/>
              <a:gd name="T15" fmla="*/ 1828800 h 18288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521680" h="1828800">
                <a:moveTo>
                  <a:pt x="0" y="0"/>
                </a:moveTo>
                <a:lnTo>
                  <a:pt x="4920553" y="0"/>
                </a:lnTo>
                <a:lnTo>
                  <a:pt x="5412652" y="1828800"/>
                </a:lnTo>
                <a:lnTo>
                  <a:pt x="10521680" y="1828800"/>
                </a:lnTo>
              </a:path>
            </a:pathLst>
          </a:custGeom>
          <a:noFill/>
          <a:ln w="57150" cap="flat" cmpd="sng">
            <a:solidFill>
              <a:srgbClr val="3B79CE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grpSp>
        <p:nvGrpSpPr>
          <p:cNvPr id="4107" name="组合 11"/>
          <p:cNvGrpSpPr/>
          <p:nvPr>
            <p:custDataLst>
              <p:tags r:id="rId2"/>
            </p:custDataLst>
          </p:nvPr>
        </p:nvGrpSpPr>
        <p:grpSpPr bwMode="auto">
          <a:xfrm>
            <a:off x="1085850" y="3875088"/>
            <a:ext cx="692150" cy="692150"/>
            <a:chOff x="0" y="0"/>
            <a:chExt cx="692150" cy="69215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08" name="TextBox 8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08940" y="3162300"/>
            <a:ext cx="212852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24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</p:txBody>
      </p:sp>
      <p:sp>
        <p:nvSpPr>
          <p:cNvPr id="4109" name="TextBox 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406015" y="3162300"/>
            <a:ext cx="290703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10" name="TextBox 16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8114983" y="2997200"/>
            <a:ext cx="21732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任务实现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4112" name="组合 18"/>
          <p:cNvGrpSpPr/>
          <p:nvPr>
            <p:custDataLst>
              <p:tags r:id="rId8"/>
            </p:custDataLst>
          </p:nvPr>
        </p:nvGrpSpPr>
        <p:grpSpPr bwMode="auto">
          <a:xfrm>
            <a:off x="3452813" y="3875088"/>
            <a:ext cx="692150" cy="692150"/>
            <a:chOff x="0" y="0"/>
            <a:chExt cx="692150" cy="692150"/>
          </a:xfrm>
        </p:grpSpPr>
        <p:sp>
          <p:nvSpPr>
            <p:cNvPr id="4120" name="椭圆 19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1" name="椭圆 20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grpSp>
        <p:nvGrpSpPr>
          <p:cNvPr id="4113" name="组合 21"/>
          <p:cNvGrpSpPr/>
          <p:nvPr>
            <p:custDataLst>
              <p:tags r:id="rId11"/>
            </p:custDataLst>
          </p:nvPr>
        </p:nvGrpSpPr>
        <p:grpSpPr bwMode="auto">
          <a:xfrm>
            <a:off x="9190673" y="2204720"/>
            <a:ext cx="692150" cy="692150"/>
            <a:chOff x="1499235" y="-40005"/>
            <a:chExt cx="692150" cy="692150"/>
          </a:xfrm>
        </p:grpSpPr>
        <p:sp>
          <p:nvSpPr>
            <p:cNvPr id="4118" name="椭圆 22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499235" y="-40005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19" name="椭圆 23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575435" y="32385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15" name="Text Box 2"/>
          <p:cNvSpPr>
            <a:spLocks noChangeArrowheads="1"/>
          </p:cNvSpPr>
          <p:nvPr/>
        </p:nvSpPr>
        <p:spPr bwMode="auto">
          <a:xfrm>
            <a:off x="5378450" y="3070225"/>
            <a:ext cx="1296988" cy="647700"/>
          </a:xfrm>
          <a:prstGeom prst="rect">
            <a:avLst/>
          </a:prstGeom>
          <a:solidFill>
            <a:srgbClr val="3B79C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目录</a:t>
            </a:r>
            <a:endParaRPr lang="zh-CN" altLang="zh-CN"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模块一  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797425" y="3645535"/>
            <a:ext cx="6949440" cy="92202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定义一个整数类型变量score，score的值是从键盘输入的，计算输入的成绩是否及格。</a:t>
            </a:r>
            <a:endParaRPr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-1101090" y="-9906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模块二</a:t>
            </a:r>
            <a:r>
              <a:rPr lang="en-US" altLang="zh-CN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marL="571500" indent="-571500" algn="ctr" eaLnBrk="1" hangingPunct="1">
              <a:buFont typeface="Arial" panose="020B0604020202020204" pitchFamily="34" charset="0"/>
              <a:buChar char="•"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5" name="矩形 2"/>
          <p:cNvSpPr>
            <a:spLocks noChangeArrowheads="1"/>
          </p:cNvSpPr>
          <p:nvPr/>
        </p:nvSpPr>
        <p:spPr bwMode="auto">
          <a:xfrm>
            <a:off x="6605588" y="3605213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从键盘</a:t>
            </a:r>
            <a:r>
              <a:rPr 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获取数据</a:t>
            </a:r>
            <a:endParaRPr 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139" name="矩形 6"/>
          <p:cNvSpPr>
            <a:spLocks noChangeArrowheads="1"/>
          </p:cNvSpPr>
          <p:nvPr/>
        </p:nvSpPr>
        <p:spPr bwMode="auto">
          <a:xfrm>
            <a:off x="6605588" y="4685348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" name="矩形 6"/>
          <p:cNvSpPr>
            <a:spLocks noChangeArrowheads="1"/>
          </p:cNvSpPr>
          <p:nvPr/>
        </p:nvSpPr>
        <p:spPr bwMode="auto">
          <a:xfrm>
            <a:off x="6603048" y="5048568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矩形 2"/>
          <p:cNvSpPr>
            <a:spLocks noChangeArrowheads="1"/>
          </p:cNvSpPr>
          <p:nvPr/>
        </p:nvSpPr>
        <p:spPr bwMode="auto">
          <a:xfrm>
            <a:off x="6605588" y="3946843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三目</a:t>
            </a:r>
            <a:r>
              <a: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运算符</a:t>
            </a:r>
            <a:endParaRPr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5" dur="1000"/>
                                        <p:tgtEl>
                                          <p:spTgt spid="5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2" presetClass="entr" presetSubtype="0" fill="hold" grpId="0" nodeType="withEffect">
                                  <p:stCondLst>
                                    <p:cond delay="60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9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20" dur="1000"/>
                                        <p:tgtEl>
                                          <p:spTgt spid="5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2" presetClass="entr" presetSubtype="0" fill="hold" grpId="0" nodeType="withEffect">
                                  <p:stCondLst>
                                    <p:cond delay="60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2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2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99"/>
                            </p:stCondLst>
                            <p:childTnLst>
                              <p:par>
                                <p:cTn id="27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3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3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5135" grpId="0" bldLvl="0" autoUpdateAnimBg="0"/>
      <p:bldP spid="5139" grpId="0" bldLvl="0" autoUpdateAnimBg="0"/>
      <p:bldP spid="3" grpId="0" bldLvl="0" autoUpdateAnimBg="0"/>
      <p:bldP spid="2" grpId="0" bldLvl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346835" y="1555750"/>
            <a:ext cx="3486785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从键盘获取数据</a:t>
            </a:r>
            <a:endParaRPr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9" name="TextBox 35"/>
          <p:cNvSpPr txBox="1">
            <a:spLocks noChangeArrowheads="1"/>
          </p:cNvSpPr>
          <p:nvPr/>
        </p:nvSpPr>
        <p:spPr bwMode="auto">
          <a:xfrm>
            <a:off x="996315" y="2214245"/>
            <a:ext cx="10404475" cy="4275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1)导入Scanner类：需要在你的Java程序中导入Scanner类。</a:t>
            </a:r>
            <a:endParaRPr 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import Java.util.Scanner;</a:t>
            </a:r>
            <a:endParaRPr 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2)创建Scanner对象：你需要创建一个Scanner对象，并将System.in作为参数传递给它。System.in是标准输入流，它代表键盘输入。</a:t>
            </a:r>
            <a:endParaRPr 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Scanner scanner = new Scanner(System.in);</a:t>
            </a:r>
            <a:endParaRPr 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3)使用Scanner对象获取数据：可以使用Scanner对象的不同方法来获取不同类型的输入。例如，nextInt()用于获取整数，nextLine()用于获取一行文本（字符串）。</a:t>
            </a:r>
            <a:endParaRPr 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int number = scanner.nextInt(); // 读取整数</a:t>
            </a:r>
            <a:endParaRPr 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String text = scanner.nextLine(); // 读取一行文本  </a:t>
            </a:r>
            <a:endParaRPr 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346835" y="1555750"/>
            <a:ext cx="3486785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三目运算符</a:t>
            </a:r>
            <a:endParaRPr lang="zh-CN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9" name="TextBox 35"/>
          <p:cNvSpPr txBox="1">
            <a:spLocks noChangeArrowheads="1"/>
          </p:cNvSpPr>
          <p:nvPr/>
        </p:nvSpPr>
        <p:spPr bwMode="auto">
          <a:xfrm>
            <a:off x="996315" y="2214245"/>
            <a:ext cx="10404475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三目运算符也被成为条件运算符。该运算符有3个操作数，并且需要判断布尔表达式的值。该运算符主要决定哪个值应该赋值给变量。</a:t>
            </a:r>
            <a:endParaRPr 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布尔表达式?表达式1:表达式2</a:t>
            </a:r>
            <a:endParaRPr 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条件表达式的结果由布尔表达式决定，如果布尔表达式的值为true，则返回表达式1的值，否则返回表达式2的值。</a:t>
            </a:r>
            <a:endParaRPr 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1" name="文本框 17"/>
          <p:cNvSpPr>
            <a:spLocks noChangeArrowheads="1"/>
          </p:cNvSpPr>
          <p:nvPr/>
        </p:nvSpPr>
        <p:spPr bwMode="auto">
          <a:xfrm>
            <a:off x="0" y="344488"/>
            <a:ext cx="1201738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zh-CN" altLang="zh-CN" sz="2200">
                <a:solidFill>
                  <a:srgbClr val="FFFFFF"/>
                </a:solidFill>
                <a:ea typeface="微软雅黑" panose="020B0503020204020204" pitchFamily="34" charset="-122"/>
              </a:rPr>
              <a:t>过渡页</a:t>
            </a:r>
            <a:endParaRPr lang="zh-CN" altLang="zh-CN" sz="2200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11750" cy="720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模块三  任务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实现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797425" y="3645535"/>
            <a:ext cx="6949440" cy="92202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定义一个整数类型变量score，score的值是从键盘输入的，计算输入的成绩是否及格。</a:t>
            </a:r>
            <a:endParaRPr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</a:rPr>
              <a:t>代码</a:t>
            </a:r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</a:rPr>
              <a:t>实现</a:t>
            </a:r>
            <a:endParaRPr lang="zh-CN" altLang="en-US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6835" y="2403475"/>
            <a:ext cx="9647555" cy="31692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1  import Java.util.Scanner;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2  public class Example14 {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3	public static void main(String[] args) {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4		Scanner scanner=new Scanner(System.in);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5		System.out.println("请输入成绩：");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6		int score=scanner.nextInt();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7		String result=score&gt;=60?"合格":"不合格";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8		System.out.println("您输入的成绩"+result);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9	 }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10  }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运行结果</a:t>
            </a:r>
            <a:endParaRPr lang="zh-CN" altLang="en-US" sz="2600" b="1">
              <a:solidFill>
                <a:schemeClr val="accent1">
                  <a:lumMod val="75000"/>
                </a:schemeClr>
              </a:solidFill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pic>
        <p:nvPicPr>
          <p:cNvPr id="41" name="图片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0930" y="2924810"/>
            <a:ext cx="4622800" cy="20529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40" name="图片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8275" y="2912745"/>
            <a:ext cx="4530090" cy="20681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矩形 1"/>
          <p:cNvSpPr>
            <a:spLocks noChangeArrowheads="1"/>
          </p:cNvSpPr>
          <p:nvPr/>
        </p:nvSpPr>
        <p:spPr bwMode="auto">
          <a:xfrm>
            <a:off x="0" y="0"/>
            <a:ext cx="1219835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7171" name="Picture 4" descr="0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05038"/>
            <a:ext cx="12198350" cy="229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8" descr="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7938" y="4797425"/>
            <a:ext cx="1679575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3" name="文本框 1"/>
          <p:cNvSpPr txBox="1">
            <a:spLocks noChangeArrowheads="1"/>
          </p:cNvSpPr>
          <p:nvPr/>
        </p:nvSpPr>
        <p:spPr bwMode="auto">
          <a:xfrm>
            <a:off x="4732338" y="3016250"/>
            <a:ext cx="223678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感谢关注</a:t>
            </a:r>
            <a:endParaRPr lang="zh-CN" altLang="en-US" sz="4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</p:sld>
</file>

<file path=ppt/tags/tag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4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5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6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7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8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9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0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1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8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2.xml><?xml version="1.0" encoding="utf-8"?>
<p:tagLst xmlns:p="http://schemas.openxmlformats.org/presentationml/2006/main">
  <p:tag name="COMMONDATA" val="eyJoZGlkIjoiZjNjMmJiYWQ1NjYxMzU5Y2Q4YWViZjliZTZhYjA5ODEifQ=="/>
  <p:tag name="commondata" val="eyJoZGlkIjoiMDNkY2NkMDM0NDA1YWViZGM2YTRhMjRjYmMxZWU1ODgifQ=="/>
</p:tagLst>
</file>

<file path=ppt/theme/theme1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998</Words>
  <Application>WPS 演示</Application>
  <PresentationFormat>自定义</PresentationFormat>
  <Paragraphs>97</Paragraphs>
  <Slides>10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6" baseType="lpstr">
      <vt:lpstr>Arial</vt:lpstr>
      <vt:lpstr>宋体</vt:lpstr>
      <vt:lpstr>Wingdings</vt:lpstr>
      <vt:lpstr>Arial Unicode MS</vt:lpstr>
      <vt:lpstr>Calibri</vt:lpstr>
      <vt:lpstr>微软雅黑</vt:lpstr>
      <vt:lpstr>经典繁仿黑</vt:lpstr>
      <vt:lpstr>Impact</vt:lpstr>
      <vt:lpstr>专业字体设计服务/WWW.ZTSGC.COM/</vt:lpstr>
      <vt:lpstr>华康俪金黑W8(P)</vt:lpstr>
      <vt:lpstr>Times New Roman</vt:lpstr>
      <vt:lpstr>Times New Roman</vt:lpstr>
      <vt:lpstr>Arial Unicode MS</vt:lpstr>
      <vt:lpstr>等线</vt:lpstr>
      <vt:lpstr>黑体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吴静</cp:lastModifiedBy>
  <cp:revision>508</cp:revision>
  <dcterms:created xsi:type="dcterms:W3CDTF">2015-03-26T06:11:00Z</dcterms:created>
  <dcterms:modified xsi:type="dcterms:W3CDTF">2024-10-16T08:09:35Z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2052-12.1.0.18276</vt:lpwstr>
  </property>
  <property fmtid="{D5CDD505-2E9C-101B-9397-08002B2CF9AE}" pid="3" name="ICV">
    <vt:lpwstr>8BFB026DC2CC4472B56A7EF3DE1F3331_13</vt:lpwstr>
  </property>
</Properties>
</file>