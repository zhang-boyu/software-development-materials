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5"/>
  </p:notesMasterIdLst>
  <p:sldIdLst>
    <p:sldId id="256" r:id="rId2"/>
    <p:sldId id="361" r:id="rId3"/>
    <p:sldId id="375" r:id="rId4"/>
    <p:sldId id="376" r:id="rId5"/>
    <p:sldId id="378" r:id="rId6"/>
    <p:sldId id="377" r:id="rId7"/>
    <p:sldId id="389" r:id="rId8"/>
    <p:sldId id="362" r:id="rId9"/>
    <p:sldId id="380" r:id="rId10"/>
    <p:sldId id="381" r:id="rId11"/>
    <p:sldId id="382" r:id="rId12"/>
    <p:sldId id="363" r:id="rId13"/>
    <p:sldId id="379" r:id="rId14"/>
    <p:sldId id="384" r:id="rId15"/>
    <p:sldId id="364" r:id="rId16"/>
    <p:sldId id="365" r:id="rId17"/>
    <p:sldId id="366" r:id="rId18"/>
    <p:sldId id="367" r:id="rId19"/>
    <p:sldId id="386" r:id="rId20"/>
    <p:sldId id="368" r:id="rId21"/>
    <p:sldId id="373" r:id="rId22"/>
    <p:sldId id="374" r:id="rId23"/>
    <p:sldId id="369" r:id="rId24"/>
    <p:sldId id="370" r:id="rId25"/>
    <p:sldId id="383" r:id="rId26"/>
    <p:sldId id="387" r:id="rId27"/>
    <p:sldId id="388" r:id="rId28"/>
    <p:sldId id="390" r:id="rId29"/>
    <p:sldId id="371" r:id="rId30"/>
    <p:sldId id="372" r:id="rId31"/>
    <p:sldId id="391" r:id="rId32"/>
    <p:sldId id="385" r:id="rId33"/>
    <p:sldId id="299" r:id="rId34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6">
          <p15:clr>
            <a:srgbClr val="A4A3A4"/>
          </p15:clr>
        </p15:guide>
        <p15:guide id="2" orient="horz" pos="346">
          <p15:clr>
            <a:srgbClr val="A4A3A4"/>
          </p15:clr>
        </p15:guide>
        <p15:guide id="3" orient="horz" pos="3702">
          <p15:clr>
            <a:srgbClr val="A4A3A4"/>
          </p15:clr>
        </p15:guide>
        <p15:guide id="4" orient="horz" pos="572">
          <p15:clr>
            <a:srgbClr val="A4A3A4"/>
          </p15:clr>
        </p15:guide>
        <p15:guide id="5" pos="2880">
          <p15:clr>
            <a:srgbClr val="A4A3A4"/>
          </p15:clr>
        </p15:guide>
        <p15:guide id="6" pos="272">
          <p15:clr>
            <a:srgbClr val="A4A3A4"/>
          </p15:clr>
        </p15:guide>
        <p15:guide id="7" pos="5488">
          <p15:clr>
            <a:srgbClr val="A4A3A4"/>
          </p15:clr>
        </p15:guide>
        <p15:guide id="8" pos="3833">
          <p15:clr>
            <a:srgbClr val="A4A3A4"/>
          </p15:clr>
        </p15:guide>
        <p15:guide id="9" pos="4180">
          <p15:clr>
            <a:srgbClr val="A4A3A4"/>
          </p15:clr>
        </p15:guide>
        <p15:guide id="10" pos="154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  <a:srgbClr val="02802F"/>
    <a:srgbClr val="FFFFFF"/>
    <a:srgbClr val="B1D3EC"/>
    <a:srgbClr val="0D0D0D"/>
    <a:srgbClr val="3A383B"/>
    <a:srgbClr val="07ABB5"/>
    <a:srgbClr val="3836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69" autoAdjust="0"/>
    <p:restoredTop sz="94660"/>
  </p:normalViewPr>
  <p:slideViewPr>
    <p:cSldViewPr snapToGrid="0" showGuides="1">
      <p:cViewPr varScale="1">
        <p:scale>
          <a:sx n="60" d="100"/>
          <a:sy n="60" d="100"/>
        </p:scale>
        <p:origin x="1460" y="36"/>
      </p:cViewPr>
      <p:guideLst>
        <p:guide orient="horz" pos="2146"/>
        <p:guide orient="horz" pos="346"/>
        <p:guide orient="horz" pos="3702"/>
        <p:guide orient="horz" pos="572"/>
        <p:guide pos="2880"/>
        <p:guide pos="272"/>
        <p:guide pos="5488"/>
        <p:guide pos="3833"/>
        <p:guide pos="4180"/>
        <p:guide pos="154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2018/7/20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9267033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2355289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4067137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1794433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082998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9230921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680591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1070865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8954598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564501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9538444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6388913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731739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8895745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4404653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8740951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3217571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8545650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9165525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7975581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42579411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69613710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19050513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90786609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09894689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50814076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66706881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83817267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1192838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17333392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8305243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 smtClean="0"/>
              <a:t>单击此处编辑母版副标题样式</a:t>
            </a:r>
            <a:endParaRPr 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CD871C-C23A-432E-873E-C530F1019FA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日期占位符 1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页脚占位符 2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155751C-E6EA-4D38-9B67-2E7BFD8C4C15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日期占位符 1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页脚占位符 2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2D88907-6C4F-4C89-B6CA-A82B149232DC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en-US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CD871C-C23A-432E-873E-C530F1019FA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en-US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CD871C-C23A-432E-873E-C530F1019FA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CD871C-C23A-432E-873E-C530F1019FA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CD871C-C23A-432E-873E-C530F1019FA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en-US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CD871C-C23A-432E-873E-C530F1019FA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CD871C-C23A-432E-873E-C530F1019FA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CD871C-C23A-432E-873E-C530F1019FA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CD871C-C23A-432E-873E-C530F1019FA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buFontTx/>
              <a:buNone/>
              <a:defRPr sz="1200" smtClean="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CD871C-C23A-432E-873E-C530F1019FA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nblogs.com/staven/p/4818459.html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0" y="2349500"/>
            <a:ext cx="9144000" cy="2159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2890838" y="3429000"/>
            <a:ext cx="625316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8" y="2514600"/>
            <a:ext cx="1828800" cy="1828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" name="文本框 15"/>
          <p:cNvSpPr txBox="1"/>
          <p:nvPr/>
        </p:nvSpPr>
        <p:spPr>
          <a:xfrm>
            <a:off x="2690037" y="2720975"/>
            <a:ext cx="6258701" cy="12003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en-US" altLang="zh-CN" sz="3200" dirty="0" smtClean="0">
                <a:solidFill>
                  <a:schemeClr val="bg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HTML5+CSS3</a:t>
            </a:r>
            <a:r>
              <a:rPr lang="zh-CN" altLang="en-US" sz="3200" dirty="0">
                <a:solidFill>
                  <a:schemeClr val="bg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网页设计任务教程</a:t>
            </a:r>
          </a:p>
          <a:p>
            <a:pPr algn="r" eaLnBrk="1" hangingPunct="1"/>
            <a:endParaRPr lang="zh-CN" altLang="en-US" sz="4000" dirty="0">
              <a:solidFill>
                <a:schemeClr val="bg1"/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  <a:sym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404482" y="3555036"/>
            <a:ext cx="545854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hangingPunct="1"/>
            <a:r>
              <a:rPr lang="zh-CN" altLang="en-US" sz="3200" dirty="0">
                <a:solidFill>
                  <a:schemeClr val="bg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单元</a:t>
            </a:r>
            <a:r>
              <a:rPr lang="en-US" altLang="zh-CN" sz="3200" dirty="0">
                <a:solidFill>
                  <a:schemeClr val="bg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3 </a:t>
            </a:r>
            <a:r>
              <a:rPr lang="zh-CN" altLang="en-US" sz="3200" dirty="0">
                <a:solidFill>
                  <a:schemeClr val="bg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层叠样式表</a:t>
            </a:r>
            <a:r>
              <a:rPr lang="en-US" altLang="zh-CN" sz="3200" dirty="0">
                <a:solidFill>
                  <a:schemeClr val="bg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CSS</a:t>
            </a:r>
            <a:r>
              <a:rPr lang="zh-CN" altLang="en-US" sz="3200" dirty="0">
                <a:solidFill>
                  <a:schemeClr val="bg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的使用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46"/>
          <p:cNvGrpSpPr>
            <a:grpSpLocks/>
          </p:cNvGrpSpPr>
          <p:nvPr/>
        </p:nvGrpSpPr>
        <p:grpSpPr bwMode="auto">
          <a:xfrm>
            <a:off x="0" y="284163"/>
            <a:ext cx="1692275" cy="530225"/>
            <a:chOff x="0" y="284389"/>
            <a:chExt cx="1692275" cy="529772"/>
          </a:xfrm>
        </p:grpSpPr>
        <p:sp>
          <p:nvSpPr>
            <p:cNvPr id="40" name="矩形 39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目录</a:t>
              </a:r>
            </a:p>
          </p:txBody>
        </p:sp>
        <p:sp>
          <p:nvSpPr>
            <p:cNvPr id="41" name="矩形 40"/>
            <p:cNvSpPr/>
            <p:nvPr/>
          </p:nvSpPr>
          <p:spPr>
            <a:xfrm>
              <a:off x="1577975" y="284389"/>
              <a:ext cx="114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42" name="矩形 41"/>
          <p:cNvSpPr/>
          <p:nvPr/>
        </p:nvSpPr>
        <p:spPr>
          <a:xfrm>
            <a:off x="8720138" y="6043613"/>
            <a:ext cx="423862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0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43" name="直接连接符 42"/>
          <p:cNvCxnSpPr/>
          <p:nvPr/>
        </p:nvCxnSpPr>
        <p:spPr>
          <a:xfrm>
            <a:off x="2837588" y="1735138"/>
            <a:ext cx="0" cy="3387725"/>
          </a:xfrm>
          <a:prstGeom prst="line">
            <a:avLst/>
          </a:prstGeom>
          <a:ln>
            <a:solidFill>
              <a:srgbClr val="0174AB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/>
          <p:cNvSpPr txBox="1"/>
          <p:nvPr/>
        </p:nvSpPr>
        <p:spPr>
          <a:xfrm>
            <a:off x="3127626" y="358507"/>
            <a:ext cx="61550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en-US" altLang="zh-CN" sz="20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3-1 </a:t>
            </a:r>
            <a:r>
              <a:rPr lang="zh-CN" altLang="en-US" sz="20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</a:t>
            </a:r>
            <a:r>
              <a:rPr lang="en-US" altLang="zh-CN" sz="20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body</a:t>
            </a:r>
            <a:r>
              <a:rPr lang="zh-CN" altLang="en-US" sz="20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样式</a:t>
            </a:r>
            <a:endParaRPr lang="zh-HK" altLang="en-US" sz="2000" b="1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3127625" y="950370"/>
            <a:ext cx="58887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en-US" altLang="zh-CN" sz="2000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3-2 </a:t>
            </a:r>
            <a:r>
              <a:rPr lang="zh-CN" altLang="en-US" sz="2000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详细设置不同段落内样式</a:t>
            </a:r>
            <a:endParaRPr lang="zh-HK" altLang="en-US" sz="2000" b="1" spc="3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6" name="组合 18"/>
          <p:cNvGrpSpPr>
            <a:grpSpLocks/>
          </p:cNvGrpSpPr>
          <p:nvPr/>
        </p:nvGrpSpPr>
        <p:grpSpPr bwMode="auto">
          <a:xfrm>
            <a:off x="692735" y="2450037"/>
            <a:ext cx="1411944" cy="1407337"/>
            <a:chOff x="1709739" y="2636838"/>
            <a:chExt cx="1590160" cy="1584325"/>
          </a:xfrm>
        </p:grpSpPr>
        <p:sp>
          <p:nvSpPr>
            <p:cNvPr id="47" name="Freeform 6"/>
            <p:cNvSpPr>
              <a:spLocks/>
            </p:cNvSpPr>
            <p:nvPr/>
          </p:nvSpPr>
          <p:spPr bwMode="auto">
            <a:xfrm>
              <a:off x="1709739" y="2636838"/>
              <a:ext cx="1468102" cy="1467130"/>
            </a:xfrm>
            <a:custGeom>
              <a:avLst/>
              <a:gdLst>
                <a:gd name="T0" fmla="*/ 2147483646 w 1276"/>
                <a:gd name="T1" fmla="*/ 2147483646 h 1274"/>
                <a:gd name="T2" fmla="*/ 2147483646 w 1276"/>
                <a:gd name="T3" fmla="*/ 2147483646 h 1274"/>
                <a:gd name="T4" fmla="*/ 2147483646 w 1276"/>
                <a:gd name="T5" fmla="*/ 2147483646 h 1274"/>
                <a:gd name="T6" fmla="*/ 2147483646 w 1276"/>
                <a:gd name="T7" fmla="*/ 2147483646 h 1274"/>
                <a:gd name="T8" fmla="*/ 2147483646 w 1276"/>
                <a:gd name="T9" fmla="*/ 2147483646 h 1274"/>
                <a:gd name="T10" fmla="*/ 2147483646 w 1276"/>
                <a:gd name="T11" fmla="*/ 2147483646 h 1274"/>
                <a:gd name="T12" fmla="*/ 2147483646 w 1276"/>
                <a:gd name="T13" fmla="*/ 2147483646 h 1274"/>
                <a:gd name="T14" fmla="*/ 0 w 1276"/>
                <a:gd name="T15" fmla="*/ 2147483646 h 1274"/>
                <a:gd name="T16" fmla="*/ 0 w 1276"/>
                <a:gd name="T17" fmla="*/ 2147483646 h 1274"/>
                <a:gd name="T18" fmla="*/ 2147483646 w 1276"/>
                <a:gd name="T19" fmla="*/ 0 h 1274"/>
                <a:gd name="T20" fmla="*/ 2147483646 w 1276"/>
                <a:gd name="T21" fmla="*/ 0 h 1274"/>
                <a:gd name="T22" fmla="*/ 2147483646 w 1276"/>
                <a:gd name="T23" fmla="*/ 2147483646 h 1274"/>
                <a:gd name="T24" fmla="*/ 2147483646 w 1276"/>
                <a:gd name="T25" fmla="*/ 2147483646 h 1274"/>
                <a:gd name="T26" fmla="*/ 2147483646 w 1276"/>
                <a:gd name="T27" fmla="*/ 2147483646 h 1274"/>
                <a:gd name="T28" fmla="*/ 2147483646 w 1276"/>
                <a:gd name="T29" fmla="*/ 2147483646 h 1274"/>
                <a:gd name="T30" fmla="*/ 2147483646 w 1276"/>
                <a:gd name="T31" fmla="*/ 2147483646 h 1274"/>
                <a:gd name="T32" fmla="*/ 2147483646 w 1276"/>
                <a:gd name="T33" fmla="*/ 2147483646 h 1274"/>
                <a:gd name="T34" fmla="*/ 2147483646 w 1276"/>
                <a:gd name="T35" fmla="*/ 2147483646 h 1274"/>
                <a:gd name="T36" fmla="*/ 2147483646 w 1276"/>
                <a:gd name="T37" fmla="*/ 2147483646 h 1274"/>
                <a:gd name="T38" fmla="*/ 2147483646 w 1276"/>
                <a:gd name="T39" fmla="*/ 2147483646 h 1274"/>
                <a:gd name="T40" fmla="*/ 2147483646 w 1276"/>
                <a:gd name="T41" fmla="*/ 2147483646 h 1274"/>
                <a:gd name="T42" fmla="*/ 2147483646 w 1276"/>
                <a:gd name="T43" fmla="*/ 2147483646 h 1274"/>
                <a:gd name="T44" fmla="*/ 2147483646 w 1276"/>
                <a:gd name="T45" fmla="*/ 2147483646 h 127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1276"/>
                <a:gd name="T70" fmla="*/ 0 h 1274"/>
                <a:gd name="T71" fmla="*/ 1276 w 1276"/>
                <a:gd name="T72" fmla="*/ 1274 h 1274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1276" h="1274">
                  <a:moveTo>
                    <a:pt x="691" y="1168"/>
                  </a:moveTo>
                  <a:cubicBezTo>
                    <a:pt x="681" y="1203"/>
                    <a:pt x="672" y="1235"/>
                    <a:pt x="662" y="1267"/>
                  </a:cubicBezTo>
                  <a:cubicBezTo>
                    <a:pt x="661" y="1270"/>
                    <a:pt x="657" y="1272"/>
                    <a:pt x="654" y="1273"/>
                  </a:cubicBezTo>
                  <a:cubicBezTo>
                    <a:pt x="651" y="1274"/>
                    <a:pt x="647" y="1274"/>
                    <a:pt x="643" y="1274"/>
                  </a:cubicBezTo>
                  <a:cubicBezTo>
                    <a:pt x="486" y="1274"/>
                    <a:pt x="329" y="1273"/>
                    <a:pt x="172" y="1274"/>
                  </a:cubicBezTo>
                  <a:cubicBezTo>
                    <a:pt x="140" y="1274"/>
                    <a:pt x="109" y="1269"/>
                    <a:pt x="81" y="1253"/>
                  </a:cubicBezTo>
                  <a:cubicBezTo>
                    <a:pt x="29" y="1221"/>
                    <a:pt x="1" y="1174"/>
                    <a:pt x="1" y="1113"/>
                  </a:cubicBezTo>
                  <a:cubicBezTo>
                    <a:pt x="0" y="1039"/>
                    <a:pt x="0" y="966"/>
                    <a:pt x="0" y="892"/>
                  </a:cubicBezTo>
                  <a:cubicBezTo>
                    <a:pt x="0" y="651"/>
                    <a:pt x="0" y="411"/>
                    <a:pt x="0" y="170"/>
                  </a:cubicBezTo>
                  <a:cubicBezTo>
                    <a:pt x="0" y="68"/>
                    <a:pt x="68" y="0"/>
                    <a:pt x="170" y="0"/>
                  </a:cubicBezTo>
                  <a:cubicBezTo>
                    <a:pt x="483" y="0"/>
                    <a:pt x="797" y="0"/>
                    <a:pt x="1110" y="0"/>
                  </a:cubicBezTo>
                  <a:cubicBezTo>
                    <a:pt x="1194" y="0"/>
                    <a:pt x="1258" y="51"/>
                    <a:pt x="1273" y="131"/>
                  </a:cubicBezTo>
                  <a:cubicBezTo>
                    <a:pt x="1276" y="143"/>
                    <a:pt x="1276" y="156"/>
                    <a:pt x="1276" y="168"/>
                  </a:cubicBezTo>
                  <a:cubicBezTo>
                    <a:pt x="1276" y="322"/>
                    <a:pt x="1276" y="475"/>
                    <a:pt x="1276" y="629"/>
                  </a:cubicBezTo>
                  <a:cubicBezTo>
                    <a:pt x="1276" y="634"/>
                    <a:pt x="1276" y="638"/>
                    <a:pt x="1275" y="645"/>
                  </a:cubicBezTo>
                  <a:cubicBezTo>
                    <a:pt x="1239" y="640"/>
                    <a:pt x="1205" y="643"/>
                    <a:pt x="1171" y="659"/>
                  </a:cubicBezTo>
                  <a:cubicBezTo>
                    <a:pt x="1171" y="509"/>
                    <a:pt x="1171" y="362"/>
                    <a:pt x="1171" y="214"/>
                  </a:cubicBezTo>
                  <a:cubicBezTo>
                    <a:pt x="816" y="214"/>
                    <a:pt x="462" y="214"/>
                    <a:pt x="106" y="214"/>
                  </a:cubicBezTo>
                  <a:cubicBezTo>
                    <a:pt x="106" y="219"/>
                    <a:pt x="106" y="224"/>
                    <a:pt x="106" y="230"/>
                  </a:cubicBezTo>
                  <a:cubicBezTo>
                    <a:pt x="106" y="521"/>
                    <a:pt x="106" y="812"/>
                    <a:pt x="105" y="1102"/>
                  </a:cubicBezTo>
                  <a:cubicBezTo>
                    <a:pt x="105" y="1141"/>
                    <a:pt x="125" y="1169"/>
                    <a:pt x="171" y="1168"/>
                  </a:cubicBezTo>
                  <a:cubicBezTo>
                    <a:pt x="338" y="1167"/>
                    <a:pt x="504" y="1168"/>
                    <a:pt x="671" y="1168"/>
                  </a:cubicBezTo>
                  <a:cubicBezTo>
                    <a:pt x="677" y="1168"/>
                    <a:pt x="683" y="1168"/>
                    <a:pt x="691" y="1168"/>
                  </a:cubicBezTo>
                  <a:close/>
                </a:path>
              </a:pathLst>
            </a:custGeom>
            <a:solidFill>
              <a:srgbClr val="0174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Freeform 7"/>
            <p:cNvSpPr>
              <a:spLocks noEditPoints="1"/>
            </p:cNvSpPr>
            <p:nvPr/>
          </p:nvSpPr>
          <p:spPr bwMode="auto">
            <a:xfrm>
              <a:off x="2571440" y="3653665"/>
              <a:ext cx="569443" cy="567498"/>
            </a:xfrm>
            <a:custGeom>
              <a:avLst/>
              <a:gdLst>
                <a:gd name="T0" fmla="*/ 2147483646 w 495"/>
                <a:gd name="T1" fmla="*/ 2147483646 h 493"/>
                <a:gd name="T2" fmla="*/ 2147483646 w 495"/>
                <a:gd name="T3" fmla="*/ 2147483646 h 493"/>
                <a:gd name="T4" fmla="*/ 2147483646 w 495"/>
                <a:gd name="T5" fmla="*/ 2147483646 h 493"/>
                <a:gd name="T6" fmla="*/ 2147483646 w 495"/>
                <a:gd name="T7" fmla="*/ 2147483646 h 493"/>
                <a:gd name="T8" fmla="*/ 2147483646 w 495"/>
                <a:gd name="T9" fmla="*/ 2147483646 h 493"/>
                <a:gd name="T10" fmla="*/ 2147483646 w 495"/>
                <a:gd name="T11" fmla="*/ 2147483646 h 493"/>
                <a:gd name="T12" fmla="*/ 2147483646 w 495"/>
                <a:gd name="T13" fmla="*/ 2147483646 h 493"/>
                <a:gd name="T14" fmla="*/ 2147483646 w 495"/>
                <a:gd name="T15" fmla="*/ 2147483646 h 493"/>
                <a:gd name="T16" fmla="*/ 2147483646 w 495"/>
                <a:gd name="T17" fmla="*/ 2147483646 h 493"/>
                <a:gd name="T18" fmla="*/ 2147483646 w 495"/>
                <a:gd name="T19" fmla="*/ 2147483646 h 493"/>
                <a:gd name="T20" fmla="*/ 2147483646 w 495"/>
                <a:gd name="T21" fmla="*/ 2147483646 h 493"/>
                <a:gd name="T22" fmla="*/ 2147483646 w 495"/>
                <a:gd name="T23" fmla="*/ 2147483646 h 493"/>
                <a:gd name="T24" fmla="*/ 2147483646 w 495"/>
                <a:gd name="T25" fmla="*/ 2147483646 h 493"/>
                <a:gd name="T26" fmla="*/ 2147483646 w 495"/>
                <a:gd name="T27" fmla="*/ 2147483646 h 493"/>
                <a:gd name="T28" fmla="*/ 2147483646 w 495"/>
                <a:gd name="T29" fmla="*/ 2147483646 h 493"/>
                <a:gd name="T30" fmla="*/ 2147483646 w 495"/>
                <a:gd name="T31" fmla="*/ 2147483646 h 493"/>
                <a:gd name="T32" fmla="*/ 2147483646 w 495"/>
                <a:gd name="T33" fmla="*/ 2147483646 h 493"/>
                <a:gd name="T34" fmla="*/ 2147483646 w 495"/>
                <a:gd name="T35" fmla="*/ 2147483646 h 493"/>
                <a:gd name="T36" fmla="*/ 2147483646 w 495"/>
                <a:gd name="T37" fmla="*/ 2147483646 h 493"/>
                <a:gd name="T38" fmla="*/ 2147483646 w 495"/>
                <a:gd name="T39" fmla="*/ 2147483646 h 493"/>
                <a:gd name="T40" fmla="*/ 2147483646 w 495"/>
                <a:gd name="T41" fmla="*/ 2147483646 h 49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495"/>
                <a:gd name="T64" fmla="*/ 0 h 493"/>
                <a:gd name="T65" fmla="*/ 495 w 495"/>
                <a:gd name="T66" fmla="*/ 493 h 493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495" h="493">
                  <a:moveTo>
                    <a:pt x="328" y="1"/>
                  </a:moveTo>
                  <a:cubicBezTo>
                    <a:pt x="384" y="56"/>
                    <a:pt x="439" y="112"/>
                    <a:pt x="495" y="167"/>
                  </a:cubicBezTo>
                  <a:cubicBezTo>
                    <a:pt x="473" y="190"/>
                    <a:pt x="450" y="213"/>
                    <a:pt x="427" y="236"/>
                  </a:cubicBezTo>
                  <a:cubicBezTo>
                    <a:pt x="365" y="298"/>
                    <a:pt x="303" y="360"/>
                    <a:pt x="240" y="421"/>
                  </a:cubicBezTo>
                  <a:cubicBezTo>
                    <a:pt x="233" y="428"/>
                    <a:pt x="225" y="433"/>
                    <a:pt x="216" y="436"/>
                  </a:cubicBezTo>
                  <a:cubicBezTo>
                    <a:pt x="157" y="454"/>
                    <a:pt x="98" y="471"/>
                    <a:pt x="40" y="488"/>
                  </a:cubicBezTo>
                  <a:cubicBezTo>
                    <a:pt x="28" y="492"/>
                    <a:pt x="18" y="493"/>
                    <a:pt x="9" y="484"/>
                  </a:cubicBezTo>
                  <a:cubicBezTo>
                    <a:pt x="0" y="475"/>
                    <a:pt x="3" y="464"/>
                    <a:pt x="6" y="454"/>
                  </a:cubicBezTo>
                  <a:cubicBezTo>
                    <a:pt x="23" y="395"/>
                    <a:pt x="40" y="335"/>
                    <a:pt x="58" y="276"/>
                  </a:cubicBezTo>
                  <a:cubicBezTo>
                    <a:pt x="60" y="270"/>
                    <a:pt x="63" y="264"/>
                    <a:pt x="67" y="259"/>
                  </a:cubicBezTo>
                  <a:cubicBezTo>
                    <a:pt x="154" y="173"/>
                    <a:pt x="240" y="87"/>
                    <a:pt x="327" y="1"/>
                  </a:cubicBezTo>
                  <a:cubicBezTo>
                    <a:pt x="328" y="1"/>
                    <a:pt x="329" y="0"/>
                    <a:pt x="328" y="1"/>
                  </a:cubicBezTo>
                  <a:close/>
                  <a:moveTo>
                    <a:pt x="102" y="292"/>
                  </a:moveTo>
                  <a:cubicBezTo>
                    <a:pt x="91" y="327"/>
                    <a:pt x="81" y="362"/>
                    <a:pt x="72" y="396"/>
                  </a:cubicBezTo>
                  <a:cubicBezTo>
                    <a:pt x="71" y="399"/>
                    <a:pt x="72" y="403"/>
                    <a:pt x="74" y="405"/>
                  </a:cubicBezTo>
                  <a:cubicBezTo>
                    <a:pt x="87" y="423"/>
                    <a:pt x="92" y="425"/>
                    <a:pt x="113" y="418"/>
                  </a:cubicBezTo>
                  <a:cubicBezTo>
                    <a:pt x="125" y="415"/>
                    <a:pt x="136" y="411"/>
                    <a:pt x="148" y="408"/>
                  </a:cubicBezTo>
                  <a:cubicBezTo>
                    <a:pt x="165" y="403"/>
                    <a:pt x="182" y="398"/>
                    <a:pt x="200" y="393"/>
                  </a:cubicBezTo>
                  <a:cubicBezTo>
                    <a:pt x="195" y="365"/>
                    <a:pt x="190" y="341"/>
                    <a:pt x="185" y="316"/>
                  </a:cubicBezTo>
                  <a:cubicBezTo>
                    <a:pt x="185" y="313"/>
                    <a:pt x="181" y="309"/>
                    <a:pt x="178" y="308"/>
                  </a:cubicBezTo>
                  <a:cubicBezTo>
                    <a:pt x="153" y="302"/>
                    <a:pt x="128" y="297"/>
                    <a:pt x="102" y="292"/>
                  </a:cubicBezTo>
                  <a:close/>
                </a:path>
              </a:pathLst>
            </a:custGeom>
            <a:solidFill>
              <a:srgbClr val="0174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Freeform 8"/>
            <p:cNvSpPr>
              <a:spLocks/>
            </p:cNvSpPr>
            <p:nvPr/>
          </p:nvSpPr>
          <p:spPr bwMode="auto">
            <a:xfrm>
              <a:off x="2262162" y="3371619"/>
              <a:ext cx="608346" cy="119627"/>
            </a:xfrm>
            <a:custGeom>
              <a:avLst/>
              <a:gdLst>
                <a:gd name="T0" fmla="*/ 0 w 529"/>
                <a:gd name="T1" fmla="*/ 2147483646 h 104"/>
                <a:gd name="T2" fmla="*/ 0 w 529"/>
                <a:gd name="T3" fmla="*/ 0 h 104"/>
                <a:gd name="T4" fmla="*/ 2147483646 w 529"/>
                <a:gd name="T5" fmla="*/ 0 h 104"/>
                <a:gd name="T6" fmla="*/ 2147483646 w 529"/>
                <a:gd name="T7" fmla="*/ 2147483646 h 104"/>
                <a:gd name="T8" fmla="*/ 0 w 529"/>
                <a:gd name="T9" fmla="*/ 2147483646 h 1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29"/>
                <a:gd name="T16" fmla="*/ 0 h 104"/>
                <a:gd name="T17" fmla="*/ 529 w 529"/>
                <a:gd name="T18" fmla="*/ 104 h 10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29" h="104">
                  <a:moveTo>
                    <a:pt x="0" y="104"/>
                  </a:moveTo>
                  <a:cubicBezTo>
                    <a:pt x="0" y="69"/>
                    <a:pt x="0" y="35"/>
                    <a:pt x="0" y="0"/>
                  </a:cubicBezTo>
                  <a:cubicBezTo>
                    <a:pt x="177" y="0"/>
                    <a:pt x="352" y="0"/>
                    <a:pt x="529" y="0"/>
                  </a:cubicBezTo>
                  <a:cubicBezTo>
                    <a:pt x="529" y="35"/>
                    <a:pt x="529" y="69"/>
                    <a:pt x="529" y="104"/>
                  </a:cubicBezTo>
                  <a:cubicBezTo>
                    <a:pt x="353" y="104"/>
                    <a:pt x="177" y="104"/>
                    <a:pt x="0" y="104"/>
                  </a:cubicBezTo>
                  <a:close/>
                </a:path>
              </a:pathLst>
            </a:custGeom>
            <a:solidFill>
              <a:srgbClr val="0174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Freeform 9"/>
            <p:cNvSpPr>
              <a:spLocks/>
            </p:cNvSpPr>
            <p:nvPr/>
          </p:nvSpPr>
          <p:spPr bwMode="auto">
            <a:xfrm>
              <a:off x="2263134" y="3127502"/>
              <a:ext cx="607373" cy="119627"/>
            </a:xfrm>
            <a:custGeom>
              <a:avLst/>
              <a:gdLst>
                <a:gd name="T0" fmla="*/ 2147483646 w 528"/>
                <a:gd name="T1" fmla="*/ 0 h 104"/>
                <a:gd name="T2" fmla="*/ 2147483646 w 528"/>
                <a:gd name="T3" fmla="*/ 2147483646 h 104"/>
                <a:gd name="T4" fmla="*/ 0 w 528"/>
                <a:gd name="T5" fmla="*/ 2147483646 h 104"/>
                <a:gd name="T6" fmla="*/ 0 w 528"/>
                <a:gd name="T7" fmla="*/ 0 h 104"/>
                <a:gd name="T8" fmla="*/ 2147483646 w 528"/>
                <a:gd name="T9" fmla="*/ 0 h 1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28"/>
                <a:gd name="T16" fmla="*/ 0 h 104"/>
                <a:gd name="T17" fmla="*/ 528 w 528"/>
                <a:gd name="T18" fmla="*/ 104 h 10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28" h="104">
                  <a:moveTo>
                    <a:pt x="528" y="0"/>
                  </a:moveTo>
                  <a:cubicBezTo>
                    <a:pt x="528" y="35"/>
                    <a:pt x="528" y="69"/>
                    <a:pt x="528" y="104"/>
                  </a:cubicBezTo>
                  <a:cubicBezTo>
                    <a:pt x="352" y="104"/>
                    <a:pt x="177" y="104"/>
                    <a:pt x="0" y="104"/>
                  </a:cubicBezTo>
                  <a:cubicBezTo>
                    <a:pt x="0" y="70"/>
                    <a:pt x="0" y="36"/>
                    <a:pt x="0" y="0"/>
                  </a:cubicBezTo>
                  <a:cubicBezTo>
                    <a:pt x="176" y="0"/>
                    <a:pt x="352" y="0"/>
                    <a:pt x="528" y="0"/>
                  </a:cubicBezTo>
                  <a:close/>
                </a:path>
              </a:pathLst>
            </a:custGeom>
            <a:solidFill>
              <a:srgbClr val="0174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Freeform 10"/>
            <p:cNvSpPr>
              <a:spLocks/>
            </p:cNvSpPr>
            <p:nvPr/>
          </p:nvSpPr>
          <p:spPr bwMode="auto">
            <a:xfrm>
              <a:off x="2263134" y="3615735"/>
              <a:ext cx="549991" cy="120599"/>
            </a:xfrm>
            <a:custGeom>
              <a:avLst/>
              <a:gdLst>
                <a:gd name="T0" fmla="*/ 0 w 478"/>
                <a:gd name="T1" fmla="*/ 0 h 105"/>
                <a:gd name="T2" fmla="*/ 2147483646 w 478"/>
                <a:gd name="T3" fmla="*/ 0 h 105"/>
                <a:gd name="T4" fmla="*/ 2147483646 w 478"/>
                <a:gd name="T5" fmla="*/ 2147483646 h 105"/>
                <a:gd name="T6" fmla="*/ 2147483646 w 478"/>
                <a:gd name="T7" fmla="*/ 2147483646 h 105"/>
                <a:gd name="T8" fmla="*/ 2147483646 w 478"/>
                <a:gd name="T9" fmla="*/ 2147483646 h 105"/>
                <a:gd name="T10" fmla="*/ 2147483646 w 478"/>
                <a:gd name="T11" fmla="*/ 2147483646 h 105"/>
                <a:gd name="T12" fmla="*/ 0 w 478"/>
                <a:gd name="T13" fmla="*/ 2147483646 h 105"/>
                <a:gd name="T14" fmla="*/ 0 w 478"/>
                <a:gd name="T15" fmla="*/ 0 h 10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478"/>
                <a:gd name="T25" fmla="*/ 0 h 105"/>
                <a:gd name="T26" fmla="*/ 478 w 478"/>
                <a:gd name="T27" fmla="*/ 105 h 105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478" h="105">
                  <a:moveTo>
                    <a:pt x="0" y="0"/>
                  </a:moveTo>
                  <a:cubicBezTo>
                    <a:pt x="159" y="0"/>
                    <a:pt x="318" y="0"/>
                    <a:pt x="478" y="0"/>
                  </a:cubicBezTo>
                  <a:cubicBezTo>
                    <a:pt x="476" y="3"/>
                    <a:pt x="474" y="6"/>
                    <a:pt x="472" y="8"/>
                  </a:cubicBezTo>
                  <a:cubicBezTo>
                    <a:pt x="443" y="38"/>
                    <a:pt x="413" y="68"/>
                    <a:pt x="383" y="97"/>
                  </a:cubicBezTo>
                  <a:cubicBezTo>
                    <a:pt x="379" y="101"/>
                    <a:pt x="372" y="104"/>
                    <a:pt x="366" y="104"/>
                  </a:cubicBezTo>
                  <a:cubicBezTo>
                    <a:pt x="247" y="105"/>
                    <a:pt x="127" y="105"/>
                    <a:pt x="8" y="105"/>
                  </a:cubicBezTo>
                  <a:cubicBezTo>
                    <a:pt x="6" y="105"/>
                    <a:pt x="3" y="104"/>
                    <a:pt x="0" y="104"/>
                  </a:cubicBezTo>
                  <a:cubicBezTo>
                    <a:pt x="0" y="69"/>
                    <a:pt x="0" y="35"/>
                    <a:pt x="0" y="0"/>
                  </a:cubicBezTo>
                  <a:close/>
                </a:path>
              </a:pathLst>
            </a:custGeom>
            <a:solidFill>
              <a:srgbClr val="0174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Freeform 11"/>
            <p:cNvSpPr>
              <a:spLocks/>
            </p:cNvSpPr>
            <p:nvPr/>
          </p:nvSpPr>
          <p:spPr bwMode="auto">
            <a:xfrm>
              <a:off x="3016880" y="3492218"/>
              <a:ext cx="283019" cy="281074"/>
            </a:xfrm>
            <a:custGeom>
              <a:avLst/>
              <a:gdLst>
                <a:gd name="T0" fmla="*/ 0 w 246"/>
                <a:gd name="T1" fmla="*/ 2147483646 h 244"/>
                <a:gd name="T2" fmla="*/ 2147483646 w 246"/>
                <a:gd name="T3" fmla="*/ 2147483646 h 244"/>
                <a:gd name="T4" fmla="*/ 2147483646 w 246"/>
                <a:gd name="T5" fmla="*/ 2147483646 h 244"/>
                <a:gd name="T6" fmla="*/ 2147483646 w 246"/>
                <a:gd name="T7" fmla="*/ 2147483646 h 244"/>
                <a:gd name="T8" fmla="*/ 2147483646 w 246"/>
                <a:gd name="T9" fmla="*/ 2147483646 h 244"/>
                <a:gd name="T10" fmla="*/ 2147483646 w 246"/>
                <a:gd name="T11" fmla="*/ 2147483646 h 244"/>
                <a:gd name="T12" fmla="*/ 0 w 246"/>
                <a:gd name="T13" fmla="*/ 2147483646 h 2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46"/>
                <a:gd name="T22" fmla="*/ 0 h 244"/>
                <a:gd name="T23" fmla="*/ 246 w 246"/>
                <a:gd name="T24" fmla="*/ 244 h 24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46" h="244">
                  <a:moveTo>
                    <a:pt x="0" y="87"/>
                  </a:moveTo>
                  <a:cubicBezTo>
                    <a:pt x="22" y="64"/>
                    <a:pt x="43" y="41"/>
                    <a:pt x="66" y="20"/>
                  </a:cubicBezTo>
                  <a:cubicBezTo>
                    <a:pt x="87" y="1"/>
                    <a:pt x="118" y="0"/>
                    <a:pt x="139" y="20"/>
                  </a:cubicBezTo>
                  <a:cubicBezTo>
                    <a:pt x="169" y="48"/>
                    <a:pt x="198" y="76"/>
                    <a:pt x="225" y="106"/>
                  </a:cubicBezTo>
                  <a:cubicBezTo>
                    <a:pt x="245" y="127"/>
                    <a:pt x="246" y="158"/>
                    <a:pt x="227" y="178"/>
                  </a:cubicBezTo>
                  <a:cubicBezTo>
                    <a:pt x="205" y="202"/>
                    <a:pt x="181" y="223"/>
                    <a:pt x="159" y="244"/>
                  </a:cubicBezTo>
                  <a:cubicBezTo>
                    <a:pt x="107" y="193"/>
                    <a:pt x="54" y="140"/>
                    <a:pt x="0" y="87"/>
                  </a:cubicBezTo>
                  <a:close/>
                </a:path>
              </a:pathLst>
            </a:custGeom>
            <a:solidFill>
              <a:srgbClr val="0174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Freeform 12"/>
            <p:cNvSpPr>
              <a:spLocks/>
            </p:cNvSpPr>
            <p:nvPr/>
          </p:nvSpPr>
          <p:spPr bwMode="auto">
            <a:xfrm>
              <a:off x="2017073" y="3372591"/>
              <a:ext cx="119627" cy="117682"/>
            </a:xfrm>
            <a:custGeom>
              <a:avLst/>
              <a:gdLst>
                <a:gd name="T0" fmla="*/ 0 w 104"/>
                <a:gd name="T1" fmla="*/ 2147483646 h 102"/>
                <a:gd name="T2" fmla="*/ 0 w 104"/>
                <a:gd name="T3" fmla="*/ 0 h 102"/>
                <a:gd name="T4" fmla="*/ 2147483646 w 104"/>
                <a:gd name="T5" fmla="*/ 0 h 102"/>
                <a:gd name="T6" fmla="*/ 2147483646 w 104"/>
                <a:gd name="T7" fmla="*/ 2147483646 h 102"/>
                <a:gd name="T8" fmla="*/ 0 w 104"/>
                <a:gd name="T9" fmla="*/ 2147483646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4"/>
                <a:gd name="T16" fmla="*/ 0 h 102"/>
                <a:gd name="T17" fmla="*/ 104 w 104"/>
                <a:gd name="T18" fmla="*/ 102 h 1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4" h="102">
                  <a:moveTo>
                    <a:pt x="0" y="102"/>
                  </a:moveTo>
                  <a:cubicBezTo>
                    <a:pt x="0" y="68"/>
                    <a:pt x="0" y="34"/>
                    <a:pt x="0" y="0"/>
                  </a:cubicBezTo>
                  <a:cubicBezTo>
                    <a:pt x="35" y="0"/>
                    <a:pt x="69" y="0"/>
                    <a:pt x="104" y="0"/>
                  </a:cubicBezTo>
                  <a:cubicBezTo>
                    <a:pt x="104" y="34"/>
                    <a:pt x="104" y="67"/>
                    <a:pt x="104" y="102"/>
                  </a:cubicBezTo>
                  <a:cubicBezTo>
                    <a:pt x="70" y="102"/>
                    <a:pt x="36" y="102"/>
                    <a:pt x="0" y="102"/>
                  </a:cubicBezTo>
                  <a:close/>
                </a:path>
              </a:pathLst>
            </a:custGeom>
            <a:solidFill>
              <a:srgbClr val="0174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Freeform 13"/>
            <p:cNvSpPr>
              <a:spLocks/>
            </p:cNvSpPr>
            <p:nvPr/>
          </p:nvSpPr>
          <p:spPr bwMode="auto">
            <a:xfrm>
              <a:off x="2018045" y="3128475"/>
              <a:ext cx="118654" cy="118654"/>
            </a:xfrm>
            <a:custGeom>
              <a:avLst/>
              <a:gdLst>
                <a:gd name="T0" fmla="*/ 2147483646 w 103"/>
                <a:gd name="T1" fmla="*/ 2147483646 h 103"/>
                <a:gd name="T2" fmla="*/ 0 w 103"/>
                <a:gd name="T3" fmla="*/ 2147483646 h 103"/>
                <a:gd name="T4" fmla="*/ 0 w 103"/>
                <a:gd name="T5" fmla="*/ 0 h 103"/>
                <a:gd name="T6" fmla="*/ 2147483646 w 103"/>
                <a:gd name="T7" fmla="*/ 0 h 103"/>
                <a:gd name="T8" fmla="*/ 2147483646 w 103"/>
                <a:gd name="T9" fmla="*/ 2147483646 h 1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3"/>
                <a:gd name="T16" fmla="*/ 0 h 103"/>
                <a:gd name="T17" fmla="*/ 103 w 103"/>
                <a:gd name="T18" fmla="*/ 103 h 10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3" h="103">
                  <a:moveTo>
                    <a:pt x="103" y="103"/>
                  </a:moveTo>
                  <a:cubicBezTo>
                    <a:pt x="68" y="103"/>
                    <a:pt x="34" y="103"/>
                    <a:pt x="0" y="103"/>
                  </a:cubicBezTo>
                  <a:cubicBezTo>
                    <a:pt x="0" y="68"/>
                    <a:pt x="0" y="35"/>
                    <a:pt x="0" y="0"/>
                  </a:cubicBezTo>
                  <a:cubicBezTo>
                    <a:pt x="34" y="0"/>
                    <a:pt x="68" y="0"/>
                    <a:pt x="103" y="0"/>
                  </a:cubicBezTo>
                  <a:cubicBezTo>
                    <a:pt x="103" y="34"/>
                    <a:pt x="103" y="68"/>
                    <a:pt x="103" y="103"/>
                  </a:cubicBezTo>
                  <a:close/>
                </a:path>
              </a:pathLst>
            </a:custGeom>
            <a:solidFill>
              <a:srgbClr val="0174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Freeform 14"/>
            <p:cNvSpPr>
              <a:spLocks/>
            </p:cNvSpPr>
            <p:nvPr/>
          </p:nvSpPr>
          <p:spPr bwMode="auto">
            <a:xfrm>
              <a:off x="2018045" y="3616708"/>
              <a:ext cx="118654" cy="118654"/>
            </a:xfrm>
            <a:custGeom>
              <a:avLst/>
              <a:gdLst>
                <a:gd name="T0" fmla="*/ 2147483646 w 103"/>
                <a:gd name="T1" fmla="*/ 2147483646 h 103"/>
                <a:gd name="T2" fmla="*/ 0 w 103"/>
                <a:gd name="T3" fmla="*/ 2147483646 h 103"/>
                <a:gd name="T4" fmla="*/ 0 w 103"/>
                <a:gd name="T5" fmla="*/ 0 h 103"/>
                <a:gd name="T6" fmla="*/ 2147483646 w 103"/>
                <a:gd name="T7" fmla="*/ 0 h 103"/>
                <a:gd name="T8" fmla="*/ 2147483646 w 103"/>
                <a:gd name="T9" fmla="*/ 2147483646 h 1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3"/>
                <a:gd name="T16" fmla="*/ 0 h 103"/>
                <a:gd name="T17" fmla="*/ 103 w 103"/>
                <a:gd name="T18" fmla="*/ 103 h 10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3" h="103">
                  <a:moveTo>
                    <a:pt x="103" y="103"/>
                  </a:moveTo>
                  <a:cubicBezTo>
                    <a:pt x="68" y="103"/>
                    <a:pt x="35" y="103"/>
                    <a:pt x="0" y="103"/>
                  </a:cubicBezTo>
                  <a:cubicBezTo>
                    <a:pt x="0" y="68"/>
                    <a:pt x="0" y="35"/>
                    <a:pt x="0" y="0"/>
                  </a:cubicBezTo>
                  <a:cubicBezTo>
                    <a:pt x="34" y="0"/>
                    <a:pt x="68" y="0"/>
                    <a:pt x="103" y="0"/>
                  </a:cubicBezTo>
                  <a:cubicBezTo>
                    <a:pt x="103" y="33"/>
                    <a:pt x="103" y="67"/>
                    <a:pt x="103" y="103"/>
                  </a:cubicBezTo>
                  <a:close/>
                </a:path>
              </a:pathLst>
            </a:custGeom>
            <a:solidFill>
              <a:srgbClr val="0174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6" name="文本框 55"/>
          <p:cNvSpPr txBox="1"/>
          <p:nvPr/>
        </p:nvSpPr>
        <p:spPr>
          <a:xfrm>
            <a:off x="226545" y="4131938"/>
            <a:ext cx="22359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spc="300" dirty="0">
                <a:solidFill>
                  <a:srgbClr val="0174A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CONTANTS</a:t>
            </a:r>
            <a:endParaRPr lang="zh-HK" altLang="en-US" sz="2400" b="1" spc="300" dirty="0">
              <a:solidFill>
                <a:srgbClr val="0174A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127626" y="1507300"/>
            <a:ext cx="50488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en-US" altLang="zh-CN" sz="20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3-3 </a:t>
            </a:r>
            <a:r>
              <a:rPr lang="zh-CN" altLang="en-US" sz="20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全局样式和局部样式的使用</a:t>
            </a:r>
            <a:endParaRPr lang="zh-HK" altLang="en-US" sz="2000" b="1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3127626" y="2099163"/>
            <a:ext cx="52406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en-US" altLang="zh-CN" sz="2000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3-4 </a:t>
            </a:r>
            <a:r>
              <a:rPr lang="zh-CN" altLang="en-US" sz="2000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样式的并列和从属关系的应用</a:t>
            </a:r>
            <a:endParaRPr lang="zh-HK" altLang="en-US" sz="2000" b="1" spc="3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3124129" y="2643487"/>
            <a:ext cx="384019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en-US" altLang="zh-CN" sz="20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3-5 </a:t>
            </a:r>
            <a:r>
              <a:rPr lang="zh-CN" altLang="en-US" sz="20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样式优先级的测试</a:t>
            </a:r>
            <a:endParaRPr lang="zh-HK" altLang="en-US" sz="2000" b="1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3124129" y="3235350"/>
            <a:ext cx="64132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en-US" altLang="zh-CN" sz="2000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3-6 </a:t>
            </a:r>
            <a:r>
              <a:rPr lang="zh-CN" altLang="en-US" sz="2000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使用伪类选择器定义超链接的显示效果</a:t>
            </a:r>
            <a:endParaRPr lang="zh-HK" altLang="en-US" sz="2000" b="1" spc="3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3124129" y="3792280"/>
            <a:ext cx="32128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en-US" altLang="zh-CN" sz="20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3-7 </a:t>
            </a:r>
            <a:r>
              <a:rPr lang="zh-CN" altLang="en-US" sz="20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创建盒子模型</a:t>
            </a:r>
            <a:endParaRPr lang="zh-HK" altLang="en-US" sz="2000" b="1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3124129" y="4384143"/>
            <a:ext cx="4914085" cy="407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en-US" altLang="zh-CN" sz="2000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3-8 CSS</a:t>
            </a:r>
            <a:r>
              <a:rPr lang="zh-CN" altLang="en-US" sz="2000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浮动</a:t>
            </a:r>
            <a:r>
              <a:rPr lang="en-US" altLang="zh-CN" sz="2000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float</a:t>
            </a:r>
            <a:r>
              <a:rPr lang="zh-CN" altLang="en-US" sz="2000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属性的使用</a:t>
            </a:r>
            <a:endParaRPr lang="zh-HK" altLang="en-US" sz="2000" b="1" spc="3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3124129" y="4948655"/>
            <a:ext cx="479712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en-US" altLang="zh-CN" sz="20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3-9 </a:t>
            </a:r>
            <a:r>
              <a:rPr lang="zh-CN" altLang="en-US" sz="20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常用文本样式属性的使用</a:t>
            </a:r>
            <a:endParaRPr lang="zh-HK" altLang="en-US" sz="2000" b="1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3124129" y="5540518"/>
            <a:ext cx="479712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en-US" altLang="zh-CN" sz="2000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3-10</a:t>
            </a:r>
            <a:r>
              <a:rPr lang="zh-CN" altLang="en-US" sz="2000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常用图片样式属性的使用</a:t>
            </a:r>
            <a:endParaRPr lang="zh-HK" altLang="en-US" sz="2000" b="1" spc="3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3124129" y="6097447"/>
            <a:ext cx="479712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en-US" altLang="zh-CN" sz="20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3-11 CSS3</a:t>
            </a:r>
            <a:r>
              <a:rPr lang="zh-CN" altLang="en-US" sz="20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图片背景的使用</a:t>
            </a:r>
            <a:endParaRPr lang="zh-HK" altLang="en-US" sz="2000" b="1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03260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720138" y="6043613"/>
            <a:ext cx="423863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4" y="1034001"/>
            <a:ext cx="461531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使用</a:t>
            </a:r>
            <a:r>
              <a:rPr lang="en-US" altLang="zh-CN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CSS</a:t>
            </a: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设置</a:t>
            </a:r>
            <a:r>
              <a:rPr lang="en-US" altLang="zh-CN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body</a:t>
            </a: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样式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3-1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13660" y="1864998"/>
            <a:ext cx="8516679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CSS是Cascading Style Sheets的缩写，即层叠样式表，在标准网页设计中，CSS负责网页内容在浏览器内的显示样式，如文字大小、字体颜色、字体加粗等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。</a:t>
            </a:r>
            <a:endParaRPr lang="zh-CN" altLang="en-US" sz="2400" dirty="0">
              <a:solidFill>
                <a:schemeClr val="tx1">
                  <a:lumMod val="95000"/>
                  <a:lumOff val="5000"/>
                </a:schemeClr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  <a:p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CSS由选择符和声明两部分组成，其中选择符又可称作选择器，是网页中要应用样式的元素；声明由属性和属性值两部分组成，属性与值之间用冒号隔开，每一个属性设置完属性值后，用分号结束，声明部分可以有多组属性和属性值组成，由一对｛｝括起来。例如：</a:t>
            </a:r>
          </a:p>
          <a:p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p{</a:t>
            </a:r>
            <a:endParaRPr lang="zh-CN" altLang="en-US" sz="2400" dirty="0">
              <a:solidFill>
                <a:schemeClr val="tx1">
                  <a:lumMod val="95000"/>
                  <a:lumOff val="5000"/>
                </a:schemeClr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  <a:p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font-size:12px;</a:t>
            </a:r>
          </a:p>
          <a:p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    color:red;</a:t>
            </a:r>
          </a:p>
          <a:p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803863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720138" y="6043613"/>
            <a:ext cx="423863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2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4" y="1034001"/>
            <a:ext cx="461531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使用</a:t>
            </a:r>
            <a:r>
              <a:rPr lang="en-US" altLang="zh-CN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CSS</a:t>
            </a: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设置</a:t>
            </a:r>
            <a:r>
              <a:rPr lang="en-US" altLang="zh-CN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body</a:t>
            </a: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样式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3-1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13660" y="1864998"/>
            <a:ext cx="8516679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由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CSS 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样式代码插入的形式可以将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CSS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分为内联式、嵌入式和外部式三种。具体如下：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1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、内联式：把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CSS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代码直接作为标签的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style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属性的内容写在现有的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HTML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标签（如</a:t>
            </a:r>
            <a:r>
              <a:rPr lang="en-US" altLang="zh-CN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p,span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...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）中，如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：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&lt;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p style="color:red;font-size:12px</a:t>
            </a: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;"&gt;</a:t>
            </a:r>
          </a:p>
          <a:p>
            <a:pPr>
              <a:lnSpc>
                <a:spcPct val="150000"/>
              </a:lnSpc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表示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这个段落中的文字大小是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12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像素，字体颜色是红色。</a:t>
            </a:r>
            <a:endParaRPr lang="zh-CN" altLang="en-US" sz="2400" dirty="0">
              <a:solidFill>
                <a:schemeClr val="tx1">
                  <a:lumMod val="95000"/>
                  <a:lumOff val="5000"/>
                </a:schemeClr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91720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720138" y="6043613"/>
            <a:ext cx="423863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3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4" y="1034001"/>
            <a:ext cx="461531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使用</a:t>
            </a:r>
            <a:r>
              <a:rPr lang="en-US" altLang="zh-CN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CSS</a:t>
            </a: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设置</a:t>
            </a:r>
            <a:r>
              <a:rPr lang="en-US" altLang="zh-CN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body</a:t>
            </a: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样式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3-1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13660" y="1864998"/>
            <a:ext cx="851667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2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、嵌入式：也称作内部样式表，把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CSS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样式写在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标签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&lt;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style type="text/</a:t>
            </a:r>
            <a:r>
              <a:rPr lang="en-US" altLang="zh-CN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css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"&gt;&lt;/style&gt;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之间，并且一般情况下嵌入式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CSS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样式写在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&lt;head&gt;&lt;/head&gt;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之间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。</a:t>
            </a:r>
            <a:endParaRPr lang="zh-CN" altLang="en-US" sz="2400" dirty="0">
              <a:solidFill>
                <a:schemeClr val="tx1">
                  <a:lumMod val="95000"/>
                  <a:lumOff val="5000"/>
                </a:schemeClr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65498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720138" y="6043613"/>
            <a:ext cx="423863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4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4" y="1034001"/>
            <a:ext cx="461531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使用</a:t>
            </a:r>
            <a:r>
              <a:rPr lang="en-US" altLang="zh-CN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CSS</a:t>
            </a: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设置</a:t>
            </a:r>
            <a:r>
              <a:rPr lang="en-US" altLang="zh-CN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body</a:t>
            </a: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样式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3-1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13660" y="1833099"/>
            <a:ext cx="8516679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3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、外部式：把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CSS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代码写在一个单独的外部文件中存放在根目录的</a:t>
            </a:r>
            <a:r>
              <a:rPr lang="en-US" altLang="zh-CN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css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文件夹下面，这个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CSS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样式文件以“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.</a:t>
            </a:r>
            <a:r>
              <a:rPr lang="en-US" altLang="zh-CN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css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”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为扩展名，在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&lt;head&gt;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标签内使用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&lt;link&gt;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标签将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CSS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样式文件链接到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HTML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文件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内：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&lt;link </a:t>
            </a:r>
            <a:r>
              <a:rPr lang="en-US" altLang="zh-CN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href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="style.css" </a:t>
            </a:r>
            <a:r>
              <a:rPr lang="en-US" altLang="zh-CN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rel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="stylesheet" type="text/</a:t>
            </a:r>
            <a:r>
              <a:rPr lang="en-US" altLang="zh-CN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css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" </a:t>
            </a: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/&gt;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一般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外部式的样式文件名字为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style.css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。</a:t>
            </a:r>
            <a:endParaRPr lang="zh-CN" altLang="en-US" sz="2400" dirty="0">
              <a:solidFill>
                <a:schemeClr val="tx1">
                  <a:lumMod val="95000"/>
                  <a:lumOff val="5000"/>
                </a:schemeClr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31823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720138" y="6043613"/>
            <a:ext cx="423863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5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4" y="1034001"/>
            <a:ext cx="461531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使用</a:t>
            </a:r>
            <a:r>
              <a:rPr lang="en-US" altLang="zh-CN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CSS</a:t>
            </a: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设置</a:t>
            </a:r>
            <a:r>
              <a:rPr lang="en-US" altLang="zh-CN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body</a:t>
            </a: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样式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3-1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13660" y="2084610"/>
            <a:ext cx="8516679" cy="17028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这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三种样式是有优先级的，原则上是就近原则，但如果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CSS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样式在相同权值的情况下，他们的优先级是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：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内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联式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&gt;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嵌入式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&gt;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外部式。</a:t>
            </a:r>
            <a:endParaRPr lang="zh-CN" altLang="en-US" sz="2400" dirty="0">
              <a:solidFill>
                <a:schemeClr val="tx1">
                  <a:lumMod val="95000"/>
                  <a:lumOff val="5000"/>
                </a:schemeClr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50483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720138" y="6043613"/>
            <a:ext cx="423863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6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4" y="1034001"/>
            <a:ext cx="461531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使用</a:t>
            </a:r>
            <a:r>
              <a:rPr lang="en-US" altLang="zh-CN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CSS</a:t>
            </a: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设置</a:t>
            </a:r>
            <a:r>
              <a:rPr lang="en-US" altLang="zh-CN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body</a:t>
            </a: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样式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3-1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16" name="文本框 15"/>
          <p:cNvSpPr txBox="1">
            <a:spLocks noChangeAspect="1"/>
          </p:cNvSpPr>
          <p:nvPr/>
        </p:nvSpPr>
        <p:spPr>
          <a:xfrm>
            <a:off x="376660" y="2459503"/>
            <a:ext cx="720725" cy="646331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rgbClr val="0174AB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zh-HK" altLang="en-US" sz="3600" b="1" dirty="0">
              <a:solidFill>
                <a:srgbClr val="0174AB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文本框 18"/>
          <p:cNvSpPr txBox="1">
            <a:spLocks noChangeAspect="1"/>
          </p:cNvSpPr>
          <p:nvPr/>
        </p:nvSpPr>
        <p:spPr>
          <a:xfrm>
            <a:off x="376660" y="3817273"/>
            <a:ext cx="720725" cy="654050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rgbClr val="92D14F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HK" altLang="en-US" sz="3600" b="1" dirty="0">
              <a:solidFill>
                <a:srgbClr val="92D14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097385" y="2366243"/>
            <a:ext cx="7518659" cy="5948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网页背景颜色、背景图像的设置。</a:t>
            </a:r>
            <a:endParaRPr lang="zh-CN" altLang="en-US" sz="2400" dirty="0">
              <a:solidFill>
                <a:schemeClr val="tx1">
                  <a:lumMod val="95000"/>
                  <a:lumOff val="5000"/>
                </a:schemeClr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097385" y="3724013"/>
            <a:ext cx="7771055" cy="5948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网页字体样式的设置。</a:t>
            </a:r>
            <a:endParaRPr lang="zh-CN" altLang="en-US" sz="2400" dirty="0">
              <a:solidFill>
                <a:schemeClr val="tx1">
                  <a:lumMod val="95000"/>
                  <a:lumOff val="5000"/>
                </a:schemeClr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22" name="文本框 21"/>
          <p:cNvSpPr txBox="1">
            <a:spLocks noChangeAspect="1"/>
          </p:cNvSpPr>
          <p:nvPr/>
        </p:nvSpPr>
        <p:spPr>
          <a:xfrm>
            <a:off x="389524" y="5081783"/>
            <a:ext cx="720725" cy="646331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 smtClean="0">
                <a:solidFill>
                  <a:srgbClr val="0174AB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endParaRPr lang="zh-HK" altLang="en-US" sz="3600" b="1" dirty="0">
              <a:solidFill>
                <a:srgbClr val="0174AB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110249" y="4988523"/>
            <a:ext cx="7771055" cy="5948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网页页边距的设置。</a:t>
            </a:r>
            <a:endParaRPr lang="zh-CN" altLang="en-US" sz="2400" dirty="0">
              <a:solidFill>
                <a:schemeClr val="tx1">
                  <a:lumMod val="95000"/>
                  <a:lumOff val="5000"/>
                </a:schemeClr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46771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720138" y="6043613"/>
            <a:ext cx="423863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7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4" y="1034001"/>
            <a:ext cx="461531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使用</a:t>
            </a:r>
            <a:r>
              <a:rPr lang="en-US" altLang="zh-CN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CSS</a:t>
            </a: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设置</a:t>
            </a:r>
            <a:r>
              <a:rPr lang="en-US" altLang="zh-CN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body</a:t>
            </a: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样式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3-1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84964" y="1868207"/>
            <a:ext cx="8350692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1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、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background-color: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背景颜色，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background-image: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背景图像，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background-repeat: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背景重复，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background-position: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背景图像位置，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background-attachment: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如何设置固定的背景图像，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background: #ff0000 </a:t>
            </a:r>
            <a:r>
              <a:rPr lang="en-US" altLang="zh-CN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url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(/</a:t>
            </a:r>
            <a:r>
              <a:rPr lang="en-US" altLang="zh-CN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i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/eg_bg_03.gif) no-repeat fixed center / cover;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这些参数从左到右依次是：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background-color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、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background-image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、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background-repeat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、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background-attachment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、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background-position / background-size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值得注意的是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background-size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是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CSS3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的属性，它要与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background-position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配合使用，中间有一个斜杠分隔符。</a:t>
            </a:r>
            <a:endParaRPr lang="zh-CN" altLang="en-US" sz="2000" dirty="0">
              <a:solidFill>
                <a:schemeClr val="tx1">
                  <a:lumMod val="95000"/>
                  <a:lumOff val="5000"/>
                </a:schemeClr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42959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720138" y="6043613"/>
            <a:ext cx="423863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8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4" y="1034001"/>
            <a:ext cx="461531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使用</a:t>
            </a:r>
            <a:r>
              <a:rPr lang="en-US" altLang="zh-CN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CSS</a:t>
            </a: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设置</a:t>
            </a:r>
            <a:r>
              <a:rPr lang="en-US" altLang="zh-CN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body</a:t>
            </a: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样式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3-1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84964" y="1868207"/>
            <a:ext cx="8350692" cy="4472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2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、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margin: 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外边距，此处是指页边距，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margin:20px;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（上、下、左、右各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20px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），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margin:20px 40px;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（上、下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20px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；左、右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40px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），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margin:20px 40px 60px;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（上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20px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；左、右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40px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；下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60px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），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margin:20px 40px 60px 80px;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（上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20px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；右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40px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；下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60px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；左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80px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）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在</a:t>
            </a:r>
            <a:r>
              <a:rPr lang="en-US" altLang="zh-CN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css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中使用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margin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可以将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margin-top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，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margin-right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，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margin-bottom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，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margin-left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，缩写为一个标记，顺序为上右下左（顺时针）。</a:t>
            </a:r>
            <a:endParaRPr lang="zh-CN" altLang="en-US" sz="2400" dirty="0">
              <a:solidFill>
                <a:schemeClr val="tx1">
                  <a:lumMod val="95000"/>
                  <a:lumOff val="5000"/>
                </a:schemeClr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45211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720138" y="6043613"/>
            <a:ext cx="423863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9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4" y="1034001"/>
            <a:ext cx="461531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使用</a:t>
            </a:r>
            <a:r>
              <a:rPr lang="en-US" altLang="zh-CN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CSS</a:t>
            </a: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设置</a:t>
            </a:r>
            <a:r>
              <a:rPr lang="en-US" altLang="zh-CN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body</a:t>
            </a: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样式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3-1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29609" y="1740612"/>
            <a:ext cx="8516679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3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、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font-size: 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字体大小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4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、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color: 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字体颜色，如果采用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6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位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16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进制数，前面需要加上“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#”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5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、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font-family: Comic Sans MS, "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微软雅黑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";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先写英文字体，再写中文字体，会优先匹配英文字体，但是在英文字体中找不到中文字符，这样中文就会自动使用后写的中文字体了。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6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、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line-height: 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文本行高，一般采用</a:t>
            </a:r>
            <a:r>
              <a:rPr lang="en-US" altLang="zh-CN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em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单位，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1em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代表一倍行距。</a:t>
            </a:r>
            <a:endParaRPr lang="zh-CN" altLang="en-US" sz="2400" dirty="0">
              <a:solidFill>
                <a:schemeClr val="tx1">
                  <a:lumMod val="95000"/>
                  <a:lumOff val="5000"/>
                </a:schemeClr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45215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580474" y="6043613"/>
            <a:ext cx="563527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10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3" y="1034001"/>
            <a:ext cx="633050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使用</a:t>
            </a:r>
            <a:r>
              <a:rPr lang="en-US" altLang="zh-CN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CSS</a:t>
            </a: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详细设置不同段落内样式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3-2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55181" y="2136339"/>
            <a:ext cx="856984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CSS最基本最常用的有三种选择器，分别是标签选择器、ID选择器和类选择器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。</a:t>
            </a:r>
            <a:endParaRPr lang="zh-CN" altLang="en-US" sz="2400" dirty="0">
              <a:solidFill>
                <a:schemeClr val="tx1">
                  <a:lumMod val="95000"/>
                  <a:lumOff val="5000"/>
                </a:schemeClr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1、标签选择器：所谓标签选择器其实就是使用已有的html代码中的标签作为名称的选择器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。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例如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：p｛ font-size：12px；color：white；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｝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就是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将p标签设置为字体大小12像素，字体颜色为白色。</a:t>
            </a:r>
          </a:p>
        </p:txBody>
      </p:sp>
    </p:spTree>
    <p:extLst>
      <p:ext uri="{BB962C8B-B14F-4D97-AF65-F5344CB8AC3E}">
        <p14:creationId xmlns:p14="http://schemas.microsoft.com/office/powerpoint/2010/main" val="522430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601740" y="6043613"/>
            <a:ext cx="542261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11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3" y="1034001"/>
            <a:ext cx="633050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使用</a:t>
            </a:r>
            <a:r>
              <a:rPr lang="en-US" altLang="zh-CN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CSS</a:t>
            </a: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详细设置不同段落内样式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3-2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55181" y="2136339"/>
            <a:ext cx="8569842" cy="3918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2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、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ID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选择器：即标识选择器，为标签设置“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id=ID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名称”，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ID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选择器定义时以“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#”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开头。按照规范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ID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选择器在一个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html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文件中只能使用一次。格式为：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#ID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选择器名称｛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CSS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样式代码｝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3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、类选择器：与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ID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选择器类似，为标签设置“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class=CLASS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名称”，类选择器定义时以“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.”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开头。类选择器可以重复使用，应用最为广泛。格式为：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.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类选器名称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{</a:t>
            </a:r>
            <a:r>
              <a:rPr lang="en-US" altLang="zh-CN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css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样式代码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;}</a:t>
            </a:r>
            <a:endParaRPr lang="zh-CN" altLang="en-US" sz="2400" dirty="0">
              <a:solidFill>
                <a:schemeClr val="tx1">
                  <a:lumMod val="95000"/>
                  <a:lumOff val="5000"/>
                </a:schemeClr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78809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569842" y="6043613"/>
            <a:ext cx="574159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12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3" y="1034001"/>
            <a:ext cx="633050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使用</a:t>
            </a:r>
            <a:r>
              <a:rPr lang="en-US" altLang="zh-CN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CSS</a:t>
            </a: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详细设置不同段落内样式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3-2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1126921" y="1789428"/>
            <a:ext cx="4618946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所有的命名最好都小写。</a:t>
            </a:r>
          </a:p>
        </p:txBody>
      </p:sp>
      <p:sp>
        <p:nvSpPr>
          <p:cNvPr id="12" name="文本框 11"/>
          <p:cNvSpPr txBox="1">
            <a:spLocks noChangeAspect="1"/>
          </p:cNvSpPr>
          <p:nvPr/>
        </p:nvSpPr>
        <p:spPr>
          <a:xfrm>
            <a:off x="354765" y="1742914"/>
            <a:ext cx="706129" cy="646331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rgbClr val="0174AB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zh-HK" altLang="en-US" sz="3600" b="1" dirty="0">
              <a:solidFill>
                <a:srgbClr val="0174AB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文本框 12"/>
          <p:cNvSpPr txBox="1">
            <a:spLocks noChangeAspect="1"/>
          </p:cNvSpPr>
          <p:nvPr/>
        </p:nvSpPr>
        <p:spPr>
          <a:xfrm>
            <a:off x="354765" y="2152666"/>
            <a:ext cx="720725" cy="654050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rgbClr val="92D14F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HK" altLang="en-US" sz="3600" b="1" dirty="0">
              <a:solidFill>
                <a:srgbClr val="92D14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文本框 14"/>
          <p:cNvSpPr txBox="1">
            <a:spLocks noChangeAspect="1"/>
          </p:cNvSpPr>
          <p:nvPr/>
        </p:nvSpPr>
        <p:spPr>
          <a:xfrm>
            <a:off x="362064" y="2597783"/>
            <a:ext cx="720725" cy="646331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HK" sz="3600" b="1" dirty="0">
                <a:solidFill>
                  <a:srgbClr val="0174AB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endParaRPr lang="zh-HK" altLang="en-US" sz="3600" b="1" dirty="0">
              <a:solidFill>
                <a:srgbClr val="0174AB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155765" y="4065091"/>
            <a:ext cx="82862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h1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到</a:t>
            </a:r>
            <a:r>
              <a:rPr lang="en-US" altLang="zh-CN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h6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的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定义，应遵循从大到小的原则，体现文档的结构。</a:t>
            </a:r>
          </a:p>
        </p:txBody>
      </p:sp>
      <p:sp>
        <p:nvSpPr>
          <p:cNvPr id="19" name="矩形 18"/>
          <p:cNvSpPr/>
          <p:nvPr/>
        </p:nvSpPr>
        <p:spPr>
          <a:xfrm>
            <a:off x="1155765" y="3614100"/>
            <a:ext cx="75713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表现与结构完全分离，代码中不涉及任何的表现元素。</a:t>
            </a:r>
          </a:p>
        </p:txBody>
      </p:sp>
      <p:sp>
        <p:nvSpPr>
          <p:cNvPr id="20" name="文本框 19"/>
          <p:cNvSpPr txBox="1">
            <a:spLocks noChangeAspect="1"/>
          </p:cNvSpPr>
          <p:nvPr/>
        </p:nvSpPr>
        <p:spPr>
          <a:xfrm>
            <a:off x="325579" y="3059197"/>
            <a:ext cx="749911" cy="646331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 smtClean="0">
                <a:solidFill>
                  <a:srgbClr val="92D14F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endParaRPr lang="zh-HK" altLang="en-US" sz="3600" b="1" dirty="0">
              <a:solidFill>
                <a:srgbClr val="92D14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文本框 20"/>
          <p:cNvSpPr txBox="1">
            <a:spLocks noChangeAspect="1"/>
          </p:cNvSpPr>
          <p:nvPr/>
        </p:nvSpPr>
        <p:spPr>
          <a:xfrm>
            <a:off x="376660" y="3516644"/>
            <a:ext cx="720725" cy="646331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HK" sz="3600" b="1" dirty="0" smtClean="0">
                <a:solidFill>
                  <a:srgbClr val="0174AB"/>
                </a:solidFill>
                <a:latin typeface="微软雅黑" pitchFamily="34" charset="-122"/>
                <a:ea typeface="微软雅黑" pitchFamily="34" charset="-122"/>
              </a:rPr>
              <a:t>5</a:t>
            </a:r>
            <a:endParaRPr lang="zh-HK" altLang="en-US" sz="3600" b="1" dirty="0">
              <a:solidFill>
                <a:srgbClr val="0174AB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文本框 21"/>
          <p:cNvSpPr txBox="1">
            <a:spLocks noChangeAspect="1"/>
          </p:cNvSpPr>
          <p:nvPr/>
        </p:nvSpPr>
        <p:spPr>
          <a:xfrm>
            <a:off x="376660" y="4011225"/>
            <a:ext cx="720725" cy="654050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 smtClean="0">
                <a:solidFill>
                  <a:srgbClr val="92D14F"/>
                </a:solidFill>
                <a:latin typeface="微软雅黑" pitchFamily="34" charset="-122"/>
                <a:ea typeface="微软雅黑" pitchFamily="34" charset="-122"/>
              </a:rPr>
              <a:t>6</a:t>
            </a:r>
            <a:endParaRPr lang="zh-HK" altLang="en-US" sz="3600" b="1" dirty="0">
              <a:solidFill>
                <a:srgbClr val="92D14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文本框 22"/>
          <p:cNvSpPr txBox="1">
            <a:spLocks noChangeAspect="1"/>
          </p:cNvSpPr>
          <p:nvPr/>
        </p:nvSpPr>
        <p:spPr>
          <a:xfrm>
            <a:off x="381272" y="4513525"/>
            <a:ext cx="720725" cy="646331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HK" sz="3600" b="1" dirty="0" smtClean="0">
                <a:solidFill>
                  <a:srgbClr val="0174AB"/>
                </a:solidFill>
                <a:latin typeface="微软雅黑" pitchFamily="34" charset="-122"/>
                <a:ea typeface="微软雅黑" pitchFamily="34" charset="-122"/>
              </a:rPr>
              <a:t>7</a:t>
            </a:r>
            <a:endParaRPr lang="zh-HK" altLang="en-US" sz="3600" b="1" dirty="0">
              <a:solidFill>
                <a:srgbClr val="0174AB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" name="文本框 23"/>
          <p:cNvSpPr txBox="1">
            <a:spLocks noChangeAspect="1"/>
          </p:cNvSpPr>
          <p:nvPr/>
        </p:nvSpPr>
        <p:spPr>
          <a:xfrm>
            <a:off x="385884" y="5004229"/>
            <a:ext cx="720725" cy="654050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 smtClean="0">
                <a:solidFill>
                  <a:srgbClr val="92D14F"/>
                </a:solidFill>
                <a:latin typeface="微软雅黑" pitchFamily="34" charset="-122"/>
                <a:ea typeface="微软雅黑" pitchFamily="34" charset="-122"/>
              </a:rPr>
              <a:t>8</a:t>
            </a:r>
            <a:endParaRPr lang="zh-HK" altLang="en-US" sz="3600" b="1" dirty="0">
              <a:solidFill>
                <a:srgbClr val="92D14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文本框 24"/>
          <p:cNvSpPr txBox="1">
            <a:spLocks noChangeAspect="1"/>
          </p:cNvSpPr>
          <p:nvPr/>
        </p:nvSpPr>
        <p:spPr>
          <a:xfrm>
            <a:off x="385884" y="5465894"/>
            <a:ext cx="720725" cy="646331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HK" sz="3600" b="1" dirty="0" smtClean="0">
                <a:solidFill>
                  <a:srgbClr val="0174AB"/>
                </a:solidFill>
                <a:latin typeface="微软雅黑" pitchFamily="34" charset="-122"/>
                <a:ea typeface="微软雅黑" pitchFamily="34" charset="-122"/>
              </a:rPr>
              <a:t>9</a:t>
            </a:r>
            <a:endParaRPr lang="zh-HK" altLang="en-US" sz="3600" b="1" dirty="0">
              <a:solidFill>
                <a:srgbClr val="0174AB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" name="文本框 25"/>
          <p:cNvSpPr txBox="1">
            <a:spLocks noChangeAspect="1"/>
          </p:cNvSpPr>
          <p:nvPr/>
        </p:nvSpPr>
        <p:spPr>
          <a:xfrm>
            <a:off x="338742" y="5923090"/>
            <a:ext cx="788179" cy="646331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 smtClean="0">
                <a:solidFill>
                  <a:srgbClr val="92D14F"/>
                </a:solidFill>
                <a:latin typeface="微软雅黑" pitchFamily="34" charset="-122"/>
                <a:ea typeface="微软雅黑" pitchFamily="34" charset="-122"/>
              </a:rPr>
              <a:t>10</a:t>
            </a:r>
            <a:endParaRPr lang="zh-HK" altLang="en-US" sz="3600" b="1" dirty="0">
              <a:solidFill>
                <a:srgbClr val="92D14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126921" y="2226367"/>
            <a:ext cx="6390298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属性的值一定要用双引号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("")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括起来。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1126921" y="2690115"/>
            <a:ext cx="7730000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每个标签都要有开始和结束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，要有层次，有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规律工整。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1133870" y="3185133"/>
            <a:ext cx="7730000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空元素要有结束的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tag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或于开始的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tag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后加上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"/"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。</a:t>
            </a:r>
            <a:endParaRPr lang="zh-CN" altLang="en-US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1155765" y="4584060"/>
            <a:ext cx="723948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给每一个表格和表单加上一个唯一的、结构标记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id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。</a:t>
            </a:r>
            <a:endParaRPr lang="zh-CN" altLang="en-US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1155765" y="5058776"/>
            <a:ext cx="30524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给图片加上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alt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标签。</a:t>
            </a:r>
          </a:p>
        </p:txBody>
      </p:sp>
      <p:sp>
        <p:nvSpPr>
          <p:cNvPr id="32" name="矩形 31"/>
          <p:cNvSpPr/>
          <p:nvPr/>
        </p:nvSpPr>
        <p:spPr>
          <a:xfrm>
            <a:off x="1174063" y="5558226"/>
            <a:ext cx="35702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尽量使用英文命名原则。</a:t>
            </a:r>
          </a:p>
        </p:txBody>
      </p:sp>
      <p:sp>
        <p:nvSpPr>
          <p:cNvPr id="33" name="矩形 32"/>
          <p:cNvSpPr/>
          <p:nvPr/>
        </p:nvSpPr>
        <p:spPr>
          <a:xfrm>
            <a:off x="1174063" y="6032942"/>
            <a:ext cx="541686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尽量不缩写，除非一看就明白的单词。</a:t>
            </a:r>
          </a:p>
        </p:txBody>
      </p:sp>
    </p:spTree>
    <p:extLst>
      <p:ext uri="{BB962C8B-B14F-4D97-AF65-F5344CB8AC3E}">
        <p14:creationId xmlns:p14="http://schemas.microsoft.com/office/powerpoint/2010/main" val="1756575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569842" y="6043613"/>
            <a:ext cx="574159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13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3" y="1034001"/>
            <a:ext cx="5373577" cy="762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全局样式和局部样式的使用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3-3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324869" y="2132746"/>
            <a:ext cx="7395270" cy="83099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全局样式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，修饰网页所有标签的样式，一般采用元素选择器进行修饰。</a:t>
            </a:r>
            <a:endParaRPr lang="zh-CN" altLang="en-US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</p:txBody>
      </p:sp>
      <p:sp>
        <p:nvSpPr>
          <p:cNvPr id="19" name="文本框 18"/>
          <p:cNvSpPr txBox="1">
            <a:spLocks noChangeAspect="1"/>
          </p:cNvSpPr>
          <p:nvPr/>
        </p:nvSpPr>
        <p:spPr>
          <a:xfrm>
            <a:off x="376659" y="2223821"/>
            <a:ext cx="720725" cy="646331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rgbClr val="0174AB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zh-HK" altLang="en-US" sz="3600" b="1" dirty="0">
              <a:solidFill>
                <a:srgbClr val="0174AB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文本框 19"/>
          <p:cNvSpPr txBox="1">
            <a:spLocks noChangeAspect="1"/>
          </p:cNvSpPr>
          <p:nvPr/>
        </p:nvSpPr>
        <p:spPr>
          <a:xfrm>
            <a:off x="376659" y="3245890"/>
            <a:ext cx="720725" cy="654050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rgbClr val="92D14F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HK" altLang="en-US" sz="3600" b="1" dirty="0">
              <a:solidFill>
                <a:srgbClr val="92D14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307610" y="3340556"/>
            <a:ext cx="706021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局部样式，修饰网页部分标签的特殊样式，一般采用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id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选择器 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，</a:t>
            </a:r>
            <a:r>
              <a:rPr lang="en-US" altLang="zh-CN" sz="2400" dirty="0" err="1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css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类选择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器进行修饰。</a:t>
            </a:r>
            <a:endParaRPr lang="zh-CN" altLang="en-US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43274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591108" y="6043613"/>
            <a:ext cx="552894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14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3" y="1034001"/>
            <a:ext cx="56712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样式的并列和从属关系的应用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3-4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254446" y="2045561"/>
            <a:ext cx="8191272" cy="12003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.p1,.p2{</a:t>
            </a:r>
          </a:p>
          <a:p>
            <a:r>
              <a:rPr lang="en-US" altLang="zh-CN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/*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并列关系，设置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p1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和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p2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具有相同的样式，中间用逗号*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/</a:t>
            </a:r>
          </a:p>
          <a:p>
            <a:r>
              <a:rPr lang="en-US" altLang="zh-CN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}</a:t>
            </a:r>
            <a:endParaRPr lang="zh-CN" altLang="en-US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</p:txBody>
      </p:sp>
      <p:sp>
        <p:nvSpPr>
          <p:cNvPr id="19" name="文本框 18"/>
          <p:cNvSpPr txBox="1">
            <a:spLocks noChangeAspect="1"/>
          </p:cNvSpPr>
          <p:nvPr/>
        </p:nvSpPr>
        <p:spPr>
          <a:xfrm>
            <a:off x="376659" y="2223821"/>
            <a:ext cx="720725" cy="646331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rgbClr val="0174AB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zh-HK" altLang="en-US" sz="3600" b="1" dirty="0">
              <a:solidFill>
                <a:srgbClr val="0174AB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文本框 19"/>
          <p:cNvSpPr txBox="1">
            <a:spLocks noChangeAspect="1"/>
          </p:cNvSpPr>
          <p:nvPr/>
        </p:nvSpPr>
        <p:spPr>
          <a:xfrm>
            <a:off x="376659" y="3703090"/>
            <a:ext cx="720725" cy="654050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rgbClr val="92D14F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HK" altLang="en-US" sz="3600" b="1" dirty="0">
              <a:solidFill>
                <a:srgbClr val="92D14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254446" y="3444422"/>
            <a:ext cx="748551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.p2 span{</a:t>
            </a:r>
          </a:p>
          <a:p>
            <a:r>
              <a:rPr lang="en-US" altLang="zh-CN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/*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从属关系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,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分别设置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p1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和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p2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下的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span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样式，中间用空格*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/</a:t>
            </a:r>
          </a:p>
          <a:p>
            <a:r>
              <a:rPr lang="en-US" altLang="zh-CN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}</a:t>
            </a:r>
            <a:endParaRPr lang="zh-CN" altLang="en-US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65829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591108" y="6043613"/>
            <a:ext cx="552894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15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4" y="1034001"/>
            <a:ext cx="356604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样式优先级的测试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3-5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00770" y="2010811"/>
            <a:ext cx="860174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CSS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样式的优先级关系是：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内联样式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&gt;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内部样式表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&gt;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外部样式表</a:t>
            </a:r>
          </a:p>
          <a:p>
            <a:pPr>
              <a:lnSpc>
                <a:spcPct val="150000"/>
              </a:lnSpc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权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值越大，优先级越高，在权值相同的情况下，后定义的样式优先级高。具体权值规定如下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：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1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、内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联样式表的权值最高 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1000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en-US" altLang="zh-CN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2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、</a:t>
            </a:r>
            <a:r>
              <a:rPr lang="en-US" altLang="zh-CN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ID 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选择器的权值为 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100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。</a:t>
            </a:r>
            <a:endParaRPr lang="en-US" altLang="zh-CN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3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、</a:t>
            </a:r>
            <a:r>
              <a:rPr lang="en-US" altLang="zh-CN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Class 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类选择器的权值为 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10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。</a:t>
            </a:r>
            <a:endParaRPr lang="en-US" altLang="zh-CN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4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、</a:t>
            </a:r>
            <a:r>
              <a:rPr lang="en-US" altLang="zh-CN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HTML 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标签选择器的权值为 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1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。</a:t>
            </a:r>
            <a:endParaRPr lang="zh-CN" altLang="en-US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8303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601740" y="6043613"/>
            <a:ext cx="542261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16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3" y="1034001"/>
            <a:ext cx="726617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使用伪类选择器定义超链接的显示效果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3-6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84963" y="2328277"/>
            <a:ext cx="8235175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超链接&lt;a&gt;标签的常见状态及所代表的含义：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1、a:link：未访问的链接 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2、a:visited：已访问的链接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3、a:hover：鼠标移动到链接上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4、a:active：选定的链接，即鼠标按下去的时候不松开显示的状态</a:t>
            </a:r>
          </a:p>
        </p:txBody>
      </p:sp>
    </p:spTree>
    <p:extLst>
      <p:ext uri="{BB962C8B-B14F-4D97-AF65-F5344CB8AC3E}">
        <p14:creationId xmlns:p14="http://schemas.microsoft.com/office/powerpoint/2010/main" val="3814268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612372" y="6043613"/>
            <a:ext cx="531629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17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3-6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 bwMode="auto">
          <a:xfrm>
            <a:off x="376658" y="1021933"/>
            <a:ext cx="699973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dirty="0" err="1" smtClean="0"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css</a:t>
            </a:r>
            <a:r>
              <a:rPr lang="zh-CN" altLang="en-US" sz="3600" dirty="0"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选择器</a:t>
            </a:r>
            <a:endParaRPr kumimoji="0" lang="zh-CN" altLang="en-US" sz="2400" kern="1200" cap="none" spc="0" normalizeH="0" baseline="0" noProof="0" dirty="0">
              <a:solidFill>
                <a:schemeClr val="tx1">
                  <a:lumMod val="95000"/>
                  <a:lumOff val="5000"/>
                </a:schemeClr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17088" y="1945263"/>
            <a:ext cx="8509824" cy="378565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要使用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css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对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HTML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页面中的元素实现一对一，一对多或者多对一的控制，这就需要用到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CSS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选择器。每一条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css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样式定义由两部分组成，形式如下： 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[code] 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选择器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{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样式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} [/code] 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在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{}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之前的部分就是“选择器”。 “选择器”指明了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{}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中的“样式”的作用对象，也就是“样式”作用于网页中的哪些元素。</a:t>
            </a:r>
          </a:p>
        </p:txBody>
      </p:sp>
    </p:spTree>
    <p:extLst>
      <p:ext uri="{BB962C8B-B14F-4D97-AF65-F5344CB8AC3E}">
        <p14:creationId xmlns:p14="http://schemas.microsoft.com/office/powerpoint/2010/main" val="2083959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616044" y="6043613"/>
            <a:ext cx="527957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18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4" y="1034001"/>
            <a:ext cx="266227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创建盒子模型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3-7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19" name="文本框 18"/>
          <p:cNvSpPr txBox="1">
            <a:spLocks noChangeAspect="1"/>
          </p:cNvSpPr>
          <p:nvPr/>
        </p:nvSpPr>
        <p:spPr>
          <a:xfrm>
            <a:off x="376660" y="2459503"/>
            <a:ext cx="720725" cy="646331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rgbClr val="0174AB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zh-HK" altLang="en-US" sz="3600" b="1" dirty="0">
              <a:solidFill>
                <a:srgbClr val="0174AB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文本框 19"/>
          <p:cNvSpPr txBox="1">
            <a:spLocks noChangeAspect="1"/>
          </p:cNvSpPr>
          <p:nvPr/>
        </p:nvSpPr>
        <p:spPr>
          <a:xfrm>
            <a:off x="376660" y="3817273"/>
            <a:ext cx="720725" cy="654050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rgbClr val="92D14F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HK" altLang="en-US" sz="3600" b="1" dirty="0">
              <a:solidFill>
                <a:srgbClr val="92D14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097386" y="2366243"/>
            <a:ext cx="59413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div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默认不占据空间，没有颜色和边框等。</a:t>
            </a:r>
            <a:endParaRPr lang="zh-CN" altLang="en-US" sz="2400" dirty="0">
              <a:solidFill>
                <a:schemeClr val="tx1">
                  <a:lumMod val="95000"/>
                  <a:lumOff val="5000"/>
                </a:schemeClr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110249" y="3770643"/>
            <a:ext cx="42910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div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默认宽度和浏览器一样长。</a:t>
            </a:r>
            <a:endParaRPr lang="zh-CN" altLang="en-US" sz="2400" dirty="0">
              <a:solidFill>
                <a:schemeClr val="tx1">
                  <a:lumMod val="95000"/>
                  <a:lumOff val="5000"/>
                </a:schemeClr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23" name="文本框 22"/>
          <p:cNvSpPr txBox="1">
            <a:spLocks noChangeAspect="1"/>
          </p:cNvSpPr>
          <p:nvPr/>
        </p:nvSpPr>
        <p:spPr>
          <a:xfrm>
            <a:off x="389524" y="5081783"/>
            <a:ext cx="720725" cy="646331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 smtClean="0">
                <a:solidFill>
                  <a:srgbClr val="0174AB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endParaRPr lang="zh-HK" altLang="en-US" sz="3600" b="1" dirty="0">
              <a:solidFill>
                <a:srgbClr val="0174AB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110249" y="5081783"/>
            <a:ext cx="42910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d</a:t>
            </a: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iv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宽度再小都要占据一整行。</a:t>
            </a:r>
            <a:endParaRPr lang="zh-CN" altLang="en-US" sz="2400" dirty="0">
              <a:solidFill>
                <a:schemeClr val="tx1">
                  <a:lumMod val="95000"/>
                  <a:lumOff val="5000"/>
                </a:schemeClr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99850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601740" y="6043613"/>
            <a:ext cx="542262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19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4" y="1034001"/>
            <a:ext cx="266227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创建盒子模型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3-7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4869" y="1887855"/>
            <a:ext cx="6430066" cy="4558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223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591108" y="6043613"/>
            <a:ext cx="552894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b="1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20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4" y="1034001"/>
            <a:ext cx="266227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创建盒子模型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3-7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69083" y="2074283"/>
            <a:ext cx="3075950" cy="15696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margin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是指从自身边框到另一个容器边框之间的距离，就是容器外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距离。</a:t>
            </a:r>
            <a:endParaRPr lang="zh-CN" altLang="en-US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</p:txBody>
      </p:sp>
      <p:sp>
        <p:nvSpPr>
          <p:cNvPr id="11" name="文本框 10"/>
          <p:cNvSpPr txBox="1">
            <a:spLocks noChangeAspect="1"/>
          </p:cNvSpPr>
          <p:nvPr/>
        </p:nvSpPr>
        <p:spPr>
          <a:xfrm>
            <a:off x="48358" y="2528630"/>
            <a:ext cx="720725" cy="646331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rgbClr val="0174AB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zh-HK" altLang="en-US" sz="3600" b="1" dirty="0">
              <a:solidFill>
                <a:srgbClr val="0174AB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文本框 11"/>
          <p:cNvSpPr txBox="1">
            <a:spLocks noChangeAspect="1"/>
          </p:cNvSpPr>
          <p:nvPr/>
        </p:nvSpPr>
        <p:spPr>
          <a:xfrm>
            <a:off x="48358" y="4704134"/>
            <a:ext cx="720725" cy="654050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rgbClr val="92D14F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HK" altLang="en-US" sz="3600" b="1" dirty="0">
              <a:solidFill>
                <a:srgbClr val="92D14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59005" y="4098290"/>
            <a:ext cx="308602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padding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是指自身边框到自身内部另一个容器边框之间的距离，就是容器内距离。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2913" y="2390085"/>
            <a:ext cx="4467225" cy="3152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624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612372" y="6043613"/>
            <a:ext cx="531629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21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3" y="1034001"/>
            <a:ext cx="491637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CSS</a:t>
            </a: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浮动</a:t>
            </a:r>
            <a:r>
              <a:rPr lang="en-US" altLang="zh-CN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float</a:t>
            </a: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属性的使用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3-8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51087" y="1887855"/>
            <a:ext cx="8269051" cy="452431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float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的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作用，通过</a:t>
            </a:r>
            <a:r>
              <a:rPr lang="en-US" altLang="zh-CN" sz="2400" dirty="0" err="1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css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定义</a:t>
            </a:r>
            <a:r>
              <a:rPr lang="en-US" altLang="zh-CN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float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让</a:t>
            </a:r>
            <a:r>
              <a:rPr lang="en-US" altLang="zh-CN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div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样式层块，向左或向右浮动。</a:t>
            </a:r>
            <a:endParaRPr lang="zh-CN" altLang="en-US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float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常跟属性值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left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、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right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、</a:t>
            </a:r>
            <a:r>
              <a:rPr lang="en-US" altLang="zh-CN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none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。</a:t>
            </a:r>
            <a:endParaRPr lang="en-US" altLang="zh-CN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2400" dirty="0" err="1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float:none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不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使用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浮动。</a:t>
            </a:r>
            <a:endParaRPr lang="zh-CN" altLang="en-US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2400" dirty="0" err="1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float:left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靠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左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浮动。</a:t>
            </a:r>
            <a:endParaRPr lang="zh-CN" altLang="en-US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2400" dirty="0" err="1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float:right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靠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右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浮动。</a:t>
            </a:r>
            <a:endParaRPr lang="zh-CN" altLang="en-US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51640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591108" y="6043613"/>
            <a:ext cx="552894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22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4" y="1034001"/>
            <a:ext cx="494827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常用文本样式属性的使用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3-9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76658" y="2075478"/>
            <a:ext cx="8343480" cy="378565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text-shadow: 5px 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5px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 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5px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 #FF0000;</a:t>
            </a:r>
          </a:p>
          <a:p>
            <a:pPr>
              <a:lnSpc>
                <a:spcPct val="200000"/>
              </a:lnSpc>
            </a:pP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text-shadow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属性的第一个值表示水平位移；第二个值表示垂直位移，正值偏右或偏下；负值偏上或偏左；第三个值表示模糊半径，该值可选；第四个值表示阴影的颜色，该值可选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。</a:t>
            </a:r>
            <a:endParaRPr lang="zh-CN" altLang="en-US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77594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601740" y="6043613"/>
            <a:ext cx="542261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23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4" y="1034001"/>
            <a:ext cx="494827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常用文本样式属性的使用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3-9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11" name="文本框 10">
            <a:extLst/>
          </p:cNvPr>
          <p:cNvSpPr txBox="1">
            <a:spLocks noChangeAspect="1"/>
          </p:cNvSpPr>
          <p:nvPr/>
        </p:nvSpPr>
        <p:spPr>
          <a:xfrm>
            <a:off x="460375" y="2185731"/>
            <a:ext cx="720725" cy="646113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rgbClr val="0174AB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zh-HK" altLang="en-US" sz="3600" b="1" dirty="0">
              <a:solidFill>
                <a:srgbClr val="0174AB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矩形 38">
            <a:extLst/>
          </p:cNvPr>
          <p:cNvSpPr>
            <a:spLocks noChangeArrowheads="1"/>
          </p:cNvSpPr>
          <p:nvPr/>
        </p:nvSpPr>
        <p:spPr bwMode="auto">
          <a:xfrm>
            <a:off x="1261765" y="2093656"/>
            <a:ext cx="714216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字体安装到客户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机。</a:t>
            </a:r>
            <a:endParaRPr lang="en-US" altLang="zh-CN" sz="2400" dirty="0">
              <a:solidFill>
                <a:schemeClr val="tx1">
                  <a:lumMod val="95000"/>
                  <a:lumOff val="5000"/>
                </a:schemeClr>
              </a:solidFill>
              <a:latin typeface="方正粗活意简体" pitchFamily="65" charset="-122"/>
              <a:ea typeface="方正粗活意简体" pitchFamily="65" charset="-122"/>
            </a:endParaRPr>
          </a:p>
        </p:txBody>
      </p:sp>
      <p:sp>
        <p:nvSpPr>
          <p:cNvPr id="13" name="文本框 12">
            <a:extLst/>
          </p:cNvPr>
          <p:cNvSpPr txBox="1">
            <a:spLocks noChangeAspect="1"/>
          </p:cNvSpPr>
          <p:nvPr/>
        </p:nvSpPr>
        <p:spPr>
          <a:xfrm>
            <a:off x="460375" y="3388690"/>
            <a:ext cx="720725" cy="654050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rgbClr val="92D14F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HK" altLang="en-US" sz="3600" b="1" dirty="0">
              <a:solidFill>
                <a:srgbClr val="92D14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文本框 14">
            <a:extLst/>
          </p:cNvPr>
          <p:cNvSpPr txBox="1">
            <a:spLocks noChangeAspect="1"/>
          </p:cNvSpPr>
          <p:nvPr/>
        </p:nvSpPr>
        <p:spPr>
          <a:xfrm>
            <a:off x="460375" y="4557055"/>
            <a:ext cx="720725" cy="646112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rgbClr val="0174AB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endParaRPr lang="zh-HK" altLang="en-US" sz="3600" b="1" dirty="0">
              <a:solidFill>
                <a:srgbClr val="0174AB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矩形 38">
            <a:extLst/>
          </p:cNvPr>
          <p:cNvSpPr>
            <a:spLocks noChangeArrowheads="1"/>
          </p:cNvSpPr>
          <p:nvPr/>
        </p:nvSpPr>
        <p:spPr bwMode="auto">
          <a:xfrm>
            <a:off x="1325563" y="3418853"/>
            <a:ext cx="71421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defRPr/>
            </a:pP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字体拷贝到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服务器。</a:t>
            </a:r>
            <a:endParaRPr lang="zh-HK" altLang="zh-HK" sz="2400" dirty="0">
              <a:solidFill>
                <a:schemeClr val="tx1">
                  <a:lumMod val="95000"/>
                  <a:lumOff val="5000"/>
                </a:schemeClr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19" name="矩形 38">
            <a:extLst/>
          </p:cNvPr>
          <p:cNvSpPr>
            <a:spLocks noChangeArrowheads="1"/>
          </p:cNvSpPr>
          <p:nvPr/>
        </p:nvSpPr>
        <p:spPr bwMode="auto">
          <a:xfrm>
            <a:off x="1325563" y="4515780"/>
            <a:ext cx="7142162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defRPr/>
            </a:pP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远程调用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http://fonts.googleapis.com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字体样式，需要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联网。</a:t>
            </a:r>
            <a:r>
              <a:rPr lang="en-US" altLang="zh-CN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endParaRPr lang="zh-HK" altLang="zh-HK" sz="3200" dirty="0">
              <a:solidFill>
                <a:schemeClr val="tx1">
                  <a:lumMod val="95000"/>
                  <a:lumOff val="5000"/>
                </a:schemeClr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8670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548576" y="6043613"/>
            <a:ext cx="595425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24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4" y="1034001"/>
            <a:ext cx="494827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常用文本样式属性的使用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3-9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20" name="文本框 19">
            <a:extLst/>
          </p:cNvPr>
          <p:cNvSpPr txBox="1">
            <a:spLocks noChangeAspect="1"/>
          </p:cNvSpPr>
          <p:nvPr/>
        </p:nvSpPr>
        <p:spPr>
          <a:xfrm>
            <a:off x="460375" y="2243138"/>
            <a:ext cx="720725" cy="646112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rgbClr val="0174AB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zh-HK" altLang="en-US" sz="3600" b="1" dirty="0">
              <a:solidFill>
                <a:srgbClr val="0174AB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矩形 38">
            <a:extLst/>
          </p:cNvPr>
          <p:cNvSpPr>
            <a:spLocks noChangeArrowheads="1"/>
          </p:cNvSpPr>
          <p:nvPr/>
        </p:nvSpPr>
        <p:spPr bwMode="auto">
          <a:xfrm>
            <a:off x="1325563" y="1990725"/>
            <a:ext cx="7142162" cy="114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itchFamily="65" charset="-122"/>
                <a:ea typeface="方正粗活意简体" pitchFamily="65" charset="-122"/>
              </a:rPr>
              <a:t>径向渐变：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itchFamily="65" charset="-122"/>
                <a:ea typeface="方正粗活意简体" pitchFamily="65" charset="-122"/>
              </a:rPr>
              <a:t>background: radial-gradient(center, shape size, start-color, ..., last-color);</a:t>
            </a:r>
          </a:p>
        </p:txBody>
      </p:sp>
      <p:sp>
        <p:nvSpPr>
          <p:cNvPr id="22" name="文本框 21">
            <a:extLst/>
          </p:cNvPr>
          <p:cNvSpPr txBox="1">
            <a:spLocks noChangeAspect="1"/>
          </p:cNvSpPr>
          <p:nvPr/>
        </p:nvSpPr>
        <p:spPr>
          <a:xfrm>
            <a:off x="460375" y="4244975"/>
            <a:ext cx="720725" cy="646113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rgbClr val="92D14F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HK" altLang="en-US" sz="3600" b="1" dirty="0">
              <a:solidFill>
                <a:srgbClr val="92D14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文本框 3"/>
          <p:cNvSpPr txBox="1">
            <a:spLocks noChangeArrowheads="1"/>
          </p:cNvSpPr>
          <p:nvPr/>
        </p:nvSpPr>
        <p:spPr bwMode="auto">
          <a:xfrm>
            <a:off x="1382713" y="3968750"/>
            <a:ext cx="724535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itchFamily="65" charset="-122"/>
                <a:ea typeface="方正粗活意简体" pitchFamily="65" charset="-122"/>
              </a:rPr>
              <a:t>线性渐变：</a:t>
            </a: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itchFamily="65" charset="-122"/>
                <a:ea typeface="方正粗活意简体" pitchFamily="65" charset="-122"/>
              </a:rPr>
              <a:t>background: linear-gradient(direction, color-stop1, color-stop2, ...);</a:t>
            </a:r>
          </a:p>
        </p:txBody>
      </p:sp>
    </p:spTree>
    <p:extLst>
      <p:ext uri="{BB962C8B-B14F-4D97-AF65-F5344CB8AC3E}">
        <p14:creationId xmlns:p14="http://schemas.microsoft.com/office/powerpoint/2010/main" val="3075468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601740" y="6043613"/>
            <a:ext cx="542261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25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4" y="1034001"/>
            <a:ext cx="494827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常用文本样式属性的使用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3-9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13" name="矩形 38">
            <a:extLst/>
          </p:cNvPr>
          <p:cNvSpPr>
            <a:spLocks noChangeArrowheads="1"/>
          </p:cNvSpPr>
          <p:nvPr/>
        </p:nvSpPr>
        <p:spPr bwMode="auto">
          <a:xfrm>
            <a:off x="388088" y="1864998"/>
            <a:ext cx="8367823" cy="46156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itchFamily="65" charset="-122"/>
                <a:ea typeface="方正粗活意简体" pitchFamily="65" charset="-122"/>
              </a:rPr>
              <a:t>border-radius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itchFamily="65" charset="-122"/>
                <a:ea typeface="方正粗活意简体" pitchFamily="65" charset="-122"/>
              </a:rPr>
              <a:t>圆角属性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itchFamily="65" charset="-122"/>
                <a:ea typeface="方正粗活意简体" pitchFamily="65" charset="-122"/>
              </a:rPr>
              <a:t>是一个简写属性，用于设置四个 </a:t>
            </a: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itchFamily="65" charset="-122"/>
                <a:ea typeface="方正粗活意简体" pitchFamily="65" charset="-122"/>
              </a:rPr>
              <a:t>border-*-radius 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itchFamily="65" charset="-122"/>
                <a:ea typeface="方正粗活意简体" pitchFamily="65" charset="-122"/>
              </a:rPr>
              <a:t>属性：</a:t>
            </a: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itchFamily="65" charset="-122"/>
                <a:ea typeface="方正粗活意简体" pitchFamily="65" charset="-122"/>
              </a:rPr>
              <a:t>border-radius-top-left          </a:t>
            </a: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itchFamily="65" charset="-122"/>
                <a:ea typeface="方正粗活意简体" pitchFamily="65" charset="-122"/>
              </a:rPr>
              <a:t>/*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itchFamily="65" charset="-122"/>
                <a:ea typeface="方正粗活意简体" pitchFamily="65" charset="-122"/>
              </a:rPr>
              <a:t>左上角*</a:t>
            </a: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itchFamily="65" charset="-122"/>
                <a:ea typeface="方正粗活意简体" pitchFamily="65" charset="-122"/>
              </a:rPr>
              <a:t>/</a:t>
            </a: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itchFamily="65" charset="-122"/>
                <a:ea typeface="方正粗活意简体" pitchFamily="65" charset="-122"/>
              </a:rPr>
              <a:t>border-radius-top-right        </a:t>
            </a: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itchFamily="65" charset="-122"/>
                <a:ea typeface="方正粗活意简体" pitchFamily="65" charset="-122"/>
              </a:rPr>
              <a:t>/*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itchFamily="65" charset="-122"/>
                <a:ea typeface="方正粗活意简体" pitchFamily="65" charset="-122"/>
              </a:rPr>
              <a:t>右上角*</a:t>
            </a: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itchFamily="65" charset="-122"/>
                <a:ea typeface="方正粗活意简体" pitchFamily="65" charset="-122"/>
              </a:rPr>
              <a:t>/</a:t>
            </a: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itchFamily="65" charset="-122"/>
                <a:ea typeface="方正粗活意简体" pitchFamily="65" charset="-122"/>
              </a:rPr>
              <a:t>border-radius-bottom-right    </a:t>
            </a: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itchFamily="65" charset="-122"/>
                <a:ea typeface="方正粗活意简体" pitchFamily="65" charset="-122"/>
              </a:rPr>
              <a:t>/*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itchFamily="65" charset="-122"/>
                <a:ea typeface="方正粗活意简体" pitchFamily="65" charset="-122"/>
              </a:rPr>
              <a:t>右下角*</a:t>
            </a: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itchFamily="65" charset="-122"/>
                <a:ea typeface="方正粗活意简体" pitchFamily="65" charset="-122"/>
              </a:rPr>
              <a:t>/</a:t>
            </a: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itchFamily="65" charset="-122"/>
                <a:ea typeface="方正粗活意简体" pitchFamily="65" charset="-122"/>
              </a:rPr>
              <a:t>border-radius-bottom-left     </a:t>
            </a: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itchFamily="65" charset="-122"/>
                <a:ea typeface="方正粗活意简体" pitchFamily="65" charset="-122"/>
              </a:rPr>
              <a:t>/*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itchFamily="65" charset="-122"/>
                <a:ea typeface="方正粗活意简体" pitchFamily="65" charset="-122"/>
              </a:rPr>
              <a:t>左下角*</a:t>
            </a: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itchFamily="65" charset="-122"/>
                <a:ea typeface="方正粗活意简体" pitchFamily="65" charset="-122"/>
              </a:rPr>
              <a:t>/</a:t>
            </a: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itchFamily="65" charset="-122"/>
                <a:ea typeface="方正粗活意简体" pitchFamily="65" charset="-122"/>
              </a:rPr>
              <a:t>也就是说，四个圆角属性按顺时针方向从左上角开始设置，具体语法格式为：</a:t>
            </a: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itchFamily="65" charset="-122"/>
                <a:ea typeface="方正粗活意简体" pitchFamily="65" charset="-122"/>
              </a:rPr>
              <a:t>border-radius: 1-4 length|% / 1-4 length|%;</a:t>
            </a: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方正粗活意简体" pitchFamily="65" charset="-122"/>
              <a:ea typeface="方正粗活意简体" pitchFamily="65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10059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601740" y="6043613"/>
            <a:ext cx="542261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26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4" y="1034001"/>
            <a:ext cx="494827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常用文本样式属性的使用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3-9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13" name="矩形 38">
            <a:extLst/>
          </p:cNvPr>
          <p:cNvSpPr>
            <a:spLocks noChangeArrowheads="1"/>
          </p:cNvSpPr>
          <p:nvPr/>
        </p:nvSpPr>
        <p:spPr bwMode="auto">
          <a:xfrm>
            <a:off x="388088" y="1864998"/>
            <a:ext cx="8367823" cy="4708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itchFamily="65" charset="-122"/>
                <a:ea typeface="方正粗活意简体" pitchFamily="65" charset="-122"/>
              </a:rPr>
              <a:t>CSS3 Filter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itchFamily="65" charset="-122"/>
                <a:ea typeface="方正粗活意简体" pitchFamily="65" charset="-122"/>
              </a:rPr>
              <a:t>（滤镜）属性提供了模糊和改变元素颜色的功能，即图片特效功能。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itchFamily="65" charset="-122"/>
                <a:ea typeface="方正粗活意简体" pitchFamily="65" charset="-122"/>
              </a:rPr>
              <a:t>CSS3 </a:t>
            </a:r>
            <a:r>
              <a:rPr lang="en-US" altLang="zh-CN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itchFamily="65" charset="-122"/>
                <a:ea typeface="方正粗活意简体" pitchFamily="65" charset="-122"/>
              </a:rPr>
              <a:t>Fitler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itchFamily="65" charset="-122"/>
                <a:ea typeface="方正粗活意简体" pitchFamily="65" charset="-122"/>
              </a:rPr>
              <a:t>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itchFamily="65" charset="-122"/>
                <a:ea typeface="方正粗活意简体" pitchFamily="65" charset="-122"/>
              </a:rPr>
              <a:t>常用于调整图像的渲染、背景或边框显示效果。语法格式如下：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itchFamily="65" charset="-122"/>
                <a:ea typeface="方正粗活意简体" pitchFamily="65" charset="-122"/>
              </a:rPr>
              <a:t>filter: none | &lt;filter-function &gt; [ &lt;filter-function&gt; ]*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itchFamily="65" charset="-122"/>
                <a:ea typeface="方正粗活意简体" pitchFamily="65" charset="-122"/>
              </a:rPr>
              <a:t>其默认值是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itchFamily="65" charset="-122"/>
                <a:ea typeface="方正粗活意简体" pitchFamily="65" charset="-122"/>
              </a:rPr>
              <a:t>none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itchFamily="65" charset="-122"/>
                <a:ea typeface="方正粗活意简体" pitchFamily="65" charset="-122"/>
              </a:rPr>
              <a:t>，他不具备继承性，其中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itchFamily="65" charset="-122"/>
                <a:ea typeface="方正粗活意简体" pitchFamily="65" charset="-122"/>
              </a:rPr>
              <a:t>filter-function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itchFamily="65" charset="-122"/>
                <a:ea typeface="方正粗活意简体" pitchFamily="65" charset="-122"/>
              </a:rPr>
              <a:t>有如下值可选：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itchFamily="65" charset="-122"/>
                <a:ea typeface="方正粗活意简体" pitchFamily="65" charset="-122"/>
              </a:rPr>
              <a:t>grayscale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itchFamily="65" charset="-122"/>
                <a:ea typeface="方正粗活意简体" pitchFamily="65" charset="-122"/>
              </a:rPr>
              <a:t>：灰度，值为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itchFamily="65" charset="-122"/>
                <a:ea typeface="方正粗活意简体" pitchFamily="65" charset="-122"/>
              </a:rPr>
              <a:t>0-1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itchFamily="65" charset="-122"/>
                <a:ea typeface="方正粗活意简体" pitchFamily="65" charset="-122"/>
              </a:rPr>
              <a:t>之间的小数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itchFamily="65" charset="-122"/>
                <a:ea typeface="方正粗活意简体" pitchFamily="65" charset="-122"/>
              </a:rPr>
              <a:t>sepia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itchFamily="65" charset="-122"/>
                <a:ea typeface="方正粗活意简体" pitchFamily="65" charset="-122"/>
              </a:rPr>
              <a:t>：褐色，值为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itchFamily="65" charset="-122"/>
                <a:ea typeface="方正粗活意简体" pitchFamily="65" charset="-122"/>
              </a:rPr>
              <a:t>0-1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itchFamily="65" charset="-122"/>
                <a:ea typeface="方正粗活意简体" pitchFamily="65" charset="-122"/>
              </a:rPr>
              <a:t>之间的小数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itchFamily="65" charset="-122"/>
                <a:ea typeface="方正粗活意简体" pitchFamily="65" charset="-122"/>
              </a:rPr>
              <a:t>saturate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itchFamily="65" charset="-122"/>
                <a:ea typeface="方正粗活意简体" pitchFamily="65" charset="-122"/>
              </a:rPr>
              <a:t>：饱和度，值为</a:t>
            </a:r>
            <a:r>
              <a:rPr lang="en-US" altLang="zh-CN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itchFamily="65" charset="-122"/>
                <a:ea typeface="方正粗活意简体" pitchFamily="65" charset="-122"/>
              </a:rPr>
              <a:t>num</a:t>
            </a: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方正粗活意简体" pitchFamily="65" charset="-122"/>
              <a:ea typeface="方正粗活意简体" pitchFamily="65" charset="-122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itchFamily="65" charset="-122"/>
                <a:ea typeface="方正粗活意简体" pitchFamily="65" charset="-122"/>
              </a:rPr>
              <a:t>hue-rotate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itchFamily="65" charset="-122"/>
                <a:ea typeface="方正粗活意简体" pitchFamily="65" charset="-122"/>
              </a:rPr>
              <a:t>：色相旋转，值为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itchFamily="65" charset="-122"/>
                <a:ea typeface="方正粗活意简体" pitchFamily="65" charset="-122"/>
              </a:rPr>
              <a:t>angle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itchFamily="65" charset="-122"/>
                <a:ea typeface="方正粗活意简体" pitchFamily="65" charset="-122"/>
              </a:rPr>
              <a:t>（角度）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itchFamily="65" charset="-122"/>
                <a:ea typeface="方正粗活意简体" pitchFamily="65" charset="-122"/>
              </a:rPr>
              <a:t>invert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itchFamily="65" charset="-122"/>
                <a:ea typeface="方正粗活意简体" pitchFamily="65" charset="-122"/>
              </a:rPr>
              <a:t>：反色，值为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itchFamily="65" charset="-122"/>
                <a:ea typeface="方正粗活意简体" pitchFamily="65" charset="-122"/>
              </a:rPr>
              <a:t>0-1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itchFamily="65" charset="-122"/>
                <a:ea typeface="方正粗活意简体" pitchFamily="65" charset="-122"/>
              </a:rPr>
              <a:t>之间的小数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itchFamily="65" charset="-122"/>
                <a:ea typeface="方正粗活意简体" pitchFamily="65" charset="-122"/>
              </a:rPr>
              <a:t>opacity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itchFamily="65" charset="-122"/>
                <a:ea typeface="方正粗活意简体" pitchFamily="65" charset="-122"/>
              </a:rPr>
              <a:t>：透明度，值为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itchFamily="65" charset="-122"/>
                <a:ea typeface="方正粗活意简体" pitchFamily="65" charset="-122"/>
              </a:rPr>
              <a:t>0-1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itchFamily="65" charset="-122"/>
                <a:ea typeface="方正粗活意简体" pitchFamily="65" charset="-122"/>
              </a:rPr>
              <a:t>之间的小数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itchFamily="65" charset="-122"/>
                <a:ea typeface="方正粗活意简体" pitchFamily="65" charset="-122"/>
              </a:rPr>
              <a:t>brightness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itchFamily="65" charset="-122"/>
                <a:ea typeface="方正粗活意简体" pitchFamily="65" charset="-122"/>
              </a:rPr>
              <a:t>：亮度，值为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itchFamily="65" charset="-122"/>
                <a:ea typeface="方正粗活意简体" pitchFamily="65" charset="-122"/>
              </a:rPr>
              <a:t>0-1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itchFamily="65" charset="-122"/>
                <a:ea typeface="方正粗活意简体" pitchFamily="65" charset="-122"/>
              </a:rPr>
              <a:t>之间的小数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itchFamily="65" charset="-122"/>
                <a:ea typeface="方正粗活意简体" pitchFamily="65" charset="-122"/>
              </a:rPr>
              <a:t>contrast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itchFamily="65" charset="-122"/>
                <a:ea typeface="方正粗活意简体" pitchFamily="65" charset="-122"/>
              </a:rPr>
              <a:t>：对比度，值为</a:t>
            </a:r>
            <a:r>
              <a:rPr lang="en-US" altLang="zh-CN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itchFamily="65" charset="-122"/>
                <a:ea typeface="方正粗活意简体" pitchFamily="65" charset="-122"/>
              </a:rPr>
              <a:t>num</a:t>
            </a: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方正粗活意简体" pitchFamily="65" charset="-122"/>
              <a:ea typeface="方正粗活意简体" pitchFamily="65" charset="-122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itchFamily="65" charset="-122"/>
                <a:ea typeface="方正粗活意简体" pitchFamily="65" charset="-122"/>
              </a:rPr>
              <a:t>blur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itchFamily="65" charset="-122"/>
                <a:ea typeface="方正粗活意简体" pitchFamily="65" charset="-122"/>
              </a:rPr>
              <a:t>：模糊，值为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itchFamily="65" charset="-122"/>
                <a:ea typeface="方正粗活意简体" pitchFamily="65" charset="-122"/>
              </a:rPr>
              <a:t>length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itchFamily="65" charset="-122"/>
                <a:ea typeface="方正粗活意简体" pitchFamily="65" charset="-122"/>
              </a:rPr>
              <a:t>（长度）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itchFamily="65" charset="-122"/>
                <a:ea typeface="方正粗活意简体" pitchFamily="65" charset="-122"/>
              </a:rPr>
              <a:t>drop-shadow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itchFamily="65" charset="-122"/>
                <a:ea typeface="方正粗活意简体" pitchFamily="65" charset="-122"/>
              </a:rPr>
              <a:t>阴影</a:t>
            </a: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方正粗活意简体" pitchFamily="65" charset="-122"/>
              <a:ea typeface="方正粗活意简体" pitchFamily="65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17303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612372" y="6043613"/>
            <a:ext cx="531629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b="1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27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4" y="1034001"/>
            <a:ext cx="472499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常用图片样式属性的使用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474689" y="284163"/>
            <a:ext cx="1524278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3-10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10" name="文本框 9">
            <a:extLst/>
          </p:cNvPr>
          <p:cNvSpPr txBox="1">
            <a:spLocks noChangeAspect="1"/>
          </p:cNvSpPr>
          <p:nvPr/>
        </p:nvSpPr>
        <p:spPr>
          <a:xfrm>
            <a:off x="460375" y="1898650"/>
            <a:ext cx="720725" cy="646113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rgbClr val="0174AB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zh-HK" altLang="en-US" sz="3600" b="1" dirty="0">
              <a:solidFill>
                <a:srgbClr val="0174AB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矩形 38">
            <a:extLst/>
          </p:cNvPr>
          <p:cNvSpPr>
            <a:spLocks noChangeArrowheads="1"/>
          </p:cNvSpPr>
          <p:nvPr/>
        </p:nvSpPr>
        <p:spPr bwMode="auto">
          <a:xfrm>
            <a:off x="1261765" y="1806575"/>
            <a:ext cx="714216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background-attachment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属性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使用。</a:t>
            </a:r>
            <a:endParaRPr lang="en-US" altLang="zh-CN" sz="2400" dirty="0">
              <a:solidFill>
                <a:schemeClr val="tx1">
                  <a:lumMod val="95000"/>
                  <a:lumOff val="5000"/>
                </a:schemeClr>
              </a:solidFill>
              <a:latin typeface="方正粗活意简体" pitchFamily="65" charset="-122"/>
              <a:ea typeface="方正粗活意简体" pitchFamily="65" charset="-122"/>
            </a:endParaRPr>
          </a:p>
        </p:txBody>
      </p:sp>
      <p:sp>
        <p:nvSpPr>
          <p:cNvPr id="12" name="文本框 11">
            <a:extLst/>
          </p:cNvPr>
          <p:cNvSpPr txBox="1">
            <a:spLocks noChangeAspect="1"/>
          </p:cNvSpPr>
          <p:nvPr/>
        </p:nvSpPr>
        <p:spPr>
          <a:xfrm>
            <a:off x="460375" y="2952750"/>
            <a:ext cx="720725" cy="654050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rgbClr val="92D14F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HK" altLang="en-US" sz="3600" b="1" dirty="0">
              <a:solidFill>
                <a:srgbClr val="92D14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文本框 12">
            <a:extLst/>
          </p:cNvPr>
          <p:cNvSpPr txBox="1">
            <a:spLocks noChangeAspect="1"/>
          </p:cNvSpPr>
          <p:nvPr/>
        </p:nvSpPr>
        <p:spPr>
          <a:xfrm>
            <a:off x="460375" y="4014788"/>
            <a:ext cx="720725" cy="646112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rgbClr val="0174AB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endParaRPr lang="zh-HK" altLang="en-US" sz="3600" b="1" dirty="0">
              <a:solidFill>
                <a:srgbClr val="0174AB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文本框 14">
            <a:extLst/>
          </p:cNvPr>
          <p:cNvSpPr txBox="1">
            <a:spLocks noChangeAspect="1"/>
          </p:cNvSpPr>
          <p:nvPr/>
        </p:nvSpPr>
        <p:spPr>
          <a:xfrm>
            <a:off x="460375" y="5194300"/>
            <a:ext cx="720725" cy="646113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rgbClr val="92D14F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endParaRPr lang="zh-HK" altLang="en-US" sz="3600" b="1" dirty="0">
              <a:solidFill>
                <a:srgbClr val="92D14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矩形 38">
            <a:extLst/>
          </p:cNvPr>
          <p:cNvSpPr>
            <a:spLocks noChangeArrowheads="1"/>
          </p:cNvSpPr>
          <p:nvPr/>
        </p:nvSpPr>
        <p:spPr bwMode="auto">
          <a:xfrm>
            <a:off x="1325563" y="2982913"/>
            <a:ext cx="71421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zh-HK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background-position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属性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使用。</a:t>
            </a:r>
            <a:endParaRPr lang="zh-HK" altLang="zh-HK" sz="2400" dirty="0">
              <a:solidFill>
                <a:schemeClr val="tx1">
                  <a:lumMod val="95000"/>
                  <a:lumOff val="5000"/>
                </a:schemeClr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19" name="矩形 38">
            <a:extLst/>
          </p:cNvPr>
          <p:cNvSpPr>
            <a:spLocks noChangeArrowheads="1"/>
          </p:cNvSpPr>
          <p:nvPr/>
        </p:nvSpPr>
        <p:spPr bwMode="auto">
          <a:xfrm>
            <a:off x="1325563" y="3973513"/>
            <a:ext cx="71421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background-origin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属性使用。</a:t>
            </a:r>
            <a:r>
              <a:rPr lang="en-US" altLang="zh-CN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endParaRPr lang="zh-HK" altLang="zh-HK" sz="3200" dirty="0">
              <a:solidFill>
                <a:schemeClr val="tx1">
                  <a:lumMod val="95000"/>
                  <a:lumOff val="5000"/>
                </a:schemeClr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20" name="文本框 19">
            <a:extLst/>
          </p:cNvPr>
          <p:cNvSpPr txBox="1"/>
          <p:nvPr/>
        </p:nvSpPr>
        <p:spPr>
          <a:xfrm>
            <a:off x="1325563" y="5286375"/>
            <a:ext cx="6296025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background-size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属性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使用。</a:t>
            </a:r>
            <a:endParaRPr lang="zh-CN" altLang="en-US" sz="2400" dirty="0">
              <a:solidFill>
                <a:schemeClr val="tx1">
                  <a:lumMod val="95000"/>
                  <a:lumOff val="5000"/>
                </a:schemeClr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85669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612372" y="6043613"/>
            <a:ext cx="531629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28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4" y="1034001"/>
            <a:ext cx="43292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CSS3</a:t>
            </a: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图片背景的使用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134447" y="284163"/>
            <a:ext cx="1864519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3-11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98721" y="1783255"/>
            <a:ext cx="8346558" cy="46660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background</a:t>
            </a:r>
            <a:r>
              <a:rPr lang="zh-CN" altLang="en-US" sz="20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-origin属性用来指定背景图像的定位区域，即规定 background-position 属性相对于什么位置来定位。其语法格式为：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background-origin: padding-box|border-box|content-box;</a:t>
            </a: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1</a:t>
            </a:r>
            <a:r>
              <a:rPr lang="zh-CN" altLang="en-US" sz="20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、padding</a:t>
            </a:r>
            <a:r>
              <a:rPr lang="zh-CN" altLang="en-US" sz="20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-box(padding)：此值为background-origin的默认值，决定background-position起始位置从padding的外边缘（border的内边缘）开始显示背景图片。</a:t>
            </a: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2</a:t>
            </a:r>
            <a:r>
              <a:rPr lang="zh-CN" altLang="en-US" sz="20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、border</a:t>
            </a:r>
            <a:r>
              <a:rPr lang="zh-CN" altLang="en-US" sz="20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-box(border)：此值决定background-position起始位置从border的外边缘开始显示背景图片。</a:t>
            </a: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3</a:t>
            </a:r>
            <a:r>
              <a:rPr lang="zh-CN" altLang="en-US" sz="20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、content</a:t>
            </a:r>
            <a:r>
              <a:rPr lang="zh-CN" altLang="en-US" sz="20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-box(content)：此值决定background-position起始位置从content的外边缘（padding的内边缘）开始显示背景图片。</a:t>
            </a:r>
          </a:p>
        </p:txBody>
      </p:sp>
    </p:spTree>
    <p:extLst>
      <p:ext uri="{BB962C8B-B14F-4D97-AF65-F5344CB8AC3E}">
        <p14:creationId xmlns:p14="http://schemas.microsoft.com/office/powerpoint/2010/main" val="4127816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612372" y="6043613"/>
            <a:ext cx="531629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29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4" y="1034001"/>
            <a:ext cx="43292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CSS3</a:t>
            </a: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图片背景的使用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134447" y="284163"/>
            <a:ext cx="1864519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3-11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61507" y="1864998"/>
            <a:ext cx="8637459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background</a:t>
            </a:r>
            <a:r>
              <a:rPr lang="zh-CN" altLang="en-US" sz="20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-size属性用来指定背景图像的大小，其语法格式为：</a:t>
            </a:r>
          </a:p>
          <a:p>
            <a:r>
              <a:rPr lang="zh-CN" altLang="en-US" sz="20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background-size: length|percentage|cover|contain;</a:t>
            </a:r>
          </a:p>
          <a:p>
            <a:r>
              <a:rPr lang="zh-CN" altLang="en-US" sz="20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在具体使用时，在background-repeat属性值为no-repeat的情况下，如果容器宽高比与图片宽高比不同：</a:t>
            </a:r>
          </a:p>
          <a:p>
            <a:r>
              <a:rPr lang="en-US" altLang="zh-CN" sz="20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1</a:t>
            </a:r>
            <a:r>
              <a:rPr lang="zh-CN" altLang="en-US" sz="20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、cover</a:t>
            </a:r>
            <a:r>
              <a:rPr lang="zh-CN" altLang="en-US" sz="20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：图片宽高比不变、铺满整个容器的宽高，而图片多出的部分则会被截掉；</a:t>
            </a:r>
          </a:p>
          <a:p>
            <a:r>
              <a:rPr lang="en-US" altLang="zh-CN" sz="20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2</a:t>
            </a:r>
            <a:r>
              <a:rPr lang="zh-CN" altLang="en-US" sz="20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、contain</a:t>
            </a:r>
            <a:r>
              <a:rPr lang="zh-CN" altLang="en-US" sz="20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:图片自身的宽高比不变，缩放至图片自身能完全显示出来，所以容器会有留白区域；</a:t>
            </a:r>
          </a:p>
          <a:p>
            <a:r>
              <a:rPr lang="en-US" altLang="zh-CN" sz="20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3</a:t>
            </a:r>
            <a:r>
              <a:rPr lang="zh-CN" altLang="en-US" sz="20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、background</a:t>
            </a:r>
            <a:r>
              <a:rPr lang="zh-CN" altLang="en-US" sz="20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-size:auto：图片默认高度；</a:t>
            </a:r>
          </a:p>
          <a:p>
            <a:r>
              <a:rPr lang="en-US" altLang="zh-CN" sz="20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4</a:t>
            </a:r>
            <a:r>
              <a:rPr lang="zh-CN" altLang="en-US" sz="20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、background</a:t>
            </a:r>
            <a:r>
              <a:rPr lang="zh-CN" altLang="en-US" sz="20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-size:100px 50px：背景图片宽度100px，高度50px；</a:t>
            </a:r>
          </a:p>
          <a:p>
            <a:r>
              <a:rPr lang="en-US" altLang="zh-CN" sz="20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5</a:t>
            </a:r>
            <a:r>
              <a:rPr lang="zh-CN" altLang="en-US" sz="20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、background</a:t>
            </a:r>
            <a:r>
              <a:rPr lang="zh-CN" altLang="en-US" sz="20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-size:100px：背景图片高度和宽度都为100px；</a:t>
            </a:r>
          </a:p>
          <a:p>
            <a:r>
              <a:rPr lang="en-US" altLang="zh-CN" sz="20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6</a:t>
            </a:r>
            <a:r>
              <a:rPr lang="zh-CN" altLang="en-US" sz="20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、background</a:t>
            </a:r>
            <a:r>
              <a:rPr lang="zh-CN" altLang="en-US" sz="20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-size:100% 50%：背景图片宽度100%，高度50%；</a:t>
            </a:r>
          </a:p>
          <a:p>
            <a:r>
              <a:rPr lang="en-US" altLang="zh-CN" sz="20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7</a:t>
            </a:r>
            <a:r>
              <a:rPr lang="zh-CN" altLang="en-US" sz="20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、background</a:t>
            </a:r>
            <a:r>
              <a:rPr lang="zh-CN" altLang="en-US" sz="20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-size:50%：背景图片高度和宽度都为50%；</a:t>
            </a:r>
          </a:p>
        </p:txBody>
      </p:sp>
    </p:spTree>
    <p:extLst>
      <p:ext uri="{BB962C8B-B14F-4D97-AF65-F5344CB8AC3E}">
        <p14:creationId xmlns:p14="http://schemas.microsoft.com/office/powerpoint/2010/main" val="951973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601740" y="6043613"/>
            <a:ext cx="542261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30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7134447" y="284163"/>
            <a:ext cx="1864519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3-11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 bwMode="auto">
          <a:xfrm>
            <a:off x="376658" y="1021933"/>
            <a:ext cx="6999737" cy="846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dirty="0" err="1" smtClean="0"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css</a:t>
            </a:r>
            <a:r>
              <a:rPr lang="zh-CN" altLang="en-US" sz="3600" dirty="0"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重置样式</a:t>
            </a:r>
            <a:endParaRPr kumimoji="0" lang="zh-CN" altLang="en-US" sz="2400" kern="1200" cap="none" spc="0" normalizeH="0" baseline="0" noProof="0" dirty="0">
              <a:solidFill>
                <a:schemeClr val="tx1">
                  <a:lumMod val="95000"/>
                  <a:lumOff val="5000"/>
                </a:schemeClr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76658" y="2058533"/>
            <a:ext cx="8343480" cy="452431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不同核心的浏览器对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CSS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的解析效果呈现各异，导致用户所期望的效果跟浏览器的“理解”效果可能会有偏差，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CSS reset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就是用来重置（复位）元素在不同核心浏览器下的默认值，尽量保证元素在不同浏览器下的同一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“起跑线”。</a:t>
            </a:r>
            <a:endParaRPr lang="zh-CN" altLang="en-US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  <a:hlinkClick r:id="rId3"/>
              </a:rPr>
              <a:t>https://</a:t>
            </a:r>
            <a:r>
              <a:rPr lang="en-US" altLang="zh-CN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  <a:hlinkClick r:id="rId3"/>
              </a:rPr>
              <a:t>www.cnblogs.com/staven/p/4818459.html</a:t>
            </a:r>
            <a:endParaRPr lang="en-US" altLang="zh-CN" sz="2400" dirty="0" smtClean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这个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网站收集了常见网站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CSS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样式重置。</a:t>
            </a:r>
            <a:endParaRPr lang="zh-CN" altLang="en-US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55294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0" y="2349500"/>
            <a:ext cx="9144000" cy="2159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2890838" y="3429000"/>
            <a:ext cx="625316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8" y="2514600"/>
            <a:ext cx="1828800" cy="1828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" name="文本框 16"/>
          <p:cNvSpPr txBox="1"/>
          <p:nvPr/>
        </p:nvSpPr>
        <p:spPr>
          <a:xfrm>
            <a:off x="2690037" y="2720975"/>
            <a:ext cx="6258701" cy="12003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en-US" altLang="zh-CN" sz="3200" dirty="0" smtClean="0">
                <a:solidFill>
                  <a:schemeClr val="bg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HTML5+CSS3</a:t>
            </a:r>
            <a:r>
              <a:rPr lang="zh-CN" altLang="en-US" sz="3200" dirty="0">
                <a:solidFill>
                  <a:schemeClr val="bg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网页设计任务教程</a:t>
            </a:r>
          </a:p>
          <a:p>
            <a:pPr algn="r" eaLnBrk="1" hangingPunct="1"/>
            <a:endParaRPr lang="zh-CN" altLang="en-US" sz="4000" dirty="0">
              <a:solidFill>
                <a:schemeClr val="bg1"/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  <a:sym typeface="Arial" panose="020B0604020202020204" pitchFamily="34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404482" y="3555036"/>
            <a:ext cx="545854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hangingPunct="1"/>
            <a:r>
              <a:rPr lang="zh-CN" altLang="en-US" sz="3200" dirty="0">
                <a:solidFill>
                  <a:schemeClr val="bg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单元</a:t>
            </a:r>
            <a:r>
              <a:rPr lang="en-US" altLang="zh-CN" sz="3200" dirty="0">
                <a:solidFill>
                  <a:schemeClr val="bg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3 </a:t>
            </a:r>
            <a:r>
              <a:rPr lang="zh-CN" altLang="en-US" sz="3200" dirty="0">
                <a:solidFill>
                  <a:schemeClr val="bg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层叠样式表</a:t>
            </a:r>
            <a:r>
              <a:rPr lang="en-US" altLang="zh-CN" sz="3200" dirty="0">
                <a:solidFill>
                  <a:schemeClr val="bg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CSS</a:t>
            </a:r>
            <a:r>
              <a:rPr lang="zh-CN" altLang="en-US" sz="3200" dirty="0">
                <a:solidFill>
                  <a:schemeClr val="bg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的使用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/>
    </p:bldLst>
  </p:timing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484</TotalTime>
  <Words>2830</Words>
  <Application>Microsoft Office PowerPoint</Application>
  <PresentationFormat>全屏显示(4:3)</PresentationFormat>
  <Paragraphs>324</Paragraphs>
  <Slides>33</Slides>
  <Notes>31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1" baseType="lpstr">
      <vt:lpstr>方正粗活意简体</vt:lpstr>
      <vt:lpstr>方正水柱简体</vt:lpstr>
      <vt:lpstr>宋体</vt:lpstr>
      <vt:lpstr>微软雅黑</vt:lpstr>
      <vt:lpstr>Arial</vt:lpstr>
      <vt:lpstr>Calibri</vt:lpstr>
      <vt:lpstr>Calibri 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DY</dc:creator>
  <cp:lastModifiedBy>TJ</cp:lastModifiedBy>
  <cp:revision>475</cp:revision>
  <dcterms:created xsi:type="dcterms:W3CDTF">2014-11-08T02:42:00Z</dcterms:created>
  <dcterms:modified xsi:type="dcterms:W3CDTF">2018-07-20T03:08:13Z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2052-10.1.0.6930</vt:lpwstr>
  </property>
</Properties>
</file>