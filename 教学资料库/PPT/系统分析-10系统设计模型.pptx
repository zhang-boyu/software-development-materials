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76"/>
  </p:notesMasterIdLst>
  <p:handoutMasterIdLst>
    <p:handoutMasterId r:id="rId77"/>
  </p:handoutMasterIdLst>
  <p:sldIdLst>
    <p:sldId id="368" r:id="rId2"/>
    <p:sldId id="369" r:id="rId3"/>
    <p:sldId id="371" r:id="rId4"/>
    <p:sldId id="295" r:id="rId5"/>
    <p:sldId id="375" r:id="rId6"/>
    <p:sldId id="376" r:id="rId7"/>
    <p:sldId id="377" r:id="rId8"/>
    <p:sldId id="378" r:id="rId9"/>
    <p:sldId id="379" r:id="rId10"/>
    <p:sldId id="381" r:id="rId11"/>
    <p:sldId id="382" r:id="rId12"/>
    <p:sldId id="383" r:id="rId13"/>
    <p:sldId id="384" r:id="rId14"/>
    <p:sldId id="385" r:id="rId15"/>
    <p:sldId id="386" r:id="rId16"/>
    <p:sldId id="387" r:id="rId17"/>
    <p:sldId id="388" r:id="rId18"/>
    <p:sldId id="389" r:id="rId19"/>
    <p:sldId id="390" r:id="rId20"/>
    <p:sldId id="391" r:id="rId21"/>
    <p:sldId id="392" r:id="rId22"/>
    <p:sldId id="393" r:id="rId23"/>
    <p:sldId id="394" r:id="rId24"/>
    <p:sldId id="395" r:id="rId25"/>
    <p:sldId id="396" r:id="rId26"/>
    <p:sldId id="397" r:id="rId27"/>
    <p:sldId id="398" r:id="rId28"/>
    <p:sldId id="399" r:id="rId29"/>
    <p:sldId id="400" r:id="rId30"/>
    <p:sldId id="402" r:id="rId31"/>
    <p:sldId id="403" r:id="rId32"/>
    <p:sldId id="404" r:id="rId33"/>
    <p:sldId id="405" r:id="rId34"/>
    <p:sldId id="406" r:id="rId35"/>
    <p:sldId id="407" r:id="rId36"/>
    <p:sldId id="408" r:id="rId37"/>
    <p:sldId id="409" r:id="rId38"/>
    <p:sldId id="410" r:id="rId39"/>
    <p:sldId id="411" r:id="rId40"/>
    <p:sldId id="412" r:id="rId41"/>
    <p:sldId id="413" r:id="rId42"/>
    <p:sldId id="414" r:id="rId43"/>
    <p:sldId id="415" r:id="rId44"/>
    <p:sldId id="416" r:id="rId45"/>
    <p:sldId id="418" r:id="rId46"/>
    <p:sldId id="419" r:id="rId47"/>
    <p:sldId id="420" r:id="rId48"/>
    <p:sldId id="421" r:id="rId49"/>
    <p:sldId id="422" r:id="rId50"/>
    <p:sldId id="423" r:id="rId51"/>
    <p:sldId id="424" r:id="rId52"/>
    <p:sldId id="425" r:id="rId53"/>
    <p:sldId id="426" r:id="rId54"/>
    <p:sldId id="427" r:id="rId55"/>
    <p:sldId id="428" r:id="rId56"/>
    <p:sldId id="429" r:id="rId57"/>
    <p:sldId id="430" r:id="rId58"/>
    <p:sldId id="431" r:id="rId59"/>
    <p:sldId id="432" r:id="rId60"/>
    <p:sldId id="433" r:id="rId61"/>
    <p:sldId id="434" r:id="rId62"/>
    <p:sldId id="435" r:id="rId63"/>
    <p:sldId id="436" r:id="rId64"/>
    <p:sldId id="437" r:id="rId65"/>
    <p:sldId id="438" r:id="rId66"/>
    <p:sldId id="439" r:id="rId67"/>
    <p:sldId id="440" r:id="rId68"/>
    <p:sldId id="441" r:id="rId69"/>
    <p:sldId id="442" r:id="rId70"/>
    <p:sldId id="443" r:id="rId71"/>
    <p:sldId id="444" r:id="rId72"/>
    <p:sldId id="445" r:id="rId73"/>
    <p:sldId id="446" r:id="rId74"/>
    <p:sldId id="447" r:id="rId7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9A8F882-D416-45C1-B919-FB65A46F6A32}"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D6C4E8A-FAE3-4860-8F35-9778D5949FA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530D5A12-2FA5-4404-97CD-03C0DC9888CA}"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61450AE5-C4B1-4AF3-A303-5349C92DA01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E0C097B-77CD-4412-88C8-72E779CB7F63}" type="slidenum">
              <a:rPr lang="en-US" altLang="zh-CN"/>
              <a:pPr>
                <a:defRPr/>
              </a:pPr>
              <a:t>2</a:t>
            </a:fld>
            <a:endParaRPr lang="en-US" altLang="zh-CN"/>
          </a:p>
        </p:txBody>
      </p:sp>
      <p:sp>
        <p:nvSpPr>
          <p:cNvPr id="7171" name="Rectangle 2"/>
          <p:cNvSpPr>
            <a:spLocks noRo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81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93CBDFA6-A861-47C5-AC79-EF77088EA194}"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2610" name="Rectangle 2"/>
          <p:cNvSpPr>
            <a:spLocks noGrp="1" noRot="1" noChangeAspect="1" noTextEdit="1"/>
          </p:cNvSpPr>
          <p:nvPr>
            <p:ph type="sldImg"/>
          </p:nvPr>
        </p:nvSpPr>
        <p:spPr bwMode="auto">
          <a:noFill/>
          <a:ln>
            <a:solidFill>
              <a:srgbClr val="000000"/>
            </a:solidFill>
            <a:miter lim="800000"/>
            <a:headEnd/>
            <a:tailEnd/>
          </a:ln>
        </p:spPr>
      </p:sp>
      <p:sp>
        <p:nvSpPr>
          <p:cNvPr id="1732611" name="Rectangle 3"/>
          <p:cNvSpPr>
            <a:spLocks noGrp="1"/>
          </p:cNvSpPr>
          <p:nvPr>
            <p:ph type="body" idx="1"/>
          </p:nvPr>
        </p:nvSpPr>
        <p:spPr bwMode="auto">
          <a:noFill/>
        </p:spPr>
        <p:txBody>
          <a:bodyPr/>
          <a:lstStyle/>
          <a:p>
            <a:r>
              <a:rPr lang="zh-CN" altLang="en-US" smtClean="0"/>
              <a:t>系统体系结构确定下来了，软件的结构就确定下来了，直接决定了软件的质量和效率，因为他决定了我们的软件有哪些部分来组成，各个部分之间有什么样的关系</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4658" name="Rectangle 2"/>
          <p:cNvSpPr>
            <a:spLocks noGrp="1" noRot="1" noChangeAspect="1" noTextEdit="1"/>
          </p:cNvSpPr>
          <p:nvPr>
            <p:ph type="sldImg"/>
          </p:nvPr>
        </p:nvSpPr>
        <p:spPr bwMode="auto">
          <a:noFill/>
          <a:ln>
            <a:solidFill>
              <a:srgbClr val="000000"/>
            </a:solidFill>
            <a:miter lim="800000"/>
            <a:headEnd/>
            <a:tailEnd/>
          </a:ln>
        </p:spPr>
      </p:sp>
      <p:sp>
        <p:nvSpPr>
          <p:cNvPr id="1734659" name="Rectangle 3"/>
          <p:cNvSpPr>
            <a:spLocks noGrp="1"/>
          </p:cNvSpPr>
          <p:nvPr>
            <p:ph type="body" idx="1"/>
          </p:nvPr>
        </p:nvSpPr>
        <p:spPr bwMode="auto">
          <a:noFill/>
        </p:spPr>
        <p:txBody>
          <a:bodyPr/>
          <a:lstStyle/>
          <a:p>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6706" name="Rectangle 2"/>
          <p:cNvSpPr>
            <a:spLocks noGrp="1" noRot="1" noChangeAspect="1" noTextEdit="1"/>
          </p:cNvSpPr>
          <p:nvPr>
            <p:ph type="sldImg"/>
          </p:nvPr>
        </p:nvSpPr>
        <p:spPr bwMode="auto">
          <a:noFill/>
          <a:ln>
            <a:solidFill>
              <a:srgbClr val="000000"/>
            </a:solidFill>
            <a:miter lim="800000"/>
            <a:headEnd/>
            <a:tailEnd/>
          </a:ln>
        </p:spPr>
      </p:sp>
      <p:sp>
        <p:nvSpPr>
          <p:cNvPr id="1736707" name="Rectangle 3"/>
          <p:cNvSpPr>
            <a:spLocks noGrp="1"/>
          </p:cNvSpPr>
          <p:nvPr>
            <p:ph type="body" idx="1"/>
          </p:nvPr>
        </p:nvSpPr>
        <p:spPr bwMode="auto">
          <a:noFill/>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73BC73C-91B3-4297-8D61-1F233D6BFD48}"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CA8EE385-4FE5-4165-BB24-7F0188EFDEC8}"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CAC7E14B-1480-4888-84A5-470D8D341434}"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ABFC7676-7D55-427E-AB44-70B94F549023}"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C7CA0164-E895-4BBB-BDAF-A4F6B6EF7F90}"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48A6993A-2370-4258-ABB6-FD823C83C893}"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E8D5738A-F40C-422A-B1BB-B53E33AC465F}"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AB895A94-ABE0-497F-AD4B-07F298675CB7}"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FE167011-28B7-437A-9FB9-B9FDEBC5DE1F}"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07DBC5C-5B63-40BD-ABEA-35A1057E0F53}"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7DC23A5B-3ECC-40B1-817E-6847678DDAD9}"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951526CE-969B-4AC0-BEFB-552F7451F660}" type="slidenum">
              <a:rPr lang="zh-CN" altLang="en-US"/>
              <a:pPr>
                <a:defRPr/>
              </a:pPr>
              <a:t>‹#›</a:t>
            </a:fld>
            <a:r>
              <a:rPr lang="zh-CN" altLang="en-US"/>
              <a:t>页</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8229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57200" y="3941763"/>
            <a:ext cx="8229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8400"/>
            <a:ext cx="2133600" cy="457200"/>
          </a:xfrm>
          <a:prstGeom prst="rect">
            <a:avLst/>
          </a:prstGeom>
        </p:spPr>
        <p:txBody>
          <a:bodyPr/>
          <a:lstStyle>
            <a:lvl1pPr>
              <a:defRPr/>
            </a:lvl1pPr>
          </a:lstStyle>
          <a:p>
            <a:fld id="{3482D19A-BD61-455F-9709-0A913C2F65B9}" type="datetimeFigureOut">
              <a:rPr lang="zh-CN" altLang="en-US"/>
              <a:pPr/>
              <a:t>2018/12/17</a:t>
            </a:fld>
            <a:endParaRPr lang="en-US" altLang="zh-CN"/>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2133600" cy="457200"/>
          </a:xfrm>
        </p:spPr>
        <p:txBody>
          <a:bodyPr/>
          <a:lstStyle>
            <a:lvl1pPr>
              <a:defRPr/>
            </a:lvl1pPr>
          </a:lstStyle>
          <a:p>
            <a:fld id="{9FA3F100-B7A4-4098-8CF6-32A1BB4F58DF}"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5"/>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01AC196D-D815-4AC3-B675-5997625EF028}"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10</a:t>
            </a:r>
            <a:r>
              <a:rPr lang="zh-CN" altLang="en-US" sz="1200" dirty="0" smtClean="0">
                <a:ea typeface="+mn-ea"/>
              </a:rPr>
              <a:t>章  系统设计模型</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3058304A-BAF1-461F-8A31-52DD21D84CD0}"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10</a:t>
            </a:r>
            <a:r>
              <a:rPr lang="zh-CN" altLang="en-US" dirty="0" smtClean="0"/>
              <a:t>章 系统设计模型</a:t>
            </a:r>
            <a:endParaRPr lang="zh-CN" altLang="en-US" dirty="0" smtClean="0"/>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D6223A5E-2C1E-4230-9468-EF685E399029}"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在描述一个软件系统的时候，分析模型虽然有效地确定了将要构建的内容，但是却没有包含足够的信息来定义如何构建系统，设计模型可以用来填补分析和实现之间的差距。通常，分析过程就是调查问题，分析模型即对问题内容进行描述的模型，设计阶段就是在分析模型的基础上，找出解决方案，并建立设立模型。设计阶段的主要任务是通过定义一个合适的架构，用来描述系统各部分的结构、接口以及它们用于通信的机制</a:t>
            </a:r>
            <a:r>
              <a:rPr lang="zh-CN" altLang="en-US" sz="2800" dirty="0" smtClean="0"/>
              <a:t>。</a:t>
            </a:r>
            <a:endParaRPr lang="zh-CN" altLang="en-US" sz="2800" dirty="0" smtClean="0"/>
          </a:p>
          <a:p>
            <a:pPr>
              <a:lnSpc>
                <a:spcPct val="90000"/>
              </a:lnSpc>
            </a:pPr>
            <a:r>
              <a:rPr lang="zh-CN" altLang="en-US" sz="2800" dirty="0" smtClean="0"/>
              <a:t>本章将详细</a:t>
            </a:r>
            <a:r>
              <a:rPr lang="zh-CN" altLang="en-US" sz="2800" dirty="0" smtClean="0"/>
              <a:t>介绍系统设计的相关</a:t>
            </a:r>
            <a:r>
              <a:rPr lang="en-US" altLang="zh-CN" sz="2800" dirty="0" smtClean="0"/>
              <a:t>UML</a:t>
            </a:r>
            <a:r>
              <a:rPr lang="zh-CN" altLang="en-US" sz="2800" dirty="0" smtClean="0"/>
              <a:t>模型。</a:t>
            </a:r>
            <a:endParaRPr lang="zh-CN" altLang="en-US"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8ED73A8A-930C-4491-AA98-E398E5268408}"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r>
              <a:rPr lang="zh-CN" altLang="en-US" dirty="0" smtClean="0"/>
              <a:t>理解系统体系结构的概念</a:t>
            </a:r>
          </a:p>
          <a:p>
            <a:r>
              <a:rPr lang="zh-CN" altLang="en-US" dirty="0" smtClean="0"/>
              <a:t>理解系统设计的含义和主要任务</a:t>
            </a:r>
          </a:p>
          <a:p>
            <a:r>
              <a:rPr lang="zh-CN" altLang="en-US" dirty="0" smtClean="0"/>
              <a:t>掌握包图的基本概念和组成要素</a:t>
            </a:r>
          </a:p>
          <a:p>
            <a:r>
              <a:rPr lang="zh-CN" altLang="en-US" dirty="0" smtClean="0"/>
              <a:t>掌握构件图的基本概念</a:t>
            </a:r>
          </a:p>
          <a:p>
            <a:r>
              <a:rPr lang="zh-CN" altLang="en-US" dirty="0" smtClean="0"/>
              <a:t>掌握部署图的基本概念和建模目的</a:t>
            </a:r>
          </a:p>
          <a:p>
            <a:r>
              <a:rPr lang="zh-CN" altLang="en-US" dirty="0" smtClean="0"/>
              <a:t>掌握包图、构件图、部署图的建模方法</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1832D9BD-3D9A-4A0E-A7DE-4DCBF36DB217}" type="slidenum">
              <a:rPr lang="zh-CN" altLang="en-US" smtClean="0"/>
              <a:pPr>
                <a:defRPr/>
              </a:pPr>
              <a:t>4</a:t>
            </a:fld>
            <a:r>
              <a:rPr lang="zh-CN" altLang="en-US" smtClean="0"/>
              <a:t>页</a:t>
            </a:r>
            <a:endParaRPr lang="zh-CN" altLang="en-US"/>
          </a:p>
        </p:txBody>
      </p:sp>
      <p:sp>
        <p:nvSpPr>
          <p:cNvPr id="5124" name="Text Box 2"/>
          <p:cNvSpPr txBox="1">
            <a:spLocks noChangeArrowheads="1"/>
          </p:cNvSpPr>
          <p:nvPr/>
        </p:nvSpPr>
        <p:spPr bwMode="auto">
          <a:xfrm>
            <a:off x="1676400" y="1905000"/>
            <a:ext cx="5867400" cy="2123658"/>
          </a:xfrm>
          <a:prstGeom prst="rect">
            <a:avLst/>
          </a:prstGeom>
          <a:noFill/>
          <a:ln w="9525" algn="ctr">
            <a:noFill/>
            <a:miter lim="800000"/>
            <a:headEnd/>
            <a:tailEnd/>
          </a:ln>
        </p:spPr>
        <p:txBody>
          <a:bodyPr>
            <a:spAutoFit/>
          </a:bodyPr>
          <a:lstStyle/>
          <a:p>
            <a:pPr>
              <a:spcBef>
                <a:spcPct val="50000"/>
              </a:spcBef>
            </a:pPr>
            <a:r>
              <a:rPr lang="zh-CN" altLang="en-US" sz="2400" dirty="0">
                <a:latin typeface="楷体_GB2312" pitchFamily="49" charset="-122"/>
                <a:ea typeface="楷体_GB2312" pitchFamily="49" charset="-122"/>
              </a:rPr>
              <a:t>主要内容：</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系统体系</a:t>
            </a:r>
            <a:r>
              <a:rPr lang="zh-CN" altLang="en-US" b="1" dirty="0">
                <a:latin typeface="楷体_GB2312" pitchFamily="49" charset="-122"/>
                <a:ea typeface="楷体_GB2312" pitchFamily="49" charset="-122"/>
              </a:rPr>
              <a:t>设计</a:t>
            </a:r>
            <a:r>
              <a:rPr lang="zh-CN" altLang="en-US" b="1" dirty="0" smtClean="0">
                <a:latin typeface="楷体_GB2312" pitchFamily="49" charset="-122"/>
                <a:ea typeface="楷体_GB2312" pitchFamily="49" charset="-122"/>
              </a:rPr>
              <a:t>概述</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软件系统体系结构建模</a:t>
            </a:r>
            <a:r>
              <a:rPr lang="en-US" altLang="zh-CN" b="1" dirty="0" smtClean="0">
                <a:latin typeface="Times New Roman"/>
                <a:ea typeface="楷体_GB2312" pitchFamily="49" charset="-122"/>
              </a:rPr>
              <a:t>——</a:t>
            </a:r>
            <a:r>
              <a:rPr lang="zh-CN" altLang="en-US" b="1" dirty="0" smtClean="0">
                <a:latin typeface="楷体_GB2312" pitchFamily="49" charset="-122"/>
                <a:ea typeface="楷体_GB2312" pitchFamily="49" charset="-122"/>
              </a:rPr>
              <a:t>包图</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软件系统体系结构建模</a:t>
            </a:r>
            <a:r>
              <a:rPr lang="en-US" altLang="zh-CN" b="1" dirty="0" smtClean="0">
                <a:latin typeface="Times New Roman"/>
                <a:ea typeface="楷体_GB2312" pitchFamily="49" charset="-122"/>
              </a:rPr>
              <a:t>——</a:t>
            </a:r>
            <a:r>
              <a:rPr lang="zh-CN" altLang="en-US" b="1" dirty="0" smtClean="0">
                <a:latin typeface="楷体_GB2312" pitchFamily="49" charset="-122"/>
                <a:ea typeface="楷体_GB2312" pitchFamily="49" charset="-122"/>
              </a:rPr>
              <a:t>构件图</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硬件系统体系结构建模</a:t>
            </a:r>
            <a:r>
              <a:rPr lang="en-US" altLang="zh-CN" b="1" dirty="0" smtClean="0">
                <a:latin typeface="Times New Roman"/>
                <a:ea typeface="楷体_GB2312" pitchFamily="49" charset="-122"/>
              </a:rPr>
              <a:t>——</a:t>
            </a:r>
            <a:r>
              <a:rPr lang="zh-CN" altLang="en-US" b="1" dirty="0" smtClean="0">
                <a:latin typeface="楷体_GB2312" pitchFamily="49" charset="-122"/>
                <a:ea typeface="楷体_GB2312" pitchFamily="49" charset="-122"/>
              </a:rPr>
              <a:t>部署图</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5202" name="Rectangle 2"/>
          <p:cNvSpPr>
            <a:spLocks noGrp="1" noChangeArrowheads="1"/>
          </p:cNvSpPr>
          <p:nvPr>
            <p:ph type="title"/>
          </p:nvPr>
        </p:nvSpPr>
        <p:spPr/>
        <p:txBody>
          <a:bodyPr/>
          <a:lstStyle/>
          <a:p>
            <a:r>
              <a:rPr lang="zh-CN" altLang="en-US"/>
              <a:t>系统体系结构概述</a:t>
            </a:r>
          </a:p>
        </p:txBody>
      </p:sp>
      <p:sp>
        <p:nvSpPr>
          <p:cNvPr id="1715203" name="Rectangle 3"/>
          <p:cNvSpPr>
            <a:spLocks noGrp="1" noChangeArrowheads="1"/>
          </p:cNvSpPr>
          <p:nvPr>
            <p:ph type="body" idx="1"/>
          </p:nvPr>
        </p:nvSpPr>
        <p:spPr>
          <a:xfrm>
            <a:off x="457200" y="2514600"/>
            <a:ext cx="8229600" cy="3810000"/>
          </a:xfrm>
        </p:spPr>
        <p:txBody>
          <a:bodyPr/>
          <a:lstStyle/>
          <a:p>
            <a:r>
              <a:rPr lang="zh-CN" altLang="en-US"/>
              <a:t>分析和设计是不同的阶段，但是边界比较模糊</a:t>
            </a:r>
          </a:p>
          <a:p>
            <a:r>
              <a:rPr lang="zh-CN" altLang="en-US"/>
              <a:t>通常情况下，可以这么理解：</a:t>
            </a:r>
          </a:p>
          <a:p>
            <a:endParaRPr lang="zh-CN" altLang="en-US"/>
          </a:p>
          <a:p>
            <a:endParaRPr lang="zh-CN" altLang="en-US"/>
          </a:p>
          <a:p>
            <a:r>
              <a:rPr lang="zh-CN" altLang="en-US"/>
              <a:t>软件设计是软件开发的关键步骤，直接影响软件质量。</a:t>
            </a:r>
          </a:p>
        </p:txBody>
      </p:sp>
      <p:sp>
        <p:nvSpPr>
          <p:cNvPr id="195588" name="Text Box 4"/>
          <p:cNvSpPr txBox="1">
            <a:spLocks noChangeArrowheads="1"/>
          </p:cNvSpPr>
          <p:nvPr/>
        </p:nvSpPr>
        <p:spPr bwMode="auto">
          <a:xfrm>
            <a:off x="914400" y="4191000"/>
            <a:ext cx="7539038" cy="933450"/>
          </a:xfrm>
          <a:prstGeom prst="rect">
            <a:avLst/>
          </a:prstGeom>
          <a:noFill/>
          <a:ln w="9525">
            <a:noFill/>
            <a:miter lim="800000"/>
            <a:headEnd/>
            <a:tailEnd/>
          </a:ln>
          <a:effectLst/>
        </p:spPr>
        <p:txBody>
          <a:bodyPr>
            <a:spAutoFit/>
          </a:bodyPr>
          <a:lstStyle/>
          <a:p>
            <a:pPr>
              <a:spcBef>
                <a:spcPct val="15000"/>
              </a:spcBef>
              <a:spcAft>
                <a:spcPct val="15000"/>
              </a:spcAft>
              <a:buClr>
                <a:srgbClr val="660033"/>
              </a:buClr>
              <a:buFont typeface="Wingdings" pitchFamily="2" charset="2"/>
              <a:buChar cha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分析就是调查问题，</a:t>
            </a:r>
            <a:r>
              <a:rPr kumimoji="1"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rPr>
              <a:t>分析模型 </a:t>
            </a:r>
            <a:r>
              <a:rPr kumimoji="1" lang="en-US" altLang="zh-CN" sz="2400" b="1">
                <a:solidFill>
                  <a:srgbClr val="0C01A1"/>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rPr>
              <a:t>问题内容</a:t>
            </a:r>
          </a:p>
          <a:p>
            <a:pPr>
              <a:spcBef>
                <a:spcPct val="15000"/>
              </a:spcBef>
              <a:spcAft>
                <a:spcPct val="15000"/>
              </a:spcAft>
              <a:buClr>
                <a:srgbClr val="660033"/>
              </a:buClr>
              <a:buFont typeface="Wingdings" pitchFamily="2" charset="2"/>
              <a:buChar cha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设计就是找出解决方案，</a:t>
            </a:r>
            <a:r>
              <a:rPr kumimoji="1"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rPr>
              <a:t>设计模型 </a:t>
            </a:r>
            <a:r>
              <a:rPr kumimoji="1" lang="en-US" altLang="zh-CN" sz="2400" b="1">
                <a:solidFill>
                  <a:srgbClr val="0C01A1"/>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rPr>
              <a:t>解决方案</a:t>
            </a:r>
          </a:p>
        </p:txBody>
      </p:sp>
      <p:sp>
        <p:nvSpPr>
          <p:cNvPr id="1715205" name="Rectangle 5"/>
          <p:cNvSpPr>
            <a:spLocks noChangeArrowheads="1"/>
          </p:cNvSpPr>
          <p:nvPr/>
        </p:nvSpPr>
        <p:spPr bwMode="auto">
          <a:xfrm>
            <a:off x="515938" y="1643063"/>
            <a:ext cx="7561262" cy="857250"/>
          </a:xfrm>
          <a:prstGeom prst="rect">
            <a:avLst/>
          </a:prstGeom>
          <a:noFill/>
          <a:ln w="9525">
            <a:noFill/>
            <a:miter lim="800000"/>
            <a:headEnd/>
            <a:tailEnd/>
          </a:ln>
          <a:effectLst/>
        </p:spPr>
        <p:txBody>
          <a:bodyPr anchor="ctr"/>
          <a:lstStyle/>
          <a:p>
            <a:r>
              <a:rPr lang="zh-CN" altLang="en-US" sz="3000">
                <a:solidFill>
                  <a:srgbClr val="800000"/>
                </a:solidFill>
                <a:latin typeface="楷体_GB2312" pitchFamily="49" charset="-122"/>
                <a:ea typeface="楷体_GB2312" pitchFamily="49" charset="-122"/>
              </a:rPr>
              <a:t>分析 </a:t>
            </a:r>
            <a:r>
              <a:rPr lang="en-US" altLang="zh-CN" sz="3000">
                <a:solidFill>
                  <a:srgbClr val="800000"/>
                </a:solidFill>
                <a:latin typeface="楷体_GB2312" pitchFamily="49" charset="-122"/>
                <a:ea typeface="楷体_GB2312" pitchFamily="49" charset="-122"/>
              </a:rPr>
              <a:t>VS. </a:t>
            </a:r>
            <a:r>
              <a:rPr lang="zh-CN" altLang="en-US" sz="3000">
                <a:solidFill>
                  <a:srgbClr val="800000"/>
                </a:solidFill>
                <a:latin typeface="楷体_GB2312" pitchFamily="49" charset="-122"/>
                <a:ea typeface="楷体_GB2312" pitchFamily="49" charset="-122"/>
              </a:rPr>
              <a:t>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15203">
                                            <p:txEl>
                                              <p:pRg st="0" end="0"/>
                                            </p:txEl>
                                          </p:spTgt>
                                        </p:tgtEl>
                                        <p:attrNameLst>
                                          <p:attrName>style.visibility</p:attrName>
                                        </p:attrNameLst>
                                      </p:cBhvr>
                                      <p:to>
                                        <p:strVal val="visible"/>
                                      </p:to>
                                    </p:set>
                                    <p:animEffect transition="in" filter="blinds(horizontal)">
                                      <p:cBhvr>
                                        <p:cTn id="7" dur="500"/>
                                        <p:tgtEl>
                                          <p:spTgt spid="1715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15203">
                                            <p:txEl>
                                              <p:pRg st="1" end="1"/>
                                            </p:txEl>
                                          </p:spTgt>
                                        </p:tgtEl>
                                        <p:attrNameLst>
                                          <p:attrName>style.visibility</p:attrName>
                                        </p:attrNameLst>
                                      </p:cBhvr>
                                      <p:to>
                                        <p:strVal val="visible"/>
                                      </p:to>
                                    </p:set>
                                    <p:animEffect transition="in" filter="blinds(horizontal)">
                                      <p:cBhvr>
                                        <p:cTn id="12" dur="500"/>
                                        <p:tgtEl>
                                          <p:spTgt spid="1715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5588">
                                            <p:txEl>
                                              <p:pRg st="0" end="0"/>
                                            </p:txEl>
                                          </p:spTgt>
                                        </p:tgtEl>
                                        <p:attrNameLst>
                                          <p:attrName>style.visibility</p:attrName>
                                        </p:attrNameLst>
                                      </p:cBhvr>
                                      <p:to>
                                        <p:strVal val="visible"/>
                                      </p:to>
                                    </p:set>
                                    <p:animEffect transition="in" filter="box(in)">
                                      <p:cBhvr>
                                        <p:cTn id="17" dur="500"/>
                                        <p:tgtEl>
                                          <p:spTgt spid="19558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195588">
                                            <p:txEl>
                                              <p:pRg st="1" end="1"/>
                                            </p:txEl>
                                          </p:spTgt>
                                        </p:tgtEl>
                                        <p:attrNameLst>
                                          <p:attrName>style.visibility</p:attrName>
                                        </p:attrNameLst>
                                      </p:cBhvr>
                                      <p:to>
                                        <p:strVal val="visible"/>
                                      </p:to>
                                    </p:set>
                                    <p:animEffect transition="in" filter="diamond(in)">
                                      <p:cBhvr>
                                        <p:cTn id="22" dur="2000"/>
                                        <p:tgtEl>
                                          <p:spTgt spid="19558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15203">
                                            <p:txEl>
                                              <p:pRg st="4" end="4"/>
                                            </p:txEl>
                                          </p:spTgt>
                                        </p:tgtEl>
                                        <p:attrNameLst>
                                          <p:attrName>style.visibility</p:attrName>
                                        </p:attrNameLst>
                                      </p:cBhvr>
                                      <p:to>
                                        <p:strVal val="visible"/>
                                      </p:to>
                                    </p:set>
                                    <p:animEffect transition="in" filter="blinds(horizontal)">
                                      <p:cBhvr>
                                        <p:cTn id="27" dur="500"/>
                                        <p:tgtEl>
                                          <p:spTgt spid="1715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8514" name="Rectangle 2"/>
          <p:cNvSpPr>
            <a:spLocks noGrp="1" noChangeArrowheads="1"/>
          </p:cNvSpPr>
          <p:nvPr>
            <p:ph type="title"/>
          </p:nvPr>
        </p:nvSpPr>
        <p:spPr/>
        <p:txBody>
          <a:bodyPr/>
          <a:lstStyle/>
          <a:p>
            <a:r>
              <a:rPr lang="zh-CN" altLang="en-US"/>
              <a:t>系统体系结构概述</a:t>
            </a:r>
          </a:p>
        </p:txBody>
      </p:sp>
      <p:sp>
        <p:nvSpPr>
          <p:cNvPr id="1728519" name="Rectangle 7"/>
          <p:cNvSpPr>
            <a:spLocks noGrp="1" noChangeArrowheads="1"/>
          </p:cNvSpPr>
          <p:nvPr>
            <p:ph type="body" idx="1"/>
          </p:nvPr>
        </p:nvSpPr>
        <p:spPr>
          <a:xfrm>
            <a:off x="457200" y="1717675"/>
            <a:ext cx="8382000" cy="4302125"/>
          </a:xfrm>
          <a:noFill/>
          <a:ln/>
        </p:spPr>
        <p:txBody>
          <a:bodyPr/>
          <a:lstStyle/>
          <a:p>
            <a:r>
              <a:rPr lang="zh-CN" altLang="en-US"/>
              <a:t>软件设计阶段的任务与目标：</a:t>
            </a:r>
          </a:p>
          <a:p>
            <a:pPr lvl="1"/>
            <a:r>
              <a:rPr lang="zh-CN" altLang="en-US">
                <a:latin typeface="楷体_GB2312" pitchFamily="49" charset="-122"/>
              </a:rPr>
              <a:t>设计任务：将需求、分析阶段获得的模型转换为可实现的系统</a:t>
            </a:r>
            <a:endParaRPr lang="en-US" altLang="zh-CN">
              <a:latin typeface="楷体_GB2312" pitchFamily="49" charset="-122"/>
            </a:endParaRPr>
          </a:p>
          <a:p>
            <a:pPr lvl="1"/>
            <a:r>
              <a:rPr lang="zh-CN" altLang="en-US">
                <a:latin typeface="楷体_GB2312" pitchFamily="49" charset="-122"/>
              </a:rPr>
              <a:t>设计阶段的主要任务：</a:t>
            </a:r>
          </a:p>
        </p:txBody>
      </p:sp>
      <p:sp>
        <p:nvSpPr>
          <p:cNvPr id="1728520" name="Text Box 8"/>
          <p:cNvSpPr txBox="1">
            <a:spLocks noChangeArrowheads="1"/>
          </p:cNvSpPr>
          <p:nvPr/>
        </p:nvSpPr>
        <p:spPr bwMode="auto">
          <a:xfrm>
            <a:off x="1177925" y="3981450"/>
            <a:ext cx="5832475" cy="1885950"/>
          </a:xfrm>
          <a:prstGeom prst="rect">
            <a:avLst/>
          </a:prstGeom>
          <a:noFill/>
          <a:ln w="9525">
            <a:noFill/>
            <a:miter lim="800000"/>
            <a:headEnd/>
            <a:tailEnd/>
          </a:ln>
          <a:effectLst/>
        </p:spPr>
        <p:txBody>
          <a:bodyPr>
            <a:spAutoFit/>
          </a:bodyPr>
          <a:lstStyle/>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系统体系结构设计</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数据结构设计</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用户界面设计  </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算法设计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28519">
                                            <p:txEl>
                                              <p:pRg st="0" end="0"/>
                                            </p:txEl>
                                          </p:spTgt>
                                        </p:tgtEl>
                                        <p:attrNameLst>
                                          <p:attrName>style.visibility</p:attrName>
                                        </p:attrNameLst>
                                      </p:cBhvr>
                                      <p:to>
                                        <p:strVal val="visible"/>
                                      </p:to>
                                    </p:set>
                                    <p:animEffect transition="in" filter="blinds(horizontal)">
                                      <p:cBhvr>
                                        <p:cTn id="7" dur="500"/>
                                        <p:tgtEl>
                                          <p:spTgt spid="17285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28519">
                                            <p:txEl>
                                              <p:pRg st="1" end="1"/>
                                            </p:txEl>
                                          </p:spTgt>
                                        </p:tgtEl>
                                        <p:attrNameLst>
                                          <p:attrName>style.visibility</p:attrName>
                                        </p:attrNameLst>
                                      </p:cBhvr>
                                      <p:to>
                                        <p:strVal val="visible"/>
                                      </p:to>
                                    </p:set>
                                    <p:animEffect transition="in" filter="wipe(down)">
                                      <p:cBhvr>
                                        <p:cTn id="12" dur="500"/>
                                        <p:tgtEl>
                                          <p:spTgt spid="17285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28519">
                                            <p:txEl>
                                              <p:pRg st="2" end="2"/>
                                            </p:txEl>
                                          </p:spTgt>
                                        </p:tgtEl>
                                        <p:attrNameLst>
                                          <p:attrName>style.visibility</p:attrName>
                                        </p:attrNameLst>
                                      </p:cBhvr>
                                      <p:to>
                                        <p:strVal val="visible"/>
                                      </p:to>
                                    </p:set>
                                    <p:anim calcmode="lin" valueType="num">
                                      <p:cBhvr additive="base">
                                        <p:cTn id="17" dur="500" fill="hold"/>
                                        <p:tgtEl>
                                          <p:spTgt spid="172851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285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grpId="0" nodeType="clickEffect">
                                  <p:stCondLst>
                                    <p:cond delay="0"/>
                                  </p:stCondLst>
                                  <p:childTnLst>
                                    <p:set>
                                      <p:cBhvr>
                                        <p:cTn id="22" dur="1" fill="hold">
                                          <p:stCondLst>
                                            <p:cond delay="0"/>
                                          </p:stCondLst>
                                        </p:cTn>
                                        <p:tgtEl>
                                          <p:spTgt spid="1728520">
                                            <p:txEl>
                                              <p:pRg st="0" end="0"/>
                                            </p:txEl>
                                          </p:spTgt>
                                        </p:tgtEl>
                                        <p:attrNameLst>
                                          <p:attrName>style.visibility</p:attrName>
                                        </p:attrNameLst>
                                      </p:cBhvr>
                                      <p:to>
                                        <p:strVal val="visible"/>
                                      </p:to>
                                    </p:set>
                                    <p:anim to="" calcmode="lin" valueType="num">
                                      <p:cBhvr>
                                        <p:cTn id="23" dur="1" fill="hold"/>
                                        <p:tgtEl>
                                          <p:spTgt spid="1728520">
                                            <p:txEl>
                                              <p:pRg st="0" end="0"/>
                                            </p:txEl>
                                          </p:spTgt>
                                        </p:tgtEl>
                                        <p:attrNameLst>
                                          <p:attrName/>
                                        </p:attrNameLst>
                                      </p:cBhvr>
                                    </p:anim>
                                  </p:childTnLst>
                                </p:cTn>
                              </p:par>
                            </p:childTnLst>
                          </p:cTn>
                        </p:par>
                      </p:childTnLst>
                    </p:cTn>
                  </p:par>
                  <p:par>
                    <p:cTn id="24" fill="hold">
                      <p:stCondLst>
                        <p:cond delay="indefinite"/>
                      </p:stCondLst>
                      <p:childTnLst>
                        <p:par>
                          <p:cTn id="25" fill="hold">
                            <p:stCondLst>
                              <p:cond delay="0"/>
                            </p:stCondLst>
                            <p:childTnLst>
                              <p:par>
                                <p:cTn id="26" presetID="24" presetClass="entr" presetSubtype="0" fill="hold" grpId="0" nodeType="clickEffect">
                                  <p:stCondLst>
                                    <p:cond delay="0"/>
                                  </p:stCondLst>
                                  <p:childTnLst>
                                    <p:set>
                                      <p:cBhvr>
                                        <p:cTn id="27" dur="1" fill="hold">
                                          <p:stCondLst>
                                            <p:cond delay="0"/>
                                          </p:stCondLst>
                                        </p:cTn>
                                        <p:tgtEl>
                                          <p:spTgt spid="1728520">
                                            <p:txEl>
                                              <p:pRg st="1" end="1"/>
                                            </p:txEl>
                                          </p:spTgt>
                                        </p:tgtEl>
                                        <p:attrNameLst>
                                          <p:attrName>style.visibility</p:attrName>
                                        </p:attrNameLst>
                                      </p:cBhvr>
                                      <p:to>
                                        <p:strVal val="visible"/>
                                      </p:to>
                                    </p:set>
                                    <p:anim to="" calcmode="lin" valueType="num">
                                      <p:cBhvr>
                                        <p:cTn id="28" dur="1" fill="hold"/>
                                        <p:tgtEl>
                                          <p:spTgt spid="1728520">
                                            <p:txEl>
                                              <p:pRg st="1" end="1"/>
                                            </p:txEl>
                                          </p:spTgt>
                                        </p:tgtEl>
                                        <p:attrNameLst>
                                          <p:attrName/>
                                        </p:attrNameLst>
                                      </p:cBhvr>
                                    </p:anim>
                                  </p:childTnLst>
                                </p:cTn>
                              </p:par>
                            </p:childTnLst>
                          </p:cTn>
                        </p:par>
                      </p:childTnLst>
                    </p:cTn>
                  </p:par>
                  <p:par>
                    <p:cTn id="29" fill="hold">
                      <p:stCondLst>
                        <p:cond delay="indefinite"/>
                      </p:stCondLst>
                      <p:childTnLst>
                        <p:par>
                          <p:cTn id="30" fill="hold">
                            <p:stCondLst>
                              <p:cond delay="0"/>
                            </p:stCondLst>
                            <p:childTnLst>
                              <p:par>
                                <p:cTn id="31" presetID="24" presetClass="entr" presetSubtype="0" fill="hold" grpId="0" nodeType="clickEffect">
                                  <p:stCondLst>
                                    <p:cond delay="0"/>
                                  </p:stCondLst>
                                  <p:childTnLst>
                                    <p:set>
                                      <p:cBhvr>
                                        <p:cTn id="32" dur="1" fill="hold">
                                          <p:stCondLst>
                                            <p:cond delay="0"/>
                                          </p:stCondLst>
                                        </p:cTn>
                                        <p:tgtEl>
                                          <p:spTgt spid="1728520">
                                            <p:txEl>
                                              <p:pRg st="2" end="2"/>
                                            </p:txEl>
                                          </p:spTgt>
                                        </p:tgtEl>
                                        <p:attrNameLst>
                                          <p:attrName>style.visibility</p:attrName>
                                        </p:attrNameLst>
                                      </p:cBhvr>
                                      <p:to>
                                        <p:strVal val="visible"/>
                                      </p:to>
                                    </p:set>
                                    <p:anim to="" calcmode="lin" valueType="num">
                                      <p:cBhvr>
                                        <p:cTn id="33" dur="1" fill="hold"/>
                                        <p:tgtEl>
                                          <p:spTgt spid="1728520">
                                            <p:txEl>
                                              <p:pRg st="2" end="2"/>
                                            </p:txEl>
                                          </p:spTgt>
                                        </p:tgtEl>
                                        <p:attrNameLst>
                                          <p:attrName/>
                                        </p:attrNameLst>
                                      </p:cBhvr>
                                    </p:anim>
                                  </p:childTnLst>
                                </p:cTn>
                              </p:par>
                            </p:childTnLst>
                          </p:cTn>
                        </p:par>
                      </p:childTnLst>
                    </p:cTn>
                  </p:par>
                  <p:par>
                    <p:cTn id="34" fill="hold">
                      <p:stCondLst>
                        <p:cond delay="indefinite"/>
                      </p:stCondLst>
                      <p:childTnLst>
                        <p:par>
                          <p:cTn id="35" fill="hold">
                            <p:stCondLst>
                              <p:cond delay="0"/>
                            </p:stCondLst>
                            <p:childTnLst>
                              <p:par>
                                <p:cTn id="36" presetID="24" presetClass="entr" presetSubtype="0" fill="hold" grpId="0" nodeType="clickEffect">
                                  <p:stCondLst>
                                    <p:cond delay="0"/>
                                  </p:stCondLst>
                                  <p:childTnLst>
                                    <p:set>
                                      <p:cBhvr>
                                        <p:cTn id="37" dur="1" fill="hold">
                                          <p:stCondLst>
                                            <p:cond delay="0"/>
                                          </p:stCondLst>
                                        </p:cTn>
                                        <p:tgtEl>
                                          <p:spTgt spid="1728520">
                                            <p:txEl>
                                              <p:pRg st="3" end="3"/>
                                            </p:txEl>
                                          </p:spTgt>
                                        </p:tgtEl>
                                        <p:attrNameLst>
                                          <p:attrName>style.visibility</p:attrName>
                                        </p:attrNameLst>
                                      </p:cBhvr>
                                      <p:to>
                                        <p:strVal val="visible"/>
                                      </p:to>
                                    </p:set>
                                    <p:anim to="" calcmode="lin" valueType="num">
                                      <p:cBhvr>
                                        <p:cTn id="38" dur="1" fill="hold"/>
                                        <p:tgtEl>
                                          <p:spTgt spid="1728520">
                                            <p:txEl>
                                              <p:pRg st="3" end="3"/>
                                            </p:txEl>
                                          </p:spTgt>
                                        </p:tgtEl>
                                        <p:attrNameLst>
                                          <p:attrName/>
                                        </p:attrNameLst>
                                      </p:cBhvr>
                                    </p:anim>
                                  </p:childTnLst>
                                </p:cTn>
                              </p:par>
                            </p:childTnLst>
                          </p:cTn>
                        </p:par>
                      </p:childTnLst>
                    </p:cTn>
                  </p:par>
                  <p:par>
                    <p:cTn id="39" fill="hold">
                      <p:stCondLst>
                        <p:cond delay="indefinite"/>
                      </p:stCondLst>
                      <p:childTnLst>
                        <p:par>
                          <p:cTn id="40" fill="hold">
                            <p:stCondLst>
                              <p:cond delay="0"/>
                            </p:stCondLst>
                            <p:childTnLst>
                              <p:par>
                                <p:cTn id="41" presetID="3" presetClass="emph" presetSubtype="2" fill="hold" nodeType="clickEffect">
                                  <p:stCondLst>
                                    <p:cond delay="0"/>
                                  </p:stCondLst>
                                  <p:childTnLst>
                                    <p:animClr clrSpc="rgb" dir="cw">
                                      <p:cBhvr override="childStyle">
                                        <p:cTn id="42" dur="2000" fill="hold"/>
                                        <p:tgtEl>
                                          <p:spTgt spid="1728520">
                                            <p:txEl>
                                              <p:pRg st="0" end="0"/>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852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7730" name="Rectangle 2"/>
          <p:cNvSpPr>
            <a:spLocks noGrp="1" noChangeArrowheads="1"/>
          </p:cNvSpPr>
          <p:nvPr>
            <p:ph type="title"/>
          </p:nvPr>
        </p:nvSpPr>
        <p:spPr/>
        <p:txBody>
          <a:bodyPr/>
          <a:lstStyle/>
          <a:p>
            <a:r>
              <a:rPr lang="zh-CN" altLang="en-US"/>
              <a:t>系统体系结构概述</a:t>
            </a:r>
          </a:p>
        </p:txBody>
      </p:sp>
      <p:sp>
        <p:nvSpPr>
          <p:cNvPr id="1737731" name="Rectangle 3"/>
          <p:cNvSpPr>
            <a:spLocks noGrp="1" noChangeArrowheads="1"/>
          </p:cNvSpPr>
          <p:nvPr>
            <p:ph type="body" idx="1"/>
          </p:nvPr>
        </p:nvSpPr>
        <p:spPr>
          <a:xfrm>
            <a:off x="457200" y="1785938"/>
            <a:ext cx="8229600" cy="4081462"/>
          </a:xfrm>
        </p:spPr>
        <p:txBody>
          <a:bodyPr/>
          <a:lstStyle/>
          <a:p>
            <a:r>
              <a:rPr lang="zh-CN" altLang="en-US">
                <a:solidFill>
                  <a:srgbClr val="FF0000"/>
                </a:solidFill>
              </a:rPr>
              <a:t>系统体系结构</a:t>
            </a:r>
            <a:r>
              <a:rPr lang="zh-CN" altLang="en-US"/>
              <a:t>用来描述系统各部分的结构、接口以及它们用于通信的机制。</a:t>
            </a:r>
          </a:p>
          <a:p>
            <a:r>
              <a:rPr lang="zh-CN" altLang="en-US"/>
              <a:t>系统体系结构建模首先要建立基本的模型，并把这些模型映射到系统需要的硬件单元上。</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37731">
                                            <p:txEl>
                                              <p:pRg st="0" end="0"/>
                                            </p:txEl>
                                          </p:spTgt>
                                        </p:tgtEl>
                                        <p:attrNameLst>
                                          <p:attrName>style.visibility</p:attrName>
                                        </p:attrNameLst>
                                      </p:cBhvr>
                                      <p:to>
                                        <p:strVal val="visible"/>
                                      </p:to>
                                    </p:set>
                                    <p:animEffect transition="in" filter="blinds(horizontal)">
                                      <p:cBhvr>
                                        <p:cTn id="7" dur="500"/>
                                        <p:tgtEl>
                                          <p:spTgt spid="1737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737731">
                                            <p:txEl>
                                              <p:pRg st="1" end="1"/>
                                            </p:txEl>
                                          </p:spTgt>
                                        </p:tgtEl>
                                        <p:attrNameLst>
                                          <p:attrName>style.visibility</p:attrName>
                                        </p:attrNameLst>
                                      </p:cBhvr>
                                      <p:to>
                                        <p:strVal val="visible"/>
                                      </p:to>
                                    </p:set>
                                    <p:animEffect transition="in" filter="barn(inHorizontal)">
                                      <p:cBhvr>
                                        <p:cTn id="12" dur="500"/>
                                        <p:tgtEl>
                                          <p:spTgt spid="17377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3634" name="Rectangle 2"/>
          <p:cNvSpPr>
            <a:spLocks noGrp="1" noChangeArrowheads="1"/>
          </p:cNvSpPr>
          <p:nvPr>
            <p:ph type="title"/>
          </p:nvPr>
        </p:nvSpPr>
        <p:spPr/>
        <p:txBody>
          <a:bodyPr/>
          <a:lstStyle/>
          <a:p>
            <a:r>
              <a:rPr lang="zh-CN" altLang="en-US"/>
              <a:t>系统体系结构概述</a:t>
            </a:r>
          </a:p>
        </p:txBody>
      </p:sp>
      <p:sp>
        <p:nvSpPr>
          <p:cNvPr id="1733635" name="Rectangle 3"/>
          <p:cNvSpPr>
            <a:spLocks noGrp="1" noChangeArrowheads="1"/>
          </p:cNvSpPr>
          <p:nvPr>
            <p:ph type="body" idx="1"/>
          </p:nvPr>
        </p:nvSpPr>
        <p:spPr>
          <a:xfrm>
            <a:off x="457200" y="1717675"/>
            <a:ext cx="8382000" cy="4302125"/>
          </a:xfrm>
          <a:noFill/>
          <a:ln/>
        </p:spPr>
        <p:txBody>
          <a:bodyPr/>
          <a:lstStyle/>
          <a:p>
            <a:r>
              <a:rPr lang="zh-CN" altLang="en-US"/>
              <a:t>体系结构设计过程中的主要活动：</a:t>
            </a:r>
          </a:p>
        </p:txBody>
      </p:sp>
      <p:sp>
        <p:nvSpPr>
          <p:cNvPr id="1733637" name="Text Box 5"/>
          <p:cNvSpPr txBox="1">
            <a:spLocks noChangeArrowheads="1"/>
          </p:cNvSpPr>
          <p:nvPr/>
        </p:nvSpPr>
        <p:spPr bwMode="auto">
          <a:xfrm>
            <a:off x="990600" y="2362200"/>
            <a:ext cx="7315200" cy="1885950"/>
          </a:xfrm>
          <a:prstGeom prst="rect">
            <a:avLst/>
          </a:prstGeom>
          <a:noFill/>
          <a:ln w="9525">
            <a:noFill/>
            <a:miter lim="800000"/>
            <a:headEnd/>
            <a:tailEnd/>
          </a:ln>
          <a:effectLst/>
        </p:spPr>
        <p:txBody>
          <a:bodyPr>
            <a:spAutoFit/>
          </a:bodyPr>
          <a:lstStyle/>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系统分解：将系统分解为若干个相互作用的子系统</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模块分解：将子系统进一步划分为模块</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控制建模：建立系统各部分间控制关系的一般模型</a:t>
            </a:r>
          </a:p>
          <a:p>
            <a:pPr>
              <a:spcBef>
                <a:spcPct val="15000"/>
              </a:spcBef>
              <a:spcAft>
                <a:spcPct val="15000"/>
              </a:spcAft>
              <a:buClr>
                <a:schemeClr val="accent2"/>
              </a:buClr>
              <a:buFont typeface="Wingdings" pitchFamily="2" charset="2"/>
              <a:buChar char="þ"/>
            </a:pPr>
            <a:endParaRPr lang="zh-CN" altLang="en-US" sz="240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33635">
                                            <p:txEl>
                                              <p:pRg st="0" end="0"/>
                                            </p:txEl>
                                          </p:spTgt>
                                        </p:tgtEl>
                                        <p:attrNameLst>
                                          <p:attrName>style.visibility</p:attrName>
                                        </p:attrNameLst>
                                      </p:cBhvr>
                                      <p:to>
                                        <p:strVal val="visible"/>
                                      </p:to>
                                    </p:set>
                                    <p:animEffect transition="in" filter="blinds(horizontal)">
                                      <p:cBhvr>
                                        <p:cTn id="7" dur="500"/>
                                        <p:tgtEl>
                                          <p:spTgt spid="17336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33637">
                                            <p:txEl>
                                              <p:pRg st="0" end="0"/>
                                            </p:txEl>
                                          </p:spTgt>
                                        </p:tgtEl>
                                        <p:attrNameLst>
                                          <p:attrName>style.visibility</p:attrName>
                                        </p:attrNameLst>
                                      </p:cBhvr>
                                      <p:to>
                                        <p:strVal val="visible"/>
                                      </p:to>
                                    </p:set>
                                    <p:anim to="" calcmode="lin" valueType="num">
                                      <p:cBhvr>
                                        <p:cTn id="12" dur="1" fill="hold"/>
                                        <p:tgtEl>
                                          <p:spTgt spid="1733637">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33637">
                                            <p:txEl>
                                              <p:pRg st="1" end="1"/>
                                            </p:txEl>
                                          </p:spTgt>
                                        </p:tgtEl>
                                        <p:attrNameLst>
                                          <p:attrName>style.visibility</p:attrName>
                                        </p:attrNameLst>
                                      </p:cBhvr>
                                      <p:to>
                                        <p:strVal val="visible"/>
                                      </p:to>
                                    </p:set>
                                    <p:anim to="" calcmode="lin" valueType="num">
                                      <p:cBhvr>
                                        <p:cTn id="17" dur="1" fill="hold"/>
                                        <p:tgtEl>
                                          <p:spTgt spid="1733637">
                                            <p:txEl>
                                              <p:pRg st="1" end="1"/>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733637">
                                            <p:txEl>
                                              <p:pRg st="2" end="2"/>
                                            </p:txEl>
                                          </p:spTgt>
                                        </p:tgtEl>
                                        <p:attrNameLst>
                                          <p:attrName>style.visibility</p:attrName>
                                        </p:attrNameLst>
                                      </p:cBhvr>
                                      <p:to>
                                        <p:strVal val="visible"/>
                                      </p:to>
                                    </p:set>
                                    <p:anim to="" calcmode="lin" valueType="num">
                                      <p:cBhvr>
                                        <p:cTn id="22" dur="1" fill="hold"/>
                                        <p:tgtEl>
                                          <p:spTgt spid="1733637">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363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5682" name="Rectangle 2"/>
          <p:cNvSpPr>
            <a:spLocks noGrp="1" noChangeArrowheads="1"/>
          </p:cNvSpPr>
          <p:nvPr>
            <p:ph type="title"/>
          </p:nvPr>
        </p:nvSpPr>
        <p:spPr/>
        <p:txBody>
          <a:bodyPr/>
          <a:lstStyle/>
          <a:p>
            <a:r>
              <a:rPr lang="zh-CN" altLang="en-US"/>
              <a:t>系统体系结构概述</a:t>
            </a:r>
          </a:p>
        </p:txBody>
      </p:sp>
      <p:sp>
        <p:nvSpPr>
          <p:cNvPr id="1735683" name="Rectangle 3"/>
          <p:cNvSpPr>
            <a:spLocks noGrp="1" noChangeArrowheads="1"/>
          </p:cNvSpPr>
          <p:nvPr>
            <p:ph type="body" idx="1"/>
          </p:nvPr>
        </p:nvSpPr>
        <p:spPr>
          <a:xfrm>
            <a:off x="457200" y="1717675"/>
            <a:ext cx="8382000" cy="4302125"/>
          </a:xfrm>
          <a:noFill/>
          <a:ln/>
        </p:spPr>
        <p:txBody>
          <a:bodyPr/>
          <a:lstStyle/>
          <a:p>
            <a:r>
              <a:rPr lang="zh-CN" altLang="en-US"/>
              <a:t>系统体系结构模型：</a:t>
            </a:r>
          </a:p>
        </p:txBody>
      </p:sp>
      <p:sp>
        <p:nvSpPr>
          <p:cNvPr id="1735684" name="Text Box 4"/>
          <p:cNvSpPr txBox="1">
            <a:spLocks noChangeArrowheads="1"/>
          </p:cNvSpPr>
          <p:nvPr/>
        </p:nvSpPr>
        <p:spPr bwMode="auto">
          <a:xfrm>
            <a:off x="990600" y="2362200"/>
            <a:ext cx="7315200" cy="933450"/>
          </a:xfrm>
          <a:prstGeom prst="rect">
            <a:avLst/>
          </a:prstGeom>
          <a:noFill/>
          <a:ln w="9525">
            <a:noFill/>
            <a:miter lim="800000"/>
            <a:headEnd/>
            <a:tailEnd/>
          </a:ln>
          <a:effectLst/>
        </p:spPr>
        <p:txBody>
          <a:bodyPr>
            <a:spAutoFit/>
          </a:bodyPr>
          <a:lstStyle/>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软件系统体系结构模型</a:t>
            </a:r>
            <a:r>
              <a:rPr lang="en-US" altLang="zh-CN" sz="2400">
                <a:latin typeface="Lucida Sans Unicode"/>
                <a:ea typeface="楷体_GB2312" pitchFamily="49" charset="-122"/>
              </a:rPr>
              <a:t>——</a:t>
            </a:r>
            <a:r>
              <a:rPr lang="zh-CN" altLang="en-US" sz="2400">
                <a:latin typeface="楷体_GB2312" pitchFamily="49" charset="-122"/>
                <a:ea typeface="楷体_GB2312" pitchFamily="49" charset="-122"/>
              </a:rPr>
              <a:t>包图、构件图</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硬件系统体系结构模型</a:t>
            </a:r>
            <a:r>
              <a:rPr lang="en-US" altLang="zh-CN" sz="2400">
                <a:latin typeface="Lucida Sans Unicode"/>
                <a:ea typeface="楷体_GB2312" pitchFamily="49" charset="-122"/>
              </a:rPr>
              <a:t>——</a:t>
            </a:r>
            <a:r>
              <a:rPr lang="zh-CN" altLang="en-US" sz="2400">
                <a:latin typeface="楷体_GB2312" pitchFamily="49" charset="-122"/>
                <a:ea typeface="楷体_GB2312" pitchFamily="49" charset="-122"/>
              </a:rPr>
              <a:t>部署图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35683">
                                            <p:txEl>
                                              <p:pRg st="0" end="0"/>
                                            </p:txEl>
                                          </p:spTgt>
                                        </p:tgtEl>
                                        <p:attrNameLst>
                                          <p:attrName>style.visibility</p:attrName>
                                        </p:attrNameLst>
                                      </p:cBhvr>
                                      <p:to>
                                        <p:strVal val="visible"/>
                                      </p:to>
                                    </p:set>
                                    <p:animEffect transition="in" filter="blinds(horizontal)">
                                      <p:cBhvr>
                                        <p:cTn id="7" dur="500"/>
                                        <p:tgtEl>
                                          <p:spTgt spid="1735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35684">
                                            <p:txEl>
                                              <p:pRg st="0" end="0"/>
                                            </p:txEl>
                                          </p:spTgt>
                                        </p:tgtEl>
                                        <p:attrNameLst>
                                          <p:attrName>style.visibility</p:attrName>
                                        </p:attrNameLst>
                                      </p:cBhvr>
                                      <p:to>
                                        <p:strVal val="visible"/>
                                      </p:to>
                                    </p:set>
                                    <p:anim to="" calcmode="lin" valueType="num">
                                      <p:cBhvr>
                                        <p:cTn id="12" dur="1" fill="hold"/>
                                        <p:tgtEl>
                                          <p:spTgt spid="1735684">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35684">
                                            <p:txEl>
                                              <p:pRg st="1" end="1"/>
                                            </p:txEl>
                                          </p:spTgt>
                                        </p:tgtEl>
                                        <p:attrNameLst>
                                          <p:attrName>style.visibility</p:attrName>
                                        </p:attrNameLst>
                                      </p:cBhvr>
                                      <p:to>
                                        <p:strVal val="visible"/>
                                      </p:to>
                                    </p:set>
                                    <p:anim to="" calcmode="lin" valueType="num">
                                      <p:cBhvr>
                                        <p:cTn id="17" dur="1" fill="hold"/>
                                        <p:tgtEl>
                                          <p:spTgt spid="1735684">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568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6226"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16227" name="Rectangle 3"/>
          <p:cNvSpPr>
            <a:spLocks noGrp="1" noChangeArrowheads="1"/>
          </p:cNvSpPr>
          <p:nvPr>
            <p:ph type="body" idx="1"/>
          </p:nvPr>
        </p:nvSpPr>
        <p:spPr/>
        <p:txBody>
          <a:bodyPr/>
          <a:lstStyle/>
          <a:p>
            <a:r>
              <a:rPr lang="zh-CN" altLang="en-US"/>
              <a:t>为了清晰、简洁地描述一个复杂的软件系统，通常都是把它分解成若干较小的系统（</a:t>
            </a:r>
            <a:r>
              <a:rPr lang="zh-CN" altLang="en-US">
                <a:solidFill>
                  <a:srgbClr val="FF0000"/>
                </a:solidFill>
              </a:rPr>
              <a:t>子系统</a:t>
            </a:r>
            <a:r>
              <a:rPr lang="zh-CN" altLang="en-US"/>
              <a:t>）。如果需要的话，每个较小的系统还可以分解成更小的系统。这样，就形成了一个描述软件系统的结构层次。</a:t>
            </a:r>
          </a:p>
          <a:p>
            <a:r>
              <a:rPr lang="zh-CN" altLang="en-US"/>
              <a:t>在</a:t>
            </a:r>
            <a:r>
              <a:rPr lang="en-US" altLang="zh-CN"/>
              <a:t>UML</a:t>
            </a:r>
            <a:r>
              <a:rPr lang="zh-CN" altLang="en-US"/>
              <a:t>中，使用“</a:t>
            </a:r>
            <a:r>
              <a:rPr lang="zh-CN" altLang="en-US">
                <a:solidFill>
                  <a:srgbClr val="FF0000"/>
                </a:solidFill>
              </a:rPr>
              <a:t>包</a:t>
            </a:r>
            <a:r>
              <a:rPr lang="zh-CN" altLang="en-US"/>
              <a:t>”代表子系统，使用</a:t>
            </a:r>
            <a:r>
              <a:rPr lang="zh-CN" altLang="en-US">
                <a:solidFill>
                  <a:srgbClr val="FF0000"/>
                </a:solidFill>
              </a:rPr>
              <a:t>包图</a:t>
            </a:r>
            <a:r>
              <a:rPr lang="zh-CN" altLang="en-US"/>
              <a:t>描述软件的分层结构。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16227">
                                            <p:txEl>
                                              <p:pRg st="0" end="0"/>
                                            </p:txEl>
                                          </p:spTgt>
                                        </p:tgtEl>
                                        <p:attrNameLst>
                                          <p:attrName>style.visibility</p:attrName>
                                        </p:attrNameLst>
                                      </p:cBhvr>
                                      <p:to>
                                        <p:strVal val="visible"/>
                                      </p:to>
                                    </p:set>
                                    <p:animEffect transition="in" filter="blinds(horizontal)">
                                      <p:cBhvr>
                                        <p:cTn id="7" dur="500"/>
                                        <p:tgtEl>
                                          <p:spTgt spid="17162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16227">
                                            <p:txEl>
                                              <p:pRg st="1" end="1"/>
                                            </p:txEl>
                                          </p:spTgt>
                                        </p:tgtEl>
                                        <p:attrNameLst>
                                          <p:attrName>style.visibility</p:attrName>
                                        </p:attrNameLst>
                                      </p:cBhvr>
                                      <p:to>
                                        <p:strVal val="visible"/>
                                      </p:to>
                                    </p:set>
                                    <p:animEffect transition="in" filter="blinds(horizontal)">
                                      <p:cBhvr>
                                        <p:cTn id="12" dur="500"/>
                                        <p:tgtEl>
                                          <p:spTgt spid="17162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02"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grpSp>
        <p:nvGrpSpPr>
          <p:cNvPr id="2" name="Group 5"/>
          <p:cNvGrpSpPr>
            <a:grpSpLocks/>
          </p:cNvGrpSpPr>
          <p:nvPr/>
        </p:nvGrpSpPr>
        <p:grpSpPr bwMode="auto">
          <a:xfrm>
            <a:off x="0" y="533400"/>
            <a:ext cx="9144000" cy="6324600"/>
            <a:chOff x="3434" y="7274"/>
            <a:chExt cx="5463" cy="7476"/>
          </a:xfrm>
        </p:grpSpPr>
        <p:pic>
          <p:nvPicPr>
            <p:cNvPr id="1740806" name="Picture 6"/>
            <p:cNvPicPr>
              <a:picLocks noChangeAspect="1" noChangeArrowheads="1"/>
            </p:cNvPicPr>
            <p:nvPr/>
          </p:nvPicPr>
          <p:blipFill>
            <a:blip r:embed="rId2"/>
            <a:srcRect l="23872" t="23299" r="19701" b="40459"/>
            <a:stretch>
              <a:fillRect/>
            </a:stretch>
          </p:blipFill>
          <p:spPr bwMode="auto">
            <a:xfrm>
              <a:off x="3434" y="7274"/>
              <a:ext cx="5460" cy="2652"/>
            </a:xfrm>
            <a:prstGeom prst="rect">
              <a:avLst/>
            </a:prstGeom>
            <a:noFill/>
            <a:ln w="9525">
              <a:noFill/>
              <a:miter lim="800000"/>
              <a:headEnd/>
              <a:tailEnd/>
            </a:ln>
          </p:spPr>
        </p:pic>
        <p:grpSp>
          <p:nvGrpSpPr>
            <p:cNvPr id="3" name="Group 7"/>
            <p:cNvGrpSpPr>
              <a:grpSpLocks/>
            </p:cNvGrpSpPr>
            <p:nvPr/>
          </p:nvGrpSpPr>
          <p:grpSpPr bwMode="auto">
            <a:xfrm>
              <a:off x="3434" y="9926"/>
              <a:ext cx="5463" cy="4824"/>
              <a:chOff x="3386" y="5558"/>
              <a:chExt cx="5463" cy="4824"/>
            </a:xfrm>
          </p:grpSpPr>
          <p:pic>
            <p:nvPicPr>
              <p:cNvPr id="1740808" name="Picture 8"/>
              <p:cNvPicPr>
                <a:picLocks noChangeAspect="1" noChangeArrowheads="1"/>
              </p:cNvPicPr>
              <p:nvPr/>
            </p:nvPicPr>
            <p:blipFill>
              <a:blip r:embed="rId3"/>
              <a:srcRect l="23872" t="23299" r="19701" b="32692"/>
              <a:stretch>
                <a:fillRect/>
              </a:stretch>
            </p:blipFill>
            <p:spPr bwMode="auto">
              <a:xfrm>
                <a:off x="3389" y="5558"/>
                <a:ext cx="5460" cy="3120"/>
              </a:xfrm>
              <a:prstGeom prst="rect">
                <a:avLst/>
              </a:prstGeom>
              <a:noFill/>
              <a:ln w="9525">
                <a:noFill/>
                <a:miter lim="800000"/>
                <a:headEnd/>
                <a:tailEnd/>
              </a:ln>
            </p:spPr>
          </p:pic>
          <p:pic>
            <p:nvPicPr>
              <p:cNvPr id="1740809" name="Picture 9"/>
              <p:cNvPicPr>
                <a:picLocks noChangeAspect="1" noChangeArrowheads="1"/>
              </p:cNvPicPr>
              <p:nvPr/>
            </p:nvPicPr>
            <p:blipFill>
              <a:blip r:embed="rId4"/>
              <a:srcRect l="23872" t="20711" r="19701" b="55991"/>
              <a:stretch>
                <a:fillRect/>
              </a:stretch>
            </p:blipFill>
            <p:spPr bwMode="auto">
              <a:xfrm>
                <a:off x="3386" y="8666"/>
                <a:ext cx="5460" cy="1716"/>
              </a:xfrm>
              <a:prstGeom prst="rect">
                <a:avLst/>
              </a:prstGeom>
              <a:noFill/>
              <a:ln w="9525">
                <a:noFill/>
                <a:miter lim="800000"/>
                <a:headEnd/>
                <a:tailEnd/>
              </a:ln>
            </p:spPr>
          </p:pic>
        </p:grpSp>
      </p:grpSp>
      <p:sp>
        <p:nvSpPr>
          <p:cNvPr id="1740810" name="Rectangle 10"/>
          <p:cNvSpPr>
            <a:spLocks noChangeArrowheads="1"/>
          </p:cNvSpPr>
          <p:nvPr/>
        </p:nvSpPr>
        <p:spPr bwMode="auto">
          <a:xfrm>
            <a:off x="2095500" y="0"/>
            <a:ext cx="5213350" cy="457200"/>
          </a:xfrm>
          <a:prstGeom prst="rect">
            <a:avLst/>
          </a:prstGeom>
          <a:noFill/>
          <a:ln w="9525" algn="ctr">
            <a:noFill/>
            <a:miter lim="800000"/>
            <a:headEnd/>
            <a:tailEnd/>
          </a:ln>
          <a:effectLst/>
        </p:spPr>
        <p:txBody>
          <a:bodyPr wrap="none" anchor="ctr">
            <a:spAutoFit/>
          </a:bodyPr>
          <a:lstStyle/>
          <a:p>
            <a:pPr algn="ctr"/>
            <a:r>
              <a:rPr kumimoji="1" lang="en-US" altLang="zh-CN" sz="2400">
                <a:latin typeface="华文仿宋" pitchFamily="2" charset="-122"/>
                <a:ea typeface="华文仿宋" pitchFamily="2" charset="-122"/>
              </a:rPr>
              <a:t>  </a:t>
            </a:r>
            <a:r>
              <a:rPr kumimoji="1" lang="zh-CN" altLang="en-US" sz="2400">
                <a:latin typeface="华文仿宋" pitchFamily="2" charset="-122"/>
                <a:ea typeface="华文仿宋" pitchFamily="2" charset="-122"/>
              </a:rPr>
              <a:t>通用三层软件（逻辑）系统体系结构</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26"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41833" name="Rectangle 9"/>
          <p:cNvSpPr>
            <a:spLocks noGrp="1"/>
          </p:cNvSpPr>
          <p:nvPr>
            <p:ph type="body" idx="1"/>
          </p:nvPr>
        </p:nvSpPr>
        <p:spPr>
          <a:noFill/>
          <a:ln/>
        </p:spPr>
        <p:txBody>
          <a:bodyPr/>
          <a:lstStyle/>
          <a:p>
            <a:r>
              <a:rPr lang="zh-CN" altLang="en-US"/>
              <a:t>图中给出了一个由</a:t>
            </a:r>
            <a:r>
              <a:rPr lang="zh-CN" altLang="en-US" b="1">
                <a:solidFill>
                  <a:srgbClr val="800000"/>
                </a:solidFill>
              </a:rPr>
              <a:t>通用接口界面层</a:t>
            </a:r>
            <a:r>
              <a:rPr lang="zh-CN" altLang="en-US"/>
              <a:t>、</a:t>
            </a:r>
            <a:r>
              <a:rPr lang="zh-CN" altLang="en-US" b="1">
                <a:solidFill>
                  <a:srgbClr val="800000"/>
                </a:solidFill>
              </a:rPr>
              <a:t>系统业务对象层</a:t>
            </a:r>
            <a:r>
              <a:rPr lang="zh-CN" altLang="en-US"/>
              <a:t>和</a:t>
            </a:r>
            <a:r>
              <a:rPr lang="zh-CN" altLang="en-US" b="1">
                <a:solidFill>
                  <a:srgbClr val="800000"/>
                </a:solidFill>
              </a:rPr>
              <a:t>系统数据库层</a:t>
            </a:r>
            <a:r>
              <a:rPr lang="zh-CN" altLang="en-US"/>
              <a:t>组成的三层结构的通用软件系统体系结构，每层中有其内部的体系结构。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833">
                                            <p:txEl>
                                              <p:pRg st="0" end="0"/>
                                            </p:txEl>
                                          </p:spTgt>
                                        </p:tgtEl>
                                        <p:attrNameLst>
                                          <p:attrName>style.visibility</p:attrName>
                                        </p:attrNameLst>
                                      </p:cBhvr>
                                      <p:to>
                                        <p:strVal val="visible"/>
                                      </p:to>
                                    </p:set>
                                    <p:animEffect transition="in" filter="blinds(horizontal)">
                                      <p:cBhvr>
                                        <p:cTn id="7" dur="500"/>
                                        <p:tgtEl>
                                          <p:spTgt spid="17418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850"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42851" name="Rectangle 3"/>
          <p:cNvSpPr>
            <a:spLocks noGrp="1"/>
          </p:cNvSpPr>
          <p:nvPr>
            <p:ph type="body" idx="1"/>
          </p:nvPr>
        </p:nvSpPr>
        <p:spPr>
          <a:xfrm>
            <a:off x="457200" y="3657600"/>
            <a:ext cx="8229600" cy="2514600"/>
          </a:xfrm>
          <a:noFill/>
          <a:ln/>
        </p:spPr>
        <p:txBody>
          <a:bodyPr/>
          <a:lstStyle/>
          <a:p>
            <a:r>
              <a:rPr lang="en-US" altLang="zh-CN" sz="2800"/>
              <a:t>1</a:t>
            </a:r>
            <a:r>
              <a:rPr lang="zh-CN" altLang="en-US" sz="2800"/>
              <a:t>、</a:t>
            </a:r>
            <a:r>
              <a:rPr lang="zh-CN" altLang="en-US" sz="2800" b="1">
                <a:solidFill>
                  <a:srgbClr val="800000"/>
                </a:solidFill>
              </a:rPr>
              <a:t>通用接口界面层</a:t>
            </a:r>
          </a:p>
          <a:p>
            <a:pPr>
              <a:buFont typeface="Wingdings" pitchFamily="2" charset="2"/>
              <a:buNone/>
            </a:pPr>
            <a:r>
              <a:rPr lang="zh-CN" altLang="en-US" sz="2800"/>
              <a:t>     该层的功能是：设置连接该软件系统的运行环境（如计算机设备及使用的操作系统、采用的编程语言等）的接口界面和设置本系统用户窗口使用的接口界面以及支持系统。该层由</a:t>
            </a:r>
            <a:r>
              <a:rPr lang="zh-CN" altLang="en-US" sz="2800">
                <a:solidFill>
                  <a:srgbClr val="FF0000"/>
                </a:solidFill>
              </a:rPr>
              <a:t>系统接口界面类包</a:t>
            </a:r>
            <a:r>
              <a:rPr lang="zh-CN" altLang="en-US" sz="2800"/>
              <a:t>、</a:t>
            </a:r>
            <a:r>
              <a:rPr lang="zh-CN" altLang="en-US" sz="2800">
                <a:solidFill>
                  <a:srgbClr val="FF0000"/>
                </a:solidFill>
              </a:rPr>
              <a:t>用户窗口包</a:t>
            </a:r>
            <a:r>
              <a:rPr lang="zh-CN" altLang="en-US" sz="2800"/>
              <a:t>和</a:t>
            </a:r>
            <a:r>
              <a:rPr lang="zh-CN" altLang="en-US" sz="2800">
                <a:solidFill>
                  <a:srgbClr val="FF0000"/>
                </a:solidFill>
              </a:rPr>
              <a:t>备用构件库包</a:t>
            </a:r>
            <a:r>
              <a:rPr lang="zh-CN" altLang="en-US" sz="2800"/>
              <a:t>组成。</a:t>
            </a:r>
          </a:p>
        </p:txBody>
      </p:sp>
      <p:pic>
        <p:nvPicPr>
          <p:cNvPr id="1742852" name="Picture 4"/>
          <p:cNvPicPr>
            <a:picLocks noChangeAspect="1" noChangeArrowheads="1"/>
          </p:cNvPicPr>
          <p:nvPr/>
        </p:nvPicPr>
        <p:blipFill>
          <a:blip r:embed="rId2"/>
          <a:srcRect/>
          <a:stretch>
            <a:fillRect/>
          </a:stretch>
        </p:blipFill>
        <p:spPr bwMode="auto">
          <a:xfrm>
            <a:off x="609600" y="1600200"/>
            <a:ext cx="7924800" cy="19081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2851">
                                            <p:txEl>
                                              <p:pRg st="0" end="0"/>
                                            </p:txEl>
                                          </p:spTgt>
                                        </p:tgtEl>
                                        <p:attrNameLst>
                                          <p:attrName>style.visibility</p:attrName>
                                        </p:attrNameLst>
                                      </p:cBhvr>
                                      <p:to>
                                        <p:strVal val="visible"/>
                                      </p:to>
                                    </p:set>
                                    <p:animEffect transition="in" filter="blinds(horizontal)">
                                      <p:cBhvr>
                                        <p:cTn id="7" dur="500"/>
                                        <p:tgtEl>
                                          <p:spTgt spid="17428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2851">
                                            <p:txEl>
                                              <p:pRg st="1" end="1"/>
                                            </p:txEl>
                                          </p:spTgt>
                                        </p:tgtEl>
                                        <p:attrNameLst>
                                          <p:attrName>style.visibility</p:attrName>
                                        </p:attrNameLst>
                                      </p:cBhvr>
                                      <p:to>
                                        <p:strVal val="visible"/>
                                      </p:to>
                                    </p:set>
                                    <p:animEffect transition="in" filter="blinds(horizontal)">
                                      <p:cBhvr>
                                        <p:cTn id="12" dur="500"/>
                                        <p:tgtEl>
                                          <p:spTgt spid="1742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874"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43875" name="Rectangle 3"/>
          <p:cNvSpPr>
            <a:spLocks noGrp="1"/>
          </p:cNvSpPr>
          <p:nvPr>
            <p:ph type="body" idx="1"/>
          </p:nvPr>
        </p:nvSpPr>
        <p:spPr>
          <a:noFill/>
          <a:ln/>
        </p:spPr>
        <p:txBody>
          <a:bodyPr/>
          <a:lstStyle/>
          <a:p>
            <a:r>
              <a:rPr lang="en-US" altLang="zh-CN"/>
              <a:t>1</a:t>
            </a:r>
            <a:r>
              <a:rPr lang="zh-CN" altLang="en-US"/>
              <a:t>、</a:t>
            </a:r>
            <a:r>
              <a:rPr lang="zh-CN" altLang="en-US" b="1">
                <a:solidFill>
                  <a:srgbClr val="800000"/>
                </a:solidFill>
              </a:rPr>
              <a:t>通用接口界面层</a:t>
            </a:r>
          </a:p>
          <a:p>
            <a:pPr>
              <a:buFont typeface="Wingdings" pitchFamily="2" charset="2"/>
              <a:buNone/>
            </a:pPr>
            <a:endParaRPr lang="zh-CN" altLang="en-US"/>
          </a:p>
        </p:txBody>
      </p:sp>
      <p:sp>
        <p:nvSpPr>
          <p:cNvPr id="1743876" name="Text Box 4"/>
          <p:cNvSpPr txBox="1">
            <a:spLocks noChangeArrowheads="1"/>
          </p:cNvSpPr>
          <p:nvPr/>
        </p:nvSpPr>
        <p:spPr bwMode="auto">
          <a:xfrm>
            <a:off x="990600" y="2362200"/>
            <a:ext cx="7315200" cy="3600450"/>
          </a:xfrm>
          <a:prstGeom prst="rect">
            <a:avLst/>
          </a:prstGeom>
          <a:noFill/>
          <a:ln w="9525">
            <a:noFill/>
            <a:miter lim="800000"/>
            <a:headEnd/>
            <a:tailEnd/>
          </a:ln>
          <a:effectLst/>
        </p:spPr>
        <p:txBody>
          <a:bodyPr>
            <a:spAutoFit/>
          </a:bodyPr>
          <a:lstStyle/>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系统接口界面类包：设置连接该软件系统的运行环境的接口界面类，以便使开发的软件系统与其运行环境进行无缝连接</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用户窗口包：设置系统用户窗口使用的接口界面，用户可以通过系统用户窗口的引导，选择合适的功能，对本系统进行正确的操作</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备用构件包：备用构件是指那些通过商业购买或在开发其他软件系统时创建成功的构件，据此组成一个备用构件库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3875">
                                            <p:txEl>
                                              <p:pRg st="0" end="0"/>
                                            </p:txEl>
                                          </p:spTgt>
                                        </p:tgtEl>
                                        <p:attrNameLst>
                                          <p:attrName>style.visibility</p:attrName>
                                        </p:attrNameLst>
                                      </p:cBhvr>
                                      <p:to>
                                        <p:strVal val="visible"/>
                                      </p:to>
                                    </p:set>
                                    <p:animEffect transition="in" filter="blinds(horizontal)">
                                      <p:cBhvr>
                                        <p:cTn id="7" dur="500"/>
                                        <p:tgtEl>
                                          <p:spTgt spid="1743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43876">
                                            <p:txEl>
                                              <p:pRg st="0" end="0"/>
                                            </p:txEl>
                                          </p:spTgt>
                                        </p:tgtEl>
                                        <p:attrNameLst>
                                          <p:attrName>style.visibility</p:attrName>
                                        </p:attrNameLst>
                                      </p:cBhvr>
                                      <p:to>
                                        <p:strVal val="visible"/>
                                      </p:to>
                                    </p:set>
                                    <p:anim to="" calcmode="lin" valueType="num">
                                      <p:cBhvr>
                                        <p:cTn id="12" dur="1" fill="hold"/>
                                        <p:tgtEl>
                                          <p:spTgt spid="1743876">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43876">
                                            <p:txEl>
                                              <p:pRg st="1" end="1"/>
                                            </p:txEl>
                                          </p:spTgt>
                                        </p:tgtEl>
                                        <p:attrNameLst>
                                          <p:attrName>style.visibility</p:attrName>
                                        </p:attrNameLst>
                                      </p:cBhvr>
                                      <p:to>
                                        <p:strVal val="visible"/>
                                      </p:to>
                                    </p:set>
                                    <p:anim to="" calcmode="lin" valueType="num">
                                      <p:cBhvr>
                                        <p:cTn id="17" dur="1" fill="hold"/>
                                        <p:tgtEl>
                                          <p:spTgt spid="1743876">
                                            <p:txEl>
                                              <p:pRg st="1" end="1"/>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743876">
                                            <p:txEl>
                                              <p:pRg st="2" end="2"/>
                                            </p:txEl>
                                          </p:spTgt>
                                        </p:tgtEl>
                                        <p:attrNameLst>
                                          <p:attrName>style.visibility</p:attrName>
                                        </p:attrNameLst>
                                      </p:cBhvr>
                                      <p:to>
                                        <p:strVal val="visible"/>
                                      </p:to>
                                    </p:set>
                                    <p:anim to="" calcmode="lin" valueType="num">
                                      <p:cBhvr>
                                        <p:cTn id="22" dur="1" fill="hold"/>
                                        <p:tgtEl>
                                          <p:spTgt spid="1743876">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87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4898"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44899" name="Rectangle 3"/>
          <p:cNvSpPr>
            <a:spLocks noGrp="1"/>
          </p:cNvSpPr>
          <p:nvPr>
            <p:ph type="body" idx="1"/>
          </p:nvPr>
        </p:nvSpPr>
        <p:spPr>
          <a:xfrm>
            <a:off x="457200" y="1600200"/>
            <a:ext cx="8077200" cy="4530725"/>
          </a:xfrm>
          <a:noFill/>
          <a:ln/>
        </p:spPr>
        <p:txBody>
          <a:bodyPr/>
          <a:lstStyle/>
          <a:p>
            <a:r>
              <a:rPr lang="en-US" altLang="zh-CN"/>
              <a:t>1</a:t>
            </a:r>
            <a:r>
              <a:rPr lang="zh-CN" altLang="en-US"/>
              <a:t>、</a:t>
            </a:r>
            <a:r>
              <a:rPr lang="zh-CN" altLang="en-US" b="1">
                <a:solidFill>
                  <a:srgbClr val="800000"/>
                </a:solidFill>
              </a:rPr>
              <a:t>通用接口界面层</a:t>
            </a:r>
          </a:p>
          <a:p>
            <a:pPr>
              <a:buFont typeface="Wingdings" pitchFamily="2" charset="2"/>
              <a:buNone/>
            </a:pPr>
            <a:r>
              <a:rPr lang="zh-CN" altLang="en-US"/>
              <a:t>     用户窗口是系统接口界面类的一个派生类，继承了系统接口界面的特性，但是也有具有自己特征的操作和功能。同时，用户窗口还可以依赖和借助备用构件库中的构件搭建自己的系统。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4899">
                                            <p:txEl>
                                              <p:pRg st="0" end="0"/>
                                            </p:txEl>
                                          </p:spTgt>
                                        </p:tgtEl>
                                        <p:attrNameLst>
                                          <p:attrName>style.visibility</p:attrName>
                                        </p:attrNameLst>
                                      </p:cBhvr>
                                      <p:to>
                                        <p:strVal val="visible"/>
                                      </p:to>
                                    </p:set>
                                    <p:animEffect transition="in" filter="blinds(horizontal)">
                                      <p:cBhvr>
                                        <p:cTn id="7" dur="500"/>
                                        <p:tgtEl>
                                          <p:spTgt spid="17448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4899">
                                            <p:txEl>
                                              <p:pRg st="1" end="1"/>
                                            </p:txEl>
                                          </p:spTgt>
                                        </p:tgtEl>
                                        <p:attrNameLst>
                                          <p:attrName>style.visibility</p:attrName>
                                        </p:attrNameLst>
                                      </p:cBhvr>
                                      <p:to>
                                        <p:strVal val="visible"/>
                                      </p:to>
                                    </p:set>
                                    <p:animEffect transition="in" filter="blinds(horizontal)">
                                      <p:cBhvr>
                                        <p:cTn id="12" dur="500"/>
                                        <p:tgtEl>
                                          <p:spTgt spid="17448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5922"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45923" name="Rectangle 3"/>
          <p:cNvSpPr>
            <a:spLocks noGrp="1"/>
          </p:cNvSpPr>
          <p:nvPr>
            <p:ph type="body" idx="1"/>
          </p:nvPr>
        </p:nvSpPr>
        <p:spPr>
          <a:xfrm>
            <a:off x="457200" y="3657600"/>
            <a:ext cx="8153400" cy="2514600"/>
          </a:xfrm>
          <a:noFill/>
          <a:ln/>
        </p:spPr>
        <p:txBody>
          <a:bodyPr/>
          <a:lstStyle/>
          <a:p>
            <a:r>
              <a:rPr lang="en-US" altLang="zh-CN"/>
              <a:t>2</a:t>
            </a:r>
            <a:r>
              <a:rPr lang="zh-CN" altLang="en-US"/>
              <a:t>、</a:t>
            </a:r>
            <a:r>
              <a:rPr lang="zh-CN" altLang="en-US" b="1">
                <a:solidFill>
                  <a:srgbClr val="800000"/>
                </a:solidFill>
              </a:rPr>
              <a:t>系统业务对象层</a:t>
            </a:r>
          </a:p>
          <a:p>
            <a:pPr>
              <a:buFont typeface="Wingdings" pitchFamily="2" charset="2"/>
              <a:buNone/>
            </a:pPr>
            <a:r>
              <a:rPr lang="zh-CN" altLang="en-US" sz="2800"/>
              <a:t>     该层的功能是：设置用户窗口与系统各种实现具体功能服务的接口界面的连接。该层由</a:t>
            </a:r>
            <a:r>
              <a:rPr lang="zh-CN" altLang="en-US" sz="2800">
                <a:solidFill>
                  <a:srgbClr val="FF0000"/>
                </a:solidFill>
              </a:rPr>
              <a:t>系统服务接口界面包</a:t>
            </a:r>
            <a:r>
              <a:rPr lang="zh-CN" altLang="en-US" sz="2800"/>
              <a:t>、</a:t>
            </a:r>
            <a:r>
              <a:rPr lang="zh-CN" altLang="en-US" sz="2800">
                <a:solidFill>
                  <a:srgbClr val="FF0000"/>
                </a:solidFill>
              </a:rPr>
              <a:t>业务对象管理包</a:t>
            </a:r>
            <a:r>
              <a:rPr lang="zh-CN" altLang="en-US" sz="2800"/>
              <a:t>、</a:t>
            </a:r>
            <a:r>
              <a:rPr lang="zh-CN" altLang="en-US" sz="2800">
                <a:solidFill>
                  <a:srgbClr val="FF0000"/>
                </a:solidFill>
              </a:rPr>
              <a:t>外部业务对象包</a:t>
            </a:r>
            <a:r>
              <a:rPr lang="zh-CN" altLang="en-US" sz="2800"/>
              <a:t>和</a:t>
            </a:r>
            <a:r>
              <a:rPr lang="zh-CN" altLang="en-US" sz="2800">
                <a:solidFill>
                  <a:srgbClr val="FF0000"/>
                </a:solidFill>
              </a:rPr>
              <a:t>实际业务对象包</a:t>
            </a:r>
            <a:r>
              <a:rPr lang="zh-CN" altLang="en-US" sz="2800"/>
              <a:t>组成。</a:t>
            </a:r>
          </a:p>
        </p:txBody>
      </p:sp>
      <p:pic>
        <p:nvPicPr>
          <p:cNvPr id="1745925" name="Picture 5"/>
          <p:cNvPicPr>
            <a:picLocks noChangeAspect="1" noChangeArrowheads="1"/>
          </p:cNvPicPr>
          <p:nvPr/>
        </p:nvPicPr>
        <p:blipFill>
          <a:blip r:embed="rId2"/>
          <a:srcRect/>
          <a:stretch>
            <a:fillRect/>
          </a:stretch>
        </p:blipFill>
        <p:spPr bwMode="auto">
          <a:xfrm>
            <a:off x="609600" y="1676400"/>
            <a:ext cx="6400800" cy="19780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5923">
                                            <p:txEl>
                                              <p:pRg st="0" end="0"/>
                                            </p:txEl>
                                          </p:spTgt>
                                        </p:tgtEl>
                                        <p:attrNameLst>
                                          <p:attrName>style.visibility</p:attrName>
                                        </p:attrNameLst>
                                      </p:cBhvr>
                                      <p:to>
                                        <p:strVal val="visible"/>
                                      </p:to>
                                    </p:set>
                                    <p:animEffect transition="in" filter="blinds(horizontal)">
                                      <p:cBhvr>
                                        <p:cTn id="7" dur="500"/>
                                        <p:tgtEl>
                                          <p:spTgt spid="1745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5923">
                                            <p:txEl>
                                              <p:pRg st="1" end="1"/>
                                            </p:txEl>
                                          </p:spTgt>
                                        </p:tgtEl>
                                        <p:attrNameLst>
                                          <p:attrName>style.visibility</p:attrName>
                                        </p:attrNameLst>
                                      </p:cBhvr>
                                      <p:to>
                                        <p:strVal val="visible"/>
                                      </p:to>
                                    </p:set>
                                    <p:animEffect transition="in" filter="blinds(horizontal)">
                                      <p:cBhvr>
                                        <p:cTn id="12" dur="500"/>
                                        <p:tgtEl>
                                          <p:spTgt spid="1745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946"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46947" name="Rectangle 3"/>
          <p:cNvSpPr>
            <a:spLocks noGrp="1"/>
          </p:cNvSpPr>
          <p:nvPr>
            <p:ph type="body" idx="1"/>
          </p:nvPr>
        </p:nvSpPr>
        <p:spPr>
          <a:noFill/>
          <a:ln/>
        </p:spPr>
        <p:txBody>
          <a:bodyPr/>
          <a:lstStyle/>
          <a:p>
            <a:r>
              <a:rPr lang="en-US" altLang="zh-CN"/>
              <a:t>2</a:t>
            </a:r>
            <a:r>
              <a:rPr lang="zh-CN" altLang="en-US"/>
              <a:t>、</a:t>
            </a:r>
            <a:r>
              <a:rPr lang="zh-CN" altLang="en-US" b="1">
                <a:solidFill>
                  <a:srgbClr val="800000"/>
                </a:solidFill>
              </a:rPr>
              <a:t>系统业务对象层</a:t>
            </a:r>
          </a:p>
          <a:p>
            <a:pPr>
              <a:buFont typeface="Wingdings" pitchFamily="2" charset="2"/>
              <a:buNone/>
            </a:pPr>
            <a:endParaRPr lang="zh-CN" altLang="en-US" b="1">
              <a:solidFill>
                <a:srgbClr val="800000"/>
              </a:solidFill>
            </a:endParaRPr>
          </a:p>
        </p:txBody>
      </p:sp>
      <p:sp>
        <p:nvSpPr>
          <p:cNvPr id="1746948" name="Text Box 4"/>
          <p:cNvSpPr txBox="1">
            <a:spLocks noChangeArrowheads="1"/>
          </p:cNvSpPr>
          <p:nvPr/>
        </p:nvSpPr>
        <p:spPr bwMode="auto">
          <a:xfrm>
            <a:off x="990600" y="2362200"/>
            <a:ext cx="7315200" cy="3346450"/>
          </a:xfrm>
          <a:prstGeom prst="rect">
            <a:avLst/>
          </a:prstGeom>
          <a:noFill/>
          <a:ln w="9525">
            <a:noFill/>
            <a:miter lim="800000"/>
            <a:headEnd/>
            <a:tailEnd/>
          </a:ln>
          <a:effectLst/>
        </p:spPr>
        <p:txBody>
          <a:bodyPr>
            <a:spAutoFit/>
          </a:bodyPr>
          <a:lstStyle/>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系统服务接口界面包：起承上启下的作用，设置用户窗口与系统各种实现具体功能的接口界面的连接</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业务对象管理包：根据用户窗口接口界面的要求，实施对系统的业务对象的有效管理</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外部业务对象包：对过去系统遗留下来的有使用价值部分进行包装</a:t>
            </a:r>
          </a:p>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实际业务对象包：形成能实现系统功能的实际的业务对象集，包括系统新创建的业务和外部业务对象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6947">
                                            <p:txEl>
                                              <p:pRg st="0" end="0"/>
                                            </p:txEl>
                                          </p:spTgt>
                                        </p:tgtEl>
                                        <p:attrNameLst>
                                          <p:attrName>style.visibility</p:attrName>
                                        </p:attrNameLst>
                                      </p:cBhvr>
                                      <p:to>
                                        <p:strVal val="visible"/>
                                      </p:to>
                                    </p:set>
                                    <p:animEffect transition="in" filter="blinds(horizontal)">
                                      <p:cBhvr>
                                        <p:cTn id="7" dur="500"/>
                                        <p:tgtEl>
                                          <p:spTgt spid="17469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46948">
                                            <p:txEl>
                                              <p:pRg st="0" end="0"/>
                                            </p:txEl>
                                          </p:spTgt>
                                        </p:tgtEl>
                                        <p:attrNameLst>
                                          <p:attrName>style.visibility</p:attrName>
                                        </p:attrNameLst>
                                      </p:cBhvr>
                                      <p:to>
                                        <p:strVal val="visible"/>
                                      </p:to>
                                    </p:set>
                                    <p:anim to="" calcmode="lin" valueType="num">
                                      <p:cBhvr>
                                        <p:cTn id="12" dur="1" fill="hold"/>
                                        <p:tgtEl>
                                          <p:spTgt spid="1746948">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46948">
                                            <p:txEl>
                                              <p:pRg st="1" end="1"/>
                                            </p:txEl>
                                          </p:spTgt>
                                        </p:tgtEl>
                                        <p:attrNameLst>
                                          <p:attrName>style.visibility</p:attrName>
                                        </p:attrNameLst>
                                      </p:cBhvr>
                                      <p:to>
                                        <p:strVal val="visible"/>
                                      </p:to>
                                    </p:set>
                                    <p:anim to="" calcmode="lin" valueType="num">
                                      <p:cBhvr>
                                        <p:cTn id="17" dur="1" fill="hold"/>
                                        <p:tgtEl>
                                          <p:spTgt spid="1746948">
                                            <p:txEl>
                                              <p:pRg st="1" end="1"/>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746948">
                                            <p:txEl>
                                              <p:pRg st="2" end="2"/>
                                            </p:txEl>
                                          </p:spTgt>
                                        </p:tgtEl>
                                        <p:attrNameLst>
                                          <p:attrName>style.visibility</p:attrName>
                                        </p:attrNameLst>
                                      </p:cBhvr>
                                      <p:to>
                                        <p:strVal val="visible"/>
                                      </p:to>
                                    </p:set>
                                    <p:anim to="" calcmode="lin" valueType="num">
                                      <p:cBhvr>
                                        <p:cTn id="22" dur="1" fill="hold"/>
                                        <p:tgtEl>
                                          <p:spTgt spid="1746948">
                                            <p:txEl>
                                              <p:pRg st="2" end="2"/>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746948">
                                            <p:txEl>
                                              <p:pRg st="3" end="3"/>
                                            </p:txEl>
                                          </p:spTgt>
                                        </p:tgtEl>
                                        <p:attrNameLst>
                                          <p:attrName>style.visibility</p:attrName>
                                        </p:attrNameLst>
                                      </p:cBhvr>
                                      <p:to>
                                        <p:strVal val="visible"/>
                                      </p:to>
                                    </p:set>
                                    <p:anim to="" calcmode="lin" valueType="num">
                                      <p:cBhvr>
                                        <p:cTn id="27" dur="1" fill="hold"/>
                                        <p:tgtEl>
                                          <p:spTgt spid="1746948">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694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8994"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48995" name="Rectangle 3"/>
          <p:cNvSpPr>
            <a:spLocks noGrp="1"/>
          </p:cNvSpPr>
          <p:nvPr>
            <p:ph type="body" idx="1"/>
          </p:nvPr>
        </p:nvSpPr>
        <p:spPr>
          <a:xfrm>
            <a:off x="457200" y="3124200"/>
            <a:ext cx="8153400" cy="2514600"/>
          </a:xfrm>
          <a:noFill/>
          <a:ln/>
        </p:spPr>
        <p:txBody>
          <a:bodyPr/>
          <a:lstStyle/>
          <a:p>
            <a:r>
              <a:rPr lang="en-US" altLang="zh-CN"/>
              <a:t>3</a:t>
            </a:r>
            <a:r>
              <a:rPr lang="zh-CN" altLang="en-US"/>
              <a:t>、</a:t>
            </a:r>
            <a:r>
              <a:rPr lang="zh-CN" altLang="en-US" b="1">
                <a:solidFill>
                  <a:srgbClr val="800000"/>
                </a:solidFill>
              </a:rPr>
              <a:t>系统数据库层</a:t>
            </a:r>
          </a:p>
          <a:p>
            <a:pPr>
              <a:buFont typeface="Wingdings" pitchFamily="2" charset="2"/>
              <a:buNone/>
            </a:pPr>
            <a:r>
              <a:rPr lang="zh-CN" altLang="en-US"/>
              <a:t>     </a:t>
            </a:r>
            <a:r>
              <a:rPr lang="zh-CN" altLang="en-US" sz="2800"/>
              <a:t>该层的功能是：将能够实现系统功能的对象集作为持久对象及数据存储在磁盘中，便于系统在需要时再将这些持久对象和数据提出出来进行处理和操作。该层由</a:t>
            </a:r>
            <a:r>
              <a:rPr lang="zh-CN" altLang="en-US" sz="2800">
                <a:solidFill>
                  <a:srgbClr val="FF0000"/>
                </a:solidFill>
              </a:rPr>
              <a:t>持久对象及数据包</a:t>
            </a:r>
            <a:r>
              <a:rPr lang="zh-CN" altLang="en-US" sz="2800"/>
              <a:t>和</a:t>
            </a:r>
            <a:r>
              <a:rPr lang="en-US" altLang="zh-CN" sz="2800">
                <a:solidFill>
                  <a:srgbClr val="FF0000"/>
                </a:solidFill>
              </a:rPr>
              <a:t>SQL</a:t>
            </a:r>
            <a:r>
              <a:rPr lang="zh-CN" altLang="en-US" sz="2800">
                <a:solidFill>
                  <a:srgbClr val="FF0000"/>
                </a:solidFill>
              </a:rPr>
              <a:t>查询语言包</a:t>
            </a:r>
            <a:r>
              <a:rPr lang="zh-CN" altLang="en-US" sz="2800"/>
              <a:t>组成。</a:t>
            </a:r>
          </a:p>
        </p:txBody>
      </p:sp>
      <p:pic>
        <p:nvPicPr>
          <p:cNvPr id="1748997" name="Picture 5"/>
          <p:cNvPicPr>
            <a:picLocks noChangeAspect="1" noChangeArrowheads="1"/>
          </p:cNvPicPr>
          <p:nvPr/>
        </p:nvPicPr>
        <p:blipFill>
          <a:blip r:embed="rId2"/>
          <a:srcRect/>
          <a:stretch>
            <a:fillRect/>
          </a:stretch>
        </p:blipFill>
        <p:spPr bwMode="auto">
          <a:xfrm>
            <a:off x="627063" y="1819275"/>
            <a:ext cx="7983537" cy="11525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8995">
                                            <p:txEl>
                                              <p:pRg st="0" end="0"/>
                                            </p:txEl>
                                          </p:spTgt>
                                        </p:tgtEl>
                                        <p:attrNameLst>
                                          <p:attrName>style.visibility</p:attrName>
                                        </p:attrNameLst>
                                      </p:cBhvr>
                                      <p:to>
                                        <p:strVal val="visible"/>
                                      </p:to>
                                    </p:set>
                                    <p:animEffect transition="in" filter="blinds(horizontal)">
                                      <p:cBhvr>
                                        <p:cTn id="7" dur="500"/>
                                        <p:tgtEl>
                                          <p:spTgt spid="1748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8995">
                                            <p:txEl>
                                              <p:pRg st="1" end="1"/>
                                            </p:txEl>
                                          </p:spTgt>
                                        </p:tgtEl>
                                        <p:attrNameLst>
                                          <p:attrName>style.visibility</p:attrName>
                                        </p:attrNameLst>
                                      </p:cBhvr>
                                      <p:to>
                                        <p:strVal val="visible"/>
                                      </p:to>
                                    </p:set>
                                    <p:animEffect transition="in" filter="blinds(horizontal)">
                                      <p:cBhvr>
                                        <p:cTn id="12" dur="500"/>
                                        <p:tgtEl>
                                          <p:spTgt spid="17489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0018" name="Rectangle 2"/>
          <p:cNvSpPr>
            <a:spLocks noGrp="1" noChangeArrowheads="1"/>
          </p:cNvSpPr>
          <p:nvPr>
            <p:ph type="title"/>
          </p:nvPr>
        </p:nvSpPr>
        <p:spPr/>
        <p:txBody>
          <a:bodyPr/>
          <a:lstStyle/>
          <a:p>
            <a:r>
              <a:rPr lang="zh-CN" altLang="en-US"/>
              <a:t>软件系统体系结构建模</a:t>
            </a:r>
            <a:r>
              <a:rPr lang="en-US" altLang="zh-CN"/>
              <a:t>——</a:t>
            </a:r>
            <a:r>
              <a:rPr lang="zh-CN" altLang="en-US"/>
              <a:t>包图</a:t>
            </a:r>
          </a:p>
        </p:txBody>
      </p:sp>
      <p:sp>
        <p:nvSpPr>
          <p:cNvPr id="1750019" name="Rectangle 3"/>
          <p:cNvSpPr>
            <a:spLocks noGrp="1"/>
          </p:cNvSpPr>
          <p:nvPr>
            <p:ph type="body" idx="1"/>
          </p:nvPr>
        </p:nvSpPr>
        <p:spPr>
          <a:noFill/>
          <a:ln/>
        </p:spPr>
        <p:txBody>
          <a:bodyPr/>
          <a:lstStyle/>
          <a:p>
            <a:r>
              <a:rPr lang="en-US" altLang="zh-CN"/>
              <a:t>3</a:t>
            </a:r>
            <a:r>
              <a:rPr lang="zh-CN" altLang="en-US"/>
              <a:t>、</a:t>
            </a:r>
            <a:r>
              <a:rPr lang="zh-CN" altLang="en-US" b="1">
                <a:solidFill>
                  <a:srgbClr val="800000"/>
                </a:solidFill>
              </a:rPr>
              <a:t>系统业务对象层</a:t>
            </a:r>
          </a:p>
          <a:p>
            <a:pPr>
              <a:buFont typeface="Wingdings" pitchFamily="2" charset="2"/>
              <a:buNone/>
            </a:pPr>
            <a:endParaRPr lang="zh-CN" altLang="en-US" b="1">
              <a:solidFill>
                <a:srgbClr val="800000"/>
              </a:solidFill>
            </a:endParaRPr>
          </a:p>
        </p:txBody>
      </p:sp>
      <p:sp>
        <p:nvSpPr>
          <p:cNvPr id="1750020" name="Text Box 4"/>
          <p:cNvSpPr txBox="1">
            <a:spLocks noChangeArrowheads="1"/>
          </p:cNvSpPr>
          <p:nvPr/>
        </p:nvSpPr>
        <p:spPr bwMode="auto">
          <a:xfrm>
            <a:off x="990600" y="2362200"/>
            <a:ext cx="7315200" cy="2759075"/>
          </a:xfrm>
          <a:prstGeom prst="rect">
            <a:avLst/>
          </a:prstGeom>
          <a:noFill/>
          <a:ln w="9525">
            <a:noFill/>
            <a:miter lim="800000"/>
            <a:headEnd/>
            <a:tailEnd/>
          </a:ln>
          <a:effectLst/>
        </p:spPr>
        <p:txBody>
          <a:bodyPr>
            <a:spAutoFit/>
          </a:bodyPr>
          <a:lstStyle/>
          <a:p>
            <a:pPr>
              <a:spcBef>
                <a:spcPct val="15000"/>
              </a:spcBef>
              <a:spcAft>
                <a:spcPct val="15000"/>
              </a:spcAft>
              <a:buClr>
                <a:schemeClr val="accent2"/>
              </a:buClr>
              <a:buFont typeface="Wingdings" pitchFamily="2" charset="2"/>
              <a:buChar char="þ"/>
            </a:pPr>
            <a:r>
              <a:rPr lang="zh-CN" altLang="en-US" sz="2400">
                <a:latin typeface="楷体_GB2312" pitchFamily="49" charset="-122"/>
                <a:ea typeface="楷体_GB2312" pitchFamily="49" charset="-122"/>
              </a:rPr>
              <a:t>持久对象及数据包：将能实现系统功能的实际业务对象集，及这些对象在交互过程中产生的数据和新的对象，作为持久对象和数据存储在磁盘中</a:t>
            </a:r>
          </a:p>
          <a:p>
            <a:pPr>
              <a:spcBef>
                <a:spcPct val="15000"/>
              </a:spcBef>
              <a:spcAft>
                <a:spcPct val="15000"/>
              </a:spcAft>
              <a:buClr>
                <a:schemeClr val="accent2"/>
              </a:buClr>
              <a:buFont typeface="Wingdings" pitchFamily="2" charset="2"/>
              <a:buChar char="þ"/>
            </a:pPr>
            <a:r>
              <a:rPr lang="en-US" altLang="zh-CN" sz="2400">
                <a:latin typeface="楷体_GB2312" pitchFamily="49" charset="-122"/>
                <a:ea typeface="楷体_GB2312" pitchFamily="49" charset="-122"/>
              </a:rPr>
              <a:t>SQL</a:t>
            </a:r>
            <a:r>
              <a:rPr lang="zh-CN" altLang="en-US" sz="2400">
                <a:latin typeface="楷体_GB2312" pitchFamily="49" charset="-122"/>
                <a:ea typeface="楷体_GB2312" pitchFamily="49" charset="-122"/>
              </a:rPr>
              <a:t>查询语言包：负责处理和操作存储在磁盘中的持久对象和数据，包括对象的索引、查询、提取、存储、插入和删除等，所有这些操作都依赖于</a:t>
            </a:r>
            <a:r>
              <a:rPr lang="en-US" altLang="zh-CN" sz="2400">
                <a:latin typeface="楷体_GB2312" pitchFamily="49" charset="-122"/>
                <a:ea typeface="楷体_GB2312" pitchFamily="49" charset="-122"/>
              </a:rPr>
              <a:t>SQL</a:t>
            </a:r>
            <a:r>
              <a:rPr lang="zh-CN" altLang="en-US" sz="2400">
                <a:latin typeface="楷体_GB2312" pitchFamily="49" charset="-122"/>
                <a:ea typeface="楷体_GB2312" pitchFamily="49" charset="-122"/>
              </a:rPr>
              <a:t>查询语言进行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50019">
                                            <p:txEl>
                                              <p:pRg st="0" end="0"/>
                                            </p:txEl>
                                          </p:spTgt>
                                        </p:tgtEl>
                                        <p:attrNameLst>
                                          <p:attrName>style.visibility</p:attrName>
                                        </p:attrNameLst>
                                      </p:cBhvr>
                                      <p:to>
                                        <p:strVal val="visible"/>
                                      </p:to>
                                    </p:set>
                                    <p:animEffect transition="in" filter="blinds(horizontal)">
                                      <p:cBhvr>
                                        <p:cTn id="7" dur="500"/>
                                        <p:tgtEl>
                                          <p:spTgt spid="17500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50020">
                                            <p:txEl>
                                              <p:pRg st="0" end="0"/>
                                            </p:txEl>
                                          </p:spTgt>
                                        </p:tgtEl>
                                        <p:attrNameLst>
                                          <p:attrName>style.visibility</p:attrName>
                                        </p:attrNameLst>
                                      </p:cBhvr>
                                      <p:to>
                                        <p:strVal val="visible"/>
                                      </p:to>
                                    </p:set>
                                    <p:anim to="" calcmode="lin" valueType="num">
                                      <p:cBhvr>
                                        <p:cTn id="12" dur="1" fill="hold"/>
                                        <p:tgtEl>
                                          <p:spTgt spid="1750020">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50020">
                                            <p:txEl>
                                              <p:pRg st="1" end="1"/>
                                            </p:txEl>
                                          </p:spTgt>
                                        </p:tgtEl>
                                        <p:attrNameLst>
                                          <p:attrName>style.visibility</p:attrName>
                                        </p:attrNameLst>
                                      </p:cBhvr>
                                      <p:to>
                                        <p:strVal val="visible"/>
                                      </p:to>
                                    </p:set>
                                    <p:anim to="" calcmode="lin" valueType="num">
                                      <p:cBhvr>
                                        <p:cTn id="17" dur="1" fill="hold"/>
                                        <p:tgtEl>
                                          <p:spTgt spid="1750020">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002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7426" name="Text Box 2"/>
          <p:cNvSpPr txBox="1">
            <a:spLocks noChangeArrowheads="1"/>
          </p:cNvSpPr>
          <p:nvPr/>
        </p:nvSpPr>
        <p:spPr bwMode="auto">
          <a:xfrm>
            <a:off x="250825" y="1147763"/>
            <a:ext cx="38163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一、 包图的基本概念</a:t>
            </a:r>
          </a:p>
        </p:txBody>
      </p:sp>
      <p:sp>
        <p:nvSpPr>
          <p:cNvPr id="1767427" name="Rectangle 3"/>
          <p:cNvSpPr>
            <a:spLocks noChangeArrowheads="1"/>
          </p:cNvSpPr>
          <p:nvPr/>
        </p:nvSpPr>
        <p:spPr bwMode="auto">
          <a:xfrm>
            <a:off x="395288" y="1844675"/>
            <a:ext cx="8139112" cy="11874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包图（</a:t>
            </a:r>
            <a:r>
              <a:rPr lang="en-US" altLang="zh-CN" sz="2400">
                <a:latin typeface="楷体_GB2312" pitchFamily="49" charset="-122"/>
                <a:ea typeface="楷体_GB2312" pitchFamily="49" charset="-122"/>
              </a:rPr>
              <a:t>Package Diagram</a:t>
            </a:r>
            <a:r>
              <a:rPr lang="zh-CN" altLang="en-US" sz="2400">
                <a:latin typeface="楷体_GB2312" pitchFamily="49" charset="-122"/>
                <a:ea typeface="楷体_GB2312" pitchFamily="49" charset="-122"/>
              </a:rPr>
              <a:t>）是一种描述系统总体结构的模型的重要建模工具，通过对图中各个包以及包之间关系的描述，展现出系统的模块与模块之间的依赖关系。</a:t>
            </a:r>
          </a:p>
        </p:txBody>
      </p:sp>
      <p:pic>
        <p:nvPicPr>
          <p:cNvPr id="1767429" name="Picture 5"/>
          <p:cNvPicPr>
            <a:picLocks noChangeAspect="1" noChangeArrowheads="1"/>
          </p:cNvPicPr>
          <p:nvPr/>
        </p:nvPicPr>
        <p:blipFill>
          <a:blip r:embed="rId2"/>
          <a:srcRect/>
          <a:stretch>
            <a:fillRect/>
          </a:stretch>
        </p:blipFill>
        <p:spPr bwMode="auto">
          <a:xfrm>
            <a:off x="900113" y="3068638"/>
            <a:ext cx="7416800" cy="2109787"/>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9474" name="Rectangle 2"/>
          <p:cNvSpPr>
            <a:spLocks noGrp="1" noChangeArrowheads="1"/>
          </p:cNvSpPr>
          <p:nvPr>
            <p:ph type="title"/>
          </p:nvPr>
        </p:nvSpPr>
        <p:spPr/>
        <p:txBody>
          <a:bodyPr/>
          <a:lstStyle/>
          <a:p>
            <a:r>
              <a:rPr lang="zh-CN" altLang="en-US"/>
              <a:t>包</a:t>
            </a:r>
          </a:p>
        </p:txBody>
      </p:sp>
      <p:sp>
        <p:nvSpPr>
          <p:cNvPr id="1769475" name="Rectangle 3"/>
          <p:cNvSpPr>
            <a:spLocks noGrp="1" noChangeArrowheads="1"/>
          </p:cNvSpPr>
          <p:nvPr>
            <p:ph type="body" idx="1"/>
          </p:nvPr>
        </p:nvSpPr>
        <p:spPr>
          <a:xfrm>
            <a:off x="381000" y="1752600"/>
            <a:ext cx="8382000" cy="3124200"/>
          </a:xfrm>
        </p:spPr>
        <p:txBody>
          <a:bodyPr/>
          <a:lstStyle/>
          <a:p>
            <a:r>
              <a:rPr lang="zh-CN" altLang="en-US"/>
              <a:t>含义：将多个元素组织为语义相关组的通用机制。</a:t>
            </a:r>
          </a:p>
          <a:p>
            <a:r>
              <a:rPr lang="en-US" altLang="zh-CN"/>
              <a:t>UML</a:t>
            </a:r>
            <a:r>
              <a:rPr lang="zh-CN" altLang="en-US"/>
              <a:t>表示</a:t>
            </a:r>
          </a:p>
        </p:txBody>
      </p:sp>
      <p:pic>
        <p:nvPicPr>
          <p:cNvPr id="1769476" name="Picture 4"/>
          <p:cNvPicPr>
            <a:picLocks noChangeAspect="1" noChangeArrowheads="1"/>
          </p:cNvPicPr>
          <p:nvPr/>
        </p:nvPicPr>
        <p:blipFill>
          <a:blip r:embed="rId2"/>
          <a:srcRect/>
          <a:stretch>
            <a:fillRect/>
          </a:stretch>
        </p:blipFill>
        <p:spPr bwMode="auto">
          <a:xfrm>
            <a:off x="3505200" y="3733800"/>
            <a:ext cx="2209800" cy="15763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2546" name="Rectangle 2"/>
          <p:cNvSpPr>
            <a:spLocks noGrp="1" noChangeArrowheads="1"/>
          </p:cNvSpPr>
          <p:nvPr>
            <p:ph type="title"/>
          </p:nvPr>
        </p:nvSpPr>
        <p:spPr/>
        <p:txBody>
          <a:bodyPr/>
          <a:lstStyle/>
          <a:p>
            <a:r>
              <a:rPr lang="zh-CN" altLang="en-US"/>
              <a:t>包拥有的元素</a:t>
            </a:r>
          </a:p>
        </p:txBody>
      </p:sp>
      <p:sp>
        <p:nvSpPr>
          <p:cNvPr id="1772547" name="Rectangle 3"/>
          <p:cNvSpPr>
            <a:spLocks noGrp="1" noChangeArrowheads="1"/>
          </p:cNvSpPr>
          <p:nvPr>
            <p:ph type="body" idx="1"/>
          </p:nvPr>
        </p:nvSpPr>
        <p:spPr/>
        <p:txBody>
          <a:bodyPr/>
          <a:lstStyle/>
          <a:p>
            <a:r>
              <a:rPr lang="zh-CN" altLang="en-US"/>
              <a:t>包拥有的元素：类、接口、组件、节点、协作、用例、图以及其他包。 </a:t>
            </a:r>
          </a:p>
          <a:p>
            <a:r>
              <a:rPr lang="zh-CN" altLang="en-US"/>
              <a:t>一个模型元素不能被一个以上的包所拥有。</a:t>
            </a:r>
          </a:p>
          <a:p>
            <a:r>
              <a:rPr lang="zh-CN" altLang="en-US"/>
              <a:t>如果包被撤销，其中的元素也要被撤销。 </a:t>
            </a:r>
          </a:p>
          <a:p>
            <a:r>
              <a:rPr lang="zh-CN" altLang="en-US"/>
              <a:t>一个包形成了一个命名空间。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22" name="Rectangle 2"/>
          <p:cNvSpPr>
            <a:spLocks noGrp="1" noChangeArrowheads="1"/>
          </p:cNvSpPr>
          <p:nvPr>
            <p:ph type="title"/>
          </p:nvPr>
        </p:nvSpPr>
        <p:spPr/>
        <p:txBody>
          <a:bodyPr/>
          <a:lstStyle/>
          <a:p>
            <a:r>
              <a:rPr lang="zh-CN" altLang="en-US"/>
              <a:t>包的名称</a:t>
            </a:r>
          </a:p>
        </p:txBody>
      </p:sp>
      <p:sp>
        <p:nvSpPr>
          <p:cNvPr id="1771523" name="Rectangle 3"/>
          <p:cNvSpPr>
            <a:spLocks noGrp="1" noChangeArrowheads="1"/>
          </p:cNvSpPr>
          <p:nvPr>
            <p:ph type="body" sz="half" idx="1"/>
          </p:nvPr>
        </p:nvSpPr>
        <p:spPr>
          <a:xfrm>
            <a:off x="457200" y="1600200"/>
            <a:ext cx="8229600" cy="1227138"/>
          </a:xfrm>
        </p:spPr>
        <p:txBody>
          <a:bodyPr/>
          <a:lstStyle/>
          <a:p>
            <a:r>
              <a:rPr lang="zh-CN" altLang="en-US"/>
              <a:t>每个包必须有一个与其他包相区别的名称。</a:t>
            </a:r>
          </a:p>
          <a:p>
            <a:r>
              <a:rPr lang="zh-CN" altLang="en-US"/>
              <a:t>两种形式：简单名和路径名。</a:t>
            </a:r>
          </a:p>
        </p:txBody>
      </p:sp>
      <p:pic>
        <p:nvPicPr>
          <p:cNvPr id="1771524" name="Picture 4"/>
          <p:cNvPicPr>
            <a:picLocks noChangeAspect="1" noChangeArrowheads="1"/>
          </p:cNvPicPr>
          <p:nvPr>
            <p:ph sz="half" idx="2"/>
          </p:nvPr>
        </p:nvPicPr>
        <p:blipFill>
          <a:blip r:embed="rId2"/>
          <a:srcRect/>
          <a:stretch>
            <a:fillRect/>
          </a:stretch>
        </p:blipFill>
        <p:spPr>
          <a:xfrm>
            <a:off x="1841500" y="3287713"/>
            <a:ext cx="5419725" cy="2143125"/>
          </a:xfrm>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8451" name="Rectangle 3"/>
          <p:cNvSpPr>
            <a:spLocks noChangeArrowheads="1"/>
          </p:cNvSpPr>
          <p:nvPr/>
        </p:nvSpPr>
        <p:spPr bwMode="auto">
          <a:xfrm>
            <a:off x="468313" y="1700213"/>
            <a:ext cx="8139112" cy="228282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包对自身所包含的内部元素的可见性也有定义，使用关键字</a:t>
            </a:r>
            <a:r>
              <a:rPr lang="en-US" altLang="zh-CN" sz="2400">
                <a:latin typeface="楷体_GB2312" pitchFamily="49" charset="-122"/>
                <a:ea typeface="楷体_GB2312" pitchFamily="49" charset="-122"/>
              </a:rPr>
              <a:t>private</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protected</a:t>
            </a:r>
            <a:r>
              <a:rPr lang="zh-CN" altLang="en-US" sz="2400">
                <a:latin typeface="楷体_GB2312" pitchFamily="49" charset="-122"/>
                <a:ea typeface="楷体_GB2312" pitchFamily="49" charset="-122"/>
              </a:rPr>
              <a:t>或</a:t>
            </a:r>
            <a:r>
              <a:rPr lang="en-US" altLang="zh-CN" sz="2400">
                <a:latin typeface="楷体_GB2312" pitchFamily="49" charset="-122"/>
                <a:ea typeface="楷体_GB2312" pitchFamily="49" charset="-122"/>
              </a:rPr>
              <a:t>public</a:t>
            </a:r>
            <a:r>
              <a:rPr lang="zh-CN" altLang="en-US" sz="2400">
                <a:latin typeface="楷体_GB2312" pitchFamily="49" charset="-122"/>
                <a:ea typeface="楷体_GB2312" pitchFamily="49" charset="-122"/>
              </a:rPr>
              <a:t>来表示。</a:t>
            </a:r>
            <a:r>
              <a:rPr lang="en-US" altLang="zh-CN" sz="2400">
                <a:latin typeface="楷体_GB2312" pitchFamily="49" charset="-122"/>
                <a:ea typeface="楷体_GB2312" pitchFamily="49" charset="-122"/>
              </a:rPr>
              <a:t>private</a:t>
            </a:r>
            <a:r>
              <a:rPr lang="zh-CN" altLang="en-US" sz="2400">
                <a:latin typeface="楷体_GB2312" pitchFamily="49" charset="-122"/>
                <a:ea typeface="楷体_GB2312" pitchFamily="49" charset="-122"/>
              </a:rPr>
              <a:t>定义的私有元素对包外部元素完全不可见；</a:t>
            </a:r>
            <a:r>
              <a:rPr lang="en-US" altLang="zh-CN" sz="2400">
                <a:latin typeface="楷体_GB2312" pitchFamily="49" charset="-122"/>
                <a:ea typeface="楷体_GB2312" pitchFamily="49" charset="-122"/>
              </a:rPr>
              <a:t>protected</a:t>
            </a:r>
            <a:r>
              <a:rPr lang="zh-CN" altLang="en-US" sz="2400">
                <a:latin typeface="楷体_GB2312" pitchFamily="49" charset="-122"/>
                <a:ea typeface="楷体_GB2312" pitchFamily="49" charset="-122"/>
              </a:rPr>
              <a:t>定义的被保护的元素只对那些与包含这些元素的包有</a:t>
            </a:r>
            <a:r>
              <a:rPr lang="zh-CN" altLang="en-US" sz="2400">
                <a:solidFill>
                  <a:srgbClr val="FF0000"/>
                </a:solidFill>
                <a:latin typeface="楷体_GB2312" pitchFamily="49" charset="-122"/>
                <a:ea typeface="楷体_GB2312" pitchFamily="49" charset="-122"/>
              </a:rPr>
              <a:t>泛化关系</a:t>
            </a:r>
            <a:r>
              <a:rPr lang="zh-CN" altLang="en-US" sz="2400">
                <a:latin typeface="楷体_GB2312" pitchFamily="49" charset="-122"/>
                <a:ea typeface="楷体_GB2312" pitchFamily="49" charset="-122"/>
              </a:rPr>
              <a:t>的包可见；</a:t>
            </a:r>
            <a:r>
              <a:rPr lang="en-US" altLang="zh-CN" sz="2400">
                <a:latin typeface="楷体_GB2312" pitchFamily="49" charset="-122"/>
                <a:ea typeface="楷体_GB2312" pitchFamily="49" charset="-122"/>
              </a:rPr>
              <a:t>public</a:t>
            </a:r>
            <a:r>
              <a:rPr lang="zh-CN" altLang="en-US" sz="2400">
                <a:latin typeface="楷体_GB2312" pitchFamily="49" charset="-122"/>
                <a:ea typeface="楷体_GB2312" pitchFamily="49" charset="-122"/>
              </a:rPr>
              <a:t>定义的公共元素对所有</a:t>
            </a:r>
            <a:r>
              <a:rPr lang="zh-CN" altLang="en-US" sz="2400">
                <a:solidFill>
                  <a:srgbClr val="FF0000"/>
                </a:solidFill>
                <a:latin typeface="楷体_GB2312" pitchFamily="49" charset="-122"/>
                <a:ea typeface="楷体_GB2312" pitchFamily="49" charset="-122"/>
              </a:rPr>
              <a:t>引入</a:t>
            </a:r>
            <a:r>
              <a:rPr lang="zh-CN" altLang="en-US" sz="2400">
                <a:latin typeface="楷体_GB2312" pitchFamily="49" charset="-122"/>
                <a:ea typeface="楷体_GB2312" pitchFamily="49" charset="-122"/>
              </a:rPr>
              <a:t>的包以及它们的后代都可见。</a:t>
            </a:r>
          </a:p>
        </p:txBody>
      </p:sp>
      <p:pic>
        <p:nvPicPr>
          <p:cNvPr id="1768453" name="Picture 5"/>
          <p:cNvPicPr>
            <a:picLocks noChangeAspect="1" noChangeArrowheads="1"/>
          </p:cNvPicPr>
          <p:nvPr/>
        </p:nvPicPr>
        <p:blipFill>
          <a:blip r:embed="rId2"/>
          <a:srcRect/>
          <a:stretch>
            <a:fillRect/>
          </a:stretch>
        </p:blipFill>
        <p:spPr bwMode="auto">
          <a:xfrm>
            <a:off x="5486400" y="3733800"/>
            <a:ext cx="2443163" cy="2520950"/>
          </a:xfrm>
          <a:prstGeom prst="rect">
            <a:avLst/>
          </a:prstGeom>
          <a:noFill/>
        </p:spPr>
      </p:pic>
      <p:sp>
        <p:nvSpPr>
          <p:cNvPr id="1768454" name="Rectangle 6"/>
          <p:cNvSpPr>
            <a:spLocks noGrp="1"/>
          </p:cNvSpPr>
          <p:nvPr>
            <p:ph type="title"/>
          </p:nvPr>
        </p:nvSpPr>
        <p:spPr>
          <a:noFill/>
          <a:ln/>
        </p:spPr>
        <p:txBody>
          <a:bodyPr/>
          <a:lstStyle/>
          <a:p>
            <a:r>
              <a:rPr lang="zh-CN" altLang="en-US"/>
              <a:t>可见性</a:t>
            </a:r>
          </a:p>
        </p:txBody>
      </p:sp>
      <p:sp>
        <p:nvSpPr>
          <p:cNvPr id="1768455" name="Rectangle 7"/>
          <p:cNvSpPr>
            <a:spLocks noGrp="1"/>
          </p:cNvSpPr>
          <p:nvPr>
            <p:ph type="body" idx="1"/>
          </p:nvPr>
        </p:nvSpPr>
        <p:spPr>
          <a:xfrm>
            <a:off x="609600" y="4114800"/>
            <a:ext cx="5638800" cy="1751013"/>
          </a:xfrm>
          <a:noFill/>
          <a:ln/>
        </p:spPr>
        <p:txBody>
          <a:bodyPr/>
          <a:lstStyle/>
          <a:p>
            <a:pPr marL="609600" indent="-609600"/>
            <a:r>
              <a:rPr lang="zh-CN" altLang="en-US"/>
              <a:t>可见性的类型：</a:t>
            </a:r>
          </a:p>
          <a:p>
            <a:pPr marL="609600" indent="-609600"/>
            <a:r>
              <a:rPr lang="zh-CN" altLang="en-US"/>
              <a:t>公有的（</a:t>
            </a:r>
            <a:r>
              <a:rPr lang="en-US" altLang="zh-CN"/>
              <a:t>public</a:t>
            </a:r>
            <a:r>
              <a:rPr lang="zh-CN" altLang="en-US"/>
              <a:t>） “＋”</a:t>
            </a:r>
          </a:p>
          <a:p>
            <a:pPr marL="609600" indent="-609600"/>
            <a:r>
              <a:rPr lang="zh-CN" altLang="en-US"/>
              <a:t>受保护的（</a:t>
            </a:r>
            <a:r>
              <a:rPr lang="en-US" altLang="zh-CN"/>
              <a:t>protected</a:t>
            </a:r>
            <a:r>
              <a:rPr lang="zh-CN" altLang="en-US"/>
              <a:t>） “＃”</a:t>
            </a:r>
          </a:p>
          <a:p>
            <a:pPr marL="609600" indent="-609600"/>
            <a:r>
              <a:rPr lang="zh-CN" altLang="en-US"/>
              <a:t>私有的（</a:t>
            </a:r>
            <a:r>
              <a:rPr lang="en-US" altLang="zh-CN"/>
              <a:t>private</a:t>
            </a:r>
            <a:r>
              <a:rPr lang="zh-CN" altLang="en-US"/>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0258" name="Rectangle 2"/>
          <p:cNvSpPr>
            <a:spLocks noGrp="1" noChangeArrowheads="1"/>
          </p:cNvSpPr>
          <p:nvPr>
            <p:ph type="title"/>
          </p:nvPr>
        </p:nvSpPr>
        <p:spPr/>
        <p:txBody>
          <a:bodyPr/>
          <a:lstStyle/>
          <a:p>
            <a:r>
              <a:rPr lang="zh-CN" altLang="en-US"/>
              <a:t>包之间的关系 </a:t>
            </a:r>
          </a:p>
        </p:txBody>
      </p:sp>
      <p:sp>
        <p:nvSpPr>
          <p:cNvPr id="1760259" name="Rectangle 3"/>
          <p:cNvSpPr>
            <a:spLocks noGrp="1" noChangeArrowheads="1"/>
          </p:cNvSpPr>
          <p:nvPr>
            <p:ph type="body" idx="1"/>
          </p:nvPr>
        </p:nvSpPr>
        <p:spPr/>
        <p:txBody>
          <a:bodyPr/>
          <a:lstStyle/>
          <a:p>
            <a:pPr marL="609600" indent="-609600"/>
            <a:r>
              <a:rPr lang="zh-CN" altLang="en-US"/>
              <a:t>包之间可以有两种关系： </a:t>
            </a:r>
          </a:p>
          <a:p>
            <a:pPr marL="609600" indent="-609600">
              <a:buFont typeface="Wingdings" pitchFamily="2" charset="2"/>
              <a:buAutoNum type="circleNumDbPlain"/>
            </a:pPr>
            <a:r>
              <a:rPr lang="zh-CN" altLang="en-US"/>
              <a:t>依赖：在一个包中</a:t>
            </a:r>
            <a:r>
              <a:rPr lang="zh-CN" altLang="en-US">
                <a:solidFill>
                  <a:srgbClr val="FF0000"/>
                </a:solidFill>
              </a:rPr>
              <a:t>引入</a:t>
            </a:r>
            <a:r>
              <a:rPr lang="zh-CN" altLang="en-US"/>
              <a:t>另一个包输出的元素</a:t>
            </a:r>
            <a:endParaRPr lang="en-US" altLang="zh-CN"/>
          </a:p>
          <a:p>
            <a:pPr marL="609600" indent="-609600">
              <a:buFont typeface="Wingdings" pitchFamily="2" charset="2"/>
              <a:buAutoNum type="circleNumDbPlain"/>
            </a:pPr>
            <a:r>
              <a:rPr lang="zh-CN" altLang="en-US"/>
              <a:t>泛化</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5250" name="Rectangle 2"/>
          <p:cNvSpPr>
            <a:spLocks noGrp="1" noChangeArrowheads="1"/>
          </p:cNvSpPr>
          <p:nvPr>
            <p:ph type="title"/>
          </p:nvPr>
        </p:nvSpPr>
        <p:spPr/>
        <p:txBody>
          <a:bodyPr/>
          <a:lstStyle/>
          <a:p>
            <a:r>
              <a:rPr lang="zh-CN" altLang="en-US"/>
              <a:t>包之间的关系 </a:t>
            </a:r>
          </a:p>
        </p:txBody>
      </p:sp>
      <p:pic>
        <p:nvPicPr>
          <p:cNvPr id="1845253" name="Picture 5"/>
          <p:cNvPicPr>
            <a:picLocks noChangeAspect="1" noChangeArrowheads="1"/>
          </p:cNvPicPr>
          <p:nvPr>
            <p:ph type="body" idx="1"/>
          </p:nvPr>
        </p:nvPicPr>
        <p:blipFill>
          <a:blip r:embed="rId2"/>
          <a:srcRect/>
          <a:stretch>
            <a:fillRect/>
          </a:stretch>
        </p:blipFill>
        <p:spPr>
          <a:xfrm>
            <a:off x="1763713" y="1970088"/>
            <a:ext cx="5900737" cy="3995737"/>
          </a:xfrm>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4594" name="Text Box 2"/>
          <p:cNvSpPr txBox="1">
            <a:spLocks noChangeArrowheads="1"/>
          </p:cNvSpPr>
          <p:nvPr/>
        </p:nvSpPr>
        <p:spPr bwMode="auto">
          <a:xfrm>
            <a:off x="395288" y="982663"/>
            <a:ext cx="38163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二、使用</a:t>
            </a:r>
            <a:r>
              <a:rPr lang="en-US" altLang="zh-CN" sz="2800" b="1" i="1">
                <a:solidFill>
                  <a:srgbClr val="A50021"/>
                </a:solidFill>
                <a:effectLst>
                  <a:outerShdw blurRad="38100" dist="38100" dir="2700000" algn="tl">
                    <a:srgbClr val="000000"/>
                  </a:outerShdw>
                </a:effectLst>
                <a:latin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rPr>
              <a:t>创建包图 </a:t>
            </a:r>
          </a:p>
        </p:txBody>
      </p:sp>
      <p:sp>
        <p:nvSpPr>
          <p:cNvPr id="1774595" name="Rectangle 3"/>
          <p:cNvSpPr>
            <a:spLocks noChangeArrowheads="1"/>
          </p:cNvSpPr>
          <p:nvPr/>
        </p:nvSpPr>
        <p:spPr bwMode="auto">
          <a:xfrm>
            <a:off x="468313" y="1700213"/>
            <a:ext cx="4027487" cy="43592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en-US" altLang="zh-CN" sz="2000">
                <a:latin typeface="楷体_GB2312" pitchFamily="49" charset="-122"/>
                <a:ea typeface="楷体_GB2312" pitchFamily="49" charset="-122"/>
              </a:rPr>
              <a:t>1 </a:t>
            </a:r>
            <a:r>
              <a:rPr lang="zh-CN" altLang="en-US" sz="2000">
                <a:latin typeface="楷体_GB2312" pitchFamily="49" charset="-122"/>
                <a:ea typeface="楷体_GB2312" pitchFamily="49" charset="-122"/>
              </a:rPr>
              <a:t>通过工具栏或菜单栏添加包的步骤如下：</a:t>
            </a:r>
          </a:p>
          <a:p>
            <a:r>
              <a:rPr lang="zh-CN" altLang="en-US" sz="2000">
                <a:latin typeface="楷体_GB2312" pitchFamily="49" charset="-122"/>
                <a:ea typeface="楷体_GB2312" pitchFamily="49" charset="-122"/>
              </a:rPr>
              <a:t>    在类图的图形编辑工具栏中，选择用于创建包的按钮，或者在菜单栏中，选择</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Tools</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（工具）中</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Create</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（新建）菜单下的</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Package</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选项。此时的光标变为</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符号。</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2 </a:t>
            </a:r>
            <a:r>
              <a:rPr lang="zh-CN" altLang="en-US" sz="2000">
                <a:latin typeface="楷体_GB2312" pitchFamily="49" charset="-122"/>
                <a:ea typeface="楷体_GB2312" pitchFamily="49" charset="-122"/>
              </a:rPr>
              <a:t>单击类图的任意一个空白处，系统在该位置创建一个包图，系统产生的默认名称为</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NewPackage</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a:t>
            </a:r>
          </a:p>
          <a:p>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3</a:t>
            </a:r>
            <a:r>
              <a:rPr lang="zh-CN" altLang="en-US" sz="2000">
                <a:latin typeface="楷体_GB2312" pitchFamily="49" charset="-122"/>
                <a:ea typeface="楷体_GB2312" pitchFamily="49" charset="-122"/>
              </a:rPr>
              <a:t>将</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NewPackage</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重新命名成新的名称即可。</a:t>
            </a:r>
            <a:r>
              <a:rPr kumimoji="1" lang="zh-CN" altLang="en-US" sz="2000">
                <a:solidFill>
                  <a:srgbClr val="FFCCFF"/>
                </a:solidFill>
                <a:latin typeface="黑体" pitchFamily="2" charset="-122"/>
                <a:ea typeface="黑体" pitchFamily="2" charset="-122"/>
              </a:rPr>
              <a:t> </a:t>
            </a:r>
          </a:p>
        </p:txBody>
      </p:sp>
      <p:sp>
        <p:nvSpPr>
          <p:cNvPr id="1774596" name="Text Box 4"/>
          <p:cNvSpPr txBox="1">
            <a:spLocks noChangeArrowheads="1"/>
          </p:cNvSpPr>
          <p:nvPr/>
        </p:nvSpPr>
        <p:spPr bwMode="auto">
          <a:xfrm>
            <a:off x="4500563" y="1125538"/>
            <a:ext cx="2519362"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rPr>
              <a:t>、创建删除包图</a:t>
            </a:r>
          </a:p>
        </p:txBody>
      </p:sp>
      <p:pic>
        <p:nvPicPr>
          <p:cNvPr id="1774597" name="Picture 5"/>
          <p:cNvPicPr>
            <a:picLocks noChangeAspect="1" noChangeArrowheads="1"/>
          </p:cNvPicPr>
          <p:nvPr/>
        </p:nvPicPr>
        <p:blipFill>
          <a:blip r:embed="rId2"/>
          <a:srcRect/>
          <a:stretch>
            <a:fillRect/>
          </a:stretch>
        </p:blipFill>
        <p:spPr bwMode="auto">
          <a:xfrm>
            <a:off x="4584700" y="1700213"/>
            <a:ext cx="3721100" cy="4105275"/>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5618" name="Text Box 2"/>
          <p:cNvSpPr txBox="1">
            <a:spLocks noChangeArrowheads="1"/>
          </p:cNvSpPr>
          <p:nvPr/>
        </p:nvSpPr>
        <p:spPr bwMode="auto">
          <a:xfrm>
            <a:off x="395288" y="982663"/>
            <a:ext cx="38163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二、使用</a:t>
            </a:r>
            <a:r>
              <a:rPr lang="en-US" altLang="zh-CN" sz="2800" b="1" i="1">
                <a:solidFill>
                  <a:srgbClr val="A50021"/>
                </a:solidFill>
                <a:effectLst>
                  <a:outerShdw blurRad="38100" dist="38100" dir="2700000" algn="tl">
                    <a:srgbClr val="000000"/>
                  </a:outerShdw>
                </a:effectLst>
                <a:latin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rPr>
              <a:t>创建包图 </a:t>
            </a:r>
          </a:p>
        </p:txBody>
      </p:sp>
      <p:sp>
        <p:nvSpPr>
          <p:cNvPr id="1775619" name="Rectangle 3"/>
          <p:cNvSpPr>
            <a:spLocks noChangeArrowheads="1"/>
          </p:cNvSpPr>
          <p:nvPr/>
        </p:nvSpPr>
        <p:spPr bwMode="auto">
          <a:xfrm>
            <a:off x="468313" y="1736725"/>
            <a:ext cx="8207375" cy="1616075"/>
          </a:xfrm>
          <a:prstGeom prst="rect">
            <a:avLst/>
          </a:prstGeom>
          <a:noFill/>
          <a:ln w="9525" algn="ctr">
            <a:noFill/>
            <a:miter lim="800000"/>
            <a:headEnd/>
            <a:tailEnd/>
          </a:ln>
          <a:effectLst/>
        </p:spPr>
        <p:txBody>
          <a:bodyPr>
            <a:spAutoFit/>
          </a:bodyPr>
          <a:lstStyle/>
          <a:p>
            <a:pPr marL="457200" indent="-457200"/>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1 </a:t>
            </a:r>
            <a:r>
              <a:rPr lang="zh-CN" altLang="en-US" sz="2000">
                <a:latin typeface="楷体_GB2312" pitchFamily="49" charset="-122"/>
                <a:ea typeface="楷体_GB2312" pitchFamily="49" charset="-122"/>
              </a:rPr>
              <a:t>选中</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PackageA</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包的图标，单击右键，在菜单选项中选择</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Select Compartment Items ...</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选项。</a:t>
            </a:r>
          </a:p>
          <a:p>
            <a:pPr marL="457200" indent="-457200"/>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2  </a:t>
            </a:r>
            <a:r>
              <a:rPr lang="zh-CN" altLang="en-US" sz="2000">
                <a:latin typeface="楷体_GB2312" pitchFamily="49" charset="-122"/>
                <a:ea typeface="楷体_GB2312" pitchFamily="49" charset="-122"/>
              </a:rPr>
              <a:t>在弹出对话框的左侧，显示了在该包目录下的所有的类，选中类，通过中间的按钮将</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ClassA</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和</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ClassB</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添加到右侧的框中。</a:t>
            </a:r>
          </a:p>
          <a:p>
            <a:pPr marL="457200" indent="-457200"/>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3 </a:t>
            </a:r>
            <a:r>
              <a:rPr lang="zh-CN" altLang="en-US" sz="2000">
                <a:latin typeface="楷体_GB2312" pitchFamily="49" charset="-122"/>
                <a:ea typeface="楷体_GB2312" pitchFamily="49" charset="-122"/>
              </a:rPr>
              <a:t>添加完毕以后，点击</a:t>
            </a:r>
            <a:r>
              <a:rPr lang="zh-CN" altLang="en-US" sz="2000">
                <a:latin typeface="Lucida Sans Unicode"/>
                <a:ea typeface="楷体_GB2312" pitchFamily="49" charset="-122"/>
              </a:rPr>
              <a:t>“</a:t>
            </a:r>
            <a:r>
              <a:rPr lang="en-US" altLang="zh-CN" sz="2000">
                <a:latin typeface="楷体_GB2312" pitchFamily="49" charset="-122"/>
                <a:ea typeface="楷体_GB2312" pitchFamily="49" charset="-122"/>
              </a:rPr>
              <a:t>OK</a:t>
            </a:r>
            <a:r>
              <a:rPr lang="en-US" altLang="zh-CN" sz="2000">
                <a:latin typeface="Lucida Sans Unicode"/>
                <a:ea typeface="楷体_GB2312" pitchFamily="49" charset="-122"/>
              </a:rPr>
              <a:t>”</a:t>
            </a:r>
            <a:r>
              <a:rPr lang="zh-CN" altLang="en-US" sz="2000">
                <a:latin typeface="楷体_GB2312" pitchFamily="49" charset="-122"/>
                <a:ea typeface="楷体_GB2312" pitchFamily="49" charset="-122"/>
              </a:rPr>
              <a:t>按钮即可。</a:t>
            </a:r>
          </a:p>
        </p:txBody>
      </p:sp>
      <p:sp>
        <p:nvSpPr>
          <p:cNvPr id="1775620" name="Text Box 4"/>
          <p:cNvSpPr txBox="1">
            <a:spLocks noChangeArrowheads="1"/>
          </p:cNvSpPr>
          <p:nvPr/>
        </p:nvSpPr>
        <p:spPr bwMode="auto">
          <a:xfrm>
            <a:off x="4500563" y="1125538"/>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、添加包中的信息</a:t>
            </a:r>
          </a:p>
        </p:txBody>
      </p:sp>
      <p:pic>
        <p:nvPicPr>
          <p:cNvPr id="1775621" name="Picture 5"/>
          <p:cNvPicPr>
            <a:picLocks noChangeAspect="1" noChangeArrowheads="1"/>
          </p:cNvPicPr>
          <p:nvPr/>
        </p:nvPicPr>
        <p:blipFill>
          <a:blip r:embed="rId2"/>
          <a:srcRect/>
          <a:stretch>
            <a:fillRect/>
          </a:stretch>
        </p:blipFill>
        <p:spPr bwMode="auto">
          <a:xfrm>
            <a:off x="3190875" y="3368675"/>
            <a:ext cx="2828925" cy="2879725"/>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6642" name="Text Box 2"/>
          <p:cNvSpPr txBox="1">
            <a:spLocks noChangeArrowheads="1"/>
          </p:cNvSpPr>
          <p:nvPr/>
        </p:nvSpPr>
        <p:spPr bwMode="auto">
          <a:xfrm>
            <a:off x="395288" y="982663"/>
            <a:ext cx="381635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二、使用</a:t>
            </a:r>
            <a:r>
              <a:rPr lang="en-US" altLang="zh-CN" sz="2800" b="1" i="1">
                <a:solidFill>
                  <a:srgbClr val="A50021"/>
                </a:solidFill>
                <a:effectLst>
                  <a:outerShdw blurRad="38100" dist="38100" dir="2700000" algn="tl">
                    <a:srgbClr val="000000"/>
                  </a:outerShdw>
                </a:effectLst>
                <a:latin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rPr>
              <a:t>创建包图 </a:t>
            </a:r>
          </a:p>
        </p:txBody>
      </p:sp>
      <p:sp>
        <p:nvSpPr>
          <p:cNvPr id="1776643" name="Rectangle 3"/>
          <p:cNvSpPr>
            <a:spLocks noChangeArrowheads="1"/>
          </p:cNvSpPr>
          <p:nvPr/>
        </p:nvSpPr>
        <p:spPr bwMode="auto">
          <a:xfrm>
            <a:off x="152400" y="1736725"/>
            <a:ext cx="8207375" cy="1006475"/>
          </a:xfrm>
          <a:prstGeom prst="rect">
            <a:avLst/>
          </a:prstGeom>
          <a:noFill/>
          <a:ln w="9525" algn="ctr">
            <a:noFill/>
            <a:miter lim="800000"/>
            <a:headEnd/>
            <a:tailEnd/>
          </a:ln>
          <a:effectLst/>
        </p:spPr>
        <p:txBody>
          <a:bodyPr>
            <a:spAutoFit/>
          </a:bodyPr>
          <a:lstStyle/>
          <a:p>
            <a:pPr marL="457200" indent="-457200"/>
            <a:r>
              <a:rPr kumimoji="1" lang="zh-CN" altLang="en-US" sz="2000">
                <a:solidFill>
                  <a:srgbClr val="FFCCFF"/>
                </a:solidFill>
                <a:latin typeface="黑体" pitchFamily="2" charset="-122"/>
                <a:ea typeface="黑体" pitchFamily="2" charset="-122"/>
              </a:rPr>
              <a:t>    </a:t>
            </a:r>
            <a:r>
              <a:rPr lang="zh-CN" altLang="en-US" sz="2000">
                <a:latin typeface="楷体_GB2312" pitchFamily="49" charset="-122"/>
                <a:ea typeface="楷体_GB2312" pitchFamily="49" charset="-122"/>
              </a:rPr>
              <a:t>包和包之间与类和类之间一样，也可以有依赖关系，并且包的依赖关系也和类的依赖关系的表示形式一样，使用依赖关系的图标进行表示。</a:t>
            </a:r>
          </a:p>
        </p:txBody>
      </p:sp>
      <p:sp>
        <p:nvSpPr>
          <p:cNvPr id="1776644" name="Text Box 4"/>
          <p:cNvSpPr txBox="1">
            <a:spLocks noChangeArrowheads="1"/>
          </p:cNvSpPr>
          <p:nvPr/>
        </p:nvSpPr>
        <p:spPr bwMode="auto">
          <a:xfrm>
            <a:off x="4500563" y="1125538"/>
            <a:ext cx="3167062"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、创建包的依赖关系</a:t>
            </a:r>
          </a:p>
        </p:txBody>
      </p:sp>
      <p:pic>
        <p:nvPicPr>
          <p:cNvPr id="1776645" name="Picture 5"/>
          <p:cNvPicPr>
            <a:picLocks noChangeAspect="1" noChangeArrowheads="1"/>
          </p:cNvPicPr>
          <p:nvPr/>
        </p:nvPicPr>
        <p:blipFill>
          <a:blip r:embed="rId2"/>
          <a:srcRect/>
          <a:stretch>
            <a:fillRect/>
          </a:stretch>
        </p:blipFill>
        <p:spPr bwMode="auto">
          <a:xfrm>
            <a:off x="1219200" y="2819400"/>
            <a:ext cx="6408738" cy="2779713"/>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62" name="Rectangle 2"/>
          <p:cNvSpPr>
            <a:spLocks noGrp="1" noChangeArrowheads="1"/>
          </p:cNvSpPr>
          <p:nvPr>
            <p:ph type="title"/>
          </p:nvPr>
        </p:nvSpPr>
        <p:spPr/>
        <p:txBody>
          <a:bodyPr/>
          <a:lstStyle/>
          <a:p>
            <a:r>
              <a:rPr lang="zh-CN" altLang="en-US"/>
              <a:t>软件系统体系结构建模</a:t>
            </a:r>
            <a:r>
              <a:rPr lang="en-US" altLang="zh-CN"/>
              <a:t>——</a:t>
            </a:r>
            <a:r>
              <a:rPr lang="zh-CN" altLang="en-US"/>
              <a:t>构件图</a:t>
            </a:r>
          </a:p>
        </p:txBody>
      </p:sp>
      <p:sp>
        <p:nvSpPr>
          <p:cNvPr id="1781763" name="Rectangle 3"/>
          <p:cNvSpPr>
            <a:spLocks noGrp="1" noChangeArrowheads="1"/>
          </p:cNvSpPr>
          <p:nvPr>
            <p:ph type="body" idx="1"/>
          </p:nvPr>
        </p:nvSpPr>
        <p:spPr/>
        <p:txBody>
          <a:bodyPr/>
          <a:lstStyle/>
          <a:p>
            <a:r>
              <a:rPr lang="zh-CN" altLang="en-US"/>
              <a:t>在构件图中，我们将系统中可重用的模块封装成为具有可替代性的物理单元，我们称之称为构件，它是独立的，在一个系统或子系统中的封装单位，提供一个或多个接口，是系统高层的可重用的部件。</a:t>
            </a:r>
          </a:p>
          <a:p>
            <a:r>
              <a:rPr lang="zh-CN" altLang="en-US"/>
              <a:t>构件是软件复用的基本物理实现单元。在</a:t>
            </a:r>
            <a:r>
              <a:rPr lang="en-US" altLang="zh-CN"/>
              <a:t>UML</a:t>
            </a:r>
            <a:r>
              <a:rPr lang="zh-CN" altLang="en-US"/>
              <a:t>中，对象库，可执行体、</a:t>
            </a:r>
            <a:r>
              <a:rPr lang="en-US" altLang="zh-CN"/>
              <a:t>COM+</a:t>
            </a:r>
            <a:r>
              <a:rPr lang="zh-CN" altLang="en-US"/>
              <a:t>构件和企业级</a:t>
            </a:r>
            <a:r>
              <a:rPr lang="en-US" altLang="zh-CN"/>
              <a:t>JavaBeans</a:t>
            </a:r>
            <a:r>
              <a:rPr lang="zh-CN" altLang="en-US"/>
              <a:t>都可以描述成构件。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81763">
                                            <p:txEl>
                                              <p:pRg st="0" end="0"/>
                                            </p:txEl>
                                          </p:spTgt>
                                        </p:tgtEl>
                                        <p:attrNameLst>
                                          <p:attrName>style.visibility</p:attrName>
                                        </p:attrNameLst>
                                      </p:cBhvr>
                                      <p:to>
                                        <p:strVal val="visible"/>
                                      </p:to>
                                    </p:set>
                                    <p:animEffect transition="in" filter="blinds(horizontal)">
                                      <p:cBhvr>
                                        <p:cTn id="7" dur="500"/>
                                        <p:tgtEl>
                                          <p:spTgt spid="1781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81763">
                                            <p:txEl>
                                              <p:pRg st="1" end="1"/>
                                            </p:txEl>
                                          </p:spTgt>
                                        </p:tgtEl>
                                        <p:attrNameLst>
                                          <p:attrName>style.visibility</p:attrName>
                                        </p:attrNameLst>
                                      </p:cBhvr>
                                      <p:to>
                                        <p:strVal val="visible"/>
                                      </p:to>
                                    </p:set>
                                    <p:animEffect transition="in" filter="blinds(horizontal)">
                                      <p:cBhvr>
                                        <p:cTn id="12" dur="500"/>
                                        <p:tgtEl>
                                          <p:spTgt spid="17817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2786" name="Rectangle 2"/>
          <p:cNvSpPr>
            <a:spLocks noGrp="1" noChangeArrowheads="1"/>
          </p:cNvSpPr>
          <p:nvPr>
            <p:ph type="title"/>
          </p:nvPr>
        </p:nvSpPr>
        <p:spPr/>
        <p:txBody>
          <a:bodyPr/>
          <a:lstStyle/>
          <a:p>
            <a:r>
              <a:rPr lang="zh-CN" altLang="en-US"/>
              <a:t>软件系统体系结构建模</a:t>
            </a:r>
            <a:r>
              <a:rPr lang="en-US" altLang="zh-CN"/>
              <a:t>——</a:t>
            </a:r>
            <a:r>
              <a:rPr lang="zh-CN" altLang="en-US"/>
              <a:t>构件图</a:t>
            </a:r>
          </a:p>
        </p:txBody>
      </p:sp>
      <p:sp>
        <p:nvSpPr>
          <p:cNvPr id="1782787" name="Rectangle 3"/>
          <p:cNvSpPr>
            <a:spLocks noGrp="1" noChangeArrowheads="1"/>
          </p:cNvSpPr>
          <p:nvPr>
            <p:ph type="body" idx="1"/>
          </p:nvPr>
        </p:nvSpPr>
        <p:spPr/>
        <p:txBody>
          <a:bodyPr/>
          <a:lstStyle/>
          <a:p>
            <a:endParaRPr lang="zh-CN" altLang="en-US"/>
          </a:p>
        </p:txBody>
      </p:sp>
      <p:pic>
        <p:nvPicPr>
          <p:cNvPr id="1782789" name="Picture 5"/>
          <p:cNvPicPr>
            <a:picLocks noChangeAspect="1" noChangeArrowheads="1"/>
          </p:cNvPicPr>
          <p:nvPr/>
        </p:nvPicPr>
        <p:blipFill>
          <a:blip r:embed="rId2"/>
          <a:srcRect l="4341" t="15625" r="6679" b="12233"/>
          <a:stretch>
            <a:fillRect/>
          </a:stretch>
        </p:blipFill>
        <p:spPr bwMode="auto">
          <a:xfrm>
            <a:off x="0" y="533400"/>
            <a:ext cx="9144000" cy="6324600"/>
          </a:xfrm>
          <a:prstGeom prst="rect">
            <a:avLst/>
          </a:prstGeom>
          <a:noFill/>
          <a:ln w="9525">
            <a:noFill/>
            <a:miter lim="800000"/>
            <a:headEnd/>
            <a:tailEnd/>
          </a:ln>
        </p:spPr>
      </p:pic>
      <p:sp>
        <p:nvSpPr>
          <p:cNvPr id="1782790" name="Rectangle 6"/>
          <p:cNvSpPr>
            <a:spLocks noChangeArrowheads="1"/>
          </p:cNvSpPr>
          <p:nvPr/>
        </p:nvSpPr>
        <p:spPr bwMode="auto">
          <a:xfrm>
            <a:off x="1028700" y="0"/>
            <a:ext cx="7194550" cy="457200"/>
          </a:xfrm>
          <a:prstGeom prst="rect">
            <a:avLst/>
          </a:prstGeom>
          <a:noFill/>
          <a:ln w="9525" algn="ctr">
            <a:noFill/>
            <a:miter lim="800000"/>
            <a:headEnd/>
            <a:tailEnd/>
          </a:ln>
          <a:effectLst/>
        </p:spPr>
        <p:txBody>
          <a:bodyPr wrap="none" anchor="ctr">
            <a:spAutoFit/>
          </a:bodyPr>
          <a:lstStyle/>
          <a:p>
            <a:pPr algn="ctr"/>
            <a:r>
              <a:rPr kumimoji="1" lang="zh-CN" altLang="en-US" sz="2400">
                <a:latin typeface="华文仿宋" pitchFamily="2" charset="-122"/>
                <a:ea typeface="华文仿宋" pitchFamily="2" charset="-122"/>
              </a:rPr>
              <a:t>进销存管理系统源代码成为可执行代码过程的构件图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1782787">
                                            <p:txEl>
                                              <p:pRg st="0" end="0"/>
                                            </p:txEl>
                                          </p:spTgt>
                                        </p:tgtEl>
                                        <p:attrNameLst>
                                          <p:attrName>style.visibility</p:attrName>
                                        </p:attrNameLst>
                                      </p:cBhvr>
                                      <p:to>
                                        <p:strVal val="visible"/>
                                      </p:to>
                                    </p:set>
                                    <p:animEffect transition="in" filter="blinds(horizontal)">
                                      <p:cBhvr>
                                        <p:cTn id="7" dur="500"/>
                                        <p:tgtEl>
                                          <p:spTgt spid="1782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782789"/>
                                        </p:tgtEl>
                                        <p:attrNameLst>
                                          <p:attrName>style.visibility</p:attrName>
                                        </p:attrNameLst>
                                      </p:cBhvr>
                                      <p:to>
                                        <p:strVal val="visible"/>
                                      </p:to>
                                    </p:set>
                                    <p:animEffect transition="in" filter="box(in)">
                                      <p:cBhvr>
                                        <p:cTn id="12" dur="500"/>
                                        <p:tgtEl>
                                          <p:spTgt spid="1782789"/>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1782790"/>
                                        </p:tgtEl>
                                        <p:attrNameLst>
                                          <p:attrName>style.visibility</p:attrName>
                                        </p:attrNameLst>
                                      </p:cBhvr>
                                      <p:to>
                                        <p:strVal val="visible"/>
                                      </p:to>
                                    </p:set>
                                    <p:animEffect transition="in" filter="fade">
                                      <p:cBhvr>
                                        <p:cTn id="16" dur="1000"/>
                                        <p:tgtEl>
                                          <p:spTgt spid="1782790"/>
                                        </p:tgtEl>
                                      </p:cBhvr>
                                    </p:animEffect>
                                    <p:anim calcmode="lin" valueType="num">
                                      <p:cBhvr>
                                        <p:cTn id="17" dur="1000" fill="hold"/>
                                        <p:tgtEl>
                                          <p:spTgt spid="1782790"/>
                                        </p:tgtEl>
                                        <p:attrNameLst>
                                          <p:attrName>ppt_x</p:attrName>
                                        </p:attrNameLst>
                                      </p:cBhvr>
                                      <p:tavLst>
                                        <p:tav tm="0">
                                          <p:val>
                                            <p:strVal val="#ppt_x"/>
                                          </p:val>
                                        </p:tav>
                                        <p:tav tm="100000">
                                          <p:val>
                                            <p:strVal val="#ppt_x"/>
                                          </p:val>
                                        </p:tav>
                                      </p:tavLst>
                                    </p:anim>
                                    <p:anim calcmode="lin" valueType="num">
                                      <p:cBhvr>
                                        <p:cTn id="18" dur="1000" fill="hold"/>
                                        <p:tgtEl>
                                          <p:spTgt spid="17827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79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3810" name="Rectangle 2"/>
          <p:cNvSpPr>
            <a:spLocks noGrp="1" noChangeArrowheads="1"/>
          </p:cNvSpPr>
          <p:nvPr>
            <p:ph type="title"/>
          </p:nvPr>
        </p:nvSpPr>
        <p:spPr/>
        <p:txBody>
          <a:bodyPr/>
          <a:lstStyle/>
          <a:p>
            <a:r>
              <a:rPr lang="zh-CN" altLang="en-US"/>
              <a:t>软件系统体系结构建模</a:t>
            </a:r>
            <a:r>
              <a:rPr lang="en-US" altLang="zh-CN"/>
              <a:t>——</a:t>
            </a:r>
            <a:r>
              <a:rPr lang="zh-CN" altLang="en-US"/>
              <a:t>构件图</a:t>
            </a:r>
          </a:p>
        </p:txBody>
      </p:sp>
      <p:sp>
        <p:nvSpPr>
          <p:cNvPr id="1783811" name="Rectangle 3"/>
          <p:cNvSpPr>
            <a:spLocks noGrp="1" noChangeArrowheads="1"/>
          </p:cNvSpPr>
          <p:nvPr>
            <p:ph type="body" idx="1"/>
          </p:nvPr>
        </p:nvSpPr>
        <p:spPr/>
        <p:txBody>
          <a:bodyPr/>
          <a:lstStyle/>
          <a:p>
            <a:r>
              <a:rPr lang="zh-CN" altLang="en-US" sz="2400"/>
              <a:t>该构件图表明，进销存管理系统源代码由</a:t>
            </a:r>
            <a:r>
              <a:rPr lang="en-US" altLang="zh-CN" sz="2400"/>
              <a:t>C++</a:t>
            </a:r>
            <a:r>
              <a:rPr lang="zh-CN" altLang="en-US" sz="2400"/>
              <a:t>编写，它们有三个构件组成：销售管理子系统</a:t>
            </a:r>
            <a:r>
              <a:rPr lang="en-US" altLang="zh-CN" sz="2400"/>
              <a:t>XSGL.CPP</a:t>
            </a:r>
            <a:r>
              <a:rPr lang="zh-CN" altLang="en-US" sz="2400"/>
              <a:t>构件，采购管理子系统</a:t>
            </a:r>
            <a:r>
              <a:rPr lang="en-US" altLang="zh-CN" sz="2400"/>
              <a:t>CGGL.CPP</a:t>
            </a:r>
            <a:r>
              <a:rPr lang="zh-CN" altLang="en-US" sz="2400"/>
              <a:t>构件和仓库管理子系统</a:t>
            </a:r>
            <a:r>
              <a:rPr lang="en-US" altLang="zh-CN" sz="2400"/>
              <a:t>CKGL.CPP</a:t>
            </a:r>
            <a:r>
              <a:rPr lang="zh-CN" altLang="en-US" sz="2400"/>
              <a:t>构件</a:t>
            </a:r>
            <a:r>
              <a:rPr lang="en-US" altLang="zh-CN" sz="2400"/>
              <a:t>.</a:t>
            </a:r>
          </a:p>
          <a:p>
            <a:r>
              <a:rPr lang="zh-CN" altLang="en-US" sz="2400"/>
              <a:t>这三个构件之间的连接表明它们之间有依赖关系，即仓库管理子系统</a:t>
            </a:r>
            <a:r>
              <a:rPr lang="en-US" altLang="zh-CN" sz="2400"/>
              <a:t>CKGL.CPP</a:t>
            </a:r>
            <a:r>
              <a:rPr lang="zh-CN" altLang="en-US" sz="2400"/>
              <a:t>构件依赖采购管理子系统</a:t>
            </a:r>
            <a:r>
              <a:rPr lang="en-US" altLang="zh-CN" sz="2400"/>
              <a:t>CGGL.CPP</a:t>
            </a:r>
            <a:r>
              <a:rPr lang="zh-CN" altLang="en-US" sz="2400"/>
              <a:t>提供仓储物资，</a:t>
            </a:r>
            <a:r>
              <a:rPr lang="en-US" altLang="zh-CN" sz="2400"/>
              <a:t>CPP</a:t>
            </a:r>
            <a:r>
              <a:rPr lang="zh-CN" altLang="en-US" sz="2400"/>
              <a:t>构件，还要依赖销售管理子系统</a:t>
            </a:r>
            <a:r>
              <a:rPr lang="en-US" altLang="zh-CN" sz="2400"/>
              <a:t>XSGL</a:t>
            </a:r>
            <a:r>
              <a:rPr lang="zh-CN" altLang="en-US" sz="2400"/>
              <a:t>构件将这些仓储物资销售出去，它们组成一个完整的进销存管理系统</a:t>
            </a:r>
            <a:r>
              <a:rPr lang="en-US" altLang="zh-CN" sz="24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83811">
                                            <p:txEl>
                                              <p:pRg st="0" end="0"/>
                                            </p:txEl>
                                          </p:spTgt>
                                        </p:tgtEl>
                                        <p:attrNameLst>
                                          <p:attrName>style.visibility</p:attrName>
                                        </p:attrNameLst>
                                      </p:cBhvr>
                                      <p:to>
                                        <p:strVal val="visible"/>
                                      </p:to>
                                    </p:set>
                                    <p:animEffect transition="in" filter="blinds(horizontal)">
                                      <p:cBhvr>
                                        <p:cTn id="7" dur="500"/>
                                        <p:tgtEl>
                                          <p:spTgt spid="1783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83811">
                                            <p:txEl>
                                              <p:pRg st="1" end="1"/>
                                            </p:txEl>
                                          </p:spTgt>
                                        </p:tgtEl>
                                        <p:attrNameLst>
                                          <p:attrName>style.visibility</p:attrName>
                                        </p:attrNameLst>
                                      </p:cBhvr>
                                      <p:to>
                                        <p:strVal val="visible"/>
                                      </p:to>
                                    </p:set>
                                    <p:animEffect transition="in" filter="blinds(horizontal)">
                                      <p:cBhvr>
                                        <p:cTn id="12" dur="500"/>
                                        <p:tgtEl>
                                          <p:spTgt spid="17838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4834" name="Rectangle 2"/>
          <p:cNvSpPr>
            <a:spLocks noGrp="1" noChangeArrowheads="1"/>
          </p:cNvSpPr>
          <p:nvPr>
            <p:ph type="title"/>
          </p:nvPr>
        </p:nvSpPr>
        <p:spPr/>
        <p:txBody>
          <a:bodyPr/>
          <a:lstStyle/>
          <a:p>
            <a:r>
              <a:rPr lang="zh-CN" altLang="en-US"/>
              <a:t>软件系统体系结构建模</a:t>
            </a:r>
            <a:r>
              <a:rPr lang="en-US" altLang="zh-CN"/>
              <a:t>——</a:t>
            </a:r>
            <a:r>
              <a:rPr lang="zh-CN" altLang="en-US"/>
              <a:t>构件图</a:t>
            </a:r>
          </a:p>
        </p:txBody>
      </p:sp>
      <p:sp>
        <p:nvSpPr>
          <p:cNvPr id="1784835" name="Rectangle 3"/>
          <p:cNvSpPr>
            <a:spLocks noGrp="1" noChangeArrowheads="1"/>
          </p:cNvSpPr>
          <p:nvPr>
            <p:ph type="body" idx="1"/>
          </p:nvPr>
        </p:nvSpPr>
        <p:spPr/>
        <p:txBody>
          <a:bodyPr/>
          <a:lstStyle/>
          <a:p>
            <a:r>
              <a:rPr lang="zh-CN" altLang="en-US"/>
              <a:t>每个源代码构件经过各自独立编译想成中间目标代码</a:t>
            </a:r>
            <a:r>
              <a:rPr lang="en-US" altLang="zh-CN"/>
              <a:t>OBJ</a:t>
            </a:r>
            <a:r>
              <a:rPr lang="zh-CN" altLang="en-US"/>
              <a:t>构件，即销售管理子系统</a:t>
            </a:r>
            <a:r>
              <a:rPr lang="en-US" altLang="zh-CN"/>
              <a:t>XSGL.OBJ</a:t>
            </a:r>
            <a:r>
              <a:rPr lang="zh-CN" altLang="en-US"/>
              <a:t>构件、采购管理子系统</a:t>
            </a:r>
            <a:r>
              <a:rPr lang="en-US" altLang="zh-CN"/>
              <a:t>CGGL.OBJ</a:t>
            </a:r>
            <a:r>
              <a:rPr lang="zh-CN" altLang="en-US"/>
              <a:t>构件和仓库管理子系统</a:t>
            </a:r>
            <a:r>
              <a:rPr lang="en-US" altLang="zh-CN"/>
              <a:t>CKGL.OBJ</a:t>
            </a:r>
            <a:r>
              <a:rPr lang="zh-CN" altLang="en-US"/>
              <a:t>构件</a:t>
            </a:r>
          </a:p>
          <a:p>
            <a:r>
              <a:rPr lang="zh-CN" altLang="en-US"/>
              <a:t>这些目标代码构件与对应的源代码构件有依赖关系，它们各自与源代码构件之间的连接关系表明了这点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84835">
                                            <p:txEl>
                                              <p:pRg st="0" end="0"/>
                                            </p:txEl>
                                          </p:spTgt>
                                        </p:tgtEl>
                                        <p:attrNameLst>
                                          <p:attrName>style.visibility</p:attrName>
                                        </p:attrNameLst>
                                      </p:cBhvr>
                                      <p:to>
                                        <p:strVal val="visible"/>
                                      </p:to>
                                    </p:set>
                                    <p:animEffect transition="in" filter="blinds(horizontal)">
                                      <p:cBhvr>
                                        <p:cTn id="7" dur="500"/>
                                        <p:tgtEl>
                                          <p:spTgt spid="1784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84835">
                                            <p:txEl>
                                              <p:pRg st="1" end="1"/>
                                            </p:txEl>
                                          </p:spTgt>
                                        </p:tgtEl>
                                        <p:attrNameLst>
                                          <p:attrName>style.visibility</p:attrName>
                                        </p:attrNameLst>
                                      </p:cBhvr>
                                      <p:to>
                                        <p:strVal val="visible"/>
                                      </p:to>
                                    </p:set>
                                    <p:animEffect transition="in" filter="blinds(horizontal)">
                                      <p:cBhvr>
                                        <p:cTn id="12" dur="500"/>
                                        <p:tgtEl>
                                          <p:spTgt spid="17848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02" name="Rectangle 2"/>
          <p:cNvSpPr>
            <a:spLocks noGrp="1" noChangeArrowheads="1"/>
          </p:cNvSpPr>
          <p:nvPr>
            <p:ph type="title"/>
          </p:nvPr>
        </p:nvSpPr>
        <p:spPr/>
        <p:txBody>
          <a:bodyPr/>
          <a:lstStyle/>
          <a:p>
            <a:r>
              <a:rPr lang="zh-CN" altLang="en-US"/>
              <a:t>软件系统体系结构建模</a:t>
            </a:r>
            <a:r>
              <a:rPr lang="en-US" altLang="zh-CN"/>
              <a:t>——</a:t>
            </a:r>
            <a:r>
              <a:rPr lang="zh-CN" altLang="en-US"/>
              <a:t>构件图</a:t>
            </a:r>
          </a:p>
        </p:txBody>
      </p:sp>
      <p:sp>
        <p:nvSpPr>
          <p:cNvPr id="1843203" name="Rectangle 3"/>
          <p:cNvSpPr>
            <a:spLocks noGrp="1" noChangeArrowheads="1"/>
          </p:cNvSpPr>
          <p:nvPr>
            <p:ph type="body" idx="1"/>
          </p:nvPr>
        </p:nvSpPr>
        <p:spPr/>
        <p:txBody>
          <a:bodyPr/>
          <a:lstStyle/>
          <a:p>
            <a:r>
              <a:rPr lang="zh-CN" altLang="en-US" sz="2800"/>
              <a:t>最后形成的进销存管理系统的可执行软件</a:t>
            </a:r>
            <a:r>
              <a:rPr lang="en-US" altLang="zh-CN" sz="2800"/>
              <a:t>JXCGL.EXE</a:t>
            </a:r>
            <a:r>
              <a:rPr lang="zh-CN" altLang="en-US" sz="2800"/>
              <a:t>构件，是对销售管理子系统</a:t>
            </a:r>
            <a:r>
              <a:rPr lang="en-US" altLang="zh-CN" sz="2800"/>
              <a:t>XSGL.OBJ</a:t>
            </a:r>
            <a:r>
              <a:rPr lang="zh-CN" altLang="en-US" sz="2800"/>
              <a:t>构件、采购管理子系统</a:t>
            </a:r>
            <a:r>
              <a:rPr lang="en-US" altLang="zh-CN" sz="2800"/>
              <a:t>CGGL.OBJ</a:t>
            </a:r>
            <a:r>
              <a:rPr lang="zh-CN" altLang="en-US" sz="2800"/>
              <a:t>构件和仓库管理子系统</a:t>
            </a:r>
            <a:r>
              <a:rPr lang="en-US" altLang="zh-CN" sz="2800"/>
              <a:t>CKGL.OBJ</a:t>
            </a:r>
            <a:r>
              <a:rPr lang="zh-CN" altLang="en-US" sz="2800"/>
              <a:t>构件这些目标构件以及图形动态链接库</a:t>
            </a:r>
            <a:r>
              <a:rPr lang="en-US" altLang="zh-CN" sz="2800"/>
              <a:t>GRAPHIC.DLL</a:t>
            </a:r>
            <a:r>
              <a:rPr lang="zh-CN" altLang="en-US" sz="2800"/>
              <a:t>构件进行统一连接处理后形成的</a:t>
            </a:r>
          </a:p>
          <a:p>
            <a:r>
              <a:rPr lang="zh-CN" altLang="en-US" sz="2800"/>
              <a:t>因此，进销存管理系统的可执行软件</a:t>
            </a:r>
            <a:r>
              <a:rPr lang="en-US" altLang="zh-CN" sz="2800"/>
              <a:t>JXCGL.EXE</a:t>
            </a:r>
            <a:r>
              <a:rPr lang="zh-CN" altLang="en-US" sz="2800"/>
              <a:t>构件，对销售管理子系统</a:t>
            </a:r>
            <a:r>
              <a:rPr lang="en-US" altLang="zh-CN" sz="2800"/>
              <a:t>XSGL.OBJ</a:t>
            </a:r>
            <a:r>
              <a:rPr lang="zh-CN" altLang="en-US" sz="2800"/>
              <a:t>构件、采购管理子系统</a:t>
            </a:r>
            <a:r>
              <a:rPr lang="en-US" altLang="zh-CN" sz="2800"/>
              <a:t>CGGL.OBJ</a:t>
            </a:r>
            <a:r>
              <a:rPr lang="zh-CN" altLang="en-US" sz="2800"/>
              <a:t>构件、仓库管理子系统</a:t>
            </a:r>
            <a:r>
              <a:rPr lang="en-US" altLang="zh-CN" sz="2800"/>
              <a:t>CKGL.OBJ</a:t>
            </a:r>
            <a:r>
              <a:rPr lang="zh-CN" altLang="en-US" sz="2800"/>
              <a:t>构件和图形动态链接库</a:t>
            </a:r>
            <a:r>
              <a:rPr lang="en-US" altLang="zh-CN" sz="2800"/>
              <a:t>GRAPHIC.DLL</a:t>
            </a:r>
            <a:r>
              <a:rPr lang="zh-CN" altLang="en-US" sz="2800"/>
              <a:t>构件具有依赖关系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203">
                                            <p:txEl>
                                              <p:pRg st="0" end="0"/>
                                            </p:txEl>
                                          </p:spTgt>
                                        </p:tgtEl>
                                        <p:attrNameLst>
                                          <p:attrName>style.visibility</p:attrName>
                                        </p:attrNameLst>
                                      </p:cBhvr>
                                      <p:to>
                                        <p:strVal val="visible"/>
                                      </p:to>
                                    </p:set>
                                    <p:animEffect transition="in" filter="blinds(horizontal)">
                                      <p:cBhvr>
                                        <p:cTn id="7" dur="500"/>
                                        <p:tgtEl>
                                          <p:spTgt spid="1843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43203">
                                            <p:txEl>
                                              <p:pRg st="1" end="1"/>
                                            </p:txEl>
                                          </p:spTgt>
                                        </p:tgtEl>
                                        <p:attrNameLst>
                                          <p:attrName>style.visibility</p:attrName>
                                        </p:attrNameLst>
                                      </p:cBhvr>
                                      <p:to>
                                        <p:strVal val="visible"/>
                                      </p:to>
                                    </p:set>
                                    <p:animEffect transition="in" filter="blinds(horizontal)">
                                      <p:cBhvr>
                                        <p:cTn id="12" dur="500"/>
                                        <p:tgtEl>
                                          <p:spTgt spid="18432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226" name="Rectangle 2"/>
          <p:cNvSpPr>
            <a:spLocks noGrp="1" noChangeArrowheads="1"/>
          </p:cNvSpPr>
          <p:nvPr>
            <p:ph type="title"/>
          </p:nvPr>
        </p:nvSpPr>
        <p:spPr/>
        <p:txBody>
          <a:bodyPr/>
          <a:lstStyle/>
          <a:p>
            <a:r>
              <a:rPr lang="zh-CN" altLang="en-US"/>
              <a:t>软件系统体系结构建模</a:t>
            </a:r>
            <a:r>
              <a:rPr lang="en-US" altLang="zh-CN"/>
              <a:t>——</a:t>
            </a:r>
            <a:r>
              <a:rPr lang="zh-CN" altLang="en-US"/>
              <a:t>构件图</a:t>
            </a:r>
          </a:p>
        </p:txBody>
      </p:sp>
      <p:sp>
        <p:nvSpPr>
          <p:cNvPr id="1844227" name="Rectangle 3"/>
          <p:cNvSpPr>
            <a:spLocks noGrp="1" noChangeArrowheads="1"/>
          </p:cNvSpPr>
          <p:nvPr>
            <p:ph type="body" idx="1"/>
          </p:nvPr>
        </p:nvSpPr>
        <p:spPr/>
        <p:txBody>
          <a:bodyPr/>
          <a:lstStyle/>
          <a:p>
            <a:r>
              <a:rPr lang="zh-CN" altLang="en-US"/>
              <a:t>通过这个简单的构件图，我们可以清晰地从整个体系结构框架的角度了解到一个进销存管理系统源代码形成可执行代码的软件构造过程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4227">
                                            <p:txEl>
                                              <p:pRg st="0" end="0"/>
                                            </p:txEl>
                                          </p:spTgt>
                                        </p:tgtEl>
                                        <p:attrNameLst>
                                          <p:attrName>style.visibility</p:attrName>
                                        </p:attrNameLst>
                                      </p:cBhvr>
                                      <p:to>
                                        <p:strVal val="visible"/>
                                      </p:to>
                                    </p:set>
                                    <p:animEffect transition="in" filter="blinds(horizontal)">
                                      <p:cBhvr>
                                        <p:cTn id="7" dur="500"/>
                                        <p:tgtEl>
                                          <p:spTgt spid="18442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5858" name="Text Box 2"/>
          <p:cNvSpPr txBox="1">
            <a:spLocks noChangeArrowheads="1"/>
          </p:cNvSpPr>
          <p:nvPr/>
        </p:nvSpPr>
        <p:spPr bwMode="auto">
          <a:xfrm>
            <a:off x="250825" y="1125538"/>
            <a:ext cx="55451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一、构件图的基本概念</a:t>
            </a:r>
          </a:p>
        </p:txBody>
      </p:sp>
      <p:sp>
        <p:nvSpPr>
          <p:cNvPr id="1785859" name="Rectangle 3"/>
          <p:cNvSpPr>
            <a:spLocks noChangeArrowheads="1"/>
          </p:cNvSpPr>
          <p:nvPr/>
        </p:nvSpPr>
        <p:spPr bwMode="auto">
          <a:xfrm>
            <a:off x="395288" y="1844675"/>
            <a:ext cx="8139112" cy="18573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构件图描述构件及其之间的相互依赖，构件是逻辑体系结构（类、对象及它们间的关系和协作）中定义的概念和功能在物理体系结构中的实现，它通常是开发环境中的实现性文件。</a:t>
            </a:r>
          </a:p>
          <a:p>
            <a:endParaRPr kumimoji="1" lang="zh-CN" altLang="en-US" sz="2000">
              <a:solidFill>
                <a:srgbClr val="FFCCFF"/>
              </a:solidFill>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4290" name="Text Box 2"/>
          <p:cNvSpPr txBox="1">
            <a:spLocks noChangeArrowheads="1"/>
          </p:cNvSpPr>
          <p:nvPr/>
        </p:nvSpPr>
        <p:spPr bwMode="auto">
          <a:xfrm>
            <a:off x="250825" y="1125538"/>
            <a:ext cx="55451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一、构件图的基本概念</a:t>
            </a:r>
          </a:p>
        </p:txBody>
      </p:sp>
      <p:sp>
        <p:nvSpPr>
          <p:cNvPr id="1804291" name="Rectangle 3"/>
          <p:cNvSpPr>
            <a:spLocks noChangeArrowheads="1"/>
          </p:cNvSpPr>
          <p:nvPr/>
        </p:nvSpPr>
        <p:spPr bwMode="auto">
          <a:xfrm>
            <a:off x="395288" y="1844675"/>
            <a:ext cx="8139112" cy="1552575"/>
          </a:xfrm>
          <a:prstGeom prst="rect">
            <a:avLst/>
          </a:prstGeom>
          <a:noFill/>
          <a:ln w="9525" algn="ctr">
            <a:noFill/>
            <a:miter lim="800000"/>
            <a:headEnd/>
            <a:tailEnd/>
          </a:ln>
          <a:effectLst/>
        </p:spPr>
        <p:txBody>
          <a:bodyPr>
            <a:spAutoFit/>
          </a:bodyPr>
          <a:lstStyle/>
          <a:p>
            <a:r>
              <a:rPr lang="zh-CN" altLang="en-US" sz="2400">
                <a:latin typeface="楷体_GB2312" pitchFamily="49" charset="-122"/>
                <a:ea typeface="楷体_GB2312" pitchFamily="49" charset="-122"/>
              </a:rPr>
              <a:t>    构件作为系统定义良好接口的物理实现单元，它能够不直接依赖于其他构件而仅仅依赖于构件所支持的接口。通过使用被软件或硬件所支持的一个操作集</a:t>
            </a:r>
            <a:r>
              <a:rPr lang="en-US" altLang="zh-CN" sz="2400">
                <a:latin typeface="Lucida Sans Unicode"/>
                <a:ea typeface="楷体_GB2312" pitchFamily="49" charset="-122"/>
              </a:rPr>
              <a:t>——</a:t>
            </a:r>
            <a:r>
              <a:rPr lang="zh-CN" altLang="en-US" sz="2400">
                <a:latin typeface="楷体_GB2312" pitchFamily="49" charset="-122"/>
                <a:ea typeface="楷体_GB2312" pitchFamily="49" charset="-122"/>
              </a:rPr>
              <a:t>接口，构件可以避免在系统中与其它构件之间直接发生依赖关系。</a:t>
            </a:r>
            <a:r>
              <a:rPr kumimoji="1" lang="zh-CN" altLang="en-US" sz="2400">
                <a:latin typeface="Times New Roman" pitchFamily="18" charset="0"/>
              </a:rPr>
              <a:t> </a:t>
            </a:r>
            <a:r>
              <a:rPr kumimoji="1" lang="zh-CN" altLang="en-US" sz="2000">
                <a:solidFill>
                  <a:srgbClr val="FFCCFF"/>
                </a:solidFill>
                <a:latin typeface="黑体" pitchFamily="2" charset="-122"/>
                <a:ea typeface="黑体" pitchFamily="2" charset="-122"/>
              </a:rPr>
              <a:t>   </a:t>
            </a:r>
          </a:p>
        </p:txBody>
      </p:sp>
      <p:pic>
        <p:nvPicPr>
          <p:cNvPr id="1804292" name="图片 45" descr="200.png"/>
          <p:cNvPicPr>
            <a:picLocks noChangeAspect="1" noChangeArrowheads="1"/>
          </p:cNvPicPr>
          <p:nvPr/>
        </p:nvPicPr>
        <p:blipFill>
          <a:blip r:embed="rId2"/>
          <a:srcRect/>
          <a:stretch>
            <a:fillRect/>
          </a:stretch>
        </p:blipFill>
        <p:spPr bwMode="auto">
          <a:xfrm>
            <a:off x="2286000" y="3581400"/>
            <a:ext cx="4505325" cy="1968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6883" name="Rectangle 3"/>
          <p:cNvSpPr>
            <a:spLocks noChangeArrowheads="1"/>
          </p:cNvSpPr>
          <p:nvPr/>
        </p:nvSpPr>
        <p:spPr bwMode="auto">
          <a:xfrm>
            <a:off x="395288" y="1844675"/>
            <a:ext cx="8139112" cy="15525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有一些构件的图标表示形式和标准构件图形表示形式相同，它们包括</a:t>
            </a:r>
            <a:r>
              <a:rPr lang="en-US" altLang="zh-CN" sz="2400">
                <a:latin typeface="楷体_GB2312" pitchFamily="49" charset="-122"/>
                <a:ea typeface="楷体_GB2312" pitchFamily="49" charset="-122"/>
              </a:rPr>
              <a:t>ActiveX</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Applet</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Application</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DLL</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EXE</a:t>
            </a:r>
            <a:r>
              <a:rPr lang="zh-CN" altLang="en-US" sz="2400">
                <a:latin typeface="楷体_GB2312" pitchFamily="49" charset="-122"/>
                <a:ea typeface="楷体_GB2312" pitchFamily="49" charset="-122"/>
              </a:rPr>
              <a:t>以及自定义构造型的构件，它们的表示形式是在构件上添加相关的构造型，下图是一个构造型为</a:t>
            </a:r>
            <a:r>
              <a:rPr lang="en-US" altLang="zh-CN" sz="2400">
                <a:latin typeface="楷体_GB2312" pitchFamily="49" charset="-122"/>
                <a:ea typeface="楷体_GB2312" pitchFamily="49" charset="-122"/>
              </a:rPr>
              <a:t>Applet</a:t>
            </a:r>
            <a:r>
              <a:rPr lang="zh-CN" altLang="en-US" sz="2400">
                <a:latin typeface="楷体_GB2312" pitchFamily="49" charset="-122"/>
                <a:ea typeface="楷体_GB2312" pitchFamily="49" charset="-122"/>
              </a:rPr>
              <a:t>的构件。</a:t>
            </a:r>
          </a:p>
        </p:txBody>
      </p:sp>
      <p:pic>
        <p:nvPicPr>
          <p:cNvPr id="1786885" name="Picture 5"/>
          <p:cNvPicPr>
            <a:picLocks noChangeAspect="1" noChangeArrowheads="1"/>
          </p:cNvPicPr>
          <p:nvPr/>
        </p:nvPicPr>
        <p:blipFill>
          <a:blip r:embed="rId2"/>
          <a:srcRect/>
          <a:stretch>
            <a:fillRect/>
          </a:stretch>
        </p:blipFill>
        <p:spPr bwMode="auto">
          <a:xfrm>
            <a:off x="1403350" y="3357563"/>
            <a:ext cx="5111750" cy="2117725"/>
          </a:xfrm>
          <a:prstGeom prst="rect">
            <a:avLst/>
          </a:prstGeom>
          <a:noFill/>
        </p:spPr>
      </p:pic>
      <p:sp>
        <p:nvSpPr>
          <p:cNvPr id="1786886" name="Rectangle 6"/>
          <p:cNvSpPr>
            <a:spLocks noGrp="1"/>
          </p:cNvSpPr>
          <p:nvPr>
            <p:ph type="title"/>
          </p:nvPr>
        </p:nvSpPr>
        <p:spPr>
          <a:noFill/>
          <a:ln/>
        </p:spPr>
        <p:txBody>
          <a:bodyPr/>
          <a:lstStyle/>
          <a:p>
            <a:r>
              <a:rPr lang="zh-CN" altLang="en-US"/>
              <a:t>构件</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7907" name="Rectangle 3"/>
          <p:cNvSpPr>
            <a:spLocks noChangeArrowheads="1"/>
          </p:cNvSpPr>
          <p:nvPr/>
        </p:nvSpPr>
        <p:spPr bwMode="auto">
          <a:xfrm>
            <a:off x="395288" y="1773238"/>
            <a:ext cx="8139112" cy="15525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在</a:t>
            </a:r>
            <a:r>
              <a:rPr lang="en-US" altLang="zh-CN" sz="2400">
                <a:latin typeface="楷体_GB2312" pitchFamily="49" charset="-122"/>
                <a:ea typeface="楷体_GB2312" pitchFamily="49" charset="-122"/>
              </a:rPr>
              <a:t>Rational Rose 2003</a:t>
            </a:r>
            <a:r>
              <a:rPr lang="zh-CN" altLang="en-US" sz="2400">
                <a:latin typeface="楷体_GB2312" pitchFamily="49" charset="-122"/>
                <a:ea typeface="楷体_GB2312" pitchFamily="49" charset="-122"/>
              </a:rPr>
              <a:t>中，数据库也被认为是一种构件。</a:t>
            </a:r>
          </a:p>
          <a:p>
            <a:r>
              <a:rPr lang="zh-CN" altLang="en-US" sz="2400">
                <a:latin typeface="楷体_GB2312" pitchFamily="49" charset="-122"/>
                <a:ea typeface="楷体_GB2312" pitchFamily="49" charset="-122"/>
              </a:rPr>
              <a:t>    虚包是一种只包含对其它包所具有的元素进行的引用的构件。它被用来提供一个包的某些内容的公共视图。虚包不包含任何它自己的模型元素。</a:t>
            </a:r>
            <a:r>
              <a:rPr kumimoji="1" lang="zh-CN" altLang="en-US" sz="2000">
                <a:solidFill>
                  <a:srgbClr val="FFCCFF"/>
                </a:solidFill>
                <a:latin typeface="黑体" pitchFamily="2" charset="-122"/>
                <a:ea typeface="黑体" pitchFamily="2" charset="-122"/>
              </a:rPr>
              <a:t> </a:t>
            </a:r>
          </a:p>
        </p:txBody>
      </p:sp>
      <p:pic>
        <p:nvPicPr>
          <p:cNvPr id="1787909" name="Picture 5"/>
          <p:cNvPicPr>
            <a:picLocks noChangeAspect="1" noChangeArrowheads="1"/>
          </p:cNvPicPr>
          <p:nvPr/>
        </p:nvPicPr>
        <p:blipFill>
          <a:blip r:embed="rId2"/>
          <a:srcRect/>
          <a:stretch>
            <a:fillRect/>
          </a:stretch>
        </p:blipFill>
        <p:spPr bwMode="auto">
          <a:xfrm>
            <a:off x="900113" y="3357563"/>
            <a:ext cx="2592387" cy="1974850"/>
          </a:xfrm>
          <a:prstGeom prst="rect">
            <a:avLst/>
          </a:prstGeom>
          <a:noFill/>
        </p:spPr>
      </p:pic>
      <p:pic>
        <p:nvPicPr>
          <p:cNvPr id="1787910" name="Picture 6"/>
          <p:cNvPicPr>
            <a:picLocks noChangeAspect="1" noChangeArrowheads="1"/>
          </p:cNvPicPr>
          <p:nvPr/>
        </p:nvPicPr>
        <p:blipFill>
          <a:blip r:embed="rId3"/>
          <a:srcRect/>
          <a:stretch>
            <a:fillRect/>
          </a:stretch>
        </p:blipFill>
        <p:spPr bwMode="auto">
          <a:xfrm>
            <a:off x="4284663" y="3357563"/>
            <a:ext cx="3887787" cy="2947987"/>
          </a:xfrm>
          <a:prstGeom prst="rect">
            <a:avLst/>
          </a:prstGeom>
          <a:noFill/>
        </p:spPr>
      </p:pic>
      <p:sp>
        <p:nvSpPr>
          <p:cNvPr id="1787911" name="Rectangle 7"/>
          <p:cNvSpPr>
            <a:spLocks noGrp="1"/>
          </p:cNvSpPr>
          <p:nvPr>
            <p:ph type="title"/>
          </p:nvPr>
        </p:nvSpPr>
        <p:spPr>
          <a:noFill/>
          <a:ln/>
        </p:spPr>
        <p:txBody>
          <a:bodyPr/>
          <a:lstStyle/>
          <a:p>
            <a:r>
              <a:rPr lang="zh-CN" altLang="en-US"/>
              <a:t>构件</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8931" name="Rectangle 3"/>
          <p:cNvSpPr>
            <a:spLocks noChangeArrowheads="1"/>
          </p:cNvSpPr>
          <p:nvPr/>
        </p:nvSpPr>
        <p:spPr bwMode="auto">
          <a:xfrm>
            <a:off x="323850" y="1773238"/>
            <a:ext cx="8139113" cy="228282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系统是指组织起来以完成一定目的的连接单元的集合，在系统中，肯定有一个文件用来指定系统的入口，也就是系统程序的根文件，这个文件被成为主程序。</a:t>
            </a:r>
          </a:p>
          <a:p>
            <a:r>
              <a:rPr lang="zh-CN" altLang="en-US" sz="2400">
                <a:latin typeface="楷体_GB2312" pitchFamily="49" charset="-122"/>
                <a:ea typeface="楷体_GB2312" pitchFamily="49" charset="-122"/>
              </a:rPr>
              <a:t>    子程序规范和子程序体是用来显示子程序的规范和实现体。子程序是一个单独处理的元素的包，我们通常用它代指一组子程序集。 </a:t>
            </a:r>
          </a:p>
        </p:txBody>
      </p:sp>
      <p:pic>
        <p:nvPicPr>
          <p:cNvPr id="1788933" name="Picture 5"/>
          <p:cNvPicPr>
            <a:picLocks noChangeAspect="1" noChangeArrowheads="1"/>
          </p:cNvPicPr>
          <p:nvPr/>
        </p:nvPicPr>
        <p:blipFill>
          <a:blip r:embed="rId2"/>
          <a:srcRect/>
          <a:stretch>
            <a:fillRect/>
          </a:stretch>
        </p:blipFill>
        <p:spPr bwMode="auto">
          <a:xfrm>
            <a:off x="815975" y="4281488"/>
            <a:ext cx="7489825" cy="2576512"/>
          </a:xfrm>
          <a:prstGeom prst="rect">
            <a:avLst/>
          </a:prstGeom>
          <a:noFill/>
        </p:spPr>
      </p:pic>
      <p:sp>
        <p:nvSpPr>
          <p:cNvPr id="1788934" name="Rectangle 6"/>
          <p:cNvSpPr>
            <a:spLocks noGrp="1"/>
          </p:cNvSpPr>
          <p:nvPr>
            <p:ph type="title"/>
          </p:nvPr>
        </p:nvSpPr>
        <p:spPr>
          <a:noFill/>
          <a:ln/>
        </p:spPr>
        <p:txBody>
          <a:bodyPr/>
          <a:lstStyle/>
          <a:p>
            <a:r>
              <a:rPr lang="zh-CN" altLang="en-US"/>
              <a:t>构件</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9955" name="Rectangle 3"/>
          <p:cNvSpPr>
            <a:spLocks noChangeArrowheads="1"/>
          </p:cNvSpPr>
          <p:nvPr/>
        </p:nvSpPr>
        <p:spPr bwMode="auto">
          <a:xfrm>
            <a:off x="323850" y="1773238"/>
            <a:ext cx="8139113" cy="15525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构件图是用来表示系统中构件与构件之间，以及定义的类或接口与构件之间的关系的图。在构件图中，构件和构件之间的关系表现为依赖关系，定义的类或接口与类之间的关系表现为依赖关系或实现关系。</a:t>
            </a:r>
          </a:p>
        </p:txBody>
      </p:sp>
      <p:pic>
        <p:nvPicPr>
          <p:cNvPr id="1789957" name="Picture 5"/>
          <p:cNvPicPr>
            <a:picLocks noChangeAspect="1" noChangeArrowheads="1"/>
          </p:cNvPicPr>
          <p:nvPr/>
        </p:nvPicPr>
        <p:blipFill>
          <a:blip r:embed="rId2"/>
          <a:srcRect/>
          <a:stretch>
            <a:fillRect/>
          </a:stretch>
        </p:blipFill>
        <p:spPr bwMode="auto">
          <a:xfrm>
            <a:off x="2133600" y="3657600"/>
            <a:ext cx="4957763" cy="3144838"/>
          </a:xfrm>
          <a:prstGeom prst="rect">
            <a:avLst/>
          </a:prstGeom>
          <a:noFill/>
        </p:spPr>
      </p:pic>
      <p:sp>
        <p:nvSpPr>
          <p:cNvPr id="1789958" name="Rectangle 6"/>
          <p:cNvSpPr>
            <a:spLocks noGrp="1"/>
          </p:cNvSpPr>
          <p:nvPr>
            <p:ph type="title"/>
          </p:nvPr>
        </p:nvSpPr>
        <p:spPr>
          <a:noFill/>
          <a:ln/>
        </p:spPr>
        <p:txBody>
          <a:bodyPr/>
          <a:lstStyle/>
          <a:p>
            <a:r>
              <a:rPr lang="zh-CN" altLang="en-US"/>
              <a:t>构件图</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5314" name="Text Box 2"/>
          <p:cNvSpPr txBox="1">
            <a:spLocks noChangeArrowheads="1"/>
          </p:cNvSpPr>
          <p:nvPr/>
        </p:nvSpPr>
        <p:spPr bwMode="auto">
          <a:xfrm>
            <a:off x="250825" y="1125538"/>
            <a:ext cx="43973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二、使用</a:t>
            </a:r>
            <a:r>
              <a:rPr lang="en-US" altLang="zh-CN" sz="2800" b="1" i="1">
                <a:solidFill>
                  <a:srgbClr val="A50021"/>
                </a:solidFill>
                <a:effectLst>
                  <a:outerShdw blurRad="38100" dist="38100" dir="2700000" algn="tl">
                    <a:srgbClr val="000000"/>
                  </a:outerShdw>
                </a:effectLst>
                <a:latin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rPr>
              <a:t>创建构件图</a:t>
            </a:r>
          </a:p>
        </p:txBody>
      </p:sp>
      <p:sp>
        <p:nvSpPr>
          <p:cNvPr id="1805315" name="Rectangle 3"/>
          <p:cNvSpPr>
            <a:spLocks noChangeArrowheads="1"/>
          </p:cNvSpPr>
          <p:nvPr/>
        </p:nvSpPr>
        <p:spPr bwMode="auto">
          <a:xfrm>
            <a:off x="323850" y="1773238"/>
            <a:ext cx="8139113" cy="26479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创建一个新的构件图，可以通过以下方式进行。</a:t>
            </a:r>
          </a:p>
          <a:p>
            <a:r>
              <a:rPr lang="zh-CN" altLang="en-US" sz="2400">
                <a:latin typeface="楷体_GB2312" pitchFamily="49" charset="-122"/>
                <a:ea typeface="楷体_GB2312" pitchFamily="49" charset="-122"/>
              </a:rPr>
              <a:t>    １ 右键单击浏览器中的</a:t>
            </a:r>
            <a:r>
              <a:rPr lang="en-US" altLang="zh-CN" sz="2400">
                <a:latin typeface="楷体_GB2312" pitchFamily="49" charset="-122"/>
                <a:ea typeface="楷体_GB2312" pitchFamily="49" charset="-122"/>
              </a:rPr>
              <a:t>Component View</a:t>
            </a:r>
            <a:r>
              <a:rPr lang="zh-CN" altLang="en-US" sz="2400">
                <a:latin typeface="楷体_GB2312" pitchFamily="49" charset="-122"/>
                <a:ea typeface="楷体_GB2312" pitchFamily="49" charset="-122"/>
              </a:rPr>
              <a:t>（构件视图）或者位于构件视图下的包。</a:t>
            </a:r>
          </a:p>
          <a:p>
            <a:r>
              <a:rPr lang="zh-CN" altLang="en-US" sz="2400">
                <a:latin typeface="楷体_GB2312" pitchFamily="49" charset="-122"/>
                <a:ea typeface="楷体_GB2312" pitchFamily="49" charset="-122"/>
              </a:rPr>
              <a:t>    ２ 在弹出的菜单中，选中</a:t>
            </a:r>
            <a:r>
              <a:rPr lang="zh-CN" altLang="en-US" sz="2400">
                <a:latin typeface="Lucida Sans Unicode"/>
                <a:ea typeface="楷体_GB2312" pitchFamily="49" charset="-122"/>
              </a:rPr>
              <a:t>“</a:t>
            </a:r>
            <a:r>
              <a:rPr lang="en-US" altLang="zh-CN" sz="2400">
                <a:latin typeface="楷体_GB2312" pitchFamily="49" charset="-122"/>
                <a:ea typeface="楷体_GB2312" pitchFamily="49" charset="-122"/>
              </a:rPr>
              <a:t>New</a:t>
            </a:r>
            <a:r>
              <a:rPr lang="en-US" altLang="zh-CN" sz="2400">
                <a:latin typeface="Lucida Sans Unicode"/>
                <a:ea typeface="楷体_GB2312" pitchFamily="49" charset="-122"/>
              </a:rPr>
              <a:t>”</a:t>
            </a:r>
            <a:r>
              <a:rPr lang="zh-CN" altLang="en-US" sz="2400">
                <a:latin typeface="楷体_GB2312" pitchFamily="49" charset="-122"/>
                <a:ea typeface="楷体_GB2312" pitchFamily="49" charset="-122"/>
              </a:rPr>
              <a:t>（新建）下的</a:t>
            </a:r>
            <a:r>
              <a:rPr lang="zh-CN" altLang="en-US" sz="2400">
                <a:latin typeface="Lucida Sans Unicode"/>
                <a:ea typeface="楷体_GB2312" pitchFamily="49" charset="-122"/>
              </a:rPr>
              <a:t>“</a:t>
            </a:r>
            <a:r>
              <a:rPr lang="en-US" altLang="zh-CN" sz="2400">
                <a:latin typeface="楷体_GB2312" pitchFamily="49" charset="-122"/>
                <a:ea typeface="楷体_GB2312" pitchFamily="49" charset="-122"/>
              </a:rPr>
              <a:t>Component Diagram</a:t>
            </a:r>
            <a:r>
              <a:rPr lang="en-US" altLang="zh-CN" sz="2400">
                <a:latin typeface="Lucida Sans Unicode"/>
                <a:ea typeface="楷体_GB2312" pitchFamily="49" charset="-122"/>
              </a:rPr>
              <a:t>”</a:t>
            </a:r>
            <a:r>
              <a:rPr lang="zh-CN" altLang="en-US" sz="2400">
                <a:latin typeface="楷体_GB2312" pitchFamily="49" charset="-122"/>
                <a:ea typeface="楷体_GB2312" pitchFamily="49" charset="-122"/>
              </a:rPr>
              <a:t>（构件图）选项。</a:t>
            </a:r>
          </a:p>
          <a:p>
            <a:r>
              <a:rPr lang="zh-CN" altLang="en-US" sz="2400">
                <a:latin typeface="楷体_GB2312" pitchFamily="49" charset="-122"/>
                <a:ea typeface="楷体_GB2312" pitchFamily="49" charset="-122"/>
              </a:rPr>
              <a:t>    ３ 输入新的构件图名称。</a:t>
            </a:r>
          </a:p>
          <a:p>
            <a:r>
              <a:rPr lang="zh-CN" altLang="en-US" sz="2400">
                <a:latin typeface="楷体_GB2312" pitchFamily="49" charset="-122"/>
                <a:ea typeface="楷体_GB2312" pitchFamily="49" charset="-122"/>
              </a:rPr>
              <a:t>    ４ 双击打开浏览器中的构件图。</a:t>
            </a:r>
            <a:r>
              <a:rPr kumimoji="1" lang="zh-CN" altLang="en-US" sz="2400">
                <a:latin typeface="Times New Roman" pitchFamily="18" charset="0"/>
              </a:rPr>
              <a:t>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6338" name="Text Box 2"/>
          <p:cNvSpPr txBox="1">
            <a:spLocks noChangeArrowheads="1"/>
          </p:cNvSpPr>
          <p:nvPr/>
        </p:nvSpPr>
        <p:spPr bwMode="auto">
          <a:xfrm>
            <a:off x="250825" y="1125538"/>
            <a:ext cx="43973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二、使用</a:t>
            </a:r>
            <a:r>
              <a:rPr lang="en-US" altLang="zh-CN" sz="2800" b="1" i="1">
                <a:solidFill>
                  <a:srgbClr val="A50021"/>
                </a:solidFill>
                <a:effectLst>
                  <a:outerShdw blurRad="38100" dist="38100" dir="2700000" algn="tl">
                    <a:srgbClr val="000000"/>
                  </a:outerShdw>
                </a:effectLst>
                <a:latin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rPr>
              <a:t>创建构件图</a:t>
            </a:r>
          </a:p>
        </p:txBody>
      </p:sp>
      <p:sp>
        <p:nvSpPr>
          <p:cNvPr id="1806339" name="Rectangle 3"/>
          <p:cNvSpPr>
            <a:spLocks noChangeArrowheads="1"/>
          </p:cNvSpPr>
          <p:nvPr/>
        </p:nvSpPr>
        <p:spPr bwMode="auto">
          <a:xfrm>
            <a:off x="323850" y="1690688"/>
            <a:ext cx="4248150" cy="41084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通过构件图的图形编辑工具栏添加对象的步骤如下：</a:t>
            </a:r>
          </a:p>
          <a:p>
            <a:r>
              <a:rPr lang="zh-CN" altLang="en-US" sz="2400">
                <a:latin typeface="楷体_GB2312" pitchFamily="49" charset="-122"/>
                <a:ea typeface="楷体_GB2312" pitchFamily="49" charset="-122"/>
              </a:rPr>
              <a:t>    １在构件图的图形编辑工具栏中，选择按钮，此时光标变为</a:t>
            </a:r>
            <a:r>
              <a:rPr lang="zh-CN" altLang="en-US" sz="2400">
                <a:latin typeface="Lucida Sans Unicode"/>
                <a:ea typeface="楷体_GB2312" pitchFamily="49" charset="-122"/>
              </a:rPr>
              <a:t>“</a:t>
            </a:r>
            <a:r>
              <a:rPr lang="zh-CN" altLang="en-US" sz="2400">
                <a:latin typeface="楷体_GB2312" pitchFamily="49" charset="-122"/>
                <a:ea typeface="楷体_GB2312" pitchFamily="49" charset="-122"/>
              </a:rPr>
              <a:t>＋</a:t>
            </a:r>
            <a:r>
              <a:rPr lang="zh-CN" altLang="en-US" sz="2400">
                <a:latin typeface="Lucida Sans Unicode"/>
                <a:ea typeface="楷体_GB2312" pitchFamily="49" charset="-122"/>
              </a:rPr>
              <a:t>”</a:t>
            </a:r>
            <a:r>
              <a:rPr lang="zh-CN" altLang="en-US" sz="2400">
                <a:latin typeface="楷体_GB2312" pitchFamily="49" charset="-122"/>
                <a:ea typeface="楷体_GB2312" pitchFamily="49" charset="-122"/>
              </a:rPr>
              <a:t>号。</a:t>
            </a:r>
          </a:p>
          <a:p>
            <a:r>
              <a:rPr lang="zh-CN" altLang="en-US" sz="2400">
                <a:latin typeface="楷体_GB2312" pitchFamily="49" charset="-122"/>
                <a:ea typeface="楷体_GB2312" pitchFamily="49" charset="-122"/>
              </a:rPr>
              <a:t>    ２在构件图图形编辑区内选择任意一个位置然后使用鼠标左键单击，系统在该位置创建一个新的构件。</a:t>
            </a:r>
          </a:p>
          <a:p>
            <a:r>
              <a:rPr lang="zh-CN" altLang="en-US" sz="2400">
                <a:latin typeface="楷体_GB2312" pitchFamily="49" charset="-122"/>
                <a:ea typeface="楷体_GB2312" pitchFamily="49" charset="-122"/>
              </a:rPr>
              <a:t>    ３在构件的名称栏中，输入构件的名称。 </a:t>
            </a:r>
          </a:p>
        </p:txBody>
      </p:sp>
      <p:pic>
        <p:nvPicPr>
          <p:cNvPr id="1806341" name="Picture 5"/>
          <p:cNvPicPr>
            <a:picLocks noChangeAspect="1" noChangeArrowheads="1"/>
          </p:cNvPicPr>
          <p:nvPr/>
        </p:nvPicPr>
        <p:blipFill>
          <a:blip r:embed="rId2"/>
          <a:srcRect/>
          <a:stretch>
            <a:fillRect/>
          </a:stretch>
        </p:blipFill>
        <p:spPr bwMode="auto">
          <a:xfrm>
            <a:off x="5076825" y="1916113"/>
            <a:ext cx="3613150" cy="4751387"/>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7362" name="Text Box 2"/>
          <p:cNvSpPr txBox="1">
            <a:spLocks noChangeArrowheads="1"/>
          </p:cNvSpPr>
          <p:nvPr/>
        </p:nvSpPr>
        <p:spPr bwMode="auto">
          <a:xfrm>
            <a:off x="250825" y="1125538"/>
            <a:ext cx="43211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二、使用</a:t>
            </a:r>
            <a:r>
              <a:rPr lang="en-US" altLang="zh-CN" sz="2800" b="1" i="1">
                <a:solidFill>
                  <a:srgbClr val="A50021"/>
                </a:solidFill>
                <a:effectLst>
                  <a:outerShdw blurRad="38100" dist="38100" dir="2700000" algn="tl">
                    <a:srgbClr val="000000"/>
                  </a:outerShdw>
                </a:effectLst>
                <a:latin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rPr>
              <a:t>创建构件图</a:t>
            </a:r>
          </a:p>
        </p:txBody>
      </p:sp>
      <p:sp>
        <p:nvSpPr>
          <p:cNvPr id="1807363" name="Rectangle 3"/>
          <p:cNvSpPr>
            <a:spLocks noChangeArrowheads="1"/>
          </p:cNvSpPr>
          <p:nvPr/>
        </p:nvSpPr>
        <p:spPr bwMode="auto">
          <a:xfrm>
            <a:off x="323850" y="1879600"/>
            <a:ext cx="3486150" cy="337820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对于构件图中的构件，和其它</a:t>
            </a:r>
            <a:r>
              <a:rPr lang="en-US" altLang="zh-CN" sz="2400">
                <a:latin typeface="楷体_GB2312" pitchFamily="49" charset="-122"/>
                <a:ea typeface="楷体_GB2312" pitchFamily="49" charset="-122"/>
              </a:rPr>
              <a:t>Rational Rose 2003 </a:t>
            </a:r>
            <a:r>
              <a:rPr lang="zh-CN" altLang="en-US" sz="2400">
                <a:latin typeface="楷体_GB2312" pitchFamily="49" charset="-122"/>
                <a:ea typeface="楷体_GB2312" pitchFamily="49" charset="-122"/>
              </a:rPr>
              <a:t>中的模型元素一样，我们可以通过构件的标准规范窗口设置增加其细节信息，包括名称、构造型、语言、文本、声明、实现类和关联文件等。</a:t>
            </a:r>
          </a:p>
        </p:txBody>
      </p:sp>
      <p:pic>
        <p:nvPicPr>
          <p:cNvPr id="1807365" name="Picture 5"/>
          <p:cNvPicPr>
            <a:picLocks noChangeAspect="1" noChangeArrowheads="1"/>
          </p:cNvPicPr>
          <p:nvPr/>
        </p:nvPicPr>
        <p:blipFill>
          <a:blip r:embed="rId2"/>
          <a:srcRect/>
          <a:stretch>
            <a:fillRect/>
          </a:stretch>
        </p:blipFill>
        <p:spPr bwMode="auto">
          <a:xfrm>
            <a:off x="4114800" y="1752600"/>
            <a:ext cx="3952875" cy="4321175"/>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8626" name="Rectangle 2"/>
          <p:cNvSpPr>
            <a:spLocks noGrp="1" noChangeArrowheads="1"/>
          </p:cNvSpPr>
          <p:nvPr>
            <p:ph type="title"/>
          </p:nvPr>
        </p:nvSpPr>
        <p:spPr/>
        <p:txBody>
          <a:bodyPr/>
          <a:lstStyle/>
          <a:p>
            <a:r>
              <a:rPr lang="zh-CN" altLang="en-US"/>
              <a:t>硬件系统体系结构建模</a:t>
            </a:r>
            <a:r>
              <a:rPr lang="en-US" altLang="zh-CN"/>
              <a:t>——</a:t>
            </a:r>
            <a:r>
              <a:rPr lang="zh-CN" altLang="en-US"/>
              <a:t>部署图</a:t>
            </a:r>
          </a:p>
        </p:txBody>
      </p:sp>
      <p:sp>
        <p:nvSpPr>
          <p:cNvPr id="1818627" name="Rectangle 3"/>
          <p:cNvSpPr>
            <a:spLocks noGrp="1" noChangeArrowheads="1"/>
          </p:cNvSpPr>
          <p:nvPr>
            <p:ph type="body" idx="1"/>
          </p:nvPr>
        </p:nvSpPr>
        <p:spPr/>
        <p:txBody>
          <a:bodyPr/>
          <a:lstStyle/>
          <a:p>
            <a:r>
              <a:rPr lang="zh-CN" altLang="en-US"/>
              <a:t>开发得到的软件系统，必须部署在某些硬件上予以执行。</a:t>
            </a:r>
          </a:p>
          <a:p>
            <a:r>
              <a:rPr lang="zh-CN" altLang="en-US"/>
              <a:t>在</a:t>
            </a:r>
            <a:r>
              <a:rPr lang="en-US" altLang="zh-CN"/>
              <a:t>UML</a:t>
            </a:r>
            <a:r>
              <a:rPr lang="zh-CN" altLang="en-US"/>
              <a:t>中，硬件系统体系结构模型由配置图建模。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18627">
                                            <p:txEl>
                                              <p:pRg st="0" end="0"/>
                                            </p:txEl>
                                          </p:spTgt>
                                        </p:tgtEl>
                                        <p:attrNameLst>
                                          <p:attrName>style.visibility</p:attrName>
                                        </p:attrNameLst>
                                      </p:cBhvr>
                                      <p:to>
                                        <p:strVal val="visible"/>
                                      </p:to>
                                    </p:set>
                                    <p:animEffect transition="in" filter="blinds(horizontal)">
                                      <p:cBhvr>
                                        <p:cTn id="7" dur="500"/>
                                        <p:tgtEl>
                                          <p:spTgt spid="1818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18627">
                                            <p:txEl>
                                              <p:pRg st="1" end="1"/>
                                            </p:txEl>
                                          </p:spTgt>
                                        </p:tgtEl>
                                        <p:attrNameLst>
                                          <p:attrName>style.visibility</p:attrName>
                                        </p:attrNameLst>
                                      </p:cBhvr>
                                      <p:to>
                                        <p:strVal val="visible"/>
                                      </p:to>
                                    </p:set>
                                    <p:animEffect transition="in" filter="blinds(horizontal)">
                                      <p:cBhvr>
                                        <p:cTn id="12" dur="500"/>
                                        <p:tgtEl>
                                          <p:spTgt spid="18186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22" name="Text Box 2"/>
          <p:cNvSpPr txBox="1">
            <a:spLocks noChangeArrowheads="1"/>
          </p:cNvSpPr>
          <p:nvPr/>
        </p:nvSpPr>
        <p:spPr bwMode="auto">
          <a:xfrm>
            <a:off x="250825" y="1125538"/>
            <a:ext cx="52578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一、部署图的基本概念</a:t>
            </a:r>
          </a:p>
        </p:txBody>
      </p:sp>
      <p:sp>
        <p:nvSpPr>
          <p:cNvPr id="1822723" name="Rectangle 3"/>
          <p:cNvSpPr>
            <a:spLocks noChangeArrowheads="1"/>
          </p:cNvSpPr>
          <p:nvPr/>
        </p:nvSpPr>
        <p:spPr bwMode="auto">
          <a:xfrm>
            <a:off x="323850" y="1773238"/>
            <a:ext cx="8139113" cy="11874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400">
                <a:latin typeface="楷体_GB2312" pitchFamily="49" charset="-122"/>
                <a:ea typeface="楷体_GB2312" pitchFamily="49" charset="-122"/>
              </a:rPr>
              <a:t>部署图（</a:t>
            </a:r>
            <a:r>
              <a:rPr lang="en-US" altLang="zh-CN" sz="2400">
                <a:latin typeface="楷体_GB2312" pitchFamily="49" charset="-122"/>
                <a:ea typeface="楷体_GB2312" pitchFamily="49" charset="-122"/>
              </a:rPr>
              <a:t>Deployment Diagram</a:t>
            </a:r>
            <a:r>
              <a:rPr lang="zh-CN" altLang="en-US" sz="2400">
                <a:latin typeface="楷体_GB2312" pitchFamily="49" charset="-122"/>
                <a:ea typeface="楷体_GB2312" pitchFamily="49" charset="-122"/>
              </a:rPr>
              <a:t>）描述了一个系统运行时的硬件结点，以及在这些结点上运行的软件构件将在何处物理地运行，以及它们将如何彼此通信的静态视图。</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4770" name="Text Box 2"/>
          <p:cNvSpPr txBox="1">
            <a:spLocks noChangeArrowheads="1"/>
          </p:cNvSpPr>
          <p:nvPr/>
        </p:nvSpPr>
        <p:spPr bwMode="auto">
          <a:xfrm>
            <a:off x="250825" y="1125538"/>
            <a:ext cx="52578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一、部署图的基本概念</a:t>
            </a:r>
          </a:p>
        </p:txBody>
      </p:sp>
      <p:sp>
        <p:nvSpPr>
          <p:cNvPr id="1824771" name="Rectangle 3"/>
          <p:cNvSpPr>
            <a:spLocks noChangeArrowheads="1"/>
          </p:cNvSpPr>
          <p:nvPr/>
        </p:nvSpPr>
        <p:spPr bwMode="auto">
          <a:xfrm>
            <a:off x="323850" y="1773238"/>
            <a:ext cx="8139113" cy="1187450"/>
          </a:xfrm>
          <a:prstGeom prst="rect">
            <a:avLst/>
          </a:prstGeom>
          <a:noFill/>
          <a:ln w="9525" algn="ctr">
            <a:noFill/>
            <a:miter lim="800000"/>
            <a:headEnd/>
            <a:tailEnd/>
          </a:ln>
          <a:effectLst/>
        </p:spPr>
        <p:txBody>
          <a:bodyPr>
            <a:spAutoFit/>
          </a:bodyPr>
          <a:lstStyle/>
          <a:p>
            <a:r>
              <a:rPr lang="zh-CN" altLang="en-US" sz="2400">
                <a:latin typeface="楷体_GB2312" pitchFamily="49" charset="-122"/>
                <a:ea typeface="楷体_GB2312" pitchFamily="49" charset="-122"/>
              </a:rPr>
              <a:t>    在一个部署图中，包含了两种基本的模型元素：节点（</a:t>
            </a:r>
            <a:r>
              <a:rPr lang="en-US" altLang="zh-CN" sz="2400">
                <a:latin typeface="楷体_GB2312" pitchFamily="49" charset="-122"/>
                <a:ea typeface="楷体_GB2312" pitchFamily="49" charset="-122"/>
              </a:rPr>
              <a:t>Node)</a:t>
            </a:r>
            <a:r>
              <a:rPr lang="zh-CN" altLang="en-US" sz="2400">
                <a:latin typeface="楷体_GB2312" pitchFamily="49" charset="-122"/>
                <a:ea typeface="楷体_GB2312" pitchFamily="49" charset="-122"/>
              </a:rPr>
              <a:t>和节点之间的连接（</a:t>
            </a:r>
            <a:r>
              <a:rPr lang="en-US" altLang="zh-CN" sz="2400">
                <a:latin typeface="楷体_GB2312" pitchFamily="49" charset="-122"/>
                <a:ea typeface="楷体_GB2312" pitchFamily="49" charset="-122"/>
              </a:rPr>
              <a:t>Connection</a:t>
            </a:r>
            <a:r>
              <a:rPr lang="zh-CN" altLang="en-US" sz="2400">
                <a:latin typeface="楷体_GB2312" pitchFamily="49" charset="-122"/>
                <a:ea typeface="楷体_GB2312" pitchFamily="49" charset="-122"/>
              </a:rPr>
              <a:t>）。在每一个模型中仅包含一个部署图。</a:t>
            </a:r>
          </a:p>
        </p:txBody>
      </p:sp>
      <p:pic>
        <p:nvPicPr>
          <p:cNvPr id="1824772" name="Picture 4"/>
          <p:cNvPicPr>
            <a:picLocks noChangeAspect="1" noChangeArrowheads="1"/>
          </p:cNvPicPr>
          <p:nvPr/>
        </p:nvPicPr>
        <p:blipFill>
          <a:blip r:embed="rId2"/>
          <a:srcRect/>
          <a:stretch>
            <a:fillRect/>
          </a:stretch>
        </p:blipFill>
        <p:spPr bwMode="auto">
          <a:xfrm>
            <a:off x="1042988" y="3644900"/>
            <a:ext cx="6913562" cy="2570163"/>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5795" name="Rectangle 3"/>
          <p:cNvSpPr>
            <a:spLocks noChangeArrowheads="1"/>
          </p:cNvSpPr>
          <p:nvPr/>
        </p:nvSpPr>
        <p:spPr bwMode="auto">
          <a:xfrm>
            <a:off x="685800" y="1881188"/>
            <a:ext cx="8134350" cy="20637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节点是在运行时代表计算资源的物理元素。</a:t>
            </a:r>
          </a:p>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节点的确定可以通过查看对实现系统有用的硬件资源来完成，需要从能力</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如计算能力、内存大小等</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和物理位置</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要求在所有需要使用该系统的地理位置都可以访问该系统</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两方面来考虑。</a:t>
            </a:r>
          </a:p>
        </p:txBody>
      </p:sp>
      <p:sp>
        <p:nvSpPr>
          <p:cNvPr id="1825798" name="Rectangle 6"/>
          <p:cNvSpPr>
            <a:spLocks noGrp="1"/>
          </p:cNvSpPr>
          <p:nvPr>
            <p:ph type="title"/>
          </p:nvPr>
        </p:nvSpPr>
        <p:spPr>
          <a:noFill/>
          <a:ln/>
        </p:spPr>
        <p:txBody>
          <a:bodyPr/>
          <a:lstStyle/>
          <a:p>
            <a:r>
              <a:rPr lang="zh-CN" altLang="en-US"/>
              <a:t>节点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825795"/>
                                        </p:tgtEl>
                                        <p:attrNameLst>
                                          <p:attrName>style.visibility</p:attrName>
                                        </p:attrNameLst>
                                      </p:cBhvr>
                                      <p:to>
                                        <p:strVal val="visible"/>
                                      </p:to>
                                    </p:set>
                                    <p:animEffect transition="in" filter="box(in)">
                                      <p:cBhvr>
                                        <p:cTn id="7" dur="500"/>
                                        <p:tgtEl>
                                          <p:spTgt spid="1825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579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6819" name="Rectangle 3"/>
          <p:cNvSpPr>
            <a:spLocks noChangeArrowheads="1"/>
          </p:cNvSpPr>
          <p:nvPr/>
        </p:nvSpPr>
        <p:spPr bwMode="auto">
          <a:xfrm>
            <a:off x="609600" y="1881188"/>
            <a:ext cx="8355013" cy="374332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在</a:t>
            </a:r>
            <a:r>
              <a:rPr lang="en-US" altLang="zh-CN" sz="2400">
                <a:latin typeface="楷体_GB2312" pitchFamily="49" charset="-122"/>
                <a:ea typeface="楷体_GB2312" pitchFamily="49" charset="-122"/>
                <a:cs typeface="Tahoma" pitchFamily="34" charset="0"/>
              </a:rPr>
              <a:t>UML</a:t>
            </a:r>
            <a:r>
              <a:rPr lang="zh-CN" altLang="en-US" sz="2400">
                <a:latin typeface="楷体_GB2312" pitchFamily="49" charset="-122"/>
                <a:ea typeface="楷体_GB2312" pitchFamily="49" charset="-122"/>
                <a:cs typeface="Tahoma" pitchFamily="34" charset="0"/>
              </a:rPr>
              <a:t>中，节点用一个立方体来表示。</a:t>
            </a:r>
          </a:p>
          <a:p>
            <a:pPr indent="442913" eaLnBrk="0" hangingPunct="0">
              <a:spcBef>
                <a:spcPct val="20000"/>
              </a:spcBef>
              <a:spcAft>
                <a:spcPct val="20000"/>
              </a:spcAft>
              <a:buFont typeface="Wingdings" pitchFamily="2" charset="2"/>
              <a:buChar char="¯"/>
            </a:pPr>
            <a:endParaRPr lang="zh-CN" altLang="en-US" sz="2400">
              <a:latin typeface="楷体_GB2312" pitchFamily="49" charset="-122"/>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endParaRPr lang="zh-CN" altLang="en-US" sz="2400">
              <a:latin typeface="楷体_GB2312" pitchFamily="49" charset="-122"/>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endParaRPr lang="zh-CN" altLang="en-US" sz="2400">
              <a:latin typeface="楷体_GB2312" pitchFamily="49" charset="-122"/>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节点必须有名称。节点的名称是一个字符串，有两种：简单名和路径名；位于节点图标内部。</a:t>
            </a:r>
          </a:p>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实际应用中，节点名称通常是从现实的词汇表中抽取出来的短名词或名词短语。</a:t>
            </a:r>
          </a:p>
        </p:txBody>
      </p:sp>
      <p:pic>
        <p:nvPicPr>
          <p:cNvPr id="1826822" name="Picture 6"/>
          <p:cNvPicPr>
            <a:picLocks noChangeAspect="1" noChangeArrowheads="1"/>
          </p:cNvPicPr>
          <p:nvPr/>
        </p:nvPicPr>
        <p:blipFill>
          <a:blip r:embed="rId2"/>
          <a:srcRect/>
          <a:stretch>
            <a:fillRect/>
          </a:stretch>
        </p:blipFill>
        <p:spPr bwMode="auto">
          <a:xfrm>
            <a:off x="3276600" y="2613025"/>
            <a:ext cx="1584325" cy="1273175"/>
          </a:xfrm>
          <a:prstGeom prst="rect">
            <a:avLst/>
          </a:prstGeom>
          <a:noFill/>
          <a:ln w="9525">
            <a:noFill/>
            <a:miter lim="800000"/>
            <a:headEnd/>
            <a:tailEnd/>
          </a:ln>
        </p:spPr>
      </p:pic>
      <p:sp>
        <p:nvSpPr>
          <p:cNvPr id="1826823" name="Rectangle 7"/>
          <p:cNvSpPr>
            <a:spLocks noGrp="1"/>
          </p:cNvSpPr>
          <p:nvPr>
            <p:ph type="title"/>
          </p:nvPr>
        </p:nvSpPr>
        <p:spPr>
          <a:noFill/>
          <a:ln/>
        </p:spPr>
        <p:txBody>
          <a:bodyPr/>
          <a:lstStyle/>
          <a:p>
            <a:r>
              <a:rPr lang="zh-CN" altLang="en-US"/>
              <a:t>节点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826819"/>
                                        </p:tgtEl>
                                        <p:attrNameLst>
                                          <p:attrName>style.visibility</p:attrName>
                                        </p:attrNameLst>
                                      </p:cBhvr>
                                      <p:to>
                                        <p:strVal val="visible"/>
                                      </p:to>
                                    </p:set>
                                    <p:animEffect transition="in" filter="box(in)">
                                      <p:cBhvr>
                                        <p:cTn id="7" dur="500"/>
                                        <p:tgtEl>
                                          <p:spTgt spid="1826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68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7843" name="Rectangle 3"/>
          <p:cNvSpPr>
            <a:spLocks noChangeArrowheads="1"/>
          </p:cNvSpPr>
          <p:nvPr/>
        </p:nvSpPr>
        <p:spPr bwMode="auto">
          <a:xfrm>
            <a:off x="685800" y="1881188"/>
            <a:ext cx="8305800" cy="32321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通常，</a:t>
            </a:r>
            <a:r>
              <a:rPr lang="en-US" altLang="zh-CN" sz="2400">
                <a:latin typeface="楷体_GB2312" pitchFamily="49" charset="-122"/>
                <a:ea typeface="楷体_GB2312" pitchFamily="49" charset="-122"/>
                <a:cs typeface="Tahoma" pitchFamily="34" charset="0"/>
              </a:rPr>
              <a:t>UML</a:t>
            </a:r>
            <a:r>
              <a:rPr lang="zh-CN" altLang="en-US" sz="2400">
                <a:latin typeface="楷体_GB2312" pitchFamily="49" charset="-122"/>
                <a:ea typeface="楷体_GB2312" pitchFamily="49" charset="-122"/>
                <a:cs typeface="Tahoma" pitchFamily="34" charset="0"/>
              </a:rPr>
              <a:t>图中的节点只显示名称，也可以用标记值或表示节点细节的附加栏加以修饰示。</a:t>
            </a:r>
          </a:p>
          <a:p>
            <a:pPr indent="442913" eaLnBrk="0" hangingPunct="0">
              <a:spcBef>
                <a:spcPct val="20000"/>
              </a:spcBef>
              <a:spcAft>
                <a:spcPct val="20000"/>
              </a:spcAft>
              <a:buFont typeface="Wingdings" pitchFamily="2" charset="2"/>
              <a:buChar char="¯"/>
            </a:pPr>
            <a:endParaRPr lang="zh-CN" altLang="en-US" sz="2400">
              <a:latin typeface="楷体_GB2312" pitchFamily="49" charset="-122"/>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endParaRPr lang="zh-CN" altLang="en-US" sz="2400">
              <a:latin typeface="楷体_GB2312" pitchFamily="49" charset="-122"/>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endParaRPr lang="zh-CN" altLang="en-US" sz="2400">
              <a:latin typeface="楷体_GB2312" pitchFamily="49" charset="-122"/>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建模过程中，节点可以分为两种：</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处理器（</a:t>
            </a:r>
            <a:r>
              <a:rPr lang="en-US" altLang="zh-CN"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Processor</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和</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设备（</a:t>
            </a:r>
            <a:r>
              <a:rPr lang="en-US" altLang="zh-CN"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Device</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p:txBody>
      </p:sp>
      <p:pic>
        <p:nvPicPr>
          <p:cNvPr id="1827846" name="Picture 6" descr="节点细节"/>
          <p:cNvPicPr>
            <a:picLocks noChangeAspect="1" noChangeArrowheads="1"/>
          </p:cNvPicPr>
          <p:nvPr/>
        </p:nvPicPr>
        <p:blipFill>
          <a:blip r:embed="rId2"/>
          <a:srcRect/>
          <a:stretch>
            <a:fillRect/>
          </a:stretch>
        </p:blipFill>
        <p:spPr bwMode="auto">
          <a:xfrm>
            <a:off x="3657600" y="2895600"/>
            <a:ext cx="1727200" cy="1362075"/>
          </a:xfrm>
          <a:prstGeom prst="rect">
            <a:avLst/>
          </a:prstGeom>
          <a:noFill/>
          <a:ln w="9525">
            <a:noFill/>
            <a:miter lim="800000"/>
            <a:headEnd/>
            <a:tailEnd/>
          </a:ln>
        </p:spPr>
      </p:pic>
      <p:sp>
        <p:nvSpPr>
          <p:cNvPr id="1827847" name="Rectangle 7"/>
          <p:cNvSpPr>
            <a:spLocks noGrp="1"/>
          </p:cNvSpPr>
          <p:nvPr>
            <p:ph type="title"/>
          </p:nvPr>
        </p:nvSpPr>
        <p:spPr>
          <a:noFill/>
          <a:ln/>
        </p:spPr>
        <p:txBody>
          <a:bodyPr/>
          <a:lstStyle/>
          <a:p>
            <a:r>
              <a:rPr lang="zh-CN" altLang="en-US"/>
              <a:t>节点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827843"/>
                                        </p:tgtEl>
                                        <p:attrNameLst>
                                          <p:attrName>style.visibility</p:attrName>
                                        </p:attrNameLst>
                                      </p:cBhvr>
                                      <p:to>
                                        <p:strVal val="visible"/>
                                      </p:to>
                                    </p:set>
                                    <p:animEffect transition="in" filter="box(in)">
                                      <p:cBhvr>
                                        <p:cTn id="7" dur="500"/>
                                        <p:tgtEl>
                                          <p:spTgt spid="1827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784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8867" name="Rectangle 3"/>
          <p:cNvSpPr>
            <a:spLocks noChangeArrowheads="1"/>
          </p:cNvSpPr>
          <p:nvPr/>
        </p:nvSpPr>
        <p:spPr bwMode="auto">
          <a:xfrm>
            <a:off x="609600" y="1881188"/>
            <a:ext cx="8126413" cy="14795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处理器是能够执行软件、具有计算能力的节点。</a:t>
            </a:r>
          </a:p>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服务器、工作站和具有处理能力的机器都是处理器。</a:t>
            </a:r>
          </a:p>
          <a:p>
            <a:pPr indent="442913" eaLnBrk="0" hangingPunct="0">
              <a:spcBef>
                <a:spcPct val="20000"/>
              </a:spcBef>
              <a:spcAft>
                <a:spcPct val="20000"/>
              </a:spcAft>
              <a:buFont typeface="Wingdings" pitchFamily="2" charset="2"/>
              <a:buChar char="¯"/>
            </a:pPr>
            <a:r>
              <a:rPr lang="en-US" altLang="zh-CN" sz="2400">
                <a:latin typeface="楷体_GB2312" pitchFamily="49" charset="-122"/>
                <a:ea typeface="楷体_GB2312" pitchFamily="49" charset="-122"/>
                <a:cs typeface="Tahoma" pitchFamily="34" charset="0"/>
              </a:rPr>
              <a:t>UML</a:t>
            </a:r>
            <a:r>
              <a:rPr lang="zh-CN" altLang="en-US" sz="2400">
                <a:latin typeface="楷体_GB2312" pitchFamily="49" charset="-122"/>
                <a:ea typeface="楷体_GB2312" pitchFamily="49" charset="-122"/>
                <a:cs typeface="Tahoma" pitchFamily="34" charset="0"/>
              </a:rPr>
              <a:t>中，处理器的符号如下所示。</a:t>
            </a:r>
          </a:p>
        </p:txBody>
      </p:sp>
      <p:sp>
        <p:nvSpPr>
          <p:cNvPr id="1828870" name="Rectangle 6"/>
          <p:cNvSpPr>
            <a:spLocks noChangeArrowheads="1"/>
          </p:cNvSpPr>
          <p:nvPr/>
        </p:nvSpPr>
        <p:spPr bwMode="auto">
          <a:xfrm>
            <a:off x="2286000" y="838200"/>
            <a:ext cx="2274888" cy="609600"/>
          </a:xfrm>
          <a:prstGeom prst="rect">
            <a:avLst/>
          </a:prstGeom>
          <a:noFill/>
          <a:ln w="9525">
            <a:noFill/>
            <a:miter lim="800000"/>
            <a:headEnd/>
            <a:tailEnd/>
          </a:ln>
          <a:effectLst/>
        </p:spPr>
        <p:txBody>
          <a:bodyPr>
            <a:spAutoFit/>
          </a:bodyPr>
          <a:lstStyle/>
          <a:p>
            <a:pPr eaLnBrk="0" hangingPunct="0"/>
            <a:r>
              <a:rPr kumimoji="1" lang="zh-CN" altLang="en-US" sz="3400" b="1">
                <a:solidFill>
                  <a:srgbClr val="1D528D"/>
                </a:solidFill>
                <a:latin typeface="华文行楷" pitchFamily="2" charset="-122"/>
                <a:ea typeface="华文行楷" pitchFamily="2" charset="-122"/>
                <a:cs typeface="Tahoma" pitchFamily="34" charset="0"/>
              </a:rPr>
              <a:t>→ 处理器</a:t>
            </a:r>
          </a:p>
        </p:txBody>
      </p:sp>
      <p:pic>
        <p:nvPicPr>
          <p:cNvPr id="1828871" name="Picture 7"/>
          <p:cNvPicPr>
            <a:picLocks noChangeAspect="1" noChangeArrowheads="1"/>
          </p:cNvPicPr>
          <p:nvPr/>
        </p:nvPicPr>
        <p:blipFill>
          <a:blip r:embed="rId2"/>
          <a:srcRect/>
          <a:stretch>
            <a:fillRect/>
          </a:stretch>
        </p:blipFill>
        <p:spPr bwMode="auto">
          <a:xfrm>
            <a:off x="3276600" y="3657600"/>
            <a:ext cx="2160588" cy="1755775"/>
          </a:xfrm>
          <a:prstGeom prst="rect">
            <a:avLst/>
          </a:prstGeom>
          <a:noFill/>
          <a:ln w="9525">
            <a:noFill/>
            <a:miter lim="800000"/>
            <a:headEnd/>
            <a:tailEnd/>
          </a:ln>
        </p:spPr>
      </p:pic>
      <p:sp>
        <p:nvSpPr>
          <p:cNvPr id="1828872" name="Rectangle 8"/>
          <p:cNvSpPr>
            <a:spLocks noGrp="1"/>
          </p:cNvSpPr>
          <p:nvPr>
            <p:ph type="title"/>
          </p:nvPr>
        </p:nvSpPr>
        <p:spPr>
          <a:noFill/>
          <a:ln/>
        </p:spPr>
        <p:txBody>
          <a:bodyPr/>
          <a:lstStyle/>
          <a:p>
            <a:r>
              <a:rPr lang="zh-CN" altLang="en-US"/>
              <a:t>节点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28870"/>
                                        </p:tgtEl>
                                        <p:attrNameLst>
                                          <p:attrName>style.visibility</p:attrName>
                                        </p:attrNameLst>
                                      </p:cBhvr>
                                      <p:to>
                                        <p:strVal val="visible"/>
                                      </p:to>
                                    </p:set>
                                    <p:animEffect transition="in" filter="wipe(left)">
                                      <p:cBhvr>
                                        <p:cTn id="7" dur="500"/>
                                        <p:tgtEl>
                                          <p:spTgt spid="1828870"/>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828867"/>
                                        </p:tgtEl>
                                        <p:attrNameLst>
                                          <p:attrName>style.visibility</p:attrName>
                                        </p:attrNameLst>
                                      </p:cBhvr>
                                      <p:to>
                                        <p:strVal val="visible"/>
                                      </p:to>
                                    </p:set>
                                    <p:animEffect transition="in" filter="box(in)">
                                      <p:cBhvr>
                                        <p:cTn id="11" dur="500"/>
                                        <p:tgtEl>
                                          <p:spTgt spid="1828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8867" grpId="0"/>
      <p:bldP spid="182887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9891" name="Rectangle 3"/>
          <p:cNvSpPr>
            <a:spLocks noChangeArrowheads="1"/>
          </p:cNvSpPr>
          <p:nvPr/>
        </p:nvSpPr>
        <p:spPr bwMode="auto">
          <a:xfrm>
            <a:off x="685800" y="1881188"/>
            <a:ext cx="8278813" cy="184467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设备是没有计算能力的节点，通常情况下都是通过其接口为外部提供某种服务。</a:t>
            </a:r>
          </a:p>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比如哑终端、打印机和扫描仪等部属于设备。</a:t>
            </a:r>
          </a:p>
          <a:p>
            <a:pPr indent="442913" eaLnBrk="0" hangingPunct="0">
              <a:spcBef>
                <a:spcPct val="20000"/>
              </a:spcBef>
              <a:spcAft>
                <a:spcPct val="20000"/>
              </a:spcAft>
              <a:buFont typeface="Wingdings" pitchFamily="2" charset="2"/>
              <a:buChar char="¯"/>
            </a:pPr>
            <a:r>
              <a:rPr lang="en-US" altLang="zh-CN" sz="2400">
                <a:latin typeface="楷体_GB2312" pitchFamily="49" charset="-122"/>
                <a:ea typeface="楷体_GB2312" pitchFamily="49" charset="-122"/>
                <a:cs typeface="Tahoma" pitchFamily="34" charset="0"/>
              </a:rPr>
              <a:t>UML</a:t>
            </a:r>
            <a:r>
              <a:rPr lang="zh-CN" altLang="en-US" sz="2400">
                <a:latin typeface="楷体_GB2312" pitchFamily="49" charset="-122"/>
                <a:ea typeface="楷体_GB2312" pitchFamily="49" charset="-122"/>
                <a:cs typeface="Tahoma" pitchFamily="34" charset="0"/>
              </a:rPr>
              <a:t>中，设备的符号如下所示。</a:t>
            </a:r>
          </a:p>
        </p:txBody>
      </p:sp>
      <p:sp>
        <p:nvSpPr>
          <p:cNvPr id="1829894" name="Rectangle 6"/>
          <p:cNvSpPr>
            <a:spLocks noChangeArrowheads="1"/>
          </p:cNvSpPr>
          <p:nvPr/>
        </p:nvSpPr>
        <p:spPr bwMode="auto">
          <a:xfrm>
            <a:off x="2286000" y="762000"/>
            <a:ext cx="2274888" cy="609600"/>
          </a:xfrm>
          <a:prstGeom prst="rect">
            <a:avLst/>
          </a:prstGeom>
          <a:noFill/>
          <a:ln w="9525">
            <a:noFill/>
            <a:miter lim="800000"/>
            <a:headEnd/>
            <a:tailEnd/>
          </a:ln>
          <a:effectLst/>
        </p:spPr>
        <p:txBody>
          <a:bodyPr>
            <a:spAutoFit/>
          </a:bodyPr>
          <a:lstStyle/>
          <a:p>
            <a:pPr eaLnBrk="0" hangingPunct="0"/>
            <a:r>
              <a:rPr kumimoji="1" lang="zh-CN" altLang="en-US" sz="3400" b="1">
                <a:solidFill>
                  <a:srgbClr val="1D528D"/>
                </a:solidFill>
                <a:latin typeface="华文行楷" pitchFamily="2" charset="-122"/>
                <a:ea typeface="华文行楷" pitchFamily="2" charset="-122"/>
                <a:cs typeface="Tahoma" pitchFamily="34" charset="0"/>
              </a:rPr>
              <a:t>→ 设备</a:t>
            </a:r>
          </a:p>
        </p:txBody>
      </p:sp>
      <p:pic>
        <p:nvPicPr>
          <p:cNvPr id="1829895" name="Picture 7"/>
          <p:cNvPicPr>
            <a:picLocks noChangeAspect="1" noChangeArrowheads="1"/>
          </p:cNvPicPr>
          <p:nvPr/>
        </p:nvPicPr>
        <p:blipFill>
          <a:blip r:embed="rId2"/>
          <a:srcRect/>
          <a:stretch>
            <a:fillRect/>
          </a:stretch>
        </p:blipFill>
        <p:spPr bwMode="auto">
          <a:xfrm>
            <a:off x="3581400" y="4267200"/>
            <a:ext cx="1728788" cy="1374775"/>
          </a:xfrm>
          <a:prstGeom prst="rect">
            <a:avLst/>
          </a:prstGeom>
          <a:noFill/>
          <a:ln w="9525">
            <a:noFill/>
            <a:miter lim="800000"/>
            <a:headEnd/>
            <a:tailEnd/>
          </a:ln>
        </p:spPr>
      </p:pic>
      <p:sp>
        <p:nvSpPr>
          <p:cNvPr id="1829896" name="Rectangle 8"/>
          <p:cNvSpPr>
            <a:spLocks noGrp="1"/>
          </p:cNvSpPr>
          <p:nvPr>
            <p:ph type="title"/>
          </p:nvPr>
        </p:nvSpPr>
        <p:spPr>
          <a:noFill/>
          <a:ln/>
        </p:spPr>
        <p:txBody>
          <a:bodyPr/>
          <a:lstStyle/>
          <a:p>
            <a:r>
              <a:rPr lang="zh-CN" altLang="en-US"/>
              <a:t>节点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29894"/>
                                        </p:tgtEl>
                                        <p:attrNameLst>
                                          <p:attrName>style.visibility</p:attrName>
                                        </p:attrNameLst>
                                      </p:cBhvr>
                                      <p:to>
                                        <p:strVal val="visible"/>
                                      </p:to>
                                    </p:set>
                                    <p:animEffect transition="in" filter="wipe(left)">
                                      <p:cBhvr>
                                        <p:cTn id="7" dur="500"/>
                                        <p:tgtEl>
                                          <p:spTgt spid="1829894"/>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829891"/>
                                        </p:tgtEl>
                                        <p:attrNameLst>
                                          <p:attrName>style.visibility</p:attrName>
                                        </p:attrNameLst>
                                      </p:cBhvr>
                                      <p:to>
                                        <p:strVal val="visible"/>
                                      </p:to>
                                    </p:set>
                                    <p:animEffect transition="in" filter="box(in)">
                                      <p:cBhvr>
                                        <p:cTn id="11" dur="500"/>
                                        <p:tgtEl>
                                          <p:spTgt spid="1829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9891" grpId="0"/>
      <p:bldP spid="182989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0915" name="Rectangle 3"/>
          <p:cNvSpPr>
            <a:spLocks noChangeArrowheads="1"/>
          </p:cNvSpPr>
          <p:nvPr/>
        </p:nvSpPr>
        <p:spPr bwMode="auto">
          <a:xfrm>
            <a:off x="609600" y="1881188"/>
            <a:ext cx="8077200" cy="220980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部署图中用关联关系表示各节点之间通信路径。</a:t>
            </a:r>
          </a:p>
          <a:p>
            <a:pPr indent="442913" eaLnBrk="0" hangingPunct="0">
              <a:spcBef>
                <a:spcPct val="20000"/>
              </a:spcBef>
              <a:spcAft>
                <a:spcPct val="20000"/>
              </a:spcAft>
              <a:buFont typeface="Wingdings" pitchFamily="2" charset="2"/>
              <a:buChar char="¯"/>
            </a:pPr>
            <a:r>
              <a:rPr lang="en-US" altLang="zh-CN" sz="2400">
                <a:latin typeface="楷体_GB2312" pitchFamily="49" charset="-122"/>
                <a:ea typeface="楷体_GB2312" pitchFamily="49" charset="-122"/>
                <a:cs typeface="Tahoma" pitchFamily="34" charset="0"/>
              </a:rPr>
              <a:t>UML</a:t>
            </a:r>
            <a:r>
              <a:rPr lang="zh-CN" altLang="en-US" sz="2400">
                <a:latin typeface="楷体_GB2312" pitchFamily="49" charset="-122"/>
                <a:ea typeface="楷体_GB2312" pitchFamily="49" charset="-122"/>
                <a:cs typeface="Tahoma" pitchFamily="34" charset="0"/>
              </a:rPr>
              <a:t>中，部署图中的关联关系的表示方法与类图中关联关系相同，都是一条实线。</a:t>
            </a:r>
          </a:p>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在连接硬件时通常关心节点之间是如何连接的</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如以太网、并行、</a:t>
            </a:r>
            <a:r>
              <a:rPr lang="en-US" altLang="zh-CN" sz="2400">
                <a:latin typeface="楷体_GB2312" pitchFamily="49" charset="-122"/>
                <a:ea typeface="楷体_GB2312" pitchFamily="49" charset="-122"/>
                <a:cs typeface="Tahoma" pitchFamily="34" charset="0"/>
              </a:rPr>
              <a:t>TCP</a:t>
            </a:r>
            <a:r>
              <a:rPr lang="zh-CN" altLang="en-US" sz="2400">
                <a:latin typeface="楷体_GB2312" pitchFamily="49" charset="-122"/>
                <a:ea typeface="楷体_GB2312" pitchFamily="49" charset="-122"/>
                <a:cs typeface="Tahoma" pitchFamily="34" charset="0"/>
              </a:rPr>
              <a:t>或</a:t>
            </a:r>
            <a:r>
              <a:rPr lang="en-US" altLang="zh-CN" sz="2400">
                <a:latin typeface="楷体_GB2312" pitchFamily="49" charset="-122"/>
                <a:ea typeface="楷体_GB2312" pitchFamily="49" charset="-122"/>
                <a:cs typeface="Tahoma" pitchFamily="34" charset="0"/>
              </a:rPr>
              <a:t>USB</a:t>
            </a:r>
            <a:r>
              <a:rPr lang="zh-CN" altLang="en-US" sz="2400">
                <a:latin typeface="楷体_GB2312" pitchFamily="49" charset="-122"/>
                <a:ea typeface="楷体_GB2312" pitchFamily="49" charset="-122"/>
                <a:cs typeface="Tahoma" pitchFamily="34" charset="0"/>
              </a:rPr>
              <a:t>等</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a:t>
            </a:r>
          </a:p>
        </p:txBody>
      </p:sp>
      <p:sp>
        <p:nvSpPr>
          <p:cNvPr id="1830918" name="Rectangle 6"/>
          <p:cNvSpPr>
            <a:spLocks noGrp="1"/>
          </p:cNvSpPr>
          <p:nvPr>
            <p:ph type="title"/>
          </p:nvPr>
        </p:nvSpPr>
        <p:spPr>
          <a:noFill/>
          <a:ln/>
        </p:spPr>
        <p:txBody>
          <a:bodyPr/>
          <a:lstStyle/>
          <a:p>
            <a:r>
              <a:rPr lang="zh-CN" altLang="en-US"/>
              <a:t>关联关系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830915"/>
                                        </p:tgtEl>
                                        <p:attrNameLst>
                                          <p:attrName>style.visibility</p:attrName>
                                        </p:attrNameLst>
                                      </p:cBhvr>
                                      <p:to>
                                        <p:strVal val="visible"/>
                                      </p:to>
                                    </p:set>
                                    <p:animEffect transition="in" filter="box(in)">
                                      <p:cBhvr>
                                        <p:cTn id="7" dur="500"/>
                                        <p:tgtEl>
                                          <p:spTgt spid="1830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1939" name="Rectangle 3"/>
          <p:cNvSpPr>
            <a:spLocks noChangeArrowheads="1"/>
          </p:cNvSpPr>
          <p:nvPr/>
        </p:nvSpPr>
        <p:spPr bwMode="auto">
          <a:xfrm>
            <a:off x="609600" y="1881188"/>
            <a:ext cx="8355013" cy="11874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a:latin typeface="楷体_GB2312" pitchFamily="49" charset="-122"/>
                <a:ea typeface="楷体_GB2312" pitchFamily="49" charset="-122"/>
                <a:cs typeface="Tahoma" pitchFamily="34" charset="0"/>
              </a:rPr>
              <a:t>关联关系一般不使用名称，使用构造型，如</a:t>
            </a:r>
            <a:r>
              <a:rPr lang="en-US" altLang="zh-CN" sz="2400">
                <a:latin typeface="楷体_GB2312" pitchFamily="49" charset="-122"/>
                <a:ea typeface="楷体_GB2312" pitchFamily="49" charset="-122"/>
                <a:cs typeface="Tahoma" pitchFamily="34" charset="0"/>
              </a:rPr>
              <a:t>&lt;&lt;Ethernet&gt;&gt;(</a:t>
            </a:r>
            <a:r>
              <a:rPr lang="zh-CN" altLang="en-US" sz="2400">
                <a:latin typeface="楷体_GB2312" pitchFamily="49" charset="-122"/>
                <a:ea typeface="楷体_GB2312" pitchFamily="49" charset="-122"/>
                <a:cs typeface="Tahoma" pitchFamily="34" charset="0"/>
              </a:rPr>
              <a:t>以太网</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a:t>
            </a:r>
            <a:r>
              <a:rPr lang="en-US" altLang="zh-CN" sz="2400">
                <a:latin typeface="楷体_GB2312" pitchFamily="49" charset="-122"/>
                <a:ea typeface="楷体_GB2312" pitchFamily="49" charset="-122"/>
                <a:cs typeface="Tahoma" pitchFamily="34" charset="0"/>
              </a:rPr>
              <a:t>&lt;&lt;parallel&gt;&gt;(</a:t>
            </a:r>
            <a:r>
              <a:rPr lang="zh-CN" altLang="en-US" sz="2400">
                <a:latin typeface="楷体_GB2312" pitchFamily="49" charset="-122"/>
                <a:ea typeface="楷体_GB2312" pitchFamily="49" charset="-122"/>
                <a:cs typeface="Tahoma" pitchFamily="34" charset="0"/>
              </a:rPr>
              <a:t>并联</a:t>
            </a:r>
            <a:r>
              <a:rPr lang="en-US" altLang="zh-CN" sz="2400">
                <a:latin typeface="楷体_GB2312" pitchFamily="49" charset="-122"/>
                <a:ea typeface="楷体_GB2312" pitchFamily="49" charset="-122"/>
                <a:cs typeface="Tahoma" pitchFamily="34" charset="0"/>
              </a:rPr>
              <a:t>)</a:t>
            </a:r>
            <a:r>
              <a:rPr lang="zh-CN" altLang="en-US" sz="2400">
                <a:latin typeface="楷体_GB2312" pitchFamily="49" charset="-122"/>
                <a:ea typeface="楷体_GB2312" pitchFamily="49" charset="-122"/>
                <a:cs typeface="Tahoma" pitchFamily="34" charset="0"/>
              </a:rPr>
              <a:t>或</a:t>
            </a:r>
            <a:r>
              <a:rPr lang="en-US" altLang="zh-CN" sz="2400">
                <a:latin typeface="楷体_GB2312" pitchFamily="49" charset="-122"/>
                <a:ea typeface="楷体_GB2312" pitchFamily="49" charset="-122"/>
                <a:cs typeface="Tahoma" pitchFamily="34" charset="0"/>
              </a:rPr>
              <a:t>&lt;&lt;TCP&gt;&gt;</a:t>
            </a:r>
            <a:r>
              <a:rPr lang="zh-CN" altLang="en-US" sz="2400">
                <a:latin typeface="楷体_GB2312" pitchFamily="49" charset="-122"/>
                <a:ea typeface="楷体_GB2312" pitchFamily="49" charset="-122"/>
                <a:cs typeface="Tahoma" pitchFamily="34" charset="0"/>
              </a:rPr>
              <a:t>（传输控制协议 ）等。</a:t>
            </a:r>
          </a:p>
        </p:txBody>
      </p:sp>
      <p:pic>
        <p:nvPicPr>
          <p:cNvPr id="1831942" name="Picture 6"/>
          <p:cNvPicPr>
            <a:picLocks noChangeAspect="1" noChangeArrowheads="1"/>
          </p:cNvPicPr>
          <p:nvPr/>
        </p:nvPicPr>
        <p:blipFill>
          <a:blip r:embed="rId2"/>
          <a:srcRect l="3011" t="3703" r="3726" b="5180"/>
          <a:stretch>
            <a:fillRect/>
          </a:stretch>
        </p:blipFill>
        <p:spPr bwMode="auto">
          <a:xfrm>
            <a:off x="2209800" y="3352800"/>
            <a:ext cx="4752975" cy="3208338"/>
          </a:xfrm>
          <a:prstGeom prst="rect">
            <a:avLst/>
          </a:prstGeom>
          <a:noFill/>
          <a:ln w="9525">
            <a:noFill/>
            <a:miter lim="800000"/>
            <a:headEnd/>
            <a:tailEnd/>
          </a:ln>
        </p:spPr>
      </p:pic>
      <p:sp>
        <p:nvSpPr>
          <p:cNvPr id="1831943" name="Rectangle 7"/>
          <p:cNvSpPr>
            <a:spLocks noGrp="1"/>
          </p:cNvSpPr>
          <p:nvPr>
            <p:ph type="title"/>
          </p:nvPr>
        </p:nvSpPr>
        <p:spPr>
          <a:noFill/>
          <a:ln/>
        </p:spPr>
        <p:txBody>
          <a:bodyPr/>
          <a:lstStyle/>
          <a:p>
            <a:r>
              <a:rPr lang="zh-CN" altLang="en-US"/>
              <a:t>关联关系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831939"/>
                                        </p:tgtEl>
                                        <p:attrNameLst>
                                          <p:attrName>style.visibility</p:attrName>
                                        </p:attrNameLst>
                                      </p:cBhvr>
                                      <p:to>
                                        <p:strVal val="visible"/>
                                      </p:to>
                                    </p:set>
                                    <p:animEffect transition="in" filter="box(in)">
                                      <p:cBhvr>
                                        <p:cTn id="7" dur="500"/>
                                        <p:tgtEl>
                                          <p:spTgt spid="1831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193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8386" name="Text Box 2"/>
          <p:cNvSpPr txBox="1">
            <a:spLocks noChangeArrowheads="1"/>
          </p:cNvSpPr>
          <p:nvPr/>
        </p:nvSpPr>
        <p:spPr bwMode="auto">
          <a:xfrm>
            <a:off x="250825" y="1125538"/>
            <a:ext cx="57610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rPr>
              <a:t>二、使用</a:t>
            </a:r>
            <a:r>
              <a:rPr lang="en-US" altLang="zh-CN" sz="2800" b="1" i="1">
                <a:solidFill>
                  <a:srgbClr val="A50021"/>
                </a:solidFill>
                <a:effectLst>
                  <a:outerShdw blurRad="38100" dist="38100" dir="2700000" algn="tl">
                    <a:srgbClr val="000000"/>
                  </a:outerShdw>
                </a:effectLst>
                <a:latin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rPr>
              <a:t>创建构件图与部署图</a:t>
            </a:r>
          </a:p>
        </p:txBody>
      </p:sp>
      <p:sp>
        <p:nvSpPr>
          <p:cNvPr id="1808387" name="Rectangle 3"/>
          <p:cNvSpPr>
            <a:spLocks noChangeArrowheads="1"/>
          </p:cNvSpPr>
          <p:nvPr/>
        </p:nvSpPr>
        <p:spPr bwMode="auto">
          <a:xfrm>
            <a:off x="323850" y="1690688"/>
            <a:ext cx="8424863" cy="3378200"/>
          </a:xfrm>
          <a:prstGeom prst="rect">
            <a:avLst/>
          </a:prstGeom>
          <a:noFill/>
          <a:ln w="9525" algn="ctr">
            <a:noFill/>
            <a:miter lim="800000"/>
            <a:headEnd/>
            <a:tailEnd/>
          </a:ln>
          <a:effectLst/>
        </p:spPr>
        <p:txBody>
          <a:bodyPr>
            <a:spAutoFit/>
          </a:bodyPr>
          <a:lstStyle/>
          <a:p>
            <a:pPr marL="457200" indent="-457200"/>
            <a:r>
              <a:rPr lang="zh-CN" altLang="en-US" sz="2400">
                <a:latin typeface="楷体_GB2312" pitchFamily="49" charset="-122"/>
                <a:ea typeface="楷体_GB2312" pitchFamily="49" charset="-122"/>
              </a:rPr>
              <a:t>    在每一个系统模型中，只存在一个部署图。在使用</a:t>
            </a:r>
            <a:r>
              <a:rPr lang="en-US" altLang="zh-CN" sz="2400">
                <a:latin typeface="楷体_GB2312" pitchFamily="49" charset="-122"/>
                <a:ea typeface="楷体_GB2312" pitchFamily="49" charset="-122"/>
              </a:rPr>
              <a:t>Rational Rose 2003</a:t>
            </a:r>
            <a:r>
              <a:rPr lang="zh-CN" altLang="en-US" sz="2400">
                <a:latin typeface="楷体_GB2312" pitchFamily="49" charset="-122"/>
                <a:ea typeface="楷体_GB2312" pitchFamily="49" charset="-122"/>
              </a:rPr>
              <a:t>创建系统模型时，就已经创建完毕，即为</a:t>
            </a:r>
            <a:r>
              <a:rPr lang="en-US" altLang="zh-CN" sz="2400">
                <a:latin typeface="楷体_GB2312" pitchFamily="49" charset="-122"/>
                <a:ea typeface="楷体_GB2312" pitchFamily="49" charset="-122"/>
              </a:rPr>
              <a:t>Deployment View</a:t>
            </a:r>
            <a:r>
              <a:rPr lang="zh-CN" altLang="en-US" sz="2400">
                <a:latin typeface="楷体_GB2312" pitchFamily="49" charset="-122"/>
                <a:ea typeface="楷体_GB2312" pitchFamily="49" charset="-122"/>
              </a:rPr>
              <a:t>（部署视图）。如果要访问部署图，在浏览器中双击该部署视图即可。 </a:t>
            </a:r>
          </a:p>
          <a:p>
            <a:pPr marL="457200" indent="-457200"/>
            <a:r>
              <a:rPr lang="zh-CN" altLang="en-US" sz="2400">
                <a:latin typeface="楷体_GB2312" pitchFamily="49" charset="-122"/>
                <a:ea typeface="楷体_GB2312" pitchFamily="49" charset="-122"/>
              </a:rPr>
              <a:t>     其中包括：</a:t>
            </a:r>
          </a:p>
          <a:p>
            <a:pPr marL="457200" indent="-457200"/>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1 </a:t>
            </a:r>
            <a:r>
              <a:rPr lang="zh-CN" altLang="en-US" sz="2400">
                <a:latin typeface="楷体_GB2312" pitchFamily="49" charset="-122"/>
                <a:ea typeface="楷体_GB2312" pitchFamily="49" charset="-122"/>
              </a:rPr>
              <a:t>创建和删除节点。</a:t>
            </a:r>
          </a:p>
          <a:p>
            <a:pPr marL="457200" indent="-457200"/>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2 </a:t>
            </a:r>
            <a:r>
              <a:rPr lang="zh-CN" altLang="en-US" sz="2400">
                <a:latin typeface="楷体_GB2312" pitchFamily="49" charset="-122"/>
                <a:ea typeface="楷体_GB2312" pitchFamily="49" charset="-122"/>
              </a:rPr>
              <a:t>设置节点。</a:t>
            </a:r>
          </a:p>
          <a:p>
            <a:pPr marL="457200" indent="-457200"/>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添加和删除节点之间的连接。</a:t>
            </a:r>
          </a:p>
          <a:p>
            <a:pPr marL="457200" indent="-457200"/>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4 </a:t>
            </a:r>
            <a:r>
              <a:rPr lang="zh-CN" altLang="en-US" sz="2400">
                <a:latin typeface="楷体_GB2312" pitchFamily="49" charset="-122"/>
                <a:ea typeface="楷体_GB2312" pitchFamily="49" charset="-122"/>
              </a:rPr>
              <a:t>设置连接规范。</a:t>
            </a:r>
            <a:r>
              <a:rPr kumimoji="1" lang="zh-CN" altLang="en-US" sz="2000">
                <a:solidFill>
                  <a:srgbClr val="FFCCFF"/>
                </a:solidFill>
                <a:latin typeface="黑体" pitchFamily="2" charset="-122"/>
                <a:ea typeface="黑体" pitchFamily="2" charset="-122"/>
              </a:rPr>
              <a:t> </a:t>
            </a:r>
          </a:p>
        </p:txBody>
      </p:sp>
      <p:sp>
        <p:nvSpPr>
          <p:cNvPr id="1808388" name="Text Box 4"/>
          <p:cNvSpPr txBox="1">
            <a:spLocks noChangeArrowheads="1"/>
          </p:cNvSpPr>
          <p:nvPr/>
        </p:nvSpPr>
        <p:spPr bwMode="auto">
          <a:xfrm>
            <a:off x="6372225" y="1196975"/>
            <a:ext cx="2376488"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、创建部署图</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62" name="Text Box 2"/>
          <p:cNvSpPr txBox="1">
            <a:spLocks noChangeArrowheads="1"/>
          </p:cNvSpPr>
          <p:nvPr/>
        </p:nvSpPr>
        <p:spPr bwMode="auto">
          <a:xfrm>
            <a:off x="1081088" y="333375"/>
            <a:ext cx="7739062" cy="594042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创建部署图</a:t>
            </a:r>
          </a:p>
          <a:p>
            <a:r>
              <a:rPr lang="en-US" altLang="zh-CN" sz="3200">
                <a:latin typeface="隶书" pitchFamily="49" charset="-122"/>
                <a:ea typeface="隶书" pitchFamily="49" charset="-122"/>
              </a:rPr>
              <a:t>1. </a:t>
            </a:r>
            <a:r>
              <a:rPr lang="zh-CN" altLang="en-US" sz="3200">
                <a:latin typeface="隶书" pitchFamily="49" charset="-122"/>
                <a:ea typeface="隶书" pitchFamily="49" charset="-122"/>
              </a:rPr>
              <a:t>创建和删除节点</a:t>
            </a:r>
          </a:p>
          <a:p>
            <a:r>
              <a:rPr lang="zh-CN" altLang="en-US" sz="3200">
                <a:latin typeface="隶书" pitchFamily="49" charset="-122"/>
                <a:ea typeface="隶书" pitchFamily="49" charset="-122"/>
              </a:rPr>
              <a:t>使用菜单栏或浏览器添加节点的步骤如下：</a:t>
            </a:r>
          </a:p>
          <a:p>
            <a:r>
              <a:rPr lang="en-US" altLang="zh-CN" sz="3200">
                <a:latin typeface="隶书" pitchFamily="49" charset="-122"/>
                <a:ea typeface="隶书" pitchFamily="49" charset="-122"/>
              </a:rPr>
              <a:t>01 </a:t>
            </a:r>
            <a:r>
              <a:rPr lang="zh-CN" altLang="en-US" sz="3200">
                <a:latin typeface="隶书" pitchFamily="49" charset="-122"/>
                <a:ea typeface="隶书" pitchFamily="49" charset="-122"/>
              </a:rPr>
              <a:t>选择</a:t>
            </a:r>
            <a:r>
              <a:rPr lang="en-US" altLang="zh-CN" sz="3200">
                <a:latin typeface="隶书" pitchFamily="49" charset="-122"/>
                <a:ea typeface="隶书" pitchFamily="49" charset="-122"/>
              </a:rPr>
              <a:t>Tools | Create | Processor</a:t>
            </a:r>
            <a:r>
              <a:rPr lang="zh-CN" altLang="en-US" sz="3200">
                <a:latin typeface="隶书" pitchFamily="49" charset="-122"/>
                <a:ea typeface="隶书" pitchFamily="49" charset="-122"/>
              </a:rPr>
              <a:t>命令，此时光标变为</a:t>
            </a:r>
            <a:r>
              <a:rPr lang="zh-CN" altLang="en-US" sz="3200">
                <a:latin typeface="Arial"/>
                <a:ea typeface="隶书" pitchFamily="49" charset="-122"/>
              </a:rPr>
              <a:t>“</a:t>
            </a:r>
            <a:r>
              <a:rPr lang="en-US" altLang="zh-CN" sz="3200">
                <a:latin typeface="隶书" pitchFamily="49" charset="-122"/>
                <a:ea typeface="隶书" pitchFamily="49" charset="-122"/>
              </a:rPr>
              <a:t>+</a:t>
            </a:r>
            <a:r>
              <a:rPr lang="en-US" altLang="zh-CN" sz="3200">
                <a:latin typeface="Arial"/>
                <a:ea typeface="隶书" pitchFamily="49" charset="-122"/>
              </a:rPr>
              <a:t>”</a:t>
            </a:r>
            <a:r>
              <a:rPr lang="zh-CN" altLang="en-US" sz="3200">
                <a:latin typeface="隶书" pitchFamily="49" charset="-122"/>
                <a:ea typeface="隶书" pitchFamily="49" charset="-122"/>
              </a:rPr>
              <a:t>号。如果使用浏览器，可右键单击</a:t>
            </a:r>
            <a:r>
              <a:rPr lang="en-US" altLang="zh-CN" sz="3200">
                <a:latin typeface="隶书" pitchFamily="49" charset="-122"/>
                <a:ea typeface="隶书" pitchFamily="49" charset="-122"/>
              </a:rPr>
              <a:t>Deployment View</a:t>
            </a:r>
            <a:r>
              <a:rPr lang="zh-CN" altLang="en-US" sz="3200">
                <a:latin typeface="隶书" pitchFamily="49" charset="-122"/>
                <a:ea typeface="隶书" pitchFamily="49" charset="-122"/>
              </a:rPr>
              <a:t>（部署视图），在弹出的快捷菜单中选择</a:t>
            </a:r>
            <a:r>
              <a:rPr lang="en-US" altLang="zh-CN" sz="3200">
                <a:latin typeface="隶书" pitchFamily="49" charset="-122"/>
                <a:ea typeface="隶书" pitchFamily="49" charset="-122"/>
              </a:rPr>
              <a:t>New | Processor</a:t>
            </a:r>
            <a:r>
              <a:rPr lang="zh-CN" altLang="en-US" sz="3200">
                <a:latin typeface="隶书" pitchFamily="49" charset="-122"/>
                <a:ea typeface="隶书" pitchFamily="49" charset="-122"/>
              </a:rPr>
              <a:t>命令，此时光标也变为</a:t>
            </a:r>
            <a:r>
              <a:rPr lang="zh-CN" altLang="en-US" sz="3200">
                <a:latin typeface="Arial"/>
                <a:ea typeface="隶书" pitchFamily="49" charset="-122"/>
              </a:rPr>
              <a:t>“</a:t>
            </a:r>
            <a:r>
              <a:rPr lang="en-US" altLang="zh-CN" sz="3200">
                <a:latin typeface="隶书" pitchFamily="49" charset="-122"/>
                <a:ea typeface="隶书" pitchFamily="49" charset="-122"/>
              </a:rPr>
              <a:t>+</a:t>
            </a:r>
            <a:r>
              <a:rPr lang="en-US" altLang="zh-CN" sz="3200">
                <a:latin typeface="Arial"/>
                <a:ea typeface="隶书" pitchFamily="49" charset="-122"/>
              </a:rPr>
              <a:t>”</a:t>
            </a:r>
            <a:r>
              <a:rPr lang="zh-CN" altLang="en-US" sz="3200">
                <a:latin typeface="隶书" pitchFamily="49" charset="-122"/>
                <a:ea typeface="隶书" pitchFamily="49" charset="-122"/>
              </a:rPr>
              <a:t>号。</a:t>
            </a:r>
          </a:p>
          <a:p>
            <a:r>
              <a:rPr lang="zh-CN" altLang="en-US" sz="3200">
                <a:latin typeface="隶书" pitchFamily="49" charset="-122"/>
                <a:ea typeface="隶书" pitchFamily="49" charset="-122"/>
              </a:rPr>
              <a:t/>
            </a:r>
            <a:br>
              <a:rPr lang="zh-CN" altLang="en-US" sz="3200">
                <a:latin typeface="隶书" pitchFamily="49" charset="-122"/>
                <a:ea typeface="隶书" pitchFamily="49" charset="-122"/>
              </a:rPr>
            </a:br>
            <a:r>
              <a:rPr lang="en-US" altLang="zh-CN" sz="3200">
                <a:latin typeface="隶书" pitchFamily="49" charset="-122"/>
                <a:ea typeface="隶书" pitchFamily="49" charset="-122"/>
              </a:rPr>
              <a:t>02 </a:t>
            </a:r>
            <a:r>
              <a:rPr lang="zh-CN" altLang="en-US" sz="3200">
                <a:latin typeface="隶书" pitchFamily="49" charset="-122"/>
                <a:ea typeface="隶书" pitchFamily="49" charset="-122"/>
              </a:rPr>
              <a:t>以下的步骤与使用工具栏添加节点的步骤类似，按照前面使用工具栏添加处理器节点的步骤添加即可。</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986" name="Rectangle 2"/>
          <p:cNvSpPr>
            <a:spLocks noChangeArrowheads="1"/>
          </p:cNvSpPr>
          <p:nvPr/>
        </p:nvSpPr>
        <p:spPr bwMode="auto">
          <a:xfrm>
            <a:off x="539750" y="1673225"/>
            <a:ext cx="8135938" cy="3016250"/>
          </a:xfrm>
          <a:prstGeom prst="rect">
            <a:avLst/>
          </a:prstGeom>
          <a:noFill/>
          <a:ln w="9525" algn="ctr">
            <a:noFill/>
            <a:miter lim="800000"/>
            <a:headEnd/>
            <a:tailEnd/>
          </a:ln>
          <a:effectLst/>
        </p:spPr>
        <p:txBody>
          <a:bodyPr anchor="ctr">
            <a:spAutoFit/>
          </a:bodyPr>
          <a:lstStyle/>
          <a:p>
            <a:r>
              <a:rPr lang="zh-CN" altLang="en-US" sz="3200">
                <a:latin typeface="隶书" pitchFamily="49" charset="-122"/>
                <a:ea typeface="隶书" pitchFamily="49" charset="-122"/>
              </a:rPr>
              <a:t>将节点永久地从模型中移除，可以通过以下步骤进行：</a:t>
            </a:r>
          </a:p>
          <a:p>
            <a:endParaRPr lang="zh-CN" altLang="en-US" sz="3200">
              <a:latin typeface="隶书" pitchFamily="49" charset="-122"/>
              <a:ea typeface="隶书" pitchFamily="49" charset="-122"/>
            </a:endParaRPr>
          </a:p>
          <a:p>
            <a:r>
              <a:rPr lang="en-US" altLang="zh-CN" sz="3200">
                <a:latin typeface="隶书" pitchFamily="49" charset="-122"/>
                <a:ea typeface="隶书" pitchFamily="49" charset="-122"/>
              </a:rPr>
              <a:t>01 </a:t>
            </a:r>
            <a:r>
              <a:rPr lang="zh-CN" altLang="en-US" sz="3200">
                <a:latin typeface="隶书" pitchFamily="49" charset="-122"/>
                <a:ea typeface="隶书" pitchFamily="49" charset="-122"/>
              </a:rPr>
              <a:t>选中待删除的节点，单击右键。</a:t>
            </a:r>
          </a:p>
          <a:p>
            <a:r>
              <a:rPr lang="en-US" altLang="zh-CN" sz="3200">
                <a:latin typeface="隶书" pitchFamily="49" charset="-122"/>
                <a:ea typeface="隶书" pitchFamily="49" charset="-122"/>
              </a:rPr>
              <a:t>02 </a:t>
            </a:r>
            <a:r>
              <a:rPr lang="zh-CN" altLang="en-US" sz="3200">
                <a:latin typeface="隶书" pitchFamily="49" charset="-122"/>
                <a:ea typeface="隶书" pitchFamily="49" charset="-122"/>
              </a:rPr>
              <a:t>在弹出的快捷菜单中选择</a:t>
            </a:r>
            <a:r>
              <a:rPr lang="en-US" altLang="zh-CN" sz="3200">
                <a:latin typeface="隶书" pitchFamily="49" charset="-122"/>
                <a:ea typeface="隶书" pitchFamily="49" charset="-122"/>
              </a:rPr>
              <a:t>Edit | Delete from Model</a:t>
            </a:r>
            <a:r>
              <a:rPr lang="zh-CN" altLang="en-US" sz="3200">
                <a:latin typeface="隶书" pitchFamily="49" charset="-122"/>
                <a:ea typeface="隶书" pitchFamily="49" charset="-122"/>
              </a:rPr>
              <a:t>命令，或者按</a:t>
            </a:r>
            <a:r>
              <a:rPr lang="en-US" altLang="zh-CN" sz="3200">
                <a:latin typeface="隶书" pitchFamily="49" charset="-122"/>
                <a:ea typeface="隶书" pitchFamily="49" charset="-122"/>
              </a:rPr>
              <a:t>Ctrl+D</a:t>
            </a:r>
            <a:r>
              <a:rPr lang="zh-CN" altLang="en-US" sz="3200">
                <a:latin typeface="隶书" pitchFamily="49" charset="-122"/>
                <a:ea typeface="隶书" pitchFamily="49" charset="-122"/>
              </a:rPr>
              <a:t>快捷键即可。</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5010" name="Text Box 2"/>
          <p:cNvSpPr txBox="1">
            <a:spLocks noChangeArrowheads="1"/>
          </p:cNvSpPr>
          <p:nvPr/>
        </p:nvSpPr>
        <p:spPr bwMode="auto">
          <a:xfrm>
            <a:off x="395288" y="908050"/>
            <a:ext cx="2773362" cy="2041525"/>
          </a:xfrm>
          <a:prstGeom prst="rect">
            <a:avLst/>
          </a:prstGeom>
          <a:noFill/>
          <a:ln w="9525" algn="ctr">
            <a:noFill/>
            <a:miter lim="800000"/>
            <a:headEnd/>
            <a:tailEnd/>
          </a:ln>
          <a:effectLst/>
        </p:spPr>
        <p:txBody>
          <a:bodyPr>
            <a:spAutoFit/>
          </a:bodyPr>
          <a:lstStyle/>
          <a:p>
            <a:r>
              <a:rPr lang="en-US" altLang="zh-CN" sz="3200">
                <a:latin typeface="隶书" pitchFamily="49" charset="-122"/>
                <a:ea typeface="隶书" pitchFamily="49" charset="-122"/>
              </a:rPr>
              <a:t>2. </a:t>
            </a:r>
            <a:r>
              <a:rPr lang="zh-CN" altLang="en-US" sz="3200">
                <a:latin typeface="隶书" pitchFamily="49" charset="-122"/>
                <a:ea typeface="隶书" pitchFamily="49" charset="-122"/>
              </a:rPr>
              <a:t>设置节点</a:t>
            </a:r>
          </a:p>
          <a:p>
            <a:r>
              <a:rPr lang="zh-CN" altLang="en-US" sz="3200">
                <a:latin typeface="隶书" pitchFamily="49" charset="-122"/>
                <a:ea typeface="隶书" pitchFamily="49" charset="-122"/>
              </a:rPr>
              <a:t>处理器的标准规范对话框如下。</a:t>
            </a:r>
          </a:p>
        </p:txBody>
      </p:sp>
      <p:pic>
        <p:nvPicPr>
          <p:cNvPr id="1835011" name="图片 99" descr="232.png"/>
          <p:cNvPicPr>
            <a:picLocks noChangeAspect="1" noChangeArrowheads="1"/>
          </p:cNvPicPr>
          <p:nvPr/>
        </p:nvPicPr>
        <p:blipFill>
          <a:blip r:embed="rId2"/>
          <a:srcRect/>
          <a:stretch>
            <a:fillRect/>
          </a:stretch>
        </p:blipFill>
        <p:spPr bwMode="auto">
          <a:xfrm>
            <a:off x="3635375" y="476250"/>
            <a:ext cx="4883150" cy="5329238"/>
          </a:xfrm>
          <a:prstGeom prst="rect">
            <a:avLst/>
          </a:prstGeom>
          <a:noFill/>
          <a:ln w="9525">
            <a:noFill/>
            <a:miter lim="800000"/>
            <a:headEnd/>
            <a:tailEnd/>
          </a:ln>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6034" name="Text Box 2"/>
          <p:cNvSpPr txBox="1">
            <a:spLocks noChangeArrowheads="1"/>
          </p:cNvSpPr>
          <p:nvPr/>
        </p:nvSpPr>
        <p:spPr bwMode="auto">
          <a:xfrm>
            <a:off x="684213" y="836613"/>
            <a:ext cx="2519362" cy="399097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还可以在</a:t>
            </a:r>
            <a:r>
              <a:rPr lang="en-US" altLang="zh-CN" sz="3200">
                <a:latin typeface="隶书" pitchFamily="49" charset="-122"/>
                <a:ea typeface="隶书" pitchFamily="49" charset="-122"/>
              </a:rPr>
              <a:t>Detail</a:t>
            </a:r>
            <a:r>
              <a:rPr lang="zh-CN" altLang="en-US" sz="3200">
                <a:latin typeface="隶书" pitchFamily="49" charset="-122"/>
                <a:ea typeface="隶书" pitchFamily="49" charset="-122"/>
              </a:rPr>
              <a:t>选项卡中通过</a:t>
            </a:r>
            <a:r>
              <a:rPr lang="en-US" altLang="zh-CN" sz="3200">
                <a:latin typeface="隶书" pitchFamily="49" charset="-122"/>
                <a:ea typeface="隶书" pitchFamily="49" charset="-122"/>
              </a:rPr>
              <a:t>Characteristion</a:t>
            </a:r>
            <a:r>
              <a:rPr lang="zh-CN" altLang="en-US" sz="3200">
                <a:latin typeface="隶书" pitchFamily="49" charset="-122"/>
                <a:ea typeface="隶书" pitchFamily="49" charset="-122"/>
              </a:rPr>
              <a:t>列表框添加硬件的物理描述信息。 </a:t>
            </a:r>
          </a:p>
        </p:txBody>
      </p:sp>
      <p:pic>
        <p:nvPicPr>
          <p:cNvPr id="1836035" name="图片 100" descr="233.png"/>
          <p:cNvPicPr>
            <a:picLocks noChangeAspect="1" noChangeArrowheads="1"/>
          </p:cNvPicPr>
          <p:nvPr/>
        </p:nvPicPr>
        <p:blipFill>
          <a:blip r:embed="rId2"/>
          <a:srcRect/>
          <a:stretch>
            <a:fillRect/>
          </a:stretch>
        </p:blipFill>
        <p:spPr bwMode="auto">
          <a:xfrm>
            <a:off x="3443288" y="549275"/>
            <a:ext cx="5338762" cy="5832475"/>
          </a:xfrm>
          <a:prstGeom prst="rect">
            <a:avLst/>
          </a:prstGeom>
          <a:noFill/>
          <a:ln w="9525">
            <a:noFill/>
            <a:miter lim="800000"/>
            <a:headEnd/>
            <a:tailEnd/>
          </a:ln>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7058" name="Rectangle 2"/>
          <p:cNvSpPr>
            <a:spLocks noChangeArrowheads="1"/>
          </p:cNvSpPr>
          <p:nvPr/>
        </p:nvSpPr>
        <p:spPr bwMode="auto">
          <a:xfrm>
            <a:off x="323850" y="306388"/>
            <a:ext cx="8640763" cy="3503612"/>
          </a:xfrm>
          <a:prstGeom prst="rect">
            <a:avLst/>
          </a:prstGeom>
          <a:noFill/>
          <a:ln w="9525" algn="ctr">
            <a:noFill/>
            <a:miter lim="800000"/>
            <a:headEnd/>
            <a:tailEnd/>
          </a:ln>
          <a:effectLst/>
        </p:spPr>
        <p:txBody>
          <a:bodyPr anchor="ctr">
            <a:spAutoFit/>
          </a:bodyPr>
          <a:lstStyle/>
          <a:p>
            <a:pPr indent="266700"/>
            <a:r>
              <a:rPr lang="en-US" altLang="zh-CN" sz="3200">
                <a:latin typeface="隶书" pitchFamily="49" charset="-122"/>
                <a:ea typeface="隶书" pitchFamily="49" charset="-122"/>
              </a:rPr>
              <a:t>3. </a:t>
            </a:r>
            <a:r>
              <a:rPr lang="zh-CN" altLang="en-US" sz="3200">
                <a:latin typeface="隶书" pitchFamily="49" charset="-122"/>
                <a:ea typeface="隶书" pitchFamily="49" charset="-122"/>
              </a:rPr>
              <a:t>添加和删除节点之间的连接</a:t>
            </a:r>
          </a:p>
          <a:p>
            <a:pPr indent="266700"/>
            <a:r>
              <a:rPr lang="zh-CN" altLang="en-US" sz="3200">
                <a:latin typeface="隶书" pitchFamily="49" charset="-122"/>
                <a:ea typeface="隶书" pitchFamily="49" charset="-122"/>
              </a:rPr>
              <a:t>在部署图中添加节点之间的连接的步骤如下：</a:t>
            </a:r>
          </a:p>
          <a:p>
            <a:pPr indent="266700"/>
            <a:r>
              <a:rPr lang="en-US" altLang="zh-CN" sz="3200">
                <a:latin typeface="隶书" pitchFamily="49" charset="-122"/>
                <a:ea typeface="隶书" pitchFamily="49" charset="-122"/>
              </a:rPr>
              <a:t>01 </a:t>
            </a:r>
            <a:r>
              <a:rPr lang="zh-CN" altLang="en-US" sz="3200">
                <a:latin typeface="隶书" pitchFamily="49" charset="-122"/>
                <a:ea typeface="隶书" pitchFamily="49" charset="-122"/>
              </a:rPr>
              <a:t>单击图标，或者选择</a:t>
            </a:r>
            <a:r>
              <a:rPr lang="en-US" altLang="zh-CN" sz="3200">
                <a:latin typeface="隶书" pitchFamily="49" charset="-122"/>
                <a:ea typeface="隶书" pitchFamily="49" charset="-122"/>
              </a:rPr>
              <a:t>Tools | Create | Connection</a:t>
            </a:r>
            <a:r>
              <a:rPr lang="zh-CN" altLang="en-US" sz="3200">
                <a:latin typeface="隶书" pitchFamily="49" charset="-122"/>
                <a:ea typeface="隶书" pitchFamily="49" charset="-122"/>
              </a:rPr>
              <a:t>命令，此时的光标变为</a:t>
            </a:r>
            <a:r>
              <a:rPr lang="zh-CN" altLang="en-US" sz="3200">
                <a:latin typeface="Arial"/>
                <a:ea typeface="隶书" pitchFamily="49" charset="-122"/>
              </a:rPr>
              <a:t>“</a:t>
            </a:r>
            <a:r>
              <a:rPr lang="zh-CN" altLang="en-US" sz="3200">
                <a:latin typeface="隶书" pitchFamily="49" charset="-122"/>
                <a:ea typeface="隶书" pitchFamily="49" charset="-122"/>
              </a:rPr>
              <a:t>↑</a:t>
            </a:r>
            <a:r>
              <a:rPr lang="zh-CN" altLang="en-US" sz="3200">
                <a:latin typeface="Arial"/>
                <a:ea typeface="隶书" pitchFamily="49" charset="-122"/>
              </a:rPr>
              <a:t>”</a:t>
            </a:r>
            <a:r>
              <a:rPr lang="zh-CN" altLang="en-US" sz="3200">
                <a:latin typeface="隶书" pitchFamily="49" charset="-122"/>
                <a:ea typeface="隶书" pitchFamily="49" charset="-122"/>
              </a:rPr>
              <a:t>符号。</a:t>
            </a:r>
          </a:p>
          <a:p>
            <a:pPr indent="266700"/>
            <a:r>
              <a:rPr lang="en-US" altLang="zh-CN" sz="3200">
                <a:latin typeface="隶书" pitchFamily="49" charset="-122"/>
                <a:ea typeface="隶书" pitchFamily="49" charset="-122"/>
              </a:rPr>
              <a:t>02 </a:t>
            </a:r>
            <a:r>
              <a:rPr lang="zh-CN" altLang="en-US" sz="3200">
                <a:latin typeface="隶书" pitchFamily="49" charset="-122"/>
                <a:ea typeface="隶书" pitchFamily="49" charset="-122"/>
              </a:rPr>
              <a:t>单击需要连接的两个节点中的任意一个节点。</a:t>
            </a:r>
          </a:p>
          <a:p>
            <a:pPr indent="266700"/>
            <a:r>
              <a:rPr lang="en-US" altLang="zh-CN" sz="3200">
                <a:latin typeface="隶书" pitchFamily="49" charset="-122"/>
                <a:ea typeface="隶书" pitchFamily="49" charset="-122"/>
              </a:rPr>
              <a:t>03 </a:t>
            </a:r>
            <a:r>
              <a:rPr lang="zh-CN" altLang="en-US" sz="3200">
                <a:latin typeface="隶书" pitchFamily="49" charset="-122"/>
                <a:ea typeface="隶书" pitchFamily="49" charset="-122"/>
              </a:rPr>
              <a:t>将连接的线段拖动到另一个节点中即可。</a:t>
            </a:r>
          </a:p>
        </p:txBody>
      </p:sp>
      <p:pic>
        <p:nvPicPr>
          <p:cNvPr id="1837059" name="图片 105" descr="236.png"/>
          <p:cNvPicPr>
            <a:picLocks noChangeAspect="1" noChangeArrowheads="1"/>
          </p:cNvPicPr>
          <p:nvPr/>
        </p:nvPicPr>
        <p:blipFill>
          <a:blip r:embed="rId2">
            <a:clrChange>
              <a:clrFrom>
                <a:srgbClr val="FFFFFF"/>
              </a:clrFrom>
              <a:clrTo>
                <a:srgbClr val="FFFFFF">
                  <a:alpha val="0"/>
                </a:srgbClr>
              </a:clrTo>
            </a:clrChange>
          </a:blip>
          <a:srcRect t="2812" b="5560"/>
          <a:stretch>
            <a:fillRect/>
          </a:stretch>
        </p:blipFill>
        <p:spPr bwMode="auto">
          <a:xfrm>
            <a:off x="611188" y="3789363"/>
            <a:ext cx="7561262" cy="2609850"/>
          </a:xfrm>
          <a:prstGeom prst="rect">
            <a:avLst/>
          </a:prstGeom>
          <a:noFill/>
          <a:ln w="9525">
            <a:noFill/>
            <a:miter lim="800000"/>
            <a:headEnd/>
            <a:tailEnd/>
          </a:ln>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8082" name="Text Box 2"/>
          <p:cNvSpPr txBox="1">
            <a:spLocks noChangeArrowheads="1"/>
          </p:cNvSpPr>
          <p:nvPr/>
        </p:nvSpPr>
        <p:spPr bwMode="auto">
          <a:xfrm>
            <a:off x="250825" y="1196975"/>
            <a:ext cx="8497888" cy="2528888"/>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如果要将连接从节点中删除，可以通过以下的步骤进行：</a:t>
            </a:r>
          </a:p>
          <a:p>
            <a:r>
              <a:rPr lang="en-US" altLang="zh-CN" sz="3200">
                <a:latin typeface="隶书" pitchFamily="49" charset="-122"/>
                <a:ea typeface="隶书" pitchFamily="49" charset="-122"/>
              </a:rPr>
              <a:t>01 </a:t>
            </a:r>
            <a:r>
              <a:rPr lang="zh-CN" altLang="en-US" sz="3200">
                <a:latin typeface="隶书" pitchFamily="49" charset="-122"/>
                <a:ea typeface="隶书" pitchFamily="49" charset="-122"/>
              </a:rPr>
              <a:t>选中该连接。</a:t>
            </a:r>
          </a:p>
          <a:p>
            <a:r>
              <a:rPr lang="en-US" altLang="zh-CN" sz="3200">
                <a:latin typeface="隶书" pitchFamily="49" charset="-122"/>
                <a:ea typeface="隶书" pitchFamily="49" charset="-122"/>
              </a:rPr>
              <a:t>02 </a:t>
            </a:r>
            <a:r>
              <a:rPr lang="zh-CN" altLang="en-US" sz="3200">
                <a:latin typeface="隶书" pitchFamily="49" charset="-122"/>
                <a:ea typeface="隶书" pitchFamily="49" charset="-122"/>
              </a:rPr>
              <a:t>按</a:t>
            </a:r>
            <a:r>
              <a:rPr lang="en-US" altLang="zh-CN" sz="3200">
                <a:latin typeface="隶书" pitchFamily="49" charset="-122"/>
                <a:ea typeface="隶书" pitchFamily="49" charset="-122"/>
              </a:rPr>
              <a:t>Delete</a:t>
            </a:r>
            <a:r>
              <a:rPr lang="zh-CN" altLang="en-US" sz="3200">
                <a:latin typeface="隶书" pitchFamily="49" charset="-122"/>
                <a:ea typeface="隶书" pitchFamily="49" charset="-122"/>
              </a:rPr>
              <a:t>键或者单击右键，在弹出的快捷菜单中选择</a:t>
            </a:r>
            <a:r>
              <a:rPr lang="en-US" altLang="zh-CN" sz="3200">
                <a:latin typeface="隶书" pitchFamily="49" charset="-122"/>
                <a:ea typeface="隶书" pitchFamily="49" charset="-122"/>
              </a:rPr>
              <a:t>Edit | Delete</a:t>
            </a:r>
            <a:r>
              <a:rPr lang="zh-CN" altLang="en-US" sz="3200">
                <a:latin typeface="隶书" pitchFamily="49" charset="-122"/>
                <a:ea typeface="隶书" pitchFamily="49" charset="-122"/>
              </a:rPr>
              <a:t>命令即可。</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9106" name="Rectangle 2"/>
          <p:cNvSpPr>
            <a:spLocks noGrp="1" noChangeArrowheads="1"/>
          </p:cNvSpPr>
          <p:nvPr>
            <p:ph type="title"/>
          </p:nvPr>
        </p:nvSpPr>
        <p:spPr/>
        <p:txBody>
          <a:bodyPr/>
          <a:lstStyle/>
          <a:p>
            <a:endParaRPr lang="zh-CN" altLang="en-US"/>
          </a:p>
        </p:txBody>
      </p:sp>
      <p:sp>
        <p:nvSpPr>
          <p:cNvPr id="1839107" name="Rectangle 3"/>
          <p:cNvSpPr>
            <a:spLocks noGrp="1" noChangeArrowheads="1"/>
          </p:cNvSpPr>
          <p:nvPr>
            <p:ph type="body" idx="1"/>
          </p:nvPr>
        </p:nvSpPr>
        <p:spPr>
          <a:xfrm>
            <a:off x="609600" y="1125538"/>
            <a:ext cx="7418388" cy="4302125"/>
          </a:xfrm>
        </p:spPr>
        <p:txBody>
          <a:bodyPr/>
          <a:lstStyle/>
          <a:p>
            <a:pPr>
              <a:lnSpc>
                <a:spcPts val="3200"/>
              </a:lnSpc>
            </a:pPr>
            <a:r>
              <a:rPr lang="zh-CN" altLang="en-US" sz="3700">
                <a:solidFill>
                  <a:srgbClr val="996600"/>
                </a:solidFill>
              </a:rPr>
              <a:t>例</a:t>
            </a:r>
            <a:r>
              <a:rPr lang="en-US" altLang="zh-CN" sz="3700"/>
              <a:t>:</a:t>
            </a:r>
            <a:r>
              <a:rPr lang="zh-CN" altLang="en-US" sz="3700"/>
              <a:t>学生信息管理系统</a:t>
            </a:r>
          </a:p>
          <a:p>
            <a:pPr>
              <a:lnSpc>
                <a:spcPts val="3200"/>
              </a:lnSpc>
              <a:buFont typeface="Wingdings" pitchFamily="2" charset="2"/>
              <a:buNone/>
            </a:pPr>
            <a:r>
              <a:rPr lang="zh-CN" altLang="en-US"/>
              <a:t>    一个简单的学生信息管理系统的需求如下：</a:t>
            </a:r>
          </a:p>
          <a:p>
            <a:pPr>
              <a:lnSpc>
                <a:spcPts val="3200"/>
              </a:lnSpc>
              <a:buFont typeface="Wingdings" pitchFamily="2" charset="2"/>
              <a:buNone/>
            </a:pPr>
            <a:r>
              <a:rPr lang="zh-CN" altLang="en-US"/>
              <a:t>    </a:t>
            </a:r>
            <a:r>
              <a:rPr lang="en-US" altLang="zh-CN"/>
              <a:t>1</a:t>
            </a:r>
            <a:r>
              <a:rPr lang="zh-CN" altLang="en-US"/>
              <a:t>、学生或者教师可以再客户</a:t>
            </a:r>
            <a:r>
              <a:rPr lang="en-US" altLang="zh-CN"/>
              <a:t>PC</a:t>
            </a:r>
            <a:r>
              <a:rPr lang="zh-CN" altLang="en-US"/>
              <a:t>机上通过浏览器如（</a:t>
            </a:r>
            <a:r>
              <a:rPr lang="en-US" altLang="zh-CN"/>
              <a:t>IE</a:t>
            </a:r>
            <a:r>
              <a:rPr lang="zh-CN" altLang="en-US"/>
              <a:t>）查看系统的页面并与</a:t>
            </a:r>
            <a:r>
              <a:rPr lang="en-US" altLang="zh-CN"/>
              <a:t>Web</a:t>
            </a:r>
            <a:r>
              <a:rPr lang="zh-CN" altLang="en-US"/>
              <a:t>服务器通信。</a:t>
            </a:r>
          </a:p>
          <a:p>
            <a:pPr>
              <a:lnSpc>
                <a:spcPts val="3200"/>
              </a:lnSpc>
              <a:buFont typeface="Wingdings" pitchFamily="2" charset="2"/>
              <a:buNone/>
            </a:pPr>
            <a:r>
              <a:rPr lang="zh-CN" altLang="en-US"/>
              <a:t>    </a:t>
            </a:r>
            <a:r>
              <a:rPr lang="en-US" altLang="zh-CN"/>
              <a:t>2</a:t>
            </a:r>
            <a:r>
              <a:rPr lang="zh-CN" altLang="en-US"/>
              <a:t>、</a:t>
            </a:r>
            <a:r>
              <a:rPr lang="en-US" altLang="zh-CN"/>
              <a:t>Web</a:t>
            </a:r>
            <a:r>
              <a:rPr lang="zh-CN" altLang="en-US"/>
              <a:t>服务器安装</a:t>
            </a:r>
            <a:r>
              <a:rPr lang="en-US" altLang="zh-CN"/>
              <a:t>Web</a:t>
            </a:r>
            <a:r>
              <a:rPr lang="zh-CN" altLang="en-US"/>
              <a:t>服务器软件，如</a:t>
            </a:r>
            <a:r>
              <a:rPr lang="en-US" altLang="zh-CN"/>
              <a:t>Tomcat</a:t>
            </a:r>
            <a:r>
              <a:rPr lang="zh-CN" altLang="en-US"/>
              <a:t>等，通过</a:t>
            </a:r>
            <a:r>
              <a:rPr lang="en-US" altLang="zh-CN"/>
              <a:t>JDBC</a:t>
            </a:r>
            <a:r>
              <a:rPr lang="zh-CN" altLang="en-US"/>
              <a:t>与数据库服务器连接。</a:t>
            </a:r>
          </a:p>
          <a:p>
            <a:pPr>
              <a:lnSpc>
                <a:spcPts val="3200"/>
              </a:lnSpc>
              <a:buFont typeface="Wingdings" pitchFamily="2" charset="2"/>
              <a:buNone/>
            </a:pPr>
            <a:r>
              <a:rPr lang="zh-CN" altLang="en-US"/>
              <a:t>    </a:t>
            </a:r>
            <a:r>
              <a:rPr lang="en-US" altLang="zh-CN"/>
              <a:t>3</a:t>
            </a:r>
            <a:r>
              <a:rPr lang="zh-CN" altLang="en-US"/>
              <a:t>、在数据库服务器中安装</a:t>
            </a:r>
            <a:r>
              <a:rPr lang="en-US" altLang="zh-CN"/>
              <a:t>SQL Server 2000</a:t>
            </a:r>
            <a:r>
              <a:rPr lang="zh-CN" altLang="en-US"/>
              <a:t>，从而提供数据服务功能。</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0130" name="Rectangle 2"/>
          <p:cNvSpPr>
            <a:spLocks noGrp="1" noChangeArrowheads="1"/>
          </p:cNvSpPr>
          <p:nvPr>
            <p:ph type="title"/>
          </p:nvPr>
        </p:nvSpPr>
        <p:spPr/>
        <p:txBody>
          <a:bodyPr/>
          <a:lstStyle/>
          <a:p>
            <a:endParaRPr lang="zh-CN" altLang="en-US"/>
          </a:p>
        </p:txBody>
      </p:sp>
      <p:sp>
        <p:nvSpPr>
          <p:cNvPr id="1840131" name="Rectangle 3"/>
          <p:cNvSpPr>
            <a:spLocks noGrp="1" noChangeArrowheads="1"/>
          </p:cNvSpPr>
          <p:nvPr>
            <p:ph type="body" idx="1"/>
          </p:nvPr>
        </p:nvSpPr>
        <p:spPr>
          <a:xfrm>
            <a:off x="533400" y="990600"/>
            <a:ext cx="8293100" cy="4302125"/>
          </a:xfrm>
        </p:spPr>
        <p:txBody>
          <a:bodyPr/>
          <a:lstStyle/>
          <a:p>
            <a:r>
              <a:rPr lang="en-US" altLang="zh-CN" sz="4100">
                <a:latin typeface="隶书" pitchFamily="49" charset="-122"/>
                <a:ea typeface="隶书" pitchFamily="49" charset="-122"/>
              </a:rPr>
              <a:t>1. </a:t>
            </a:r>
            <a:r>
              <a:rPr lang="zh-CN" altLang="en-US" sz="4100">
                <a:latin typeface="隶书" pitchFamily="49" charset="-122"/>
                <a:ea typeface="隶书" pitchFamily="49" charset="-122"/>
              </a:rPr>
              <a:t>确定系统节点</a:t>
            </a:r>
          </a:p>
          <a:p>
            <a:pPr>
              <a:buFont typeface="Wingdings" pitchFamily="2" charset="2"/>
              <a:buNone/>
            </a:pPr>
            <a:r>
              <a:rPr lang="zh-CN" altLang="en-US" sz="4100">
                <a:latin typeface="隶书" pitchFamily="49" charset="-122"/>
                <a:ea typeface="隶书" pitchFamily="49" charset="-122"/>
              </a:rPr>
              <a:t> </a:t>
            </a:r>
            <a:r>
              <a:rPr lang="zh-CN" altLang="en-US" sz="3700">
                <a:latin typeface="隶书" pitchFamily="49" charset="-122"/>
                <a:ea typeface="隶书" pitchFamily="49" charset="-122"/>
              </a:rPr>
              <a:t>根据上面的需求列表可以获得系统的节点信息。</a:t>
            </a:r>
          </a:p>
          <a:p>
            <a:endParaRPr lang="zh-CN" altLang="en-US" sz="3700">
              <a:latin typeface="隶书" pitchFamily="49" charset="-122"/>
              <a:ea typeface="隶书" pitchFamily="49" charset="-122"/>
            </a:endParaRPr>
          </a:p>
        </p:txBody>
      </p:sp>
      <p:pic>
        <p:nvPicPr>
          <p:cNvPr id="1840132" name="图片 110" descr="240.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95288" y="2997200"/>
            <a:ext cx="7921625" cy="21923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1154" name="Rectangle 2"/>
          <p:cNvSpPr>
            <a:spLocks noChangeArrowheads="1"/>
          </p:cNvSpPr>
          <p:nvPr/>
        </p:nvSpPr>
        <p:spPr bwMode="auto">
          <a:xfrm>
            <a:off x="684213" y="831850"/>
            <a:ext cx="8351837" cy="2895600"/>
          </a:xfrm>
          <a:prstGeom prst="rect">
            <a:avLst/>
          </a:prstGeom>
          <a:noFill/>
          <a:ln w="9525" algn="ctr">
            <a:noFill/>
            <a:miter lim="800000"/>
            <a:headEnd/>
            <a:tailEnd/>
          </a:ln>
          <a:effectLst/>
        </p:spPr>
        <p:txBody>
          <a:bodyPr anchor="ctr">
            <a:spAutoFit/>
          </a:bodyPr>
          <a:lstStyle/>
          <a:p>
            <a:pPr indent="266700"/>
            <a:r>
              <a:rPr lang="en-US" altLang="zh-CN" sz="3200">
                <a:latin typeface="隶书" pitchFamily="49" charset="-122"/>
                <a:ea typeface="隶书" pitchFamily="49" charset="-122"/>
              </a:rPr>
              <a:t>2. </a:t>
            </a:r>
            <a:r>
              <a:rPr lang="zh-CN" altLang="en-US" sz="3200">
                <a:latin typeface="隶书" pitchFamily="49" charset="-122"/>
                <a:ea typeface="隶书" pitchFamily="49" charset="-122"/>
              </a:rPr>
              <a:t>添加节点连接</a:t>
            </a:r>
          </a:p>
          <a:p>
            <a:pPr indent="266700"/>
            <a:r>
              <a:rPr lang="zh-CN" altLang="en-US" sz="3200">
                <a:latin typeface="隶书" pitchFamily="49" charset="-122"/>
                <a:ea typeface="隶书" pitchFamily="49" charset="-122"/>
              </a:rPr>
              <a:t>将上面的节点连接起来，得到的部署图。</a:t>
            </a:r>
          </a:p>
          <a:p>
            <a:pPr indent="266700"/>
            <a:endParaRPr lang="zh-CN" altLang="en-US" sz="3200">
              <a:latin typeface="隶书" pitchFamily="49" charset="-122"/>
              <a:ea typeface="隶书" pitchFamily="49" charset="-122"/>
            </a:endParaRPr>
          </a:p>
          <a:p>
            <a:pPr indent="266700"/>
            <a:r>
              <a:rPr lang="zh-CN" altLang="en-US" sz="3200">
                <a:latin typeface="隶书" pitchFamily="49" charset="-122"/>
                <a:ea typeface="隶书" pitchFamily="49" charset="-122"/>
              </a:rPr>
              <a:t>从前面的需求可以获取下列的连接信息：</a:t>
            </a:r>
          </a:p>
          <a:p>
            <a:pPr indent="266700"/>
            <a:r>
              <a:rPr lang="zh-CN" altLang="en-US" sz="2800">
                <a:latin typeface="楷体_GB2312" pitchFamily="49" charset="-122"/>
                <a:ea typeface="楷体_GB2312" pitchFamily="49" charset="-122"/>
              </a:rPr>
              <a:t>   在客户的</a:t>
            </a:r>
            <a:r>
              <a:rPr lang="en-US" altLang="zh-CN" sz="2800">
                <a:latin typeface="楷体_GB2312" pitchFamily="49" charset="-122"/>
                <a:ea typeface="楷体_GB2312" pitchFamily="49" charset="-122"/>
              </a:rPr>
              <a:t>PC</a:t>
            </a:r>
            <a:r>
              <a:rPr lang="zh-CN" altLang="en-US" sz="2800">
                <a:latin typeface="楷体_GB2312" pitchFamily="49" charset="-122"/>
                <a:ea typeface="楷体_GB2312" pitchFamily="49" charset="-122"/>
              </a:rPr>
              <a:t>机上通过</a:t>
            </a:r>
            <a:r>
              <a:rPr lang="en-US" altLang="zh-CN" sz="2800">
                <a:latin typeface="楷体_GB2312" pitchFamily="49" charset="-122"/>
                <a:ea typeface="楷体_GB2312" pitchFamily="49" charset="-122"/>
              </a:rPr>
              <a:t>HTTP</a:t>
            </a:r>
            <a:r>
              <a:rPr lang="zh-CN" altLang="en-US" sz="2800">
                <a:latin typeface="楷体_GB2312" pitchFamily="49" charset="-122"/>
                <a:ea typeface="楷体_GB2312" pitchFamily="49" charset="-122"/>
              </a:rPr>
              <a:t>协议与</a:t>
            </a:r>
            <a:r>
              <a:rPr lang="en-US" altLang="zh-CN" sz="2800">
                <a:latin typeface="楷体_GB2312" pitchFamily="49" charset="-122"/>
                <a:ea typeface="楷体_GB2312" pitchFamily="49" charset="-122"/>
              </a:rPr>
              <a:t>Web</a:t>
            </a:r>
            <a:r>
              <a:rPr lang="zh-CN" altLang="en-US" sz="2800">
                <a:latin typeface="楷体_GB2312" pitchFamily="49" charset="-122"/>
                <a:ea typeface="楷体_GB2312" pitchFamily="49" charset="-122"/>
              </a:rPr>
              <a:t>服务器通信</a:t>
            </a:r>
          </a:p>
          <a:p>
            <a:pPr indent="266700">
              <a:buSzPct val="50000"/>
              <a:buFont typeface="Wingdings" pitchFamily="2" charset="2"/>
              <a:buNone/>
            </a:pPr>
            <a:r>
              <a:rPr lang="en-US" altLang="zh-CN" sz="2800">
                <a:latin typeface="楷体_GB2312" pitchFamily="49" charset="-122"/>
                <a:ea typeface="楷体_GB2312" pitchFamily="49" charset="-122"/>
              </a:rPr>
              <a:t>   Web</a:t>
            </a:r>
            <a:r>
              <a:rPr lang="zh-CN" altLang="en-US" sz="2800">
                <a:latin typeface="楷体_GB2312" pitchFamily="49" charset="-122"/>
                <a:ea typeface="楷体_GB2312" pitchFamily="49" charset="-122"/>
              </a:rPr>
              <a:t>服务器通过</a:t>
            </a:r>
            <a:r>
              <a:rPr lang="en-US" altLang="zh-CN" sz="2800">
                <a:latin typeface="楷体_GB2312" pitchFamily="49" charset="-122"/>
                <a:ea typeface="楷体_GB2312" pitchFamily="49" charset="-122"/>
              </a:rPr>
              <a:t>JDBC</a:t>
            </a:r>
            <a:r>
              <a:rPr lang="zh-CN" altLang="en-US" sz="2800">
                <a:latin typeface="楷体_GB2312" pitchFamily="49" charset="-122"/>
                <a:ea typeface="楷体_GB2312" pitchFamily="49" charset="-122"/>
              </a:rPr>
              <a:t>与数据库服务器连接</a:t>
            </a:r>
          </a:p>
        </p:txBody>
      </p:sp>
      <p:sp>
        <p:nvSpPr>
          <p:cNvPr id="1841155" name="Rectangle 3"/>
          <p:cNvSpPr>
            <a:spLocks noChangeArrowheads="1"/>
          </p:cNvSpPr>
          <p:nvPr/>
        </p:nvSpPr>
        <p:spPr bwMode="auto">
          <a:xfrm>
            <a:off x="7823200" y="4354513"/>
            <a:ext cx="9144000" cy="0"/>
          </a:xfrm>
          <a:prstGeom prst="rect">
            <a:avLst/>
          </a:prstGeom>
          <a:noFill/>
          <a:ln w="9525" algn="ctr">
            <a:noFill/>
            <a:miter lim="800000"/>
            <a:headEnd/>
            <a:tailEnd/>
          </a:ln>
          <a:effectLst/>
        </p:spPr>
        <p:txBody>
          <a:bodyPr wrap="none" anchor="ctr">
            <a:spAutoFit/>
          </a:bodyPr>
          <a:lstStyle/>
          <a:p>
            <a:endParaRPr lang="zh-CN" altLang="en-US"/>
          </a:p>
        </p:txBody>
      </p:sp>
      <p:pic>
        <p:nvPicPr>
          <p:cNvPr id="1841156" name="Picture 4" descr="image00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042988" y="3933825"/>
            <a:ext cx="7416800" cy="1973263"/>
          </a:xfrm>
          <a:prstGeom prst="rect">
            <a:avLst/>
          </a:prstGeom>
          <a:noFill/>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2178" name="Text Box 2"/>
          <p:cNvSpPr txBox="1">
            <a:spLocks noChangeArrowheads="1"/>
          </p:cNvSpPr>
          <p:nvPr/>
        </p:nvSpPr>
        <p:spPr bwMode="auto">
          <a:xfrm>
            <a:off x="827088" y="1052513"/>
            <a:ext cx="7705725" cy="2041525"/>
          </a:xfrm>
          <a:prstGeom prst="rect">
            <a:avLst/>
          </a:prstGeom>
          <a:noFill/>
          <a:ln w="9525" algn="ctr">
            <a:noFill/>
            <a:miter lim="800000"/>
            <a:headEnd/>
            <a:tailEnd/>
          </a:ln>
          <a:effectLst/>
        </p:spPr>
        <p:txBody>
          <a:bodyPr>
            <a:spAutoFit/>
          </a:bodyPr>
          <a:lstStyle/>
          <a:p>
            <a:r>
              <a:rPr lang="en-US" altLang="zh-CN" sz="3200">
                <a:latin typeface="隶书" pitchFamily="49" charset="-122"/>
                <a:ea typeface="隶书" pitchFamily="49" charset="-122"/>
              </a:rPr>
              <a:t>3. </a:t>
            </a:r>
            <a:r>
              <a:rPr lang="zh-CN" altLang="en-US" sz="3200">
                <a:latin typeface="隶书" pitchFamily="49" charset="-122"/>
                <a:ea typeface="隶书" pitchFamily="49" charset="-122"/>
              </a:rPr>
              <a:t>细化部署图</a:t>
            </a:r>
          </a:p>
          <a:p>
            <a:r>
              <a:rPr lang="zh-CN" altLang="en-US" sz="3200">
                <a:latin typeface="隶书" pitchFamily="49" charset="-122"/>
                <a:ea typeface="隶书" pitchFamily="49" charset="-122"/>
              </a:rPr>
              <a:t>接下来需要确定各个处理器中的主程序以及其他的内容，如构造型、说明型文档和特征描述等。</a:t>
            </a:r>
          </a:p>
        </p:txBody>
      </p:sp>
      <p:pic>
        <p:nvPicPr>
          <p:cNvPr id="1842179" name="Picture 3" descr="image00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00113" y="3357563"/>
            <a:ext cx="7704137" cy="2035175"/>
          </a:xfrm>
          <a:prstGeom prst="rect">
            <a:avLst/>
          </a:prstGeom>
          <a:noFill/>
          <a:ln w="9525">
            <a:noFill/>
            <a:miter lim="800000"/>
            <a:headEnd/>
            <a:tailEnd/>
          </a:ln>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6274" name="Picture 2" descr="未标题-1 拷贝"/>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1846275" name="Rectangle 3"/>
          <p:cNvSpPr>
            <a:spLocks noChangeArrowheads="1"/>
          </p:cNvSpPr>
          <p:nvPr/>
        </p:nvSpPr>
        <p:spPr bwMode="auto">
          <a:xfrm>
            <a:off x="250825" y="1196975"/>
            <a:ext cx="8713788" cy="5260975"/>
          </a:xfrm>
          <a:prstGeom prst="rect">
            <a:avLst/>
          </a:prstGeom>
          <a:noFill/>
          <a:ln w="9525">
            <a:noFill/>
            <a:miter lim="800000"/>
            <a:headEnd/>
            <a:tailEnd/>
          </a:ln>
          <a:effectLst/>
        </p:spPr>
        <p:txBody>
          <a:bodyPr>
            <a:spAutoFit/>
          </a:bodyPr>
          <a:lstStyle/>
          <a:p>
            <a:pPr>
              <a:lnSpc>
                <a:spcPct val="110000"/>
              </a:lnSpc>
            </a:pPr>
            <a:r>
              <a:rPr kumimoji="1" lang="zh-CN" altLang="en-US" sz="2800" b="1"/>
              <a:t>例 建模一个网上扫描系统的部署图。其详细的需求如下所示：</a:t>
            </a:r>
          </a:p>
          <a:p>
            <a:pPr>
              <a:lnSpc>
                <a:spcPct val="110000"/>
              </a:lnSpc>
            </a:pPr>
            <a:r>
              <a:rPr kumimoji="1" lang="zh-CN" altLang="en-US" sz="2800" b="1"/>
              <a:t>      扫描仪通过内部的</a:t>
            </a:r>
            <a:r>
              <a:rPr kumimoji="1" lang="en-US" altLang="zh-CN" sz="2800" b="1"/>
              <a:t>PCI</a:t>
            </a:r>
            <a:r>
              <a:rPr kumimoji="1" lang="zh-CN" altLang="en-US" sz="2800" b="1"/>
              <a:t>总线连接到网卡。需要编写代码来控制扫描仪，代码驻留在扫描仪内部。</a:t>
            </a:r>
          </a:p>
          <a:p>
            <a:pPr>
              <a:lnSpc>
                <a:spcPct val="110000"/>
              </a:lnSpc>
            </a:pPr>
            <a:r>
              <a:rPr kumimoji="1" lang="zh-CN" altLang="en-US" sz="2800" b="1"/>
              <a:t>      扫描仪通过无线网卡与插入到</a:t>
            </a:r>
            <a:r>
              <a:rPr kumimoji="1" lang="en-US" altLang="zh-CN" sz="2800" b="1"/>
              <a:t>Web</a:t>
            </a:r>
            <a:r>
              <a:rPr kumimoji="1" lang="zh-CN" altLang="en-US" sz="2800" b="1"/>
              <a:t>服务器</a:t>
            </a:r>
            <a:r>
              <a:rPr kumimoji="1" lang="en-US" altLang="zh-CN" sz="2800" b="1"/>
              <a:t>KONG</a:t>
            </a:r>
            <a:r>
              <a:rPr kumimoji="1" lang="zh-CN" altLang="en-US" sz="2800" b="1"/>
              <a:t>的无线</a:t>
            </a:r>
            <a:r>
              <a:rPr kumimoji="1" lang="en-US" altLang="zh-CN" sz="2800" b="1"/>
              <a:t>hub</a:t>
            </a:r>
            <a:r>
              <a:rPr kumimoji="1" lang="zh-CN" altLang="en-US" sz="2800" b="1"/>
              <a:t>通信，服务器通过</a:t>
            </a:r>
            <a:r>
              <a:rPr kumimoji="1" lang="en-US" altLang="zh-CN" sz="2800" b="1"/>
              <a:t>HTTP</a:t>
            </a:r>
            <a:r>
              <a:rPr kumimoji="1" lang="zh-CN" altLang="en-US" sz="2800" b="1"/>
              <a:t>协议向客户</a:t>
            </a:r>
            <a:r>
              <a:rPr kumimoji="1" lang="en-US" altLang="zh-CN" sz="2800" b="1"/>
              <a:t>PC</a:t>
            </a:r>
            <a:r>
              <a:rPr kumimoji="1" lang="zh-CN" altLang="en-US" sz="2800" b="1"/>
              <a:t>机提供</a:t>
            </a:r>
            <a:r>
              <a:rPr kumimoji="1" lang="en-US" altLang="zh-CN" sz="2800" b="1"/>
              <a:t>Web</a:t>
            </a:r>
            <a:r>
              <a:rPr kumimoji="1" lang="zh-CN" altLang="en-US" sz="2800" b="1"/>
              <a:t>页。</a:t>
            </a:r>
          </a:p>
          <a:p>
            <a:pPr>
              <a:lnSpc>
                <a:spcPct val="110000"/>
              </a:lnSpc>
            </a:pPr>
            <a:r>
              <a:rPr kumimoji="1" lang="zh-CN" altLang="en-US" sz="2800" b="1"/>
              <a:t>      </a:t>
            </a:r>
            <a:r>
              <a:rPr kumimoji="1" lang="en-US" altLang="zh-CN" sz="2800" b="1"/>
              <a:t>Web</a:t>
            </a:r>
            <a:r>
              <a:rPr kumimoji="1" lang="zh-CN" altLang="en-US" sz="2800" b="1"/>
              <a:t>服务器安装定制的</a:t>
            </a:r>
            <a:r>
              <a:rPr kumimoji="1" lang="en-US" altLang="zh-CN" sz="2800" b="1"/>
              <a:t>Web</a:t>
            </a:r>
            <a:r>
              <a:rPr kumimoji="1" lang="zh-CN" altLang="en-US" sz="2800" b="1"/>
              <a:t>服务器软件，通过专用数据访问组件与产品数据库交互。</a:t>
            </a:r>
          </a:p>
          <a:p>
            <a:pPr>
              <a:lnSpc>
                <a:spcPct val="110000"/>
              </a:lnSpc>
            </a:pPr>
            <a:r>
              <a:rPr kumimoji="1" lang="zh-CN" altLang="en-US" sz="2800" b="1"/>
              <a:t>      在客户的</a:t>
            </a:r>
            <a:r>
              <a:rPr kumimoji="1" lang="en-US" altLang="zh-CN" sz="2800" b="1"/>
              <a:t>PC</a:t>
            </a:r>
            <a:r>
              <a:rPr kumimoji="1" lang="zh-CN" altLang="en-US" sz="2800" b="1"/>
              <a:t>机上将提供专用的浏览器软件，它运行产品查询插件，只与定制的</a:t>
            </a:r>
            <a:r>
              <a:rPr kumimoji="1" lang="en-US" altLang="zh-CN" sz="2800" b="1"/>
              <a:t>Web</a:t>
            </a:r>
            <a:r>
              <a:rPr kumimoji="1" lang="zh-CN" altLang="en-US" sz="2800" b="1"/>
              <a:t>服务器通信。</a:t>
            </a:r>
          </a:p>
        </p:txBody>
      </p:sp>
      <p:sp>
        <p:nvSpPr>
          <p:cNvPr id="1846276" name="Rectangle 4"/>
          <p:cNvSpPr>
            <a:spLocks noChangeArrowheads="1"/>
          </p:cNvSpPr>
          <p:nvPr/>
        </p:nvSpPr>
        <p:spPr bwMode="auto">
          <a:xfrm>
            <a:off x="468313" y="0"/>
            <a:ext cx="8229600" cy="1143000"/>
          </a:xfrm>
          <a:prstGeom prst="rect">
            <a:avLst/>
          </a:prstGeom>
          <a:noFill/>
          <a:ln w="9525">
            <a:noFill/>
            <a:miter lim="800000"/>
            <a:headEnd/>
            <a:tailEnd/>
          </a:ln>
          <a:effectLst/>
        </p:spPr>
        <p:txBody>
          <a:bodyPr anchor="ctr"/>
          <a:lstStyle/>
          <a:p>
            <a:r>
              <a:rPr lang="zh-CN" altLang="en-US" sz="3400" b="1">
                <a:solidFill>
                  <a:schemeClr val="tx2"/>
                </a:solidFill>
                <a:ea typeface="隶书" pitchFamily="49" charset="-122"/>
              </a:rPr>
              <a:t>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846275">
                                            <p:txEl>
                                              <p:pRg st="1" end="1"/>
                                            </p:txEl>
                                          </p:spTgt>
                                        </p:tgtEl>
                                        <p:attrNameLst>
                                          <p:attrName>style.visibility</p:attrName>
                                        </p:attrNameLst>
                                      </p:cBhvr>
                                      <p:to>
                                        <p:strVal val="visible"/>
                                      </p:to>
                                    </p:set>
                                    <p:anim calcmode="discrete" valueType="clr">
                                      <p:cBhvr override="childStyle">
                                        <p:cTn id="7" dur="80"/>
                                        <p:tgtEl>
                                          <p:spTgt spid="184627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846275">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1846275">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846275">
                                            <p:txEl>
                                              <p:pRg st="2" end="2"/>
                                            </p:txEl>
                                          </p:spTgt>
                                        </p:tgtEl>
                                        <p:attrNameLst>
                                          <p:attrName>style.visibility</p:attrName>
                                        </p:attrNameLst>
                                      </p:cBhvr>
                                      <p:to>
                                        <p:strVal val="visible"/>
                                      </p:to>
                                    </p:set>
                                    <p:anim calcmode="discrete" valueType="clr">
                                      <p:cBhvr override="childStyle">
                                        <p:cTn id="14" dur="80"/>
                                        <p:tgtEl>
                                          <p:spTgt spid="184627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846275">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846275">
                                            <p:txEl>
                                              <p:pRg st="2" end="2"/>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1846275">
                                            <p:txEl>
                                              <p:pRg st="3" end="3"/>
                                            </p:txEl>
                                          </p:spTgt>
                                        </p:tgtEl>
                                        <p:attrNameLst>
                                          <p:attrName>style.visibility</p:attrName>
                                        </p:attrNameLst>
                                      </p:cBhvr>
                                      <p:to>
                                        <p:strVal val="visible"/>
                                      </p:to>
                                    </p:set>
                                    <p:anim calcmode="discrete" valueType="clr">
                                      <p:cBhvr override="childStyle">
                                        <p:cTn id="21" dur="80"/>
                                        <p:tgtEl>
                                          <p:spTgt spid="184627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846275">
                                            <p:txEl>
                                              <p:pRg st="3" end="3"/>
                                            </p:txEl>
                                          </p:spTgt>
                                        </p:tgtEl>
                                        <p:attrNameLst>
                                          <p:attrName>fillcolor</p:attrName>
                                        </p:attrNameLst>
                                      </p:cBhvr>
                                      <p:tavLst>
                                        <p:tav tm="0">
                                          <p:val>
                                            <p:clrVal>
                                              <a:schemeClr val="accent2"/>
                                            </p:clrVal>
                                          </p:val>
                                        </p:tav>
                                        <p:tav tm="50000">
                                          <p:val>
                                            <p:clrVal>
                                              <a:schemeClr val="hlink"/>
                                            </p:clrVal>
                                          </p:val>
                                        </p:tav>
                                      </p:tavLst>
                                    </p:anim>
                                    <p:set>
                                      <p:cBhvr>
                                        <p:cTn id="23" dur="80"/>
                                        <p:tgtEl>
                                          <p:spTgt spid="1846275">
                                            <p:txEl>
                                              <p:pRg st="3" end="3"/>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1846275">
                                            <p:txEl>
                                              <p:pRg st="4" end="4"/>
                                            </p:txEl>
                                          </p:spTgt>
                                        </p:tgtEl>
                                        <p:attrNameLst>
                                          <p:attrName>style.visibility</p:attrName>
                                        </p:attrNameLst>
                                      </p:cBhvr>
                                      <p:to>
                                        <p:strVal val="visible"/>
                                      </p:to>
                                    </p:set>
                                    <p:anim calcmode="discrete" valueType="clr">
                                      <p:cBhvr override="childStyle">
                                        <p:cTn id="28" dur="80"/>
                                        <p:tgtEl>
                                          <p:spTgt spid="184627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846275">
                                            <p:txEl>
                                              <p:pRg st="4" end="4"/>
                                            </p:txEl>
                                          </p:spTgt>
                                        </p:tgtEl>
                                        <p:attrNameLst>
                                          <p:attrName>fillcolor</p:attrName>
                                        </p:attrNameLst>
                                      </p:cBhvr>
                                      <p:tavLst>
                                        <p:tav tm="0">
                                          <p:val>
                                            <p:clrVal>
                                              <a:schemeClr val="accent2"/>
                                            </p:clrVal>
                                          </p:val>
                                        </p:tav>
                                        <p:tav tm="50000">
                                          <p:val>
                                            <p:clrVal>
                                              <a:schemeClr val="hlink"/>
                                            </p:clrVal>
                                          </p:val>
                                        </p:tav>
                                      </p:tavLst>
                                    </p:anim>
                                    <p:set>
                                      <p:cBhvr>
                                        <p:cTn id="30" dur="80"/>
                                        <p:tgtEl>
                                          <p:spTgt spid="1846275">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7298" name="Picture 2" descr="未标题-1 拷贝"/>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1847299" name="Rectangle 3"/>
          <p:cNvSpPr>
            <a:spLocks noChangeArrowheads="1"/>
          </p:cNvSpPr>
          <p:nvPr/>
        </p:nvSpPr>
        <p:spPr bwMode="auto">
          <a:xfrm>
            <a:off x="430213" y="1557338"/>
            <a:ext cx="8713787" cy="1373187"/>
          </a:xfrm>
          <a:prstGeom prst="rect">
            <a:avLst/>
          </a:prstGeom>
          <a:noFill/>
          <a:ln w="9525">
            <a:noFill/>
            <a:miter lim="800000"/>
            <a:headEnd/>
            <a:tailEnd/>
          </a:ln>
          <a:effectLst/>
        </p:spPr>
        <p:txBody>
          <a:bodyPr>
            <a:spAutoFit/>
          </a:bodyPr>
          <a:lstStyle/>
          <a:p>
            <a:r>
              <a:rPr kumimoji="1" lang="en-US" altLang="zh-CN" sz="2800" b="1">
                <a:solidFill>
                  <a:schemeClr val="accent2"/>
                </a:solidFill>
                <a:latin typeface="宋体" pitchFamily="2" charset="-122"/>
              </a:rPr>
              <a:t>1</a:t>
            </a:r>
            <a:r>
              <a:rPr kumimoji="1" lang="zh-CN" altLang="en-US" sz="2800" b="1">
                <a:solidFill>
                  <a:schemeClr val="accent2"/>
                </a:solidFill>
                <a:latin typeface="宋体" pitchFamily="2" charset="-122"/>
              </a:rPr>
              <a:t>．添加节点</a:t>
            </a:r>
          </a:p>
          <a:p>
            <a:r>
              <a:rPr kumimoji="1" lang="zh-CN" altLang="en-US" sz="2800" b="1">
                <a:latin typeface="宋体" pitchFamily="2" charset="-122"/>
              </a:rPr>
              <a:t>    第一项任务是确定系统的节点。下图演示了上面需求列表中提及的所有硬件。</a:t>
            </a:r>
          </a:p>
        </p:txBody>
      </p:sp>
      <p:pic>
        <p:nvPicPr>
          <p:cNvPr id="1847300" name="Picture 4"/>
          <p:cNvPicPr>
            <a:picLocks noChangeAspect="1" noChangeArrowheads="1"/>
          </p:cNvPicPr>
          <p:nvPr/>
        </p:nvPicPr>
        <p:blipFill>
          <a:blip r:embed="rId3"/>
          <a:srcRect/>
          <a:stretch>
            <a:fillRect/>
          </a:stretch>
        </p:blipFill>
        <p:spPr bwMode="auto">
          <a:xfrm>
            <a:off x="468313" y="3716338"/>
            <a:ext cx="8207375" cy="1657350"/>
          </a:xfrm>
          <a:prstGeom prst="rect">
            <a:avLst/>
          </a:prstGeom>
          <a:noFill/>
          <a:ln w="9525">
            <a:noFill/>
            <a:miter lim="800000"/>
            <a:headEnd/>
            <a:tailEnd/>
          </a:ln>
        </p:spPr>
      </p:pic>
      <p:sp>
        <p:nvSpPr>
          <p:cNvPr id="1847301" name="Rectangle 5"/>
          <p:cNvSpPr>
            <a:spLocks noChangeArrowheads="1"/>
          </p:cNvSpPr>
          <p:nvPr/>
        </p:nvSpPr>
        <p:spPr bwMode="auto">
          <a:xfrm>
            <a:off x="468313" y="0"/>
            <a:ext cx="8229600" cy="1143000"/>
          </a:xfrm>
          <a:prstGeom prst="rect">
            <a:avLst/>
          </a:prstGeom>
          <a:noFill/>
          <a:ln w="9525">
            <a:noFill/>
            <a:miter lim="800000"/>
            <a:headEnd/>
            <a:tailEnd/>
          </a:ln>
          <a:effectLst/>
        </p:spPr>
        <p:txBody>
          <a:bodyPr anchor="ctr"/>
          <a:lstStyle/>
          <a:p>
            <a:r>
              <a:rPr lang="zh-CN" altLang="en-US" sz="3400" b="1">
                <a:solidFill>
                  <a:schemeClr val="tx2"/>
                </a:solidFill>
                <a:ea typeface="隶书" pitchFamily="49" charset="-122"/>
              </a:rPr>
              <a:t>练习</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8322" name="Picture 2" descr="未标题-1 拷贝"/>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1848323" name="Rectangle 3"/>
          <p:cNvSpPr>
            <a:spLocks noChangeArrowheads="1"/>
          </p:cNvSpPr>
          <p:nvPr/>
        </p:nvSpPr>
        <p:spPr bwMode="auto">
          <a:xfrm>
            <a:off x="611188" y="1628775"/>
            <a:ext cx="8208962" cy="3681413"/>
          </a:xfrm>
          <a:prstGeom prst="rect">
            <a:avLst/>
          </a:prstGeom>
          <a:noFill/>
          <a:ln w="9525">
            <a:noFill/>
            <a:miter lim="800000"/>
            <a:headEnd/>
            <a:tailEnd/>
          </a:ln>
          <a:effectLst/>
        </p:spPr>
        <p:txBody>
          <a:bodyPr>
            <a:spAutoFit/>
          </a:bodyPr>
          <a:lstStyle/>
          <a:p>
            <a:pPr>
              <a:lnSpc>
                <a:spcPct val="120000"/>
              </a:lnSpc>
            </a:pPr>
            <a:r>
              <a:rPr kumimoji="1" lang="en-US" altLang="zh-CN" sz="2800" b="1">
                <a:latin typeface="宋体" pitchFamily="2" charset="-122"/>
              </a:rPr>
              <a:t>2.  </a:t>
            </a:r>
            <a:r>
              <a:rPr kumimoji="1" lang="zh-CN" altLang="en-US" sz="2800" b="1">
                <a:latin typeface="宋体" pitchFamily="2" charset="-122"/>
              </a:rPr>
              <a:t>添加通信关联</a:t>
            </a:r>
          </a:p>
          <a:p>
            <a:pPr>
              <a:lnSpc>
                <a:spcPct val="120000"/>
              </a:lnSpc>
            </a:pPr>
            <a:r>
              <a:rPr kumimoji="1" lang="zh-CN" altLang="en-US" sz="2800" b="1">
                <a:latin typeface="宋体" pitchFamily="2" charset="-122"/>
              </a:rPr>
              <a:t>    为确定的节点添加通信关联。从需求列表中可以确定如下所示通信关联：</a:t>
            </a:r>
          </a:p>
          <a:p>
            <a:pPr>
              <a:lnSpc>
                <a:spcPct val="120000"/>
              </a:lnSpc>
              <a:buClr>
                <a:schemeClr val="hlink"/>
              </a:buClr>
              <a:buFontTx/>
              <a:buChar char="•"/>
            </a:pPr>
            <a:r>
              <a:rPr kumimoji="1" lang="zh-CN" altLang="en-US" sz="2800" b="1">
                <a:latin typeface="宋体" pitchFamily="2" charset="-122"/>
              </a:rPr>
              <a:t>  扫描仪通过内部的</a:t>
            </a:r>
            <a:r>
              <a:rPr kumimoji="1" lang="en-US" altLang="zh-CN" sz="2800" b="1">
                <a:latin typeface="宋体" pitchFamily="2" charset="-122"/>
              </a:rPr>
              <a:t>PCI</a:t>
            </a:r>
            <a:r>
              <a:rPr kumimoji="1" lang="zh-CN" altLang="en-US" sz="2800" b="1">
                <a:latin typeface="宋体" pitchFamily="2" charset="-122"/>
              </a:rPr>
              <a:t>总线连接到网卡。</a:t>
            </a:r>
          </a:p>
          <a:p>
            <a:pPr>
              <a:lnSpc>
                <a:spcPct val="120000"/>
              </a:lnSpc>
              <a:buClr>
                <a:schemeClr val="hlink"/>
              </a:buClr>
              <a:buFontTx/>
              <a:buChar char="•"/>
            </a:pPr>
            <a:r>
              <a:rPr kumimoji="1" lang="zh-CN" altLang="en-US" sz="2800" b="1">
                <a:latin typeface="宋体" pitchFamily="2" charset="-122"/>
              </a:rPr>
              <a:t>  网卡通过无线电波与无线</a:t>
            </a:r>
            <a:r>
              <a:rPr kumimoji="1" lang="en-US" altLang="zh-CN" sz="2800" b="1">
                <a:latin typeface="宋体" pitchFamily="2" charset="-122"/>
              </a:rPr>
              <a:t>hub</a:t>
            </a:r>
            <a:r>
              <a:rPr kumimoji="1" lang="zh-CN" altLang="en-US" sz="2800" b="1">
                <a:latin typeface="宋体" pitchFamily="2" charset="-122"/>
              </a:rPr>
              <a:t>通信。</a:t>
            </a:r>
          </a:p>
          <a:p>
            <a:pPr>
              <a:lnSpc>
                <a:spcPct val="120000"/>
              </a:lnSpc>
              <a:buClr>
                <a:schemeClr val="hlink"/>
              </a:buClr>
              <a:buFontTx/>
              <a:buChar char="•"/>
            </a:pPr>
            <a:r>
              <a:rPr kumimoji="1" lang="zh-CN" altLang="en-US" sz="2800" b="1">
                <a:latin typeface="宋体" pitchFamily="2" charset="-122"/>
              </a:rPr>
              <a:t>  无线</a:t>
            </a:r>
            <a:r>
              <a:rPr kumimoji="1" lang="en-US" altLang="zh-CN" sz="2800" b="1">
                <a:latin typeface="宋体" pitchFamily="2" charset="-122"/>
              </a:rPr>
              <a:t>hub</a:t>
            </a:r>
            <a:r>
              <a:rPr kumimoji="1" lang="zh-CN" altLang="en-US" sz="2800" b="1">
                <a:latin typeface="宋体" pitchFamily="2" charset="-122"/>
              </a:rPr>
              <a:t>通过</a:t>
            </a:r>
            <a:r>
              <a:rPr kumimoji="1" lang="en-US" altLang="zh-CN" sz="2800" b="1">
                <a:latin typeface="宋体" pitchFamily="2" charset="-122"/>
              </a:rPr>
              <a:t>USB</a:t>
            </a:r>
            <a:r>
              <a:rPr kumimoji="1" lang="zh-CN" altLang="en-US" sz="2800" b="1">
                <a:latin typeface="宋体" pitchFamily="2" charset="-122"/>
              </a:rPr>
              <a:t>连接到名为</a:t>
            </a:r>
            <a:r>
              <a:rPr kumimoji="1" lang="en-US" altLang="zh-CN" sz="2800" b="1">
                <a:latin typeface="宋体" pitchFamily="2" charset="-122"/>
              </a:rPr>
              <a:t>KONG</a:t>
            </a:r>
            <a:r>
              <a:rPr kumimoji="1" lang="zh-CN" altLang="en-US" sz="2800" b="1">
                <a:latin typeface="宋体" pitchFamily="2" charset="-122"/>
              </a:rPr>
              <a:t>的服务器实例。</a:t>
            </a:r>
          </a:p>
          <a:p>
            <a:pPr>
              <a:lnSpc>
                <a:spcPct val="120000"/>
              </a:lnSpc>
              <a:buClr>
                <a:schemeClr val="hlink"/>
              </a:buClr>
              <a:buFontTx/>
              <a:buChar char="•"/>
            </a:pPr>
            <a:r>
              <a:rPr kumimoji="1" lang="zh-CN" altLang="en-US" sz="2800" b="1">
                <a:latin typeface="宋体" pitchFamily="2" charset="-122"/>
              </a:rPr>
              <a:t>  </a:t>
            </a:r>
            <a:r>
              <a:rPr kumimoji="1" lang="en-US" altLang="zh-CN" sz="2800" b="1">
                <a:latin typeface="宋体" pitchFamily="2" charset="-122"/>
              </a:rPr>
              <a:t>KONG Web</a:t>
            </a:r>
            <a:r>
              <a:rPr kumimoji="1" lang="zh-CN" altLang="en-US" sz="2800" b="1">
                <a:latin typeface="宋体" pitchFamily="2" charset="-122"/>
              </a:rPr>
              <a:t>服务器通过</a:t>
            </a:r>
            <a:r>
              <a:rPr kumimoji="1" lang="en-US" altLang="zh-CN" sz="2800" b="1">
                <a:latin typeface="宋体" pitchFamily="2" charset="-122"/>
              </a:rPr>
              <a:t>HTTP</a:t>
            </a:r>
            <a:r>
              <a:rPr kumimoji="1" lang="zh-CN" altLang="en-US" sz="2800" b="1">
                <a:latin typeface="宋体" pitchFamily="2" charset="-122"/>
              </a:rPr>
              <a:t>与客户组件通信。</a:t>
            </a:r>
            <a:r>
              <a:rPr kumimoji="1" lang="zh-CN" altLang="en-US" sz="2400" b="1">
                <a:latin typeface="宋体" pitchFamily="2" charset="-122"/>
              </a:rPr>
              <a:t>       </a:t>
            </a:r>
          </a:p>
        </p:txBody>
      </p:sp>
      <p:sp>
        <p:nvSpPr>
          <p:cNvPr id="1848324" name="Rectangle 4"/>
          <p:cNvSpPr>
            <a:spLocks noChangeArrowheads="1"/>
          </p:cNvSpPr>
          <p:nvPr/>
        </p:nvSpPr>
        <p:spPr bwMode="auto">
          <a:xfrm>
            <a:off x="468313" y="0"/>
            <a:ext cx="8229600" cy="1143000"/>
          </a:xfrm>
          <a:prstGeom prst="rect">
            <a:avLst/>
          </a:prstGeom>
          <a:noFill/>
          <a:ln w="9525">
            <a:noFill/>
            <a:miter lim="800000"/>
            <a:headEnd/>
            <a:tailEnd/>
          </a:ln>
          <a:effectLst/>
        </p:spPr>
        <p:txBody>
          <a:bodyPr anchor="ctr"/>
          <a:lstStyle/>
          <a:p>
            <a:r>
              <a:rPr lang="zh-CN" altLang="en-US" sz="3400" b="1">
                <a:solidFill>
                  <a:schemeClr val="tx2"/>
                </a:solidFill>
                <a:ea typeface="隶书" pitchFamily="49" charset="-122"/>
              </a:rPr>
              <a:t>练习</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9346" name="Picture 2" descr="未标题-1 拷贝"/>
          <p:cNvPicPr>
            <a:picLocks noChangeAspect="1" noChangeArrowheads="1"/>
          </p:cNvPicPr>
          <p:nvPr/>
        </p:nvPicPr>
        <p:blipFill>
          <a:blip r:embed="rId2"/>
          <a:srcRect/>
          <a:stretch>
            <a:fillRect/>
          </a:stretch>
        </p:blipFill>
        <p:spPr bwMode="auto">
          <a:xfrm>
            <a:off x="0" y="0"/>
            <a:ext cx="9144000" cy="6858000"/>
          </a:xfrm>
          <a:prstGeom prst="rect">
            <a:avLst/>
          </a:prstGeom>
          <a:noFill/>
        </p:spPr>
      </p:pic>
      <p:pic>
        <p:nvPicPr>
          <p:cNvPr id="1849347" name="Picture 3"/>
          <p:cNvPicPr>
            <a:picLocks noChangeAspect="1" noChangeArrowheads="1"/>
          </p:cNvPicPr>
          <p:nvPr/>
        </p:nvPicPr>
        <p:blipFill>
          <a:blip r:embed="rId3"/>
          <a:srcRect/>
          <a:stretch>
            <a:fillRect/>
          </a:stretch>
        </p:blipFill>
        <p:spPr bwMode="auto">
          <a:xfrm>
            <a:off x="395288" y="1628775"/>
            <a:ext cx="8351837" cy="4076700"/>
          </a:xfrm>
          <a:prstGeom prst="rect">
            <a:avLst/>
          </a:prstGeom>
          <a:noFill/>
          <a:ln w="9525">
            <a:noFill/>
            <a:miter lim="800000"/>
            <a:headEnd/>
            <a:tailEnd/>
          </a:ln>
        </p:spPr>
      </p:pic>
      <p:sp>
        <p:nvSpPr>
          <p:cNvPr id="1849348" name="Rectangle 4"/>
          <p:cNvSpPr>
            <a:spLocks noChangeArrowheads="1"/>
          </p:cNvSpPr>
          <p:nvPr/>
        </p:nvSpPr>
        <p:spPr bwMode="auto">
          <a:xfrm>
            <a:off x="468313" y="0"/>
            <a:ext cx="8229600" cy="1143000"/>
          </a:xfrm>
          <a:prstGeom prst="rect">
            <a:avLst/>
          </a:prstGeom>
          <a:noFill/>
          <a:ln w="9525">
            <a:noFill/>
            <a:miter lim="800000"/>
            <a:headEnd/>
            <a:tailEnd/>
          </a:ln>
          <a:effectLst/>
        </p:spPr>
        <p:txBody>
          <a:bodyPr anchor="ctr"/>
          <a:lstStyle/>
          <a:p>
            <a:r>
              <a:rPr lang="zh-CN" altLang="en-US" sz="3400" b="1">
                <a:solidFill>
                  <a:schemeClr val="tx2"/>
                </a:solidFill>
                <a:ea typeface="隶书" pitchFamily="49" charset="-122"/>
              </a:rPr>
              <a:t>练习</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0850" name="Rectangle 2"/>
          <p:cNvSpPr>
            <a:spLocks noGrp="1" noChangeArrowheads="1"/>
          </p:cNvSpPr>
          <p:nvPr>
            <p:ph type="title"/>
          </p:nvPr>
        </p:nvSpPr>
        <p:spPr>
          <a:xfrm>
            <a:off x="493713" y="325438"/>
            <a:ext cx="8158162" cy="1079500"/>
          </a:xfrm>
        </p:spPr>
        <p:txBody>
          <a:bodyPr/>
          <a:lstStyle/>
          <a:p>
            <a:r>
              <a:rPr lang="zh-CN" altLang="en-US" sz="4200">
                <a:effectLst>
                  <a:outerShdw blurRad="38100" dist="38100" dir="2700000" algn="tl">
                    <a:srgbClr val="C0C0C0"/>
                  </a:outerShdw>
                </a:effectLst>
                <a:ea typeface="黑体" pitchFamily="2" charset="-122"/>
                <a:cs typeface="Tahoma" pitchFamily="34" charset="0"/>
              </a:rPr>
              <a:t>并发设计</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870851" name="Rectangle 3"/>
          <p:cNvSpPr>
            <a:spLocks noChangeArrowheads="1"/>
          </p:cNvSpPr>
          <p:nvPr/>
        </p:nvSpPr>
        <p:spPr bwMode="auto">
          <a:xfrm>
            <a:off x="611188" y="1647825"/>
            <a:ext cx="7632700" cy="199707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在大多数系统中，尤其是联网的系统，会出现在同一时刻访问同一资源的情况，即</a:t>
            </a:r>
            <a:r>
              <a:rPr lang="zh-CN" altLang="en-US" sz="2600" b="1">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并发操作</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如：汽车租赁系统、火车票销售系统等</a:t>
            </a:r>
            <a:endPar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因此，并发引入了下面的问题：</a:t>
            </a:r>
          </a:p>
        </p:txBody>
      </p:sp>
      <p:sp>
        <p:nvSpPr>
          <p:cNvPr id="1870852" name="Rectangle 4"/>
          <p:cNvSpPr>
            <a:spLocks noChangeArrowheads="1"/>
          </p:cNvSpPr>
          <p:nvPr/>
        </p:nvSpPr>
        <p:spPr bwMode="auto">
          <a:xfrm>
            <a:off x="900113" y="3933825"/>
            <a:ext cx="7561262" cy="2063750"/>
          </a:xfrm>
          <a:prstGeom prst="rect">
            <a:avLst/>
          </a:prstGeom>
          <a:noFill/>
          <a:ln w="9525">
            <a:noFill/>
            <a:miter lim="800000"/>
            <a:headEnd/>
            <a:tailEnd/>
          </a:ln>
          <a:effectLst/>
        </p:spPr>
        <p:txBody>
          <a:bodyPr>
            <a:spAutoFit/>
          </a:bodyPr>
          <a:lstStyle/>
          <a:p>
            <a:pPr marL="179388" lvl="1" indent="450850" eaLnBrk="0" hangingPunct="0">
              <a:spcBef>
                <a:spcPct val="20000"/>
              </a:spcBef>
              <a:spcAft>
                <a:spcPct val="20000"/>
              </a:spcAft>
              <a:buFont typeface="Wingdings" pitchFamily="2" charset="2"/>
              <a:buChar char="þ"/>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如何确保在他人访问之前，完全更新信息。例如，在添加新汽车型号的所有信息之前，必须阻止其他人访问这些信息。</a:t>
            </a:r>
          </a:p>
          <a:p>
            <a:pPr marL="179388" lvl="1" indent="450850" eaLnBrk="0" hangingPunct="0">
              <a:spcBef>
                <a:spcPct val="20000"/>
              </a:spcBef>
              <a:spcAft>
                <a:spcPct val="20000"/>
              </a:spcAft>
              <a:buFont typeface="Wingdings" pitchFamily="2" charset="2"/>
              <a:buChar char="þ"/>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如何确保信息在读取的同时不被更新。例如，在查看一个汽车型号的信息时，不要删除该汽车的型号。</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70850"/>
                                        </p:tgtEl>
                                        <p:attrNameLst>
                                          <p:attrName>style.visibility</p:attrName>
                                        </p:attrNameLst>
                                      </p:cBhvr>
                                      <p:to>
                                        <p:strVal val="visible"/>
                                      </p:to>
                                    </p:set>
                                    <p:anim calcmode="lin" valueType="num">
                                      <p:cBhvr additive="base">
                                        <p:cTn id="7" dur="500" fill="hold"/>
                                        <p:tgtEl>
                                          <p:spTgt spid="1870850"/>
                                        </p:tgtEl>
                                        <p:attrNameLst>
                                          <p:attrName>ppt_x</p:attrName>
                                        </p:attrNameLst>
                                      </p:cBhvr>
                                      <p:tavLst>
                                        <p:tav tm="0">
                                          <p:val>
                                            <p:strVal val="0-#ppt_w/2"/>
                                          </p:val>
                                        </p:tav>
                                        <p:tav tm="100000">
                                          <p:val>
                                            <p:strVal val="#ppt_x"/>
                                          </p:val>
                                        </p:tav>
                                      </p:tavLst>
                                    </p:anim>
                                    <p:anim calcmode="lin" valueType="num">
                                      <p:cBhvr additive="base">
                                        <p:cTn id="8" dur="500" fill="hold"/>
                                        <p:tgtEl>
                                          <p:spTgt spid="187085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870851"/>
                                        </p:tgtEl>
                                        <p:attrNameLst>
                                          <p:attrName>style.visibility</p:attrName>
                                        </p:attrNameLst>
                                      </p:cBhvr>
                                      <p:to>
                                        <p:strVal val="visible"/>
                                      </p:to>
                                    </p:set>
                                    <p:animEffect transition="in" filter="box(in)">
                                      <p:cBhvr>
                                        <p:cTn id="12" dur="500"/>
                                        <p:tgtEl>
                                          <p:spTgt spid="1870851"/>
                                        </p:tgtEl>
                                      </p:cBhvr>
                                    </p:animEffect>
                                  </p:childTnLst>
                                </p:cTn>
                              </p:par>
                            </p:childTnLst>
                          </p:cTn>
                        </p:par>
                        <p:par>
                          <p:cTn id="13" fill="hold">
                            <p:stCondLst>
                              <p:cond delay="1000"/>
                            </p:stCondLst>
                            <p:childTnLst>
                              <p:par>
                                <p:cTn id="14" presetID="5" presetClass="entr" presetSubtype="10" fill="hold" grpId="0" nodeType="afterEffect">
                                  <p:stCondLst>
                                    <p:cond delay="0"/>
                                  </p:stCondLst>
                                  <p:childTnLst>
                                    <p:set>
                                      <p:cBhvr>
                                        <p:cTn id="15" dur="1" fill="hold">
                                          <p:stCondLst>
                                            <p:cond delay="0"/>
                                          </p:stCondLst>
                                        </p:cTn>
                                        <p:tgtEl>
                                          <p:spTgt spid="1870852"/>
                                        </p:tgtEl>
                                        <p:attrNameLst>
                                          <p:attrName>style.visibility</p:attrName>
                                        </p:attrNameLst>
                                      </p:cBhvr>
                                      <p:to>
                                        <p:strVal val="visible"/>
                                      </p:to>
                                    </p:set>
                                    <p:animEffect transition="in" filter="checkerboard(across)">
                                      <p:cBhvr>
                                        <p:cTn id="16" dur="500"/>
                                        <p:tgtEl>
                                          <p:spTgt spid="1870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0850" grpId="0"/>
      <p:bldP spid="1870851" grpId="0"/>
      <p:bldP spid="187085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1874" name="Rectangle 2"/>
          <p:cNvSpPr>
            <a:spLocks noGrp="1" noChangeArrowheads="1"/>
          </p:cNvSpPr>
          <p:nvPr>
            <p:ph type="title"/>
          </p:nvPr>
        </p:nvSpPr>
        <p:spPr>
          <a:xfrm>
            <a:off x="493713" y="325438"/>
            <a:ext cx="8158162" cy="1079500"/>
          </a:xfrm>
        </p:spPr>
        <p:txBody>
          <a:bodyPr/>
          <a:lstStyle/>
          <a:p>
            <a:r>
              <a:rPr lang="zh-CN" altLang="en-US" sz="4200">
                <a:effectLst>
                  <a:outerShdw blurRad="38100" dist="38100" dir="2700000" algn="tl">
                    <a:srgbClr val="C0C0C0"/>
                  </a:outerShdw>
                </a:effectLst>
                <a:ea typeface="黑体" pitchFamily="2" charset="-122"/>
                <a:cs typeface="Tahoma" pitchFamily="34" charset="0"/>
              </a:rPr>
              <a:t>并发设计</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871875" name="Rectangle 3"/>
          <p:cNvSpPr>
            <a:spLocks noChangeArrowheads="1"/>
          </p:cNvSpPr>
          <p:nvPr/>
        </p:nvSpPr>
        <p:spPr bwMode="auto">
          <a:xfrm>
            <a:off x="755650" y="1749425"/>
            <a:ext cx="7632700" cy="4889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并发的简单方式：</a:t>
            </a:r>
          </a:p>
        </p:txBody>
      </p:sp>
      <p:sp>
        <p:nvSpPr>
          <p:cNvPr id="1871876" name="Rectangle 4"/>
          <p:cNvSpPr>
            <a:spLocks noChangeArrowheads="1"/>
          </p:cNvSpPr>
          <p:nvPr/>
        </p:nvSpPr>
        <p:spPr bwMode="auto">
          <a:xfrm>
            <a:off x="1114425" y="2532063"/>
            <a:ext cx="6913563" cy="968375"/>
          </a:xfrm>
          <a:prstGeom prst="rect">
            <a:avLst/>
          </a:prstGeom>
          <a:noFill/>
          <a:ln w="9525">
            <a:noFill/>
            <a:miter lim="800000"/>
            <a:headEnd/>
            <a:tailEnd/>
          </a:ln>
          <a:effectLst/>
        </p:spPr>
        <p:txBody>
          <a:bodyPr>
            <a:spAutoFit/>
          </a:bodyPr>
          <a:lstStyle/>
          <a:p>
            <a:pPr marL="179388" lvl="1" indent="450850" eaLnBrk="0" hangingPunct="0">
              <a:spcBef>
                <a:spcPct val="20000"/>
              </a:spcBef>
              <a:spcAft>
                <a:spcPct val="20000"/>
              </a:spcAft>
              <a:buFont typeface="Wingdings" pitchFamily="2" charset="2"/>
              <a:buChar char="þ"/>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系统规则</a:t>
            </a:r>
            <a:r>
              <a:rPr lang="en-US" altLang="zh-CN" sz="2400" b="1">
                <a:solidFill>
                  <a:srgbClr val="FF0000"/>
                </a:solidFill>
                <a:effectLst>
                  <a:outerShdw blurRad="38100" dist="38100" dir="2700000" algn="tl">
                    <a:srgbClr val="C0C0C0"/>
                  </a:outerShdw>
                </a:effectLst>
                <a:latin typeface="宋体"/>
                <a:ea typeface="楷体_GB2312" pitchFamily="49" charset="-122"/>
                <a:cs typeface="Tahoma" pitchFamily="34" charset="0"/>
              </a:rPr>
              <a:t>——</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限制系统</a:t>
            </a:r>
          </a:p>
          <a:p>
            <a:pPr marL="179388" lvl="1" indent="450850" eaLnBrk="0" hangingPunct="0">
              <a:spcBef>
                <a:spcPct val="20000"/>
              </a:spcBef>
              <a:spcAft>
                <a:spcPct val="20000"/>
              </a:spcAft>
              <a:buFont typeface="Wingdings" pitchFamily="2" charset="2"/>
              <a:buChar char="þ"/>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业务规则</a:t>
            </a:r>
            <a:r>
              <a:rPr lang="en-US" altLang="zh-CN" sz="2400" b="1">
                <a:solidFill>
                  <a:srgbClr val="FF0000"/>
                </a:solidFill>
                <a:effectLst>
                  <a:outerShdw blurRad="38100" dist="38100" dir="2700000" algn="tl">
                    <a:srgbClr val="C0C0C0"/>
                  </a:outerShdw>
                </a:effectLst>
                <a:latin typeface="宋体"/>
                <a:ea typeface="楷体_GB2312" pitchFamily="49" charset="-122"/>
                <a:cs typeface="Tahoma" pitchFamily="34" charset="0"/>
              </a:rPr>
              <a:t>——</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添加额外的业务规则</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71874"/>
                                        </p:tgtEl>
                                        <p:attrNameLst>
                                          <p:attrName>style.visibility</p:attrName>
                                        </p:attrNameLst>
                                      </p:cBhvr>
                                      <p:to>
                                        <p:strVal val="visible"/>
                                      </p:to>
                                    </p:set>
                                    <p:anim calcmode="lin" valueType="num">
                                      <p:cBhvr additive="base">
                                        <p:cTn id="7" dur="500" fill="hold"/>
                                        <p:tgtEl>
                                          <p:spTgt spid="1871874"/>
                                        </p:tgtEl>
                                        <p:attrNameLst>
                                          <p:attrName>ppt_x</p:attrName>
                                        </p:attrNameLst>
                                      </p:cBhvr>
                                      <p:tavLst>
                                        <p:tav tm="0">
                                          <p:val>
                                            <p:strVal val="0-#ppt_w/2"/>
                                          </p:val>
                                        </p:tav>
                                        <p:tav tm="100000">
                                          <p:val>
                                            <p:strVal val="#ppt_x"/>
                                          </p:val>
                                        </p:tav>
                                      </p:tavLst>
                                    </p:anim>
                                    <p:anim calcmode="lin" valueType="num">
                                      <p:cBhvr additive="base">
                                        <p:cTn id="8" dur="500" fill="hold"/>
                                        <p:tgtEl>
                                          <p:spTgt spid="187187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871875"/>
                                        </p:tgtEl>
                                        <p:attrNameLst>
                                          <p:attrName>style.visibility</p:attrName>
                                        </p:attrNameLst>
                                      </p:cBhvr>
                                      <p:to>
                                        <p:strVal val="visible"/>
                                      </p:to>
                                    </p:set>
                                    <p:animEffect transition="in" filter="box(in)">
                                      <p:cBhvr>
                                        <p:cTn id="12" dur="500"/>
                                        <p:tgtEl>
                                          <p:spTgt spid="1871875"/>
                                        </p:tgtEl>
                                      </p:cBhvr>
                                    </p:animEffect>
                                  </p:childTnLst>
                                </p:cTn>
                              </p:par>
                            </p:childTnLst>
                          </p:cTn>
                        </p:par>
                        <p:par>
                          <p:cTn id="13" fill="hold">
                            <p:stCondLst>
                              <p:cond delay="1000"/>
                            </p:stCondLst>
                            <p:childTnLst>
                              <p:par>
                                <p:cTn id="14" presetID="5" presetClass="entr" presetSubtype="10" fill="hold" grpId="0" nodeType="afterEffect">
                                  <p:stCondLst>
                                    <p:cond delay="0"/>
                                  </p:stCondLst>
                                  <p:childTnLst>
                                    <p:set>
                                      <p:cBhvr>
                                        <p:cTn id="15" dur="1" fill="hold">
                                          <p:stCondLst>
                                            <p:cond delay="0"/>
                                          </p:stCondLst>
                                        </p:cTn>
                                        <p:tgtEl>
                                          <p:spTgt spid="1871876"/>
                                        </p:tgtEl>
                                        <p:attrNameLst>
                                          <p:attrName>style.visibility</p:attrName>
                                        </p:attrNameLst>
                                      </p:cBhvr>
                                      <p:to>
                                        <p:strVal val="visible"/>
                                      </p:to>
                                    </p:set>
                                    <p:animEffect transition="in" filter="checkerboard(across)">
                                      <p:cBhvr>
                                        <p:cTn id="16" dur="500"/>
                                        <p:tgtEl>
                                          <p:spTgt spid="1871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1874" grpId="0"/>
      <p:bldP spid="1871875" grpId="0"/>
      <p:bldP spid="187187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2898" name="Rectangle 2"/>
          <p:cNvSpPr>
            <a:spLocks noGrp="1" noChangeArrowheads="1"/>
          </p:cNvSpPr>
          <p:nvPr>
            <p:ph type="title"/>
          </p:nvPr>
        </p:nvSpPr>
        <p:spPr>
          <a:xfrm>
            <a:off x="493713" y="325438"/>
            <a:ext cx="8158162" cy="1079500"/>
          </a:xfrm>
        </p:spPr>
        <p:txBody>
          <a:bodyPr/>
          <a:lstStyle/>
          <a:p>
            <a:r>
              <a:rPr lang="zh-CN" altLang="en-US" sz="4200">
                <a:effectLst>
                  <a:outerShdw blurRad="38100" dist="38100" dir="2700000" algn="tl">
                    <a:srgbClr val="C0C0C0"/>
                  </a:outerShdw>
                </a:effectLst>
                <a:ea typeface="黑体" pitchFamily="2" charset="-122"/>
                <a:cs typeface="Tahoma" pitchFamily="34" charset="0"/>
              </a:rPr>
              <a:t>并发设计</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872899" name="Rectangle 3"/>
          <p:cNvSpPr>
            <a:spLocks noChangeArrowheads="1"/>
          </p:cNvSpPr>
          <p:nvPr/>
        </p:nvSpPr>
        <p:spPr bwMode="auto">
          <a:xfrm>
            <a:off x="684213" y="1878013"/>
            <a:ext cx="7632700" cy="4889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系统规则：</a:t>
            </a:r>
          </a:p>
        </p:txBody>
      </p:sp>
      <p:sp>
        <p:nvSpPr>
          <p:cNvPr id="1872900" name="Rectangle 4"/>
          <p:cNvSpPr>
            <a:spLocks noChangeArrowheads="1"/>
          </p:cNvSpPr>
          <p:nvPr/>
        </p:nvSpPr>
        <p:spPr bwMode="auto">
          <a:xfrm>
            <a:off x="1042988" y="2660650"/>
            <a:ext cx="6913562" cy="2063750"/>
          </a:xfrm>
          <a:prstGeom prst="rect">
            <a:avLst/>
          </a:prstGeom>
          <a:noFill/>
          <a:ln w="9525">
            <a:noFill/>
            <a:miter lim="800000"/>
            <a:headEnd/>
            <a:tailEnd/>
          </a:ln>
          <a:effectLst/>
        </p:spPr>
        <p:txBody>
          <a:bodyPr>
            <a:spAutoFit/>
          </a:bodyPr>
          <a:lstStyle/>
          <a:p>
            <a:pPr marL="179388" lvl="1" indent="450850" eaLnBrk="0" hangingPunct="0">
              <a:spcBef>
                <a:spcPct val="20000"/>
              </a:spcBef>
              <a:spcAft>
                <a:spcPct val="20000"/>
              </a:spcAft>
              <a:buFont typeface="Wingdings" pitchFamily="2" charset="2"/>
              <a:buChar char="þ"/>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在汽车租赁系统中，在顾客访问汽车目录时，当前访问的目录放在一个数据库中，该数据库是只读的；而在另一个独立的数据库中更新目录，</a:t>
            </a:r>
            <a:r>
              <a:rPr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每天</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切换一次数据库</a:t>
            </a:r>
          </a:p>
          <a:p>
            <a:pPr marL="179388" lvl="1" indent="450850" eaLnBrk="0" hangingPunct="0">
              <a:spcBef>
                <a:spcPct val="20000"/>
              </a:spcBef>
              <a:spcAft>
                <a:spcPct val="20000"/>
              </a:spcAft>
              <a:buFont typeface="Wingdings" pitchFamily="2" charset="2"/>
              <a:buChar char="þ"/>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这是对系统的人为限制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72898"/>
                                        </p:tgtEl>
                                        <p:attrNameLst>
                                          <p:attrName>style.visibility</p:attrName>
                                        </p:attrNameLst>
                                      </p:cBhvr>
                                      <p:to>
                                        <p:strVal val="visible"/>
                                      </p:to>
                                    </p:set>
                                    <p:anim calcmode="lin" valueType="num">
                                      <p:cBhvr additive="base">
                                        <p:cTn id="7" dur="500" fill="hold"/>
                                        <p:tgtEl>
                                          <p:spTgt spid="1872898"/>
                                        </p:tgtEl>
                                        <p:attrNameLst>
                                          <p:attrName>ppt_x</p:attrName>
                                        </p:attrNameLst>
                                      </p:cBhvr>
                                      <p:tavLst>
                                        <p:tav tm="0">
                                          <p:val>
                                            <p:strVal val="0-#ppt_w/2"/>
                                          </p:val>
                                        </p:tav>
                                        <p:tav tm="100000">
                                          <p:val>
                                            <p:strVal val="#ppt_x"/>
                                          </p:val>
                                        </p:tav>
                                      </p:tavLst>
                                    </p:anim>
                                    <p:anim calcmode="lin" valueType="num">
                                      <p:cBhvr additive="base">
                                        <p:cTn id="8" dur="500" fill="hold"/>
                                        <p:tgtEl>
                                          <p:spTgt spid="187289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872899"/>
                                        </p:tgtEl>
                                        <p:attrNameLst>
                                          <p:attrName>style.visibility</p:attrName>
                                        </p:attrNameLst>
                                      </p:cBhvr>
                                      <p:to>
                                        <p:strVal val="visible"/>
                                      </p:to>
                                    </p:set>
                                    <p:animEffect transition="in" filter="box(in)">
                                      <p:cBhvr>
                                        <p:cTn id="12" dur="500"/>
                                        <p:tgtEl>
                                          <p:spTgt spid="1872899"/>
                                        </p:tgtEl>
                                      </p:cBhvr>
                                    </p:animEffect>
                                  </p:childTnLst>
                                </p:cTn>
                              </p:par>
                            </p:childTnLst>
                          </p:cTn>
                        </p:par>
                        <p:par>
                          <p:cTn id="13" fill="hold">
                            <p:stCondLst>
                              <p:cond delay="1000"/>
                            </p:stCondLst>
                            <p:childTnLst>
                              <p:par>
                                <p:cTn id="14" presetID="5" presetClass="entr" presetSubtype="10" fill="hold" grpId="0" nodeType="afterEffect">
                                  <p:stCondLst>
                                    <p:cond delay="0"/>
                                  </p:stCondLst>
                                  <p:childTnLst>
                                    <p:set>
                                      <p:cBhvr>
                                        <p:cTn id="15" dur="1" fill="hold">
                                          <p:stCondLst>
                                            <p:cond delay="0"/>
                                          </p:stCondLst>
                                        </p:cTn>
                                        <p:tgtEl>
                                          <p:spTgt spid="1872900"/>
                                        </p:tgtEl>
                                        <p:attrNameLst>
                                          <p:attrName>style.visibility</p:attrName>
                                        </p:attrNameLst>
                                      </p:cBhvr>
                                      <p:to>
                                        <p:strVal val="visible"/>
                                      </p:to>
                                    </p:set>
                                    <p:animEffect transition="in" filter="checkerboard(across)">
                                      <p:cBhvr>
                                        <p:cTn id="16" dur="500"/>
                                        <p:tgtEl>
                                          <p:spTgt spid="1872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2898" grpId="0"/>
      <p:bldP spid="1872899" grpId="0"/>
      <p:bldP spid="187290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22" name="Rectangle 2"/>
          <p:cNvSpPr>
            <a:spLocks noGrp="1" noChangeArrowheads="1"/>
          </p:cNvSpPr>
          <p:nvPr>
            <p:ph type="title"/>
          </p:nvPr>
        </p:nvSpPr>
        <p:spPr>
          <a:xfrm>
            <a:off x="493713" y="325438"/>
            <a:ext cx="8158162" cy="1079500"/>
          </a:xfrm>
        </p:spPr>
        <p:txBody>
          <a:bodyPr/>
          <a:lstStyle/>
          <a:p>
            <a:r>
              <a:rPr lang="zh-CN" altLang="en-US" sz="4200">
                <a:effectLst>
                  <a:outerShdw blurRad="38100" dist="38100" dir="2700000" algn="tl">
                    <a:srgbClr val="C0C0C0"/>
                  </a:outerShdw>
                </a:effectLst>
                <a:ea typeface="黑体" pitchFamily="2" charset="-122"/>
                <a:cs typeface="Tahoma" pitchFamily="34" charset="0"/>
              </a:rPr>
              <a:t>并发设计</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873923" name="Rectangle 3"/>
          <p:cNvSpPr>
            <a:spLocks noChangeArrowheads="1"/>
          </p:cNvSpPr>
          <p:nvPr/>
        </p:nvSpPr>
        <p:spPr bwMode="auto">
          <a:xfrm>
            <a:off x="684213" y="1730375"/>
            <a:ext cx="7632700" cy="4889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业务规则：</a:t>
            </a:r>
          </a:p>
        </p:txBody>
      </p:sp>
      <p:sp>
        <p:nvSpPr>
          <p:cNvPr id="1873924" name="Rectangle 4"/>
          <p:cNvSpPr>
            <a:spLocks noChangeArrowheads="1"/>
          </p:cNvSpPr>
          <p:nvPr/>
        </p:nvSpPr>
        <p:spPr bwMode="auto">
          <a:xfrm>
            <a:off x="1042988" y="2513013"/>
            <a:ext cx="6913562" cy="2063750"/>
          </a:xfrm>
          <a:prstGeom prst="rect">
            <a:avLst/>
          </a:prstGeom>
          <a:noFill/>
          <a:ln w="9525">
            <a:noFill/>
            <a:miter lim="800000"/>
            <a:headEnd/>
            <a:tailEnd/>
          </a:ln>
          <a:effectLst/>
        </p:spPr>
        <p:txBody>
          <a:bodyPr>
            <a:spAutoFit/>
          </a:bodyPr>
          <a:lstStyle/>
          <a:p>
            <a:pPr marL="179388" lvl="1" indent="450850" eaLnBrk="0" hangingPunct="0">
              <a:spcBef>
                <a:spcPct val="20000"/>
              </a:spcBef>
              <a:spcAft>
                <a:spcPct val="20000"/>
              </a:spcAft>
              <a:buFont typeface="Wingdings" pitchFamily="2" charset="2"/>
              <a:buChar char="þ"/>
            </a:pPr>
            <a:r>
              <a:rPr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两个顾客同时到不同的售票点买票，怎么办？</a:t>
            </a:r>
          </a:p>
          <a:p>
            <a:pPr marL="179388" lvl="1" indent="450850" eaLnBrk="0" hangingPunct="0">
              <a:spcBef>
                <a:spcPct val="20000"/>
              </a:spcBef>
              <a:spcAft>
                <a:spcPct val="20000"/>
              </a:spcAft>
              <a:buFont typeface="Wingdings" pitchFamily="2" charset="2"/>
              <a:buChar char="þ"/>
            </a:pPr>
            <a:r>
              <a:rPr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在售票的例子中，引入一个额外的业务规则：对于第一个对票务服务器访问的售票员，如果还有票，则临时对该售票员保留</a:t>
            </a:r>
            <a:r>
              <a:rPr lang="en-US" altLang="zh-CN" sz="2400" b="1">
                <a:solidFill>
                  <a:srgbClr val="0C01A1"/>
                </a:solidFill>
                <a:effectLst>
                  <a:outerShdw blurRad="38100" dist="38100" dir="2700000" algn="tl">
                    <a:srgbClr val="C0C0C0"/>
                  </a:outerShdw>
                </a:effectLst>
                <a:latin typeface="宋体"/>
                <a:ea typeface="楷体_GB2312" pitchFamily="49" charset="-122"/>
                <a:cs typeface="Tahoma" pitchFamily="34" charset="0"/>
              </a:rPr>
              <a:t>——</a:t>
            </a:r>
            <a:r>
              <a:rPr lang="zh-CN" altLang="en-US" sz="24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即预订，该预订一直到售票员取消或者预订过期。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73922"/>
                                        </p:tgtEl>
                                        <p:attrNameLst>
                                          <p:attrName>style.visibility</p:attrName>
                                        </p:attrNameLst>
                                      </p:cBhvr>
                                      <p:to>
                                        <p:strVal val="visible"/>
                                      </p:to>
                                    </p:set>
                                    <p:anim calcmode="lin" valueType="num">
                                      <p:cBhvr additive="base">
                                        <p:cTn id="7" dur="500" fill="hold"/>
                                        <p:tgtEl>
                                          <p:spTgt spid="1873922"/>
                                        </p:tgtEl>
                                        <p:attrNameLst>
                                          <p:attrName>ppt_x</p:attrName>
                                        </p:attrNameLst>
                                      </p:cBhvr>
                                      <p:tavLst>
                                        <p:tav tm="0">
                                          <p:val>
                                            <p:strVal val="0-#ppt_w/2"/>
                                          </p:val>
                                        </p:tav>
                                        <p:tav tm="100000">
                                          <p:val>
                                            <p:strVal val="#ppt_x"/>
                                          </p:val>
                                        </p:tav>
                                      </p:tavLst>
                                    </p:anim>
                                    <p:anim calcmode="lin" valueType="num">
                                      <p:cBhvr additive="base">
                                        <p:cTn id="8" dur="500" fill="hold"/>
                                        <p:tgtEl>
                                          <p:spTgt spid="18739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2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6994" name="Rectangle 2"/>
          <p:cNvSpPr>
            <a:spLocks noGrp="1" noChangeArrowheads="1"/>
          </p:cNvSpPr>
          <p:nvPr>
            <p:ph type="title"/>
          </p:nvPr>
        </p:nvSpPr>
        <p:spPr>
          <a:xfrm>
            <a:off x="493713" y="325438"/>
            <a:ext cx="8158162" cy="1079500"/>
          </a:xfrm>
        </p:spPr>
        <p:txBody>
          <a:bodyPr/>
          <a:lstStyle/>
          <a:p>
            <a:r>
              <a:rPr lang="zh-CN" altLang="en-US" sz="4200">
                <a:effectLst>
                  <a:outerShdw blurRad="38100" dist="38100" dir="2700000" algn="tl">
                    <a:srgbClr val="C0C0C0"/>
                  </a:outerShdw>
                </a:effectLst>
                <a:ea typeface="黑体" pitchFamily="2" charset="-122"/>
                <a:cs typeface="Tahoma" pitchFamily="34" charset="0"/>
              </a:rPr>
              <a:t>安全设计</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876995" name="Rectangle 3"/>
          <p:cNvSpPr>
            <a:spLocks noChangeArrowheads="1"/>
          </p:cNvSpPr>
          <p:nvPr/>
        </p:nvSpPr>
        <p:spPr bwMode="auto">
          <a:xfrm>
            <a:off x="490538" y="1684338"/>
            <a:ext cx="8193087" cy="184467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如何确保信息安全是信息时代的一个新课题；需要从制度和技术等多方面进行管控。</a:t>
            </a:r>
          </a:p>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安全的系统可以阻止有意或无意的误用。</a:t>
            </a:r>
          </a:p>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系统的安全分为以下五个方面：</a:t>
            </a:r>
          </a:p>
        </p:txBody>
      </p:sp>
      <p:sp>
        <p:nvSpPr>
          <p:cNvPr id="1876996" name="Rectangle 4"/>
          <p:cNvSpPr>
            <a:spLocks noChangeArrowheads="1"/>
          </p:cNvSpPr>
          <p:nvPr/>
        </p:nvSpPr>
        <p:spPr bwMode="auto">
          <a:xfrm>
            <a:off x="792163" y="3762375"/>
            <a:ext cx="8172450" cy="2403475"/>
          </a:xfrm>
          <a:prstGeom prst="rect">
            <a:avLst/>
          </a:prstGeom>
          <a:noFill/>
          <a:ln w="9525">
            <a:noFill/>
            <a:miter lim="800000"/>
            <a:headEnd/>
            <a:tailEnd/>
          </a:ln>
          <a:effectLst/>
        </p:spPr>
        <p:txBody>
          <a:bodyPr>
            <a:spAutoFit/>
          </a:bodyPr>
          <a:lstStyle/>
          <a:p>
            <a:pPr marL="179388" lvl="1" indent="450850" eaLnBrk="0" hangingPunct="0">
              <a:spcBef>
                <a:spcPct val="20000"/>
              </a:spcBef>
              <a:spcAft>
                <a:spcPct val="20000"/>
              </a:spcAft>
              <a:buFont typeface="Wingdings" pitchFamily="2" charset="2"/>
              <a:buChar char="þ"/>
            </a:pPr>
            <a:r>
              <a:rPr lang="zh-CN" altLang="en-US" sz="20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私密性：只有授权的人才能进行访问；</a:t>
            </a:r>
          </a:p>
          <a:p>
            <a:pPr marL="179388" lvl="1" indent="450850" eaLnBrk="0" hangingPunct="0">
              <a:spcBef>
                <a:spcPct val="20000"/>
              </a:spcBef>
              <a:spcAft>
                <a:spcPct val="20000"/>
              </a:spcAft>
              <a:buFont typeface="Wingdings" pitchFamily="2" charset="2"/>
              <a:buChar char="þ"/>
            </a:pPr>
            <a:r>
              <a:rPr lang="zh-CN" altLang="en-US" sz="20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验证：需要知道信息的来源，以决定信息是否可信任；</a:t>
            </a:r>
          </a:p>
          <a:p>
            <a:pPr marL="179388" lvl="1" indent="450850" eaLnBrk="0" hangingPunct="0">
              <a:spcBef>
                <a:spcPct val="20000"/>
              </a:spcBef>
              <a:spcAft>
                <a:spcPct val="20000"/>
              </a:spcAft>
              <a:buFont typeface="Wingdings" pitchFamily="2" charset="2"/>
              <a:buChar char="þ"/>
            </a:pPr>
            <a:r>
              <a:rPr lang="zh-CN" altLang="en-US" sz="20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不能反驳的信息：确保信息的初始提供者不能否认他们是信息的来源；</a:t>
            </a:r>
          </a:p>
          <a:p>
            <a:pPr marL="179388" lvl="1" indent="450850" eaLnBrk="0" hangingPunct="0">
              <a:spcBef>
                <a:spcPct val="20000"/>
              </a:spcBef>
              <a:spcAft>
                <a:spcPct val="20000"/>
              </a:spcAft>
              <a:buFont typeface="Wingdings" pitchFamily="2" charset="2"/>
              <a:buChar char="þ"/>
            </a:pPr>
            <a:r>
              <a:rPr lang="zh-CN" altLang="en-US" sz="20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完整性：确保信息在传输过程中不受到破坏；</a:t>
            </a:r>
          </a:p>
          <a:p>
            <a:pPr marL="179388" lvl="1" indent="450850" eaLnBrk="0" hangingPunct="0">
              <a:spcBef>
                <a:spcPct val="20000"/>
              </a:spcBef>
              <a:spcAft>
                <a:spcPct val="20000"/>
              </a:spcAft>
              <a:buFont typeface="Wingdings" pitchFamily="2" charset="2"/>
              <a:buChar char="þ"/>
            </a:pPr>
            <a:r>
              <a:rPr lang="zh-CN" altLang="en-US" sz="2000" b="1">
                <a:solidFill>
                  <a:srgbClr val="0C01A1"/>
                </a:solidFill>
                <a:effectLst>
                  <a:outerShdw blurRad="38100" dist="38100" dir="2700000" algn="tl">
                    <a:srgbClr val="C0C0C0"/>
                  </a:outerShdw>
                </a:effectLst>
                <a:latin typeface="楷体_GB2312" pitchFamily="49" charset="-122"/>
                <a:ea typeface="楷体_GB2312" pitchFamily="49" charset="-122"/>
                <a:cs typeface="Tahoma" pitchFamily="34" charset="0"/>
              </a:rPr>
              <a:t>安全性：控制对资源的访问，安全性也称为授权。</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76994"/>
                                        </p:tgtEl>
                                        <p:attrNameLst>
                                          <p:attrName>style.visibility</p:attrName>
                                        </p:attrNameLst>
                                      </p:cBhvr>
                                      <p:to>
                                        <p:strVal val="visible"/>
                                      </p:to>
                                    </p:set>
                                    <p:anim calcmode="lin" valueType="num">
                                      <p:cBhvr additive="base">
                                        <p:cTn id="7" dur="500" fill="hold"/>
                                        <p:tgtEl>
                                          <p:spTgt spid="1876994"/>
                                        </p:tgtEl>
                                        <p:attrNameLst>
                                          <p:attrName>ppt_x</p:attrName>
                                        </p:attrNameLst>
                                      </p:cBhvr>
                                      <p:tavLst>
                                        <p:tav tm="0">
                                          <p:val>
                                            <p:strVal val="0-#ppt_w/2"/>
                                          </p:val>
                                        </p:tav>
                                        <p:tav tm="100000">
                                          <p:val>
                                            <p:strVal val="#ppt_x"/>
                                          </p:val>
                                        </p:tav>
                                      </p:tavLst>
                                    </p:anim>
                                    <p:anim calcmode="lin" valueType="num">
                                      <p:cBhvr additive="base">
                                        <p:cTn id="8" dur="500" fill="hold"/>
                                        <p:tgtEl>
                                          <p:spTgt spid="187699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876995"/>
                                        </p:tgtEl>
                                        <p:attrNameLst>
                                          <p:attrName>style.visibility</p:attrName>
                                        </p:attrNameLst>
                                      </p:cBhvr>
                                      <p:to>
                                        <p:strVal val="visible"/>
                                      </p:to>
                                    </p:set>
                                    <p:animEffect transition="in" filter="box(in)">
                                      <p:cBhvr>
                                        <p:cTn id="12" dur="500"/>
                                        <p:tgtEl>
                                          <p:spTgt spid="1876995"/>
                                        </p:tgtEl>
                                      </p:cBhvr>
                                    </p:animEffect>
                                  </p:childTnLst>
                                </p:cTn>
                              </p:par>
                            </p:childTnLst>
                          </p:cTn>
                        </p:par>
                        <p:par>
                          <p:cTn id="13" fill="hold">
                            <p:stCondLst>
                              <p:cond delay="1000"/>
                            </p:stCondLst>
                            <p:childTnLst>
                              <p:par>
                                <p:cTn id="14" presetID="5" presetClass="entr" presetSubtype="10" fill="hold" grpId="0" nodeType="afterEffect">
                                  <p:stCondLst>
                                    <p:cond delay="0"/>
                                  </p:stCondLst>
                                  <p:childTnLst>
                                    <p:set>
                                      <p:cBhvr>
                                        <p:cTn id="15" dur="1" fill="hold">
                                          <p:stCondLst>
                                            <p:cond delay="0"/>
                                          </p:stCondLst>
                                        </p:cTn>
                                        <p:tgtEl>
                                          <p:spTgt spid="1876996"/>
                                        </p:tgtEl>
                                        <p:attrNameLst>
                                          <p:attrName>style.visibility</p:attrName>
                                        </p:attrNameLst>
                                      </p:cBhvr>
                                      <p:to>
                                        <p:strVal val="visible"/>
                                      </p:to>
                                    </p:set>
                                    <p:animEffect transition="in" filter="checkerboard(across)">
                                      <p:cBhvr>
                                        <p:cTn id="16" dur="500"/>
                                        <p:tgtEl>
                                          <p:spTgt spid="1876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6994" grpId="0"/>
      <p:bldP spid="1876995" grpId="0"/>
      <p:bldP spid="1876996" grpId="0"/>
    </p:bld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2984</TotalTime>
  <Words>4401</Words>
  <Application>Microsoft Office PowerPoint</Application>
  <PresentationFormat>全屏显示(4:3)</PresentationFormat>
  <Paragraphs>297</Paragraphs>
  <Slides>74</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74</vt:i4>
      </vt:variant>
    </vt:vector>
  </HeadingPairs>
  <TitlesOfParts>
    <vt:vector size="82" baseType="lpstr">
      <vt:lpstr>Arial</vt:lpstr>
      <vt:lpstr>宋体</vt:lpstr>
      <vt:lpstr>Wingdings</vt:lpstr>
      <vt:lpstr>Calibri</vt:lpstr>
      <vt:lpstr>华文隶书</vt:lpstr>
      <vt:lpstr>楷体_GB2312</vt:lpstr>
      <vt:lpstr>Times New Roman</vt:lpstr>
      <vt:lpstr>UML面向对象设计与分析教程</vt:lpstr>
      <vt:lpstr>第10章 系统设计模型</vt:lpstr>
      <vt:lpstr>本章概述</vt:lpstr>
      <vt:lpstr>本章的学习目标</vt:lpstr>
      <vt:lpstr>幻灯片 4</vt:lpstr>
      <vt:lpstr>系统体系结构概述</vt:lpstr>
      <vt:lpstr>系统体系结构概述</vt:lpstr>
      <vt:lpstr>系统体系结构概述</vt:lpstr>
      <vt:lpstr>系统体系结构概述</vt:lpstr>
      <vt:lpstr>系统体系结构概述</vt:lpstr>
      <vt:lpstr>软件系统体系结构建模——包图</vt:lpstr>
      <vt:lpstr>软件系统体系结构建模——包图</vt:lpstr>
      <vt:lpstr>软件系统体系结构建模——包图</vt:lpstr>
      <vt:lpstr>软件系统体系结构建模——包图</vt:lpstr>
      <vt:lpstr>软件系统体系结构建模——包图</vt:lpstr>
      <vt:lpstr>软件系统体系结构建模——包图</vt:lpstr>
      <vt:lpstr>软件系统体系结构建模——包图</vt:lpstr>
      <vt:lpstr>软件系统体系结构建模——包图</vt:lpstr>
      <vt:lpstr>软件系统体系结构建模——包图</vt:lpstr>
      <vt:lpstr>软件系统体系结构建模——包图</vt:lpstr>
      <vt:lpstr>幻灯片 20</vt:lpstr>
      <vt:lpstr>包</vt:lpstr>
      <vt:lpstr>包拥有的元素</vt:lpstr>
      <vt:lpstr>包的名称</vt:lpstr>
      <vt:lpstr>可见性</vt:lpstr>
      <vt:lpstr>包之间的关系 </vt:lpstr>
      <vt:lpstr>包之间的关系 </vt:lpstr>
      <vt:lpstr>幻灯片 27</vt:lpstr>
      <vt:lpstr>幻灯片 28</vt:lpstr>
      <vt:lpstr>幻灯片 29</vt:lpstr>
      <vt:lpstr>软件系统体系结构建模——构件图</vt:lpstr>
      <vt:lpstr>软件系统体系结构建模——构件图</vt:lpstr>
      <vt:lpstr>软件系统体系结构建模——构件图</vt:lpstr>
      <vt:lpstr>软件系统体系结构建模——构件图</vt:lpstr>
      <vt:lpstr>软件系统体系结构建模——构件图</vt:lpstr>
      <vt:lpstr>软件系统体系结构建模——构件图</vt:lpstr>
      <vt:lpstr>幻灯片 36</vt:lpstr>
      <vt:lpstr>幻灯片 37</vt:lpstr>
      <vt:lpstr>构件</vt:lpstr>
      <vt:lpstr>构件</vt:lpstr>
      <vt:lpstr>构件</vt:lpstr>
      <vt:lpstr>构件图</vt:lpstr>
      <vt:lpstr>幻灯片 42</vt:lpstr>
      <vt:lpstr>幻灯片 43</vt:lpstr>
      <vt:lpstr>幻灯片 44</vt:lpstr>
      <vt:lpstr>硬件系统体系结构建模——部署图</vt:lpstr>
      <vt:lpstr>幻灯片 46</vt:lpstr>
      <vt:lpstr>幻灯片 47</vt:lpstr>
      <vt:lpstr>节点</vt:lpstr>
      <vt:lpstr>节点</vt:lpstr>
      <vt:lpstr>节点</vt:lpstr>
      <vt:lpstr>节点</vt:lpstr>
      <vt:lpstr>节点</vt:lpstr>
      <vt:lpstr>关联关系</vt:lpstr>
      <vt:lpstr>关联关系</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并发设计</vt:lpstr>
      <vt:lpstr>并发设计</vt:lpstr>
      <vt:lpstr>并发设计</vt:lpstr>
      <vt:lpstr>并发设计</vt:lpstr>
      <vt:lpstr>安全设计</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366</cp:revision>
  <dcterms:created xsi:type="dcterms:W3CDTF">2007-03-24T22:53:15Z</dcterms:created>
  <dcterms:modified xsi:type="dcterms:W3CDTF">2018-12-17T08:38:02Z</dcterms:modified>
</cp:coreProperties>
</file>