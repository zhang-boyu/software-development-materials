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61"/>
  </p:handoutMasterIdLst>
  <p:sldIdLst>
    <p:sldId id="368" r:id="rId3"/>
    <p:sldId id="369" r:id="rId4"/>
    <p:sldId id="371" r:id="rId6"/>
    <p:sldId id="295" r:id="rId7"/>
    <p:sldId id="276" r:id="rId8"/>
    <p:sldId id="297" r:id="rId9"/>
    <p:sldId id="299" r:id="rId10"/>
    <p:sldId id="336" r:id="rId11"/>
    <p:sldId id="301" r:id="rId12"/>
    <p:sldId id="302" r:id="rId13"/>
    <p:sldId id="334" r:id="rId14"/>
    <p:sldId id="335" r:id="rId15"/>
    <p:sldId id="304" r:id="rId16"/>
    <p:sldId id="306" r:id="rId17"/>
    <p:sldId id="338" r:id="rId18"/>
    <p:sldId id="307" r:id="rId19"/>
    <p:sldId id="340" r:id="rId20"/>
    <p:sldId id="341" r:id="rId21"/>
    <p:sldId id="309" r:id="rId22"/>
    <p:sldId id="342" r:id="rId23"/>
    <p:sldId id="343" r:id="rId24"/>
    <p:sldId id="344" r:id="rId25"/>
    <p:sldId id="305" r:id="rId26"/>
    <p:sldId id="316" r:id="rId27"/>
    <p:sldId id="317" r:id="rId28"/>
    <p:sldId id="318" r:id="rId29"/>
    <p:sldId id="319" r:id="rId30"/>
    <p:sldId id="320" r:id="rId31"/>
    <p:sldId id="321" r:id="rId32"/>
    <p:sldId id="323" r:id="rId33"/>
    <p:sldId id="324" r:id="rId34"/>
    <p:sldId id="327" r:id="rId35"/>
    <p:sldId id="345" r:id="rId36"/>
    <p:sldId id="346" r:id="rId37"/>
    <p:sldId id="347" r:id="rId38"/>
    <p:sldId id="348" r:id="rId39"/>
    <p:sldId id="328" r:id="rId40"/>
    <p:sldId id="350" r:id="rId41"/>
    <p:sldId id="349" r:id="rId42"/>
    <p:sldId id="351" r:id="rId43"/>
    <p:sldId id="354" r:id="rId44"/>
    <p:sldId id="352" r:id="rId45"/>
    <p:sldId id="353" r:id="rId46"/>
    <p:sldId id="355" r:id="rId47"/>
    <p:sldId id="365" r:id="rId48"/>
    <p:sldId id="366" r:id="rId49"/>
    <p:sldId id="329" r:id="rId50"/>
    <p:sldId id="364" r:id="rId51"/>
    <p:sldId id="356" r:id="rId52"/>
    <p:sldId id="367" r:id="rId53"/>
    <p:sldId id="358" r:id="rId54"/>
    <p:sldId id="359" r:id="rId55"/>
    <p:sldId id="360" r:id="rId56"/>
    <p:sldId id="361" r:id="rId57"/>
    <p:sldId id="372" r:id="rId58"/>
    <p:sldId id="373" r:id="rId59"/>
    <p:sldId id="374" r:id="rId6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handoutMaster" Target="handoutMasters/handoutMaster1.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6E23DD71-1ACF-4235-B0A5-34D5D43092CB}" type="datetimeFigureOut">
              <a:rPr lang="zh-CN" altLang="en-US"/>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2EC7979D-7C00-4660-B89F-AB97CCB52168}" type="slidenum">
              <a:rPr lang="zh-CN" altLang="en-US"/>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Calibri" panose="020F0502020204030204"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ea typeface="+mn-ea"/>
              </a:defRPr>
            </a:lvl1pPr>
          </a:lstStyle>
          <a:p>
            <a:pPr>
              <a:defRPr/>
            </a:pPr>
            <a:fld id="{5BF25417-C4F8-4E52-8742-12B361DB501A}" type="datetimeFigureOut">
              <a:rPr lang="en-US" altLang="zh-CN"/>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normAutofit/>
          </a:bodyPr>
          <a:lstStyle/>
          <a:p>
            <a:pPr lvl="0"/>
            <a:r>
              <a:rPr lang="en-US" altLang="zh-CN" noProof="0" smtClean="0"/>
              <a:t>Click to edit Master text styles</a:t>
            </a:r>
            <a:endParaRPr lang="en-US" altLang="zh-CN" noProof="0" smtClean="0"/>
          </a:p>
          <a:p>
            <a:pPr lvl="1"/>
            <a:r>
              <a:rPr lang="en-US" altLang="zh-CN" noProof="0" smtClean="0"/>
              <a:t>Second level</a:t>
            </a:r>
            <a:endParaRPr lang="en-US" altLang="zh-CN" noProof="0" smtClean="0"/>
          </a:p>
          <a:p>
            <a:pPr lvl="2"/>
            <a:r>
              <a:rPr lang="en-US" altLang="zh-CN" noProof="0" smtClean="0"/>
              <a:t>Third level</a:t>
            </a:r>
            <a:endParaRPr lang="en-US" altLang="zh-CN" noProof="0" smtClean="0"/>
          </a:p>
          <a:p>
            <a:pPr lvl="3"/>
            <a:r>
              <a:rPr lang="en-US" altLang="zh-CN" noProof="0" smtClean="0"/>
              <a:t>Fourth level</a:t>
            </a:r>
            <a:endParaRPr lang="en-US" altLang="zh-CN" noProof="0" smtClean="0"/>
          </a:p>
          <a:p>
            <a:pPr lvl="4"/>
            <a:r>
              <a:rPr lang="en-US" altLang="zh-CN" noProof="0" smtClean="0"/>
              <a:t>Fifth level</a:t>
            </a:r>
            <a:endParaRPr lang="en-US" altLang="zh-CN"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Calibri" panose="020F0502020204030204"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ea typeface="+mn-ea"/>
              </a:defRPr>
            </a:lvl1pPr>
          </a:lstStyle>
          <a:p>
            <a:pPr>
              <a:defRPr/>
            </a:pPr>
            <a:fld id="{BB05BB2A-6961-4022-A823-7757AB3BA882}" type="slidenum">
              <a:rPr lang="en-US" altLang="zh-CN"/>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BF9F596-3519-4F56-B0BC-C27DF020388B}" type="slidenum">
              <a:rPr lang="en-US" altLang="zh-CN"/>
            </a:fld>
            <a:endParaRPr lang="en-US" altLang="zh-CN"/>
          </a:p>
        </p:txBody>
      </p:sp>
      <p:sp>
        <p:nvSpPr>
          <p:cNvPr id="61443" name="Rectangle 2"/>
          <p:cNvSpPr>
            <a:spLocks noRot="1" noChangeArrowheads="1" noTextEdit="1"/>
          </p:cNvSpPr>
          <p:nvPr>
            <p:ph type="sldImg"/>
          </p:nvPr>
        </p:nvSpPr>
        <p:spPr bwMode="auto">
          <a:noFill/>
          <a:ln>
            <a:solidFill>
              <a:srgbClr val="000000"/>
            </a:solidFill>
            <a:miter lim="800000"/>
          </a:ln>
        </p:spPr>
      </p:sp>
      <p:sp>
        <p:nvSpPr>
          <p:cNvPr id="61444"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ln>
        </p:spPr>
      </p:sp>
      <p:sp>
        <p:nvSpPr>
          <p:cNvPr id="62467"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62468"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38015D5A-84F5-4B32-85B4-444F30898B43}"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ln>
        </p:spPr>
      </p:sp>
      <p:sp>
        <p:nvSpPr>
          <p:cNvPr id="63491" name="Notes Placeholder 2"/>
          <p:cNvSpPr>
            <a:spLocks noGrp="1"/>
          </p:cNvSpPr>
          <p:nvPr>
            <p:ph type="body" idx="1"/>
          </p:nvPr>
        </p:nvSpPr>
        <p:spPr bwMode="auto">
          <a:noFill/>
        </p:spPr>
        <p:txBody>
          <a:bodyPr/>
          <a:lstStyle/>
          <a:p>
            <a:pPr eaLnBrk="1" hangingPunct="1"/>
            <a:endParaRPr lang="zh-CN" altLang="zh-CN" smtClean="0"/>
          </a:p>
        </p:txBody>
      </p:sp>
      <p:sp>
        <p:nvSpPr>
          <p:cNvPr id="63492"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2F1C88E8-DF22-4829-8CEB-EDABC732C43D}"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ln>
        </p:spPr>
      </p:sp>
      <p:sp>
        <p:nvSpPr>
          <p:cNvPr id="64515" name="Notes Placeholder 2"/>
          <p:cNvSpPr>
            <a:spLocks noGrp="1"/>
          </p:cNvSpPr>
          <p:nvPr>
            <p:ph type="body" idx="1"/>
          </p:nvPr>
        </p:nvSpPr>
        <p:spPr bwMode="auto">
          <a:noFill/>
        </p:spPr>
        <p:txBody>
          <a:bodyPr/>
          <a:lstStyle/>
          <a:p>
            <a:pPr eaLnBrk="1" hangingPunct="1"/>
            <a:endParaRPr lang="zh-CN" altLang="zh-CN" smtClean="0"/>
          </a:p>
        </p:txBody>
      </p:sp>
      <p:sp>
        <p:nvSpPr>
          <p:cNvPr id="64516"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1BEBA400-DDAE-4A3C-823C-F510D01F8F1F}"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ln>
        </p:spPr>
      </p:sp>
      <p:sp>
        <p:nvSpPr>
          <p:cNvPr id="65539" name="Notes Placeholder 2"/>
          <p:cNvSpPr>
            <a:spLocks noGrp="1"/>
          </p:cNvSpPr>
          <p:nvPr>
            <p:ph type="body" idx="1"/>
          </p:nvPr>
        </p:nvSpPr>
        <p:spPr bwMode="auto">
          <a:noFill/>
        </p:spPr>
        <p:txBody>
          <a:bodyPr/>
          <a:lstStyle/>
          <a:p>
            <a:pPr eaLnBrk="1" hangingPunct="1"/>
            <a:endParaRPr lang="zh-CN" altLang="zh-CN" smtClean="0"/>
          </a:p>
        </p:txBody>
      </p:sp>
      <p:sp>
        <p:nvSpPr>
          <p:cNvPr id="65540"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ED22AD64-87D8-458C-8D5A-5846625F1815}"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ln>
        </p:spPr>
      </p:sp>
      <p:sp>
        <p:nvSpPr>
          <p:cNvPr id="66563" name="Notes Placeholder 2"/>
          <p:cNvSpPr>
            <a:spLocks noGrp="1"/>
          </p:cNvSpPr>
          <p:nvPr>
            <p:ph type="body" idx="1"/>
          </p:nvPr>
        </p:nvSpPr>
        <p:spPr bwMode="auto">
          <a:noFill/>
        </p:spPr>
        <p:txBody>
          <a:bodyPr/>
          <a:lstStyle/>
          <a:p>
            <a:pPr eaLnBrk="1" hangingPunct="1"/>
            <a:endParaRPr lang="zh-CN" altLang="zh-CN" smtClean="0"/>
          </a:p>
        </p:txBody>
      </p:sp>
      <p:sp>
        <p:nvSpPr>
          <p:cNvPr id="66564"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A51A32BA-8A24-450C-B815-74B83E9B193D}"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ln>
        </p:spPr>
      </p:sp>
      <p:sp>
        <p:nvSpPr>
          <p:cNvPr id="67587" name="Notes Placeholder 2"/>
          <p:cNvSpPr>
            <a:spLocks noGrp="1"/>
          </p:cNvSpPr>
          <p:nvPr>
            <p:ph type="body" idx="1"/>
          </p:nvPr>
        </p:nvSpPr>
        <p:spPr bwMode="auto">
          <a:noFill/>
        </p:spPr>
        <p:txBody>
          <a:bodyPr/>
          <a:lstStyle/>
          <a:p>
            <a:pPr eaLnBrk="1" hangingPunct="1"/>
            <a:endParaRPr lang="zh-CN" altLang="zh-CN" smtClean="0"/>
          </a:p>
        </p:txBody>
      </p:sp>
      <p:sp>
        <p:nvSpPr>
          <p:cNvPr id="67588"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7BB2BA9D-E36C-4047-94A4-3DDC4D37213A}"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ln>
        </p:spPr>
      </p:sp>
      <p:sp>
        <p:nvSpPr>
          <p:cNvPr id="68611" name="Notes Placeholder 2"/>
          <p:cNvSpPr>
            <a:spLocks noGrp="1"/>
          </p:cNvSpPr>
          <p:nvPr>
            <p:ph type="body" idx="1"/>
          </p:nvPr>
        </p:nvSpPr>
        <p:spPr bwMode="auto">
          <a:noFill/>
        </p:spPr>
        <p:txBody>
          <a:bodyPr/>
          <a:lstStyle/>
          <a:p>
            <a:pPr eaLnBrk="1" hangingPunct="1"/>
            <a:endParaRPr lang="zh-CN" altLang="zh-CN" smtClean="0"/>
          </a:p>
        </p:txBody>
      </p:sp>
      <p:sp>
        <p:nvSpPr>
          <p:cNvPr id="68612"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931615E1-C433-44F8-8D5B-D138F97CF7D3}"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ln>
        </p:spPr>
      </p:sp>
      <p:sp>
        <p:nvSpPr>
          <p:cNvPr id="69635" name="Notes Placeholder 2"/>
          <p:cNvSpPr>
            <a:spLocks noGrp="1"/>
          </p:cNvSpPr>
          <p:nvPr>
            <p:ph type="body" idx="1"/>
          </p:nvPr>
        </p:nvSpPr>
        <p:spPr bwMode="auto">
          <a:noFill/>
        </p:spPr>
        <p:txBody>
          <a:bodyPr/>
          <a:lstStyle/>
          <a:p>
            <a:pPr eaLnBrk="1" hangingPunct="1"/>
            <a:endParaRPr lang="zh-CN" altLang="zh-CN" smtClean="0"/>
          </a:p>
        </p:txBody>
      </p:sp>
      <p:sp>
        <p:nvSpPr>
          <p:cNvPr id="69636"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9B920A88-8A54-4B1D-BB38-F81A92B3B27A}"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ln>
        </p:spPr>
      </p:sp>
      <p:sp>
        <p:nvSpPr>
          <p:cNvPr id="70659" name="Notes Placeholder 2"/>
          <p:cNvSpPr>
            <a:spLocks noGrp="1"/>
          </p:cNvSpPr>
          <p:nvPr>
            <p:ph type="body" idx="1"/>
          </p:nvPr>
        </p:nvSpPr>
        <p:spPr bwMode="auto">
          <a:noFill/>
        </p:spPr>
        <p:txBody>
          <a:bodyPr/>
          <a:lstStyle/>
          <a:p>
            <a:pPr eaLnBrk="1" hangingPunct="1"/>
            <a:endParaRPr lang="zh-CN" altLang="zh-CN" smtClean="0"/>
          </a:p>
        </p:txBody>
      </p:sp>
      <p:sp>
        <p:nvSpPr>
          <p:cNvPr id="70660"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35C8F85A-E958-4A4A-B529-5CA515340631}"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ln>
        </p:spPr>
      </p:sp>
      <p:sp>
        <p:nvSpPr>
          <p:cNvPr id="71683" name="Notes Placeholder 2"/>
          <p:cNvSpPr>
            <a:spLocks noGrp="1"/>
          </p:cNvSpPr>
          <p:nvPr>
            <p:ph type="body" idx="1"/>
          </p:nvPr>
        </p:nvSpPr>
        <p:spPr bwMode="auto">
          <a:noFill/>
        </p:spPr>
        <p:txBody>
          <a:bodyPr/>
          <a:lstStyle/>
          <a:p>
            <a:pPr eaLnBrk="1" hangingPunct="1"/>
            <a:endParaRPr lang="zh-CN" altLang="zh-CN" smtClean="0"/>
          </a:p>
        </p:txBody>
      </p:sp>
      <p:sp>
        <p:nvSpPr>
          <p:cNvPr id="71684"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41F4CDBE-1645-4ADC-A9D1-5D542B359EAB}"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ln>
        </p:spPr>
      </p:sp>
      <p:sp>
        <p:nvSpPr>
          <p:cNvPr id="72707" name="Notes Placeholder 2"/>
          <p:cNvSpPr>
            <a:spLocks noGrp="1"/>
          </p:cNvSpPr>
          <p:nvPr>
            <p:ph type="body" idx="1"/>
          </p:nvPr>
        </p:nvSpPr>
        <p:spPr bwMode="auto">
          <a:noFill/>
        </p:spPr>
        <p:txBody>
          <a:bodyPr/>
          <a:lstStyle/>
          <a:p>
            <a:pPr eaLnBrk="1" hangingPunct="1"/>
            <a:endParaRPr lang="zh-CN" altLang="zh-CN" smtClean="0"/>
          </a:p>
        </p:txBody>
      </p:sp>
      <p:sp>
        <p:nvSpPr>
          <p:cNvPr id="72708"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E9040B03-ECC7-427E-970C-09B4C99E8A56}"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ln>
        </p:spPr>
      </p:sp>
      <p:sp>
        <p:nvSpPr>
          <p:cNvPr id="73731" name="Notes Placeholder 2"/>
          <p:cNvSpPr>
            <a:spLocks noGrp="1"/>
          </p:cNvSpPr>
          <p:nvPr>
            <p:ph type="body" idx="1"/>
          </p:nvPr>
        </p:nvSpPr>
        <p:spPr bwMode="auto">
          <a:noFill/>
        </p:spPr>
        <p:txBody>
          <a:bodyPr/>
          <a:lstStyle/>
          <a:p>
            <a:pPr eaLnBrk="1" hangingPunct="1"/>
            <a:endParaRPr lang="zh-CN" altLang="zh-CN" smtClean="0"/>
          </a:p>
        </p:txBody>
      </p:sp>
      <p:sp>
        <p:nvSpPr>
          <p:cNvPr id="73732"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02D87D13-E7D5-4D68-B433-102E3A1AA841}"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ln>
        </p:spPr>
      </p:sp>
      <p:sp>
        <p:nvSpPr>
          <p:cNvPr id="74755" name="Notes Placeholder 2"/>
          <p:cNvSpPr>
            <a:spLocks noGrp="1"/>
          </p:cNvSpPr>
          <p:nvPr>
            <p:ph type="body" idx="1"/>
          </p:nvPr>
        </p:nvSpPr>
        <p:spPr bwMode="auto">
          <a:noFill/>
        </p:spPr>
        <p:txBody>
          <a:bodyPr/>
          <a:lstStyle/>
          <a:p>
            <a:pPr eaLnBrk="1" hangingPunct="1"/>
            <a:endParaRPr lang="zh-CN" altLang="zh-CN" smtClean="0"/>
          </a:p>
        </p:txBody>
      </p:sp>
      <p:sp>
        <p:nvSpPr>
          <p:cNvPr id="74756"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AA792F8B-9CB5-44AD-8BFE-321C0DB1D563}"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ln>
        </p:spPr>
      </p:sp>
      <p:sp>
        <p:nvSpPr>
          <p:cNvPr id="75779" name="Notes Placeholder 2"/>
          <p:cNvSpPr>
            <a:spLocks noGrp="1"/>
          </p:cNvSpPr>
          <p:nvPr>
            <p:ph type="body" idx="1"/>
          </p:nvPr>
        </p:nvSpPr>
        <p:spPr bwMode="auto">
          <a:noFill/>
        </p:spPr>
        <p:txBody>
          <a:bodyPr/>
          <a:lstStyle/>
          <a:p>
            <a:pPr eaLnBrk="1" hangingPunct="1"/>
            <a:endParaRPr lang="zh-CN" altLang="zh-CN" smtClean="0"/>
          </a:p>
        </p:txBody>
      </p:sp>
      <p:sp>
        <p:nvSpPr>
          <p:cNvPr id="75780"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DFCB628F-888D-446B-BC41-08B6B561A4B6}"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ln>
        </p:spPr>
      </p:sp>
      <p:sp>
        <p:nvSpPr>
          <p:cNvPr id="76803" name="Notes Placeholder 2"/>
          <p:cNvSpPr>
            <a:spLocks noGrp="1"/>
          </p:cNvSpPr>
          <p:nvPr>
            <p:ph type="body" idx="1"/>
          </p:nvPr>
        </p:nvSpPr>
        <p:spPr bwMode="auto">
          <a:noFill/>
        </p:spPr>
        <p:txBody>
          <a:bodyPr/>
          <a:lstStyle/>
          <a:p>
            <a:pPr eaLnBrk="1" hangingPunct="1"/>
            <a:endParaRPr lang="zh-CN" altLang="zh-CN" smtClean="0"/>
          </a:p>
        </p:txBody>
      </p:sp>
      <p:sp>
        <p:nvSpPr>
          <p:cNvPr id="76804"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5A4832D2-12E7-422B-8350-0CA61F7B68DB}"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ln>
        </p:spPr>
      </p:sp>
      <p:sp>
        <p:nvSpPr>
          <p:cNvPr id="77827" name="Notes Placeholder 2"/>
          <p:cNvSpPr>
            <a:spLocks noGrp="1"/>
          </p:cNvSpPr>
          <p:nvPr>
            <p:ph type="body" idx="1"/>
          </p:nvPr>
        </p:nvSpPr>
        <p:spPr bwMode="auto">
          <a:noFill/>
        </p:spPr>
        <p:txBody>
          <a:bodyPr/>
          <a:lstStyle/>
          <a:p>
            <a:pPr eaLnBrk="1" hangingPunct="1"/>
            <a:endParaRPr lang="zh-CN" altLang="zh-CN" smtClean="0"/>
          </a:p>
        </p:txBody>
      </p:sp>
      <p:sp>
        <p:nvSpPr>
          <p:cNvPr id="77828"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FFF3B6EA-DE69-4CBC-B8E1-E864A397333A}"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ln>
        </p:spPr>
      </p:sp>
      <p:sp>
        <p:nvSpPr>
          <p:cNvPr id="78851" name="Notes Placeholder 2"/>
          <p:cNvSpPr>
            <a:spLocks noGrp="1"/>
          </p:cNvSpPr>
          <p:nvPr>
            <p:ph type="body" idx="1"/>
          </p:nvPr>
        </p:nvSpPr>
        <p:spPr bwMode="auto">
          <a:noFill/>
        </p:spPr>
        <p:txBody>
          <a:bodyPr/>
          <a:lstStyle/>
          <a:p>
            <a:pPr eaLnBrk="1" hangingPunct="1"/>
            <a:endParaRPr lang="zh-CN" altLang="zh-CN" smtClean="0"/>
          </a:p>
        </p:txBody>
      </p:sp>
      <p:sp>
        <p:nvSpPr>
          <p:cNvPr id="78852"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EBB9A431-550B-4A39-9F0C-5A3472E23A9F}"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ln>
        </p:spPr>
      </p:sp>
      <p:sp>
        <p:nvSpPr>
          <p:cNvPr id="79875" name="Notes Placeholder 2"/>
          <p:cNvSpPr>
            <a:spLocks noGrp="1"/>
          </p:cNvSpPr>
          <p:nvPr>
            <p:ph type="body" idx="1"/>
          </p:nvPr>
        </p:nvSpPr>
        <p:spPr bwMode="auto">
          <a:noFill/>
        </p:spPr>
        <p:txBody>
          <a:bodyPr/>
          <a:lstStyle/>
          <a:p>
            <a:pPr eaLnBrk="1" hangingPunct="1"/>
            <a:endParaRPr lang="zh-CN" altLang="zh-CN" smtClean="0"/>
          </a:p>
        </p:txBody>
      </p:sp>
      <p:sp>
        <p:nvSpPr>
          <p:cNvPr id="79876"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00F88E80-79D0-475A-A327-D2EAA97AAE43}"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ln>
        </p:spPr>
      </p:sp>
      <p:sp>
        <p:nvSpPr>
          <p:cNvPr id="80899" name="Notes Placeholder 2"/>
          <p:cNvSpPr>
            <a:spLocks noGrp="1"/>
          </p:cNvSpPr>
          <p:nvPr>
            <p:ph type="body" idx="1"/>
          </p:nvPr>
        </p:nvSpPr>
        <p:spPr bwMode="auto">
          <a:noFill/>
        </p:spPr>
        <p:txBody>
          <a:bodyPr/>
          <a:lstStyle/>
          <a:p>
            <a:pPr eaLnBrk="1" hangingPunct="1"/>
            <a:endParaRPr lang="zh-CN" altLang="zh-CN" smtClean="0"/>
          </a:p>
        </p:txBody>
      </p:sp>
      <p:sp>
        <p:nvSpPr>
          <p:cNvPr id="80900"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D3D4CD5C-A47C-4A6E-B440-AAA41EB7988E}"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ln>
        </p:spPr>
      </p:sp>
      <p:sp>
        <p:nvSpPr>
          <p:cNvPr id="81923" name="Notes Placeholder 2"/>
          <p:cNvSpPr>
            <a:spLocks noGrp="1"/>
          </p:cNvSpPr>
          <p:nvPr>
            <p:ph type="body" idx="1"/>
          </p:nvPr>
        </p:nvSpPr>
        <p:spPr bwMode="auto">
          <a:noFill/>
        </p:spPr>
        <p:txBody>
          <a:bodyPr/>
          <a:lstStyle/>
          <a:p>
            <a:pPr eaLnBrk="1" hangingPunct="1"/>
            <a:endParaRPr lang="zh-CN" altLang="zh-CN" smtClean="0"/>
          </a:p>
        </p:txBody>
      </p:sp>
      <p:sp>
        <p:nvSpPr>
          <p:cNvPr id="81924"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C52A1E3F-EBC5-4011-9030-EAB7EE41398F}"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ln>
        </p:spPr>
      </p:sp>
      <p:sp>
        <p:nvSpPr>
          <p:cNvPr id="82947" name="Notes Placeholder 2"/>
          <p:cNvSpPr>
            <a:spLocks noGrp="1"/>
          </p:cNvSpPr>
          <p:nvPr>
            <p:ph type="body" idx="1"/>
          </p:nvPr>
        </p:nvSpPr>
        <p:spPr bwMode="auto">
          <a:noFill/>
        </p:spPr>
        <p:txBody>
          <a:bodyPr/>
          <a:lstStyle/>
          <a:p>
            <a:pPr eaLnBrk="1" hangingPunct="1"/>
            <a:endParaRPr lang="zh-CN" altLang="zh-CN" smtClean="0"/>
          </a:p>
        </p:txBody>
      </p:sp>
      <p:sp>
        <p:nvSpPr>
          <p:cNvPr id="82948" name="Slide Number Placeholder 3"/>
          <p:cNvSpPr txBox="1">
            <a:spLocks noGrp="1"/>
          </p:cNvSpPr>
          <p:nvPr/>
        </p:nvSpPr>
        <p:spPr bwMode="auto">
          <a:xfrm>
            <a:off x="3884613" y="8685213"/>
            <a:ext cx="2971800" cy="457200"/>
          </a:xfrm>
          <a:prstGeom prst="rect">
            <a:avLst/>
          </a:prstGeom>
          <a:noFill/>
          <a:ln w="9525">
            <a:noFill/>
            <a:miter lim="800000"/>
          </a:ln>
        </p:spPr>
        <p:txBody>
          <a:bodyPr anchor="b"/>
          <a:lstStyle/>
          <a:p>
            <a:pPr algn="r"/>
            <a:fld id="{B476FF4F-B94C-4948-9961-9EA899F4845A}" type="slidenum">
              <a:rPr lang="en-US" altLang="zh-CN" sz="1200">
                <a:latin typeface="Calibri" panose="020F0502020204030204" pitchFamily="34" charset="0"/>
              </a:rPr>
            </a:fld>
            <a:endParaRPr lang="en-US" altLang="zh-CN" sz="1200">
              <a:latin typeface="Calibri" panose="020F0502020204030204"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BA13594-6F86-48A9-AF71-C9C16518C875}" type="slidenum">
              <a:rPr lang="en-US" altLang="zh-CN"/>
            </a:fld>
            <a:endParaRPr lang="en-US" altLang="zh-CN"/>
          </a:p>
        </p:txBody>
      </p:sp>
      <p:sp>
        <p:nvSpPr>
          <p:cNvPr id="83971" name="Rectangle 2"/>
          <p:cNvSpPr>
            <a:spLocks noRot="1" noChangeArrowheads="1" noTextEdit="1"/>
          </p:cNvSpPr>
          <p:nvPr>
            <p:ph type="sldImg"/>
          </p:nvPr>
        </p:nvSpPr>
        <p:spPr bwMode="auto">
          <a:noFill/>
          <a:ln>
            <a:solidFill>
              <a:srgbClr val="000000"/>
            </a:solidFill>
            <a:miter lim="800000"/>
          </a:ln>
        </p:spPr>
      </p:sp>
      <p:sp>
        <p:nvSpPr>
          <p:cNvPr id="83972" name="Rectangle 3"/>
          <p:cNvSpPr>
            <a:spLocks noGrp="1" noChangeArrowheads="1"/>
          </p:cNvSpPr>
          <p:nvPr>
            <p:ph type="body" idx="1"/>
          </p:nvPr>
        </p:nvSpPr>
        <p:spPr bwMode="auto">
          <a:noFill/>
        </p:spPr>
        <p:txBody>
          <a:bodyPr/>
          <a:lstStyle/>
          <a:p>
            <a:r>
              <a:rPr lang="en-US" altLang="zh-CN" smtClean="0"/>
              <a:t> UML</a:t>
            </a:r>
            <a:r>
              <a:rPr lang="zh-CN" altLang="en-US" smtClean="0"/>
              <a:t>（</a:t>
            </a:r>
            <a:r>
              <a:rPr lang="en-US" altLang="zh-CN" smtClean="0"/>
              <a:t>Unified Modeling Language</a:t>
            </a:r>
            <a:r>
              <a:rPr lang="zh-CN" altLang="en-US" smtClean="0"/>
              <a:t>）是一种建模语言，是用来为面向对象开发的软件系统进行可视化描述、建造和文档编制的建模语言。</a:t>
            </a:r>
            <a:r>
              <a:rPr lang="en-US" altLang="zh-CN" smtClean="0"/>
              <a:t>UML</a:t>
            </a:r>
            <a:r>
              <a:rPr lang="zh-CN" altLang="en-US" smtClean="0"/>
              <a:t>取代目前软件业众多的分析和设计方法，成为一种标准，这使信息产业第一次有了一个统一的建模语言 </a:t>
            </a:r>
            <a:endParaRPr lang="zh-CN"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1E8CC72-2786-46F7-8838-2D44AD73C8A1}" type="slidenum">
              <a:rPr lang="en-US" altLang="zh-CN"/>
            </a:fld>
            <a:endParaRPr lang="en-US" altLang="zh-CN"/>
          </a:p>
        </p:txBody>
      </p:sp>
      <p:sp>
        <p:nvSpPr>
          <p:cNvPr id="84995" name="Rectangle 2"/>
          <p:cNvSpPr>
            <a:spLocks noRot="1" noChangeArrowheads="1" noTextEdit="1"/>
          </p:cNvSpPr>
          <p:nvPr>
            <p:ph type="sldImg"/>
          </p:nvPr>
        </p:nvSpPr>
        <p:spPr bwMode="auto">
          <a:noFill/>
          <a:ln>
            <a:solidFill>
              <a:srgbClr val="000000"/>
            </a:solidFill>
            <a:miter lim="800000"/>
          </a:ln>
        </p:spPr>
      </p:sp>
      <p:sp>
        <p:nvSpPr>
          <p:cNvPr id="84996" name="Rectangle 3"/>
          <p:cNvSpPr>
            <a:spLocks noGrp="1" noChangeArrowheads="1"/>
          </p:cNvSpPr>
          <p:nvPr>
            <p:ph type="body" idx="1"/>
          </p:nvPr>
        </p:nvSpPr>
        <p:spPr bwMode="auto">
          <a:noFill/>
        </p:spPr>
        <p:txBody>
          <a:bodyPr/>
          <a:lstStyle/>
          <a:p>
            <a:endParaRPr lang="zh-CN" altLang="zh-CN" b="1"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r>
              <a:rPr lang="zh-CN" altLang="en-US"/>
              <a:t>第</a:t>
            </a:r>
            <a:fld id="{AFA3A147-A457-4785-9495-0C42679EDB09}" type="slidenum">
              <a:rPr lang="zh-CN" altLang="en-US"/>
            </a:fld>
            <a:r>
              <a:rPr lang="zh-CN" altLang="en-US"/>
              <a:t>页</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r>
              <a:rPr lang="zh-CN" altLang="en-US"/>
              <a:t>第</a:t>
            </a:r>
            <a:fld id="{6D51B680-8857-447F-B336-12D1DA7AC4DD}" type="slidenum">
              <a:rPr lang="zh-CN" altLang="en-US"/>
            </a:fld>
            <a:r>
              <a:rPr lang="zh-CN" altLang="en-US"/>
              <a:t>页</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6"/>
          <p:cNvSpPr>
            <a:spLocks noGrp="1" noChangeArrowheads="1"/>
          </p:cNvSpPr>
          <p:nvPr>
            <p:ph type="sldNum" sz="quarter" idx="10"/>
          </p:nvPr>
        </p:nvSpPr>
        <p:spPr/>
        <p:txBody>
          <a:bodyPr/>
          <a:lstStyle>
            <a:lvl1pPr>
              <a:defRPr/>
            </a:lvl1pPr>
          </a:lstStyle>
          <a:p>
            <a:pPr>
              <a:defRPr/>
            </a:pPr>
            <a:r>
              <a:rPr lang="zh-CN" altLang="en-US"/>
              <a:t>第</a:t>
            </a:r>
            <a:fld id="{7FD7A3A3-1CFD-4930-93DD-13243CCBAF35}" type="slidenum">
              <a:rPr lang="zh-CN" altLang="en-US"/>
            </a:fld>
            <a:r>
              <a:rPr lang="zh-CN" altLang="en-US"/>
              <a:t>页</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6"/>
          <p:cNvSpPr>
            <a:spLocks noGrp="1" noChangeArrowheads="1"/>
          </p:cNvSpPr>
          <p:nvPr>
            <p:ph type="sldNum" sz="quarter" idx="10"/>
          </p:nvPr>
        </p:nvSpPr>
        <p:spPr/>
        <p:txBody>
          <a:bodyPr/>
          <a:lstStyle>
            <a:lvl1pPr>
              <a:defRPr/>
            </a:lvl1pPr>
          </a:lstStyle>
          <a:p>
            <a:pPr>
              <a:defRPr/>
            </a:pPr>
            <a:r>
              <a:rPr lang="zh-CN" altLang="en-US"/>
              <a:t>第</a:t>
            </a:r>
            <a:fld id="{E46B3B8B-AE9F-425B-83BC-6857B394B156}" type="slidenum">
              <a:rPr lang="zh-CN" altLang="en-US"/>
            </a:fld>
            <a:r>
              <a:rPr lang="zh-CN" altLang="en-US"/>
              <a:t>页</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6"/>
          <p:cNvSpPr>
            <a:spLocks noGrp="1" noChangeArrowheads="1"/>
          </p:cNvSpPr>
          <p:nvPr>
            <p:ph type="sldNum" sz="quarter" idx="10"/>
          </p:nvPr>
        </p:nvSpPr>
        <p:spPr/>
        <p:txBody>
          <a:bodyPr/>
          <a:lstStyle>
            <a:lvl1pPr>
              <a:defRPr/>
            </a:lvl1pPr>
          </a:lstStyle>
          <a:p>
            <a:pPr>
              <a:defRPr/>
            </a:pPr>
            <a:r>
              <a:rPr lang="zh-CN" altLang="en-US"/>
              <a:t>第</a:t>
            </a:r>
            <a:fld id="{7E260A33-B4F1-472E-BC8D-0BA815CE87EE}" type="slidenum">
              <a:rPr lang="zh-CN" altLang="en-US"/>
            </a:fld>
            <a:r>
              <a:rPr lang="zh-CN" altLang="en-US"/>
              <a:t>页</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p:txBody>
          <a:bodyPr/>
          <a:lstStyle>
            <a:lvl1pPr>
              <a:defRPr/>
            </a:lvl1pPr>
          </a:lstStyle>
          <a:p>
            <a:pPr>
              <a:defRPr/>
            </a:pPr>
            <a:r>
              <a:rPr lang="zh-CN" altLang="en-US"/>
              <a:t>第</a:t>
            </a:r>
            <a:fld id="{EDAFDCE5-7456-456E-9D3F-8F2732C8476F}" type="slidenum">
              <a:rPr lang="zh-CN" altLang="en-US"/>
            </a:fld>
            <a:r>
              <a:rPr lang="zh-CN" altLang="en-US"/>
              <a:t>页</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p:txBody>
          <a:bodyPr/>
          <a:lstStyle>
            <a:lvl1pPr>
              <a:defRPr/>
            </a:lvl1pPr>
          </a:lstStyle>
          <a:p>
            <a:pPr>
              <a:defRPr/>
            </a:pPr>
            <a:r>
              <a:rPr lang="zh-CN" altLang="en-US"/>
              <a:t>第</a:t>
            </a:r>
            <a:fld id="{B99FB294-69F5-47A4-84EA-BEB335226DFA}" type="slidenum">
              <a:rPr lang="zh-CN" altLang="en-US"/>
            </a:fld>
            <a:r>
              <a:rPr lang="zh-CN" altLang="en-US"/>
              <a:t>页</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sldNum" sz="quarter" idx="10"/>
          </p:nvPr>
        </p:nvSpPr>
        <p:spPr/>
        <p:txBody>
          <a:bodyPr/>
          <a:lstStyle>
            <a:lvl1pPr>
              <a:defRPr/>
            </a:lvl1pPr>
          </a:lstStyle>
          <a:p>
            <a:pPr>
              <a:defRPr/>
            </a:pPr>
            <a:r>
              <a:rPr lang="zh-CN" altLang="en-US"/>
              <a:t>第</a:t>
            </a:r>
            <a:fld id="{A4A06CD3-9E42-4E95-8015-1BB9516895DB}" type="slidenum">
              <a:rPr lang="zh-CN" altLang="en-US"/>
            </a:fld>
            <a:r>
              <a:rPr lang="zh-CN" altLang="en-US"/>
              <a:t>页</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6"/>
          <p:cNvSpPr>
            <a:spLocks noGrp="1" noChangeArrowheads="1"/>
          </p:cNvSpPr>
          <p:nvPr>
            <p:ph type="sldNum" sz="quarter" idx="10"/>
          </p:nvPr>
        </p:nvSpPr>
        <p:spPr/>
        <p:txBody>
          <a:bodyPr/>
          <a:lstStyle>
            <a:lvl1pPr>
              <a:defRPr/>
            </a:lvl1pPr>
          </a:lstStyle>
          <a:p>
            <a:pPr>
              <a:defRPr/>
            </a:pPr>
            <a:r>
              <a:rPr lang="zh-CN" altLang="en-US"/>
              <a:t>第</a:t>
            </a:r>
            <a:fld id="{5D805C70-8996-4D89-A7A4-D84DF5355C40}" type="slidenum">
              <a:rPr lang="zh-CN" altLang="en-US"/>
            </a:fld>
            <a:r>
              <a:rPr lang="zh-CN" altLang="en-US"/>
              <a:t>页</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r>
              <a:rPr lang="zh-CN" altLang="en-US"/>
              <a:t>第</a:t>
            </a:r>
            <a:fld id="{BFB9E99F-4A04-4150-A4AC-D52983F1775D}" type="slidenum">
              <a:rPr lang="zh-CN" altLang="en-US"/>
            </a:fld>
            <a:r>
              <a:rPr lang="zh-CN" altLang="en-US"/>
              <a:t>页</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6"/>
          <p:cNvSpPr>
            <a:spLocks noGrp="1" noChangeArrowheads="1"/>
          </p:cNvSpPr>
          <p:nvPr>
            <p:ph type="sldNum" sz="quarter" idx="10"/>
          </p:nvPr>
        </p:nvSpPr>
        <p:spPr/>
        <p:txBody>
          <a:bodyPr/>
          <a:lstStyle>
            <a:lvl1pPr>
              <a:defRPr/>
            </a:lvl1pPr>
          </a:lstStyle>
          <a:p>
            <a:pPr>
              <a:defRPr/>
            </a:pPr>
            <a:r>
              <a:rPr lang="zh-CN" altLang="en-US"/>
              <a:t>第</a:t>
            </a:r>
            <a:fld id="{BB1D5145-6AB8-419F-B412-02E4DF49A1EC}" type="slidenum">
              <a:rPr lang="zh-CN" altLang="en-US"/>
            </a:fld>
            <a:r>
              <a:rPr lang="zh-CN" altLang="en-US"/>
              <a:t>页</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p:txBody>
          <a:bodyPr/>
          <a:lstStyle>
            <a:lvl1pPr>
              <a:defRPr/>
            </a:lvl1pPr>
          </a:lstStyle>
          <a:p>
            <a:pPr>
              <a:defRPr/>
            </a:pPr>
            <a:r>
              <a:rPr lang="zh-CN" altLang="en-US"/>
              <a:t>第</a:t>
            </a:r>
            <a:fld id="{FC37BC51-9E6D-4543-8F96-D6B6AFB5F21F}" type="slidenum">
              <a:rPr lang="zh-CN" altLang="en-US"/>
            </a:fld>
            <a:r>
              <a:rPr lang="zh-CN" altLang="en-US"/>
              <a:t>页</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3"/>
            <a:srcRect/>
            <a:tile tx="0" ty="0" sx="100000" sy="100000" flip="none" algn="tl"/>
          </a:blipFill>
          <a:ln w="9525">
            <a:noFill/>
            <a:miter lim="800000"/>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ln>
          <a:effectLst/>
        </p:spPr>
        <p:txBody>
          <a:bodyPr vert="horz" wrap="square" lIns="91440" tIns="45720" rIns="91440" bIns="45720" numCol="1" anchor="t" anchorCtr="0" compatLnSpc="1"/>
          <a:lstStyle>
            <a:lvl1pPr algn="r">
              <a:defRPr sz="1400">
                <a:ea typeface="+mn-ea"/>
              </a:defRPr>
            </a:lvl1pPr>
          </a:lstStyle>
          <a:p>
            <a:pPr>
              <a:defRPr/>
            </a:pPr>
            <a:r>
              <a:rPr lang="zh-CN" altLang="en-US"/>
              <a:t>第</a:t>
            </a:r>
            <a:fld id="{2141F614-46B6-4336-8CF3-AE1740467E10}" type="slidenum">
              <a:rPr lang="zh-CN" altLang="en-US"/>
            </a:fld>
            <a:r>
              <a:rPr lang="zh-CN" altLang="en-US"/>
              <a:t>页</a:t>
            </a:r>
            <a:endParaRPr lang="zh-CN" altLang="en-US"/>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ln>
          <a:effectLst/>
        </p:spPr>
        <p:txBody>
          <a:bodyPr>
            <a:spAutoFit/>
          </a:bodyPr>
          <a:lstStyle/>
          <a:p>
            <a:pPr algn="ctr">
              <a:spcBef>
                <a:spcPct val="50000"/>
              </a:spcBef>
              <a:defRPr/>
            </a:pPr>
            <a:r>
              <a:rPr lang="zh-CN" altLang="en-US" sz="1200" dirty="0">
                <a:ea typeface="+mn-ea"/>
              </a:rPr>
              <a:t>第</a:t>
            </a:r>
            <a:r>
              <a:rPr lang="en-US" altLang="zh-CN" sz="1200" dirty="0">
                <a:ea typeface="+mn-ea"/>
              </a:rPr>
              <a:t>1</a:t>
            </a:r>
            <a:r>
              <a:rPr lang="zh-CN" altLang="en-US" sz="1200" dirty="0">
                <a:ea typeface="+mn-ea"/>
              </a:rPr>
              <a:t>章  面向对象与</a:t>
            </a:r>
            <a:r>
              <a:rPr lang="en-US" altLang="zh-CN" sz="1200" dirty="0">
                <a:ea typeface="+mn-ea"/>
              </a:rPr>
              <a:t>UML</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b="1">
          <a:solidFill>
            <a:srgbClr val="FF0000"/>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b="1">
          <a:solidFill>
            <a:srgbClr val="FF0000"/>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b="1">
          <a:solidFill>
            <a:srgbClr val="FF00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b="1">
          <a:solidFill>
            <a:srgbClr val="FF00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b="1">
          <a:solidFill>
            <a:srgbClr val="FF00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b="1">
          <a:solidFill>
            <a:srgbClr val="FF00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b="1">
          <a:solidFill>
            <a:srgbClr val="FF0000"/>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SzPct val="75000"/>
        <a:buFont typeface="Wingdings" panose="05000000000000000000"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wm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w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4.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wmf"/></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image" Target="../media/image28.wmf"/></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wmf"/><Relationship Id="rId3" Type="http://schemas.openxmlformats.org/officeDocument/2006/relationships/image" Target="../media/image30.png"/><Relationship Id="rId2" Type="http://schemas.openxmlformats.org/officeDocument/2006/relationships/image" Target="../media/image29.wmf"/><Relationship Id="rId1" Type="http://schemas.openxmlformats.org/officeDocument/2006/relationships/image" Target="../media/image28.wmf"/></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4D60AE5B-E050-408E-98D3-AF8D0B464D25}" type="slidenum">
              <a:rPr lang="zh-CN" altLang="en-US"/>
            </a:fld>
            <a:r>
              <a:rPr lang="zh-CN" altLang="en-US"/>
              <a:t>页</a:t>
            </a:r>
            <a:endParaRPr lang="zh-CN" altLang="en-US"/>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smtClean="0"/>
              <a:t>第</a:t>
            </a:r>
            <a:r>
              <a:rPr lang="en-US" altLang="zh-CN" smtClean="0"/>
              <a:t>1</a:t>
            </a:r>
            <a:r>
              <a:rPr lang="zh-CN" altLang="en-US" smtClean="0"/>
              <a:t>章  面向对象与</a:t>
            </a:r>
            <a:r>
              <a:rPr lang="en-US" altLang="zh-CN" smtClean="0"/>
              <a:t>UML</a:t>
            </a:r>
            <a:endParaRPr lang="zh-CN" altLang="en-US" smtClean="0"/>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ln>
        </p:spPr>
        <p:txBody>
          <a:bodyPr>
            <a:spAutoFit/>
          </a:bodyPr>
          <a:lstStyle/>
          <a:p>
            <a:pPr>
              <a:spcBef>
                <a:spcPct val="50000"/>
              </a:spcBef>
            </a:pPr>
            <a:r>
              <a:rPr lang="zh-CN" altLang="en-US" sz="3600">
                <a:solidFill>
                  <a:srgbClr val="0000CC"/>
                </a:solidFill>
                <a:ea typeface="华文隶书" panose="02010800040101010101" pitchFamily="2" charset="-122"/>
              </a:rPr>
              <a:t>本章概述 </a:t>
            </a:r>
            <a:endParaRPr lang="zh-CN" altLang="en-US" sz="3600">
              <a:solidFill>
                <a:srgbClr val="0000CC"/>
              </a:solidFill>
              <a:ea typeface="华文隶书" panose="02010800040101010101" pitchFamily="2" charset="-122"/>
            </a:endParaRPr>
          </a:p>
          <a:p>
            <a:pPr>
              <a:spcBef>
                <a:spcPct val="50000"/>
              </a:spcBef>
            </a:pPr>
            <a:r>
              <a:rPr lang="zh-CN" altLang="en-US" sz="3600">
                <a:solidFill>
                  <a:srgbClr val="0000CC"/>
                </a:solidFill>
                <a:ea typeface="华文隶书" panose="02010800040101010101" pitchFamily="2" charset="-122"/>
              </a:rPr>
              <a:t>本章的学习目标</a:t>
            </a:r>
            <a:endParaRPr lang="zh-CN" altLang="en-US" sz="3600">
              <a:solidFill>
                <a:srgbClr val="0000CC"/>
              </a:solidFill>
              <a:ea typeface="华文隶书" panose="02010800040101010101" pitchFamily="2" charset="-122"/>
            </a:endParaRPr>
          </a:p>
          <a:p>
            <a:pPr>
              <a:spcBef>
                <a:spcPct val="50000"/>
              </a:spcBef>
            </a:pPr>
            <a:r>
              <a:rPr lang="zh-CN" altLang="en-US" sz="3600">
                <a:solidFill>
                  <a:srgbClr val="0000CC"/>
                </a:solidFill>
                <a:ea typeface="华文隶书" panose="02010800040101010101" pitchFamily="2" charset="-122"/>
              </a:rPr>
              <a:t>主要内容</a:t>
            </a:r>
            <a:endParaRPr lang="zh-CN" altLang="en-US" sz="3600">
              <a:solidFill>
                <a:srgbClr val="0000CC"/>
              </a:solidFill>
              <a:ea typeface="华文隶书" panose="0201080004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DD92F0AB-6E70-464B-98FF-ED05A48FC382}" type="slidenum">
              <a:rPr lang="zh-CN" altLang="en-US"/>
            </a:fld>
            <a:r>
              <a:rPr lang="zh-CN" altLang="en-US"/>
              <a:t>页</a:t>
            </a:r>
            <a:endParaRPr lang="zh-CN" altLang="en-US"/>
          </a:p>
        </p:txBody>
      </p:sp>
      <p:sp>
        <p:nvSpPr>
          <p:cNvPr id="3075" name="Rectangle 2"/>
          <p:cNvSpPr>
            <a:spLocks noGrp="1" noChangeArrowheads="1"/>
          </p:cNvSpPr>
          <p:nvPr>
            <p:ph type="title"/>
          </p:nvPr>
        </p:nvSpPr>
        <p:spPr/>
        <p:txBody>
          <a:bodyPr/>
          <a:lstStyle/>
          <a:p>
            <a:r>
              <a:rPr lang="zh-CN" altLang="en-US" smtClean="0"/>
              <a:t>本章概述</a:t>
            </a:r>
            <a:endParaRPr lang="zh-CN" altLang="en-US" smtClean="0"/>
          </a:p>
        </p:txBody>
      </p:sp>
      <p:sp>
        <p:nvSpPr>
          <p:cNvPr id="3076" name="Rectangle 3"/>
          <p:cNvSpPr>
            <a:spLocks noGrp="1" noChangeArrowheads="1"/>
          </p:cNvSpPr>
          <p:nvPr>
            <p:ph type="body" idx="1"/>
          </p:nvPr>
        </p:nvSpPr>
        <p:spPr/>
        <p:txBody>
          <a:bodyPr/>
          <a:lstStyle/>
          <a:p>
            <a:pPr>
              <a:lnSpc>
                <a:spcPct val="90000"/>
              </a:lnSpc>
            </a:pPr>
            <a:r>
              <a:rPr lang="zh-CN" altLang="en-US" sz="2800" smtClean="0"/>
              <a:t>面向对象技术是一种系统开发方法，是软件工程学的一个重要分支。面向对象建模与设计是使用现实世界的概念模型来思考问题的一种方法。对于理解问题、与应用领域专家交流、建模企业级应用、编写文档、设计程序和数据库来说， 面向对象模型都非常有用。</a:t>
            </a:r>
            <a:endParaRPr lang="zh-CN" altLang="en-US" sz="2800" smtClean="0"/>
          </a:p>
          <a:p>
            <a:pPr>
              <a:lnSpc>
                <a:spcPct val="90000"/>
              </a:lnSpc>
            </a:pPr>
            <a:r>
              <a:rPr lang="en-US" altLang="zh-CN" sz="2800" smtClean="0"/>
              <a:t>UML</a:t>
            </a:r>
            <a:r>
              <a:rPr lang="zh-CN" altLang="en-US" sz="2800" smtClean="0"/>
              <a:t>（</a:t>
            </a:r>
            <a:r>
              <a:rPr lang="en-US" altLang="zh-CN" sz="2800" smtClean="0"/>
              <a:t>Unified Modeling Language</a:t>
            </a:r>
            <a:r>
              <a:rPr lang="zh-CN" altLang="en-US" sz="2800" smtClean="0"/>
              <a:t>，统一建模语言 ）是一种建模语言，是用来为面向对象开发系统的产品进行说明可视化和编制文档的建模方法。</a:t>
            </a:r>
            <a:endParaRPr lang="zh-CN" altLang="en-US" sz="2800" smtClean="0"/>
          </a:p>
          <a:p>
            <a:pPr>
              <a:lnSpc>
                <a:spcPct val="90000"/>
              </a:lnSpc>
            </a:pPr>
            <a:r>
              <a:rPr lang="zh-CN" altLang="en-US" sz="2800" smtClean="0"/>
              <a:t>本章将全面介绍面向对象与</a:t>
            </a:r>
            <a:r>
              <a:rPr lang="en-US" altLang="zh-CN" sz="2800" smtClean="0"/>
              <a:t>UML</a:t>
            </a:r>
            <a:r>
              <a:rPr lang="zh-CN" altLang="en-US" sz="2800" smtClean="0"/>
              <a:t>的基本概念。</a:t>
            </a:r>
            <a:endParaRPr lang="zh-CN" altLang="en-US" sz="28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F2C31475-E151-47C6-A036-B4CB4F490450}" type="slidenum">
              <a:rPr lang="zh-CN" altLang="en-US"/>
            </a:fld>
            <a:r>
              <a:rPr lang="zh-CN" altLang="en-US"/>
              <a:t>页</a:t>
            </a:r>
            <a:endParaRPr lang="zh-CN" altLang="en-US"/>
          </a:p>
        </p:txBody>
      </p:sp>
      <p:sp>
        <p:nvSpPr>
          <p:cNvPr id="4099" name="Rectangle 2"/>
          <p:cNvSpPr>
            <a:spLocks noGrp="1" noChangeArrowheads="1"/>
          </p:cNvSpPr>
          <p:nvPr>
            <p:ph type="title"/>
          </p:nvPr>
        </p:nvSpPr>
        <p:spPr/>
        <p:txBody>
          <a:bodyPr/>
          <a:lstStyle/>
          <a:p>
            <a:r>
              <a:rPr lang="zh-CN" altLang="en-US" smtClean="0"/>
              <a:t>本章的学习目标</a:t>
            </a:r>
            <a:endParaRPr lang="zh-CN" altLang="en-US" smtClean="0"/>
          </a:p>
        </p:txBody>
      </p:sp>
      <p:sp>
        <p:nvSpPr>
          <p:cNvPr id="4100" name="Rectangle 3"/>
          <p:cNvSpPr>
            <a:spLocks noGrp="1" noChangeArrowheads="1"/>
          </p:cNvSpPr>
          <p:nvPr>
            <p:ph type="body" idx="1"/>
          </p:nvPr>
        </p:nvSpPr>
        <p:spPr/>
        <p:txBody>
          <a:bodyPr/>
          <a:lstStyle/>
          <a:p>
            <a:pPr>
              <a:lnSpc>
                <a:spcPct val="90000"/>
              </a:lnSpc>
            </a:pPr>
            <a:r>
              <a:rPr lang="zh-CN" altLang="en-US" smtClean="0"/>
              <a:t>理解面向对象的含义</a:t>
            </a:r>
            <a:endParaRPr lang="zh-CN" altLang="en-US" smtClean="0"/>
          </a:p>
          <a:p>
            <a:pPr>
              <a:lnSpc>
                <a:spcPct val="90000"/>
              </a:lnSpc>
            </a:pPr>
            <a:r>
              <a:rPr lang="zh-CN" altLang="en-US" smtClean="0"/>
              <a:t>理解软件工程过程框架</a:t>
            </a:r>
            <a:endParaRPr lang="zh-CN" altLang="en-US" smtClean="0"/>
          </a:p>
          <a:p>
            <a:pPr>
              <a:lnSpc>
                <a:spcPct val="90000"/>
              </a:lnSpc>
            </a:pPr>
            <a:r>
              <a:rPr lang="zh-CN" altLang="en-US" smtClean="0"/>
              <a:t>掌握类和对象的关系</a:t>
            </a:r>
            <a:endParaRPr lang="zh-CN" altLang="en-US" smtClean="0"/>
          </a:p>
          <a:p>
            <a:pPr>
              <a:lnSpc>
                <a:spcPct val="90000"/>
              </a:lnSpc>
            </a:pPr>
            <a:r>
              <a:rPr lang="zh-CN" altLang="en-US" smtClean="0"/>
              <a:t>掌握封装、继承、多态</a:t>
            </a:r>
            <a:endParaRPr lang="zh-CN" altLang="en-US" smtClean="0"/>
          </a:p>
          <a:p>
            <a:pPr>
              <a:lnSpc>
                <a:spcPct val="90000"/>
              </a:lnSpc>
            </a:pPr>
            <a:r>
              <a:rPr lang="zh-CN" altLang="en-US" smtClean="0"/>
              <a:t>掌握</a:t>
            </a:r>
            <a:r>
              <a:rPr lang="en-US" altLang="zh-CN" smtClean="0"/>
              <a:t>UML</a:t>
            </a:r>
            <a:r>
              <a:rPr lang="zh-CN" altLang="en-US" smtClean="0"/>
              <a:t>的含义和特点</a:t>
            </a:r>
            <a:endParaRPr lang="zh-CN" altLang="en-US"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5"/>
          <p:cNvSpPr txBox="1">
            <a:spLocks noChangeArrowheads="1"/>
          </p:cNvSpPr>
          <p:nvPr/>
        </p:nvSpPr>
        <p:spPr bwMode="auto">
          <a:xfrm>
            <a:off x="1676400" y="1905000"/>
            <a:ext cx="5867400" cy="2738438"/>
          </a:xfrm>
          <a:prstGeom prst="rect">
            <a:avLst/>
          </a:prstGeom>
          <a:noFill/>
          <a:ln w="9525" algn="ctr">
            <a:noFill/>
            <a:miter lim="800000"/>
          </a:ln>
        </p:spPr>
        <p:txBody>
          <a:bodyPr>
            <a:spAutoFit/>
          </a:bodyPr>
          <a:lstStyle/>
          <a:p>
            <a:pPr>
              <a:spcBef>
                <a:spcPct val="50000"/>
              </a:spcBef>
            </a:pPr>
            <a:r>
              <a:rPr lang="zh-CN" altLang="en-US" sz="2800">
                <a:latin typeface="楷体_GB2312" pitchFamily="49" charset="-122"/>
                <a:ea typeface="楷体_GB2312" pitchFamily="49" charset="-122"/>
              </a:rPr>
              <a:t>主要内容：</a:t>
            </a:r>
            <a:endParaRPr lang="zh-CN" altLang="en-US" sz="2800">
              <a:latin typeface="楷体_GB2312" pitchFamily="49" charset="-122"/>
              <a:ea typeface="楷体_GB2312" pitchFamily="49" charset="-122"/>
            </a:endParaRPr>
          </a:p>
          <a:p>
            <a:pPr lvl="2">
              <a:spcBef>
                <a:spcPct val="50000"/>
              </a:spcBef>
              <a:buFont typeface="Wingdings" panose="05000000000000000000" pitchFamily="2" charset="2"/>
              <a:buChar char="l"/>
            </a:pPr>
            <a:r>
              <a:rPr lang="zh-CN" altLang="en-US" sz="2400">
                <a:latin typeface="楷体_GB2312" pitchFamily="49" charset="-122"/>
                <a:ea typeface="楷体_GB2312" pitchFamily="49" charset="-122"/>
              </a:rPr>
              <a:t>面向对象思想的基本概念 </a:t>
            </a:r>
            <a:endParaRPr lang="zh-CN" altLang="en-US" sz="2400">
              <a:latin typeface="楷体_GB2312" pitchFamily="49" charset="-122"/>
              <a:ea typeface="楷体_GB2312" pitchFamily="49" charset="-122"/>
            </a:endParaRPr>
          </a:p>
          <a:p>
            <a:pPr lvl="2">
              <a:spcBef>
                <a:spcPct val="50000"/>
              </a:spcBef>
              <a:buFont typeface="Wingdings" panose="05000000000000000000" pitchFamily="2" charset="2"/>
              <a:buChar char="l"/>
            </a:pPr>
            <a:r>
              <a:rPr lang="zh-CN" altLang="en-US" sz="2400">
                <a:latin typeface="楷体_GB2312" pitchFamily="49" charset="-122"/>
                <a:ea typeface="楷体_GB2312" pitchFamily="49" charset="-122"/>
              </a:rPr>
              <a:t>面向对象的三大要素 </a:t>
            </a:r>
            <a:endParaRPr lang="zh-CN" altLang="en-US" sz="2400">
              <a:latin typeface="楷体_GB2312" pitchFamily="49" charset="-122"/>
              <a:ea typeface="楷体_GB2312" pitchFamily="49" charset="-122"/>
            </a:endParaRPr>
          </a:p>
          <a:p>
            <a:pPr lvl="2">
              <a:spcBef>
                <a:spcPct val="50000"/>
              </a:spcBef>
              <a:buFont typeface="Wingdings" panose="05000000000000000000" pitchFamily="2" charset="2"/>
              <a:buChar char="l"/>
            </a:pPr>
            <a:r>
              <a:rPr lang="zh-CN" altLang="en-US" sz="2400">
                <a:latin typeface="楷体_GB2312" pitchFamily="49" charset="-122"/>
                <a:ea typeface="楷体_GB2312" pitchFamily="49" charset="-122"/>
              </a:rPr>
              <a:t>面向对象与项目设计 </a:t>
            </a:r>
            <a:endParaRPr lang="zh-CN" altLang="en-US" sz="2400">
              <a:latin typeface="楷体_GB2312" pitchFamily="49" charset="-122"/>
              <a:ea typeface="楷体_GB2312" pitchFamily="49" charset="-122"/>
            </a:endParaRPr>
          </a:p>
          <a:p>
            <a:pPr lvl="2">
              <a:spcBef>
                <a:spcPct val="50000"/>
              </a:spcBef>
              <a:buFont typeface="Wingdings" panose="05000000000000000000" pitchFamily="2" charset="2"/>
              <a:buChar char="l"/>
            </a:pPr>
            <a:r>
              <a:rPr lang="zh-CN" altLang="en-US" sz="2400">
                <a:latin typeface="楷体_GB2312" pitchFamily="49" charset="-122"/>
                <a:ea typeface="楷体_GB2312" pitchFamily="49" charset="-122"/>
              </a:rPr>
              <a:t>用面向对象思想建立系统模型</a:t>
            </a:r>
            <a:endParaRPr lang="zh-CN" altLang="en-US" sz="2400">
              <a:latin typeface="楷体_GB2312" pitchFamily="49" charset="-122"/>
              <a:ea typeface="楷体_GB2312" pitchFamily="49" charset="-122"/>
            </a:endParaRPr>
          </a:p>
        </p:txBody>
      </p:sp>
      <p:sp>
        <p:nvSpPr>
          <p:cNvPr id="115718" name="Text Box 6"/>
          <p:cNvSpPr txBox="1">
            <a:spLocks noChangeArrowheads="1"/>
          </p:cNvSpPr>
          <p:nvPr/>
        </p:nvSpPr>
        <p:spPr bwMode="auto">
          <a:xfrm>
            <a:off x="609600" y="830263"/>
            <a:ext cx="7391400" cy="769937"/>
          </a:xfrm>
          <a:prstGeom prst="rect">
            <a:avLst/>
          </a:prstGeom>
          <a:noFill/>
          <a:ln w="9525">
            <a:noFill/>
            <a:miter lim="800000"/>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9436F304-BCED-46C3-9727-FFEF8A8E9B94}" type="slidenum">
              <a:rPr lang="zh-CN" altLang="en-US" smtClean="0"/>
            </a:fld>
            <a:r>
              <a:rPr lang="zh-CN" altLang="en-US" smtClean="0"/>
              <a:t>页</a:t>
            </a: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p:cNvSpPr txBox="1">
            <a:spLocks noChangeArrowheads="1"/>
          </p:cNvSpPr>
          <p:nvPr/>
        </p:nvSpPr>
        <p:spPr bwMode="auto">
          <a:xfrm>
            <a:off x="609600" y="974725"/>
            <a:ext cx="6553200" cy="701675"/>
          </a:xfrm>
          <a:prstGeom prst="rect">
            <a:avLst/>
          </a:prstGeom>
          <a:solidFill>
            <a:schemeClr val="accent1"/>
          </a:solidFill>
          <a:ln w="9525">
            <a:noFill/>
            <a:miter lim="800000"/>
          </a:ln>
        </p:spPr>
        <p:txBody>
          <a:bodyPr>
            <a:spAutoFit/>
          </a:bodyPr>
          <a:lstStyle/>
          <a:p>
            <a:pPr>
              <a:spcBef>
                <a:spcPct val="50000"/>
              </a:spcBef>
            </a:pPr>
            <a:r>
              <a:rPr lang="en-US" altLang="zh-CN" sz="4000" i="1">
                <a:latin typeface="黑体" panose="02010609060101010101" pitchFamily="2" charset="-122"/>
                <a:ea typeface="黑体" panose="02010609060101010101" pitchFamily="2" charset="-122"/>
              </a:rPr>
              <a:t>1</a:t>
            </a:r>
            <a:r>
              <a:rPr lang="zh-CN" altLang="en-US" sz="4000" i="1">
                <a:latin typeface="黑体" panose="02010609060101010101" pitchFamily="2" charset="-122"/>
                <a:ea typeface="黑体" panose="02010609060101010101" pitchFamily="2" charset="-122"/>
              </a:rPr>
              <a:t>、面向对象思想的基本概念</a:t>
            </a:r>
            <a:endParaRPr lang="zh-CN" altLang="en-US" sz="4000" i="1">
              <a:latin typeface="黑体" panose="02010609060101010101" pitchFamily="2" charset="-122"/>
              <a:ea typeface="黑体" panose="02010609060101010101" pitchFamily="2" charset="-122"/>
            </a:endParaRPr>
          </a:p>
        </p:txBody>
      </p:sp>
      <p:sp>
        <p:nvSpPr>
          <p:cNvPr id="82948" name="Text Box 4"/>
          <p:cNvSpPr txBox="1">
            <a:spLocks noChangeArrowheads="1"/>
          </p:cNvSpPr>
          <p:nvPr/>
        </p:nvSpPr>
        <p:spPr bwMode="auto">
          <a:xfrm>
            <a:off x="609600" y="1752600"/>
            <a:ext cx="1676400" cy="519113"/>
          </a:xfrm>
          <a:prstGeom prst="rect">
            <a:avLst/>
          </a:prstGeom>
          <a:solidFill>
            <a:srgbClr val="FFDF79"/>
          </a:solidFill>
          <a:ln w="9525">
            <a:noFill/>
            <a:miter lim="800000"/>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编程简史</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82949" name="Text Box 5"/>
          <p:cNvSpPr txBox="1">
            <a:spLocks noChangeArrowheads="1"/>
          </p:cNvSpPr>
          <p:nvPr/>
        </p:nvSpPr>
        <p:spPr bwMode="auto">
          <a:xfrm>
            <a:off x="547688" y="2397125"/>
            <a:ext cx="8443912" cy="3933825"/>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机器码：使用二进制数字；</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汇编语言：使用字母数字符号作为机器码的速记方式，通过汇编程序转换为机器码；</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高级语言：使用有高级结构的语言编程，通过编译程序转换为机器码；</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结构化编程</a:t>
            </a:r>
            <a:r>
              <a:rPr lang="zh-CN" altLang="en-US" sz="2400">
                <a:latin typeface="楷体_GB2312" pitchFamily="49" charset="-122"/>
                <a:ea typeface="楷体_GB2312" pitchFamily="49" charset="-122"/>
              </a:rPr>
              <a:t>：自顶向下，逐步细分；</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面向对象编程</a:t>
            </a:r>
            <a:r>
              <a:rPr lang="en-US" altLang="zh-CN" sz="2400">
                <a:latin typeface="楷体_GB2312" pitchFamily="49" charset="-122"/>
                <a:ea typeface="楷体_GB2312" pitchFamily="49" charset="-122"/>
              </a:rPr>
              <a:t>(</a:t>
            </a:r>
            <a:r>
              <a:rPr lang="en-US" altLang="zh-CN" sz="2400">
                <a:latin typeface="Times New Roman" panose="02020603050405020304" pitchFamily="18" charset="0"/>
                <a:ea typeface="楷体_GB2312" pitchFamily="49" charset="-122"/>
              </a:rPr>
              <a:t>Object Oriented Programming,OOP</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：以</a:t>
            </a:r>
            <a:r>
              <a:rPr lang="zh-CN" altLang="en-US" sz="2400">
                <a:solidFill>
                  <a:srgbClr val="FF0000"/>
                </a:solidFill>
                <a:latin typeface="楷体_GB2312" pitchFamily="49" charset="-122"/>
                <a:ea typeface="楷体_GB2312" pitchFamily="49" charset="-122"/>
              </a:rPr>
              <a:t>对象</a:t>
            </a:r>
            <a:r>
              <a:rPr lang="zh-CN" altLang="en-US" sz="2400">
                <a:latin typeface="楷体_GB2312" pitchFamily="49" charset="-122"/>
                <a:ea typeface="楷体_GB2312" pitchFamily="49" charset="-122"/>
              </a:rPr>
              <a:t>为基础，以</a:t>
            </a:r>
            <a:r>
              <a:rPr lang="zh-CN" altLang="en-US" sz="2400">
                <a:solidFill>
                  <a:srgbClr val="FF0000"/>
                </a:solidFill>
                <a:latin typeface="楷体_GB2312" pitchFamily="49" charset="-122"/>
                <a:ea typeface="楷体_GB2312" pitchFamily="49" charset="-122"/>
              </a:rPr>
              <a:t>消息（或事件）</a:t>
            </a:r>
            <a:r>
              <a:rPr lang="zh-CN" altLang="en-US" sz="2400">
                <a:latin typeface="楷体_GB2312" pitchFamily="49" charset="-122"/>
                <a:ea typeface="楷体_GB2312" pitchFamily="49" charset="-122"/>
              </a:rPr>
              <a:t>来驱动对象执行处理。</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3107C6CB-4B55-45E6-A298-0ED2F3A9C170}"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82949">
                                            <p:txEl>
                                              <p:pRg st="0" end="0"/>
                                            </p:txEl>
                                          </p:spTgt>
                                        </p:tgtEl>
                                        <p:attrNameLst>
                                          <p:attrName>style.visibility</p:attrName>
                                        </p:attrNameLst>
                                      </p:cBhvr>
                                      <p:to>
                                        <p:strVal val="visible"/>
                                      </p:to>
                                    </p:set>
                                    <p:anim to="" calcmode="lin" valueType="num">
                                      <p:cBhvr>
                                        <p:cTn id="7" dur="1" fill="hold"/>
                                        <p:tgtEl>
                                          <p:spTgt spid="82949">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82949">
                                            <p:txEl>
                                              <p:pRg st="1" end="1"/>
                                            </p:txEl>
                                          </p:spTgt>
                                        </p:tgtEl>
                                        <p:attrNameLst>
                                          <p:attrName>style.visibility</p:attrName>
                                        </p:attrNameLst>
                                      </p:cBhvr>
                                      <p:to>
                                        <p:strVal val="visible"/>
                                      </p:to>
                                    </p:set>
                                    <p:anim to="" calcmode="lin" valueType="num">
                                      <p:cBhvr>
                                        <p:cTn id="12" dur="1" fill="hold"/>
                                        <p:tgtEl>
                                          <p:spTgt spid="82949">
                                            <p:txEl>
                                              <p:pRg st="1" end="1"/>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82949">
                                            <p:txEl>
                                              <p:pRg st="2" end="2"/>
                                            </p:txEl>
                                          </p:spTgt>
                                        </p:tgtEl>
                                        <p:attrNameLst>
                                          <p:attrName>style.visibility</p:attrName>
                                        </p:attrNameLst>
                                      </p:cBhvr>
                                      <p:to>
                                        <p:strVal val="visible"/>
                                      </p:to>
                                    </p:set>
                                    <p:anim to="" calcmode="lin" valueType="num">
                                      <p:cBhvr>
                                        <p:cTn id="17" dur="1" fill="hold"/>
                                        <p:tgtEl>
                                          <p:spTgt spid="82949">
                                            <p:txEl>
                                              <p:pRg st="2" end="2"/>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82949">
                                            <p:txEl>
                                              <p:pRg st="4" end="4"/>
                                            </p:txEl>
                                          </p:spTgt>
                                        </p:tgtEl>
                                        <p:attrNameLst>
                                          <p:attrName>style.visibility</p:attrName>
                                        </p:attrNameLst>
                                      </p:cBhvr>
                                      <p:to>
                                        <p:strVal val="visible"/>
                                      </p:to>
                                    </p:set>
                                    <p:anim to="" calcmode="lin" valueType="num">
                                      <p:cBhvr>
                                        <p:cTn id="22" dur="1" fill="hold"/>
                                        <p:tgtEl>
                                          <p:spTgt spid="82949">
                                            <p:txEl>
                                              <p:pRg st="4" end="4"/>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82949">
                                            <p:txEl>
                                              <p:pRg st="5" end="5"/>
                                            </p:txEl>
                                          </p:spTgt>
                                        </p:tgtEl>
                                        <p:attrNameLst>
                                          <p:attrName>style.visibility</p:attrName>
                                        </p:attrNameLst>
                                      </p:cBhvr>
                                      <p:to>
                                        <p:strVal val="visible"/>
                                      </p:to>
                                    </p:set>
                                    <p:anim to="" calcmode="lin" valueType="num">
                                      <p:cBhvr>
                                        <p:cTn id="27" dur="1" fill="hold"/>
                                        <p:tgtEl>
                                          <p:spTgt spid="82949">
                                            <p:txEl>
                                              <p:pRg st="5" end="5"/>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48483" name="Text Box 3"/>
          <p:cNvSpPr txBox="1">
            <a:spLocks noChangeArrowheads="1"/>
          </p:cNvSpPr>
          <p:nvPr/>
        </p:nvSpPr>
        <p:spPr bwMode="auto">
          <a:xfrm>
            <a:off x="609600" y="1752600"/>
            <a:ext cx="32766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1</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、什么叫面向对象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148484" name="Text Box 4"/>
          <p:cNvSpPr txBox="1">
            <a:spLocks noChangeArrowheads="1"/>
          </p:cNvSpPr>
          <p:nvPr/>
        </p:nvSpPr>
        <p:spPr bwMode="auto">
          <a:xfrm>
            <a:off x="623888" y="2397125"/>
            <a:ext cx="8215312" cy="1552575"/>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从程序设计方法上来讲，</a:t>
            </a:r>
            <a:r>
              <a:rPr lang="zh-CN" altLang="en-US" sz="2400">
                <a:solidFill>
                  <a:srgbClr val="FF0000"/>
                </a:solidFill>
                <a:latin typeface="楷体_GB2312" pitchFamily="49" charset="-122"/>
                <a:ea typeface="楷体_GB2312" pitchFamily="49" charset="-122"/>
              </a:rPr>
              <a:t>面向对象技术</a:t>
            </a:r>
            <a:r>
              <a:rPr lang="zh-CN" altLang="en-US" sz="2400">
                <a:latin typeface="楷体_GB2312" pitchFamily="49" charset="-122"/>
                <a:ea typeface="楷体_GB2312" pitchFamily="49" charset="-122"/>
              </a:rPr>
              <a:t>是一种</a:t>
            </a:r>
            <a:r>
              <a:rPr lang="zh-CN" altLang="en-US" sz="2400">
                <a:solidFill>
                  <a:srgbClr val="FF0000"/>
                </a:solidFill>
                <a:latin typeface="楷体_GB2312" pitchFamily="49" charset="-122"/>
                <a:ea typeface="楷体_GB2312" pitchFamily="49" charset="-122"/>
              </a:rPr>
              <a:t>自下而上</a:t>
            </a:r>
            <a:r>
              <a:rPr lang="zh-CN" altLang="en-US" sz="2400">
                <a:latin typeface="楷体_GB2312" pitchFamily="49" charset="-122"/>
                <a:ea typeface="楷体_GB2312" pitchFamily="49" charset="-122"/>
              </a:rPr>
              <a:t>的程序设计方法，它不像面向过程程序设计那样一开始就需要使用一个主函数来概括出整个程序，面向对象程序设计往往从问题的一部分着手，一点一点地构建出整个程序。</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49D5355A-042A-4DDA-A655-1D840FC5B7A7}"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48484">
                                            <p:txEl>
                                              <p:pRg st="0" end="0"/>
                                            </p:txEl>
                                          </p:spTgt>
                                        </p:tgtEl>
                                        <p:attrNameLst>
                                          <p:attrName>style.visibility</p:attrName>
                                        </p:attrNameLst>
                                      </p:cBhvr>
                                      <p:to>
                                        <p:strVal val="visible"/>
                                      </p:to>
                                    </p:set>
                                    <p:anim to="" calcmode="lin" valueType="num">
                                      <p:cBhvr>
                                        <p:cTn id="7" dur="1" fill="hold"/>
                                        <p:tgtEl>
                                          <p:spTgt spid="148484">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66915" name="Text Box 3"/>
          <p:cNvSpPr txBox="1">
            <a:spLocks noChangeArrowheads="1"/>
          </p:cNvSpPr>
          <p:nvPr/>
        </p:nvSpPr>
        <p:spPr bwMode="auto">
          <a:xfrm>
            <a:off x="609600" y="1752600"/>
            <a:ext cx="32766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1</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、什么叫面向对象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166918" name="Text Box 6"/>
          <p:cNvSpPr txBox="1">
            <a:spLocks noChangeArrowheads="1"/>
          </p:cNvSpPr>
          <p:nvPr/>
        </p:nvSpPr>
        <p:spPr bwMode="auto">
          <a:xfrm>
            <a:off x="1041400" y="3124200"/>
            <a:ext cx="7740650" cy="45720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lang="zh-CN" altLang="en-US" sz="2400">
                <a:solidFill>
                  <a:srgbClr val="FF0000"/>
                </a:solidFill>
                <a:latin typeface="楷体_GB2312" pitchFamily="49" charset="-122"/>
                <a:ea typeface="楷体_GB2312" pitchFamily="49" charset="-122"/>
              </a:rPr>
              <a:t>学生信息管理系统</a:t>
            </a:r>
            <a:endParaRPr lang="zh-CN" altLang="en-US" sz="2400">
              <a:solidFill>
                <a:srgbClr val="FF0000"/>
              </a:solidFill>
              <a:latin typeface="楷体_GB2312" pitchFamily="49" charset="-122"/>
              <a:ea typeface="楷体_GB2312" pitchFamily="49" charset="-122"/>
            </a:endParaRPr>
          </a:p>
        </p:txBody>
      </p:sp>
      <p:sp>
        <p:nvSpPr>
          <p:cNvPr id="166919" name="Text Box 7"/>
          <p:cNvSpPr txBox="1">
            <a:spLocks noChangeArrowheads="1"/>
          </p:cNvSpPr>
          <p:nvPr/>
        </p:nvSpPr>
        <p:spPr bwMode="auto">
          <a:xfrm>
            <a:off x="609600" y="2514600"/>
            <a:ext cx="8305800" cy="519113"/>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800">
                <a:latin typeface="楷体_GB2312" pitchFamily="49" charset="-122"/>
                <a:ea typeface="楷体_GB2312" pitchFamily="49" charset="-122"/>
              </a:rPr>
              <a:t> </a:t>
            </a:r>
            <a:r>
              <a:rPr lang="zh-CN" altLang="en-US" sz="2400">
                <a:latin typeface="楷体_GB2312" pitchFamily="49" charset="-122"/>
                <a:ea typeface="楷体_GB2312" pitchFamily="49" charset="-122"/>
              </a:rPr>
              <a:t>例子：</a:t>
            </a:r>
            <a:endParaRPr lang="zh-CN" altLang="en-US" sz="2400">
              <a:latin typeface="楷体_GB2312" pitchFamily="49" charset="-122"/>
              <a:ea typeface="楷体_GB2312" pitchFamily="49"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9267E0FC-72C1-43A9-A52B-5DE2D07A0293}"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66919">
                                            <p:txEl>
                                              <p:pRg st="0" end="0"/>
                                            </p:txEl>
                                          </p:spTgt>
                                        </p:tgtEl>
                                        <p:attrNameLst>
                                          <p:attrName>style.visibility</p:attrName>
                                        </p:attrNameLst>
                                      </p:cBhvr>
                                      <p:to>
                                        <p:strVal val="visible"/>
                                      </p:to>
                                    </p:set>
                                    <p:anim to="" calcmode="lin" valueType="num">
                                      <p:cBhvr>
                                        <p:cTn id="7" dur="1" fill="hold"/>
                                        <p:tgtEl>
                                          <p:spTgt spid="166919">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66918">
                                            <p:txEl>
                                              <p:pRg st="0" end="0"/>
                                            </p:txEl>
                                          </p:spTgt>
                                        </p:tgtEl>
                                        <p:attrNameLst>
                                          <p:attrName>style.visibility</p:attrName>
                                        </p:attrNameLst>
                                      </p:cBhvr>
                                      <p:to>
                                        <p:strVal val="visible"/>
                                      </p:to>
                                    </p:set>
                                    <p:anim to="" calcmode="lin" valueType="num">
                                      <p:cBhvr>
                                        <p:cTn id="12" dur="1" fill="hold"/>
                                        <p:tgtEl>
                                          <p:spTgt spid="166918">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8" grpId="0" build="p"/>
      <p:bldP spid="16691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35523" name="Text Box 3"/>
          <p:cNvSpPr txBox="1">
            <a:spLocks noChangeArrowheads="1"/>
          </p:cNvSpPr>
          <p:nvPr/>
        </p:nvSpPr>
        <p:spPr bwMode="auto">
          <a:xfrm>
            <a:off x="609600" y="1752600"/>
            <a:ext cx="32766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1</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、什么叫面向对象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35524" name="Text Box 4"/>
          <p:cNvSpPr txBox="1">
            <a:spLocks noChangeArrowheads="1"/>
          </p:cNvSpPr>
          <p:nvPr/>
        </p:nvSpPr>
        <p:spPr bwMode="auto">
          <a:xfrm>
            <a:off x="1041400" y="3124200"/>
            <a:ext cx="7740650" cy="822325"/>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用户需求的变化大部分是针对功能的，因此，这种变化对于基于过程的设计来说是灾难性的。</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235525" name="Text Box 5"/>
          <p:cNvSpPr txBox="1">
            <a:spLocks noChangeArrowheads="1"/>
          </p:cNvSpPr>
          <p:nvPr/>
        </p:nvSpPr>
        <p:spPr bwMode="auto">
          <a:xfrm>
            <a:off x="609600" y="2514600"/>
            <a:ext cx="8305800" cy="519113"/>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800">
                <a:latin typeface="楷体_GB2312" pitchFamily="49" charset="-122"/>
                <a:ea typeface="楷体_GB2312" pitchFamily="49" charset="-122"/>
              </a:rPr>
              <a:t> </a:t>
            </a:r>
            <a:r>
              <a:rPr lang="zh-CN" altLang="en-US" sz="2400">
                <a:latin typeface="楷体_GB2312" pitchFamily="49" charset="-122"/>
                <a:ea typeface="楷体_GB2312" pitchFamily="49" charset="-122"/>
              </a:rPr>
              <a:t>应对需求变化的能力强。</a:t>
            </a:r>
            <a:endParaRPr lang="zh-CN" altLang="en-US" sz="2400">
              <a:latin typeface="楷体_GB2312" pitchFamily="49" charset="-122"/>
              <a:ea typeface="楷体_GB2312" pitchFamily="49" charset="-122"/>
            </a:endParaRPr>
          </a:p>
        </p:txBody>
      </p:sp>
      <p:sp>
        <p:nvSpPr>
          <p:cNvPr id="235526" name="Text Box 6"/>
          <p:cNvSpPr txBox="1">
            <a:spLocks noChangeArrowheads="1"/>
          </p:cNvSpPr>
          <p:nvPr/>
        </p:nvSpPr>
        <p:spPr bwMode="auto">
          <a:xfrm>
            <a:off x="1041400" y="4635500"/>
            <a:ext cx="7740650" cy="822325"/>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在软件开发过程中，始终强调软件的可读性、可修改性和可测试性是软件的重要的质量指标。</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235527" name="Text Box 7"/>
          <p:cNvSpPr txBox="1">
            <a:spLocks noChangeArrowheads="1"/>
          </p:cNvSpPr>
          <p:nvPr/>
        </p:nvSpPr>
        <p:spPr bwMode="auto">
          <a:xfrm>
            <a:off x="609600" y="4025900"/>
            <a:ext cx="8305800" cy="519113"/>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800">
                <a:latin typeface="楷体_GB2312" pitchFamily="49" charset="-122"/>
                <a:ea typeface="楷体_GB2312" pitchFamily="49" charset="-122"/>
              </a:rPr>
              <a:t> </a:t>
            </a:r>
            <a:r>
              <a:rPr lang="zh-CN" altLang="en-US" sz="2400">
                <a:latin typeface="楷体_GB2312" pitchFamily="49" charset="-122"/>
                <a:ea typeface="楷体_GB2312" pitchFamily="49" charset="-122"/>
              </a:rPr>
              <a:t>便于理解复杂的系统，并能提高系统维护性。</a:t>
            </a:r>
            <a:endParaRPr lang="zh-CN" altLang="en-US" sz="2400">
              <a:latin typeface="楷体_GB2312" pitchFamily="49" charset="-122"/>
              <a:ea typeface="楷体_GB2312" pitchFamily="49" charset="-122"/>
            </a:endParaRPr>
          </a:p>
        </p:txBody>
      </p:sp>
      <p:sp>
        <p:nvSpPr>
          <p:cNvPr id="235528" name="Text Box 8"/>
          <p:cNvSpPr txBox="1">
            <a:spLocks noChangeArrowheads="1"/>
          </p:cNvSpPr>
          <p:nvPr/>
        </p:nvSpPr>
        <p:spPr bwMode="auto">
          <a:xfrm>
            <a:off x="609600" y="5484813"/>
            <a:ext cx="8305800" cy="45720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 提高重用性。</a:t>
            </a:r>
            <a:endParaRPr lang="zh-CN" altLang="en-US" sz="2400">
              <a:latin typeface="楷体_GB2312" pitchFamily="49" charset="-122"/>
              <a:ea typeface="楷体_GB2312" pitchFamily="49" charset="-122"/>
            </a:endParaRPr>
          </a:p>
        </p:txBody>
      </p:sp>
      <p:sp>
        <p:nvSpPr>
          <p:cNvPr id="9" name="灯片编号占位符 8"/>
          <p:cNvSpPr>
            <a:spLocks noGrp="1"/>
          </p:cNvSpPr>
          <p:nvPr>
            <p:ph type="sldNum" sz="quarter" idx="10"/>
          </p:nvPr>
        </p:nvSpPr>
        <p:spPr/>
        <p:txBody>
          <a:bodyPr/>
          <a:lstStyle/>
          <a:p>
            <a:pPr>
              <a:defRPr/>
            </a:pPr>
            <a:r>
              <a:rPr lang="zh-CN" altLang="en-US" smtClean="0"/>
              <a:t>第</a:t>
            </a:r>
            <a:fld id="{9A9FFF51-B82E-4756-A8DD-006618D62B1D}"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35525">
                                            <p:txEl>
                                              <p:pRg st="0" end="0"/>
                                            </p:txEl>
                                          </p:spTgt>
                                        </p:tgtEl>
                                        <p:attrNameLst>
                                          <p:attrName>style.visibility</p:attrName>
                                        </p:attrNameLst>
                                      </p:cBhvr>
                                      <p:to>
                                        <p:strVal val="visible"/>
                                      </p:to>
                                    </p:set>
                                    <p:anim to="" calcmode="lin" valueType="num">
                                      <p:cBhvr>
                                        <p:cTn id="7" dur="1" fill="hold"/>
                                        <p:tgtEl>
                                          <p:spTgt spid="235525">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35524">
                                            <p:txEl>
                                              <p:pRg st="0" end="0"/>
                                            </p:txEl>
                                          </p:spTgt>
                                        </p:tgtEl>
                                        <p:attrNameLst>
                                          <p:attrName>style.visibility</p:attrName>
                                        </p:attrNameLst>
                                      </p:cBhvr>
                                      <p:to>
                                        <p:strVal val="visible"/>
                                      </p:to>
                                    </p:set>
                                    <p:anim to="" calcmode="lin" valueType="num">
                                      <p:cBhvr>
                                        <p:cTn id="12" dur="1" fill="hold"/>
                                        <p:tgtEl>
                                          <p:spTgt spid="235524">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35527">
                                            <p:txEl>
                                              <p:pRg st="0" end="0"/>
                                            </p:txEl>
                                          </p:spTgt>
                                        </p:tgtEl>
                                        <p:attrNameLst>
                                          <p:attrName>style.visibility</p:attrName>
                                        </p:attrNameLst>
                                      </p:cBhvr>
                                      <p:to>
                                        <p:strVal val="visible"/>
                                      </p:to>
                                    </p:set>
                                    <p:anim to="" calcmode="lin" valueType="num">
                                      <p:cBhvr>
                                        <p:cTn id="17" dur="1" fill="hold"/>
                                        <p:tgtEl>
                                          <p:spTgt spid="235527">
                                            <p:txEl>
                                              <p:pRg st="0" end="0"/>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235526">
                                            <p:txEl>
                                              <p:pRg st="0" end="0"/>
                                            </p:txEl>
                                          </p:spTgt>
                                        </p:tgtEl>
                                        <p:attrNameLst>
                                          <p:attrName>style.visibility</p:attrName>
                                        </p:attrNameLst>
                                      </p:cBhvr>
                                      <p:to>
                                        <p:strVal val="visible"/>
                                      </p:to>
                                    </p:set>
                                    <p:anim to="" calcmode="lin" valueType="num">
                                      <p:cBhvr>
                                        <p:cTn id="22" dur="1" fill="hold"/>
                                        <p:tgtEl>
                                          <p:spTgt spid="235526">
                                            <p:txEl>
                                              <p:pRg st="0" end="0"/>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235528">
                                            <p:txEl>
                                              <p:pRg st="0" end="0"/>
                                            </p:txEl>
                                          </p:spTgt>
                                        </p:tgtEl>
                                        <p:attrNameLst>
                                          <p:attrName>style.visibility</p:attrName>
                                        </p:attrNameLst>
                                      </p:cBhvr>
                                      <p:to>
                                        <p:strVal val="visible"/>
                                      </p:to>
                                    </p:set>
                                    <p:anim to="" calcmode="lin" valueType="num">
                                      <p:cBhvr>
                                        <p:cTn id="27" dur="1" fill="hold"/>
                                        <p:tgtEl>
                                          <p:spTgt spid="235528">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4" grpId="0" build="p"/>
      <p:bldP spid="235525" grpId="0" build="p"/>
      <p:bldP spid="235526" grpId="0" build="p"/>
      <p:bldP spid="235527" grpId="0" build="p"/>
      <p:bldP spid="23552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71011" name="Text Box 3"/>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171013" name="Text Box 5"/>
          <p:cNvSpPr txBox="1">
            <a:spLocks noChangeArrowheads="1"/>
          </p:cNvSpPr>
          <p:nvPr/>
        </p:nvSpPr>
        <p:spPr bwMode="auto">
          <a:xfrm>
            <a:off x="609600" y="2514600"/>
            <a:ext cx="8305800" cy="822325"/>
          </a:xfrm>
          <a:prstGeom prst="rect">
            <a:avLst/>
          </a:prstGeom>
          <a:noFill/>
          <a:ln w="9525">
            <a:noFill/>
            <a:miter lim="800000"/>
          </a:ln>
          <a:effectLst/>
        </p:spPr>
        <p:txBody>
          <a:bodyPr>
            <a:spAutoFit/>
          </a:bodyPr>
          <a:lstStyle/>
          <a:p>
            <a:pPr>
              <a:spcBef>
                <a:spcPct val="15000"/>
              </a:spcBef>
              <a:spcAft>
                <a:spcPct val="15000"/>
              </a:spcAft>
              <a:buFont typeface="Wingdings" panose="05000000000000000000" pitchFamily="2" charset="2"/>
              <a:buChar char="Ø"/>
              <a:defRPr/>
            </a:pPr>
            <a:r>
              <a:rPr lang="zh-CN" altLang="en-US" sz="2400">
                <a:solidFill>
                  <a:srgbClr val="FF0000"/>
                </a:solidFill>
                <a:latin typeface="楷体_GB2312" pitchFamily="49" charset="-122"/>
                <a:ea typeface="楷体_GB2312" pitchFamily="49" charset="-122"/>
              </a:rPr>
              <a:t>对象</a:t>
            </a:r>
            <a:r>
              <a:rPr kumimoji="1" lang="zh-CN" altLang="en-US" sz="2400">
                <a:effectLst>
                  <a:outerShdw blurRad="38100" dist="38100" dir="2700000" algn="tl">
                    <a:srgbClr val="C0C0C0"/>
                  </a:outerShdw>
                </a:effectLst>
                <a:latin typeface="楷体_GB2312" pitchFamily="49" charset="-122"/>
                <a:ea typeface="楷体_GB2312" pitchFamily="49" charset="-122"/>
              </a:rPr>
              <a:t>（</a:t>
            </a:r>
            <a:r>
              <a:rPr kumimoji="1" lang="en-US" altLang="zh-CN" sz="2400">
                <a:effectLst>
                  <a:outerShdw blurRad="38100" dist="38100" dir="2700000" algn="tl">
                    <a:srgbClr val="C0C0C0"/>
                  </a:outerShdw>
                </a:effectLst>
                <a:latin typeface="楷体_GB2312" pitchFamily="49" charset="-122"/>
                <a:ea typeface="楷体_GB2312" pitchFamily="49" charset="-122"/>
              </a:rPr>
              <a:t>object</a:t>
            </a:r>
            <a:r>
              <a:rPr kumimoji="1" lang="zh-CN" altLang="en-US" sz="2400">
                <a:effectLst>
                  <a:outerShdw blurRad="38100" dist="38100" dir="2700000" algn="tl">
                    <a:srgbClr val="C0C0C0"/>
                  </a:outerShdw>
                </a:effectLst>
                <a:latin typeface="楷体_GB2312" pitchFamily="49" charset="-122"/>
                <a:ea typeface="楷体_GB2312" pitchFamily="49" charset="-122"/>
              </a:rPr>
              <a:t>）是面向对象系统的基本构造块，是一些相关的变量和方法的软件集。</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50FA0894-0BC0-402D-8A6A-8974E7E8FDEB}"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71013">
                                            <p:txEl>
                                              <p:pRg st="0" end="0"/>
                                            </p:txEl>
                                          </p:spTgt>
                                        </p:tgtEl>
                                        <p:attrNameLst>
                                          <p:attrName>style.visibility</p:attrName>
                                        </p:attrNameLst>
                                      </p:cBhvr>
                                      <p:to>
                                        <p:strVal val="visible"/>
                                      </p:to>
                                    </p:set>
                                    <p:anim to="" calcmode="lin" valueType="num">
                                      <p:cBhvr>
                                        <p:cTn id="7" dur="1" fill="hold"/>
                                        <p:tgtEl>
                                          <p:spTgt spid="171013">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73059" name="Text Box 3"/>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173060" name="Text Box 4"/>
          <p:cNvSpPr txBox="1">
            <a:spLocks noChangeArrowheads="1"/>
          </p:cNvSpPr>
          <p:nvPr/>
        </p:nvSpPr>
        <p:spPr bwMode="auto">
          <a:xfrm>
            <a:off x="1041400" y="3124200"/>
            <a:ext cx="7740650" cy="1298575"/>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可用一个飞行试驾程序来代表现实世界中的正在飞行的飞机；</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用机床数控程序来代表现实世界的运行的机床。</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173061" name="Text Box 5"/>
          <p:cNvSpPr txBox="1">
            <a:spLocks noChangeArrowheads="1"/>
          </p:cNvSpPr>
          <p:nvPr/>
        </p:nvSpPr>
        <p:spPr bwMode="auto">
          <a:xfrm>
            <a:off x="609600" y="2514600"/>
            <a:ext cx="8305800" cy="457200"/>
          </a:xfrm>
          <a:prstGeom prst="rect">
            <a:avLst/>
          </a:prstGeom>
          <a:noFill/>
          <a:ln w="9525">
            <a:noFill/>
            <a:miter lim="800000"/>
          </a:ln>
          <a:effectLst/>
        </p:spPr>
        <p:txBody>
          <a:bodyPr>
            <a:spAutoFit/>
          </a:bodyPr>
          <a:lstStyle/>
          <a:p>
            <a:pPr>
              <a:spcBef>
                <a:spcPct val="15000"/>
              </a:spcBef>
              <a:spcAft>
                <a:spcPct val="15000"/>
              </a:spcAft>
              <a:buFont typeface="Wingdings" panose="05000000000000000000" pitchFamily="2" charset="2"/>
              <a:buChar char="Ø"/>
              <a:defRPr/>
            </a:pPr>
            <a:r>
              <a:rPr kumimoji="1" lang="zh-CN" altLang="en-US" sz="2400">
                <a:effectLst>
                  <a:outerShdw blurRad="38100" dist="38100" dir="2700000" algn="tl">
                    <a:srgbClr val="C0C0C0"/>
                  </a:outerShdw>
                </a:effectLst>
                <a:latin typeface="楷体_GB2312" pitchFamily="49" charset="-122"/>
                <a:ea typeface="楷体_GB2312" pitchFamily="49" charset="-122"/>
              </a:rPr>
              <a:t>可以利用对象来代表现实世界中的对象： </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9C7D31CC-606D-4C25-80E8-4597614531F2}"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73061">
                                            <p:txEl>
                                              <p:pRg st="0" end="0"/>
                                            </p:txEl>
                                          </p:spTgt>
                                        </p:tgtEl>
                                        <p:attrNameLst>
                                          <p:attrName>style.visibility</p:attrName>
                                        </p:attrNameLst>
                                      </p:cBhvr>
                                      <p:to>
                                        <p:strVal val="visible"/>
                                      </p:to>
                                    </p:set>
                                    <p:anim to="" calcmode="lin" valueType="num">
                                      <p:cBhvr>
                                        <p:cTn id="7" dur="1" fill="hold"/>
                                        <p:tgtEl>
                                          <p:spTgt spid="173061">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3060">
                                            <p:txEl>
                                              <p:pRg st="0" end="0"/>
                                            </p:txEl>
                                          </p:spTgt>
                                        </p:tgtEl>
                                        <p:attrNameLst>
                                          <p:attrName>style.visibility</p:attrName>
                                        </p:attrNameLst>
                                      </p:cBhvr>
                                      <p:to>
                                        <p:strVal val="visible"/>
                                      </p:to>
                                    </p:set>
                                    <p:anim to="" calcmode="lin" valueType="num">
                                      <p:cBhvr>
                                        <p:cTn id="12" dur="1" fill="hold"/>
                                        <p:tgtEl>
                                          <p:spTgt spid="173060">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3060">
                                            <p:txEl>
                                              <p:pRg st="1" end="1"/>
                                            </p:txEl>
                                          </p:spTgt>
                                        </p:tgtEl>
                                        <p:attrNameLst>
                                          <p:attrName>style.visibility</p:attrName>
                                        </p:attrNameLst>
                                      </p:cBhvr>
                                      <p:to>
                                        <p:strVal val="visible"/>
                                      </p:to>
                                    </p:set>
                                    <p:anim to="" calcmode="lin" valueType="num">
                                      <p:cBhvr>
                                        <p:cTn id="17" dur="1" fill="hold"/>
                                        <p:tgtEl>
                                          <p:spTgt spid="173060">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0" grpId="0" build="p"/>
      <p:bldP spid="17306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31427" name="Text Box 3"/>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31430" name="Text Box 6"/>
          <p:cNvSpPr txBox="1">
            <a:spLocks noChangeArrowheads="1"/>
          </p:cNvSpPr>
          <p:nvPr/>
        </p:nvSpPr>
        <p:spPr bwMode="auto">
          <a:xfrm>
            <a:off x="1041400" y="3124200"/>
            <a:ext cx="7740650" cy="2028825"/>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点击按钮事件就是一个用在</a:t>
            </a:r>
            <a:r>
              <a:rPr kumimoji="1" lang="en-US" altLang="zh-CN" sz="2400">
                <a:effectLst>
                  <a:outerShdw blurRad="38100" dist="38100" dir="2700000" algn="tl">
                    <a:srgbClr val="C0C0C0"/>
                  </a:outerShdw>
                </a:effectLst>
                <a:latin typeface="楷体_GB2312" pitchFamily="49" charset="-122"/>
                <a:ea typeface="楷体_GB2312" pitchFamily="49" charset="-122"/>
              </a:rPr>
              <a:t>GUI</a:t>
            </a:r>
            <a:r>
              <a:rPr kumimoji="1" lang="zh-CN" altLang="en-US" sz="2400">
                <a:effectLst>
                  <a:outerShdw blurRad="38100" dist="38100" dir="2700000" algn="tl">
                    <a:srgbClr val="C0C0C0"/>
                  </a:outerShdw>
                </a:effectLst>
                <a:latin typeface="楷体_GB2312" pitchFamily="49" charset="-122"/>
                <a:ea typeface="楷体_GB2312" pitchFamily="49" charset="-122"/>
              </a:rPr>
              <a:t>窗口系统的公共对象，它可以代表用户点击程序界面中的一个确定按钮的动作；</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现实世界中的一个合同、银行账号、游戏方法、某个规则、基准等也使用对象代表。</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231431" name="Text Box 7"/>
          <p:cNvSpPr txBox="1">
            <a:spLocks noChangeArrowheads="1"/>
          </p:cNvSpPr>
          <p:nvPr/>
        </p:nvSpPr>
        <p:spPr bwMode="auto">
          <a:xfrm>
            <a:off x="609600" y="2514600"/>
            <a:ext cx="8305800" cy="457200"/>
          </a:xfrm>
          <a:prstGeom prst="rect">
            <a:avLst/>
          </a:prstGeom>
          <a:noFill/>
          <a:ln w="9525">
            <a:noFill/>
            <a:miter lim="800000"/>
          </a:ln>
          <a:effectLst/>
        </p:spPr>
        <p:txBody>
          <a:bodyPr>
            <a:spAutoFit/>
          </a:bodyPr>
          <a:lstStyle/>
          <a:p>
            <a:pPr>
              <a:spcBef>
                <a:spcPct val="15000"/>
              </a:spcBef>
              <a:spcAft>
                <a:spcPct val="15000"/>
              </a:spcAft>
              <a:buFont typeface="Wingdings" panose="05000000000000000000" pitchFamily="2" charset="2"/>
              <a:buChar char="Ø"/>
              <a:defRPr/>
            </a:pPr>
            <a:r>
              <a:rPr kumimoji="1" lang="zh-CN" altLang="en-US" sz="2400">
                <a:effectLst>
                  <a:outerShdw blurRad="38100" dist="38100" dir="2700000" algn="tl">
                    <a:srgbClr val="C0C0C0"/>
                  </a:outerShdw>
                </a:effectLst>
                <a:latin typeface="楷体_GB2312" pitchFamily="49" charset="-122"/>
                <a:ea typeface="楷体_GB2312" pitchFamily="49" charset="-122"/>
              </a:rPr>
              <a:t>同样可以使用对象来代表抽象的概念：</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A0C8BD02-2665-4189-B7E7-C9DB3991BBA7}"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31431">
                                            <p:txEl>
                                              <p:pRg st="0" end="0"/>
                                            </p:txEl>
                                          </p:spTgt>
                                        </p:tgtEl>
                                        <p:attrNameLst>
                                          <p:attrName>style.visibility</p:attrName>
                                        </p:attrNameLst>
                                      </p:cBhvr>
                                      <p:to>
                                        <p:strVal val="visible"/>
                                      </p:to>
                                    </p:set>
                                    <p:anim to="" calcmode="lin" valueType="num">
                                      <p:cBhvr>
                                        <p:cTn id="7" dur="1" fill="hold"/>
                                        <p:tgtEl>
                                          <p:spTgt spid="231431">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31430">
                                            <p:txEl>
                                              <p:pRg st="0" end="0"/>
                                            </p:txEl>
                                          </p:spTgt>
                                        </p:tgtEl>
                                        <p:attrNameLst>
                                          <p:attrName>style.visibility</p:attrName>
                                        </p:attrNameLst>
                                      </p:cBhvr>
                                      <p:to>
                                        <p:strVal val="visible"/>
                                      </p:to>
                                    </p:set>
                                    <p:anim to="" calcmode="lin" valueType="num">
                                      <p:cBhvr>
                                        <p:cTn id="12" dur="1" fill="hold"/>
                                        <p:tgtEl>
                                          <p:spTgt spid="231430">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31430">
                                            <p:txEl>
                                              <p:pRg st="1" end="1"/>
                                            </p:txEl>
                                          </p:spTgt>
                                        </p:tgtEl>
                                        <p:attrNameLst>
                                          <p:attrName>style.visibility</p:attrName>
                                        </p:attrNameLst>
                                      </p:cBhvr>
                                      <p:to>
                                        <p:strVal val="visible"/>
                                      </p:to>
                                    </p:set>
                                    <p:anim to="" calcmode="lin" valueType="num">
                                      <p:cBhvr>
                                        <p:cTn id="17" dur="1" fill="hold"/>
                                        <p:tgtEl>
                                          <p:spTgt spid="231430">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0" grpId="0" build="p"/>
      <p:bldP spid="23143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33475" name="Text Box 3"/>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33478" name="AutoShape 6"/>
          <p:cNvSpPr>
            <a:spLocks noChangeArrowheads="1"/>
          </p:cNvSpPr>
          <p:nvPr/>
        </p:nvSpPr>
        <p:spPr bwMode="ltGray">
          <a:xfrm>
            <a:off x="381000" y="1981200"/>
            <a:ext cx="5880100" cy="3962400"/>
          </a:xfrm>
          <a:prstGeom prst="rightArrow">
            <a:avLst>
              <a:gd name="adj1" fmla="val 79306"/>
              <a:gd name="adj2" fmla="val 36756"/>
            </a:avLst>
          </a:prstGeom>
          <a:gradFill rotWithShape="1">
            <a:gsLst>
              <a:gs pos="0">
                <a:schemeClr val="accent1">
                  <a:gamma/>
                  <a:tint val="0"/>
                  <a:invGamma/>
                </a:schemeClr>
              </a:gs>
              <a:gs pos="100000">
                <a:schemeClr val="accent1"/>
              </a:gs>
            </a:gsLst>
            <a:lin ang="0" scaled="1"/>
          </a:gradFill>
          <a:ln w="9525">
            <a:noFill/>
            <a:miter lim="800000"/>
          </a:ln>
          <a:effectLst/>
        </p:spPr>
        <p:txBody>
          <a:bodyPr wrap="none" anchor="ctr"/>
          <a:lstStyle/>
          <a:p>
            <a:pPr>
              <a:defRPr/>
            </a:pPr>
            <a:endParaRPr lang="zh-CN" altLang="en-US">
              <a:ea typeface="+mn-ea"/>
            </a:endParaRPr>
          </a:p>
        </p:txBody>
      </p:sp>
      <p:sp>
        <p:nvSpPr>
          <p:cNvPr id="233479" name="AutoShape 7"/>
          <p:cNvSpPr>
            <a:spLocks noChangeArrowheads="1"/>
          </p:cNvSpPr>
          <p:nvPr/>
        </p:nvSpPr>
        <p:spPr bwMode="blackWhite">
          <a:xfrm>
            <a:off x="762000" y="2514600"/>
            <a:ext cx="4038600" cy="1219200"/>
          </a:xfrm>
          <a:prstGeom prst="roundRect">
            <a:avLst>
              <a:gd name="adj" fmla="val 9106"/>
            </a:avLst>
          </a:prstGeom>
          <a:gradFill rotWithShape="1">
            <a:gsLst>
              <a:gs pos="0">
                <a:schemeClr val="accent2"/>
              </a:gs>
              <a:gs pos="100000">
                <a:schemeClr val="accent2">
                  <a:gamma/>
                  <a:tint val="69804"/>
                  <a:invGamma/>
                </a:schemeClr>
              </a:gs>
            </a:gsLst>
            <a:lin ang="5400000" scaled="1"/>
          </a:gradFill>
          <a:ln w="25400">
            <a:solidFill>
              <a:schemeClr val="bg1"/>
            </a:solidFill>
            <a:round/>
          </a:ln>
          <a:effectLst/>
        </p:spPr>
        <p:txBody>
          <a:bodyPr wrap="none" anchor="ctr"/>
          <a:lstStyle/>
          <a:p>
            <a:pPr algn="ctr" eaLnBrk="0" hangingPunct="0">
              <a:defRPr/>
            </a:pPr>
            <a:r>
              <a:rPr lang="zh-CN" altLang="en-US" sz="2400">
                <a:solidFill>
                  <a:srgbClr val="FF0000"/>
                </a:solidFill>
                <a:latin typeface="楷体_GB2312" pitchFamily="49" charset="-122"/>
                <a:ea typeface="楷体_GB2312" pitchFamily="49" charset="-122"/>
              </a:rPr>
              <a:t>物体</a:t>
            </a:r>
            <a:endParaRPr lang="zh-CN" altLang="en-US" sz="2400">
              <a:solidFill>
                <a:srgbClr val="FF0000"/>
              </a:solidFill>
              <a:latin typeface="楷体_GB2312" pitchFamily="49" charset="-122"/>
              <a:ea typeface="楷体_GB2312" pitchFamily="49" charset="-122"/>
            </a:endParaRPr>
          </a:p>
          <a:p>
            <a:pPr algn="ctr" eaLnBrk="0" hangingPunct="0">
              <a:defRPr/>
            </a:pPr>
            <a:r>
              <a:rPr lang="zh-CN" altLang="en-US" sz="2400">
                <a:solidFill>
                  <a:srgbClr val="FF0000"/>
                </a:solidFill>
                <a:latin typeface="楷体_GB2312" pitchFamily="49" charset="-122"/>
                <a:ea typeface="楷体_GB2312" pitchFamily="49" charset="-122"/>
              </a:rPr>
              <a:t>（看得到的东西）</a:t>
            </a:r>
            <a:endParaRPr lang="zh-CN" altLang="en-US" sz="2400">
              <a:solidFill>
                <a:srgbClr val="FF0000"/>
              </a:solidFill>
              <a:latin typeface="楷体_GB2312" pitchFamily="49" charset="-122"/>
              <a:ea typeface="楷体_GB2312" pitchFamily="49" charset="-122"/>
            </a:endParaRPr>
          </a:p>
        </p:txBody>
      </p:sp>
      <p:sp>
        <p:nvSpPr>
          <p:cNvPr id="13318" name="AutoShape 8"/>
          <p:cNvSpPr>
            <a:spLocks noChangeArrowheads="1"/>
          </p:cNvSpPr>
          <p:nvPr/>
        </p:nvSpPr>
        <p:spPr bwMode="blackWhite">
          <a:xfrm>
            <a:off x="762000" y="4191000"/>
            <a:ext cx="4038600" cy="1219200"/>
          </a:xfrm>
          <a:prstGeom prst="roundRect">
            <a:avLst>
              <a:gd name="adj" fmla="val 9106"/>
            </a:avLst>
          </a:prstGeom>
          <a:gradFill rotWithShape="1">
            <a:gsLst>
              <a:gs pos="0">
                <a:srgbClr val="699D5F"/>
              </a:gs>
              <a:gs pos="100000">
                <a:srgbClr val="96BB8F"/>
              </a:gs>
            </a:gsLst>
            <a:lin ang="5400000" scaled="1"/>
          </a:gradFill>
          <a:ln w="25400">
            <a:solidFill>
              <a:schemeClr val="bg1"/>
            </a:solidFill>
            <a:round/>
          </a:ln>
        </p:spPr>
        <p:txBody>
          <a:bodyPr wrap="none" anchor="ctr"/>
          <a:lstStyle/>
          <a:p>
            <a:pPr algn="ctr" eaLnBrk="0" hangingPunct="0"/>
            <a:r>
              <a:rPr lang="zh-CN" altLang="en-US" sz="2400">
                <a:solidFill>
                  <a:srgbClr val="FF0000"/>
                </a:solidFill>
                <a:latin typeface="楷体_GB2312" pitchFamily="49" charset="-122"/>
                <a:ea typeface="楷体_GB2312" pitchFamily="49" charset="-122"/>
              </a:rPr>
              <a:t>概念</a:t>
            </a:r>
            <a:endParaRPr lang="zh-CN" altLang="en-US" sz="2400">
              <a:solidFill>
                <a:srgbClr val="FF0000"/>
              </a:solidFill>
              <a:latin typeface="楷体_GB2312" pitchFamily="49" charset="-122"/>
              <a:ea typeface="楷体_GB2312" pitchFamily="49" charset="-122"/>
            </a:endParaRPr>
          </a:p>
          <a:p>
            <a:pPr algn="ctr" eaLnBrk="0" hangingPunct="0"/>
            <a:r>
              <a:rPr lang="zh-CN" altLang="en-US" sz="2400">
                <a:solidFill>
                  <a:srgbClr val="FF0000"/>
                </a:solidFill>
                <a:latin typeface="楷体_GB2312" pitchFamily="49" charset="-122"/>
                <a:ea typeface="楷体_GB2312" pitchFamily="49" charset="-122"/>
              </a:rPr>
              <a:t>（看不到的东西）</a:t>
            </a:r>
            <a:endParaRPr lang="zh-CN" altLang="en-US" sz="2400">
              <a:solidFill>
                <a:srgbClr val="FF0000"/>
              </a:solidFill>
              <a:latin typeface="楷体_GB2312" pitchFamily="49" charset="-122"/>
              <a:ea typeface="楷体_GB2312" pitchFamily="49" charset="-122"/>
            </a:endParaRPr>
          </a:p>
        </p:txBody>
      </p:sp>
      <p:sp>
        <p:nvSpPr>
          <p:cNvPr id="233482" name="AutoShape 10"/>
          <p:cNvSpPr>
            <a:spLocks noChangeArrowheads="1"/>
          </p:cNvSpPr>
          <p:nvPr/>
        </p:nvSpPr>
        <p:spPr bwMode="auto">
          <a:xfrm>
            <a:off x="6413500" y="3581400"/>
            <a:ext cx="1968500" cy="685800"/>
          </a:xfrm>
          <a:prstGeom prst="roundRect">
            <a:avLst>
              <a:gd name="adj" fmla="val 9106"/>
            </a:avLst>
          </a:prstGeom>
          <a:solidFill>
            <a:schemeClr val="hlink"/>
          </a:solidFill>
          <a:ln w="25400">
            <a:noFill/>
            <a:round/>
          </a:ln>
          <a:effectLst/>
        </p:spPr>
        <p:txBody>
          <a:bodyPr anchor="ctr"/>
          <a:lstStyle/>
          <a:p>
            <a:pPr algn="ctr">
              <a:defRPr/>
            </a:pPr>
            <a:r>
              <a:rPr lang="zh-CN" altLang="en-US" sz="2800" b="1">
                <a:effectLst>
                  <a:outerShdw blurRad="38100" dist="38100" dir="2700000" algn="tl">
                    <a:srgbClr val="FFFFFF"/>
                  </a:outerShdw>
                </a:effectLst>
              </a:rPr>
              <a:t>对象</a:t>
            </a:r>
            <a:endParaRPr lang="zh-CN" altLang="en-US" sz="2800" b="1">
              <a:effectLst>
                <a:outerShdw blurRad="38100" dist="38100" dir="2700000" algn="tl">
                  <a:srgbClr val="FFFFFF"/>
                </a:outerShdw>
              </a:effectLst>
            </a:endParaRPr>
          </a:p>
        </p:txBody>
      </p:sp>
      <p:sp>
        <p:nvSpPr>
          <p:cNvPr id="8" name="灯片编号占位符 7"/>
          <p:cNvSpPr>
            <a:spLocks noGrp="1"/>
          </p:cNvSpPr>
          <p:nvPr>
            <p:ph type="sldNum" sz="quarter" idx="10"/>
          </p:nvPr>
        </p:nvSpPr>
        <p:spPr/>
        <p:txBody>
          <a:bodyPr/>
          <a:lstStyle/>
          <a:p>
            <a:pPr>
              <a:defRPr/>
            </a:pPr>
            <a:r>
              <a:rPr lang="zh-CN" altLang="en-US" smtClean="0"/>
              <a:t>第</a:t>
            </a:r>
            <a:fld id="{F3C550F8-8F5F-4B4D-ACB1-BADAC09B4F21}"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3" name="Text Box 5"/>
          <p:cNvSpPr txBox="1">
            <a:spLocks noChangeArrowheads="1"/>
          </p:cNvSpPr>
          <p:nvPr/>
        </p:nvSpPr>
        <p:spPr bwMode="auto">
          <a:xfrm>
            <a:off x="609600" y="2528888"/>
            <a:ext cx="7994650" cy="45720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 描述对象</a:t>
            </a:r>
            <a:endParaRPr lang="zh-CN" altLang="en-US" sz="2400">
              <a:solidFill>
                <a:srgbClr val="FF0000"/>
              </a:solidFill>
              <a:latin typeface="楷体_GB2312" pitchFamily="49" charset="-122"/>
              <a:ea typeface="楷体_GB2312" pitchFamily="49" charset="-122"/>
            </a:endParaRPr>
          </a:p>
        </p:txBody>
      </p:sp>
      <p:sp>
        <p:nvSpPr>
          <p:cNvPr id="176134" name="Text Box 6"/>
          <p:cNvSpPr txBox="1">
            <a:spLocks noChangeArrowheads="1"/>
          </p:cNvSpPr>
          <p:nvPr/>
        </p:nvSpPr>
        <p:spPr bwMode="auto">
          <a:xfrm>
            <a:off x="900113" y="3124200"/>
            <a:ext cx="7920037" cy="2028825"/>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b="1">
                <a:effectLst>
                  <a:outerShdw blurRad="38100" dist="38100" dir="2700000" algn="tl">
                    <a:srgbClr val="C0C0C0"/>
                  </a:outerShdw>
                </a:effectLst>
                <a:latin typeface="楷体_GB2312" pitchFamily="49" charset="-122"/>
                <a:ea typeface="楷体_GB2312" pitchFamily="49" charset="-122"/>
              </a:rPr>
              <a:t> </a:t>
            </a:r>
            <a:r>
              <a:rPr kumimoji="1" lang="zh-CN" altLang="en-US" sz="2400">
                <a:effectLst>
                  <a:outerShdw blurRad="38100" dist="38100" dir="2700000" algn="tl">
                    <a:srgbClr val="C0C0C0"/>
                  </a:outerShdw>
                </a:effectLst>
                <a:latin typeface="楷体_GB2312" pitchFamily="49" charset="-122"/>
                <a:ea typeface="楷体_GB2312" pitchFamily="49" charset="-122"/>
              </a:rPr>
              <a:t>描述对象的过程，就是对现实世界中的对象进行抽象的过程。</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在抽象的过程中，对象是独立的程序模块，既有自己的</a:t>
            </a:r>
            <a:r>
              <a:rPr lang="zh-CN" altLang="en-US" sz="2400">
                <a:solidFill>
                  <a:srgbClr val="FF0000"/>
                </a:solidFill>
                <a:latin typeface="楷体_GB2312" pitchFamily="49" charset="-122"/>
                <a:ea typeface="楷体_GB2312" pitchFamily="49" charset="-122"/>
              </a:rPr>
              <a:t>属性</a:t>
            </a:r>
            <a:r>
              <a:rPr kumimoji="1" lang="zh-CN" altLang="en-US" sz="2400">
                <a:effectLst>
                  <a:outerShdw blurRad="38100" dist="38100" dir="2700000" algn="tl">
                    <a:srgbClr val="C0C0C0"/>
                  </a:outerShdw>
                </a:effectLst>
                <a:latin typeface="楷体_GB2312" pitchFamily="49" charset="-122"/>
                <a:ea typeface="楷体_GB2312" pitchFamily="49" charset="-122"/>
              </a:rPr>
              <a:t>，又有自己的</a:t>
            </a:r>
            <a:r>
              <a:rPr lang="zh-CN" altLang="en-US" sz="2400">
                <a:solidFill>
                  <a:srgbClr val="FF0000"/>
                </a:solidFill>
                <a:latin typeface="楷体_GB2312" pitchFamily="49" charset="-122"/>
                <a:ea typeface="楷体_GB2312" pitchFamily="49" charset="-122"/>
              </a:rPr>
              <a:t>行为</a:t>
            </a:r>
            <a:r>
              <a:rPr kumimoji="1" lang="zh-CN" altLang="en-US" sz="2400">
                <a:effectLst>
                  <a:outerShdw blurRad="38100" dist="38100" dir="2700000" algn="tl">
                    <a:srgbClr val="C0C0C0"/>
                  </a:outerShdw>
                </a:effectLst>
                <a:latin typeface="楷体_GB2312" pitchFamily="49" charset="-122"/>
                <a:ea typeface="楷体_GB2312" pitchFamily="49" charset="-122"/>
              </a:rPr>
              <a:t>（也可以说有自己的数据和进程）。</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14340" name="Text Box 8"/>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76137" name="Text Box 9"/>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EC622038-161D-451F-BD2A-09E3F65444DC}"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176133">
                                            <p:txEl>
                                              <p:pRg st="0" end="0"/>
                                            </p:txEl>
                                          </p:spTgt>
                                        </p:tgtEl>
                                        <p:attrNameLst>
                                          <p:attrName>style.visibility</p:attrName>
                                        </p:attrNameLst>
                                      </p:cBhvr>
                                      <p:to>
                                        <p:strVal val="visible"/>
                                      </p:to>
                                    </p:set>
                                    <p:anim to="" calcmode="lin" valueType="num">
                                      <p:cBhvr>
                                        <p:cTn id="7" dur="1" fill="hold"/>
                                        <p:tgtEl>
                                          <p:spTgt spid="176133">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6134">
                                            <p:txEl>
                                              <p:pRg st="0" end="0"/>
                                            </p:txEl>
                                          </p:spTgt>
                                        </p:tgtEl>
                                        <p:attrNameLst>
                                          <p:attrName>style.visibility</p:attrName>
                                        </p:attrNameLst>
                                      </p:cBhvr>
                                      <p:to>
                                        <p:strVal val="visible"/>
                                      </p:to>
                                    </p:set>
                                    <p:anim to="" calcmode="lin" valueType="num">
                                      <p:cBhvr>
                                        <p:cTn id="12" dur="1" fill="hold"/>
                                        <p:tgtEl>
                                          <p:spTgt spid="176134">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6134">
                                            <p:txEl>
                                              <p:pRg st="1" end="1"/>
                                            </p:txEl>
                                          </p:spTgt>
                                        </p:tgtEl>
                                        <p:attrNameLst>
                                          <p:attrName>style.visibility</p:attrName>
                                        </p:attrNameLst>
                                      </p:cBhvr>
                                      <p:to>
                                        <p:strVal val="visible"/>
                                      </p:to>
                                    </p:set>
                                    <p:anim to="" calcmode="lin" valueType="num">
                                      <p:cBhvr>
                                        <p:cTn id="17" dur="1" fill="hold"/>
                                        <p:tgtEl>
                                          <p:spTgt spid="176134">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3" grpId="0" build="p"/>
      <p:bldP spid="17613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8179" name="Picture 3"/>
          <p:cNvPicPr>
            <a:picLocks noChangeAspect="1" noChangeArrowheads="1"/>
          </p:cNvPicPr>
          <p:nvPr/>
        </p:nvPicPr>
        <p:blipFill>
          <a:blip r:embed="rId1"/>
          <a:srcRect/>
          <a:stretch>
            <a:fillRect/>
          </a:stretch>
        </p:blipFill>
        <p:spPr bwMode="auto">
          <a:xfrm>
            <a:off x="1295400" y="2667000"/>
            <a:ext cx="6467475" cy="3509963"/>
          </a:xfrm>
          <a:prstGeom prst="rect">
            <a:avLst/>
          </a:prstGeom>
          <a:noFill/>
          <a:ln w="9525" algn="ctr">
            <a:noFill/>
            <a:miter lim="800000"/>
            <a:headEnd/>
            <a:tailEnd/>
          </a:ln>
        </p:spPr>
      </p:pic>
      <p:sp>
        <p:nvSpPr>
          <p:cNvPr id="15363" name="Text Box 5"/>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78182" name="Text Box 6"/>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178183" name="Text Box 7"/>
          <p:cNvSpPr txBox="1">
            <a:spLocks noChangeArrowheads="1"/>
          </p:cNvSpPr>
          <p:nvPr/>
        </p:nvSpPr>
        <p:spPr bwMode="auto">
          <a:xfrm>
            <a:off x="609600" y="2528888"/>
            <a:ext cx="7994650" cy="519112"/>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800">
                <a:latin typeface="楷体_GB2312" pitchFamily="49" charset="-122"/>
                <a:ea typeface="楷体_GB2312" pitchFamily="49" charset="-122"/>
              </a:rPr>
              <a:t> </a:t>
            </a:r>
            <a:r>
              <a:rPr lang="zh-CN" altLang="en-US" sz="2400">
                <a:latin typeface="楷体_GB2312" pitchFamily="49" charset="-122"/>
                <a:ea typeface="楷体_GB2312" pitchFamily="49" charset="-122"/>
              </a:rPr>
              <a:t>对象具有属性值</a:t>
            </a:r>
            <a:r>
              <a:rPr lang="en-US" altLang="zh-CN" sz="2400">
                <a:ea typeface="楷体_GB2312" pitchFamily="49" charset="-122"/>
              </a:rPr>
              <a:t>——</a:t>
            </a:r>
            <a:r>
              <a:rPr lang="zh-CN" altLang="en-US" sz="2400">
                <a:latin typeface="楷体_GB2312" pitchFamily="49" charset="-122"/>
                <a:ea typeface="楷体_GB2312" pitchFamily="49" charset="-122"/>
              </a:rPr>
              <a:t>刻画对象的静态特征</a:t>
            </a:r>
            <a:endParaRPr lang="zh-CN" altLang="en-US" sz="2400">
              <a:latin typeface="楷体_GB2312" pitchFamily="49" charset="-122"/>
              <a:ea typeface="楷体_GB2312" pitchFamily="49"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5293F32D-5808-449F-A010-51B34A26F51A}"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8183">
                                            <p:txEl>
                                              <p:pRg st="0" end="0"/>
                                            </p:txEl>
                                          </p:spTgt>
                                        </p:tgtEl>
                                        <p:attrNameLst>
                                          <p:attrName>style.visibility</p:attrName>
                                        </p:attrNameLst>
                                      </p:cBhvr>
                                      <p:to>
                                        <p:strVal val="visible"/>
                                      </p:to>
                                    </p:set>
                                    <p:animEffect transition="in" filter="blinds(horizontal)">
                                      <p:cBhvr>
                                        <p:cTn id="7" dur="500"/>
                                        <p:tgtEl>
                                          <p:spTgt spid="1781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78179"/>
                                        </p:tgtEl>
                                        <p:attrNameLst>
                                          <p:attrName>style.visibility</p:attrName>
                                        </p:attrNameLst>
                                      </p:cBhvr>
                                      <p:to>
                                        <p:strVal val="visible"/>
                                      </p:to>
                                    </p:set>
                                    <p:animEffect transition="in" filter="box(in)">
                                      <p:cBhvr>
                                        <p:cTn id="12" dur="500"/>
                                        <p:tgtEl>
                                          <p:spTgt spid="178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40644" name="Text Box 4"/>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40645" name="Text Box 5"/>
          <p:cNvSpPr txBox="1">
            <a:spLocks noChangeArrowheads="1"/>
          </p:cNvSpPr>
          <p:nvPr/>
        </p:nvSpPr>
        <p:spPr bwMode="auto">
          <a:xfrm>
            <a:off x="609600" y="2528888"/>
            <a:ext cx="7994650" cy="519112"/>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800">
                <a:latin typeface="楷体_GB2312" pitchFamily="49" charset="-122"/>
                <a:ea typeface="楷体_GB2312" pitchFamily="49" charset="-122"/>
              </a:rPr>
              <a:t> </a:t>
            </a:r>
            <a:r>
              <a:rPr lang="zh-CN" altLang="en-US" sz="2400">
                <a:latin typeface="楷体_GB2312" pitchFamily="49" charset="-122"/>
                <a:ea typeface="楷体_GB2312" pitchFamily="49" charset="-122"/>
              </a:rPr>
              <a:t>对象具有行为</a:t>
            </a:r>
            <a:r>
              <a:rPr lang="en-US" altLang="zh-CN" sz="2400">
                <a:ea typeface="楷体_GB2312" pitchFamily="49" charset="-122"/>
              </a:rPr>
              <a:t>——</a:t>
            </a:r>
            <a:r>
              <a:rPr lang="zh-CN" altLang="en-US" sz="2400">
                <a:latin typeface="楷体_GB2312" pitchFamily="49" charset="-122"/>
                <a:ea typeface="楷体_GB2312" pitchFamily="49" charset="-122"/>
              </a:rPr>
              <a:t>刻画对象的动态特征</a:t>
            </a:r>
            <a:endParaRPr lang="zh-CN" altLang="en-US" sz="2400">
              <a:latin typeface="楷体_GB2312" pitchFamily="49" charset="-122"/>
              <a:ea typeface="楷体_GB2312" pitchFamily="49" charset="-122"/>
            </a:endParaRPr>
          </a:p>
        </p:txBody>
      </p:sp>
      <p:pic>
        <p:nvPicPr>
          <p:cNvPr id="240646" name="Picture 6"/>
          <p:cNvPicPr>
            <a:picLocks noChangeAspect="1" noChangeArrowheads="1"/>
          </p:cNvPicPr>
          <p:nvPr/>
        </p:nvPicPr>
        <p:blipFill>
          <a:blip r:embed="rId1"/>
          <a:srcRect/>
          <a:stretch>
            <a:fillRect/>
          </a:stretch>
        </p:blipFill>
        <p:spPr bwMode="auto">
          <a:xfrm>
            <a:off x="1143000" y="3638550"/>
            <a:ext cx="6791325" cy="2076450"/>
          </a:xfrm>
          <a:prstGeom prst="rect">
            <a:avLst/>
          </a:prstGeom>
          <a:noFill/>
          <a:ln w="9525" algn="ctr">
            <a:noFill/>
            <a:miter lim="800000"/>
            <a:headEnd/>
            <a:tailEnd/>
          </a:ln>
        </p:spPr>
      </p:pic>
      <p:sp>
        <p:nvSpPr>
          <p:cNvPr id="6" name="灯片编号占位符 5"/>
          <p:cNvSpPr>
            <a:spLocks noGrp="1"/>
          </p:cNvSpPr>
          <p:nvPr>
            <p:ph type="sldNum" sz="quarter" idx="10"/>
          </p:nvPr>
        </p:nvSpPr>
        <p:spPr/>
        <p:txBody>
          <a:bodyPr/>
          <a:lstStyle/>
          <a:p>
            <a:pPr>
              <a:defRPr/>
            </a:pPr>
            <a:r>
              <a:rPr lang="zh-CN" altLang="en-US" smtClean="0"/>
              <a:t>第</a:t>
            </a:r>
            <a:fld id="{81C22095-4DE7-4C2D-9AAB-FE2AD6A7C684}"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40645">
                                            <p:txEl>
                                              <p:pRg st="0" end="0"/>
                                            </p:txEl>
                                          </p:spTgt>
                                        </p:tgtEl>
                                        <p:attrNameLst>
                                          <p:attrName>style.visibility</p:attrName>
                                        </p:attrNameLst>
                                      </p:cBhvr>
                                      <p:to>
                                        <p:strVal val="visible"/>
                                      </p:to>
                                    </p:set>
                                    <p:anim to="" calcmode="lin" valueType="num">
                                      <p:cBhvr>
                                        <p:cTn id="7" dur="1" fill="hold"/>
                                        <p:tgtEl>
                                          <p:spTgt spid="240645">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0646"/>
                                        </p:tgtEl>
                                        <p:attrNameLst>
                                          <p:attrName>style.visibility</p:attrName>
                                        </p:attrNameLst>
                                      </p:cBhvr>
                                      <p:to>
                                        <p:strVal val="visible"/>
                                      </p:to>
                                    </p:set>
                                    <p:anim calcmode="lin" valueType="num">
                                      <p:cBhvr additive="base">
                                        <p:cTn id="12" dur="500" fill="hold"/>
                                        <p:tgtEl>
                                          <p:spTgt spid="240646"/>
                                        </p:tgtEl>
                                        <p:attrNameLst>
                                          <p:attrName>ppt_x</p:attrName>
                                        </p:attrNameLst>
                                      </p:cBhvr>
                                      <p:tavLst>
                                        <p:tav tm="0">
                                          <p:val>
                                            <p:strVal val="#ppt_x"/>
                                          </p:val>
                                        </p:tav>
                                        <p:tav tm="100000">
                                          <p:val>
                                            <p:strVal val="#ppt_x"/>
                                          </p:val>
                                        </p:tav>
                                      </p:tavLst>
                                    </p:anim>
                                    <p:anim calcmode="lin" valueType="num">
                                      <p:cBhvr additive="base">
                                        <p:cTn id="13" dur="500" fill="hold"/>
                                        <p:tgtEl>
                                          <p:spTgt spid="2406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3" name="Text Box 3"/>
          <p:cNvSpPr txBox="1">
            <a:spLocks noChangeArrowheads="1"/>
          </p:cNvSpPr>
          <p:nvPr/>
        </p:nvSpPr>
        <p:spPr bwMode="auto">
          <a:xfrm>
            <a:off x="623888" y="2514600"/>
            <a:ext cx="8062912" cy="45720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kumimoji="1" lang="zh-CN" altLang="en-US" sz="2400" b="1">
                <a:latin typeface="Gulim" pitchFamily="34" charset="-127"/>
              </a:rPr>
              <a:t>  </a:t>
            </a:r>
            <a:r>
              <a:rPr lang="zh-CN" altLang="en-US" sz="2400">
                <a:latin typeface="楷体_GB2312" pitchFamily="49" charset="-122"/>
                <a:ea typeface="楷体_GB2312" pitchFamily="49" charset="-122"/>
              </a:rPr>
              <a:t>对象会对其他对象发来的要求做出反应</a:t>
            </a:r>
            <a:endParaRPr lang="zh-CN" altLang="en-US" sz="2400">
              <a:latin typeface="楷体_GB2312" pitchFamily="49" charset="-122"/>
              <a:ea typeface="楷体_GB2312" pitchFamily="49" charset="-122"/>
            </a:endParaRPr>
          </a:p>
        </p:txBody>
      </p:sp>
      <p:sp>
        <p:nvSpPr>
          <p:cNvPr id="179204" name="Text Box 4"/>
          <p:cNvSpPr txBox="1">
            <a:spLocks noChangeArrowheads="1"/>
          </p:cNvSpPr>
          <p:nvPr/>
        </p:nvSpPr>
        <p:spPr bwMode="auto">
          <a:xfrm>
            <a:off x="1128713" y="3113088"/>
            <a:ext cx="7515225" cy="140970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其他对象发来的要求</a:t>
            </a:r>
            <a:r>
              <a:rPr kumimoji="1" lang="en-US" altLang="zh-CN" sz="2400">
                <a:effectLst>
                  <a:outerShdw blurRad="38100" dist="38100" dir="2700000" algn="tl">
                    <a:srgbClr val="C0C0C0"/>
                  </a:outerShdw>
                </a:effectLst>
                <a:latin typeface="华文楷体" panose="02010600040101010101" charset="-122"/>
                <a:ea typeface="楷体_GB2312" pitchFamily="49" charset="-122"/>
              </a:rPr>
              <a:t>——</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消息</a:t>
            </a:r>
            <a:endPar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消息的接受窗口</a:t>
            </a:r>
            <a:r>
              <a:rPr kumimoji="1" lang="en-US" altLang="zh-CN" sz="2400">
                <a:effectLst>
                  <a:outerShdw blurRad="38100" dist="38100" dir="2700000" algn="tl">
                    <a:srgbClr val="C0C0C0"/>
                  </a:outerShdw>
                </a:effectLst>
                <a:latin typeface="华文楷体" panose="02010600040101010101" charset="-122"/>
                <a:ea typeface="楷体_GB2312" pitchFamily="49" charset="-122"/>
              </a:rPr>
              <a:t>——</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接口</a:t>
            </a:r>
            <a:endPar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en-US" altLang="zh-CN" sz="2400">
                <a:effectLst>
                  <a:outerShdw blurRad="38100" dist="38100" dir="2700000" algn="tl">
                    <a:srgbClr val="C0C0C0"/>
                  </a:outerShdw>
                </a:effectLst>
                <a:latin typeface="楷体_GB2312" pitchFamily="49" charset="-122"/>
                <a:ea typeface="楷体_GB2312" pitchFamily="49" charset="-122"/>
              </a:rPr>
              <a:t> </a:t>
            </a:r>
            <a:r>
              <a:rPr kumimoji="1" lang="zh-CN" altLang="en-US" sz="2400">
                <a:effectLst>
                  <a:outerShdw blurRad="38100" dist="38100" dir="2700000" algn="tl">
                    <a:srgbClr val="C0C0C0"/>
                  </a:outerShdw>
                </a:effectLst>
                <a:latin typeface="楷体_GB2312" pitchFamily="49" charset="-122"/>
                <a:ea typeface="楷体_GB2312" pitchFamily="49" charset="-122"/>
              </a:rPr>
              <a:t>对消息的反应</a:t>
            </a:r>
            <a:r>
              <a:rPr kumimoji="1" lang="en-US" altLang="zh-CN" sz="2400">
                <a:effectLst>
                  <a:outerShdw blurRad="38100" dist="38100" dir="2700000" algn="tl">
                    <a:srgbClr val="C0C0C0"/>
                  </a:outerShdw>
                </a:effectLst>
                <a:latin typeface="华文楷体" panose="02010600040101010101" charset="-122"/>
                <a:ea typeface="楷体_GB2312" pitchFamily="49" charset="-122"/>
              </a:rPr>
              <a:t>——</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操作（行为）</a:t>
            </a:r>
            <a:endPar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sp>
        <p:nvSpPr>
          <p:cNvPr id="17412" name="Text Box 7"/>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79208" name="Text Box 8"/>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2B798CD4-B6A9-4692-822A-92439B202330}"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 to="" calcmode="lin" valueType="num">
                                      <p:cBhvr>
                                        <p:cTn id="7" dur="1" fill="hold"/>
                                        <p:tgtEl>
                                          <p:spTgt spid="179203">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9204">
                                            <p:txEl>
                                              <p:pRg st="0" end="0"/>
                                            </p:txEl>
                                          </p:spTgt>
                                        </p:tgtEl>
                                        <p:attrNameLst>
                                          <p:attrName>style.visibility</p:attrName>
                                        </p:attrNameLst>
                                      </p:cBhvr>
                                      <p:to>
                                        <p:strVal val="visible"/>
                                      </p:to>
                                    </p:set>
                                    <p:anim to="" calcmode="lin" valueType="num">
                                      <p:cBhvr>
                                        <p:cTn id="12" dur="1" fill="hold"/>
                                        <p:tgtEl>
                                          <p:spTgt spid="179204">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9204">
                                            <p:txEl>
                                              <p:pRg st="1" end="1"/>
                                            </p:txEl>
                                          </p:spTgt>
                                        </p:tgtEl>
                                        <p:attrNameLst>
                                          <p:attrName>style.visibility</p:attrName>
                                        </p:attrNameLst>
                                      </p:cBhvr>
                                      <p:to>
                                        <p:strVal val="visible"/>
                                      </p:to>
                                    </p:set>
                                    <p:anim to="" calcmode="lin" valueType="num">
                                      <p:cBhvr>
                                        <p:cTn id="17" dur="1" fill="hold"/>
                                        <p:tgtEl>
                                          <p:spTgt spid="179204">
                                            <p:txEl>
                                              <p:pRg st="1" end="1"/>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79204">
                                            <p:txEl>
                                              <p:pRg st="2" end="2"/>
                                            </p:txEl>
                                          </p:spTgt>
                                        </p:tgtEl>
                                        <p:attrNameLst>
                                          <p:attrName>style.visibility</p:attrName>
                                        </p:attrNameLst>
                                      </p:cBhvr>
                                      <p:to>
                                        <p:strVal val="visible"/>
                                      </p:to>
                                    </p:set>
                                    <p:anim to="" calcmode="lin" valueType="num">
                                      <p:cBhvr>
                                        <p:cTn id="22" dur="1" fill="hold"/>
                                        <p:tgtEl>
                                          <p:spTgt spid="179204">
                                            <p:txEl>
                                              <p:pRg st="2" end="2"/>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3" grpId="0" build="p"/>
      <p:bldP spid="17920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p:cNvSpPr txBox="1">
            <a:spLocks noChangeArrowheads="1"/>
          </p:cNvSpPr>
          <p:nvPr/>
        </p:nvSpPr>
        <p:spPr bwMode="auto">
          <a:xfrm>
            <a:off x="623888" y="2514600"/>
            <a:ext cx="8062912" cy="45720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kumimoji="1" lang="zh-CN" altLang="en-US" sz="2400" b="1">
                <a:latin typeface="Gulim" pitchFamily="34" charset="-127"/>
              </a:rPr>
              <a:t>  </a:t>
            </a:r>
            <a:r>
              <a:rPr lang="zh-CN" altLang="en-US" sz="2400">
                <a:latin typeface="楷体_GB2312" pitchFamily="49" charset="-122"/>
                <a:ea typeface="楷体_GB2312" pitchFamily="49" charset="-122"/>
              </a:rPr>
              <a:t>对象具有关系</a:t>
            </a:r>
            <a:endParaRPr lang="zh-CN" altLang="en-US" sz="2400">
              <a:latin typeface="楷体_GB2312" pitchFamily="49" charset="-122"/>
              <a:ea typeface="楷体_GB2312" pitchFamily="49" charset="-122"/>
            </a:endParaRPr>
          </a:p>
        </p:txBody>
      </p:sp>
      <p:sp>
        <p:nvSpPr>
          <p:cNvPr id="242691" name="Text Box 3"/>
          <p:cNvSpPr txBox="1">
            <a:spLocks noChangeArrowheads="1"/>
          </p:cNvSpPr>
          <p:nvPr/>
        </p:nvSpPr>
        <p:spPr bwMode="auto">
          <a:xfrm>
            <a:off x="1128713" y="3113088"/>
            <a:ext cx="3138487" cy="239395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通过连接不同的物体，可描述更加复杂的信息</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把多个物体归纳为更大的群组，能便于理解信息</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18436" name="Text Box 4"/>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42693" name="Text Box 5"/>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pic>
        <p:nvPicPr>
          <p:cNvPr id="18438" name="Picture 6"/>
          <p:cNvPicPr>
            <a:picLocks noChangeAspect="1" noChangeArrowheads="1"/>
          </p:cNvPicPr>
          <p:nvPr/>
        </p:nvPicPr>
        <p:blipFill>
          <a:blip r:embed="rId1"/>
          <a:srcRect/>
          <a:stretch>
            <a:fillRect/>
          </a:stretch>
        </p:blipFill>
        <p:spPr bwMode="auto">
          <a:xfrm>
            <a:off x="4787900" y="2514600"/>
            <a:ext cx="3324225" cy="2981325"/>
          </a:xfrm>
          <a:prstGeom prst="rect">
            <a:avLst/>
          </a:prstGeom>
          <a:noFill/>
          <a:ln w="9525" algn="ctr">
            <a:noFill/>
            <a:miter lim="800000"/>
            <a:headEnd/>
            <a:tailEnd/>
          </a:ln>
        </p:spPr>
      </p:pic>
      <p:sp>
        <p:nvSpPr>
          <p:cNvPr id="7" name="灯片编号占位符 6"/>
          <p:cNvSpPr>
            <a:spLocks noGrp="1"/>
          </p:cNvSpPr>
          <p:nvPr>
            <p:ph type="sldNum" sz="quarter" idx="10"/>
          </p:nvPr>
        </p:nvSpPr>
        <p:spPr/>
        <p:txBody>
          <a:bodyPr/>
          <a:lstStyle/>
          <a:p>
            <a:pPr>
              <a:defRPr/>
            </a:pPr>
            <a:r>
              <a:rPr lang="zh-CN" altLang="en-US" smtClean="0"/>
              <a:t>第</a:t>
            </a:r>
            <a:fld id="{7AE956A8-E0EC-44DD-B5F7-65AFAC9F9ABA}"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42690">
                                            <p:txEl>
                                              <p:pRg st="0" end="0"/>
                                            </p:txEl>
                                          </p:spTgt>
                                        </p:tgtEl>
                                        <p:attrNameLst>
                                          <p:attrName>style.visibility</p:attrName>
                                        </p:attrNameLst>
                                      </p:cBhvr>
                                      <p:to>
                                        <p:strVal val="visible"/>
                                      </p:to>
                                    </p:set>
                                    <p:anim to="" calcmode="lin" valueType="num">
                                      <p:cBhvr>
                                        <p:cTn id="7" dur="1" fill="hold"/>
                                        <p:tgtEl>
                                          <p:spTgt spid="242690">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42691">
                                            <p:txEl>
                                              <p:pRg st="0" end="0"/>
                                            </p:txEl>
                                          </p:spTgt>
                                        </p:tgtEl>
                                        <p:attrNameLst>
                                          <p:attrName>style.visibility</p:attrName>
                                        </p:attrNameLst>
                                      </p:cBhvr>
                                      <p:to>
                                        <p:strVal val="visible"/>
                                      </p:to>
                                    </p:set>
                                    <p:anim to="" calcmode="lin" valueType="num">
                                      <p:cBhvr>
                                        <p:cTn id="12" dur="1" fill="hold"/>
                                        <p:tgtEl>
                                          <p:spTgt spid="242691">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42691">
                                            <p:txEl>
                                              <p:pRg st="1" end="1"/>
                                            </p:txEl>
                                          </p:spTgt>
                                        </p:tgtEl>
                                        <p:attrNameLst>
                                          <p:attrName>style.visibility</p:attrName>
                                        </p:attrNameLst>
                                      </p:cBhvr>
                                      <p:to>
                                        <p:strVal val="visible"/>
                                      </p:to>
                                    </p:set>
                                    <p:anim to="" calcmode="lin" valueType="num">
                                      <p:cBhvr>
                                        <p:cTn id="17" dur="1" fill="hold"/>
                                        <p:tgtEl>
                                          <p:spTgt spid="242691">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0" grpId="0" build="p"/>
      <p:bldP spid="242691"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623888" y="2514600"/>
            <a:ext cx="8062912" cy="45720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kumimoji="1" lang="zh-CN" altLang="en-US" sz="2400" b="1">
                <a:latin typeface="Gulim" pitchFamily="34" charset="-127"/>
              </a:rPr>
              <a:t>  </a:t>
            </a:r>
            <a:r>
              <a:rPr lang="zh-CN" altLang="en-US" sz="2400">
                <a:latin typeface="楷体_GB2312" pitchFamily="49" charset="-122"/>
                <a:ea typeface="楷体_GB2312" pitchFamily="49" charset="-122"/>
              </a:rPr>
              <a:t>对象之间的关系：</a:t>
            </a:r>
            <a:endParaRPr lang="zh-CN" altLang="en-US" sz="2400">
              <a:latin typeface="楷体_GB2312" pitchFamily="49" charset="-122"/>
              <a:ea typeface="楷体_GB2312" pitchFamily="49" charset="-122"/>
            </a:endParaRPr>
          </a:p>
        </p:txBody>
      </p:sp>
      <p:sp>
        <p:nvSpPr>
          <p:cNvPr id="243715" name="Text Box 3"/>
          <p:cNvSpPr txBox="1">
            <a:spLocks noChangeArrowheads="1"/>
          </p:cNvSpPr>
          <p:nvPr/>
        </p:nvSpPr>
        <p:spPr bwMode="auto">
          <a:xfrm>
            <a:off x="1128713" y="3113088"/>
            <a:ext cx="3138487" cy="140970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关联</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聚合</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组合</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19460" name="Text Box 4"/>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43717" name="Text Box 5"/>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D68E2022-AEEE-45FF-9474-FAB713C18785}"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43714">
                                            <p:txEl>
                                              <p:pRg st="0" end="0"/>
                                            </p:txEl>
                                          </p:spTgt>
                                        </p:tgtEl>
                                        <p:attrNameLst>
                                          <p:attrName>style.visibility</p:attrName>
                                        </p:attrNameLst>
                                      </p:cBhvr>
                                      <p:to>
                                        <p:strVal val="visible"/>
                                      </p:to>
                                    </p:set>
                                    <p:anim to="" calcmode="lin" valueType="num">
                                      <p:cBhvr>
                                        <p:cTn id="7" dur="1" fill="hold"/>
                                        <p:tgtEl>
                                          <p:spTgt spid="243714">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43715">
                                            <p:txEl>
                                              <p:pRg st="0" end="0"/>
                                            </p:txEl>
                                          </p:spTgt>
                                        </p:tgtEl>
                                        <p:attrNameLst>
                                          <p:attrName>style.visibility</p:attrName>
                                        </p:attrNameLst>
                                      </p:cBhvr>
                                      <p:to>
                                        <p:strVal val="visible"/>
                                      </p:to>
                                    </p:set>
                                    <p:anim to="" calcmode="lin" valueType="num">
                                      <p:cBhvr>
                                        <p:cTn id="12" dur="1" fill="hold"/>
                                        <p:tgtEl>
                                          <p:spTgt spid="243715">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43715">
                                            <p:txEl>
                                              <p:pRg st="1" end="1"/>
                                            </p:txEl>
                                          </p:spTgt>
                                        </p:tgtEl>
                                        <p:attrNameLst>
                                          <p:attrName>style.visibility</p:attrName>
                                        </p:attrNameLst>
                                      </p:cBhvr>
                                      <p:to>
                                        <p:strVal val="visible"/>
                                      </p:to>
                                    </p:set>
                                    <p:anim to="" calcmode="lin" valueType="num">
                                      <p:cBhvr>
                                        <p:cTn id="17" dur="1" fill="hold"/>
                                        <p:tgtEl>
                                          <p:spTgt spid="243715">
                                            <p:txEl>
                                              <p:pRg st="1" end="1"/>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243715">
                                            <p:txEl>
                                              <p:pRg st="2" end="2"/>
                                            </p:txEl>
                                          </p:spTgt>
                                        </p:tgtEl>
                                        <p:attrNameLst>
                                          <p:attrName>style.visibility</p:attrName>
                                        </p:attrNameLst>
                                      </p:cBhvr>
                                      <p:to>
                                        <p:strVal val="visible"/>
                                      </p:to>
                                    </p:set>
                                    <p:anim to="" calcmode="lin" valueType="num">
                                      <p:cBhvr>
                                        <p:cTn id="22" dur="1" fill="hold"/>
                                        <p:tgtEl>
                                          <p:spTgt spid="243715">
                                            <p:txEl>
                                              <p:pRg st="2" end="2"/>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4" grpId="0" build="p"/>
      <p:bldP spid="24371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1253" name="Picture 5"/>
          <p:cNvPicPr>
            <a:picLocks noChangeAspect="1" noChangeArrowheads="1"/>
          </p:cNvPicPr>
          <p:nvPr/>
        </p:nvPicPr>
        <p:blipFill>
          <a:blip r:embed="rId1"/>
          <a:srcRect/>
          <a:stretch>
            <a:fillRect/>
          </a:stretch>
        </p:blipFill>
        <p:spPr bwMode="auto">
          <a:xfrm>
            <a:off x="2051050" y="2971800"/>
            <a:ext cx="4752975" cy="3405188"/>
          </a:xfrm>
          <a:prstGeom prst="rect">
            <a:avLst/>
          </a:prstGeom>
          <a:noFill/>
          <a:ln w="9525">
            <a:noFill/>
            <a:miter lim="800000"/>
            <a:headEnd/>
            <a:tailEnd/>
          </a:ln>
        </p:spPr>
      </p:pic>
      <p:sp>
        <p:nvSpPr>
          <p:cNvPr id="181255" name="Text Box 7"/>
          <p:cNvSpPr txBox="1">
            <a:spLocks noChangeArrowheads="1"/>
          </p:cNvSpPr>
          <p:nvPr/>
        </p:nvSpPr>
        <p:spPr bwMode="auto">
          <a:xfrm>
            <a:off x="623888" y="2362200"/>
            <a:ext cx="8062912" cy="45720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关联</a:t>
            </a:r>
            <a:r>
              <a:rPr lang="zh-CN" altLang="en-US" sz="2400">
                <a:latin typeface="楷体_GB2312" pitchFamily="49" charset="-122"/>
                <a:ea typeface="楷体_GB2312" pitchFamily="49" charset="-122"/>
              </a:rPr>
              <a:t>是一种弱连接：对象之间不完全相互依赖。</a:t>
            </a:r>
            <a:endParaRPr lang="en-US" altLang="zh-CN" sz="2400">
              <a:latin typeface="楷体_GB2312" pitchFamily="49" charset="-122"/>
              <a:ea typeface="楷体_GB2312" pitchFamily="49" charset="-122"/>
            </a:endParaRPr>
          </a:p>
        </p:txBody>
      </p:sp>
      <p:sp>
        <p:nvSpPr>
          <p:cNvPr id="20484" name="Text Box 8"/>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81257" name="Text Box 9"/>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C6A0419E-790D-482C-9524-DF26C3D2BB6B}"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81255">
                                            <p:txEl>
                                              <p:pRg st="0" end="0"/>
                                            </p:txEl>
                                          </p:spTgt>
                                        </p:tgtEl>
                                        <p:attrNameLst>
                                          <p:attrName>style.visibility</p:attrName>
                                        </p:attrNameLst>
                                      </p:cBhvr>
                                      <p:to>
                                        <p:strVal val="visible"/>
                                      </p:to>
                                    </p:set>
                                    <p:anim to="" calcmode="lin" valueType="num">
                                      <p:cBhvr>
                                        <p:cTn id="7" dur="1" fill="hold"/>
                                        <p:tgtEl>
                                          <p:spTgt spid="181255">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81253"/>
                                        </p:tgtEl>
                                        <p:attrNameLst>
                                          <p:attrName>style.visibility</p:attrName>
                                        </p:attrNameLst>
                                      </p:cBhvr>
                                      <p:to>
                                        <p:strVal val="visible"/>
                                      </p:to>
                                    </p:set>
                                    <p:anim to="" calcmode="lin" valueType="num">
                                      <p:cBhvr>
                                        <p:cTn id="12" dur="1" fill="hold"/>
                                        <p:tgtEl>
                                          <p:spTgt spid="18125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25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9" name="Text Box 3"/>
          <p:cNvSpPr txBox="1">
            <a:spLocks noChangeArrowheads="1"/>
          </p:cNvSpPr>
          <p:nvPr/>
        </p:nvSpPr>
        <p:spPr bwMode="auto">
          <a:xfrm>
            <a:off x="623888" y="2362200"/>
            <a:ext cx="8062912" cy="1298575"/>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聚合</a:t>
            </a:r>
            <a:r>
              <a:rPr lang="zh-CN" altLang="en-US" sz="2400">
                <a:latin typeface="楷体_GB2312" pitchFamily="49" charset="-122"/>
                <a:ea typeface="楷体_GB2312" pitchFamily="49" charset="-122"/>
              </a:rPr>
              <a:t>表示把对象放在一起，组成一个更大的对象。</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聚合</a:t>
            </a:r>
            <a:r>
              <a:rPr lang="zh-CN" altLang="en-US" sz="2400">
                <a:latin typeface="楷体_GB2312" pitchFamily="49" charset="-122"/>
                <a:ea typeface="楷体_GB2312" pitchFamily="49" charset="-122"/>
              </a:rPr>
              <a:t>形成</a:t>
            </a:r>
            <a:r>
              <a:rPr lang="zh-CN" altLang="en-US" sz="2400">
                <a:ea typeface="楷体_GB2312" pitchFamily="49" charset="-122"/>
              </a:rPr>
              <a:t>“</a:t>
            </a:r>
            <a:r>
              <a:rPr lang="zh-CN" altLang="en-US" sz="2400">
                <a:solidFill>
                  <a:srgbClr val="FF0000"/>
                </a:solidFill>
                <a:latin typeface="楷体_GB2312" pitchFamily="49" charset="-122"/>
                <a:ea typeface="楷体_GB2312" pitchFamily="49" charset="-122"/>
              </a:rPr>
              <a:t>部分－整体</a:t>
            </a:r>
            <a:r>
              <a:rPr lang="zh-CN" altLang="en-US" sz="2400">
                <a:ea typeface="楷体_GB2312" pitchFamily="49" charset="-122"/>
              </a:rPr>
              <a:t>”</a:t>
            </a:r>
            <a:r>
              <a:rPr lang="zh-CN" altLang="en-US" sz="2400">
                <a:latin typeface="楷体_GB2312" pitchFamily="49" charset="-122"/>
                <a:ea typeface="楷体_GB2312" pitchFamily="49" charset="-122"/>
              </a:rPr>
              <a:t>层次结构，它隐含了较大的依赖性，至少是整体对部分的依赖。</a:t>
            </a:r>
            <a:endParaRPr lang="en-US" altLang="zh-CN" sz="2400">
              <a:latin typeface="楷体_GB2312" pitchFamily="49" charset="-122"/>
              <a:ea typeface="楷体_GB2312" pitchFamily="49" charset="-122"/>
            </a:endParaRPr>
          </a:p>
        </p:txBody>
      </p:sp>
      <p:sp>
        <p:nvSpPr>
          <p:cNvPr id="21507" name="Text Box 4"/>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44741" name="Text Box 5"/>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pic>
        <p:nvPicPr>
          <p:cNvPr id="244742" name="Picture 6"/>
          <p:cNvPicPr>
            <a:picLocks noChangeAspect="1" noChangeArrowheads="1"/>
          </p:cNvPicPr>
          <p:nvPr/>
        </p:nvPicPr>
        <p:blipFill>
          <a:blip r:embed="rId1"/>
          <a:srcRect l="4407" t="3471" r="3342" b="4808"/>
          <a:stretch>
            <a:fillRect/>
          </a:stretch>
        </p:blipFill>
        <p:spPr bwMode="auto">
          <a:xfrm>
            <a:off x="1295400" y="3276600"/>
            <a:ext cx="5903913" cy="3498850"/>
          </a:xfrm>
          <a:prstGeom prst="rect">
            <a:avLst/>
          </a:prstGeom>
          <a:noFill/>
          <a:ln w="9525">
            <a:noFill/>
            <a:miter lim="800000"/>
            <a:headEnd/>
            <a:tailEnd/>
          </a:ln>
        </p:spPr>
      </p:pic>
      <p:sp>
        <p:nvSpPr>
          <p:cNvPr id="6" name="灯片编号占位符 5"/>
          <p:cNvSpPr>
            <a:spLocks noGrp="1"/>
          </p:cNvSpPr>
          <p:nvPr>
            <p:ph type="sldNum" sz="quarter" idx="10"/>
          </p:nvPr>
        </p:nvSpPr>
        <p:spPr/>
        <p:txBody>
          <a:bodyPr/>
          <a:lstStyle/>
          <a:p>
            <a:pPr>
              <a:defRPr/>
            </a:pPr>
            <a:r>
              <a:rPr lang="zh-CN" altLang="en-US" smtClean="0"/>
              <a:t>第</a:t>
            </a:r>
            <a:fld id="{84DD8551-99E9-48D7-A209-67FC7EE207CB}"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44739">
                                            <p:txEl>
                                              <p:pRg st="0" end="0"/>
                                            </p:txEl>
                                          </p:spTgt>
                                        </p:tgtEl>
                                        <p:attrNameLst>
                                          <p:attrName>style.visibility</p:attrName>
                                        </p:attrNameLst>
                                      </p:cBhvr>
                                      <p:to>
                                        <p:strVal val="visible"/>
                                      </p:to>
                                    </p:set>
                                    <p:anim to="" calcmode="lin" valueType="num">
                                      <p:cBhvr>
                                        <p:cTn id="7" dur="1" fill="hold"/>
                                        <p:tgtEl>
                                          <p:spTgt spid="244739">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44739">
                                            <p:txEl>
                                              <p:pRg st="1" end="1"/>
                                            </p:txEl>
                                          </p:spTgt>
                                        </p:tgtEl>
                                        <p:attrNameLst>
                                          <p:attrName>style.visibility</p:attrName>
                                        </p:attrNameLst>
                                      </p:cBhvr>
                                      <p:to>
                                        <p:strVal val="visible"/>
                                      </p:to>
                                    </p:set>
                                    <p:anim to="" calcmode="lin" valueType="num">
                                      <p:cBhvr>
                                        <p:cTn id="12" dur="1" fill="hold"/>
                                        <p:tgtEl>
                                          <p:spTgt spid="244739">
                                            <p:txEl>
                                              <p:pRg st="1" end="1"/>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244742"/>
                                        </p:tgtEl>
                                        <p:attrNameLst>
                                          <p:attrName>style.visibility</p:attrName>
                                        </p:attrNameLst>
                                      </p:cBhvr>
                                      <p:to>
                                        <p:strVal val="visible"/>
                                      </p:to>
                                    </p:set>
                                    <p:anim to="" calcmode="lin" valueType="num">
                                      <p:cBhvr>
                                        <p:cTn id="17" dur="1" fill="hold"/>
                                        <p:tgtEl>
                                          <p:spTgt spid="24474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Text Box 2"/>
          <p:cNvSpPr txBox="1">
            <a:spLocks noChangeArrowheads="1"/>
          </p:cNvSpPr>
          <p:nvPr/>
        </p:nvSpPr>
        <p:spPr bwMode="auto">
          <a:xfrm>
            <a:off x="623888" y="2362200"/>
            <a:ext cx="8062912" cy="822325"/>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组合</a:t>
            </a:r>
            <a:r>
              <a:rPr lang="en-US" altLang="zh-CN" sz="2400">
                <a:latin typeface="楷体_GB2312" pitchFamily="49" charset="-122"/>
                <a:ea typeface="楷体_GB2312" pitchFamily="49" charset="-122"/>
              </a:rPr>
              <a:t>(composition)</a:t>
            </a:r>
            <a:r>
              <a:rPr lang="zh-CN" altLang="en-US" sz="2400">
                <a:latin typeface="楷体_GB2312" pitchFamily="49" charset="-122"/>
                <a:ea typeface="楷体_GB2312" pitchFamily="49" charset="-122"/>
              </a:rPr>
              <a:t>是一种特殊的聚合</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强调整体和部分具有相同的生命期。</a:t>
            </a:r>
            <a:endParaRPr lang="en-US" altLang="zh-CN" sz="2400">
              <a:latin typeface="楷体_GB2312" pitchFamily="49" charset="-122"/>
              <a:ea typeface="楷体_GB2312" pitchFamily="49" charset="-122"/>
            </a:endParaRPr>
          </a:p>
        </p:txBody>
      </p:sp>
      <p:sp>
        <p:nvSpPr>
          <p:cNvPr id="22531" name="Text Box 3"/>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45764" name="Text Box 4"/>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pic>
        <p:nvPicPr>
          <p:cNvPr id="245766" name="Picture 6"/>
          <p:cNvPicPr>
            <a:picLocks noChangeAspect="1" noChangeArrowheads="1"/>
          </p:cNvPicPr>
          <p:nvPr/>
        </p:nvPicPr>
        <p:blipFill>
          <a:blip r:embed="rId1"/>
          <a:srcRect/>
          <a:stretch>
            <a:fillRect/>
          </a:stretch>
        </p:blipFill>
        <p:spPr bwMode="auto">
          <a:xfrm>
            <a:off x="868363" y="3336925"/>
            <a:ext cx="7056437" cy="1539875"/>
          </a:xfrm>
          <a:prstGeom prst="rect">
            <a:avLst/>
          </a:prstGeom>
          <a:noFill/>
          <a:ln w="9525">
            <a:noFill/>
            <a:miter lim="800000"/>
            <a:headEnd/>
            <a:tailEnd/>
          </a:ln>
        </p:spPr>
      </p:pic>
      <p:sp>
        <p:nvSpPr>
          <p:cNvPr id="22534" name="Text Box 7"/>
          <p:cNvSpPr txBox="1">
            <a:spLocks noChangeArrowheads="1"/>
          </p:cNvSpPr>
          <p:nvPr/>
        </p:nvSpPr>
        <p:spPr bwMode="auto">
          <a:xfrm>
            <a:off x="827088" y="5000625"/>
            <a:ext cx="3527425" cy="1552575"/>
          </a:xfrm>
          <a:prstGeom prst="rect">
            <a:avLst/>
          </a:prstGeom>
          <a:noFill/>
          <a:ln w="19050">
            <a:noFill/>
            <a:miter lim="800000"/>
          </a:ln>
        </p:spPr>
        <p:txBody>
          <a:bodyPr>
            <a:spAutoFit/>
          </a:bodyPr>
          <a:lstStyle/>
          <a:p>
            <a:r>
              <a:rPr lang="en-US" altLang="zh-CN" sz="2400" b="1"/>
              <a:t>public class Circle{</a:t>
            </a:r>
            <a:endParaRPr lang="en-US" altLang="zh-CN" sz="2400" b="1"/>
          </a:p>
          <a:p>
            <a:r>
              <a:rPr lang="en-US" altLang="zh-CN" sz="2400" b="1"/>
              <a:t>    public int radius;</a:t>
            </a:r>
            <a:endParaRPr lang="en-US" altLang="zh-CN" sz="2400" b="1"/>
          </a:p>
          <a:p>
            <a:r>
              <a:rPr lang="en-US" altLang="zh-CN" sz="2400" b="1"/>
              <a:t>    Point center;</a:t>
            </a:r>
            <a:endParaRPr lang="en-US" altLang="zh-CN" sz="2400" b="1"/>
          </a:p>
          <a:p>
            <a:r>
              <a:rPr lang="en-US" altLang="zh-CN" sz="2400" b="1"/>
              <a:t>}</a:t>
            </a:r>
            <a:endParaRPr lang="en-US" altLang="zh-CN" sz="2400" b="1"/>
          </a:p>
        </p:txBody>
      </p:sp>
      <p:sp>
        <p:nvSpPr>
          <p:cNvPr id="22535" name="Text Box 8"/>
          <p:cNvSpPr txBox="1">
            <a:spLocks noChangeArrowheads="1"/>
          </p:cNvSpPr>
          <p:nvPr/>
        </p:nvSpPr>
        <p:spPr bwMode="auto">
          <a:xfrm>
            <a:off x="4859338" y="4927600"/>
            <a:ext cx="3979862" cy="1187450"/>
          </a:xfrm>
          <a:prstGeom prst="rect">
            <a:avLst/>
          </a:prstGeom>
          <a:noFill/>
          <a:ln w="19050" algn="ctr">
            <a:noFill/>
            <a:miter lim="800000"/>
          </a:ln>
        </p:spPr>
        <p:txBody>
          <a:bodyPr>
            <a:spAutoFit/>
          </a:bodyPr>
          <a:lstStyle/>
          <a:p>
            <a:r>
              <a:rPr lang="en-US" altLang="zh-CN" sz="2400" b="1"/>
              <a:t>public class Style{</a:t>
            </a:r>
            <a:endParaRPr lang="en-US" altLang="zh-CN" sz="2400" b="1"/>
          </a:p>
          <a:p>
            <a:r>
              <a:rPr lang="en-US" altLang="zh-CN" sz="2400" b="1"/>
              <a:t>    int x, y;</a:t>
            </a:r>
            <a:endParaRPr lang="en-US" altLang="zh-CN" sz="2400" b="1"/>
          </a:p>
          <a:p>
            <a:r>
              <a:rPr lang="en-US" altLang="zh-CN" sz="2400" b="1"/>
              <a:t>}</a:t>
            </a:r>
            <a:endParaRPr lang="en-US" altLang="zh-CN" sz="2400" b="1"/>
          </a:p>
        </p:txBody>
      </p:sp>
      <p:sp>
        <p:nvSpPr>
          <p:cNvPr id="8" name="灯片编号占位符 7"/>
          <p:cNvSpPr>
            <a:spLocks noGrp="1"/>
          </p:cNvSpPr>
          <p:nvPr>
            <p:ph type="sldNum" sz="quarter" idx="10"/>
          </p:nvPr>
        </p:nvSpPr>
        <p:spPr/>
        <p:txBody>
          <a:bodyPr/>
          <a:lstStyle/>
          <a:p>
            <a:pPr>
              <a:defRPr/>
            </a:pPr>
            <a:r>
              <a:rPr lang="zh-CN" altLang="en-US" smtClean="0"/>
              <a:t>第</a:t>
            </a:r>
            <a:fld id="{F718834F-AAC0-48D8-BBB3-ACAD9FA63C05}"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45762">
                                            <p:txEl>
                                              <p:pRg st="0" end="0"/>
                                            </p:txEl>
                                          </p:spTgt>
                                        </p:tgtEl>
                                        <p:attrNameLst>
                                          <p:attrName>style.visibility</p:attrName>
                                        </p:attrNameLst>
                                      </p:cBhvr>
                                      <p:to>
                                        <p:strVal val="visible"/>
                                      </p:to>
                                    </p:set>
                                    <p:anim to="" calcmode="lin" valueType="num">
                                      <p:cBhvr>
                                        <p:cTn id="7" dur="1" fill="hold"/>
                                        <p:tgtEl>
                                          <p:spTgt spid="245762">
                                            <p:txEl>
                                              <p:pRg st="0" end="0"/>
                                            </p:txEl>
                                          </p:spTgt>
                                        </p:tgtEl>
                                      </p:cBhvr>
                                    </p:anim>
                                  </p:childTnLst>
                                </p:cTn>
                              </p:par>
                              <p:par>
                                <p:cTn id="8" presetID="2" presetClass="entr" presetSubtype="4" fill="hold" nodeType="withEffect">
                                  <p:stCondLst>
                                    <p:cond delay="0"/>
                                  </p:stCondLst>
                                  <p:childTnLst>
                                    <p:set>
                                      <p:cBhvr>
                                        <p:cTn id="9" dur="1" fill="hold">
                                          <p:stCondLst>
                                            <p:cond delay="0"/>
                                          </p:stCondLst>
                                        </p:cTn>
                                        <p:tgtEl>
                                          <p:spTgt spid="245766"/>
                                        </p:tgtEl>
                                        <p:attrNameLst>
                                          <p:attrName>style.visibility</p:attrName>
                                        </p:attrNameLst>
                                      </p:cBhvr>
                                      <p:to>
                                        <p:strVal val="visible"/>
                                      </p:to>
                                    </p:set>
                                    <p:anim calcmode="lin" valueType="num">
                                      <p:cBhvr additive="base">
                                        <p:cTn id="10" dur="500" fill="hold"/>
                                        <p:tgtEl>
                                          <p:spTgt spid="245766"/>
                                        </p:tgtEl>
                                        <p:attrNameLst>
                                          <p:attrName>ppt_x</p:attrName>
                                        </p:attrNameLst>
                                      </p:cBhvr>
                                      <p:tavLst>
                                        <p:tav tm="0">
                                          <p:val>
                                            <p:strVal val="#ppt_x"/>
                                          </p:val>
                                        </p:tav>
                                        <p:tav tm="100000">
                                          <p:val>
                                            <p:strVal val="#ppt_x"/>
                                          </p:val>
                                        </p:tav>
                                      </p:tavLst>
                                    </p:anim>
                                    <p:anim calcmode="lin" valueType="num">
                                      <p:cBhvr additive="base">
                                        <p:cTn id="11" dur="500" fill="hold"/>
                                        <p:tgtEl>
                                          <p:spTgt spid="2457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Text Box 2"/>
          <p:cNvSpPr txBox="1">
            <a:spLocks noChangeArrowheads="1"/>
          </p:cNvSpPr>
          <p:nvPr/>
        </p:nvSpPr>
        <p:spPr bwMode="auto">
          <a:xfrm>
            <a:off x="623888" y="2286000"/>
            <a:ext cx="8062912" cy="45720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kumimoji="1" lang="zh-CN" altLang="en-US" sz="2400" b="1">
                <a:latin typeface="Gulim" pitchFamily="34" charset="-127"/>
              </a:rPr>
              <a:t>  </a:t>
            </a:r>
            <a:r>
              <a:rPr lang="zh-CN" altLang="en-US" sz="2400">
                <a:latin typeface="楷体_GB2312" pitchFamily="49" charset="-122"/>
                <a:ea typeface="楷体_GB2312" pitchFamily="49" charset="-122"/>
              </a:rPr>
              <a:t>对象可唯一识别</a:t>
            </a:r>
            <a:endParaRPr lang="zh-CN" altLang="en-US" sz="2400">
              <a:latin typeface="楷体_GB2312" pitchFamily="49" charset="-122"/>
              <a:ea typeface="楷体_GB2312" pitchFamily="49" charset="-122"/>
            </a:endParaRPr>
          </a:p>
        </p:txBody>
      </p:sp>
      <p:sp>
        <p:nvSpPr>
          <p:cNvPr id="246787" name="Text Box 3"/>
          <p:cNvSpPr txBox="1">
            <a:spLocks noChangeArrowheads="1"/>
          </p:cNvSpPr>
          <p:nvPr/>
        </p:nvSpPr>
        <p:spPr bwMode="auto">
          <a:xfrm>
            <a:off x="1128713" y="2743200"/>
            <a:ext cx="6796087" cy="45720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即使对象有相同属性，还是能唯一识别</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23556" name="Text Box 4"/>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246789" name="Text Box 5"/>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pic>
        <p:nvPicPr>
          <p:cNvPr id="246790" name="Picture 6"/>
          <p:cNvPicPr>
            <a:picLocks noChangeAspect="1" noChangeArrowheads="1"/>
          </p:cNvPicPr>
          <p:nvPr/>
        </p:nvPicPr>
        <p:blipFill>
          <a:blip r:embed="rId1"/>
          <a:srcRect/>
          <a:stretch>
            <a:fillRect/>
          </a:stretch>
        </p:blipFill>
        <p:spPr bwMode="auto">
          <a:xfrm>
            <a:off x="1676400" y="3124200"/>
            <a:ext cx="5753100" cy="3048000"/>
          </a:xfrm>
          <a:prstGeom prst="rect">
            <a:avLst/>
          </a:prstGeom>
          <a:noFill/>
          <a:ln w="9525" algn="ctr">
            <a:noFill/>
            <a:miter lim="800000"/>
            <a:headEnd/>
            <a:tailEnd/>
          </a:ln>
        </p:spPr>
      </p:pic>
      <p:sp>
        <p:nvSpPr>
          <p:cNvPr id="7" name="灯片编号占位符 6"/>
          <p:cNvSpPr>
            <a:spLocks noGrp="1"/>
          </p:cNvSpPr>
          <p:nvPr>
            <p:ph type="sldNum" sz="quarter" idx="10"/>
          </p:nvPr>
        </p:nvSpPr>
        <p:spPr/>
        <p:txBody>
          <a:bodyPr/>
          <a:lstStyle/>
          <a:p>
            <a:pPr>
              <a:defRPr/>
            </a:pPr>
            <a:r>
              <a:rPr lang="zh-CN" altLang="en-US" smtClean="0"/>
              <a:t>第</a:t>
            </a:r>
            <a:fld id="{CEF4CC26-3E78-4E5F-8281-E2644B7C12D5}"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46786">
                                            <p:txEl>
                                              <p:pRg st="0" end="0"/>
                                            </p:txEl>
                                          </p:spTgt>
                                        </p:tgtEl>
                                        <p:attrNameLst>
                                          <p:attrName>style.visibility</p:attrName>
                                        </p:attrNameLst>
                                      </p:cBhvr>
                                      <p:to>
                                        <p:strVal val="visible"/>
                                      </p:to>
                                    </p:set>
                                    <p:anim to="" calcmode="lin" valueType="num">
                                      <p:cBhvr>
                                        <p:cTn id="7" dur="1" fill="hold"/>
                                        <p:tgtEl>
                                          <p:spTgt spid="246786">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46787">
                                            <p:txEl>
                                              <p:pRg st="0" end="0"/>
                                            </p:txEl>
                                          </p:spTgt>
                                        </p:tgtEl>
                                        <p:attrNameLst>
                                          <p:attrName>style.visibility</p:attrName>
                                        </p:attrNameLst>
                                      </p:cBhvr>
                                      <p:to>
                                        <p:strVal val="visible"/>
                                      </p:to>
                                    </p:set>
                                    <p:anim to="" calcmode="lin" valueType="num">
                                      <p:cBhvr>
                                        <p:cTn id="12" dur="1" fill="hold"/>
                                        <p:tgtEl>
                                          <p:spTgt spid="246787">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6790"/>
                                        </p:tgtEl>
                                        <p:attrNameLst>
                                          <p:attrName>style.visibility</p:attrName>
                                        </p:attrNameLst>
                                      </p:cBhvr>
                                      <p:to>
                                        <p:strVal val="visible"/>
                                      </p:to>
                                    </p:set>
                                    <p:animEffect transition="in" filter="checkerboard(across)">
                                      <p:cBhvr>
                                        <p:cTn id="17" dur="500"/>
                                        <p:tgtEl>
                                          <p:spTgt spid="246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6" grpId="0" build="p"/>
      <p:bldP spid="24678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5" name="Text Box 3"/>
          <p:cNvSpPr txBox="1">
            <a:spLocks noChangeArrowheads="1"/>
          </p:cNvSpPr>
          <p:nvPr/>
        </p:nvSpPr>
        <p:spPr bwMode="auto">
          <a:xfrm>
            <a:off x="582613" y="2281238"/>
            <a:ext cx="8027987" cy="519112"/>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800">
                <a:latin typeface="楷体_GB2312" pitchFamily="49" charset="-122"/>
                <a:ea typeface="楷体_GB2312" pitchFamily="49" charset="-122"/>
              </a:rPr>
              <a:t> </a:t>
            </a:r>
            <a:r>
              <a:rPr lang="zh-CN" altLang="en-US" sz="2400">
                <a:latin typeface="楷体_GB2312" pitchFamily="49" charset="-122"/>
                <a:ea typeface="楷体_GB2312" pitchFamily="49" charset="-122"/>
              </a:rPr>
              <a:t>对象的特征</a:t>
            </a:r>
            <a:endParaRPr lang="zh-CN" altLang="en-US" sz="2400">
              <a:latin typeface="楷体_GB2312" pitchFamily="49" charset="-122"/>
              <a:ea typeface="楷体_GB2312" pitchFamily="49" charset="-122"/>
            </a:endParaRPr>
          </a:p>
        </p:txBody>
      </p:sp>
      <p:sp>
        <p:nvSpPr>
          <p:cNvPr id="177156" name="Text Box 4"/>
          <p:cNvSpPr txBox="1">
            <a:spLocks noChangeArrowheads="1"/>
          </p:cNvSpPr>
          <p:nvPr/>
        </p:nvSpPr>
        <p:spPr bwMode="auto">
          <a:xfrm>
            <a:off x="1016000" y="2871788"/>
            <a:ext cx="7481888" cy="969962"/>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600" b="1">
                <a:solidFill>
                  <a:srgbClr val="660033"/>
                </a:solidFill>
                <a:effectLst>
                  <a:outerShdw blurRad="38100" dist="38100" dir="2700000" algn="tl">
                    <a:srgbClr val="C0C0C0"/>
                  </a:outerShdw>
                </a:effectLst>
                <a:latin typeface="楷体_GB2312" pitchFamily="49" charset="-122"/>
                <a:ea typeface="楷体_GB2312" pitchFamily="49" charset="-122"/>
              </a:rPr>
              <a:t> </a:t>
            </a:r>
            <a:r>
              <a:rPr lang="zh-CN" altLang="en-US" sz="2400">
                <a:latin typeface="楷体_GB2312" pitchFamily="49" charset="-122"/>
                <a:ea typeface="楷体_GB2312" pitchFamily="49" charset="-122"/>
              </a:rPr>
              <a:t>属性</a:t>
            </a:r>
            <a:endParaRPr lang="zh-CN" altLang="en-US" sz="2400">
              <a:latin typeface="楷体_GB2312" pitchFamily="49" charset="-122"/>
              <a:ea typeface="楷体_GB2312" pitchFamily="49" charset="-122"/>
            </a:endParaRPr>
          </a:p>
          <a:p>
            <a:pPr>
              <a:spcBef>
                <a:spcPct val="15000"/>
              </a:spcBef>
              <a:spcAft>
                <a:spcPct val="15000"/>
              </a:spcAft>
              <a:buClr>
                <a:srgbClr val="FFFF66"/>
              </a:buClr>
              <a:buFont typeface="Wingdings" panose="05000000000000000000" pitchFamily="2" charset="2"/>
              <a:buNone/>
              <a:defRP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kumimoji="1" lang="en-US" altLang="zh-CN" sz="2000">
                <a:effectLst>
                  <a:outerShdw blurRad="38100" dist="38100" dir="2700000" algn="tl">
                    <a:srgbClr val="C0C0C0"/>
                  </a:outerShdw>
                </a:effectLst>
                <a:latin typeface="楷体_GB2312" pitchFamily="49" charset="-122"/>
                <a:ea typeface="楷体_GB2312" pitchFamily="49" charset="-122"/>
              </a:rPr>
              <a:t>※</a:t>
            </a:r>
            <a:r>
              <a:rPr kumimoji="1" lang="en-US" altLang="zh-CN" sz="2400">
                <a:effectLst>
                  <a:outerShdw blurRad="38100" dist="38100" dir="2700000" algn="tl">
                    <a:srgbClr val="C0C0C0"/>
                  </a:outerShdw>
                </a:effectLst>
                <a:latin typeface="楷体_GB2312" pitchFamily="49" charset="-122"/>
                <a:ea typeface="楷体_GB2312" pitchFamily="49" charset="-122"/>
              </a:rPr>
              <a:t> </a:t>
            </a:r>
            <a:r>
              <a:rPr kumimoji="1" lang="zh-CN" altLang="en-US" sz="2400">
                <a:effectLst>
                  <a:outerShdw blurRad="38100" dist="38100" dir="2700000" algn="tl">
                    <a:srgbClr val="C0C0C0"/>
                  </a:outerShdw>
                </a:effectLst>
                <a:latin typeface="楷体_GB2312" pitchFamily="49" charset="-122"/>
                <a:ea typeface="楷体_GB2312" pitchFamily="49" charset="-122"/>
              </a:rPr>
              <a:t>具有表示状态或者特性的值</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177157" name="Text Box 5"/>
          <p:cNvSpPr txBox="1">
            <a:spLocks noChangeArrowheads="1"/>
          </p:cNvSpPr>
          <p:nvPr/>
        </p:nvSpPr>
        <p:spPr bwMode="auto">
          <a:xfrm>
            <a:off x="1016000" y="3846513"/>
            <a:ext cx="7481888" cy="1446212"/>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600" b="1">
                <a:solidFill>
                  <a:srgbClr val="660033"/>
                </a:solidFill>
                <a:effectLst>
                  <a:outerShdw blurRad="38100" dist="38100" dir="2700000" algn="tl">
                    <a:srgbClr val="C0C0C0"/>
                  </a:outerShdw>
                </a:effectLst>
                <a:latin typeface="楷体_GB2312" pitchFamily="49" charset="-122"/>
                <a:ea typeface="楷体_GB2312" pitchFamily="49" charset="-122"/>
              </a:rPr>
              <a:t> </a:t>
            </a:r>
            <a:r>
              <a:rPr lang="zh-CN" altLang="en-US" sz="2400">
                <a:latin typeface="楷体_GB2312" pitchFamily="49" charset="-122"/>
                <a:ea typeface="楷体_GB2312" pitchFamily="49" charset="-122"/>
              </a:rPr>
              <a:t>操作（行为）</a:t>
            </a:r>
            <a:endParaRPr lang="zh-CN" altLang="en-US" sz="2400">
              <a:latin typeface="楷体_GB2312" pitchFamily="49" charset="-122"/>
              <a:ea typeface="楷体_GB2312" pitchFamily="49" charset="-122"/>
            </a:endParaRPr>
          </a:p>
          <a:p>
            <a:pPr>
              <a:spcBef>
                <a:spcPct val="15000"/>
              </a:spcBef>
              <a:spcAft>
                <a:spcPct val="15000"/>
              </a:spcAft>
              <a:buClr>
                <a:srgbClr val="FFFF66"/>
              </a:buClr>
              <a:buFont typeface="Wingdings" panose="05000000000000000000" pitchFamily="2" charset="2"/>
              <a:buNone/>
              <a:defRP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kumimoji="1" lang="en-US" altLang="zh-CN" sz="2000">
                <a:effectLst>
                  <a:outerShdw blurRad="38100" dist="38100" dir="2700000" algn="tl">
                    <a:srgbClr val="C0C0C0"/>
                  </a:outerShdw>
                </a:effectLst>
                <a:latin typeface="楷体_GB2312" pitchFamily="49" charset="-122"/>
                <a:ea typeface="楷体_GB2312" pitchFamily="49" charset="-122"/>
              </a:rPr>
              <a:t>※</a:t>
            </a:r>
            <a:r>
              <a:rPr kumimoji="1" lang="en-US" altLang="zh-CN" sz="2400">
                <a:effectLst>
                  <a:outerShdw blurRad="38100" dist="38100" dir="2700000" algn="tl">
                    <a:srgbClr val="C0C0C0"/>
                  </a:outerShdw>
                </a:effectLst>
                <a:latin typeface="楷体_GB2312" pitchFamily="49" charset="-122"/>
                <a:ea typeface="楷体_GB2312" pitchFamily="49" charset="-122"/>
              </a:rPr>
              <a:t> </a:t>
            </a:r>
            <a:r>
              <a:rPr kumimoji="1" lang="zh-CN" altLang="en-US" sz="2400">
                <a:effectLst>
                  <a:outerShdw blurRad="38100" dist="38100" dir="2700000" algn="tl">
                    <a:srgbClr val="C0C0C0"/>
                  </a:outerShdw>
                </a:effectLst>
                <a:latin typeface="楷体_GB2312" pitchFamily="49" charset="-122"/>
                <a:ea typeface="楷体_GB2312" pitchFamily="49" charset="-122"/>
              </a:rPr>
              <a:t>提供某种服务，或更改对象内部的属性</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FFFF66"/>
              </a:buClr>
              <a:buFont typeface="Wingdings" panose="05000000000000000000" pitchFamily="2" charset="2"/>
              <a:buNone/>
              <a:defRPr/>
            </a:pPr>
            <a:r>
              <a:rPr kumimoji="1" lang="zh-CN" altLang="en-US" sz="2400" b="1">
                <a:effectLst>
                  <a:outerShdw blurRad="38100" dist="38100" dir="2700000" algn="tl">
                    <a:srgbClr val="C0C0C0"/>
                  </a:outerShdw>
                </a:effectLst>
                <a:latin typeface="楷体_GB2312" pitchFamily="49" charset="-122"/>
                <a:ea typeface="楷体_GB2312" pitchFamily="49" charset="-122"/>
              </a:rPr>
              <a:t>   </a:t>
            </a:r>
            <a:r>
              <a:rPr kumimoji="1" lang="en-US" altLang="zh-CN" sz="2000">
                <a:effectLst>
                  <a:outerShdw blurRad="38100" dist="38100" dir="2700000" algn="tl">
                    <a:srgbClr val="C0C0C0"/>
                  </a:outerShdw>
                </a:effectLst>
                <a:latin typeface="楷体_GB2312" pitchFamily="49" charset="-122"/>
                <a:ea typeface="楷体_GB2312" pitchFamily="49" charset="-122"/>
              </a:rPr>
              <a:t>※</a:t>
            </a:r>
            <a:r>
              <a:rPr kumimoji="1" lang="en-US" altLang="zh-CN" sz="2400">
                <a:effectLst>
                  <a:outerShdw blurRad="38100" dist="38100" dir="2700000" algn="tl">
                    <a:srgbClr val="C0C0C0"/>
                  </a:outerShdw>
                </a:effectLst>
                <a:latin typeface="楷体_GB2312" pitchFamily="49" charset="-122"/>
                <a:ea typeface="楷体_GB2312" pitchFamily="49" charset="-122"/>
              </a:rPr>
              <a:t> </a:t>
            </a:r>
            <a:r>
              <a:rPr kumimoji="1" lang="zh-CN" altLang="en-US" sz="2400">
                <a:effectLst>
                  <a:outerShdw blurRad="38100" dist="38100" dir="2700000" algn="tl">
                    <a:srgbClr val="C0C0C0"/>
                  </a:outerShdw>
                </a:effectLst>
                <a:latin typeface="楷体_GB2312" pitchFamily="49" charset="-122"/>
                <a:ea typeface="楷体_GB2312" pitchFamily="49" charset="-122"/>
              </a:rPr>
              <a:t>一般用动词表示</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177158" name="Text Box 6"/>
          <p:cNvSpPr txBox="1">
            <a:spLocks noChangeArrowheads="1"/>
          </p:cNvSpPr>
          <p:nvPr/>
        </p:nvSpPr>
        <p:spPr bwMode="auto">
          <a:xfrm>
            <a:off x="1016000" y="5408613"/>
            <a:ext cx="7481888" cy="48895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600" b="1">
                <a:solidFill>
                  <a:srgbClr val="660033"/>
                </a:solidFill>
                <a:effectLst>
                  <a:outerShdw blurRad="38100" dist="38100" dir="2700000" algn="tl">
                    <a:srgbClr val="C0C0C0"/>
                  </a:outerShdw>
                </a:effectLst>
                <a:latin typeface="楷体_GB2312" pitchFamily="49" charset="-122"/>
                <a:ea typeface="楷体_GB2312" pitchFamily="49" charset="-122"/>
              </a:rPr>
              <a:t> </a:t>
            </a:r>
            <a:r>
              <a:rPr lang="zh-CN" altLang="en-US" sz="2400">
                <a:latin typeface="楷体_GB2312" pitchFamily="49" charset="-122"/>
                <a:ea typeface="楷体_GB2312" pitchFamily="49" charset="-122"/>
              </a:rPr>
              <a:t>关系</a:t>
            </a:r>
            <a:endParaRPr lang="zh-CN" altLang="en-US" sz="2400">
              <a:latin typeface="楷体_GB2312" pitchFamily="49" charset="-122"/>
              <a:ea typeface="楷体_GB2312" pitchFamily="49" charset="-122"/>
            </a:endParaRPr>
          </a:p>
        </p:txBody>
      </p:sp>
      <p:sp>
        <p:nvSpPr>
          <p:cNvPr id="177159" name="Text Box 7"/>
          <p:cNvSpPr txBox="1">
            <a:spLocks noChangeArrowheads="1"/>
          </p:cNvSpPr>
          <p:nvPr/>
        </p:nvSpPr>
        <p:spPr bwMode="auto">
          <a:xfrm>
            <a:off x="1016000" y="5911850"/>
            <a:ext cx="7481888" cy="48895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600" b="1">
                <a:solidFill>
                  <a:srgbClr val="660033"/>
                </a:solidFill>
                <a:effectLst>
                  <a:outerShdw blurRad="38100" dist="38100" dir="2700000" algn="tl">
                    <a:srgbClr val="C0C0C0"/>
                  </a:outerShdw>
                </a:effectLst>
                <a:latin typeface="楷体_GB2312" pitchFamily="49" charset="-122"/>
                <a:ea typeface="楷体_GB2312" pitchFamily="49" charset="-122"/>
              </a:rPr>
              <a:t> </a:t>
            </a:r>
            <a:r>
              <a:rPr lang="zh-CN" altLang="en-US" sz="2400">
                <a:solidFill>
                  <a:srgbClr val="FF0000"/>
                </a:solidFill>
                <a:latin typeface="楷体_GB2312" pitchFamily="49" charset="-122"/>
                <a:ea typeface="楷体_GB2312" pitchFamily="49" charset="-122"/>
              </a:rPr>
              <a:t>识别性</a:t>
            </a:r>
            <a:endParaRPr lang="zh-CN" altLang="en-US" sz="2400">
              <a:solidFill>
                <a:srgbClr val="FF0000"/>
              </a:solidFill>
              <a:latin typeface="楷体_GB2312" pitchFamily="49" charset="-122"/>
              <a:ea typeface="楷体_GB2312" pitchFamily="49" charset="-122"/>
            </a:endParaRPr>
          </a:p>
        </p:txBody>
      </p:sp>
      <p:sp>
        <p:nvSpPr>
          <p:cNvPr id="24583" name="Text Box 9"/>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77162" name="Text Box 10"/>
          <p:cNvSpPr txBox="1">
            <a:spLocks noChangeArrowheads="1"/>
          </p:cNvSpPr>
          <p:nvPr/>
        </p:nvSpPr>
        <p:spPr bwMode="auto">
          <a:xfrm>
            <a:off x="609600" y="1752600"/>
            <a:ext cx="1524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、对象</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9" name="灯片编号占位符 8"/>
          <p:cNvSpPr>
            <a:spLocks noGrp="1"/>
          </p:cNvSpPr>
          <p:nvPr>
            <p:ph type="sldNum" sz="quarter" idx="10"/>
          </p:nvPr>
        </p:nvSpPr>
        <p:spPr/>
        <p:txBody>
          <a:bodyPr/>
          <a:lstStyle/>
          <a:p>
            <a:pPr>
              <a:defRPr/>
            </a:pPr>
            <a:r>
              <a:rPr lang="zh-CN" altLang="en-US" smtClean="0"/>
              <a:t>第</a:t>
            </a:r>
            <a:fld id="{0986A906-BA87-45E7-8B1D-AB929E77CFE7}"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177155">
                                            <p:txEl>
                                              <p:pRg st="0" end="0"/>
                                            </p:txEl>
                                          </p:spTgt>
                                        </p:tgtEl>
                                        <p:attrNameLst>
                                          <p:attrName>style.visibility</p:attrName>
                                        </p:attrNameLst>
                                      </p:cBhvr>
                                      <p:to>
                                        <p:strVal val="visible"/>
                                      </p:to>
                                    </p:set>
                                    <p:anim to="" calcmode="lin" valueType="num">
                                      <p:cBhvr>
                                        <p:cTn id="7" dur="1" fill="hold"/>
                                        <p:tgtEl>
                                          <p:spTgt spid="177155">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77156">
                                            <p:txEl>
                                              <p:pRg st="0" end="0"/>
                                            </p:txEl>
                                          </p:spTgt>
                                        </p:tgtEl>
                                        <p:attrNameLst>
                                          <p:attrName>style.visibility</p:attrName>
                                        </p:attrNameLst>
                                      </p:cBhvr>
                                      <p:to>
                                        <p:strVal val="visible"/>
                                      </p:to>
                                    </p:set>
                                    <p:anim to="" calcmode="lin" valueType="num">
                                      <p:cBhvr>
                                        <p:cTn id="12" dur="1" fill="hold"/>
                                        <p:tgtEl>
                                          <p:spTgt spid="177156">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77156">
                                            <p:txEl>
                                              <p:pRg st="1" end="1"/>
                                            </p:txEl>
                                          </p:spTgt>
                                        </p:tgtEl>
                                        <p:attrNameLst>
                                          <p:attrName>style.visibility</p:attrName>
                                        </p:attrNameLst>
                                      </p:cBhvr>
                                      <p:to>
                                        <p:strVal val="visible"/>
                                      </p:to>
                                    </p:set>
                                    <p:anim to="" calcmode="lin" valueType="num">
                                      <p:cBhvr>
                                        <p:cTn id="17" dur="1" fill="hold"/>
                                        <p:tgtEl>
                                          <p:spTgt spid="177156">
                                            <p:txEl>
                                              <p:pRg st="1" end="1"/>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77157">
                                            <p:txEl>
                                              <p:pRg st="0" end="0"/>
                                            </p:txEl>
                                          </p:spTgt>
                                        </p:tgtEl>
                                        <p:attrNameLst>
                                          <p:attrName>style.visibility</p:attrName>
                                        </p:attrNameLst>
                                      </p:cBhvr>
                                      <p:to>
                                        <p:strVal val="visible"/>
                                      </p:to>
                                    </p:set>
                                    <p:anim to="" calcmode="lin" valueType="num">
                                      <p:cBhvr>
                                        <p:cTn id="22" dur="1" fill="hold"/>
                                        <p:tgtEl>
                                          <p:spTgt spid="177157">
                                            <p:txEl>
                                              <p:pRg st="0" end="0"/>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77157">
                                            <p:txEl>
                                              <p:pRg st="1" end="1"/>
                                            </p:txEl>
                                          </p:spTgt>
                                        </p:tgtEl>
                                        <p:attrNameLst>
                                          <p:attrName>style.visibility</p:attrName>
                                        </p:attrNameLst>
                                      </p:cBhvr>
                                      <p:to>
                                        <p:strVal val="visible"/>
                                      </p:to>
                                    </p:set>
                                    <p:anim to="" calcmode="lin" valueType="num">
                                      <p:cBhvr>
                                        <p:cTn id="27" dur="1" fill="hold"/>
                                        <p:tgtEl>
                                          <p:spTgt spid="177157">
                                            <p:txEl>
                                              <p:pRg st="1" end="1"/>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77157">
                                            <p:txEl>
                                              <p:pRg st="2" end="2"/>
                                            </p:txEl>
                                          </p:spTgt>
                                        </p:tgtEl>
                                        <p:attrNameLst>
                                          <p:attrName>style.visibility</p:attrName>
                                        </p:attrNameLst>
                                      </p:cBhvr>
                                      <p:to>
                                        <p:strVal val="visible"/>
                                      </p:to>
                                    </p:set>
                                    <p:anim to="" calcmode="lin" valueType="num">
                                      <p:cBhvr>
                                        <p:cTn id="32" dur="1" fill="hold"/>
                                        <p:tgtEl>
                                          <p:spTgt spid="177157">
                                            <p:txEl>
                                              <p:pRg st="2" end="2"/>
                                            </p:txEl>
                                          </p:spTgt>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177158">
                                            <p:txEl>
                                              <p:pRg st="0" end="0"/>
                                            </p:txEl>
                                          </p:spTgt>
                                        </p:tgtEl>
                                        <p:attrNameLst>
                                          <p:attrName>style.visibility</p:attrName>
                                        </p:attrNameLst>
                                      </p:cBhvr>
                                      <p:to>
                                        <p:strVal val="visible"/>
                                      </p:to>
                                    </p:set>
                                    <p:anim to="" calcmode="lin" valueType="num">
                                      <p:cBhvr>
                                        <p:cTn id="37" dur="1" fill="hold"/>
                                        <p:tgtEl>
                                          <p:spTgt spid="177158">
                                            <p:txEl>
                                              <p:pRg st="0" end="0"/>
                                            </p:txEl>
                                          </p:spTgt>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177159">
                                            <p:txEl>
                                              <p:pRg st="0" end="0"/>
                                            </p:txEl>
                                          </p:spTgt>
                                        </p:tgtEl>
                                        <p:attrNameLst>
                                          <p:attrName>style.visibility</p:attrName>
                                        </p:attrNameLst>
                                      </p:cBhvr>
                                      <p:to>
                                        <p:strVal val="visible"/>
                                      </p:to>
                                    </p:set>
                                    <p:anim to="" calcmode="lin" valueType="num">
                                      <p:cBhvr>
                                        <p:cTn id="42" dur="1" fill="hold"/>
                                        <p:tgtEl>
                                          <p:spTgt spid="177159">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5" grpId="0" build="p"/>
      <p:bldP spid="177156" grpId="0" build="p"/>
      <p:bldP spid="177157" grpId="0" build="p"/>
      <p:bldP spid="177158" grpId="0" build="p"/>
      <p:bldP spid="17715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88419" name="Text Box 3"/>
          <p:cNvSpPr txBox="1">
            <a:spLocks noChangeArrowheads="1"/>
          </p:cNvSpPr>
          <p:nvPr/>
        </p:nvSpPr>
        <p:spPr bwMode="auto">
          <a:xfrm>
            <a:off x="609600" y="1752600"/>
            <a:ext cx="12192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、类</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188424" name="Text Box 8"/>
          <p:cNvSpPr txBox="1">
            <a:spLocks noChangeArrowheads="1"/>
          </p:cNvSpPr>
          <p:nvPr/>
        </p:nvSpPr>
        <p:spPr bwMode="auto">
          <a:xfrm>
            <a:off x="623888" y="2397125"/>
            <a:ext cx="7986712" cy="1354138"/>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类</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Class</a:t>
            </a:r>
            <a:r>
              <a:rPr lang="zh-CN" altLang="en-US" sz="2400">
                <a:latin typeface="楷体_GB2312" pitchFamily="49" charset="-122"/>
                <a:ea typeface="楷体_GB2312" pitchFamily="49" charset="-122"/>
              </a:rPr>
              <a:t>）是具有相同属性和操作的一组对象的组合，也就是说，抽象模型中的</a:t>
            </a:r>
            <a:r>
              <a:rPr lang="zh-CN" altLang="en-US" sz="2400">
                <a:ea typeface="楷体_GB2312" pitchFamily="49" charset="-122"/>
              </a:rPr>
              <a:t>“</a:t>
            </a:r>
            <a:r>
              <a:rPr lang="zh-CN" altLang="en-US" sz="2400">
                <a:latin typeface="楷体_GB2312" pitchFamily="49" charset="-122"/>
                <a:ea typeface="楷体_GB2312" pitchFamily="49" charset="-122"/>
              </a:rPr>
              <a:t>类</a:t>
            </a:r>
            <a:r>
              <a:rPr lang="zh-CN" altLang="en-US" sz="2400">
                <a:ea typeface="楷体_GB2312" pitchFamily="49" charset="-122"/>
              </a:rPr>
              <a:t>”</a:t>
            </a:r>
            <a:r>
              <a:rPr lang="zh-CN" altLang="en-US" sz="2400">
                <a:latin typeface="楷体_GB2312" pitchFamily="49" charset="-122"/>
                <a:ea typeface="楷体_GB2312" pitchFamily="49" charset="-122"/>
              </a:rPr>
              <a:t>描述了一组相似对象的共同特征，为属于该类的全部对象提供了统一的抽象描述。</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63BD31D8-4EA0-4EE7-93C3-691A81D300F1}"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88424">
                                            <p:txEl>
                                              <p:pRg st="0" end="0"/>
                                            </p:txEl>
                                          </p:spTgt>
                                        </p:tgtEl>
                                        <p:attrNameLst>
                                          <p:attrName>style.visibility</p:attrName>
                                        </p:attrNameLst>
                                      </p:cBhvr>
                                      <p:to>
                                        <p:strVal val="visible"/>
                                      </p:to>
                                    </p:set>
                                    <p:anim to="" calcmode="lin" valueType="num">
                                      <p:cBhvr>
                                        <p:cTn id="7" dur="1" fill="hold"/>
                                        <p:tgtEl>
                                          <p:spTgt spid="188424">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7" name="Text Box 3"/>
          <p:cNvSpPr txBox="1">
            <a:spLocks noChangeArrowheads="1"/>
          </p:cNvSpPr>
          <p:nvPr/>
        </p:nvSpPr>
        <p:spPr bwMode="auto">
          <a:xfrm>
            <a:off x="577850" y="2438400"/>
            <a:ext cx="8108950" cy="822325"/>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kumimoji="1" lang="zh-CN" altLang="en-US" sz="2400" b="1">
                <a:latin typeface="Gulim" pitchFamily="34" charset="-127"/>
              </a:rPr>
              <a:t>  </a:t>
            </a:r>
            <a:r>
              <a:rPr lang="zh-CN" altLang="en-US" sz="2400">
                <a:latin typeface="楷体_GB2312" pitchFamily="49" charset="-122"/>
                <a:ea typeface="楷体_GB2312" pitchFamily="49" charset="-122"/>
              </a:rPr>
              <a:t>着眼于对象的属性和行为的共同性，并进行分类后形成的</a:t>
            </a:r>
            <a:endParaRPr lang="zh-CN" altLang="en-US" sz="2400">
              <a:latin typeface="楷体_GB2312" pitchFamily="49" charset="-122"/>
              <a:ea typeface="楷体_GB2312" pitchFamily="49" charset="-122"/>
            </a:endParaRPr>
          </a:p>
        </p:txBody>
      </p:sp>
      <p:sp>
        <p:nvSpPr>
          <p:cNvPr id="190468" name="Text Box 4"/>
          <p:cNvSpPr txBox="1">
            <a:spLocks noChangeArrowheads="1"/>
          </p:cNvSpPr>
          <p:nvPr/>
        </p:nvSpPr>
        <p:spPr bwMode="auto">
          <a:xfrm>
            <a:off x="1082675" y="3270250"/>
            <a:ext cx="7558088" cy="93345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把这个工作称作类化，是抽象化的基本方法之一</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反之，把通过类来创建对象的工作称作实例化</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190469" name="Text Box 5"/>
          <p:cNvSpPr txBox="1">
            <a:spLocks noChangeArrowheads="1"/>
          </p:cNvSpPr>
          <p:nvPr/>
        </p:nvSpPr>
        <p:spPr bwMode="auto">
          <a:xfrm>
            <a:off x="577850" y="4340225"/>
            <a:ext cx="8108950" cy="1298575"/>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 类是具有相同属性和操作的对象集合的总称</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 类封装了客观世界中对象实体的特征与行为，即属性与方法</a:t>
            </a:r>
            <a:endParaRPr lang="zh-CN" altLang="en-US" sz="2400">
              <a:latin typeface="楷体_GB2312" pitchFamily="49" charset="-122"/>
              <a:ea typeface="楷体_GB2312" pitchFamily="49" charset="-122"/>
            </a:endParaRPr>
          </a:p>
        </p:txBody>
      </p:sp>
      <p:sp>
        <p:nvSpPr>
          <p:cNvPr id="26629" name="Text Box 7"/>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90472" name="Text Box 8"/>
          <p:cNvSpPr txBox="1">
            <a:spLocks noChangeArrowheads="1"/>
          </p:cNvSpPr>
          <p:nvPr/>
        </p:nvSpPr>
        <p:spPr bwMode="auto">
          <a:xfrm>
            <a:off x="609600" y="1752600"/>
            <a:ext cx="12192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、类</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7" name="灯片编号占位符 6"/>
          <p:cNvSpPr>
            <a:spLocks noGrp="1"/>
          </p:cNvSpPr>
          <p:nvPr>
            <p:ph type="sldNum" sz="quarter" idx="10"/>
          </p:nvPr>
        </p:nvSpPr>
        <p:spPr/>
        <p:txBody>
          <a:bodyPr/>
          <a:lstStyle/>
          <a:p>
            <a:pPr>
              <a:defRPr/>
            </a:pPr>
            <a:r>
              <a:rPr lang="zh-CN" altLang="en-US" smtClean="0"/>
              <a:t>第</a:t>
            </a:r>
            <a:fld id="{E0C9F9F6-659A-4648-A422-1E09FE308606}"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90467">
                                            <p:txEl>
                                              <p:pRg st="0" end="0"/>
                                            </p:txEl>
                                          </p:spTgt>
                                        </p:tgtEl>
                                        <p:attrNameLst>
                                          <p:attrName>style.visibility</p:attrName>
                                        </p:attrNameLst>
                                      </p:cBhvr>
                                      <p:to>
                                        <p:strVal val="visible"/>
                                      </p:to>
                                    </p:set>
                                    <p:anim to="" calcmode="lin" valueType="num">
                                      <p:cBhvr>
                                        <p:cTn id="7" dur="1" fill="hold"/>
                                        <p:tgtEl>
                                          <p:spTgt spid="190467">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90468">
                                            <p:txEl>
                                              <p:pRg st="0" end="0"/>
                                            </p:txEl>
                                          </p:spTgt>
                                        </p:tgtEl>
                                        <p:attrNameLst>
                                          <p:attrName>style.visibility</p:attrName>
                                        </p:attrNameLst>
                                      </p:cBhvr>
                                      <p:to>
                                        <p:strVal val="visible"/>
                                      </p:to>
                                    </p:set>
                                    <p:anim to="" calcmode="lin" valueType="num">
                                      <p:cBhvr>
                                        <p:cTn id="12" dur="1" fill="hold"/>
                                        <p:tgtEl>
                                          <p:spTgt spid="190468">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90468">
                                            <p:txEl>
                                              <p:pRg st="1" end="1"/>
                                            </p:txEl>
                                          </p:spTgt>
                                        </p:tgtEl>
                                        <p:attrNameLst>
                                          <p:attrName>style.visibility</p:attrName>
                                        </p:attrNameLst>
                                      </p:cBhvr>
                                      <p:to>
                                        <p:strVal val="visible"/>
                                      </p:to>
                                    </p:set>
                                    <p:anim to="" calcmode="lin" valueType="num">
                                      <p:cBhvr>
                                        <p:cTn id="17" dur="1" fill="hold"/>
                                        <p:tgtEl>
                                          <p:spTgt spid="190468">
                                            <p:txEl>
                                              <p:pRg st="1" end="1"/>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90469">
                                            <p:txEl>
                                              <p:pRg st="0" end="0"/>
                                            </p:txEl>
                                          </p:spTgt>
                                        </p:tgtEl>
                                        <p:attrNameLst>
                                          <p:attrName>style.visibility</p:attrName>
                                        </p:attrNameLst>
                                      </p:cBhvr>
                                      <p:to>
                                        <p:strVal val="visible"/>
                                      </p:to>
                                    </p:set>
                                    <p:anim to="" calcmode="lin" valueType="num">
                                      <p:cBhvr>
                                        <p:cTn id="22" dur="1" fill="hold"/>
                                        <p:tgtEl>
                                          <p:spTgt spid="190469">
                                            <p:txEl>
                                              <p:pRg st="0" end="0"/>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90469">
                                            <p:txEl>
                                              <p:pRg st="1" end="1"/>
                                            </p:txEl>
                                          </p:spTgt>
                                        </p:tgtEl>
                                        <p:attrNameLst>
                                          <p:attrName>style.visibility</p:attrName>
                                        </p:attrNameLst>
                                      </p:cBhvr>
                                      <p:to>
                                        <p:strVal val="visible"/>
                                      </p:to>
                                    </p:set>
                                    <p:anim to="" calcmode="lin" valueType="num">
                                      <p:cBhvr>
                                        <p:cTn id="27" dur="1" fill="hold"/>
                                        <p:tgtEl>
                                          <p:spTgt spid="190469">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build="p"/>
      <p:bldP spid="190468" grpId="0" build="p"/>
      <p:bldP spid="19046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952500" y="376238"/>
            <a:ext cx="7467600" cy="676275"/>
          </a:xfrm>
        </p:spPr>
        <p:txBody>
          <a:bodyPr/>
          <a:lstStyle/>
          <a:p>
            <a:pPr eaLnBrk="1" hangingPunct="1">
              <a:defRPr/>
            </a:pPr>
            <a:r>
              <a:rPr lang="zh-CN" altLang="en-US" sz="4200" smtClean="0">
                <a:effectLst>
                  <a:outerShdw blurRad="38100" dist="38100" dir="2700000" algn="tl">
                    <a:srgbClr val="C0C0C0"/>
                  </a:outerShdw>
                </a:effectLst>
                <a:ea typeface="黑体" panose="02010609060101010101" pitchFamily="2" charset="-122"/>
              </a:rPr>
              <a:t>类的例子</a:t>
            </a:r>
            <a:endParaRPr lang="en-US" altLang="zh-CN" sz="4200" smtClean="0">
              <a:effectLst>
                <a:outerShdw blurRad="38100" dist="38100" dir="2700000" algn="tl">
                  <a:srgbClr val="C0C0C0"/>
                </a:outerShdw>
              </a:effectLst>
              <a:ea typeface="黑体" panose="02010609060101010101" pitchFamily="2" charset="-122"/>
            </a:endParaRPr>
          </a:p>
        </p:txBody>
      </p:sp>
      <p:pic>
        <p:nvPicPr>
          <p:cNvPr id="27651" name="Picture 3"/>
          <p:cNvPicPr>
            <a:picLocks noChangeAspect="1" noChangeArrowheads="1"/>
          </p:cNvPicPr>
          <p:nvPr/>
        </p:nvPicPr>
        <p:blipFill>
          <a:blip r:embed="rId1"/>
          <a:srcRect/>
          <a:stretch>
            <a:fillRect/>
          </a:stretch>
        </p:blipFill>
        <p:spPr bwMode="auto">
          <a:xfrm>
            <a:off x="1187450" y="1333500"/>
            <a:ext cx="3990975" cy="4400550"/>
          </a:xfrm>
          <a:prstGeom prst="rect">
            <a:avLst/>
          </a:prstGeom>
          <a:noFill/>
          <a:ln w="9525" algn="ctr">
            <a:noFill/>
            <a:miter lim="800000"/>
            <a:headEnd/>
            <a:tailEnd/>
          </a:ln>
        </p:spPr>
      </p:pic>
      <p:pic>
        <p:nvPicPr>
          <p:cNvPr id="27652" name="Picture 4"/>
          <p:cNvPicPr>
            <a:picLocks noChangeAspect="1" noChangeArrowheads="1"/>
          </p:cNvPicPr>
          <p:nvPr/>
        </p:nvPicPr>
        <p:blipFill>
          <a:blip r:embed="rId2"/>
          <a:srcRect/>
          <a:stretch>
            <a:fillRect/>
          </a:stretch>
        </p:blipFill>
        <p:spPr bwMode="auto">
          <a:xfrm>
            <a:off x="5724525" y="1557338"/>
            <a:ext cx="2724150" cy="3743325"/>
          </a:xfrm>
          <a:prstGeom prst="rect">
            <a:avLst/>
          </a:prstGeom>
          <a:noFill/>
          <a:ln w="9525" algn="ctr">
            <a:noFill/>
            <a:miter lim="800000"/>
            <a:headEnd/>
            <a:tailEnd/>
          </a:ln>
        </p:spPr>
      </p:pic>
      <p:sp>
        <p:nvSpPr>
          <p:cNvPr id="5" name="灯片编号占位符 4"/>
          <p:cNvSpPr>
            <a:spLocks noGrp="1"/>
          </p:cNvSpPr>
          <p:nvPr>
            <p:ph type="sldNum" sz="quarter" idx="10"/>
          </p:nvPr>
        </p:nvSpPr>
        <p:spPr/>
        <p:txBody>
          <a:bodyPr/>
          <a:lstStyle/>
          <a:p>
            <a:pPr>
              <a:defRPr/>
            </a:pPr>
            <a:r>
              <a:rPr lang="zh-CN" altLang="en-US" smtClean="0"/>
              <a:t>第</a:t>
            </a:r>
            <a:fld id="{E7CC2AA7-7F3C-4D13-9E62-8CD8D82BD90D}"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191490"/>
                                        </p:tgtEl>
                                        <p:attrNameLst>
                                          <p:attrName>style.visibility</p:attrName>
                                        </p:attrNameLst>
                                      </p:cBhvr>
                                      <p:to>
                                        <p:strVal val="visible"/>
                                      </p:to>
                                    </p:set>
                                    <p:anim to="" calcmode="lin" valueType="num">
                                      <p:cBhvr>
                                        <p:cTn id="7" dur="1" fill="hold"/>
                                        <p:tgtEl>
                                          <p:spTgt spid="191490"/>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952500" y="376238"/>
            <a:ext cx="7467600" cy="676275"/>
          </a:xfrm>
        </p:spPr>
        <p:txBody>
          <a:bodyPr/>
          <a:lstStyle/>
          <a:p>
            <a:pPr eaLnBrk="1" hangingPunct="1">
              <a:defRPr/>
            </a:pPr>
            <a:r>
              <a:rPr lang="zh-CN" altLang="en-US" sz="4200" smtClean="0">
                <a:effectLst>
                  <a:outerShdw blurRad="38100" dist="38100" dir="2700000" algn="tl">
                    <a:srgbClr val="C0C0C0"/>
                  </a:outerShdw>
                </a:effectLst>
                <a:ea typeface="黑体" panose="02010609060101010101" pitchFamily="2" charset="-122"/>
              </a:rPr>
              <a:t>找一下类</a:t>
            </a:r>
            <a:endParaRPr lang="en-US" altLang="zh-CN" sz="4200" smtClean="0">
              <a:effectLst>
                <a:outerShdw blurRad="38100" dist="38100" dir="2700000" algn="tl">
                  <a:srgbClr val="C0C0C0"/>
                </a:outerShdw>
              </a:effectLst>
              <a:ea typeface="黑体" panose="02010609060101010101" pitchFamily="2" charset="-122"/>
            </a:endParaRPr>
          </a:p>
        </p:txBody>
      </p:sp>
      <p:sp>
        <p:nvSpPr>
          <p:cNvPr id="192515" name="Text Box 3"/>
          <p:cNvSpPr txBox="1">
            <a:spLocks noChangeArrowheads="1"/>
          </p:cNvSpPr>
          <p:nvPr/>
        </p:nvSpPr>
        <p:spPr bwMode="auto">
          <a:xfrm>
            <a:off x="395288" y="1535113"/>
            <a:ext cx="8497887" cy="519112"/>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kumimoji="1" lang="zh-CN" altLang="en-US" sz="2400" b="1">
                <a:latin typeface="Gulim" pitchFamily="34" charset="-127"/>
              </a:rPr>
              <a:t>  </a:t>
            </a:r>
            <a:r>
              <a:rPr lang="zh-CN" altLang="en-US" sz="2800">
                <a:latin typeface="楷体_GB2312" pitchFamily="49" charset="-122"/>
                <a:ea typeface="楷体_GB2312" pitchFamily="49" charset="-122"/>
              </a:rPr>
              <a:t>找到几个类？</a:t>
            </a:r>
            <a:endParaRPr lang="zh-CN" altLang="en-US" sz="2800">
              <a:latin typeface="楷体_GB2312" pitchFamily="49" charset="-122"/>
              <a:ea typeface="楷体_GB2312" pitchFamily="49" charset="-122"/>
            </a:endParaRPr>
          </a:p>
        </p:txBody>
      </p:sp>
      <p:pic>
        <p:nvPicPr>
          <p:cNvPr id="192516" name="Picture 4"/>
          <p:cNvPicPr>
            <a:picLocks noChangeAspect="1" noChangeArrowheads="1"/>
          </p:cNvPicPr>
          <p:nvPr/>
        </p:nvPicPr>
        <p:blipFill>
          <a:blip r:embed="rId1"/>
          <a:srcRect/>
          <a:stretch>
            <a:fillRect/>
          </a:stretch>
        </p:blipFill>
        <p:spPr bwMode="auto">
          <a:xfrm>
            <a:off x="1258888" y="2276475"/>
            <a:ext cx="6677025" cy="3600450"/>
          </a:xfrm>
          <a:prstGeom prst="rect">
            <a:avLst/>
          </a:prstGeom>
          <a:noFill/>
          <a:ln w="9525" algn="ctr">
            <a:noFill/>
            <a:miter lim="800000"/>
            <a:headEnd/>
            <a:tailEnd/>
          </a:ln>
        </p:spPr>
      </p:pic>
      <p:sp>
        <p:nvSpPr>
          <p:cNvPr id="5" name="灯片编号占位符 4"/>
          <p:cNvSpPr>
            <a:spLocks noGrp="1"/>
          </p:cNvSpPr>
          <p:nvPr>
            <p:ph type="sldNum" sz="quarter" idx="10"/>
          </p:nvPr>
        </p:nvSpPr>
        <p:spPr/>
        <p:txBody>
          <a:bodyPr/>
          <a:lstStyle/>
          <a:p>
            <a:pPr>
              <a:defRPr/>
            </a:pPr>
            <a:r>
              <a:rPr lang="zh-CN" altLang="en-US" smtClean="0"/>
              <a:t>第</a:t>
            </a:r>
            <a:fld id="{A65E0152-1FDC-44F6-92B2-B8EFA0101013}"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192514"/>
                                        </p:tgtEl>
                                        <p:attrNameLst>
                                          <p:attrName>style.visibility</p:attrName>
                                        </p:attrNameLst>
                                      </p:cBhvr>
                                      <p:to>
                                        <p:strVal val="visible"/>
                                      </p:to>
                                    </p:set>
                                    <p:anim to="" calcmode="lin" valueType="num">
                                      <p:cBhvr>
                                        <p:cTn id="7" dur="1" fill="hold"/>
                                        <p:tgtEl>
                                          <p:spTgt spid="192514"/>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92515">
                                            <p:txEl>
                                              <p:pRg st="0" end="0"/>
                                            </p:txEl>
                                          </p:spTgt>
                                        </p:tgtEl>
                                        <p:attrNameLst>
                                          <p:attrName>style.visibility</p:attrName>
                                        </p:attrNameLst>
                                      </p:cBhvr>
                                      <p:to>
                                        <p:strVal val="visible"/>
                                      </p:to>
                                    </p:set>
                                    <p:anim to="" calcmode="lin" valueType="num">
                                      <p:cBhvr>
                                        <p:cTn id="12" dur="1" fill="hold"/>
                                        <p:tgtEl>
                                          <p:spTgt spid="192515">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2516"/>
                                        </p:tgtEl>
                                        <p:attrNameLst>
                                          <p:attrName>style.visibility</p:attrName>
                                        </p:attrNameLst>
                                      </p:cBhvr>
                                      <p:to>
                                        <p:strVal val="visible"/>
                                      </p:to>
                                    </p:set>
                                    <p:animEffect transition="in" filter="box(in)">
                                      <p:cBhvr>
                                        <p:cTn id="17" dur="500"/>
                                        <p:tgtEl>
                                          <p:spTgt spid="192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4" grpId="0"/>
      <p:bldP spid="19251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a:xfrm>
            <a:off x="952500" y="376238"/>
            <a:ext cx="7467600" cy="676275"/>
          </a:xfrm>
        </p:spPr>
        <p:txBody>
          <a:bodyPr/>
          <a:lstStyle/>
          <a:p>
            <a:pPr eaLnBrk="1" hangingPunct="1">
              <a:defRPr/>
            </a:pPr>
            <a:r>
              <a:rPr lang="zh-CN" altLang="en-US" sz="4200" smtClean="0">
                <a:effectLst>
                  <a:outerShdw blurRad="38100" dist="38100" dir="2700000" algn="tl">
                    <a:srgbClr val="C0C0C0"/>
                  </a:outerShdw>
                </a:effectLst>
                <a:ea typeface="黑体" panose="02010609060101010101" pitchFamily="2" charset="-122"/>
              </a:rPr>
              <a:t>分类状况不同，结果也不同</a:t>
            </a:r>
            <a:endParaRPr lang="en-US" altLang="zh-CN" sz="4200" smtClean="0">
              <a:effectLst>
                <a:outerShdw blurRad="38100" dist="38100" dir="2700000" algn="tl">
                  <a:srgbClr val="C0C0C0"/>
                </a:outerShdw>
              </a:effectLst>
              <a:ea typeface="黑体" panose="02010609060101010101" pitchFamily="2" charset="-122"/>
            </a:endParaRPr>
          </a:p>
        </p:txBody>
      </p:sp>
      <p:pic>
        <p:nvPicPr>
          <p:cNvPr id="193539" name="Picture 3"/>
          <p:cNvPicPr>
            <a:picLocks noChangeAspect="1" noChangeArrowheads="1"/>
          </p:cNvPicPr>
          <p:nvPr/>
        </p:nvPicPr>
        <p:blipFill>
          <a:blip r:embed="rId1"/>
          <a:srcRect/>
          <a:stretch>
            <a:fillRect/>
          </a:stretch>
        </p:blipFill>
        <p:spPr bwMode="auto">
          <a:xfrm>
            <a:off x="1141413" y="1381125"/>
            <a:ext cx="7391400" cy="4352925"/>
          </a:xfrm>
          <a:prstGeom prst="rect">
            <a:avLst/>
          </a:prstGeom>
          <a:noFill/>
          <a:ln w="9525" algn="ctr">
            <a:noFill/>
            <a:miter lim="800000"/>
            <a:headEnd/>
            <a:tailEnd/>
          </a:ln>
        </p:spPr>
      </p:pic>
      <p:sp>
        <p:nvSpPr>
          <p:cNvPr id="4" name="灯片编号占位符 3"/>
          <p:cNvSpPr>
            <a:spLocks noGrp="1"/>
          </p:cNvSpPr>
          <p:nvPr>
            <p:ph type="sldNum" sz="quarter" idx="10"/>
          </p:nvPr>
        </p:nvSpPr>
        <p:spPr/>
        <p:txBody>
          <a:bodyPr/>
          <a:lstStyle/>
          <a:p>
            <a:pPr>
              <a:defRPr/>
            </a:pPr>
            <a:r>
              <a:rPr lang="zh-CN" altLang="en-US" smtClean="0"/>
              <a:t>第</a:t>
            </a:r>
            <a:fld id="{481E5051-3F6C-4039-84A6-D31844D1FF72}"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193538"/>
                                        </p:tgtEl>
                                        <p:attrNameLst>
                                          <p:attrName>style.visibility</p:attrName>
                                        </p:attrNameLst>
                                      </p:cBhvr>
                                      <p:to>
                                        <p:strVal val="visible"/>
                                      </p:to>
                                    </p:set>
                                    <p:anim to="" calcmode="lin" valueType="num">
                                      <p:cBhvr>
                                        <p:cTn id="7" dur="1" fill="hold"/>
                                        <p:tgtEl>
                                          <p:spTgt spid="193538"/>
                                        </p:tgtEl>
                                      </p:cBhvr>
                                    </p:anim>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93539"/>
                                        </p:tgtEl>
                                        <p:attrNameLst>
                                          <p:attrName>style.visibility</p:attrName>
                                        </p:attrNameLst>
                                      </p:cBhvr>
                                      <p:to>
                                        <p:strVal val="visible"/>
                                      </p:to>
                                    </p:set>
                                    <p:animEffect transition="in" filter="slide(fromBottom)">
                                      <p:cBhvr>
                                        <p:cTn id="12" dur="500"/>
                                        <p:tgtEl>
                                          <p:spTgt spid="193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3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952500" y="376238"/>
            <a:ext cx="7467600" cy="676275"/>
          </a:xfrm>
        </p:spPr>
        <p:txBody>
          <a:bodyPr/>
          <a:lstStyle/>
          <a:p>
            <a:pPr eaLnBrk="1" hangingPunct="1">
              <a:defRPr/>
            </a:pPr>
            <a:r>
              <a:rPr lang="zh-CN" altLang="en-US" sz="4200" smtClean="0">
                <a:effectLst>
                  <a:outerShdw blurRad="38100" dist="38100" dir="2700000" algn="tl">
                    <a:srgbClr val="C0C0C0"/>
                  </a:outerShdw>
                </a:effectLst>
                <a:ea typeface="黑体" panose="02010609060101010101" pitchFamily="2" charset="-122"/>
              </a:rPr>
              <a:t>类和对象的关系</a:t>
            </a:r>
            <a:endParaRPr lang="en-US" altLang="zh-CN" sz="4200" smtClean="0">
              <a:effectLst>
                <a:outerShdw blurRad="38100" dist="38100" dir="2700000" algn="tl">
                  <a:srgbClr val="C0C0C0"/>
                </a:outerShdw>
              </a:effectLst>
              <a:ea typeface="黑体" panose="02010609060101010101" pitchFamily="2" charset="-122"/>
            </a:endParaRPr>
          </a:p>
        </p:txBody>
      </p:sp>
      <p:pic>
        <p:nvPicPr>
          <p:cNvPr id="194569" name="Picture 9"/>
          <p:cNvPicPr>
            <a:picLocks noGrp="1" noChangeAspect="1" noChangeArrowheads="1"/>
          </p:cNvPicPr>
          <p:nvPr>
            <p:ph idx="1"/>
          </p:nvPr>
        </p:nvPicPr>
        <p:blipFill>
          <a:blip r:embed="rId1"/>
          <a:srcRect l="22285" t="38045" r="28154" b="31084"/>
          <a:stretch>
            <a:fillRect/>
          </a:stretch>
        </p:blipFill>
        <p:spPr>
          <a:xfrm>
            <a:off x="1600200" y="990600"/>
            <a:ext cx="5873750" cy="2655888"/>
          </a:xfrm>
          <a:noFill/>
        </p:spPr>
      </p:pic>
      <p:sp>
        <p:nvSpPr>
          <p:cNvPr id="194563" name="Text Box 3"/>
          <p:cNvSpPr txBox="1">
            <a:spLocks noChangeArrowheads="1"/>
          </p:cNvSpPr>
          <p:nvPr/>
        </p:nvSpPr>
        <p:spPr bwMode="auto">
          <a:xfrm>
            <a:off x="538163" y="3698875"/>
            <a:ext cx="8497887" cy="2251075"/>
          </a:xfrm>
          <a:prstGeom prst="rect">
            <a:avLst/>
          </a:prstGeom>
          <a:noFill/>
          <a:ln w="9525">
            <a:noFill/>
            <a:miter lim="800000"/>
          </a:ln>
        </p:spPr>
        <p:txBody>
          <a:bodyPr>
            <a:spAutoFit/>
          </a:bodyPr>
          <a:lstStyle/>
          <a:p>
            <a:pPr>
              <a:spcBef>
                <a:spcPct val="15000"/>
              </a:spcBef>
              <a:spcAft>
                <a:spcPct val="15000"/>
              </a:spcAft>
              <a:buClr>
                <a:schemeClr val="tx1"/>
              </a:buClr>
              <a:buFont typeface="Wingdings" panose="05000000000000000000" pitchFamily="2" charset="2"/>
              <a:buChar char="Ø"/>
            </a:pPr>
            <a:r>
              <a:rPr kumimoji="1" lang="zh-CN" altLang="en-US" sz="2400" b="1">
                <a:latin typeface="楷体_GB2312" pitchFamily="49" charset="-122"/>
                <a:ea typeface="楷体_GB2312" pitchFamily="49" charset="-122"/>
              </a:rPr>
              <a:t> </a:t>
            </a:r>
            <a:r>
              <a:rPr kumimoji="1" lang="zh-CN" altLang="en-US" sz="2400">
                <a:latin typeface="楷体_GB2312" pitchFamily="49" charset="-122"/>
                <a:ea typeface="楷体_GB2312" pitchFamily="49" charset="-122"/>
              </a:rPr>
              <a:t>每一个对象都是某一个类的实例</a:t>
            </a:r>
            <a:endParaRPr kumimoji="1" lang="zh-CN" altLang="en-US" sz="2400">
              <a:latin typeface="楷体_GB2312" pitchFamily="49" charset="-122"/>
              <a:ea typeface="楷体_GB2312" pitchFamily="49" charset="-122"/>
            </a:endParaRPr>
          </a:p>
          <a:p>
            <a:pPr>
              <a:spcBef>
                <a:spcPct val="15000"/>
              </a:spcBef>
              <a:spcAft>
                <a:spcPct val="15000"/>
              </a:spcAft>
              <a:buClr>
                <a:schemeClr val="tx1"/>
              </a:buClr>
              <a:buFont typeface="Wingdings" panose="05000000000000000000" pitchFamily="2" charset="2"/>
              <a:buChar char="Ø"/>
            </a:pPr>
            <a:r>
              <a:rPr kumimoji="1" lang="zh-CN" altLang="en-US" sz="2400">
                <a:latin typeface="楷体_GB2312" pitchFamily="49" charset="-122"/>
                <a:ea typeface="楷体_GB2312" pitchFamily="49" charset="-122"/>
              </a:rPr>
              <a:t> 每一个类在某一时刻都有零个或更多的实体</a:t>
            </a:r>
            <a:endParaRPr kumimoji="1" lang="zh-CN" altLang="en-US" sz="2400">
              <a:latin typeface="楷体_GB2312" pitchFamily="49" charset="-122"/>
              <a:ea typeface="楷体_GB2312" pitchFamily="49" charset="-122"/>
            </a:endParaRPr>
          </a:p>
          <a:p>
            <a:pPr>
              <a:spcBef>
                <a:spcPct val="15000"/>
              </a:spcBef>
              <a:spcAft>
                <a:spcPct val="15000"/>
              </a:spcAft>
              <a:buClr>
                <a:schemeClr val="tx1"/>
              </a:buClr>
              <a:buFont typeface="Wingdings" panose="05000000000000000000" pitchFamily="2" charset="2"/>
              <a:buChar char="Ø"/>
            </a:pPr>
            <a:r>
              <a:rPr kumimoji="1" lang="zh-CN" altLang="en-US" sz="2400">
                <a:latin typeface="楷体_GB2312" pitchFamily="49" charset="-122"/>
                <a:ea typeface="楷体_GB2312" pitchFamily="49" charset="-122"/>
              </a:rPr>
              <a:t> 类是</a:t>
            </a:r>
            <a:r>
              <a:rPr kumimoji="1" lang="zh-CN" altLang="en-US" sz="2400">
                <a:solidFill>
                  <a:srgbClr val="FF0000"/>
                </a:solidFill>
                <a:latin typeface="楷体_GB2312" pitchFamily="49" charset="-122"/>
                <a:ea typeface="楷体_GB2312" pitchFamily="49" charset="-122"/>
              </a:rPr>
              <a:t>静态</a:t>
            </a:r>
            <a:r>
              <a:rPr kumimoji="1" lang="zh-CN" altLang="en-US" sz="2400">
                <a:latin typeface="楷体_GB2312" pitchFamily="49" charset="-122"/>
                <a:ea typeface="楷体_GB2312" pitchFamily="49" charset="-122"/>
              </a:rPr>
              <a:t>的；它们的存在、语义和关系在执行前就已经定义好了</a:t>
            </a:r>
            <a:endParaRPr kumimoji="1" lang="zh-CN" altLang="en-US" sz="2400">
              <a:latin typeface="楷体_GB2312" pitchFamily="49" charset="-122"/>
              <a:ea typeface="楷体_GB2312" pitchFamily="49" charset="-122"/>
            </a:endParaRPr>
          </a:p>
          <a:p>
            <a:pPr>
              <a:spcBef>
                <a:spcPct val="15000"/>
              </a:spcBef>
              <a:spcAft>
                <a:spcPct val="15000"/>
              </a:spcAft>
              <a:buClr>
                <a:schemeClr val="tx1"/>
              </a:buClr>
              <a:buFont typeface="Wingdings" panose="05000000000000000000" pitchFamily="2" charset="2"/>
              <a:buChar char="Ø"/>
            </a:pPr>
            <a:r>
              <a:rPr kumimoji="1" lang="zh-CN" altLang="en-US" sz="2400">
                <a:latin typeface="楷体_GB2312" pitchFamily="49" charset="-122"/>
                <a:ea typeface="楷体_GB2312" pitchFamily="49" charset="-122"/>
              </a:rPr>
              <a:t> 对象是</a:t>
            </a:r>
            <a:r>
              <a:rPr kumimoji="1" lang="zh-CN" altLang="en-US" sz="2400">
                <a:solidFill>
                  <a:srgbClr val="FF0000"/>
                </a:solidFill>
                <a:latin typeface="楷体_GB2312" pitchFamily="49" charset="-122"/>
                <a:ea typeface="楷体_GB2312" pitchFamily="49" charset="-122"/>
              </a:rPr>
              <a:t>动态</a:t>
            </a:r>
            <a:r>
              <a:rPr kumimoji="1" lang="zh-CN" altLang="en-US" sz="2400">
                <a:latin typeface="楷体_GB2312" pitchFamily="49" charset="-122"/>
                <a:ea typeface="楷体_GB2312" pitchFamily="49" charset="-122"/>
              </a:rPr>
              <a:t>的； 它们在程序执行时可以被创建和删除</a:t>
            </a:r>
            <a:endParaRPr kumimoji="1"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0E767BD3-A5ED-49B0-920D-33B4BFBAA853}"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194562"/>
                                        </p:tgtEl>
                                        <p:attrNameLst>
                                          <p:attrName>style.visibility</p:attrName>
                                        </p:attrNameLst>
                                      </p:cBhvr>
                                      <p:to>
                                        <p:strVal val="visible"/>
                                      </p:to>
                                    </p:set>
                                    <p:anim to="" calcmode="lin" valueType="num">
                                      <p:cBhvr>
                                        <p:cTn id="7" dur="1" fill="hold"/>
                                        <p:tgtEl>
                                          <p:spTgt spid="194562"/>
                                        </p:tgtEl>
                                      </p:cBhvr>
                                    </p:anim>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69"/>
                                        </p:tgtEl>
                                        <p:attrNameLst>
                                          <p:attrName>style.visibility</p:attrName>
                                        </p:attrNameLst>
                                      </p:cBhvr>
                                      <p:to>
                                        <p:strVal val="visible"/>
                                      </p:to>
                                    </p:set>
                                    <p:animEffect transition="in" filter="blinds(horizontal)">
                                      <p:cBhvr>
                                        <p:cTn id="12" dur="500"/>
                                        <p:tgtEl>
                                          <p:spTgt spid="194569"/>
                                        </p:tgtEl>
                                      </p:cBhvr>
                                    </p:animEffect>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94563">
                                            <p:txEl>
                                              <p:pRg st="0" end="0"/>
                                            </p:txEl>
                                          </p:spTgt>
                                        </p:tgtEl>
                                        <p:attrNameLst>
                                          <p:attrName>style.visibility</p:attrName>
                                        </p:attrNameLst>
                                      </p:cBhvr>
                                      <p:to>
                                        <p:strVal val="visible"/>
                                      </p:to>
                                    </p:set>
                                    <p:anim to="" calcmode="lin" valueType="num">
                                      <p:cBhvr>
                                        <p:cTn id="17" dur="1" fill="hold"/>
                                        <p:tgtEl>
                                          <p:spTgt spid="194563">
                                            <p:txEl>
                                              <p:pRg st="0" end="0"/>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94563">
                                            <p:txEl>
                                              <p:pRg st="1" end="1"/>
                                            </p:txEl>
                                          </p:spTgt>
                                        </p:tgtEl>
                                        <p:attrNameLst>
                                          <p:attrName>style.visibility</p:attrName>
                                        </p:attrNameLst>
                                      </p:cBhvr>
                                      <p:to>
                                        <p:strVal val="visible"/>
                                      </p:to>
                                    </p:set>
                                    <p:anim to="" calcmode="lin" valueType="num">
                                      <p:cBhvr>
                                        <p:cTn id="22" dur="1" fill="hold"/>
                                        <p:tgtEl>
                                          <p:spTgt spid="194563">
                                            <p:txEl>
                                              <p:pRg st="1" end="1"/>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94563">
                                            <p:txEl>
                                              <p:pRg st="2" end="2"/>
                                            </p:txEl>
                                          </p:spTgt>
                                        </p:tgtEl>
                                        <p:attrNameLst>
                                          <p:attrName>style.visibility</p:attrName>
                                        </p:attrNameLst>
                                      </p:cBhvr>
                                      <p:to>
                                        <p:strVal val="visible"/>
                                      </p:to>
                                    </p:set>
                                    <p:anim to="" calcmode="lin" valueType="num">
                                      <p:cBhvr>
                                        <p:cTn id="27" dur="1" fill="hold"/>
                                        <p:tgtEl>
                                          <p:spTgt spid="194563">
                                            <p:txEl>
                                              <p:pRg st="2" end="2"/>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194563">
                                            <p:txEl>
                                              <p:pRg st="3" end="3"/>
                                            </p:txEl>
                                          </p:spTgt>
                                        </p:tgtEl>
                                        <p:attrNameLst>
                                          <p:attrName>style.visibility</p:attrName>
                                        </p:attrNameLst>
                                      </p:cBhvr>
                                      <p:to>
                                        <p:strVal val="visible"/>
                                      </p:to>
                                    </p:set>
                                    <p:anim to="" calcmode="lin" valueType="num">
                                      <p:cBhvr>
                                        <p:cTn id="32" dur="1" fill="hold"/>
                                        <p:tgtEl>
                                          <p:spTgt spid="194563">
                                            <p:txEl>
                                              <p:pRg st="3" end="3"/>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2" grpId="0"/>
      <p:bldP spid="19456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96611" name="Text Box 3"/>
          <p:cNvSpPr txBox="1">
            <a:spLocks noChangeArrowheads="1"/>
          </p:cNvSpPr>
          <p:nvPr/>
        </p:nvSpPr>
        <p:spPr bwMode="auto">
          <a:xfrm>
            <a:off x="609600" y="1752600"/>
            <a:ext cx="2667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4</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、消息与事件</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196612" name="Text Box 4"/>
          <p:cNvSpPr txBox="1">
            <a:spLocks noChangeArrowheads="1"/>
          </p:cNvSpPr>
          <p:nvPr/>
        </p:nvSpPr>
        <p:spPr bwMode="auto">
          <a:xfrm>
            <a:off x="623888" y="2397125"/>
            <a:ext cx="7986712" cy="2727325"/>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所谓消息（</a:t>
            </a:r>
            <a:r>
              <a:rPr lang="en-US" altLang="zh-CN" sz="2400">
                <a:latin typeface="楷体_GB2312" pitchFamily="49" charset="-122"/>
                <a:ea typeface="楷体_GB2312" pitchFamily="49" charset="-122"/>
              </a:rPr>
              <a:t>Message</a:t>
            </a:r>
            <a:r>
              <a:rPr lang="zh-CN" altLang="en-US" sz="2400">
                <a:latin typeface="楷体_GB2312" pitchFamily="49" charset="-122"/>
                <a:ea typeface="楷体_GB2312" pitchFamily="49" charset="-122"/>
              </a:rPr>
              <a:t>）是指描述事件发生的信息，是对象间相互联系和相互作用的方式。</a:t>
            </a:r>
            <a:endParaRPr lang="zh-CN" altLang="en-US" sz="2400">
              <a:latin typeface="楷体_GB2312" pitchFamily="49" charset="-122"/>
              <a:ea typeface="楷体_GB2312" pitchFamily="49" charset="-122"/>
            </a:endParaRPr>
          </a:p>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一个消息主要由</a:t>
            </a:r>
            <a:r>
              <a:rPr lang="en-US" altLang="zh-CN" sz="2400" b="1">
                <a:solidFill>
                  <a:schemeClr val="accent2"/>
                </a:solidFill>
                <a:latin typeface="楷体_GB2312" pitchFamily="49" charset="-122"/>
                <a:ea typeface="楷体_GB2312" pitchFamily="49" charset="-122"/>
              </a:rPr>
              <a:t>5</a:t>
            </a:r>
            <a:r>
              <a:rPr lang="zh-CN" altLang="en-US" sz="2400">
                <a:latin typeface="楷体_GB2312" pitchFamily="49" charset="-122"/>
                <a:ea typeface="楷体_GB2312" pitchFamily="49" charset="-122"/>
              </a:rPr>
              <a:t>部分组成：</a:t>
            </a:r>
            <a:r>
              <a:rPr lang="zh-CN" altLang="en-US" sz="2400">
                <a:solidFill>
                  <a:srgbClr val="FF0000"/>
                </a:solidFill>
                <a:latin typeface="楷体_GB2312" pitchFamily="49" charset="-122"/>
                <a:ea typeface="楷体_GB2312" pitchFamily="49" charset="-122"/>
              </a:rPr>
              <a:t>消息的发送对象、消息的接收对象、消息传递方式、消息内容（参数）、消息的返回</a:t>
            </a:r>
            <a:r>
              <a:rPr lang="zh-CN" altLang="en-US" sz="2400">
                <a:solidFill>
                  <a:schemeClr val="accent2"/>
                </a:solidFill>
                <a:latin typeface="楷体_GB2312" pitchFamily="49" charset="-122"/>
                <a:ea typeface="楷体_GB2312" pitchFamily="49" charset="-122"/>
              </a:rPr>
              <a:t>。</a:t>
            </a:r>
            <a:r>
              <a:rPr lang="zh-CN" altLang="en-US" sz="2400">
                <a:latin typeface="楷体_GB2312" pitchFamily="49" charset="-122"/>
                <a:ea typeface="楷体_GB2312" pitchFamily="49" charset="-122"/>
              </a:rPr>
              <a:t>传入的消息内容的目的有两个，一个是让接受请求的对象获取执行任务的相关信息，另一个是行为指令。</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89D9E9E8-DDAC-4239-8867-89EE532DDAA0}"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96612">
                                            <p:txEl>
                                              <p:pRg st="0" end="0"/>
                                            </p:txEl>
                                          </p:spTgt>
                                        </p:tgtEl>
                                        <p:attrNameLst>
                                          <p:attrName>style.visibility</p:attrName>
                                        </p:attrNameLst>
                                      </p:cBhvr>
                                      <p:to>
                                        <p:strVal val="visible"/>
                                      </p:to>
                                    </p:set>
                                    <p:anim to="" calcmode="lin" valueType="num">
                                      <p:cBhvr>
                                        <p:cTn id="7" dur="1" fill="hold"/>
                                        <p:tgtEl>
                                          <p:spTgt spid="196612">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96612">
                                            <p:txEl>
                                              <p:pRg st="1" end="1"/>
                                            </p:txEl>
                                          </p:spTgt>
                                        </p:tgtEl>
                                        <p:attrNameLst>
                                          <p:attrName>style.visibility</p:attrName>
                                        </p:attrNameLst>
                                      </p:cBhvr>
                                      <p:to>
                                        <p:strVal val="visible"/>
                                      </p:to>
                                    </p:set>
                                    <p:anim to="" calcmode="lin" valueType="num">
                                      <p:cBhvr>
                                        <p:cTn id="12" dur="1" fill="hold"/>
                                        <p:tgtEl>
                                          <p:spTgt spid="196612">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一、面向对象思想的基本概念</a:t>
            </a:r>
            <a:endParaRPr lang="zh-CN" altLang="en-US" sz="4000" i="1">
              <a:latin typeface="黑体" panose="02010609060101010101" pitchFamily="2" charset="-122"/>
              <a:ea typeface="黑体" panose="02010609060101010101" pitchFamily="2" charset="-122"/>
            </a:endParaRPr>
          </a:p>
        </p:txBody>
      </p:sp>
      <p:sp>
        <p:nvSpPr>
          <p:cNvPr id="198659" name="Text Box 3"/>
          <p:cNvSpPr txBox="1">
            <a:spLocks noChangeArrowheads="1"/>
          </p:cNvSpPr>
          <p:nvPr/>
        </p:nvSpPr>
        <p:spPr bwMode="auto">
          <a:xfrm>
            <a:off x="609600" y="1752600"/>
            <a:ext cx="26670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4</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、消息与事件</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198660" name="Text Box 4"/>
          <p:cNvSpPr txBox="1">
            <a:spLocks noChangeArrowheads="1"/>
          </p:cNvSpPr>
          <p:nvPr/>
        </p:nvSpPr>
        <p:spPr bwMode="auto">
          <a:xfrm>
            <a:off x="623888" y="2397125"/>
            <a:ext cx="7986712" cy="1354138"/>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所谓事件通常是指一种由系统预先定义而由用户或系统发出的动作。事件作用于对象，对象识别事件并作出相应反应 。</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1D89B5C1-43DE-45EB-B464-FBB39078BC9B}"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98660">
                                            <p:txEl>
                                              <p:pRg st="0" end="0"/>
                                            </p:txEl>
                                          </p:spTgt>
                                        </p:tgtEl>
                                        <p:attrNameLst>
                                          <p:attrName>style.visibility</p:attrName>
                                        </p:attrNameLst>
                                      </p:cBhvr>
                                      <p:to>
                                        <p:strVal val="visible"/>
                                      </p:to>
                                    </p:set>
                                    <p:anim to="" calcmode="lin" valueType="num">
                                      <p:cBhvr>
                                        <p:cTn id="7" dur="1" fill="hold"/>
                                        <p:tgtEl>
                                          <p:spTgt spid="198660">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04803"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1</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、封装</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04804" name="Text Box 4"/>
          <p:cNvSpPr txBox="1">
            <a:spLocks noChangeArrowheads="1"/>
          </p:cNvSpPr>
          <p:nvPr/>
        </p:nvSpPr>
        <p:spPr bwMode="auto">
          <a:xfrm>
            <a:off x="623888" y="2397125"/>
            <a:ext cx="3719512" cy="2616200"/>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sv-SE" sz="2400">
                <a:solidFill>
                  <a:srgbClr val="FF0000"/>
                </a:solidFill>
                <a:latin typeface="楷体_GB2312" pitchFamily="49" charset="-122"/>
                <a:ea typeface="楷体_GB2312" pitchFamily="49" charset="-122"/>
              </a:rPr>
              <a:t>封装</a:t>
            </a:r>
            <a:r>
              <a:rPr lang="zh-CN" altLang="sv-SE" sz="2400">
                <a:latin typeface="楷体_GB2312" pitchFamily="49" charset="-122"/>
                <a:ea typeface="楷体_GB2312" pitchFamily="49" charset="-122"/>
              </a:rPr>
              <a:t>（</a:t>
            </a:r>
            <a:r>
              <a:rPr lang="en-US" altLang="zh-CN" sz="2400">
                <a:latin typeface="楷体_GB2312" pitchFamily="49" charset="-122"/>
                <a:ea typeface="楷体_GB2312" pitchFamily="49" charset="-122"/>
              </a:rPr>
              <a:t>Encapsulation</a:t>
            </a:r>
            <a:r>
              <a:rPr lang="zh-CN" altLang="en-US" sz="2400">
                <a:latin typeface="楷体_GB2312" pitchFamily="49" charset="-122"/>
                <a:ea typeface="楷体_GB2312" pitchFamily="49" charset="-122"/>
              </a:rPr>
              <a:t>）是把对象的属性（状态）和操作（行为）绑到一起的机制，把对象形成一个独立的整体，并且尽可能的隐藏对象的内部细节。</a:t>
            </a:r>
            <a:endParaRPr lang="zh-CN" altLang="en-US" sz="2400">
              <a:latin typeface="楷体_GB2312" pitchFamily="49" charset="-122"/>
              <a:ea typeface="楷体_GB2312" pitchFamily="49" charset="-122"/>
            </a:endParaRPr>
          </a:p>
        </p:txBody>
      </p:sp>
      <p:pic>
        <p:nvPicPr>
          <p:cNvPr id="204805" name="Picture 5"/>
          <p:cNvPicPr>
            <a:picLocks noChangeAspect="1" noChangeArrowheads="1"/>
          </p:cNvPicPr>
          <p:nvPr/>
        </p:nvPicPr>
        <p:blipFill>
          <a:blip r:embed="rId1"/>
          <a:srcRect/>
          <a:stretch>
            <a:fillRect/>
          </a:stretch>
        </p:blipFill>
        <p:spPr bwMode="auto">
          <a:xfrm>
            <a:off x="4267200" y="2430463"/>
            <a:ext cx="4103688" cy="3817937"/>
          </a:xfrm>
          <a:prstGeom prst="rect">
            <a:avLst/>
          </a:prstGeom>
          <a:noFill/>
          <a:ln w="9525">
            <a:noFill/>
            <a:miter lim="800000"/>
            <a:headEnd/>
            <a:tailEnd/>
          </a:ln>
        </p:spPr>
      </p:pic>
      <p:sp>
        <p:nvSpPr>
          <p:cNvPr id="6" name="灯片编号占位符 5"/>
          <p:cNvSpPr>
            <a:spLocks noGrp="1"/>
          </p:cNvSpPr>
          <p:nvPr>
            <p:ph type="sldNum" sz="quarter" idx="10"/>
          </p:nvPr>
        </p:nvSpPr>
        <p:spPr/>
        <p:txBody>
          <a:bodyPr/>
          <a:lstStyle/>
          <a:p>
            <a:pPr>
              <a:defRPr/>
            </a:pPr>
            <a:r>
              <a:rPr lang="zh-CN" altLang="en-US" smtClean="0"/>
              <a:t>第</a:t>
            </a:r>
            <a:fld id="{C560A6AC-B284-4263-9633-195C7871B493}"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04804">
                                            <p:txEl>
                                              <p:pRg st="0" end="0"/>
                                            </p:txEl>
                                          </p:spTgt>
                                        </p:tgtEl>
                                        <p:attrNameLst>
                                          <p:attrName>style.visibility</p:attrName>
                                        </p:attrNameLst>
                                      </p:cBhvr>
                                      <p:to>
                                        <p:strVal val="visible"/>
                                      </p:to>
                                    </p:set>
                                    <p:anim to="" calcmode="lin" valueType="num">
                                      <p:cBhvr>
                                        <p:cTn id="7" dur="1" fill="hold"/>
                                        <p:tgtEl>
                                          <p:spTgt spid="204804">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204805"/>
                                        </p:tgtEl>
                                        <p:attrNameLst>
                                          <p:attrName>style.visibility</p:attrName>
                                        </p:attrNameLst>
                                      </p:cBhvr>
                                      <p:to>
                                        <p:strVal val="visible"/>
                                      </p:to>
                                    </p:set>
                                    <p:anim to="" calcmode="lin" valueType="num">
                                      <p:cBhvr>
                                        <p:cTn id="12" dur="1" fill="hold"/>
                                        <p:tgtEl>
                                          <p:spTgt spid="204805"/>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47811"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1</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、封装</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47812" name="Text Box 4"/>
          <p:cNvSpPr txBox="1">
            <a:spLocks noChangeArrowheads="1"/>
          </p:cNvSpPr>
          <p:nvPr/>
        </p:nvSpPr>
        <p:spPr bwMode="auto">
          <a:xfrm>
            <a:off x="623888" y="2397125"/>
            <a:ext cx="7986712" cy="512763"/>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封装有两层含义：</a:t>
            </a:r>
            <a:endParaRPr lang="zh-CN" altLang="en-US" sz="2400">
              <a:latin typeface="楷体_GB2312" pitchFamily="49" charset="-122"/>
              <a:ea typeface="楷体_GB2312" pitchFamily="49" charset="-122"/>
            </a:endParaRPr>
          </a:p>
        </p:txBody>
      </p:sp>
      <p:sp>
        <p:nvSpPr>
          <p:cNvPr id="247813" name="Text Box 5"/>
          <p:cNvSpPr txBox="1">
            <a:spLocks noChangeArrowheads="1"/>
          </p:cNvSpPr>
          <p:nvPr/>
        </p:nvSpPr>
        <p:spPr bwMode="auto">
          <a:xfrm>
            <a:off x="1082675" y="2971800"/>
            <a:ext cx="7558088" cy="2028825"/>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一是</a:t>
            </a:r>
            <a:r>
              <a:rPr lang="zh-CN" altLang="en-US" sz="2400">
                <a:solidFill>
                  <a:srgbClr val="FF0000"/>
                </a:solidFill>
                <a:latin typeface="楷体_GB2312" pitchFamily="49" charset="-122"/>
                <a:ea typeface="楷体_GB2312" pitchFamily="49" charset="-122"/>
              </a:rPr>
              <a:t>结合性</a:t>
            </a:r>
            <a:r>
              <a:rPr kumimoji="1" lang="zh-CN" altLang="en-US" sz="2400">
                <a:effectLst>
                  <a:outerShdw blurRad="38100" dist="38100" dir="2700000" algn="tl">
                    <a:srgbClr val="C0C0C0"/>
                  </a:outerShdw>
                </a:effectLst>
                <a:latin typeface="楷体_GB2312" pitchFamily="49" charset="-122"/>
                <a:ea typeface="楷体_GB2312" pitchFamily="49" charset="-122"/>
              </a:rPr>
              <a:t>：把对象的全部状态和行为结合一起，形成一个不可分割的整体。对象的私有属性只能够由对象的行为来修改和读取。 </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二是</a:t>
            </a:r>
            <a:r>
              <a:rPr lang="zh-CN" altLang="en-US" sz="2400">
                <a:solidFill>
                  <a:srgbClr val="FF0000"/>
                </a:solidFill>
                <a:latin typeface="楷体_GB2312" pitchFamily="49" charset="-122"/>
                <a:ea typeface="楷体_GB2312" pitchFamily="49" charset="-122"/>
              </a:rPr>
              <a:t>信息隐蔽性</a:t>
            </a:r>
            <a:r>
              <a:rPr kumimoji="1" lang="zh-CN" altLang="en-US" sz="2400">
                <a:effectLst>
                  <a:outerShdw blurRad="38100" dist="38100" dir="2700000" algn="tl">
                    <a:srgbClr val="C0C0C0"/>
                  </a:outerShdw>
                </a:effectLst>
                <a:latin typeface="楷体_GB2312" pitchFamily="49" charset="-122"/>
                <a:ea typeface="楷体_GB2312" pitchFamily="49" charset="-122"/>
              </a:rPr>
              <a:t>：尽可能隐蔽对象的内部细节，与外界的联系只能够通过外部接口来实现。</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97D999CA-23AB-4F0C-AE05-B2FE6EE05514}"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47812">
                                            <p:txEl>
                                              <p:pRg st="0" end="0"/>
                                            </p:txEl>
                                          </p:spTgt>
                                        </p:tgtEl>
                                        <p:attrNameLst>
                                          <p:attrName>style.visibility</p:attrName>
                                        </p:attrNameLst>
                                      </p:cBhvr>
                                      <p:to>
                                        <p:strVal val="visible"/>
                                      </p:to>
                                    </p:set>
                                    <p:anim to="" calcmode="lin" valueType="num">
                                      <p:cBhvr>
                                        <p:cTn id="7" dur="1" fill="hold"/>
                                        <p:tgtEl>
                                          <p:spTgt spid="247812">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47813">
                                            <p:txEl>
                                              <p:pRg st="0" end="0"/>
                                            </p:txEl>
                                          </p:spTgt>
                                        </p:tgtEl>
                                        <p:attrNameLst>
                                          <p:attrName>style.visibility</p:attrName>
                                        </p:attrNameLst>
                                      </p:cBhvr>
                                      <p:to>
                                        <p:strVal val="visible"/>
                                      </p:to>
                                    </p:set>
                                    <p:anim to="" calcmode="lin" valueType="num">
                                      <p:cBhvr>
                                        <p:cTn id="12" dur="1" fill="hold"/>
                                        <p:tgtEl>
                                          <p:spTgt spid="247813">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47813">
                                            <p:txEl>
                                              <p:pRg st="1" end="1"/>
                                            </p:txEl>
                                          </p:spTgt>
                                        </p:tgtEl>
                                        <p:attrNameLst>
                                          <p:attrName>style.visibility</p:attrName>
                                        </p:attrNameLst>
                                      </p:cBhvr>
                                      <p:to>
                                        <p:strVal val="visible"/>
                                      </p:to>
                                    </p:set>
                                    <p:anim to="" calcmode="lin" valueType="num">
                                      <p:cBhvr>
                                        <p:cTn id="17" dur="1" fill="hold"/>
                                        <p:tgtEl>
                                          <p:spTgt spid="247813">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12" grpId="0" build="p"/>
      <p:bldP spid="24781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49859"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1</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、封装</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49860" name="Text Box 4"/>
          <p:cNvSpPr txBox="1">
            <a:spLocks noChangeArrowheads="1"/>
          </p:cNvSpPr>
          <p:nvPr/>
        </p:nvSpPr>
        <p:spPr bwMode="auto">
          <a:xfrm>
            <a:off x="623888" y="2397125"/>
            <a:ext cx="7986712" cy="512763"/>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封装性应满足的条件：</a:t>
            </a:r>
            <a:endParaRPr lang="zh-CN" altLang="en-US" sz="2400">
              <a:latin typeface="楷体_GB2312" pitchFamily="49" charset="-122"/>
              <a:ea typeface="楷体_GB2312" pitchFamily="49" charset="-122"/>
            </a:endParaRPr>
          </a:p>
        </p:txBody>
      </p:sp>
      <p:sp>
        <p:nvSpPr>
          <p:cNvPr id="249861" name="Text Box 5"/>
          <p:cNvSpPr txBox="1">
            <a:spLocks noChangeArrowheads="1"/>
          </p:cNvSpPr>
          <p:nvPr/>
        </p:nvSpPr>
        <p:spPr bwMode="auto">
          <a:xfrm>
            <a:off x="1082675" y="2971800"/>
            <a:ext cx="7558088" cy="1409700"/>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有一个清晰的边界； </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有确定的接口；</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受保护的内部实现。</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62947655-D860-4443-9919-71BDFB2371E6}"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49860">
                                            <p:txEl>
                                              <p:pRg st="0" end="0"/>
                                            </p:txEl>
                                          </p:spTgt>
                                        </p:tgtEl>
                                        <p:attrNameLst>
                                          <p:attrName>style.visibility</p:attrName>
                                        </p:attrNameLst>
                                      </p:cBhvr>
                                      <p:to>
                                        <p:strVal val="visible"/>
                                      </p:to>
                                    </p:set>
                                    <p:anim to="" calcmode="lin" valueType="num">
                                      <p:cBhvr>
                                        <p:cTn id="7" dur="1" fill="hold"/>
                                        <p:tgtEl>
                                          <p:spTgt spid="249860">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49861">
                                            <p:txEl>
                                              <p:pRg st="0" end="0"/>
                                            </p:txEl>
                                          </p:spTgt>
                                        </p:tgtEl>
                                        <p:attrNameLst>
                                          <p:attrName>style.visibility</p:attrName>
                                        </p:attrNameLst>
                                      </p:cBhvr>
                                      <p:to>
                                        <p:strVal val="visible"/>
                                      </p:to>
                                    </p:set>
                                    <p:anim to="" calcmode="lin" valueType="num">
                                      <p:cBhvr>
                                        <p:cTn id="12" dur="1" fill="hold"/>
                                        <p:tgtEl>
                                          <p:spTgt spid="249861">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249861">
                                            <p:txEl>
                                              <p:pRg st="1" end="1"/>
                                            </p:txEl>
                                          </p:spTgt>
                                        </p:tgtEl>
                                        <p:attrNameLst>
                                          <p:attrName>style.visibility</p:attrName>
                                        </p:attrNameLst>
                                      </p:cBhvr>
                                      <p:to>
                                        <p:strVal val="visible"/>
                                      </p:to>
                                    </p:set>
                                    <p:anim to="" calcmode="lin" valueType="num">
                                      <p:cBhvr>
                                        <p:cTn id="17" dur="1" fill="hold"/>
                                        <p:tgtEl>
                                          <p:spTgt spid="249861">
                                            <p:txEl>
                                              <p:pRg st="1" end="1"/>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249861">
                                            <p:txEl>
                                              <p:pRg st="2" end="2"/>
                                            </p:txEl>
                                          </p:spTgt>
                                        </p:tgtEl>
                                        <p:attrNameLst>
                                          <p:attrName>style.visibility</p:attrName>
                                        </p:attrNameLst>
                                      </p:cBhvr>
                                      <p:to>
                                        <p:strVal val="visible"/>
                                      </p:to>
                                    </p:set>
                                    <p:anim to="" calcmode="lin" valueType="num">
                                      <p:cBhvr>
                                        <p:cTn id="22" dur="1" fill="hold"/>
                                        <p:tgtEl>
                                          <p:spTgt spid="249861">
                                            <p:txEl>
                                              <p:pRg st="2" end="2"/>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60" grpId="0" build="p"/>
      <p:bldP spid="24986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51907"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1</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、封装</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51908" name="Text Box 4"/>
          <p:cNvSpPr txBox="1">
            <a:spLocks noChangeArrowheads="1"/>
          </p:cNvSpPr>
          <p:nvPr/>
        </p:nvSpPr>
        <p:spPr bwMode="auto">
          <a:xfrm>
            <a:off x="623888" y="2397125"/>
            <a:ext cx="7986712" cy="1044575"/>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封装是面向对象编程防止程序员相互干扰的一种方式。</a:t>
            </a:r>
            <a:endParaRPr lang="zh-CN" altLang="en-US" sz="2400">
              <a:latin typeface="楷体_GB2312" pitchFamily="49" charset="-122"/>
              <a:ea typeface="楷体_GB2312" pitchFamily="49" charset="-122"/>
            </a:endParaRPr>
          </a:p>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例子：借钱。</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F8C2845C-B973-41CB-8931-3B782142F3F7}"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51908">
                                            <p:txEl>
                                              <p:pRg st="0" end="0"/>
                                            </p:txEl>
                                          </p:spTgt>
                                        </p:tgtEl>
                                        <p:attrNameLst>
                                          <p:attrName>style.visibility</p:attrName>
                                        </p:attrNameLst>
                                      </p:cBhvr>
                                      <p:to>
                                        <p:strVal val="visible"/>
                                      </p:to>
                                    </p:set>
                                    <p:anim to="" calcmode="lin" valueType="num">
                                      <p:cBhvr>
                                        <p:cTn id="7" dur="1" fill="hold"/>
                                        <p:tgtEl>
                                          <p:spTgt spid="251908">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51908">
                                            <p:txEl>
                                              <p:pRg st="1" end="1"/>
                                            </p:txEl>
                                          </p:spTgt>
                                        </p:tgtEl>
                                        <p:attrNameLst>
                                          <p:attrName>style.visibility</p:attrName>
                                        </p:attrNameLst>
                                      </p:cBhvr>
                                      <p:to>
                                        <p:strVal val="visible"/>
                                      </p:to>
                                    </p:set>
                                    <p:anim to="" calcmode="lin" valueType="num">
                                      <p:cBhvr>
                                        <p:cTn id="12" dur="1" fill="hold"/>
                                        <p:tgtEl>
                                          <p:spTgt spid="251908">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8"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53955"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1</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、封装</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53956" name="Text Box 4"/>
          <p:cNvSpPr txBox="1">
            <a:spLocks noChangeArrowheads="1"/>
          </p:cNvSpPr>
          <p:nvPr/>
        </p:nvSpPr>
        <p:spPr bwMode="auto">
          <a:xfrm>
            <a:off x="623888" y="2397125"/>
            <a:ext cx="7986712" cy="3148013"/>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封装是一个重要原则，是指把属性和操作封装进一个对象里，它的内部信息对外界隐藏，不允许外界直接存取对象的属性，只能通过对象提供的有限的接口对对象的属性数据进行操作。</a:t>
            </a:r>
            <a:endParaRPr lang="zh-CN" altLang="en-US" sz="2400">
              <a:latin typeface="楷体_GB2312" pitchFamily="49" charset="-122"/>
              <a:ea typeface="楷体_GB2312" pitchFamily="49" charset="-122"/>
            </a:endParaRPr>
          </a:p>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封装的信息屏蔽作用反映了事物的相对独立性，我们可以只关心它对外所提供的接口，即能够提供什么样的服务，而不用去关注其内部的细节问题。</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9ACF9D71-6923-4301-A8E1-5F74D1679434}"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53956">
                                            <p:txEl>
                                              <p:pRg st="0" end="0"/>
                                            </p:txEl>
                                          </p:spTgt>
                                        </p:tgtEl>
                                        <p:attrNameLst>
                                          <p:attrName>style.visibility</p:attrName>
                                        </p:attrNameLst>
                                      </p:cBhvr>
                                      <p:to>
                                        <p:strVal val="visible"/>
                                      </p:to>
                                    </p:set>
                                    <p:anim to="" calcmode="lin" valueType="num">
                                      <p:cBhvr>
                                        <p:cTn id="7" dur="1" fill="hold"/>
                                        <p:tgtEl>
                                          <p:spTgt spid="253956">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253956">
                                            <p:txEl>
                                              <p:pRg st="1" end="1"/>
                                            </p:txEl>
                                          </p:spTgt>
                                        </p:tgtEl>
                                        <p:attrNameLst>
                                          <p:attrName>style.visibility</p:attrName>
                                        </p:attrNameLst>
                                      </p:cBhvr>
                                      <p:to>
                                        <p:strVal val="visible"/>
                                      </p:to>
                                    </p:set>
                                    <p:anim to="" calcmode="lin" valueType="num">
                                      <p:cBhvr>
                                        <p:cTn id="12" dur="1" fill="hold"/>
                                        <p:tgtEl>
                                          <p:spTgt spid="253956">
                                            <p:txEl>
                                              <p:pRg st="1" end="1"/>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6"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06851"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、继承</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06852" name="Text Box 4"/>
          <p:cNvSpPr txBox="1">
            <a:spLocks noChangeArrowheads="1"/>
          </p:cNvSpPr>
          <p:nvPr/>
        </p:nvSpPr>
        <p:spPr bwMode="auto">
          <a:xfrm>
            <a:off x="623888" y="2397125"/>
            <a:ext cx="7986712" cy="1774825"/>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对于客观世界的认知，既应看到其共性，也应看到其特性</a:t>
            </a:r>
            <a:r>
              <a:rPr lang="en-US" altLang="zh-CN" sz="2400">
                <a:ea typeface="楷体_GB2312" pitchFamily="49" charset="-122"/>
              </a:rPr>
              <a:t>——</a:t>
            </a:r>
            <a:r>
              <a:rPr lang="zh-CN" altLang="en-US" sz="2400">
                <a:latin typeface="楷体_GB2312" pitchFamily="49" charset="-122"/>
                <a:ea typeface="楷体_GB2312" pitchFamily="49" charset="-122"/>
              </a:rPr>
              <a:t>如果只考虑事物的共性，不考虑事物的特性，就不能反映出客观世界中事物之间的层次关系，从而不能完整地、正确地对客观世界进行抽象的描述。</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A1F24386-672A-4AB4-8392-3EB81575261F}"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06852">
                                            <p:txEl>
                                              <p:pRg st="0" end="0"/>
                                            </p:txEl>
                                          </p:spTgt>
                                        </p:tgtEl>
                                        <p:attrNameLst>
                                          <p:attrName>style.visibility</p:attrName>
                                        </p:attrNameLst>
                                      </p:cBhvr>
                                      <p:to>
                                        <p:strVal val="visible"/>
                                      </p:to>
                                    </p:set>
                                    <p:anim to="" calcmode="lin" valueType="num">
                                      <p:cBhvr>
                                        <p:cTn id="7" dur="1" fill="hold"/>
                                        <p:tgtEl>
                                          <p:spTgt spid="206852">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2"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58051"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、继承</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58052" name="Text Box 4"/>
          <p:cNvSpPr txBox="1">
            <a:spLocks noChangeArrowheads="1"/>
          </p:cNvSpPr>
          <p:nvPr/>
        </p:nvSpPr>
        <p:spPr bwMode="auto">
          <a:xfrm>
            <a:off x="623888" y="2397125"/>
            <a:ext cx="7986712" cy="2282825"/>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如果说运用抽象的原则就是舍弃对象的特性，提取其共性，从而得到一个对象集的类的话，那么在这个类的基础上，再重新考虑抽象过程中被舍弃的那一部分对象的特性，则可以形成一个新的类，这个类具有前一个类的全部特征，是前一个类的子集，从而形成一种层次结构，即</a:t>
            </a:r>
            <a:r>
              <a:rPr lang="zh-CN" altLang="en-US" sz="2400">
                <a:solidFill>
                  <a:srgbClr val="FF0000"/>
                </a:solidFill>
                <a:latin typeface="楷体_GB2312" pitchFamily="49" charset="-122"/>
                <a:ea typeface="楷体_GB2312" pitchFamily="49" charset="-122"/>
              </a:rPr>
              <a:t>继承结构。</a:t>
            </a:r>
            <a:endParaRPr lang="zh-CN" altLang="en-US" sz="2400">
              <a:solidFill>
                <a:srgbClr val="FF0000"/>
              </a:solidFill>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6B394758-E739-498D-84E2-FE1A50D00DBA}"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58052">
                                            <p:txEl>
                                              <p:pRg st="0" end="0"/>
                                            </p:txEl>
                                          </p:spTgt>
                                        </p:tgtEl>
                                        <p:attrNameLst>
                                          <p:attrName>style.visibility</p:attrName>
                                        </p:attrNameLst>
                                      </p:cBhvr>
                                      <p:to>
                                        <p:strVal val="visible"/>
                                      </p:to>
                                    </p:set>
                                    <p:anim to="" calcmode="lin" valueType="num">
                                      <p:cBhvr>
                                        <p:cTn id="7" dur="1" fill="hold"/>
                                        <p:tgtEl>
                                          <p:spTgt spid="258052">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56003"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、继承</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56004" name="Text Box 4"/>
          <p:cNvSpPr txBox="1">
            <a:spLocks noChangeArrowheads="1"/>
          </p:cNvSpPr>
          <p:nvPr/>
        </p:nvSpPr>
        <p:spPr bwMode="auto">
          <a:xfrm>
            <a:off x="623888" y="2397125"/>
            <a:ext cx="7986712" cy="933450"/>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继承</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Inheritance</a:t>
            </a:r>
            <a:r>
              <a:rPr lang="zh-CN" altLang="en-US" sz="2400">
                <a:latin typeface="楷体_GB2312" pitchFamily="49" charset="-122"/>
                <a:ea typeface="楷体_GB2312" pitchFamily="49" charset="-122"/>
              </a:rPr>
              <a:t>）是一种连接类与类的之间的层次模型。继承是指特殊类的对象拥有其一般类的属性和行为。</a:t>
            </a:r>
            <a:endParaRPr lang="zh-CN" altLang="en-US" sz="2400">
              <a:latin typeface="楷体_GB2312" pitchFamily="49" charset="-122"/>
              <a:ea typeface="楷体_GB2312" pitchFamily="49" charset="-122"/>
            </a:endParaRPr>
          </a:p>
        </p:txBody>
      </p:sp>
      <p:grpSp>
        <p:nvGrpSpPr>
          <p:cNvPr id="2" name="Group 7"/>
          <p:cNvGrpSpPr/>
          <p:nvPr/>
        </p:nvGrpSpPr>
        <p:grpSpPr bwMode="auto">
          <a:xfrm>
            <a:off x="1600200" y="3505200"/>
            <a:ext cx="6096000" cy="2590800"/>
            <a:chOff x="1008" y="2208"/>
            <a:chExt cx="3840" cy="1632"/>
          </a:xfrm>
        </p:grpSpPr>
        <p:pic>
          <p:nvPicPr>
            <p:cNvPr id="40967" name="Picture 5"/>
            <p:cNvPicPr>
              <a:picLocks noChangeAspect="1" noChangeArrowheads="1"/>
            </p:cNvPicPr>
            <p:nvPr/>
          </p:nvPicPr>
          <p:blipFill>
            <a:blip r:embed="rId1"/>
            <a:srcRect/>
            <a:stretch>
              <a:fillRect/>
            </a:stretch>
          </p:blipFill>
          <p:spPr bwMode="auto">
            <a:xfrm>
              <a:off x="2730" y="2208"/>
              <a:ext cx="2118" cy="1632"/>
            </a:xfrm>
            <a:prstGeom prst="rect">
              <a:avLst/>
            </a:prstGeom>
            <a:noFill/>
            <a:ln w="9525">
              <a:noFill/>
              <a:miter lim="800000"/>
              <a:headEnd/>
              <a:tailEnd/>
            </a:ln>
          </p:spPr>
        </p:pic>
        <p:pic>
          <p:nvPicPr>
            <p:cNvPr id="40968" name="Picture 6"/>
            <p:cNvPicPr>
              <a:picLocks noChangeAspect="1" noChangeArrowheads="1"/>
            </p:cNvPicPr>
            <p:nvPr/>
          </p:nvPicPr>
          <p:blipFill>
            <a:blip r:embed="rId2"/>
            <a:srcRect/>
            <a:stretch>
              <a:fillRect/>
            </a:stretch>
          </p:blipFill>
          <p:spPr bwMode="auto">
            <a:xfrm>
              <a:off x="1008" y="2208"/>
              <a:ext cx="1320" cy="1632"/>
            </a:xfrm>
            <a:prstGeom prst="rect">
              <a:avLst/>
            </a:prstGeom>
            <a:noFill/>
            <a:ln w="9525">
              <a:noFill/>
              <a:miter lim="800000"/>
              <a:headEnd/>
              <a:tailEnd/>
            </a:ln>
          </p:spPr>
        </p:pic>
      </p:grpSp>
      <p:sp>
        <p:nvSpPr>
          <p:cNvPr id="8" name="灯片编号占位符 7"/>
          <p:cNvSpPr>
            <a:spLocks noGrp="1"/>
          </p:cNvSpPr>
          <p:nvPr>
            <p:ph type="sldNum" sz="quarter" idx="10"/>
          </p:nvPr>
        </p:nvSpPr>
        <p:spPr/>
        <p:txBody>
          <a:bodyPr/>
          <a:lstStyle/>
          <a:p>
            <a:pPr>
              <a:defRPr/>
            </a:pPr>
            <a:r>
              <a:rPr lang="zh-CN" altLang="en-US" smtClean="0"/>
              <a:t>第</a:t>
            </a:r>
            <a:fld id="{7B7065E8-A945-401D-9A19-BE635FADC345}"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56004">
                                            <p:txEl>
                                              <p:pRg st="0" end="0"/>
                                            </p:txEl>
                                          </p:spTgt>
                                        </p:tgtEl>
                                        <p:attrNameLst>
                                          <p:attrName>style.visibility</p:attrName>
                                        </p:attrNameLst>
                                      </p:cBhvr>
                                      <p:to>
                                        <p:strVal val="visible"/>
                                      </p:to>
                                    </p:set>
                                    <p:anim to="" calcmode="lin" valueType="num">
                                      <p:cBhvr>
                                        <p:cTn id="7" dur="1" fill="hold"/>
                                        <p:tgtEl>
                                          <p:spTgt spid="256004">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099" name="Picture 3"/>
          <p:cNvPicPr>
            <a:picLocks noChangeAspect="1" noChangeArrowheads="1"/>
          </p:cNvPicPr>
          <p:nvPr/>
        </p:nvPicPr>
        <p:blipFill>
          <a:blip r:embed="rId1"/>
          <a:srcRect/>
          <a:stretch>
            <a:fillRect/>
          </a:stretch>
        </p:blipFill>
        <p:spPr bwMode="auto">
          <a:xfrm>
            <a:off x="1347788" y="1773238"/>
            <a:ext cx="7256462" cy="3109912"/>
          </a:xfrm>
          <a:prstGeom prst="rect">
            <a:avLst/>
          </a:prstGeom>
          <a:noFill/>
          <a:ln w="9525">
            <a:noFill/>
            <a:miter lim="800000"/>
            <a:headEnd/>
            <a:tailEnd/>
          </a:ln>
        </p:spPr>
      </p:pic>
      <p:pic>
        <p:nvPicPr>
          <p:cNvPr id="260100" name="Picture 4"/>
          <p:cNvPicPr>
            <a:picLocks noChangeAspect="1" noChangeArrowheads="1"/>
          </p:cNvPicPr>
          <p:nvPr/>
        </p:nvPicPr>
        <p:blipFill>
          <a:blip r:embed="rId2"/>
          <a:srcRect/>
          <a:stretch>
            <a:fillRect/>
          </a:stretch>
        </p:blipFill>
        <p:spPr bwMode="auto">
          <a:xfrm>
            <a:off x="838200" y="1524000"/>
            <a:ext cx="7775575" cy="5226050"/>
          </a:xfrm>
          <a:prstGeom prst="rect">
            <a:avLst/>
          </a:prstGeom>
          <a:noFill/>
          <a:ln w="9525">
            <a:noFill/>
            <a:miter lim="800000"/>
            <a:headEnd/>
            <a:tailEnd/>
          </a:ln>
        </p:spPr>
      </p:pic>
      <p:sp>
        <p:nvSpPr>
          <p:cNvPr id="4" name="灯片编号占位符 3"/>
          <p:cNvSpPr>
            <a:spLocks noGrp="1"/>
          </p:cNvSpPr>
          <p:nvPr>
            <p:ph type="sldNum" sz="quarter" idx="10"/>
          </p:nvPr>
        </p:nvSpPr>
        <p:spPr/>
        <p:txBody>
          <a:bodyPr/>
          <a:lstStyle/>
          <a:p>
            <a:pPr>
              <a:defRPr/>
            </a:pPr>
            <a:r>
              <a:rPr lang="zh-CN" altLang="en-US" smtClean="0"/>
              <a:t>第</a:t>
            </a:r>
            <a:fld id="{F49B6C00-89B4-45DB-A97B-7A2A6855195C}"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60099"/>
                                        </p:tgtEl>
                                        <p:attrNameLst>
                                          <p:attrName>style.visibility</p:attrName>
                                        </p:attrNameLst>
                                      </p:cBhvr>
                                      <p:to>
                                        <p:strVal val="visible"/>
                                      </p:to>
                                    </p:set>
                                    <p:animEffect transition="in" filter="box(in)">
                                      <p:cBhvr>
                                        <p:cTn id="7" dur="500"/>
                                        <p:tgtEl>
                                          <p:spTgt spid="26009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60100"/>
                                        </p:tgtEl>
                                        <p:attrNameLst>
                                          <p:attrName>style.visibility</p:attrName>
                                        </p:attrNameLst>
                                      </p:cBhvr>
                                      <p:to>
                                        <p:strVal val="visible"/>
                                      </p:to>
                                    </p:set>
                                    <p:animEffect transition="in" filter="checkerboard(across)">
                                      <p:cBhvr>
                                        <p:cTn id="12" dur="500"/>
                                        <p:tgtEl>
                                          <p:spTgt spid="260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1" name="Text Box 3"/>
          <p:cNvSpPr txBox="1">
            <a:spLocks noChangeArrowheads="1"/>
          </p:cNvSpPr>
          <p:nvPr/>
        </p:nvSpPr>
        <p:spPr bwMode="auto">
          <a:xfrm>
            <a:off x="609600" y="1905000"/>
            <a:ext cx="3733800" cy="334645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None/>
            </a:pPr>
            <a:endParaRPr kumimoji="1" lang="zh-CN" altLang="en-US" sz="2400" b="1">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kumimoji="1" lang="zh-CN" altLang="en-US" sz="2400">
                <a:latin typeface="楷体_GB2312" pitchFamily="49" charset="-122"/>
                <a:ea typeface="楷体_GB2312" pitchFamily="49" charset="-122"/>
              </a:rPr>
              <a:t>继承了其它类属性和方法的类称为</a:t>
            </a:r>
            <a:r>
              <a:rPr kumimoji="1" lang="zh-CN" altLang="en-US" sz="2400">
                <a:solidFill>
                  <a:srgbClr val="FF0000"/>
                </a:solidFill>
                <a:latin typeface="楷体_GB2312" pitchFamily="49" charset="-122"/>
                <a:ea typeface="楷体_GB2312" pitchFamily="49" charset="-122"/>
              </a:rPr>
              <a:t>子类</a:t>
            </a:r>
            <a:r>
              <a:rPr kumimoji="1" lang="zh-CN" altLang="en-US" sz="2400">
                <a:latin typeface="楷体_GB2312" pitchFamily="49" charset="-122"/>
                <a:ea typeface="楷体_GB2312" pitchFamily="49" charset="-122"/>
              </a:rPr>
              <a:t>，被继承的类称为</a:t>
            </a:r>
            <a:r>
              <a:rPr kumimoji="1" lang="zh-CN" altLang="en-US" sz="2400">
                <a:solidFill>
                  <a:srgbClr val="FF0000"/>
                </a:solidFill>
                <a:latin typeface="楷体_GB2312" pitchFamily="49" charset="-122"/>
                <a:ea typeface="楷体_GB2312" pitchFamily="49" charset="-122"/>
              </a:rPr>
              <a:t>父类</a:t>
            </a:r>
            <a:r>
              <a:rPr kumimoji="1" lang="zh-CN" altLang="en-US" sz="2400">
                <a:latin typeface="楷体_GB2312" pitchFamily="49" charset="-122"/>
                <a:ea typeface="楷体_GB2312" pitchFamily="49" charset="-122"/>
              </a:rPr>
              <a:t>或</a:t>
            </a:r>
            <a:r>
              <a:rPr kumimoji="1" lang="zh-CN" altLang="en-US" sz="2400">
                <a:solidFill>
                  <a:srgbClr val="FF0000"/>
                </a:solidFill>
                <a:latin typeface="楷体_GB2312" pitchFamily="49" charset="-122"/>
                <a:ea typeface="楷体_GB2312" pitchFamily="49" charset="-122"/>
              </a:rPr>
              <a:t>超类</a:t>
            </a:r>
            <a:r>
              <a:rPr kumimoji="1" lang="zh-CN" altLang="en-US" sz="2400">
                <a:latin typeface="楷体_GB2312" pitchFamily="49" charset="-122"/>
                <a:ea typeface="楷体_GB2312" pitchFamily="49" charset="-122"/>
              </a:rPr>
              <a:t>。</a:t>
            </a:r>
            <a:endParaRPr kumimoji="1"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endParaRPr kumimoji="1"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kumimoji="1" lang="zh-CN" altLang="en-US" sz="2400">
                <a:latin typeface="楷体_GB2312" pitchFamily="49" charset="-122"/>
                <a:ea typeface="楷体_GB2312" pitchFamily="49" charset="-122"/>
              </a:rPr>
              <a:t>子类复用父类属性和方法的过程，称为</a:t>
            </a:r>
            <a:r>
              <a:rPr kumimoji="1" lang="zh-CN" altLang="en-US" sz="2400">
                <a:solidFill>
                  <a:srgbClr val="FF0000"/>
                </a:solidFill>
                <a:latin typeface="楷体_GB2312" pitchFamily="49" charset="-122"/>
                <a:ea typeface="楷体_GB2312" pitchFamily="49" charset="-122"/>
              </a:rPr>
              <a:t>继承</a:t>
            </a:r>
            <a:r>
              <a:rPr kumimoji="1" lang="zh-CN" altLang="en-US" sz="2400">
                <a:latin typeface="楷体_GB2312" pitchFamily="49" charset="-122"/>
                <a:ea typeface="楷体_GB2312" pitchFamily="49" charset="-122"/>
              </a:rPr>
              <a:t>或</a:t>
            </a:r>
            <a:r>
              <a:rPr kumimoji="1" lang="zh-CN" altLang="en-US" sz="2400">
                <a:solidFill>
                  <a:srgbClr val="FF0000"/>
                </a:solidFill>
                <a:latin typeface="楷体_GB2312" pitchFamily="49" charset="-122"/>
                <a:ea typeface="楷体_GB2312" pitchFamily="49" charset="-122"/>
              </a:rPr>
              <a:t>泛化</a:t>
            </a:r>
            <a:r>
              <a:rPr kumimoji="1" lang="zh-CN" altLang="en-US" sz="2400">
                <a:latin typeface="楷体_GB2312" pitchFamily="49" charset="-122"/>
                <a:ea typeface="楷体_GB2312" pitchFamily="49" charset="-122"/>
              </a:rPr>
              <a:t>。</a:t>
            </a:r>
            <a:endParaRPr kumimoji="1" lang="zh-CN" altLang="en-US" sz="2400">
              <a:latin typeface="楷体_GB2312" pitchFamily="49" charset="-122"/>
              <a:ea typeface="楷体_GB2312" pitchFamily="49" charset="-122"/>
            </a:endParaRPr>
          </a:p>
        </p:txBody>
      </p:sp>
      <p:pic>
        <p:nvPicPr>
          <p:cNvPr id="263172" name="Picture 4"/>
          <p:cNvPicPr>
            <a:picLocks noChangeAspect="1" noChangeArrowheads="1"/>
          </p:cNvPicPr>
          <p:nvPr/>
        </p:nvPicPr>
        <p:blipFill>
          <a:blip r:embed="rId1"/>
          <a:srcRect/>
          <a:stretch>
            <a:fillRect/>
          </a:stretch>
        </p:blipFill>
        <p:spPr bwMode="auto">
          <a:xfrm>
            <a:off x="5761038" y="2057400"/>
            <a:ext cx="1706562" cy="4419600"/>
          </a:xfrm>
          <a:prstGeom prst="rect">
            <a:avLst/>
          </a:prstGeom>
          <a:noFill/>
          <a:ln w="9525">
            <a:noFill/>
            <a:miter lim="800000"/>
            <a:headEnd/>
            <a:tailEnd/>
          </a:ln>
        </p:spPr>
      </p:pic>
      <p:sp>
        <p:nvSpPr>
          <p:cNvPr id="43012" name="Text Box 6"/>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63175" name="Text Box 7"/>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、继承</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9A418D99-CB30-4156-B7ED-BC1B6B485FEC}"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3172"/>
                                        </p:tgtEl>
                                        <p:attrNameLst>
                                          <p:attrName>style.visibility</p:attrName>
                                        </p:attrNameLst>
                                      </p:cBhvr>
                                      <p:to>
                                        <p:strVal val="visible"/>
                                      </p:to>
                                    </p:set>
                                    <p:anim calcmode="lin" valueType="num">
                                      <p:cBhvr additive="base">
                                        <p:cTn id="7" dur="500" fill="hold"/>
                                        <p:tgtEl>
                                          <p:spTgt spid="263172"/>
                                        </p:tgtEl>
                                        <p:attrNameLst>
                                          <p:attrName>ppt_x</p:attrName>
                                        </p:attrNameLst>
                                      </p:cBhvr>
                                      <p:tavLst>
                                        <p:tav tm="0">
                                          <p:val>
                                            <p:strVal val="#ppt_x"/>
                                          </p:val>
                                        </p:tav>
                                        <p:tav tm="100000">
                                          <p:val>
                                            <p:strVal val="#ppt_x"/>
                                          </p:val>
                                        </p:tav>
                                      </p:tavLst>
                                    </p:anim>
                                    <p:anim calcmode="lin" valueType="num">
                                      <p:cBhvr additive="base">
                                        <p:cTn id="8" dur="500" fill="hold"/>
                                        <p:tgtEl>
                                          <p:spTgt spid="2631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4" presetClass="entr" presetSubtype="0" fill="hold" grpId="0" nodeType="clickEffect">
                                  <p:stCondLst>
                                    <p:cond delay="0"/>
                                  </p:stCondLst>
                                  <p:childTnLst>
                                    <p:set>
                                      <p:cBhvr>
                                        <p:cTn id="12" dur="1" fill="hold">
                                          <p:stCondLst>
                                            <p:cond delay="0"/>
                                          </p:stCondLst>
                                        </p:cTn>
                                        <p:tgtEl>
                                          <p:spTgt spid="263171">
                                            <p:txEl>
                                              <p:pRg st="1" end="1"/>
                                            </p:txEl>
                                          </p:spTgt>
                                        </p:tgtEl>
                                        <p:attrNameLst>
                                          <p:attrName>style.visibility</p:attrName>
                                        </p:attrNameLst>
                                      </p:cBhvr>
                                      <p:to>
                                        <p:strVal val="visible"/>
                                      </p:to>
                                    </p:set>
                                    <p:anim to="" calcmode="lin" valueType="num">
                                      <p:cBhvr>
                                        <p:cTn id="13" dur="1" fill="hold"/>
                                        <p:tgtEl>
                                          <p:spTgt spid="263171">
                                            <p:txEl>
                                              <p:pRg st="1" end="1"/>
                                            </p:txEl>
                                          </p:spTgt>
                                        </p:tgtEl>
                                      </p:cBhvr>
                                    </p:anim>
                                  </p:childTnLst>
                                </p:cTn>
                              </p:par>
                            </p:childTnLst>
                          </p:cTn>
                        </p:par>
                      </p:childTnLst>
                    </p:cTn>
                  </p:par>
                  <p:par>
                    <p:cTn id="14" fill="hold">
                      <p:stCondLst>
                        <p:cond delay="indefinite"/>
                      </p:stCondLst>
                      <p:childTnLst>
                        <p:par>
                          <p:cTn id="15" fill="hold">
                            <p:stCondLst>
                              <p:cond delay="0"/>
                            </p:stCondLst>
                            <p:childTnLst>
                              <p:par>
                                <p:cTn id="16" presetID="24" presetClass="entr" presetSubtype="0" fill="hold" grpId="0" nodeType="clickEffect">
                                  <p:stCondLst>
                                    <p:cond delay="0"/>
                                  </p:stCondLst>
                                  <p:childTnLst>
                                    <p:set>
                                      <p:cBhvr>
                                        <p:cTn id="17" dur="1" fill="hold">
                                          <p:stCondLst>
                                            <p:cond delay="0"/>
                                          </p:stCondLst>
                                        </p:cTn>
                                        <p:tgtEl>
                                          <p:spTgt spid="263171">
                                            <p:txEl>
                                              <p:pRg st="3" end="3"/>
                                            </p:txEl>
                                          </p:spTgt>
                                        </p:tgtEl>
                                        <p:attrNameLst>
                                          <p:attrName>style.visibility</p:attrName>
                                        </p:attrNameLst>
                                      </p:cBhvr>
                                      <p:to>
                                        <p:strVal val="visible"/>
                                      </p:to>
                                    </p:set>
                                    <p:anim to="" calcmode="lin" valueType="num">
                                      <p:cBhvr>
                                        <p:cTn id="18" dur="1" fill="hold"/>
                                        <p:tgtEl>
                                          <p:spTgt spid="263171">
                                            <p:txEl>
                                              <p:pRg st="3" end="3"/>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1"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3" name="Text Box 3"/>
          <p:cNvSpPr txBox="1">
            <a:spLocks noChangeArrowheads="1"/>
          </p:cNvSpPr>
          <p:nvPr/>
        </p:nvSpPr>
        <p:spPr bwMode="auto">
          <a:xfrm>
            <a:off x="623888" y="2444750"/>
            <a:ext cx="8139112" cy="334645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kumimoji="1" lang="zh-CN" altLang="en-US" sz="2400" b="1">
                <a:latin typeface="Gulim" pitchFamily="34" charset="-127"/>
              </a:rPr>
              <a:t>   </a:t>
            </a:r>
            <a:r>
              <a:rPr lang="zh-CN" altLang="en-US" sz="2400" b="1" u="sng">
                <a:solidFill>
                  <a:srgbClr val="660066"/>
                </a:solidFill>
                <a:latin typeface="楷体_GB2312" pitchFamily="49" charset="-122"/>
                <a:ea typeface="楷体_GB2312" pitchFamily="49" charset="-122"/>
              </a:rPr>
              <a:t>继承</a:t>
            </a:r>
            <a:r>
              <a:rPr lang="zh-CN" altLang="en-US" sz="2400">
                <a:latin typeface="楷体_GB2312" pitchFamily="49" charset="-122"/>
                <a:ea typeface="楷体_GB2312" pitchFamily="49" charset="-122"/>
              </a:rPr>
              <a:t>是一种连接类与类之间的层次模型</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  </a:t>
            </a:r>
            <a:r>
              <a:rPr lang="zh-CN" altLang="en-US" sz="2400" b="1" u="sng">
                <a:solidFill>
                  <a:srgbClr val="660066"/>
                </a:solidFill>
                <a:latin typeface="楷体_GB2312" pitchFamily="49" charset="-122"/>
                <a:ea typeface="楷体_GB2312" pitchFamily="49" charset="-122"/>
              </a:rPr>
              <a:t>继承</a:t>
            </a:r>
            <a:r>
              <a:rPr lang="zh-CN" altLang="en-US" sz="2400">
                <a:latin typeface="楷体_GB2312" pitchFamily="49" charset="-122"/>
                <a:ea typeface="楷体_GB2312" pitchFamily="49" charset="-122"/>
              </a:rPr>
              <a:t>意味着</a:t>
            </a:r>
            <a:r>
              <a:rPr lang="zh-CN" altLang="en-US" sz="2400">
                <a:solidFill>
                  <a:srgbClr val="FF0000"/>
                </a:solidFill>
                <a:ea typeface="楷体_GB2312" pitchFamily="49" charset="-122"/>
              </a:rPr>
              <a:t>“</a:t>
            </a:r>
            <a:r>
              <a:rPr lang="zh-CN" altLang="en-US" sz="2400">
                <a:solidFill>
                  <a:srgbClr val="FF0000"/>
                </a:solidFill>
                <a:latin typeface="楷体_GB2312" pitchFamily="49" charset="-122"/>
                <a:ea typeface="楷体_GB2312" pitchFamily="49" charset="-122"/>
              </a:rPr>
              <a:t>自动地拥有</a:t>
            </a:r>
            <a:r>
              <a:rPr lang="zh-CN" altLang="en-US" sz="2400">
                <a:solidFill>
                  <a:srgbClr val="FF0000"/>
                </a:solidFill>
                <a:ea typeface="楷体_GB2312" pitchFamily="49" charset="-122"/>
              </a:rPr>
              <a:t>”</a:t>
            </a:r>
            <a:r>
              <a:rPr lang="zh-CN" altLang="en-US" sz="2400">
                <a:latin typeface="楷体_GB2312" pitchFamily="49" charset="-122"/>
                <a:ea typeface="楷体_GB2312" pitchFamily="49" charset="-122"/>
              </a:rPr>
              <a:t>或</a:t>
            </a:r>
            <a:r>
              <a:rPr lang="zh-CN" altLang="en-US" sz="2400">
                <a:solidFill>
                  <a:srgbClr val="FF0000"/>
                </a:solidFill>
                <a:ea typeface="楷体_GB2312" pitchFamily="49" charset="-122"/>
              </a:rPr>
              <a:t>“</a:t>
            </a:r>
            <a:r>
              <a:rPr lang="zh-CN" altLang="en-US" sz="2400">
                <a:solidFill>
                  <a:srgbClr val="FF0000"/>
                </a:solidFill>
                <a:latin typeface="楷体_GB2312" pitchFamily="49" charset="-122"/>
                <a:ea typeface="楷体_GB2312" pitchFamily="49" charset="-122"/>
              </a:rPr>
              <a:t>隐含地复制</a:t>
            </a:r>
            <a:r>
              <a:rPr lang="zh-CN" altLang="en-US" sz="2400">
                <a:solidFill>
                  <a:srgbClr val="FF0000"/>
                </a:solidFill>
                <a:ea typeface="楷体_GB2312" pitchFamily="49" charset="-122"/>
              </a:rPr>
              <a:t>”</a:t>
            </a:r>
            <a:r>
              <a:rPr lang="zh-CN" altLang="en-US" sz="2400">
                <a:latin typeface="楷体_GB2312" pitchFamily="49" charset="-122"/>
                <a:ea typeface="楷体_GB2312" pitchFamily="49" charset="-122"/>
              </a:rPr>
              <a:t>，即在特殊类中不必重新对已经在一般类中所定义过的属性和行为进行定义，而是特殊类自动地拥有一般类的属性和行为</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  </a:t>
            </a:r>
            <a:r>
              <a:rPr lang="zh-CN" altLang="en-US" sz="2400" b="1" u="sng">
                <a:solidFill>
                  <a:srgbClr val="660066"/>
                </a:solidFill>
                <a:latin typeface="楷体_GB2312" pitchFamily="49" charset="-122"/>
                <a:ea typeface="楷体_GB2312" pitchFamily="49" charset="-122"/>
              </a:rPr>
              <a:t>继承</a:t>
            </a:r>
            <a:r>
              <a:rPr lang="zh-CN" altLang="en-US" sz="2400">
                <a:latin typeface="楷体_GB2312" pitchFamily="49" charset="-122"/>
                <a:ea typeface="楷体_GB2312" pitchFamily="49" charset="-122"/>
              </a:rPr>
              <a:t>对类的</a:t>
            </a:r>
            <a:r>
              <a:rPr lang="zh-CN" altLang="en-US" sz="2400">
                <a:solidFill>
                  <a:srgbClr val="FF0000"/>
                </a:solidFill>
                <a:latin typeface="楷体_GB2312" pitchFamily="49" charset="-122"/>
                <a:ea typeface="楷体_GB2312" pitchFamily="49" charset="-122"/>
              </a:rPr>
              <a:t>重用性</a:t>
            </a:r>
            <a:r>
              <a:rPr lang="zh-CN" altLang="en-US" sz="2400">
                <a:latin typeface="楷体_GB2312" pitchFamily="49" charset="-122"/>
                <a:ea typeface="楷体_GB2312" pitchFamily="49" charset="-122"/>
              </a:rPr>
              <a:t>提供了一种明确表述共性的方法，即一个特殊类既有自己定义的属性和方法，又有继承下来的属性和行为</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  </a:t>
            </a:r>
            <a:r>
              <a:rPr lang="zh-CN" altLang="en-US" sz="2400" b="1" u="sng">
                <a:solidFill>
                  <a:srgbClr val="660066"/>
                </a:solidFill>
                <a:latin typeface="楷体_GB2312" pitchFamily="49" charset="-122"/>
                <a:ea typeface="楷体_GB2312" pitchFamily="49" charset="-122"/>
              </a:rPr>
              <a:t>继承</a:t>
            </a:r>
            <a:r>
              <a:rPr lang="zh-CN" altLang="en-US" sz="2400">
                <a:latin typeface="楷体_GB2312" pitchFamily="49" charset="-122"/>
                <a:ea typeface="楷体_GB2312" pitchFamily="49" charset="-122"/>
              </a:rPr>
              <a:t>是</a:t>
            </a:r>
            <a:r>
              <a:rPr lang="zh-CN" altLang="en-US" sz="2400">
                <a:solidFill>
                  <a:srgbClr val="FF0000"/>
                </a:solidFill>
                <a:latin typeface="楷体_GB2312" pitchFamily="49" charset="-122"/>
                <a:ea typeface="楷体_GB2312" pitchFamily="49" charset="-122"/>
              </a:rPr>
              <a:t>传递</a:t>
            </a:r>
            <a:r>
              <a:rPr lang="zh-CN" altLang="en-US" sz="2400">
                <a:latin typeface="楷体_GB2312" pitchFamily="49" charset="-122"/>
                <a:ea typeface="楷体_GB2312" pitchFamily="49" charset="-122"/>
              </a:rPr>
              <a:t>的</a:t>
            </a:r>
            <a:endParaRPr lang="zh-CN" altLang="en-US" sz="2400">
              <a:latin typeface="楷体_GB2312" pitchFamily="49" charset="-122"/>
              <a:ea typeface="楷体_GB2312" pitchFamily="49" charset="-122"/>
            </a:endParaRPr>
          </a:p>
        </p:txBody>
      </p:sp>
      <p:sp>
        <p:nvSpPr>
          <p:cNvPr id="44035" name="Text Box 5"/>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61126" name="Text Box 6"/>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、继承</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A7227181-B0B4-4B6D-AC14-33CEE76E61A6}"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61123">
                                            <p:txEl>
                                              <p:pRg st="0" end="0"/>
                                            </p:txEl>
                                          </p:spTgt>
                                        </p:tgtEl>
                                        <p:attrNameLst>
                                          <p:attrName>style.visibility</p:attrName>
                                        </p:attrNameLst>
                                      </p:cBhvr>
                                      <p:to>
                                        <p:strVal val="visible"/>
                                      </p:to>
                                    </p:set>
                                    <p:animEffect transition="in" filter="wipe(down)">
                                      <p:cBhvr>
                                        <p:cTn id="7" dur="500"/>
                                        <p:tgtEl>
                                          <p:spTgt spid="261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1123">
                                            <p:txEl>
                                              <p:pRg st="1" end="1"/>
                                            </p:txEl>
                                          </p:spTgt>
                                        </p:tgtEl>
                                        <p:attrNameLst>
                                          <p:attrName>style.visibility</p:attrName>
                                        </p:attrNameLst>
                                      </p:cBhvr>
                                      <p:to>
                                        <p:strVal val="visible"/>
                                      </p:to>
                                    </p:set>
                                    <p:anim calcmode="lin" valueType="num">
                                      <p:cBhvr additive="base">
                                        <p:cTn id="12" dur="500" fill="hold"/>
                                        <p:tgtEl>
                                          <p:spTgt spid="26112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61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261123">
                                            <p:txEl>
                                              <p:pRg st="2" end="2"/>
                                            </p:txEl>
                                          </p:spTgt>
                                        </p:tgtEl>
                                        <p:attrNameLst>
                                          <p:attrName>style.visibility</p:attrName>
                                        </p:attrNameLst>
                                      </p:cBhvr>
                                      <p:to>
                                        <p:strVal val="visible"/>
                                      </p:to>
                                    </p:set>
                                    <p:animEffect transition="in" filter="box(in)">
                                      <p:cBhvr>
                                        <p:cTn id="18" dur="500"/>
                                        <p:tgtEl>
                                          <p:spTgt spid="26112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261123">
                                            <p:txEl>
                                              <p:pRg st="3" end="3"/>
                                            </p:txEl>
                                          </p:spTgt>
                                        </p:tgtEl>
                                        <p:attrNameLst>
                                          <p:attrName>style.visibility</p:attrName>
                                        </p:attrNameLst>
                                      </p:cBhvr>
                                      <p:to>
                                        <p:strVal val="visible"/>
                                      </p:to>
                                    </p:set>
                                    <p:animEffect transition="in" filter="diamond(in)">
                                      <p:cBhvr>
                                        <p:cTn id="23" dur="2000"/>
                                        <p:tgtEl>
                                          <p:spTgt spid="261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7" name="Text Box 3"/>
          <p:cNvSpPr txBox="1">
            <a:spLocks noChangeArrowheads="1"/>
          </p:cNvSpPr>
          <p:nvPr/>
        </p:nvSpPr>
        <p:spPr bwMode="auto">
          <a:xfrm>
            <a:off x="623888" y="2438400"/>
            <a:ext cx="8062912" cy="360045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Char char="Ø"/>
            </a:pPr>
            <a:r>
              <a:rPr kumimoji="1" lang="zh-CN" altLang="en-US" sz="2400" b="1">
                <a:latin typeface="Gulim" pitchFamily="34" charset="-127"/>
              </a:rPr>
              <a:t>   </a:t>
            </a:r>
            <a:r>
              <a:rPr lang="zh-CN" altLang="en-US" sz="2400">
                <a:latin typeface="楷体_GB2312" pitchFamily="49" charset="-122"/>
                <a:ea typeface="楷体_GB2312" pitchFamily="49" charset="-122"/>
              </a:rPr>
              <a:t>使子类能够比不使用继承直接进行描述的类更加</a:t>
            </a:r>
            <a:r>
              <a:rPr lang="zh-CN" altLang="en-US" sz="2400">
                <a:solidFill>
                  <a:srgbClr val="FF0000"/>
                </a:solidFill>
                <a:latin typeface="楷体_GB2312" pitchFamily="49" charset="-122"/>
                <a:ea typeface="楷体_GB2312" pitchFamily="49" charset="-122"/>
              </a:rPr>
              <a:t>简洁</a:t>
            </a:r>
            <a:r>
              <a:rPr lang="zh-CN" altLang="en-US" sz="2400">
                <a:latin typeface="楷体_GB2312" pitchFamily="49" charset="-122"/>
                <a:ea typeface="楷体_GB2312" pitchFamily="49" charset="-122"/>
              </a:rPr>
              <a:t>：子类只需要描述哪些与父类不同的地方，不使用继承而去直接描述时，需要将父类的属性和行为全部再进行描述；</a:t>
            </a:r>
            <a:endParaRPr lang="en-US" altLang="zh-CN"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  能够</a:t>
            </a:r>
            <a:r>
              <a:rPr lang="zh-CN" altLang="en-US" sz="2400">
                <a:solidFill>
                  <a:srgbClr val="FF0000"/>
                </a:solidFill>
                <a:latin typeface="楷体_GB2312" pitchFamily="49" charset="-122"/>
                <a:ea typeface="楷体_GB2312" pitchFamily="49" charset="-122"/>
              </a:rPr>
              <a:t>重用</a:t>
            </a:r>
            <a:r>
              <a:rPr lang="zh-CN" altLang="en-US" sz="2400">
                <a:latin typeface="楷体_GB2312" pitchFamily="49" charset="-122"/>
                <a:ea typeface="楷体_GB2312" pitchFamily="49" charset="-122"/>
              </a:rPr>
              <a:t>和</a:t>
            </a:r>
            <a:r>
              <a:rPr lang="zh-CN" altLang="en-US" sz="2400">
                <a:solidFill>
                  <a:srgbClr val="FF0000"/>
                </a:solidFill>
                <a:latin typeface="楷体_GB2312" pitchFamily="49" charset="-122"/>
                <a:ea typeface="楷体_GB2312" pitchFamily="49" charset="-122"/>
              </a:rPr>
              <a:t>扩展</a:t>
            </a:r>
            <a:r>
              <a:rPr lang="zh-CN" altLang="en-US" sz="2400">
                <a:latin typeface="楷体_GB2312" pitchFamily="49" charset="-122"/>
                <a:ea typeface="楷体_GB2312" pitchFamily="49" charset="-122"/>
              </a:rPr>
              <a:t>现有类库资源：当使用已封装好的类库时，如果需要对某个类进行扩展，通过继承的方式很容易实现，而不需要再去重新编写；</a:t>
            </a:r>
            <a:endParaRPr lang="zh-CN" altLang="en-US" sz="24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zh-CN" altLang="en-US" sz="2400">
                <a:latin typeface="楷体_GB2312" pitchFamily="49" charset="-122"/>
                <a:ea typeface="楷体_GB2312" pitchFamily="49" charset="-122"/>
              </a:rPr>
              <a:t>  使软件</a:t>
            </a:r>
            <a:r>
              <a:rPr lang="zh-CN" altLang="en-US" sz="2400">
                <a:solidFill>
                  <a:srgbClr val="FF0000"/>
                </a:solidFill>
                <a:latin typeface="楷体_GB2312" pitchFamily="49" charset="-122"/>
                <a:ea typeface="楷体_GB2312" pitchFamily="49" charset="-122"/>
              </a:rPr>
              <a:t>易于维护</a:t>
            </a:r>
            <a:r>
              <a:rPr lang="zh-CN" altLang="en-US" sz="2400">
                <a:latin typeface="楷体_GB2312" pitchFamily="49" charset="-122"/>
                <a:ea typeface="楷体_GB2312" pitchFamily="49" charset="-122"/>
              </a:rPr>
              <a:t>和修改：当要修改、增加某一属性和行为时，只需要在相应地类中进行改动，而它派生的所有类将自动地做了相应修改</a:t>
            </a:r>
            <a:endParaRPr lang="zh-CN" altLang="en-US" sz="2400">
              <a:latin typeface="楷体_GB2312" pitchFamily="49" charset="-122"/>
              <a:ea typeface="楷体_GB2312" pitchFamily="49" charset="-122"/>
            </a:endParaRPr>
          </a:p>
        </p:txBody>
      </p:sp>
      <p:sp>
        <p:nvSpPr>
          <p:cNvPr id="45059" name="Text Box 5"/>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62150" name="Text Box 6"/>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2</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、继承</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AA260CBC-FD59-4B35-980F-9018FCA6CB32}"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62147">
                                            <p:txEl>
                                              <p:pRg st="0" end="0"/>
                                            </p:txEl>
                                          </p:spTgt>
                                        </p:tgtEl>
                                        <p:attrNameLst>
                                          <p:attrName>style.visibility</p:attrName>
                                        </p:attrNameLst>
                                      </p:cBhvr>
                                      <p:to>
                                        <p:strVal val="visible"/>
                                      </p:to>
                                    </p:set>
                                    <p:animEffect transition="in" filter="wipe(down)">
                                      <p:cBhvr>
                                        <p:cTn id="7" dur="500"/>
                                        <p:tgtEl>
                                          <p:spTgt spid="262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2147">
                                            <p:txEl>
                                              <p:pRg st="1" end="1"/>
                                            </p:txEl>
                                          </p:spTgt>
                                        </p:tgtEl>
                                        <p:attrNameLst>
                                          <p:attrName>style.visibility</p:attrName>
                                        </p:attrNameLst>
                                      </p:cBhvr>
                                      <p:to>
                                        <p:strVal val="visible"/>
                                      </p:to>
                                    </p:set>
                                    <p:animEffect transition="in" filter="blinds(horizontal)">
                                      <p:cBhvr>
                                        <p:cTn id="12" dur="500"/>
                                        <p:tgtEl>
                                          <p:spTgt spid="262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62147">
                                            <p:txEl>
                                              <p:pRg st="2" end="2"/>
                                            </p:txEl>
                                          </p:spTgt>
                                        </p:tgtEl>
                                        <p:attrNameLst>
                                          <p:attrName>style.visibility</p:attrName>
                                        </p:attrNameLst>
                                      </p:cBhvr>
                                      <p:to>
                                        <p:strVal val="visible"/>
                                      </p:to>
                                    </p:set>
                                    <p:anim calcmode="lin" valueType="num">
                                      <p:cBhvr additive="base">
                                        <p:cTn id="17" dur="500" fill="hold"/>
                                        <p:tgtEl>
                                          <p:spTgt spid="26214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6214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5"/>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64198" name="Text Box 6"/>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pic>
        <p:nvPicPr>
          <p:cNvPr id="46084" name="Picture 7"/>
          <p:cNvPicPr>
            <a:picLocks noChangeAspect="1" noChangeArrowheads="1"/>
          </p:cNvPicPr>
          <p:nvPr/>
        </p:nvPicPr>
        <p:blipFill>
          <a:blip r:embed="rId1"/>
          <a:srcRect/>
          <a:stretch>
            <a:fillRect/>
          </a:stretch>
        </p:blipFill>
        <p:spPr bwMode="auto">
          <a:xfrm>
            <a:off x="1066800" y="2347913"/>
            <a:ext cx="7110413" cy="4510087"/>
          </a:xfrm>
          <a:prstGeom prst="rect">
            <a:avLst/>
          </a:prstGeom>
          <a:noFill/>
          <a:ln w="9525" algn="ctr">
            <a:noFill/>
            <a:miter lim="800000"/>
            <a:headEnd/>
            <a:tailEnd/>
          </a:ln>
        </p:spPr>
      </p:pic>
      <p:sp>
        <p:nvSpPr>
          <p:cNvPr id="5" name="灯片编号占位符 4"/>
          <p:cNvSpPr>
            <a:spLocks noGrp="1"/>
          </p:cNvSpPr>
          <p:nvPr>
            <p:ph type="sldNum" sz="quarter" idx="10"/>
          </p:nvPr>
        </p:nvSpPr>
        <p:spPr/>
        <p:txBody>
          <a:bodyPr/>
          <a:lstStyle/>
          <a:p>
            <a:pPr>
              <a:defRPr/>
            </a:pPr>
            <a:r>
              <a:rPr lang="zh-CN" altLang="en-US" smtClean="0"/>
              <a:t>第</a:t>
            </a:r>
            <a:fld id="{315D0C43-5CC1-410F-946A-1C9CDFB57F69}"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74435"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grpSp>
        <p:nvGrpSpPr>
          <p:cNvPr id="47108" name="Group 7"/>
          <p:cNvGrpSpPr/>
          <p:nvPr/>
        </p:nvGrpSpPr>
        <p:grpSpPr bwMode="auto">
          <a:xfrm>
            <a:off x="685800" y="2438400"/>
            <a:ext cx="7804150" cy="4392613"/>
            <a:chOff x="731" y="799"/>
            <a:chExt cx="4916" cy="2767"/>
          </a:xfrm>
        </p:grpSpPr>
        <p:pic>
          <p:nvPicPr>
            <p:cNvPr id="47110" name="Picture 5"/>
            <p:cNvPicPr>
              <a:picLocks noChangeAspect="1" noChangeArrowheads="1"/>
            </p:cNvPicPr>
            <p:nvPr/>
          </p:nvPicPr>
          <p:blipFill>
            <a:blip r:embed="rId1"/>
            <a:srcRect/>
            <a:stretch>
              <a:fillRect/>
            </a:stretch>
          </p:blipFill>
          <p:spPr bwMode="auto">
            <a:xfrm>
              <a:off x="1156" y="799"/>
              <a:ext cx="3564" cy="1542"/>
            </a:xfrm>
            <a:prstGeom prst="rect">
              <a:avLst/>
            </a:prstGeom>
            <a:noFill/>
            <a:ln w="9525" algn="ctr">
              <a:noFill/>
              <a:miter lim="800000"/>
              <a:headEnd/>
              <a:tailEnd/>
            </a:ln>
          </p:spPr>
        </p:pic>
        <p:pic>
          <p:nvPicPr>
            <p:cNvPr id="47111" name="Picture 6"/>
            <p:cNvPicPr>
              <a:picLocks noChangeAspect="1" noChangeArrowheads="1"/>
            </p:cNvPicPr>
            <p:nvPr/>
          </p:nvPicPr>
          <p:blipFill>
            <a:blip r:embed="rId2"/>
            <a:srcRect/>
            <a:stretch>
              <a:fillRect/>
            </a:stretch>
          </p:blipFill>
          <p:spPr bwMode="auto">
            <a:xfrm>
              <a:off x="731" y="2570"/>
              <a:ext cx="4916" cy="996"/>
            </a:xfrm>
            <a:prstGeom prst="rect">
              <a:avLst/>
            </a:prstGeom>
            <a:noFill/>
            <a:ln w="9525" algn="ctr">
              <a:noFill/>
              <a:miter lim="800000"/>
              <a:headEnd/>
              <a:tailEnd/>
            </a:ln>
          </p:spPr>
        </p:pic>
      </p:grpSp>
      <p:sp>
        <p:nvSpPr>
          <p:cNvPr id="7" name="灯片编号占位符 6"/>
          <p:cNvSpPr>
            <a:spLocks noGrp="1"/>
          </p:cNvSpPr>
          <p:nvPr>
            <p:ph type="sldNum" sz="quarter" idx="10"/>
          </p:nvPr>
        </p:nvSpPr>
        <p:spPr/>
        <p:txBody>
          <a:bodyPr/>
          <a:lstStyle/>
          <a:p>
            <a:pPr>
              <a:defRPr/>
            </a:pPr>
            <a:r>
              <a:rPr lang="zh-CN" altLang="en-US" smtClean="0"/>
              <a:t>第</a:t>
            </a:r>
            <a:fld id="{EA30787C-CE5F-4E09-8ABB-C4551DAC4985}"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75459"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pic>
        <p:nvPicPr>
          <p:cNvPr id="48132" name="Picture 7"/>
          <p:cNvPicPr>
            <a:picLocks noChangeAspect="1" noChangeArrowheads="1"/>
          </p:cNvPicPr>
          <p:nvPr/>
        </p:nvPicPr>
        <p:blipFill>
          <a:blip r:embed="rId1"/>
          <a:srcRect l="12375" t="37013" r="26915" b="17662"/>
          <a:stretch>
            <a:fillRect/>
          </a:stretch>
        </p:blipFill>
        <p:spPr bwMode="auto">
          <a:xfrm>
            <a:off x="1692275" y="2403475"/>
            <a:ext cx="5735638" cy="4302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pPr>
              <a:defRPr/>
            </a:pPr>
            <a:r>
              <a:rPr lang="zh-CN" altLang="en-US" smtClean="0"/>
              <a:t>第</a:t>
            </a:r>
            <a:fld id="{A1F6214F-2A1F-4A59-8586-0CD9F7E7F2BB}"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08899" name="Text Box 3"/>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208900" name="Text Box 4"/>
          <p:cNvSpPr txBox="1">
            <a:spLocks noChangeArrowheads="1"/>
          </p:cNvSpPr>
          <p:nvPr/>
        </p:nvSpPr>
        <p:spPr bwMode="auto">
          <a:xfrm>
            <a:off x="623888" y="2397125"/>
            <a:ext cx="7986712" cy="1354138"/>
          </a:xfrm>
          <a:prstGeom prst="rect">
            <a:avLst/>
          </a:prstGeom>
          <a:noFill/>
          <a:ln w="9525">
            <a:noFill/>
            <a:miter lim="800000"/>
          </a:ln>
        </p:spPr>
        <p:txBody>
          <a:bodyPr>
            <a:spAutoFit/>
          </a:bodyPr>
          <a:lstStyle/>
          <a:p>
            <a:pPr>
              <a:lnSpc>
                <a:spcPct val="115000"/>
              </a:lnSpc>
              <a:spcBef>
                <a:spcPct val="15000"/>
              </a:spcBef>
              <a:spcAft>
                <a:spcPct val="15000"/>
              </a:spcAft>
              <a:buFont typeface="Wingdings" panose="05000000000000000000" pitchFamily="2" charset="2"/>
              <a:buChar char="Ø"/>
            </a:pPr>
            <a:r>
              <a:rPr lang="zh-CN" altLang="en-US" sz="2400">
                <a:solidFill>
                  <a:srgbClr val="FF0000"/>
                </a:solidFill>
                <a:latin typeface="楷体_GB2312" pitchFamily="49" charset="-122"/>
                <a:ea typeface="楷体_GB2312" pitchFamily="49" charset="-122"/>
              </a:rPr>
              <a:t>多态性</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Polymorphism</a:t>
            </a:r>
            <a:r>
              <a:rPr lang="zh-CN" altLang="en-US" sz="2400">
                <a:latin typeface="楷体_GB2312" pitchFamily="49" charset="-122"/>
                <a:ea typeface="楷体_GB2312" pitchFamily="49" charset="-122"/>
              </a:rPr>
              <a:t>）是指在两个或多个属于相同类中同一函数名对应多个具有相似功能的不同函数，可以使用相同的调用方式来调用这些具有不同功能的同名函数。 </a:t>
            </a:r>
            <a:endParaRPr lang="zh-CN" altLang="en-US" sz="2400">
              <a:latin typeface="楷体_GB2312" pitchFamily="49" charset="-122"/>
              <a:ea typeface="楷体_GB2312" pitchFamily="49"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59304140-AB14-4BA1-8184-0F08D845F9E5}" type="slidenum">
              <a:rPr lang="zh-CN" altLang="en-US" smtClean="0"/>
            </a:fld>
            <a:r>
              <a:rPr lang="zh-CN" altLang="en-US" smtClean="0"/>
              <a:t>页</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208900">
                                            <p:txEl>
                                              <p:pRg st="0" end="0"/>
                                            </p:txEl>
                                          </p:spTgt>
                                        </p:tgtEl>
                                        <p:attrNameLst>
                                          <p:attrName>style.visibility</p:attrName>
                                        </p:attrNameLst>
                                      </p:cBhvr>
                                      <p:to>
                                        <p:strVal val="visible"/>
                                      </p:to>
                                    </p:set>
                                    <p:anim to="" calcmode="lin" valueType="num">
                                      <p:cBhvr>
                                        <p:cTn id="7" dur="1" fill="hold"/>
                                        <p:tgtEl>
                                          <p:spTgt spid="208900">
                                            <p:txEl>
                                              <p:pRg st="0" end="0"/>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0"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Text Box 2"/>
          <p:cNvSpPr txBox="1">
            <a:spLocks noChangeArrowheads="1"/>
          </p:cNvSpPr>
          <p:nvPr/>
        </p:nvSpPr>
        <p:spPr bwMode="auto">
          <a:xfrm>
            <a:off x="566738" y="2460625"/>
            <a:ext cx="7967662" cy="1844675"/>
          </a:xfrm>
          <a:prstGeom prst="rect">
            <a:avLst/>
          </a:prstGeom>
          <a:noFill/>
          <a:ln w="9525">
            <a:noFill/>
            <a:miter lim="800000"/>
          </a:ln>
          <a:effectLst/>
        </p:spPr>
        <p:txBody>
          <a:bodyPr>
            <a:spAutoFit/>
          </a:bodyPr>
          <a:lstStyle/>
          <a:p>
            <a:pPr>
              <a:spcBef>
                <a:spcPct val="20000"/>
              </a:spcBef>
              <a:spcAft>
                <a:spcPct val="20000"/>
              </a:spcAft>
              <a:buClr>
                <a:schemeClr val="tx2"/>
              </a:buClr>
              <a:buFont typeface="Wingdings" panose="05000000000000000000" pitchFamily="2" charset="2"/>
              <a:buChar char="¯"/>
              <a:defRP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 </a:t>
            </a:r>
            <a:r>
              <a:rPr lang="zh-CN" altLang="en-US" sz="2400">
                <a:solidFill>
                  <a:srgbClr val="000000"/>
                </a:solidFill>
                <a:latin typeface="楷体_GB2312" pitchFamily="49" charset="-122"/>
                <a:ea typeface="楷体_GB2312" pitchFamily="49" charset="-122"/>
                <a:cs typeface="Tahoma" panose="020B0604030504040204" pitchFamily="34" charset="0"/>
              </a:rPr>
              <a:t>多态性既可应用于变量（多态变量），又可应用于消息（多态消息）；</a:t>
            </a:r>
            <a:endParaRPr lang="zh-CN" altLang="en-US" sz="2400">
              <a:solidFill>
                <a:srgbClr val="000000"/>
              </a:solidFill>
              <a:latin typeface="楷体_GB2312" pitchFamily="49" charset="-122"/>
              <a:ea typeface="楷体_GB2312" pitchFamily="49" charset="-122"/>
              <a:cs typeface="Tahoma" panose="020B0604030504040204" pitchFamily="34" charset="0"/>
            </a:endParaRPr>
          </a:p>
          <a:p>
            <a:pPr>
              <a:spcBef>
                <a:spcPct val="20000"/>
              </a:spcBef>
              <a:spcAft>
                <a:spcPct val="20000"/>
              </a:spcAft>
              <a:buClr>
                <a:schemeClr val="tx2"/>
              </a:buClr>
              <a:buFont typeface="Wingdings" panose="05000000000000000000" pitchFamily="2" charset="2"/>
              <a:buChar char="¯"/>
              <a:defRPr/>
            </a:pPr>
            <a:r>
              <a:rPr lang="zh-CN" altLang="en-US" sz="2400">
                <a:solidFill>
                  <a:srgbClr val="000000"/>
                </a:solidFill>
                <a:latin typeface="楷体_GB2312" pitchFamily="49" charset="-122"/>
                <a:ea typeface="楷体_GB2312" pitchFamily="49" charset="-122"/>
                <a:cs typeface="Tahoma" panose="020B0604030504040204" pitchFamily="34" charset="0"/>
              </a:rPr>
              <a:t> </a:t>
            </a:r>
            <a:r>
              <a:rPr lang="zh-CN" altLang="en-US" sz="2400">
                <a:solidFill>
                  <a:srgbClr val="FF0000"/>
                </a:solidFill>
                <a:latin typeface="楷体_GB2312" pitchFamily="49" charset="-122"/>
                <a:ea typeface="楷体_GB2312" pitchFamily="49" charset="-122"/>
                <a:cs typeface="Tahoma" panose="020B0604030504040204" pitchFamily="34" charset="0"/>
              </a:rPr>
              <a:t>多态变量</a:t>
            </a:r>
            <a:r>
              <a:rPr lang="zh-CN" altLang="en-US" sz="2400">
                <a:solidFill>
                  <a:srgbClr val="000000"/>
                </a:solidFill>
                <a:latin typeface="楷体_GB2312" pitchFamily="49" charset="-122"/>
                <a:ea typeface="楷体_GB2312" pitchFamily="49" charset="-122"/>
                <a:cs typeface="Tahoma" panose="020B0604030504040204" pitchFamily="34" charset="0"/>
              </a:rPr>
              <a:t>表示值在不同的时刻有不同的类型；</a:t>
            </a:r>
            <a:endParaRPr lang="zh-CN" altLang="en-US" sz="2400">
              <a:solidFill>
                <a:srgbClr val="000000"/>
              </a:solidFill>
              <a:latin typeface="楷体_GB2312" pitchFamily="49" charset="-122"/>
              <a:ea typeface="楷体_GB2312" pitchFamily="49" charset="-122"/>
              <a:cs typeface="Tahoma" panose="020B0604030504040204" pitchFamily="34" charset="0"/>
            </a:endParaRPr>
          </a:p>
          <a:p>
            <a:pPr>
              <a:spcBef>
                <a:spcPct val="20000"/>
              </a:spcBef>
              <a:spcAft>
                <a:spcPct val="20000"/>
              </a:spcAft>
              <a:buClr>
                <a:schemeClr val="tx2"/>
              </a:buClr>
              <a:buFont typeface="Wingdings" panose="05000000000000000000" pitchFamily="2" charset="2"/>
              <a:buChar char="¯"/>
              <a:defRPr/>
            </a:pPr>
            <a:r>
              <a:rPr lang="zh-CN" altLang="en-US" sz="2400">
                <a:solidFill>
                  <a:srgbClr val="000000"/>
                </a:solidFill>
                <a:latin typeface="楷体_GB2312" pitchFamily="49" charset="-122"/>
                <a:ea typeface="楷体_GB2312" pitchFamily="49" charset="-122"/>
                <a:cs typeface="Tahoma" panose="020B0604030504040204" pitchFamily="34" charset="0"/>
              </a:rPr>
              <a:t> </a:t>
            </a:r>
            <a:r>
              <a:rPr lang="zh-CN" altLang="en-US" sz="2400">
                <a:solidFill>
                  <a:srgbClr val="FF0000"/>
                </a:solidFill>
                <a:latin typeface="楷体_GB2312" pitchFamily="49" charset="-122"/>
                <a:ea typeface="楷体_GB2312" pitchFamily="49" charset="-122"/>
                <a:cs typeface="Tahoma" panose="020B0604030504040204" pitchFamily="34" charset="0"/>
              </a:rPr>
              <a:t>多态消息</a:t>
            </a:r>
            <a:r>
              <a:rPr lang="zh-CN" altLang="en-US" sz="2400">
                <a:solidFill>
                  <a:srgbClr val="000000"/>
                </a:solidFill>
                <a:latin typeface="楷体_GB2312" pitchFamily="49" charset="-122"/>
                <a:ea typeface="楷体_GB2312" pitchFamily="49" charset="-122"/>
                <a:cs typeface="Tahoma" panose="020B0604030504040204" pitchFamily="34" charset="0"/>
              </a:rPr>
              <a:t>表示有多个方法与对象相关。</a:t>
            </a:r>
            <a:endParaRPr lang="zh-CN" altLang="en-US" sz="2400">
              <a:solidFill>
                <a:srgbClr val="000000"/>
              </a:solidFill>
              <a:latin typeface="楷体_GB2312" pitchFamily="49" charset="-122"/>
              <a:ea typeface="楷体_GB2312" pitchFamily="49" charset="-122"/>
              <a:cs typeface="Tahoma" panose="020B0604030504040204" pitchFamily="34" charset="0"/>
            </a:endParaRPr>
          </a:p>
        </p:txBody>
      </p:sp>
      <p:sp>
        <p:nvSpPr>
          <p:cNvPr id="50179" name="Text Box 3"/>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73412" name="Text Box 4"/>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5" name="灯片编号占位符 4"/>
          <p:cNvSpPr>
            <a:spLocks noGrp="1"/>
          </p:cNvSpPr>
          <p:nvPr>
            <p:ph type="sldNum" sz="quarter" idx="10"/>
          </p:nvPr>
        </p:nvSpPr>
        <p:spPr/>
        <p:txBody>
          <a:bodyPr/>
          <a:lstStyle/>
          <a:p>
            <a:pPr>
              <a:defRPr/>
            </a:pPr>
            <a:r>
              <a:rPr lang="zh-CN" altLang="en-US" smtClean="0"/>
              <a:t>第</a:t>
            </a:r>
            <a:fld id="{F8F7A211-79B7-4EFE-80A5-A32ACEE6B877}"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73410">
                                            <p:txEl>
                                              <p:pRg st="0" end="0"/>
                                            </p:txEl>
                                          </p:spTgt>
                                        </p:tgtEl>
                                        <p:attrNameLst>
                                          <p:attrName>style.visibility</p:attrName>
                                        </p:attrNameLst>
                                      </p:cBhvr>
                                      <p:to>
                                        <p:strVal val="visible"/>
                                      </p:to>
                                    </p:set>
                                    <p:animEffect transition="in" filter="checkerboard(across)">
                                      <p:cBhvr>
                                        <p:cTn id="7" dur="500"/>
                                        <p:tgtEl>
                                          <p:spTgt spid="2734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73410">
                                            <p:txEl>
                                              <p:pRg st="1" end="1"/>
                                            </p:txEl>
                                          </p:spTgt>
                                        </p:tgtEl>
                                        <p:attrNameLst>
                                          <p:attrName>style.visibility</p:attrName>
                                        </p:attrNameLst>
                                      </p:cBhvr>
                                      <p:to>
                                        <p:strVal val="visible"/>
                                      </p:to>
                                    </p:set>
                                    <p:animEffect transition="in" filter="checkerboard(across)">
                                      <p:cBhvr>
                                        <p:cTn id="12" dur="500"/>
                                        <p:tgtEl>
                                          <p:spTgt spid="2734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73410">
                                            <p:txEl>
                                              <p:pRg st="2" end="2"/>
                                            </p:txEl>
                                          </p:spTgt>
                                        </p:tgtEl>
                                        <p:attrNameLst>
                                          <p:attrName>style.visibility</p:attrName>
                                        </p:attrNameLst>
                                      </p:cBhvr>
                                      <p:to>
                                        <p:strVal val="visible"/>
                                      </p:to>
                                    </p:set>
                                    <p:animEffect transition="in" filter="checkerboard(across)">
                                      <p:cBhvr>
                                        <p:cTn id="17" dur="500"/>
                                        <p:tgtEl>
                                          <p:spTgt spid="2734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410"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Text Box 2"/>
          <p:cNvSpPr txBox="1">
            <a:spLocks noChangeArrowheads="1"/>
          </p:cNvSpPr>
          <p:nvPr/>
        </p:nvSpPr>
        <p:spPr bwMode="auto">
          <a:xfrm>
            <a:off x="928688" y="3025775"/>
            <a:ext cx="7224712" cy="457200"/>
          </a:xfrm>
          <a:prstGeom prst="rect">
            <a:avLst/>
          </a:prstGeom>
          <a:noFill/>
          <a:ln w="9525">
            <a:noFill/>
            <a:miter lim="800000"/>
          </a:ln>
        </p:spPr>
        <p:txBody>
          <a:bodyPr>
            <a:spAutoFit/>
          </a:bodyPr>
          <a:lstStyle/>
          <a:p>
            <a:pPr>
              <a:spcBef>
                <a:spcPct val="20000"/>
              </a:spcBef>
              <a:spcAft>
                <a:spcPct val="20000"/>
              </a:spcAft>
              <a:buClr>
                <a:schemeClr val="tx2"/>
              </a:buClr>
              <a:buFont typeface="Wingdings" panose="05000000000000000000" pitchFamily="2" charset="2"/>
              <a:buChar char="¯"/>
            </a:pPr>
            <a:r>
              <a:rPr lang="zh-CN" altLang="en-US" sz="2400">
                <a:solidFill>
                  <a:srgbClr val="000000"/>
                </a:solidFill>
                <a:latin typeface="楷体_GB2312" pitchFamily="49" charset="-122"/>
                <a:ea typeface="楷体_GB2312" pitchFamily="49" charset="-122"/>
                <a:cs typeface="Tahoma" panose="020B0604030504040204" pitchFamily="34" charset="0"/>
              </a:rPr>
              <a:t> 下面看一组变量的定义：</a:t>
            </a:r>
            <a:endParaRPr lang="zh-CN" altLang="en-US" sz="2400">
              <a:solidFill>
                <a:srgbClr val="000000"/>
              </a:solidFill>
              <a:latin typeface="楷体_GB2312" pitchFamily="49" charset="-122"/>
              <a:ea typeface="楷体_GB2312" pitchFamily="49" charset="-122"/>
              <a:cs typeface="Tahoma" panose="020B0604030504040204" pitchFamily="34" charset="0"/>
            </a:endParaRPr>
          </a:p>
        </p:txBody>
      </p:sp>
      <p:sp>
        <p:nvSpPr>
          <p:cNvPr id="265220" name="Text Box 4"/>
          <p:cNvSpPr txBox="1">
            <a:spLocks noChangeArrowheads="1"/>
          </p:cNvSpPr>
          <p:nvPr/>
        </p:nvSpPr>
        <p:spPr bwMode="auto">
          <a:xfrm>
            <a:off x="533400" y="2376488"/>
            <a:ext cx="8297863" cy="457200"/>
          </a:xfrm>
          <a:prstGeom prst="rect">
            <a:avLst/>
          </a:prstGeom>
          <a:noFill/>
          <a:ln w="9525">
            <a:noFill/>
            <a:miter lim="800000"/>
          </a:ln>
        </p:spPr>
        <p:txBody>
          <a:bodyPr>
            <a:spAutoFit/>
          </a:bodyPr>
          <a:lstStyle/>
          <a:p>
            <a:pPr>
              <a:spcBef>
                <a:spcPct val="15000"/>
              </a:spcBef>
              <a:spcAft>
                <a:spcPct val="15000"/>
              </a:spcAft>
              <a:buClr>
                <a:srgbClr val="FF0066"/>
              </a:buClr>
              <a:buFont typeface="Wingdings" panose="05000000000000000000" pitchFamily="2" charset="2"/>
              <a:buChar char="Ø"/>
            </a:pPr>
            <a:r>
              <a:rPr lang="zh-CN" altLang="en-US" sz="2400">
                <a:solidFill>
                  <a:srgbClr val="FF0000"/>
                </a:solidFill>
                <a:latin typeface="楷体_GB2312" pitchFamily="49" charset="-122"/>
                <a:ea typeface="楷体_GB2312" pitchFamily="49" charset="-122"/>
                <a:cs typeface="Tahoma" panose="020B0604030504040204" pitchFamily="34" charset="0"/>
              </a:rPr>
              <a:t>多态变量</a:t>
            </a:r>
            <a:endParaRPr lang="zh-CN" altLang="en-US" sz="2400">
              <a:solidFill>
                <a:srgbClr val="FF0000"/>
              </a:solidFill>
              <a:latin typeface="楷体_GB2312" pitchFamily="49" charset="-122"/>
              <a:ea typeface="楷体_GB2312" pitchFamily="49" charset="-122"/>
              <a:cs typeface="Tahoma" panose="020B0604030504040204" pitchFamily="34" charset="0"/>
            </a:endParaRPr>
          </a:p>
        </p:txBody>
      </p:sp>
      <p:pic>
        <p:nvPicPr>
          <p:cNvPr id="265221" name="Picture 5"/>
          <p:cNvPicPr>
            <a:picLocks noChangeAspect="1" noChangeArrowheads="1"/>
          </p:cNvPicPr>
          <p:nvPr/>
        </p:nvPicPr>
        <p:blipFill>
          <a:blip r:embed="rId1"/>
          <a:srcRect l="768" t="20049" r="9760" b="24451"/>
          <a:stretch>
            <a:fillRect/>
          </a:stretch>
        </p:blipFill>
        <p:spPr bwMode="auto">
          <a:xfrm>
            <a:off x="1339850" y="3673475"/>
            <a:ext cx="1546225" cy="439738"/>
          </a:xfrm>
          <a:prstGeom prst="rect">
            <a:avLst/>
          </a:prstGeom>
          <a:noFill/>
          <a:ln w="9525">
            <a:noFill/>
            <a:miter lim="800000"/>
            <a:headEnd/>
            <a:tailEnd/>
          </a:ln>
        </p:spPr>
      </p:pic>
      <p:pic>
        <p:nvPicPr>
          <p:cNvPr id="265222" name="Picture 6"/>
          <p:cNvPicPr>
            <a:picLocks noChangeAspect="1" noChangeArrowheads="1"/>
          </p:cNvPicPr>
          <p:nvPr/>
        </p:nvPicPr>
        <p:blipFill>
          <a:blip r:embed="rId2"/>
          <a:srcRect l="568" t="14391" b="30487"/>
          <a:stretch>
            <a:fillRect/>
          </a:stretch>
        </p:blipFill>
        <p:spPr bwMode="auto">
          <a:xfrm>
            <a:off x="1266825" y="4322763"/>
            <a:ext cx="2441575" cy="358775"/>
          </a:xfrm>
          <a:prstGeom prst="rect">
            <a:avLst/>
          </a:prstGeom>
          <a:noFill/>
          <a:ln w="9525">
            <a:noFill/>
            <a:miter lim="800000"/>
            <a:headEnd/>
            <a:tailEnd/>
          </a:ln>
        </p:spPr>
      </p:pic>
      <p:pic>
        <p:nvPicPr>
          <p:cNvPr id="265223" name="Picture 7"/>
          <p:cNvPicPr>
            <a:picLocks noChangeAspect="1" noChangeArrowheads="1"/>
          </p:cNvPicPr>
          <p:nvPr/>
        </p:nvPicPr>
        <p:blipFill>
          <a:blip r:embed="rId3"/>
          <a:srcRect l="6250" t="14207" r="4810" b="27589"/>
          <a:stretch>
            <a:fillRect/>
          </a:stretch>
        </p:blipFill>
        <p:spPr bwMode="auto">
          <a:xfrm>
            <a:off x="4148138" y="4249738"/>
            <a:ext cx="4500562" cy="1008062"/>
          </a:xfrm>
          <a:prstGeom prst="rect">
            <a:avLst/>
          </a:prstGeom>
          <a:noFill/>
          <a:ln w="9525">
            <a:noFill/>
            <a:miter lim="800000"/>
            <a:headEnd/>
            <a:tailEnd/>
          </a:ln>
        </p:spPr>
      </p:pic>
      <p:sp>
        <p:nvSpPr>
          <p:cNvPr id="51207" name="Text Box 9"/>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65226" name="Text Box 10"/>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9" name="灯片编号占位符 8"/>
          <p:cNvSpPr>
            <a:spLocks noGrp="1"/>
          </p:cNvSpPr>
          <p:nvPr>
            <p:ph type="sldNum" sz="quarter" idx="10"/>
          </p:nvPr>
        </p:nvSpPr>
        <p:spPr/>
        <p:txBody>
          <a:bodyPr/>
          <a:lstStyle/>
          <a:p>
            <a:pPr>
              <a:defRPr/>
            </a:pPr>
            <a:r>
              <a:rPr lang="zh-CN" altLang="en-US" smtClean="0"/>
              <a:t>第</a:t>
            </a:r>
            <a:fld id="{952EE2E6-DD61-436B-9BD2-FEF5CFC618CB}"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65220"/>
                                        </p:tgtEl>
                                        <p:attrNameLst>
                                          <p:attrName>style.visibility</p:attrName>
                                        </p:attrNameLst>
                                      </p:cBhvr>
                                      <p:to>
                                        <p:strVal val="visible"/>
                                      </p:to>
                                    </p:set>
                                    <p:anim calcmode="lin" valueType="num">
                                      <p:cBhvr additive="base">
                                        <p:cTn id="7" dur="500" fill="hold"/>
                                        <p:tgtEl>
                                          <p:spTgt spid="265220"/>
                                        </p:tgtEl>
                                        <p:attrNameLst>
                                          <p:attrName>ppt_x</p:attrName>
                                        </p:attrNameLst>
                                      </p:cBhvr>
                                      <p:tavLst>
                                        <p:tav tm="0">
                                          <p:val>
                                            <p:strVal val="1+#ppt_w/2"/>
                                          </p:val>
                                        </p:tav>
                                        <p:tav tm="100000">
                                          <p:val>
                                            <p:strVal val="#ppt_x"/>
                                          </p:val>
                                        </p:tav>
                                      </p:tavLst>
                                    </p:anim>
                                    <p:anim calcmode="lin" valueType="num">
                                      <p:cBhvr additive="base">
                                        <p:cTn id="8" dur="500" fill="hold"/>
                                        <p:tgtEl>
                                          <p:spTgt spid="26522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65218">
                                            <p:txEl>
                                              <p:pRg st="0" end="0"/>
                                            </p:txEl>
                                          </p:spTgt>
                                        </p:tgtEl>
                                        <p:attrNameLst>
                                          <p:attrName>style.visibility</p:attrName>
                                        </p:attrNameLst>
                                      </p:cBhvr>
                                      <p:to>
                                        <p:strVal val="visible"/>
                                      </p:to>
                                    </p:set>
                                    <p:animEffect transition="in" filter="checkerboard(across)">
                                      <p:cBhvr>
                                        <p:cTn id="13" dur="500"/>
                                        <p:tgtEl>
                                          <p:spTgt spid="265218">
                                            <p:txEl>
                                              <p:pRg st="0" end="0"/>
                                            </p:txEl>
                                          </p:spTgt>
                                        </p:tgtEl>
                                      </p:cBhvr>
                                    </p:animEffect>
                                  </p:childTnLst>
                                </p:cTn>
                              </p:par>
                            </p:childTnLst>
                          </p:cTn>
                        </p:par>
                        <p:par>
                          <p:cTn id="14" fill="hold">
                            <p:stCondLst>
                              <p:cond delay="500"/>
                            </p:stCondLst>
                            <p:childTnLst>
                              <p:par>
                                <p:cTn id="15" presetID="20" presetClass="entr" presetSubtype="0" fill="hold" nodeType="afterEffect">
                                  <p:stCondLst>
                                    <p:cond delay="0"/>
                                  </p:stCondLst>
                                  <p:childTnLst>
                                    <p:set>
                                      <p:cBhvr>
                                        <p:cTn id="16" dur="1" fill="hold">
                                          <p:stCondLst>
                                            <p:cond delay="0"/>
                                          </p:stCondLst>
                                        </p:cTn>
                                        <p:tgtEl>
                                          <p:spTgt spid="265221"/>
                                        </p:tgtEl>
                                        <p:attrNameLst>
                                          <p:attrName>style.visibility</p:attrName>
                                        </p:attrNameLst>
                                      </p:cBhvr>
                                      <p:to>
                                        <p:strVal val="visible"/>
                                      </p:to>
                                    </p:set>
                                    <p:animEffect transition="in" filter="wedge">
                                      <p:cBhvr>
                                        <p:cTn id="17" dur="2000"/>
                                        <p:tgtEl>
                                          <p:spTgt spid="265221"/>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65222"/>
                                        </p:tgtEl>
                                        <p:attrNameLst>
                                          <p:attrName>style.visibility</p:attrName>
                                        </p:attrNameLst>
                                      </p:cBhvr>
                                      <p:to>
                                        <p:strVal val="visible"/>
                                      </p:to>
                                    </p:set>
                                    <p:animEffect transition="in" filter="dissolve">
                                      <p:cBhvr>
                                        <p:cTn id="22" dur="500"/>
                                        <p:tgtEl>
                                          <p:spTgt spid="265222"/>
                                        </p:tgtEl>
                                      </p:cBhvr>
                                    </p:animEffect>
                                  </p:childTnLst>
                                </p:cTn>
                              </p:par>
                            </p:childTnLst>
                          </p:cTn>
                        </p:par>
                        <p:par>
                          <p:cTn id="23" fill="hold">
                            <p:stCondLst>
                              <p:cond delay="500"/>
                            </p:stCondLst>
                            <p:childTnLst>
                              <p:par>
                                <p:cTn id="24" presetID="3" presetClass="entr" presetSubtype="10" fill="hold" nodeType="afterEffect">
                                  <p:stCondLst>
                                    <p:cond delay="0"/>
                                  </p:stCondLst>
                                  <p:childTnLst>
                                    <p:set>
                                      <p:cBhvr>
                                        <p:cTn id="25" dur="1" fill="hold">
                                          <p:stCondLst>
                                            <p:cond delay="0"/>
                                          </p:stCondLst>
                                        </p:cTn>
                                        <p:tgtEl>
                                          <p:spTgt spid="265223"/>
                                        </p:tgtEl>
                                        <p:attrNameLst>
                                          <p:attrName>style.visibility</p:attrName>
                                        </p:attrNameLst>
                                      </p:cBhvr>
                                      <p:to>
                                        <p:strVal val="visible"/>
                                      </p:to>
                                    </p:set>
                                    <p:animEffect transition="in" filter="blinds(horizontal)">
                                      <p:cBhvr>
                                        <p:cTn id="26" dur="500"/>
                                        <p:tgtEl>
                                          <p:spTgt spid="265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build="p"/>
      <p:bldP spid="265220"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Text Box 2"/>
          <p:cNvSpPr txBox="1">
            <a:spLocks noChangeArrowheads="1"/>
          </p:cNvSpPr>
          <p:nvPr/>
        </p:nvSpPr>
        <p:spPr bwMode="auto">
          <a:xfrm>
            <a:off x="928688" y="3025775"/>
            <a:ext cx="7224712" cy="457200"/>
          </a:xfrm>
          <a:prstGeom prst="rect">
            <a:avLst/>
          </a:prstGeom>
          <a:noFill/>
          <a:ln w="9525">
            <a:noFill/>
            <a:miter lim="800000"/>
          </a:ln>
        </p:spPr>
        <p:txBody>
          <a:bodyPr>
            <a:spAutoFit/>
          </a:bodyPr>
          <a:lstStyle/>
          <a:p>
            <a:pPr>
              <a:spcBef>
                <a:spcPct val="20000"/>
              </a:spcBef>
              <a:spcAft>
                <a:spcPct val="20000"/>
              </a:spcAft>
              <a:buClr>
                <a:schemeClr val="tx2"/>
              </a:buClr>
              <a:buFont typeface="Wingdings" panose="05000000000000000000" pitchFamily="2" charset="2"/>
              <a:buChar char="¯"/>
            </a:pPr>
            <a:r>
              <a:rPr lang="zh-CN" altLang="en-US" sz="2400">
                <a:solidFill>
                  <a:srgbClr val="000000"/>
                </a:solidFill>
                <a:latin typeface="楷体_GB2312" pitchFamily="49" charset="-122"/>
                <a:ea typeface="楷体_GB2312" pitchFamily="49" charset="-122"/>
                <a:cs typeface="Tahoma" panose="020B0604030504040204" pitchFamily="34" charset="0"/>
              </a:rPr>
              <a:t>再看下面的类层次结构：</a:t>
            </a:r>
            <a:endParaRPr lang="zh-CN" altLang="en-US" sz="2400">
              <a:solidFill>
                <a:srgbClr val="000000"/>
              </a:solidFill>
              <a:latin typeface="楷体_GB2312" pitchFamily="49" charset="-122"/>
              <a:ea typeface="楷体_GB2312" pitchFamily="49" charset="-122"/>
              <a:cs typeface="Tahoma" panose="020B0604030504040204" pitchFamily="34" charset="0"/>
            </a:endParaRPr>
          </a:p>
        </p:txBody>
      </p:sp>
      <p:sp>
        <p:nvSpPr>
          <p:cNvPr id="276483" name="Text Box 3"/>
          <p:cNvSpPr txBox="1">
            <a:spLocks noChangeArrowheads="1"/>
          </p:cNvSpPr>
          <p:nvPr/>
        </p:nvSpPr>
        <p:spPr bwMode="auto">
          <a:xfrm>
            <a:off x="533400" y="2376488"/>
            <a:ext cx="8297863" cy="457200"/>
          </a:xfrm>
          <a:prstGeom prst="rect">
            <a:avLst/>
          </a:prstGeom>
          <a:noFill/>
          <a:ln w="9525">
            <a:noFill/>
            <a:miter lim="800000"/>
          </a:ln>
        </p:spPr>
        <p:txBody>
          <a:bodyPr>
            <a:spAutoFit/>
          </a:bodyPr>
          <a:lstStyle/>
          <a:p>
            <a:pPr>
              <a:spcBef>
                <a:spcPct val="15000"/>
              </a:spcBef>
              <a:spcAft>
                <a:spcPct val="15000"/>
              </a:spcAft>
              <a:buClr>
                <a:srgbClr val="FF0066"/>
              </a:buClr>
              <a:buFont typeface="Wingdings" panose="05000000000000000000" pitchFamily="2" charset="2"/>
              <a:buChar char="Ø"/>
            </a:pPr>
            <a:r>
              <a:rPr lang="zh-CN" altLang="en-US" sz="2400">
                <a:solidFill>
                  <a:srgbClr val="FF0000"/>
                </a:solidFill>
                <a:latin typeface="楷体_GB2312" pitchFamily="49" charset="-122"/>
                <a:ea typeface="楷体_GB2312" pitchFamily="49" charset="-122"/>
                <a:cs typeface="Tahoma" panose="020B0604030504040204" pitchFamily="34" charset="0"/>
              </a:rPr>
              <a:t>多态变量</a:t>
            </a:r>
            <a:endParaRPr lang="zh-CN" altLang="en-US" sz="2400">
              <a:solidFill>
                <a:srgbClr val="FF0000"/>
              </a:solidFill>
              <a:latin typeface="楷体_GB2312" pitchFamily="49" charset="-122"/>
              <a:ea typeface="楷体_GB2312" pitchFamily="49" charset="-122"/>
              <a:cs typeface="Tahoma" panose="020B0604030504040204" pitchFamily="34" charset="0"/>
            </a:endParaRPr>
          </a:p>
        </p:txBody>
      </p:sp>
      <p:sp>
        <p:nvSpPr>
          <p:cNvPr id="52228" name="Text Box 7"/>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76488" name="Text Box 8"/>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pic>
        <p:nvPicPr>
          <p:cNvPr id="276489" name="Picture 9"/>
          <p:cNvPicPr>
            <a:picLocks noChangeAspect="1" noChangeArrowheads="1"/>
          </p:cNvPicPr>
          <p:nvPr/>
        </p:nvPicPr>
        <p:blipFill>
          <a:blip r:embed="rId1"/>
          <a:srcRect l="4260" t="5679" r="4729" b="11073"/>
          <a:stretch>
            <a:fillRect/>
          </a:stretch>
        </p:blipFill>
        <p:spPr bwMode="auto">
          <a:xfrm>
            <a:off x="1279525" y="3675063"/>
            <a:ext cx="5668963" cy="2116137"/>
          </a:xfrm>
          <a:prstGeom prst="rect">
            <a:avLst/>
          </a:prstGeom>
          <a:noFill/>
          <a:ln w="9525">
            <a:noFill/>
            <a:miter lim="800000"/>
            <a:headEnd/>
            <a:tailEnd/>
          </a:ln>
        </p:spPr>
      </p:pic>
      <p:sp>
        <p:nvSpPr>
          <p:cNvPr id="7" name="灯片编号占位符 6"/>
          <p:cNvSpPr>
            <a:spLocks noGrp="1"/>
          </p:cNvSpPr>
          <p:nvPr>
            <p:ph type="sldNum" sz="quarter" idx="10"/>
          </p:nvPr>
        </p:nvSpPr>
        <p:spPr/>
        <p:txBody>
          <a:bodyPr/>
          <a:lstStyle/>
          <a:p>
            <a:pPr>
              <a:defRPr/>
            </a:pPr>
            <a:r>
              <a:rPr lang="zh-CN" altLang="en-US" smtClean="0"/>
              <a:t>第</a:t>
            </a:r>
            <a:fld id="{E541B9BD-49F0-4113-BAF3-93708E1E4298}"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76483"/>
                                        </p:tgtEl>
                                        <p:attrNameLst>
                                          <p:attrName>style.visibility</p:attrName>
                                        </p:attrNameLst>
                                      </p:cBhvr>
                                      <p:to>
                                        <p:strVal val="visible"/>
                                      </p:to>
                                    </p:set>
                                    <p:anim calcmode="lin" valueType="num">
                                      <p:cBhvr additive="base">
                                        <p:cTn id="7" dur="500" fill="hold"/>
                                        <p:tgtEl>
                                          <p:spTgt spid="276483"/>
                                        </p:tgtEl>
                                        <p:attrNameLst>
                                          <p:attrName>ppt_x</p:attrName>
                                        </p:attrNameLst>
                                      </p:cBhvr>
                                      <p:tavLst>
                                        <p:tav tm="0">
                                          <p:val>
                                            <p:strVal val="1+#ppt_w/2"/>
                                          </p:val>
                                        </p:tav>
                                        <p:tav tm="100000">
                                          <p:val>
                                            <p:strVal val="#ppt_x"/>
                                          </p:val>
                                        </p:tav>
                                      </p:tavLst>
                                    </p:anim>
                                    <p:anim calcmode="lin" valueType="num">
                                      <p:cBhvr additive="base">
                                        <p:cTn id="8" dur="500" fill="hold"/>
                                        <p:tgtEl>
                                          <p:spTgt spid="2764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76482">
                                            <p:txEl>
                                              <p:pRg st="0" end="0"/>
                                            </p:txEl>
                                          </p:spTgt>
                                        </p:tgtEl>
                                        <p:attrNameLst>
                                          <p:attrName>style.visibility</p:attrName>
                                        </p:attrNameLst>
                                      </p:cBhvr>
                                      <p:to>
                                        <p:strVal val="visible"/>
                                      </p:to>
                                    </p:set>
                                    <p:animEffect transition="in" filter="checkerboard(across)">
                                      <p:cBhvr>
                                        <p:cTn id="13" dur="500"/>
                                        <p:tgtEl>
                                          <p:spTgt spid="27648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76489"/>
                                        </p:tgtEl>
                                        <p:attrNameLst>
                                          <p:attrName>style.visibility</p:attrName>
                                        </p:attrNameLst>
                                      </p:cBhvr>
                                      <p:to>
                                        <p:strVal val="visible"/>
                                      </p:to>
                                    </p:set>
                                    <p:animEffect transition="in" filter="blinds(horizontal)">
                                      <p:cBhvr>
                                        <p:cTn id="18" dur="500"/>
                                        <p:tgtEl>
                                          <p:spTgt spid="276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build="p"/>
      <p:bldP spid="27648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Text Box 2"/>
          <p:cNvSpPr txBox="1">
            <a:spLocks noChangeArrowheads="1"/>
          </p:cNvSpPr>
          <p:nvPr/>
        </p:nvSpPr>
        <p:spPr bwMode="auto">
          <a:xfrm>
            <a:off x="577850" y="2895600"/>
            <a:ext cx="7826375" cy="457200"/>
          </a:xfrm>
          <a:prstGeom prst="rect">
            <a:avLst/>
          </a:prstGeom>
          <a:noFill/>
          <a:ln w="9525">
            <a:noFill/>
            <a:miter lim="800000"/>
          </a:ln>
        </p:spPr>
        <p:txBody>
          <a:bodyPr>
            <a:spAutoFit/>
          </a:bodyPr>
          <a:lstStyle/>
          <a:p>
            <a:pPr>
              <a:spcBef>
                <a:spcPct val="20000"/>
              </a:spcBef>
              <a:spcAft>
                <a:spcPct val="20000"/>
              </a:spcAft>
              <a:buClr>
                <a:schemeClr val="tx2"/>
              </a:buClr>
              <a:buFont typeface="Wingdings" panose="05000000000000000000" pitchFamily="2" charset="2"/>
              <a:buChar char="¯"/>
            </a:pPr>
            <a:r>
              <a:rPr lang="zh-CN" altLang="en-US" sz="2400">
                <a:solidFill>
                  <a:srgbClr val="000000"/>
                </a:solidFill>
                <a:latin typeface="楷体_GB2312" pitchFamily="49" charset="-122"/>
                <a:ea typeface="楷体_GB2312" pitchFamily="49" charset="-122"/>
                <a:cs typeface="Tahoma" panose="020B0604030504040204" pitchFamily="34" charset="0"/>
              </a:rPr>
              <a:t> 因此，以下语句是合法的：</a:t>
            </a:r>
            <a:endParaRPr lang="zh-CN" altLang="en-US" sz="2400">
              <a:solidFill>
                <a:srgbClr val="000000"/>
              </a:solidFill>
              <a:latin typeface="楷体_GB2312" pitchFamily="49" charset="-122"/>
              <a:ea typeface="楷体_GB2312" pitchFamily="49" charset="-122"/>
              <a:cs typeface="Tahoma" panose="020B0604030504040204" pitchFamily="34" charset="0"/>
            </a:endParaRPr>
          </a:p>
        </p:txBody>
      </p:sp>
      <p:sp>
        <p:nvSpPr>
          <p:cNvPr id="53251" name="Text Box 4"/>
          <p:cNvSpPr txBox="1">
            <a:spLocks noChangeArrowheads="1"/>
          </p:cNvSpPr>
          <p:nvPr/>
        </p:nvSpPr>
        <p:spPr bwMode="auto">
          <a:xfrm>
            <a:off x="563563" y="2362200"/>
            <a:ext cx="7894637" cy="457200"/>
          </a:xfrm>
          <a:prstGeom prst="rect">
            <a:avLst/>
          </a:prstGeom>
          <a:noFill/>
          <a:ln w="9525">
            <a:noFill/>
            <a:miter lim="800000"/>
          </a:ln>
        </p:spPr>
        <p:txBody>
          <a:bodyPr>
            <a:spAutoFit/>
          </a:bodyPr>
          <a:lstStyle/>
          <a:p>
            <a:pPr>
              <a:spcBef>
                <a:spcPct val="15000"/>
              </a:spcBef>
              <a:spcAft>
                <a:spcPct val="15000"/>
              </a:spcAft>
              <a:buClr>
                <a:srgbClr val="FF0066"/>
              </a:buClr>
              <a:buFont typeface="Wingdings" panose="05000000000000000000" pitchFamily="2" charset="2"/>
              <a:buChar char="Ø"/>
            </a:pPr>
            <a:r>
              <a:rPr lang="zh-CN" altLang="en-US" sz="2400">
                <a:solidFill>
                  <a:srgbClr val="000000"/>
                </a:solidFill>
                <a:latin typeface="楷体_GB2312" pitchFamily="49" charset="-122"/>
                <a:ea typeface="楷体_GB2312" pitchFamily="49" charset="-122"/>
                <a:cs typeface="Tahoma" panose="020B0604030504040204" pitchFamily="34" charset="0"/>
              </a:rPr>
              <a:t> 多态变量</a:t>
            </a:r>
            <a:endParaRPr lang="zh-CN" altLang="en-US" sz="2400">
              <a:solidFill>
                <a:srgbClr val="000000"/>
              </a:solidFill>
              <a:latin typeface="楷体_GB2312" pitchFamily="49" charset="-122"/>
              <a:ea typeface="楷体_GB2312" pitchFamily="49" charset="-122"/>
              <a:cs typeface="Tahoma" panose="020B0604030504040204" pitchFamily="34" charset="0"/>
            </a:endParaRPr>
          </a:p>
        </p:txBody>
      </p:sp>
      <p:sp>
        <p:nvSpPr>
          <p:cNvPr id="267269" name="Text Box 5"/>
          <p:cNvSpPr txBox="1">
            <a:spLocks noChangeArrowheads="1"/>
          </p:cNvSpPr>
          <p:nvPr/>
        </p:nvSpPr>
        <p:spPr bwMode="auto">
          <a:xfrm>
            <a:off x="577850" y="4413250"/>
            <a:ext cx="7826375" cy="2063750"/>
          </a:xfrm>
          <a:prstGeom prst="rect">
            <a:avLst/>
          </a:prstGeom>
          <a:noFill/>
          <a:ln w="9525">
            <a:noFill/>
            <a:miter lim="800000"/>
          </a:ln>
        </p:spPr>
        <p:txBody>
          <a:bodyPr>
            <a:spAutoFit/>
          </a:bodyPr>
          <a:lstStyle/>
          <a:p>
            <a:pPr>
              <a:spcBef>
                <a:spcPct val="20000"/>
              </a:spcBef>
              <a:spcAft>
                <a:spcPct val="20000"/>
              </a:spcAft>
              <a:buClr>
                <a:schemeClr val="tx2"/>
              </a:buClr>
              <a:buFont typeface="Wingdings" panose="05000000000000000000" pitchFamily="2" charset="2"/>
              <a:buChar char="¯"/>
            </a:pPr>
            <a:r>
              <a:rPr lang="zh-CN" altLang="en-US" sz="2400">
                <a:solidFill>
                  <a:srgbClr val="000000"/>
                </a:solidFill>
                <a:latin typeface="楷体_GB2312" pitchFamily="49" charset="-122"/>
                <a:ea typeface="楷体_GB2312" pitchFamily="49" charset="-122"/>
                <a:cs typeface="Tahoma" panose="020B0604030504040204" pitchFamily="34" charset="0"/>
              </a:rPr>
              <a:t> 从类的定义上来看，</a:t>
            </a:r>
            <a:r>
              <a:rPr lang="en-US" altLang="zh-CN" sz="2400">
                <a:solidFill>
                  <a:srgbClr val="000000"/>
                </a:solidFill>
                <a:latin typeface="楷体_GB2312" pitchFamily="49" charset="-122"/>
                <a:ea typeface="楷体_GB2312" pitchFamily="49" charset="-122"/>
                <a:cs typeface="Tahoma" panose="020B0604030504040204" pitchFamily="34" charset="0"/>
              </a:rPr>
              <a:t>Truck</a:t>
            </a:r>
            <a:r>
              <a:rPr lang="zh-CN" altLang="en-US" sz="2400">
                <a:solidFill>
                  <a:srgbClr val="000000"/>
                </a:solidFill>
                <a:latin typeface="楷体_GB2312" pitchFamily="49" charset="-122"/>
                <a:ea typeface="楷体_GB2312" pitchFamily="49" charset="-122"/>
                <a:cs typeface="Tahoma" panose="020B0604030504040204" pitchFamily="34" charset="0"/>
              </a:rPr>
              <a:t>和</a:t>
            </a:r>
            <a:r>
              <a:rPr lang="en-US" altLang="zh-CN" sz="2400">
                <a:solidFill>
                  <a:srgbClr val="000000"/>
                </a:solidFill>
                <a:latin typeface="楷体_GB2312" pitchFamily="49" charset="-122"/>
                <a:ea typeface="楷体_GB2312" pitchFamily="49" charset="-122"/>
                <a:cs typeface="Tahoma" panose="020B0604030504040204" pitchFamily="34" charset="0"/>
              </a:rPr>
              <a:t>Train</a:t>
            </a:r>
            <a:r>
              <a:rPr lang="zh-CN" altLang="en-US" sz="2400">
                <a:solidFill>
                  <a:srgbClr val="000000"/>
                </a:solidFill>
                <a:latin typeface="楷体_GB2312" pitchFamily="49" charset="-122"/>
                <a:ea typeface="楷体_GB2312" pitchFamily="49" charset="-122"/>
                <a:cs typeface="Tahoma" panose="020B0604030504040204" pitchFamily="34" charset="0"/>
              </a:rPr>
              <a:t>都是陆上交通工具，因此可以被当作陆上交通工具来对待</a:t>
            </a:r>
            <a:r>
              <a:rPr lang="en-US" altLang="zh-CN" sz="2400">
                <a:solidFill>
                  <a:srgbClr val="000000"/>
                </a:solidFill>
                <a:latin typeface="楷体_GB2312" pitchFamily="49" charset="-122"/>
                <a:ea typeface="楷体_GB2312" pitchFamily="49" charset="-122"/>
                <a:cs typeface="Tahoma" panose="020B0604030504040204" pitchFamily="34" charset="0"/>
              </a:rPr>
              <a:t>;</a:t>
            </a:r>
            <a:endParaRPr lang="en-US" altLang="zh-CN" sz="2400">
              <a:solidFill>
                <a:srgbClr val="000000"/>
              </a:solidFill>
              <a:latin typeface="楷体_GB2312" pitchFamily="49" charset="-122"/>
              <a:ea typeface="楷体_GB2312" pitchFamily="49" charset="-122"/>
              <a:cs typeface="Tahoma" panose="020B0604030504040204" pitchFamily="34" charset="0"/>
            </a:endParaRPr>
          </a:p>
          <a:p>
            <a:pPr>
              <a:spcBef>
                <a:spcPct val="20000"/>
              </a:spcBef>
              <a:spcAft>
                <a:spcPct val="20000"/>
              </a:spcAft>
              <a:buClr>
                <a:schemeClr val="tx2"/>
              </a:buClr>
              <a:buFont typeface="Wingdings" panose="05000000000000000000" pitchFamily="2" charset="2"/>
              <a:buChar char="¯"/>
            </a:pPr>
            <a:r>
              <a:rPr lang="zh-CN" altLang="en-US" sz="2400">
                <a:solidFill>
                  <a:srgbClr val="000000"/>
                </a:solidFill>
                <a:latin typeface="楷体_GB2312" pitchFamily="49" charset="-122"/>
                <a:ea typeface="楷体_GB2312" pitchFamily="49" charset="-122"/>
                <a:cs typeface="Tahoma" panose="020B0604030504040204" pitchFamily="34" charset="0"/>
              </a:rPr>
              <a:t> 从面向对象的程序设计思想来看，允许将一个子类型的实例赋值给它的祖先类型，因为所有发送给祖先类型的消息都可以发送给子类型</a:t>
            </a:r>
            <a:endParaRPr lang="zh-CN" altLang="en-US" sz="2400">
              <a:solidFill>
                <a:srgbClr val="000000"/>
              </a:solidFill>
              <a:latin typeface="楷体_GB2312" pitchFamily="49" charset="-122"/>
              <a:ea typeface="楷体_GB2312" pitchFamily="49" charset="-122"/>
              <a:cs typeface="Tahoma" panose="020B0604030504040204" pitchFamily="34" charset="0"/>
            </a:endParaRPr>
          </a:p>
        </p:txBody>
      </p:sp>
      <p:pic>
        <p:nvPicPr>
          <p:cNvPr id="267270" name="Picture 6"/>
          <p:cNvPicPr>
            <a:picLocks noChangeAspect="1" noChangeArrowheads="1"/>
          </p:cNvPicPr>
          <p:nvPr/>
        </p:nvPicPr>
        <p:blipFill>
          <a:blip r:embed="rId1"/>
          <a:srcRect t="19771" r="1588" b="38391"/>
          <a:stretch>
            <a:fillRect/>
          </a:stretch>
        </p:blipFill>
        <p:spPr bwMode="auto">
          <a:xfrm>
            <a:off x="1627188" y="3597275"/>
            <a:ext cx="4110037" cy="288925"/>
          </a:xfrm>
          <a:prstGeom prst="rect">
            <a:avLst/>
          </a:prstGeom>
          <a:noFill/>
          <a:ln w="9525">
            <a:noFill/>
            <a:miter lim="800000"/>
            <a:headEnd/>
            <a:tailEnd/>
          </a:ln>
        </p:spPr>
      </p:pic>
      <p:pic>
        <p:nvPicPr>
          <p:cNvPr id="267271" name="Picture 7"/>
          <p:cNvPicPr>
            <a:picLocks noChangeAspect="1" noChangeArrowheads="1"/>
          </p:cNvPicPr>
          <p:nvPr/>
        </p:nvPicPr>
        <p:blipFill>
          <a:blip r:embed="rId2"/>
          <a:srcRect l="-290" t="5222" b="35509"/>
          <a:stretch>
            <a:fillRect/>
          </a:stretch>
        </p:blipFill>
        <p:spPr bwMode="auto">
          <a:xfrm>
            <a:off x="3276600" y="3983038"/>
            <a:ext cx="2555875" cy="360362"/>
          </a:xfrm>
          <a:prstGeom prst="rect">
            <a:avLst/>
          </a:prstGeom>
          <a:noFill/>
          <a:ln w="9525">
            <a:noFill/>
            <a:miter lim="800000"/>
            <a:headEnd/>
            <a:tailEnd/>
          </a:ln>
        </p:spPr>
      </p:pic>
      <p:sp>
        <p:nvSpPr>
          <p:cNvPr id="53255" name="Text Box 9"/>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67274" name="Text Box 10"/>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9" name="灯片编号占位符 8"/>
          <p:cNvSpPr>
            <a:spLocks noGrp="1"/>
          </p:cNvSpPr>
          <p:nvPr>
            <p:ph type="sldNum" sz="quarter" idx="10"/>
          </p:nvPr>
        </p:nvSpPr>
        <p:spPr/>
        <p:txBody>
          <a:bodyPr/>
          <a:lstStyle/>
          <a:p>
            <a:pPr>
              <a:defRPr/>
            </a:pPr>
            <a:r>
              <a:rPr lang="zh-CN" altLang="en-US" smtClean="0"/>
              <a:t>第</a:t>
            </a:r>
            <a:fld id="{A5834811-C32F-4DD9-8722-A57E1177F4D8}"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267266">
                                            <p:txEl>
                                              <p:pRg st="0" end="0"/>
                                            </p:txEl>
                                          </p:spTgt>
                                        </p:tgtEl>
                                        <p:attrNameLst>
                                          <p:attrName>style.visibility</p:attrName>
                                        </p:attrNameLst>
                                      </p:cBhvr>
                                      <p:to>
                                        <p:strVal val="visible"/>
                                      </p:to>
                                    </p:set>
                                    <p:animEffect transition="in" filter="checkerboard(across)">
                                      <p:cBhvr>
                                        <p:cTn id="7" dur="500"/>
                                        <p:tgtEl>
                                          <p:spTgt spid="267266">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67270"/>
                                        </p:tgtEl>
                                        <p:attrNameLst>
                                          <p:attrName>style.visibility</p:attrName>
                                        </p:attrNameLst>
                                      </p:cBhvr>
                                      <p:to>
                                        <p:strVal val="visible"/>
                                      </p:to>
                                    </p:set>
                                    <p:animEffect transition="in" filter="wipe(left)">
                                      <p:cBhvr>
                                        <p:cTn id="11" dur="500"/>
                                        <p:tgtEl>
                                          <p:spTgt spid="26727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67271"/>
                                        </p:tgtEl>
                                        <p:attrNameLst>
                                          <p:attrName>style.visibility</p:attrName>
                                        </p:attrNameLst>
                                      </p:cBhvr>
                                      <p:to>
                                        <p:strVal val="visible"/>
                                      </p:to>
                                    </p:set>
                                    <p:animEffect transition="in" filter="wipe(left)">
                                      <p:cBhvr>
                                        <p:cTn id="15" dur="500"/>
                                        <p:tgtEl>
                                          <p:spTgt spid="267271"/>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267269">
                                            <p:txEl>
                                              <p:pRg st="0" end="0"/>
                                            </p:txEl>
                                          </p:spTgt>
                                        </p:tgtEl>
                                        <p:attrNameLst>
                                          <p:attrName>style.visibility</p:attrName>
                                        </p:attrNameLst>
                                      </p:cBhvr>
                                      <p:to>
                                        <p:strVal val="visible"/>
                                      </p:to>
                                    </p:set>
                                    <p:animEffect transition="in" filter="checkerboard(across)">
                                      <p:cBhvr>
                                        <p:cTn id="19" dur="500"/>
                                        <p:tgtEl>
                                          <p:spTgt spid="267269">
                                            <p:txEl>
                                              <p:pRg st="0" end="0"/>
                                            </p:txEl>
                                          </p:spTgt>
                                        </p:tgtEl>
                                      </p:cBhvr>
                                    </p:animEffect>
                                  </p:childTnLst>
                                </p:cTn>
                              </p:par>
                            </p:childTnLst>
                          </p:cTn>
                        </p:par>
                        <p:par>
                          <p:cTn id="20" fill="hold">
                            <p:stCondLst>
                              <p:cond delay="2000"/>
                            </p:stCondLst>
                            <p:childTnLst>
                              <p:par>
                                <p:cTn id="21" presetID="5" presetClass="entr" presetSubtype="10" fill="hold" grpId="0" nodeType="afterEffect">
                                  <p:stCondLst>
                                    <p:cond delay="0"/>
                                  </p:stCondLst>
                                  <p:childTnLst>
                                    <p:set>
                                      <p:cBhvr>
                                        <p:cTn id="22" dur="1" fill="hold">
                                          <p:stCondLst>
                                            <p:cond delay="0"/>
                                          </p:stCondLst>
                                        </p:cTn>
                                        <p:tgtEl>
                                          <p:spTgt spid="267269">
                                            <p:txEl>
                                              <p:pRg st="1" end="1"/>
                                            </p:txEl>
                                          </p:spTgt>
                                        </p:tgtEl>
                                        <p:attrNameLst>
                                          <p:attrName>style.visibility</p:attrName>
                                        </p:attrNameLst>
                                      </p:cBhvr>
                                      <p:to>
                                        <p:strVal val="visible"/>
                                      </p:to>
                                    </p:set>
                                    <p:animEffect transition="in" filter="checkerboard(across)">
                                      <p:cBhvr>
                                        <p:cTn id="23" dur="500"/>
                                        <p:tgtEl>
                                          <p:spTgt spid="26726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build="p"/>
      <p:bldP spid="26726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1" name="Text Box 3"/>
          <p:cNvSpPr txBox="1">
            <a:spLocks noChangeArrowheads="1"/>
          </p:cNvSpPr>
          <p:nvPr/>
        </p:nvSpPr>
        <p:spPr bwMode="auto">
          <a:xfrm>
            <a:off x="236538" y="1195388"/>
            <a:ext cx="8497887" cy="579437"/>
          </a:xfrm>
          <a:prstGeom prst="rect">
            <a:avLst/>
          </a:prstGeom>
          <a:noFill/>
          <a:ln w="9525">
            <a:noFill/>
            <a:miter lim="800000"/>
          </a:ln>
          <a:effectLst/>
        </p:spPr>
        <p:txBody>
          <a:bodyPr>
            <a:spAutoFit/>
          </a:bodyPr>
          <a:lstStyle/>
          <a:p>
            <a:pPr>
              <a:spcBef>
                <a:spcPct val="15000"/>
              </a:spcBef>
              <a:spcAft>
                <a:spcPct val="15000"/>
              </a:spcAft>
              <a:buClr>
                <a:srgbClr val="FF0066"/>
              </a:buClr>
              <a:buFont typeface="Wingdings" panose="05000000000000000000" pitchFamily="2" charset="2"/>
              <a:buChar char="Ø"/>
              <a:defRPr/>
            </a:pPr>
            <a:r>
              <a:rPr kumimoji="1" lang="zh-CN" altLang="en-US" sz="3200">
                <a:latin typeface="Times New Roman" panose="02020603050405020304" pitchFamily="18" charset="0"/>
              </a:rPr>
              <a:t> </a:t>
            </a:r>
            <a:r>
              <a:rPr kumimoji="1" lang="zh-CN" altLang="en-US" sz="3200" b="1">
                <a:solidFill>
                  <a:srgbClr val="FF0066"/>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Tahoma" panose="020B0604030504040204" pitchFamily="34" charset="0"/>
              </a:rPr>
              <a:t>多态变量</a:t>
            </a:r>
            <a:endParaRPr kumimoji="1" lang="zh-CN" altLang="en-US" sz="3200" b="1">
              <a:solidFill>
                <a:srgbClr val="FF0066"/>
              </a:solidFill>
              <a:effectLst>
                <a:outerShdw blurRad="38100" dist="38100" dir="2700000" algn="tl">
                  <a:srgbClr val="C0C0C0"/>
                </a:outerShdw>
              </a:effectLst>
              <a:latin typeface="华文行楷" panose="02010800040101010101" pitchFamily="2" charset="-122"/>
              <a:ea typeface="华文行楷" panose="02010800040101010101" pitchFamily="2" charset="-122"/>
              <a:cs typeface="Tahoma" panose="020B0604030504040204" pitchFamily="34" charset="0"/>
            </a:endParaRPr>
          </a:p>
        </p:txBody>
      </p:sp>
      <p:sp>
        <p:nvSpPr>
          <p:cNvPr id="268292" name="Text Box 4"/>
          <p:cNvSpPr txBox="1">
            <a:spLocks noChangeArrowheads="1"/>
          </p:cNvSpPr>
          <p:nvPr/>
        </p:nvSpPr>
        <p:spPr bwMode="auto">
          <a:xfrm>
            <a:off x="250825" y="3995738"/>
            <a:ext cx="8424863" cy="2490787"/>
          </a:xfrm>
          <a:prstGeom prst="rect">
            <a:avLst/>
          </a:prstGeom>
          <a:noFill/>
          <a:ln w="9525">
            <a:noFill/>
            <a:miter lim="800000"/>
          </a:ln>
          <a:effectLst/>
        </p:spPr>
        <p:txBody>
          <a:bodyPr>
            <a:spAutoFit/>
          </a:bodyPr>
          <a:lstStyle/>
          <a:p>
            <a:pPr>
              <a:spcBef>
                <a:spcPct val="20000"/>
              </a:spcBef>
              <a:spcAft>
                <a:spcPct val="20000"/>
              </a:spcAft>
              <a:buClr>
                <a:schemeClr val="tx2"/>
              </a:buClr>
              <a:buFont typeface="Wingdings" panose="05000000000000000000" pitchFamily="2" charset="2"/>
              <a:buChar char="¯"/>
              <a:defRPr/>
            </a:pPr>
            <a:r>
              <a:rPr lang="zh-CN" altLang="en-US" sz="28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 </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lv</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先是指向</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Truck</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，而后又指向</a:t>
            </a: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Train</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，所以它是一个多态变量；</a:t>
            </a:r>
            <a:endPar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endParaRPr>
          </a:p>
          <a:p>
            <a:pPr>
              <a:spcBef>
                <a:spcPct val="20000"/>
              </a:spcBef>
              <a:spcAft>
                <a:spcPct val="20000"/>
              </a:spcAft>
              <a:buClr>
                <a:schemeClr val="tx2"/>
              </a:buClr>
              <a:buFont typeface="Wingdings" panose="05000000000000000000" pitchFamily="2" charset="2"/>
              <a:buChar char="¯"/>
              <a:defRPr/>
            </a:pPr>
            <a:r>
              <a:rPr lang="en-US" altLang="zh-CN"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 </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多态允许把变量关联到子类对象上，</a:t>
            </a:r>
            <a:r>
              <a:rPr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不能反向</a:t>
            </a:r>
            <a:r>
              <a:rPr lang="en-US" altLang="zh-CN" sz="2400" b="1">
                <a:effectLst>
                  <a:outerShdw blurRad="38100" dist="38100" dir="2700000" algn="tl">
                    <a:srgbClr val="C0C0C0"/>
                  </a:outerShdw>
                </a:effectLst>
                <a:latin typeface="宋体" panose="02010600030101010101" pitchFamily="2" charset="-122"/>
                <a:ea typeface="楷体_GB2312" pitchFamily="49" charset="-122"/>
                <a:cs typeface="Tahoma" panose="020B0604030504040204" pitchFamily="34" charset="0"/>
              </a:rPr>
              <a:t>——</a:t>
            </a:r>
            <a:r>
              <a:rPr lang="zh-CN" altLang="en-US" sz="2400" b="1">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也就是说，</a:t>
            </a: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任何一个子类的对象都可以说成是其父类的一个对象，但是反之则不一定了，例如，我们可以说白马是马，但是不能说马一定是白马 </a:t>
            </a:r>
            <a:endPar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endParaRPr>
          </a:p>
        </p:txBody>
      </p:sp>
      <p:pic>
        <p:nvPicPr>
          <p:cNvPr id="268293" name="Picture 5"/>
          <p:cNvPicPr>
            <a:picLocks noChangeAspect="1" noChangeArrowheads="1"/>
          </p:cNvPicPr>
          <p:nvPr/>
        </p:nvPicPr>
        <p:blipFill>
          <a:blip r:embed="rId1"/>
          <a:srcRect t="19771" r="1588" b="38391"/>
          <a:stretch>
            <a:fillRect/>
          </a:stretch>
        </p:blipFill>
        <p:spPr bwMode="auto">
          <a:xfrm>
            <a:off x="468313" y="2060575"/>
            <a:ext cx="4138612" cy="269875"/>
          </a:xfrm>
          <a:prstGeom prst="rect">
            <a:avLst/>
          </a:prstGeom>
          <a:noFill/>
          <a:ln w="9525">
            <a:noFill/>
            <a:miter lim="800000"/>
            <a:headEnd/>
            <a:tailEnd/>
          </a:ln>
        </p:spPr>
      </p:pic>
      <p:pic>
        <p:nvPicPr>
          <p:cNvPr id="268294" name="Picture 6"/>
          <p:cNvPicPr>
            <a:picLocks noChangeAspect="1" noChangeArrowheads="1"/>
          </p:cNvPicPr>
          <p:nvPr/>
        </p:nvPicPr>
        <p:blipFill>
          <a:blip r:embed="rId2"/>
          <a:srcRect l="-290" t="5222" b="35509"/>
          <a:stretch>
            <a:fillRect/>
          </a:stretch>
        </p:blipFill>
        <p:spPr bwMode="auto">
          <a:xfrm>
            <a:off x="2093913" y="3054350"/>
            <a:ext cx="2573337" cy="336550"/>
          </a:xfrm>
          <a:prstGeom prst="rect">
            <a:avLst/>
          </a:prstGeom>
          <a:noFill/>
          <a:ln w="9525">
            <a:noFill/>
            <a:miter lim="800000"/>
            <a:headEnd/>
            <a:tailEnd/>
          </a:ln>
        </p:spPr>
      </p:pic>
      <p:pic>
        <p:nvPicPr>
          <p:cNvPr id="268295" name="Picture 7"/>
          <p:cNvPicPr>
            <a:picLocks noChangeAspect="1" noChangeArrowheads="1"/>
          </p:cNvPicPr>
          <p:nvPr/>
        </p:nvPicPr>
        <p:blipFill>
          <a:blip r:embed="rId3"/>
          <a:srcRect l="1913" t="8527" r="3572" b="21085"/>
          <a:stretch>
            <a:fillRect/>
          </a:stretch>
        </p:blipFill>
        <p:spPr bwMode="auto">
          <a:xfrm>
            <a:off x="4859338" y="1916113"/>
            <a:ext cx="3529012" cy="720725"/>
          </a:xfrm>
          <a:prstGeom prst="rect">
            <a:avLst/>
          </a:prstGeom>
          <a:noFill/>
          <a:ln w="9525">
            <a:noFill/>
            <a:miter lim="800000"/>
            <a:headEnd/>
            <a:tailEnd/>
          </a:ln>
        </p:spPr>
      </p:pic>
      <p:pic>
        <p:nvPicPr>
          <p:cNvPr id="268296" name="Picture 8"/>
          <p:cNvPicPr>
            <a:picLocks noChangeAspect="1" noChangeArrowheads="1"/>
          </p:cNvPicPr>
          <p:nvPr/>
        </p:nvPicPr>
        <p:blipFill>
          <a:blip r:embed="rId4"/>
          <a:srcRect t="18971" r="4791" b="16844"/>
          <a:stretch>
            <a:fillRect/>
          </a:stretch>
        </p:blipFill>
        <p:spPr bwMode="auto">
          <a:xfrm>
            <a:off x="4864100" y="3141663"/>
            <a:ext cx="3595688" cy="574675"/>
          </a:xfrm>
          <a:prstGeom prst="rect">
            <a:avLst/>
          </a:prstGeom>
          <a:noFill/>
          <a:ln w="9525">
            <a:noFill/>
            <a:miter lim="800000"/>
            <a:headEnd/>
            <a:tailEnd/>
          </a:ln>
        </p:spPr>
      </p:pic>
      <p:sp>
        <p:nvSpPr>
          <p:cNvPr id="8" name="灯片编号占位符 7"/>
          <p:cNvSpPr>
            <a:spLocks noGrp="1"/>
          </p:cNvSpPr>
          <p:nvPr>
            <p:ph type="sldNum" sz="quarter" idx="10"/>
          </p:nvPr>
        </p:nvSpPr>
        <p:spPr/>
        <p:txBody>
          <a:bodyPr/>
          <a:lstStyle/>
          <a:p>
            <a:pPr>
              <a:defRPr/>
            </a:pPr>
            <a:r>
              <a:rPr lang="zh-CN" altLang="en-US" smtClean="0"/>
              <a:t>第</a:t>
            </a:r>
            <a:fld id="{5D3E7FD3-91E3-47F7-AF89-3570063C9476}"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68293"/>
                                        </p:tgtEl>
                                        <p:attrNameLst>
                                          <p:attrName>style.visibility</p:attrName>
                                        </p:attrNameLst>
                                      </p:cBhvr>
                                      <p:to>
                                        <p:strVal val="visible"/>
                                      </p:to>
                                    </p:set>
                                    <p:animEffect transition="in" filter="wipe(left)">
                                      <p:cBhvr>
                                        <p:cTn id="7" dur="500"/>
                                        <p:tgtEl>
                                          <p:spTgt spid="268293"/>
                                        </p:tgtEl>
                                      </p:cBhvr>
                                    </p:animEffect>
                                  </p:childTnLst>
                                </p:cTn>
                              </p:par>
                            </p:childTnLst>
                          </p:cTn>
                        </p:par>
                        <p:par>
                          <p:cTn id="8" fill="hold">
                            <p:stCondLst>
                              <p:cond delay="500"/>
                            </p:stCondLst>
                            <p:childTnLst>
                              <p:par>
                                <p:cTn id="9" presetID="21" presetClass="entr" presetSubtype="4" fill="hold" nodeType="afterEffect">
                                  <p:stCondLst>
                                    <p:cond delay="0"/>
                                  </p:stCondLst>
                                  <p:childTnLst>
                                    <p:set>
                                      <p:cBhvr>
                                        <p:cTn id="10" dur="1" fill="hold">
                                          <p:stCondLst>
                                            <p:cond delay="0"/>
                                          </p:stCondLst>
                                        </p:cTn>
                                        <p:tgtEl>
                                          <p:spTgt spid="268295"/>
                                        </p:tgtEl>
                                        <p:attrNameLst>
                                          <p:attrName>style.visibility</p:attrName>
                                        </p:attrNameLst>
                                      </p:cBhvr>
                                      <p:to>
                                        <p:strVal val="visible"/>
                                      </p:to>
                                    </p:set>
                                    <p:animEffect transition="in" filter="wheel(4)">
                                      <p:cBhvr>
                                        <p:cTn id="11" dur="1000"/>
                                        <p:tgtEl>
                                          <p:spTgt spid="268295"/>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68294"/>
                                        </p:tgtEl>
                                        <p:attrNameLst>
                                          <p:attrName>style.visibility</p:attrName>
                                        </p:attrNameLst>
                                      </p:cBhvr>
                                      <p:to>
                                        <p:strVal val="visible"/>
                                      </p:to>
                                    </p:set>
                                    <p:animEffect transition="in" filter="wipe(left)">
                                      <p:cBhvr>
                                        <p:cTn id="15" dur="500"/>
                                        <p:tgtEl>
                                          <p:spTgt spid="268294"/>
                                        </p:tgtEl>
                                      </p:cBhvr>
                                    </p:animEffect>
                                  </p:childTnLst>
                                </p:cTn>
                              </p:par>
                            </p:childTnLst>
                          </p:cTn>
                        </p:par>
                        <p:par>
                          <p:cTn id="16" fill="hold">
                            <p:stCondLst>
                              <p:cond delay="2000"/>
                            </p:stCondLst>
                            <p:childTnLst>
                              <p:par>
                                <p:cTn id="17" presetID="21" presetClass="entr" presetSubtype="4" fill="hold" nodeType="afterEffect">
                                  <p:stCondLst>
                                    <p:cond delay="0"/>
                                  </p:stCondLst>
                                  <p:childTnLst>
                                    <p:set>
                                      <p:cBhvr>
                                        <p:cTn id="18" dur="1" fill="hold">
                                          <p:stCondLst>
                                            <p:cond delay="0"/>
                                          </p:stCondLst>
                                        </p:cTn>
                                        <p:tgtEl>
                                          <p:spTgt spid="268296"/>
                                        </p:tgtEl>
                                        <p:attrNameLst>
                                          <p:attrName>style.visibility</p:attrName>
                                        </p:attrNameLst>
                                      </p:cBhvr>
                                      <p:to>
                                        <p:strVal val="visible"/>
                                      </p:to>
                                    </p:set>
                                    <p:animEffect transition="in" filter="wheel(4)">
                                      <p:cBhvr>
                                        <p:cTn id="19" dur="1000"/>
                                        <p:tgtEl>
                                          <p:spTgt spid="268296"/>
                                        </p:tgtEl>
                                      </p:cBhvr>
                                    </p:animEffect>
                                  </p:childTnLst>
                                </p:cTn>
                              </p:par>
                            </p:childTnLst>
                          </p:cTn>
                        </p:par>
                        <p:par>
                          <p:cTn id="20" fill="hold">
                            <p:stCondLst>
                              <p:cond delay="3000"/>
                            </p:stCondLst>
                            <p:childTnLst>
                              <p:par>
                                <p:cTn id="21" presetID="5" presetClass="entr" presetSubtype="10" fill="hold" grpId="0" nodeType="afterEffect">
                                  <p:stCondLst>
                                    <p:cond delay="0"/>
                                  </p:stCondLst>
                                  <p:childTnLst>
                                    <p:set>
                                      <p:cBhvr>
                                        <p:cTn id="22" dur="1" fill="hold">
                                          <p:stCondLst>
                                            <p:cond delay="0"/>
                                          </p:stCondLst>
                                        </p:cTn>
                                        <p:tgtEl>
                                          <p:spTgt spid="268292">
                                            <p:txEl>
                                              <p:pRg st="0" end="0"/>
                                            </p:txEl>
                                          </p:spTgt>
                                        </p:tgtEl>
                                        <p:attrNameLst>
                                          <p:attrName>style.visibility</p:attrName>
                                        </p:attrNameLst>
                                      </p:cBhvr>
                                      <p:to>
                                        <p:strVal val="visible"/>
                                      </p:to>
                                    </p:set>
                                    <p:animEffect transition="in" filter="checkerboard(across)">
                                      <p:cBhvr>
                                        <p:cTn id="23" dur="500"/>
                                        <p:tgtEl>
                                          <p:spTgt spid="26829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268292">
                                            <p:txEl>
                                              <p:pRg st="1" end="1"/>
                                            </p:txEl>
                                          </p:spTgt>
                                        </p:tgtEl>
                                        <p:attrNameLst>
                                          <p:attrName>style.visibility</p:attrName>
                                        </p:attrNameLst>
                                      </p:cBhvr>
                                      <p:to>
                                        <p:strVal val="visible"/>
                                      </p:to>
                                    </p:set>
                                    <p:animEffect transition="in" filter="checkerboard(across)">
                                      <p:cBhvr>
                                        <p:cTn id="28" dur="500"/>
                                        <p:tgtEl>
                                          <p:spTgt spid="26829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2"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Text Box 2"/>
          <p:cNvSpPr txBox="1">
            <a:spLocks noChangeArrowheads="1"/>
          </p:cNvSpPr>
          <p:nvPr/>
        </p:nvSpPr>
        <p:spPr bwMode="auto">
          <a:xfrm>
            <a:off x="936625" y="2941638"/>
            <a:ext cx="8054975" cy="822325"/>
          </a:xfrm>
          <a:prstGeom prst="rect">
            <a:avLst/>
          </a:prstGeom>
          <a:noFill/>
          <a:ln w="9525">
            <a:noFill/>
            <a:miter lim="800000"/>
          </a:ln>
          <a:effectLst/>
        </p:spPr>
        <p:txBody>
          <a:bodyPr>
            <a:spAutoFit/>
          </a:bodyPr>
          <a:lstStyle/>
          <a:p>
            <a:pPr>
              <a:spcBef>
                <a:spcPct val="20000"/>
              </a:spcBef>
              <a:spcAft>
                <a:spcPct val="20000"/>
              </a:spcAft>
              <a:buClr>
                <a:schemeClr val="tx2"/>
              </a:buClr>
              <a:buFont typeface="Wingdings" panose="05000000000000000000" pitchFamily="2" charset="2"/>
              <a:buChar char="¯"/>
              <a:defRPr/>
            </a:pPr>
            <a:r>
              <a:rPr lang="zh-CN" altLang="en-US" sz="2400" b="1">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 </a:t>
            </a:r>
            <a:r>
              <a:rPr lang="zh-CN" altLang="en-US" sz="2400">
                <a:solidFill>
                  <a:srgbClr val="000000"/>
                </a:solidFill>
                <a:latin typeface="楷体_GB2312" pitchFamily="49" charset="-122"/>
                <a:ea typeface="楷体_GB2312" pitchFamily="49" charset="-122"/>
                <a:cs typeface="Tahoma" panose="020B0604030504040204" pitchFamily="34" charset="0"/>
              </a:rPr>
              <a:t>如下图所示的</a:t>
            </a:r>
            <a:r>
              <a:rPr lang="en-US" altLang="zh-CN" sz="2400">
                <a:solidFill>
                  <a:srgbClr val="000000"/>
                </a:solidFill>
                <a:latin typeface="楷体_GB2312" pitchFamily="49" charset="-122"/>
                <a:ea typeface="楷体_GB2312" pitchFamily="49" charset="-122"/>
                <a:cs typeface="Tahoma" panose="020B0604030504040204" pitchFamily="34" charset="0"/>
              </a:rPr>
              <a:t>Bird</a:t>
            </a:r>
            <a:r>
              <a:rPr lang="zh-CN" altLang="en-US" sz="2400">
                <a:solidFill>
                  <a:srgbClr val="000000"/>
                </a:solidFill>
                <a:latin typeface="楷体_GB2312" pitchFamily="49" charset="-122"/>
                <a:ea typeface="楷体_GB2312" pitchFamily="49" charset="-122"/>
                <a:cs typeface="Tahoma" panose="020B0604030504040204" pitchFamily="34" charset="0"/>
              </a:rPr>
              <a:t>、</a:t>
            </a:r>
            <a:r>
              <a:rPr lang="en-US" altLang="zh-CN" sz="2400">
                <a:solidFill>
                  <a:srgbClr val="000000"/>
                </a:solidFill>
                <a:latin typeface="楷体_GB2312" pitchFamily="49" charset="-122"/>
                <a:ea typeface="楷体_GB2312" pitchFamily="49" charset="-122"/>
                <a:cs typeface="Tahoma" panose="020B0604030504040204" pitchFamily="34" charset="0"/>
              </a:rPr>
              <a:t>Finch</a:t>
            </a:r>
            <a:r>
              <a:rPr lang="zh-CN" altLang="en-US" sz="2400">
                <a:solidFill>
                  <a:srgbClr val="000000"/>
                </a:solidFill>
                <a:latin typeface="楷体_GB2312" pitchFamily="49" charset="-122"/>
                <a:ea typeface="楷体_GB2312" pitchFamily="49" charset="-122"/>
                <a:cs typeface="Tahoma" panose="020B0604030504040204" pitchFamily="34" charset="0"/>
              </a:rPr>
              <a:t>、</a:t>
            </a:r>
            <a:r>
              <a:rPr lang="en-US" altLang="zh-CN" sz="2400">
                <a:solidFill>
                  <a:srgbClr val="000000"/>
                </a:solidFill>
                <a:latin typeface="楷体_GB2312" pitchFamily="49" charset="-122"/>
                <a:ea typeface="楷体_GB2312" pitchFamily="49" charset="-122"/>
                <a:cs typeface="Tahoma" panose="020B0604030504040204" pitchFamily="34" charset="0"/>
              </a:rPr>
              <a:t>Eagle</a:t>
            </a:r>
            <a:r>
              <a:rPr lang="zh-CN" altLang="en-US" sz="2400">
                <a:solidFill>
                  <a:srgbClr val="000000"/>
                </a:solidFill>
                <a:latin typeface="楷体_GB2312" pitchFamily="49" charset="-122"/>
                <a:ea typeface="楷体_GB2312" pitchFamily="49" charset="-122"/>
                <a:cs typeface="Tahoma" panose="020B0604030504040204" pitchFamily="34" charset="0"/>
              </a:rPr>
              <a:t>和</a:t>
            </a:r>
            <a:r>
              <a:rPr lang="en-US" altLang="zh-CN" sz="2400">
                <a:solidFill>
                  <a:srgbClr val="000000"/>
                </a:solidFill>
                <a:latin typeface="楷体_GB2312" pitchFamily="49" charset="-122"/>
                <a:ea typeface="楷体_GB2312" pitchFamily="49" charset="-122"/>
                <a:cs typeface="Tahoma" panose="020B0604030504040204" pitchFamily="34" charset="0"/>
              </a:rPr>
              <a:t>Human</a:t>
            </a:r>
            <a:r>
              <a:rPr lang="zh-CN" altLang="en-US" sz="2400">
                <a:solidFill>
                  <a:srgbClr val="000000"/>
                </a:solidFill>
                <a:latin typeface="楷体_GB2312" pitchFamily="49" charset="-122"/>
                <a:ea typeface="楷体_GB2312" pitchFamily="49" charset="-122"/>
                <a:cs typeface="Tahoma" panose="020B0604030504040204" pitchFamily="34" charset="0"/>
              </a:rPr>
              <a:t>类都有</a:t>
            </a:r>
            <a:r>
              <a:rPr lang="en-US" altLang="zh-CN" sz="2400">
                <a:solidFill>
                  <a:srgbClr val="000000"/>
                </a:solidFill>
                <a:latin typeface="楷体_GB2312" pitchFamily="49" charset="-122"/>
                <a:ea typeface="楷体_GB2312" pitchFamily="49" charset="-122"/>
                <a:cs typeface="Tahoma" panose="020B0604030504040204" pitchFamily="34" charset="0"/>
              </a:rPr>
              <a:t>flyTo</a:t>
            </a:r>
            <a:r>
              <a:rPr lang="zh-CN" altLang="en-US" sz="2400">
                <a:solidFill>
                  <a:srgbClr val="000000"/>
                </a:solidFill>
                <a:latin typeface="楷体_GB2312" pitchFamily="49" charset="-122"/>
                <a:ea typeface="楷体_GB2312" pitchFamily="49" charset="-122"/>
                <a:cs typeface="Tahoma" panose="020B0604030504040204" pitchFamily="34" charset="0"/>
              </a:rPr>
              <a:t>方法</a:t>
            </a:r>
            <a:endParaRPr lang="en-US" altLang="zh-CN" sz="2400">
              <a:solidFill>
                <a:srgbClr val="000000"/>
              </a:solidFill>
              <a:latin typeface="楷体_GB2312" pitchFamily="49" charset="-122"/>
              <a:ea typeface="楷体_GB2312" pitchFamily="49" charset="-122"/>
              <a:cs typeface="Tahoma" panose="020B0604030504040204" pitchFamily="34" charset="0"/>
            </a:endParaRPr>
          </a:p>
        </p:txBody>
      </p:sp>
      <p:pic>
        <p:nvPicPr>
          <p:cNvPr id="269316" name="Picture 4"/>
          <p:cNvPicPr>
            <a:picLocks noChangeAspect="1" noChangeArrowheads="1"/>
          </p:cNvPicPr>
          <p:nvPr/>
        </p:nvPicPr>
        <p:blipFill>
          <a:blip r:embed="rId1"/>
          <a:srcRect l="1794" t="4607" r="2306" b="4507"/>
          <a:stretch>
            <a:fillRect/>
          </a:stretch>
        </p:blipFill>
        <p:spPr bwMode="auto">
          <a:xfrm>
            <a:off x="1220788" y="3976688"/>
            <a:ext cx="6816725" cy="2881312"/>
          </a:xfrm>
          <a:prstGeom prst="rect">
            <a:avLst/>
          </a:prstGeom>
          <a:noFill/>
          <a:ln w="9525">
            <a:noFill/>
            <a:miter lim="800000"/>
            <a:headEnd/>
            <a:tailEnd/>
          </a:ln>
        </p:spPr>
      </p:pic>
      <p:sp>
        <p:nvSpPr>
          <p:cNvPr id="269317" name="Text Box 5"/>
          <p:cNvSpPr txBox="1">
            <a:spLocks noChangeArrowheads="1"/>
          </p:cNvSpPr>
          <p:nvPr/>
        </p:nvSpPr>
        <p:spPr bwMode="auto">
          <a:xfrm>
            <a:off x="561975" y="2362200"/>
            <a:ext cx="8124825" cy="457200"/>
          </a:xfrm>
          <a:prstGeom prst="rect">
            <a:avLst/>
          </a:prstGeom>
          <a:noFill/>
          <a:ln w="9525">
            <a:noFill/>
            <a:miter lim="800000"/>
          </a:ln>
        </p:spPr>
        <p:txBody>
          <a:bodyPr>
            <a:spAutoFit/>
          </a:bodyPr>
          <a:lstStyle/>
          <a:p>
            <a:pPr>
              <a:spcBef>
                <a:spcPct val="15000"/>
              </a:spcBef>
              <a:spcAft>
                <a:spcPct val="15000"/>
              </a:spcAft>
              <a:buClr>
                <a:srgbClr val="FF0066"/>
              </a:buClr>
              <a:buFont typeface="Wingdings" panose="05000000000000000000" pitchFamily="2" charset="2"/>
              <a:buChar char="Ø"/>
            </a:pPr>
            <a:r>
              <a:rPr lang="zh-CN" altLang="en-US" sz="2400">
                <a:solidFill>
                  <a:srgbClr val="FF0000"/>
                </a:solidFill>
                <a:latin typeface="楷体_GB2312" pitchFamily="49" charset="-122"/>
                <a:ea typeface="楷体_GB2312" pitchFamily="49" charset="-122"/>
                <a:cs typeface="Tahoma" panose="020B0604030504040204" pitchFamily="34" charset="0"/>
              </a:rPr>
              <a:t> 多态消息</a:t>
            </a:r>
            <a:endParaRPr lang="zh-CN" altLang="en-US" sz="2400">
              <a:solidFill>
                <a:srgbClr val="FF0000"/>
              </a:solidFill>
              <a:latin typeface="楷体_GB2312" pitchFamily="49" charset="-122"/>
              <a:ea typeface="楷体_GB2312" pitchFamily="49" charset="-122"/>
              <a:cs typeface="Tahoma" panose="020B0604030504040204" pitchFamily="34" charset="0"/>
            </a:endParaRPr>
          </a:p>
        </p:txBody>
      </p:sp>
      <p:sp>
        <p:nvSpPr>
          <p:cNvPr id="55301" name="Text Box 7"/>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69320" name="Text Box 8"/>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7" name="灯片编号占位符 6"/>
          <p:cNvSpPr>
            <a:spLocks noGrp="1"/>
          </p:cNvSpPr>
          <p:nvPr>
            <p:ph type="sldNum" sz="quarter" idx="10"/>
          </p:nvPr>
        </p:nvSpPr>
        <p:spPr/>
        <p:txBody>
          <a:bodyPr/>
          <a:lstStyle/>
          <a:p>
            <a:pPr>
              <a:defRPr/>
            </a:pPr>
            <a:r>
              <a:rPr lang="zh-CN" altLang="en-US" smtClean="0"/>
              <a:t>第</a:t>
            </a:r>
            <a:fld id="{3583DC55-C997-48FA-80A2-139B44002933}"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69317"/>
                                        </p:tgtEl>
                                        <p:attrNameLst>
                                          <p:attrName>style.visibility</p:attrName>
                                        </p:attrNameLst>
                                      </p:cBhvr>
                                      <p:to>
                                        <p:strVal val="visible"/>
                                      </p:to>
                                    </p:set>
                                    <p:anim calcmode="lin" valueType="num">
                                      <p:cBhvr additive="base">
                                        <p:cTn id="7" dur="500" fill="hold"/>
                                        <p:tgtEl>
                                          <p:spTgt spid="269317"/>
                                        </p:tgtEl>
                                        <p:attrNameLst>
                                          <p:attrName>ppt_x</p:attrName>
                                        </p:attrNameLst>
                                      </p:cBhvr>
                                      <p:tavLst>
                                        <p:tav tm="0">
                                          <p:val>
                                            <p:strVal val="1+#ppt_w/2"/>
                                          </p:val>
                                        </p:tav>
                                        <p:tav tm="100000">
                                          <p:val>
                                            <p:strVal val="#ppt_x"/>
                                          </p:val>
                                        </p:tav>
                                      </p:tavLst>
                                    </p:anim>
                                    <p:anim calcmode="lin" valueType="num">
                                      <p:cBhvr additive="base">
                                        <p:cTn id="8" dur="500" fill="hold"/>
                                        <p:tgtEl>
                                          <p:spTgt spid="2693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0" presetClass="entr" presetSubtype="0" fill="hold" grpId="0" nodeType="afterEffect">
                                  <p:stCondLst>
                                    <p:cond delay="0"/>
                                  </p:stCondLst>
                                  <p:childTnLst>
                                    <p:set>
                                      <p:cBhvr>
                                        <p:cTn id="11" dur="1" fill="hold">
                                          <p:stCondLst>
                                            <p:cond delay="0"/>
                                          </p:stCondLst>
                                        </p:cTn>
                                        <p:tgtEl>
                                          <p:spTgt spid="269314">
                                            <p:txEl>
                                              <p:pRg st="0" end="0"/>
                                            </p:txEl>
                                          </p:spTgt>
                                        </p:tgtEl>
                                        <p:attrNameLst>
                                          <p:attrName>style.visibility</p:attrName>
                                        </p:attrNameLst>
                                      </p:cBhvr>
                                      <p:to>
                                        <p:strVal val="visible"/>
                                      </p:to>
                                    </p:set>
                                    <p:animEffect transition="in" filter="wedge">
                                      <p:cBhvr>
                                        <p:cTn id="12" dur="2000"/>
                                        <p:tgtEl>
                                          <p:spTgt spid="269314">
                                            <p:txEl>
                                              <p:pRg st="0" end="0"/>
                                            </p:txEl>
                                          </p:spTgt>
                                        </p:tgtEl>
                                      </p:cBhvr>
                                    </p:animEffect>
                                  </p:childTnLst>
                                </p:cTn>
                              </p:par>
                            </p:childTnLst>
                          </p:cTn>
                        </p:par>
                        <p:par>
                          <p:cTn id="13" fill="hold">
                            <p:stCondLst>
                              <p:cond delay="2500"/>
                            </p:stCondLst>
                            <p:childTnLst>
                              <p:par>
                                <p:cTn id="14" presetID="9" presetClass="entr" presetSubtype="0" fill="hold" nodeType="afterEffect">
                                  <p:stCondLst>
                                    <p:cond delay="0"/>
                                  </p:stCondLst>
                                  <p:childTnLst>
                                    <p:set>
                                      <p:cBhvr>
                                        <p:cTn id="15" dur="1" fill="hold">
                                          <p:stCondLst>
                                            <p:cond delay="0"/>
                                          </p:stCondLst>
                                        </p:cTn>
                                        <p:tgtEl>
                                          <p:spTgt spid="269316"/>
                                        </p:tgtEl>
                                        <p:attrNameLst>
                                          <p:attrName>style.visibility</p:attrName>
                                        </p:attrNameLst>
                                      </p:cBhvr>
                                      <p:to>
                                        <p:strVal val="visible"/>
                                      </p:to>
                                    </p:set>
                                    <p:animEffect transition="in" filter="dissolve">
                                      <p:cBhvr>
                                        <p:cTn id="16" dur="500"/>
                                        <p:tgtEl>
                                          <p:spTgt spid="269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14" grpId="0" build="p"/>
      <p:bldP spid="2693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ext Box 2"/>
          <p:cNvSpPr txBox="1">
            <a:spLocks noChangeArrowheads="1"/>
          </p:cNvSpPr>
          <p:nvPr/>
        </p:nvSpPr>
        <p:spPr bwMode="auto">
          <a:xfrm>
            <a:off x="936625" y="2882900"/>
            <a:ext cx="7597775" cy="2862263"/>
          </a:xfrm>
          <a:prstGeom prst="rect">
            <a:avLst/>
          </a:prstGeom>
          <a:noFill/>
          <a:ln w="9525">
            <a:noFill/>
            <a:miter lim="800000"/>
          </a:ln>
          <a:effectLst/>
        </p:spPr>
        <p:txBody>
          <a:bodyPr>
            <a:spAutoFit/>
          </a:bodyPr>
          <a:lstStyle/>
          <a:p>
            <a:pPr>
              <a:spcBef>
                <a:spcPct val="20000"/>
              </a:spcBef>
              <a:spcAft>
                <a:spcPct val="20000"/>
              </a:spcAft>
              <a:buClr>
                <a:schemeClr val="tx2"/>
              </a:buClr>
              <a:buFont typeface="Wingdings" panose="05000000000000000000" pitchFamily="2" charset="2"/>
              <a:buChar char="¯"/>
              <a:defRPr/>
            </a:pPr>
            <a:r>
              <a:rPr lang="en-US" altLang="zh-CN" sz="2400" b="1" dirty="0">
                <a:solidFill>
                  <a:srgbClr val="000000"/>
                </a:solidFill>
                <a:effectLst>
                  <a:outerShdw blurRad="38100" dist="38100" dir="2700000" algn="tl">
                    <a:srgbClr val="C0C0C0"/>
                  </a:outerShdw>
                </a:effectLst>
                <a:latin typeface="楷体_GB2312" pitchFamily="49" charset="-122"/>
                <a:ea typeface="楷体_GB2312" pitchFamily="49" charset="-122"/>
                <a:cs typeface="Tahoma" panose="020B0604030504040204" pitchFamily="34" charset="0"/>
              </a:rPr>
              <a:t> </a:t>
            </a:r>
            <a:r>
              <a:rPr lang="en-US" altLang="zh-CN" sz="2000" dirty="0">
                <a:solidFill>
                  <a:srgbClr val="000000"/>
                </a:solidFill>
                <a:latin typeface="楷体_GB2312" pitchFamily="49" charset="-122"/>
                <a:ea typeface="楷体_GB2312" pitchFamily="49" charset="-122"/>
                <a:cs typeface="Tahoma" panose="020B0604030504040204" pitchFamily="34" charset="0"/>
              </a:rPr>
              <a:t>Finch</a:t>
            </a:r>
            <a:r>
              <a:rPr lang="zh-CN" altLang="en-US" sz="2000" dirty="0">
                <a:solidFill>
                  <a:srgbClr val="000000"/>
                </a:solidFill>
                <a:latin typeface="楷体_GB2312" pitchFamily="49" charset="-122"/>
                <a:ea typeface="楷体_GB2312" pitchFamily="49" charset="-122"/>
                <a:cs typeface="Tahoma" panose="020B0604030504040204" pitchFamily="34" charset="0"/>
              </a:rPr>
              <a:t>类和</a:t>
            </a:r>
            <a:r>
              <a:rPr lang="en-US" altLang="zh-CN" sz="2000" dirty="0">
                <a:solidFill>
                  <a:srgbClr val="000000"/>
                </a:solidFill>
                <a:latin typeface="楷体_GB2312" pitchFamily="49" charset="-122"/>
                <a:ea typeface="楷体_GB2312" pitchFamily="49" charset="-122"/>
                <a:cs typeface="Tahoma" panose="020B0604030504040204" pitchFamily="34" charset="0"/>
              </a:rPr>
              <a:t>Eagle</a:t>
            </a:r>
            <a:r>
              <a:rPr lang="zh-CN" altLang="en-US" sz="2000" dirty="0">
                <a:solidFill>
                  <a:srgbClr val="000000"/>
                </a:solidFill>
                <a:latin typeface="楷体_GB2312" pitchFamily="49" charset="-122"/>
                <a:ea typeface="楷体_GB2312" pitchFamily="49" charset="-122"/>
                <a:cs typeface="Tahoma" panose="020B0604030504040204" pitchFamily="34" charset="0"/>
              </a:rPr>
              <a:t>类的</a:t>
            </a:r>
            <a:r>
              <a:rPr lang="en-US" altLang="zh-CN" sz="2000" dirty="0" err="1">
                <a:solidFill>
                  <a:srgbClr val="000000"/>
                </a:solidFill>
                <a:latin typeface="楷体_GB2312" pitchFamily="49" charset="-122"/>
                <a:ea typeface="楷体_GB2312" pitchFamily="49" charset="-122"/>
                <a:cs typeface="Tahoma" panose="020B0604030504040204" pitchFamily="34" charset="0"/>
              </a:rPr>
              <a:t>flyTo</a:t>
            </a:r>
            <a:r>
              <a:rPr lang="zh-CN" altLang="en-US" sz="2000" dirty="0">
                <a:solidFill>
                  <a:srgbClr val="000000"/>
                </a:solidFill>
                <a:latin typeface="楷体_GB2312" pitchFamily="49" charset="-122"/>
                <a:ea typeface="楷体_GB2312" pitchFamily="49" charset="-122"/>
                <a:cs typeface="Tahoma" panose="020B0604030504040204" pitchFamily="34" charset="0"/>
              </a:rPr>
              <a:t>方法有着类似的算法（都用来描述鸟类的飞行，但是雀类和鹰类的具体飞行方式仍有区别）；</a:t>
            </a:r>
            <a:endParaRPr lang="zh-CN" altLang="en-US" sz="2000" dirty="0">
              <a:solidFill>
                <a:srgbClr val="000000"/>
              </a:solidFill>
              <a:latin typeface="楷体_GB2312" pitchFamily="49" charset="-122"/>
              <a:ea typeface="楷体_GB2312" pitchFamily="49" charset="-122"/>
              <a:cs typeface="Tahoma" panose="020B0604030504040204" pitchFamily="34" charset="0"/>
            </a:endParaRPr>
          </a:p>
          <a:p>
            <a:pPr>
              <a:spcBef>
                <a:spcPct val="20000"/>
              </a:spcBef>
              <a:spcAft>
                <a:spcPct val="20000"/>
              </a:spcAft>
              <a:buClr>
                <a:schemeClr val="tx2"/>
              </a:buClr>
              <a:buFont typeface="Wingdings" panose="05000000000000000000" pitchFamily="2" charset="2"/>
              <a:buChar char="¯"/>
              <a:defRPr/>
            </a:pPr>
            <a:r>
              <a:rPr lang="en-US" altLang="zh-CN" sz="2000" dirty="0">
                <a:solidFill>
                  <a:srgbClr val="000000"/>
                </a:solidFill>
                <a:latin typeface="楷体_GB2312" pitchFamily="49" charset="-122"/>
                <a:ea typeface="楷体_GB2312" pitchFamily="49" charset="-122"/>
                <a:cs typeface="Tahoma" panose="020B0604030504040204" pitchFamily="34" charset="0"/>
              </a:rPr>
              <a:t> </a:t>
            </a:r>
            <a:r>
              <a:rPr lang="en-US" altLang="zh-CN" sz="2000" dirty="0" err="1">
                <a:solidFill>
                  <a:srgbClr val="000000"/>
                </a:solidFill>
                <a:latin typeface="楷体_GB2312" pitchFamily="49" charset="-122"/>
                <a:ea typeface="楷体_GB2312" pitchFamily="49" charset="-122"/>
                <a:cs typeface="Tahoma" panose="020B0604030504040204" pitchFamily="34" charset="0"/>
              </a:rPr>
              <a:t>flyTo</a:t>
            </a:r>
            <a:r>
              <a:rPr lang="zh-CN" altLang="en-US" sz="2000" dirty="0">
                <a:solidFill>
                  <a:srgbClr val="000000"/>
                </a:solidFill>
                <a:latin typeface="楷体_GB2312" pitchFamily="49" charset="-122"/>
                <a:ea typeface="楷体_GB2312" pitchFamily="49" charset="-122"/>
                <a:cs typeface="Tahoma" panose="020B0604030504040204" pitchFamily="34" charset="0"/>
              </a:rPr>
              <a:t>方法在</a:t>
            </a:r>
            <a:r>
              <a:rPr lang="en-US" altLang="zh-CN" sz="2000" dirty="0">
                <a:solidFill>
                  <a:srgbClr val="000000"/>
                </a:solidFill>
                <a:latin typeface="楷体_GB2312" pitchFamily="49" charset="-122"/>
                <a:ea typeface="楷体_GB2312" pitchFamily="49" charset="-122"/>
                <a:cs typeface="Tahoma" panose="020B0604030504040204" pitchFamily="34" charset="0"/>
              </a:rPr>
              <a:t>Human</a:t>
            </a:r>
            <a:r>
              <a:rPr lang="zh-CN" altLang="en-US" sz="2000" dirty="0">
                <a:solidFill>
                  <a:srgbClr val="000000"/>
                </a:solidFill>
                <a:latin typeface="楷体_GB2312" pitchFamily="49" charset="-122"/>
                <a:ea typeface="楷体_GB2312" pitchFamily="49" charset="-122"/>
                <a:cs typeface="Tahoma" panose="020B0604030504040204" pitchFamily="34" charset="0"/>
              </a:rPr>
              <a:t>类中是独立定义的，它与</a:t>
            </a:r>
            <a:r>
              <a:rPr lang="en-US" altLang="zh-CN" sz="2000" dirty="0">
                <a:solidFill>
                  <a:srgbClr val="000000"/>
                </a:solidFill>
                <a:latin typeface="楷体_GB2312" pitchFamily="49" charset="-122"/>
                <a:ea typeface="楷体_GB2312" pitchFamily="49" charset="-122"/>
                <a:cs typeface="Tahoma" panose="020B0604030504040204" pitchFamily="34" charset="0"/>
              </a:rPr>
              <a:t>Finch</a:t>
            </a:r>
            <a:r>
              <a:rPr lang="zh-CN" altLang="en-US" sz="2000" dirty="0">
                <a:solidFill>
                  <a:srgbClr val="000000"/>
                </a:solidFill>
                <a:latin typeface="楷体_GB2312" pitchFamily="49" charset="-122"/>
                <a:ea typeface="楷体_GB2312" pitchFamily="49" charset="-122"/>
                <a:cs typeface="Tahoma" panose="020B0604030504040204" pitchFamily="34" charset="0"/>
              </a:rPr>
              <a:t>类和</a:t>
            </a:r>
            <a:r>
              <a:rPr lang="en-US" altLang="zh-CN" sz="2000" dirty="0">
                <a:solidFill>
                  <a:srgbClr val="000000"/>
                </a:solidFill>
                <a:latin typeface="楷体_GB2312" pitchFamily="49" charset="-122"/>
                <a:ea typeface="楷体_GB2312" pitchFamily="49" charset="-122"/>
                <a:cs typeface="Tahoma" panose="020B0604030504040204" pitchFamily="34" charset="0"/>
              </a:rPr>
              <a:t>Eagle</a:t>
            </a:r>
            <a:r>
              <a:rPr lang="zh-CN" altLang="en-US" sz="2000" dirty="0">
                <a:solidFill>
                  <a:srgbClr val="000000"/>
                </a:solidFill>
                <a:latin typeface="楷体_GB2312" pitchFamily="49" charset="-122"/>
                <a:ea typeface="楷体_GB2312" pitchFamily="49" charset="-122"/>
                <a:cs typeface="Tahoma" panose="020B0604030504040204" pitchFamily="34" charset="0"/>
              </a:rPr>
              <a:t>类中的</a:t>
            </a:r>
            <a:r>
              <a:rPr lang="en-US" altLang="zh-CN" sz="2000" dirty="0" err="1">
                <a:solidFill>
                  <a:srgbClr val="000000"/>
                </a:solidFill>
                <a:latin typeface="楷体_GB2312" pitchFamily="49" charset="-122"/>
                <a:ea typeface="楷体_GB2312" pitchFamily="49" charset="-122"/>
                <a:cs typeface="Tahoma" panose="020B0604030504040204" pitchFamily="34" charset="0"/>
              </a:rPr>
              <a:t>flyTo</a:t>
            </a:r>
            <a:r>
              <a:rPr lang="zh-CN" altLang="en-US" sz="2000" dirty="0">
                <a:solidFill>
                  <a:srgbClr val="000000"/>
                </a:solidFill>
                <a:latin typeface="楷体_GB2312" pitchFamily="49" charset="-122"/>
                <a:ea typeface="楷体_GB2312" pitchFamily="49" charset="-122"/>
                <a:cs typeface="Tahoma" panose="020B0604030504040204" pitchFamily="34" charset="0"/>
              </a:rPr>
              <a:t>方法有着完全不同的算法（人类是不能飞行，只能乘坐飞机）；</a:t>
            </a:r>
            <a:endParaRPr lang="zh-CN" altLang="en-US" sz="2000" dirty="0">
              <a:solidFill>
                <a:srgbClr val="000000"/>
              </a:solidFill>
              <a:latin typeface="楷体_GB2312" pitchFamily="49" charset="-122"/>
              <a:ea typeface="楷体_GB2312" pitchFamily="49" charset="-122"/>
              <a:cs typeface="Tahoma" panose="020B0604030504040204" pitchFamily="34" charset="0"/>
            </a:endParaRPr>
          </a:p>
          <a:p>
            <a:pPr>
              <a:spcBef>
                <a:spcPct val="20000"/>
              </a:spcBef>
              <a:spcAft>
                <a:spcPct val="20000"/>
              </a:spcAft>
              <a:buClr>
                <a:schemeClr val="tx2"/>
              </a:buClr>
              <a:buFont typeface="Wingdings" panose="05000000000000000000" pitchFamily="2" charset="2"/>
              <a:buChar char="¯"/>
              <a:defRPr/>
            </a:pPr>
            <a:r>
              <a:rPr lang="zh-CN" altLang="en-US" sz="2000" dirty="0">
                <a:solidFill>
                  <a:srgbClr val="000000"/>
                </a:solidFill>
                <a:latin typeface="楷体_GB2312" pitchFamily="49" charset="-122"/>
                <a:ea typeface="楷体_GB2312" pitchFamily="49" charset="-122"/>
                <a:cs typeface="Tahoma" panose="020B0604030504040204" pitchFamily="34" charset="0"/>
              </a:rPr>
              <a:t> 上述例子说明，在面向对象的语言中，任何消息都可以关联多个方法，这些方法或者是在多个类中是独立的，或者由子类重新定义了。</a:t>
            </a:r>
            <a:endParaRPr lang="en-US" altLang="zh-CN" sz="2000" dirty="0">
              <a:solidFill>
                <a:srgbClr val="000000"/>
              </a:solidFill>
              <a:latin typeface="楷体_GB2312" pitchFamily="49" charset="-122"/>
              <a:ea typeface="楷体_GB2312" pitchFamily="49" charset="-122"/>
              <a:cs typeface="Tahoma" panose="020B0604030504040204" pitchFamily="34" charset="0"/>
            </a:endParaRPr>
          </a:p>
        </p:txBody>
      </p:sp>
      <p:sp>
        <p:nvSpPr>
          <p:cNvPr id="270342" name="Text Box 6"/>
          <p:cNvSpPr txBox="1">
            <a:spLocks noChangeArrowheads="1"/>
          </p:cNvSpPr>
          <p:nvPr/>
        </p:nvSpPr>
        <p:spPr bwMode="auto">
          <a:xfrm>
            <a:off x="561975" y="2362200"/>
            <a:ext cx="8124825" cy="457200"/>
          </a:xfrm>
          <a:prstGeom prst="rect">
            <a:avLst/>
          </a:prstGeom>
          <a:noFill/>
          <a:ln w="9525">
            <a:noFill/>
            <a:miter lim="800000"/>
          </a:ln>
        </p:spPr>
        <p:txBody>
          <a:bodyPr>
            <a:spAutoFit/>
          </a:bodyPr>
          <a:lstStyle/>
          <a:p>
            <a:pPr>
              <a:spcBef>
                <a:spcPct val="15000"/>
              </a:spcBef>
              <a:spcAft>
                <a:spcPct val="15000"/>
              </a:spcAft>
              <a:buClr>
                <a:srgbClr val="FF0066"/>
              </a:buClr>
              <a:buFont typeface="Wingdings" panose="05000000000000000000" pitchFamily="2" charset="2"/>
              <a:buChar char="Ø"/>
            </a:pPr>
            <a:r>
              <a:rPr lang="zh-CN" altLang="en-US" sz="2400">
                <a:solidFill>
                  <a:schemeClr val="accent2"/>
                </a:solidFill>
                <a:latin typeface="楷体_GB2312" pitchFamily="49" charset="-122"/>
                <a:ea typeface="楷体_GB2312" pitchFamily="49" charset="-122"/>
                <a:cs typeface="Tahoma" panose="020B0604030504040204" pitchFamily="34" charset="0"/>
              </a:rPr>
              <a:t> </a:t>
            </a:r>
            <a:r>
              <a:rPr lang="zh-CN" altLang="en-US" sz="2400">
                <a:solidFill>
                  <a:srgbClr val="FF0000"/>
                </a:solidFill>
                <a:latin typeface="楷体_GB2312" pitchFamily="49" charset="-122"/>
                <a:ea typeface="楷体_GB2312" pitchFamily="49" charset="-122"/>
                <a:cs typeface="Tahoma" panose="020B0604030504040204" pitchFamily="34" charset="0"/>
              </a:rPr>
              <a:t>多态消息</a:t>
            </a:r>
            <a:endParaRPr lang="zh-CN" altLang="en-US" sz="2400">
              <a:solidFill>
                <a:srgbClr val="FF0000"/>
              </a:solidFill>
              <a:latin typeface="楷体_GB2312" pitchFamily="49" charset="-122"/>
              <a:ea typeface="楷体_GB2312" pitchFamily="49" charset="-122"/>
              <a:cs typeface="Tahoma" panose="020B0604030504040204" pitchFamily="34" charset="0"/>
            </a:endParaRPr>
          </a:p>
        </p:txBody>
      </p:sp>
      <p:sp>
        <p:nvSpPr>
          <p:cNvPr id="56324" name="Text Box 7"/>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二、面向对象的三大要素</a:t>
            </a:r>
            <a:endParaRPr lang="zh-CN" altLang="en-US" sz="4000" i="1">
              <a:latin typeface="黑体" panose="02010609060101010101" pitchFamily="2" charset="-122"/>
              <a:ea typeface="黑体" panose="02010609060101010101" pitchFamily="2" charset="-122"/>
            </a:endParaRPr>
          </a:p>
        </p:txBody>
      </p:sp>
      <p:sp>
        <p:nvSpPr>
          <p:cNvPr id="270344" name="Text Box 8"/>
          <p:cNvSpPr txBox="1">
            <a:spLocks noChangeArrowheads="1"/>
          </p:cNvSpPr>
          <p:nvPr/>
        </p:nvSpPr>
        <p:spPr bwMode="auto">
          <a:xfrm>
            <a:off x="609600" y="1752600"/>
            <a:ext cx="1447800" cy="519113"/>
          </a:xfrm>
          <a:prstGeom prst="rect">
            <a:avLst/>
          </a:prstGeom>
          <a:solidFill>
            <a:srgbClr val="FFDF79"/>
          </a:solidFill>
          <a:ln w="9525">
            <a:noFill/>
            <a:miter lim="800000"/>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anose="02010609060101010101" pitchFamily="2" charset="-122"/>
                <a:ea typeface="黑体" panose="02010609060101010101" pitchFamily="2" charset="-122"/>
              </a:rPr>
              <a:t>3</a:t>
            </a:r>
            <a:r>
              <a:rPr lang="zh-CN" altLang="en-US" sz="2800" b="1">
                <a:effectLst>
                  <a:outerShdw blurRad="38100" dist="38100" dir="2700000" algn="tl">
                    <a:srgbClr val="FFFFFF"/>
                  </a:outerShdw>
                </a:effectLst>
                <a:latin typeface="黑体" panose="02010609060101010101" pitchFamily="2" charset="-122"/>
                <a:ea typeface="黑体" panose="02010609060101010101" pitchFamily="2" charset="-122"/>
              </a:rPr>
              <a:t>、多态</a:t>
            </a:r>
            <a:r>
              <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rPr>
              <a:t> </a:t>
            </a:r>
            <a:endParaRPr lang="en-US" altLang="zh-CN" sz="2800" b="1" i="1">
              <a:solidFill>
                <a:srgbClr val="FFCCFF"/>
              </a:solidFill>
              <a:effectLst>
                <a:outerShdw blurRad="38100" dist="38100" dir="2700000" algn="tl">
                  <a:srgbClr val="000000"/>
                </a:outerShdw>
              </a:effectLst>
              <a:latin typeface="黑体" panose="02010609060101010101" pitchFamily="2" charset="-122"/>
              <a:ea typeface="黑体" panose="02010609060101010101" pitchFamily="2" charset="-122"/>
            </a:endParaRPr>
          </a:p>
        </p:txBody>
      </p:sp>
      <p:sp>
        <p:nvSpPr>
          <p:cNvPr id="6" name="灯片编号占位符 5"/>
          <p:cNvSpPr>
            <a:spLocks noGrp="1"/>
          </p:cNvSpPr>
          <p:nvPr>
            <p:ph type="sldNum" sz="quarter" idx="10"/>
          </p:nvPr>
        </p:nvSpPr>
        <p:spPr/>
        <p:txBody>
          <a:bodyPr/>
          <a:lstStyle/>
          <a:p>
            <a:pPr>
              <a:defRPr/>
            </a:pPr>
            <a:r>
              <a:rPr lang="zh-CN" altLang="en-US" smtClean="0"/>
              <a:t>第</a:t>
            </a:r>
            <a:fld id="{83667553-DF4A-47E2-BC13-0244AB627022}" type="slidenum">
              <a:rPr lang="zh-CN" altLang="en-US" smtClean="0"/>
            </a:fld>
            <a:r>
              <a:rPr lang="zh-CN" altLang="en-US" smtClean="0"/>
              <a:t>页</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afterEffect">
                                  <p:stCondLst>
                                    <p:cond delay="0"/>
                                  </p:stCondLst>
                                  <p:childTnLst>
                                    <p:set>
                                      <p:cBhvr>
                                        <p:cTn id="6" dur="1" fill="hold">
                                          <p:stCondLst>
                                            <p:cond delay="0"/>
                                          </p:stCondLst>
                                        </p:cTn>
                                        <p:tgtEl>
                                          <p:spTgt spid="270338">
                                            <p:txEl>
                                              <p:pRg st="0" end="0"/>
                                            </p:txEl>
                                          </p:spTgt>
                                        </p:tgtEl>
                                        <p:attrNameLst>
                                          <p:attrName>style.visibility</p:attrName>
                                        </p:attrNameLst>
                                      </p:cBhvr>
                                      <p:to>
                                        <p:strVal val="visible"/>
                                      </p:to>
                                    </p:set>
                                    <p:animEffect transition="in" filter="wedge">
                                      <p:cBhvr>
                                        <p:cTn id="7" dur="2000"/>
                                        <p:tgtEl>
                                          <p:spTgt spid="270338">
                                            <p:txEl>
                                              <p:pRg st="0" end="0"/>
                                            </p:txEl>
                                          </p:spTgt>
                                        </p:tgtEl>
                                      </p:cBhvr>
                                    </p:animEffect>
                                  </p:childTnLst>
                                </p:cTn>
                              </p:par>
                            </p:childTnLst>
                          </p:cTn>
                        </p:par>
                        <p:par>
                          <p:cTn id="8" fill="hold">
                            <p:stCondLst>
                              <p:cond delay="2000"/>
                            </p:stCondLst>
                            <p:childTnLst>
                              <p:par>
                                <p:cTn id="9" presetID="20" presetClass="entr" presetSubtype="0" fill="hold" grpId="0" nodeType="afterEffect">
                                  <p:stCondLst>
                                    <p:cond delay="0"/>
                                  </p:stCondLst>
                                  <p:childTnLst>
                                    <p:set>
                                      <p:cBhvr>
                                        <p:cTn id="10" dur="1" fill="hold">
                                          <p:stCondLst>
                                            <p:cond delay="0"/>
                                          </p:stCondLst>
                                        </p:cTn>
                                        <p:tgtEl>
                                          <p:spTgt spid="270338">
                                            <p:txEl>
                                              <p:pRg st="1" end="1"/>
                                            </p:txEl>
                                          </p:spTgt>
                                        </p:tgtEl>
                                        <p:attrNameLst>
                                          <p:attrName>style.visibility</p:attrName>
                                        </p:attrNameLst>
                                      </p:cBhvr>
                                      <p:to>
                                        <p:strVal val="visible"/>
                                      </p:to>
                                    </p:set>
                                    <p:animEffect transition="in" filter="wedge">
                                      <p:cBhvr>
                                        <p:cTn id="11" dur="2000"/>
                                        <p:tgtEl>
                                          <p:spTgt spid="270338">
                                            <p:txEl>
                                              <p:pRg st="1" end="1"/>
                                            </p:txEl>
                                          </p:spTgt>
                                        </p:tgtEl>
                                      </p:cBhvr>
                                    </p:animEffect>
                                  </p:childTnLst>
                                </p:cTn>
                              </p:par>
                            </p:childTnLst>
                          </p:cTn>
                        </p:par>
                        <p:par>
                          <p:cTn id="12" fill="hold">
                            <p:stCondLst>
                              <p:cond delay="4000"/>
                            </p:stCondLst>
                            <p:childTnLst>
                              <p:par>
                                <p:cTn id="13" presetID="20" presetClass="entr" presetSubtype="0" fill="hold" grpId="0" nodeType="afterEffect">
                                  <p:stCondLst>
                                    <p:cond delay="0"/>
                                  </p:stCondLst>
                                  <p:childTnLst>
                                    <p:set>
                                      <p:cBhvr>
                                        <p:cTn id="14" dur="1" fill="hold">
                                          <p:stCondLst>
                                            <p:cond delay="0"/>
                                          </p:stCondLst>
                                        </p:cTn>
                                        <p:tgtEl>
                                          <p:spTgt spid="270338">
                                            <p:txEl>
                                              <p:pRg st="2" end="2"/>
                                            </p:txEl>
                                          </p:spTgt>
                                        </p:tgtEl>
                                        <p:attrNameLst>
                                          <p:attrName>style.visibility</p:attrName>
                                        </p:attrNameLst>
                                      </p:cBhvr>
                                      <p:to>
                                        <p:strVal val="visible"/>
                                      </p:to>
                                    </p:set>
                                    <p:animEffect transition="in" filter="wedge">
                                      <p:cBhvr>
                                        <p:cTn id="15" dur="2000"/>
                                        <p:tgtEl>
                                          <p:spTgt spid="270338">
                                            <p:txEl>
                                              <p:pRg st="2" end="2"/>
                                            </p:txEl>
                                          </p:spTgt>
                                        </p:tgtEl>
                                      </p:cBhvr>
                                    </p:animEffect>
                                  </p:childTnLst>
                                </p:cTn>
                              </p:par>
                            </p:childTnLst>
                          </p:cTn>
                        </p:par>
                        <p:par>
                          <p:cTn id="16" fill="hold">
                            <p:stCondLst>
                              <p:cond delay="6000"/>
                            </p:stCondLst>
                            <p:childTnLst>
                              <p:par>
                                <p:cTn id="17" presetID="2" presetClass="entr" presetSubtype="2" fill="hold" grpId="0" nodeType="afterEffect">
                                  <p:stCondLst>
                                    <p:cond delay="0"/>
                                  </p:stCondLst>
                                  <p:childTnLst>
                                    <p:set>
                                      <p:cBhvr>
                                        <p:cTn id="18" dur="1" fill="hold">
                                          <p:stCondLst>
                                            <p:cond delay="0"/>
                                          </p:stCondLst>
                                        </p:cTn>
                                        <p:tgtEl>
                                          <p:spTgt spid="270342"/>
                                        </p:tgtEl>
                                        <p:attrNameLst>
                                          <p:attrName>style.visibility</p:attrName>
                                        </p:attrNameLst>
                                      </p:cBhvr>
                                      <p:to>
                                        <p:strVal val="visible"/>
                                      </p:to>
                                    </p:set>
                                    <p:anim calcmode="lin" valueType="num">
                                      <p:cBhvr additive="base">
                                        <p:cTn id="19" dur="500" fill="hold"/>
                                        <p:tgtEl>
                                          <p:spTgt spid="270342"/>
                                        </p:tgtEl>
                                        <p:attrNameLst>
                                          <p:attrName>ppt_x</p:attrName>
                                        </p:attrNameLst>
                                      </p:cBhvr>
                                      <p:tavLst>
                                        <p:tav tm="0">
                                          <p:val>
                                            <p:strVal val="1+#ppt_w/2"/>
                                          </p:val>
                                        </p:tav>
                                        <p:tav tm="100000">
                                          <p:val>
                                            <p:strVal val="#ppt_x"/>
                                          </p:val>
                                        </p:tav>
                                      </p:tavLst>
                                    </p:anim>
                                    <p:anim calcmode="lin" valueType="num">
                                      <p:cBhvr additive="base">
                                        <p:cTn id="20" dur="500" fill="hold"/>
                                        <p:tgtEl>
                                          <p:spTgt spid="2703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38" grpId="0" build="p"/>
      <p:bldP spid="27034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7" name="Text Box 3"/>
          <p:cNvSpPr txBox="1">
            <a:spLocks noChangeArrowheads="1"/>
          </p:cNvSpPr>
          <p:nvPr/>
        </p:nvSpPr>
        <p:spPr bwMode="auto">
          <a:xfrm>
            <a:off x="547688" y="1143000"/>
            <a:ext cx="7986712" cy="1073150"/>
          </a:xfrm>
          <a:prstGeom prst="rect">
            <a:avLst/>
          </a:prstGeom>
          <a:noFill/>
          <a:ln w="9525">
            <a:noFill/>
            <a:miter lim="800000"/>
          </a:ln>
        </p:spPr>
        <p:txBody>
          <a:bodyPr>
            <a:spAutoFit/>
          </a:bodyPr>
          <a:lstStyle/>
          <a:p>
            <a:pPr>
              <a:spcBef>
                <a:spcPct val="15000"/>
              </a:spcBef>
              <a:spcAft>
                <a:spcPct val="15000"/>
              </a:spcAft>
              <a:buFont typeface="Wingdings" panose="05000000000000000000" pitchFamily="2" charset="2"/>
              <a:buNone/>
            </a:pPr>
            <a:endParaRPr lang="en-US" altLang="zh-CN" sz="2800">
              <a:latin typeface="楷体_GB2312" pitchFamily="49" charset="-122"/>
              <a:ea typeface="楷体_GB2312" pitchFamily="49" charset="-122"/>
            </a:endParaRPr>
          </a:p>
          <a:p>
            <a:pPr>
              <a:spcBef>
                <a:spcPct val="15000"/>
              </a:spcBef>
              <a:spcAft>
                <a:spcPct val="15000"/>
              </a:spcAft>
              <a:buFont typeface="Wingdings" panose="05000000000000000000" pitchFamily="2" charset="2"/>
              <a:buChar char="Ø"/>
            </a:pPr>
            <a:r>
              <a:rPr lang="en-US" altLang="zh-CN" sz="2800">
                <a:latin typeface="楷体_GB2312" pitchFamily="49" charset="-122"/>
                <a:ea typeface="楷体_GB2312" pitchFamily="49" charset="-122"/>
              </a:rPr>
              <a:t> UML</a:t>
            </a:r>
            <a:endParaRPr lang="en-US" altLang="zh-CN" sz="2800">
              <a:latin typeface="楷体_GB2312" pitchFamily="49" charset="-122"/>
              <a:ea typeface="楷体_GB2312" pitchFamily="49" charset="-122"/>
            </a:endParaRPr>
          </a:p>
        </p:txBody>
      </p:sp>
      <p:sp>
        <p:nvSpPr>
          <p:cNvPr id="195588" name="Text Box 4"/>
          <p:cNvSpPr txBox="1">
            <a:spLocks noChangeArrowheads="1"/>
          </p:cNvSpPr>
          <p:nvPr/>
        </p:nvSpPr>
        <p:spPr bwMode="auto">
          <a:xfrm>
            <a:off x="1066800" y="2389188"/>
            <a:ext cx="7539038" cy="2251075"/>
          </a:xfrm>
          <a:prstGeom prst="rect">
            <a:avLst/>
          </a:prstGeom>
          <a:noFill/>
          <a:ln w="9525">
            <a:noFill/>
            <a:miter lim="800000"/>
          </a:ln>
          <a:effectLst/>
        </p:spPr>
        <p:txBody>
          <a:bodyPr>
            <a:spAutoFit/>
          </a:bodyPr>
          <a:lstStyle/>
          <a:p>
            <a:pPr>
              <a:spcBef>
                <a:spcPct val="15000"/>
              </a:spcBef>
              <a:spcAft>
                <a:spcPct val="15000"/>
              </a:spcAft>
              <a:buClr>
                <a:srgbClr val="660033"/>
              </a:buClr>
              <a:buFont typeface="Wingdings" panose="05000000000000000000" pitchFamily="2" charset="2"/>
              <a:buChar char="¯"/>
              <a:defRPr/>
            </a:pPr>
            <a:r>
              <a:rPr kumimoji="1" lang="en-US" altLang="zh-CN" sz="2400">
                <a:effectLst>
                  <a:outerShdw blurRad="38100" dist="38100" dir="2700000" algn="tl">
                    <a:srgbClr val="C0C0C0"/>
                  </a:outerShdw>
                </a:effectLst>
                <a:latin typeface="楷体_GB2312" pitchFamily="49" charset="-122"/>
                <a:ea typeface="楷体_GB2312" pitchFamily="49" charset="-122"/>
              </a:rPr>
              <a:t> </a:t>
            </a:r>
            <a:r>
              <a:rPr kumimoji="1" lang="zh-CN" altLang="en-US" sz="2400">
                <a:effectLst>
                  <a:outerShdw blurRad="38100" dist="38100" dir="2700000" algn="tl">
                    <a:srgbClr val="C0C0C0"/>
                  </a:outerShdw>
                </a:effectLst>
                <a:latin typeface="楷体_GB2312" pitchFamily="49" charset="-122"/>
                <a:ea typeface="楷体_GB2312" pitchFamily="49" charset="-122"/>
              </a:rPr>
              <a:t>统一</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建模</a:t>
            </a:r>
            <a:r>
              <a:rPr kumimoji="1" lang="zh-CN" altLang="en-US" sz="2400">
                <a:effectLst>
                  <a:outerShdw blurRad="38100" dist="38100" dir="2700000" algn="tl">
                    <a:srgbClr val="C0C0C0"/>
                  </a:outerShdw>
                </a:effectLst>
                <a:latin typeface="楷体_GB2312" pitchFamily="49" charset="-122"/>
                <a:ea typeface="楷体_GB2312" pitchFamily="49" charset="-122"/>
              </a:rPr>
              <a:t>语言（</a:t>
            </a:r>
            <a:r>
              <a:rPr kumimoji="1" lang="en-US" altLang="zh-CN" sz="2400">
                <a:effectLst>
                  <a:outerShdw blurRad="38100" dist="38100" dir="2700000" algn="tl">
                    <a:srgbClr val="C0C0C0"/>
                  </a:outerShdw>
                </a:effectLst>
                <a:latin typeface="楷体_GB2312" pitchFamily="49" charset="-122"/>
                <a:ea typeface="楷体_GB2312" pitchFamily="49" charset="-122"/>
              </a:rPr>
              <a:t>Unified Modeling Language</a:t>
            </a:r>
            <a:r>
              <a:rPr kumimoji="1" lang="zh-CN" altLang="en-US" sz="2400">
                <a:effectLst>
                  <a:outerShdw blurRad="38100" dist="38100" dir="2700000" algn="tl">
                    <a:srgbClr val="C0C0C0"/>
                  </a:outerShdw>
                </a:effectLst>
                <a:latin typeface="楷体_GB2312" pitchFamily="49" charset="-122"/>
                <a:ea typeface="楷体_GB2312" pitchFamily="49" charset="-122"/>
              </a:rPr>
              <a:t>）</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统一</a:t>
            </a:r>
            <a:r>
              <a:rPr kumimoji="1" lang="zh-CN" altLang="en-US" sz="2400">
                <a:effectLst>
                  <a:outerShdw blurRad="38100" dist="38100" dir="2700000" algn="tl">
                    <a:srgbClr val="C0C0C0"/>
                  </a:outerShdw>
                </a:effectLst>
                <a:latin typeface="楷体_GB2312" pitchFamily="49" charset="-122"/>
                <a:ea typeface="楷体_GB2312" pitchFamily="49" charset="-122"/>
              </a:rPr>
              <a:t>的含义</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 建模：可视化</a:t>
            </a:r>
            <a:r>
              <a:rPr kumimoji="1" lang="en-US" altLang="zh-CN" sz="2400" b="1">
                <a:effectLst>
                  <a:outerShdw blurRad="38100" dist="38100" dir="2700000" algn="tl">
                    <a:srgbClr val="C0C0C0"/>
                  </a:outerShdw>
                </a:effectLst>
                <a:latin typeface="华文楷体" panose="02010600040101010101" charset="-122"/>
                <a:ea typeface="楷体_GB2312" pitchFamily="49" charset="-122"/>
              </a:rPr>
              <a:t>——</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图形</a:t>
            </a:r>
            <a:r>
              <a:rPr kumimoji="1" lang="zh-CN" altLang="en-US" sz="2400">
                <a:effectLst>
                  <a:outerShdw blurRad="38100" dist="38100" dir="2700000" algn="tl">
                    <a:srgbClr val="C0C0C0"/>
                  </a:outerShdw>
                </a:effectLst>
                <a:latin typeface="楷体_GB2312" pitchFamily="49" charset="-122"/>
                <a:ea typeface="楷体_GB2312" pitchFamily="49" charset="-122"/>
              </a:rPr>
              <a:t>表示法，以图形化的方法构建系统分析与软件设计模型</a:t>
            </a:r>
            <a:endParaRPr kumimoji="1" lang="zh-CN" altLang="en-US" sz="2400">
              <a:effectLst>
                <a:outerShdw blurRad="38100" dist="38100" dir="2700000" algn="tl">
                  <a:srgbClr val="C0C0C0"/>
                </a:outerShdw>
              </a:effectLst>
              <a:latin typeface="楷体_GB2312" pitchFamily="49" charset="-122"/>
              <a:ea typeface="楷体_GB2312" pitchFamily="49" charset="-122"/>
            </a:endParaRPr>
          </a:p>
          <a:p>
            <a:pPr>
              <a:spcBef>
                <a:spcPct val="15000"/>
              </a:spcBef>
              <a:spcAft>
                <a:spcPct val="15000"/>
              </a:spcAft>
              <a:buClr>
                <a:srgbClr val="660033"/>
              </a:buClr>
              <a:buFont typeface="Wingdings" panose="05000000000000000000" pitchFamily="2" charset="2"/>
              <a:buChar char="¯"/>
              <a:defRPr/>
            </a:pPr>
            <a:r>
              <a:rPr kumimoji="1" lang="zh-CN" altLang="en-US" sz="2400">
                <a:effectLst>
                  <a:outerShdw blurRad="38100" dist="38100" dir="2700000" algn="tl">
                    <a:srgbClr val="C0C0C0"/>
                  </a:outerShdw>
                </a:effectLst>
                <a:latin typeface="楷体_GB2312" pitchFamily="49" charset="-122"/>
                <a:ea typeface="楷体_GB2312" pitchFamily="49" charset="-122"/>
              </a:rPr>
              <a:t> </a:t>
            </a:r>
            <a:r>
              <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rPr>
              <a:t>语言</a:t>
            </a:r>
            <a:endParaRPr kumimoji="1" lang="zh-CN" altLang="en-US" sz="240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sp>
        <p:nvSpPr>
          <p:cNvPr id="97290" name="AutoShape 10"/>
          <p:cNvSpPr>
            <a:spLocks noChangeArrowheads="1"/>
          </p:cNvSpPr>
          <p:nvPr/>
        </p:nvSpPr>
        <p:spPr bwMode="blackWhite">
          <a:xfrm>
            <a:off x="2286000" y="4903788"/>
            <a:ext cx="4572000" cy="838200"/>
          </a:xfrm>
          <a:prstGeom prst="roundRect">
            <a:avLst>
              <a:gd name="adj" fmla="val 9106"/>
            </a:avLst>
          </a:prstGeom>
          <a:gradFill rotWithShape="1">
            <a:gsLst>
              <a:gs pos="0">
                <a:srgbClr val="699D5F"/>
              </a:gs>
              <a:gs pos="100000">
                <a:srgbClr val="699D5F">
                  <a:gamma/>
                  <a:tint val="69804"/>
                  <a:invGamma/>
                </a:srgbClr>
              </a:gs>
            </a:gsLst>
            <a:lin ang="5400000" scaled="1"/>
          </a:gradFill>
          <a:ln w="25400">
            <a:solidFill>
              <a:schemeClr val="bg1"/>
            </a:solidFill>
            <a:round/>
          </a:ln>
          <a:effectLst/>
        </p:spPr>
        <p:txBody>
          <a:bodyPr wrap="none" anchor="ctr"/>
          <a:lstStyle/>
          <a:p>
            <a:pPr algn="ctr">
              <a:defRPr/>
            </a:pPr>
            <a:r>
              <a:rPr kumimoji="1" lang="zh-CN" altLang="en-US" sz="2400" b="1">
                <a:solidFill>
                  <a:srgbClr val="FF3300"/>
                </a:solidFill>
                <a:effectLst>
                  <a:outerShdw blurRad="38100" dist="38100" dir="2700000" algn="tl">
                    <a:srgbClr val="000000"/>
                  </a:outerShdw>
                </a:effectLst>
              </a:rPr>
              <a:t>统一的可视化建模语言</a:t>
            </a:r>
            <a:endParaRPr kumimoji="1" lang="zh-CN" altLang="en-US" sz="2400" b="1">
              <a:solidFill>
                <a:srgbClr val="FF3300"/>
              </a:solidFill>
              <a:effectLst>
                <a:outerShdw blurRad="38100" dist="38100" dir="2700000" algn="tl">
                  <a:srgbClr val="000000"/>
                </a:outerShdw>
              </a:effectLst>
            </a:endParaRPr>
          </a:p>
          <a:p>
            <a:pPr algn="ctr">
              <a:defRPr/>
            </a:pPr>
            <a:r>
              <a:rPr kumimoji="1" lang="en-US" altLang="zh-CN" b="1">
                <a:solidFill>
                  <a:srgbClr val="FF3300"/>
                </a:solidFill>
                <a:effectLst>
                  <a:outerShdw blurRad="38100" dist="38100" dir="2700000" algn="tl">
                    <a:srgbClr val="000000"/>
                  </a:outerShdw>
                </a:effectLst>
              </a:rPr>
              <a:t>(</a:t>
            </a:r>
            <a:r>
              <a:rPr kumimoji="1" lang="zh-CN" altLang="en-US" b="1">
                <a:solidFill>
                  <a:srgbClr val="FF3300"/>
                </a:solidFill>
                <a:effectLst>
                  <a:outerShdw blurRad="38100" dist="38100" dir="2700000" algn="tl">
                    <a:srgbClr val="000000"/>
                  </a:outerShdw>
                </a:effectLst>
              </a:rPr>
              <a:t>面向对象软件开发的可视化描述</a:t>
            </a:r>
            <a:r>
              <a:rPr kumimoji="1" lang="en-US" altLang="zh-CN" b="1">
                <a:solidFill>
                  <a:srgbClr val="FF3300"/>
                </a:solidFill>
                <a:effectLst>
                  <a:outerShdw blurRad="38100" dist="38100" dir="2700000" algn="tl">
                    <a:srgbClr val="000000"/>
                  </a:outerShdw>
                </a:effectLst>
              </a:rPr>
              <a:t>)</a:t>
            </a:r>
            <a:endParaRPr kumimoji="1" lang="en-US" altLang="zh-CN" sz="2400" b="1">
              <a:solidFill>
                <a:srgbClr val="FF3300"/>
              </a:solidFill>
              <a:effectLst>
                <a:outerShdw blurRad="38100" dist="38100" dir="2700000" algn="tl">
                  <a:srgbClr val="000000"/>
                </a:outerShdw>
              </a:effectLst>
            </a:endParaRPr>
          </a:p>
        </p:txBody>
      </p:sp>
      <p:sp>
        <p:nvSpPr>
          <p:cNvPr id="57349" name="Text Box 7"/>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三、</a:t>
            </a:r>
            <a:r>
              <a:rPr lang="en-US" altLang="zh-CN" sz="4000" i="1">
                <a:latin typeface="黑体" panose="02010609060101010101" pitchFamily="2" charset="-122"/>
                <a:ea typeface="黑体" panose="02010609060101010101" pitchFamily="2" charset="-122"/>
              </a:rPr>
              <a:t>UML</a:t>
            </a:r>
            <a:endParaRPr lang="zh-CN" altLang="en-US" sz="4000" i="1">
              <a:latin typeface="黑体" panose="02010609060101010101" pitchFamily="2" charset="-122"/>
              <a:ea typeface="黑体" panose="02010609060101010101" pitchFamily="2" charset="-122"/>
            </a:endParaRPr>
          </a:p>
        </p:txBody>
      </p:sp>
      <p:sp>
        <p:nvSpPr>
          <p:cNvPr id="11" name="灯片编号占位符 10"/>
          <p:cNvSpPr>
            <a:spLocks noGrp="1"/>
          </p:cNvSpPr>
          <p:nvPr>
            <p:ph type="sldNum" sz="quarter" idx="10"/>
          </p:nvPr>
        </p:nvSpPr>
        <p:spPr/>
        <p:txBody>
          <a:bodyPr/>
          <a:lstStyle/>
          <a:p>
            <a:pPr>
              <a:defRPr/>
            </a:pPr>
            <a:r>
              <a:rPr lang="zh-CN" altLang="en-US" smtClean="0"/>
              <a:t>第</a:t>
            </a:r>
            <a:fld id="{DC5C8383-8C58-4160-9757-46E2EB17A439}"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95587">
                                            <p:txEl>
                                              <p:pRg st="1" end="1"/>
                                            </p:txEl>
                                          </p:spTgt>
                                        </p:tgtEl>
                                        <p:attrNameLst>
                                          <p:attrName>style.visibility</p:attrName>
                                        </p:attrNameLst>
                                      </p:cBhvr>
                                      <p:to>
                                        <p:strVal val="visible"/>
                                      </p:to>
                                    </p:set>
                                    <p:anim to="" calcmode="lin" valueType="num">
                                      <p:cBhvr>
                                        <p:cTn id="7" dur="1" fill="hold"/>
                                        <p:tgtEl>
                                          <p:spTgt spid="195587">
                                            <p:txEl>
                                              <p:pRg st="1" end="1"/>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95588">
                                            <p:txEl>
                                              <p:pRg st="0" end="0"/>
                                            </p:txEl>
                                          </p:spTgt>
                                        </p:tgtEl>
                                        <p:attrNameLst>
                                          <p:attrName>style.visibility</p:attrName>
                                        </p:attrNameLst>
                                      </p:cBhvr>
                                      <p:to>
                                        <p:strVal val="visible"/>
                                      </p:to>
                                    </p:set>
                                    <p:anim to="" calcmode="lin" valueType="num">
                                      <p:cBhvr>
                                        <p:cTn id="12" dur="1" fill="hold"/>
                                        <p:tgtEl>
                                          <p:spTgt spid="195588">
                                            <p:txEl>
                                              <p:pRg st="0" end="0"/>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95588">
                                            <p:txEl>
                                              <p:pRg st="1" end="1"/>
                                            </p:txEl>
                                          </p:spTgt>
                                        </p:tgtEl>
                                        <p:attrNameLst>
                                          <p:attrName>style.visibility</p:attrName>
                                        </p:attrNameLst>
                                      </p:cBhvr>
                                      <p:to>
                                        <p:strVal val="visible"/>
                                      </p:to>
                                    </p:set>
                                    <p:anim to="" calcmode="lin" valueType="num">
                                      <p:cBhvr>
                                        <p:cTn id="17" dur="1" fill="hold"/>
                                        <p:tgtEl>
                                          <p:spTgt spid="195588">
                                            <p:txEl>
                                              <p:pRg st="1" end="1"/>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95588">
                                            <p:txEl>
                                              <p:pRg st="2" end="2"/>
                                            </p:txEl>
                                          </p:spTgt>
                                        </p:tgtEl>
                                        <p:attrNameLst>
                                          <p:attrName>style.visibility</p:attrName>
                                        </p:attrNameLst>
                                      </p:cBhvr>
                                      <p:to>
                                        <p:strVal val="visible"/>
                                      </p:to>
                                    </p:set>
                                    <p:anim to="" calcmode="lin" valueType="num">
                                      <p:cBhvr>
                                        <p:cTn id="22" dur="1" fill="hold"/>
                                        <p:tgtEl>
                                          <p:spTgt spid="195588">
                                            <p:txEl>
                                              <p:pRg st="2" end="2"/>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195588">
                                            <p:txEl>
                                              <p:pRg st="3" end="3"/>
                                            </p:txEl>
                                          </p:spTgt>
                                        </p:tgtEl>
                                        <p:attrNameLst>
                                          <p:attrName>style.visibility</p:attrName>
                                        </p:attrNameLst>
                                      </p:cBhvr>
                                      <p:to>
                                        <p:strVal val="visible"/>
                                      </p:to>
                                    </p:set>
                                    <p:anim to="" calcmode="lin" valueType="num">
                                      <p:cBhvr>
                                        <p:cTn id="27" dur="1" fill="hold"/>
                                        <p:tgtEl>
                                          <p:spTgt spid="195588">
                                            <p:txEl>
                                              <p:pRg st="3" end="3"/>
                                            </p:txEl>
                                          </p:spTgt>
                                        </p:tgtEl>
                                      </p:cBhvr>
                                    </p:anim>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97290"/>
                                        </p:tgtEl>
                                        <p:attrNameLst>
                                          <p:attrName>style.visibility</p:attrName>
                                        </p:attrNameLst>
                                      </p:cBhvr>
                                      <p:to>
                                        <p:strVal val="visible"/>
                                      </p:to>
                                    </p:set>
                                    <p:animEffect transition="in" filter="diamond(in)">
                                      <p:cBhvr>
                                        <p:cTn id="32" dur="2000"/>
                                        <p:tgtEl>
                                          <p:spTgt spid="97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p:bldP spid="195588" grpId="0" build="p"/>
      <p:bldP spid="9729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Grp="1" noChangeArrowheads="1"/>
          </p:cNvSpPr>
          <p:nvPr>
            <p:ph type="body" idx="1"/>
          </p:nvPr>
        </p:nvSpPr>
        <p:spPr>
          <a:xfrm>
            <a:off x="457200" y="1722438"/>
            <a:ext cx="8229600" cy="4678362"/>
          </a:xfrm>
        </p:spPr>
        <p:txBody>
          <a:bodyPr/>
          <a:lstStyle/>
          <a:p>
            <a:pPr>
              <a:buClr>
                <a:schemeClr val="tx1"/>
              </a:buClr>
              <a:buFont typeface="Wingdings" panose="05000000000000000000" pitchFamily="2" charset="2"/>
              <a:buNone/>
            </a:pPr>
            <a:r>
              <a:rPr kumimoji="1" lang="zh-CN" altLang="en-US" smtClean="0">
                <a:latin typeface="楷体_GB2312" pitchFamily="49" charset="-122"/>
                <a:ea typeface="楷体_GB2312" pitchFamily="49" charset="-122"/>
              </a:rPr>
              <a:t>问题：</a:t>
            </a:r>
            <a:endParaRPr kumimoji="1" lang="zh-CN" altLang="en-US" smtClean="0">
              <a:latin typeface="楷体_GB2312" pitchFamily="49" charset="-122"/>
              <a:ea typeface="楷体_GB2312" pitchFamily="49" charset="-122"/>
            </a:endParaRPr>
          </a:p>
          <a:p>
            <a:pPr>
              <a:buClr>
                <a:schemeClr val="tx1"/>
              </a:buClr>
              <a:buFont typeface="Wingdings" panose="05000000000000000000" pitchFamily="2" charset="2"/>
              <a:buChar char="Ø"/>
            </a:pPr>
            <a:endParaRPr kumimoji="1" lang="zh-CN" altLang="en-US" smtClean="0">
              <a:latin typeface="楷体_GB2312" pitchFamily="49" charset="-122"/>
              <a:ea typeface="楷体_GB2312" pitchFamily="49" charset="-122"/>
            </a:endParaRPr>
          </a:p>
          <a:p>
            <a:pPr>
              <a:buClr>
                <a:schemeClr val="tx1"/>
              </a:buClr>
              <a:buFont typeface="Wingdings" panose="05000000000000000000" pitchFamily="2" charset="2"/>
              <a:buChar char="Ø"/>
            </a:pPr>
            <a:r>
              <a:rPr lang="zh-CN" altLang="en-US" smtClean="0">
                <a:latin typeface="楷体_GB2312" pitchFamily="49" charset="-122"/>
                <a:ea typeface="楷体_GB2312" pitchFamily="49" charset="-122"/>
              </a:rPr>
              <a:t> 什么是</a:t>
            </a:r>
            <a:r>
              <a:rPr lang="en-US" altLang="zh-CN" smtClean="0">
                <a:latin typeface="楷体_GB2312" pitchFamily="49" charset="-122"/>
                <a:ea typeface="楷体_GB2312" pitchFamily="49" charset="-122"/>
              </a:rPr>
              <a:t>UML</a:t>
            </a:r>
            <a:r>
              <a:rPr lang="zh-CN" altLang="en-US" smtClean="0">
                <a:latin typeface="楷体_GB2312" pitchFamily="49" charset="-122"/>
                <a:ea typeface="楷体_GB2312" pitchFamily="49" charset="-122"/>
              </a:rPr>
              <a:t>？</a:t>
            </a:r>
            <a:endParaRPr lang="zh-CN" altLang="en-US" smtClean="0">
              <a:latin typeface="楷体_GB2312" pitchFamily="49" charset="-122"/>
              <a:ea typeface="楷体_GB2312" pitchFamily="49" charset="-122"/>
            </a:endParaRPr>
          </a:p>
          <a:p>
            <a:pPr>
              <a:buClr>
                <a:schemeClr val="tx1"/>
              </a:buClr>
              <a:buFont typeface="Wingdings" panose="05000000000000000000" pitchFamily="2" charset="2"/>
              <a:buChar char="Ø"/>
            </a:pPr>
            <a:r>
              <a:rPr lang="zh-CN" altLang="en-US" smtClean="0">
                <a:latin typeface="楷体_GB2312" pitchFamily="49" charset="-122"/>
                <a:ea typeface="楷体_GB2312" pitchFamily="49" charset="-122"/>
              </a:rPr>
              <a:t> 什么人用</a:t>
            </a:r>
            <a:r>
              <a:rPr lang="en-US" altLang="zh-CN" smtClean="0">
                <a:latin typeface="楷体_GB2312" pitchFamily="49" charset="-122"/>
                <a:ea typeface="楷体_GB2312" pitchFamily="49" charset="-122"/>
              </a:rPr>
              <a:t>UML</a:t>
            </a:r>
            <a:r>
              <a:rPr lang="zh-CN" altLang="en-US" smtClean="0">
                <a:latin typeface="楷体_GB2312" pitchFamily="49" charset="-122"/>
                <a:ea typeface="楷体_GB2312" pitchFamily="49" charset="-122"/>
              </a:rPr>
              <a:t>？</a:t>
            </a:r>
            <a:endParaRPr lang="zh-CN" altLang="en-US" smtClean="0">
              <a:latin typeface="楷体_GB2312" pitchFamily="49" charset="-122"/>
              <a:ea typeface="楷体_GB2312" pitchFamily="49" charset="-122"/>
            </a:endParaRPr>
          </a:p>
          <a:p>
            <a:pPr>
              <a:buClr>
                <a:schemeClr val="tx1"/>
              </a:buClr>
              <a:buFont typeface="Wingdings" panose="05000000000000000000" pitchFamily="2" charset="2"/>
              <a:buChar char="Ø"/>
            </a:pPr>
            <a:r>
              <a:rPr lang="zh-CN" altLang="en-US" smtClean="0">
                <a:latin typeface="楷体_GB2312" pitchFamily="49" charset="-122"/>
                <a:ea typeface="楷体_GB2312" pitchFamily="49" charset="-122"/>
              </a:rPr>
              <a:t> </a:t>
            </a:r>
            <a:r>
              <a:rPr lang="en-US" altLang="zh-CN" smtClean="0">
                <a:latin typeface="楷体_GB2312" pitchFamily="49" charset="-122"/>
                <a:ea typeface="楷体_GB2312" pitchFamily="49" charset="-122"/>
              </a:rPr>
              <a:t>UML</a:t>
            </a:r>
            <a:r>
              <a:rPr lang="zh-CN" altLang="en-US" smtClean="0">
                <a:latin typeface="楷体_GB2312" pitchFamily="49" charset="-122"/>
                <a:ea typeface="楷体_GB2312" pitchFamily="49" charset="-122"/>
              </a:rPr>
              <a:t>能做什么？</a:t>
            </a:r>
            <a:endParaRPr lang="zh-CN" altLang="en-US" smtClean="0">
              <a:latin typeface="楷体_GB2312" pitchFamily="49" charset="-122"/>
              <a:ea typeface="楷体_GB2312" pitchFamily="49" charset="-122"/>
            </a:endParaRPr>
          </a:p>
        </p:txBody>
      </p:sp>
      <p:sp>
        <p:nvSpPr>
          <p:cNvPr id="58371" name="Text Box 7"/>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三、</a:t>
            </a:r>
            <a:r>
              <a:rPr lang="en-US" altLang="zh-CN" sz="4000" i="1">
                <a:latin typeface="黑体" panose="02010609060101010101" pitchFamily="2" charset="-122"/>
                <a:ea typeface="黑体" panose="02010609060101010101" pitchFamily="2" charset="-122"/>
              </a:rPr>
              <a:t>UML</a:t>
            </a:r>
            <a:endParaRPr lang="zh-CN" altLang="en-US" sz="4000" i="1">
              <a:latin typeface="黑体" panose="02010609060101010101" pitchFamily="2" charset="-122"/>
              <a:ea typeface="黑体" panose="02010609060101010101" pitchFamily="2" charset="-122"/>
            </a:endParaRPr>
          </a:p>
        </p:txBody>
      </p:sp>
      <p:sp>
        <p:nvSpPr>
          <p:cNvPr id="7" name="灯片编号占位符 6"/>
          <p:cNvSpPr>
            <a:spLocks noGrp="1"/>
          </p:cNvSpPr>
          <p:nvPr>
            <p:ph type="sldNum" sz="quarter" idx="10"/>
          </p:nvPr>
        </p:nvSpPr>
        <p:spPr/>
        <p:txBody>
          <a:bodyPr/>
          <a:lstStyle/>
          <a:p>
            <a:pPr>
              <a:defRPr/>
            </a:pPr>
            <a:r>
              <a:rPr lang="zh-CN" altLang="en-US" smtClean="0"/>
              <a:t>第</a:t>
            </a:r>
            <a:fld id="{1A58672F-F85B-42E2-AD59-F1D278628E0B}" type="slidenum">
              <a:rPr lang="zh-CN" altLang="en-US" smtClean="0"/>
            </a:fld>
            <a:r>
              <a:rPr lang="zh-CN" altLang="en-US" smtClean="0"/>
              <a:t>页</a:t>
            </a:r>
            <a:endParaRPr lang="zh-CN" alt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3"/>
          <p:cNvSpPr>
            <a:spLocks noGrp="1" noChangeArrowheads="1"/>
          </p:cNvSpPr>
          <p:nvPr>
            <p:ph type="body" idx="1"/>
          </p:nvPr>
        </p:nvSpPr>
        <p:spPr>
          <a:xfrm>
            <a:off x="457200" y="2513013"/>
            <a:ext cx="8229600" cy="3887787"/>
          </a:xfrm>
        </p:spPr>
        <p:txBody>
          <a:bodyPr/>
          <a:lstStyle/>
          <a:p>
            <a:pPr>
              <a:lnSpc>
                <a:spcPct val="80000"/>
              </a:lnSpc>
              <a:buFont typeface="Wingdings" panose="05000000000000000000" pitchFamily="2" charset="2"/>
              <a:buNone/>
            </a:pPr>
            <a:r>
              <a:rPr lang="en-US" altLang="zh-CN" b="0" smtClean="0">
                <a:latin typeface="楷体_GB2312" pitchFamily="49" charset="-122"/>
                <a:ea typeface="楷体_GB2312" pitchFamily="49" charset="-122"/>
              </a:rPr>
              <a:t>UML</a:t>
            </a:r>
            <a:r>
              <a:rPr lang="zh-CN" altLang="en-US" b="0" smtClean="0">
                <a:latin typeface="楷体_GB2312" pitchFamily="49" charset="-122"/>
                <a:ea typeface="楷体_GB2312" pitchFamily="49" charset="-122"/>
              </a:rPr>
              <a:t>的重要性：</a:t>
            </a:r>
            <a:endParaRPr lang="zh-CN" altLang="en-US" b="0" smtClean="0">
              <a:latin typeface="楷体_GB2312" pitchFamily="49" charset="-122"/>
              <a:ea typeface="楷体_GB2312" pitchFamily="49" charset="-122"/>
            </a:endParaRPr>
          </a:p>
          <a:p>
            <a:pPr>
              <a:lnSpc>
                <a:spcPct val="80000"/>
              </a:lnSpc>
              <a:buFont typeface="Wingdings" panose="05000000000000000000" pitchFamily="2" charset="2"/>
              <a:buNone/>
            </a:pPr>
            <a:endParaRPr lang="zh-CN" altLang="en-US" sz="2300" b="0" smtClean="0">
              <a:latin typeface="楷体_GB2312" pitchFamily="49" charset="-122"/>
              <a:ea typeface="楷体_GB2312" pitchFamily="49" charset="-122"/>
            </a:endParaRPr>
          </a:p>
          <a:p>
            <a:pPr>
              <a:lnSpc>
                <a:spcPct val="80000"/>
              </a:lnSpc>
            </a:pPr>
            <a:r>
              <a:rPr lang="zh-CN" altLang="en-US" sz="2000" b="0" smtClean="0">
                <a:latin typeface="楷体_GB2312" pitchFamily="49" charset="-122"/>
                <a:ea typeface="楷体_GB2312" pitchFamily="49" charset="-122"/>
              </a:rPr>
              <a:t>软件系统是</a:t>
            </a:r>
            <a:r>
              <a:rPr lang="zh-CN" altLang="en-US" sz="2000" b="0" smtClean="0">
                <a:solidFill>
                  <a:srgbClr val="FF3300"/>
                </a:solidFill>
                <a:latin typeface="楷体_GB2312" pitchFamily="49" charset="-122"/>
                <a:ea typeface="楷体_GB2312" pitchFamily="49" charset="-122"/>
              </a:rPr>
              <a:t>产品</a:t>
            </a:r>
            <a:r>
              <a:rPr lang="zh-CN" altLang="en-US" sz="2000" b="0" smtClean="0">
                <a:latin typeface="楷体_GB2312" pitchFamily="49" charset="-122"/>
                <a:ea typeface="楷体_GB2312" pitchFamily="49" charset="-122"/>
              </a:rPr>
              <a:t>，开发者和使用者是</a:t>
            </a:r>
            <a:r>
              <a:rPr lang="zh-CN" altLang="en-US" sz="2000" b="0" smtClean="0">
                <a:solidFill>
                  <a:srgbClr val="FF3300"/>
                </a:solidFill>
                <a:latin typeface="楷体_GB2312" pitchFamily="49" charset="-122"/>
                <a:ea typeface="楷体_GB2312" pitchFamily="49" charset="-122"/>
              </a:rPr>
              <a:t>不同群体</a:t>
            </a:r>
            <a:r>
              <a:rPr lang="zh-CN" altLang="en-US" sz="2000" b="0" smtClean="0">
                <a:latin typeface="楷体_GB2312" pitchFamily="49" charset="-122"/>
                <a:ea typeface="楷体_GB2312" pitchFamily="49" charset="-122"/>
              </a:rPr>
              <a:t>，对于一个复杂的软件系统，开发必须由</a:t>
            </a:r>
            <a:r>
              <a:rPr lang="zh-CN" altLang="en-US" sz="2000" b="0" smtClean="0">
                <a:solidFill>
                  <a:srgbClr val="FF3300"/>
                </a:solidFill>
                <a:latin typeface="楷体_GB2312" pitchFamily="49" charset="-122"/>
                <a:ea typeface="楷体_GB2312" pitchFamily="49" charset="-122"/>
              </a:rPr>
              <a:t>多个方面人员</a:t>
            </a:r>
            <a:r>
              <a:rPr lang="zh-CN" altLang="en-US" sz="2000" b="0" smtClean="0">
                <a:latin typeface="楷体_GB2312" pitchFamily="49" charset="-122"/>
                <a:ea typeface="楷体_GB2312" pitchFamily="49" charset="-122"/>
              </a:rPr>
              <a:t>参与、</a:t>
            </a:r>
            <a:r>
              <a:rPr lang="zh-CN" altLang="en-US" sz="2000" b="0" smtClean="0">
                <a:solidFill>
                  <a:srgbClr val="FF3300"/>
                </a:solidFill>
                <a:latin typeface="楷体_GB2312" pitchFamily="49" charset="-122"/>
                <a:ea typeface="楷体_GB2312" pitchFamily="49" charset="-122"/>
              </a:rPr>
              <a:t>合作</a:t>
            </a:r>
            <a:r>
              <a:rPr lang="zh-CN" altLang="en-US" sz="2000" b="0" smtClean="0">
                <a:latin typeface="楷体_GB2312" pitchFamily="49" charset="-122"/>
                <a:ea typeface="楷体_GB2312" pitchFamily="49" charset="-122"/>
              </a:rPr>
              <a:t>共同完成，它必须有完整的</a:t>
            </a:r>
            <a:r>
              <a:rPr lang="zh-CN" altLang="en-US" sz="2000" b="0" smtClean="0">
                <a:solidFill>
                  <a:srgbClr val="FF3300"/>
                </a:solidFill>
                <a:latin typeface="楷体_GB2312" pitchFamily="49" charset="-122"/>
                <a:ea typeface="楷体_GB2312" pitchFamily="49" charset="-122"/>
              </a:rPr>
              <a:t>从分析到实现、使用和维护</a:t>
            </a:r>
            <a:r>
              <a:rPr lang="zh-CN" altLang="en-US" sz="2000" b="0" smtClean="0">
                <a:latin typeface="楷体_GB2312" pitchFamily="49" charset="-122"/>
                <a:ea typeface="楷体_GB2312" pitchFamily="49" charset="-122"/>
              </a:rPr>
              <a:t>的文档</a:t>
            </a:r>
            <a:endParaRPr lang="zh-CN" altLang="en-US" sz="2000" b="0" smtClean="0">
              <a:latin typeface="楷体_GB2312" pitchFamily="49" charset="-122"/>
              <a:ea typeface="楷体_GB2312" pitchFamily="49" charset="-122"/>
            </a:endParaRPr>
          </a:p>
          <a:p>
            <a:pPr>
              <a:lnSpc>
                <a:spcPct val="80000"/>
              </a:lnSpc>
            </a:pPr>
            <a:r>
              <a:rPr lang="zh-CN" altLang="en-US" sz="2000" b="0" smtClean="0">
                <a:latin typeface="楷体_GB2312" pitchFamily="49" charset="-122"/>
                <a:ea typeface="楷体_GB2312" pitchFamily="49" charset="-122"/>
              </a:rPr>
              <a:t>软件系统必须像传统工业产品一样建模，把一个复杂的系统按问题的不同方面以一种</a:t>
            </a:r>
            <a:r>
              <a:rPr lang="zh-CN" altLang="en-US" sz="2000" b="0" smtClean="0">
                <a:solidFill>
                  <a:srgbClr val="FF3300"/>
                </a:solidFill>
                <a:latin typeface="楷体_GB2312" pitchFamily="49" charset="-122"/>
                <a:ea typeface="楷体_GB2312" pitchFamily="49" charset="-122"/>
              </a:rPr>
              <a:t>约定好</a:t>
            </a:r>
            <a:r>
              <a:rPr lang="zh-CN" altLang="en-US" sz="2000" b="0" smtClean="0">
                <a:latin typeface="楷体_GB2312" pitchFamily="49" charset="-122"/>
                <a:ea typeface="楷体_GB2312" pitchFamily="49" charset="-122"/>
              </a:rPr>
              <a:t>的、为大家</a:t>
            </a:r>
            <a:r>
              <a:rPr lang="zh-CN" altLang="en-US" sz="2000" b="0" smtClean="0">
                <a:solidFill>
                  <a:srgbClr val="FF3300"/>
                </a:solidFill>
                <a:latin typeface="楷体_GB2312" pitchFamily="49" charset="-122"/>
                <a:ea typeface="楷体_GB2312" pitchFamily="49" charset="-122"/>
              </a:rPr>
              <a:t>共同接受</a:t>
            </a:r>
            <a:r>
              <a:rPr lang="zh-CN" altLang="en-US" sz="2000" b="0" smtClean="0">
                <a:latin typeface="楷体_GB2312" pitchFamily="49" charset="-122"/>
                <a:ea typeface="楷体_GB2312" pitchFamily="49" charset="-122"/>
              </a:rPr>
              <a:t>的描述方式分别进行</a:t>
            </a:r>
            <a:r>
              <a:rPr lang="zh-CN" altLang="en-US" sz="2000" b="0" smtClean="0">
                <a:solidFill>
                  <a:srgbClr val="FF3300"/>
                </a:solidFill>
                <a:latin typeface="楷体_GB2312" pitchFamily="49" charset="-122"/>
                <a:ea typeface="楷体_GB2312" pitchFamily="49" charset="-122"/>
              </a:rPr>
              <a:t>全面而详尽</a:t>
            </a:r>
            <a:r>
              <a:rPr lang="zh-CN" altLang="en-US" sz="2000" b="0" smtClean="0">
                <a:latin typeface="楷体_GB2312" pitchFamily="49" charset="-122"/>
                <a:ea typeface="楷体_GB2312" pitchFamily="49" charset="-122"/>
              </a:rPr>
              <a:t>的描述，以便人们</a:t>
            </a:r>
            <a:r>
              <a:rPr lang="zh-CN" altLang="en-US" sz="2000" b="0" smtClean="0">
                <a:solidFill>
                  <a:srgbClr val="FF3300"/>
                </a:solidFill>
                <a:latin typeface="楷体_GB2312" pitchFamily="49" charset="-122"/>
                <a:ea typeface="楷体_GB2312" pitchFamily="49" charset="-122"/>
              </a:rPr>
              <a:t>交流</a:t>
            </a:r>
            <a:endParaRPr lang="zh-CN" altLang="en-US" sz="2000" b="0" smtClean="0">
              <a:solidFill>
                <a:srgbClr val="FF3300"/>
              </a:solidFill>
              <a:latin typeface="楷体_GB2312" pitchFamily="49" charset="-122"/>
              <a:ea typeface="楷体_GB2312" pitchFamily="49" charset="-122"/>
            </a:endParaRPr>
          </a:p>
          <a:p>
            <a:pPr>
              <a:lnSpc>
                <a:spcPct val="80000"/>
              </a:lnSpc>
            </a:pPr>
            <a:r>
              <a:rPr lang="zh-CN" altLang="en-US" sz="2000" b="0" smtClean="0">
                <a:latin typeface="楷体_GB2312" pitchFamily="49" charset="-122"/>
                <a:ea typeface="楷体_GB2312" pitchFamily="49" charset="-122"/>
              </a:rPr>
              <a:t>在试图交流、理解一个系统时，可根据人们所关心的某一方面的问题，查阅对应的</a:t>
            </a:r>
            <a:r>
              <a:rPr lang="zh-CN" altLang="en-US" sz="2000" b="0" smtClean="0">
                <a:solidFill>
                  <a:srgbClr val="FF3300"/>
                </a:solidFill>
                <a:latin typeface="楷体_GB2312" pitchFamily="49" charset="-122"/>
                <a:ea typeface="楷体_GB2312" pitchFamily="49" charset="-122"/>
              </a:rPr>
              <a:t>系统模型</a:t>
            </a:r>
            <a:r>
              <a:rPr lang="zh-CN" altLang="en-US" sz="2000" b="0" smtClean="0">
                <a:latin typeface="楷体_GB2312" pitchFamily="49" charset="-122"/>
                <a:ea typeface="楷体_GB2312" pitchFamily="49" charset="-122"/>
              </a:rPr>
              <a:t>，从而得到对此问题的理解</a:t>
            </a:r>
            <a:endParaRPr lang="zh-CN" altLang="en-US" sz="2000" b="0" smtClean="0">
              <a:latin typeface="楷体_GB2312" pitchFamily="49" charset="-122"/>
              <a:ea typeface="楷体_GB2312" pitchFamily="49" charset="-122"/>
            </a:endParaRPr>
          </a:p>
          <a:p>
            <a:pPr>
              <a:lnSpc>
                <a:spcPct val="80000"/>
              </a:lnSpc>
            </a:pPr>
            <a:r>
              <a:rPr lang="zh-CN" altLang="en-US" sz="2000" b="0" smtClean="0">
                <a:latin typeface="楷体_GB2312" pitchFamily="49" charset="-122"/>
                <a:ea typeface="楷体_GB2312" pitchFamily="49" charset="-122"/>
              </a:rPr>
              <a:t>另外，如果整个系统的功能、原理和结构没有一个全面而详细的记载的话，将会对此软件产品的开发、维护和升级产生不利的结果</a:t>
            </a:r>
            <a:endParaRPr lang="zh-CN" altLang="en-US" sz="2000" b="0" smtClean="0">
              <a:latin typeface="楷体_GB2312" pitchFamily="49" charset="-122"/>
              <a:ea typeface="楷体_GB2312" pitchFamily="49" charset="-122"/>
            </a:endParaRPr>
          </a:p>
        </p:txBody>
      </p:sp>
      <p:sp>
        <p:nvSpPr>
          <p:cNvPr id="59395" name="Text Box 7"/>
          <p:cNvSpPr txBox="1">
            <a:spLocks noChangeArrowheads="1"/>
          </p:cNvSpPr>
          <p:nvPr/>
        </p:nvSpPr>
        <p:spPr bwMode="auto">
          <a:xfrm>
            <a:off x="609600" y="974725"/>
            <a:ext cx="6858000" cy="701675"/>
          </a:xfrm>
          <a:prstGeom prst="rect">
            <a:avLst/>
          </a:prstGeom>
          <a:solidFill>
            <a:schemeClr val="accent1"/>
          </a:solidFill>
          <a:ln w="9525">
            <a:noFill/>
            <a:miter lim="800000"/>
          </a:ln>
        </p:spPr>
        <p:txBody>
          <a:bodyPr>
            <a:spAutoFit/>
          </a:bodyPr>
          <a:lstStyle/>
          <a:p>
            <a:pPr>
              <a:spcBef>
                <a:spcPct val="50000"/>
              </a:spcBef>
            </a:pPr>
            <a:r>
              <a:rPr lang="zh-CN" altLang="en-US" sz="4000" i="1">
                <a:latin typeface="黑体" panose="02010609060101010101" pitchFamily="2" charset="-122"/>
                <a:ea typeface="黑体" panose="02010609060101010101" pitchFamily="2" charset="-122"/>
              </a:rPr>
              <a:t>三、</a:t>
            </a:r>
            <a:r>
              <a:rPr lang="en-US" altLang="zh-CN" sz="4000" i="1">
                <a:latin typeface="黑体" panose="02010609060101010101" pitchFamily="2" charset="-122"/>
                <a:ea typeface="黑体" panose="02010609060101010101" pitchFamily="2" charset="-122"/>
              </a:rPr>
              <a:t>UML</a:t>
            </a:r>
            <a:endParaRPr lang="zh-CN" altLang="en-US" sz="4000" i="1">
              <a:latin typeface="黑体" panose="02010609060101010101" pitchFamily="2" charset="-122"/>
              <a:ea typeface="黑体" panose="02010609060101010101" pitchFamily="2" charset="-122"/>
            </a:endParaRPr>
          </a:p>
        </p:txBody>
      </p:sp>
      <p:sp>
        <p:nvSpPr>
          <p:cNvPr id="7" name="灯片编号占位符 6"/>
          <p:cNvSpPr>
            <a:spLocks noGrp="1"/>
          </p:cNvSpPr>
          <p:nvPr>
            <p:ph type="sldNum" sz="quarter" idx="10"/>
          </p:nvPr>
        </p:nvSpPr>
        <p:spPr/>
        <p:txBody>
          <a:bodyPr/>
          <a:lstStyle/>
          <a:p>
            <a:pPr>
              <a:defRPr/>
            </a:pPr>
            <a:r>
              <a:rPr lang="zh-CN" altLang="en-US" smtClean="0"/>
              <a:t>第</a:t>
            </a:r>
            <a:fld id="{12925232-58DC-4DB9-807C-ADABA5A208F5}" type="slidenum">
              <a:rPr lang="zh-CN" altLang="en-US" smtClean="0"/>
            </a:fld>
            <a:r>
              <a:rPr lang="zh-CN" altLang="en-US" smtClean="0"/>
              <a:t>页</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8963">
                                            <p:txEl>
                                              <p:pRg st="0" end="0"/>
                                            </p:txEl>
                                          </p:spTgt>
                                        </p:tgtEl>
                                        <p:attrNameLst>
                                          <p:attrName>style.visibility</p:attrName>
                                        </p:attrNameLst>
                                      </p:cBhvr>
                                      <p:to>
                                        <p:strVal val="visible"/>
                                      </p:to>
                                    </p:set>
                                    <p:animEffect transition="in" filter="blinds(horizontal)">
                                      <p:cBhvr>
                                        <p:cTn id="7" dur="500"/>
                                        <p:tgtEl>
                                          <p:spTgt spid="1689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68963">
                                            <p:txEl>
                                              <p:pRg st="2" end="2"/>
                                            </p:txEl>
                                          </p:spTgt>
                                        </p:tgtEl>
                                        <p:attrNameLst>
                                          <p:attrName>style.visibility</p:attrName>
                                        </p:attrNameLst>
                                      </p:cBhvr>
                                      <p:to>
                                        <p:strVal val="visible"/>
                                      </p:to>
                                    </p:set>
                                    <p:animEffect transition="in" filter="box(in)">
                                      <p:cBhvr>
                                        <p:cTn id="12" dur="500"/>
                                        <p:tgtEl>
                                          <p:spTgt spid="16896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168963">
                                            <p:txEl>
                                              <p:pRg st="3" end="3"/>
                                            </p:txEl>
                                          </p:spTgt>
                                        </p:tgtEl>
                                        <p:attrNameLst>
                                          <p:attrName>style.visibility</p:attrName>
                                        </p:attrNameLst>
                                      </p:cBhvr>
                                      <p:to>
                                        <p:strVal val="visible"/>
                                      </p:to>
                                    </p:set>
                                    <p:animEffect transition="in" filter="diamond(in)">
                                      <p:cBhvr>
                                        <p:cTn id="17" dur="2000"/>
                                        <p:tgtEl>
                                          <p:spTgt spid="16896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68963">
                                            <p:txEl>
                                              <p:pRg st="4" end="4"/>
                                            </p:txEl>
                                          </p:spTgt>
                                        </p:tgtEl>
                                        <p:attrNameLst>
                                          <p:attrName>style.visibility</p:attrName>
                                        </p:attrNameLst>
                                      </p:cBhvr>
                                      <p:to>
                                        <p:strVal val="visible"/>
                                      </p:to>
                                    </p:set>
                                    <p:anim calcmode="lin" valueType="num">
                                      <p:cBhvr additive="base">
                                        <p:cTn id="22" dur="500" fill="hold"/>
                                        <p:tgtEl>
                                          <p:spTgt spid="168963">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689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68963">
                                            <p:txEl>
                                              <p:pRg st="5" end="5"/>
                                            </p:txEl>
                                          </p:spTgt>
                                        </p:tgtEl>
                                        <p:attrNameLst>
                                          <p:attrName>style.visibility</p:attrName>
                                        </p:attrNameLst>
                                      </p:cBhvr>
                                      <p:to>
                                        <p:strVal val="visible"/>
                                      </p:to>
                                    </p:set>
                                    <p:anim calcmode="lin" valueType="num">
                                      <p:cBhvr additive="base">
                                        <p:cTn id="28" dur="500" fill="hold"/>
                                        <p:tgtEl>
                                          <p:spTgt spid="16896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6896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5186</Words>
  <Application>WPS 演示</Application>
  <PresentationFormat>全屏显示(4:3)</PresentationFormat>
  <Paragraphs>553</Paragraphs>
  <Slides>57</Slides>
  <Notes>24</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57</vt:i4>
      </vt:variant>
    </vt:vector>
  </HeadingPairs>
  <TitlesOfParts>
    <vt:vector size="74" baseType="lpstr">
      <vt:lpstr>Arial</vt:lpstr>
      <vt:lpstr>宋体</vt:lpstr>
      <vt:lpstr>Wingdings</vt:lpstr>
      <vt:lpstr>Calibri</vt:lpstr>
      <vt:lpstr>华文隶书</vt:lpstr>
      <vt:lpstr>楷体_GB2312</vt:lpstr>
      <vt:lpstr>新宋体</vt:lpstr>
      <vt:lpstr>黑体</vt:lpstr>
      <vt:lpstr>Times New Roman</vt:lpstr>
      <vt:lpstr>微软雅黑</vt:lpstr>
      <vt:lpstr>Arial Unicode MS</vt:lpstr>
      <vt:lpstr>Gulim</vt:lpstr>
      <vt:lpstr>Malgun Gothic</vt:lpstr>
      <vt:lpstr>华文楷体</vt:lpstr>
      <vt:lpstr>Tahoma</vt:lpstr>
      <vt:lpstr>华文行楷</vt:lpstr>
      <vt:lpstr>UML面向对象设计与分析教程</vt:lpstr>
      <vt:lpstr>第1章  面向对象与UML</vt:lpstr>
      <vt:lpstr>本章概述</vt:lpstr>
      <vt:lpstr>本章的学习目标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类的例子</vt:lpstr>
      <vt:lpstr>找一下类</vt:lpstr>
      <vt:lpstr>分类状况不同，结果也不同</vt:lpstr>
      <vt:lpstr>类和对象的关系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热</cp:lastModifiedBy>
  <cp:revision>363</cp:revision>
  <dcterms:created xsi:type="dcterms:W3CDTF">2007-03-24T22:53:00Z</dcterms:created>
  <dcterms:modified xsi:type="dcterms:W3CDTF">2025-03-17T23:48:37Z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746BF57393974C1C89780336F04E3028_12</vt:lpwstr>
  </property>
  <property fmtid="{D5CDD505-2E9C-101B-9397-08002B2CF9AE}" pid="3" name="KSOProductBuildVer">
    <vt:lpwstr>2052-12.1.0.20305</vt:lpwstr>
  </property>
</Properties>
</file>