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51" r:id="rId3"/>
  </p:sldMasterIdLst>
  <p:notesMasterIdLst>
    <p:notesMasterId r:id="rId5"/>
  </p:notesMasterIdLst>
  <p:sldIdLst>
    <p:sldId id="2798" r:id="rId4"/>
    <p:sldId id="2803" r:id="rId6"/>
    <p:sldId id="2804" r:id="rId7"/>
    <p:sldId id="2801" r:id="rId8"/>
    <p:sldId id="2784" r:id="rId9"/>
    <p:sldId id="2785" r:id="rId10"/>
    <p:sldId id="2786" r:id="rId11"/>
    <p:sldId id="2787" r:id="rId12"/>
    <p:sldId id="2788" r:id="rId13"/>
    <p:sldId id="2789" r:id="rId14"/>
    <p:sldId id="2790" r:id="rId15"/>
    <p:sldId id="2802" r:id="rId16"/>
    <p:sldId id="2791" r:id="rId17"/>
    <p:sldId id="2792" r:id="rId18"/>
    <p:sldId id="2793" r:id="rId19"/>
    <p:sldId id="2805" r:id="rId20"/>
    <p:sldId id="2794" r:id="rId21"/>
    <p:sldId id="2797" r:id="rId22"/>
    <p:sldId id="2806" r:id="rId23"/>
    <p:sldId id="2795" r:id="rId24"/>
    <p:sldId id="2800" r:id="rId25"/>
  </p:sldIdLst>
  <p:sldSz cx="12858750" cy="7232650"/>
  <p:notesSz cx="6858000" cy="9144000"/>
  <p:custDataLst>
    <p:tags r:id="rId2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3" userDrawn="1">
          <p15:clr>
            <a:srgbClr val="A4A3A4"/>
          </p15:clr>
        </p15:guide>
        <p15:guide id="2" pos="4050" userDrawn="1">
          <p15:clr>
            <a:srgbClr val="A4A3A4"/>
          </p15:clr>
        </p15:guide>
        <p15:guide id="3" pos="512" userDrawn="1">
          <p15:clr>
            <a:srgbClr val="A4A3A4"/>
          </p15:clr>
        </p15:guide>
        <p15:guide id="5" orient="horz" pos="4183" userDrawn="1">
          <p15:clr>
            <a:srgbClr val="A4A3A4"/>
          </p15:clr>
        </p15:guide>
        <p15:guide id="6" pos="75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212E3C"/>
    <a:srgbClr val="FBBF09"/>
    <a:srgbClr val="EF4232"/>
    <a:srgbClr val="03A9F0"/>
    <a:srgbClr val="FFFFFF"/>
    <a:srgbClr val="FABCA8"/>
    <a:srgbClr val="57562F"/>
    <a:srgbClr val="FBCDBE"/>
    <a:srgbClr val="6B6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89" autoAdjust="0"/>
    <p:restoredTop sz="92986" autoAdjust="0"/>
  </p:normalViewPr>
  <p:slideViewPr>
    <p:cSldViewPr showGuides="1">
      <p:cViewPr varScale="1">
        <p:scale>
          <a:sx n="71" d="100"/>
          <a:sy n="71" d="100"/>
        </p:scale>
        <p:origin x="-474" y="-96"/>
      </p:cViewPr>
      <p:guideLst>
        <p:guide orient="horz" pos="373"/>
        <p:guide pos="4050"/>
        <p:guide pos="512"/>
        <p:guide orient="horz" pos="4183"/>
        <p:guide pos="7588"/>
      </p:guideLst>
    </p:cSldViewPr>
  </p:slideViewPr>
  <p:outlineViewPr>
    <p:cViewPr>
      <p:scale>
        <a:sx n="100" d="100"/>
        <a:sy n="100" d="100"/>
      </p:scale>
      <p:origin x="0" y="-144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gs" Target="tags/tag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38BCD-BAF0-4F2F-8ED1-BF002154F0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638BCD-BAF0-4F2F-8ED1-BF002154F02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229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方正正黑简体" panose="02000000000000000000" pitchFamily="2" charset="-122"/>
                <a:ea typeface="方正正黑简体" panose="02000000000000000000" pitchFamily="2" charset="-122"/>
              </a:defRPr>
            </a:lvl9pPr>
          </a:lstStyle>
          <a:p>
            <a:fld id="{8E734D7E-DDC1-43BA-BA84-4A1CFE3D3418}" type="slidenum">
              <a:rPr lang="zh-CN" altLang="en-US" sz="1200">
                <a:latin typeface="Calibri" panose="020F0502020204030204" pitchFamily="34" charset="0"/>
                <a:ea typeface="宋体" panose="02010600030101010101" pitchFamily="2" charset="-122"/>
              </a:rPr>
            </a:fld>
            <a:endParaRPr lang="zh-CN" altLang="en-US" sz="120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image" Target="../media/image4.png"/><Relationship Id="rId7" Type="http://schemas.openxmlformats.org/officeDocument/2006/relationships/image" Target="../media/image3.png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png"/><Relationship Id="rId4" Type="http://schemas.openxmlformats.org/officeDocument/2006/relationships/oleObject" Target="../embeddings/oleObject2.bin"/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84039" y="6703596"/>
            <a:ext cx="2893219" cy="386187"/>
          </a:xfrm>
          <a:prstGeom prst="rect">
            <a:avLst/>
          </a:prstGeom>
        </p:spPr>
        <p:txBody>
          <a:bodyPr/>
          <a:lstStyle/>
          <a:p>
            <a:fld id="{E3AD87B8-9A4B-45E2-BBE5-FB86ADE28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259461" y="6703596"/>
            <a:ext cx="4339828" cy="386187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081492" y="6703596"/>
            <a:ext cx="2893219" cy="386187"/>
          </a:xfrm>
          <a:prstGeom prst="rect">
            <a:avLst/>
          </a:prstGeom>
        </p:spPr>
        <p:txBody>
          <a:bodyPr/>
          <a:lstStyle/>
          <a:p>
            <a:fld id="{37AAA611-6692-4583-86AB-5AB9B972BD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039" y="385072"/>
            <a:ext cx="11090672" cy="1397978"/>
          </a:xfrm>
          <a:prstGeom prst="rect">
            <a:avLst/>
          </a:prstGeom>
        </p:spPr>
        <p:txBody>
          <a:bodyPr lIns="128583" tIns="64291" rIns="128583" bIns="64291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84039" y="1925358"/>
            <a:ext cx="11090672" cy="4589051"/>
          </a:xfrm>
          <a:prstGeom prst="rect">
            <a:avLst/>
          </a:prstGeom>
        </p:spPr>
        <p:txBody>
          <a:bodyPr lIns="128583" tIns="64291" rIns="128583" bIns="64291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4039" y="6703596"/>
            <a:ext cx="2893219" cy="385072"/>
          </a:xfrm>
          <a:prstGeom prst="rect">
            <a:avLst/>
          </a:prstGeom>
        </p:spPr>
        <p:txBody>
          <a:bodyPr lIns="128583" tIns="64291" rIns="128583" bIns="64291"/>
          <a:lstStyle/>
          <a:p>
            <a:fld id="{ACA37975-6AF7-4301-9DC5-87C074AA59D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59461" y="6703596"/>
            <a:ext cx="4339828" cy="385072"/>
          </a:xfrm>
          <a:prstGeom prst="rect">
            <a:avLst/>
          </a:prstGeom>
        </p:spPr>
        <p:txBody>
          <a:bodyPr lIns="128583" tIns="64291" rIns="128583" bIns="64291"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81492" y="6703596"/>
            <a:ext cx="2893219" cy="385072"/>
          </a:xfrm>
          <a:prstGeom prst="rect">
            <a:avLst/>
          </a:prstGeom>
        </p:spPr>
        <p:txBody>
          <a:bodyPr lIns="128583" tIns="64291" rIns="128583" bIns="64291"/>
          <a:lstStyle/>
          <a:p>
            <a:fld id="{D27987A4-0198-42B4-AAAE-EDBADA4485A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 advClick="0" advTm="0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3134148"/>
            <a:ext cx="9965531" cy="48217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9965531" y="3134148"/>
            <a:ext cx="2893219" cy="4821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2" name="AutoShape 4"/>
          <p:cNvSpPr>
            <a:spLocks noChangeArrowheads="1"/>
          </p:cNvSpPr>
          <p:nvPr/>
        </p:nvSpPr>
        <p:spPr bwMode="auto">
          <a:xfrm rot="5400000">
            <a:off x="296924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3" name="AutoShape 5"/>
          <p:cNvSpPr>
            <a:spLocks noChangeArrowheads="1"/>
          </p:cNvSpPr>
          <p:nvPr/>
        </p:nvSpPr>
        <p:spPr bwMode="auto">
          <a:xfrm rot="5400000">
            <a:off x="725549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4" name="AutoShape 6"/>
          <p:cNvSpPr>
            <a:spLocks noChangeArrowheads="1"/>
          </p:cNvSpPr>
          <p:nvPr/>
        </p:nvSpPr>
        <p:spPr bwMode="auto">
          <a:xfrm rot="5400000">
            <a:off x="1154174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55" name="AutoShape 7"/>
          <p:cNvSpPr>
            <a:spLocks noChangeArrowheads="1"/>
          </p:cNvSpPr>
          <p:nvPr/>
        </p:nvSpPr>
        <p:spPr bwMode="auto">
          <a:xfrm rot="5400000">
            <a:off x="1582799" y="3197761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graphicFrame>
        <p:nvGraphicFramePr>
          <p:cNvPr id="2056" name="Object 8"/>
          <p:cNvGraphicFramePr>
            <a:graphicFrameLocks noChangeAspect="1"/>
          </p:cNvGraphicFramePr>
          <p:nvPr/>
        </p:nvGraphicFramePr>
        <p:xfrm>
          <a:off x="0" y="3616326"/>
          <a:ext cx="5956102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" r:id="rId2" imgW="6007100" imgH="2743200" progId="">
                  <p:embed/>
                </p:oleObj>
              </mc:Choice>
              <mc:Fallback>
                <p:oleObj name="" r:id="rId2" imgW="6007100" imgH="2743200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616326"/>
                        <a:ext cx="5956102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7" name="Object 9"/>
          <p:cNvGraphicFramePr>
            <a:graphicFrameLocks noChangeAspect="1"/>
          </p:cNvGraphicFramePr>
          <p:nvPr/>
        </p:nvGraphicFramePr>
        <p:xfrm>
          <a:off x="9965531" y="3616326"/>
          <a:ext cx="2893219" cy="1928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" r:id="rId4" imgW="5753100" imgH="4356100" progId="">
                  <p:embed/>
                </p:oleObj>
              </mc:Choice>
              <mc:Fallback>
                <p:oleObj name="" r:id="rId4" imgW="5753100" imgH="435610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21930"/>
                      <a:stretch>
                        <a:fillRect/>
                      </a:stretch>
                    </p:blipFill>
                    <p:spPr bwMode="auto">
                      <a:xfrm>
                        <a:off x="9965531" y="3616326"/>
                        <a:ext cx="2893219" cy="1928707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" name="Object 10"/>
          <p:cNvGraphicFramePr>
            <a:graphicFrameLocks noChangeAspect="1"/>
          </p:cNvGraphicFramePr>
          <p:nvPr/>
        </p:nvGraphicFramePr>
        <p:xfrm>
          <a:off x="5985125" y="3616325"/>
          <a:ext cx="3944689" cy="1930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" r:id="rId6" imgW="3556000" imgH="2540000" progId="">
                  <p:embed/>
                </p:oleObj>
              </mc:Choice>
              <mc:Fallback>
                <p:oleObj name="" r:id="rId6" imgW="3556000" imgH="254000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5125" y="3616325"/>
                        <a:ext cx="3944689" cy="1930381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0" y="3616326"/>
            <a:ext cx="12858750" cy="1928707"/>
          </a:xfrm>
          <a:prstGeom prst="rect">
            <a:avLst/>
          </a:prstGeom>
          <a:solidFill>
            <a:schemeClr val="accent1">
              <a:alpha val="28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pic>
        <p:nvPicPr>
          <p:cNvPr id="2060" name="Picture 12" descr="glabal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4156" y="2009071"/>
            <a:ext cx="1850678" cy="1426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1" name="Rectangle 13"/>
          <p:cNvSpPr>
            <a:spLocks noGrp="1" noChangeArrowheads="1"/>
          </p:cNvSpPr>
          <p:nvPr>
            <p:ph type="dt" sz="half" idx="2"/>
          </p:nvPr>
        </p:nvSpPr>
        <p:spPr>
          <a:xfrm>
            <a:off x="642939" y="6830837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62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4393406" y="6830837"/>
            <a:ext cx="4071938" cy="257831"/>
          </a:xfrm>
        </p:spPr>
        <p:txBody>
          <a:bodyPr/>
          <a:lstStyle>
            <a:lvl1pPr>
              <a:defRPr sz="1500"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63" name="Rectangle 1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215439" y="6830837"/>
            <a:ext cx="3000375" cy="257831"/>
          </a:xfrm>
        </p:spPr>
        <p:txBody>
          <a:bodyPr/>
          <a:lstStyle>
            <a:lvl1pPr>
              <a:defRPr sz="1500"/>
            </a:lvl1pPr>
          </a:lstStyle>
          <a:p>
            <a:fld id="{A06949FC-71C0-4A9C-8FC5-2FA6268B5FA6}" type="slidenum">
              <a:rPr lang="zh-CN" alt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064" name="Text Box 16"/>
          <p:cNvSpPr txBox="1">
            <a:spLocks noChangeArrowheads="1"/>
          </p:cNvSpPr>
          <p:nvPr/>
        </p:nvSpPr>
        <p:spPr bwMode="auto">
          <a:xfrm>
            <a:off x="4911328" y="6122640"/>
            <a:ext cx="3545086" cy="392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89" tIns="57394" rIns="114789" bIns="57394">
            <a:spAutoFit/>
          </a:bodyPr>
          <a:lstStyle/>
          <a:p>
            <a:pPr>
              <a:buFont typeface="Arial" panose="020B0604020202020204" pitchFamily="34" charset="0"/>
              <a:buNone/>
            </a:pPr>
            <a:r>
              <a:rPr lang="zh-CN" altLang="en-US" b="1" smtClean="0">
                <a:solidFill>
                  <a:srgbClr val="000000"/>
                </a:solidFill>
                <a:latin typeface="Arial" panose="020B0604020202020204" pitchFamily="34" charset="0"/>
              </a:rPr>
              <a:t>大连理工大学出版社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065" name="AutoShape 17"/>
          <p:cNvSpPr>
            <a:spLocks noChangeArrowheads="1"/>
          </p:cNvSpPr>
          <p:nvPr/>
        </p:nvSpPr>
        <p:spPr bwMode="auto">
          <a:xfrm rot="5400000">
            <a:off x="6404827" y="5390970"/>
            <a:ext cx="287967" cy="1238995"/>
          </a:xfrm>
          <a:prstGeom prst="moon">
            <a:avLst>
              <a:gd name="adj" fmla="val 21208"/>
            </a:avLst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2066" name="Rectangle 18"/>
          <p:cNvSpPr>
            <a:spLocks noGrp="1" noChangeArrowheads="1"/>
          </p:cNvSpPr>
          <p:nvPr>
            <p:ph type="ctrTitle"/>
          </p:nvPr>
        </p:nvSpPr>
        <p:spPr>
          <a:xfrm>
            <a:off x="1607344" y="1767981"/>
            <a:ext cx="8679656" cy="1309244"/>
          </a:xfrm>
          <a:extLs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55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2067" name="Rectangle 19"/>
          <p:cNvSpPr>
            <a:spLocks noGrp="1" noChangeArrowheads="1"/>
          </p:cNvSpPr>
          <p:nvPr>
            <p:ph type="subTitle" idx="1"/>
          </p:nvPr>
        </p:nvSpPr>
        <p:spPr>
          <a:xfrm>
            <a:off x="2143125" y="3134148"/>
            <a:ext cx="7608094" cy="401814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4663F6-5E52-463E-9D66-231098FB4ADB}" type="slidenum">
              <a:rPr lang="zh-CN" alt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15752" y="4647649"/>
            <a:ext cx="10929938" cy="1436485"/>
          </a:xfrm>
        </p:spPr>
        <p:txBody>
          <a:bodyPr anchor="t"/>
          <a:lstStyle>
            <a:lvl1pPr algn="l">
              <a:defRPr sz="5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15752" y="3065506"/>
            <a:ext cx="10929938" cy="1582142"/>
          </a:xfrm>
        </p:spPr>
        <p:txBody>
          <a:bodyPr anchor="b"/>
          <a:lstStyle>
            <a:lvl1pPr marL="0" indent="0">
              <a:buNone/>
              <a:defRPr sz="2500"/>
            </a:lvl1pPr>
            <a:lvl2pPr marL="574040" indent="0">
              <a:buNone/>
              <a:defRPr sz="2300"/>
            </a:lvl2pPr>
            <a:lvl3pPr marL="1148080" indent="0">
              <a:buNone/>
              <a:defRPr sz="2000"/>
            </a:lvl3pPr>
            <a:lvl4pPr marL="1722120" indent="0">
              <a:buNone/>
              <a:defRPr sz="1800"/>
            </a:lvl4pPr>
            <a:lvl5pPr marL="2295525" indent="0">
              <a:buNone/>
              <a:defRPr sz="1800"/>
            </a:lvl5pPr>
            <a:lvl6pPr marL="2869565" indent="0">
              <a:buNone/>
              <a:defRPr sz="1800"/>
            </a:lvl6pPr>
            <a:lvl7pPr marL="3443605" indent="0">
              <a:buNone/>
              <a:defRPr sz="1800"/>
            </a:lvl7pPr>
            <a:lvl8pPr marL="4017645" indent="0">
              <a:buNone/>
              <a:defRPr sz="1800"/>
            </a:lvl8pPr>
            <a:lvl9pPr marL="4591685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C1D46F-9ACD-4C4C-BAAB-C2CC66BCC777}" type="slidenum">
              <a:rPr lang="zh-CN" alt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2939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36531" y="1366167"/>
            <a:ext cx="5679281" cy="530394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5615A0-2C08-4381-A3BC-51F88417D0E0}" type="slidenum">
              <a:rPr lang="zh-CN" alt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9" y="289641"/>
            <a:ext cx="11572875" cy="1205442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42938" y="1618976"/>
            <a:ext cx="5681514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040" indent="0">
              <a:buNone/>
              <a:defRPr sz="2500" b="1"/>
            </a:lvl2pPr>
            <a:lvl3pPr marL="1148080" indent="0">
              <a:buNone/>
              <a:defRPr sz="2300" b="1"/>
            </a:lvl3pPr>
            <a:lvl4pPr marL="1722120" indent="0">
              <a:buNone/>
              <a:defRPr sz="2000" b="1"/>
            </a:lvl4pPr>
            <a:lvl5pPr marL="2295525" indent="0">
              <a:buNone/>
              <a:defRPr sz="2000" b="1"/>
            </a:lvl5pPr>
            <a:lvl6pPr marL="2869565" indent="0">
              <a:buNone/>
              <a:defRPr sz="2000" b="1"/>
            </a:lvl6pPr>
            <a:lvl7pPr marL="3443605" indent="0">
              <a:buNone/>
              <a:defRPr sz="2000" b="1"/>
            </a:lvl7pPr>
            <a:lvl8pPr marL="4017645" indent="0">
              <a:buNone/>
              <a:defRPr sz="2000" b="1"/>
            </a:lvl8pPr>
            <a:lvl9pPr marL="4591685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2938" y="2293689"/>
            <a:ext cx="5681514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32067" y="1618976"/>
            <a:ext cx="5683746" cy="674712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040" indent="0">
              <a:buNone/>
              <a:defRPr sz="2500" b="1"/>
            </a:lvl2pPr>
            <a:lvl3pPr marL="1148080" indent="0">
              <a:buNone/>
              <a:defRPr sz="2300" b="1"/>
            </a:lvl3pPr>
            <a:lvl4pPr marL="1722120" indent="0">
              <a:buNone/>
              <a:defRPr sz="2000" b="1"/>
            </a:lvl4pPr>
            <a:lvl5pPr marL="2295525" indent="0">
              <a:buNone/>
              <a:defRPr sz="2000" b="1"/>
            </a:lvl5pPr>
            <a:lvl6pPr marL="2869565" indent="0">
              <a:buNone/>
              <a:defRPr sz="2000" b="1"/>
            </a:lvl6pPr>
            <a:lvl7pPr marL="3443605" indent="0">
              <a:buNone/>
              <a:defRPr sz="2000" b="1"/>
            </a:lvl7pPr>
            <a:lvl8pPr marL="4017645" indent="0">
              <a:buNone/>
              <a:defRPr sz="2000" b="1"/>
            </a:lvl8pPr>
            <a:lvl9pPr marL="4591685" indent="0">
              <a:buNone/>
              <a:defRPr sz="20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532067" y="2293689"/>
            <a:ext cx="5683746" cy="4167145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A11DA9-A2C9-41D0-9133-C993095558B6}" type="slidenum">
              <a:rPr lang="zh-CN" alt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09F4FB-12C6-40B5-A6AA-EB02BB20573B}" type="slidenum">
              <a:rPr lang="zh-CN" alt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9CEC60-5D95-4E68-8DD0-1E98DC0B60A1}" type="slidenum">
              <a:rPr lang="zh-CN" alt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938" y="287967"/>
            <a:ext cx="4230440" cy="1225532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7414" y="287967"/>
            <a:ext cx="7188398" cy="6172866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42938" y="1513501"/>
            <a:ext cx="4230440" cy="4947334"/>
          </a:xfrm>
        </p:spPr>
        <p:txBody>
          <a:bodyPr/>
          <a:lstStyle>
            <a:lvl1pPr marL="0" indent="0">
              <a:buNone/>
              <a:defRPr sz="1800"/>
            </a:lvl1pPr>
            <a:lvl2pPr marL="574040" indent="0">
              <a:buNone/>
              <a:defRPr sz="1500"/>
            </a:lvl2pPr>
            <a:lvl3pPr marL="1148080" indent="0">
              <a:buNone/>
              <a:defRPr sz="1300"/>
            </a:lvl3pPr>
            <a:lvl4pPr marL="1722120" indent="0">
              <a:buNone/>
              <a:defRPr sz="1100"/>
            </a:lvl4pPr>
            <a:lvl5pPr marL="2295525" indent="0">
              <a:buNone/>
              <a:defRPr sz="1100"/>
            </a:lvl5pPr>
            <a:lvl6pPr marL="2869565" indent="0">
              <a:buNone/>
              <a:defRPr sz="1100"/>
            </a:lvl6pPr>
            <a:lvl7pPr marL="3443605" indent="0">
              <a:buNone/>
              <a:defRPr sz="1100"/>
            </a:lvl7pPr>
            <a:lvl8pPr marL="4017645" indent="0">
              <a:buNone/>
              <a:defRPr sz="1100"/>
            </a:lvl8pPr>
            <a:lvl9pPr marL="4591685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ACBA71-A108-4D8F-B30F-B26305DB52E6}" type="slidenum">
              <a:rPr lang="zh-CN" alt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20405" y="5062856"/>
            <a:ext cx="7715250" cy="597699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520405" y="646251"/>
            <a:ext cx="7715250" cy="4339590"/>
          </a:xfrm>
        </p:spPr>
        <p:txBody>
          <a:bodyPr/>
          <a:lstStyle>
            <a:lvl1pPr marL="0" indent="0">
              <a:buNone/>
              <a:defRPr sz="4000"/>
            </a:lvl1pPr>
            <a:lvl2pPr marL="574040" indent="0">
              <a:buNone/>
              <a:defRPr sz="3500"/>
            </a:lvl2pPr>
            <a:lvl3pPr marL="1148080" indent="0">
              <a:buNone/>
              <a:defRPr sz="3000"/>
            </a:lvl3pPr>
            <a:lvl4pPr marL="1722120" indent="0">
              <a:buNone/>
              <a:defRPr sz="2500"/>
            </a:lvl4pPr>
            <a:lvl5pPr marL="2295525" indent="0">
              <a:buNone/>
              <a:defRPr sz="2500"/>
            </a:lvl5pPr>
            <a:lvl6pPr marL="2869565" indent="0">
              <a:buNone/>
              <a:defRPr sz="2500"/>
            </a:lvl6pPr>
            <a:lvl7pPr marL="3443605" indent="0">
              <a:buNone/>
              <a:defRPr sz="2500"/>
            </a:lvl7pPr>
            <a:lvl8pPr marL="4017645" indent="0">
              <a:buNone/>
              <a:defRPr sz="2500"/>
            </a:lvl8pPr>
            <a:lvl9pPr marL="4591685" indent="0">
              <a:buNone/>
              <a:defRPr sz="2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520405" y="5660555"/>
            <a:ext cx="7715250" cy="848831"/>
          </a:xfrm>
        </p:spPr>
        <p:txBody>
          <a:bodyPr/>
          <a:lstStyle>
            <a:lvl1pPr marL="0" indent="0">
              <a:buNone/>
              <a:defRPr sz="1800"/>
            </a:lvl1pPr>
            <a:lvl2pPr marL="574040" indent="0">
              <a:buNone/>
              <a:defRPr sz="1500"/>
            </a:lvl2pPr>
            <a:lvl3pPr marL="1148080" indent="0">
              <a:buNone/>
              <a:defRPr sz="1300"/>
            </a:lvl3pPr>
            <a:lvl4pPr marL="1722120" indent="0">
              <a:buNone/>
              <a:defRPr sz="1100"/>
            </a:lvl4pPr>
            <a:lvl5pPr marL="2295525" indent="0">
              <a:buNone/>
              <a:defRPr sz="1100"/>
            </a:lvl5pPr>
            <a:lvl6pPr marL="2869565" indent="0">
              <a:buNone/>
              <a:defRPr sz="1100"/>
            </a:lvl6pPr>
            <a:lvl7pPr marL="3443605" indent="0">
              <a:buNone/>
              <a:defRPr sz="1100"/>
            </a:lvl7pPr>
            <a:lvl8pPr marL="4017645" indent="0">
              <a:buNone/>
              <a:defRPr sz="1100"/>
            </a:lvl8pPr>
            <a:lvl9pPr marL="4591685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0AFEE6-9698-4489-8D7B-8AB64B9E1387}" type="slidenum">
              <a:rPr lang="zh-CN" alt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500B73-9DD7-41C0-B2B2-946A4EF25305}" type="slidenum">
              <a:rPr lang="zh-CN" alt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322595" y="622813"/>
            <a:ext cx="2893219" cy="604729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42937" y="622813"/>
            <a:ext cx="8465344" cy="604729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750D9E-967D-4F62-8A3B-AB60B1406417}" type="slidenum">
              <a:rPr lang="zh-CN" altLang="en-US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652117" y="622812"/>
            <a:ext cx="8358188" cy="59435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42938" y="1366167"/>
            <a:ext cx="5679281" cy="53039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536531" y="1366167"/>
            <a:ext cx="5679281" cy="53039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42938" y="6750474"/>
            <a:ext cx="3000375" cy="338193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93406" y="6750474"/>
            <a:ext cx="4071938" cy="338193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215438" y="6750474"/>
            <a:ext cx="3000375" cy="338193"/>
          </a:xfrm>
        </p:spPr>
        <p:txBody>
          <a:bodyPr/>
          <a:lstStyle>
            <a:lvl1pPr>
              <a:defRPr/>
            </a:lvl1pPr>
          </a:lstStyle>
          <a:p>
            <a:fld id="{FBD54A42-9C1A-4611-B8F5-7C89536AAE4D}" type="slidenum">
              <a:rPr lang="zh-CN" altLang="en-US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035969" y="592677"/>
            <a:ext cx="10822781" cy="681410"/>
          </a:xfrm>
          <a:prstGeom prst="rect">
            <a:avLst/>
          </a:prstGeom>
          <a:solidFill>
            <a:schemeClr val="tx1"/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589327"/>
            <a:ext cx="2035969" cy="69647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 rot="5400000">
            <a:off x="40408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29" name="AutoShape 5"/>
          <p:cNvSpPr>
            <a:spLocks noChangeArrowheads="1"/>
          </p:cNvSpPr>
          <p:nvPr/>
        </p:nvSpPr>
        <p:spPr bwMode="auto">
          <a:xfrm rot="5400000">
            <a:off x="83270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84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0" name="AutoShape 6"/>
          <p:cNvSpPr>
            <a:spLocks noChangeArrowheads="1"/>
          </p:cNvSpPr>
          <p:nvPr/>
        </p:nvSpPr>
        <p:spPr bwMode="auto">
          <a:xfrm rot="5400000">
            <a:off x="1261330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56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1" name="AutoShape 7"/>
          <p:cNvSpPr>
            <a:spLocks noChangeArrowheads="1"/>
          </p:cNvSpPr>
          <p:nvPr/>
        </p:nvSpPr>
        <p:spPr bwMode="auto">
          <a:xfrm rot="5400000">
            <a:off x="1689955" y="155694"/>
            <a:ext cx="401814" cy="321469"/>
          </a:xfrm>
          <a:prstGeom prst="triangle">
            <a:avLst>
              <a:gd name="adj" fmla="val 50000"/>
            </a:avLst>
          </a:prstGeom>
          <a:solidFill>
            <a:schemeClr val="bg2">
              <a:alpha val="26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89" tIns="57394" rIns="114789" bIns="57394" anchor="ctr"/>
          <a:lstStyle/>
          <a:p>
            <a:pPr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  <a:ea typeface="+mn-ea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2939" y="1366167"/>
            <a:ext cx="11572875" cy="530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42939" y="6750475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393406" y="6750475"/>
            <a:ext cx="4071938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algn="ct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endParaRPr 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15439" y="6750475"/>
            <a:ext cx="3000375" cy="338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t" anchorCtr="0" compatLnSpc="1"/>
          <a:lstStyle>
            <a:lvl1pPr algn="r">
              <a:defRPr sz="1800">
                <a:ea typeface="宋体" panose="02010600030101010101" pitchFamily="2" charset="-122"/>
              </a:defRPr>
            </a:lvl1pPr>
          </a:lstStyle>
          <a:p>
            <a:pPr>
              <a:buFont typeface="Arial" panose="020B0604020202020204" pitchFamily="34" charset="0"/>
              <a:buNone/>
            </a:pPr>
            <a:fld id="{E885DCAE-4A19-439B-9674-D186DD8CF82A}" type="slidenum"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</a:fld>
            <a:endParaRPr 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title"/>
          </p:nvPr>
        </p:nvSpPr>
        <p:spPr bwMode="auto">
          <a:xfrm>
            <a:off x="2652117" y="622812"/>
            <a:ext cx="8358188" cy="59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114789" tIns="57394" rIns="114789" bIns="57394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5pPr>
      <a:lvl6pPr marL="57404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6pPr>
      <a:lvl7pPr marL="114808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7pPr>
      <a:lvl8pPr marL="172212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8pPr>
      <a:lvl9pPr marL="2295525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430530" indent="-430530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v"/>
        <a:defRPr sz="3500">
          <a:solidFill>
            <a:schemeClr val="tx1"/>
          </a:solidFill>
          <a:latin typeface="+mn-lt"/>
          <a:ea typeface="+mn-ea"/>
          <a:cs typeface="+mn-cs"/>
        </a:defRPr>
      </a:lvl1pPr>
      <a:lvl2pPr marL="932815" indent="-358775" algn="l" rtl="0" fontAlgn="base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 sz="3300">
          <a:solidFill>
            <a:schemeClr val="tx1"/>
          </a:solidFill>
          <a:latin typeface="+mn-lt"/>
        </a:defRPr>
      </a:lvl2pPr>
      <a:lvl3pPr marL="1435100" indent="-28702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•"/>
        <a:defRPr sz="2800">
          <a:solidFill>
            <a:schemeClr val="tx1"/>
          </a:solidFill>
          <a:latin typeface="+mn-lt"/>
        </a:defRPr>
      </a:lvl3pPr>
      <a:lvl4pPr marL="200850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–"/>
        <a:defRPr sz="2500">
          <a:solidFill>
            <a:schemeClr val="tx1"/>
          </a:solidFill>
          <a:latin typeface="+mn-lt"/>
        </a:defRPr>
      </a:lvl4pPr>
      <a:lvl5pPr marL="258254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5pPr>
      <a:lvl6pPr marL="315658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6pPr>
      <a:lvl7pPr marL="373062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7pPr>
      <a:lvl8pPr marL="430466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8pPr>
      <a:lvl9pPr marL="4878705" indent="-28702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5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04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808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2120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5525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69565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3605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17645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1685" algn="l" defTabSz="1148080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/>
        </p:nvSpPr>
        <p:spPr>
          <a:xfrm>
            <a:off x="0" y="0"/>
            <a:ext cx="7256762" cy="7256364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任意多边形 2"/>
          <p:cNvSpPr/>
          <p:nvPr/>
        </p:nvSpPr>
        <p:spPr>
          <a:xfrm rot="5400000" flipV="1">
            <a:off x="1608166" y="1145782"/>
            <a:ext cx="4826927" cy="4827192"/>
          </a:xfrm>
          <a:custGeom>
            <a:avLst/>
            <a:gdLst>
              <a:gd name="connsiteX0" fmla="*/ 0 w 4343400"/>
              <a:gd name="connsiteY0" fmla="*/ 0 h 4343400"/>
              <a:gd name="connsiteX1" fmla="*/ 4343400 w 4343400"/>
              <a:gd name="connsiteY1" fmla="*/ 4343400 h 4343400"/>
              <a:gd name="connsiteX2" fmla="*/ 3486149 w 4343400"/>
              <a:gd name="connsiteY2" fmla="*/ 4343400 h 4343400"/>
              <a:gd name="connsiteX3" fmla="*/ 0 w 4343400"/>
              <a:gd name="connsiteY3" fmla="*/ 857251 h 4343400"/>
              <a:gd name="connsiteX4" fmla="*/ 0 w 4343400"/>
              <a:gd name="connsiteY4" fmla="*/ 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3400" h="4343400">
                <a:moveTo>
                  <a:pt x="0" y="0"/>
                </a:moveTo>
                <a:lnTo>
                  <a:pt x="4343400" y="4343400"/>
                </a:lnTo>
                <a:lnTo>
                  <a:pt x="3486149" y="4343400"/>
                </a:lnTo>
                <a:lnTo>
                  <a:pt x="0" y="8572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57167" y="1960141"/>
            <a:ext cx="8595718" cy="62228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&lt;&lt;JSP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与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Servlet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开发技术与典型应用教程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&gt;&gt;</a:t>
            </a:r>
            <a:endParaRPr kumimoji="1" lang="zh-CN" altLang="en-US" sz="3200" b="1" dirty="0">
              <a:solidFill>
                <a:srgbClr val="52658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97327" y="2896245"/>
            <a:ext cx="6016403" cy="649181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/>
            <a:r>
              <a:rPr kumimoji="1" lang="en-US" altLang="zh-CN" sz="17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rPr>
              <a:t>JSP and  servlet  development  technology  and  typical application  course</a:t>
            </a:r>
            <a:endParaRPr kumimoji="1" lang="zh-CN" altLang="en-US" sz="1700" dirty="0">
              <a:solidFill>
                <a:schemeClr val="bg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 rot="2648766">
            <a:off x="1518042" y="2894384"/>
            <a:ext cx="5266506" cy="605902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kumimoji="1" lang="zh-CN" altLang="en-US" sz="3100" b="1" dirty="0">
                <a:solidFill>
                  <a:srgbClr val="526580"/>
                </a:solidFill>
                <a:cs typeface="+mn-ea"/>
                <a:sym typeface="宋体" panose="02010600030101010101" pitchFamily="2" charset="-122"/>
              </a:rPr>
              <a:t>第二章 </a:t>
            </a:r>
            <a:r>
              <a:rPr kumimoji="1" lang="en-US" altLang="zh-CN" sz="3100" b="1" dirty="0">
                <a:solidFill>
                  <a:srgbClr val="526580"/>
                </a:solidFill>
                <a:cs typeface="+mn-ea"/>
                <a:sym typeface="宋体" panose="02010600030101010101" pitchFamily="2" charset="-122"/>
              </a:rPr>
              <a:t>   Java Web</a:t>
            </a:r>
            <a:r>
              <a:rPr kumimoji="1" lang="zh-CN" altLang="en-US" sz="3100" b="1" dirty="0">
                <a:solidFill>
                  <a:srgbClr val="526580"/>
                </a:solidFill>
                <a:cs typeface="+mn-ea"/>
                <a:sym typeface="宋体" panose="02010600030101010101" pitchFamily="2" charset="-122"/>
              </a:rPr>
              <a:t>应用概述</a:t>
            </a:r>
            <a:endParaRPr kumimoji="1" lang="zh-CN" altLang="en-US" sz="3100" b="1" dirty="0">
              <a:solidFill>
                <a:srgbClr val="526580"/>
              </a:solidFill>
              <a:cs typeface="+mn-ea"/>
              <a:sym typeface="宋体" panose="02010600030101010101" pitchFamily="2" charset="-122"/>
            </a:endParaRPr>
          </a:p>
        </p:txBody>
      </p:sp>
      <p:sp>
        <p:nvSpPr>
          <p:cNvPr id="12" name="直角三角形 11"/>
          <p:cNvSpPr/>
          <p:nvPr/>
        </p:nvSpPr>
        <p:spPr>
          <a:xfrm flipH="1">
            <a:off x="8229575" y="3976365"/>
            <a:ext cx="4629176" cy="3279999"/>
          </a:xfrm>
          <a:prstGeom prst="rtTriangle">
            <a:avLst/>
          </a:prstGeom>
          <a:solidFill>
            <a:srgbClr val="43536A"/>
          </a:solidFill>
          <a:ln>
            <a:solidFill>
              <a:srgbClr val="4353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直角三角形 15"/>
          <p:cNvSpPr/>
          <p:nvPr/>
        </p:nvSpPr>
        <p:spPr>
          <a:xfrm rot="13500000" flipV="1">
            <a:off x="2775844" y="-1270801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73591" y="3976365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2000" b="1" dirty="0">
                <a:solidFill>
                  <a:srgbClr val="526580"/>
                </a:solidFill>
                <a:cs typeface="+mn-ea"/>
              </a:rPr>
              <a:t>大连理工大学出版社</a:t>
            </a:r>
            <a:endParaRPr kumimoji="1" lang="zh-CN" altLang="en-US" sz="2000" b="1" dirty="0">
              <a:solidFill>
                <a:srgbClr val="526580"/>
              </a:solidFill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/>
      <p:bldP spid="8" grpId="0"/>
      <p:bldP spid="9" grpId="0"/>
      <p:bldP spid="12" grpId="0" animBg="1"/>
      <p:bldP spid="16" grpId="0" animBg="1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8"/>
          <p:cNvSpPr/>
          <p:nvPr/>
        </p:nvSpPr>
        <p:spPr>
          <a:xfrm>
            <a:off x="-12756" y="0"/>
            <a:ext cx="7266302" cy="7265903"/>
          </a:xfrm>
          <a:custGeom>
            <a:avLst/>
            <a:gdLst>
              <a:gd name="connsiteX0" fmla="*/ 0 w 5896303"/>
              <a:gd name="connsiteY0" fmla="*/ 0 h 5896303"/>
              <a:gd name="connsiteX1" fmla="*/ 5896303 w 5896303"/>
              <a:gd name="connsiteY1" fmla="*/ 5896303 h 5896303"/>
              <a:gd name="connsiteX2" fmla="*/ 5579364 w 5896303"/>
              <a:gd name="connsiteY2" fmla="*/ 5896303 h 5896303"/>
              <a:gd name="connsiteX3" fmla="*/ 0 w 5896303"/>
              <a:gd name="connsiteY3" fmla="*/ 316939 h 5896303"/>
              <a:gd name="connsiteX4" fmla="*/ 0 w 5896303"/>
              <a:gd name="connsiteY4" fmla="*/ 0 h 5896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96303" h="5896303">
                <a:moveTo>
                  <a:pt x="0" y="0"/>
                </a:moveTo>
                <a:lnTo>
                  <a:pt x="5896303" y="5896303"/>
                </a:lnTo>
                <a:lnTo>
                  <a:pt x="5579364" y="5896303"/>
                </a:lnTo>
                <a:lnTo>
                  <a:pt x="0" y="316939"/>
                </a:lnTo>
                <a:lnTo>
                  <a:pt x="0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等腰三角形 5"/>
          <p:cNvSpPr/>
          <p:nvPr/>
        </p:nvSpPr>
        <p:spPr>
          <a:xfrm flipV="1">
            <a:off x="1072486" y="448922"/>
            <a:ext cx="4158592" cy="2029130"/>
          </a:xfrm>
          <a:prstGeom prst="triangle">
            <a:avLst/>
          </a:prstGeom>
          <a:noFill/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4" name="等腰三角形 4"/>
          <p:cNvSpPr/>
          <p:nvPr/>
        </p:nvSpPr>
        <p:spPr>
          <a:xfrm flipV="1">
            <a:off x="1072486" y="-1"/>
            <a:ext cx="4158592" cy="2029130"/>
          </a:xfrm>
          <a:prstGeom prst="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7" name="TextBox 32"/>
          <p:cNvSpPr txBox="1">
            <a:spLocks noChangeArrowheads="1"/>
          </p:cNvSpPr>
          <p:nvPr/>
        </p:nvSpPr>
        <p:spPr bwMode="auto">
          <a:xfrm>
            <a:off x="3667936" y="1993039"/>
            <a:ext cx="1477498" cy="1297274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01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TextBox 32"/>
          <p:cNvSpPr txBox="1">
            <a:spLocks noChangeArrowheads="1"/>
          </p:cNvSpPr>
          <p:nvPr/>
        </p:nvSpPr>
        <p:spPr bwMode="auto">
          <a:xfrm>
            <a:off x="4718283" y="3125828"/>
            <a:ext cx="1477498" cy="1297274"/>
          </a:xfrm>
          <a:prstGeom prst="diamond">
            <a:avLst/>
          </a:prstGeom>
          <a:solidFill>
            <a:srgbClr val="43536A"/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02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TextBox 32"/>
          <p:cNvSpPr txBox="1">
            <a:spLocks noChangeArrowheads="1"/>
          </p:cNvSpPr>
          <p:nvPr/>
        </p:nvSpPr>
        <p:spPr bwMode="auto">
          <a:xfrm>
            <a:off x="5768630" y="4258615"/>
            <a:ext cx="1477498" cy="1297274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03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6" name="直角三角形 25"/>
          <p:cNvSpPr/>
          <p:nvPr/>
        </p:nvSpPr>
        <p:spPr>
          <a:xfrm>
            <a:off x="1" y="1014235"/>
            <a:ext cx="6218757" cy="6218415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072243" y="1963169"/>
            <a:ext cx="7145020" cy="570865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>
                <a:cs typeface="+mn-ea"/>
              </a:rPr>
              <a:t>理解</a:t>
            </a:r>
            <a:r>
              <a:rPr kumimoji="1" lang="en-US" altLang="zh-CN" sz="2400" b="1" dirty="0">
                <a:cs typeface="+mn-ea"/>
              </a:rPr>
              <a:t>B/S</a:t>
            </a:r>
            <a:r>
              <a:rPr kumimoji="1" lang="zh-CN" altLang="zh-CN" sz="2400" b="1" dirty="0">
                <a:cs typeface="+mn-ea"/>
              </a:rPr>
              <a:t>模式与</a:t>
            </a:r>
            <a:r>
              <a:rPr kumimoji="1" lang="en-US" altLang="zh-CN" sz="2400" b="1" dirty="0">
                <a:cs typeface="+mn-ea"/>
              </a:rPr>
              <a:t>C/S</a:t>
            </a:r>
            <a:r>
              <a:rPr kumimoji="1" lang="zh-CN" altLang="zh-CN" sz="2400" b="1" dirty="0">
                <a:cs typeface="+mn-ea"/>
              </a:rPr>
              <a:t>模式</a:t>
            </a:r>
            <a:endParaRPr kumimoji="1" lang="zh-CN" altLang="en-US" sz="2400" b="1" dirty="0"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149340" y="3178175"/>
            <a:ext cx="5645785" cy="537513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400" b="1" dirty="0" smtClean="0">
                <a:cs typeface="+mn-ea"/>
                <a:sym typeface="Arial" panose="020B0604020202020204" pitchFamily="34" charset="0"/>
              </a:rPr>
              <a:t>理解</a:t>
            </a:r>
            <a:r>
              <a:rPr kumimoji="1" lang="zh-CN" altLang="zh-CN" sz="2400" b="1" dirty="0">
                <a:cs typeface="+mn-ea"/>
              </a:rPr>
              <a:t>客户端脚本与服务器脚本</a:t>
            </a:r>
            <a:endParaRPr kumimoji="1" lang="zh-CN" altLang="en-US" sz="2400" b="1" dirty="0"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152640" y="4324985"/>
            <a:ext cx="5473700" cy="49917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kumimoji="1" lang="zh-CN" altLang="zh-CN" sz="2400" b="1" dirty="0">
                <a:cs typeface="+mn-ea"/>
              </a:rPr>
              <a:t>了</a:t>
            </a:r>
            <a:r>
              <a:rPr kumimoji="1" lang="zh-CN" altLang="en-US" sz="2400" b="1" dirty="0">
                <a:cs typeface="+mn-ea"/>
              </a:rPr>
              <a:t>解</a:t>
            </a:r>
            <a:r>
              <a:rPr kumimoji="1" lang="zh-CN" altLang="zh-CN" sz="2400" b="1" dirty="0">
                <a:cs typeface="+mn-ea"/>
              </a:rPr>
              <a:t>常见</a:t>
            </a:r>
            <a:r>
              <a:rPr kumimoji="1" lang="en-US" altLang="zh-CN" sz="2400" b="1" dirty="0">
                <a:cs typeface="+mn-ea"/>
              </a:rPr>
              <a:t>Web</a:t>
            </a:r>
            <a:r>
              <a:rPr kumimoji="1" lang="zh-CN" altLang="zh-CN" sz="2400" b="1" dirty="0">
                <a:cs typeface="+mn-ea"/>
              </a:rPr>
              <a:t>编程技术</a:t>
            </a:r>
            <a:endParaRPr kumimoji="1" lang="zh-CN" altLang="en-US" sz="2400" b="1" dirty="0"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049959" y="147317"/>
            <a:ext cx="2237740" cy="728345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3900" dirty="0">
                <a:solidFill>
                  <a:schemeClr val="bg1"/>
                </a:solidFill>
                <a:cs typeface="+mn-ea"/>
                <a:sym typeface="+mn-lt"/>
              </a:rPr>
              <a:t>能力目标</a:t>
            </a:r>
            <a:endParaRPr kumimoji="1" lang="en-US" altLang="zh-CN" sz="39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 tmFilter="0,0; .5, 1; 1, 1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7" grpId="0" bldLvl="0" animBg="1"/>
      <p:bldP spid="12" grpId="0" bldLvl="0" animBg="1"/>
      <p:bldP spid="17" grpId="0" bldLvl="0" animBg="1"/>
      <p:bldP spid="26" grpId="0" bldLvl="0" animBg="1"/>
      <p:bldP spid="27" grpId="0"/>
      <p:bldP spid="29" grpId="0"/>
      <p:bldP spid="33" grpId="0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18"/>
          <p:cNvSpPr/>
          <p:nvPr/>
        </p:nvSpPr>
        <p:spPr>
          <a:xfrm>
            <a:off x="-12756" y="0"/>
            <a:ext cx="7266302" cy="7265903"/>
          </a:xfrm>
          <a:custGeom>
            <a:avLst/>
            <a:gdLst>
              <a:gd name="connsiteX0" fmla="*/ 0 w 5896303"/>
              <a:gd name="connsiteY0" fmla="*/ 0 h 5896303"/>
              <a:gd name="connsiteX1" fmla="*/ 5896303 w 5896303"/>
              <a:gd name="connsiteY1" fmla="*/ 5896303 h 5896303"/>
              <a:gd name="connsiteX2" fmla="*/ 5579364 w 5896303"/>
              <a:gd name="connsiteY2" fmla="*/ 5896303 h 5896303"/>
              <a:gd name="connsiteX3" fmla="*/ 0 w 5896303"/>
              <a:gd name="connsiteY3" fmla="*/ 316939 h 5896303"/>
              <a:gd name="connsiteX4" fmla="*/ 0 w 5896303"/>
              <a:gd name="connsiteY4" fmla="*/ 0 h 5896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96303" h="5896303">
                <a:moveTo>
                  <a:pt x="0" y="0"/>
                </a:moveTo>
                <a:lnTo>
                  <a:pt x="5896303" y="5896303"/>
                </a:lnTo>
                <a:lnTo>
                  <a:pt x="5579364" y="5896303"/>
                </a:lnTo>
                <a:lnTo>
                  <a:pt x="0" y="316939"/>
                </a:lnTo>
                <a:lnTo>
                  <a:pt x="0" y="0"/>
                </a:lnTo>
                <a:close/>
              </a:path>
            </a:pathLst>
          </a:cu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等腰三角形 5"/>
          <p:cNvSpPr/>
          <p:nvPr/>
        </p:nvSpPr>
        <p:spPr>
          <a:xfrm flipV="1">
            <a:off x="1072486" y="448922"/>
            <a:ext cx="4158592" cy="2029130"/>
          </a:xfrm>
          <a:prstGeom prst="triangle">
            <a:avLst/>
          </a:prstGeom>
          <a:noFill/>
          <a:ln w="28575">
            <a:solidFill>
              <a:srgbClr val="5959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4" name="等腰三角形 4"/>
          <p:cNvSpPr/>
          <p:nvPr/>
        </p:nvSpPr>
        <p:spPr>
          <a:xfrm flipV="1">
            <a:off x="1072486" y="-1"/>
            <a:ext cx="4158592" cy="2029130"/>
          </a:xfrm>
          <a:prstGeom prst="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7" name="TextBox 32"/>
          <p:cNvSpPr txBox="1">
            <a:spLocks noChangeArrowheads="1"/>
          </p:cNvSpPr>
          <p:nvPr/>
        </p:nvSpPr>
        <p:spPr bwMode="auto">
          <a:xfrm>
            <a:off x="3667936" y="1993039"/>
            <a:ext cx="1477498" cy="1297274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01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2" name="TextBox 32"/>
          <p:cNvSpPr txBox="1">
            <a:spLocks noChangeArrowheads="1"/>
          </p:cNvSpPr>
          <p:nvPr/>
        </p:nvSpPr>
        <p:spPr bwMode="auto">
          <a:xfrm>
            <a:off x="4718283" y="3125828"/>
            <a:ext cx="1477498" cy="1297274"/>
          </a:xfrm>
          <a:prstGeom prst="diamond">
            <a:avLst/>
          </a:prstGeom>
          <a:solidFill>
            <a:srgbClr val="43536A"/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02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" name="TextBox 32"/>
          <p:cNvSpPr txBox="1">
            <a:spLocks noChangeArrowheads="1"/>
          </p:cNvSpPr>
          <p:nvPr/>
        </p:nvSpPr>
        <p:spPr bwMode="auto">
          <a:xfrm>
            <a:off x="5768630" y="4258615"/>
            <a:ext cx="1477498" cy="1297274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03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6" name="直角三角形 25"/>
          <p:cNvSpPr/>
          <p:nvPr/>
        </p:nvSpPr>
        <p:spPr>
          <a:xfrm>
            <a:off x="1" y="1014235"/>
            <a:ext cx="6218757" cy="6218415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085715" y="1993039"/>
            <a:ext cx="7145020" cy="543477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zh-CN" sz="2400" b="1" dirty="0">
                <a:cs typeface="+mn-ea"/>
              </a:rPr>
              <a:t>培养</a:t>
            </a:r>
            <a:r>
              <a:rPr kumimoji="1" lang="en-US" altLang="zh-CN" sz="2400" b="1" dirty="0">
                <a:cs typeface="+mn-ea"/>
              </a:rPr>
              <a:t>API</a:t>
            </a:r>
            <a:r>
              <a:rPr kumimoji="1" lang="zh-CN" altLang="zh-CN" sz="2400" b="1" dirty="0">
                <a:cs typeface="+mn-ea"/>
              </a:rPr>
              <a:t>文档阅读能力</a:t>
            </a:r>
            <a:endParaRPr kumimoji="1" lang="zh-CN" altLang="en-US" sz="2400" b="1" dirty="0">
              <a:cs typeface="+mn-ea"/>
              <a:sym typeface="Arial" panose="020B0604020202020204" pitchFamily="3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149340" y="3112269"/>
            <a:ext cx="5645785" cy="49917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kumimoji="1" lang="zh-CN" altLang="zh-CN" sz="2400" b="1" dirty="0">
                <a:cs typeface="+mn-ea"/>
              </a:rPr>
              <a:t>培养专业资料信息检索能力</a:t>
            </a:r>
            <a:endParaRPr kumimoji="1" lang="zh-CN" altLang="en-US" sz="2400" b="1" dirty="0"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152640" y="4264397"/>
            <a:ext cx="5473700" cy="49917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kumimoji="1" lang="zh-CN" altLang="zh-CN" sz="2400" b="1" dirty="0">
                <a:cs typeface="+mn-ea"/>
              </a:rPr>
              <a:t>培养对新事务新技术的好奇心求知欲</a:t>
            </a:r>
            <a:endParaRPr kumimoji="1" lang="zh-CN" altLang="en-US" sz="2400" b="1" dirty="0"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2049959" y="147317"/>
            <a:ext cx="2237740" cy="728345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3900" dirty="0">
                <a:solidFill>
                  <a:schemeClr val="bg1"/>
                </a:solidFill>
                <a:cs typeface="+mn-ea"/>
                <a:sym typeface="+mn-lt"/>
              </a:rPr>
              <a:t>素质目标</a:t>
            </a:r>
            <a:endParaRPr kumimoji="1" lang="en-US" altLang="zh-CN" sz="39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" name="TextBox 32"/>
          <p:cNvSpPr txBox="1">
            <a:spLocks noChangeArrowheads="1"/>
          </p:cNvSpPr>
          <p:nvPr/>
        </p:nvSpPr>
        <p:spPr bwMode="auto">
          <a:xfrm>
            <a:off x="6932829" y="5416522"/>
            <a:ext cx="1473200" cy="1301750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txBody>
          <a:bodyPr wrap="none" lIns="128583" tIns="64291" rIns="128583" bIns="64291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34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04</a:t>
            </a:r>
            <a:endParaRPr lang="zh-CN" altLang="en-US" sz="34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 tmFilter="0,0; .5, 1; 1, 1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3" grpId="0" bldLvl="0" animBg="1"/>
      <p:bldP spid="4" grpId="0" bldLvl="0" animBg="1"/>
      <p:bldP spid="7" grpId="0" bldLvl="0" animBg="1"/>
      <p:bldP spid="12" grpId="0" bldLvl="0" animBg="1"/>
      <p:bldP spid="17" grpId="0" bldLvl="0" animBg="1"/>
      <p:bldP spid="26" grpId="0" bldLvl="0" animBg="1"/>
      <p:bldP spid="27" grpId="0"/>
      <p:bldP spid="29" grpId="0"/>
      <p:bldP spid="33" grpId="0"/>
      <p:bldP spid="35" grpId="0"/>
      <p:bldP spid="5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 rot="8100000">
            <a:off x="1283635" y="4133852"/>
            <a:ext cx="6197937" cy="6197597"/>
          </a:xfrm>
          <a:prstGeom prst="rtTriangle">
            <a:avLst/>
          </a:prstGeom>
          <a:blipFill dpi="0" rotWithShape="0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直角三角形 6"/>
          <p:cNvSpPr/>
          <p:nvPr/>
        </p:nvSpPr>
        <p:spPr>
          <a:xfrm rot="13500000" flipV="1">
            <a:off x="2701051" y="-3658558"/>
            <a:ext cx="7316717" cy="7317118"/>
          </a:xfrm>
          <a:prstGeom prst="rtTriangle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直角三角形 2"/>
          <p:cNvSpPr/>
          <p:nvPr/>
        </p:nvSpPr>
        <p:spPr>
          <a:xfrm rot="8100000">
            <a:off x="6909309" y="4826403"/>
            <a:ext cx="4812758" cy="4812494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3636033" y="1672109"/>
            <a:ext cx="5568823" cy="806946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4400" b="1" dirty="0">
                <a:solidFill>
                  <a:srgbClr val="43536A"/>
                </a:solidFill>
                <a:cs typeface="+mn-ea"/>
              </a:rPr>
              <a:t>2.1 C/S</a:t>
            </a:r>
            <a:r>
              <a:rPr kumimoji="1" lang="zh-CN" altLang="zh-CN" sz="4400" b="1" dirty="0">
                <a:solidFill>
                  <a:srgbClr val="43536A"/>
                </a:solidFill>
                <a:cs typeface="+mn-ea"/>
              </a:rPr>
              <a:t>和</a:t>
            </a:r>
            <a:r>
              <a:rPr kumimoji="1" lang="en-US" altLang="zh-CN" sz="4400" b="1" dirty="0">
                <a:solidFill>
                  <a:srgbClr val="43536A"/>
                </a:solidFill>
                <a:cs typeface="+mn-ea"/>
              </a:rPr>
              <a:t>B/S</a:t>
            </a:r>
            <a:r>
              <a:rPr kumimoji="1" lang="zh-CN" altLang="zh-CN" sz="4400" b="1" dirty="0" smtClean="0">
                <a:solidFill>
                  <a:srgbClr val="43536A"/>
                </a:solidFill>
                <a:cs typeface="+mn-ea"/>
              </a:rPr>
              <a:t>体系结构</a:t>
            </a:r>
            <a:endParaRPr kumimoji="1" lang="zh-CN" altLang="en-US" sz="4400" b="1" dirty="0">
              <a:solidFill>
                <a:srgbClr val="43536A"/>
              </a:solidFill>
              <a:cs typeface="+mn-ea"/>
              <a:sym typeface="+mn-lt"/>
            </a:endParaRPr>
          </a:p>
        </p:txBody>
      </p:sp>
      <p:sp>
        <p:nvSpPr>
          <p:cNvPr id="10" name="直角三角形 9"/>
          <p:cNvSpPr/>
          <p:nvPr/>
        </p:nvSpPr>
        <p:spPr>
          <a:xfrm rot="13500000" flipV="1">
            <a:off x="1037730" y="-1245854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med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3" grpId="0" animBg="1"/>
      <p:bldP spid="9" grpId="0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78" y="606069"/>
            <a:ext cx="11264801" cy="656296"/>
          </a:xfrm>
        </p:spPr>
        <p:txBody>
          <a:bodyPr/>
          <a:lstStyle/>
          <a:p>
            <a:r>
              <a:rPr lang="zh-CN" altLang="en-US" dirty="0">
                <a:ea typeface="宋体" panose="02010600030101010101" pitchFamily="2" charset="-122"/>
              </a:rPr>
              <a:t>第</a:t>
            </a:r>
            <a:r>
              <a:rPr lang="en-US" dirty="0">
                <a:ea typeface="宋体" panose="02010600030101010101" pitchFamily="2" charset="-122"/>
              </a:rPr>
              <a:t>2</a:t>
            </a:r>
            <a:r>
              <a:rPr lang="zh-CN" altLang="en-US" dirty="0">
                <a:ea typeface="宋体" panose="02010600030101010101" pitchFamily="2" charset="-122"/>
              </a:rPr>
              <a:t>章   </a:t>
            </a:r>
            <a:r>
              <a:rPr lang="en-US" dirty="0">
                <a:ea typeface="宋体" panose="02010600030101010101" pitchFamily="2" charset="-122"/>
              </a:rPr>
              <a:t>Java  Web</a:t>
            </a:r>
            <a:r>
              <a:rPr lang="zh-CN" altLang="en-US" dirty="0">
                <a:ea typeface="宋体" panose="02010600030101010101" pitchFamily="2" charset="-122"/>
              </a:rPr>
              <a:t>应用概述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81103" y="1672109"/>
            <a:ext cx="11269266" cy="4470180"/>
          </a:xfrm>
        </p:spPr>
        <p:txBody>
          <a:bodyPr/>
          <a:lstStyle/>
          <a:p>
            <a:pPr marL="574040" indent="-574040"/>
            <a:r>
              <a:rPr lang="en-US" sz="3000" dirty="0" smtClean="0">
                <a:ea typeface="宋体" panose="02010600030101010101" pitchFamily="2" charset="-122"/>
              </a:rPr>
              <a:t>C/S</a:t>
            </a:r>
            <a:r>
              <a:rPr lang="zh-CN" altLang="en-US" sz="3000" dirty="0">
                <a:ea typeface="宋体" panose="02010600030101010101" pitchFamily="2" charset="-122"/>
              </a:rPr>
              <a:t>和</a:t>
            </a:r>
            <a:r>
              <a:rPr lang="en-US" sz="3000" dirty="0">
                <a:ea typeface="宋体" panose="02010600030101010101" pitchFamily="2" charset="-122"/>
              </a:rPr>
              <a:t>B/S</a:t>
            </a:r>
            <a:r>
              <a:rPr lang="zh-CN" altLang="en-US" sz="3000" dirty="0">
                <a:ea typeface="宋体" panose="02010600030101010101" pitchFamily="2" charset="-122"/>
              </a:rPr>
              <a:t>体系结构 </a:t>
            </a:r>
            <a:endParaRPr lang="zh-CN" altLang="en-US" sz="3000" dirty="0">
              <a:ea typeface="宋体" panose="02010600030101010101" pitchFamily="2" charset="-122"/>
            </a:endParaRPr>
          </a:p>
          <a:p>
            <a:pPr marL="1348740" lvl="1" indent="-669290"/>
            <a:r>
              <a:rPr lang="en-US" sz="2500" dirty="0" smtClean="0">
                <a:ea typeface="宋体" panose="02010600030101010101" pitchFamily="2" charset="-122"/>
              </a:rPr>
              <a:t>C/S</a:t>
            </a:r>
            <a:r>
              <a:rPr lang="zh-CN" altLang="en-US" sz="2500" dirty="0">
                <a:ea typeface="宋体" panose="02010600030101010101" pitchFamily="2" charset="-122"/>
              </a:rPr>
              <a:t>模式</a:t>
            </a:r>
            <a:endParaRPr lang="zh-CN" altLang="en-US" sz="2500" dirty="0">
              <a:ea typeface="宋体" panose="02010600030101010101" pitchFamily="2" charset="-122"/>
            </a:endParaRPr>
          </a:p>
          <a:p>
            <a:pPr marL="1348740" lvl="1" indent="-669290"/>
            <a:r>
              <a:rPr lang="en-US" sz="2500" dirty="0" smtClean="0">
                <a:ea typeface="宋体" panose="02010600030101010101" pitchFamily="2" charset="-122"/>
              </a:rPr>
              <a:t>B/S</a:t>
            </a:r>
            <a:r>
              <a:rPr lang="zh-CN" altLang="en-US" sz="2500" dirty="0">
                <a:ea typeface="宋体" panose="02010600030101010101" pitchFamily="2" charset="-122"/>
              </a:rPr>
              <a:t>模式</a:t>
            </a:r>
            <a:endParaRPr lang="zh-CN" altLang="en-US" sz="2500" dirty="0">
              <a:ea typeface="宋体" panose="02010600030101010101" pitchFamily="2" charset="-122"/>
            </a:endParaRPr>
          </a:p>
          <a:p>
            <a:pPr marL="1348740" lvl="1" indent="-669290"/>
            <a:r>
              <a:rPr lang="en-US" sz="2500" dirty="0" smtClean="0">
                <a:ea typeface="宋体" panose="02010600030101010101" pitchFamily="2" charset="-122"/>
              </a:rPr>
              <a:t>C/S</a:t>
            </a:r>
            <a:r>
              <a:rPr lang="zh-CN" altLang="en-US" sz="2500" dirty="0">
                <a:ea typeface="宋体" panose="02010600030101010101" pitchFamily="2" charset="-122"/>
              </a:rPr>
              <a:t>模式与</a:t>
            </a:r>
            <a:r>
              <a:rPr lang="en-US" sz="2500" dirty="0">
                <a:ea typeface="宋体" panose="02010600030101010101" pitchFamily="2" charset="-122"/>
              </a:rPr>
              <a:t>B/S</a:t>
            </a:r>
            <a:r>
              <a:rPr lang="zh-CN" altLang="en-US" sz="2500" dirty="0">
                <a:ea typeface="宋体" panose="02010600030101010101" pitchFamily="2" charset="-122"/>
              </a:rPr>
              <a:t>模式对比</a:t>
            </a:r>
            <a:endParaRPr lang="zh-CN" altLang="en-US" sz="2500" dirty="0">
              <a:ea typeface="宋体" panose="02010600030101010101" pitchFamily="2" charset="-122"/>
            </a:endParaRPr>
          </a:p>
          <a:p>
            <a:pPr marL="1348740" lvl="1" indent="-669290"/>
            <a:r>
              <a:rPr lang="zh-CN" altLang="en-US" sz="2500" dirty="0" smtClean="0">
                <a:ea typeface="宋体" panose="02010600030101010101" pitchFamily="2" charset="-122"/>
              </a:rPr>
              <a:t>客户端</a:t>
            </a:r>
            <a:r>
              <a:rPr lang="zh-CN" altLang="en-US" sz="2500" dirty="0">
                <a:ea typeface="宋体" panose="02010600030101010101" pitchFamily="2" charset="-122"/>
              </a:rPr>
              <a:t>脚本与服务器脚本 </a:t>
            </a:r>
            <a:endParaRPr lang="zh-CN" altLang="en-US" sz="2500" dirty="0">
              <a:ea typeface="宋体" panose="02010600030101010101" pitchFamily="2" charset="-122"/>
            </a:endParaRPr>
          </a:p>
          <a:p>
            <a:pPr marL="574040" indent="-574040"/>
            <a:r>
              <a:rPr lang="en-US" altLang="zh-CN" sz="3200" dirty="0"/>
              <a:t>Web</a:t>
            </a:r>
            <a:r>
              <a:rPr lang="zh-CN" altLang="zh-CN" sz="3200" dirty="0"/>
              <a:t>应用程序</a:t>
            </a:r>
            <a:r>
              <a:rPr lang="zh-CN" altLang="zh-CN" sz="3200" dirty="0" smtClean="0"/>
              <a:t>开发</a:t>
            </a:r>
            <a:endParaRPr lang="en-US" altLang="zh-CN" sz="3200" dirty="0" smtClean="0"/>
          </a:p>
          <a:p>
            <a:pPr marL="1348740" lvl="1" indent="-669290"/>
            <a:r>
              <a:rPr lang="en-US" sz="2500" dirty="0">
                <a:ea typeface="宋体" panose="02010600030101010101" pitchFamily="2" charset="-122"/>
              </a:rPr>
              <a:t>ASP</a:t>
            </a:r>
            <a:r>
              <a:rPr lang="zh-CN" altLang="en-US" sz="2500" dirty="0">
                <a:ea typeface="宋体" panose="02010600030101010101" pitchFamily="2" charset="-122"/>
              </a:rPr>
              <a:t>编程技术</a:t>
            </a:r>
            <a:endParaRPr lang="zh-CN" altLang="en-US" sz="2500" dirty="0">
              <a:ea typeface="宋体" panose="02010600030101010101" pitchFamily="2" charset="-122"/>
            </a:endParaRPr>
          </a:p>
          <a:p>
            <a:pPr marL="1348740" lvl="1" indent="-669290"/>
            <a:r>
              <a:rPr lang="en-US" sz="2500" dirty="0" smtClean="0">
                <a:ea typeface="宋体" panose="02010600030101010101" pitchFamily="2" charset="-122"/>
              </a:rPr>
              <a:t>ASP.NET</a:t>
            </a:r>
            <a:r>
              <a:rPr lang="zh-CN" altLang="en-US" sz="2500" dirty="0">
                <a:ea typeface="宋体" panose="02010600030101010101" pitchFamily="2" charset="-122"/>
              </a:rPr>
              <a:t>编程技术</a:t>
            </a:r>
            <a:endParaRPr lang="zh-CN" altLang="en-US" sz="2500" dirty="0">
              <a:ea typeface="宋体" panose="02010600030101010101" pitchFamily="2" charset="-122"/>
            </a:endParaRPr>
          </a:p>
          <a:p>
            <a:pPr marL="1348740" lvl="1" indent="-669290"/>
            <a:r>
              <a:rPr lang="en-US" sz="2500" dirty="0" smtClean="0">
                <a:ea typeface="宋体" panose="02010600030101010101" pitchFamily="2" charset="-122"/>
              </a:rPr>
              <a:t>PHP</a:t>
            </a:r>
            <a:r>
              <a:rPr lang="zh-CN" altLang="en-US" sz="2500" dirty="0">
                <a:ea typeface="宋体" panose="02010600030101010101" pitchFamily="2" charset="-122"/>
              </a:rPr>
              <a:t>编程</a:t>
            </a:r>
            <a:r>
              <a:rPr lang="zh-CN" altLang="en-US" sz="2500" dirty="0" smtClean="0">
                <a:ea typeface="宋体" panose="02010600030101010101" pitchFamily="2" charset="-122"/>
              </a:rPr>
              <a:t>技术</a:t>
            </a:r>
            <a:endParaRPr lang="en-US" altLang="zh-CN" sz="2500" dirty="0" smtClean="0">
              <a:ea typeface="宋体" panose="02010600030101010101" pitchFamily="2" charset="-122"/>
            </a:endParaRPr>
          </a:p>
          <a:p>
            <a:pPr marL="1348740" lvl="1" indent="-669290"/>
            <a:r>
              <a:rPr lang="en-US" altLang="zh-CN" sz="2500" dirty="0">
                <a:ea typeface="宋体" panose="02010600030101010101" pitchFamily="2" charset="-122"/>
              </a:rPr>
              <a:t>Python</a:t>
            </a:r>
            <a:r>
              <a:rPr lang="zh-CN" altLang="zh-CN" sz="2500" dirty="0">
                <a:ea typeface="宋体" panose="02010600030101010101" pitchFamily="2" charset="-122"/>
              </a:rPr>
              <a:t>编程技术</a:t>
            </a:r>
            <a:endParaRPr lang="zh-CN" altLang="en-US" sz="2500" dirty="0">
              <a:ea typeface="宋体" panose="02010600030101010101" pitchFamily="2" charset="-122"/>
            </a:endParaRPr>
          </a:p>
          <a:p>
            <a:pPr marL="1348740" lvl="1" indent="-669290"/>
            <a:r>
              <a:rPr lang="en-US" sz="2500" dirty="0" smtClean="0">
                <a:ea typeface="宋体" panose="02010600030101010101" pitchFamily="2" charset="-122"/>
              </a:rPr>
              <a:t>Java </a:t>
            </a:r>
            <a:r>
              <a:rPr lang="en-US" sz="2500" dirty="0">
                <a:ea typeface="宋体" panose="02010600030101010101" pitchFamily="2" charset="-122"/>
              </a:rPr>
              <a:t>Web</a:t>
            </a:r>
            <a:r>
              <a:rPr lang="zh-CN" altLang="en-US" sz="2500" dirty="0">
                <a:ea typeface="宋体" panose="02010600030101010101" pitchFamily="2" charset="-122"/>
              </a:rPr>
              <a:t>编程技术</a:t>
            </a:r>
            <a:endParaRPr lang="zh-CN" altLang="en-US" sz="2500" dirty="0"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676846" y="1456085"/>
            <a:ext cx="2436886" cy="7956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4040" lvl="0" indent="-574040">
              <a:lnSpc>
                <a:spcPct val="150000"/>
              </a:lnSpc>
              <a:spcBef>
                <a:spcPct val="20000"/>
              </a:spcBef>
              <a:buClr>
                <a:srgbClr val="333399"/>
              </a:buClr>
            </a:pPr>
            <a:r>
              <a:rPr lang="zh-CN" altLang="en-US" sz="3500" b="1" kern="0" dirty="0" smtClean="0">
                <a:solidFill>
                  <a:srgbClr val="000000"/>
                </a:solidFill>
                <a:latin typeface="Arial" panose="020B0604020202020204"/>
                <a:ea typeface="楷体_GB2312" pitchFamily="1" charset="-122"/>
              </a:rPr>
              <a:t>本课任务：</a:t>
            </a:r>
            <a:endParaRPr lang="zh-CN" altLang="en-US" sz="3500" b="1" kern="0" dirty="0">
              <a:solidFill>
                <a:srgbClr val="000000"/>
              </a:solidFill>
              <a:latin typeface="Arial" panose="020B0604020202020204"/>
              <a:ea typeface="楷体_GB2312" pitchFamily="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62178" y="606069"/>
            <a:ext cx="11264801" cy="656296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第</a:t>
            </a:r>
            <a:r>
              <a:rPr lang="en-US" dirty="0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章    </a:t>
            </a:r>
            <a:r>
              <a:rPr lang="en-US" dirty="0">
                <a:ea typeface="宋体" panose="02010600030101010101" pitchFamily="2" charset="-122"/>
              </a:rPr>
              <a:t>Java  Web</a:t>
            </a:r>
            <a:r>
              <a:rPr lang="zh-CN" altLang="en-US">
                <a:ea typeface="宋体" panose="02010600030101010101" pitchFamily="2" charset="-122"/>
              </a:rPr>
              <a:t>应用概述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2696" y="1744117"/>
            <a:ext cx="12280552" cy="3026998"/>
          </a:xfrm>
        </p:spPr>
        <p:txBody>
          <a:bodyPr/>
          <a:lstStyle/>
          <a:p>
            <a:pPr marL="574040" indent="-574040">
              <a:lnSpc>
                <a:spcPct val="150000"/>
              </a:lnSpc>
              <a:buNone/>
            </a:pPr>
            <a:r>
              <a:rPr lang="zh-CN" altLang="en-US" b="1" dirty="0">
                <a:ea typeface="楷体_GB2312" pitchFamily="1" charset="-122"/>
              </a:rPr>
              <a:t>教学要求</a:t>
            </a:r>
            <a:endParaRPr lang="zh-CN" altLang="en-US" b="1" dirty="0">
              <a:ea typeface="楷体_GB2312" pitchFamily="1" charset="-122"/>
            </a:endParaRPr>
          </a:p>
          <a:p>
            <a:pPr marL="574040" indent="-574040">
              <a:buNone/>
            </a:pPr>
            <a:endParaRPr lang="en-US" sz="2300" dirty="0">
              <a:ea typeface="宋体" panose="02010600030101010101" pitchFamily="2" charset="-122"/>
            </a:endParaRPr>
          </a:p>
          <a:p>
            <a:pPr marL="574040" indent="-574040">
              <a:lnSpc>
                <a:spcPct val="150000"/>
              </a:lnSpc>
              <a:buNone/>
            </a:pPr>
            <a:r>
              <a:rPr lang="en-US" sz="2400" dirty="0"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ea typeface="宋体" panose="02010600030101010101" pitchFamily="2" charset="-122"/>
              </a:rPr>
              <a:t>．理解：</a:t>
            </a:r>
            <a:r>
              <a:rPr lang="en-US" sz="2400" dirty="0">
                <a:ea typeface="宋体" panose="02010600030101010101" pitchFamily="2" charset="-122"/>
              </a:rPr>
              <a:t>B/S</a:t>
            </a:r>
            <a:r>
              <a:rPr lang="zh-CN" altLang="en-US" sz="2400" dirty="0">
                <a:ea typeface="宋体" panose="02010600030101010101" pitchFamily="2" charset="-122"/>
              </a:rPr>
              <a:t>模式与</a:t>
            </a:r>
            <a:r>
              <a:rPr lang="en-US" sz="2400" dirty="0">
                <a:ea typeface="宋体" panose="02010600030101010101" pitchFamily="2" charset="-122"/>
              </a:rPr>
              <a:t>C/S</a:t>
            </a:r>
            <a:r>
              <a:rPr lang="zh-CN" altLang="en-US" sz="2400" dirty="0">
                <a:ea typeface="宋体" panose="02010600030101010101" pitchFamily="2" charset="-122"/>
              </a:rPr>
              <a:t>模式、客户端脚本与服务器脚本</a:t>
            </a:r>
            <a:endParaRPr lang="zh-CN" altLang="en-US" sz="2400" dirty="0">
              <a:ea typeface="宋体" panose="02010600030101010101" pitchFamily="2" charset="-122"/>
            </a:endParaRPr>
          </a:p>
          <a:p>
            <a:pPr marL="574040" indent="-574040">
              <a:lnSpc>
                <a:spcPct val="150000"/>
              </a:lnSpc>
              <a:buNone/>
            </a:pPr>
            <a:r>
              <a:rPr lang="en-US" sz="2400" dirty="0"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ea typeface="宋体" panose="02010600030101010101" pitchFamily="2" charset="-122"/>
              </a:rPr>
              <a:t>．了解：常见</a:t>
            </a:r>
            <a:r>
              <a:rPr lang="en-US" sz="2400" dirty="0">
                <a:ea typeface="宋体" panose="02010600030101010101" pitchFamily="2" charset="-122"/>
              </a:rPr>
              <a:t>Web</a:t>
            </a:r>
            <a:r>
              <a:rPr lang="zh-CN" altLang="en-US" sz="2400" dirty="0">
                <a:ea typeface="宋体" panose="02010600030101010101" pitchFamily="2" charset="-122"/>
              </a:rPr>
              <a:t>编程技术 </a:t>
            </a:r>
            <a:endParaRPr lang="zh-CN" altLang="en-US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7" y="654622"/>
            <a:ext cx="11264801" cy="656296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授课任务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6"/>
            <a:ext cx="11269266" cy="532403"/>
          </a:xfrm>
        </p:spPr>
        <p:txBody>
          <a:bodyPr/>
          <a:lstStyle/>
          <a:p>
            <a:r>
              <a:rPr lang="en-US" dirty="0" smtClean="0">
                <a:ea typeface="宋体" panose="02010600030101010101" pitchFamily="2" charset="-122"/>
              </a:rPr>
              <a:t>C/S</a:t>
            </a:r>
            <a:r>
              <a:rPr lang="zh-CN" altLang="en-US" dirty="0">
                <a:ea typeface="宋体" panose="02010600030101010101" pitchFamily="2" charset="-122"/>
              </a:rPr>
              <a:t>模式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962177" y="2201673"/>
            <a:ext cx="7567133" cy="1777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C/S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（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Client/Server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）模式，即客户端和服务器结构。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它是软件系统体系结构，通过它可以充分利用两端硬件环境的优势，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将任务合理分配到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Client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端和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Server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端来实现，降低了系统的通讯开销。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050" name="Picture 2" descr="图2-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4" t="1492" r="1392" b="1778"/>
          <a:stretch>
            <a:fillRect/>
          </a:stretch>
        </p:blipFill>
        <p:spPr bwMode="auto">
          <a:xfrm>
            <a:off x="4989215" y="4120381"/>
            <a:ext cx="338137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7" y="654622"/>
            <a:ext cx="11264801" cy="656296"/>
          </a:xfrm>
        </p:spPr>
        <p:txBody>
          <a:bodyPr/>
          <a:lstStyle/>
          <a:p>
            <a:r>
              <a:rPr lang="en-US" dirty="0" smtClean="0">
                <a:ea typeface="宋体" panose="02010600030101010101" pitchFamily="2" charset="-122"/>
              </a:rPr>
              <a:t>C/S</a:t>
            </a:r>
            <a:r>
              <a:rPr lang="zh-CN" altLang="en-US" dirty="0">
                <a:ea typeface="宋体" panose="02010600030101010101" pitchFamily="2" charset="-122"/>
              </a:rPr>
              <a:t>和</a:t>
            </a:r>
            <a:r>
              <a:rPr lang="en-US" dirty="0">
                <a:ea typeface="宋体" panose="02010600030101010101" pitchFamily="2" charset="-122"/>
              </a:rPr>
              <a:t>B/S</a:t>
            </a:r>
            <a:r>
              <a:rPr lang="zh-CN" altLang="en-US" dirty="0">
                <a:ea typeface="宋体" panose="02010600030101010101" pitchFamily="2" charset="-122"/>
              </a:rPr>
              <a:t>体系结构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6"/>
            <a:ext cx="11269266" cy="532403"/>
          </a:xfrm>
        </p:spPr>
        <p:txBody>
          <a:bodyPr/>
          <a:lstStyle/>
          <a:p>
            <a:r>
              <a:rPr lang="en-US" dirty="0" smtClean="0">
                <a:ea typeface="宋体" panose="02010600030101010101" pitchFamily="2" charset="-122"/>
              </a:rPr>
              <a:t>B/S</a:t>
            </a:r>
            <a:r>
              <a:rPr lang="zh-CN" altLang="en-US" dirty="0">
                <a:ea typeface="宋体" panose="02010600030101010101" pitchFamily="2" charset="-122"/>
              </a:rPr>
              <a:t>模式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962177" y="2278689"/>
            <a:ext cx="6477091" cy="1777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14775" tIns="57388" rIns="114775" bIns="57388" anchor="ctr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B/S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（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Browser/Server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）模式，即浏览器和服务器结构。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它是随着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Internet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技术的兴起，对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C/S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模式的一种改进的结构。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主要事务逻辑在服务器端实现。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3074" name="Picture 2" descr="图2-2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431" y="4056579"/>
            <a:ext cx="4320480" cy="258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7" y="654622"/>
            <a:ext cx="11264801" cy="656296"/>
          </a:xfrm>
        </p:spPr>
        <p:txBody>
          <a:bodyPr/>
          <a:lstStyle/>
          <a:p>
            <a:r>
              <a:rPr lang="en-US" dirty="0" smtClean="0">
                <a:ea typeface="宋体" panose="02010600030101010101" pitchFamily="2" charset="-122"/>
              </a:rPr>
              <a:t>C/S</a:t>
            </a:r>
            <a:r>
              <a:rPr lang="zh-CN" altLang="en-US" dirty="0">
                <a:ea typeface="宋体" panose="02010600030101010101" pitchFamily="2" charset="-122"/>
              </a:rPr>
              <a:t>和</a:t>
            </a:r>
            <a:r>
              <a:rPr lang="en-US" dirty="0">
                <a:ea typeface="宋体" panose="02010600030101010101" pitchFamily="2" charset="-122"/>
              </a:rPr>
              <a:t>B/S</a:t>
            </a:r>
            <a:r>
              <a:rPr lang="zh-CN" altLang="en-US" dirty="0">
                <a:ea typeface="宋体" panose="02010600030101010101" pitchFamily="2" charset="-122"/>
              </a:rPr>
              <a:t>体系结构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6"/>
            <a:ext cx="11269266" cy="532403"/>
          </a:xfrm>
        </p:spPr>
        <p:txBody>
          <a:bodyPr/>
          <a:lstStyle/>
          <a:p>
            <a:r>
              <a:rPr lang="en-US" dirty="0" smtClean="0">
                <a:ea typeface="宋体" panose="02010600030101010101" pitchFamily="2" charset="-122"/>
              </a:rPr>
              <a:t>C/S</a:t>
            </a:r>
            <a:r>
              <a:rPr lang="zh-CN" altLang="en-US" dirty="0">
                <a:ea typeface="宋体" panose="02010600030101010101" pitchFamily="2" charset="-122"/>
              </a:rPr>
              <a:t>模式与</a:t>
            </a:r>
            <a:r>
              <a:rPr lang="en-US" dirty="0">
                <a:ea typeface="宋体" panose="02010600030101010101" pitchFamily="2" charset="-122"/>
              </a:rPr>
              <a:t>B/S</a:t>
            </a:r>
            <a:r>
              <a:rPr lang="zh-CN" altLang="en-US" dirty="0">
                <a:ea typeface="宋体" panose="02010600030101010101" pitchFamily="2" charset="-122"/>
              </a:rPr>
              <a:t>模式对比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962175" y="2250158"/>
            <a:ext cx="12657832" cy="2179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 anchor="ctr">
            <a:spAutoFit/>
          </a:bodyPr>
          <a:lstStyle/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C/S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模式下的应用软件一般由服务器和客户端应用程序组成。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数据一般存放在服务器上，应用程序一般存放在客户端计算机上。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B/S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模式下的应用软件由浏览器和服务器组成。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数据和应用程序都存放在服务器上。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9838" y="4071714"/>
            <a:ext cx="5619005" cy="243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7" y="654622"/>
            <a:ext cx="11264801" cy="656296"/>
          </a:xfrm>
        </p:spPr>
        <p:txBody>
          <a:bodyPr/>
          <a:lstStyle/>
          <a:p>
            <a:r>
              <a:rPr lang="en-US" dirty="0" smtClean="0">
                <a:ea typeface="宋体" panose="02010600030101010101" pitchFamily="2" charset="-122"/>
              </a:rPr>
              <a:t>C/S</a:t>
            </a:r>
            <a:r>
              <a:rPr lang="zh-CN" altLang="en-US" dirty="0">
                <a:ea typeface="宋体" panose="02010600030101010101" pitchFamily="2" charset="-122"/>
              </a:rPr>
              <a:t>和</a:t>
            </a:r>
            <a:r>
              <a:rPr lang="en-US" dirty="0">
                <a:ea typeface="宋体" panose="02010600030101010101" pitchFamily="2" charset="-122"/>
              </a:rPr>
              <a:t>B/S</a:t>
            </a:r>
            <a:r>
              <a:rPr lang="zh-CN" altLang="en-US" dirty="0">
                <a:ea typeface="宋体" panose="02010600030101010101" pitchFamily="2" charset="-122"/>
              </a:rPr>
              <a:t>体系结构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6"/>
            <a:ext cx="11269266" cy="532403"/>
          </a:xfrm>
        </p:spPr>
        <p:txBody>
          <a:bodyPr/>
          <a:lstStyle/>
          <a:p>
            <a:r>
              <a:rPr lang="en-US" dirty="0" smtClean="0">
                <a:ea typeface="宋体" panose="02010600030101010101" pitchFamily="2" charset="-122"/>
              </a:rPr>
              <a:t>C/S</a:t>
            </a:r>
            <a:r>
              <a:rPr lang="zh-CN" altLang="en-US" dirty="0">
                <a:ea typeface="宋体" panose="02010600030101010101" pitchFamily="2" charset="-122"/>
              </a:rPr>
              <a:t>模式与</a:t>
            </a:r>
            <a:r>
              <a:rPr lang="en-US" dirty="0">
                <a:ea typeface="宋体" panose="02010600030101010101" pitchFamily="2" charset="-122"/>
              </a:rPr>
              <a:t>B/S</a:t>
            </a:r>
            <a:r>
              <a:rPr lang="zh-CN" altLang="en-US" dirty="0">
                <a:ea typeface="宋体" panose="02010600030101010101" pitchFamily="2" charset="-122"/>
              </a:rPr>
              <a:t>模式对比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0244" name="Rectangle 4"/>
          <p:cNvSpPr>
            <a:spLocks noChangeArrowheads="1"/>
          </p:cNvSpPr>
          <p:nvPr/>
        </p:nvSpPr>
        <p:spPr bwMode="auto">
          <a:xfrm>
            <a:off x="962175" y="2400838"/>
            <a:ext cx="12657832" cy="617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 anchor="ctr">
            <a:spAutoFit/>
          </a:bodyPr>
          <a:lstStyle/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1062636" y="2400839"/>
            <a:ext cx="11695659" cy="3412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B/S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模式的优点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B/S 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模式的缺点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C/S 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模式的优点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C/S 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模式的缺点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基于这两种模式的特点，它们的应用领域也大不相同。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．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B/S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模式下的应用软件适用于用户分散的因特网，开发的系统以网页形式居多。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．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C/S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模式下的应用软件适用于单独用户或用户集中的局域网，开发的系统以桌面应用程序居多。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7" y="654622"/>
            <a:ext cx="11264801" cy="656296"/>
          </a:xfrm>
        </p:spPr>
        <p:txBody>
          <a:bodyPr/>
          <a:lstStyle/>
          <a:p>
            <a:r>
              <a:rPr lang="en-US" dirty="0" smtClean="0">
                <a:ea typeface="宋体" panose="02010600030101010101" pitchFamily="2" charset="-122"/>
              </a:rPr>
              <a:t>C/S</a:t>
            </a:r>
            <a:r>
              <a:rPr lang="zh-CN" altLang="en-US" dirty="0">
                <a:ea typeface="宋体" panose="02010600030101010101" pitchFamily="2" charset="-122"/>
              </a:rPr>
              <a:t>和</a:t>
            </a:r>
            <a:r>
              <a:rPr lang="en-US" dirty="0">
                <a:ea typeface="宋体" panose="02010600030101010101" pitchFamily="2" charset="-122"/>
              </a:rPr>
              <a:t>B/S</a:t>
            </a:r>
            <a:r>
              <a:rPr lang="zh-CN" altLang="en-US" dirty="0">
                <a:ea typeface="宋体" panose="02010600030101010101" pitchFamily="2" charset="-122"/>
              </a:rPr>
              <a:t>体系结构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6"/>
            <a:ext cx="11269266" cy="532403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客户端</a:t>
            </a:r>
            <a:r>
              <a:rPr lang="zh-CN" altLang="en-US" dirty="0">
                <a:ea typeface="宋体" panose="02010600030101010101" pitchFamily="2" charset="-122"/>
              </a:rPr>
              <a:t>脚本与服务器脚本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962175" y="2400838"/>
            <a:ext cx="12657832" cy="617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 anchor="ctr">
            <a:spAutoFit/>
          </a:bodyPr>
          <a:lstStyle/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555877" y="2307084"/>
            <a:ext cx="12050613" cy="2775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>
            <a:spAutoFit/>
          </a:bodyPr>
          <a:lstStyle/>
          <a:p>
            <a:pPr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在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B/S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模式下开发，一般会利用两种脚本语言：服务器端脚本语言及客户端脚本语言。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服务器端脚本在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服务器上执行，由服务器根据脚本的执行结果生成相应的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HTML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页面并发送到客户端浏览器中并显示。服务器端脚本的执行不受浏览器的限制，脚本在网页通过网络传送给浏览器之前被执行，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浏览器收到的只是标准的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HTML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文件。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客户端脚本浏览器解释执行。由于客户端脚本随着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HTML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页面下载到客户端浏览器，在用户本地执行，因此其执行速度明显快于服务器端脚本。客户端脚本常用于做简单的客户端验证（例如用户名非空验证）或实现网页特效等。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直角三角形 10"/>
          <p:cNvSpPr/>
          <p:nvPr/>
        </p:nvSpPr>
        <p:spPr>
          <a:xfrm rot="8100000">
            <a:off x="1283635" y="4133852"/>
            <a:ext cx="6197937" cy="6197597"/>
          </a:xfrm>
          <a:prstGeom prst="rtTriangle">
            <a:avLst/>
          </a:prstGeom>
          <a:blipFill dpi="0" rotWithShape="0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直角三角形 6"/>
          <p:cNvSpPr/>
          <p:nvPr/>
        </p:nvSpPr>
        <p:spPr>
          <a:xfrm rot="13500000" flipV="1">
            <a:off x="2701051" y="-3658558"/>
            <a:ext cx="7316717" cy="7317118"/>
          </a:xfrm>
          <a:prstGeom prst="rtTriangle">
            <a:avLst/>
          </a:prstGeom>
          <a:solidFill>
            <a:srgbClr val="D0CE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3" name="直角三角形 2"/>
          <p:cNvSpPr/>
          <p:nvPr/>
        </p:nvSpPr>
        <p:spPr>
          <a:xfrm rot="8100000">
            <a:off x="6909309" y="4826403"/>
            <a:ext cx="4812758" cy="4812494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9" name="TextBox 76"/>
          <p:cNvSpPr txBox="1"/>
          <p:nvPr/>
        </p:nvSpPr>
        <p:spPr>
          <a:xfrm>
            <a:off x="3582916" y="1636503"/>
            <a:ext cx="5552986" cy="806946"/>
          </a:xfrm>
          <a:prstGeom prst="rect">
            <a:avLst/>
          </a:prstGeom>
          <a:noFill/>
        </p:spPr>
        <p:txBody>
          <a:bodyPr wrap="none" lIns="128583" tIns="64291" rIns="128583" bIns="64291" rtlCol="0">
            <a:spAutoFit/>
          </a:bodyPr>
          <a:lstStyle/>
          <a:p>
            <a:pPr algn="ctr"/>
            <a:r>
              <a:rPr kumimoji="1" lang="en-US" altLang="zh-CN" sz="4400" b="1" dirty="0">
                <a:solidFill>
                  <a:srgbClr val="43536A"/>
                </a:solidFill>
                <a:cs typeface="+mn-ea"/>
              </a:rPr>
              <a:t>2.2 Web</a:t>
            </a:r>
            <a:r>
              <a:rPr kumimoji="1" lang="zh-CN" altLang="zh-CN" sz="4400" b="1" dirty="0">
                <a:solidFill>
                  <a:srgbClr val="43536A"/>
                </a:solidFill>
                <a:cs typeface="+mn-ea"/>
              </a:rPr>
              <a:t>应用程序开发</a:t>
            </a:r>
            <a:endParaRPr kumimoji="1" lang="zh-CN" altLang="en-US" sz="4400" b="1" dirty="0">
              <a:solidFill>
                <a:srgbClr val="43536A"/>
              </a:solidFill>
              <a:cs typeface="+mn-ea"/>
              <a:sym typeface="+mn-lt"/>
            </a:endParaRPr>
          </a:p>
        </p:txBody>
      </p:sp>
      <p:sp>
        <p:nvSpPr>
          <p:cNvPr id="10" name="直角三角形 9"/>
          <p:cNvSpPr/>
          <p:nvPr/>
        </p:nvSpPr>
        <p:spPr>
          <a:xfrm rot="13500000" flipV="1">
            <a:off x="1037730" y="-1245854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7" grpId="0" animBg="1"/>
      <p:bldP spid="3" grpId="0" animBg="1"/>
      <p:bldP spid="9" grpId="0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7" y="654622"/>
            <a:ext cx="11264801" cy="656296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Web</a:t>
            </a:r>
            <a:r>
              <a:rPr lang="zh-CN" altLang="zh-CN" dirty="0">
                <a:ea typeface="宋体" panose="02010600030101010101" pitchFamily="2" charset="-122"/>
              </a:rPr>
              <a:t>应用程序</a:t>
            </a:r>
            <a:r>
              <a:rPr lang="zh-CN" altLang="zh-CN" dirty="0" smtClean="0">
                <a:ea typeface="宋体" panose="02010600030101010101" pitchFamily="2" charset="-122"/>
              </a:rPr>
              <a:t>开发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6"/>
            <a:ext cx="11269266" cy="532403"/>
          </a:xfrm>
        </p:spPr>
        <p:txBody>
          <a:bodyPr/>
          <a:lstStyle/>
          <a:p>
            <a:r>
              <a:rPr lang="en-US" dirty="0" smtClean="0">
                <a:ea typeface="宋体" panose="02010600030101010101" pitchFamily="2" charset="-122"/>
              </a:rPr>
              <a:t>ASP</a:t>
            </a:r>
            <a:r>
              <a:rPr lang="zh-CN" altLang="en-US" dirty="0">
                <a:ea typeface="宋体" panose="02010600030101010101" pitchFamily="2" charset="-122"/>
              </a:rPr>
              <a:t>编程技术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962175" y="2400838"/>
            <a:ext cx="12657832" cy="617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 anchor="ctr">
            <a:spAutoFit/>
          </a:bodyPr>
          <a:lstStyle/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252268" y="2203280"/>
            <a:ext cx="12354223" cy="1002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>
            <a:spAutoFit/>
          </a:bodyPr>
          <a:lstStyle/>
          <a:p>
            <a:pPr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ASP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是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Active Server Page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的缩写，意为“动态服务器页面”。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ASP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是微软公司开发的代替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CGI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脚本程序的一种应用，它可以与数据库和其它程序进行交互，是一种简单、方便的编程工具。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4098" name="Picture 2" descr="图2-4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5319" y="3328293"/>
            <a:ext cx="5361826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7" y="654622"/>
            <a:ext cx="11264801" cy="656296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Web</a:t>
            </a:r>
            <a:r>
              <a:rPr lang="zh-CN" altLang="zh-CN" dirty="0">
                <a:ea typeface="宋体" panose="02010600030101010101" pitchFamily="2" charset="-122"/>
              </a:rPr>
              <a:t>应用程序开发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6"/>
            <a:ext cx="11269266" cy="532403"/>
          </a:xfrm>
        </p:spPr>
        <p:txBody>
          <a:bodyPr/>
          <a:lstStyle/>
          <a:p>
            <a:r>
              <a:rPr lang="en-US" dirty="0" smtClean="0">
                <a:ea typeface="宋体" panose="02010600030101010101" pitchFamily="2" charset="-122"/>
              </a:rPr>
              <a:t>ASP.NET</a:t>
            </a:r>
            <a:r>
              <a:rPr lang="zh-CN" altLang="en-US" dirty="0">
                <a:ea typeface="宋体" panose="02010600030101010101" pitchFamily="2" charset="-122"/>
              </a:rPr>
              <a:t>编程技术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3316" name="Rectangle 4"/>
          <p:cNvSpPr>
            <a:spLocks noChangeArrowheads="1"/>
          </p:cNvSpPr>
          <p:nvPr/>
        </p:nvSpPr>
        <p:spPr bwMode="auto">
          <a:xfrm>
            <a:off x="962175" y="2400838"/>
            <a:ext cx="12657832" cy="617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 anchor="ctr">
            <a:spAutoFit/>
          </a:bodyPr>
          <a:lstStyle/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3317" name="Text Box 5"/>
          <p:cNvSpPr txBox="1">
            <a:spLocks noChangeArrowheads="1"/>
          </p:cNvSpPr>
          <p:nvPr/>
        </p:nvSpPr>
        <p:spPr bwMode="auto">
          <a:xfrm>
            <a:off x="252268" y="2405864"/>
            <a:ext cx="12354223" cy="907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>
            <a:spAutoFit/>
          </a:bodyPr>
          <a:lstStyle/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ASP.net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是从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ASP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的基础上发展来的。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ASP.net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可以运行在几乎全部的平台上，通用语言的基本库，消息机制，数据接口的处理都能无缝的整合到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ASP.net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的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Web</a:t>
            </a:r>
            <a:r>
              <a:rPr lang="zh-CN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t>应用中。 </a:t>
            </a: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5122" name="Picture 2" descr="图2-5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7207" y="3472309"/>
            <a:ext cx="4896544" cy="28952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7" y="654622"/>
            <a:ext cx="11264801" cy="656296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Web</a:t>
            </a:r>
            <a:r>
              <a:rPr lang="zh-CN" altLang="zh-CN" dirty="0">
                <a:ea typeface="宋体" panose="02010600030101010101" pitchFamily="2" charset="-122"/>
              </a:rPr>
              <a:t>应用程序开发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6"/>
            <a:ext cx="11269266" cy="532403"/>
          </a:xfrm>
        </p:spPr>
        <p:txBody>
          <a:bodyPr/>
          <a:lstStyle/>
          <a:p>
            <a:r>
              <a:rPr lang="en-US" dirty="0" smtClean="0">
                <a:ea typeface="宋体" panose="02010600030101010101" pitchFamily="2" charset="-122"/>
              </a:rPr>
              <a:t>PHP</a:t>
            </a:r>
            <a:r>
              <a:rPr lang="zh-CN" altLang="en-US" dirty="0">
                <a:ea typeface="宋体" panose="02010600030101010101" pitchFamily="2" charset="-122"/>
              </a:rPr>
              <a:t>编程技术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962175" y="2400838"/>
            <a:ext cx="12657832" cy="617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 anchor="ctr">
            <a:spAutoFit/>
          </a:bodyPr>
          <a:lstStyle/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252268" y="2203282"/>
            <a:ext cx="12354223" cy="12792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>
            <a:spAutoFit/>
          </a:bodyPr>
          <a:lstStyle/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PHP 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的简称原本为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Personal Home Page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，是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Rasmus Lerdorf 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为了要维护个人网页，而用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C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语言开发的一些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CGI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工具程序集，来取代原先使用的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Perl 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程序。最初这些工具程序用来显示个人履历，以及统计网页流量。他将这些程序和一些表单直译器整合起来，称为 </a:t>
            </a:r>
            <a:r>
              <a:rPr 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PHP/FI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。 </a:t>
            </a:r>
            <a:endParaRPr lang="zh-CN" altLang="en-US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6146" name="Picture 2" descr="图2-6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7207" y="3688333"/>
            <a:ext cx="5127903" cy="2882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7" y="654622"/>
            <a:ext cx="11264801" cy="656296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Web</a:t>
            </a:r>
            <a:r>
              <a:rPr lang="zh-CN" altLang="zh-CN" dirty="0">
                <a:ea typeface="宋体" panose="02010600030101010101" pitchFamily="2" charset="-122"/>
              </a:rPr>
              <a:t>应用程序开发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6"/>
            <a:ext cx="11269266" cy="532403"/>
          </a:xfrm>
        </p:spPr>
        <p:txBody>
          <a:bodyPr/>
          <a:lstStyle/>
          <a:p>
            <a:r>
              <a:rPr lang="en-US" altLang="zh-CN" dirty="0"/>
              <a:t>Python</a:t>
            </a:r>
            <a:r>
              <a:rPr lang="zh-CN" altLang="zh-CN" dirty="0"/>
              <a:t>编程技术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4340" name="Rectangle 4"/>
          <p:cNvSpPr>
            <a:spLocks noChangeArrowheads="1"/>
          </p:cNvSpPr>
          <p:nvPr/>
        </p:nvSpPr>
        <p:spPr bwMode="auto">
          <a:xfrm>
            <a:off x="962175" y="2400838"/>
            <a:ext cx="12657832" cy="617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 anchor="ctr">
            <a:spAutoFit/>
          </a:bodyPr>
          <a:lstStyle/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962175" y="2709732"/>
            <a:ext cx="10964186" cy="20548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75" tIns="57388" rIns="114775" bIns="57388">
            <a:spAutoFit/>
          </a:bodyPr>
          <a:lstStyle/>
          <a:p>
            <a:pPr>
              <a:lnSpc>
                <a:spcPct val="140000"/>
              </a:lnSpc>
              <a:buFont typeface="Arial" panose="020B0604020202020204" pitchFamily="34" charset="0"/>
              <a:buNone/>
            </a:pPr>
            <a:r>
              <a:rPr lang="en-US" altLang="zh-CN" dirty="0"/>
              <a:t>Python</a:t>
            </a:r>
            <a:r>
              <a:rPr lang="zh-CN" altLang="zh-CN" dirty="0"/>
              <a:t>由</a:t>
            </a:r>
            <a:r>
              <a:rPr lang="en-US" altLang="zh-CN" dirty="0"/>
              <a:t>荷兰数学</a:t>
            </a:r>
            <a:r>
              <a:rPr lang="zh-CN" altLang="zh-CN" dirty="0"/>
              <a:t>和</a:t>
            </a:r>
            <a:r>
              <a:rPr lang="en-US" altLang="zh-CN" dirty="0"/>
              <a:t>计算机科学</a:t>
            </a:r>
            <a:r>
              <a:rPr lang="zh-CN" altLang="zh-CN" dirty="0"/>
              <a:t>研究学会的</a:t>
            </a:r>
            <a:r>
              <a:rPr lang="en-US" altLang="zh-CN" dirty="0"/>
              <a:t>吉多·范罗苏姆 </a:t>
            </a:r>
            <a:r>
              <a:rPr lang="zh-CN" altLang="zh-CN" dirty="0"/>
              <a:t>于</a:t>
            </a:r>
            <a:r>
              <a:rPr lang="en-US" altLang="zh-CN" dirty="0"/>
              <a:t>1990 </a:t>
            </a:r>
            <a:r>
              <a:rPr lang="zh-CN" altLang="zh-CN" dirty="0"/>
              <a:t>年代初设计，作为一门叫做</a:t>
            </a:r>
            <a:r>
              <a:rPr lang="en-US" altLang="zh-CN" dirty="0"/>
              <a:t>ABC语言</a:t>
            </a:r>
            <a:r>
              <a:rPr lang="zh-CN" altLang="zh-CN" dirty="0"/>
              <a:t>的替代品。</a:t>
            </a:r>
            <a:r>
              <a:rPr lang="en-US" altLang="zh-CN" dirty="0"/>
              <a:t>Python</a:t>
            </a:r>
            <a:r>
              <a:rPr lang="zh-CN" altLang="zh-CN" dirty="0"/>
              <a:t>提供了高效的高级</a:t>
            </a:r>
            <a:r>
              <a:rPr lang="en-US" altLang="zh-CN" dirty="0"/>
              <a:t>数据结构</a:t>
            </a:r>
            <a:r>
              <a:rPr lang="zh-CN" altLang="zh-CN" dirty="0"/>
              <a:t>，还能简单有效地</a:t>
            </a:r>
            <a:r>
              <a:rPr lang="en-US" altLang="zh-CN" dirty="0"/>
              <a:t>面向对象</a:t>
            </a:r>
            <a:r>
              <a:rPr lang="zh-CN" altLang="zh-CN" dirty="0"/>
              <a:t>编程。</a:t>
            </a:r>
            <a:r>
              <a:rPr lang="en-US" altLang="zh-CN" dirty="0"/>
              <a:t>Python</a:t>
            </a:r>
            <a:r>
              <a:rPr lang="zh-CN" altLang="zh-CN" dirty="0"/>
              <a:t>语法和动态类型，以及</a:t>
            </a:r>
            <a:r>
              <a:rPr lang="en-US" altLang="zh-CN" dirty="0"/>
              <a:t>解释型语言</a:t>
            </a:r>
            <a:r>
              <a:rPr lang="zh-CN" altLang="zh-CN" dirty="0"/>
              <a:t>的本质，使它成为多数平台上写</a:t>
            </a:r>
            <a:r>
              <a:rPr lang="en-US" altLang="zh-CN" dirty="0"/>
              <a:t>脚本</a:t>
            </a:r>
            <a:r>
              <a:rPr lang="zh-CN" altLang="zh-CN" dirty="0"/>
              <a:t>和快速开发应用的编程语言，随着版本的不断更新和语言新功能的添加，逐渐被用于独立的、</a:t>
            </a:r>
            <a:r>
              <a:rPr lang="en-US" altLang="zh-CN" dirty="0"/>
              <a:t>大型项目</a:t>
            </a:r>
            <a:r>
              <a:rPr lang="zh-CN" altLang="zh-CN" dirty="0"/>
              <a:t>的开发。</a:t>
            </a:r>
            <a:r>
              <a:rPr lang="en-US" altLang="zh-CN" dirty="0"/>
              <a:t>2021</a:t>
            </a:r>
            <a:r>
              <a:rPr lang="zh-CN" altLang="zh-CN" dirty="0"/>
              <a:t>年</a:t>
            </a:r>
            <a:r>
              <a:rPr lang="en-US" altLang="zh-CN" dirty="0"/>
              <a:t>10</a:t>
            </a:r>
            <a:r>
              <a:rPr lang="zh-CN" altLang="zh-CN" dirty="0"/>
              <a:t>月，语言流行指数的编译器</a:t>
            </a:r>
            <a:r>
              <a:rPr lang="en-US" altLang="zh-CN" dirty="0"/>
              <a:t>Tiobe</a:t>
            </a:r>
            <a:r>
              <a:rPr lang="zh-CN" altLang="zh-CN" dirty="0"/>
              <a:t>将</a:t>
            </a:r>
            <a:r>
              <a:rPr lang="en-US" altLang="zh-CN" dirty="0"/>
              <a:t>Python</a:t>
            </a:r>
            <a:r>
              <a:rPr lang="zh-CN" altLang="zh-CN" dirty="0"/>
              <a:t>加冕为最受欢迎的编程语言，</a:t>
            </a:r>
            <a:r>
              <a:rPr lang="en-US" altLang="zh-CN" dirty="0"/>
              <a:t>20</a:t>
            </a:r>
            <a:r>
              <a:rPr lang="zh-CN" altLang="zh-CN" dirty="0"/>
              <a:t>年来首次将其置于</a:t>
            </a:r>
            <a:r>
              <a:rPr lang="en-US" altLang="zh-CN" dirty="0"/>
              <a:t>Java</a:t>
            </a:r>
            <a:r>
              <a:rPr lang="zh-CN" altLang="zh-CN" dirty="0"/>
              <a:t>、</a:t>
            </a:r>
            <a:r>
              <a:rPr lang="en-US" altLang="zh-CN" dirty="0"/>
              <a:t>C</a:t>
            </a:r>
            <a:r>
              <a:rPr lang="zh-CN" altLang="zh-CN" dirty="0"/>
              <a:t>和</a:t>
            </a:r>
            <a:r>
              <a:rPr lang="en-US" altLang="zh-CN" dirty="0"/>
              <a:t>JavaScript</a:t>
            </a:r>
            <a:r>
              <a:rPr lang="zh-CN" altLang="zh-CN" dirty="0"/>
              <a:t>之上。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7" y="654622"/>
            <a:ext cx="11264801" cy="656296"/>
          </a:xfrm>
        </p:spPr>
        <p:txBody>
          <a:bodyPr/>
          <a:lstStyle/>
          <a:p>
            <a:r>
              <a:rPr lang="en-US" altLang="zh-CN" dirty="0">
                <a:ea typeface="宋体" panose="02010600030101010101" pitchFamily="2" charset="-122"/>
              </a:rPr>
              <a:t>Web</a:t>
            </a:r>
            <a:r>
              <a:rPr lang="zh-CN" altLang="zh-CN" dirty="0">
                <a:ea typeface="宋体" panose="02010600030101010101" pitchFamily="2" charset="-122"/>
              </a:rPr>
              <a:t>应用程序开发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483" y="1634046"/>
            <a:ext cx="11269266" cy="532403"/>
          </a:xfrm>
        </p:spPr>
        <p:txBody>
          <a:bodyPr/>
          <a:lstStyle/>
          <a:p>
            <a:r>
              <a:rPr lang="en-US" dirty="0" smtClean="0">
                <a:ea typeface="宋体" panose="02010600030101010101" pitchFamily="2" charset="-122"/>
              </a:rPr>
              <a:t>Java </a:t>
            </a:r>
            <a:r>
              <a:rPr lang="en-US" dirty="0">
                <a:ea typeface="宋体" panose="02010600030101010101" pitchFamily="2" charset="-122"/>
              </a:rPr>
              <a:t>Web</a:t>
            </a:r>
            <a:r>
              <a:rPr lang="zh-CN" altLang="en-US" dirty="0">
                <a:ea typeface="宋体" panose="02010600030101010101" pitchFamily="2" charset="-122"/>
              </a:rPr>
              <a:t>编程技术 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5364" name="Rectangle 4"/>
          <p:cNvSpPr>
            <a:spLocks noChangeArrowheads="1"/>
          </p:cNvSpPr>
          <p:nvPr/>
        </p:nvSpPr>
        <p:spPr bwMode="auto">
          <a:xfrm>
            <a:off x="962175" y="2400838"/>
            <a:ext cx="12657832" cy="617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 anchor="ctr">
            <a:spAutoFit/>
          </a:bodyPr>
          <a:lstStyle/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7170" name="Picture 2" descr="2-7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5" y="2743200"/>
            <a:ext cx="5268832" cy="3105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:\20180126195035126.png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08695" y="1816125"/>
            <a:ext cx="12060010" cy="432048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604839" y="622812"/>
            <a:ext cx="8358188" cy="59435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本章小结</a:t>
            </a:r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267385" y="1816125"/>
            <a:ext cx="12009759" cy="4043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14789" tIns="57394" rIns="114789" bIns="57394" anchor="ctr">
            <a:spAutoFit/>
          </a:bodyPr>
          <a:lstStyle/>
          <a:p>
            <a:pPr indent="457200">
              <a:lnSpc>
                <a:spcPct val="160000"/>
              </a:lnSpc>
            </a:pP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 C/S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模式和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B/S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模式是两种常见的软件开发体系结构。相对于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C/S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模式，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B/S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模式具有开发效率高、代码重用性强、业务功能扩展简单以及维护方便等特点，因此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B/S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模式软件的应用越来越广泛。</a:t>
            </a:r>
            <a:endParaRPr lang="zh-CN" altLang="zh-CN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457200">
              <a:lnSpc>
                <a:spcPct val="160000"/>
              </a:lnSpc>
            </a:pP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B/S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模式下开发软件，一般会采取动态网页技术与静态网页技术相结合的方式进行。常用的静态网页技术有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HTML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、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</a:rPr>
              <a:t>JavaScript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VBScript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等，而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B/S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模式软件开发的关键在于动态网页技术的合理应用，常用的动态网页技术有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ASP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ASP.net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PHP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Java Web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编程技术等。这几种动态网页技术各有利弊及适用领域，本书将详细讲解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Java Web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编程技术及其应用。</a:t>
            </a:r>
            <a:endParaRPr lang="zh-CN" altLang="zh-CN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indent="457200">
              <a:lnSpc>
                <a:spcPct val="160000"/>
              </a:lnSpc>
            </a:pPr>
            <a:r>
              <a:rPr lang="en-US" altLang="zh-CN" dirty="0" err="1" smtClean="0">
                <a:solidFill>
                  <a:srgbClr val="000000"/>
                </a:solidFill>
                <a:latin typeface="Arial" panose="020B0604020202020204" pitchFamily="34" charset="0"/>
              </a:rPr>
              <a:t>JavaWeb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应用领域一直是开源领域中的佼佼者，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Java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先辈程序员们发布了众多开源许可的库和项目，贡献出了许多优秀的代码。读者可以利用互联网查阅各相关技术的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API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</a:rPr>
              <a:t>文档，细细分析与研究别人的优秀框架会对后续学习大有好处。</a:t>
            </a:r>
            <a:endParaRPr lang="zh-CN" altLang="en-US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59027" y="654622"/>
            <a:ext cx="11264801" cy="656296"/>
          </a:xfrm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</a:rPr>
              <a:t>实战演练 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6387" name="Rectangle 3"/>
          <p:cNvSpPr>
            <a:spLocks noChangeArrowheads="1"/>
          </p:cNvSpPr>
          <p:nvPr/>
        </p:nvSpPr>
        <p:spPr bwMode="auto">
          <a:xfrm>
            <a:off x="962175" y="2400838"/>
            <a:ext cx="12657832" cy="617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 anchor="ctr">
            <a:spAutoFit/>
          </a:bodyPr>
          <a:lstStyle/>
          <a:p>
            <a:pPr>
              <a:lnSpc>
                <a:spcPct val="180000"/>
              </a:lnSpc>
              <a:buFont typeface="Arial" panose="020B0604020202020204" pitchFamily="34" charset="0"/>
              <a:buNone/>
            </a:pPr>
            <a:endParaRPr lang="zh-CN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352726" y="1717754"/>
            <a:ext cx="12354223" cy="3070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14775" tIns="57388" rIns="114775" bIns="57388">
            <a:sp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sz="2400" dirty="0" smtClean="0">
                <a:solidFill>
                  <a:srgbClr val="000000"/>
                </a:solidFill>
                <a:latin typeface="Arial" panose="020B0604020202020204" pitchFamily="34" charset="0"/>
              </a:rPr>
              <a:t>[</a:t>
            </a:r>
            <a:r>
              <a:rPr lang="zh-CN" altLang="en-US" sz="2400" dirty="0" smtClean="0">
                <a:solidFill>
                  <a:srgbClr val="000000"/>
                </a:solidFill>
                <a:latin typeface="Arial" panose="020B0604020202020204" pitchFamily="34" charset="0"/>
              </a:rPr>
              <a:t>实战 </a:t>
            </a:r>
            <a:r>
              <a:rPr lang="en-US" sz="2400" dirty="0" smtClean="0">
                <a:solidFill>
                  <a:srgbClr val="000000"/>
                </a:solidFill>
                <a:latin typeface="Arial" panose="020B0604020202020204" pitchFamily="34" charset="0"/>
              </a:rPr>
              <a:t>2-1]</a:t>
            </a:r>
            <a:r>
              <a:rPr lang="zh-CN" altLang="en-US" sz="2400" dirty="0" smtClean="0">
                <a:solidFill>
                  <a:srgbClr val="000000"/>
                </a:solidFill>
                <a:latin typeface="Arial" panose="020B0604020202020204" pitchFamily="34" charset="0"/>
              </a:rPr>
              <a:t>尝试通过浏览器打开运行例程</a:t>
            </a:r>
            <a:r>
              <a:rPr lang="en-US" sz="2400" dirty="0" smtClean="0">
                <a:solidFill>
                  <a:srgbClr val="000000"/>
                </a:solidFill>
                <a:latin typeface="Arial" panose="020B0604020202020204" pitchFamily="34" charset="0"/>
              </a:rPr>
              <a:t>2-1</a:t>
            </a:r>
            <a:r>
              <a:rPr lang="zh-CN" altLang="en-US" sz="2400" dirty="0" smtClean="0">
                <a:solidFill>
                  <a:srgbClr val="000000"/>
                </a:solidFill>
                <a:latin typeface="Arial" panose="020B0604020202020204" pitchFamily="34" charset="0"/>
              </a:rPr>
              <a:t>、例程</a:t>
            </a:r>
            <a:r>
              <a:rPr lang="en-US" sz="2400" dirty="0" smtClean="0">
                <a:solidFill>
                  <a:srgbClr val="000000"/>
                </a:solidFill>
                <a:latin typeface="Arial" panose="020B0604020202020204" pitchFamily="34" charset="0"/>
              </a:rPr>
              <a:t>2-2</a:t>
            </a:r>
            <a:r>
              <a:rPr lang="zh-CN" altLang="en-US" sz="2400" dirty="0" smtClean="0">
                <a:solidFill>
                  <a:srgbClr val="000000"/>
                </a:solidFill>
                <a:latin typeface="Arial" panose="020B0604020202020204" pitchFamily="34" charset="0"/>
              </a:rPr>
              <a:t>，看看运行效果如何。理解服务器端脚本和客户端脚本的不同。</a:t>
            </a:r>
            <a:endParaRPr lang="en-US" altLang="zh-CN" sz="24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endParaRPr lang="zh-CN" altLang="en-US" sz="24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en-US" sz="2400" dirty="0" smtClean="0">
                <a:solidFill>
                  <a:srgbClr val="000000"/>
                </a:solidFill>
                <a:latin typeface="Arial" panose="020B0604020202020204" pitchFamily="34" charset="0"/>
              </a:rPr>
              <a:t>[</a:t>
            </a:r>
            <a:r>
              <a:rPr lang="zh-CN" altLang="en-US" sz="2400" dirty="0" smtClean="0">
                <a:solidFill>
                  <a:srgbClr val="000000"/>
                </a:solidFill>
                <a:latin typeface="Arial" panose="020B0604020202020204" pitchFamily="34" charset="0"/>
              </a:rPr>
              <a:t>实战 </a:t>
            </a:r>
            <a:r>
              <a:rPr lang="en-US" sz="2400" dirty="0" smtClean="0">
                <a:solidFill>
                  <a:srgbClr val="000000"/>
                </a:solidFill>
                <a:latin typeface="Arial" panose="020B0604020202020204" pitchFamily="34" charset="0"/>
              </a:rPr>
              <a:t>2-2]</a:t>
            </a:r>
            <a:r>
              <a:rPr lang="zh-CN" altLang="en-US" sz="2400" dirty="0" smtClean="0">
                <a:solidFill>
                  <a:srgbClr val="000000"/>
                </a:solidFill>
                <a:latin typeface="Arial" panose="020B0604020202020204" pitchFamily="34" charset="0"/>
              </a:rPr>
              <a:t>浏览你经常去的一些网站，观察它所用的网页技术及其所具备的常用功能。</a:t>
            </a:r>
            <a:endParaRPr lang="zh-CN" altLang="en-US" sz="2400" dirty="0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/>
          <p:cNvSpPr/>
          <p:nvPr/>
        </p:nvSpPr>
        <p:spPr>
          <a:xfrm>
            <a:off x="0" y="0"/>
            <a:ext cx="7256762" cy="7256364"/>
          </a:xfrm>
          <a:prstGeom prst="rtTriangle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3" name="任意多边形 2"/>
          <p:cNvSpPr/>
          <p:nvPr/>
        </p:nvSpPr>
        <p:spPr>
          <a:xfrm rot="5400000" flipV="1">
            <a:off x="1608166" y="1145782"/>
            <a:ext cx="4826927" cy="4827192"/>
          </a:xfrm>
          <a:custGeom>
            <a:avLst/>
            <a:gdLst>
              <a:gd name="connsiteX0" fmla="*/ 0 w 4343400"/>
              <a:gd name="connsiteY0" fmla="*/ 0 h 4343400"/>
              <a:gd name="connsiteX1" fmla="*/ 4343400 w 4343400"/>
              <a:gd name="connsiteY1" fmla="*/ 4343400 h 4343400"/>
              <a:gd name="connsiteX2" fmla="*/ 3486149 w 4343400"/>
              <a:gd name="connsiteY2" fmla="*/ 4343400 h 4343400"/>
              <a:gd name="connsiteX3" fmla="*/ 0 w 4343400"/>
              <a:gd name="connsiteY3" fmla="*/ 857251 h 4343400"/>
              <a:gd name="connsiteX4" fmla="*/ 0 w 4343400"/>
              <a:gd name="connsiteY4" fmla="*/ 0 h 434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43400" h="4343400">
                <a:moveTo>
                  <a:pt x="0" y="0"/>
                </a:moveTo>
                <a:lnTo>
                  <a:pt x="4343400" y="4343400"/>
                </a:lnTo>
                <a:lnTo>
                  <a:pt x="3486149" y="4343400"/>
                </a:lnTo>
                <a:lnTo>
                  <a:pt x="0" y="8572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57167" y="1960141"/>
            <a:ext cx="8595718" cy="622280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&lt;&lt;JSP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与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Servlet</a:t>
            </a:r>
            <a:r>
              <a:rPr kumimoji="1" lang="zh-CN" altLang="en-US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开发技术与典型应用教程</a:t>
            </a:r>
            <a:r>
              <a:rPr kumimoji="1" lang="en-US" altLang="zh-CN" sz="3200" b="1" dirty="0">
                <a:solidFill>
                  <a:srgbClr val="526580"/>
                </a:solidFill>
                <a:latin typeface="+mn-ea"/>
                <a:ea typeface="+mn-ea"/>
                <a:cs typeface="+mn-ea"/>
              </a:rPr>
              <a:t>&gt;&gt;</a:t>
            </a:r>
            <a:endParaRPr kumimoji="1" lang="zh-CN" altLang="en-US" sz="3200" b="1" dirty="0">
              <a:solidFill>
                <a:srgbClr val="526580"/>
              </a:solidFill>
              <a:latin typeface="+mn-ea"/>
              <a:ea typeface="+mn-ea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09295" y="2896245"/>
            <a:ext cx="6016403" cy="560725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pPr algn="ctr"/>
            <a:r>
              <a:rPr kumimoji="1" lang="zh-CN" altLang="en-US" sz="280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感谢观看 </a:t>
            </a:r>
            <a:r>
              <a:rPr kumimoji="1" lang="en-US" altLang="zh-CN" sz="2800" dirty="0">
                <a:solidFill>
                  <a:prstClr val="white">
                    <a:lumMod val="50000"/>
                  </a:prstClr>
                </a:solidFill>
                <a:cs typeface="+mn-ea"/>
                <a:sym typeface="+mn-lt"/>
              </a:rPr>
              <a:t>THANK YOU!</a:t>
            </a:r>
            <a:endParaRPr kumimoji="1" lang="zh-CN" altLang="en-US" sz="2800" dirty="0">
              <a:solidFill>
                <a:prstClr val="white">
                  <a:lumMod val="50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 rot="2648766">
            <a:off x="1518042" y="2894384"/>
            <a:ext cx="5266506" cy="605902"/>
          </a:xfrm>
          <a:prstGeom prst="rect">
            <a:avLst/>
          </a:prstGeom>
          <a:noFill/>
        </p:spPr>
        <p:txBody>
          <a:bodyPr wrap="square" lIns="128583" tIns="64291" rIns="128583" bIns="64291" rtlCol="0">
            <a:spAutoFit/>
          </a:bodyPr>
          <a:lstStyle/>
          <a:p>
            <a:r>
              <a:rPr kumimoji="1" lang="zh-CN" altLang="en-US" sz="3100" b="1" dirty="0">
                <a:solidFill>
                  <a:srgbClr val="526580"/>
                </a:solidFill>
                <a:cs typeface="+mn-ea"/>
                <a:sym typeface="宋体" panose="02010600030101010101" pitchFamily="2" charset="-122"/>
              </a:rPr>
              <a:t>第二章 </a:t>
            </a:r>
            <a:r>
              <a:rPr kumimoji="1" lang="en-US" altLang="zh-CN" sz="3100" b="1" dirty="0">
                <a:solidFill>
                  <a:srgbClr val="526580"/>
                </a:solidFill>
                <a:cs typeface="+mn-ea"/>
                <a:sym typeface="宋体" panose="02010600030101010101" pitchFamily="2" charset="-122"/>
              </a:rPr>
              <a:t>   Java Web</a:t>
            </a:r>
            <a:r>
              <a:rPr kumimoji="1" lang="zh-CN" altLang="en-US" sz="3100" b="1" dirty="0">
                <a:solidFill>
                  <a:srgbClr val="526580"/>
                </a:solidFill>
                <a:cs typeface="+mn-ea"/>
                <a:sym typeface="宋体" panose="02010600030101010101" pitchFamily="2" charset="-122"/>
              </a:rPr>
              <a:t>应用概述</a:t>
            </a:r>
            <a:endParaRPr kumimoji="1" lang="zh-CN" altLang="en-US" sz="3100" b="1" dirty="0">
              <a:solidFill>
                <a:srgbClr val="526580"/>
              </a:solidFill>
              <a:cs typeface="+mn-ea"/>
              <a:sym typeface="宋体" panose="02010600030101010101" pitchFamily="2" charset="-122"/>
            </a:endParaRPr>
          </a:p>
        </p:txBody>
      </p:sp>
      <p:sp>
        <p:nvSpPr>
          <p:cNvPr id="12" name="直角三角形 11"/>
          <p:cNvSpPr/>
          <p:nvPr/>
        </p:nvSpPr>
        <p:spPr>
          <a:xfrm flipH="1">
            <a:off x="8229575" y="3976365"/>
            <a:ext cx="4629176" cy="3279999"/>
          </a:xfrm>
          <a:prstGeom prst="rtTriangle">
            <a:avLst/>
          </a:prstGeom>
          <a:solidFill>
            <a:srgbClr val="43536A"/>
          </a:solidFill>
          <a:ln>
            <a:solidFill>
              <a:srgbClr val="4353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直角三角形 15"/>
          <p:cNvSpPr/>
          <p:nvPr/>
        </p:nvSpPr>
        <p:spPr>
          <a:xfrm rot="13500000" flipV="1">
            <a:off x="2775844" y="-1270801"/>
            <a:ext cx="2491570" cy="2491706"/>
          </a:xfrm>
          <a:prstGeom prst="rtTriangle">
            <a:avLst/>
          </a:prstGeom>
          <a:solidFill>
            <a:srgbClr val="4353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8583" tIns="64291" rIns="128583" bIns="64291" rtlCol="0" anchor="ctr"/>
          <a:lstStyle/>
          <a:p>
            <a:pPr algn="ctr"/>
            <a:endParaRPr lang="zh-CN" altLang="en-US" sz="1400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373591" y="3976365"/>
            <a:ext cx="3960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2000" b="1" dirty="0">
                <a:solidFill>
                  <a:srgbClr val="526580"/>
                </a:solidFill>
                <a:cs typeface="+mn-ea"/>
              </a:rPr>
              <a:t>大连理工大学出版社</a:t>
            </a:r>
            <a:endParaRPr kumimoji="1" lang="zh-CN" altLang="en-US" sz="2000" b="1" dirty="0">
              <a:solidFill>
                <a:srgbClr val="526580"/>
              </a:solidFill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0"/>
    </mc:Choice>
    <mc:Fallback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/>
      <p:bldP spid="8" grpId="0"/>
      <p:bldP spid="9" grpId="0"/>
      <p:bldP spid="12" grpId="0" animBg="1"/>
      <p:bldP spid="16" grpId="0" animBg="1"/>
      <p:bldP spid="4" grpId="0"/>
    </p:bldLst>
  </p:timing>
</p:sld>
</file>

<file path=ppt/tags/tag1.xml><?xml version="1.0" encoding="utf-8"?>
<p:tagLst xmlns:p="http://schemas.openxmlformats.org/presentationml/2006/main">
  <p:tag name="ISPRING_PRESENTATION_TITLE" val="bt026.pptx"/>
</p:tagLst>
</file>

<file path=ppt/theme/theme1.xml><?xml version="1.0" encoding="utf-8"?>
<a:theme xmlns:a="http://schemas.openxmlformats.org/drawingml/2006/main" name="自定义设计方案">
  <a:themeElements>
    <a:clrScheme name="自定义 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3366"/>
      </a:accent1>
      <a:accent2>
        <a:srgbClr val="003366"/>
      </a:accent2>
      <a:accent3>
        <a:srgbClr val="003366"/>
      </a:accent3>
      <a:accent4>
        <a:srgbClr val="003366"/>
      </a:accent4>
      <a:accent5>
        <a:srgbClr val="003366"/>
      </a:accent5>
      <a:accent6>
        <a:srgbClr val="003366"/>
      </a:accent6>
      <a:hlink>
        <a:srgbClr val="003366"/>
      </a:hlink>
      <a:folHlink>
        <a:srgbClr val="003366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D9D9D9">
            <a:alpha val="50196"/>
          </a:srgb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灰白简约科技PPT模板">
  <a:themeElements>
    <a:clrScheme name="灰白简约科技PPT模板 3">
      <a:dk1>
        <a:srgbClr val="000000"/>
      </a:dk1>
      <a:lt1>
        <a:srgbClr val="FFFFFF"/>
      </a:lt1>
      <a:dk2>
        <a:srgbClr val="333399"/>
      </a:dk2>
      <a:lt2>
        <a:srgbClr val="C0C0C0"/>
      </a:lt2>
      <a:accent1>
        <a:srgbClr val="88BEF4"/>
      </a:accent1>
      <a:accent2>
        <a:srgbClr val="F1900F"/>
      </a:accent2>
      <a:accent3>
        <a:srgbClr val="FFFFFF"/>
      </a:accent3>
      <a:accent4>
        <a:srgbClr val="000000"/>
      </a:accent4>
      <a:accent5>
        <a:srgbClr val="C3DBF8"/>
      </a:accent5>
      <a:accent6>
        <a:srgbClr val="DA820C"/>
      </a:accent6>
      <a:hlink>
        <a:srgbClr val="CC3300"/>
      </a:hlink>
      <a:folHlink>
        <a:srgbClr val="0066CC"/>
      </a:folHlink>
    </a:clrScheme>
    <a:fontScheme name="灰白简约科技PPT模板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灰白简约科技PPT模板 1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2">
        <a:dk1>
          <a:srgbClr val="000000"/>
        </a:dk1>
        <a:lt1>
          <a:srgbClr val="FFFFFF"/>
        </a:lt1>
        <a:dk2>
          <a:srgbClr val="26728A"/>
        </a:dk2>
        <a:lt2>
          <a:srgbClr val="DDDDDD"/>
        </a:lt2>
        <a:accent1>
          <a:srgbClr val="9FCAD3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8A8AE7"/>
        </a:accent6>
        <a:hlink>
          <a:srgbClr val="71A5DF"/>
        </a:hlink>
        <a:folHlink>
          <a:srgbClr val="F1CA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灰白简约科技PPT模板 3">
        <a:dk1>
          <a:srgbClr val="000000"/>
        </a:dk1>
        <a:lt1>
          <a:srgbClr val="FFFFFF"/>
        </a:lt1>
        <a:dk2>
          <a:srgbClr val="333399"/>
        </a:dk2>
        <a:lt2>
          <a:srgbClr val="C0C0C0"/>
        </a:lt2>
        <a:accent1>
          <a:srgbClr val="88BEF4"/>
        </a:accent1>
        <a:accent2>
          <a:srgbClr val="F1900F"/>
        </a:accent2>
        <a:accent3>
          <a:srgbClr val="FFFFFF"/>
        </a:accent3>
        <a:accent4>
          <a:srgbClr val="000000"/>
        </a:accent4>
        <a:accent5>
          <a:srgbClr val="C3DBF8"/>
        </a:accent5>
        <a:accent6>
          <a:srgbClr val="DA820C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2478</Words>
  <Application>WPS 演示</Application>
  <PresentationFormat>自定义</PresentationFormat>
  <Paragraphs>158</Paragraphs>
  <Slides>21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宋体</vt:lpstr>
      <vt:lpstr>Wingdings</vt:lpstr>
      <vt:lpstr>Calibri</vt:lpstr>
      <vt:lpstr>方正正黑简体</vt:lpstr>
      <vt:lpstr>黑体</vt:lpstr>
      <vt:lpstr>Arial</vt:lpstr>
      <vt:lpstr>楷体_GB2312</vt:lpstr>
      <vt:lpstr>新宋体</vt:lpstr>
      <vt:lpstr>微软雅黑</vt:lpstr>
      <vt:lpstr>Arial Unicode MS</vt:lpstr>
      <vt:lpstr>自定义设计方案</vt:lpstr>
      <vt:lpstr>灰白简约科技PPT模板</vt:lpstr>
      <vt:lpstr>PowerPoint 演示文稿</vt:lpstr>
      <vt:lpstr>PowerPoint 演示文稿</vt:lpstr>
      <vt:lpstr>PowerPoint 演示文稿</vt:lpstr>
      <vt:lpstr>PowerPoint 演示文稿</vt:lpstr>
      <vt:lpstr>第2章   Java  Web应用概述 </vt:lpstr>
      <vt:lpstr>第2章    Java  Web应用概述 </vt:lpstr>
      <vt:lpstr>授课任务</vt:lpstr>
      <vt:lpstr>C/S和B/S体系结构 </vt:lpstr>
      <vt:lpstr>C/S和B/S体系结构 </vt:lpstr>
      <vt:lpstr>C/S和B/S体系结构 </vt:lpstr>
      <vt:lpstr>C/S和B/S体系结构 </vt:lpstr>
      <vt:lpstr>PowerPoint 演示文稿</vt:lpstr>
      <vt:lpstr>Web应用程序开发</vt:lpstr>
      <vt:lpstr>Web应用程序开发</vt:lpstr>
      <vt:lpstr>Web应用程序开发</vt:lpstr>
      <vt:lpstr>Web应用程序开发</vt:lpstr>
      <vt:lpstr>Web应用程序开发</vt:lpstr>
      <vt:lpstr>PowerPoint 演示文稿</vt:lpstr>
      <vt:lpstr>本章小结</vt:lpstr>
      <vt:lpstr>实战演练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bt026.pptx</dc:title>
  <dc:creator/>
  <cp:lastModifiedBy>fx</cp:lastModifiedBy>
  <cp:revision>2</cp:revision>
  <dcterms:created xsi:type="dcterms:W3CDTF">2016-09-20T02:06:00Z</dcterms:created>
  <dcterms:modified xsi:type="dcterms:W3CDTF">2026-07-21T11:21:11Z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F3A8E334DCDF4FBA980D803F534BE16B_12</vt:lpwstr>
  </property>
  <property fmtid="{D5CDD505-2E9C-101B-9397-08002B2CF9AE}" pid="3" name="KSOProductBuildVer">
    <vt:lpwstr>2052-12.1.0.26895</vt:lpwstr>
  </property>
</Properties>
</file>