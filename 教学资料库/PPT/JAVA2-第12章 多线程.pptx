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54"/>
  </p:handoutMasterIdLst>
  <p:sldIdLst>
    <p:sldId id="3728" r:id="rId4"/>
    <p:sldId id="3729" r:id="rId6"/>
    <p:sldId id="3730" r:id="rId7"/>
    <p:sldId id="3731" r:id="rId8"/>
    <p:sldId id="3732" r:id="rId9"/>
    <p:sldId id="3733" r:id="rId10"/>
    <p:sldId id="3734" r:id="rId11"/>
    <p:sldId id="3735" r:id="rId12"/>
    <p:sldId id="3736" r:id="rId13"/>
    <p:sldId id="3737" r:id="rId14"/>
    <p:sldId id="3739" r:id="rId15"/>
    <p:sldId id="3740" r:id="rId16"/>
    <p:sldId id="3741" r:id="rId17"/>
    <p:sldId id="3742" r:id="rId18"/>
    <p:sldId id="3882" r:id="rId19"/>
    <p:sldId id="3743" r:id="rId20"/>
    <p:sldId id="3744" r:id="rId21"/>
    <p:sldId id="3745" r:id="rId22"/>
    <p:sldId id="3746" r:id="rId23"/>
    <p:sldId id="3747" r:id="rId24"/>
    <p:sldId id="3748" r:id="rId25"/>
    <p:sldId id="3749" r:id="rId26"/>
    <p:sldId id="3750" r:id="rId27"/>
    <p:sldId id="3751" r:id="rId28"/>
    <p:sldId id="3752" r:id="rId29"/>
    <p:sldId id="3753" r:id="rId30"/>
    <p:sldId id="3755" r:id="rId31"/>
    <p:sldId id="3756" r:id="rId32"/>
    <p:sldId id="3757" r:id="rId33"/>
    <p:sldId id="3758" r:id="rId34"/>
    <p:sldId id="3759" r:id="rId35"/>
    <p:sldId id="3760" r:id="rId36"/>
    <p:sldId id="3761" r:id="rId37"/>
    <p:sldId id="3762" r:id="rId38"/>
    <p:sldId id="3763" r:id="rId39"/>
    <p:sldId id="3764" r:id="rId40"/>
    <p:sldId id="3765" r:id="rId41"/>
    <p:sldId id="3766" r:id="rId42"/>
    <p:sldId id="3767" r:id="rId43"/>
    <p:sldId id="3768" r:id="rId44"/>
    <p:sldId id="3769" r:id="rId45"/>
    <p:sldId id="3770" r:id="rId46"/>
    <p:sldId id="3771" r:id="rId47"/>
    <p:sldId id="3772" r:id="rId48"/>
    <p:sldId id="3773" r:id="rId49"/>
    <p:sldId id="3774" r:id="rId50"/>
    <p:sldId id="3775" r:id="rId51"/>
    <p:sldId id="3776" r:id="rId52"/>
    <p:sldId id="3777" r:id="rId53"/>
    <p:sldId id="3778" r:id="rId54"/>
    <p:sldId id="3779" r:id="rId55"/>
    <p:sldId id="3780" r:id="rId56"/>
    <p:sldId id="3781" r:id="rId57"/>
    <p:sldId id="3782" r:id="rId58"/>
    <p:sldId id="3784" r:id="rId59"/>
    <p:sldId id="3785" r:id="rId60"/>
    <p:sldId id="3786" r:id="rId61"/>
    <p:sldId id="3787" r:id="rId62"/>
    <p:sldId id="3788" r:id="rId63"/>
    <p:sldId id="3789" r:id="rId64"/>
    <p:sldId id="3790" r:id="rId65"/>
    <p:sldId id="3793" r:id="rId66"/>
    <p:sldId id="3794" r:id="rId67"/>
    <p:sldId id="3795" r:id="rId68"/>
    <p:sldId id="3796" r:id="rId69"/>
    <p:sldId id="3797" r:id="rId70"/>
    <p:sldId id="3798" r:id="rId71"/>
    <p:sldId id="3799" r:id="rId72"/>
    <p:sldId id="3800" r:id="rId73"/>
    <p:sldId id="3802" r:id="rId74"/>
    <p:sldId id="3803" r:id="rId75"/>
    <p:sldId id="3804" r:id="rId76"/>
    <p:sldId id="3805" r:id="rId77"/>
    <p:sldId id="3806" r:id="rId78"/>
    <p:sldId id="3807" r:id="rId79"/>
    <p:sldId id="3808" r:id="rId80"/>
    <p:sldId id="3809" r:id="rId81"/>
    <p:sldId id="3810" r:id="rId82"/>
    <p:sldId id="3811" r:id="rId83"/>
    <p:sldId id="3812" r:id="rId84"/>
    <p:sldId id="3813" r:id="rId85"/>
    <p:sldId id="3814" r:id="rId86"/>
    <p:sldId id="3815" r:id="rId87"/>
    <p:sldId id="3816" r:id="rId88"/>
    <p:sldId id="3817" r:id="rId89"/>
    <p:sldId id="3818" r:id="rId90"/>
    <p:sldId id="3819" r:id="rId91"/>
    <p:sldId id="3820" r:id="rId92"/>
    <p:sldId id="3821" r:id="rId93"/>
    <p:sldId id="3822" r:id="rId94"/>
    <p:sldId id="3823" r:id="rId95"/>
    <p:sldId id="3824" r:id="rId96"/>
    <p:sldId id="3825" r:id="rId97"/>
    <p:sldId id="3826" r:id="rId98"/>
    <p:sldId id="3827" r:id="rId99"/>
    <p:sldId id="3828" r:id="rId100"/>
    <p:sldId id="3829" r:id="rId101"/>
    <p:sldId id="3830" r:id="rId102"/>
    <p:sldId id="3831" r:id="rId103"/>
    <p:sldId id="3832" r:id="rId104"/>
    <p:sldId id="3833" r:id="rId105"/>
    <p:sldId id="3834" r:id="rId106"/>
    <p:sldId id="3835" r:id="rId107"/>
    <p:sldId id="3836" r:id="rId108"/>
    <p:sldId id="3837" r:id="rId109"/>
    <p:sldId id="3838" r:id="rId110"/>
    <p:sldId id="3839" r:id="rId111"/>
    <p:sldId id="3840" r:id="rId112"/>
    <p:sldId id="3841" r:id="rId113"/>
    <p:sldId id="3842" r:id="rId114"/>
    <p:sldId id="3843" r:id="rId115"/>
    <p:sldId id="3844" r:id="rId116"/>
    <p:sldId id="3845" r:id="rId117"/>
    <p:sldId id="3846" r:id="rId118"/>
    <p:sldId id="3847" r:id="rId119"/>
    <p:sldId id="3848" r:id="rId120"/>
    <p:sldId id="3849" r:id="rId121"/>
    <p:sldId id="3850" r:id="rId122"/>
    <p:sldId id="3851" r:id="rId123"/>
    <p:sldId id="3852" r:id="rId124"/>
    <p:sldId id="3853" r:id="rId125"/>
    <p:sldId id="3854" r:id="rId126"/>
    <p:sldId id="3855" r:id="rId127"/>
    <p:sldId id="3856" r:id="rId128"/>
    <p:sldId id="3857" r:id="rId129"/>
    <p:sldId id="3858" r:id="rId130"/>
    <p:sldId id="3859" r:id="rId131"/>
    <p:sldId id="3860" r:id="rId132"/>
    <p:sldId id="3861" r:id="rId133"/>
    <p:sldId id="3862" r:id="rId134"/>
    <p:sldId id="3863" r:id="rId135"/>
    <p:sldId id="3864" r:id="rId136"/>
    <p:sldId id="3865" r:id="rId137"/>
    <p:sldId id="3866" r:id="rId138"/>
    <p:sldId id="3867" r:id="rId139"/>
    <p:sldId id="3868" r:id="rId140"/>
    <p:sldId id="3869" r:id="rId141"/>
    <p:sldId id="3870" r:id="rId142"/>
    <p:sldId id="3871" r:id="rId143"/>
    <p:sldId id="3872" r:id="rId144"/>
    <p:sldId id="3873" r:id="rId145"/>
    <p:sldId id="3874" r:id="rId146"/>
    <p:sldId id="3875" r:id="rId147"/>
    <p:sldId id="3876" r:id="rId148"/>
    <p:sldId id="3877" r:id="rId149"/>
    <p:sldId id="3878" r:id="rId150"/>
    <p:sldId id="3879" r:id="rId151"/>
    <p:sldId id="3880" r:id="rId152"/>
    <p:sldId id="326" r:id="rId153"/>
  </p:sldIdLst>
  <p:sldSz cx="12190095" cy="6859270"/>
  <p:notesSz cx="6858000" cy="9144000"/>
  <p:custDataLst>
    <p:tags r:id="rId15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9" autoAdjust="0"/>
    <p:restoredTop sz="94660" autoAdjust="0"/>
  </p:normalViewPr>
  <p:slideViewPr>
    <p:cSldViewPr>
      <p:cViewPr varScale="1">
        <p:scale>
          <a:sx n="63" d="100"/>
          <a:sy n="63" d="100"/>
        </p:scale>
        <p:origin x="62" y="504"/>
      </p:cViewPr>
      <p:guideLst>
        <p:guide orient="horz" pos="2360"/>
        <p:guide pos="720"/>
        <p:guide pos="64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146"/>
        <p:guide pos="213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9" Type="http://schemas.openxmlformats.org/officeDocument/2006/relationships/tags" Target="tags/tag94.xml"/><Relationship Id="rId158" Type="http://schemas.openxmlformats.org/officeDocument/2006/relationships/commentAuthors" Target="commentAuthors.xml"/><Relationship Id="rId157" Type="http://schemas.openxmlformats.org/officeDocument/2006/relationships/tableStyles" Target="tableStyles.xml"/><Relationship Id="rId156" Type="http://schemas.openxmlformats.org/officeDocument/2006/relationships/viewProps" Target="viewProps.xml"/><Relationship Id="rId155" Type="http://schemas.openxmlformats.org/officeDocument/2006/relationships/presProps" Target="presProps.xml"/><Relationship Id="rId154" Type="http://schemas.openxmlformats.org/officeDocument/2006/relationships/handoutMaster" Target="handoutMasters/handoutMaster1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09" y="1413038"/>
            <a:ext cx="10198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6843" y="654565"/>
            <a:ext cx="575974" cy="577219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8921" y="655090"/>
            <a:ext cx="575974" cy="576171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2882" y="654565"/>
            <a:ext cx="577021" cy="577219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000" y="654565"/>
            <a:ext cx="577021" cy="577219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4961" y="654565"/>
            <a:ext cx="577021" cy="577219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tags" Target="../tags/tag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tags" Target="../tags/tag25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emf"/><Relationship Id="rId1" Type="http://schemas.openxmlformats.org/officeDocument/2006/relationships/tags" Target="../tags/tag2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1" Type="http://schemas.openxmlformats.org/officeDocument/2006/relationships/tags" Target="../tags/tag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tags" Target="../tags/tag33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36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3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4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tags" Target="../tags/tag4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1" Type="http://schemas.openxmlformats.org/officeDocument/2006/relationships/tags" Target="../tags/tag4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4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1" Type="http://schemas.openxmlformats.org/officeDocument/2006/relationships/tags" Target="../tags/tag5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tags" Target="../tags/tag5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58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1" Type="http://schemas.openxmlformats.org/officeDocument/2006/relationships/tags" Target="../tags/tag5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1" Type="http://schemas.openxmlformats.org/officeDocument/2006/relationships/tags" Target="../tags/tag6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0.png"/><Relationship Id="rId1" Type="http://schemas.openxmlformats.org/officeDocument/2006/relationships/tags" Target="../tags/tag6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73.xml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1" Type="http://schemas.openxmlformats.org/officeDocument/2006/relationships/tags" Target="../tags/tag74.xml"/></Relationships>
</file>

<file path=ppt/slides/_rels/slide10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75.xml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1" Type="http://schemas.openxmlformats.org/officeDocument/2006/relationships/tags" Target="../tags/tag7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1" Type="http://schemas.openxmlformats.org/officeDocument/2006/relationships/tags" Target="../tags/tag7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4.png"/><Relationship Id="rId1" Type="http://schemas.openxmlformats.org/officeDocument/2006/relationships/tags" Target="../tags/tag8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1" Type="http://schemas.openxmlformats.org/officeDocument/2006/relationships/tags" Target="../tags/tag87.xml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26.png"/></Relationships>
</file>

<file path=ppt/slides/_rels/slide1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26.png"/></Relationships>
</file>

<file path=ppt/slides/_rels/slide1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2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8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9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7.png"/><Relationship Id="rId1" Type="http://schemas.openxmlformats.org/officeDocument/2006/relationships/tags" Target="../tags/tag90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1" Type="http://schemas.openxmlformats.org/officeDocument/2006/relationships/tags" Target="../tags/tag9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0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12</a:t>
            </a:r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</a:t>
            </a:r>
            <a:r>
              <a:rPr 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多线程</a:t>
            </a:r>
            <a:endParaRPr lang="zh-CN" sz="4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14974" y="3253664"/>
            <a:ext cx="8568690" cy="688340"/>
            <a:chOff x="978872" y="1800500"/>
            <a:chExt cx="6427354" cy="516136"/>
          </a:xfrm>
        </p:grpSpPr>
        <p:sp>
          <p:nvSpPr>
            <p:cNvPr id="9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掌握创建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的3种方式,能够使用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Thread类、Runnable接口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Callable接口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实现多线程,并了解这3种创建多线程的方式的区别</a:t>
              </a:r>
              <a:endPara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0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14830" y="4230004"/>
            <a:ext cx="8561070" cy="685800"/>
            <a:chOff x="978872" y="2570437"/>
            <a:chExt cx="5437064" cy="514350"/>
          </a:xfrm>
        </p:grpSpPr>
        <p:sp>
          <p:nvSpPr>
            <p:cNvPr id="1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后台线程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的使用,能够理解后台线程用于做什么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09454" y="2323804"/>
            <a:ext cx="8561070" cy="685800"/>
            <a:chOff x="978872" y="2570437"/>
            <a:chExt cx="5437064" cy="514350"/>
          </a:xfrm>
        </p:grpSpPr>
        <p:sp>
          <p:nvSpPr>
            <p:cNvPr id="1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与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,能够说出进程与线程的区别</a:t>
              </a:r>
              <a:endPara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2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14974" y="3253664"/>
            <a:ext cx="8568690" cy="688340"/>
            <a:chOff x="978872" y="1800500"/>
            <a:chExt cx="6427354" cy="516136"/>
          </a:xfrm>
        </p:grpSpPr>
        <p:sp>
          <p:nvSpPr>
            <p:cNvPr id="9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的相关方法,学会正确使用线程的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优先级、休眠、合并、让步和中断操作</a:t>
              </a:r>
              <a:endPara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0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14830" y="4230004"/>
            <a:ext cx="8561070" cy="685800"/>
            <a:chOff x="978872" y="2570437"/>
            <a:chExt cx="5437064" cy="514350"/>
          </a:xfrm>
        </p:grpSpPr>
        <p:sp>
          <p:nvSpPr>
            <p:cNvPr id="1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多线程的同步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,能够正确地使多线程同步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09454" y="2323804"/>
            <a:ext cx="8561070" cy="685800"/>
            <a:chOff x="978872" y="2570437"/>
            <a:chExt cx="5437064" cy="514350"/>
          </a:xfrm>
        </p:grpSpPr>
        <p:sp>
          <p:nvSpPr>
            <p:cNvPr id="1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线程的生命周期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及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状态转换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,能够说出线程的生命周期的6种状态以及这6种状态的转换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2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75" y="573706"/>
            <a:ext cx="3911644" cy="662276"/>
          </a:xfrm>
          <a:prstGeom prst="rect">
            <a:avLst/>
          </a:prstGeom>
        </p:spPr>
        <p:txBody>
          <a:bodyPr lIns="121897" tIns="60948" rIns="121897" bIns="6094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0016" y="2676223"/>
            <a:ext cx="9770271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是提升程序性能非常重要的一种方式，也是Java编程中的一项重要技术。在程序设计中，多线程就是指一个应用程序中有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多条并发执行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的线索，每条线索都被称作一个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交替执行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，彼此间可以进行通信。本章将针对Java中的多线程知识进行详细地讲解等。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43206" y="1746896"/>
            <a:ext cx="1192190" cy="613062"/>
            <a:chOff x="2215144" y="982844"/>
            <a:chExt cx="1244730" cy="842780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143206" y="2602983"/>
            <a:ext cx="1192190" cy="618406"/>
            <a:chOff x="2215144" y="2026500"/>
            <a:chExt cx="1244730" cy="850129"/>
          </a:xfrm>
        </p:grpSpPr>
        <p:sp>
          <p:nvSpPr>
            <p:cNvPr id="6" name="平行四边形 5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43206" y="3465964"/>
            <a:ext cx="1192190" cy="614525"/>
            <a:chOff x="2215144" y="3084852"/>
            <a:chExt cx="1244730" cy="844793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48758" y="1738017"/>
            <a:ext cx="5496560" cy="612775"/>
            <a:chOff x="4315150" y="953426"/>
            <a:chExt cx="4122956" cy="539804"/>
          </a:xfrm>
        </p:grpSpPr>
        <p:sp>
          <p:nvSpPr>
            <p:cNvPr id="12" name="矩形 11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进程与线程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48758" y="2586157"/>
            <a:ext cx="5496560" cy="612775"/>
            <a:chOff x="4315150" y="1647579"/>
            <a:chExt cx="4122956" cy="539804"/>
          </a:xfrm>
        </p:grpSpPr>
        <p:sp>
          <p:nvSpPr>
            <p:cNvPr id="16" name="矩形 15"/>
            <p:cNvSpPr/>
            <p:nvPr/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线程的创建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048758" y="3444311"/>
            <a:ext cx="5496560" cy="612775"/>
            <a:chOff x="4315150" y="2341731"/>
            <a:chExt cx="4122956" cy="539804"/>
          </a:xfrm>
        </p:grpSpPr>
        <p:sp>
          <p:nvSpPr>
            <p:cNvPr id="19" name="矩形 18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线程的生命周期及状态转换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20" name="平行四边形 19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43206" y="4333374"/>
            <a:ext cx="1192190" cy="613315"/>
            <a:chOff x="2215144" y="3084852"/>
            <a:chExt cx="1244730" cy="84313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48758" y="4311721"/>
            <a:ext cx="5496560" cy="612775"/>
            <a:chOff x="4315150" y="2341731"/>
            <a:chExt cx="4122956" cy="539804"/>
          </a:xfrm>
        </p:grpSpPr>
        <p:sp>
          <p:nvSpPr>
            <p:cNvPr id="25" name="矩形 24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线程操作的相关方法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43206" y="5167129"/>
            <a:ext cx="1192190" cy="613315"/>
            <a:chOff x="2215144" y="3084852"/>
            <a:chExt cx="1244730" cy="843130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48758" y="5145476"/>
            <a:ext cx="5496560" cy="612775"/>
            <a:chOff x="4315150" y="2341731"/>
            <a:chExt cx="4122956" cy="539804"/>
          </a:xfrm>
        </p:grpSpPr>
        <p:sp>
          <p:nvSpPr>
            <p:cNvPr id="31" name="矩形 30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线程同步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进程与线程</a:t>
            </a:r>
            <a:endParaRPr lang="zh-CN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316355" y="2809240"/>
            <a:ext cx="204533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447415"/>
            <a:ext cx="4650105" cy="495300"/>
            <a:chOff x="8472" y="5429"/>
            <a:chExt cx="7323" cy="780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429"/>
              <a:ext cx="6636" cy="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进程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，能够说出什么是进程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292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59685"/>
            <a:ext cx="9213850" cy="232791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是计算机中程序的一次运行活动，是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系统进行资源分配和调度的基本单位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是操作系统结构的基础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。虽说进程在程序执行时产生，但进程并不是程序。程序是“死”的，进程是“活”的，程序是指编译好的二进制文件，它存放在磁盘上，不占用系统资源，是具体的；而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进程存在于内存中，占用系统资源，是抽象的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。当一次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程序执行结束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之后，进程随之消失，进程所用的资源被系统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回收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21158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进程（Process）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06955"/>
            <a:ext cx="9864090" cy="27603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069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808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480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4571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单核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的CPU，同一时刻只能处理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一个进程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，用户之所以认为同时会有多个进程在运行，是因为计算机系统采用了“多道程序设计”技术。所谓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多道程序设计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，是指计算机允许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多个相互独立的程序同时进入内存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，在内存的管理控制之下，相互之间穿插运行。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“多道程序设计”技术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3300" y="2026285"/>
            <a:ext cx="1018349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采用多道程序设计的系统，会将CPU的整个生命周期划分为长度相同的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时间片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每个CPU时间片内只处理一个进程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。也就是说，在多个时间片上，系统会让多个进程分时使用CPU。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虽然在同一个时间片中，一个CPU上只能处理一个进程，但CPU划分的时间片是非常微小的，且当下CPU运行速度极快，因此，在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宏观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上，可以认为计算机能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并发执行多个程序、处理多个进程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447415"/>
            <a:ext cx="4492625" cy="495300"/>
            <a:chOff x="8472" y="5429"/>
            <a:chExt cx="7075" cy="780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429"/>
              <a:ext cx="6388" cy="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，能说出什么是线程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292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59685"/>
            <a:ext cx="9213850" cy="232791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每个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运行的程序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都是一个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，在一个进程中还可以有多个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执行单元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同时运行，这些执行单元可以看作程序执行的一条条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。每一个进程中都至少存在一个线程。代码按照调用顺序依次往下执行，没有出现两段程序代码交替运行的效果，这样的程序称作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单线程程序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。如果希望程序中实现多段程序代码交替运行的效果，则需要创建多个线程，即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70573" y="123215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06955"/>
            <a:ext cx="9864090" cy="27603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069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808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19265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0043" y="144742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80055" y="923925"/>
            <a:ext cx="8232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是指一个进程在执行过程中可以产生多个单线程，这些单线程程序在运行时是相互独立的，它们可以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。多线程程序的执行过程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如图所示。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5" name="对象 -2147482623"/>
          <p:cNvGraphicFramePr>
            <a:graphicFrameLocks noChangeAspect="1"/>
          </p:cNvGraphicFramePr>
          <p:nvPr/>
        </p:nvGraphicFramePr>
        <p:xfrm>
          <a:off x="4314508" y="2319020"/>
          <a:ext cx="3560209" cy="25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2943860" imgH="2240915" progId="Visio.Drawing.11">
                  <p:embed/>
                </p:oleObj>
              </mc:Choice>
              <mc:Fallback>
                <p:oleObj name="" r:id="rId2" imgW="2943860" imgH="22409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14508" y="2319020"/>
                        <a:ext cx="3560209" cy="252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1073785" y="5127625"/>
            <a:ext cx="100431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图中所示的多条线程，看似是同时执行的，其实不然，它们和进程一样，也是由CPU轮流执行的，只不过CPU运行速度很快，因此给人同时执行的感觉。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0707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线程的创建</a:t>
            </a:r>
            <a:endParaRPr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38885" y="2809240"/>
            <a:ext cx="212280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691640" y="2154555"/>
            <a:ext cx="88061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Java提供了3种多线程的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创建方式: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javal.ang包中的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Thread类，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 Thread类的run()方法，在run()方法中实现多线程代码。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实现javal.ang.Runnable接口，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在run()方法中实现多线程代码。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实现java.util.concurrent.Callable接口，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重写call()方法,并使用 Future接口获取call()方法返回的结果。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8130" y="1876425"/>
            <a:ext cx="9095740" cy="34474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8130" y="18764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695" y="48482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 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线程的创建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602480" cy="1505585"/>
            <a:chOff x="8472" y="5316"/>
            <a:chExt cx="7248" cy="2371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561" cy="2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继承Thread类创建多线程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，能够通过继承Thread类的方式创建多线程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单线程案例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95" y="1922780"/>
            <a:ext cx="9381490" cy="44208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725930" y="1922780"/>
            <a:ext cx="8738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Example01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MyThread01 myThread = new MyThread01(); // 创建MyThread01实例对象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myThread.run();                     // 调用MyThread01类的run()方法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                         // 该循环是一个死循环，打印输出语句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System.out.println("Main方法在运行");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MyThread01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                         // 该循环是一个死循环，打印输出语句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System.out.println("MyThread类的run()方法在运行");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0240" y="1225550"/>
            <a:ext cx="8227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在学习多线程之前，先来看一个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单线程程序的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20" y="2169795"/>
            <a:ext cx="4402231" cy="252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3336290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1640" y="23698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由上图可知，程序一直打印“MyThread类的run()方法在运行”，这是因为该程序是一个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，在调用MyThread01类的run()方法时，遇到定义的死循环中，循环会一直进行。因此，MyThread类的打印语句将被无限执行，而main()方法中的打印语句无法得到执行。如果希望代码两个while循环中的的println语句能够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，就需要实现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8130" y="2091690"/>
            <a:ext cx="9095740" cy="29559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8130" y="20916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695" y="45612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2618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786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线程类Thread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37030" y="2459990"/>
            <a:ext cx="89388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实现多线程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Java提供了一个线程类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继承Thread类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重写Thread类中的run()方法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便可实现多线程。在Thread类中提供了一个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start()方法用于启动新线程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，新线程启动后，JVM会自动调用run()方法，如果子类重写了run()方法便会执行子类中的run()方法。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多线程案例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95" y="1922780"/>
            <a:ext cx="9381490" cy="44208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725930" y="1922780"/>
            <a:ext cx="8738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Example02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MyThread02 myThread = new MyThread02(); // 创建MyThread02的线程对象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myThread.start()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// 开启线程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// 通过死循环语句打印输出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System.out.println("main()方法在运行");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MyThread02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extends Thread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void run()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// 通过死循环语句打印输出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System.out.println("MyThread类的run()方法在运行");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90240" y="1225550"/>
            <a:ext cx="758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通过继承Thread类的方式来实现多线程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470" y="2169795"/>
            <a:ext cx="4415844" cy="252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143635" y="5228590"/>
            <a:ext cx="757999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由图可知，两个循环中的语句都有输出，说明程序实现了多线程。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2918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单线程和多线程的区别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03060" y="2460625"/>
            <a:ext cx="449580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从图可以看出，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单线程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的程序在运行时，会按照代码的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调用顺序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执行，而在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多线程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方法却可以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同时运行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，互不影响。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47" y="2077403"/>
            <a:ext cx="5266690" cy="393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实现Runnable接口创建多线程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，能够通过实现Runnable接口的方式创建多线程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521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805" y="245935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继承Thread类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实现了多线程，但是这种方式有一定的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局限性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。因为Java只支持单继承，一个类一旦继承了某个父类就无法再继承Thread类，比如学生类Student继承了Person类，那么Student类就无法再通过继承Thread类创建线程。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3818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继承Thread类实现多线程的弊端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62833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02080" y="2425065"/>
            <a:ext cx="9385300" cy="244030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为了克服这种弊端，Thread类提供了另外一个构造方法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Thread(Runnable target)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，其中参数类型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Runnable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是一个接口，它只有一个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。当通过Thread(Runnable target)构造方法创建线程对象时，只需为该方法传递一个实现了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Runnable接口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的对象，这样创建的线程将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实现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了Runnable接口中的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作为运行代码，而不需要调用Thread类中的run()方法。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5648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克服弊端的方式：实现Runnable接口创建多线程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7038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104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077335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90725" y="422148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MyThread03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public void run() {// 线程的代码段，当调用start()方法时，线程从此处开始执行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System.out.println("MyThread类的run()方法在运行");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1270" y="285305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MyThread03类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实现Runnable接口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了Runnable接口中的run()方法。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8880" y="2148840"/>
            <a:ext cx="10261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下面通过一个案例演示如何通过实现Runnable接口的方式来创建多线程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Chevron 3"/>
          <p:cNvSpPr/>
          <p:nvPr>
            <p:custDataLst>
              <p:tags r:id="rId2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733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案例演示实现Runnable接口创建多线程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347595"/>
            <a:ext cx="9356090" cy="29711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6865" y="2546985"/>
            <a:ext cx="904367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Example03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MyThread03 myThread = new MyThread03(); // 创建MyThread03的实例对象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 thread = new Thread(myThread);    // 创建线程对象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thread.start();          // 开启线程，执行线程中的run()方法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System.out.println("main()方法在运行");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9490" y="923925"/>
            <a:ext cx="104013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方法，创建MyThread03的实例对象，调用Thread类的构造方法将MyThread03类的实例对象作为参数传入，然后调用start()方法开启新线程执行MyThread03类中的代码，而主线程继续执行main()方法中的代码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由图可知，main()方法和MyThread03类中run()方法都执行了，说明文件12-3实现了多线程。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505" y="2298383"/>
            <a:ext cx="3724429" cy="234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实现Callable接口创建多线程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，能够通过实现Callable接口的方式创建多线程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521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8440" y="245935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通过Thread类和Runnable接口实现多线程时，需要重写run()方法，但是由于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run()方法没有返回值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，因此无法从新线程中获取返回结果。为了解决这个问题，Java提供了一个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Callable接口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，来满足这种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既能创建新线程又可以有返回值的需求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38106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解决run()方法没有返回值的问题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76854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69837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通过实现Callable接口的方式创建并启动线程的主要步骤如下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55090" y="2447290"/>
            <a:ext cx="947991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）创建一个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接口的实现类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，同时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接口的实现类对象。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FutureTask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线程结果处理类的有参构造方法封装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接口实现类对象。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）调用参数为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FutureTask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类对象的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有参构造方法创建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线程实例。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）调用线程实例的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start()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启动线程。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733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案例演示实现Callable接口创建多线程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下面通过一个案例演示如何通过实现Callable接口的方式来创建多线程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13660" y="2559685"/>
            <a:ext cx="696341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MyThread04 implements Callable&lt;Object&gt;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 重写Callable接口的call()方法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Object call() throws 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int i = 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(i++ &lt; 5)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"的call()方法在运行");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i;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MyThread04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Callable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接口，重写Runnable接口中的call()方法。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1845310"/>
            <a:ext cx="9356090" cy="45580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23390" y="1845945"/>
            <a:ext cx="8743950" cy="4558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Example04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public static void main(String[] args) throws InterruptedException,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ExecutionException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MyThread04 myThread = new MyThread04(); // 创建Callable接口的实例对象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//使用FutureTask封装MyThread04类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FutureTask&lt;Object&gt; ft1 = new FutureTask&lt;&gt;(myThread);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//使用Thread(Runnable target ,String name)构造方法创建线程对象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thread1 = new Thread(ft1, "thread");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//调用线程对象的start()方法启动线程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thread1.start();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//通过FutureTask对象的方法管理返回值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System.out.println(Thread.currentThread().getName()+ "的返回结果："+ ft1.get());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int a=0;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(a++&lt;5)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System.out.println("main()方法在运行");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9490" y="923925"/>
            <a:ext cx="10401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方法，创建Callable接口的实例，并调用有参的Thread()构造方法创建线程对象thread1；调用线程对象thread1的start()方法启动线程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820737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由图可知，通过实现Callable接口的方式实现了多线程并带有返回结果。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45" y="2230120"/>
            <a:ext cx="3308998" cy="241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5756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9991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FutureTask类的继承关系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68390" y="2287270"/>
            <a:ext cx="497014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able接口方式实现的多线程是通过FutureTask类来封装和管理返回结果的，FutureTask类的直接父接口是RunnableFuture。从左图可知，FutureTask本质是Runnable接口和Future接口的实现类，其中，Future接口用于管理线程返回结果，它共有5个方法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-21474826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80" y="2472373"/>
            <a:ext cx="3647043" cy="295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039495"/>
            <a:ext cx="36004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173739"/>
            <a:ext cx="299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Future接口的方法及说明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44957" y="1940719"/>
          <a:ext cx="9208135" cy="42608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cancel(boolean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      mayInterruptIfRunning)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用于取消任务，参数mayInterruptIfRunning表示是否允许取消正在执行却没有执行完毕的任务，如果设置true，则表示可以取消正在执行的任务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isCancelled()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判断任务是否被取消成功，如果在任务正常完成前被取消成功，则返回 true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isDone()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判断任务是否已经完成，若任务完成，则返回true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 get()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用于获取执行结果，这个方法会发生阻塞，一直等到任务执行完毕才返回执行结果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 get(long timeout, TimeUnit unit)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用于在指定时间内获取执行结果，如果在指定时间内，还没获取到结果，就直接返回null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509770" cy="1967230"/>
            <a:chOff x="8472" y="5316"/>
            <a:chExt cx="7102" cy="3098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415" cy="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Thread类与Runnable接口实现多线程方式的对比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，能说出通过继承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Thread类创建多线程和实现Runnable接口创建多线程的区别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4" name="文本框 18"/>
          <p:cNvSpPr txBox="1"/>
          <p:nvPr>
            <p:custDataLst>
              <p:tags r:id="rId1"/>
            </p:custDataLst>
          </p:nvPr>
        </p:nvSpPr>
        <p:spPr>
          <a:xfrm>
            <a:off x="1488440" y="2858770"/>
            <a:ext cx="9213850" cy="114300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通过继承Thread类和实现Runnable接口实现多线程方式会有一定的区别，下面通过一个应用场景来分析说明。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688590"/>
            <a:ext cx="9864090" cy="14827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6885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36849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475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通过继承Thread类的方式创建多线程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07515" y="2229485"/>
            <a:ext cx="87757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假设售票厅有四个窗口可发售某日某次列车的100张车票，这时，100张车票可以看做共享资源，四个售票窗口同时售票，可以看作四个线程同时运行。为了更直观显示窗口的售票情况，可以调用Thread的currentThread()方法获取当前的线程的实例对象，然后调用getName()方法可以获取到线程的名称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04010" y="2683510"/>
            <a:ext cx="898271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TicketWindow extends Thread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private int tickets = 100;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while (tickets &gt; 0) { // 通过while循环判断票数并打印语句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Thread th = Thread.currentThread(); // 获取当前线程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String th_name = th.getName(); // 获取当前线程的名字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System.out.println(th_name + " 正在发售第 " + tickets-- + " 张票 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TicketWindow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347595"/>
            <a:ext cx="9356090" cy="23152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08810" y="2466975"/>
            <a:ext cx="8399780" cy="2076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Example05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创建并开启第一个线程对象TicketWindow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创建并开启第二个线程对象TicketWindow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创建并开启第三个线程对象TicketWindow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创建并开启第四个线程对象TicketWindow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9490" y="1250315"/>
            <a:ext cx="83381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四个线程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并开启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线程对象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210300" y="1999615"/>
            <a:ext cx="364363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每张票都被打印了四次。出现这样现象的原因是四个线程没有共享100张票，而是各自出售了100张票。在程序中创建了四个TicketWindow对象，就等于创建了四个售票线程，每个线程中都有100张票，每个线程在独立地处理各自的资源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123" y="1999615"/>
            <a:ext cx="3924300" cy="422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5086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99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通过实现Runnable接口的方式实现多线程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07515" y="2230120"/>
            <a:ext cx="87757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由于现实中铁路系统的票资源是共享的，为了保证资源共享，在程序中只能创建一个售票对象，然后开启多个线程去运行同一个售票对象的售票方法，简单来说就是四个线程运行同一个售票程序。接下来，通过实现Runnable接口的方式实现多线程的创建。使用构造方法Thread(Runnable target, String name)在创建线程对象时指定线程的名称。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04010" y="2559685"/>
            <a:ext cx="898271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TicketWindow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private int tickets = 100;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while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Thread th = Thread.currentThread(); // 获取当前线程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String th_name = th.getName(); // 获取当前线程的名字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System.out.println(th_name + " 正在发售第 " + tickets-- + " 张票 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TicketWindow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778125"/>
            <a:ext cx="9356090" cy="25634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31975" y="2897505"/>
            <a:ext cx="8554085" cy="232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Example06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TicketWindow tw = new TicketWindow(); // 创建TicketWindow实例对象tw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"窗口1").start(); // 创建线程对象并命名为窗口1，开启线程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"窗口2").start(); // 创建线程对象并命名为窗口2，开启线程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"窗口3").start(); // 创建线程对象并命名为窗口3，开启线程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"窗口4").start(); // 创建线程对象并命名为窗口4，开启线程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9490" y="1250315"/>
            <a:ext cx="100653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创建了一个TicketWindow对象tw，并创建了四个线程，每个线程都去调用这个tw对象中的run()方法，这样就可以确保四个线程访问的是同一个tickets变量，共享100张车票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578" y="2243773"/>
            <a:ext cx="3456940" cy="2371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8089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5386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Thread类与Runnable接口实现多线程的区别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8440" y="2858770"/>
            <a:ext cx="9213850" cy="114300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Thread类创建多线程，无法保证多个线程对共享资源的正确操作，而Runnable接口可以保证多个线程对共享资源的正确访问。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688590"/>
            <a:ext cx="9864090" cy="14827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6885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36849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3975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862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小提示：使用Lambda表达式创建多线程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885" y="3395345"/>
            <a:ext cx="4859655" cy="11728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203065" y="3563620"/>
            <a:ext cx="3783965" cy="835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 = new Thread(() -&gt;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72005" y="2143125"/>
            <a:ext cx="8046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Lambda表达式可以简化多线程的创建与调用过程，在创建线程时可以指定线程要调用的方法，格式如下。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000125" y="1039495"/>
            <a:ext cx="53975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70635" y="1173480"/>
            <a:ext cx="4862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案例演示使用Lambda表达式创建多线程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20" y="1851025"/>
            <a:ext cx="8862695" cy="46526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41525" y="1821180"/>
            <a:ext cx="7716520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Main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 = new Thread(() -&gt; {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(true){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System.out.println("start new thread!");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t.start(); // 启动新线程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 extends Thread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 // 通过死循环语句打印输出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System.out.println("MyThread类的run()方法在运行");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后台线程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，能够说出设置后台线程的的方法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6670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805" y="2562860"/>
            <a:ext cx="9213850" cy="196532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前台线程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后台线程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相对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的概念，新创建的线程默认都是前台线程，如果某个线程对象在启动之前执行了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setDaemon(true)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语句，这个线程就变成一个后台线程。对Java程序来说，只要还有一个前台线程在运行，这个进程就不会结束，如果一个进程中只有后台线程运行，这个进程就会结束。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什么是后台线程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5050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31165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447865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208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案例演示程序只有后台线程的情况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4000" y="2133600"/>
            <a:ext cx="91427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下面通过一个案例演示当程序只有后台线程时就会结束的情况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4145" y="29254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定义DamonThread类实现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接口，并重写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61435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06295" y="400558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DamonThread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System.out.println(Thread.currentThread().getName()+ "---在运行");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01520"/>
            <a:ext cx="9356090" cy="40620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18995" y="2001520"/>
            <a:ext cx="8654415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Example07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判断是否为后台线程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System.out.println("main线程是后台线程吗?"+ Thread.currentThread().isDaemon());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DamonThread dt = new DamonThread();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 = new Thread(dt, "后台线程");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System.out.println("thread线程默认是后台线程吗?"+ thread.isDaemon());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将线程thread线程对象设置为后台线程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thread.setDaemon(true);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模拟主线程main的执行任务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将线程thread对象设置为后台线程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，启动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模拟主线程main的执行任务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注意：要将某个线程设置为后台线程，必须在该线程启动之前，也就是说setDaemon()方法必须在start()方法之前调用，否则后台线程设置无效。</a:t>
            </a:r>
            <a:endParaRPr lang="zh-CN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975" y="2255838"/>
            <a:ext cx="4259062" cy="237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63143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线程的生命周期及状态转换</a:t>
            </a:r>
            <a:endParaRPr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313180" y="2809240"/>
            <a:ext cx="204851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059680" cy="1505585"/>
            <a:chOff x="8472" y="5316"/>
            <a:chExt cx="7968" cy="2371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281" cy="2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线程的生命周期及状态转换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，能够说出线程的生命周期的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6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种状态，以及状态在什么情况下会进行转换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线程生命周期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1005" y="2437130"/>
            <a:ext cx="94443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在线程整个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生命周期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中，基本状态一共有6种，分别是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新建状态（New）、可运行（Runnable）、锁阻塞（Blocked）、无限等待（Waiting）、计时等待（Timed_Waiting） 、被终止（Teminated）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，线程的不同状态表明了线程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正在进行的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活动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7495" y="2230755"/>
            <a:ext cx="9587865" cy="275717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2307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761345" y="45002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4450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线程生命周期中的五种基本状态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4270" y="2101215"/>
            <a:ext cx="99555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创建一个线程对象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后，该线程对象就处于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。此时还没调用start()方法进行启动，和其他Java对象一样，仅仅由JVM为其分配了内存，没有表现出任何线程的动态特征。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可运行状态也称为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就绪状态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。当线程对象调用了start()方法后，该线程就进入就绪状态。处于就绪状态的线程位于线程队列中，此时它只是具备了运行的条件，能否获得CPU的使用权并开始运行，还需要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调度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8390" y="1306195"/>
            <a:ext cx="1001268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锁阻塞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如果处于可运行的线程获得了CPU的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使用权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开始执行run()方法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中的线程执行体，则该线程处于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。一个线程启动后，它可能不会一直处于运行状态，当一个线程试图获取一个对象锁，而该对象锁被其他的线程持有，则该线程进入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锁阻塞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状态；当该线程持有锁时，该线程将变成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无限等待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一个线程在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另一个线程执行一个（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唤醒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）动作时，该线程进入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无限等待状态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。进入这个状态后是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不能自动唤醒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的，必须等待另一个线程调用notify或者notifyAll方法才能够唤醒。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4270" y="1240790"/>
            <a:ext cx="98882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计时等待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endParaRPr 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计时等待状态是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指定等待时间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的等待线程的线程状态。线程由于调用了计时等待的方法（Thread.sleep() 、Object.wait()、Thread.join()、LockSupport.parkNanos()、LockSupport.parkUntil()），并且指定了等待时间而处于计时等待状态。这一状态将一直保持到超时期满或者接收到唤醒通知。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被终止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被终止状态是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终止线程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的线程状态。线程因为run()方法正常退出而死亡，或者因为没有捕获的异常终止了run()方法而完成执行。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54425" y="1082675"/>
            <a:ext cx="7920990" cy="529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19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在程序中，通过一些操作，可以使线程在不同状态之间转换，如图所示</a:t>
            </a:r>
            <a:r>
              <a:rPr lang="zh-CN" sz="19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1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431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线程状态转换图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0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405" y="2234883"/>
            <a:ext cx="9880464" cy="3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520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线程操作的相关方</a:t>
            </a:r>
            <a:r>
              <a:rPr 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法</a:t>
            </a:r>
            <a:endParaRPr lang="zh-CN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37615" y="2809240"/>
            <a:ext cx="212407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17365" cy="1043940"/>
            <a:chOff x="8472" y="5316"/>
            <a:chExt cx="6799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12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线程的优先级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，能够在程序中手动设置线程的优先级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2320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的优先级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1170" y="2230120"/>
            <a:ext cx="870839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在应用程序中，如果要对线程进行调度，最直接的方式就是设置线程的优先级。优先级越高的线程获得CPU执行的机会越大，而优先级越低的线程获得CPU执行的机会越小。线程的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优先级用1~10之间的整数表示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数字越大优先级越高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。除了可以直接使用数字表示线程的优先级，还可以使用Thread类中提供的三个静态常量表示线程的优先级。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7495" y="2050415"/>
            <a:ext cx="9095740" cy="27584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05041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43224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32740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245494"/>
            <a:ext cx="2802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Thread类的优先级常量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44957" y="2299494"/>
          <a:ext cx="9208135" cy="1866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Thread类的优先级常量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MAX_PRIORITY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表示线程的最高优先级，值为10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MIN_PRIORITY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表示线程的最低优先级，值为1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NORM_PRIORITY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表示线程的默认优先级，值为5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313" y="1245494"/>
            <a:ext cx="52114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Thread类的setPriority(int newPriority)方法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515" y="2460625"/>
            <a:ext cx="87757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程序在运行期间，处于就绪状态的每个线程都有自己的优先级，例如，主线程具有普通优先级。然而线程优先级不是固定不变的，可以通过调用Thread类的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setPriority(int newPriority)方法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进行设置，setPriority()方法中的参数newPriority接收的是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1~10之间的整数或者Thread类的三个静态常量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5076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案例演示不同优先级的两个线程的运行情况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1270" y="2115820"/>
            <a:ext cx="99402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下面通过一个案例演示不同优先级的两个线程在程序中的运行情况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03020" y="285305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MaxPriority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类并实现Runnable接口。在MaxPriority中，使用for循环打印正在发售的票数。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933190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32635" y="4072255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MaxPriority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"正在输出：" + 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5545"/>
            <a:ext cx="9356090" cy="21183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60096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MinPriority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"正在输出：" + 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MinPriority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类并实现Runnable接口。在MinPriority中，使用for循环打印正在发售的票数。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204085"/>
            <a:ext cx="9356090" cy="31775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99260" y="2258060"/>
            <a:ext cx="8819515" cy="306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Example08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minPriority = new Thread(new MinPriority(), "优先级较低的线程");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maxPriority = new Thread(new MaxPriority(), "优先级较高的线程");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minPriority.setPriority(Thread.MIN_PRIORITY); 	// 设置线程的优先级为1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maxPriority.setPriority(Thread.MAX_PRIORITY); 	// 设置线程的优先级为10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开启两个线程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maxPriority.start();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minPriority.start();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两个线程，分别设置线程的优先级，然后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开启线程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由图可知，优先级较高的maxPriority线程先运行了，运行完毕后优先级较低的minPriority线程才开始运行。所以优先级越高的线程获取CPU切换时间片的机率越大。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85" y="2169478"/>
            <a:ext cx="3616867" cy="252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988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4778" y="1232159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线程优先级需要注意的是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27760" y="2460625"/>
            <a:ext cx="993457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Java提供了10个线程优先级，但是这些优先级需要操作系统的支持，不同的操作系统对优先级的支持是不一样的，操作系统中的线程优先级不会和Java中线程优先级一一对应，因此，在设计多线程应用程序时，其功能的实现一定不能依赖于线程的优先级，而只能把线程优先级作为一种提高程序效率的手段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296410" cy="1043940"/>
            <a:chOff x="8472" y="5316"/>
            <a:chExt cx="6766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079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线程休眠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sleep()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方法让线程休眠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什么是线程休眠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229485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线程休眠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指让当前线程暂停执行，从运行状态进入阻塞状态，将CPU资源让给其他线程的一种调度方式，可以调用线程的操作方法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sleep()来实现线程休眠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，sleep()方法是java.lang.Thread类中定义的静态方法。使用sleep()方法时需要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指定当前线程休眠的时间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，传入一个long类型的数据作为休眠时间，单位为毫秒，并且任意一个线程的实例化对象都可以调用该方法。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7495" y="2028825"/>
            <a:ext cx="9095740" cy="28009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0288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434340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14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690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sleep()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方法实现线程休眠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515" y="3152775"/>
            <a:ext cx="87757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下面通过一个案例演示sleep()方法在程序中的使用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15795"/>
            <a:ext cx="9356090" cy="48069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1915795"/>
            <a:ext cx="7976870" cy="4806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SleepThread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for (int i = 1; i &lt;= 8;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(i == 3)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Thread.sleep(2000); // 当前线程休眠2秒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System.out.println("SleepThread线程正在输出:" + 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 Thread.sleep(500); // 当前线程休眠500毫秒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catch (Exception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10125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SleepThread类并实现Runnable接口。重写run()方法，在run()方法中使用for循环打印线程输出语句；使用if判断当变量i=3时，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调用sleep()方法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线程休眠2000毫秒。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204085"/>
            <a:ext cx="9356090" cy="33928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95880" y="2242185"/>
            <a:ext cx="6971030" cy="3317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Example09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static void main(String[] args) throws 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// 创建一个线程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new Thread(new SleepThread()).start();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for (int i = 1; i &lt;= 8;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if (i == 5)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Thread.sleep(2000);  // 当前线程休眠2000毫秒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System.out.println("主线程正在输出:" + 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Thread.sleep(500); // 当前线程休眠500毫秒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使用new关键词创建SleepThread线程并启动，使用for循环打印主线程的输出语句，使用if判断当变量i=5时，线程休眠2000毫秒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486525" y="1880870"/>
            <a:ext cx="373253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由图可知，主线程输出2后，SleepThread类线程没有交替输出3，而是主线程接着输出了3和4，这说明了当i等于3时，SleepThread类线程进入了休眠状态。对于主线程也一样，当i等于5时，主线程会休眠2000毫秒。</a:t>
            </a:r>
            <a:endParaRPr lang="zh-CN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38" y="2024063"/>
            <a:ext cx="3732600" cy="360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988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4778" y="1232159"/>
            <a:ext cx="35280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sleep()方法需要注意的是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27760" y="292227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sleep()是静态方法，只能控制当前正在运行的线程休眠，而不能控制其他线程休眠。当休眠时间结束后，线程就会返回到就绪状态，而不是立即开始运行。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22445" cy="1043940"/>
            <a:chOff x="8472" y="5316"/>
            <a:chExt cx="6807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20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线程插队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join()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方法实现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线程的插队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什么是线程插队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指将某个线程插入到当前线程中，由两个线程交替执行变成两个线程顺序执行，即一个线程执行完毕之后再来执行第二个线程，可以通过调用线程对象的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join()方法来实现线程插队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7495" y="2471420"/>
            <a:ext cx="9095740" cy="19157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47142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39008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线程插队的执行过程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46062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有两个线程，线程甲和线程乙。线程甲在执行到某个时间点的时候调用线程乙的join()方法，则表示从当前时间点开始CPU资源被线程乙独占，线程甲进入阻塞状态。直到线程乙执行完毕，线程甲进入就绪状态，等待获取CPU资源进入运行状态继续执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837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使用join()方法案例演示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20" y="1994535"/>
            <a:ext cx="8862695" cy="46526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41525" y="1964690"/>
            <a:ext cx="7716520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public static void main(String[] args) throws InterruptedException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    Thread thread = new Thread(new JoinRunnable(),"thread");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创建线程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   thread.start();                             // 开启thread线程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    for (int i = 1; i &lt;= 5;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        System.out.println(Thread.currentThread().getName()+"输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："+i);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     if (i == 2)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thread.join(); 		// 调用join()方法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 class JoinRunnable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       for (int i = 1; i &lt;= 3;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            System.out.println(Thread.currentThread().getName()+"输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："+i);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17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38980" y="923925"/>
            <a:ext cx="62687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581140" y="2804160"/>
            <a:ext cx="373253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由图可以看出，当main线程输入2以后，thread线程就开始执行，直到执行完毕，main线程才继续执行。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5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682" y="2358708"/>
            <a:ext cx="4750546" cy="33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4850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39109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Thread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类的join(long millis)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Thread类除了提供一个无参数的线程插队join()方法外，还提供了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带有时间参数的线程插队方法join(long millis)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。当执行带有时间参数的join(long millis)进行线程插队时，必须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等待插入的线程指定时间过后才会继续执行其他线程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167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3691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join()和join(long millis)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表示在被调用线程执行完成之后才能执行其他线程。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join(long millis)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则表示被调用线程执行millis毫秒之后，无论是否执行完毕，其他线程都可以和它来争夺CPU资源。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6240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4084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使用join(long millis)方法案例演示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82090" y="2118995"/>
            <a:ext cx="9225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上面案例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方法改为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(long millis)方法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行代码修改如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545080" y="3494405"/>
            <a:ext cx="7099300" cy="6496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thread.join(3000); // 调用join()方法并将参数设置为3000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5895" y="1480820"/>
            <a:ext cx="82092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上面案例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JoinRunnable类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行替换为如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下所示的代码：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27530" y="2421890"/>
            <a:ext cx="8535670" cy="20154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try 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Thread.currentThread().sleep(1500);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} catch (InterruptedException e) 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e.printStackTrace();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System.out.println(Thread.currentThread().getName()+"输出："+i);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-2147482559"/>
          <p:cNvPicPr>
            <a:picLocks noChangeAspect="1"/>
          </p:cNvPicPr>
          <p:nvPr/>
        </p:nvPicPr>
        <p:blipFill>
          <a:blip r:embed="rId2"/>
          <a:srcRect r="145"/>
          <a:stretch>
            <a:fillRect/>
          </a:stretch>
        </p:blipFill>
        <p:spPr>
          <a:xfrm>
            <a:off x="2825115" y="2114550"/>
            <a:ext cx="7097592" cy="334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230120"/>
            <a:ext cx="940562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以看到当main线程执行到i=2时，thread线程插队到了main线程。Thread线程插队是通过调用join(3000)方法实现的。从插队开始thread线程独占CPU资源执行3000毫秒之后，main线程继续与thread线程抢占资源。因为thread线程每次执行会休眠1500毫秒，所以看到的结果是执行了两次thread线程之后，main线程再次进入就绪状态抢占CPU资源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71085" cy="1043940"/>
            <a:chOff x="8472" y="5316"/>
            <a:chExt cx="7671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984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线程让步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，能够通过yield()方法实现线程让步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什么是线程让步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1640" y="2691765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线程让步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是指在某个特定的时间点，让线程暂停抢占CPU资源的行为，即从运行状态或就绪状态到阻塞状态，从而将CPU资源让给其他线程使用。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可以通过调用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yield()方法来实现线程让步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6860" y="2530475"/>
            <a:ext cx="9095740" cy="17983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25304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38423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线程让步的执行过程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765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假设有两个线程，线程甲和线程乙。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线程甲和线程乙在交替执行，在某个时间点线程甲做出让步，让线程乙占用了CPU资源，执行其业务逻辑。线程乙执行完毕之后，线程甲会再次进入就绪状态，争夺CPU资源。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497649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578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案例演示使用yield()方法实现线程让步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线程让步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可以使用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yield()方法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来实现，下面通过一个案例演示yield()方法在程序中的使用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075" y="2240280"/>
            <a:ext cx="7637145" cy="41554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1745" y="2287270"/>
            <a:ext cx="7126605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YieldThread extends Thread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 定义一个有参的构造方法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YieldThread(String name)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super(name); 						// 调用父类的构造方法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System.out.println(Thread.currentThread().getName()+"---"+i);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if (i == 2)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System.out.print("线程让步:");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Thread.yield(); 	// 线程运行到此，作出让步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000" y="995680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定义YieldThread类继承Thread类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，然后定义一个有参的构造方法，重写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方中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使用if判断当变量i=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时，调用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yield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()方法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让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运行到此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出让步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570" y="2204085"/>
            <a:ext cx="7285355" cy="2971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30245" y="2403475"/>
            <a:ext cx="575691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Example12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thread1 = new YieldThread("thread1");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thread2 = new YieldThread("thread2");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开启两个线程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thread1.start();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thread2.start();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000" y="92392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并开启线程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两个线程优先级相同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13" y="2169795"/>
            <a:ext cx="4064065" cy="252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691130"/>
            <a:ext cx="940562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从上图的运行结果可以看出，当线程thread1输出2以后，会做出让步，线程thread2获得执行权，同样，线程thread2输出2后，也会做出让步，线程thread1获得执行权。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790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199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yield()方法的弊端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460625"/>
            <a:ext cx="940562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yield()方法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可以实现线程让步，让当前正在运行的线程失去CPU使用权，让系统的调度器重新调度一次，由于JVM默认采用抢占式调度模型，所有线程都会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再次抢占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CPU资源使用权，所以在执行线程让步后并不能保证立即执行其他线程，CPU可能会有一段空闲时间。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97120" cy="1043940"/>
            <a:chOff x="8472" y="5316"/>
            <a:chExt cx="7712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025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线程中断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，能够通过interrupt()方法中断线程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什么是线程中断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6255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线程中断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就是线程在执行过程中，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通过手动操作来停止该线程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。例如当用户在执行一次操作时，因为网络问题导致延迟，则对应的线程对象就一直处于运行状态。如果用户希望结束这个操作，即终止该线程，就要使用线程中断机制了。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6860" y="2530475"/>
            <a:ext cx="9095740" cy="22015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25304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42456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线程中断的两个方法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2301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public void interrupt()：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表示中断当前线程对象。每个线程对象都是通过一个标志位来判断当前是否为中断状态。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public boolean isInterrupted()：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表示用来获取当前线程对象的标志位的。该方法有true和false两个返回值，true表示清除了标志位，当前线程对象已经中断；false表示没有清除标志位，当前对象没有中断。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1640" y="246062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当一个线程对象处于不同的状态时，中断机制也是不同的。下面通过案例来演示不同生命周期状态下的线程中断，首先演示线程新建状态（实例化线程对象，但并未启动线程）下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中断线程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，然后演示线程运行状态（实例化线程对象，并启动该线程）下中断线程。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447424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线程新建状态下中断线程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85" y="2209800"/>
            <a:ext cx="6655435" cy="28314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39415" y="2497455"/>
            <a:ext cx="5997575" cy="2256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Example13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 thread=new Thread();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interrupt()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//向控制台打印当前线程是否中断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System.out.println(thread.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isInterrupted()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38980" y="1139190"/>
            <a:ext cx="6930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下面通过案例来演示线程新建状态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30" y="2384108"/>
            <a:ext cx="5283339" cy="14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294765" y="4584700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在图中可以看到控制台打印了false，表示当前线程并未中断。因为当前线程状态是未启动状态，不可能中断，不需要清除标志位，所以isInterrupted()的返回值为false。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线程运行状态下中断线程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85" y="1994535"/>
            <a:ext cx="7018020" cy="46202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793365" y="1994535"/>
            <a:ext cx="6651625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Example14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 = new Thread(new Runnable(){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for (int i=0;i&lt;10;i++){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if (i==5){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Thread.currentThread().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interrupt()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//向控制台打印线程是否中断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System.out.println("thread线程是否已中断----"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		+Thread.currentThread().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isInterrupted()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}); 			// 创建MyThread的实例对象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thread.start();		//启动thread对象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38980" y="923925"/>
            <a:ext cx="6930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下面通过案例演示线程运行状态下中断线程，在循环输出语句中，当i=5时中断线程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4765" y="4584700"/>
            <a:ext cx="73050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在图中可以看到控制台打印了true，表示thread线程已中断。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965" y="2474278"/>
            <a:ext cx="4622922" cy="126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520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线程同步</a:t>
            </a:r>
            <a:endParaRPr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37615" y="2809240"/>
            <a:ext cx="212407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513070" cy="1043940"/>
            <a:chOff x="8472" y="5316"/>
            <a:chExt cx="8682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95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线程安全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，能够说出产生线程安全的原因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18821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37566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案例说明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4765" y="2691765"/>
            <a:ext cx="9600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售票厅有四个窗口可发售某日某次列车的100张车票，这时100张车票可以看做共享资源，在程序中只能创建一个售票对象，然后开启多个线程去运行同一个售票对象的售票方法，简单来说就是四个线程运行同一个售票程序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18821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37566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4765" y="2460625"/>
            <a:ext cx="96005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上述售票案例中，极有可能碰到“意外”情况，例如一张票被打印多次，或者打印出的票号为0甚至负数。这些“意外”都是由多线程操作共享资源ticket所导致的线程安全问题。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模拟上述所说的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“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意外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”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情况。假设四个窗口同时出售10张票，并在售票的代码中使用sleep()方法，令每次售票时线程休眠300毫秒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010" y="2510155"/>
            <a:ext cx="8054340" cy="38112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12645" y="2510155"/>
            <a:ext cx="7965440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SaleThread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private int tickets = 10; 	// tickets表示总票数：10张票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Thread.sleep(300); //线程休眠300毫秒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System.out.println(Thread.currentThread().getName() + "---卖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+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"出的票"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tickets--);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11860"/>
            <a:ext cx="10235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定义SaleThread类并实现Runnable接口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定义私有int类型变量tickets，表示总票数，初始值为10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重写run()方法，在run()方法中使用while循环售票；调用sleep()方法使线程休眠300毫秒，用于模拟售票过程中线程的延迟；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0" y="2174875"/>
            <a:ext cx="8862695" cy="29616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12645" y="2257425"/>
            <a:ext cx="7965440" cy="279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Example15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SaleThread saleThread = new SaleThread(); // 创建SaleThread对象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// 创建并开启四个线程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"线程一").start();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"线程二").start();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"线程三").start();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"线程四").start();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2090" y="970915"/>
            <a:ext cx="9225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，创建并开启四个线程，用于模拟四个售票窗口。具体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530" y="2007870"/>
            <a:ext cx="3454900" cy="284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097405"/>
            <a:ext cx="940562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从上图可以看出，最后打印售出的票出现了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0和负数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种现象是不应该出现的，原因是在售票程序的while循环中调用了sleep()方法，出现了线程延迟。假设当票号减为1时，线程1获取了CPU执行权，出售1号票，对票号进行判断后，进入while循环，在售票之前调用sleep()方法进入休眠；线程1休眠之后，线程2获取了CPU执行权，会进行售票，由于此时票号仍为1，所以线程2也会进入循环。同理，线程3和线程4也会进入while循环。休眠结束后，四个线程都会继续售票，这样就相当于将票号减了四次，因此结果会出现0和负数这样的票号。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47665" cy="1043940"/>
            <a:chOff x="8472" y="5316"/>
            <a:chExt cx="8579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892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同步代码块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，能够使用synchronized创建同步代码块解决线程安全问题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199898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线程安全问题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实就是由多个线程同时处理共享资源所导致的。要想解决线程安全问题，必须保证在任何时刻只能有一个线程访问共享资源。为了实现多个线程处理同一个资源，在Java中提供了同步机制。当多个线程使用同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共享资源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时，可以将处理共享资源的代码放在一个使用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synchronized关键字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修饰的代码块中，这个代码块被称作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同步代码块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6860" y="1864995"/>
            <a:ext cx="9095740" cy="31299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18649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450850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3274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同步代码块的语法格式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992630"/>
            <a:ext cx="6930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synchronized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关键字创建同步代码块的语法格式如下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2030" y="2780665"/>
            <a:ext cx="5106035" cy="1122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synchronized(lock){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操作共享资源代码块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4270" y="4041775"/>
            <a:ext cx="101066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在上面的代码中，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lock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锁对象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是同步代码块的关键，相当于为同步代码加锁。当某一个线程执行同步代码块时，其他线程将无法执行，进入阻塞状态。当前线程执行完后，再与其他线程重新抢夺CPU的执行权，抢到CPU执行权的线程将进入同步代码块，执行其中的代码。以此循环往复，直到共享资源被处理完为止。这个过程就好比一个公用电话亭，只有前一个人打完电话出来后，后面的人才可以打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465963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447424"/>
            <a:ext cx="4070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案例演示synchronized同步代码块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11325" y="2922270"/>
            <a:ext cx="8767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12.5.1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中的售票案例进行修改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，将用于售票的代码放在synchronized同步代码块中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。使用同步代码块解决线程安全的问题。具体如下。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960" y="2161540"/>
            <a:ext cx="9248775" cy="4308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57960" y="2160905"/>
            <a:ext cx="9276715" cy="4309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Ticket1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tickets = 10; // 定义变量tickets，并赋值10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 lock = new Object(); // 定义任意一个对象，用作同步代码块的锁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synchronized (lock) {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定义同步代码块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Thread.sleep(300); // 经过的线程休眠300毫秒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if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"---卖出的票" + tickets--);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 else { // 如果 tickets小于0，跳出循环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break;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} }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10246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修改上节中的案例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将有关tickets变量的操作全部都放到同步代码块中。为了保证线程持续执行，将同步代码块放在死循环中，直到ticket&lt;0时跳出循环。代码如下：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0" y="2174875"/>
            <a:ext cx="8862695" cy="29781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10535" y="2265045"/>
            <a:ext cx="6169025" cy="279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Example16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Ticket1 ticket = new Ticket1(); // 创建Ticket1对象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创建并开启四个线程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"线程一").start();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"线程二").start();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"线程三").start();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"线程四").start();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，创建并开启四个线程，用于模拟四个售票窗口。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323" y="2066608"/>
            <a:ext cx="3472862" cy="23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从图可以看出，售出的票不再出现0和负数的情况，这是因为售票的代码实现了同步，之前出现的线程安全问题得以解决。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5306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使用同步代码块注意事项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2301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同步代码块中的锁对象可以是任意类型的对象，但多个线程共享的锁对象必须是相同的一个。“任意”说的是共享锁对象的类型。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锁对象的创建代码不能放到run()方法中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，否则每个线程运行到run()方法都会创建一个新对象，这样每个线程都会有一个不同的锁，每个锁都有自己的标志位，这样线程之间便不能产生同步的效果。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同步方法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，能够使用synchronized定义同步方法解决线程安全问题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70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同步方法的语法格式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992630"/>
            <a:ext cx="97751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除了修饰代码块，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sychronized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关键字同样可以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修饰方法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，被synchronized关键字修饰的方法为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。同步方法和同步代码块一样，同一时刻，只允许一个线程调用同步方法。synchronized关键字修饰方法的具体语法格式如下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93695" y="3752215"/>
            <a:ext cx="6402705" cy="1122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synchronized 返回值类型 方法名([参数1,...]){ 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43249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375669"/>
            <a:ext cx="3816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案例演示synchronized同步方法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07770" y="2922270"/>
            <a:ext cx="97751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中的售票案例进行修改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，在Ticket1类中定义一个同步方法saleTicket()，用于实现售票功能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。使用同步方法解决线程安全的问题。具体如下。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0" y="2174875"/>
            <a:ext cx="8862695" cy="31489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246630" y="2215515"/>
            <a:ext cx="7670165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synchronized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saleTicket()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Thread.sleep(300); // 经过的线程休眠300毫秒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"---卖出的票"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tickets--);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将售票代码抽取为售票方法saleTicket()，并用synchronized关键字修饰saleTicket()方法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9880" y="2533650"/>
            <a:ext cx="6602730" cy="37433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409950" y="2600960"/>
            <a:ext cx="5482590" cy="360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方法，参考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12.5.2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定义Ticket1类实现Runnable接口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Ticket1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private int tickets = 10;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saleTicket(); // 调用售票方法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if (tickets &lt;=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break;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3000" y="923925"/>
            <a:ext cx="98774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定义Ticket1类实现Runnable接口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，在重写的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循环中调用抽取的售票方法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saleTicket()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。省略定义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方法的步骤，参考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即可。具体代码如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  <a:endParaRPr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从图可以看出，同样没有出现0号和负数号的票，说明同步方法实现了和同步代码块一样的效果。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05" y="2102168"/>
            <a:ext cx="3346740" cy="226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4960" y="2563495"/>
            <a:ext cx="91725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读者可能会有这样的疑问：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同步代码块的锁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自己定义的任意类型的对象，那么同步方法是否也存在锁？如果有，它的锁是什么呢？答案是肯定的，同步方法也有锁，它的锁就是当前调用该方法的对象，也就是this指向的对象。这样做的好处是，同步方法被所有线程所共享，方法所属的对象相对于所有线程来说是唯一的，从而保证了锁的唯一性。当一个线程执行同步方法时，其他的线程就不能进入该方法中，直到这个线程执行完同步方法为止，从而达到线程同步的效果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9395" y="2700020"/>
            <a:ext cx="917257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时候需要同步的方法是静态方法，静态方法不需要创建对象就可以直接用“类名.方法名()”的方式调用。这时候读者就会有一个疑问，如果不创建对象，静态同步方法的锁就不会是this，那么静态同步方法的锁是什么？Java中静态方法的锁是该方法所在类的class对象，class对象在装载该类时自动创建，该对象可以直接用类名.class的方式获取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8760" y="2930525"/>
            <a:ext cx="91725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代码块和同步方法解决多线程问题有好处也有弊端。同步解决了多个线程同时访问共享数据时的线程安全问题，只要加上同一个锁，在同一时间内只能有一个线程执行。但是线程在执行同步代码时每次都会判断锁的状态，非常消耗资源，效率较低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死锁问题，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能够说出产生死锁的原因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0631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什么是死锁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914525"/>
            <a:ext cx="96812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有这样一个场景：一个中国人和一个美国人在一起吃饭，美国人拿了中国人的筷子，中国人拿了美国人的刀叉，两个人开始争执不休：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中国人：“你先给我筷子，我再给你刀叉！”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美国人：“你先给我刀叉，我再给你筷子！”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……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结果可想而知，两个人都吃不到饭。这个例子中的中国人和美国人相当于不同的线程，筷子和刀叉就相当于锁。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两个线程在运行时都在等待对方的锁，这样便造成了程序的停滞，这种现象称为死锁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2787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37566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案例演示死锁问题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4070" y="3152775"/>
            <a:ext cx="8022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根据描述的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中国人和美国人吃饭的案例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模拟死锁问题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029585"/>
            <a:ext cx="9356090" cy="24187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62405" y="3329940"/>
            <a:ext cx="9265285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DeadLockThread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static Object chopsticks = new Object();    // 定义Object类型的chopsticks锁对象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static Object knifeAndFork = new Object();  // 定义Object类型的knifeAndFork锁对象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boolean flag;                           // 定义boolean类型的变量flag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DeadLockThread(boolean flag) { 	   // 定义有参的构造方法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this.flag = flag;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DeadLockThread类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接口，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创建Chinese和American两个线程，分别执行run()方法中if和else代码块中的同步代码块。if中设置Chinese线程中拥有chopsticks锁，只有当Chinese线程获得knifeAndFork锁后才能执行完毕；else中设置American线程拥有knifeAndFork锁，只有获得American线程获得chopsticks锁后才能执行完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1162050"/>
            <a:ext cx="9382760" cy="50539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31290" y="1162050"/>
            <a:ext cx="9327515" cy="505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(flag)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synchronized (chopsticks) {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chopsticks锁对象上的同步代码块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"---if---chopsticks");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synchronized (knifeAndFork) { // knifeAndFork锁对象上的同步代码块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System.out.println(Thread.currentThread().getName()+ "---if---knifeAndFork");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 else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synchronized (knifeAndFork) {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knifeAndFork锁对象上的同步代码块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"---else---knifeAndFork");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synchronized (chopsticks) { // chopsticks锁对象上的同步代码块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System.out.println(Thread.currentThread().getName()+ "---else---chopsticks");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 }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204085"/>
            <a:ext cx="9356090" cy="28721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0005" y="2353945"/>
            <a:ext cx="703072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Example18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创建两个DeadLockThread对象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DeadLockThread d1 = new DeadLockThread(true);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DeadLockThread d2 = new DeadLockThread(false);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创建并开启两个线程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Thread(d1, "Chinese").start();   // 创建开启线程Chinese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Thread(d2, "American").start(); // 创建开启线程American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方法，创建两个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DeadLockThread对象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创建并开启两个线程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从图可以看出，两个线程都需要对方所占用的锁，但是都无法释放自己所拥有的锁，于是这两个线程都处于挂起状态，从而造成了死锁。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645" y="2799715"/>
            <a:ext cx="5424857" cy="126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重入锁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，能够说出重入锁的特点，并通过ReentrantLock加锁和释放锁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206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重入锁的语法格式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920875"/>
            <a:ext cx="9990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重入锁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（ReentrantLock）的作用类似于synchronized关键字，synchronized是通过JVM实现的，而重入锁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通过JDK实现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。顾名思义，重入锁指可以给同一个资源添加多个锁，并且释放锁的方式与synchronized也不同。synchronized的锁是线程执行完毕之后会自动释放的，而ReentrantLock的锁必须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手动释放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。重入锁的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格式如下所示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93695" y="4088130"/>
            <a:ext cx="6402705" cy="1638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private ReentrantLock reentrantLock = new   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reentrantLock.lock();		//加锁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//需要锁的数据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reentrantLock.unlock();		//释放锁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25812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37566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案例演示重入锁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4070" y="3152775"/>
            <a:ext cx="8022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下面修改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中的案例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，使用重入锁模拟多个窗口售票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68525"/>
            <a:ext cx="9356090" cy="41636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319020"/>
            <a:ext cx="7976870" cy="3813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 void saleTicket()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//调用lock()方法为票数加锁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reentrantLock.lock();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Thread.sleep(300); // 经过的线程休眠300毫秒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"---卖出的票"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tickets--);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//调用lock()方法为票数释放锁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reentrantLock.unlock();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定义一个同步方法saleTicket()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，在saleTicket()方法中，调用lock()方法为票数加锁；调用lock()方法为票数释放锁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204085"/>
            <a:ext cx="9356090" cy="32188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0005" y="2279015"/>
            <a:ext cx="7030720" cy="306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ReentrantLockTest implements Runnable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tickets = 10;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ReentrantLock reentrantLock = new ReentrantLock();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saleTicket(); // 调用售票方法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if (tickets &lt;=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break;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定义ReentrantLockTest类实现Runnable接口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创建ReentrantLock类的对象reentrantLock；调用售票方法saleTicket()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2204085"/>
            <a:ext cx="9356090" cy="29711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99360" y="2279650"/>
            <a:ext cx="721868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Example19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创建ReentrantLockTest对象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ReentrantLockTest reentrantLockTest = new ReentrantLockTest();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创建并开启四个线程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Thread(reentrantLockTest,"线程一").start();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Thread(reentrantLockTest,"线程二").start();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Thread(reentrantLockTest,"线程三").start();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Thread(reentrantLockTest,"线程四").start();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ReentrantLockTest对象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创建并开启四个线程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模拟多个窗口售票。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  <a:endParaRPr 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4765" y="4849495"/>
            <a:ext cx="9600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从图可以看出，运行结果与使用synchronized的结果是一致的。如果读者需要在此基础上添加多把锁，只需要调用lock()方法即可。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注意：使用重入锁是加了几把锁就必须释放几把锁，如果不释放会导致线程处于阻塞状态。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318" y="1868805"/>
            <a:ext cx="4061110" cy="27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245" y="2573020"/>
            <a:ext cx="979360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本章详细介绍了多线程的基础知识，首先介绍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两个概念；其次介绍了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线程创建的三种方式及各自优缺点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，之后介绍了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；接着讲解了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线程的生命周期与状态转换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；然后从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线程的优先级、休眠、插队、让步和中断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方面讲解了线程的相关方法；最后从多线性的线程安全、同步代码块、同步方法和如何解决死锁问题几方面介绍了多线程的同步。通过本章的学习，读者可以对Java多线程有一个初步的认识，熟练掌握好这些知识，对以后的编程开发大有脾益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98245" y="2061210"/>
            <a:ext cx="9794240" cy="38639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13853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5735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7617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ISPRING_RESOURCE_PATHS_HASH_PRESENTER" val="417f8e4a56fc57c2e92e6fdc581ab83ee55365e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31257</Words>
  <Application>WPS 演示</Application>
  <PresentationFormat>自定义</PresentationFormat>
  <Paragraphs>1453</Paragraphs>
  <Slides>149</Slides>
  <Notes>151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149</vt:i4>
      </vt:variant>
    </vt:vector>
  </HeadingPairs>
  <TitlesOfParts>
    <vt:vector size="170" baseType="lpstr">
      <vt:lpstr>Arial</vt:lpstr>
      <vt:lpstr>宋体</vt:lpstr>
      <vt:lpstr>Wingdings</vt:lpstr>
      <vt:lpstr>微软雅黑</vt:lpstr>
      <vt:lpstr>思源黑体 CN Medium</vt:lpstr>
      <vt:lpstr>黑体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字魂105号-简雅黑</vt:lpstr>
      <vt:lpstr>Arial Unicode MS</vt:lpstr>
      <vt:lpstr>Times New Roman</vt:lpstr>
      <vt:lpstr>思源黑体 CN Regular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itcast</cp:lastModifiedBy>
  <cp:revision>1088</cp:revision>
  <dcterms:created xsi:type="dcterms:W3CDTF">2020-09-03T07:01:00Z</dcterms:created>
  <dcterms:modified xsi:type="dcterms:W3CDTF">2022-01-14T06:22:16Z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