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84" r:id="rId17"/>
    <p:sldId id="285" r:id="rId18"/>
    <p:sldId id="270" r:id="rId19"/>
    <p:sldId id="271" r:id="rId20"/>
    <p:sldId id="272" r:id="rId21"/>
    <p:sldId id="273" r:id="rId22"/>
    <p:sldId id="274" r:id="rId23"/>
    <p:sldId id="281" r:id="rId24"/>
    <p:sldId id="282" r:id="rId25"/>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12" userDrawn="1">
          <p15:clr>
            <a:srgbClr val="A4A3A4"/>
          </p15:clr>
        </p15:guide>
        <p15:guide id="2" pos="387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50" d="100"/>
          <a:sy n="50" d="100"/>
        </p:scale>
        <p:origin x="-396" y="-1758"/>
      </p:cViewPr>
      <p:guideLst>
        <p:guide orient="horz" pos="2212"/>
        <p:guide pos="3878"/>
      </p:guideLst>
    </p:cSldViewPr>
  </p:slideViewPr>
  <p:notesTextViewPr>
    <p:cViewPr>
      <p:scale>
        <a:sx n="1" d="1"/>
        <a:sy n="1" d="1"/>
      </p:scale>
      <p:origin x="0" y="0"/>
    </p:cViewPr>
  </p:notesTextViewPr>
  <p:sorterViewPr>
    <p:cViewPr>
      <p:scale>
        <a:sx n="139" d="100"/>
        <a:sy n="139"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advTm="7675">
        <p:plus/>
      </p:transition>
    </mc:Choice>
    <mc:Fallback>
      <p:transition advTm="7675">
        <p:plu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advTm="7675">
        <p:plus/>
      </p:transition>
    </mc:Choice>
    <mc:Fallback>
      <p:transition advTm="7675">
        <p:plu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advTm="7675">
        <p:plus/>
      </p:transition>
    </mc:Choice>
    <mc:Fallback>
      <p:transition advTm="7675">
        <p:plu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advTm="7675">
        <p:plus/>
      </p:transition>
    </mc:Choice>
    <mc:Fallback>
      <p:transition advTm="7675">
        <p:plu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fld>
            <a:endParaRPr lang="zh-CN" altLang="en-US"/>
          </a:p>
        </p:txBody>
      </p:sp>
      <p:sp>
        <p:nvSpPr>
          <p:cNvPr id="11" name="矩形 10"/>
          <p:cNvSpPr/>
          <p:nvPr userDrawn="1"/>
        </p:nvSpPr>
        <p:spPr>
          <a:xfrm>
            <a:off x="8801478" y="6450175"/>
            <a:ext cx="775136" cy="246221"/>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smtClean="0">
                <a:ln>
                  <a:noFill/>
                </a:ln>
                <a:solidFill>
                  <a:prstClr val="white"/>
                </a:solidFill>
                <a:effectLst/>
                <a:uLnTx/>
                <a:uFillTx/>
              </a:rPr>
              <a:t>PPT</a:t>
            </a:r>
            <a:r>
              <a:rPr kumimoji="0" lang="zh-CN" altLang="en-US" sz="100" b="0" i="0" u="none" strike="noStrike" kern="0" cap="none" spc="0" normalizeH="0" baseline="0" noProof="0" dirty="0" smtClean="0">
                <a:ln>
                  <a:noFill/>
                </a:ln>
                <a:solidFill>
                  <a:prstClr val="white"/>
                </a:solidFill>
                <a:effectLst/>
                <a:uLnTx/>
                <a:uFillTx/>
              </a:rPr>
              <a:t>模板下载：</a:t>
            </a:r>
            <a:r>
              <a:rPr kumimoji="0" lang="en-US" altLang="zh-CN" sz="100" b="0" i="0" u="none" strike="noStrike" kern="0" cap="none" spc="0" normalizeH="0" baseline="0" noProof="0" dirty="0" smtClean="0">
                <a:ln>
                  <a:noFill/>
                </a:ln>
                <a:solidFill>
                  <a:prstClr val="white"/>
                </a:solidFill>
                <a:effectLst/>
                <a:uLnTx/>
                <a:uFillTx/>
              </a:rPr>
              <a:t>www.1ppt.com/moban/     </a:t>
            </a:r>
            <a:r>
              <a:rPr kumimoji="0" lang="zh-CN" altLang="en-US" sz="100" b="0" i="0" u="none" strike="noStrike" kern="0" cap="none" spc="0" normalizeH="0" baseline="0" noProof="0" dirty="0" smtClean="0">
                <a:ln>
                  <a:noFill/>
                </a:ln>
                <a:solidFill>
                  <a:prstClr val="white"/>
                </a:solidFill>
                <a:effectLst/>
                <a:uLnTx/>
                <a:uFillTx/>
              </a:rPr>
              <a:t>行业</a:t>
            </a:r>
            <a:r>
              <a:rPr kumimoji="0" lang="en-US" altLang="zh-CN" sz="100" b="0" i="0" u="none" strike="noStrike" kern="0" cap="none" spc="0" normalizeH="0" baseline="0" noProof="0" dirty="0" smtClean="0">
                <a:ln>
                  <a:noFill/>
                </a:ln>
                <a:solidFill>
                  <a:prstClr val="white"/>
                </a:solidFill>
                <a:effectLst/>
                <a:uLnTx/>
                <a:uFillTx/>
              </a:rPr>
              <a:t>PPT</a:t>
            </a:r>
            <a:r>
              <a:rPr kumimoji="0" lang="zh-CN" altLang="en-US" sz="100" b="0" i="0" u="none" strike="noStrike" kern="0" cap="none" spc="0" normalizeH="0" baseline="0" noProof="0" dirty="0" smtClean="0">
                <a:ln>
                  <a:noFill/>
                </a:ln>
                <a:solidFill>
                  <a:prstClr val="white"/>
                </a:solidFill>
                <a:effectLst/>
                <a:uLnTx/>
                <a:uFillTx/>
              </a:rPr>
              <a:t>模板：</a:t>
            </a:r>
            <a:r>
              <a:rPr kumimoji="0" lang="en-US" altLang="zh-CN" sz="100" b="0" i="0" u="none" strike="noStrike" kern="0" cap="none" spc="0" normalizeH="0" baseline="0" noProof="0" dirty="0" smtClean="0">
                <a:ln>
                  <a:noFill/>
                </a:ln>
                <a:solidFill>
                  <a:prstClr val="white"/>
                </a:solidFill>
                <a:effectLst/>
                <a:uLnTx/>
                <a:uFillTx/>
              </a:rPr>
              <a:t>www.1ppt.com/hangye/ </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smtClean="0">
                <a:ln>
                  <a:noFill/>
                </a:ln>
                <a:solidFill>
                  <a:prstClr val="white"/>
                </a:solidFill>
                <a:effectLst/>
                <a:uLnTx/>
                <a:uFillTx/>
              </a:rPr>
              <a:t>节日</a:t>
            </a:r>
            <a:r>
              <a:rPr kumimoji="0" lang="en-US" altLang="zh-CN" sz="100" b="0" i="0" u="none" strike="noStrike" kern="0" cap="none" spc="0" normalizeH="0" baseline="0" noProof="0" dirty="0" smtClean="0">
                <a:ln>
                  <a:noFill/>
                </a:ln>
                <a:solidFill>
                  <a:prstClr val="white"/>
                </a:solidFill>
                <a:effectLst/>
                <a:uLnTx/>
                <a:uFillTx/>
              </a:rPr>
              <a:t>PPT</a:t>
            </a:r>
            <a:r>
              <a:rPr kumimoji="0" lang="zh-CN" altLang="en-US" sz="100" b="0" i="0" u="none" strike="noStrike" kern="0" cap="none" spc="0" normalizeH="0" baseline="0" noProof="0" dirty="0" smtClean="0">
                <a:ln>
                  <a:noFill/>
                </a:ln>
                <a:solidFill>
                  <a:prstClr val="white"/>
                </a:solidFill>
                <a:effectLst/>
                <a:uLnTx/>
                <a:uFillTx/>
              </a:rPr>
              <a:t>模板：</a:t>
            </a:r>
            <a:r>
              <a:rPr kumimoji="0" lang="en-US" altLang="zh-CN" sz="100" b="0" i="0" u="none" strike="noStrike" kern="0" cap="none" spc="0" normalizeH="0" baseline="0" noProof="0" dirty="0" smtClean="0">
                <a:ln>
                  <a:noFill/>
                </a:ln>
                <a:solidFill>
                  <a:prstClr val="white"/>
                </a:solidFill>
                <a:effectLst/>
                <a:uLnTx/>
                <a:uFillTx/>
              </a:rPr>
              <a:t>www.1ppt.com/jieri/           PPT</a:t>
            </a:r>
            <a:r>
              <a:rPr kumimoji="0" lang="zh-CN" altLang="en-US" sz="100" b="0" i="0" u="none" strike="noStrike" kern="0" cap="none" spc="0" normalizeH="0" baseline="0" noProof="0" dirty="0" smtClean="0">
                <a:ln>
                  <a:noFill/>
                </a:ln>
                <a:solidFill>
                  <a:prstClr val="white"/>
                </a:solidFill>
                <a:effectLst/>
                <a:uLnTx/>
                <a:uFillTx/>
              </a:rPr>
              <a:t>素材下载：</a:t>
            </a:r>
            <a:r>
              <a:rPr kumimoji="0" lang="en-US" altLang="zh-CN" sz="100" b="0" i="0" u="none" strike="noStrike" kern="0" cap="none" spc="0" normalizeH="0" baseline="0" noProof="0" dirty="0" smtClean="0">
                <a:ln>
                  <a:noFill/>
                </a:ln>
                <a:solidFill>
                  <a:prstClr val="white"/>
                </a:solidFill>
                <a:effectLst/>
                <a:uLnTx/>
                <a:uFillTx/>
              </a:rPr>
              <a:t>www.1ppt.com/sucai/</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smtClean="0">
                <a:ln>
                  <a:noFill/>
                </a:ln>
                <a:solidFill>
                  <a:prstClr val="white"/>
                </a:solidFill>
                <a:effectLst/>
                <a:uLnTx/>
                <a:uFillTx/>
              </a:rPr>
              <a:t>PPT</a:t>
            </a:r>
            <a:r>
              <a:rPr kumimoji="0" lang="zh-CN" altLang="en-US" sz="100" b="0" i="0" u="none" strike="noStrike" kern="0" cap="none" spc="0" normalizeH="0" baseline="0" noProof="0" dirty="0" smtClean="0">
                <a:ln>
                  <a:noFill/>
                </a:ln>
                <a:solidFill>
                  <a:prstClr val="white"/>
                </a:solidFill>
                <a:effectLst/>
                <a:uLnTx/>
                <a:uFillTx/>
              </a:rPr>
              <a:t>背景图片：</a:t>
            </a:r>
            <a:r>
              <a:rPr kumimoji="0" lang="en-US" altLang="zh-CN" sz="100" b="0" i="0" u="none" strike="noStrike" kern="0" cap="none" spc="0" normalizeH="0" baseline="0" noProof="0" dirty="0" smtClean="0">
                <a:ln>
                  <a:noFill/>
                </a:ln>
                <a:solidFill>
                  <a:prstClr val="white"/>
                </a:solidFill>
                <a:effectLst/>
                <a:uLnTx/>
                <a:uFillTx/>
              </a:rPr>
              <a:t>www.1ppt.com/beijing/      PPT</a:t>
            </a:r>
            <a:r>
              <a:rPr kumimoji="0" lang="zh-CN" altLang="en-US" sz="100" b="0" i="0" u="none" strike="noStrike" kern="0" cap="none" spc="0" normalizeH="0" baseline="0" noProof="0" dirty="0" smtClean="0">
                <a:ln>
                  <a:noFill/>
                </a:ln>
                <a:solidFill>
                  <a:prstClr val="white"/>
                </a:solidFill>
                <a:effectLst/>
                <a:uLnTx/>
                <a:uFillTx/>
              </a:rPr>
              <a:t>图表下载：</a:t>
            </a:r>
            <a:r>
              <a:rPr kumimoji="0" lang="en-US" altLang="zh-CN" sz="100" b="0" i="0" u="none" strike="noStrike" kern="0" cap="none" spc="0" normalizeH="0" baseline="0" noProof="0" dirty="0" smtClean="0">
                <a:ln>
                  <a:noFill/>
                </a:ln>
                <a:solidFill>
                  <a:prstClr val="white"/>
                </a:solidFill>
                <a:effectLst/>
                <a:uLnTx/>
                <a:uFillTx/>
              </a:rPr>
              <a:t>www.1ppt.com/tubiao/      </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smtClean="0">
                <a:ln>
                  <a:noFill/>
                </a:ln>
                <a:solidFill>
                  <a:prstClr val="white"/>
                </a:solidFill>
                <a:effectLst/>
                <a:uLnTx/>
                <a:uFillTx/>
              </a:rPr>
              <a:t>优秀</a:t>
            </a:r>
            <a:r>
              <a:rPr kumimoji="0" lang="en-US" altLang="zh-CN" sz="100" b="0" i="0" u="none" strike="noStrike" kern="0" cap="none" spc="0" normalizeH="0" baseline="0" noProof="0" dirty="0" smtClean="0">
                <a:ln>
                  <a:noFill/>
                </a:ln>
                <a:solidFill>
                  <a:prstClr val="white"/>
                </a:solidFill>
                <a:effectLst/>
                <a:uLnTx/>
                <a:uFillTx/>
              </a:rPr>
              <a:t>PPT</a:t>
            </a:r>
            <a:r>
              <a:rPr kumimoji="0" lang="zh-CN" altLang="en-US" sz="100" b="0" i="0" u="none" strike="noStrike" kern="0" cap="none" spc="0" normalizeH="0" baseline="0" noProof="0" dirty="0" smtClean="0">
                <a:ln>
                  <a:noFill/>
                </a:ln>
                <a:solidFill>
                  <a:prstClr val="white"/>
                </a:solidFill>
                <a:effectLst/>
                <a:uLnTx/>
                <a:uFillTx/>
              </a:rPr>
              <a:t>下载：</a:t>
            </a:r>
            <a:r>
              <a:rPr kumimoji="0" lang="en-US" altLang="zh-CN" sz="100" b="0" i="0" u="none" strike="noStrike" kern="0" cap="none" spc="0" normalizeH="0" baseline="0" noProof="0" dirty="0" smtClean="0">
                <a:ln>
                  <a:noFill/>
                </a:ln>
                <a:solidFill>
                  <a:prstClr val="white"/>
                </a:solidFill>
                <a:effectLst/>
                <a:uLnTx/>
                <a:uFillTx/>
              </a:rPr>
              <a:t>www.1ppt.com/xiazai/        PPT</a:t>
            </a:r>
            <a:r>
              <a:rPr kumimoji="0" lang="zh-CN" altLang="en-US" sz="100" b="0" i="0" u="none" strike="noStrike" kern="0" cap="none" spc="0" normalizeH="0" baseline="0" noProof="0" dirty="0" smtClean="0">
                <a:ln>
                  <a:noFill/>
                </a:ln>
                <a:solidFill>
                  <a:prstClr val="white"/>
                </a:solidFill>
                <a:effectLst/>
                <a:uLnTx/>
                <a:uFillTx/>
              </a:rPr>
              <a:t>教程： </a:t>
            </a:r>
            <a:r>
              <a:rPr kumimoji="0" lang="en-US" altLang="zh-CN" sz="100" b="0" i="0" u="none" strike="noStrike" kern="0" cap="none" spc="0" normalizeH="0" baseline="0" noProof="0" dirty="0" smtClean="0">
                <a:ln>
                  <a:noFill/>
                </a:ln>
                <a:solidFill>
                  <a:prstClr val="white"/>
                </a:solidFill>
                <a:effectLst/>
                <a:uLnTx/>
                <a:uFillTx/>
              </a:rPr>
              <a:t>www.1ppt.com/powerpoint/      </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smtClean="0">
                <a:ln>
                  <a:noFill/>
                </a:ln>
                <a:solidFill>
                  <a:prstClr val="white"/>
                </a:solidFill>
                <a:effectLst/>
                <a:uLnTx/>
                <a:uFillTx/>
              </a:rPr>
              <a:t>Word</a:t>
            </a:r>
            <a:r>
              <a:rPr kumimoji="0" lang="zh-CN" altLang="en-US" sz="100" b="0" i="0" u="none" strike="noStrike" kern="0" cap="none" spc="0" normalizeH="0" baseline="0" noProof="0" dirty="0" smtClean="0">
                <a:ln>
                  <a:noFill/>
                </a:ln>
                <a:solidFill>
                  <a:prstClr val="white"/>
                </a:solidFill>
                <a:effectLst/>
                <a:uLnTx/>
                <a:uFillTx/>
              </a:rPr>
              <a:t>教程： </a:t>
            </a:r>
            <a:r>
              <a:rPr kumimoji="0" lang="en-US" altLang="zh-CN" sz="100" b="0" i="0" u="none" strike="noStrike" kern="0" cap="none" spc="0" normalizeH="0" baseline="0" noProof="0" dirty="0" smtClean="0">
                <a:ln>
                  <a:noFill/>
                </a:ln>
                <a:solidFill>
                  <a:prstClr val="white"/>
                </a:solidFill>
                <a:effectLst/>
                <a:uLnTx/>
                <a:uFillTx/>
              </a:rPr>
              <a:t>www.1ppt.com/word/              Excel</a:t>
            </a:r>
            <a:r>
              <a:rPr kumimoji="0" lang="zh-CN" altLang="en-US" sz="100" b="0" i="0" u="none" strike="noStrike" kern="0" cap="none" spc="0" normalizeH="0" baseline="0" noProof="0" dirty="0" smtClean="0">
                <a:ln>
                  <a:noFill/>
                </a:ln>
                <a:solidFill>
                  <a:prstClr val="white"/>
                </a:solidFill>
                <a:effectLst/>
                <a:uLnTx/>
                <a:uFillTx/>
              </a:rPr>
              <a:t>教程：</a:t>
            </a:r>
            <a:r>
              <a:rPr kumimoji="0" lang="en-US" altLang="zh-CN" sz="100" b="0" i="0" u="none" strike="noStrike" kern="0" cap="none" spc="0" normalizeH="0" baseline="0" noProof="0" dirty="0" smtClean="0">
                <a:ln>
                  <a:noFill/>
                </a:ln>
                <a:solidFill>
                  <a:prstClr val="white"/>
                </a:solidFill>
                <a:effectLst/>
                <a:uLnTx/>
                <a:uFillTx/>
              </a:rPr>
              <a:t>www.1ppt.com/excel/  </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smtClean="0">
                <a:ln>
                  <a:noFill/>
                </a:ln>
                <a:solidFill>
                  <a:prstClr val="white"/>
                </a:solidFill>
                <a:effectLst/>
                <a:uLnTx/>
                <a:uFillTx/>
              </a:rPr>
              <a:t>资料下载：</a:t>
            </a:r>
            <a:r>
              <a:rPr kumimoji="0" lang="en-US" altLang="zh-CN" sz="100" b="0" i="0" u="none" strike="noStrike" kern="0" cap="none" spc="0" normalizeH="0" baseline="0" noProof="0" dirty="0" smtClean="0">
                <a:ln>
                  <a:noFill/>
                </a:ln>
                <a:solidFill>
                  <a:prstClr val="white"/>
                </a:solidFill>
                <a:effectLst/>
                <a:uLnTx/>
                <a:uFillTx/>
              </a:rPr>
              <a:t>www.1ppt.com/ziliao/                PPT</a:t>
            </a:r>
            <a:r>
              <a:rPr kumimoji="0" lang="zh-CN" altLang="en-US" sz="100" b="0" i="0" u="none" strike="noStrike" kern="0" cap="none" spc="0" normalizeH="0" baseline="0" noProof="0" dirty="0" smtClean="0">
                <a:ln>
                  <a:noFill/>
                </a:ln>
                <a:solidFill>
                  <a:prstClr val="white"/>
                </a:solidFill>
                <a:effectLst/>
                <a:uLnTx/>
                <a:uFillTx/>
              </a:rPr>
              <a:t>课件下载：</a:t>
            </a:r>
            <a:r>
              <a:rPr kumimoji="0" lang="en-US" altLang="zh-CN" sz="100" b="0" i="0" u="none" strike="noStrike" kern="0" cap="none" spc="0" normalizeH="0" baseline="0" noProof="0" dirty="0" smtClean="0">
                <a:ln>
                  <a:noFill/>
                </a:ln>
                <a:solidFill>
                  <a:prstClr val="white"/>
                </a:solidFill>
                <a:effectLst/>
                <a:uLnTx/>
                <a:uFillTx/>
              </a:rPr>
              <a:t>www.1ppt.com/kejian/ </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smtClean="0">
                <a:ln>
                  <a:noFill/>
                </a:ln>
                <a:solidFill>
                  <a:prstClr val="white"/>
                </a:solidFill>
                <a:effectLst/>
                <a:uLnTx/>
                <a:uFillTx/>
              </a:rPr>
              <a:t>范文下载：</a:t>
            </a:r>
            <a:r>
              <a:rPr kumimoji="0" lang="en-US" altLang="zh-CN" sz="100" b="0" i="0" u="none" strike="noStrike" kern="0" cap="none" spc="0" normalizeH="0" baseline="0" noProof="0" dirty="0" smtClean="0">
                <a:ln>
                  <a:noFill/>
                </a:ln>
                <a:solidFill>
                  <a:prstClr val="white"/>
                </a:solidFill>
                <a:effectLst/>
                <a:uLnTx/>
                <a:uFillTx/>
              </a:rPr>
              <a:t>www.1ppt.com/fanwen/             </a:t>
            </a:r>
            <a:r>
              <a:rPr kumimoji="0" lang="zh-CN" altLang="en-US" sz="100" b="0" i="0" u="none" strike="noStrike" kern="0" cap="none" spc="0" normalizeH="0" baseline="0" noProof="0" dirty="0" smtClean="0">
                <a:ln>
                  <a:noFill/>
                </a:ln>
                <a:solidFill>
                  <a:prstClr val="white"/>
                </a:solidFill>
                <a:effectLst/>
                <a:uLnTx/>
                <a:uFillTx/>
              </a:rPr>
              <a:t>试卷下载：</a:t>
            </a:r>
            <a:r>
              <a:rPr kumimoji="0" lang="en-US" altLang="zh-CN" sz="100" b="0" i="0" u="none" strike="noStrike" kern="0" cap="none" spc="0" normalizeH="0" baseline="0" noProof="0" dirty="0" smtClean="0">
                <a:ln>
                  <a:noFill/>
                </a:ln>
                <a:solidFill>
                  <a:prstClr val="white"/>
                </a:solidFill>
                <a:effectLst/>
                <a:uLnTx/>
                <a:uFillTx/>
              </a:rPr>
              <a:t>www.1ppt.com/shiti/  </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smtClean="0">
                <a:ln>
                  <a:noFill/>
                </a:ln>
                <a:solidFill>
                  <a:prstClr val="white"/>
                </a:solidFill>
                <a:effectLst/>
                <a:uLnTx/>
                <a:uFillTx/>
              </a:rPr>
              <a:t>教案下载：</a:t>
            </a:r>
            <a:r>
              <a:rPr kumimoji="0" lang="en-US" altLang="zh-CN" sz="100" b="0" i="0" u="none" strike="noStrike" kern="0" cap="none" spc="0" normalizeH="0" baseline="0" noProof="0" dirty="0" smtClean="0">
                <a:ln>
                  <a:noFill/>
                </a:ln>
                <a:solidFill>
                  <a:prstClr val="white"/>
                </a:solidFill>
                <a:effectLst/>
                <a:uLnTx/>
                <a:uFillTx/>
              </a:rPr>
              <a:t>www.1ppt.com/jiaoan/        </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smtClean="0">
                <a:ln>
                  <a:noFill/>
                </a:ln>
                <a:solidFill>
                  <a:prstClr val="white"/>
                </a:solidFill>
                <a:effectLst/>
                <a:uLnTx/>
                <a:uFillTx/>
              </a:rPr>
              <a:t>字体下载：</a:t>
            </a:r>
            <a:r>
              <a:rPr kumimoji="0" lang="en-US" altLang="zh-CN" sz="100" b="0" i="0" u="none" strike="noStrike" kern="0" cap="none" spc="0" normalizeH="0" baseline="0" noProof="0" dirty="0" smtClean="0">
                <a:ln>
                  <a:noFill/>
                </a:ln>
                <a:solidFill>
                  <a:prstClr val="white"/>
                </a:solidFill>
                <a:effectLst/>
                <a:uLnTx/>
                <a:uFillTx/>
              </a:rPr>
              <a:t>www.1ppt.com/ziti/</a:t>
            </a:r>
            <a:endParaRPr kumimoji="0" lang="en-US" altLang="zh-CN" sz="100" b="0" i="0" u="none" strike="noStrike" kern="0" cap="none" spc="0" normalizeH="0" baseline="0" noProof="0" dirty="0" smtClean="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smtClean="0">
                <a:ln>
                  <a:noFill/>
                </a:ln>
                <a:solidFill>
                  <a:prstClr val="white"/>
                </a:solidFill>
                <a:effectLst/>
                <a:uLnTx/>
                <a:uFillTx/>
              </a:rPr>
              <a:t> </a:t>
            </a:r>
            <a:endParaRPr kumimoji="0" lang="zh-CN" altLang="en-US" sz="100" b="0" i="0" u="none" strike="noStrike" kern="0" cap="none" spc="0" normalizeH="0" baseline="0" noProof="0" dirty="0" smtClean="0">
              <a:ln>
                <a:noFill/>
              </a:ln>
              <a:solidFill>
                <a:prstClr val="white"/>
              </a:solidFill>
              <a:effectLst/>
              <a:uLnTx/>
              <a:uFillTx/>
            </a:endParaRPr>
          </a:p>
        </p:txBody>
      </p:sp>
    </p:spTree>
  </p:cSld>
  <p:clrMapOvr>
    <a:masterClrMapping/>
  </p:clrMapOvr>
  <mc:AlternateContent xmlns:mc="http://schemas.openxmlformats.org/markup-compatibility/2006">
    <mc:Choice xmlns:p14="http://schemas.microsoft.com/office/powerpoint/2010/main" Requires="p14">
      <p:transition p14:dur="500" advTm="7675">
        <p:plus/>
      </p:transition>
    </mc:Choice>
    <mc:Fallback>
      <p:transition advTm="7675">
        <p:plu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advTm="7675">
        <p:plus/>
      </p:transition>
    </mc:Choice>
    <mc:Fallback>
      <p:transition advTm="7675">
        <p:plu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advTm="7675">
        <p:plus/>
      </p:transition>
    </mc:Choice>
    <mc:Fallback>
      <p:transition advTm="7675">
        <p:plu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advTm="7675">
        <p:plus/>
      </p:transition>
    </mc:Choice>
    <mc:Fallback>
      <p:transition advTm="7675">
        <p:plu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advTm="7675">
        <p:plus/>
      </p:transition>
    </mc:Choice>
    <mc:Fallback>
      <p:transition advTm="7675">
        <p:plu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advTm="7675">
        <p:plus/>
      </p:transition>
    </mc:Choice>
    <mc:Fallback>
      <p:transition advTm="7675">
        <p:plus/>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image" Target="../media/image1.jpeg"/><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1" cstate="screen"/>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mc:AlternateContent xmlns:mc="http://schemas.openxmlformats.org/markup-compatibility/2006">
    <mc:Choice xmlns:p14="http://schemas.microsoft.com/office/powerpoint/2010/main" Requires="p14">
      <p:transition p14:dur="500" advTm="7675">
        <p:plus/>
      </p:transition>
    </mc:Choice>
    <mc:Fallback>
      <p:transition advTm="7675">
        <p:plus/>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1.xml"/><Relationship Id="rId2" Type="http://schemas.openxmlformats.org/officeDocument/2006/relationships/image" Target="../media/image3.emf"/><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1.xml"/><Relationship Id="rId2" Type="http://schemas.openxmlformats.org/officeDocument/2006/relationships/image" Target="../media/image4.emf"/><Relationship Id="rId1"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1.xml"/><Relationship Id="rId2" Type="http://schemas.openxmlformats.org/officeDocument/2006/relationships/image" Target="../media/image5.emf"/><Relationship Id="rId1" Type="http://schemas.openxmlformats.org/officeDocument/2006/relationships/oleObject" Target="../embeddings/oleObject3.bin"/></Relationships>
</file>

<file path=ppt/slides/_rels/slide8.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1.xml"/><Relationship Id="rId2" Type="http://schemas.openxmlformats.org/officeDocument/2006/relationships/image" Target="../media/image6.emf"/><Relationship Id="rId1" Type="http://schemas.openxmlformats.org/officeDocument/2006/relationships/oleObject" Target="../embeddings/oleObject4.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slide" Target="slide13.xml"/><Relationship Id="rId2" Type="http://schemas.openxmlformats.org/officeDocument/2006/relationships/slide" Target="slide12.xml"/><Relationship Id="rId1" Type="http://schemas.openxmlformats.org/officeDocument/2006/relationships/slide" Target="slide1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73e5f5811aab5673afcaa99032383457"/>
          <p:cNvPicPr>
            <a:picLocks noChangeAspect="1"/>
          </p:cNvPicPr>
          <p:nvPr/>
        </p:nvPicPr>
        <p:blipFill>
          <a:blip r:embed="rId1" cstate="screen"/>
          <a:stretch>
            <a:fillRect/>
          </a:stretch>
        </p:blipFill>
        <p:spPr>
          <a:xfrm>
            <a:off x="6105525" y="728345"/>
            <a:ext cx="5365750" cy="5401310"/>
          </a:xfrm>
          <a:prstGeom prst="rect">
            <a:avLst/>
          </a:prstGeom>
        </p:spPr>
      </p:pic>
      <p:sp>
        <p:nvSpPr>
          <p:cNvPr id="21" name="矩形 259"/>
          <p:cNvSpPr>
            <a:spLocks noChangeArrowheads="1"/>
          </p:cNvSpPr>
          <p:nvPr/>
        </p:nvSpPr>
        <p:spPr bwMode="auto">
          <a:xfrm>
            <a:off x="762000" y="2298065"/>
            <a:ext cx="4876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6694" tIns="43347" rIns="86694" bIns="43347">
            <a:spAutoFit/>
          </a:bodyPr>
          <a:lstStyle>
            <a:lvl1pPr>
              <a:spcBef>
                <a:spcPct val="20000"/>
              </a:spcBef>
              <a:buFont typeface="Arial" panose="020B0604020202020204" pitchFamily="34" charset="0"/>
              <a:buChar char="•"/>
              <a:defRPr sz="3200">
                <a:solidFill>
                  <a:schemeClr val="tx1"/>
                </a:solidFill>
                <a:latin typeface="微软雅黑" panose="020B0503020204020204" charset="-122"/>
                <a:ea typeface="微软雅黑" panose="020B050302020402020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charset="-122"/>
                <a:ea typeface="微软雅黑" panose="020B050302020402020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charset="-122"/>
                <a:ea typeface="微软雅黑" panose="020B050302020402020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9pPr>
          </a:lstStyle>
          <a:p>
            <a:pPr algn="dist">
              <a:buNone/>
            </a:pPr>
            <a:r>
              <a:rPr lang="zh-CN" altLang="en-US" sz="4000" b="1" cap="all" dirty="0">
                <a:solidFill>
                  <a:srgbClr val="0070C0"/>
                </a:solidFill>
                <a:effectLst>
                  <a:outerShdw blurRad="38100" dist="38100" dir="2700000" algn="tl">
                    <a:srgbClr val="000000">
                      <a:alpha val="43137"/>
                    </a:srgbClr>
                  </a:outerShdw>
                </a:effectLst>
                <a:cs typeface="Arial" panose="020B0604020202020204" pitchFamily="34" charset="0"/>
              </a:rPr>
              <a:t>软件测试过程</a:t>
            </a:r>
            <a:endParaRPr lang="zh-CN" altLang="en-US" sz="4000" b="1" cap="all" dirty="0">
              <a:solidFill>
                <a:srgbClr val="0070C0"/>
              </a:solidFill>
              <a:effectLst>
                <a:outerShdw blurRad="38100" dist="38100" dir="2700000" algn="tl">
                  <a:srgbClr val="000000">
                    <a:alpha val="43137"/>
                  </a:srgbClr>
                </a:outerShdw>
              </a:effectLst>
              <a:cs typeface="Arial" panose="020B0604020202020204" pitchFamily="34" charset="0"/>
            </a:endParaRPr>
          </a:p>
        </p:txBody>
      </p:sp>
      <p:cxnSp>
        <p:nvCxnSpPr>
          <p:cNvPr id="20" name="直接连接符 19"/>
          <p:cNvCxnSpPr/>
          <p:nvPr/>
        </p:nvCxnSpPr>
        <p:spPr>
          <a:xfrm flipV="1">
            <a:off x="824230" y="3303905"/>
            <a:ext cx="4752340" cy="381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19" name="Text Placeholder 12"/>
          <p:cNvSpPr txBox="1"/>
          <p:nvPr/>
        </p:nvSpPr>
        <p:spPr>
          <a:xfrm>
            <a:off x="866140" y="3308350"/>
            <a:ext cx="4721225" cy="1369695"/>
          </a:xfrm>
          <a:prstGeom prst="rect">
            <a:avLst/>
          </a:prstGeom>
        </p:spPr>
        <p:txBody>
          <a:bodyPr lIns="0" tIns="57794" rIns="0" bIns="57794" anchor="ctr">
            <a:noAutofit/>
          </a:bodyPr>
          <a:lstStyle>
            <a:lvl1pPr marL="0" indent="0" algn="ctr" defTabSz="914400" rtl="0" eaLnBrk="1" latinLnBrk="0" hangingPunct="1">
              <a:spcBef>
                <a:spcPct val="20000"/>
              </a:spcBef>
              <a:buFont typeface="Arial" panose="020B0604020202020204" pitchFamily="34" charset="0"/>
              <a:buNone/>
              <a:defRPr sz="800" b="0" kern="1200" baseline="0">
                <a:solidFill>
                  <a:schemeClr val="tx1"/>
                </a:solidFill>
                <a:latin typeface="Aller Light" panose="02000503000000020004" pitchFamily="2" charset="0"/>
                <a:ea typeface="Roboto" pitchFamily="2" charset="0"/>
                <a:cs typeface="+mn-cs"/>
              </a:defRPr>
            </a:lvl1pPr>
            <a:lvl2pPr marL="342900" indent="0" algn="l" defTabSz="914400" rtl="0" eaLnBrk="1" latinLnBrk="0" hangingPunct="1">
              <a:spcBef>
                <a:spcPct val="20000"/>
              </a:spcBef>
              <a:buFont typeface="Arial" panose="020B0604020202020204" pitchFamily="34" charset="0"/>
              <a:buNone/>
              <a:defRPr sz="2800" kern="1200">
                <a:solidFill>
                  <a:schemeClr val="tx1"/>
                </a:solidFill>
                <a:latin typeface="+mn-lt"/>
                <a:ea typeface="+mn-ea"/>
                <a:cs typeface="+mn-cs"/>
              </a:defRPr>
            </a:lvl2pPr>
            <a:lvl3pPr marL="685800" indent="0" algn="l" defTabSz="914400" rtl="0" eaLnBrk="1" latinLnBrk="0" hangingPunct="1">
              <a:spcBef>
                <a:spcPct val="20000"/>
              </a:spcBef>
              <a:buFont typeface="Arial" panose="020B0604020202020204" pitchFamily="34" charset="0"/>
              <a:buNone/>
              <a:defRPr sz="2400" kern="1200">
                <a:solidFill>
                  <a:schemeClr val="tx1"/>
                </a:solidFill>
                <a:latin typeface="+mn-lt"/>
                <a:ea typeface="+mn-ea"/>
                <a:cs typeface="+mn-cs"/>
              </a:defRPr>
            </a:lvl3pPr>
            <a:lvl4pPr marL="10287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4pPr>
            <a:lvl5pPr marL="1371600" indent="0" algn="l"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l"/>
            <a:r>
              <a:rPr sz="1600" dirty="0">
                <a:solidFill>
                  <a:schemeClr val="tx1">
                    <a:lumMod val="75000"/>
                    <a:lumOff val="25000"/>
                  </a:schemeClr>
                </a:solidFill>
                <a:latin typeface="+mn-ea"/>
                <a:ea typeface="+mn-ea"/>
                <a:cs typeface="+mn-ea"/>
              </a:rPr>
              <a:t>目标就是让大家了解软件测试过程，以及过程中出现的各项活动安排和任务。</a:t>
            </a:r>
            <a:endParaRPr sz="1600" dirty="0">
              <a:solidFill>
                <a:schemeClr val="tx1">
                  <a:lumMod val="75000"/>
                  <a:lumOff val="25000"/>
                </a:schemeClr>
              </a:solidFill>
              <a:latin typeface="+mn-ea"/>
              <a:ea typeface="+mn-ea"/>
              <a:cs typeface="+mn-ea"/>
            </a:endParaRPr>
          </a:p>
        </p:txBody>
      </p:sp>
      <p:grpSp>
        <p:nvGrpSpPr>
          <p:cNvPr id="119" name="组合 118"/>
          <p:cNvGrpSpPr/>
          <p:nvPr/>
        </p:nvGrpSpPr>
        <p:grpSpPr>
          <a:xfrm>
            <a:off x="5526267" y="3241095"/>
            <a:ext cx="458374" cy="413329"/>
            <a:chOff x="6068610" y="2138335"/>
            <a:chExt cx="428348" cy="386204"/>
          </a:xfrm>
        </p:grpSpPr>
        <p:sp>
          <p:nvSpPr>
            <p:cNvPr id="120" name="Freeform 5"/>
            <p:cNvSpPr/>
            <p:nvPr/>
          </p:nvSpPr>
          <p:spPr bwMode="auto">
            <a:xfrm>
              <a:off x="6068610" y="2138335"/>
              <a:ext cx="428348" cy="386204"/>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chemeClr val="tx1">
                <a:lumMod val="50000"/>
                <a:lumOff val="50000"/>
              </a:schemeClr>
            </a:solidFill>
            <a:ln w="9525" cap="flat">
              <a:noFill/>
              <a:prstDash val="solid"/>
              <a:miter lim="800000"/>
            </a:ln>
          </p:spPr>
          <p:txBody>
            <a:bodyPr vert="horz" wrap="square" lIns="91440" tIns="45720" rIns="91440" bIns="45720" numCol="1" anchor="t" anchorCtr="0" compatLnSpc="1"/>
            <a:lstStyle/>
            <a:p>
              <a:endParaRPr lang="zh-CN" altLang="en-US" dirty="0">
                <a:ea typeface="微软雅黑" panose="020B0503020204020204" charset="-122"/>
              </a:endParaRPr>
            </a:p>
          </p:txBody>
        </p:sp>
        <p:sp>
          <p:nvSpPr>
            <p:cNvPr id="121" name="KSO_Shape"/>
            <p:cNvSpPr/>
            <p:nvPr/>
          </p:nvSpPr>
          <p:spPr bwMode="auto">
            <a:xfrm>
              <a:off x="6173883" y="2215236"/>
              <a:ext cx="232088" cy="197274"/>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a:solidFill>
              <a:schemeClr val="bg1"/>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dirty="0">
                <a:solidFill>
                  <a:srgbClr val="FFFFFF"/>
                </a:solidFill>
                <a:ea typeface="微软雅黑" panose="020B0503020204020204" charset="-122"/>
              </a:endParaRPr>
            </a:p>
          </p:txBody>
        </p:sp>
      </p:grpSp>
    </p:spTree>
  </p:cSld>
  <p:clrMapOvr>
    <a:masterClrMapping/>
  </p:clrMapOvr>
  <p:transition advTm="7675">
    <p:plu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arn(inVertical)">
                                      <p:cBhvr>
                                        <p:cTn id="7" dur="500"/>
                                        <p:tgtEl>
                                          <p:spTgt spid="20"/>
                                        </p:tgtEl>
                                      </p:cBhvr>
                                    </p:animEffect>
                                  </p:childTnLst>
                                </p:cTn>
                              </p:par>
                              <p:par>
                                <p:cTn id="8" presetID="2" presetClass="entr" presetSubtype="2" fill="hold" nodeType="withEffect">
                                  <p:stCondLst>
                                    <p:cond delay="200"/>
                                  </p:stCondLst>
                                  <p:childTnLst>
                                    <p:set>
                                      <p:cBhvr>
                                        <p:cTn id="9" dur="1" fill="hold">
                                          <p:stCondLst>
                                            <p:cond delay="0"/>
                                          </p:stCondLst>
                                        </p:cTn>
                                        <p:tgtEl>
                                          <p:spTgt spid="119"/>
                                        </p:tgtEl>
                                        <p:attrNameLst>
                                          <p:attrName>style.visibility</p:attrName>
                                        </p:attrNameLst>
                                      </p:cBhvr>
                                      <p:to>
                                        <p:strVal val="visible"/>
                                      </p:to>
                                    </p:set>
                                    <p:anim calcmode="lin" valueType="num">
                                      <p:cBhvr additive="base">
                                        <p:cTn id="10" dur="500" fill="hold"/>
                                        <p:tgtEl>
                                          <p:spTgt spid="119"/>
                                        </p:tgtEl>
                                        <p:attrNameLst>
                                          <p:attrName>ppt_x</p:attrName>
                                        </p:attrNameLst>
                                      </p:cBhvr>
                                      <p:tavLst>
                                        <p:tav tm="0">
                                          <p:val>
                                            <p:strVal val="1+#ppt_w/2"/>
                                          </p:val>
                                        </p:tav>
                                        <p:tav tm="100000">
                                          <p:val>
                                            <p:strVal val="#ppt_x"/>
                                          </p:val>
                                        </p:tav>
                                      </p:tavLst>
                                    </p:anim>
                                    <p:anim calcmode="lin" valueType="num">
                                      <p:cBhvr additive="base">
                                        <p:cTn id="11" dur="500" fill="hold"/>
                                        <p:tgtEl>
                                          <p:spTgt spid="119"/>
                                        </p:tgtEl>
                                        <p:attrNameLst>
                                          <p:attrName>ppt_y</p:attrName>
                                        </p:attrNameLst>
                                      </p:cBhvr>
                                      <p:tavLst>
                                        <p:tav tm="0">
                                          <p:val>
                                            <p:strVal val="#ppt_y"/>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wipe(down)">
                                      <p:cBhvr>
                                        <p:cTn id="16" dur="500"/>
                                        <p:tgtEl>
                                          <p:spTgt spid="21"/>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blinds(horizontal)">
                                      <p:cBhvr>
                                        <p:cTn id="21" dur="500"/>
                                        <p:tgtEl>
                                          <p:spTgt spid="19"/>
                                        </p:tgtEl>
                                      </p:cBhvr>
                                    </p:animEffect>
                                  </p:childTnLst>
                                </p:cTn>
                              </p:par>
                            </p:childTnLst>
                          </p:cTn>
                        </p:par>
                      </p:childTnLst>
                    </p:cTn>
                  </p:par>
                  <p:par>
                    <p:cTn id="22" fill="hold">
                      <p:stCondLst>
                        <p:cond delay="indefinite"/>
                      </p:stCondLst>
                      <p:childTnLst>
                        <p:par>
                          <p:cTn id="23" fill="hold">
                            <p:stCondLst>
                              <p:cond delay="0"/>
                            </p:stCondLst>
                            <p:childTnLst>
                              <p:par>
                                <p:cTn id="24" presetID="17" presetClass="entr" presetSubtype="10"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 calcmode="lin" valueType="num">
                                      <p:cBhvr>
                                        <p:cTn id="26" dur="500" fill="hold"/>
                                        <p:tgtEl>
                                          <p:spTgt spid="2"/>
                                        </p:tgtEl>
                                        <p:attrNameLst>
                                          <p:attrName>ppt_w</p:attrName>
                                        </p:attrNameLst>
                                      </p:cBhvr>
                                      <p:tavLst>
                                        <p:tav tm="0">
                                          <p:val>
                                            <p:fltVal val="0"/>
                                          </p:val>
                                        </p:tav>
                                        <p:tav tm="100000">
                                          <p:val>
                                            <p:strVal val="#ppt_w"/>
                                          </p:val>
                                        </p:tav>
                                      </p:tavLst>
                                    </p:anim>
                                    <p:anim calcmode="lin" valueType="num">
                                      <p:cBhvr>
                                        <p:cTn id="27" dur="500" fill="hold"/>
                                        <p:tgtEl>
                                          <p:spTgt spid="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1" grpId="1"/>
      <p:bldP spid="19" grpId="0"/>
      <p:bldP spid="19"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1071996" y="2766621"/>
            <a:ext cx="3008380" cy="662379"/>
          </a:xfrm>
          <a:prstGeom prst="rect">
            <a:avLst/>
          </a:prstGeom>
        </p:spPr>
        <p:txBody>
          <a:bodyPr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sz="4265" b="1" dirty="0">
                <a:solidFill>
                  <a:srgbClr val="0070C0"/>
                </a:solidFill>
                <a:latin typeface="微软雅黑" panose="020B0503020204020204" charset="-122"/>
                <a:ea typeface="微软雅黑" panose="020B0503020204020204" charset="-122"/>
              </a:rPr>
              <a:t>学习目标</a:t>
            </a:r>
            <a:endParaRPr lang="zh-CN" altLang="en-US" sz="4265" b="1" dirty="0">
              <a:solidFill>
                <a:srgbClr val="0070C0"/>
              </a:solidFill>
              <a:latin typeface="微软雅黑" panose="020B0503020204020204" charset="-122"/>
              <a:ea typeface="微软雅黑" panose="020B0503020204020204" charset="-122"/>
            </a:endParaRPr>
          </a:p>
          <a:p>
            <a:pPr marL="0" indent="0" algn="ctr">
              <a:buNone/>
            </a:pPr>
            <a:r>
              <a:rPr lang="en-US" altLang="zh-CN" sz="2400" b="1" dirty="0">
                <a:solidFill>
                  <a:schemeClr val="tx1">
                    <a:lumMod val="75000"/>
                    <a:lumOff val="25000"/>
                  </a:schemeClr>
                </a:solidFill>
                <a:latin typeface="微软雅黑" panose="020B0503020204020204" charset="-122"/>
                <a:ea typeface="微软雅黑" panose="020B0503020204020204" charset="-122"/>
              </a:rPr>
              <a:t>Contents</a:t>
            </a:r>
            <a:endParaRPr lang="en-US" altLang="zh-CN" sz="2400" b="1" dirty="0">
              <a:solidFill>
                <a:schemeClr val="tx1">
                  <a:lumMod val="75000"/>
                  <a:lumOff val="25000"/>
                </a:schemeClr>
              </a:solidFill>
              <a:latin typeface="微软雅黑" panose="020B0503020204020204" charset="-122"/>
              <a:ea typeface="微软雅黑" panose="020B0503020204020204" charset="-122"/>
            </a:endParaRPr>
          </a:p>
        </p:txBody>
      </p:sp>
      <p:grpSp>
        <p:nvGrpSpPr>
          <p:cNvPr id="45" name="组合 44"/>
          <p:cNvGrpSpPr/>
          <p:nvPr/>
        </p:nvGrpSpPr>
        <p:grpSpPr>
          <a:xfrm>
            <a:off x="4560431" y="1819685"/>
            <a:ext cx="1192345" cy="666115"/>
            <a:chOff x="2215144" y="927951"/>
            <a:chExt cx="1244730" cy="915925"/>
          </a:xfrm>
        </p:grpSpPr>
        <p:sp>
          <p:nvSpPr>
            <p:cNvPr id="46" name="平行四边形 45"/>
            <p:cNvSpPr/>
            <p:nvPr/>
          </p:nvSpPr>
          <p:spPr>
            <a:xfrm>
              <a:off x="2215144" y="982844"/>
              <a:ext cx="1120898" cy="842780"/>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Impact" panose="020B0806030902050204" pitchFamily="34" charset="0"/>
              </a:endParaRPr>
            </a:p>
          </p:txBody>
        </p:sp>
        <p:sp>
          <p:nvSpPr>
            <p:cNvPr id="47" name="文本框 9"/>
            <p:cNvSpPr txBox="1"/>
            <p:nvPr/>
          </p:nvSpPr>
          <p:spPr>
            <a:xfrm>
              <a:off x="2393075" y="927951"/>
              <a:ext cx="1066799" cy="915925"/>
            </a:xfrm>
            <a:prstGeom prst="rect">
              <a:avLst/>
            </a:prstGeom>
            <a:noFill/>
          </p:spPr>
          <p:txBody>
            <a:bodyPr wrap="square" rtlCol="0">
              <a:spAutoFit/>
            </a:bodyPr>
            <a:lstStyle/>
            <a:p>
              <a:r>
                <a:rPr lang="en-US" altLang="zh-CN" sz="3735" dirty="0">
                  <a:solidFill>
                    <a:schemeClr val="bg1"/>
                  </a:solidFill>
                  <a:latin typeface="Impact" panose="020B0806030902050204" pitchFamily="34" charset="0"/>
                </a:rPr>
                <a:t>01</a:t>
              </a:r>
              <a:endParaRPr lang="zh-CN" altLang="en-US" sz="3735" dirty="0">
                <a:solidFill>
                  <a:schemeClr val="bg1"/>
                </a:solidFill>
                <a:latin typeface="Impact" panose="020B0806030902050204" pitchFamily="34" charset="0"/>
              </a:endParaRPr>
            </a:p>
          </p:txBody>
        </p:sp>
      </p:grpSp>
      <p:grpSp>
        <p:nvGrpSpPr>
          <p:cNvPr id="48" name="组合 47"/>
          <p:cNvGrpSpPr/>
          <p:nvPr/>
        </p:nvGrpSpPr>
        <p:grpSpPr>
          <a:xfrm>
            <a:off x="4560431" y="2725837"/>
            <a:ext cx="1192345" cy="672217"/>
            <a:chOff x="2215144" y="1952311"/>
            <a:chExt cx="1244730" cy="924318"/>
          </a:xfrm>
        </p:grpSpPr>
        <p:sp>
          <p:nvSpPr>
            <p:cNvPr id="49" name="平行四边形 48"/>
            <p:cNvSpPr/>
            <p:nvPr/>
          </p:nvSpPr>
          <p:spPr>
            <a:xfrm>
              <a:off x="2215144" y="2033848"/>
              <a:ext cx="1120898" cy="842781"/>
            </a:xfrm>
            <a:prstGeom prst="parallelogram">
              <a:avLst>
                <a:gd name="adj" fmla="val 4820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Impact" panose="020B0806030902050204" pitchFamily="34" charset="0"/>
              </a:endParaRPr>
            </a:p>
          </p:txBody>
        </p:sp>
        <p:sp>
          <p:nvSpPr>
            <p:cNvPr id="50" name="文本框 10"/>
            <p:cNvSpPr txBox="1"/>
            <p:nvPr/>
          </p:nvSpPr>
          <p:spPr>
            <a:xfrm>
              <a:off x="2393075" y="1952311"/>
              <a:ext cx="1066799" cy="915927"/>
            </a:xfrm>
            <a:prstGeom prst="rect">
              <a:avLst/>
            </a:prstGeom>
            <a:noFill/>
          </p:spPr>
          <p:txBody>
            <a:bodyPr wrap="square" rtlCol="0">
              <a:spAutoFit/>
            </a:bodyPr>
            <a:lstStyle/>
            <a:p>
              <a:r>
                <a:rPr lang="en-US" altLang="zh-CN" sz="3735" dirty="0">
                  <a:solidFill>
                    <a:schemeClr val="bg1"/>
                  </a:solidFill>
                  <a:latin typeface="Impact" panose="020B0806030902050204" pitchFamily="34" charset="0"/>
                </a:rPr>
                <a:t>02</a:t>
              </a:r>
              <a:endParaRPr lang="zh-CN" altLang="en-US" sz="3735" dirty="0">
                <a:solidFill>
                  <a:schemeClr val="bg1"/>
                </a:solidFill>
                <a:latin typeface="Impact" panose="020B0806030902050204" pitchFamily="34" charset="0"/>
              </a:endParaRPr>
            </a:p>
          </p:txBody>
        </p:sp>
      </p:grpSp>
      <p:grpSp>
        <p:nvGrpSpPr>
          <p:cNvPr id="51" name="组合 50"/>
          <p:cNvGrpSpPr/>
          <p:nvPr/>
        </p:nvGrpSpPr>
        <p:grpSpPr>
          <a:xfrm>
            <a:off x="4560431" y="3661635"/>
            <a:ext cx="1192345" cy="666115"/>
            <a:chOff x="2215144" y="3018134"/>
            <a:chExt cx="1244730" cy="915925"/>
          </a:xfrm>
        </p:grpSpPr>
        <p:sp>
          <p:nvSpPr>
            <p:cNvPr id="52" name="平行四边形 51"/>
            <p:cNvSpPr/>
            <p:nvPr/>
          </p:nvSpPr>
          <p:spPr>
            <a:xfrm>
              <a:off x="2215144" y="3084852"/>
              <a:ext cx="1120898" cy="842781"/>
            </a:xfrm>
            <a:prstGeom prst="parallelogram">
              <a:avLst>
                <a:gd name="adj" fmla="val 4820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Impact" panose="020B0806030902050204" pitchFamily="34" charset="0"/>
              </a:endParaRPr>
            </a:p>
          </p:txBody>
        </p:sp>
        <p:sp>
          <p:nvSpPr>
            <p:cNvPr id="53" name="文本框 11"/>
            <p:cNvSpPr txBox="1"/>
            <p:nvPr/>
          </p:nvSpPr>
          <p:spPr>
            <a:xfrm>
              <a:off x="2393075" y="3018134"/>
              <a:ext cx="1066799" cy="915925"/>
            </a:xfrm>
            <a:prstGeom prst="rect">
              <a:avLst/>
            </a:prstGeom>
            <a:noFill/>
          </p:spPr>
          <p:txBody>
            <a:bodyPr wrap="square" rtlCol="0">
              <a:spAutoFit/>
            </a:bodyPr>
            <a:lstStyle/>
            <a:p>
              <a:r>
                <a:rPr lang="en-US" altLang="zh-CN" sz="3735" dirty="0">
                  <a:solidFill>
                    <a:schemeClr val="bg1"/>
                  </a:solidFill>
                  <a:latin typeface="Impact" panose="020B0806030902050204" pitchFamily="34" charset="0"/>
                </a:rPr>
                <a:t>03</a:t>
              </a:r>
              <a:endParaRPr lang="zh-CN" altLang="en-US" sz="3735" dirty="0">
                <a:solidFill>
                  <a:schemeClr val="bg1"/>
                </a:solidFill>
                <a:latin typeface="Impact" panose="020B0806030902050204" pitchFamily="34" charset="0"/>
              </a:endParaRPr>
            </a:p>
          </p:txBody>
        </p:sp>
      </p:grpSp>
      <p:grpSp>
        <p:nvGrpSpPr>
          <p:cNvPr id="54" name="组合 53"/>
          <p:cNvGrpSpPr/>
          <p:nvPr/>
        </p:nvGrpSpPr>
        <p:grpSpPr>
          <a:xfrm>
            <a:off x="4560431" y="4571621"/>
            <a:ext cx="1192345" cy="677512"/>
            <a:chOff x="2215144" y="4047039"/>
            <a:chExt cx="1244730" cy="931598"/>
          </a:xfrm>
        </p:grpSpPr>
        <p:sp>
          <p:nvSpPr>
            <p:cNvPr id="55" name="平行四边形 54"/>
            <p:cNvSpPr/>
            <p:nvPr/>
          </p:nvSpPr>
          <p:spPr>
            <a:xfrm>
              <a:off x="2215144" y="4135856"/>
              <a:ext cx="1120898" cy="842781"/>
            </a:xfrm>
            <a:prstGeom prst="parallelogram">
              <a:avLst>
                <a:gd name="adj" fmla="val 48207"/>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latin typeface="Impact" panose="020B0806030902050204" pitchFamily="34" charset="0"/>
              </a:endParaRPr>
            </a:p>
          </p:txBody>
        </p:sp>
        <p:sp>
          <p:nvSpPr>
            <p:cNvPr id="56" name="文本框 12"/>
            <p:cNvSpPr txBox="1"/>
            <p:nvPr/>
          </p:nvSpPr>
          <p:spPr>
            <a:xfrm>
              <a:off x="2393075" y="4047039"/>
              <a:ext cx="1066799" cy="915927"/>
            </a:xfrm>
            <a:prstGeom prst="rect">
              <a:avLst/>
            </a:prstGeom>
            <a:noFill/>
          </p:spPr>
          <p:txBody>
            <a:bodyPr wrap="square" rtlCol="0">
              <a:spAutoFit/>
            </a:bodyPr>
            <a:lstStyle/>
            <a:p>
              <a:r>
                <a:rPr lang="en-US" altLang="zh-CN" sz="3735" dirty="0">
                  <a:solidFill>
                    <a:schemeClr val="bg1"/>
                  </a:solidFill>
                  <a:latin typeface="Impact" panose="020B0806030902050204" pitchFamily="34" charset="0"/>
                </a:rPr>
                <a:t>04</a:t>
              </a:r>
              <a:endParaRPr lang="zh-CN" altLang="en-US" sz="3735" dirty="0">
                <a:solidFill>
                  <a:schemeClr val="bg1"/>
                </a:solidFill>
                <a:latin typeface="Impact" panose="020B0806030902050204" pitchFamily="34" charset="0"/>
              </a:endParaRPr>
            </a:p>
          </p:txBody>
        </p:sp>
      </p:grpSp>
      <p:grpSp>
        <p:nvGrpSpPr>
          <p:cNvPr id="60" name="组合 59"/>
          <p:cNvGrpSpPr/>
          <p:nvPr/>
        </p:nvGrpSpPr>
        <p:grpSpPr>
          <a:xfrm>
            <a:off x="5466102" y="1837433"/>
            <a:ext cx="5143000" cy="612920"/>
            <a:chOff x="4315150" y="953426"/>
            <a:chExt cx="3857250" cy="540057"/>
          </a:xfrm>
        </p:grpSpPr>
        <p:sp>
          <p:nvSpPr>
            <p:cNvPr id="61" name="矩形 60"/>
            <p:cNvSpPr/>
            <p:nvPr/>
          </p:nvSpPr>
          <p:spPr>
            <a:xfrm>
              <a:off x="4841196" y="1036090"/>
              <a:ext cx="2827147" cy="405646"/>
            </a:xfrm>
            <a:prstGeom prst="rect">
              <a:avLst/>
            </a:prstGeom>
            <a:ln w="15875">
              <a:noFill/>
            </a:ln>
          </p:spPr>
          <p:txBody>
            <a:bodyPr wrap="square" lIns="91440" tIns="45720" rIns="91440" bIns="45720">
              <a:spAutoFit/>
            </a:bodyPr>
            <a:lstStyle/>
            <a:p>
              <a:r>
                <a:rPr lang="zh-CN" altLang="en-US" sz="2400" b="1" dirty="0">
                  <a:solidFill>
                    <a:schemeClr val="tx1">
                      <a:lumMod val="75000"/>
                      <a:lumOff val="25000"/>
                    </a:schemeClr>
                  </a:solidFill>
                  <a:latin typeface="微软雅黑" panose="020B0503020204020204" charset="-122"/>
                  <a:ea typeface="微软雅黑" panose="020B0503020204020204" charset="-122"/>
                </a:rPr>
                <a:t>软件测试的流程</a:t>
              </a:r>
              <a:endParaRPr lang="zh-CN" altLang="en-US" sz="2400" b="1" dirty="0">
                <a:solidFill>
                  <a:schemeClr val="tx1">
                    <a:lumMod val="75000"/>
                    <a:lumOff val="25000"/>
                  </a:schemeClr>
                </a:solidFill>
                <a:latin typeface="微软雅黑" panose="020B0503020204020204" charset="-122"/>
                <a:ea typeface="微软雅黑" panose="020B0503020204020204" charset="-122"/>
              </a:endParaRPr>
            </a:p>
          </p:txBody>
        </p:sp>
        <p:sp>
          <p:nvSpPr>
            <p:cNvPr id="62" name="平行四边形 61"/>
            <p:cNvSpPr/>
            <p:nvPr/>
          </p:nvSpPr>
          <p:spPr>
            <a:xfrm>
              <a:off x="4315150" y="953426"/>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zh-CN" altLang="en-US" sz="2135" b="1">
                <a:solidFill>
                  <a:schemeClr val="tx1">
                    <a:lumMod val="75000"/>
                    <a:lumOff val="25000"/>
                  </a:schemeClr>
                </a:solidFill>
              </a:endParaRPr>
            </a:p>
          </p:txBody>
        </p:sp>
      </p:grpSp>
      <p:grpSp>
        <p:nvGrpSpPr>
          <p:cNvPr id="63" name="组合 62"/>
          <p:cNvGrpSpPr/>
          <p:nvPr/>
        </p:nvGrpSpPr>
        <p:grpSpPr>
          <a:xfrm>
            <a:off x="5466102" y="2762971"/>
            <a:ext cx="5143000" cy="612920"/>
            <a:chOff x="4315150" y="1647579"/>
            <a:chExt cx="3857250" cy="540057"/>
          </a:xfrm>
        </p:grpSpPr>
        <p:sp>
          <p:nvSpPr>
            <p:cNvPr id="64" name="矩形 63"/>
            <p:cNvSpPr/>
            <p:nvPr/>
          </p:nvSpPr>
          <p:spPr>
            <a:xfrm>
              <a:off x="4841196" y="1730243"/>
              <a:ext cx="2827147" cy="405646"/>
            </a:xfrm>
            <a:prstGeom prst="rect">
              <a:avLst/>
            </a:prstGeom>
            <a:ln w="15875">
              <a:noFill/>
            </a:ln>
          </p:spPr>
          <p:txBody>
            <a:bodyPr wrap="square" lIns="91440" tIns="45720" rIns="91440" bIns="45720">
              <a:spAutoFit/>
            </a:bodyPr>
            <a:lstStyle/>
            <a:p>
              <a:r>
                <a:rPr lang="zh-CN" altLang="en-US" sz="2400" b="1" dirty="0">
                  <a:solidFill>
                    <a:schemeClr val="tx1">
                      <a:lumMod val="75000"/>
                      <a:lumOff val="25000"/>
                    </a:schemeClr>
                  </a:solidFill>
                  <a:latin typeface="微软雅黑" panose="020B0503020204020204" charset="-122"/>
                  <a:ea typeface="微软雅黑" panose="020B0503020204020204" charset="-122"/>
                </a:rPr>
                <a:t>软件测试的各阶段任务</a:t>
              </a:r>
              <a:endParaRPr lang="zh-CN" altLang="en-US" sz="2400" b="1" dirty="0">
                <a:solidFill>
                  <a:schemeClr val="tx1">
                    <a:lumMod val="75000"/>
                    <a:lumOff val="25000"/>
                  </a:schemeClr>
                </a:solidFill>
                <a:latin typeface="微软雅黑" panose="020B0503020204020204" charset="-122"/>
                <a:ea typeface="微软雅黑" panose="020B0503020204020204" charset="-122"/>
              </a:endParaRPr>
            </a:p>
          </p:txBody>
        </p:sp>
        <p:sp>
          <p:nvSpPr>
            <p:cNvPr id="65" name="平行四边形 64"/>
            <p:cNvSpPr/>
            <p:nvPr/>
          </p:nvSpPr>
          <p:spPr>
            <a:xfrm>
              <a:off x="4315150" y="1647579"/>
              <a:ext cx="3857250" cy="540057"/>
            </a:xfrm>
            <a:prstGeom prst="parallelogram">
              <a:avLst>
                <a:gd name="adj" fmla="val 48207"/>
              </a:avLst>
            </a:pr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zh-CN" altLang="en-US" sz="2135" b="1">
                <a:solidFill>
                  <a:schemeClr val="tx1">
                    <a:lumMod val="75000"/>
                    <a:lumOff val="25000"/>
                  </a:schemeClr>
                </a:solidFill>
              </a:endParaRPr>
            </a:p>
          </p:txBody>
        </p:sp>
      </p:grpSp>
      <p:grpSp>
        <p:nvGrpSpPr>
          <p:cNvPr id="66" name="组合 65"/>
          <p:cNvGrpSpPr/>
          <p:nvPr/>
        </p:nvGrpSpPr>
        <p:grpSpPr>
          <a:xfrm>
            <a:off x="5466102" y="3688507"/>
            <a:ext cx="5143000" cy="612920"/>
            <a:chOff x="4315150" y="2341731"/>
            <a:chExt cx="3857250" cy="540057"/>
          </a:xfrm>
        </p:grpSpPr>
        <p:sp>
          <p:nvSpPr>
            <p:cNvPr id="67" name="矩形 66"/>
            <p:cNvSpPr/>
            <p:nvPr/>
          </p:nvSpPr>
          <p:spPr>
            <a:xfrm>
              <a:off x="4841197" y="2424395"/>
              <a:ext cx="2827146" cy="405646"/>
            </a:xfrm>
            <a:prstGeom prst="rect">
              <a:avLst/>
            </a:prstGeom>
            <a:ln w="15875">
              <a:noFill/>
            </a:ln>
          </p:spPr>
          <p:txBody>
            <a:bodyPr wrap="square" lIns="91440" tIns="45720" rIns="91440" bIns="45720">
              <a:spAutoFit/>
            </a:bodyPr>
            <a:lstStyle/>
            <a:p>
              <a:r>
                <a:rPr lang="zh-CN" altLang="en-US" sz="2400" b="1" dirty="0">
                  <a:solidFill>
                    <a:schemeClr val="tx1">
                      <a:lumMod val="75000"/>
                      <a:lumOff val="25000"/>
                    </a:schemeClr>
                  </a:solidFill>
                  <a:latin typeface="微软雅黑" panose="020B0503020204020204" charset="-122"/>
                  <a:ea typeface="微软雅黑" panose="020B0503020204020204" charset="-122"/>
                </a:rPr>
                <a:t>几种软件测试过程模型</a:t>
              </a:r>
              <a:endParaRPr lang="zh-CN" altLang="en-US" sz="2400" b="1" dirty="0">
                <a:solidFill>
                  <a:schemeClr val="tx1">
                    <a:lumMod val="75000"/>
                    <a:lumOff val="25000"/>
                  </a:schemeClr>
                </a:solidFill>
                <a:latin typeface="微软雅黑" panose="020B0503020204020204" charset="-122"/>
                <a:ea typeface="微软雅黑" panose="020B0503020204020204" charset="-122"/>
              </a:endParaRPr>
            </a:p>
          </p:txBody>
        </p:sp>
        <p:sp>
          <p:nvSpPr>
            <p:cNvPr id="68" name="平行四边形 67"/>
            <p:cNvSpPr/>
            <p:nvPr/>
          </p:nvSpPr>
          <p:spPr>
            <a:xfrm>
              <a:off x="4315150" y="2341731"/>
              <a:ext cx="3857250" cy="540057"/>
            </a:xfrm>
            <a:prstGeom prst="parallelogram">
              <a:avLst>
                <a:gd name="adj" fmla="val 48207"/>
              </a:avLst>
            </a:prstGeom>
            <a:noFill/>
            <a:ln w="158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zh-CN" altLang="en-US" sz="2135" b="1">
                <a:solidFill>
                  <a:schemeClr val="tx1">
                    <a:lumMod val="75000"/>
                    <a:lumOff val="25000"/>
                  </a:schemeClr>
                </a:solidFill>
              </a:endParaRPr>
            </a:p>
          </p:txBody>
        </p:sp>
      </p:grpSp>
      <p:grpSp>
        <p:nvGrpSpPr>
          <p:cNvPr id="69" name="组合 68"/>
          <p:cNvGrpSpPr/>
          <p:nvPr/>
        </p:nvGrpSpPr>
        <p:grpSpPr>
          <a:xfrm>
            <a:off x="5466102" y="4614044"/>
            <a:ext cx="5143000" cy="612920"/>
            <a:chOff x="4315150" y="3035884"/>
            <a:chExt cx="3857250" cy="540057"/>
          </a:xfrm>
        </p:grpSpPr>
        <p:sp>
          <p:nvSpPr>
            <p:cNvPr id="70" name="矩形 69"/>
            <p:cNvSpPr/>
            <p:nvPr/>
          </p:nvSpPr>
          <p:spPr>
            <a:xfrm>
              <a:off x="4841196" y="3118548"/>
              <a:ext cx="2827147" cy="405646"/>
            </a:xfrm>
            <a:prstGeom prst="rect">
              <a:avLst/>
            </a:prstGeom>
            <a:ln w="15875">
              <a:noFill/>
            </a:ln>
          </p:spPr>
          <p:txBody>
            <a:bodyPr wrap="square" lIns="91440" tIns="45720" rIns="91440" bIns="45720">
              <a:spAutoFit/>
            </a:bodyPr>
            <a:lstStyle/>
            <a:p>
              <a:r>
                <a:rPr lang="zh-CN" altLang="en-US" sz="2400" b="1" dirty="0">
                  <a:solidFill>
                    <a:schemeClr val="tx1">
                      <a:lumMod val="75000"/>
                      <a:lumOff val="25000"/>
                    </a:schemeClr>
                  </a:solidFill>
                  <a:latin typeface="微软雅黑" panose="020B0503020204020204" charset="-122"/>
                  <a:ea typeface="微软雅黑" panose="020B0503020204020204" charset="-122"/>
                </a:rPr>
                <a:t>软件测试的过程管理</a:t>
              </a:r>
              <a:endParaRPr lang="zh-CN" altLang="en-US" sz="2400" b="1" dirty="0">
                <a:solidFill>
                  <a:schemeClr val="tx1">
                    <a:lumMod val="75000"/>
                    <a:lumOff val="25000"/>
                  </a:schemeClr>
                </a:solidFill>
                <a:latin typeface="微软雅黑" panose="020B0503020204020204" charset="-122"/>
                <a:ea typeface="微软雅黑" panose="020B0503020204020204" charset="-122"/>
              </a:endParaRPr>
            </a:p>
          </p:txBody>
        </p:sp>
        <p:sp>
          <p:nvSpPr>
            <p:cNvPr id="71" name="平行四边形 70"/>
            <p:cNvSpPr/>
            <p:nvPr/>
          </p:nvSpPr>
          <p:spPr>
            <a:xfrm>
              <a:off x="4315150" y="3035884"/>
              <a:ext cx="3857250" cy="540057"/>
            </a:xfrm>
            <a:prstGeom prst="parallelogram">
              <a:avLst>
                <a:gd name="adj" fmla="val 48207"/>
              </a:avLst>
            </a:prstGeom>
            <a:noFill/>
            <a:ln w="158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zh-CN" altLang="en-US" sz="2135" b="1">
                <a:solidFill>
                  <a:schemeClr val="tx1">
                    <a:lumMod val="75000"/>
                    <a:lumOff val="25000"/>
                  </a:schemeClr>
                </a:solidFill>
              </a:endParaRPr>
            </a:p>
          </p:txBody>
        </p:sp>
      </p:grpSp>
      <p:sp>
        <p:nvSpPr>
          <p:cNvPr id="81" name="等腰三角形 80"/>
          <p:cNvSpPr/>
          <p:nvPr/>
        </p:nvSpPr>
        <p:spPr>
          <a:xfrm>
            <a:off x="-125866" y="4437500"/>
            <a:ext cx="3458403" cy="2584187"/>
          </a:xfrm>
          <a:prstGeom prst="triangle">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2" name="等腰三角形 81"/>
          <p:cNvSpPr/>
          <p:nvPr/>
        </p:nvSpPr>
        <p:spPr>
          <a:xfrm>
            <a:off x="1348800" y="5033297"/>
            <a:ext cx="2607127" cy="1948097"/>
          </a:xfrm>
          <a:prstGeom prst="triangle">
            <a:avLst/>
          </a:prstGeom>
          <a:solidFill>
            <a:schemeClr val="accent4">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Tree>
  </p:cSld>
  <p:clrMapOvr>
    <a:masterClrMapping/>
  </p:clrMapOvr>
  <p:transition advTm="7675">
    <p:plu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fade">
                                      <p:cBhvr>
                                        <p:cTn id="7" dur="1000"/>
                                        <p:tgtEl>
                                          <p:spTgt spid="81"/>
                                        </p:tgtEl>
                                      </p:cBhvr>
                                    </p:animEffect>
                                    <p:anim calcmode="lin" valueType="num">
                                      <p:cBhvr>
                                        <p:cTn id="8" dur="1000" fill="hold"/>
                                        <p:tgtEl>
                                          <p:spTgt spid="81"/>
                                        </p:tgtEl>
                                        <p:attrNameLst>
                                          <p:attrName>ppt_x</p:attrName>
                                        </p:attrNameLst>
                                      </p:cBhvr>
                                      <p:tavLst>
                                        <p:tav tm="0">
                                          <p:val>
                                            <p:strVal val="#ppt_x"/>
                                          </p:val>
                                        </p:tav>
                                        <p:tav tm="100000">
                                          <p:val>
                                            <p:strVal val="#ppt_x"/>
                                          </p:val>
                                        </p:tav>
                                      </p:tavLst>
                                    </p:anim>
                                    <p:anim calcmode="lin" valueType="num">
                                      <p:cBhvr>
                                        <p:cTn id="9" dur="1000" fill="hold"/>
                                        <p:tgtEl>
                                          <p:spTgt spid="8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2"/>
                                        </p:tgtEl>
                                        <p:attrNameLst>
                                          <p:attrName>style.visibility</p:attrName>
                                        </p:attrNameLst>
                                      </p:cBhvr>
                                      <p:to>
                                        <p:strVal val="visible"/>
                                      </p:to>
                                    </p:set>
                                    <p:animEffect transition="in" filter="fade">
                                      <p:cBhvr>
                                        <p:cTn id="12" dur="1000"/>
                                        <p:tgtEl>
                                          <p:spTgt spid="82"/>
                                        </p:tgtEl>
                                      </p:cBhvr>
                                    </p:animEffect>
                                    <p:anim calcmode="lin" valueType="num">
                                      <p:cBhvr>
                                        <p:cTn id="13" dur="1000" fill="hold"/>
                                        <p:tgtEl>
                                          <p:spTgt spid="82"/>
                                        </p:tgtEl>
                                        <p:attrNameLst>
                                          <p:attrName>ppt_x</p:attrName>
                                        </p:attrNameLst>
                                      </p:cBhvr>
                                      <p:tavLst>
                                        <p:tav tm="0">
                                          <p:val>
                                            <p:strVal val="#ppt_x"/>
                                          </p:val>
                                        </p:tav>
                                        <p:tav tm="100000">
                                          <p:val>
                                            <p:strVal val="#ppt_x"/>
                                          </p:val>
                                        </p:tav>
                                      </p:tavLst>
                                    </p:anim>
                                    <p:anim calcmode="lin" valueType="num">
                                      <p:cBhvr>
                                        <p:cTn id="14" dur="1000" fill="hold"/>
                                        <p:tgtEl>
                                          <p:spTgt spid="82"/>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 presetClass="entr" presetSubtype="8" fill="hold" nodeType="afterEffect">
                                  <p:stCondLst>
                                    <p:cond delay="0"/>
                                  </p:stCondLst>
                                  <p:childTnLst>
                                    <p:set>
                                      <p:cBhvr>
                                        <p:cTn id="17" dur="1" fill="hold">
                                          <p:stCondLst>
                                            <p:cond delay="0"/>
                                          </p:stCondLst>
                                        </p:cTn>
                                        <p:tgtEl>
                                          <p:spTgt spid="45"/>
                                        </p:tgtEl>
                                        <p:attrNameLst>
                                          <p:attrName>style.visibility</p:attrName>
                                        </p:attrNameLst>
                                      </p:cBhvr>
                                      <p:to>
                                        <p:strVal val="visible"/>
                                      </p:to>
                                    </p:set>
                                    <p:anim calcmode="lin" valueType="num">
                                      <p:cBhvr additive="base">
                                        <p:cTn id="18" dur="500" fill="hold"/>
                                        <p:tgtEl>
                                          <p:spTgt spid="45"/>
                                        </p:tgtEl>
                                        <p:attrNameLst>
                                          <p:attrName>ppt_x</p:attrName>
                                        </p:attrNameLst>
                                      </p:cBhvr>
                                      <p:tavLst>
                                        <p:tav tm="0">
                                          <p:val>
                                            <p:strVal val="0-#ppt_w/2"/>
                                          </p:val>
                                        </p:tav>
                                        <p:tav tm="100000">
                                          <p:val>
                                            <p:strVal val="#ppt_x"/>
                                          </p:val>
                                        </p:tav>
                                      </p:tavLst>
                                    </p:anim>
                                    <p:anim calcmode="lin" valueType="num">
                                      <p:cBhvr additive="base">
                                        <p:cTn id="19" dur="500" fill="hold"/>
                                        <p:tgtEl>
                                          <p:spTgt spid="45"/>
                                        </p:tgtEl>
                                        <p:attrNameLst>
                                          <p:attrName>ppt_y</p:attrName>
                                        </p:attrNameLst>
                                      </p:cBhvr>
                                      <p:tavLst>
                                        <p:tav tm="0">
                                          <p:val>
                                            <p:strVal val="#ppt_y"/>
                                          </p:val>
                                        </p:tav>
                                        <p:tav tm="100000">
                                          <p:val>
                                            <p:strVal val="#ppt_y"/>
                                          </p:val>
                                        </p:tav>
                                      </p:tavLst>
                                    </p:anim>
                                  </p:childTnLst>
                                </p:cTn>
                              </p:par>
                            </p:childTnLst>
                          </p:cTn>
                        </p:par>
                        <p:par>
                          <p:cTn id="20" fill="hold">
                            <p:stCondLst>
                              <p:cond delay="1500"/>
                            </p:stCondLst>
                            <p:childTnLst>
                              <p:par>
                                <p:cTn id="21" presetID="2" presetClass="entr" presetSubtype="2" fill="hold" nodeType="afterEffect">
                                  <p:stCondLst>
                                    <p:cond delay="0"/>
                                  </p:stCondLst>
                                  <p:childTnLst>
                                    <p:set>
                                      <p:cBhvr>
                                        <p:cTn id="22" dur="1" fill="hold">
                                          <p:stCondLst>
                                            <p:cond delay="0"/>
                                          </p:stCondLst>
                                        </p:cTn>
                                        <p:tgtEl>
                                          <p:spTgt spid="48"/>
                                        </p:tgtEl>
                                        <p:attrNameLst>
                                          <p:attrName>style.visibility</p:attrName>
                                        </p:attrNameLst>
                                      </p:cBhvr>
                                      <p:to>
                                        <p:strVal val="visible"/>
                                      </p:to>
                                    </p:set>
                                    <p:anim calcmode="lin" valueType="num">
                                      <p:cBhvr additive="base">
                                        <p:cTn id="23" dur="500" fill="hold"/>
                                        <p:tgtEl>
                                          <p:spTgt spid="48"/>
                                        </p:tgtEl>
                                        <p:attrNameLst>
                                          <p:attrName>ppt_x</p:attrName>
                                        </p:attrNameLst>
                                      </p:cBhvr>
                                      <p:tavLst>
                                        <p:tav tm="0">
                                          <p:val>
                                            <p:strVal val="1+#ppt_w/2"/>
                                          </p:val>
                                        </p:tav>
                                        <p:tav tm="100000">
                                          <p:val>
                                            <p:strVal val="#ppt_x"/>
                                          </p:val>
                                        </p:tav>
                                      </p:tavLst>
                                    </p:anim>
                                    <p:anim calcmode="lin" valueType="num">
                                      <p:cBhvr additive="base">
                                        <p:cTn id="24" dur="500" fill="hold"/>
                                        <p:tgtEl>
                                          <p:spTgt spid="48"/>
                                        </p:tgtEl>
                                        <p:attrNameLst>
                                          <p:attrName>ppt_y</p:attrName>
                                        </p:attrNameLst>
                                      </p:cBhvr>
                                      <p:tavLst>
                                        <p:tav tm="0">
                                          <p:val>
                                            <p:strVal val="#ppt_y"/>
                                          </p:val>
                                        </p:tav>
                                        <p:tav tm="100000">
                                          <p:val>
                                            <p:strVal val="#ppt_y"/>
                                          </p:val>
                                        </p:tav>
                                      </p:tavLst>
                                    </p:anim>
                                  </p:childTnLst>
                                </p:cTn>
                              </p:par>
                            </p:childTnLst>
                          </p:cTn>
                        </p:par>
                        <p:par>
                          <p:cTn id="25" fill="hold">
                            <p:stCondLst>
                              <p:cond delay="2000"/>
                            </p:stCondLst>
                            <p:childTnLst>
                              <p:par>
                                <p:cTn id="26" presetID="2" presetClass="entr" presetSubtype="8" fill="hold" nodeType="afterEffect">
                                  <p:stCondLst>
                                    <p:cond delay="0"/>
                                  </p:stCondLst>
                                  <p:childTnLst>
                                    <p:set>
                                      <p:cBhvr>
                                        <p:cTn id="27" dur="1" fill="hold">
                                          <p:stCondLst>
                                            <p:cond delay="0"/>
                                          </p:stCondLst>
                                        </p:cTn>
                                        <p:tgtEl>
                                          <p:spTgt spid="51"/>
                                        </p:tgtEl>
                                        <p:attrNameLst>
                                          <p:attrName>style.visibility</p:attrName>
                                        </p:attrNameLst>
                                      </p:cBhvr>
                                      <p:to>
                                        <p:strVal val="visible"/>
                                      </p:to>
                                    </p:set>
                                    <p:anim calcmode="lin" valueType="num">
                                      <p:cBhvr additive="base">
                                        <p:cTn id="28" dur="500" fill="hold"/>
                                        <p:tgtEl>
                                          <p:spTgt spid="51"/>
                                        </p:tgtEl>
                                        <p:attrNameLst>
                                          <p:attrName>ppt_x</p:attrName>
                                        </p:attrNameLst>
                                      </p:cBhvr>
                                      <p:tavLst>
                                        <p:tav tm="0">
                                          <p:val>
                                            <p:strVal val="0-#ppt_w/2"/>
                                          </p:val>
                                        </p:tav>
                                        <p:tav tm="100000">
                                          <p:val>
                                            <p:strVal val="#ppt_x"/>
                                          </p:val>
                                        </p:tav>
                                      </p:tavLst>
                                    </p:anim>
                                    <p:anim calcmode="lin" valueType="num">
                                      <p:cBhvr additive="base">
                                        <p:cTn id="29" dur="500" fill="hold"/>
                                        <p:tgtEl>
                                          <p:spTgt spid="51"/>
                                        </p:tgtEl>
                                        <p:attrNameLst>
                                          <p:attrName>ppt_y</p:attrName>
                                        </p:attrNameLst>
                                      </p:cBhvr>
                                      <p:tavLst>
                                        <p:tav tm="0">
                                          <p:val>
                                            <p:strVal val="#ppt_y"/>
                                          </p:val>
                                        </p:tav>
                                        <p:tav tm="100000">
                                          <p:val>
                                            <p:strVal val="#ppt_y"/>
                                          </p:val>
                                        </p:tav>
                                      </p:tavLst>
                                    </p:anim>
                                  </p:childTnLst>
                                </p:cTn>
                              </p:par>
                              <p:par>
                                <p:cTn id="30" presetID="2" presetClass="entr" presetSubtype="8" fill="hold" nodeType="withEffect">
                                  <p:stCondLst>
                                    <p:cond delay="0"/>
                                  </p:stCondLst>
                                  <p:childTnLst>
                                    <p:set>
                                      <p:cBhvr>
                                        <p:cTn id="31" dur="1" fill="hold">
                                          <p:stCondLst>
                                            <p:cond delay="0"/>
                                          </p:stCondLst>
                                        </p:cTn>
                                        <p:tgtEl>
                                          <p:spTgt spid="66"/>
                                        </p:tgtEl>
                                        <p:attrNameLst>
                                          <p:attrName>style.visibility</p:attrName>
                                        </p:attrNameLst>
                                      </p:cBhvr>
                                      <p:to>
                                        <p:strVal val="visible"/>
                                      </p:to>
                                    </p:set>
                                    <p:anim calcmode="lin" valueType="num">
                                      <p:cBhvr additive="base">
                                        <p:cTn id="32" dur="500" fill="hold"/>
                                        <p:tgtEl>
                                          <p:spTgt spid="66"/>
                                        </p:tgtEl>
                                        <p:attrNameLst>
                                          <p:attrName>ppt_x</p:attrName>
                                        </p:attrNameLst>
                                      </p:cBhvr>
                                      <p:tavLst>
                                        <p:tav tm="0">
                                          <p:val>
                                            <p:strVal val="0-#ppt_w/2"/>
                                          </p:val>
                                        </p:tav>
                                        <p:tav tm="100000">
                                          <p:val>
                                            <p:strVal val="#ppt_x"/>
                                          </p:val>
                                        </p:tav>
                                      </p:tavLst>
                                    </p:anim>
                                    <p:anim calcmode="lin" valueType="num">
                                      <p:cBhvr additive="base">
                                        <p:cTn id="33" dur="500" fill="hold"/>
                                        <p:tgtEl>
                                          <p:spTgt spid="66"/>
                                        </p:tgtEl>
                                        <p:attrNameLst>
                                          <p:attrName>ppt_y</p:attrName>
                                        </p:attrNameLst>
                                      </p:cBhvr>
                                      <p:tavLst>
                                        <p:tav tm="0">
                                          <p:val>
                                            <p:strVal val="#ppt_y"/>
                                          </p:val>
                                        </p:tav>
                                        <p:tav tm="100000">
                                          <p:val>
                                            <p:strVal val="#ppt_y"/>
                                          </p:val>
                                        </p:tav>
                                      </p:tavLst>
                                    </p:anim>
                                  </p:childTnLst>
                                </p:cTn>
                              </p:par>
                            </p:childTnLst>
                          </p:cTn>
                        </p:par>
                        <p:par>
                          <p:cTn id="34" fill="hold">
                            <p:stCondLst>
                              <p:cond delay="2500"/>
                            </p:stCondLst>
                            <p:childTnLst>
                              <p:par>
                                <p:cTn id="35" presetID="2" presetClass="entr" presetSubtype="2" fill="hold" nodeType="afterEffect">
                                  <p:stCondLst>
                                    <p:cond delay="0"/>
                                  </p:stCondLst>
                                  <p:childTnLst>
                                    <p:set>
                                      <p:cBhvr>
                                        <p:cTn id="36" dur="1" fill="hold">
                                          <p:stCondLst>
                                            <p:cond delay="0"/>
                                          </p:stCondLst>
                                        </p:cTn>
                                        <p:tgtEl>
                                          <p:spTgt spid="54"/>
                                        </p:tgtEl>
                                        <p:attrNameLst>
                                          <p:attrName>style.visibility</p:attrName>
                                        </p:attrNameLst>
                                      </p:cBhvr>
                                      <p:to>
                                        <p:strVal val="visible"/>
                                      </p:to>
                                    </p:set>
                                    <p:anim calcmode="lin" valueType="num">
                                      <p:cBhvr additive="base">
                                        <p:cTn id="37" dur="500" fill="hold"/>
                                        <p:tgtEl>
                                          <p:spTgt spid="54"/>
                                        </p:tgtEl>
                                        <p:attrNameLst>
                                          <p:attrName>ppt_x</p:attrName>
                                        </p:attrNameLst>
                                      </p:cBhvr>
                                      <p:tavLst>
                                        <p:tav tm="0">
                                          <p:val>
                                            <p:strVal val="1+#ppt_w/2"/>
                                          </p:val>
                                        </p:tav>
                                        <p:tav tm="100000">
                                          <p:val>
                                            <p:strVal val="#ppt_x"/>
                                          </p:val>
                                        </p:tav>
                                      </p:tavLst>
                                    </p:anim>
                                    <p:anim calcmode="lin" valueType="num">
                                      <p:cBhvr additive="base">
                                        <p:cTn id="38" dur="500" fill="hold"/>
                                        <p:tgtEl>
                                          <p:spTgt spid="54"/>
                                        </p:tgtEl>
                                        <p:attrNameLst>
                                          <p:attrName>ppt_y</p:attrName>
                                        </p:attrNameLst>
                                      </p:cBhvr>
                                      <p:tavLst>
                                        <p:tav tm="0">
                                          <p:val>
                                            <p:strVal val="#ppt_y"/>
                                          </p:val>
                                        </p:tav>
                                        <p:tav tm="100000">
                                          <p:val>
                                            <p:strVal val="#ppt_y"/>
                                          </p:val>
                                        </p:tav>
                                      </p:tavLst>
                                    </p:anim>
                                  </p:childTnLst>
                                </p:cTn>
                              </p:par>
                              <p:par>
                                <p:cTn id="39" presetID="2" presetClass="entr" presetSubtype="2" fill="hold" nodeType="withEffect">
                                  <p:stCondLst>
                                    <p:cond delay="0"/>
                                  </p:stCondLst>
                                  <p:childTnLst>
                                    <p:set>
                                      <p:cBhvr>
                                        <p:cTn id="40" dur="1" fill="hold">
                                          <p:stCondLst>
                                            <p:cond delay="0"/>
                                          </p:stCondLst>
                                        </p:cTn>
                                        <p:tgtEl>
                                          <p:spTgt spid="69"/>
                                        </p:tgtEl>
                                        <p:attrNameLst>
                                          <p:attrName>style.visibility</p:attrName>
                                        </p:attrNameLst>
                                      </p:cBhvr>
                                      <p:to>
                                        <p:strVal val="visible"/>
                                      </p:to>
                                    </p:set>
                                    <p:anim calcmode="lin" valueType="num">
                                      <p:cBhvr additive="base">
                                        <p:cTn id="41" dur="500" fill="hold"/>
                                        <p:tgtEl>
                                          <p:spTgt spid="69"/>
                                        </p:tgtEl>
                                        <p:attrNameLst>
                                          <p:attrName>ppt_x</p:attrName>
                                        </p:attrNameLst>
                                      </p:cBhvr>
                                      <p:tavLst>
                                        <p:tav tm="0">
                                          <p:val>
                                            <p:strVal val="1+#ppt_w/2"/>
                                          </p:val>
                                        </p:tav>
                                        <p:tav tm="100000">
                                          <p:val>
                                            <p:strVal val="#ppt_x"/>
                                          </p:val>
                                        </p:tav>
                                      </p:tavLst>
                                    </p:anim>
                                    <p:anim calcmode="lin" valueType="num">
                                      <p:cBhvr additive="base">
                                        <p:cTn id="42" dur="500" fill="hold"/>
                                        <p:tgtEl>
                                          <p:spTgt spid="69"/>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60"/>
                                        </p:tgtEl>
                                        <p:attrNameLst>
                                          <p:attrName>style.visibility</p:attrName>
                                        </p:attrNameLst>
                                      </p:cBhvr>
                                      <p:to>
                                        <p:strVal val="visible"/>
                                      </p:to>
                                    </p:set>
                                    <p:anim calcmode="lin" valueType="num">
                                      <p:cBhvr additive="base">
                                        <p:cTn id="47" dur="500" fill="hold"/>
                                        <p:tgtEl>
                                          <p:spTgt spid="60"/>
                                        </p:tgtEl>
                                        <p:attrNameLst>
                                          <p:attrName>ppt_x</p:attrName>
                                        </p:attrNameLst>
                                      </p:cBhvr>
                                      <p:tavLst>
                                        <p:tav tm="0">
                                          <p:val>
                                            <p:strVal val="#ppt_x"/>
                                          </p:val>
                                        </p:tav>
                                        <p:tav tm="100000">
                                          <p:val>
                                            <p:strVal val="#ppt_x"/>
                                          </p:val>
                                        </p:tav>
                                      </p:tavLst>
                                    </p:anim>
                                    <p:anim calcmode="lin" valueType="num">
                                      <p:cBhvr additive="base">
                                        <p:cTn id="48" dur="500" fill="hold"/>
                                        <p:tgtEl>
                                          <p:spTgt spid="60"/>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63"/>
                                        </p:tgtEl>
                                        <p:attrNameLst>
                                          <p:attrName>style.visibility</p:attrName>
                                        </p:attrNameLst>
                                      </p:cBhvr>
                                      <p:to>
                                        <p:strVal val="visible"/>
                                      </p:to>
                                    </p:set>
                                    <p:anim calcmode="lin" valueType="num">
                                      <p:cBhvr additive="base">
                                        <p:cTn id="53" dur="500" fill="hold"/>
                                        <p:tgtEl>
                                          <p:spTgt spid="63"/>
                                        </p:tgtEl>
                                        <p:attrNameLst>
                                          <p:attrName>ppt_x</p:attrName>
                                        </p:attrNameLst>
                                      </p:cBhvr>
                                      <p:tavLst>
                                        <p:tav tm="0">
                                          <p:val>
                                            <p:strVal val="#ppt_x"/>
                                          </p:val>
                                        </p:tav>
                                        <p:tav tm="100000">
                                          <p:val>
                                            <p:strVal val="#ppt_x"/>
                                          </p:val>
                                        </p:tav>
                                      </p:tavLst>
                                    </p:anim>
                                    <p:anim calcmode="lin" valueType="num">
                                      <p:cBhvr additive="base">
                                        <p:cTn id="54" dur="500" fill="hold"/>
                                        <p:tgtEl>
                                          <p:spTgt spid="63"/>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7" presetClass="entr" presetSubtype="0" fill="hold" grpId="0" nodeType="click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fade">
                                      <p:cBhvr>
                                        <p:cTn id="59" dur="1000"/>
                                        <p:tgtEl>
                                          <p:spTgt spid="15"/>
                                        </p:tgtEl>
                                      </p:cBhvr>
                                    </p:animEffect>
                                    <p:anim calcmode="lin" valueType="num">
                                      <p:cBhvr>
                                        <p:cTn id="60" dur="1000" fill="hold"/>
                                        <p:tgtEl>
                                          <p:spTgt spid="15"/>
                                        </p:tgtEl>
                                        <p:attrNameLst>
                                          <p:attrName>ppt_x</p:attrName>
                                        </p:attrNameLst>
                                      </p:cBhvr>
                                      <p:tavLst>
                                        <p:tav tm="0">
                                          <p:val>
                                            <p:strVal val="#ppt_x"/>
                                          </p:val>
                                        </p:tav>
                                        <p:tav tm="100000">
                                          <p:val>
                                            <p:strVal val="#ppt_x"/>
                                          </p:val>
                                        </p:tav>
                                      </p:tavLst>
                                    </p:anim>
                                    <p:anim calcmode="lin" valueType="num">
                                      <p:cBhvr>
                                        <p:cTn id="61"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animBg="1"/>
      <p:bldP spid="82" grpId="0" animBg="1"/>
      <p:bldP spid="15" grpId="0"/>
      <p:bldP spid="15"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rot="5400000">
            <a:off x="-354902" y="1593655"/>
            <a:ext cx="2812747" cy="2101740"/>
          </a:xfrm>
          <a:prstGeom prst="triangle">
            <a:avLst/>
          </a:prstGeom>
          <a:solidFill>
            <a:schemeClr val="accent4">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 name="文本框 2"/>
          <p:cNvSpPr txBox="1"/>
          <p:nvPr/>
        </p:nvSpPr>
        <p:spPr>
          <a:xfrm>
            <a:off x="3912870" y="2883535"/>
            <a:ext cx="4922520" cy="829945"/>
          </a:xfrm>
          <a:prstGeom prst="rect">
            <a:avLst/>
          </a:prstGeom>
          <a:noFill/>
        </p:spPr>
        <p:txBody>
          <a:bodyPr wrap="square" rtlCol="0">
            <a:spAutoFit/>
          </a:bodyPr>
          <a:lstStyle/>
          <a:p>
            <a:pPr algn="l"/>
            <a:r>
              <a:rPr lang="en-US" altLang="zh-CN" sz="4800" dirty="0">
                <a:solidFill>
                  <a:schemeClr val="tx1">
                    <a:lumMod val="75000"/>
                    <a:lumOff val="25000"/>
                  </a:schemeClr>
                </a:solidFill>
                <a:latin typeface="微软雅黑" panose="020B0503020204020204" charset="-122"/>
                <a:ea typeface="微软雅黑" panose="020B0503020204020204" charset="-122"/>
              </a:rPr>
              <a:t> </a:t>
            </a:r>
            <a:r>
              <a:rPr lang="zh-CN" altLang="en-US" sz="4800" dirty="0">
                <a:solidFill>
                  <a:schemeClr val="tx1">
                    <a:lumMod val="75000"/>
                    <a:lumOff val="25000"/>
                  </a:schemeClr>
                </a:solidFill>
                <a:latin typeface="微软雅黑" panose="020B0503020204020204" charset="-122"/>
                <a:ea typeface="微软雅黑" panose="020B0503020204020204" charset="-122"/>
              </a:rPr>
              <a:t>软件测试的流程</a:t>
            </a:r>
            <a:endParaRPr lang="zh-CN" altLang="en-US" sz="4800" dirty="0">
              <a:solidFill>
                <a:schemeClr val="tx1">
                  <a:lumMod val="75000"/>
                  <a:lumOff val="25000"/>
                </a:schemeClr>
              </a:solidFill>
              <a:latin typeface="微软雅黑" panose="020B0503020204020204" charset="-122"/>
              <a:ea typeface="微软雅黑" panose="020B0503020204020204" charset="-122"/>
            </a:endParaRPr>
          </a:p>
        </p:txBody>
      </p:sp>
      <p:sp>
        <p:nvSpPr>
          <p:cNvPr id="6" name="等腰三角形 5"/>
          <p:cNvSpPr/>
          <p:nvPr/>
        </p:nvSpPr>
        <p:spPr>
          <a:xfrm rot="16200000" flipH="1">
            <a:off x="10384747" y="2655849"/>
            <a:ext cx="2069408" cy="1546303"/>
          </a:xfrm>
          <a:prstGeom prst="triangle">
            <a:avLst/>
          </a:prstGeom>
          <a:solidFill>
            <a:schemeClr val="accent2">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7" name="等腰三角形 6"/>
          <p:cNvSpPr/>
          <p:nvPr/>
        </p:nvSpPr>
        <p:spPr>
          <a:xfrm rot="5400000">
            <a:off x="-436508" y="2327919"/>
            <a:ext cx="3458403" cy="2584187"/>
          </a:xfrm>
          <a:prstGeom prst="triangle">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 name="文本框 7"/>
          <p:cNvSpPr txBox="1"/>
          <p:nvPr/>
        </p:nvSpPr>
        <p:spPr>
          <a:xfrm>
            <a:off x="47928" y="2883669"/>
            <a:ext cx="1612900" cy="1568450"/>
          </a:xfrm>
          <a:prstGeom prst="rect">
            <a:avLst/>
          </a:prstGeom>
          <a:noFill/>
        </p:spPr>
        <p:txBody>
          <a:bodyPr wrap="none" rtlCol="0">
            <a:spAutoFit/>
          </a:bodyPr>
          <a:lstStyle/>
          <a:p>
            <a:r>
              <a:rPr lang="en-US" altLang="zh-CN" sz="9600" dirty="0">
                <a:solidFill>
                  <a:schemeClr val="bg1"/>
                </a:solidFill>
                <a:latin typeface="微软雅黑" panose="020B0503020204020204" charset="-122"/>
                <a:ea typeface="微软雅黑" panose="020B0503020204020204" charset="-122"/>
              </a:rPr>
              <a:t>01</a:t>
            </a:r>
            <a:endParaRPr lang="zh-CN" altLang="en-US" sz="9600" dirty="0">
              <a:solidFill>
                <a:schemeClr val="bg1"/>
              </a:solidFill>
              <a:latin typeface="微软雅黑" panose="020B0503020204020204" charset="-122"/>
              <a:ea typeface="微软雅黑" panose="020B0503020204020204" charset="-122"/>
            </a:endParaRPr>
          </a:p>
        </p:txBody>
      </p:sp>
      <p:sp>
        <p:nvSpPr>
          <p:cNvPr id="9" name="TextBox 8"/>
          <p:cNvSpPr txBox="1"/>
          <p:nvPr/>
        </p:nvSpPr>
        <p:spPr>
          <a:xfrm>
            <a:off x="3912870" y="4051300"/>
            <a:ext cx="5117465" cy="884555"/>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charset="-122"/>
                <a:ea typeface="微软雅黑" panose="020B0503020204020204" charset="-122"/>
              </a:defRPr>
            </a:lvl1pPr>
          </a:lstStyle>
          <a:p>
            <a:pPr>
              <a:lnSpc>
                <a:spcPct val="120000"/>
              </a:lnSpc>
            </a:pPr>
            <a:r>
              <a:rPr lang="zh-CN" altLang="en-US" sz="1600" dirty="0">
                <a:solidFill>
                  <a:schemeClr val="tx1">
                    <a:lumMod val="75000"/>
                    <a:lumOff val="25000"/>
                  </a:schemeClr>
                </a:solidFill>
                <a:latin typeface="+mn-ea"/>
                <a:ea typeface="+mn-ea"/>
              </a:rPr>
              <a:t>软件流程是按照循序渐进的过程来定义程序员的开发过程，根据不同的产品特点和以往的成功经验，定义了从需求到最终产品交付的一整套流程。</a:t>
            </a:r>
            <a:endParaRPr lang="zh-CN" altLang="en-US" sz="1600" dirty="0">
              <a:solidFill>
                <a:schemeClr val="tx1">
                  <a:lumMod val="75000"/>
                  <a:lumOff val="25000"/>
                </a:schemeClr>
              </a:solidFill>
              <a:latin typeface="+mn-ea"/>
              <a:ea typeface="+mn-ea"/>
            </a:endParaRPr>
          </a:p>
        </p:txBody>
      </p:sp>
    </p:spTree>
  </p:cSld>
  <p:clrMapOvr>
    <a:masterClrMapping/>
  </p:clrMapOvr>
  <p:transition advTm="7675">
    <p:plu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childTnLst>
                          </p:cTn>
                        </p:par>
                        <p:par>
                          <p:cTn id="25" fill="hold">
                            <p:stCondLst>
                              <p:cond delay="500"/>
                            </p:stCondLst>
                            <p:childTnLst>
                              <p:par>
                                <p:cTn id="26" presetID="2" presetClass="entr" presetSubtype="8" fill="hold" grpId="0" nodeType="after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500" fill="hold"/>
                                        <p:tgtEl>
                                          <p:spTgt spid="3"/>
                                        </p:tgtEl>
                                        <p:attrNameLst>
                                          <p:attrName>ppt_x</p:attrName>
                                        </p:attrNameLst>
                                      </p:cBhvr>
                                      <p:tavLst>
                                        <p:tav tm="0">
                                          <p:val>
                                            <p:strVal val="0-#ppt_w/2"/>
                                          </p:val>
                                        </p:tav>
                                        <p:tav tm="100000">
                                          <p:val>
                                            <p:strVal val="#ppt_x"/>
                                          </p:val>
                                        </p:tav>
                                      </p:tavLst>
                                    </p:anim>
                                    <p:anim calcmode="lin" valueType="num">
                                      <p:cBhvr additive="base">
                                        <p:cTn id="29" dur="500" fill="hold"/>
                                        <p:tgtEl>
                                          <p:spTgt spid="3"/>
                                        </p:tgtEl>
                                        <p:attrNameLst>
                                          <p:attrName>ppt_y</p:attrName>
                                        </p:attrNameLst>
                                      </p:cBhvr>
                                      <p:tavLst>
                                        <p:tav tm="0">
                                          <p:val>
                                            <p:strVal val="#ppt_y"/>
                                          </p:val>
                                        </p:tav>
                                        <p:tav tm="100000">
                                          <p:val>
                                            <p:strVal val="#ppt_y"/>
                                          </p:val>
                                        </p:tav>
                                      </p:tavLst>
                                    </p:anim>
                                  </p:childTnLst>
                                </p:cTn>
                              </p:par>
                              <p:par>
                                <p:cTn id="30" presetID="2" presetClass="entr" presetSubtype="8"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00" fill="hold"/>
                                        <p:tgtEl>
                                          <p:spTgt spid="9"/>
                                        </p:tgtEl>
                                        <p:attrNameLst>
                                          <p:attrName>ppt_x</p:attrName>
                                        </p:attrNameLst>
                                      </p:cBhvr>
                                      <p:tavLst>
                                        <p:tav tm="0">
                                          <p:val>
                                            <p:strVal val="0-#ppt_w/2"/>
                                          </p:val>
                                        </p:tav>
                                        <p:tav tm="100000">
                                          <p:val>
                                            <p:strVal val="#ppt_x"/>
                                          </p:val>
                                        </p:tav>
                                      </p:tavLst>
                                    </p:anim>
                                    <p:anim calcmode="lin" valueType="num">
                                      <p:cBhvr additive="base">
                                        <p:cTn id="33"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p:bldP spid="6" grpId="0" bldLvl="0" animBg="1"/>
      <p:bldP spid="7" grpId="0" bldLvl="0" animBg="1"/>
      <p:bldP spid="8"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80" name="文本占位符 3"/>
          <p:cNvSpPr txBox="1"/>
          <p:nvPr/>
        </p:nvSpPr>
        <p:spPr>
          <a:xfrm>
            <a:off x="403747" y="42919"/>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charset="-122"/>
                <a:ea typeface="微软雅黑" panose="020B0503020204020204" charset="-122"/>
              </a:rPr>
              <a:t>软件测试流程</a:t>
            </a:r>
            <a:endParaRPr kumimoji="1" lang="zh-CN" altLang="en-US" sz="2000" b="0" dirty="0">
              <a:solidFill>
                <a:schemeClr val="tx1">
                  <a:lumMod val="65000"/>
                  <a:lumOff val="35000"/>
                </a:schemeClr>
              </a:solidFill>
              <a:latin typeface="微软雅黑" panose="020B0503020204020204" charset="-122"/>
              <a:ea typeface="微软雅黑" panose="020B0503020204020204" charset="-122"/>
            </a:endParaRPr>
          </a:p>
        </p:txBody>
      </p:sp>
      <p:sp>
        <p:nvSpPr>
          <p:cNvPr id="48" name="文本框 47"/>
          <p:cNvSpPr txBox="1"/>
          <p:nvPr/>
        </p:nvSpPr>
        <p:spPr>
          <a:xfrm>
            <a:off x="1346835" y="995680"/>
            <a:ext cx="3850005" cy="398780"/>
          </a:xfrm>
          <a:prstGeom prst="rect">
            <a:avLst/>
          </a:prstGeom>
          <a:noFill/>
        </p:spPr>
        <p:txBody>
          <a:bodyPr wrap="square" rtlCol="0">
            <a:spAutoFit/>
          </a:bodyPr>
          <a:p>
            <a:r>
              <a:rPr lang="zh-CN" altLang="en-US" sz="2000" b="1"/>
              <a:t>（</a:t>
            </a:r>
            <a:r>
              <a:rPr lang="en-US" altLang="zh-CN" sz="2000" b="1"/>
              <a:t>1</a:t>
            </a:r>
            <a:r>
              <a:rPr lang="zh-CN" altLang="en-US" sz="2000" b="1"/>
              <a:t>）</a:t>
            </a:r>
            <a:r>
              <a:rPr lang="zh-CN" altLang="en-US" sz="2000" b="1"/>
              <a:t>测试工作总体流程图</a:t>
            </a:r>
            <a:endParaRPr lang="zh-CN" altLang="en-US" sz="2000" b="1"/>
          </a:p>
        </p:txBody>
      </p:sp>
      <p:sp>
        <p:nvSpPr>
          <p:cNvPr id="61" name="矩形 60"/>
          <p:cNvSpPr/>
          <p:nvPr/>
        </p:nvSpPr>
        <p:spPr>
          <a:xfrm>
            <a:off x="361315" y="2434590"/>
            <a:ext cx="592455" cy="1680845"/>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需求分析</a:t>
            </a:r>
            <a:endParaRPr lang="zh-CN" altLang="en-US"/>
          </a:p>
        </p:txBody>
      </p:sp>
      <p:sp>
        <p:nvSpPr>
          <p:cNvPr id="62" name="矩形 61"/>
          <p:cNvSpPr/>
          <p:nvPr/>
        </p:nvSpPr>
        <p:spPr>
          <a:xfrm>
            <a:off x="1964690" y="2434590"/>
            <a:ext cx="592455" cy="1680845"/>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设计阶段</a:t>
            </a:r>
            <a:endParaRPr lang="zh-CN" altLang="en-US"/>
          </a:p>
        </p:txBody>
      </p:sp>
      <p:sp>
        <p:nvSpPr>
          <p:cNvPr id="81" name="矩形 80"/>
          <p:cNvSpPr/>
          <p:nvPr/>
        </p:nvSpPr>
        <p:spPr>
          <a:xfrm>
            <a:off x="3619500" y="2091690"/>
            <a:ext cx="592455" cy="2472690"/>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单元</a:t>
            </a:r>
            <a:endParaRPr lang="zh-CN" altLang="en-US"/>
          </a:p>
          <a:p>
            <a:pPr algn="ctr"/>
            <a:r>
              <a:rPr lang="en-US" altLang="zh-CN"/>
              <a:t>/</a:t>
            </a:r>
            <a:endParaRPr lang="zh-CN" altLang="en-US"/>
          </a:p>
          <a:p>
            <a:pPr algn="ctr"/>
            <a:r>
              <a:rPr lang="zh-CN" altLang="en-US"/>
              <a:t>集成测试</a:t>
            </a:r>
            <a:endParaRPr lang="zh-CN" altLang="en-US"/>
          </a:p>
        </p:txBody>
      </p:sp>
      <p:sp>
        <p:nvSpPr>
          <p:cNvPr id="82" name="矩形 81"/>
          <p:cNvSpPr/>
          <p:nvPr/>
        </p:nvSpPr>
        <p:spPr>
          <a:xfrm>
            <a:off x="5274310" y="2085975"/>
            <a:ext cx="592455" cy="2472690"/>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系统</a:t>
            </a:r>
            <a:endParaRPr lang="zh-CN" altLang="en-US"/>
          </a:p>
          <a:p>
            <a:pPr algn="ctr"/>
            <a:r>
              <a:rPr lang="en-US" altLang="zh-CN"/>
              <a:t>/</a:t>
            </a:r>
            <a:endParaRPr lang="en-US" altLang="zh-CN"/>
          </a:p>
          <a:p>
            <a:pPr algn="ctr"/>
            <a:r>
              <a:rPr lang="zh-CN" altLang="en-US"/>
              <a:t>自动化测试</a:t>
            </a:r>
            <a:endParaRPr lang="zh-CN" altLang="en-US"/>
          </a:p>
        </p:txBody>
      </p:sp>
      <p:sp>
        <p:nvSpPr>
          <p:cNvPr id="83" name="矩形 82"/>
          <p:cNvSpPr/>
          <p:nvPr/>
        </p:nvSpPr>
        <p:spPr>
          <a:xfrm>
            <a:off x="7273925" y="2434590"/>
            <a:ext cx="592455" cy="1680845"/>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性能测试</a:t>
            </a:r>
            <a:endParaRPr lang="zh-CN" altLang="en-US"/>
          </a:p>
          <a:p>
            <a:pPr algn="ctr"/>
            <a:r>
              <a:rPr lang="zh-CN" altLang="en-US"/>
              <a:t>阶段</a:t>
            </a:r>
            <a:endParaRPr lang="zh-CN" altLang="en-US"/>
          </a:p>
        </p:txBody>
      </p:sp>
      <p:sp>
        <p:nvSpPr>
          <p:cNvPr id="84" name="矩形 83"/>
          <p:cNvSpPr/>
          <p:nvPr/>
        </p:nvSpPr>
        <p:spPr>
          <a:xfrm>
            <a:off x="9037955" y="2434590"/>
            <a:ext cx="592455" cy="1680845"/>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提交文档阶段</a:t>
            </a:r>
            <a:endParaRPr lang="zh-CN" altLang="en-US"/>
          </a:p>
        </p:txBody>
      </p:sp>
      <p:sp>
        <p:nvSpPr>
          <p:cNvPr id="85" name="矩形 84"/>
          <p:cNvSpPr/>
          <p:nvPr/>
        </p:nvSpPr>
        <p:spPr>
          <a:xfrm>
            <a:off x="10815955" y="2434590"/>
            <a:ext cx="592455" cy="1680845"/>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r>
              <a:rPr lang="zh-CN" altLang="en-US"/>
              <a:t>结项总结阶段</a:t>
            </a:r>
            <a:endParaRPr lang="zh-CN" altLang="en-US"/>
          </a:p>
        </p:txBody>
      </p:sp>
      <p:cxnSp>
        <p:nvCxnSpPr>
          <p:cNvPr id="86" name="直接箭头连接符 85"/>
          <p:cNvCxnSpPr>
            <a:stCxn id="61" idx="3"/>
            <a:endCxn id="62" idx="1"/>
          </p:cNvCxnSpPr>
          <p:nvPr/>
        </p:nvCxnSpPr>
        <p:spPr>
          <a:xfrm>
            <a:off x="953770" y="3275330"/>
            <a:ext cx="1010920" cy="0"/>
          </a:xfrm>
          <a:prstGeom prst="straightConnector1">
            <a:avLst/>
          </a:prstGeom>
          <a:ln>
            <a:tailEnd type="arrow" w="med" len="med"/>
          </a:ln>
        </p:spPr>
        <p:style>
          <a:lnRef idx="1">
            <a:schemeClr val="dk1"/>
          </a:lnRef>
          <a:fillRef idx="0">
            <a:schemeClr val="dk1"/>
          </a:fillRef>
          <a:effectRef idx="0">
            <a:schemeClr val="dk1"/>
          </a:effectRef>
          <a:fontRef idx="minor">
            <a:schemeClr val="tx1"/>
          </a:fontRef>
        </p:style>
      </p:cxnSp>
      <p:cxnSp>
        <p:nvCxnSpPr>
          <p:cNvPr id="87" name="直接箭头连接符 86"/>
          <p:cNvCxnSpPr/>
          <p:nvPr/>
        </p:nvCxnSpPr>
        <p:spPr>
          <a:xfrm>
            <a:off x="7866380" y="3322320"/>
            <a:ext cx="1235710" cy="10795"/>
          </a:xfrm>
          <a:prstGeom prst="straightConnector1">
            <a:avLst/>
          </a:prstGeom>
          <a:ln>
            <a:tailEnd type="arrow" w="med" len="med"/>
          </a:ln>
        </p:spPr>
        <p:style>
          <a:lnRef idx="1">
            <a:schemeClr val="dk1"/>
          </a:lnRef>
          <a:fillRef idx="0">
            <a:schemeClr val="dk1"/>
          </a:fillRef>
          <a:effectRef idx="0">
            <a:schemeClr val="dk1"/>
          </a:effectRef>
          <a:fontRef idx="minor">
            <a:schemeClr val="tx1"/>
          </a:fontRef>
        </p:style>
      </p:cxnSp>
      <p:cxnSp>
        <p:nvCxnSpPr>
          <p:cNvPr id="88" name="直接箭头连接符 87"/>
          <p:cNvCxnSpPr/>
          <p:nvPr/>
        </p:nvCxnSpPr>
        <p:spPr>
          <a:xfrm>
            <a:off x="5927725" y="3314700"/>
            <a:ext cx="1346200" cy="15240"/>
          </a:xfrm>
          <a:prstGeom prst="straightConnector1">
            <a:avLst/>
          </a:prstGeom>
          <a:ln>
            <a:tailEnd type="arrow" w="med" len="med"/>
          </a:ln>
        </p:spPr>
        <p:style>
          <a:lnRef idx="1">
            <a:schemeClr val="dk1"/>
          </a:lnRef>
          <a:fillRef idx="0">
            <a:schemeClr val="dk1"/>
          </a:fillRef>
          <a:effectRef idx="0">
            <a:schemeClr val="dk1"/>
          </a:effectRef>
          <a:fontRef idx="minor">
            <a:schemeClr val="tx1"/>
          </a:fontRef>
        </p:style>
      </p:cxnSp>
      <p:cxnSp>
        <p:nvCxnSpPr>
          <p:cNvPr id="89" name="直接箭头连接符 88"/>
          <p:cNvCxnSpPr/>
          <p:nvPr/>
        </p:nvCxnSpPr>
        <p:spPr>
          <a:xfrm>
            <a:off x="4185920" y="3322320"/>
            <a:ext cx="1010920" cy="0"/>
          </a:xfrm>
          <a:prstGeom prst="straightConnector1">
            <a:avLst/>
          </a:prstGeom>
          <a:ln>
            <a:tailEnd type="arrow" w="med" len="med"/>
          </a:ln>
        </p:spPr>
        <p:style>
          <a:lnRef idx="1">
            <a:schemeClr val="dk1"/>
          </a:lnRef>
          <a:fillRef idx="0">
            <a:schemeClr val="dk1"/>
          </a:fillRef>
          <a:effectRef idx="0">
            <a:schemeClr val="dk1"/>
          </a:effectRef>
          <a:fontRef idx="minor">
            <a:schemeClr val="tx1"/>
          </a:fontRef>
        </p:style>
      </p:cxnSp>
      <p:cxnSp>
        <p:nvCxnSpPr>
          <p:cNvPr id="90" name="直接箭头连接符 89"/>
          <p:cNvCxnSpPr/>
          <p:nvPr/>
        </p:nvCxnSpPr>
        <p:spPr>
          <a:xfrm>
            <a:off x="2557145" y="3322320"/>
            <a:ext cx="1010920" cy="0"/>
          </a:xfrm>
          <a:prstGeom prst="straightConnector1">
            <a:avLst/>
          </a:prstGeom>
          <a:ln>
            <a:tailEnd type="arrow" w="med" len="med"/>
          </a:ln>
        </p:spPr>
        <p:style>
          <a:lnRef idx="1">
            <a:schemeClr val="dk1"/>
          </a:lnRef>
          <a:fillRef idx="0">
            <a:schemeClr val="dk1"/>
          </a:fillRef>
          <a:effectRef idx="0">
            <a:schemeClr val="dk1"/>
          </a:effectRef>
          <a:fontRef idx="minor">
            <a:schemeClr val="tx1"/>
          </a:fontRef>
        </p:style>
      </p:cxnSp>
      <p:cxnSp>
        <p:nvCxnSpPr>
          <p:cNvPr id="91" name="直接箭头连接符 90"/>
          <p:cNvCxnSpPr/>
          <p:nvPr/>
        </p:nvCxnSpPr>
        <p:spPr>
          <a:xfrm>
            <a:off x="9673590" y="3311525"/>
            <a:ext cx="1142365" cy="21590"/>
          </a:xfrm>
          <a:prstGeom prst="straightConnector1">
            <a:avLst/>
          </a:prstGeom>
          <a:ln>
            <a:tailEnd type="arrow" w="med" len="med"/>
          </a:ln>
        </p:spPr>
        <p:style>
          <a:lnRef idx="1">
            <a:schemeClr val="dk1"/>
          </a:lnRef>
          <a:fillRef idx="0">
            <a:schemeClr val="dk1"/>
          </a:fillRef>
          <a:effectRef idx="0">
            <a:schemeClr val="dk1"/>
          </a:effectRef>
          <a:fontRef idx="minor">
            <a:schemeClr val="tx1"/>
          </a:fontRef>
        </p:style>
      </p:cxnSp>
      <p:cxnSp>
        <p:nvCxnSpPr>
          <p:cNvPr id="93" name="肘形连接符 92"/>
          <p:cNvCxnSpPr>
            <a:stCxn id="62" idx="0"/>
            <a:endCxn id="82" idx="0"/>
          </p:cNvCxnSpPr>
          <p:nvPr/>
        </p:nvCxnSpPr>
        <p:spPr>
          <a:xfrm rot="16200000">
            <a:off x="3741420" y="605155"/>
            <a:ext cx="348615" cy="3309620"/>
          </a:xfrm>
          <a:prstGeom prst="bentConnector3">
            <a:avLst>
              <a:gd name="adj1" fmla="val 168397"/>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cxnSp>
        <p:nvCxnSpPr>
          <p:cNvPr id="94" name="肘形连接符 93"/>
          <p:cNvCxnSpPr>
            <a:stCxn id="62" idx="2"/>
            <a:endCxn id="81" idx="2"/>
          </p:cNvCxnSpPr>
          <p:nvPr/>
        </p:nvCxnSpPr>
        <p:spPr>
          <a:xfrm rot="5400000" flipV="1">
            <a:off x="2864485" y="3512185"/>
            <a:ext cx="448945" cy="1654810"/>
          </a:xfrm>
          <a:prstGeom prst="bentConnector3">
            <a:avLst>
              <a:gd name="adj1" fmla="val 152970"/>
            </a:avLst>
          </a:prstGeom>
          <a:ln>
            <a:headEnd type="arrow" w="med" len="med"/>
            <a:tailEnd type="arrow" w="med" len="med"/>
          </a:ln>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67005" y="1513840"/>
            <a:ext cx="11979910" cy="368300"/>
          </a:xfrm>
          <a:prstGeom prst="rect">
            <a:avLst/>
          </a:prstGeom>
          <a:noFill/>
        </p:spPr>
        <p:txBody>
          <a:bodyPr wrap="square" rtlCol="0">
            <a:spAutoFit/>
          </a:bodyPr>
          <a:p>
            <a:endParaRPr lang="zh-CN" altLang="en-US"/>
          </a:p>
        </p:txBody>
      </p:sp>
    </p:spTree>
  </p:cSld>
  <p:clrMapOvr>
    <a:masterClrMapping/>
  </p:clrMapOvr>
  <p:transition advTm="7675">
    <p:plu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 calcmode="lin" valueType="num">
                                      <p:cBhvr additive="base">
                                        <p:cTn id="7" dur="500" fill="hold"/>
                                        <p:tgtEl>
                                          <p:spTgt spid="48"/>
                                        </p:tgtEl>
                                        <p:attrNameLst>
                                          <p:attrName>ppt_x</p:attrName>
                                        </p:attrNameLst>
                                      </p:cBhvr>
                                      <p:tavLst>
                                        <p:tav tm="0">
                                          <p:val>
                                            <p:strVal val="#ppt_x"/>
                                          </p:val>
                                        </p:tav>
                                        <p:tav tm="100000">
                                          <p:val>
                                            <p:strVal val="#ppt_x"/>
                                          </p:val>
                                        </p:tav>
                                      </p:tavLst>
                                    </p:anim>
                                    <p:anim calcmode="lin" valueType="num">
                                      <p:cBhvr additive="base">
                                        <p:cTn id="8"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48"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charset="-122"/>
                <a:ea typeface="微软雅黑" panose="020B0503020204020204" charset="-122"/>
              </a:rPr>
              <a:t>软件测试的流程</a:t>
            </a:r>
            <a:endParaRPr kumimoji="1" lang="zh-CN" altLang="en-US" sz="2000" b="0" dirty="0">
              <a:solidFill>
                <a:schemeClr val="tx1">
                  <a:lumMod val="65000"/>
                  <a:lumOff val="35000"/>
                </a:schemeClr>
              </a:solidFill>
              <a:latin typeface="微软雅黑" panose="020B0503020204020204" charset="-122"/>
              <a:ea typeface="微软雅黑" panose="020B0503020204020204" charset="-122"/>
            </a:endParaRPr>
          </a:p>
        </p:txBody>
      </p:sp>
      <p:sp>
        <p:nvSpPr>
          <p:cNvPr id="3" name="文本框 2"/>
          <p:cNvSpPr txBox="1"/>
          <p:nvPr/>
        </p:nvSpPr>
        <p:spPr>
          <a:xfrm>
            <a:off x="1040130" y="614680"/>
            <a:ext cx="4875530" cy="398780"/>
          </a:xfrm>
          <a:prstGeom prst="rect">
            <a:avLst/>
          </a:prstGeom>
          <a:noFill/>
        </p:spPr>
        <p:txBody>
          <a:bodyPr wrap="square" rtlCol="0">
            <a:spAutoFit/>
          </a:bodyPr>
          <a:p>
            <a:r>
              <a:rPr lang="zh-CN" altLang="en-US" sz="2000" b="1">
                <a:latin typeface="+mn-ea"/>
                <a:cs typeface="+mn-ea"/>
              </a:rPr>
              <a:t>（</a:t>
            </a:r>
            <a:r>
              <a:rPr lang="en-US" altLang="zh-CN" sz="2000" b="1">
                <a:latin typeface="+mn-ea"/>
                <a:cs typeface="+mn-ea"/>
              </a:rPr>
              <a:t>2</a:t>
            </a:r>
            <a:r>
              <a:rPr lang="zh-CN" altLang="en-US" sz="2000" b="1">
                <a:latin typeface="+mn-ea"/>
                <a:cs typeface="+mn-ea"/>
              </a:rPr>
              <a:t>）需求、计划、用例阶段流程图</a:t>
            </a:r>
            <a:endParaRPr lang="zh-CN" altLang="en-US" sz="2000" b="1">
              <a:latin typeface="+mn-ea"/>
              <a:cs typeface="+mn-ea"/>
            </a:endParaRPr>
          </a:p>
        </p:txBody>
      </p:sp>
      <p:graphicFrame>
        <p:nvGraphicFramePr>
          <p:cNvPr id="2" name="对象 1"/>
          <p:cNvGraphicFramePr/>
          <p:nvPr/>
        </p:nvGraphicFramePr>
        <p:xfrm>
          <a:off x="1473835" y="1341755"/>
          <a:ext cx="8280000" cy="5400000"/>
        </p:xfrm>
        <a:graphic>
          <a:graphicData uri="http://schemas.openxmlformats.org/presentationml/2006/ole">
            <mc:AlternateContent xmlns:mc="http://schemas.openxmlformats.org/markup-compatibility/2006">
              <mc:Choice xmlns:v="urn:schemas-microsoft-com:vml" Requires="v">
                <p:oleObj spid="_x0000_s3076" name="" r:id="rId1" imgW="9448800" imgH="7863840" progId="Visio.Drawing.11">
                  <p:embed/>
                </p:oleObj>
              </mc:Choice>
              <mc:Fallback>
                <p:oleObj name="" r:id="rId1" imgW="9448800" imgH="7863840" progId="Visio.Drawing.11">
                  <p:embed/>
                  <p:pic>
                    <p:nvPicPr>
                      <p:cNvPr id="0" name="图片 3075"/>
                      <p:cNvPicPr/>
                      <p:nvPr/>
                    </p:nvPicPr>
                    <p:blipFill>
                      <a:blip r:embed="rId2"/>
                      <a:stretch>
                        <a:fillRect/>
                      </a:stretch>
                    </p:blipFill>
                    <p:spPr>
                      <a:xfrm>
                        <a:off x="1473835" y="1341755"/>
                        <a:ext cx="8280000" cy="5400000"/>
                      </a:xfrm>
                      <a:prstGeom prst="rect">
                        <a:avLst/>
                      </a:prstGeom>
                      <a:noFill/>
                      <a:ln w="38100">
                        <a:noFill/>
                        <a:miter/>
                      </a:ln>
                    </p:spPr>
                  </p:pic>
                </p:oleObj>
              </mc:Fallback>
            </mc:AlternateContent>
          </a:graphicData>
        </a:graphic>
      </p:graphicFrame>
    </p:spTree>
  </p:cSld>
  <p:clrMapOvr>
    <a:masterClrMapping/>
  </p:clrMapOvr>
  <p:transition advTm="7675">
    <p:plu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80" name="文本占位符 3"/>
          <p:cNvSpPr txBox="1"/>
          <p:nvPr/>
        </p:nvSpPr>
        <p:spPr>
          <a:xfrm>
            <a:off x="431800" y="56515"/>
            <a:ext cx="3700145" cy="55816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sz="2000" b="0" dirty="0">
                <a:solidFill>
                  <a:schemeClr val="tx1">
                    <a:lumMod val="65000"/>
                    <a:lumOff val="35000"/>
                  </a:schemeClr>
                </a:solidFill>
                <a:latin typeface="微软雅黑" panose="020B0503020204020204" charset="-122"/>
                <a:ea typeface="微软雅黑" panose="020B0503020204020204" charset="-122"/>
              </a:rPr>
              <a:t>软件测试的流程</a:t>
            </a:r>
            <a:endParaRPr kumimoji="1" lang="zh-CN" sz="2000" b="0" dirty="0">
              <a:solidFill>
                <a:schemeClr val="tx1">
                  <a:lumMod val="65000"/>
                  <a:lumOff val="35000"/>
                </a:schemeClr>
              </a:solidFill>
              <a:latin typeface="微软雅黑" panose="020B0503020204020204" charset="-122"/>
              <a:ea typeface="微软雅黑" panose="020B0503020204020204" charset="-122"/>
            </a:endParaRPr>
          </a:p>
        </p:txBody>
      </p:sp>
      <p:sp>
        <p:nvSpPr>
          <p:cNvPr id="17" name="文本框 16"/>
          <p:cNvSpPr txBox="1"/>
          <p:nvPr/>
        </p:nvSpPr>
        <p:spPr>
          <a:xfrm>
            <a:off x="987425" y="858520"/>
            <a:ext cx="4483735" cy="398780"/>
          </a:xfrm>
          <a:prstGeom prst="rect">
            <a:avLst/>
          </a:prstGeom>
          <a:noFill/>
        </p:spPr>
        <p:txBody>
          <a:bodyPr wrap="square" rtlCol="0">
            <a:spAutoFit/>
          </a:bodyPr>
          <a:p>
            <a:r>
              <a:rPr lang="zh-CN" altLang="en-US" sz="2000" b="1">
                <a:latin typeface="+mn-ea"/>
                <a:cs typeface="+mn-ea"/>
              </a:rPr>
              <a:t>（</a:t>
            </a:r>
            <a:r>
              <a:rPr lang="en-US" altLang="zh-CN" sz="2000" b="1">
                <a:latin typeface="+mn-ea"/>
                <a:cs typeface="+mn-ea"/>
              </a:rPr>
              <a:t>3</a:t>
            </a:r>
            <a:r>
              <a:rPr lang="zh-CN" altLang="en-US" sz="2000" b="1">
                <a:latin typeface="+mn-ea"/>
                <a:cs typeface="+mn-ea"/>
              </a:rPr>
              <a:t>）单元</a:t>
            </a:r>
            <a:r>
              <a:rPr lang="en-US" altLang="zh-CN" sz="2000" b="1">
                <a:latin typeface="+mn-ea"/>
                <a:cs typeface="+mn-ea"/>
              </a:rPr>
              <a:t>/</a:t>
            </a:r>
            <a:r>
              <a:rPr lang="zh-CN" altLang="en-US" sz="2000" b="1">
                <a:latin typeface="+mn-ea"/>
                <a:cs typeface="+mn-ea"/>
              </a:rPr>
              <a:t>集成测试阶段流程图</a:t>
            </a:r>
            <a:endParaRPr lang="zh-CN" altLang="en-US" sz="2000" b="1">
              <a:latin typeface="+mn-ea"/>
              <a:cs typeface="+mn-ea"/>
            </a:endParaRPr>
          </a:p>
        </p:txBody>
      </p:sp>
      <p:graphicFrame>
        <p:nvGraphicFramePr>
          <p:cNvPr id="2" name="对象 2"/>
          <p:cNvGraphicFramePr/>
          <p:nvPr/>
        </p:nvGraphicFramePr>
        <p:xfrm>
          <a:off x="1724025" y="1486535"/>
          <a:ext cx="8289925" cy="4880610"/>
        </p:xfrm>
        <a:graphic>
          <a:graphicData uri="http://schemas.openxmlformats.org/presentationml/2006/ole">
            <mc:AlternateContent xmlns:mc="http://schemas.openxmlformats.org/markup-compatibility/2006">
              <mc:Choice xmlns:v="urn:schemas-microsoft-com:vml" Requires="v">
                <p:oleObj spid="_x0000_s3076" name="" r:id="rId1" imgW="8851265" imgH="9022080" progId="Visio.Drawing.11">
                  <p:embed/>
                </p:oleObj>
              </mc:Choice>
              <mc:Fallback>
                <p:oleObj name="" r:id="rId1" imgW="8851265" imgH="9022080" progId="Visio.Drawing.11">
                  <p:embed/>
                  <p:pic>
                    <p:nvPicPr>
                      <p:cNvPr id="0" name="图片 3075"/>
                      <p:cNvPicPr/>
                      <p:nvPr/>
                    </p:nvPicPr>
                    <p:blipFill>
                      <a:blip r:embed="rId2"/>
                      <a:stretch>
                        <a:fillRect/>
                      </a:stretch>
                    </p:blipFill>
                    <p:spPr>
                      <a:xfrm>
                        <a:off x="1724025" y="1486535"/>
                        <a:ext cx="8289925" cy="4880610"/>
                      </a:xfrm>
                      <a:prstGeom prst="rect">
                        <a:avLst/>
                      </a:prstGeom>
                      <a:noFill/>
                      <a:ln w="38100">
                        <a:noFill/>
                        <a:miter/>
                      </a:ln>
                    </p:spPr>
                  </p:pic>
                </p:oleObj>
              </mc:Fallback>
            </mc:AlternateContent>
          </a:graphicData>
        </a:graphic>
      </p:graphicFrame>
    </p:spTree>
  </p:cSld>
  <p:clrMapOvr>
    <a:masterClrMapping/>
  </p:clrMapOvr>
  <p:transition advTm="7675">
    <p:plu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7"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charset="-122"/>
                <a:ea typeface="微软雅黑" panose="020B0503020204020204" charset="-122"/>
              </a:rPr>
              <a:t>软件测试的流程</a:t>
            </a:r>
            <a:endParaRPr kumimoji="1" lang="zh-CN" altLang="en-US" sz="2000" b="0" dirty="0">
              <a:solidFill>
                <a:schemeClr val="tx1">
                  <a:lumMod val="65000"/>
                  <a:lumOff val="35000"/>
                </a:schemeClr>
              </a:solidFill>
              <a:latin typeface="微软雅黑" panose="020B0503020204020204" charset="-122"/>
              <a:ea typeface="微软雅黑" panose="020B0503020204020204" charset="-122"/>
            </a:endParaRPr>
          </a:p>
        </p:txBody>
      </p:sp>
      <p:grpSp>
        <p:nvGrpSpPr>
          <p:cNvPr id="17" name="Group 16"/>
          <p:cNvGrpSpPr/>
          <p:nvPr/>
        </p:nvGrpSpPr>
        <p:grpSpPr>
          <a:xfrm>
            <a:off x="5890171" y="3577628"/>
            <a:ext cx="359981" cy="360000"/>
            <a:chOff x="3526798" y="4057329"/>
            <a:chExt cx="284519" cy="359394"/>
          </a:xfrm>
          <a:solidFill>
            <a:schemeClr val="bg1"/>
          </a:solidFill>
        </p:grpSpPr>
        <p:sp>
          <p:nvSpPr>
            <p:cNvPr id="18" name="Freeform 107"/>
            <p:cNvSpPr/>
            <p:nvPr/>
          </p:nvSpPr>
          <p:spPr bwMode="auto">
            <a:xfrm>
              <a:off x="3561739" y="4092269"/>
              <a:ext cx="214637" cy="289511"/>
            </a:xfrm>
            <a:custGeom>
              <a:avLst/>
              <a:gdLst>
                <a:gd name="T0" fmla="*/ 0 w 86"/>
                <a:gd name="T1" fmla="*/ 10 h 116"/>
                <a:gd name="T2" fmla="*/ 76 w 86"/>
                <a:gd name="T3" fmla="*/ 10 h 116"/>
                <a:gd name="T4" fmla="*/ 76 w 86"/>
                <a:gd name="T5" fmla="*/ 116 h 116"/>
                <a:gd name="T6" fmla="*/ 86 w 86"/>
                <a:gd name="T7" fmla="*/ 116 h 116"/>
                <a:gd name="T8" fmla="*/ 86 w 86"/>
                <a:gd name="T9" fmla="*/ 0 h 116"/>
                <a:gd name="T10" fmla="*/ 0 w 86"/>
                <a:gd name="T11" fmla="*/ 0 h 116"/>
                <a:gd name="T12" fmla="*/ 0 w 86"/>
                <a:gd name="T13" fmla="*/ 10 h 116"/>
              </a:gdLst>
              <a:ahLst/>
              <a:cxnLst>
                <a:cxn ang="0">
                  <a:pos x="T0" y="T1"/>
                </a:cxn>
                <a:cxn ang="0">
                  <a:pos x="T2" y="T3"/>
                </a:cxn>
                <a:cxn ang="0">
                  <a:pos x="T4" y="T5"/>
                </a:cxn>
                <a:cxn ang="0">
                  <a:pos x="T6" y="T7"/>
                </a:cxn>
                <a:cxn ang="0">
                  <a:pos x="T8" y="T9"/>
                </a:cxn>
                <a:cxn ang="0">
                  <a:pos x="T10" y="T11"/>
                </a:cxn>
                <a:cxn ang="0">
                  <a:pos x="T12" y="T13"/>
                </a:cxn>
              </a:cxnLst>
              <a:rect l="0" t="0" r="r" b="b"/>
              <a:pathLst>
                <a:path w="86" h="116">
                  <a:moveTo>
                    <a:pt x="0" y="10"/>
                  </a:moveTo>
                  <a:lnTo>
                    <a:pt x="76" y="10"/>
                  </a:lnTo>
                  <a:lnTo>
                    <a:pt x="76" y="116"/>
                  </a:lnTo>
                  <a:lnTo>
                    <a:pt x="86" y="116"/>
                  </a:lnTo>
                  <a:lnTo>
                    <a:pt x="86" y="0"/>
                  </a:lnTo>
                  <a:lnTo>
                    <a:pt x="0" y="0"/>
                  </a:lnTo>
                  <a:lnTo>
                    <a:pt x="0" y="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6435" tIns="48218" rIns="96435" bIns="48218" numCol="1" anchor="t" anchorCtr="0" compatLnSpc="1"/>
            <a:lstStyle/>
            <a:p>
              <a:pPr algn="just">
                <a:lnSpc>
                  <a:spcPct val="120000"/>
                </a:lnSpc>
              </a:pPr>
              <a:endParaRPr lang="en-US" sz="800" dirty="0">
                <a:latin typeface="Arial" panose="020B0604020202020204" pitchFamily="34" charset="0"/>
                <a:ea typeface="微软雅黑" panose="020B0503020204020204" charset="-122"/>
                <a:cs typeface="+mn-ea"/>
                <a:sym typeface="Arial" panose="020B0604020202020204" pitchFamily="34" charset="0"/>
              </a:endParaRPr>
            </a:p>
          </p:txBody>
        </p:sp>
        <p:sp>
          <p:nvSpPr>
            <p:cNvPr id="19" name="Freeform 108"/>
            <p:cNvSpPr/>
            <p:nvPr/>
          </p:nvSpPr>
          <p:spPr bwMode="auto">
            <a:xfrm>
              <a:off x="3599175" y="4057329"/>
              <a:ext cx="212142" cy="284519"/>
            </a:xfrm>
            <a:custGeom>
              <a:avLst/>
              <a:gdLst>
                <a:gd name="T0" fmla="*/ 0 w 85"/>
                <a:gd name="T1" fmla="*/ 0 h 114"/>
                <a:gd name="T2" fmla="*/ 0 w 85"/>
                <a:gd name="T3" fmla="*/ 9 h 114"/>
                <a:gd name="T4" fmla="*/ 76 w 85"/>
                <a:gd name="T5" fmla="*/ 9 h 114"/>
                <a:gd name="T6" fmla="*/ 76 w 85"/>
                <a:gd name="T7" fmla="*/ 114 h 114"/>
                <a:gd name="T8" fmla="*/ 85 w 85"/>
                <a:gd name="T9" fmla="*/ 114 h 114"/>
                <a:gd name="T10" fmla="*/ 85 w 85"/>
                <a:gd name="T11" fmla="*/ 0 h 114"/>
                <a:gd name="T12" fmla="*/ 0 w 85"/>
                <a:gd name="T13" fmla="*/ 0 h 114"/>
              </a:gdLst>
              <a:ahLst/>
              <a:cxnLst>
                <a:cxn ang="0">
                  <a:pos x="T0" y="T1"/>
                </a:cxn>
                <a:cxn ang="0">
                  <a:pos x="T2" y="T3"/>
                </a:cxn>
                <a:cxn ang="0">
                  <a:pos x="T4" y="T5"/>
                </a:cxn>
                <a:cxn ang="0">
                  <a:pos x="T6" y="T7"/>
                </a:cxn>
                <a:cxn ang="0">
                  <a:pos x="T8" y="T9"/>
                </a:cxn>
                <a:cxn ang="0">
                  <a:pos x="T10" y="T11"/>
                </a:cxn>
                <a:cxn ang="0">
                  <a:pos x="T12" y="T13"/>
                </a:cxn>
              </a:cxnLst>
              <a:rect l="0" t="0" r="r" b="b"/>
              <a:pathLst>
                <a:path w="85" h="114">
                  <a:moveTo>
                    <a:pt x="0" y="0"/>
                  </a:moveTo>
                  <a:lnTo>
                    <a:pt x="0" y="9"/>
                  </a:lnTo>
                  <a:lnTo>
                    <a:pt x="76" y="9"/>
                  </a:lnTo>
                  <a:lnTo>
                    <a:pt x="76" y="114"/>
                  </a:lnTo>
                  <a:lnTo>
                    <a:pt x="85" y="114"/>
                  </a:lnTo>
                  <a:lnTo>
                    <a:pt x="85"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6435" tIns="48218" rIns="96435" bIns="48218" numCol="1" anchor="t" anchorCtr="0" compatLnSpc="1"/>
            <a:lstStyle/>
            <a:p>
              <a:pPr algn="just">
                <a:lnSpc>
                  <a:spcPct val="120000"/>
                </a:lnSpc>
              </a:pPr>
              <a:endParaRPr lang="en-US" sz="800" dirty="0">
                <a:latin typeface="Arial" panose="020B0604020202020204" pitchFamily="34" charset="0"/>
                <a:ea typeface="微软雅黑" panose="020B0503020204020204" charset="-122"/>
                <a:cs typeface="+mn-ea"/>
                <a:sym typeface="Arial" panose="020B0604020202020204" pitchFamily="34" charset="0"/>
              </a:endParaRPr>
            </a:p>
          </p:txBody>
        </p:sp>
        <p:sp>
          <p:nvSpPr>
            <p:cNvPr id="20" name="Freeform 109"/>
            <p:cNvSpPr/>
            <p:nvPr/>
          </p:nvSpPr>
          <p:spPr bwMode="auto">
            <a:xfrm>
              <a:off x="3526798" y="4129707"/>
              <a:ext cx="212142" cy="287016"/>
            </a:xfrm>
            <a:custGeom>
              <a:avLst/>
              <a:gdLst>
                <a:gd name="T0" fmla="*/ 0 w 85"/>
                <a:gd name="T1" fmla="*/ 0 h 115"/>
                <a:gd name="T2" fmla="*/ 0 w 85"/>
                <a:gd name="T3" fmla="*/ 115 h 115"/>
                <a:gd name="T4" fmla="*/ 85 w 85"/>
                <a:gd name="T5" fmla="*/ 115 h 115"/>
                <a:gd name="T6" fmla="*/ 85 w 85"/>
                <a:gd name="T7" fmla="*/ 105 h 115"/>
                <a:gd name="T8" fmla="*/ 85 w 85"/>
                <a:gd name="T9" fmla="*/ 0 h 115"/>
                <a:gd name="T10" fmla="*/ 10 w 85"/>
                <a:gd name="T11" fmla="*/ 0 h 115"/>
                <a:gd name="T12" fmla="*/ 0 w 85"/>
                <a:gd name="T13" fmla="*/ 0 h 115"/>
              </a:gdLst>
              <a:ahLst/>
              <a:cxnLst>
                <a:cxn ang="0">
                  <a:pos x="T0" y="T1"/>
                </a:cxn>
                <a:cxn ang="0">
                  <a:pos x="T2" y="T3"/>
                </a:cxn>
                <a:cxn ang="0">
                  <a:pos x="T4" y="T5"/>
                </a:cxn>
                <a:cxn ang="0">
                  <a:pos x="T6" y="T7"/>
                </a:cxn>
                <a:cxn ang="0">
                  <a:pos x="T8" y="T9"/>
                </a:cxn>
                <a:cxn ang="0">
                  <a:pos x="T10" y="T11"/>
                </a:cxn>
                <a:cxn ang="0">
                  <a:pos x="T12" y="T13"/>
                </a:cxn>
              </a:cxnLst>
              <a:rect l="0" t="0" r="r" b="b"/>
              <a:pathLst>
                <a:path w="85" h="115">
                  <a:moveTo>
                    <a:pt x="0" y="0"/>
                  </a:moveTo>
                  <a:lnTo>
                    <a:pt x="0" y="115"/>
                  </a:lnTo>
                  <a:lnTo>
                    <a:pt x="85" y="115"/>
                  </a:lnTo>
                  <a:lnTo>
                    <a:pt x="85" y="105"/>
                  </a:lnTo>
                  <a:lnTo>
                    <a:pt x="85" y="0"/>
                  </a:lnTo>
                  <a:lnTo>
                    <a:pt x="1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6435" tIns="48218" rIns="96435" bIns="48218" numCol="1" anchor="t" anchorCtr="0" compatLnSpc="1"/>
            <a:lstStyle/>
            <a:p>
              <a:pPr algn="just">
                <a:lnSpc>
                  <a:spcPct val="120000"/>
                </a:lnSpc>
              </a:pPr>
              <a:endParaRPr lang="en-US" sz="800" dirty="0">
                <a:latin typeface="Arial" panose="020B0604020202020204" pitchFamily="34" charset="0"/>
                <a:ea typeface="微软雅黑" panose="020B0503020204020204" charset="-122"/>
                <a:cs typeface="+mn-ea"/>
                <a:sym typeface="Arial" panose="020B0604020202020204" pitchFamily="34" charset="0"/>
              </a:endParaRPr>
            </a:p>
          </p:txBody>
        </p:sp>
      </p:grpSp>
      <p:grpSp>
        <p:nvGrpSpPr>
          <p:cNvPr id="21" name="Group 20"/>
          <p:cNvGrpSpPr/>
          <p:nvPr/>
        </p:nvGrpSpPr>
        <p:grpSpPr>
          <a:xfrm>
            <a:off x="1740930" y="2643433"/>
            <a:ext cx="359981" cy="360000"/>
            <a:chOff x="4669866" y="3800264"/>
            <a:chExt cx="279527" cy="416797"/>
          </a:xfrm>
          <a:solidFill>
            <a:schemeClr val="bg1"/>
          </a:solidFill>
        </p:grpSpPr>
        <p:sp>
          <p:nvSpPr>
            <p:cNvPr id="22" name="Freeform 141"/>
            <p:cNvSpPr>
              <a:spLocks noEditPoints="1"/>
            </p:cNvSpPr>
            <p:nvPr/>
          </p:nvSpPr>
          <p:spPr bwMode="auto">
            <a:xfrm>
              <a:off x="4669866" y="3800264"/>
              <a:ext cx="279527" cy="316965"/>
            </a:xfrm>
            <a:custGeom>
              <a:avLst/>
              <a:gdLst>
                <a:gd name="T0" fmla="*/ 84 w 84"/>
                <a:gd name="T1" fmla="*/ 42 h 95"/>
                <a:gd name="T2" fmla="*/ 42 w 84"/>
                <a:gd name="T3" fmla="*/ 0 h 95"/>
                <a:gd name="T4" fmla="*/ 0 w 84"/>
                <a:gd name="T5" fmla="*/ 42 h 95"/>
                <a:gd name="T6" fmla="*/ 28 w 84"/>
                <a:gd name="T7" fmla="*/ 81 h 95"/>
                <a:gd name="T8" fmla="*/ 25 w 84"/>
                <a:gd name="T9" fmla="*/ 81 h 95"/>
                <a:gd name="T10" fmla="*/ 25 w 84"/>
                <a:gd name="T11" fmla="*/ 95 h 95"/>
                <a:gd name="T12" fmla="*/ 60 w 84"/>
                <a:gd name="T13" fmla="*/ 95 h 95"/>
                <a:gd name="T14" fmla="*/ 60 w 84"/>
                <a:gd name="T15" fmla="*/ 81 h 95"/>
                <a:gd name="T16" fmla="*/ 57 w 84"/>
                <a:gd name="T17" fmla="*/ 81 h 95"/>
                <a:gd name="T18" fmla="*/ 84 w 84"/>
                <a:gd name="T19" fmla="*/ 42 h 95"/>
                <a:gd name="T20" fmla="*/ 42 w 84"/>
                <a:gd name="T21" fmla="*/ 77 h 95"/>
                <a:gd name="T22" fmla="*/ 7 w 84"/>
                <a:gd name="T23" fmla="*/ 42 h 95"/>
                <a:gd name="T24" fmla="*/ 42 w 84"/>
                <a:gd name="T25" fmla="*/ 7 h 95"/>
                <a:gd name="T26" fmla="*/ 77 w 84"/>
                <a:gd name="T27" fmla="*/ 42 h 95"/>
                <a:gd name="T28" fmla="*/ 42 w 84"/>
                <a:gd name="T29" fmla="*/ 77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4" h="95">
                  <a:moveTo>
                    <a:pt x="84" y="42"/>
                  </a:moveTo>
                  <a:cubicBezTo>
                    <a:pt x="84" y="19"/>
                    <a:pt x="65" y="0"/>
                    <a:pt x="42" y="0"/>
                  </a:cubicBezTo>
                  <a:cubicBezTo>
                    <a:pt x="19" y="0"/>
                    <a:pt x="0" y="19"/>
                    <a:pt x="0" y="42"/>
                  </a:cubicBezTo>
                  <a:cubicBezTo>
                    <a:pt x="0" y="60"/>
                    <a:pt x="12" y="75"/>
                    <a:pt x="28" y="81"/>
                  </a:cubicBezTo>
                  <a:cubicBezTo>
                    <a:pt x="25" y="81"/>
                    <a:pt x="25" y="81"/>
                    <a:pt x="25" y="81"/>
                  </a:cubicBezTo>
                  <a:cubicBezTo>
                    <a:pt x="25" y="95"/>
                    <a:pt x="25" y="95"/>
                    <a:pt x="25" y="95"/>
                  </a:cubicBezTo>
                  <a:cubicBezTo>
                    <a:pt x="60" y="95"/>
                    <a:pt x="60" y="95"/>
                    <a:pt x="60" y="95"/>
                  </a:cubicBezTo>
                  <a:cubicBezTo>
                    <a:pt x="60" y="81"/>
                    <a:pt x="60" y="81"/>
                    <a:pt x="60" y="81"/>
                  </a:cubicBezTo>
                  <a:cubicBezTo>
                    <a:pt x="57" y="81"/>
                    <a:pt x="57" y="81"/>
                    <a:pt x="57" y="81"/>
                  </a:cubicBezTo>
                  <a:cubicBezTo>
                    <a:pt x="73" y="75"/>
                    <a:pt x="84" y="60"/>
                    <a:pt x="84" y="42"/>
                  </a:cubicBezTo>
                  <a:close/>
                  <a:moveTo>
                    <a:pt x="42" y="77"/>
                  </a:moveTo>
                  <a:cubicBezTo>
                    <a:pt x="23" y="77"/>
                    <a:pt x="7" y="61"/>
                    <a:pt x="7" y="42"/>
                  </a:cubicBezTo>
                  <a:cubicBezTo>
                    <a:pt x="7" y="23"/>
                    <a:pt x="23" y="7"/>
                    <a:pt x="42" y="7"/>
                  </a:cubicBezTo>
                  <a:cubicBezTo>
                    <a:pt x="62" y="7"/>
                    <a:pt x="77" y="23"/>
                    <a:pt x="77" y="42"/>
                  </a:cubicBezTo>
                  <a:cubicBezTo>
                    <a:pt x="77" y="61"/>
                    <a:pt x="62" y="77"/>
                    <a:pt x="42" y="7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6435" tIns="48218" rIns="96435" bIns="48218" numCol="1" anchor="t" anchorCtr="0" compatLnSpc="1"/>
            <a:lstStyle/>
            <a:p>
              <a:pPr algn="just">
                <a:lnSpc>
                  <a:spcPct val="120000"/>
                </a:lnSpc>
              </a:pPr>
              <a:endParaRPr lang="en-US" sz="800" dirty="0">
                <a:latin typeface="Arial" panose="020B0604020202020204" pitchFamily="34" charset="0"/>
                <a:ea typeface="微软雅黑" panose="020B0503020204020204" charset="-122"/>
                <a:cs typeface="+mn-ea"/>
                <a:sym typeface="Arial" panose="020B0604020202020204" pitchFamily="34" charset="0"/>
              </a:endParaRPr>
            </a:p>
          </p:txBody>
        </p:sp>
        <p:sp>
          <p:nvSpPr>
            <p:cNvPr id="23" name="Rectangle 142"/>
            <p:cNvSpPr>
              <a:spLocks noChangeArrowheads="1"/>
            </p:cNvSpPr>
            <p:nvPr/>
          </p:nvSpPr>
          <p:spPr bwMode="auto">
            <a:xfrm>
              <a:off x="4752226" y="4127210"/>
              <a:ext cx="117302" cy="4242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6435" tIns="48218" rIns="96435" bIns="48218" numCol="1" anchor="t" anchorCtr="0" compatLnSpc="1"/>
            <a:lstStyle/>
            <a:p>
              <a:pPr algn="just">
                <a:lnSpc>
                  <a:spcPct val="120000"/>
                </a:lnSpc>
              </a:pPr>
              <a:endParaRPr lang="en-US" sz="800" dirty="0">
                <a:latin typeface="Arial" panose="020B0604020202020204" pitchFamily="34" charset="0"/>
                <a:ea typeface="微软雅黑" panose="020B0503020204020204" charset="-122"/>
                <a:cs typeface="+mn-ea"/>
                <a:sym typeface="Arial" panose="020B0604020202020204" pitchFamily="34" charset="0"/>
              </a:endParaRPr>
            </a:p>
          </p:txBody>
        </p:sp>
        <p:sp>
          <p:nvSpPr>
            <p:cNvPr id="24" name="Freeform 143"/>
            <p:cNvSpPr/>
            <p:nvPr/>
          </p:nvSpPr>
          <p:spPr bwMode="auto">
            <a:xfrm>
              <a:off x="4752226" y="4179623"/>
              <a:ext cx="117302" cy="37438"/>
            </a:xfrm>
            <a:custGeom>
              <a:avLst/>
              <a:gdLst>
                <a:gd name="T0" fmla="*/ 0 w 47"/>
                <a:gd name="T1" fmla="*/ 9 h 15"/>
                <a:gd name="T2" fmla="*/ 16 w 47"/>
                <a:gd name="T3" fmla="*/ 9 h 15"/>
                <a:gd name="T4" fmla="*/ 16 w 47"/>
                <a:gd name="T5" fmla="*/ 15 h 15"/>
                <a:gd name="T6" fmla="*/ 31 w 47"/>
                <a:gd name="T7" fmla="*/ 15 h 15"/>
                <a:gd name="T8" fmla="*/ 31 w 47"/>
                <a:gd name="T9" fmla="*/ 9 h 15"/>
                <a:gd name="T10" fmla="*/ 47 w 47"/>
                <a:gd name="T11" fmla="*/ 9 h 15"/>
                <a:gd name="T12" fmla="*/ 47 w 47"/>
                <a:gd name="T13" fmla="*/ 0 h 15"/>
                <a:gd name="T14" fmla="*/ 0 w 47"/>
                <a:gd name="T15" fmla="*/ 0 h 15"/>
                <a:gd name="T16" fmla="*/ 0 w 47"/>
                <a:gd name="T17" fmla="*/ 9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15">
                  <a:moveTo>
                    <a:pt x="0" y="9"/>
                  </a:moveTo>
                  <a:lnTo>
                    <a:pt x="16" y="9"/>
                  </a:lnTo>
                  <a:lnTo>
                    <a:pt x="16" y="15"/>
                  </a:lnTo>
                  <a:lnTo>
                    <a:pt x="31" y="15"/>
                  </a:lnTo>
                  <a:lnTo>
                    <a:pt x="31" y="9"/>
                  </a:lnTo>
                  <a:lnTo>
                    <a:pt x="47" y="9"/>
                  </a:lnTo>
                  <a:lnTo>
                    <a:pt x="47" y="0"/>
                  </a:lnTo>
                  <a:lnTo>
                    <a:pt x="0" y="0"/>
                  </a:lnTo>
                  <a:lnTo>
                    <a:pt x="0" y="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6435" tIns="48218" rIns="96435" bIns="48218" numCol="1" anchor="t" anchorCtr="0" compatLnSpc="1"/>
            <a:lstStyle/>
            <a:p>
              <a:pPr algn="just">
                <a:lnSpc>
                  <a:spcPct val="120000"/>
                </a:lnSpc>
              </a:pPr>
              <a:endParaRPr lang="en-US" sz="800" dirty="0">
                <a:latin typeface="Arial" panose="020B0604020202020204" pitchFamily="34" charset="0"/>
                <a:ea typeface="微软雅黑" panose="020B0503020204020204" charset="-122"/>
                <a:cs typeface="+mn-ea"/>
                <a:sym typeface="Arial" panose="020B0604020202020204" pitchFamily="34" charset="0"/>
              </a:endParaRPr>
            </a:p>
          </p:txBody>
        </p:sp>
        <p:sp>
          <p:nvSpPr>
            <p:cNvPr id="25" name="Freeform 144"/>
            <p:cNvSpPr>
              <a:spLocks noEditPoints="1"/>
            </p:cNvSpPr>
            <p:nvPr/>
          </p:nvSpPr>
          <p:spPr bwMode="auto">
            <a:xfrm>
              <a:off x="4769697" y="3890112"/>
              <a:ext cx="82362" cy="162227"/>
            </a:xfrm>
            <a:custGeom>
              <a:avLst/>
              <a:gdLst>
                <a:gd name="T0" fmla="*/ 32 w 33"/>
                <a:gd name="T1" fmla="*/ 3 h 65"/>
                <a:gd name="T2" fmla="*/ 28 w 33"/>
                <a:gd name="T3" fmla="*/ 0 h 65"/>
                <a:gd name="T4" fmla="*/ 16 w 33"/>
                <a:gd name="T5" fmla="*/ 5 h 65"/>
                <a:gd name="T6" fmla="*/ 4 w 33"/>
                <a:gd name="T7" fmla="*/ 0 h 65"/>
                <a:gd name="T8" fmla="*/ 0 w 33"/>
                <a:gd name="T9" fmla="*/ 3 h 65"/>
                <a:gd name="T10" fmla="*/ 0 w 33"/>
                <a:gd name="T11" fmla="*/ 3 h 65"/>
                <a:gd name="T12" fmla="*/ 0 w 33"/>
                <a:gd name="T13" fmla="*/ 3 h 65"/>
                <a:gd name="T14" fmla="*/ 15 w 33"/>
                <a:gd name="T15" fmla="*/ 65 h 65"/>
                <a:gd name="T16" fmla="*/ 19 w 33"/>
                <a:gd name="T17" fmla="*/ 65 h 65"/>
                <a:gd name="T18" fmla="*/ 33 w 33"/>
                <a:gd name="T19" fmla="*/ 3 h 65"/>
                <a:gd name="T20" fmla="*/ 33 w 33"/>
                <a:gd name="T21" fmla="*/ 3 h 65"/>
                <a:gd name="T22" fmla="*/ 33 w 33"/>
                <a:gd name="T23" fmla="*/ 3 h 65"/>
                <a:gd name="T24" fmla="*/ 33 w 33"/>
                <a:gd name="T25" fmla="*/ 3 h 65"/>
                <a:gd name="T26" fmla="*/ 32 w 33"/>
                <a:gd name="T27" fmla="*/ 3 h 65"/>
                <a:gd name="T28" fmla="*/ 16 w 33"/>
                <a:gd name="T29" fmla="*/ 57 h 65"/>
                <a:gd name="T30" fmla="*/ 4 w 33"/>
                <a:gd name="T31" fmla="*/ 4 h 65"/>
                <a:gd name="T32" fmla="*/ 16 w 33"/>
                <a:gd name="T33" fmla="*/ 8 h 65"/>
                <a:gd name="T34" fmla="*/ 29 w 33"/>
                <a:gd name="T35" fmla="*/ 4 h 65"/>
                <a:gd name="T36" fmla="*/ 16 w 33"/>
                <a:gd name="T37" fmla="*/ 57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3" h="65">
                  <a:moveTo>
                    <a:pt x="32" y="3"/>
                  </a:moveTo>
                  <a:lnTo>
                    <a:pt x="28" y="0"/>
                  </a:lnTo>
                  <a:lnTo>
                    <a:pt x="16" y="5"/>
                  </a:lnTo>
                  <a:lnTo>
                    <a:pt x="4" y="0"/>
                  </a:lnTo>
                  <a:lnTo>
                    <a:pt x="0" y="3"/>
                  </a:lnTo>
                  <a:lnTo>
                    <a:pt x="0" y="3"/>
                  </a:lnTo>
                  <a:lnTo>
                    <a:pt x="0" y="3"/>
                  </a:lnTo>
                  <a:lnTo>
                    <a:pt x="15" y="65"/>
                  </a:lnTo>
                  <a:lnTo>
                    <a:pt x="19" y="65"/>
                  </a:lnTo>
                  <a:lnTo>
                    <a:pt x="33" y="3"/>
                  </a:lnTo>
                  <a:lnTo>
                    <a:pt x="33" y="3"/>
                  </a:lnTo>
                  <a:lnTo>
                    <a:pt x="33" y="3"/>
                  </a:lnTo>
                  <a:lnTo>
                    <a:pt x="33" y="3"/>
                  </a:lnTo>
                  <a:lnTo>
                    <a:pt x="32" y="3"/>
                  </a:lnTo>
                  <a:close/>
                  <a:moveTo>
                    <a:pt x="16" y="57"/>
                  </a:moveTo>
                  <a:lnTo>
                    <a:pt x="4" y="4"/>
                  </a:lnTo>
                  <a:lnTo>
                    <a:pt x="16" y="8"/>
                  </a:lnTo>
                  <a:lnTo>
                    <a:pt x="29" y="4"/>
                  </a:lnTo>
                  <a:lnTo>
                    <a:pt x="16" y="5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6435" tIns="48218" rIns="96435" bIns="48218" numCol="1" anchor="t" anchorCtr="0" compatLnSpc="1"/>
            <a:lstStyle/>
            <a:p>
              <a:pPr algn="just">
                <a:lnSpc>
                  <a:spcPct val="120000"/>
                </a:lnSpc>
              </a:pPr>
              <a:endParaRPr lang="en-US" sz="800" dirty="0">
                <a:latin typeface="Arial" panose="020B0604020202020204" pitchFamily="34" charset="0"/>
                <a:ea typeface="微软雅黑" panose="020B0503020204020204" charset="-122"/>
                <a:cs typeface="+mn-ea"/>
                <a:sym typeface="Arial" panose="020B0604020202020204" pitchFamily="34" charset="0"/>
              </a:endParaRPr>
            </a:p>
          </p:txBody>
        </p:sp>
      </p:grpSp>
      <p:grpSp>
        <p:nvGrpSpPr>
          <p:cNvPr id="26" name="Group 25"/>
          <p:cNvGrpSpPr/>
          <p:nvPr/>
        </p:nvGrpSpPr>
        <p:grpSpPr>
          <a:xfrm>
            <a:off x="3821318" y="3176179"/>
            <a:ext cx="359981" cy="360000"/>
            <a:chOff x="3440113" y="1050925"/>
            <a:chExt cx="390525" cy="333376"/>
          </a:xfrm>
          <a:solidFill>
            <a:schemeClr val="bg1"/>
          </a:solidFill>
        </p:grpSpPr>
        <p:sp>
          <p:nvSpPr>
            <p:cNvPr id="27" name="Freeform 8"/>
            <p:cNvSpPr/>
            <p:nvPr/>
          </p:nvSpPr>
          <p:spPr bwMode="auto">
            <a:xfrm>
              <a:off x="3563938" y="1244600"/>
              <a:ext cx="69850" cy="71438"/>
            </a:xfrm>
            <a:custGeom>
              <a:avLst/>
              <a:gdLst>
                <a:gd name="T0" fmla="*/ 44 w 44"/>
                <a:gd name="T1" fmla="*/ 25 h 45"/>
                <a:gd name="T2" fmla="*/ 19 w 44"/>
                <a:gd name="T3" fmla="*/ 0 h 45"/>
                <a:gd name="T4" fmla="*/ 19 w 44"/>
                <a:gd name="T5" fmla="*/ 0 h 45"/>
                <a:gd name="T6" fmla="*/ 0 w 44"/>
                <a:gd name="T7" fmla="*/ 45 h 45"/>
                <a:gd name="T8" fmla="*/ 44 w 44"/>
                <a:gd name="T9" fmla="*/ 25 h 45"/>
              </a:gdLst>
              <a:ahLst/>
              <a:cxnLst>
                <a:cxn ang="0">
                  <a:pos x="T0" y="T1"/>
                </a:cxn>
                <a:cxn ang="0">
                  <a:pos x="T2" y="T3"/>
                </a:cxn>
                <a:cxn ang="0">
                  <a:pos x="T4" y="T5"/>
                </a:cxn>
                <a:cxn ang="0">
                  <a:pos x="T6" y="T7"/>
                </a:cxn>
                <a:cxn ang="0">
                  <a:pos x="T8" y="T9"/>
                </a:cxn>
              </a:cxnLst>
              <a:rect l="0" t="0" r="r" b="b"/>
              <a:pathLst>
                <a:path w="44" h="45">
                  <a:moveTo>
                    <a:pt x="44" y="25"/>
                  </a:moveTo>
                  <a:lnTo>
                    <a:pt x="19" y="0"/>
                  </a:lnTo>
                  <a:lnTo>
                    <a:pt x="19" y="0"/>
                  </a:lnTo>
                  <a:lnTo>
                    <a:pt x="0" y="45"/>
                  </a:lnTo>
                  <a:lnTo>
                    <a:pt x="44" y="2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6435" tIns="48218" rIns="96435" bIns="48218" numCol="1" anchor="t" anchorCtr="0" compatLnSpc="1"/>
            <a:lstStyle/>
            <a:p>
              <a:pPr algn="just">
                <a:lnSpc>
                  <a:spcPct val="120000"/>
                </a:lnSpc>
              </a:pPr>
              <a:endParaRPr lang="en-US" sz="800" dirty="0">
                <a:latin typeface="Arial" panose="020B0604020202020204" pitchFamily="34" charset="0"/>
                <a:ea typeface="微软雅黑" panose="020B0503020204020204" charset="-122"/>
                <a:cs typeface="+mn-ea"/>
                <a:sym typeface="Arial" panose="020B0604020202020204" pitchFamily="34" charset="0"/>
              </a:endParaRPr>
            </a:p>
          </p:txBody>
        </p:sp>
        <p:sp>
          <p:nvSpPr>
            <p:cNvPr id="28" name="Rectangle 9"/>
            <p:cNvSpPr>
              <a:spLocks noChangeArrowheads="1"/>
            </p:cNvSpPr>
            <p:nvPr/>
          </p:nvSpPr>
          <p:spPr bwMode="auto">
            <a:xfrm>
              <a:off x="3633788" y="1284288"/>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6435" tIns="48218" rIns="96435" bIns="48218" numCol="1" anchor="t" anchorCtr="0" compatLnSpc="1"/>
            <a:lstStyle/>
            <a:p>
              <a:pPr algn="just">
                <a:lnSpc>
                  <a:spcPct val="120000"/>
                </a:lnSpc>
              </a:pPr>
              <a:endParaRPr lang="en-US" sz="800" dirty="0">
                <a:latin typeface="Arial" panose="020B0604020202020204" pitchFamily="34" charset="0"/>
                <a:ea typeface="微软雅黑" panose="020B0503020204020204" charset="-122"/>
                <a:cs typeface="+mn-ea"/>
                <a:sym typeface="Arial" panose="020B0604020202020204" pitchFamily="34" charset="0"/>
              </a:endParaRPr>
            </a:p>
          </p:txBody>
        </p:sp>
        <p:sp>
          <p:nvSpPr>
            <p:cNvPr id="29" name="Freeform 10"/>
            <p:cNvSpPr/>
            <p:nvPr/>
          </p:nvSpPr>
          <p:spPr bwMode="auto">
            <a:xfrm>
              <a:off x="3605213" y="1074738"/>
              <a:ext cx="176213" cy="176213"/>
            </a:xfrm>
            <a:custGeom>
              <a:avLst/>
              <a:gdLst>
                <a:gd name="T0" fmla="*/ 101 w 111"/>
                <a:gd name="T1" fmla="*/ 0 h 111"/>
                <a:gd name="T2" fmla="*/ 0 w 111"/>
                <a:gd name="T3" fmla="*/ 101 h 111"/>
                <a:gd name="T4" fmla="*/ 10 w 111"/>
                <a:gd name="T5" fmla="*/ 111 h 111"/>
                <a:gd name="T6" fmla="*/ 111 w 111"/>
                <a:gd name="T7" fmla="*/ 10 h 111"/>
                <a:gd name="T8" fmla="*/ 101 w 111"/>
                <a:gd name="T9" fmla="*/ 0 h 111"/>
              </a:gdLst>
              <a:ahLst/>
              <a:cxnLst>
                <a:cxn ang="0">
                  <a:pos x="T0" y="T1"/>
                </a:cxn>
                <a:cxn ang="0">
                  <a:pos x="T2" y="T3"/>
                </a:cxn>
                <a:cxn ang="0">
                  <a:pos x="T4" y="T5"/>
                </a:cxn>
                <a:cxn ang="0">
                  <a:pos x="T6" y="T7"/>
                </a:cxn>
                <a:cxn ang="0">
                  <a:pos x="T8" y="T9"/>
                </a:cxn>
              </a:cxnLst>
              <a:rect l="0" t="0" r="r" b="b"/>
              <a:pathLst>
                <a:path w="111" h="111">
                  <a:moveTo>
                    <a:pt x="101" y="0"/>
                  </a:moveTo>
                  <a:lnTo>
                    <a:pt x="0" y="101"/>
                  </a:lnTo>
                  <a:lnTo>
                    <a:pt x="10" y="111"/>
                  </a:lnTo>
                  <a:lnTo>
                    <a:pt x="111" y="10"/>
                  </a:lnTo>
                  <a:lnTo>
                    <a:pt x="10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6435" tIns="48218" rIns="96435" bIns="48218" numCol="1" anchor="t" anchorCtr="0" compatLnSpc="1"/>
            <a:lstStyle/>
            <a:p>
              <a:pPr algn="just">
                <a:lnSpc>
                  <a:spcPct val="120000"/>
                </a:lnSpc>
              </a:pPr>
              <a:endParaRPr lang="en-US" sz="800" dirty="0">
                <a:latin typeface="Arial" panose="020B0604020202020204" pitchFamily="34" charset="0"/>
                <a:ea typeface="微软雅黑" panose="020B0503020204020204" charset="-122"/>
                <a:cs typeface="+mn-ea"/>
                <a:sym typeface="Arial" panose="020B0604020202020204" pitchFamily="34" charset="0"/>
              </a:endParaRPr>
            </a:p>
          </p:txBody>
        </p:sp>
        <p:sp>
          <p:nvSpPr>
            <p:cNvPr id="30" name="Freeform 11"/>
            <p:cNvSpPr/>
            <p:nvPr/>
          </p:nvSpPr>
          <p:spPr bwMode="auto">
            <a:xfrm>
              <a:off x="3629025" y="1098550"/>
              <a:ext cx="177800" cy="177800"/>
            </a:xfrm>
            <a:custGeom>
              <a:avLst/>
              <a:gdLst>
                <a:gd name="T0" fmla="*/ 0 w 112"/>
                <a:gd name="T1" fmla="*/ 102 h 112"/>
                <a:gd name="T2" fmla="*/ 10 w 112"/>
                <a:gd name="T3" fmla="*/ 112 h 112"/>
                <a:gd name="T4" fmla="*/ 112 w 112"/>
                <a:gd name="T5" fmla="*/ 12 h 112"/>
                <a:gd name="T6" fmla="*/ 102 w 112"/>
                <a:gd name="T7" fmla="*/ 0 h 112"/>
                <a:gd name="T8" fmla="*/ 0 w 112"/>
                <a:gd name="T9" fmla="*/ 102 h 112"/>
              </a:gdLst>
              <a:ahLst/>
              <a:cxnLst>
                <a:cxn ang="0">
                  <a:pos x="T0" y="T1"/>
                </a:cxn>
                <a:cxn ang="0">
                  <a:pos x="T2" y="T3"/>
                </a:cxn>
                <a:cxn ang="0">
                  <a:pos x="T4" y="T5"/>
                </a:cxn>
                <a:cxn ang="0">
                  <a:pos x="T6" y="T7"/>
                </a:cxn>
                <a:cxn ang="0">
                  <a:pos x="T8" y="T9"/>
                </a:cxn>
              </a:cxnLst>
              <a:rect l="0" t="0" r="r" b="b"/>
              <a:pathLst>
                <a:path w="112" h="112">
                  <a:moveTo>
                    <a:pt x="0" y="102"/>
                  </a:moveTo>
                  <a:lnTo>
                    <a:pt x="10" y="112"/>
                  </a:lnTo>
                  <a:lnTo>
                    <a:pt x="112" y="12"/>
                  </a:lnTo>
                  <a:lnTo>
                    <a:pt x="102" y="0"/>
                  </a:lnTo>
                  <a:lnTo>
                    <a:pt x="0" y="10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6435" tIns="48218" rIns="96435" bIns="48218" numCol="1" anchor="t" anchorCtr="0" compatLnSpc="1"/>
            <a:lstStyle/>
            <a:p>
              <a:pPr algn="just">
                <a:lnSpc>
                  <a:spcPct val="120000"/>
                </a:lnSpc>
              </a:pPr>
              <a:endParaRPr lang="en-US" sz="800" dirty="0">
                <a:latin typeface="Arial" panose="020B0604020202020204" pitchFamily="34" charset="0"/>
                <a:ea typeface="微软雅黑" panose="020B0503020204020204" charset="-122"/>
                <a:cs typeface="+mn-ea"/>
                <a:sym typeface="Arial" panose="020B0604020202020204" pitchFamily="34" charset="0"/>
              </a:endParaRPr>
            </a:p>
          </p:txBody>
        </p:sp>
        <p:sp>
          <p:nvSpPr>
            <p:cNvPr id="31" name="Freeform 12"/>
            <p:cNvSpPr/>
            <p:nvPr/>
          </p:nvSpPr>
          <p:spPr bwMode="auto">
            <a:xfrm>
              <a:off x="3775075" y="1050925"/>
              <a:ext cx="55563" cy="52388"/>
            </a:xfrm>
            <a:custGeom>
              <a:avLst/>
              <a:gdLst>
                <a:gd name="T0" fmla="*/ 14 w 21"/>
                <a:gd name="T1" fmla="*/ 6 h 20"/>
                <a:gd name="T2" fmla="*/ 0 w 21"/>
                <a:gd name="T3" fmla="*/ 6 h 20"/>
                <a:gd name="T4" fmla="*/ 15 w 21"/>
                <a:gd name="T5" fmla="*/ 20 h 20"/>
                <a:gd name="T6" fmla="*/ 14 w 21"/>
                <a:gd name="T7" fmla="*/ 6 h 20"/>
              </a:gdLst>
              <a:ahLst/>
              <a:cxnLst>
                <a:cxn ang="0">
                  <a:pos x="T0" y="T1"/>
                </a:cxn>
                <a:cxn ang="0">
                  <a:pos x="T2" y="T3"/>
                </a:cxn>
                <a:cxn ang="0">
                  <a:pos x="T4" y="T5"/>
                </a:cxn>
                <a:cxn ang="0">
                  <a:pos x="T6" y="T7"/>
                </a:cxn>
              </a:cxnLst>
              <a:rect l="0" t="0" r="r" b="b"/>
              <a:pathLst>
                <a:path w="21" h="20">
                  <a:moveTo>
                    <a:pt x="14" y="6"/>
                  </a:moveTo>
                  <a:cubicBezTo>
                    <a:pt x="8" y="0"/>
                    <a:pt x="0" y="6"/>
                    <a:pt x="0" y="6"/>
                  </a:cubicBezTo>
                  <a:cubicBezTo>
                    <a:pt x="15" y="20"/>
                    <a:pt x="15" y="20"/>
                    <a:pt x="15" y="20"/>
                  </a:cubicBezTo>
                  <a:cubicBezTo>
                    <a:pt x="15" y="20"/>
                    <a:pt x="21" y="14"/>
                    <a:pt x="14"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6435" tIns="48218" rIns="96435" bIns="48218" numCol="1" anchor="t" anchorCtr="0" compatLnSpc="1"/>
            <a:lstStyle/>
            <a:p>
              <a:pPr algn="just">
                <a:lnSpc>
                  <a:spcPct val="120000"/>
                </a:lnSpc>
              </a:pPr>
              <a:endParaRPr lang="en-US" sz="800" dirty="0">
                <a:latin typeface="Arial" panose="020B0604020202020204" pitchFamily="34" charset="0"/>
                <a:ea typeface="微软雅黑" panose="020B0503020204020204" charset="-122"/>
                <a:cs typeface="+mn-ea"/>
                <a:sym typeface="Arial" panose="020B0604020202020204" pitchFamily="34" charset="0"/>
              </a:endParaRPr>
            </a:p>
          </p:txBody>
        </p:sp>
        <p:sp>
          <p:nvSpPr>
            <p:cNvPr id="32" name="Freeform 13"/>
            <p:cNvSpPr/>
            <p:nvPr/>
          </p:nvSpPr>
          <p:spPr bwMode="auto">
            <a:xfrm>
              <a:off x="3440113" y="1058863"/>
              <a:ext cx="327025" cy="325438"/>
            </a:xfrm>
            <a:custGeom>
              <a:avLst/>
              <a:gdLst>
                <a:gd name="T0" fmla="*/ 182 w 206"/>
                <a:gd name="T1" fmla="*/ 180 h 205"/>
                <a:gd name="T2" fmla="*/ 25 w 206"/>
                <a:gd name="T3" fmla="*/ 180 h 205"/>
                <a:gd name="T4" fmla="*/ 25 w 206"/>
                <a:gd name="T5" fmla="*/ 25 h 205"/>
                <a:gd name="T6" fmla="*/ 172 w 206"/>
                <a:gd name="T7" fmla="*/ 25 h 205"/>
                <a:gd name="T8" fmla="*/ 198 w 206"/>
                <a:gd name="T9" fmla="*/ 0 h 205"/>
                <a:gd name="T10" fmla="*/ 0 w 206"/>
                <a:gd name="T11" fmla="*/ 0 h 205"/>
                <a:gd name="T12" fmla="*/ 0 w 206"/>
                <a:gd name="T13" fmla="*/ 205 h 205"/>
                <a:gd name="T14" fmla="*/ 206 w 206"/>
                <a:gd name="T15" fmla="*/ 205 h 205"/>
                <a:gd name="T16" fmla="*/ 206 w 206"/>
                <a:gd name="T17" fmla="*/ 76 h 205"/>
                <a:gd name="T18" fmla="*/ 182 w 206"/>
                <a:gd name="T19" fmla="*/ 101 h 205"/>
                <a:gd name="T20" fmla="*/ 182 w 206"/>
                <a:gd name="T21" fmla="*/ 180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6" h="205">
                  <a:moveTo>
                    <a:pt x="182" y="180"/>
                  </a:moveTo>
                  <a:lnTo>
                    <a:pt x="25" y="180"/>
                  </a:lnTo>
                  <a:lnTo>
                    <a:pt x="25" y="25"/>
                  </a:lnTo>
                  <a:lnTo>
                    <a:pt x="172" y="25"/>
                  </a:lnTo>
                  <a:lnTo>
                    <a:pt x="198" y="0"/>
                  </a:lnTo>
                  <a:lnTo>
                    <a:pt x="0" y="0"/>
                  </a:lnTo>
                  <a:lnTo>
                    <a:pt x="0" y="205"/>
                  </a:lnTo>
                  <a:lnTo>
                    <a:pt x="206" y="205"/>
                  </a:lnTo>
                  <a:lnTo>
                    <a:pt x="206" y="76"/>
                  </a:lnTo>
                  <a:lnTo>
                    <a:pt x="182" y="101"/>
                  </a:lnTo>
                  <a:lnTo>
                    <a:pt x="182" y="18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6435" tIns="48218" rIns="96435" bIns="48218" numCol="1" anchor="t" anchorCtr="0" compatLnSpc="1"/>
            <a:lstStyle/>
            <a:p>
              <a:pPr algn="just">
                <a:lnSpc>
                  <a:spcPct val="120000"/>
                </a:lnSpc>
              </a:pPr>
              <a:endParaRPr lang="en-US" sz="800" dirty="0">
                <a:latin typeface="Arial" panose="020B0604020202020204" pitchFamily="34" charset="0"/>
                <a:ea typeface="微软雅黑" panose="020B0503020204020204" charset="-122"/>
                <a:cs typeface="+mn-ea"/>
                <a:sym typeface="Arial" panose="020B0604020202020204" pitchFamily="34" charset="0"/>
              </a:endParaRPr>
            </a:p>
          </p:txBody>
        </p:sp>
      </p:grpSp>
      <p:graphicFrame>
        <p:nvGraphicFramePr>
          <p:cNvPr id="2" name="对象 3"/>
          <p:cNvGraphicFramePr/>
          <p:nvPr/>
        </p:nvGraphicFramePr>
        <p:xfrm>
          <a:off x="1976120" y="1172845"/>
          <a:ext cx="8449310" cy="5280025"/>
        </p:xfrm>
        <a:graphic>
          <a:graphicData uri="http://schemas.openxmlformats.org/presentationml/2006/ole">
            <mc:AlternateContent xmlns:mc="http://schemas.openxmlformats.org/markup-compatibility/2006">
              <mc:Choice xmlns:v="urn:schemas-microsoft-com:vml" Requires="v">
                <p:oleObj spid="_x0000_s3076" name="" r:id="rId1" imgW="8815070" imgH="12204065" progId="Visio.Drawing.11">
                  <p:embed/>
                </p:oleObj>
              </mc:Choice>
              <mc:Fallback>
                <p:oleObj name="" r:id="rId1" imgW="8815070" imgH="12204065" progId="Visio.Drawing.11">
                  <p:embed/>
                  <p:pic>
                    <p:nvPicPr>
                      <p:cNvPr id="0" name="图片 3075"/>
                      <p:cNvPicPr/>
                      <p:nvPr/>
                    </p:nvPicPr>
                    <p:blipFill>
                      <a:blip r:embed="rId2"/>
                      <a:stretch>
                        <a:fillRect/>
                      </a:stretch>
                    </p:blipFill>
                    <p:spPr>
                      <a:xfrm>
                        <a:off x="1976120" y="1172845"/>
                        <a:ext cx="8449310" cy="5280025"/>
                      </a:xfrm>
                      <a:prstGeom prst="rect">
                        <a:avLst/>
                      </a:prstGeom>
                      <a:noFill/>
                      <a:ln w="38100">
                        <a:noFill/>
                        <a:miter/>
                      </a:ln>
                    </p:spPr>
                  </p:pic>
                </p:oleObj>
              </mc:Fallback>
            </mc:AlternateContent>
          </a:graphicData>
        </a:graphic>
      </p:graphicFrame>
      <p:sp>
        <p:nvSpPr>
          <p:cNvPr id="3" name="文本框 2"/>
          <p:cNvSpPr txBox="1"/>
          <p:nvPr/>
        </p:nvSpPr>
        <p:spPr>
          <a:xfrm>
            <a:off x="775970" y="774065"/>
            <a:ext cx="4250055" cy="398780"/>
          </a:xfrm>
          <a:prstGeom prst="rect">
            <a:avLst/>
          </a:prstGeom>
          <a:noFill/>
        </p:spPr>
        <p:txBody>
          <a:bodyPr wrap="square" rtlCol="0">
            <a:spAutoFit/>
          </a:bodyPr>
          <a:p>
            <a:r>
              <a:rPr lang="zh-CN" altLang="en-US"/>
              <a:t> </a:t>
            </a:r>
            <a:r>
              <a:rPr lang="zh-CN" altLang="en-US" sz="2000" b="1">
                <a:latin typeface="+mn-ea"/>
                <a:cs typeface="+mn-ea"/>
              </a:rPr>
              <a:t>（</a:t>
            </a:r>
            <a:r>
              <a:rPr lang="en-US" altLang="zh-CN" sz="2000" b="1">
                <a:latin typeface="+mn-ea"/>
                <a:cs typeface="+mn-ea"/>
              </a:rPr>
              <a:t>4</a:t>
            </a:r>
            <a:r>
              <a:rPr lang="zh-CN" altLang="en-US" sz="2000" b="1">
                <a:latin typeface="+mn-ea"/>
                <a:cs typeface="+mn-ea"/>
              </a:rPr>
              <a:t>）系统测试阶段流程图</a:t>
            </a:r>
            <a:endParaRPr lang="zh-CN" altLang="en-US" sz="2000" b="1">
              <a:latin typeface="+mn-ea"/>
              <a:cs typeface="+mn-ea"/>
            </a:endParaRPr>
          </a:p>
        </p:txBody>
      </p:sp>
    </p:spTree>
  </p:cSld>
  <p:clrMapOvr>
    <a:masterClrMapping/>
  </p:clrMapOvr>
  <p:transition advTm="7675">
    <p:plu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p:cTn id="7" dur="500" fill="hold"/>
                                        <p:tgtEl>
                                          <p:spTgt spid="21"/>
                                        </p:tgtEl>
                                        <p:attrNameLst>
                                          <p:attrName>ppt_w</p:attrName>
                                        </p:attrNameLst>
                                      </p:cBhvr>
                                      <p:tavLst>
                                        <p:tav tm="0">
                                          <p:val>
                                            <p:fltVal val="0"/>
                                          </p:val>
                                        </p:tav>
                                        <p:tav tm="100000">
                                          <p:val>
                                            <p:strVal val="#ppt_w"/>
                                          </p:val>
                                        </p:tav>
                                      </p:tavLst>
                                    </p:anim>
                                    <p:anim calcmode="lin" valueType="num">
                                      <p:cBhvr>
                                        <p:cTn id="8" dur="500" fill="hold"/>
                                        <p:tgtEl>
                                          <p:spTgt spid="21"/>
                                        </p:tgtEl>
                                        <p:attrNameLst>
                                          <p:attrName>ppt_h</p:attrName>
                                        </p:attrNameLst>
                                      </p:cBhvr>
                                      <p:tavLst>
                                        <p:tav tm="0">
                                          <p:val>
                                            <p:fltVal val="0"/>
                                          </p:val>
                                        </p:tav>
                                        <p:tav tm="100000">
                                          <p:val>
                                            <p:strVal val="#ppt_h"/>
                                          </p:val>
                                        </p:tav>
                                      </p:tavLst>
                                    </p:anim>
                                    <p:animEffect transition="in" filter="fade">
                                      <p:cBhvr>
                                        <p:cTn id="9" dur="500"/>
                                        <p:tgtEl>
                                          <p:spTgt spid="21"/>
                                        </p:tgtEl>
                                      </p:cBhvr>
                                    </p:animEffect>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26"/>
                                        </p:tgtEl>
                                        <p:attrNameLst>
                                          <p:attrName>style.visibility</p:attrName>
                                        </p:attrNameLst>
                                      </p:cBhvr>
                                      <p:to>
                                        <p:strVal val="visible"/>
                                      </p:to>
                                    </p:set>
                                    <p:anim calcmode="lin" valueType="num">
                                      <p:cBhvr>
                                        <p:cTn id="13" dur="500" fill="hold"/>
                                        <p:tgtEl>
                                          <p:spTgt spid="26"/>
                                        </p:tgtEl>
                                        <p:attrNameLst>
                                          <p:attrName>ppt_w</p:attrName>
                                        </p:attrNameLst>
                                      </p:cBhvr>
                                      <p:tavLst>
                                        <p:tav tm="0">
                                          <p:val>
                                            <p:fltVal val="0"/>
                                          </p:val>
                                        </p:tav>
                                        <p:tav tm="100000">
                                          <p:val>
                                            <p:strVal val="#ppt_w"/>
                                          </p:val>
                                        </p:tav>
                                      </p:tavLst>
                                    </p:anim>
                                    <p:anim calcmode="lin" valueType="num">
                                      <p:cBhvr>
                                        <p:cTn id="14" dur="500" fill="hold"/>
                                        <p:tgtEl>
                                          <p:spTgt spid="26"/>
                                        </p:tgtEl>
                                        <p:attrNameLst>
                                          <p:attrName>ppt_h</p:attrName>
                                        </p:attrNameLst>
                                      </p:cBhvr>
                                      <p:tavLst>
                                        <p:tav tm="0">
                                          <p:val>
                                            <p:fltVal val="0"/>
                                          </p:val>
                                        </p:tav>
                                        <p:tav tm="100000">
                                          <p:val>
                                            <p:strVal val="#ppt_h"/>
                                          </p:val>
                                        </p:tav>
                                      </p:tavLst>
                                    </p:anim>
                                    <p:animEffect transition="in" filter="fade">
                                      <p:cBhvr>
                                        <p:cTn id="15" dur="500"/>
                                        <p:tgtEl>
                                          <p:spTgt spid="26"/>
                                        </p:tgtEl>
                                      </p:cBhvr>
                                    </p:animEffect>
                                  </p:childTnLst>
                                </p:cTn>
                              </p:par>
                            </p:childTnLst>
                          </p:cTn>
                        </p:par>
                        <p:par>
                          <p:cTn id="16" fill="hold">
                            <p:stCondLst>
                              <p:cond delay="1000"/>
                            </p:stCondLst>
                            <p:childTnLst>
                              <p:par>
                                <p:cTn id="17" presetID="53" presetClass="entr" presetSubtype="16" fill="hold" nodeType="after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p:cTn id="19" dur="500" fill="hold"/>
                                        <p:tgtEl>
                                          <p:spTgt spid="17"/>
                                        </p:tgtEl>
                                        <p:attrNameLst>
                                          <p:attrName>ppt_w</p:attrName>
                                        </p:attrNameLst>
                                      </p:cBhvr>
                                      <p:tavLst>
                                        <p:tav tm="0">
                                          <p:val>
                                            <p:fltVal val="0"/>
                                          </p:val>
                                        </p:tav>
                                        <p:tav tm="100000">
                                          <p:val>
                                            <p:strVal val="#ppt_w"/>
                                          </p:val>
                                        </p:tav>
                                      </p:tavLst>
                                    </p:anim>
                                    <p:anim calcmode="lin" valueType="num">
                                      <p:cBhvr>
                                        <p:cTn id="20" dur="500" fill="hold"/>
                                        <p:tgtEl>
                                          <p:spTgt spid="17"/>
                                        </p:tgtEl>
                                        <p:attrNameLst>
                                          <p:attrName>ppt_h</p:attrName>
                                        </p:attrNameLst>
                                      </p:cBhvr>
                                      <p:tavLst>
                                        <p:tav tm="0">
                                          <p:val>
                                            <p:fltVal val="0"/>
                                          </p:val>
                                        </p:tav>
                                        <p:tav tm="100000">
                                          <p:val>
                                            <p:strVal val="#ppt_h"/>
                                          </p:val>
                                        </p:tav>
                                      </p:tavLst>
                                    </p:anim>
                                    <p:animEffect transition="in" filter="fade">
                                      <p:cBhvr>
                                        <p:cTn id="21" dur="500"/>
                                        <p:tgtEl>
                                          <p:spTgt spid="17"/>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additive="base">
                                        <p:cTn id="26" dur="500" fill="hold"/>
                                        <p:tgtEl>
                                          <p:spTgt spid="3"/>
                                        </p:tgtEl>
                                        <p:attrNameLst>
                                          <p:attrName>ppt_x</p:attrName>
                                        </p:attrNameLst>
                                      </p:cBhvr>
                                      <p:tavLst>
                                        <p:tav tm="0">
                                          <p:val>
                                            <p:strVal val="#ppt_x"/>
                                          </p:val>
                                        </p:tav>
                                        <p:tav tm="100000">
                                          <p:val>
                                            <p:strVal val="#ppt_x"/>
                                          </p:val>
                                        </p:tav>
                                      </p:tavLst>
                                    </p:anim>
                                    <p:anim calcmode="lin" valueType="num">
                                      <p:cBhvr additive="base">
                                        <p:cTn id="27"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additive="base">
                                        <p:cTn id="32" dur="500" fill="hold"/>
                                        <p:tgtEl>
                                          <p:spTgt spid="2"/>
                                        </p:tgtEl>
                                        <p:attrNameLst>
                                          <p:attrName>ppt_x</p:attrName>
                                        </p:attrNameLst>
                                      </p:cBhvr>
                                      <p:tavLst>
                                        <p:tav tm="0">
                                          <p:val>
                                            <p:strVal val="#ppt_x"/>
                                          </p:val>
                                        </p:tav>
                                        <p:tav tm="100000">
                                          <p:val>
                                            <p:strVal val="#ppt_x"/>
                                          </p:val>
                                        </p:tav>
                                      </p:tavLst>
                                    </p:anim>
                                    <p:anim calcmode="lin" valueType="num">
                                      <p:cBhvr additive="base">
                                        <p:cTn id="3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charset="-122"/>
                <a:ea typeface="微软雅黑" panose="020B0503020204020204" charset="-122"/>
              </a:rPr>
              <a:t>软件测试流程</a:t>
            </a:r>
            <a:endParaRPr kumimoji="1" lang="zh-CN" altLang="en-US" sz="2000" b="0" dirty="0">
              <a:solidFill>
                <a:schemeClr val="tx1">
                  <a:lumMod val="65000"/>
                  <a:lumOff val="35000"/>
                </a:schemeClr>
              </a:solidFill>
              <a:latin typeface="微软雅黑" panose="020B0503020204020204" charset="-122"/>
              <a:ea typeface="微软雅黑" panose="020B0503020204020204" charset="-122"/>
            </a:endParaRPr>
          </a:p>
        </p:txBody>
      </p:sp>
      <p:sp>
        <p:nvSpPr>
          <p:cNvPr id="34" name="文本框 33"/>
          <p:cNvSpPr txBox="1"/>
          <p:nvPr/>
        </p:nvSpPr>
        <p:spPr>
          <a:xfrm>
            <a:off x="892175" y="815975"/>
            <a:ext cx="3489960" cy="398780"/>
          </a:xfrm>
          <a:prstGeom prst="rect">
            <a:avLst/>
          </a:prstGeom>
          <a:noFill/>
        </p:spPr>
        <p:txBody>
          <a:bodyPr wrap="square" rtlCol="0">
            <a:spAutoFit/>
          </a:bodyPr>
          <a:p>
            <a:r>
              <a:rPr lang="zh-CN" altLang="en-US" sz="2000" b="1">
                <a:latin typeface="+mn-ea"/>
                <a:cs typeface="+mn-ea"/>
              </a:rPr>
              <a:t>（</a:t>
            </a:r>
            <a:r>
              <a:rPr lang="en-US" altLang="zh-CN" sz="2000" b="1">
                <a:latin typeface="+mn-ea"/>
                <a:cs typeface="+mn-ea"/>
              </a:rPr>
              <a:t>5</a:t>
            </a:r>
            <a:r>
              <a:rPr lang="zh-CN" altLang="en-US" sz="2000" b="1">
                <a:latin typeface="+mn-ea"/>
                <a:cs typeface="+mn-ea"/>
              </a:rPr>
              <a:t>）验收测试流程图</a:t>
            </a:r>
            <a:endParaRPr lang="zh-CN" altLang="en-US" sz="2000" b="1">
              <a:latin typeface="+mn-ea"/>
              <a:cs typeface="+mn-ea"/>
            </a:endParaRPr>
          </a:p>
        </p:txBody>
      </p:sp>
      <p:graphicFrame>
        <p:nvGraphicFramePr>
          <p:cNvPr id="2" name="对象 4"/>
          <p:cNvGraphicFramePr/>
          <p:nvPr/>
        </p:nvGraphicFramePr>
        <p:xfrm>
          <a:off x="2110105" y="1291590"/>
          <a:ext cx="8279765" cy="5356225"/>
        </p:xfrm>
        <a:graphic>
          <a:graphicData uri="http://schemas.openxmlformats.org/presentationml/2006/ole">
            <mc:AlternateContent xmlns:mc="http://schemas.openxmlformats.org/markup-compatibility/2006">
              <mc:Choice xmlns:v="urn:schemas-microsoft-com:vml" Requires="v">
                <p:oleObj spid="_x0000_s3076" name="" r:id="rId1" imgW="7680960" imgH="8327390" progId="Visio.Drawing.11">
                  <p:embed/>
                </p:oleObj>
              </mc:Choice>
              <mc:Fallback>
                <p:oleObj name="" r:id="rId1" imgW="7680960" imgH="8327390" progId="Visio.Drawing.11">
                  <p:embed/>
                  <p:pic>
                    <p:nvPicPr>
                      <p:cNvPr id="0" name="图片 3075"/>
                      <p:cNvPicPr/>
                      <p:nvPr/>
                    </p:nvPicPr>
                    <p:blipFill>
                      <a:blip r:embed="rId2"/>
                      <a:stretch>
                        <a:fillRect/>
                      </a:stretch>
                    </p:blipFill>
                    <p:spPr>
                      <a:xfrm>
                        <a:off x="2110105" y="1291590"/>
                        <a:ext cx="8279765" cy="5356225"/>
                      </a:xfrm>
                      <a:prstGeom prst="rect">
                        <a:avLst/>
                      </a:prstGeom>
                      <a:noFill/>
                      <a:ln w="38100">
                        <a:noFill/>
                        <a:miter/>
                      </a:ln>
                    </p:spPr>
                  </p:pic>
                </p:oleObj>
              </mc:Fallback>
            </mc:AlternateContent>
          </a:graphicData>
        </a:graphic>
      </p:graphicFrame>
    </p:spTree>
  </p:cSld>
  <p:clrMapOvr>
    <a:masterClrMapping/>
  </p:clrMapOvr>
  <p:transition advTm="7675">
    <p:plu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blinds(horizontal)">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4"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rot="5400000">
            <a:off x="-354902" y="1593655"/>
            <a:ext cx="2812747" cy="2101740"/>
          </a:xfrm>
          <a:prstGeom prst="triangle">
            <a:avLst/>
          </a:prstGeom>
          <a:solidFill>
            <a:schemeClr val="accent4">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 name="文本框 2"/>
          <p:cNvSpPr txBox="1"/>
          <p:nvPr/>
        </p:nvSpPr>
        <p:spPr>
          <a:xfrm>
            <a:off x="4420235" y="2956560"/>
            <a:ext cx="4174490" cy="829945"/>
          </a:xfrm>
          <a:prstGeom prst="rect">
            <a:avLst/>
          </a:prstGeom>
          <a:noFill/>
        </p:spPr>
        <p:txBody>
          <a:bodyPr wrap="square" rtlCol="0">
            <a:spAutoFit/>
          </a:bodyPr>
          <a:lstStyle/>
          <a:p>
            <a:pPr algn="l"/>
            <a:r>
              <a:rPr lang="zh-CN" altLang="en-US" sz="4800" dirty="0">
                <a:solidFill>
                  <a:schemeClr val="tx1">
                    <a:lumMod val="75000"/>
                    <a:lumOff val="25000"/>
                  </a:schemeClr>
                </a:solidFill>
                <a:uFillTx/>
                <a:latin typeface="微软雅黑" panose="020B0503020204020204" charset="-122"/>
                <a:ea typeface="微软雅黑" panose="020B0503020204020204" charset="-122"/>
              </a:rPr>
              <a:t>测试过程模型</a:t>
            </a:r>
            <a:endParaRPr lang="zh-CN" altLang="en-US" sz="4800" dirty="0">
              <a:solidFill>
                <a:schemeClr val="tx1">
                  <a:lumMod val="75000"/>
                  <a:lumOff val="25000"/>
                </a:schemeClr>
              </a:solidFill>
              <a:uFillTx/>
              <a:latin typeface="微软雅黑" panose="020B0503020204020204" charset="-122"/>
              <a:ea typeface="微软雅黑" panose="020B0503020204020204" charset="-122"/>
            </a:endParaRPr>
          </a:p>
        </p:txBody>
      </p:sp>
      <p:sp>
        <p:nvSpPr>
          <p:cNvPr id="6" name="等腰三角形 5"/>
          <p:cNvSpPr/>
          <p:nvPr/>
        </p:nvSpPr>
        <p:spPr>
          <a:xfrm rot="16200000" flipH="1">
            <a:off x="10384747" y="2655849"/>
            <a:ext cx="2069408" cy="1546303"/>
          </a:xfrm>
          <a:prstGeom prst="triangle">
            <a:avLst/>
          </a:prstGeom>
          <a:solidFill>
            <a:schemeClr val="accent2">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7" name="等腰三角形 6"/>
          <p:cNvSpPr/>
          <p:nvPr/>
        </p:nvSpPr>
        <p:spPr>
          <a:xfrm rot="5400000">
            <a:off x="-436508" y="2327919"/>
            <a:ext cx="3458403" cy="2584187"/>
          </a:xfrm>
          <a:prstGeom prst="triangle">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 name="文本框 7"/>
          <p:cNvSpPr txBox="1"/>
          <p:nvPr/>
        </p:nvSpPr>
        <p:spPr>
          <a:xfrm>
            <a:off x="47928" y="2883669"/>
            <a:ext cx="1612900" cy="1568450"/>
          </a:xfrm>
          <a:prstGeom prst="rect">
            <a:avLst/>
          </a:prstGeom>
          <a:noFill/>
        </p:spPr>
        <p:txBody>
          <a:bodyPr wrap="none" rtlCol="0">
            <a:spAutoFit/>
          </a:bodyPr>
          <a:lstStyle/>
          <a:p>
            <a:r>
              <a:rPr lang="en-US" altLang="zh-CN" sz="9600" dirty="0">
                <a:solidFill>
                  <a:schemeClr val="bg1"/>
                </a:solidFill>
                <a:latin typeface="微软雅黑" panose="020B0503020204020204" charset="-122"/>
                <a:ea typeface="微软雅黑" panose="020B0503020204020204" charset="-122"/>
              </a:rPr>
              <a:t>02</a:t>
            </a:r>
            <a:endParaRPr lang="zh-CN" altLang="en-US" sz="9600" dirty="0">
              <a:solidFill>
                <a:schemeClr val="bg1"/>
              </a:solidFill>
              <a:latin typeface="微软雅黑" panose="020B0503020204020204" charset="-122"/>
              <a:ea typeface="微软雅黑" panose="020B0503020204020204" charset="-122"/>
            </a:endParaRPr>
          </a:p>
        </p:txBody>
      </p:sp>
    </p:spTree>
  </p:cSld>
  <p:clrMapOvr>
    <a:masterClrMapping/>
  </p:clrMapOvr>
  <p:transition advTm="7675">
    <p:plu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childTnLst>
                          </p:cTn>
                        </p:par>
                        <p:par>
                          <p:cTn id="25" fill="hold">
                            <p:stCondLst>
                              <p:cond delay="500"/>
                            </p:stCondLst>
                            <p:childTnLst>
                              <p:par>
                                <p:cTn id="26" presetID="2" presetClass="entr" presetSubtype="8" fill="hold" grpId="0" nodeType="after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500" fill="hold"/>
                                        <p:tgtEl>
                                          <p:spTgt spid="3"/>
                                        </p:tgtEl>
                                        <p:attrNameLst>
                                          <p:attrName>ppt_x</p:attrName>
                                        </p:attrNameLst>
                                      </p:cBhvr>
                                      <p:tavLst>
                                        <p:tav tm="0">
                                          <p:val>
                                            <p:strVal val="0-#ppt_w/2"/>
                                          </p:val>
                                        </p:tav>
                                        <p:tav tm="100000">
                                          <p:val>
                                            <p:strVal val="#ppt_x"/>
                                          </p:val>
                                        </p:tav>
                                      </p:tavLst>
                                    </p:anim>
                                    <p:anim calcmode="lin" valueType="num">
                                      <p:cBhvr additive="base">
                                        <p:cTn id="29"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p:bldP spid="6" grpId="0" bldLvl="0" animBg="1"/>
      <p:bldP spid="7" grpId="0" bldLvl="0" animBg="1"/>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charset="-122"/>
                <a:ea typeface="微软雅黑" panose="020B0503020204020204" charset="-122"/>
              </a:rPr>
              <a:t>测试过程模型</a:t>
            </a:r>
            <a:endParaRPr kumimoji="1" lang="zh-CN" altLang="en-US" sz="2000" b="0" dirty="0">
              <a:solidFill>
                <a:schemeClr val="tx1">
                  <a:lumMod val="65000"/>
                  <a:lumOff val="35000"/>
                </a:schemeClr>
              </a:solidFill>
              <a:latin typeface="微软雅黑" panose="020B0503020204020204" charset="-122"/>
              <a:ea typeface="微软雅黑" panose="020B0503020204020204" charset="-122"/>
            </a:endParaRPr>
          </a:p>
        </p:txBody>
      </p:sp>
      <p:sp>
        <p:nvSpPr>
          <p:cNvPr id="2" name="文本框 1"/>
          <p:cNvSpPr txBox="1"/>
          <p:nvPr/>
        </p:nvSpPr>
        <p:spPr>
          <a:xfrm>
            <a:off x="1572895" y="1249680"/>
            <a:ext cx="3215005" cy="521970"/>
          </a:xfrm>
          <a:prstGeom prst="rect">
            <a:avLst/>
          </a:prstGeom>
          <a:noFill/>
        </p:spPr>
        <p:txBody>
          <a:bodyPr wrap="square" rtlCol="0">
            <a:spAutoFit/>
          </a:bodyPr>
          <a:p>
            <a:r>
              <a:rPr lang="en-US" altLang="zh-CN" sz="2800" b="1">
                <a:latin typeface="+mj-ea"/>
                <a:ea typeface="+mj-ea"/>
                <a:cs typeface="+mj-ea"/>
                <a:hlinkClick r:id="rId1" action="ppaction://hlinksldjump"/>
              </a:rPr>
              <a:t>1</a:t>
            </a:r>
            <a:r>
              <a:rPr lang="zh-CN" altLang="en-US" sz="2800" b="1">
                <a:latin typeface="+mj-ea"/>
                <a:ea typeface="+mj-ea"/>
                <a:cs typeface="+mj-ea"/>
                <a:hlinkClick r:id="rId1" action="ppaction://hlinksldjump"/>
              </a:rPr>
              <a:t>、测试模型概述</a:t>
            </a:r>
            <a:endParaRPr lang="zh-CN" altLang="en-US" sz="2800" b="1">
              <a:latin typeface="+mj-ea"/>
              <a:ea typeface="+mj-ea"/>
              <a:cs typeface="+mj-ea"/>
            </a:endParaRPr>
          </a:p>
        </p:txBody>
      </p:sp>
      <p:sp>
        <p:nvSpPr>
          <p:cNvPr id="3" name="文本框 2"/>
          <p:cNvSpPr txBox="1"/>
          <p:nvPr/>
        </p:nvSpPr>
        <p:spPr>
          <a:xfrm>
            <a:off x="1573530" y="1853565"/>
            <a:ext cx="3468370" cy="521970"/>
          </a:xfrm>
          <a:prstGeom prst="rect">
            <a:avLst/>
          </a:prstGeom>
          <a:noFill/>
        </p:spPr>
        <p:txBody>
          <a:bodyPr wrap="square" rtlCol="0">
            <a:spAutoFit/>
          </a:bodyPr>
          <a:p>
            <a:r>
              <a:rPr lang="zh-CN" altLang="en-US" sz="2800" b="1">
                <a:latin typeface="+mj-ea"/>
                <a:ea typeface="+mj-ea"/>
                <a:cs typeface="+mj-ea"/>
                <a:hlinkClick r:id="rId2" action="ppaction://hlinksldjump"/>
              </a:rPr>
              <a:t>2、四种经典模型</a:t>
            </a:r>
            <a:endParaRPr lang="zh-CN" altLang="en-US" sz="2800" b="1">
              <a:latin typeface="+mj-ea"/>
              <a:ea typeface="+mj-ea"/>
              <a:cs typeface="+mj-ea"/>
            </a:endParaRPr>
          </a:p>
        </p:txBody>
      </p:sp>
      <p:sp>
        <p:nvSpPr>
          <p:cNvPr id="4" name="文本框 3"/>
          <p:cNvSpPr txBox="1"/>
          <p:nvPr/>
        </p:nvSpPr>
        <p:spPr>
          <a:xfrm>
            <a:off x="1572895" y="2375535"/>
            <a:ext cx="2990850" cy="521970"/>
          </a:xfrm>
          <a:prstGeom prst="rect">
            <a:avLst/>
          </a:prstGeom>
          <a:noFill/>
        </p:spPr>
        <p:txBody>
          <a:bodyPr wrap="square" rtlCol="0">
            <a:spAutoFit/>
          </a:bodyPr>
          <a:p>
            <a:r>
              <a:rPr lang="zh-CN" altLang="en-US" sz="2800" b="1">
                <a:latin typeface="+mj-ea"/>
                <a:ea typeface="+mj-ea"/>
                <a:cs typeface="+mj-ea"/>
                <a:hlinkClick r:id="rId3" action="ppaction://hlinksldjump"/>
              </a:rPr>
              <a:t>3、各模型的特点</a:t>
            </a:r>
            <a:endParaRPr lang="zh-CN" altLang="en-US"/>
          </a:p>
        </p:txBody>
      </p:sp>
      <p:grpSp>
        <p:nvGrpSpPr>
          <p:cNvPr id="5" name="Group 4"/>
          <p:cNvGrpSpPr/>
          <p:nvPr/>
        </p:nvGrpSpPr>
        <p:grpSpPr>
          <a:xfrm>
            <a:off x="6685280" y="1088390"/>
            <a:ext cx="3802380" cy="3467100"/>
            <a:chOff x="3471863" y="2343150"/>
            <a:chExt cx="2197101" cy="1985963"/>
          </a:xfrm>
        </p:grpSpPr>
        <p:sp>
          <p:nvSpPr>
            <p:cNvPr id="6" name="Freeform 5"/>
            <p:cNvSpPr/>
            <p:nvPr/>
          </p:nvSpPr>
          <p:spPr bwMode="auto">
            <a:xfrm>
              <a:off x="3476626" y="2381250"/>
              <a:ext cx="2192338" cy="1495425"/>
            </a:xfrm>
            <a:custGeom>
              <a:avLst/>
              <a:gdLst/>
              <a:ahLst/>
              <a:cxnLst>
                <a:cxn ang="0">
                  <a:pos x="1202" y="800"/>
                </a:cxn>
                <a:cxn ang="0">
                  <a:pos x="1182" y="820"/>
                </a:cxn>
                <a:cxn ang="0">
                  <a:pos x="20" y="820"/>
                </a:cxn>
                <a:cxn ang="0">
                  <a:pos x="0" y="800"/>
                </a:cxn>
                <a:cxn ang="0">
                  <a:pos x="0" y="20"/>
                </a:cxn>
                <a:cxn ang="0">
                  <a:pos x="20" y="0"/>
                </a:cxn>
                <a:cxn ang="0">
                  <a:pos x="1182" y="0"/>
                </a:cxn>
                <a:cxn ang="0">
                  <a:pos x="1202" y="20"/>
                </a:cxn>
                <a:cxn ang="0">
                  <a:pos x="1202" y="800"/>
                </a:cxn>
              </a:cxnLst>
              <a:rect l="0" t="0" r="r" b="b"/>
              <a:pathLst>
                <a:path w="1202" h="820">
                  <a:moveTo>
                    <a:pt x="1202" y="800"/>
                  </a:moveTo>
                  <a:cubicBezTo>
                    <a:pt x="1202" y="811"/>
                    <a:pt x="1193" y="820"/>
                    <a:pt x="1182" y="820"/>
                  </a:cubicBezTo>
                  <a:cubicBezTo>
                    <a:pt x="20" y="820"/>
                    <a:pt x="20" y="820"/>
                    <a:pt x="20" y="820"/>
                  </a:cubicBezTo>
                  <a:cubicBezTo>
                    <a:pt x="9" y="820"/>
                    <a:pt x="0" y="811"/>
                    <a:pt x="0" y="800"/>
                  </a:cubicBezTo>
                  <a:cubicBezTo>
                    <a:pt x="0" y="20"/>
                    <a:pt x="0" y="20"/>
                    <a:pt x="0" y="20"/>
                  </a:cubicBezTo>
                  <a:cubicBezTo>
                    <a:pt x="0" y="9"/>
                    <a:pt x="9" y="0"/>
                    <a:pt x="20" y="0"/>
                  </a:cubicBezTo>
                  <a:cubicBezTo>
                    <a:pt x="1182" y="0"/>
                    <a:pt x="1182" y="0"/>
                    <a:pt x="1182" y="0"/>
                  </a:cubicBezTo>
                  <a:cubicBezTo>
                    <a:pt x="1193" y="0"/>
                    <a:pt x="1202" y="9"/>
                    <a:pt x="1202" y="20"/>
                  </a:cubicBezTo>
                  <a:lnTo>
                    <a:pt x="1202" y="800"/>
                  </a:lnTo>
                  <a:close/>
                </a:path>
              </a:pathLst>
            </a:custGeom>
            <a:solidFill>
              <a:schemeClr val="accent5"/>
            </a:solidFill>
            <a:ln w="9525">
              <a:noFill/>
              <a:round/>
            </a:ln>
          </p:spPr>
          <p:txBody>
            <a:bodyPr vert="horz" wrap="square" lIns="128580" tIns="64290" rIns="128580" bIns="64290" numCol="1" anchor="t" anchorCtr="0" compatLnSpc="1"/>
            <a:p>
              <a:pPr>
                <a:lnSpc>
                  <a:spcPct val="120000"/>
                </a:lnSpc>
              </a:pPr>
              <a:endParaRPr lang="en-US" sz="800" dirty="0">
                <a:latin typeface="Arial" panose="020B0604020202020204" pitchFamily="34" charset="0"/>
                <a:ea typeface="微软雅黑" panose="020B0503020204020204" charset="-122"/>
                <a:cs typeface="+mn-ea"/>
                <a:sym typeface="Arial" panose="020B0604020202020204" pitchFamily="34" charset="0"/>
              </a:endParaRPr>
            </a:p>
          </p:txBody>
        </p:sp>
        <p:sp>
          <p:nvSpPr>
            <p:cNvPr id="7" name="Rectangle 6"/>
            <p:cNvSpPr>
              <a:spLocks noChangeArrowheads="1"/>
            </p:cNvSpPr>
            <p:nvPr/>
          </p:nvSpPr>
          <p:spPr bwMode="auto">
            <a:xfrm>
              <a:off x="3563938" y="3713163"/>
              <a:ext cx="2019300" cy="90488"/>
            </a:xfrm>
            <a:prstGeom prst="rect">
              <a:avLst/>
            </a:prstGeom>
            <a:solidFill>
              <a:schemeClr val="accent1">
                <a:lumMod val="40000"/>
                <a:lumOff val="60000"/>
              </a:schemeClr>
            </a:solidFill>
            <a:ln w="9525">
              <a:noFill/>
              <a:miter lim="800000"/>
            </a:ln>
          </p:spPr>
          <p:txBody>
            <a:bodyPr vert="horz" wrap="square" lIns="128580" tIns="64290" rIns="128580" bIns="64290" numCol="1" anchor="t" anchorCtr="0" compatLnSpc="1"/>
            <a:p>
              <a:pPr>
                <a:lnSpc>
                  <a:spcPct val="120000"/>
                </a:lnSpc>
              </a:pPr>
              <a:endParaRPr lang="en-US" sz="800" dirty="0">
                <a:latin typeface="Arial" panose="020B0604020202020204" pitchFamily="34" charset="0"/>
                <a:ea typeface="微软雅黑" panose="020B0503020204020204" charset="-122"/>
                <a:cs typeface="+mn-ea"/>
                <a:sym typeface="Arial" panose="020B0604020202020204" pitchFamily="34" charset="0"/>
              </a:endParaRPr>
            </a:p>
          </p:txBody>
        </p:sp>
        <p:sp>
          <p:nvSpPr>
            <p:cNvPr id="8" name="Freeform 7"/>
            <p:cNvSpPr/>
            <p:nvPr/>
          </p:nvSpPr>
          <p:spPr bwMode="auto">
            <a:xfrm>
              <a:off x="4573587" y="2343150"/>
              <a:ext cx="1009650" cy="1460500"/>
            </a:xfrm>
            <a:custGeom>
              <a:avLst/>
              <a:gdLst/>
              <a:ahLst/>
              <a:cxnLst>
                <a:cxn ang="0">
                  <a:pos x="0" y="801"/>
                </a:cxn>
                <a:cxn ang="0">
                  <a:pos x="0" y="73"/>
                </a:cxn>
                <a:cxn ang="0">
                  <a:pos x="1" y="71"/>
                </a:cxn>
                <a:cxn ang="0">
                  <a:pos x="1" y="65"/>
                </a:cxn>
                <a:cxn ang="0">
                  <a:pos x="70" y="0"/>
                </a:cxn>
                <a:cxn ang="0">
                  <a:pos x="554" y="0"/>
                </a:cxn>
                <a:cxn ang="0">
                  <a:pos x="554" y="758"/>
                </a:cxn>
                <a:cxn ang="0">
                  <a:pos x="70" y="758"/>
                </a:cxn>
                <a:cxn ang="0">
                  <a:pos x="0" y="801"/>
                </a:cxn>
              </a:cxnLst>
              <a:rect l="0" t="0" r="r" b="b"/>
              <a:pathLst>
                <a:path w="554" h="801">
                  <a:moveTo>
                    <a:pt x="0" y="801"/>
                  </a:moveTo>
                  <a:cubicBezTo>
                    <a:pt x="0" y="73"/>
                    <a:pt x="0" y="73"/>
                    <a:pt x="0" y="73"/>
                  </a:cubicBezTo>
                  <a:cubicBezTo>
                    <a:pt x="1" y="72"/>
                    <a:pt x="1" y="71"/>
                    <a:pt x="1" y="71"/>
                  </a:cubicBezTo>
                  <a:cubicBezTo>
                    <a:pt x="1" y="69"/>
                    <a:pt x="1" y="67"/>
                    <a:pt x="1" y="65"/>
                  </a:cubicBezTo>
                  <a:cubicBezTo>
                    <a:pt x="4" y="29"/>
                    <a:pt x="34" y="0"/>
                    <a:pt x="70" y="0"/>
                  </a:cubicBezTo>
                  <a:cubicBezTo>
                    <a:pt x="554" y="0"/>
                    <a:pt x="554" y="0"/>
                    <a:pt x="554" y="0"/>
                  </a:cubicBezTo>
                  <a:cubicBezTo>
                    <a:pt x="554" y="758"/>
                    <a:pt x="554" y="758"/>
                    <a:pt x="554" y="758"/>
                  </a:cubicBezTo>
                  <a:cubicBezTo>
                    <a:pt x="70" y="758"/>
                    <a:pt x="70" y="758"/>
                    <a:pt x="70" y="758"/>
                  </a:cubicBezTo>
                  <a:cubicBezTo>
                    <a:pt x="40" y="758"/>
                    <a:pt x="13" y="775"/>
                    <a:pt x="0" y="801"/>
                  </a:cubicBezTo>
                  <a:close/>
                </a:path>
              </a:pathLst>
            </a:custGeom>
            <a:solidFill>
              <a:schemeClr val="bg1">
                <a:lumMod val="95000"/>
              </a:schemeClr>
            </a:solidFill>
            <a:ln w="9525">
              <a:noFill/>
              <a:round/>
            </a:ln>
          </p:spPr>
          <p:txBody>
            <a:bodyPr vert="horz" wrap="square" lIns="128580" tIns="64290" rIns="128580" bIns="64290" numCol="1" anchor="t" anchorCtr="0" compatLnSpc="1"/>
            <a:p>
              <a:pPr>
                <a:lnSpc>
                  <a:spcPct val="120000"/>
                </a:lnSpc>
              </a:pPr>
              <a:endParaRPr lang="en-US" sz="800" dirty="0">
                <a:latin typeface="Arial" panose="020B0604020202020204" pitchFamily="34" charset="0"/>
                <a:ea typeface="微软雅黑" panose="020B0503020204020204" charset="-122"/>
                <a:cs typeface="+mn-ea"/>
                <a:sym typeface="Arial" panose="020B0604020202020204" pitchFamily="34" charset="0"/>
              </a:endParaRPr>
            </a:p>
          </p:txBody>
        </p:sp>
        <p:sp>
          <p:nvSpPr>
            <p:cNvPr id="9" name="Freeform 8"/>
            <p:cNvSpPr/>
            <p:nvPr/>
          </p:nvSpPr>
          <p:spPr bwMode="auto">
            <a:xfrm>
              <a:off x="3563938" y="2343150"/>
              <a:ext cx="1011238" cy="1460500"/>
            </a:xfrm>
            <a:custGeom>
              <a:avLst/>
              <a:gdLst/>
              <a:ahLst/>
              <a:cxnLst>
                <a:cxn ang="0">
                  <a:pos x="554" y="801"/>
                </a:cxn>
                <a:cxn ang="0">
                  <a:pos x="554" y="73"/>
                </a:cxn>
                <a:cxn ang="0">
                  <a:pos x="553" y="71"/>
                </a:cxn>
                <a:cxn ang="0">
                  <a:pos x="553" y="65"/>
                </a:cxn>
                <a:cxn ang="0">
                  <a:pos x="483" y="0"/>
                </a:cxn>
                <a:cxn ang="0">
                  <a:pos x="0" y="0"/>
                </a:cxn>
                <a:cxn ang="0">
                  <a:pos x="0" y="758"/>
                </a:cxn>
                <a:cxn ang="0">
                  <a:pos x="483" y="758"/>
                </a:cxn>
                <a:cxn ang="0">
                  <a:pos x="554" y="801"/>
                </a:cxn>
              </a:cxnLst>
              <a:rect l="0" t="0" r="r" b="b"/>
              <a:pathLst>
                <a:path w="554" h="801">
                  <a:moveTo>
                    <a:pt x="554" y="801"/>
                  </a:moveTo>
                  <a:cubicBezTo>
                    <a:pt x="554" y="73"/>
                    <a:pt x="554" y="73"/>
                    <a:pt x="554" y="73"/>
                  </a:cubicBezTo>
                  <a:cubicBezTo>
                    <a:pt x="553" y="72"/>
                    <a:pt x="553" y="71"/>
                    <a:pt x="553" y="71"/>
                  </a:cubicBezTo>
                  <a:cubicBezTo>
                    <a:pt x="553" y="69"/>
                    <a:pt x="553" y="67"/>
                    <a:pt x="553" y="65"/>
                  </a:cubicBezTo>
                  <a:cubicBezTo>
                    <a:pt x="550" y="29"/>
                    <a:pt x="520" y="0"/>
                    <a:pt x="483" y="0"/>
                  </a:cubicBezTo>
                  <a:cubicBezTo>
                    <a:pt x="0" y="0"/>
                    <a:pt x="0" y="0"/>
                    <a:pt x="0" y="0"/>
                  </a:cubicBezTo>
                  <a:cubicBezTo>
                    <a:pt x="0" y="758"/>
                    <a:pt x="0" y="758"/>
                    <a:pt x="0" y="758"/>
                  </a:cubicBezTo>
                  <a:cubicBezTo>
                    <a:pt x="483" y="758"/>
                    <a:pt x="483" y="758"/>
                    <a:pt x="483" y="758"/>
                  </a:cubicBezTo>
                  <a:cubicBezTo>
                    <a:pt x="514" y="758"/>
                    <a:pt x="540" y="775"/>
                    <a:pt x="554" y="801"/>
                  </a:cubicBezTo>
                  <a:close/>
                </a:path>
              </a:pathLst>
            </a:custGeom>
            <a:solidFill>
              <a:schemeClr val="bg1">
                <a:lumMod val="95000"/>
              </a:schemeClr>
            </a:solidFill>
            <a:ln w="9525">
              <a:noFill/>
              <a:round/>
            </a:ln>
          </p:spPr>
          <p:txBody>
            <a:bodyPr vert="horz" wrap="square" lIns="128580" tIns="64290" rIns="128580" bIns="64290" numCol="1" anchor="t" anchorCtr="0" compatLnSpc="1"/>
            <a:p>
              <a:pPr>
                <a:lnSpc>
                  <a:spcPct val="120000"/>
                </a:lnSpc>
              </a:pPr>
              <a:endParaRPr lang="en-US" sz="800" dirty="0">
                <a:latin typeface="Arial" panose="020B0604020202020204" pitchFamily="34" charset="0"/>
                <a:ea typeface="微软雅黑" panose="020B0503020204020204" charset="-122"/>
                <a:cs typeface="+mn-ea"/>
                <a:sym typeface="Arial" panose="020B0604020202020204" pitchFamily="34" charset="0"/>
              </a:endParaRPr>
            </a:p>
          </p:txBody>
        </p:sp>
        <p:sp>
          <p:nvSpPr>
            <p:cNvPr id="10" name="Freeform 9"/>
            <p:cNvSpPr/>
            <p:nvPr/>
          </p:nvSpPr>
          <p:spPr bwMode="auto">
            <a:xfrm>
              <a:off x="4502151" y="2357438"/>
              <a:ext cx="73025" cy="1446213"/>
            </a:xfrm>
            <a:custGeom>
              <a:avLst/>
              <a:gdLst/>
              <a:ahLst/>
              <a:cxnLst>
                <a:cxn ang="0">
                  <a:pos x="39" y="57"/>
                </a:cxn>
                <a:cxn ang="0">
                  <a:pos x="0" y="0"/>
                </a:cxn>
                <a:cxn ang="0">
                  <a:pos x="0" y="756"/>
                </a:cxn>
                <a:cxn ang="0">
                  <a:pos x="40" y="793"/>
                </a:cxn>
                <a:cxn ang="0">
                  <a:pos x="40" y="65"/>
                </a:cxn>
                <a:cxn ang="0">
                  <a:pos x="39" y="63"/>
                </a:cxn>
                <a:cxn ang="0">
                  <a:pos x="39" y="57"/>
                </a:cxn>
              </a:cxnLst>
              <a:rect l="0" t="0" r="r" b="b"/>
              <a:pathLst>
                <a:path w="40" h="793">
                  <a:moveTo>
                    <a:pt x="39" y="57"/>
                  </a:moveTo>
                  <a:cubicBezTo>
                    <a:pt x="37" y="32"/>
                    <a:pt x="22" y="10"/>
                    <a:pt x="0" y="0"/>
                  </a:cubicBezTo>
                  <a:cubicBezTo>
                    <a:pt x="0" y="756"/>
                    <a:pt x="0" y="756"/>
                    <a:pt x="0" y="756"/>
                  </a:cubicBezTo>
                  <a:cubicBezTo>
                    <a:pt x="17" y="764"/>
                    <a:pt x="31" y="776"/>
                    <a:pt x="40" y="793"/>
                  </a:cubicBezTo>
                  <a:cubicBezTo>
                    <a:pt x="40" y="65"/>
                    <a:pt x="40" y="65"/>
                    <a:pt x="40" y="65"/>
                  </a:cubicBezTo>
                  <a:cubicBezTo>
                    <a:pt x="39" y="64"/>
                    <a:pt x="39" y="63"/>
                    <a:pt x="39" y="63"/>
                  </a:cubicBezTo>
                  <a:cubicBezTo>
                    <a:pt x="39" y="61"/>
                    <a:pt x="39" y="59"/>
                    <a:pt x="39" y="57"/>
                  </a:cubicBezTo>
                  <a:close/>
                </a:path>
              </a:pathLst>
            </a:custGeom>
            <a:solidFill>
              <a:srgbClr val="FFFFFF"/>
            </a:solidFill>
            <a:ln w="9525">
              <a:noFill/>
              <a:round/>
            </a:ln>
          </p:spPr>
          <p:txBody>
            <a:bodyPr vert="horz" wrap="square" lIns="128580" tIns="64290" rIns="128580" bIns="64290" numCol="1" anchor="t" anchorCtr="0" compatLnSpc="1"/>
            <a:p>
              <a:pPr>
                <a:lnSpc>
                  <a:spcPct val="120000"/>
                </a:lnSpc>
              </a:pPr>
              <a:endParaRPr lang="en-US" sz="800" dirty="0">
                <a:latin typeface="Arial" panose="020B0604020202020204" pitchFamily="34" charset="0"/>
                <a:ea typeface="微软雅黑" panose="020B0503020204020204" charset="-122"/>
                <a:cs typeface="+mn-ea"/>
                <a:sym typeface="Arial" panose="020B0604020202020204" pitchFamily="34" charset="0"/>
              </a:endParaRPr>
            </a:p>
          </p:txBody>
        </p:sp>
        <p:sp>
          <p:nvSpPr>
            <p:cNvPr id="11" name="Rectangle 10"/>
            <p:cNvSpPr>
              <a:spLocks noChangeArrowheads="1"/>
            </p:cNvSpPr>
            <p:nvPr/>
          </p:nvSpPr>
          <p:spPr bwMode="auto">
            <a:xfrm>
              <a:off x="4700588" y="2586038"/>
              <a:ext cx="746125" cy="47625"/>
            </a:xfrm>
            <a:prstGeom prst="rect">
              <a:avLst/>
            </a:prstGeom>
            <a:solidFill>
              <a:srgbClr val="A8AAAD"/>
            </a:solidFill>
            <a:ln w="9525">
              <a:noFill/>
              <a:miter lim="800000"/>
            </a:ln>
          </p:spPr>
          <p:txBody>
            <a:bodyPr vert="horz" wrap="square" lIns="128580" tIns="64290" rIns="128580" bIns="64290" numCol="1" anchor="t" anchorCtr="0" compatLnSpc="1"/>
            <a:p>
              <a:pPr>
                <a:lnSpc>
                  <a:spcPct val="120000"/>
                </a:lnSpc>
              </a:pPr>
              <a:endParaRPr lang="en-US" sz="800" dirty="0">
                <a:latin typeface="Arial" panose="020B0604020202020204" pitchFamily="34" charset="0"/>
                <a:ea typeface="微软雅黑" panose="020B0503020204020204" charset="-122"/>
                <a:cs typeface="+mn-ea"/>
                <a:sym typeface="Arial" panose="020B0604020202020204" pitchFamily="34" charset="0"/>
              </a:endParaRPr>
            </a:p>
          </p:txBody>
        </p:sp>
        <p:sp>
          <p:nvSpPr>
            <p:cNvPr id="12" name="Rectangle 11"/>
            <p:cNvSpPr>
              <a:spLocks noChangeArrowheads="1"/>
            </p:cNvSpPr>
            <p:nvPr/>
          </p:nvSpPr>
          <p:spPr bwMode="auto">
            <a:xfrm>
              <a:off x="4700588" y="2759075"/>
              <a:ext cx="746125" cy="47625"/>
            </a:xfrm>
            <a:prstGeom prst="rect">
              <a:avLst/>
            </a:prstGeom>
            <a:solidFill>
              <a:srgbClr val="A8AAAD"/>
            </a:solidFill>
            <a:ln w="9525">
              <a:noFill/>
              <a:miter lim="800000"/>
            </a:ln>
          </p:spPr>
          <p:txBody>
            <a:bodyPr vert="horz" wrap="square" lIns="128580" tIns="64290" rIns="128580" bIns="64290" numCol="1" anchor="t" anchorCtr="0" compatLnSpc="1"/>
            <a:p>
              <a:pPr>
                <a:lnSpc>
                  <a:spcPct val="120000"/>
                </a:lnSpc>
              </a:pPr>
              <a:endParaRPr lang="en-US" sz="800" dirty="0">
                <a:latin typeface="Arial" panose="020B0604020202020204" pitchFamily="34" charset="0"/>
                <a:ea typeface="微软雅黑" panose="020B0503020204020204" charset="-122"/>
                <a:cs typeface="+mn-ea"/>
                <a:sym typeface="Arial" panose="020B0604020202020204" pitchFamily="34" charset="0"/>
              </a:endParaRPr>
            </a:p>
          </p:txBody>
        </p:sp>
        <p:sp>
          <p:nvSpPr>
            <p:cNvPr id="13" name="Rectangle 12"/>
            <p:cNvSpPr>
              <a:spLocks noChangeArrowheads="1"/>
            </p:cNvSpPr>
            <p:nvPr/>
          </p:nvSpPr>
          <p:spPr bwMode="auto">
            <a:xfrm>
              <a:off x="4700588" y="2932113"/>
              <a:ext cx="746125" cy="49213"/>
            </a:xfrm>
            <a:prstGeom prst="rect">
              <a:avLst/>
            </a:prstGeom>
            <a:solidFill>
              <a:srgbClr val="A8AAAD"/>
            </a:solidFill>
            <a:ln w="9525">
              <a:noFill/>
              <a:miter lim="800000"/>
            </a:ln>
          </p:spPr>
          <p:txBody>
            <a:bodyPr vert="horz" wrap="square" lIns="128580" tIns="64290" rIns="128580" bIns="64290" numCol="1" anchor="t" anchorCtr="0" compatLnSpc="1"/>
            <a:p>
              <a:pPr>
                <a:lnSpc>
                  <a:spcPct val="120000"/>
                </a:lnSpc>
              </a:pPr>
              <a:endParaRPr lang="en-US" sz="800" dirty="0">
                <a:latin typeface="Arial" panose="020B0604020202020204" pitchFamily="34" charset="0"/>
                <a:ea typeface="微软雅黑" panose="020B0503020204020204" charset="-122"/>
                <a:cs typeface="+mn-ea"/>
                <a:sym typeface="Arial" panose="020B0604020202020204" pitchFamily="34" charset="0"/>
              </a:endParaRPr>
            </a:p>
          </p:txBody>
        </p:sp>
        <p:sp>
          <p:nvSpPr>
            <p:cNvPr id="14" name="Rectangle 13"/>
            <p:cNvSpPr>
              <a:spLocks noChangeArrowheads="1"/>
            </p:cNvSpPr>
            <p:nvPr/>
          </p:nvSpPr>
          <p:spPr bwMode="auto">
            <a:xfrm>
              <a:off x="4700588" y="3105150"/>
              <a:ext cx="746125" cy="49213"/>
            </a:xfrm>
            <a:prstGeom prst="rect">
              <a:avLst/>
            </a:prstGeom>
            <a:solidFill>
              <a:srgbClr val="A8AAAD"/>
            </a:solidFill>
            <a:ln w="9525">
              <a:noFill/>
              <a:miter lim="800000"/>
            </a:ln>
          </p:spPr>
          <p:txBody>
            <a:bodyPr vert="horz" wrap="square" lIns="128580" tIns="64290" rIns="128580" bIns="64290" numCol="1" anchor="t" anchorCtr="0" compatLnSpc="1"/>
            <a:p>
              <a:pPr>
                <a:lnSpc>
                  <a:spcPct val="120000"/>
                </a:lnSpc>
              </a:pPr>
              <a:endParaRPr lang="en-US" sz="800" dirty="0">
                <a:latin typeface="Arial" panose="020B0604020202020204" pitchFamily="34" charset="0"/>
                <a:ea typeface="微软雅黑" panose="020B0503020204020204" charset="-122"/>
                <a:cs typeface="+mn-ea"/>
                <a:sym typeface="Arial" panose="020B0604020202020204" pitchFamily="34" charset="0"/>
              </a:endParaRPr>
            </a:p>
          </p:txBody>
        </p:sp>
        <p:sp>
          <p:nvSpPr>
            <p:cNvPr id="15" name="Rectangle 14"/>
            <p:cNvSpPr>
              <a:spLocks noChangeArrowheads="1"/>
            </p:cNvSpPr>
            <p:nvPr/>
          </p:nvSpPr>
          <p:spPr bwMode="auto">
            <a:xfrm>
              <a:off x="4700588" y="3279775"/>
              <a:ext cx="746125" cy="49213"/>
            </a:xfrm>
            <a:prstGeom prst="rect">
              <a:avLst/>
            </a:prstGeom>
            <a:solidFill>
              <a:srgbClr val="A8AAAD"/>
            </a:solidFill>
            <a:ln w="9525">
              <a:noFill/>
              <a:miter lim="800000"/>
            </a:ln>
          </p:spPr>
          <p:txBody>
            <a:bodyPr vert="horz" wrap="square" lIns="128580" tIns="64290" rIns="128580" bIns="64290" numCol="1" anchor="t" anchorCtr="0" compatLnSpc="1"/>
            <a:p>
              <a:pPr>
                <a:lnSpc>
                  <a:spcPct val="120000"/>
                </a:lnSpc>
              </a:pPr>
              <a:endParaRPr lang="en-US" sz="800" dirty="0">
                <a:latin typeface="Arial" panose="020B0604020202020204" pitchFamily="34" charset="0"/>
                <a:ea typeface="微软雅黑" panose="020B0503020204020204" charset="-122"/>
                <a:cs typeface="+mn-ea"/>
                <a:sym typeface="Arial" panose="020B0604020202020204" pitchFamily="34" charset="0"/>
              </a:endParaRPr>
            </a:p>
          </p:txBody>
        </p:sp>
        <p:sp>
          <p:nvSpPr>
            <p:cNvPr id="16" name="Rectangle 15"/>
            <p:cNvSpPr>
              <a:spLocks noChangeArrowheads="1"/>
            </p:cNvSpPr>
            <p:nvPr/>
          </p:nvSpPr>
          <p:spPr bwMode="auto">
            <a:xfrm>
              <a:off x="4700588" y="3452813"/>
              <a:ext cx="746125" cy="49213"/>
            </a:xfrm>
            <a:prstGeom prst="rect">
              <a:avLst/>
            </a:prstGeom>
            <a:solidFill>
              <a:srgbClr val="A8AAAD"/>
            </a:solidFill>
            <a:ln w="9525">
              <a:noFill/>
              <a:miter lim="800000"/>
            </a:ln>
          </p:spPr>
          <p:txBody>
            <a:bodyPr vert="horz" wrap="square" lIns="128580" tIns="64290" rIns="128580" bIns="64290" numCol="1" anchor="t" anchorCtr="0" compatLnSpc="1"/>
            <a:p>
              <a:pPr>
                <a:lnSpc>
                  <a:spcPct val="120000"/>
                </a:lnSpc>
              </a:pPr>
              <a:endParaRPr lang="en-US" sz="800" dirty="0">
                <a:latin typeface="Arial" panose="020B0604020202020204" pitchFamily="34" charset="0"/>
                <a:ea typeface="微软雅黑" panose="020B0503020204020204" charset="-122"/>
                <a:cs typeface="+mn-ea"/>
                <a:sym typeface="Arial" panose="020B0604020202020204" pitchFamily="34" charset="0"/>
              </a:endParaRPr>
            </a:p>
          </p:txBody>
        </p:sp>
        <p:sp>
          <p:nvSpPr>
            <p:cNvPr id="17" name="Rectangle 16"/>
            <p:cNvSpPr>
              <a:spLocks noChangeArrowheads="1"/>
            </p:cNvSpPr>
            <p:nvPr/>
          </p:nvSpPr>
          <p:spPr bwMode="auto">
            <a:xfrm>
              <a:off x="3692526" y="2586038"/>
              <a:ext cx="746125" cy="47625"/>
            </a:xfrm>
            <a:prstGeom prst="rect">
              <a:avLst/>
            </a:prstGeom>
            <a:solidFill>
              <a:srgbClr val="A8AAAD"/>
            </a:solidFill>
            <a:ln w="9525">
              <a:noFill/>
              <a:miter lim="800000"/>
            </a:ln>
          </p:spPr>
          <p:txBody>
            <a:bodyPr vert="horz" wrap="square" lIns="128580" tIns="64290" rIns="128580" bIns="64290" numCol="1" anchor="t" anchorCtr="0" compatLnSpc="1"/>
            <a:p>
              <a:pPr>
                <a:lnSpc>
                  <a:spcPct val="120000"/>
                </a:lnSpc>
              </a:pPr>
              <a:endParaRPr lang="en-US" sz="800" dirty="0">
                <a:latin typeface="Arial" panose="020B0604020202020204" pitchFamily="34" charset="0"/>
                <a:ea typeface="微软雅黑" panose="020B0503020204020204" charset="-122"/>
                <a:cs typeface="+mn-ea"/>
                <a:sym typeface="Arial" panose="020B0604020202020204" pitchFamily="34" charset="0"/>
              </a:endParaRPr>
            </a:p>
          </p:txBody>
        </p:sp>
        <p:sp>
          <p:nvSpPr>
            <p:cNvPr id="18" name="Rectangle 17"/>
            <p:cNvSpPr>
              <a:spLocks noChangeArrowheads="1"/>
            </p:cNvSpPr>
            <p:nvPr/>
          </p:nvSpPr>
          <p:spPr bwMode="auto">
            <a:xfrm>
              <a:off x="3692526" y="2759075"/>
              <a:ext cx="746125" cy="47625"/>
            </a:xfrm>
            <a:prstGeom prst="rect">
              <a:avLst/>
            </a:prstGeom>
            <a:solidFill>
              <a:srgbClr val="A8AAAD"/>
            </a:solidFill>
            <a:ln w="9525">
              <a:noFill/>
              <a:miter lim="800000"/>
            </a:ln>
          </p:spPr>
          <p:txBody>
            <a:bodyPr vert="horz" wrap="square" lIns="128580" tIns="64290" rIns="128580" bIns="64290" numCol="1" anchor="t" anchorCtr="0" compatLnSpc="1"/>
            <a:p>
              <a:pPr>
                <a:lnSpc>
                  <a:spcPct val="120000"/>
                </a:lnSpc>
              </a:pPr>
              <a:endParaRPr lang="en-US" sz="800" dirty="0">
                <a:latin typeface="Arial" panose="020B0604020202020204" pitchFamily="34" charset="0"/>
                <a:ea typeface="微软雅黑" panose="020B0503020204020204" charset="-122"/>
                <a:cs typeface="+mn-ea"/>
                <a:sym typeface="Arial" panose="020B0604020202020204" pitchFamily="34" charset="0"/>
              </a:endParaRPr>
            </a:p>
          </p:txBody>
        </p:sp>
        <p:sp>
          <p:nvSpPr>
            <p:cNvPr id="19" name="Rectangle 18"/>
            <p:cNvSpPr>
              <a:spLocks noChangeArrowheads="1"/>
            </p:cNvSpPr>
            <p:nvPr/>
          </p:nvSpPr>
          <p:spPr bwMode="auto">
            <a:xfrm>
              <a:off x="3692526" y="2932113"/>
              <a:ext cx="746125" cy="49213"/>
            </a:xfrm>
            <a:prstGeom prst="rect">
              <a:avLst/>
            </a:prstGeom>
            <a:solidFill>
              <a:srgbClr val="A8AAAD"/>
            </a:solidFill>
            <a:ln w="9525">
              <a:noFill/>
              <a:miter lim="800000"/>
            </a:ln>
          </p:spPr>
          <p:txBody>
            <a:bodyPr vert="horz" wrap="square" lIns="128580" tIns="64290" rIns="128580" bIns="64290" numCol="1" anchor="t" anchorCtr="0" compatLnSpc="1"/>
            <a:p>
              <a:pPr>
                <a:lnSpc>
                  <a:spcPct val="120000"/>
                </a:lnSpc>
              </a:pPr>
              <a:endParaRPr lang="en-US" sz="800" dirty="0">
                <a:latin typeface="Arial" panose="020B0604020202020204" pitchFamily="34" charset="0"/>
                <a:ea typeface="微软雅黑" panose="020B0503020204020204" charset="-122"/>
                <a:cs typeface="+mn-ea"/>
                <a:sym typeface="Arial" panose="020B0604020202020204" pitchFamily="34" charset="0"/>
              </a:endParaRPr>
            </a:p>
          </p:txBody>
        </p:sp>
        <p:sp>
          <p:nvSpPr>
            <p:cNvPr id="20" name="Rectangle 19"/>
            <p:cNvSpPr>
              <a:spLocks noChangeArrowheads="1"/>
            </p:cNvSpPr>
            <p:nvPr/>
          </p:nvSpPr>
          <p:spPr bwMode="auto">
            <a:xfrm>
              <a:off x="3692526" y="3105150"/>
              <a:ext cx="746125" cy="49213"/>
            </a:xfrm>
            <a:prstGeom prst="rect">
              <a:avLst/>
            </a:prstGeom>
            <a:solidFill>
              <a:srgbClr val="A8AAAD"/>
            </a:solidFill>
            <a:ln w="9525">
              <a:noFill/>
              <a:miter lim="800000"/>
            </a:ln>
          </p:spPr>
          <p:txBody>
            <a:bodyPr vert="horz" wrap="square" lIns="128580" tIns="64290" rIns="128580" bIns="64290" numCol="1" anchor="t" anchorCtr="0" compatLnSpc="1"/>
            <a:p>
              <a:pPr>
                <a:lnSpc>
                  <a:spcPct val="120000"/>
                </a:lnSpc>
              </a:pPr>
              <a:endParaRPr lang="en-US" sz="800" dirty="0">
                <a:latin typeface="Arial" panose="020B0604020202020204" pitchFamily="34" charset="0"/>
                <a:ea typeface="微软雅黑" panose="020B0503020204020204" charset="-122"/>
                <a:cs typeface="+mn-ea"/>
                <a:sym typeface="Arial" panose="020B0604020202020204" pitchFamily="34" charset="0"/>
              </a:endParaRPr>
            </a:p>
          </p:txBody>
        </p:sp>
        <p:sp>
          <p:nvSpPr>
            <p:cNvPr id="21" name="Rectangle 20"/>
            <p:cNvSpPr>
              <a:spLocks noChangeArrowheads="1"/>
            </p:cNvSpPr>
            <p:nvPr/>
          </p:nvSpPr>
          <p:spPr bwMode="auto">
            <a:xfrm>
              <a:off x="3692526" y="3279775"/>
              <a:ext cx="746125" cy="49213"/>
            </a:xfrm>
            <a:prstGeom prst="rect">
              <a:avLst/>
            </a:prstGeom>
            <a:solidFill>
              <a:srgbClr val="A8AAAD"/>
            </a:solidFill>
            <a:ln w="9525">
              <a:noFill/>
              <a:miter lim="800000"/>
            </a:ln>
          </p:spPr>
          <p:txBody>
            <a:bodyPr vert="horz" wrap="square" lIns="128580" tIns="64290" rIns="128580" bIns="64290" numCol="1" anchor="t" anchorCtr="0" compatLnSpc="1"/>
            <a:p>
              <a:pPr>
                <a:lnSpc>
                  <a:spcPct val="120000"/>
                </a:lnSpc>
              </a:pPr>
              <a:endParaRPr lang="en-US" sz="800" dirty="0">
                <a:latin typeface="Arial" panose="020B0604020202020204" pitchFamily="34" charset="0"/>
                <a:ea typeface="微软雅黑" panose="020B0503020204020204" charset="-122"/>
                <a:cs typeface="+mn-ea"/>
                <a:sym typeface="Arial" panose="020B0604020202020204" pitchFamily="34" charset="0"/>
              </a:endParaRPr>
            </a:p>
          </p:txBody>
        </p:sp>
        <p:sp>
          <p:nvSpPr>
            <p:cNvPr id="22" name="Rectangle 21"/>
            <p:cNvSpPr>
              <a:spLocks noChangeArrowheads="1"/>
            </p:cNvSpPr>
            <p:nvPr/>
          </p:nvSpPr>
          <p:spPr bwMode="auto">
            <a:xfrm>
              <a:off x="3692526" y="3452813"/>
              <a:ext cx="746125" cy="49213"/>
            </a:xfrm>
            <a:prstGeom prst="rect">
              <a:avLst/>
            </a:prstGeom>
            <a:solidFill>
              <a:srgbClr val="A8AAAD"/>
            </a:solidFill>
            <a:ln w="9525">
              <a:noFill/>
              <a:miter lim="800000"/>
            </a:ln>
          </p:spPr>
          <p:txBody>
            <a:bodyPr vert="horz" wrap="square" lIns="128580" tIns="64290" rIns="128580" bIns="64290" numCol="1" anchor="t" anchorCtr="0" compatLnSpc="1"/>
            <a:p>
              <a:pPr>
                <a:lnSpc>
                  <a:spcPct val="120000"/>
                </a:lnSpc>
              </a:pPr>
              <a:endParaRPr lang="en-US" sz="800" dirty="0">
                <a:latin typeface="Arial" panose="020B0604020202020204" pitchFamily="34" charset="0"/>
                <a:ea typeface="微软雅黑" panose="020B0503020204020204" charset="-122"/>
                <a:cs typeface="+mn-ea"/>
                <a:sym typeface="Arial" panose="020B0604020202020204" pitchFamily="34" charset="0"/>
              </a:endParaRPr>
            </a:p>
          </p:txBody>
        </p:sp>
        <p:sp>
          <p:nvSpPr>
            <p:cNvPr id="23" name="Freeform 22"/>
            <p:cNvSpPr/>
            <p:nvPr/>
          </p:nvSpPr>
          <p:spPr bwMode="auto">
            <a:xfrm>
              <a:off x="3548063" y="3338513"/>
              <a:ext cx="928688" cy="917575"/>
            </a:xfrm>
            <a:custGeom>
              <a:avLst/>
              <a:gdLst/>
              <a:ahLst/>
              <a:cxnLst>
                <a:cxn ang="0">
                  <a:pos x="32" y="500"/>
                </a:cxn>
                <a:cxn ang="0">
                  <a:pos x="14" y="489"/>
                </a:cxn>
                <a:cxn ang="0">
                  <a:pos x="15" y="436"/>
                </a:cxn>
                <a:cxn ang="0">
                  <a:pos x="441" y="15"/>
                </a:cxn>
                <a:cxn ang="0">
                  <a:pos x="495" y="15"/>
                </a:cxn>
                <a:cxn ang="0">
                  <a:pos x="494" y="69"/>
                </a:cxn>
                <a:cxn ang="0">
                  <a:pos x="68" y="490"/>
                </a:cxn>
                <a:cxn ang="0">
                  <a:pos x="32" y="500"/>
                </a:cxn>
              </a:cxnLst>
              <a:rect l="0" t="0" r="r" b="b"/>
              <a:pathLst>
                <a:path w="509" h="503">
                  <a:moveTo>
                    <a:pt x="32" y="500"/>
                  </a:moveTo>
                  <a:cubicBezTo>
                    <a:pt x="26" y="498"/>
                    <a:pt x="19" y="495"/>
                    <a:pt x="14" y="489"/>
                  </a:cubicBezTo>
                  <a:cubicBezTo>
                    <a:pt x="0" y="475"/>
                    <a:pt x="0" y="450"/>
                    <a:pt x="15" y="436"/>
                  </a:cubicBezTo>
                  <a:cubicBezTo>
                    <a:pt x="441" y="15"/>
                    <a:pt x="441" y="15"/>
                    <a:pt x="441" y="15"/>
                  </a:cubicBezTo>
                  <a:cubicBezTo>
                    <a:pt x="456" y="0"/>
                    <a:pt x="480" y="0"/>
                    <a:pt x="495" y="15"/>
                  </a:cubicBezTo>
                  <a:cubicBezTo>
                    <a:pt x="509" y="30"/>
                    <a:pt x="509" y="54"/>
                    <a:pt x="494" y="69"/>
                  </a:cubicBezTo>
                  <a:cubicBezTo>
                    <a:pt x="68" y="490"/>
                    <a:pt x="68" y="490"/>
                    <a:pt x="68" y="490"/>
                  </a:cubicBezTo>
                  <a:cubicBezTo>
                    <a:pt x="58" y="499"/>
                    <a:pt x="44" y="503"/>
                    <a:pt x="32" y="500"/>
                  </a:cubicBezTo>
                  <a:close/>
                </a:path>
              </a:pathLst>
            </a:custGeom>
            <a:solidFill>
              <a:schemeClr val="accent1"/>
            </a:solidFill>
            <a:ln w="9525">
              <a:noFill/>
              <a:round/>
            </a:ln>
          </p:spPr>
          <p:txBody>
            <a:bodyPr vert="horz" wrap="square" lIns="128580" tIns="64290" rIns="128580" bIns="64290" numCol="1" anchor="t" anchorCtr="0" compatLnSpc="1"/>
            <a:p>
              <a:pPr>
                <a:lnSpc>
                  <a:spcPct val="120000"/>
                </a:lnSpc>
              </a:pPr>
              <a:endParaRPr lang="en-US" sz="800" dirty="0">
                <a:latin typeface="Arial" panose="020B0604020202020204" pitchFamily="34" charset="0"/>
                <a:ea typeface="微软雅黑" panose="020B0503020204020204" charset="-122"/>
                <a:cs typeface="+mn-ea"/>
                <a:sym typeface="Arial" panose="020B0604020202020204" pitchFamily="34" charset="0"/>
              </a:endParaRPr>
            </a:p>
          </p:txBody>
        </p:sp>
        <p:sp>
          <p:nvSpPr>
            <p:cNvPr id="24" name="Freeform 23"/>
            <p:cNvSpPr/>
            <p:nvPr/>
          </p:nvSpPr>
          <p:spPr bwMode="auto">
            <a:xfrm>
              <a:off x="3471863" y="3467100"/>
              <a:ext cx="874713" cy="862013"/>
            </a:xfrm>
            <a:custGeom>
              <a:avLst/>
              <a:gdLst/>
              <a:ahLst/>
              <a:cxnLst>
                <a:cxn ang="0">
                  <a:pos x="65" y="466"/>
                </a:cxn>
                <a:cxn ang="0">
                  <a:pos x="29" y="446"/>
                </a:cxn>
                <a:cxn ang="0">
                  <a:pos x="30" y="339"/>
                </a:cxn>
                <a:cxn ang="0">
                  <a:pos x="343" y="29"/>
                </a:cxn>
                <a:cxn ang="0">
                  <a:pos x="451" y="30"/>
                </a:cxn>
                <a:cxn ang="0">
                  <a:pos x="450" y="137"/>
                </a:cxn>
                <a:cxn ang="0">
                  <a:pos x="137" y="447"/>
                </a:cxn>
                <a:cxn ang="0">
                  <a:pos x="65" y="466"/>
                </a:cxn>
              </a:cxnLst>
              <a:rect l="0" t="0" r="r" b="b"/>
              <a:pathLst>
                <a:path w="480" h="473">
                  <a:moveTo>
                    <a:pt x="65" y="466"/>
                  </a:moveTo>
                  <a:cubicBezTo>
                    <a:pt x="52" y="463"/>
                    <a:pt x="39" y="456"/>
                    <a:pt x="29" y="446"/>
                  </a:cubicBezTo>
                  <a:cubicBezTo>
                    <a:pt x="0" y="416"/>
                    <a:pt x="0" y="368"/>
                    <a:pt x="30" y="339"/>
                  </a:cubicBezTo>
                  <a:cubicBezTo>
                    <a:pt x="343" y="29"/>
                    <a:pt x="343" y="29"/>
                    <a:pt x="343" y="29"/>
                  </a:cubicBezTo>
                  <a:cubicBezTo>
                    <a:pt x="373" y="0"/>
                    <a:pt x="421" y="0"/>
                    <a:pt x="451" y="30"/>
                  </a:cubicBezTo>
                  <a:cubicBezTo>
                    <a:pt x="480" y="60"/>
                    <a:pt x="480" y="108"/>
                    <a:pt x="450" y="137"/>
                  </a:cubicBezTo>
                  <a:cubicBezTo>
                    <a:pt x="137" y="447"/>
                    <a:pt x="137" y="447"/>
                    <a:pt x="137" y="447"/>
                  </a:cubicBezTo>
                  <a:cubicBezTo>
                    <a:pt x="117" y="466"/>
                    <a:pt x="90" y="473"/>
                    <a:pt x="65" y="466"/>
                  </a:cubicBezTo>
                  <a:close/>
                </a:path>
              </a:pathLst>
            </a:custGeom>
            <a:solidFill>
              <a:schemeClr val="accent1">
                <a:lumMod val="75000"/>
              </a:schemeClr>
            </a:solidFill>
            <a:ln w="9525">
              <a:noFill/>
              <a:round/>
            </a:ln>
          </p:spPr>
          <p:txBody>
            <a:bodyPr vert="horz" wrap="square" lIns="128580" tIns="64290" rIns="128580" bIns="64290" numCol="1" anchor="t" anchorCtr="0" compatLnSpc="1"/>
            <a:p>
              <a:pPr>
                <a:lnSpc>
                  <a:spcPct val="120000"/>
                </a:lnSpc>
              </a:pPr>
              <a:endParaRPr lang="en-US" sz="800" dirty="0">
                <a:latin typeface="Arial" panose="020B0604020202020204" pitchFamily="34" charset="0"/>
                <a:ea typeface="微软雅黑" panose="020B0503020204020204" charset="-122"/>
                <a:cs typeface="+mn-ea"/>
                <a:sym typeface="Arial" panose="020B0604020202020204" pitchFamily="34" charset="0"/>
              </a:endParaRPr>
            </a:p>
          </p:txBody>
        </p:sp>
        <p:sp>
          <p:nvSpPr>
            <p:cNvPr id="25" name="Freeform 24"/>
            <p:cNvSpPr>
              <a:spLocks noEditPoints="1"/>
            </p:cNvSpPr>
            <p:nvPr/>
          </p:nvSpPr>
          <p:spPr bwMode="auto">
            <a:xfrm>
              <a:off x="4195763" y="2540000"/>
              <a:ext cx="1084263" cy="1084263"/>
            </a:xfrm>
            <a:custGeom>
              <a:avLst/>
              <a:gdLst/>
              <a:ahLst/>
              <a:cxnLst>
                <a:cxn ang="0">
                  <a:pos x="595" y="299"/>
                </a:cxn>
                <a:cxn ang="0">
                  <a:pos x="370" y="9"/>
                </a:cxn>
                <a:cxn ang="0">
                  <a:pos x="300" y="0"/>
                </a:cxn>
                <a:cxn ang="0">
                  <a:pos x="89" y="86"/>
                </a:cxn>
                <a:cxn ang="0">
                  <a:pos x="1" y="295"/>
                </a:cxn>
                <a:cxn ang="0">
                  <a:pos x="225" y="585"/>
                </a:cxn>
                <a:cxn ang="0">
                  <a:pos x="296" y="594"/>
                </a:cxn>
                <a:cxn ang="0">
                  <a:pos x="506" y="508"/>
                </a:cxn>
                <a:cxn ang="0">
                  <a:pos x="595" y="299"/>
                </a:cxn>
                <a:cxn ang="0">
                  <a:pos x="453" y="454"/>
                </a:cxn>
                <a:cxn ang="0">
                  <a:pos x="296" y="518"/>
                </a:cxn>
                <a:cxn ang="0">
                  <a:pos x="244" y="511"/>
                </a:cxn>
                <a:cxn ang="0">
                  <a:pos x="77" y="296"/>
                </a:cxn>
                <a:cxn ang="0">
                  <a:pos x="143" y="140"/>
                </a:cxn>
                <a:cxn ang="0">
                  <a:pos x="299" y="76"/>
                </a:cxn>
                <a:cxn ang="0">
                  <a:pos x="352" y="83"/>
                </a:cxn>
                <a:cxn ang="0">
                  <a:pos x="519" y="298"/>
                </a:cxn>
                <a:cxn ang="0">
                  <a:pos x="453" y="454"/>
                </a:cxn>
              </a:cxnLst>
              <a:rect l="0" t="0" r="r" b="b"/>
              <a:pathLst>
                <a:path w="595" h="594">
                  <a:moveTo>
                    <a:pt x="595" y="299"/>
                  </a:moveTo>
                  <a:cubicBezTo>
                    <a:pt x="595" y="162"/>
                    <a:pt x="503" y="43"/>
                    <a:pt x="370" y="9"/>
                  </a:cubicBezTo>
                  <a:cubicBezTo>
                    <a:pt x="347" y="3"/>
                    <a:pt x="323" y="0"/>
                    <a:pt x="300" y="0"/>
                  </a:cubicBezTo>
                  <a:cubicBezTo>
                    <a:pt x="220" y="0"/>
                    <a:pt x="146" y="30"/>
                    <a:pt x="89" y="86"/>
                  </a:cubicBezTo>
                  <a:cubicBezTo>
                    <a:pt x="33" y="142"/>
                    <a:pt x="1" y="216"/>
                    <a:pt x="1" y="295"/>
                  </a:cubicBezTo>
                  <a:cubicBezTo>
                    <a:pt x="0" y="432"/>
                    <a:pt x="92" y="552"/>
                    <a:pt x="225" y="585"/>
                  </a:cubicBezTo>
                  <a:cubicBezTo>
                    <a:pt x="248" y="591"/>
                    <a:pt x="272" y="594"/>
                    <a:pt x="296" y="594"/>
                  </a:cubicBezTo>
                  <a:cubicBezTo>
                    <a:pt x="375" y="594"/>
                    <a:pt x="450" y="564"/>
                    <a:pt x="506" y="508"/>
                  </a:cubicBezTo>
                  <a:cubicBezTo>
                    <a:pt x="563" y="452"/>
                    <a:pt x="594" y="378"/>
                    <a:pt x="595" y="299"/>
                  </a:cubicBezTo>
                  <a:close/>
                  <a:moveTo>
                    <a:pt x="453" y="454"/>
                  </a:moveTo>
                  <a:cubicBezTo>
                    <a:pt x="411" y="496"/>
                    <a:pt x="355" y="518"/>
                    <a:pt x="296" y="518"/>
                  </a:cubicBezTo>
                  <a:cubicBezTo>
                    <a:pt x="279" y="518"/>
                    <a:pt x="261" y="516"/>
                    <a:pt x="244" y="511"/>
                  </a:cubicBezTo>
                  <a:cubicBezTo>
                    <a:pt x="145" y="486"/>
                    <a:pt x="76" y="398"/>
                    <a:pt x="77" y="296"/>
                  </a:cubicBezTo>
                  <a:cubicBezTo>
                    <a:pt x="77" y="237"/>
                    <a:pt x="101" y="181"/>
                    <a:pt x="143" y="140"/>
                  </a:cubicBezTo>
                  <a:cubicBezTo>
                    <a:pt x="185" y="98"/>
                    <a:pt x="240" y="76"/>
                    <a:pt x="299" y="76"/>
                  </a:cubicBezTo>
                  <a:cubicBezTo>
                    <a:pt x="317" y="76"/>
                    <a:pt x="335" y="79"/>
                    <a:pt x="352" y="83"/>
                  </a:cubicBezTo>
                  <a:cubicBezTo>
                    <a:pt x="451" y="108"/>
                    <a:pt x="519" y="196"/>
                    <a:pt x="519" y="298"/>
                  </a:cubicBezTo>
                  <a:cubicBezTo>
                    <a:pt x="518" y="357"/>
                    <a:pt x="495" y="413"/>
                    <a:pt x="453" y="454"/>
                  </a:cubicBezTo>
                  <a:close/>
                </a:path>
              </a:pathLst>
            </a:custGeom>
            <a:solidFill>
              <a:schemeClr val="accent4"/>
            </a:solidFill>
            <a:ln w="9525">
              <a:noFill/>
              <a:round/>
            </a:ln>
          </p:spPr>
          <p:txBody>
            <a:bodyPr vert="horz" wrap="square" lIns="128580" tIns="64290" rIns="128580" bIns="64290" numCol="1" anchor="t" anchorCtr="0" compatLnSpc="1"/>
            <a:p>
              <a:pPr>
                <a:lnSpc>
                  <a:spcPct val="120000"/>
                </a:lnSpc>
              </a:pPr>
              <a:endParaRPr lang="en-US" sz="800" dirty="0">
                <a:latin typeface="Arial" panose="020B0604020202020204" pitchFamily="34" charset="0"/>
                <a:ea typeface="微软雅黑" panose="020B0503020204020204" charset="-122"/>
                <a:cs typeface="+mn-ea"/>
                <a:sym typeface="Arial" panose="020B0604020202020204" pitchFamily="34" charset="0"/>
              </a:endParaRPr>
            </a:p>
          </p:txBody>
        </p:sp>
      </p:grpSp>
    </p:spTree>
  </p:cSld>
  <p:clrMapOvr>
    <a:masterClrMapping/>
  </p:clrMapOvr>
  <p:transition advTm="7675">
    <p:plu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7" presetClass="entr" presetSubtype="1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p:cTn id="21" dur="500" fill="hold"/>
                                        <p:tgtEl>
                                          <p:spTgt spid="3"/>
                                        </p:tgtEl>
                                        <p:attrNameLst>
                                          <p:attrName>ppt_w</p:attrName>
                                        </p:attrNameLst>
                                      </p:cBhvr>
                                      <p:tavLst>
                                        <p:tav tm="0">
                                          <p:val>
                                            <p:fltVal val="0"/>
                                          </p:val>
                                        </p:tav>
                                        <p:tav tm="100000">
                                          <p:val>
                                            <p:strVal val="#ppt_w"/>
                                          </p:val>
                                        </p:tav>
                                      </p:tavLst>
                                    </p:anim>
                                    <p:anim calcmode="lin" valueType="num">
                                      <p:cBhvr>
                                        <p:cTn id="22" dur="5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heel(1)">
                                      <p:cBhvr>
                                        <p:cTn id="2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P spid="4" grpId="0"/>
      <p:bldP spid="4"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charset="-122"/>
                <a:ea typeface="微软雅黑" panose="020B0503020204020204" charset="-122"/>
              </a:rPr>
              <a:t>测试过程模型</a:t>
            </a:r>
            <a:endParaRPr kumimoji="1" lang="zh-CN" altLang="en-US" sz="2000" b="0" dirty="0">
              <a:solidFill>
                <a:schemeClr val="tx1">
                  <a:lumMod val="65000"/>
                  <a:lumOff val="35000"/>
                </a:schemeClr>
              </a:solidFill>
              <a:latin typeface="微软雅黑" panose="020B0503020204020204" charset="-122"/>
              <a:ea typeface="微软雅黑" panose="020B0503020204020204" charset="-122"/>
            </a:endParaRPr>
          </a:p>
        </p:txBody>
      </p:sp>
      <p:sp>
        <p:nvSpPr>
          <p:cNvPr id="47" name="TextBox 15"/>
          <p:cNvSpPr txBox="1"/>
          <p:nvPr/>
        </p:nvSpPr>
        <p:spPr>
          <a:xfrm>
            <a:off x="3788513" y="2745505"/>
            <a:ext cx="2003564" cy="735965"/>
          </a:xfrm>
          <a:prstGeom prst="rect">
            <a:avLst/>
          </a:prstGeom>
        </p:spPr>
        <p:txBody>
          <a:bodyPr wrap="square" lIns="91391" tIns="45696" rIns="91391" bIns="45696">
            <a:spAutoFit/>
          </a:bodyPr>
          <a:lstStyle>
            <a:defPPr>
              <a:defRPr lang="zh-CN"/>
            </a:defPPr>
            <a:lvl1pPr>
              <a:lnSpc>
                <a:spcPct val="150000"/>
              </a:lnSpc>
              <a:defRPr sz="1400">
                <a:solidFill>
                  <a:schemeClr val="bg1"/>
                </a:solidFill>
                <a:latin typeface="微软雅黑" panose="020B0503020204020204" charset="-122"/>
                <a:ea typeface="微软雅黑" panose="020B0503020204020204" charset="-122"/>
                <a:cs typeface="Segoe UI Semilight" panose="020B0402040204020203" pitchFamily="34" charset="0"/>
              </a:defRPr>
            </a:lvl1pPr>
          </a:lstStyle>
          <a:p>
            <a:r>
              <a:rPr lang="zh-CN" altLang="en-US" dirty="0">
                <a:sym typeface="Arial" panose="020B0604020202020204" pitchFamily="34" charset="0"/>
              </a:rPr>
              <a:t>输入文字，添加相关标题修改文字内容。</a:t>
            </a:r>
            <a:endParaRPr lang="zh-CN" altLang="en-US" dirty="0">
              <a:sym typeface="Arial" panose="020B0604020202020204" pitchFamily="34" charset="0"/>
            </a:endParaRPr>
          </a:p>
        </p:txBody>
      </p:sp>
      <p:sp>
        <p:nvSpPr>
          <p:cNvPr id="48" name="TextBox 15"/>
          <p:cNvSpPr txBox="1"/>
          <p:nvPr/>
        </p:nvSpPr>
        <p:spPr>
          <a:xfrm>
            <a:off x="6539869" y="4137558"/>
            <a:ext cx="2003564" cy="735965"/>
          </a:xfrm>
          <a:prstGeom prst="rect">
            <a:avLst/>
          </a:prstGeom>
        </p:spPr>
        <p:txBody>
          <a:bodyPr wrap="square" lIns="91391" tIns="45696" rIns="91391" bIns="45696">
            <a:spAutoFit/>
          </a:bodyPr>
          <a:lstStyle>
            <a:defPPr>
              <a:defRPr lang="zh-CN"/>
            </a:defPPr>
            <a:lvl1pPr>
              <a:lnSpc>
                <a:spcPct val="150000"/>
              </a:lnSpc>
              <a:defRPr sz="1400">
                <a:solidFill>
                  <a:schemeClr val="tx1">
                    <a:lumMod val="50000"/>
                    <a:lumOff val="50000"/>
                  </a:schemeClr>
                </a:solidFill>
                <a:latin typeface="微软雅黑" panose="020B0503020204020204" charset="-122"/>
                <a:ea typeface="微软雅黑" panose="020B0503020204020204" charset="-122"/>
                <a:cs typeface="Segoe UI Semilight" panose="020B0402040204020203" pitchFamily="34" charset="0"/>
              </a:defRPr>
            </a:lvl1pPr>
          </a:lstStyle>
          <a:p>
            <a:r>
              <a:rPr lang="zh-CN" altLang="en-US" dirty="0">
                <a:solidFill>
                  <a:schemeClr val="bg1"/>
                </a:solidFill>
                <a:sym typeface="Arial" panose="020B0604020202020204" pitchFamily="34" charset="0"/>
              </a:rPr>
              <a:t>输入文字，添加相关标题，修改文字内容</a:t>
            </a:r>
            <a:endParaRPr lang="zh-CN" altLang="en-US" dirty="0">
              <a:solidFill>
                <a:schemeClr val="bg1"/>
              </a:solidFill>
              <a:sym typeface="Arial" panose="020B0604020202020204" pitchFamily="34" charset="0"/>
            </a:endParaRPr>
          </a:p>
        </p:txBody>
      </p:sp>
      <p:sp>
        <p:nvSpPr>
          <p:cNvPr id="2" name="文本框 1"/>
          <p:cNvSpPr txBox="1"/>
          <p:nvPr/>
        </p:nvSpPr>
        <p:spPr>
          <a:xfrm>
            <a:off x="1315085" y="996315"/>
            <a:ext cx="4853305" cy="460375"/>
          </a:xfrm>
          <a:prstGeom prst="rect">
            <a:avLst/>
          </a:prstGeom>
          <a:noFill/>
        </p:spPr>
        <p:txBody>
          <a:bodyPr wrap="square" rtlCol="0">
            <a:spAutoFit/>
          </a:bodyPr>
          <a:p>
            <a:r>
              <a:rPr lang="en-US" altLang="zh-CN" sz="2400">
                <a:latin typeface="+mj-ea"/>
                <a:ea typeface="+mj-ea"/>
                <a:cs typeface="+mj-ea"/>
              </a:rPr>
              <a:t>1</a:t>
            </a:r>
            <a:r>
              <a:rPr lang="zh-CN" altLang="en-US" sz="2400">
                <a:latin typeface="+mj-ea"/>
                <a:ea typeface="+mj-ea"/>
                <a:cs typeface="+mj-ea"/>
              </a:rPr>
              <a:t>、测试过程模型概念</a:t>
            </a:r>
            <a:endParaRPr lang="zh-CN" altLang="en-US" sz="2400">
              <a:latin typeface="+mj-ea"/>
              <a:ea typeface="+mj-ea"/>
              <a:cs typeface="+mj-ea"/>
            </a:endParaRPr>
          </a:p>
        </p:txBody>
      </p:sp>
      <p:sp>
        <p:nvSpPr>
          <p:cNvPr id="100" name="文本框 99"/>
          <p:cNvSpPr txBox="1"/>
          <p:nvPr/>
        </p:nvSpPr>
        <p:spPr>
          <a:xfrm>
            <a:off x="1315085" y="1957705"/>
            <a:ext cx="5224780" cy="1630045"/>
          </a:xfrm>
          <a:prstGeom prst="rect">
            <a:avLst/>
          </a:prstGeom>
          <a:noFill/>
          <a:ln w="9525">
            <a:noFill/>
          </a:ln>
        </p:spPr>
        <p:txBody>
          <a:bodyPr wrap="square">
            <a:spAutoFit/>
          </a:bodyPr>
          <a:p>
            <a:pPr indent="304800"/>
            <a:r>
              <a:rPr lang="zh-CN" sz="2000" b="0">
                <a:ea typeface="宋体" panose="02010600030101010101" pitchFamily="2" charset="-122"/>
              </a:rPr>
              <a:t>随着测试过程管理的发展，软件测试人员通过实践总结了很多的测试过程模型，这些模型将测试活动进行了抽象，并与开发活动进行了有机的结合，是测试过程管理的重要参考依据。</a:t>
            </a:r>
            <a:endParaRPr lang="zh-CN" altLang="en-US" sz="2000" b="0">
              <a:ea typeface="宋体" panose="02010600030101010101" pitchFamily="2" charset="-122"/>
            </a:endParaRPr>
          </a:p>
        </p:txBody>
      </p:sp>
      <p:sp>
        <p:nvSpPr>
          <p:cNvPr id="34" name="Rectangle 33"/>
          <p:cNvSpPr/>
          <p:nvPr/>
        </p:nvSpPr>
        <p:spPr>
          <a:xfrm>
            <a:off x="6539865" y="1582420"/>
            <a:ext cx="5546725" cy="4090035"/>
          </a:xfrm>
          <a:prstGeom prst="rect">
            <a:avLst/>
          </a:prstGeom>
          <a:blipFill dpi="0" rotWithShape="1">
            <a:blip r:embed="rId1"/>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86694" tIns="43347" rIns="86694" bIns="43347" rtlCol="0" anchor="ctr"/>
          <a:p>
            <a:pPr algn="ctr">
              <a:lnSpc>
                <a:spcPct val="150000"/>
              </a:lnSpc>
            </a:pPr>
            <a:endParaRPr lang="en-US" dirty="0">
              <a:latin typeface="Arial" panose="020B0604020202020204" pitchFamily="34" charset="0"/>
              <a:ea typeface="微软雅黑" panose="020B0503020204020204" charset="-122"/>
              <a:sym typeface="Arial" panose="020B0604020202020204" pitchFamily="34" charset="0"/>
            </a:endParaRPr>
          </a:p>
        </p:txBody>
      </p:sp>
    </p:spTree>
  </p:cSld>
  <p:clrMapOvr>
    <a:masterClrMapping/>
  </p:clrMapOvr>
  <p:transition advTm="7675">
    <p:plu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ipe(left)">
                                      <p:cBhvr>
                                        <p:cTn id="7" dur="500"/>
                                        <p:tgtEl>
                                          <p:spTgt spid="4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8"/>
                                        </p:tgtEl>
                                        <p:attrNameLst>
                                          <p:attrName>style.visibility</p:attrName>
                                        </p:attrNameLst>
                                      </p:cBhvr>
                                      <p:to>
                                        <p:strVal val="visible"/>
                                      </p:to>
                                    </p:set>
                                    <p:animEffect transition="in" filter="wipe(left)">
                                      <p:cBhvr>
                                        <p:cTn id="10" dur="500"/>
                                        <p:tgtEl>
                                          <p:spTgt spid="4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down)">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17" presetClass="entr" presetSubtype="10" fill="hold" grpId="0" nodeType="clickEffect">
                                  <p:stCondLst>
                                    <p:cond delay="0"/>
                                  </p:stCondLst>
                                  <p:childTnLst>
                                    <p:set>
                                      <p:cBhvr>
                                        <p:cTn id="19" dur="1" fill="hold">
                                          <p:stCondLst>
                                            <p:cond delay="0"/>
                                          </p:stCondLst>
                                        </p:cTn>
                                        <p:tgtEl>
                                          <p:spTgt spid="100"/>
                                        </p:tgtEl>
                                        <p:attrNameLst>
                                          <p:attrName>style.visibility</p:attrName>
                                        </p:attrNameLst>
                                      </p:cBhvr>
                                      <p:to>
                                        <p:strVal val="visible"/>
                                      </p:to>
                                    </p:set>
                                    <p:anim calcmode="lin" valueType="num">
                                      <p:cBhvr>
                                        <p:cTn id="20" dur="500" fill="hold"/>
                                        <p:tgtEl>
                                          <p:spTgt spid="100"/>
                                        </p:tgtEl>
                                        <p:attrNameLst>
                                          <p:attrName>ppt_w</p:attrName>
                                        </p:attrNameLst>
                                      </p:cBhvr>
                                      <p:tavLst>
                                        <p:tav tm="0">
                                          <p:val>
                                            <p:fltVal val="0"/>
                                          </p:val>
                                        </p:tav>
                                        <p:tav tm="100000">
                                          <p:val>
                                            <p:strVal val="#ppt_w"/>
                                          </p:val>
                                        </p:tav>
                                      </p:tavLst>
                                    </p:anim>
                                    <p:anim calcmode="lin" valueType="num">
                                      <p:cBhvr>
                                        <p:cTn id="21" dur="500" fill="hold"/>
                                        <p:tgtEl>
                                          <p:spTgt spid="100"/>
                                        </p:tgtEl>
                                        <p:attrNameLst>
                                          <p:attrName>ppt_h</p:attrName>
                                        </p:attrNameLst>
                                      </p:cBhvr>
                                      <p:tavLst>
                                        <p:tav tm="0">
                                          <p:val>
                                            <p:strVal val="#ppt_h"/>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21" presetClass="entr" presetSubtype="1" fill="hold" grpId="0" nodeType="click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wheel(1)">
                                      <p:cBhvr>
                                        <p:cTn id="26" dur="20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8" grpId="0"/>
      <p:bldP spid="2" grpId="0"/>
      <p:bldP spid="2" grpId="1"/>
      <p:bldP spid="100" grpId="0"/>
      <p:bldP spid="100" grpId="1"/>
      <p:bldP spid="34" grpId="0" animBg="1"/>
      <p:bldP spid="34"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charset="-122"/>
                <a:ea typeface="微软雅黑" panose="020B0503020204020204" charset="-122"/>
              </a:rPr>
              <a:t>测试过程模型</a:t>
            </a:r>
            <a:endParaRPr kumimoji="1" lang="zh-CN" altLang="en-US" sz="2000" b="0" dirty="0">
              <a:solidFill>
                <a:schemeClr val="tx1">
                  <a:lumMod val="65000"/>
                  <a:lumOff val="35000"/>
                </a:schemeClr>
              </a:solidFill>
              <a:latin typeface="微软雅黑" panose="020B0503020204020204" charset="-122"/>
              <a:ea typeface="微软雅黑" panose="020B0503020204020204" charset="-122"/>
            </a:endParaRPr>
          </a:p>
        </p:txBody>
      </p:sp>
      <p:sp>
        <p:nvSpPr>
          <p:cNvPr id="18" name="Rectangle 17"/>
          <p:cNvSpPr/>
          <p:nvPr/>
        </p:nvSpPr>
        <p:spPr>
          <a:xfrm>
            <a:off x="683895" y="1444625"/>
            <a:ext cx="5937885" cy="5076190"/>
          </a:xfrm>
          <a:prstGeom prst="rect">
            <a:avLst/>
          </a:prstGeom>
        </p:spPr>
        <p:txBody>
          <a:bodyPr wrap="square" lIns="91391" tIns="45696" rIns="91391" bIns="45696">
            <a:spAutoFit/>
          </a:bodyPr>
          <a:lstStyle/>
          <a:p>
            <a:pPr>
              <a:lnSpc>
                <a:spcPct val="150000"/>
              </a:lnSpc>
            </a:pPr>
            <a:r>
              <a:rPr lang="en-US" altLang="zh-CN" sz="1600" dirty="0">
                <a:solidFill>
                  <a:schemeClr val="tx1"/>
                </a:solidFill>
                <a:latin typeface="+mn-ea"/>
                <a:cs typeface="+mn-ea"/>
                <a:sym typeface="Arial" panose="020B0604020202020204" pitchFamily="34" charset="0"/>
              </a:rPr>
              <a:t> </a:t>
            </a:r>
            <a:r>
              <a:rPr lang="en-US" altLang="zh-CN" dirty="0">
                <a:solidFill>
                  <a:schemeClr val="tx1"/>
                </a:solidFill>
                <a:latin typeface="+mn-ea"/>
                <a:cs typeface="+mn-ea"/>
                <a:sym typeface="Arial" panose="020B0604020202020204" pitchFamily="34" charset="0"/>
              </a:rPr>
              <a:t> </a:t>
            </a:r>
            <a:r>
              <a:rPr lang="zh-CN" altLang="en-US" dirty="0">
                <a:solidFill>
                  <a:schemeClr val="tx1"/>
                </a:solidFill>
                <a:latin typeface="+mn-ea"/>
                <a:cs typeface="+mn-ea"/>
                <a:sym typeface="Arial" panose="020B0604020202020204" pitchFamily="34" charset="0"/>
              </a:rPr>
              <a:t>V模型反映出了测试活动与分析设计活动的关系。如图所示，描述了基本的开发过程和测试行为，非常明确地标注了测试过程中存在的不同类型的测试以及这些测试阶段和开发过程期间各阶段的对应关系。</a:t>
            </a:r>
            <a:endParaRPr lang="zh-CN" altLang="en-US" dirty="0">
              <a:solidFill>
                <a:schemeClr val="tx1"/>
              </a:solidFill>
              <a:latin typeface="+mn-ea"/>
              <a:cs typeface="+mn-ea"/>
              <a:sym typeface="Arial" panose="020B0604020202020204" pitchFamily="34" charset="0"/>
            </a:endParaRPr>
          </a:p>
          <a:p>
            <a:pPr>
              <a:lnSpc>
                <a:spcPct val="150000"/>
              </a:lnSpc>
            </a:pPr>
            <a:r>
              <a:rPr lang="zh-CN" altLang="en-US" dirty="0">
                <a:solidFill>
                  <a:schemeClr val="tx1"/>
                </a:solidFill>
                <a:latin typeface="+mn-ea"/>
                <a:cs typeface="+mn-ea"/>
                <a:sym typeface="Arial" panose="020B0604020202020204" pitchFamily="34" charset="0"/>
              </a:rPr>
              <a:t>  V模型指出，单元和集成测试应检测程序执行是否满足软件设计的要求；系统测试应检测系统的功能、性能的质量特性是否达到系统要求的指标；验收测试应确定软件的实现是否满足用户需求或合同的要求。</a:t>
            </a:r>
            <a:endParaRPr lang="zh-CN" altLang="en-US" dirty="0">
              <a:solidFill>
                <a:schemeClr val="tx1"/>
              </a:solidFill>
              <a:latin typeface="+mn-ea"/>
              <a:cs typeface="+mn-ea"/>
              <a:sym typeface="Arial" panose="020B0604020202020204" pitchFamily="34" charset="0"/>
            </a:endParaRPr>
          </a:p>
          <a:p>
            <a:pPr>
              <a:lnSpc>
                <a:spcPct val="150000"/>
              </a:lnSpc>
            </a:pPr>
            <a:r>
              <a:rPr lang="zh-CN" altLang="en-US" dirty="0">
                <a:solidFill>
                  <a:schemeClr val="tx1"/>
                </a:solidFill>
                <a:latin typeface="+mn-ea"/>
                <a:cs typeface="+mn-ea"/>
                <a:sym typeface="Arial" panose="020B0604020202020204" pitchFamily="34" charset="0"/>
              </a:rPr>
              <a:t>  但V模型存在一定的局限性，它仅仅把测试作为在编码之后的一个阶段，是针对程序进行的寻找错误的活动，而忽视了测试活动对需求分析、系统设计等活动的验证和确认的功能。</a:t>
            </a:r>
            <a:endParaRPr lang="zh-CN" altLang="en-US" dirty="0">
              <a:solidFill>
                <a:schemeClr val="tx1"/>
              </a:solidFill>
              <a:latin typeface="+mn-ea"/>
              <a:cs typeface="+mn-ea"/>
              <a:sym typeface="Arial" panose="020B0604020202020204" pitchFamily="34" charset="0"/>
            </a:endParaRPr>
          </a:p>
        </p:txBody>
      </p:sp>
      <p:pic>
        <p:nvPicPr>
          <p:cNvPr id="2" name="图片 104471"/>
          <p:cNvPicPr>
            <a:picLocks noChangeAspect="1"/>
          </p:cNvPicPr>
          <p:nvPr/>
        </p:nvPicPr>
        <p:blipFill>
          <a:blip r:embed="rId1"/>
          <a:stretch>
            <a:fillRect/>
          </a:stretch>
        </p:blipFill>
        <p:spPr>
          <a:xfrm>
            <a:off x="7083425" y="1311275"/>
            <a:ext cx="4446270" cy="5208905"/>
          </a:xfrm>
          <a:prstGeom prst="rect">
            <a:avLst/>
          </a:prstGeom>
          <a:noFill/>
          <a:ln w="9525">
            <a:noFill/>
          </a:ln>
        </p:spPr>
      </p:pic>
      <p:sp>
        <p:nvSpPr>
          <p:cNvPr id="3" name="文本框 2"/>
          <p:cNvSpPr txBox="1"/>
          <p:nvPr/>
        </p:nvSpPr>
        <p:spPr>
          <a:xfrm>
            <a:off x="945515" y="614680"/>
            <a:ext cx="5445760" cy="829945"/>
          </a:xfrm>
          <a:prstGeom prst="rect">
            <a:avLst/>
          </a:prstGeom>
          <a:noFill/>
        </p:spPr>
        <p:txBody>
          <a:bodyPr wrap="square" rtlCol="0">
            <a:spAutoFit/>
          </a:bodyPr>
          <a:p>
            <a:r>
              <a:rPr lang="en-US" altLang="zh-CN" sz="2400"/>
              <a:t>2</a:t>
            </a:r>
            <a:r>
              <a:rPr lang="zh-CN" altLang="en-US" sz="2400"/>
              <a:t>、四种经典模型</a:t>
            </a:r>
            <a:endParaRPr lang="zh-CN" altLang="en-US" sz="2400"/>
          </a:p>
          <a:p>
            <a:r>
              <a:rPr lang="zh-CN" altLang="en-US" sz="2400"/>
              <a:t>     （</a:t>
            </a:r>
            <a:r>
              <a:rPr lang="en-US" altLang="zh-CN" sz="2400"/>
              <a:t>1</a:t>
            </a:r>
            <a:r>
              <a:rPr lang="zh-CN" altLang="en-US" sz="2400"/>
              <a:t>）</a:t>
            </a:r>
            <a:r>
              <a:rPr lang="en-US" altLang="zh-CN" sz="2400"/>
              <a:t>V</a:t>
            </a:r>
            <a:r>
              <a:rPr lang="zh-CN" altLang="en-US" sz="2400"/>
              <a:t>模型</a:t>
            </a:r>
            <a:endParaRPr lang="zh-CN" altLang="en-US" sz="2400"/>
          </a:p>
        </p:txBody>
      </p:sp>
    </p:spTree>
  </p:cSld>
  <p:clrMapOvr>
    <a:masterClrMapping/>
  </p:clrMapOvr>
  <p:transition advTm="7675">
    <p:plu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linds(horizontal)">
                                      <p:cBhvr>
                                        <p:cTn id="1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18" grpId="0"/>
      <p:bldP spid="18"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charset="-122"/>
                <a:ea typeface="微软雅黑" panose="020B0503020204020204" charset="-122"/>
              </a:rPr>
              <a:t>测试过程模型</a:t>
            </a:r>
            <a:endParaRPr kumimoji="1" lang="zh-CN" altLang="en-US" sz="2000" b="0" dirty="0">
              <a:solidFill>
                <a:schemeClr val="tx1">
                  <a:lumMod val="65000"/>
                  <a:lumOff val="35000"/>
                </a:schemeClr>
              </a:solidFill>
              <a:latin typeface="微软雅黑" panose="020B0503020204020204" charset="-122"/>
              <a:ea typeface="微软雅黑" panose="020B0503020204020204" charset="-122"/>
            </a:endParaRPr>
          </a:p>
        </p:txBody>
      </p:sp>
      <p:sp>
        <p:nvSpPr>
          <p:cNvPr id="2" name="文本框 1"/>
          <p:cNvSpPr txBox="1"/>
          <p:nvPr/>
        </p:nvSpPr>
        <p:spPr>
          <a:xfrm>
            <a:off x="1071880" y="847725"/>
            <a:ext cx="4166235" cy="1198880"/>
          </a:xfrm>
          <a:prstGeom prst="rect">
            <a:avLst/>
          </a:prstGeom>
          <a:noFill/>
        </p:spPr>
        <p:txBody>
          <a:bodyPr wrap="square" rtlCol="0">
            <a:spAutoFit/>
          </a:bodyPr>
          <a:p>
            <a:r>
              <a:rPr lang="en-US" altLang="zh-CN" sz="2400">
                <a:latin typeface="+mj-ea"/>
                <a:ea typeface="+mj-ea"/>
                <a:cs typeface="+mj-ea"/>
                <a:sym typeface="+mn-ea"/>
              </a:rPr>
              <a:t>2</a:t>
            </a:r>
            <a:r>
              <a:rPr lang="zh-CN" altLang="en-US" sz="2400">
                <a:latin typeface="+mj-ea"/>
                <a:ea typeface="+mj-ea"/>
                <a:cs typeface="+mj-ea"/>
                <a:sym typeface="+mn-ea"/>
              </a:rPr>
              <a:t>、四种经典模型</a:t>
            </a:r>
            <a:endParaRPr lang="zh-CN" altLang="en-US" sz="2400">
              <a:latin typeface="+mj-ea"/>
              <a:ea typeface="+mj-ea"/>
              <a:cs typeface="+mj-ea"/>
            </a:endParaRPr>
          </a:p>
          <a:p>
            <a:r>
              <a:rPr lang="zh-CN" altLang="en-US" sz="2400">
                <a:latin typeface="+mj-ea"/>
                <a:ea typeface="+mj-ea"/>
                <a:cs typeface="+mj-ea"/>
                <a:sym typeface="+mn-ea"/>
              </a:rPr>
              <a:t>     （</a:t>
            </a:r>
            <a:r>
              <a:rPr lang="en-US" altLang="zh-CN" sz="2400">
                <a:latin typeface="+mj-ea"/>
                <a:ea typeface="+mj-ea"/>
                <a:cs typeface="+mj-ea"/>
                <a:sym typeface="+mn-ea"/>
              </a:rPr>
              <a:t>2</a:t>
            </a:r>
            <a:r>
              <a:rPr lang="zh-CN" altLang="en-US" sz="2400">
                <a:latin typeface="+mj-ea"/>
                <a:ea typeface="+mj-ea"/>
                <a:cs typeface="+mj-ea"/>
                <a:sym typeface="+mn-ea"/>
              </a:rPr>
              <a:t>）</a:t>
            </a:r>
            <a:r>
              <a:rPr lang="en-US" altLang="zh-CN" sz="2400">
                <a:latin typeface="+mj-ea"/>
                <a:ea typeface="+mj-ea"/>
                <a:cs typeface="+mj-ea"/>
                <a:sym typeface="+mn-ea"/>
              </a:rPr>
              <a:t>W</a:t>
            </a:r>
            <a:r>
              <a:rPr lang="zh-CN" altLang="en-US" sz="2400">
                <a:latin typeface="+mj-ea"/>
                <a:ea typeface="+mj-ea"/>
                <a:cs typeface="+mj-ea"/>
                <a:sym typeface="+mn-ea"/>
              </a:rPr>
              <a:t>模型</a:t>
            </a:r>
            <a:endParaRPr lang="zh-CN" altLang="en-US" sz="2400">
              <a:latin typeface="+mj-ea"/>
              <a:ea typeface="+mj-ea"/>
              <a:cs typeface="+mj-ea"/>
            </a:endParaRPr>
          </a:p>
          <a:p>
            <a:endParaRPr lang="zh-CN" altLang="en-US" sz="2400">
              <a:latin typeface="+mj-ea"/>
              <a:ea typeface="+mj-ea"/>
              <a:cs typeface="+mj-ea"/>
            </a:endParaRPr>
          </a:p>
        </p:txBody>
      </p:sp>
      <p:pic>
        <p:nvPicPr>
          <p:cNvPr id="3" name="图片 104472"/>
          <p:cNvPicPr>
            <a:picLocks noChangeAspect="1"/>
          </p:cNvPicPr>
          <p:nvPr/>
        </p:nvPicPr>
        <p:blipFill>
          <a:blip r:embed="rId1"/>
          <a:stretch>
            <a:fillRect/>
          </a:stretch>
        </p:blipFill>
        <p:spPr>
          <a:xfrm>
            <a:off x="6224270" y="1235710"/>
            <a:ext cx="5506720" cy="4861560"/>
          </a:xfrm>
          <a:prstGeom prst="rect">
            <a:avLst/>
          </a:prstGeom>
          <a:noFill/>
          <a:ln w="9525">
            <a:noFill/>
          </a:ln>
        </p:spPr>
      </p:pic>
      <p:sp>
        <p:nvSpPr>
          <p:cNvPr id="4" name="文本框 3"/>
          <p:cNvSpPr txBox="1"/>
          <p:nvPr/>
        </p:nvSpPr>
        <p:spPr>
          <a:xfrm>
            <a:off x="1177925" y="1701165"/>
            <a:ext cx="4834890" cy="3446145"/>
          </a:xfrm>
          <a:prstGeom prst="rect">
            <a:avLst/>
          </a:prstGeom>
          <a:noFill/>
        </p:spPr>
        <p:txBody>
          <a:bodyPr wrap="square" rtlCol="0" anchor="t">
            <a:spAutoFit/>
          </a:bodyPr>
          <a:p>
            <a:r>
              <a:rPr lang="en-US" altLang="zh-CN"/>
              <a:t>  </a:t>
            </a:r>
            <a:r>
              <a:rPr lang="zh-CN" altLang="en-US" sz="2000"/>
              <a:t>W模型由Evolutif公司提出，相对于V模型，W模型更科学。W模型是V模型的发展，强调的是测试伴随着整个软件开发周期，而且测试的对象不仅仅是程序，需求、功能和设计同样要测试。测试与开发是同步进行的，从而有利于尽早地发现问题。</a:t>
            </a:r>
            <a:endParaRPr lang="zh-CN" altLang="en-US" sz="2000"/>
          </a:p>
          <a:p>
            <a:r>
              <a:rPr lang="zh-CN" altLang="en-US" sz="2000">
                <a:sym typeface="+mn-ea"/>
              </a:rPr>
              <a:t>  W模型也有局限性。W模型和V模型都把软件的开发视为需求、设计、编码等一系列串行的活动，无法支持迭代、自发性以及变更调整。</a:t>
            </a:r>
            <a:endParaRPr lang="zh-CN" altLang="en-US"/>
          </a:p>
          <a:p>
            <a:endParaRPr lang="zh-CN" altLang="en-US"/>
          </a:p>
        </p:txBody>
      </p:sp>
    </p:spTree>
  </p:cSld>
  <p:clrMapOvr>
    <a:masterClrMapping/>
  </p:clrMapOvr>
  <p:transition advTm="7675">
    <p:plu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80" name="文本占位符 3"/>
          <p:cNvSpPr txBox="1"/>
          <p:nvPr/>
        </p:nvSpPr>
        <p:spPr>
          <a:xfrm>
            <a:off x="527050" y="56515"/>
            <a:ext cx="2886075" cy="55816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charset="-122"/>
                <a:ea typeface="微软雅黑" panose="020B0503020204020204" charset="-122"/>
              </a:rPr>
              <a:t>测试过程模型</a:t>
            </a:r>
            <a:endParaRPr kumimoji="1" lang="zh-CN" altLang="en-US" sz="2000" b="0" dirty="0">
              <a:solidFill>
                <a:schemeClr val="tx1">
                  <a:lumMod val="65000"/>
                  <a:lumOff val="35000"/>
                </a:schemeClr>
              </a:solidFill>
              <a:latin typeface="微软雅黑" panose="020B0503020204020204" charset="-122"/>
              <a:ea typeface="微软雅黑" panose="020B0503020204020204" charset="-122"/>
            </a:endParaRPr>
          </a:p>
        </p:txBody>
      </p:sp>
      <p:sp>
        <p:nvSpPr>
          <p:cNvPr id="21" name="Shape 1858"/>
          <p:cNvSpPr/>
          <p:nvPr/>
        </p:nvSpPr>
        <p:spPr>
          <a:xfrm>
            <a:off x="4078575" y="3966267"/>
            <a:ext cx="219810" cy="400319"/>
          </a:xfrm>
          <a:custGeom>
            <a:avLst/>
            <a:gdLst/>
            <a:ahLst/>
            <a:cxnLst>
              <a:cxn ang="0">
                <a:pos x="wd2" y="hd2"/>
              </a:cxn>
              <a:cxn ang="5400000">
                <a:pos x="wd2" y="hd2"/>
              </a:cxn>
              <a:cxn ang="10800000">
                <a:pos x="wd2" y="hd2"/>
              </a:cxn>
              <a:cxn ang="16200000">
                <a:pos x="wd2" y="hd2"/>
              </a:cxn>
            </a:cxnLst>
            <a:rect l="0" t="0" r="r" b="b"/>
            <a:pathLst>
              <a:path w="21600" h="21600" extrusionOk="0">
                <a:moveTo>
                  <a:pt x="20407" y="3476"/>
                </a:moveTo>
                <a:cubicBezTo>
                  <a:pt x="16335" y="5612"/>
                  <a:pt x="16335" y="5612"/>
                  <a:pt x="16335" y="5612"/>
                </a:cubicBezTo>
                <a:cubicBezTo>
                  <a:pt x="14486" y="4583"/>
                  <a:pt x="12660" y="4068"/>
                  <a:pt x="10835" y="4068"/>
                </a:cubicBezTo>
                <a:cubicBezTo>
                  <a:pt x="9782" y="4068"/>
                  <a:pt x="8916" y="4222"/>
                  <a:pt x="8237" y="4531"/>
                </a:cubicBezTo>
                <a:cubicBezTo>
                  <a:pt x="7582" y="4827"/>
                  <a:pt x="7231" y="5188"/>
                  <a:pt x="7231" y="5587"/>
                </a:cubicBezTo>
                <a:cubicBezTo>
                  <a:pt x="7231" y="5921"/>
                  <a:pt x="7535" y="6256"/>
                  <a:pt x="8120" y="6591"/>
                </a:cubicBezTo>
                <a:cubicBezTo>
                  <a:pt x="8706" y="6938"/>
                  <a:pt x="9876" y="7299"/>
                  <a:pt x="11631" y="7685"/>
                </a:cubicBezTo>
                <a:cubicBezTo>
                  <a:pt x="14743" y="8380"/>
                  <a:pt x="16873" y="8972"/>
                  <a:pt x="18020" y="9461"/>
                </a:cubicBezTo>
                <a:cubicBezTo>
                  <a:pt x="19166" y="9950"/>
                  <a:pt x="20055" y="10530"/>
                  <a:pt x="20687" y="11225"/>
                </a:cubicBezTo>
                <a:cubicBezTo>
                  <a:pt x="21296" y="11907"/>
                  <a:pt x="21600" y="12679"/>
                  <a:pt x="21600" y="13529"/>
                </a:cubicBezTo>
                <a:cubicBezTo>
                  <a:pt x="21600" y="14379"/>
                  <a:pt x="21272" y="15177"/>
                  <a:pt x="20617" y="15897"/>
                </a:cubicBezTo>
                <a:cubicBezTo>
                  <a:pt x="19962" y="16618"/>
                  <a:pt x="19096" y="17198"/>
                  <a:pt x="18066" y="17622"/>
                </a:cubicBezTo>
                <a:cubicBezTo>
                  <a:pt x="17037" y="18034"/>
                  <a:pt x="15539" y="18356"/>
                  <a:pt x="13573" y="18575"/>
                </a:cubicBezTo>
                <a:cubicBezTo>
                  <a:pt x="13573" y="21600"/>
                  <a:pt x="13573" y="21600"/>
                  <a:pt x="13573" y="21600"/>
                </a:cubicBezTo>
                <a:cubicBezTo>
                  <a:pt x="9618" y="21600"/>
                  <a:pt x="9618" y="21600"/>
                  <a:pt x="9618" y="21600"/>
                </a:cubicBezTo>
                <a:cubicBezTo>
                  <a:pt x="9618" y="18652"/>
                  <a:pt x="9618" y="18652"/>
                  <a:pt x="9618" y="18652"/>
                </a:cubicBezTo>
                <a:cubicBezTo>
                  <a:pt x="7793" y="18536"/>
                  <a:pt x="6225" y="18292"/>
                  <a:pt x="4938" y="17906"/>
                </a:cubicBezTo>
                <a:cubicBezTo>
                  <a:pt x="3159" y="17378"/>
                  <a:pt x="1521" y="16670"/>
                  <a:pt x="0" y="15795"/>
                </a:cubicBezTo>
                <a:cubicBezTo>
                  <a:pt x="4002" y="13593"/>
                  <a:pt x="4002" y="13593"/>
                  <a:pt x="4002" y="13593"/>
                </a:cubicBezTo>
                <a:cubicBezTo>
                  <a:pt x="6576" y="15061"/>
                  <a:pt x="9057" y="15795"/>
                  <a:pt x="11444" y="15795"/>
                </a:cubicBezTo>
                <a:cubicBezTo>
                  <a:pt x="12684" y="15795"/>
                  <a:pt x="13714" y="15563"/>
                  <a:pt x="14603" y="15112"/>
                </a:cubicBezTo>
                <a:cubicBezTo>
                  <a:pt x="15469" y="14649"/>
                  <a:pt x="15913" y="14121"/>
                  <a:pt x="15913" y="13503"/>
                </a:cubicBezTo>
                <a:cubicBezTo>
                  <a:pt x="15913" y="12975"/>
                  <a:pt x="15633" y="12525"/>
                  <a:pt x="15071" y="12126"/>
                </a:cubicBezTo>
                <a:cubicBezTo>
                  <a:pt x="14509" y="11740"/>
                  <a:pt x="13386" y="11341"/>
                  <a:pt x="11748" y="10929"/>
                </a:cubicBezTo>
                <a:cubicBezTo>
                  <a:pt x="8401" y="10105"/>
                  <a:pt x="6155" y="9436"/>
                  <a:pt x="4961" y="8946"/>
                </a:cubicBezTo>
                <a:cubicBezTo>
                  <a:pt x="3791" y="8470"/>
                  <a:pt x="2902" y="7917"/>
                  <a:pt x="2317" y="7312"/>
                </a:cubicBezTo>
                <a:cubicBezTo>
                  <a:pt x="1732" y="6707"/>
                  <a:pt x="1451" y="6063"/>
                  <a:pt x="1451" y="5368"/>
                </a:cubicBezTo>
                <a:cubicBezTo>
                  <a:pt x="1451" y="4235"/>
                  <a:pt x="2223" y="3257"/>
                  <a:pt x="3768" y="2446"/>
                </a:cubicBezTo>
                <a:cubicBezTo>
                  <a:pt x="5312" y="1635"/>
                  <a:pt x="7255" y="1197"/>
                  <a:pt x="9618" y="1133"/>
                </a:cubicBezTo>
                <a:cubicBezTo>
                  <a:pt x="9618" y="0"/>
                  <a:pt x="9618" y="0"/>
                  <a:pt x="9618" y="0"/>
                </a:cubicBezTo>
                <a:cubicBezTo>
                  <a:pt x="13573" y="0"/>
                  <a:pt x="13573" y="0"/>
                  <a:pt x="13573" y="0"/>
                </a:cubicBezTo>
                <a:cubicBezTo>
                  <a:pt x="13573" y="1287"/>
                  <a:pt x="13573" y="1287"/>
                  <a:pt x="13573" y="1287"/>
                </a:cubicBezTo>
                <a:cubicBezTo>
                  <a:pt x="14954" y="1455"/>
                  <a:pt x="16101" y="1686"/>
                  <a:pt x="17037" y="1982"/>
                </a:cubicBezTo>
                <a:cubicBezTo>
                  <a:pt x="17996" y="2278"/>
                  <a:pt x="19119" y="2780"/>
                  <a:pt x="20407" y="3476"/>
                </a:cubicBezTo>
                <a:close/>
              </a:path>
            </a:pathLst>
          </a:custGeom>
          <a:solidFill>
            <a:srgbClr val="FFFFFF"/>
          </a:solidFill>
          <a:ln w="12700">
            <a:miter lim="400000"/>
          </a:ln>
        </p:spPr>
        <p:txBody>
          <a:bodyPr lIns="0" tIns="0" rIns="0" bIns="0"/>
          <a:lstStyle/>
          <a:p>
            <a:pPr>
              <a:lnSpc>
                <a:spcPct val="120000"/>
              </a:lnSpc>
            </a:pPr>
            <a:endParaRPr dirty="0">
              <a:solidFill>
                <a:srgbClr val="53585F"/>
              </a:solidFill>
              <a:latin typeface="微软雅黑" panose="020B0503020204020204" charset="-122"/>
              <a:ea typeface="微软雅黑" panose="020B0503020204020204" charset="-122"/>
              <a:sym typeface="Arial" panose="020B0604020202020204" pitchFamily="34" charset="0"/>
            </a:endParaRPr>
          </a:p>
        </p:txBody>
      </p:sp>
      <p:pic>
        <p:nvPicPr>
          <p:cNvPr id="2" name="图片 38939"/>
          <p:cNvPicPr>
            <a:picLocks noChangeAspect="1"/>
          </p:cNvPicPr>
          <p:nvPr/>
        </p:nvPicPr>
        <p:blipFill>
          <a:blip r:embed="rId1"/>
          <a:stretch>
            <a:fillRect/>
          </a:stretch>
        </p:blipFill>
        <p:spPr>
          <a:xfrm>
            <a:off x="6398895" y="1171575"/>
            <a:ext cx="5146675" cy="4514850"/>
          </a:xfrm>
          <a:prstGeom prst="rect">
            <a:avLst/>
          </a:prstGeom>
          <a:noFill/>
          <a:ln w="9525">
            <a:noFill/>
          </a:ln>
        </p:spPr>
      </p:pic>
      <p:sp>
        <p:nvSpPr>
          <p:cNvPr id="3" name="文本框 2"/>
          <p:cNvSpPr txBox="1"/>
          <p:nvPr/>
        </p:nvSpPr>
        <p:spPr>
          <a:xfrm>
            <a:off x="841375" y="918210"/>
            <a:ext cx="4959985" cy="829945"/>
          </a:xfrm>
          <a:prstGeom prst="rect">
            <a:avLst/>
          </a:prstGeom>
          <a:noFill/>
        </p:spPr>
        <p:txBody>
          <a:bodyPr wrap="square" rtlCol="0" anchor="t">
            <a:spAutoFit/>
          </a:bodyPr>
          <a:p>
            <a:r>
              <a:rPr lang="en-US" altLang="zh-CN" sz="2400">
                <a:latin typeface="+mj-ea"/>
                <a:ea typeface="+mj-ea"/>
                <a:cs typeface="+mj-ea"/>
                <a:sym typeface="+mn-ea"/>
              </a:rPr>
              <a:t>2</a:t>
            </a:r>
            <a:r>
              <a:rPr lang="zh-CN" altLang="en-US" sz="2400">
                <a:latin typeface="+mj-ea"/>
                <a:ea typeface="+mj-ea"/>
                <a:cs typeface="+mj-ea"/>
                <a:sym typeface="+mn-ea"/>
              </a:rPr>
              <a:t>、四种经典模型</a:t>
            </a:r>
            <a:endParaRPr lang="zh-CN" altLang="en-US" sz="2400">
              <a:latin typeface="+mj-ea"/>
              <a:ea typeface="+mj-ea"/>
              <a:cs typeface="+mj-ea"/>
            </a:endParaRPr>
          </a:p>
          <a:p>
            <a:r>
              <a:rPr lang="zh-CN" altLang="en-US" sz="2400">
                <a:latin typeface="+mj-ea"/>
                <a:ea typeface="+mj-ea"/>
                <a:cs typeface="+mj-ea"/>
                <a:sym typeface="+mn-ea"/>
              </a:rPr>
              <a:t>     （</a:t>
            </a:r>
            <a:r>
              <a:rPr lang="en-US" altLang="zh-CN" sz="2400">
                <a:latin typeface="+mj-ea"/>
                <a:ea typeface="+mj-ea"/>
                <a:cs typeface="+mj-ea"/>
                <a:sym typeface="+mn-ea"/>
              </a:rPr>
              <a:t>3</a:t>
            </a:r>
            <a:r>
              <a:rPr lang="zh-CN" altLang="en-US" sz="2400">
                <a:latin typeface="+mj-ea"/>
                <a:ea typeface="+mj-ea"/>
                <a:cs typeface="+mj-ea"/>
                <a:sym typeface="+mn-ea"/>
              </a:rPr>
              <a:t>）</a:t>
            </a:r>
            <a:r>
              <a:rPr lang="en-US" altLang="zh-CN" sz="2400">
                <a:latin typeface="+mj-ea"/>
                <a:ea typeface="+mj-ea"/>
                <a:cs typeface="+mj-ea"/>
                <a:sym typeface="+mn-ea"/>
              </a:rPr>
              <a:t>H</a:t>
            </a:r>
            <a:r>
              <a:rPr lang="zh-CN" altLang="en-US" sz="2400">
                <a:latin typeface="+mj-ea"/>
                <a:ea typeface="+mj-ea"/>
                <a:cs typeface="+mj-ea"/>
                <a:sym typeface="+mn-ea"/>
              </a:rPr>
              <a:t>模型</a:t>
            </a:r>
            <a:endParaRPr lang="zh-CN" altLang="en-US" sz="2400"/>
          </a:p>
        </p:txBody>
      </p:sp>
      <p:sp>
        <p:nvSpPr>
          <p:cNvPr id="4" name="文本框 3"/>
          <p:cNvSpPr txBox="1"/>
          <p:nvPr/>
        </p:nvSpPr>
        <p:spPr>
          <a:xfrm>
            <a:off x="681990" y="2271395"/>
            <a:ext cx="4484370" cy="2553335"/>
          </a:xfrm>
          <a:prstGeom prst="rect">
            <a:avLst/>
          </a:prstGeom>
          <a:noFill/>
        </p:spPr>
        <p:txBody>
          <a:bodyPr wrap="square" rtlCol="0" anchor="t">
            <a:spAutoFit/>
          </a:bodyPr>
          <a:p>
            <a:r>
              <a:rPr lang="zh-CN" altLang="en-US" sz="2000"/>
              <a:t>H模型揭示了一个原理:软件测试是一个独立的流程,贯穿产品整个生命周期,与其他流程并发地进行。H模型指出软件测试要尽早准备, 尽早执行。不同的测试活动可以是按照某个次序先后进行的,但也可能是反复的,只要某个测试达到准备就绪点,测试执行活动就可以开展。</a:t>
            </a:r>
            <a:endParaRPr lang="zh-CN" altLang="en-US" sz="2000"/>
          </a:p>
        </p:txBody>
      </p:sp>
    </p:spTree>
  </p:cSld>
  <p:clrMapOvr>
    <a:masterClrMapping/>
  </p:clrMapOvr>
  <p:transition advTm="7675">
    <p:plu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blinds(horizontal)">
                                      <p:cBhvr>
                                        <p:cTn id="1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ldLvl="0" animBg="1"/>
      <p:bldP spid="2" grpId="0"/>
      <p:bldP spid="2" grpId="1"/>
      <p:bldP spid="3" grpId="0"/>
      <p:bldP spid="3"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80" name="文本占位符 3"/>
          <p:cNvSpPr txBox="1"/>
          <p:nvPr/>
        </p:nvSpPr>
        <p:spPr>
          <a:xfrm>
            <a:off x="487680" y="43180"/>
            <a:ext cx="2854960" cy="55816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charset="-122"/>
                <a:ea typeface="微软雅黑" panose="020B0503020204020204" charset="-122"/>
              </a:rPr>
              <a:t>测试过程模型</a:t>
            </a:r>
            <a:endParaRPr kumimoji="1" lang="zh-CN" altLang="en-US" sz="2000" b="0" dirty="0">
              <a:solidFill>
                <a:schemeClr val="tx1">
                  <a:lumMod val="65000"/>
                  <a:lumOff val="35000"/>
                </a:schemeClr>
              </a:solidFill>
              <a:latin typeface="微软雅黑" panose="020B0503020204020204" charset="-122"/>
              <a:ea typeface="微软雅黑" panose="020B050302020402020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3" name="文本框 2"/>
          <p:cNvSpPr txBox="1"/>
          <p:nvPr/>
        </p:nvSpPr>
        <p:spPr>
          <a:xfrm>
            <a:off x="1252855" y="864235"/>
            <a:ext cx="4178935" cy="829945"/>
          </a:xfrm>
          <a:prstGeom prst="rect">
            <a:avLst/>
          </a:prstGeom>
          <a:noFill/>
        </p:spPr>
        <p:txBody>
          <a:bodyPr wrap="square" rtlCol="0" anchor="t">
            <a:spAutoFit/>
          </a:bodyPr>
          <a:p>
            <a:r>
              <a:rPr lang="en-US" altLang="zh-CN" sz="2400">
                <a:latin typeface="+mj-ea"/>
                <a:ea typeface="+mj-ea"/>
                <a:cs typeface="+mj-ea"/>
                <a:sym typeface="+mn-ea"/>
              </a:rPr>
              <a:t>2</a:t>
            </a:r>
            <a:r>
              <a:rPr lang="zh-CN" altLang="en-US" sz="2400">
                <a:latin typeface="+mj-ea"/>
                <a:ea typeface="+mj-ea"/>
                <a:cs typeface="+mj-ea"/>
                <a:sym typeface="+mn-ea"/>
              </a:rPr>
              <a:t>、四种经典模型</a:t>
            </a:r>
            <a:endParaRPr lang="zh-CN" altLang="en-US" sz="2400">
              <a:latin typeface="+mj-ea"/>
              <a:ea typeface="+mj-ea"/>
              <a:cs typeface="+mj-ea"/>
            </a:endParaRPr>
          </a:p>
          <a:p>
            <a:r>
              <a:rPr lang="zh-CN" altLang="en-US" sz="2400">
                <a:latin typeface="+mj-ea"/>
                <a:ea typeface="+mj-ea"/>
                <a:cs typeface="+mj-ea"/>
                <a:sym typeface="+mn-ea"/>
              </a:rPr>
              <a:t>     （</a:t>
            </a:r>
            <a:r>
              <a:rPr lang="en-US" altLang="zh-CN" sz="2400">
                <a:latin typeface="+mj-ea"/>
                <a:ea typeface="+mj-ea"/>
                <a:cs typeface="+mj-ea"/>
                <a:sym typeface="+mn-ea"/>
              </a:rPr>
              <a:t>3</a:t>
            </a:r>
            <a:r>
              <a:rPr lang="zh-CN" altLang="en-US" sz="2400">
                <a:latin typeface="+mj-ea"/>
                <a:ea typeface="+mj-ea"/>
                <a:cs typeface="+mj-ea"/>
                <a:sym typeface="+mn-ea"/>
              </a:rPr>
              <a:t>）</a:t>
            </a:r>
            <a:r>
              <a:rPr lang="en-US" altLang="zh-CN" sz="2400">
                <a:latin typeface="+mj-ea"/>
                <a:ea typeface="+mj-ea"/>
                <a:cs typeface="+mj-ea"/>
                <a:sym typeface="+mn-ea"/>
              </a:rPr>
              <a:t>X</a:t>
            </a:r>
            <a:r>
              <a:rPr lang="zh-CN" altLang="en-US" sz="2400">
                <a:latin typeface="+mj-ea"/>
                <a:ea typeface="+mj-ea"/>
                <a:cs typeface="+mj-ea"/>
                <a:sym typeface="+mn-ea"/>
              </a:rPr>
              <a:t>模型和其他模型</a:t>
            </a:r>
            <a:endParaRPr lang="en-US" altLang="zh-CN" sz="2400">
              <a:latin typeface="+mj-ea"/>
              <a:ea typeface="+mj-ea"/>
              <a:cs typeface="+mj-ea"/>
              <a:sym typeface="+mn-ea"/>
            </a:endParaRPr>
          </a:p>
        </p:txBody>
      </p:sp>
      <p:sp>
        <p:nvSpPr>
          <p:cNvPr id="4" name="文本框 3"/>
          <p:cNvSpPr txBox="1"/>
          <p:nvPr/>
        </p:nvSpPr>
        <p:spPr>
          <a:xfrm>
            <a:off x="1071880" y="1694180"/>
            <a:ext cx="4525645" cy="4707890"/>
          </a:xfrm>
          <a:prstGeom prst="rect">
            <a:avLst/>
          </a:prstGeom>
          <a:noFill/>
        </p:spPr>
        <p:txBody>
          <a:bodyPr wrap="square" rtlCol="0">
            <a:spAutoFit/>
          </a:bodyPr>
          <a:p>
            <a:r>
              <a:rPr lang="en-US" altLang="zh-CN" sz="2000">
                <a:latin typeface="+mn-ea"/>
                <a:cs typeface="+mn-ea"/>
              </a:rPr>
              <a:t>X</a:t>
            </a:r>
            <a:r>
              <a:rPr lang="zh-CN" altLang="en-US" sz="2000">
                <a:latin typeface="+mn-ea"/>
                <a:cs typeface="+mn-ea"/>
              </a:rPr>
              <a:t>模型</a:t>
            </a:r>
            <a:endParaRPr lang="zh-CN" altLang="en-US" sz="2000">
              <a:latin typeface="+mn-ea"/>
              <a:cs typeface="+mn-ea"/>
            </a:endParaRPr>
          </a:p>
          <a:p>
            <a:r>
              <a:rPr lang="zh-CN" altLang="en-US" sz="2000">
                <a:latin typeface="+mn-ea"/>
                <a:cs typeface="+mn-ea"/>
              </a:rPr>
              <a:t>X模型不仅描述针对单独程序片段所进行的相互分离的编码和测试，此后将进行频繁的交接，通过集成最终成为可执行的程序，然后再对这些可执行程序进行测试。己通过集成测试的成品可以进行封装并提交给用户，也可以作为更大规模和范围内集成的一部分。多根并行的曲线表示变更可以在各个部分发生。X模型还定位了探索性测试，这是不进行事先计划的特殊类型的测试，这一方式往往能帮助有经验的测试人员在测试计划之外发现更多的软件错误。但这样可能对测试造成人力、物力和财力的浪费，对测试员的熟练程度要求比较高。</a:t>
            </a:r>
            <a:endParaRPr lang="zh-CN" altLang="en-US" sz="2000">
              <a:latin typeface="+mn-ea"/>
              <a:cs typeface="+mn-ea"/>
            </a:endParaRPr>
          </a:p>
        </p:txBody>
      </p:sp>
      <p:sp>
        <p:nvSpPr>
          <p:cNvPr id="5" name="文本框 4"/>
          <p:cNvSpPr txBox="1"/>
          <p:nvPr/>
        </p:nvSpPr>
        <p:spPr>
          <a:xfrm>
            <a:off x="6570980" y="1820545"/>
            <a:ext cx="4726305" cy="2861310"/>
          </a:xfrm>
          <a:prstGeom prst="rect">
            <a:avLst/>
          </a:prstGeom>
          <a:noFill/>
        </p:spPr>
        <p:txBody>
          <a:bodyPr wrap="square" rtlCol="0">
            <a:spAutoFit/>
          </a:bodyPr>
          <a:p>
            <a:r>
              <a:rPr lang="zh-CN" altLang="en-US" sz="2000"/>
              <a:t>业界还流传着其他几种模型，例如前置测试模型等。前置测完模型体现了开发与测试的结合，要求对每一个交付内容进行测试。这些模型都针对其他模型的缺点提出了一些修改意见，但本身也可能存在一些不周到的地方。所以在测试过程管理中，正确选取过程模型或者根据自身的实际情况选择/制定一个模型是一个非常关键问题。</a:t>
            </a:r>
            <a:endParaRPr lang="zh-CN" altLang="en-US" sz="2000"/>
          </a:p>
        </p:txBody>
      </p:sp>
    </p:spTree>
  </p:cSld>
  <p:clrMapOvr>
    <a:masterClrMapping/>
  </p:clrMapOvr>
  <p:transition advTm="7675">
    <p:plu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heckerboard(across)">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p:tgtEl>
                                          <p:spTgt spid="5"/>
                                        </p:tgtEl>
                                        <p:attrNameLst>
                                          <p:attrName>ppt_y</p:attrName>
                                        </p:attrNameLst>
                                      </p:cBhvr>
                                      <p:tavLst>
                                        <p:tav tm="0">
                                          <p:val>
                                            <p:strVal val="#ppt_y+#ppt_h*1.125000"/>
                                          </p:val>
                                        </p:tav>
                                        <p:tav tm="100000">
                                          <p:val>
                                            <p:strVal val="#ppt_y"/>
                                          </p:val>
                                        </p:tav>
                                      </p:tavLst>
                                    </p:anim>
                                    <p:animEffect transition="in" filter="wipe(up)">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P spid="5" grpId="0"/>
      <p:bldP spid="5"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80" name="文本占位符 3"/>
          <p:cNvSpPr txBox="1"/>
          <p:nvPr/>
        </p:nvSpPr>
        <p:spPr>
          <a:xfrm>
            <a:off x="487680" y="43180"/>
            <a:ext cx="2854960" cy="55816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charset="-122"/>
                <a:ea typeface="微软雅黑" panose="020B0503020204020204" charset="-122"/>
              </a:rPr>
              <a:t>测试过程模型</a:t>
            </a:r>
            <a:endParaRPr kumimoji="1" lang="zh-CN" altLang="en-US" sz="2000" b="0" dirty="0">
              <a:solidFill>
                <a:schemeClr val="tx1">
                  <a:lumMod val="65000"/>
                  <a:lumOff val="35000"/>
                </a:schemeClr>
              </a:solidFill>
              <a:latin typeface="微软雅黑" panose="020B0503020204020204" charset="-122"/>
              <a:ea typeface="微软雅黑" panose="020B0503020204020204" charset="-122"/>
            </a:endParaRPr>
          </a:p>
        </p:txBody>
      </p:sp>
      <p:sp>
        <p:nvSpPr>
          <p:cNvPr id="2" name="文本框 1"/>
          <p:cNvSpPr txBox="1"/>
          <p:nvPr/>
        </p:nvSpPr>
        <p:spPr>
          <a:xfrm>
            <a:off x="961390" y="929005"/>
            <a:ext cx="2468880" cy="460375"/>
          </a:xfrm>
          <a:prstGeom prst="rect">
            <a:avLst/>
          </a:prstGeom>
          <a:noFill/>
        </p:spPr>
        <p:txBody>
          <a:bodyPr wrap="none" rtlCol="0" anchor="t">
            <a:spAutoFit/>
          </a:bodyPr>
          <a:p>
            <a:r>
              <a:rPr lang="zh-CN" altLang="en-US" sz="2400">
                <a:latin typeface="+mj-ea"/>
                <a:ea typeface="+mj-ea"/>
                <a:cs typeface="+mj-ea"/>
                <a:sym typeface="+mn-ea"/>
              </a:rPr>
              <a:t>3、各模型的特点</a:t>
            </a:r>
            <a:endParaRPr lang="zh-CN" altLang="en-US" sz="2400">
              <a:latin typeface="+mj-ea"/>
              <a:ea typeface="+mj-ea"/>
              <a:cs typeface="+mj-ea"/>
              <a:sym typeface="+mn-ea"/>
            </a:endParaRPr>
          </a:p>
        </p:txBody>
      </p:sp>
      <p:sp>
        <p:nvSpPr>
          <p:cNvPr id="3" name="文本框 2"/>
          <p:cNvSpPr txBox="1"/>
          <p:nvPr/>
        </p:nvSpPr>
        <p:spPr>
          <a:xfrm>
            <a:off x="681355" y="1389380"/>
            <a:ext cx="6403975" cy="3784600"/>
          </a:xfrm>
          <a:prstGeom prst="rect">
            <a:avLst/>
          </a:prstGeom>
          <a:noFill/>
        </p:spPr>
        <p:txBody>
          <a:bodyPr wrap="square" rtlCol="0" anchor="t">
            <a:spAutoFit/>
          </a:bodyPr>
          <a:p>
            <a:pPr indent="360045" fontAlgn="auto">
              <a:lnSpc>
                <a:spcPct val="150000"/>
              </a:lnSpc>
            </a:pPr>
            <a:r>
              <a:rPr lang="zh-CN" altLang="en-US" sz="2000"/>
              <a:t>V 模型——非常明确地标注了测试过程中存在的不同类型的测试。</a:t>
            </a:r>
            <a:endParaRPr lang="zh-CN" altLang="en-US" sz="2000"/>
          </a:p>
          <a:p>
            <a:pPr indent="360045" fontAlgn="auto">
              <a:lnSpc>
                <a:spcPct val="150000"/>
              </a:lnSpc>
            </a:pPr>
            <a:r>
              <a:rPr lang="zh-CN" altLang="en-US" sz="2000"/>
              <a:t>W模型——非常明确地标注了生产周期中开发与测试之间的对应关系。</a:t>
            </a:r>
            <a:endParaRPr lang="zh-CN" altLang="en-US" sz="2000"/>
          </a:p>
          <a:p>
            <a:pPr indent="360045" fontAlgn="auto">
              <a:lnSpc>
                <a:spcPct val="150000"/>
              </a:lnSpc>
            </a:pPr>
            <a:r>
              <a:rPr lang="zh-CN" altLang="en-US" sz="2000"/>
              <a:t>X 模型——这个模型指出整个测试过程是在探索中进行的。</a:t>
            </a:r>
            <a:endParaRPr lang="zh-CN" altLang="en-US" sz="2000"/>
          </a:p>
          <a:p>
            <a:pPr indent="360045" fontAlgn="auto">
              <a:lnSpc>
                <a:spcPct val="150000"/>
              </a:lnSpc>
            </a:pPr>
            <a:r>
              <a:rPr lang="zh-CN" altLang="en-US" sz="2000"/>
              <a:t>H 模型——软件测试是一个独立的流程，贯穿产品整个生命周期，与其他流程并发地进行 。</a:t>
            </a:r>
            <a:endParaRPr lang="zh-CN" altLang="en-US" sz="2000"/>
          </a:p>
        </p:txBody>
      </p:sp>
    </p:spTree>
  </p:cSld>
  <p:clrMapOvr>
    <a:masterClrMapping/>
  </p:clrMapOvr>
  <p:transition advTm="7675">
    <p:plu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7" presetClass="entr" presetSubtype="1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p:cTn id="14" dur="500" fill="hold"/>
                                        <p:tgtEl>
                                          <p:spTgt spid="3"/>
                                        </p:tgtEl>
                                        <p:attrNameLst>
                                          <p:attrName>ppt_w</p:attrName>
                                        </p:attrNameLst>
                                      </p:cBhvr>
                                      <p:tavLst>
                                        <p:tav tm="0">
                                          <p:val>
                                            <p:fltVal val="0"/>
                                          </p:val>
                                        </p:tav>
                                        <p:tav tm="100000">
                                          <p:val>
                                            <p:strVal val="#ppt_w"/>
                                          </p:val>
                                        </p:tav>
                                      </p:tavLst>
                                    </p:anim>
                                    <p:anim calcmode="lin" valueType="num">
                                      <p:cBhvr>
                                        <p:cTn id="15" dur="500" fill="hold"/>
                                        <p:tgtEl>
                                          <p:spTgt spid="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rot="5400000">
            <a:off x="-354902" y="1593655"/>
            <a:ext cx="2812747" cy="2101740"/>
          </a:xfrm>
          <a:prstGeom prst="triangle">
            <a:avLst/>
          </a:prstGeom>
          <a:solidFill>
            <a:schemeClr val="accent4">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 name="文本框 2"/>
          <p:cNvSpPr txBox="1"/>
          <p:nvPr/>
        </p:nvSpPr>
        <p:spPr>
          <a:xfrm>
            <a:off x="3912604" y="2883812"/>
            <a:ext cx="4882515" cy="829945"/>
          </a:xfrm>
          <a:prstGeom prst="rect">
            <a:avLst/>
          </a:prstGeom>
          <a:noFill/>
        </p:spPr>
        <p:txBody>
          <a:bodyPr wrap="none" rtlCol="0">
            <a:spAutoFit/>
          </a:bodyPr>
          <a:lstStyle/>
          <a:p>
            <a:pPr algn="l"/>
            <a:r>
              <a:rPr lang="zh-CN" altLang="en-US" sz="4800" dirty="0">
                <a:solidFill>
                  <a:schemeClr val="tx1">
                    <a:lumMod val="75000"/>
                    <a:lumOff val="25000"/>
                  </a:schemeClr>
                </a:solidFill>
                <a:latin typeface="微软雅黑" panose="020B0503020204020204" charset="-122"/>
                <a:ea typeface="微软雅黑" panose="020B0503020204020204" charset="-122"/>
              </a:rPr>
              <a:t>2.3 测试过程管理</a:t>
            </a:r>
            <a:endParaRPr lang="zh-CN" altLang="en-US" sz="4800" dirty="0">
              <a:solidFill>
                <a:schemeClr val="tx1">
                  <a:lumMod val="75000"/>
                  <a:lumOff val="25000"/>
                </a:schemeClr>
              </a:solidFill>
              <a:latin typeface="微软雅黑" panose="020B0503020204020204" charset="-122"/>
              <a:ea typeface="微软雅黑" panose="020B0503020204020204" charset="-122"/>
            </a:endParaRPr>
          </a:p>
        </p:txBody>
      </p:sp>
      <p:sp>
        <p:nvSpPr>
          <p:cNvPr id="6" name="等腰三角形 5"/>
          <p:cNvSpPr/>
          <p:nvPr/>
        </p:nvSpPr>
        <p:spPr>
          <a:xfrm rot="16200000" flipH="1">
            <a:off x="10384747" y="2655849"/>
            <a:ext cx="2069408" cy="1546303"/>
          </a:xfrm>
          <a:prstGeom prst="triangle">
            <a:avLst/>
          </a:prstGeom>
          <a:solidFill>
            <a:schemeClr val="accent2">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7" name="等腰三角形 6"/>
          <p:cNvSpPr/>
          <p:nvPr/>
        </p:nvSpPr>
        <p:spPr>
          <a:xfrm rot="5400000">
            <a:off x="-436508" y="2327919"/>
            <a:ext cx="3458403" cy="2584187"/>
          </a:xfrm>
          <a:prstGeom prst="triangle">
            <a:avLst/>
          </a:pr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 name="文本框 7"/>
          <p:cNvSpPr txBox="1"/>
          <p:nvPr/>
        </p:nvSpPr>
        <p:spPr>
          <a:xfrm>
            <a:off x="47928" y="2883669"/>
            <a:ext cx="1612900" cy="1568450"/>
          </a:xfrm>
          <a:prstGeom prst="rect">
            <a:avLst/>
          </a:prstGeom>
          <a:noFill/>
        </p:spPr>
        <p:txBody>
          <a:bodyPr wrap="none" rtlCol="0">
            <a:spAutoFit/>
          </a:bodyPr>
          <a:lstStyle/>
          <a:p>
            <a:r>
              <a:rPr lang="en-US" altLang="zh-CN" sz="9600" dirty="0">
                <a:solidFill>
                  <a:schemeClr val="bg1"/>
                </a:solidFill>
                <a:latin typeface="微软雅黑" panose="020B0503020204020204" charset="-122"/>
                <a:ea typeface="微软雅黑" panose="020B0503020204020204" charset="-122"/>
              </a:rPr>
              <a:t>03</a:t>
            </a:r>
            <a:endParaRPr lang="zh-CN" altLang="en-US" sz="9600" dirty="0">
              <a:solidFill>
                <a:schemeClr val="bg1"/>
              </a:solidFill>
              <a:latin typeface="微软雅黑" panose="020B0503020204020204" charset="-122"/>
              <a:ea typeface="微软雅黑" panose="020B0503020204020204" charset="-122"/>
            </a:endParaRPr>
          </a:p>
        </p:txBody>
      </p:sp>
    </p:spTree>
  </p:cSld>
  <p:clrMapOvr>
    <a:masterClrMapping/>
  </p:clrMapOvr>
  <p:transition advTm="7675">
    <p:plu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childTnLst>
                          </p:cTn>
                        </p:par>
                        <p:par>
                          <p:cTn id="25" fill="hold">
                            <p:stCondLst>
                              <p:cond delay="500"/>
                            </p:stCondLst>
                            <p:childTnLst>
                              <p:par>
                                <p:cTn id="26" presetID="2" presetClass="entr" presetSubtype="8" fill="hold" grpId="0" nodeType="after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additive="base">
                                        <p:cTn id="28" dur="500" fill="hold"/>
                                        <p:tgtEl>
                                          <p:spTgt spid="3"/>
                                        </p:tgtEl>
                                        <p:attrNameLst>
                                          <p:attrName>ppt_x</p:attrName>
                                        </p:attrNameLst>
                                      </p:cBhvr>
                                      <p:tavLst>
                                        <p:tav tm="0">
                                          <p:val>
                                            <p:strVal val="0-#ppt_w/2"/>
                                          </p:val>
                                        </p:tav>
                                        <p:tav tm="100000">
                                          <p:val>
                                            <p:strVal val="#ppt_x"/>
                                          </p:val>
                                        </p:tav>
                                      </p:tavLst>
                                    </p:anim>
                                    <p:anim calcmode="lin" valueType="num">
                                      <p:cBhvr additive="base">
                                        <p:cTn id="29"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p:bldP spid="6" grpId="0" bldLvl="0" animBg="1"/>
      <p:bldP spid="7" grpId="0" bldLvl="0" animBg="1"/>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charset="-122"/>
                <a:ea typeface="微软雅黑" panose="020B0503020204020204" charset="-122"/>
              </a:rPr>
              <a:t>测试过程管理</a:t>
            </a:r>
            <a:endParaRPr kumimoji="1" lang="zh-CN" altLang="en-US" sz="2000" b="0" dirty="0">
              <a:solidFill>
                <a:schemeClr val="tx1">
                  <a:lumMod val="65000"/>
                  <a:lumOff val="35000"/>
                </a:schemeClr>
              </a:solidFill>
              <a:latin typeface="微软雅黑" panose="020B0503020204020204" charset="-122"/>
              <a:ea typeface="微软雅黑" panose="020B0503020204020204" charset="-122"/>
            </a:endParaRPr>
          </a:p>
        </p:txBody>
      </p:sp>
      <p:sp>
        <p:nvSpPr>
          <p:cNvPr id="100" name="文本框 99"/>
          <p:cNvSpPr txBox="1"/>
          <p:nvPr/>
        </p:nvSpPr>
        <p:spPr>
          <a:xfrm>
            <a:off x="1093470" y="1501140"/>
            <a:ext cx="7879715" cy="3969385"/>
          </a:xfrm>
          <a:prstGeom prst="rect">
            <a:avLst/>
          </a:prstGeom>
          <a:noFill/>
          <a:ln w="9525">
            <a:noFill/>
          </a:ln>
        </p:spPr>
        <p:txBody>
          <a:bodyPr wrap="square">
            <a:spAutoFit/>
          </a:bodyPr>
          <a:p>
            <a:pPr indent="304800"/>
            <a:r>
              <a:rPr lang="zh-CN" b="0">
                <a:ea typeface="宋体" panose="02010600030101010101" pitchFamily="2" charset="-122"/>
              </a:rPr>
              <a:t>今天，在软件比较发达的国家，软件测试已经成为一个独立的产业，许多软件公司纷纷建立了独立的测试队伍。我国的软件测试起步较晚，但随着我国软件产业的蓬勃发展以及人们对软件质量的重视，软件测试正在成为一个新兴的产业。近两年来，国内新成立专业性测试机构十多家，一批批专业的软件测试人员正涌现出来。在测试技术发展的同时，测试过程的管理显得尤为重要。一个成功的测试项目，离不开对测试过程科学的组织和监控。过程管理已成为测试成功的重要保证。</a:t>
            </a:r>
            <a:endParaRPr lang="zh-CN" b="0">
              <a:ea typeface="宋体" panose="02010600030101010101" pitchFamily="2" charset="-122"/>
            </a:endParaRPr>
          </a:p>
          <a:p>
            <a:pPr indent="304800"/>
            <a:endParaRPr lang="zh-CN" b="0">
              <a:ea typeface="宋体" panose="02010600030101010101" pitchFamily="2" charset="-122"/>
            </a:endParaRPr>
          </a:p>
          <a:p>
            <a:pPr indent="304800"/>
            <a:endParaRPr lang="zh-CN" b="0">
              <a:ea typeface="宋体" panose="02010600030101010101" pitchFamily="2" charset="-122"/>
            </a:endParaRPr>
          </a:p>
          <a:p>
            <a:pPr indent="304800"/>
            <a:r>
              <a:rPr lang="zh-CN" b="0">
                <a:ea typeface="宋体" panose="02010600030101010101" pitchFamily="2" charset="-122"/>
              </a:rPr>
              <a:t>    根据测试需求、测试计划，对测试过程中每个状态进行记录、跟踪和管理，并提出相关的分析和统计功能，生成和打印各种分析统计报表。通过对详细记录的分析，形成较为完整的软件测试管理文档，避免同样的错误在软件开发过程中再次发生，从而提高软件开发质量。</a:t>
            </a:r>
            <a:endParaRPr lang="zh-CN" altLang="en-US"/>
          </a:p>
        </p:txBody>
      </p:sp>
      <p:sp>
        <p:nvSpPr>
          <p:cNvPr id="2" name="文本框 1"/>
          <p:cNvSpPr txBox="1"/>
          <p:nvPr/>
        </p:nvSpPr>
        <p:spPr>
          <a:xfrm>
            <a:off x="1093470" y="837565"/>
            <a:ext cx="5403215" cy="460375"/>
          </a:xfrm>
          <a:prstGeom prst="rect">
            <a:avLst/>
          </a:prstGeom>
          <a:noFill/>
        </p:spPr>
        <p:txBody>
          <a:bodyPr wrap="square" rtlCol="0">
            <a:spAutoFit/>
          </a:bodyPr>
          <a:p>
            <a:r>
              <a:rPr lang="en-US" altLang="zh-CN" sz="2400"/>
              <a:t>1</a:t>
            </a:r>
            <a:r>
              <a:rPr lang="zh-CN" altLang="en-US" sz="2400"/>
              <a:t>、测试过程管理概念</a:t>
            </a:r>
            <a:endParaRPr lang="zh-CN" altLang="en-US" sz="2400"/>
          </a:p>
        </p:txBody>
      </p:sp>
      <p:sp>
        <p:nvSpPr>
          <p:cNvPr id="3" name="虚尾箭头 2"/>
          <p:cNvSpPr/>
          <p:nvPr/>
        </p:nvSpPr>
        <p:spPr>
          <a:xfrm>
            <a:off x="1193165" y="3322320"/>
            <a:ext cx="7708900" cy="898525"/>
          </a:xfrm>
          <a:prstGeom prst="stripedRightArrow">
            <a:avLst/>
          </a:prstGeom>
        </p:spPr>
        <p:style>
          <a:lnRef idx="1">
            <a:schemeClr val="accent3"/>
          </a:lnRef>
          <a:fillRef idx="2">
            <a:schemeClr val="accent3"/>
          </a:fillRef>
          <a:effectRef idx="1">
            <a:schemeClr val="accent3"/>
          </a:effectRef>
          <a:fontRef idx="minor">
            <a:schemeClr val="dk1"/>
          </a:fontRef>
        </p:style>
        <p:txBody>
          <a:bodyPr rtlCol="0" anchor="ctr"/>
          <a:p>
            <a:pPr algn="ctr"/>
            <a:endParaRPr lang="zh-CN" altLang="en-US"/>
          </a:p>
        </p:txBody>
      </p:sp>
    </p:spTree>
  </p:cSld>
  <p:clrMapOvr>
    <a:masterClrMapping/>
  </p:clrMapOvr>
  <p:transition advTm="7675">
    <p:plu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00"/>
                                        </p:tgtEl>
                                        <p:attrNameLst>
                                          <p:attrName>style.visibility</p:attrName>
                                        </p:attrNameLst>
                                      </p:cBhvr>
                                      <p:to>
                                        <p:strVal val="visible"/>
                                      </p:to>
                                    </p:set>
                                    <p:anim calcmode="lin" valueType="num">
                                      <p:cBhvr additive="base">
                                        <p:cTn id="12" dur="500" fill="hold"/>
                                        <p:tgtEl>
                                          <p:spTgt spid="100"/>
                                        </p:tgtEl>
                                        <p:attrNameLst>
                                          <p:attrName>ppt_x</p:attrName>
                                        </p:attrNameLst>
                                      </p:cBhvr>
                                      <p:tavLst>
                                        <p:tav tm="0">
                                          <p:val>
                                            <p:strVal val="#ppt_x"/>
                                          </p:val>
                                        </p:tav>
                                        <p:tav tm="100000">
                                          <p:val>
                                            <p:strVal val="#ppt_x"/>
                                          </p:val>
                                        </p:tav>
                                      </p:tavLst>
                                    </p:anim>
                                    <p:anim calcmode="lin" valueType="num">
                                      <p:cBhvr additive="base">
                                        <p:cTn id="13" dur="500" fill="hold"/>
                                        <p:tgtEl>
                                          <p:spTgt spid="100"/>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checkerboard(across)">
                                      <p:cBhvr>
                                        <p:cTn id="1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100" grpId="0"/>
      <p:bldP spid="100" grpId="1"/>
      <p:bldP spid="3" grpId="0" animBg="1"/>
      <p:bldP spid="3"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charset="-122"/>
                <a:ea typeface="微软雅黑" panose="020B0503020204020204" charset="-122"/>
              </a:rPr>
              <a:t>测试过程管理</a:t>
            </a:r>
            <a:endParaRPr kumimoji="1" lang="zh-CN" altLang="en-US" sz="2000" b="0" dirty="0">
              <a:solidFill>
                <a:schemeClr val="tx1">
                  <a:lumMod val="65000"/>
                  <a:lumOff val="35000"/>
                </a:schemeClr>
              </a:solidFill>
              <a:latin typeface="微软雅黑" panose="020B0503020204020204" charset="-122"/>
              <a:ea typeface="微软雅黑" panose="020B0503020204020204" charset="-122"/>
            </a:endParaRPr>
          </a:p>
        </p:txBody>
      </p:sp>
      <p:sp>
        <p:nvSpPr>
          <p:cNvPr id="14" name="Rectangle 13"/>
          <p:cNvSpPr/>
          <p:nvPr/>
        </p:nvSpPr>
        <p:spPr>
          <a:xfrm>
            <a:off x="3951159" y="3367974"/>
            <a:ext cx="175146" cy="235273"/>
          </a:xfrm>
          <a:prstGeom prst="rect">
            <a:avLst/>
          </a:prstGeom>
        </p:spPr>
        <p:txBody>
          <a:bodyPr wrap="none" lIns="86694" tIns="43347" rIns="86694" bIns="43347">
            <a:spAutoFit/>
          </a:bodyPr>
          <a:lstStyle/>
          <a:p>
            <a:pPr algn="just">
              <a:lnSpc>
                <a:spcPct val="120000"/>
              </a:lnSpc>
            </a:pPr>
            <a:endParaRPr lang="en-US" sz="800" dirty="0">
              <a:solidFill>
                <a:schemeClr val="tx1">
                  <a:lumMod val="65000"/>
                  <a:lumOff val="35000"/>
                </a:schemeClr>
              </a:solidFill>
              <a:latin typeface="Arial" panose="020B0604020202020204" pitchFamily="34" charset="0"/>
              <a:ea typeface="微软雅黑" panose="020B0503020204020204" charset="-122"/>
              <a:cs typeface="+mn-ea"/>
              <a:sym typeface="Arial" panose="020B0604020202020204" pitchFamily="34" charset="0"/>
            </a:endParaRPr>
          </a:p>
        </p:txBody>
      </p:sp>
      <p:pic>
        <p:nvPicPr>
          <p:cNvPr id="2" name="图片 103"/>
          <p:cNvPicPr>
            <a:picLocks noChangeAspect="1"/>
          </p:cNvPicPr>
          <p:nvPr/>
        </p:nvPicPr>
        <p:blipFill>
          <a:blip r:embed="rId1"/>
          <a:stretch>
            <a:fillRect/>
          </a:stretch>
        </p:blipFill>
        <p:spPr>
          <a:xfrm>
            <a:off x="6117590" y="516255"/>
            <a:ext cx="5814060" cy="5240655"/>
          </a:xfrm>
          <a:prstGeom prst="rect">
            <a:avLst/>
          </a:prstGeom>
          <a:noFill/>
          <a:ln w="9525">
            <a:noFill/>
          </a:ln>
        </p:spPr>
      </p:pic>
      <p:sp>
        <p:nvSpPr>
          <p:cNvPr id="100" name="文本框 99"/>
          <p:cNvSpPr txBox="1"/>
          <p:nvPr/>
        </p:nvSpPr>
        <p:spPr>
          <a:xfrm>
            <a:off x="431800" y="1527175"/>
            <a:ext cx="4403725" cy="2553335"/>
          </a:xfrm>
          <a:prstGeom prst="rect">
            <a:avLst/>
          </a:prstGeom>
          <a:noFill/>
          <a:ln w="9525">
            <a:noFill/>
          </a:ln>
        </p:spPr>
        <p:txBody>
          <a:bodyPr wrap="square">
            <a:spAutoFit/>
          </a:bodyPr>
          <a:p>
            <a:pPr indent="0"/>
            <a:r>
              <a:rPr lang="en-US" altLang="zh-CN" sz="2000" b="0">
                <a:ea typeface="宋体" panose="02010600030101010101" pitchFamily="2" charset="-122"/>
              </a:rPr>
              <a:t>    </a:t>
            </a:r>
            <a:r>
              <a:rPr lang="zh-CN" sz="2000" b="0">
                <a:ea typeface="宋体" panose="02010600030101010101" pitchFamily="2" charset="-122"/>
              </a:rPr>
              <a:t>生命周期模型为我们提供了软件测试的流程和方法，为测试过程管理提供了依据。但实际的测试工作是复杂而烦琐的，可能不会有哪种模型完全适用于某项测试工作。所以，我们应该从不同的模型中抽象出符合实际现状的测试过程管理理念，依据这些理念来策划测试过程，以不变应万变。</a:t>
            </a:r>
            <a:endParaRPr lang="zh-CN" altLang="en-US" sz="2000"/>
          </a:p>
        </p:txBody>
      </p:sp>
      <p:sp>
        <p:nvSpPr>
          <p:cNvPr id="3" name="文本框 2"/>
          <p:cNvSpPr txBox="1"/>
          <p:nvPr/>
        </p:nvSpPr>
        <p:spPr>
          <a:xfrm>
            <a:off x="480060" y="4370070"/>
            <a:ext cx="5080000" cy="368300"/>
          </a:xfrm>
          <a:prstGeom prst="rect">
            <a:avLst/>
          </a:prstGeom>
          <a:noFill/>
          <a:ln w="9525">
            <a:noFill/>
          </a:ln>
        </p:spPr>
        <p:txBody>
          <a:bodyPr wrap="square">
            <a:spAutoFit/>
          </a:bodyPr>
          <a:p>
            <a:pPr indent="0"/>
            <a:r>
              <a:rPr lang="zh-CN">
                <a:ea typeface="宋体" panose="02010600030101010101" pitchFamily="2" charset="-122"/>
              </a:rPr>
              <a:t>软件测试过程管理如图所示</a:t>
            </a:r>
            <a:endParaRPr lang="zh-CN" altLang="en-US"/>
          </a:p>
        </p:txBody>
      </p:sp>
    </p:spTree>
  </p:cSld>
  <p:clrMapOvr>
    <a:masterClrMapping/>
  </p:clrMapOvr>
  <p:transition advTm="7675">
    <p:plu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fade">
                                      <p:cBhvr>
                                        <p:cTn id="7" dur="1000"/>
                                        <p:tgtEl>
                                          <p:spTgt spid="100"/>
                                        </p:tgtEl>
                                      </p:cBhvr>
                                    </p:animEffect>
                                    <p:anim calcmode="lin" valueType="num">
                                      <p:cBhvr>
                                        <p:cTn id="8" dur="1000" fill="hold"/>
                                        <p:tgtEl>
                                          <p:spTgt spid="100"/>
                                        </p:tgtEl>
                                        <p:attrNameLst>
                                          <p:attrName>ppt_x</p:attrName>
                                        </p:attrNameLst>
                                      </p:cBhvr>
                                      <p:tavLst>
                                        <p:tav tm="0">
                                          <p:val>
                                            <p:strVal val="#ppt_x"/>
                                          </p:val>
                                        </p:tav>
                                        <p:tav tm="100000">
                                          <p:val>
                                            <p:strVal val="#ppt_x"/>
                                          </p:val>
                                        </p:tav>
                                      </p:tavLst>
                                    </p:anim>
                                    <p:anim calcmode="lin" valueType="num">
                                      <p:cBhvr>
                                        <p:cTn id="9" dur="1000" fill="hold"/>
                                        <p:tgtEl>
                                          <p:spTgt spid="10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500"/>
                                        <p:tgtEl>
                                          <p:spTgt spid="2"/>
                                        </p:tgtEl>
                                        <p:attrNameLst>
                                          <p:attrName>ppt_y</p:attrName>
                                        </p:attrNameLst>
                                      </p:cBhvr>
                                      <p:tavLst>
                                        <p:tav tm="0">
                                          <p:val>
                                            <p:strVal val="#ppt_y+#ppt_h*1.125000"/>
                                          </p:val>
                                        </p:tav>
                                        <p:tav tm="100000">
                                          <p:val>
                                            <p:strVal val="#ppt_y"/>
                                          </p:val>
                                        </p:tav>
                                      </p:tavLst>
                                    </p:anim>
                                    <p:animEffect transition="in" filter="wipe(up)">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P spid="100" grpId="1"/>
      <p:bldP spid="2" grpId="0"/>
      <p:bldP spid="2"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charset="-122"/>
                <a:ea typeface="微软雅黑" panose="020B0503020204020204" charset="-122"/>
                <a:sym typeface="+mn-ea"/>
              </a:rPr>
              <a:t>测试过程管理</a:t>
            </a:r>
            <a:endParaRPr kumimoji="1" lang="zh-CN" altLang="en-US" sz="2000" b="0" dirty="0">
              <a:solidFill>
                <a:schemeClr val="tx1">
                  <a:lumMod val="65000"/>
                  <a:lumOff val="35000"/>
                </a:schemeClr>
              </a:solidFill>
              <a:latin typeface="微软雅黑" panose="020B0503020204020204" charset="-122"/>
              <a:ea typeface="微软雅黑" panose="020B0503020204020204" charset="-122"/>
            </a:endParaRPr>
          </a:p>
        </p:txBody>
      </p:sp>
      <p:sp>
        <p:nvSpPr>
          <p:cNvPr id="100" name="文本框 99"/>
          <p:cNvSpPr txBox="1"/>
          <p:nvPr/>
        </p:nvSpPr>
        <p:spPr>
          <a:xfrm>
            <a:off x="624205" y="1031558"/>
            <a:ext cx="5080000" cy="922020"/>
          </a:xfrm>
          <a:prstGeom prst="rect">
            <a:avLst/>
          </a:prstGeom>
          <a:noFill/>
          <a:ln w="9525">
            <a:noFill/>
          </a:ln>
        </p:spPr>
        <p:txBody>
          <a:bodyPr>
            <a:spAutoFit/>
          </a:bodyPr>
          <a:p>
            <a:pPr indent="0"/>
            <a:r>
              <a:rPr lang="zh-CN" b="0">
                <a:ea typeface="宋体" panose="02010600030101010101" pitchFamily="2" charset="-122"/>
              </a:rPr>
              <a:t>测试管理牵涉的范围非常的广泛，包括过程定义、人力资源管理、风险管理等，下面介绍几种管理理念。</a:t>
            </a:r>
            <a:endParaRPr lang="zh-CN" altLang="en-US"/>
          </a:p>
        </p:txBody>
      </p:sp>
      <p:sp>
        <p:nvSpPr>
          <p:cNvPr id="2" name="文本框 1"/>
          <p:cNvSpPr txBox="1"/>
          <p:nvPr/>
        </p:nvSpPr>
        <p:spPr>
          <a:xfrm>
            <a:off x="403860" y="1875790"/>
            <a:ext cx="5080000" cy="368300"/>
          </a:xfrm>
          <a:prstGeom prst="rect">
            <a:avLst/>
          </a:prstGeom>
          <a:noFill/>
          <a:ln w="9525">
            <a:noFill/>
          </a:ln>
        </p:spPr>
        <p:txBody>
          <a:bodyPr>
            <a:spAutoFit/>
          </a:bodyPr>
          <a:p>
            <a:pPr indent="304800"/>
            <a:r>
              <a:rPr lang="zh-CN" b="0">
                <a:ea typeface="宋体" panose="02010600030101010101" pitchFamily="2" charset="-122"/>
              </a:rPr>
              <a:t>1. 尽早测试</a:t>
            </a:r>
            <a:endParaRPr lang="zh-CN" altLang="en-US"/>
          </a:p>
        </p:txBody>
      </p:sp>
      <p:sp>
        <p:nvSpPr>
          <p:cNvPr id="3" name="文本框 2"/>
          <p:cNvSpPr txBox="1"/>
          <p:nvPr/>
        </p:nvSpPr>
        <p:spPr>
          <a:xfrm>
            <a:off x="754380" y="2379662"/>
            <a:ext cx="5080000" cy="2553335"/>
          </a:xfrm>
          <a:prstGeom prst="rect">
            <a:avLst/>
          </a:prstGeom>
          <a:noFill/>
          <a:ln w="9525">
            <a:noFill/>
          </a:ln>
        </p:spPr>
        <p:txBody>
          <a:bodyPr wrap="square">
            <a:spAutoFit/>
          </a:bodyPr>
          <a:p>
            <a:pPr indent="0"/>
            <a:r>
              <a:rPr lang="zh-CN" sz="2000">
                <a:ea typeface="宋体" panose="02010600030101010101" pitchFamily="2" charset="-122"/>
                <a:sym typeface="+mn-ea"/>
              </a:rPr>
              <a:t>“尽早测试”有两个方面的含义：</a:t>
            </a:r>
            <a:r>
              <a:rPr lang="en-US" altLang="zh-CN" sz="2000" b="0">
                <a:ea typeface="宋体" panose="02010600030101010101" pitchFamily="2" charset="-122"/>
              </a:rPr>
              <a:t>   </a:t>
            </a:r>
            <a:endParaRPr lang="en-US" altLang="zh-CN" sz="2000" b="0">
              <a:ea typeface="宋体" panose="02010600030101010101" pitchFamily="2" charset="-122"/>
            </a:endParaRPr>
          </a:p>
          <a:p>
            <a:pPr indent="0"/>
            <a:r>
              <a:rPr lang="zh-CN" sz="2000" b="0">
                <a:ea typeface="宋体" panose="02010600030101010101" pitchFamily="2" charset="-122"/>
              </a:rPr>
              <a:t>   第一，测试人员早期参与软件项目，及时开展测试的准备工作，包括编写测试计划、制定测试方案以及准备测试用例；</a:t>
            </a:r>
            <a:endParaRPr lang="zh-CN" sz="2000" b="0">
              <a:ea typeface="宋体" panose="02010600030101010101" pitchFamily="2" charset="-122"/>
            </a:endParaRPr>
          </a:p>
          <a:p>
            <a:pPr indent="0"/>
            <a:r>
              <a:rPr lang="zh-CN" sz="2000" b="0">
                <a:ea typeface="宋体" panose="02010600030101010101" pitchFamily="2" charset="-122"/>
              </a:rPr>
              <a:t>    第二，尽早的开展测试执行工作，一旦代码模块完成就应该及时开展单元测试，一旦代码模块被集成为相对独立的子系统，便可以开展系统测试工作。</a:t>
            </a:r>
            <a:endParaRPr lang="zh-CN" sz="2000" b="0">
              <a:ea typeface="宋体" panose="02010600030101010101" pitchFamily="2" charset="-122"/>
            </a:endParaRPr>
          </a:p>
        </p:txBody>
      </p:sp>
      <p:sp>
        <p:nvSpPr>
          <p:cNvPr id="5" name="文本框 4"/>
          <p:cNvSpPr txBox="1"/>
          <p:nvPr/>
        </p:nvSpPr>
        <p:spPr>
          <a:xfrm>
            <a:off x="6480810" y="2379345"/>
            <a:ext cx="4937760" cy="2584450"/>
          </a:xfrm>
          <a:prstGeom prst="rect">
            <a:avLst/>
          </a:prstGeom>
          <a:noFill/>
        </p:spPr>
        <p:txBody>
          <a:bodyPr wrap="square" rtlCol="0">
            <a:spAutoFit/>
          </a:bodyPr>
          <a:p>
            <a:r>
              <a:rPr lang="zh-CN">
                <a:ea typeface="宋体" panose="02010600030101010101" pitchFamily="2" charset="-122"/>
                <a:sym typeface="+mn-ea"/>
              </a:rPr>
              <a:t>由于及早的开展了测试准备工作，测试人员能够较早的了解测试的难度、预测测试风险，从而有效地提高测试的效率、规避测试风险等。由于及早的开展测试执行工作，测试人员可尽早的发现软件缺陷，大大降低BUG修复成本。但是需要注意，“尽早测试”并非盲目提前测试活动，测试活动开展的前提是达到必须的测试关键点。</a:t>
            </a:r>
            <a:endParaRPr lang="zh-CN" b="0">
              <a:ea typeface="宋体" panose="02010600030101010101" pitchFamily="2" charset="-122"/>
            </a:endParaRPr>
          </a:p>
          <a:p>
            <a:endParaRPr lang="zh-CN" altLang="en-US"/>
          </a:p>
        </p:txBody>
      </p:sp>
    </p:spTree>
  </p:cSld>
  <p:clrMapOvr>
    <a:masterClrMapping/>
  </p:clrMapOvr>
  <p:transition advTm="7675">
    <p:plu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anim calcmode="lin" valueType="num">
                                      <p:cBhvr additive="base">
                                        <p:cTn id="7" dur="500" fill="hold"/>
                                        <p:tgtEl>
                                          <p:spTgt spid="100"/>
                                        </p:tgtEl>
                                        <p:attrNameLst>
                                          <p:attrName>ppt_x</p:attrName>
                                        </p:attrNameLst>
                                      </p:cBhvr>
                                      <p:tavLst>
                                        <p:tav tm="0">
                                          <p:val>
                                            <p:strVal val="#ppt_x"/>
                                          </p:val>
                                        </p:tav>
                                        <p:tav tm="100000">
                                          <p:val>
                                            <p:strVal val="#ppt_x"/>
                                          </p:val>
                                        </p:tav>
                                      </p:tavLst>
                                    </p:anim>
                                    <p:anim calcmode="lin" valueType="num">
                                      <p:cBhvr additive="base">
                                        <p:cTn id="8" dur="500" fill="hold"/>
                                        <p:tgtEl>
                                          <p:spTgt spid="10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blinds(horizontal)">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7" presetClass="entr" presetSubtype="0" fill="hold" grpId="0"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1000"/>
                                        <p:tgtEl>
                                          <p:spTgt spid="2"/>
                                        </p:tgtEl>
                                      </p:cBhvr>
                                    </p:animEffect>
                                    <p:anim calcmode="lin" valueType="num">
                                      <p:cBhvr>
                                        <p:cTn id="25" dur="1000" fill="hold"/>
                                        <p:tgtEl>
                                          <p:spTgt spid="2"/>
                                        </p:tgtEl>
                                        <p:attrNameLst>
                                          <p:attrName>ppt_x</p:attrName>
                                        </p:attrNameLst>
                                      </p:cBhvr>
                                      <p:tavLst>
                                        <p:tav tm="0">
                                          <p:val>
                                            <p:strVal val="#ppt_x"/>
                                          </p:val>
                                        </p:tav>
                                        <p:tav tm="100000">
                                          <p:val>
                                            <p:strVal val="#ppt_x"/>
                                          </p:val>
                                        </p:tav>
                                      </p:tavLst>
                                    </p:anim>
                                    <p:anim calcmode="lin" valueType="num">
                                      <p:cBhvr>
                                        <p:cTn id="2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P spid="100" grpId="1"/>
      <p:bldP spid="3" grpId="0"/>
      <p:bldP spid="3" grpId="1"/>
      <p:bldP spid="5" grpId="0"/>
      <p:bldP spid="5" grpId="1"/>
      <p:bldP spid="2" grpId="0"/>
      <p:bldP spid="2"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80" name="文本占位符 3"/>
          <p:cNvSpPr txBox="1"/>
          <p:nvPr/>
        </p:nvSpPr>
        <p:spPr>
          <a:xfrm>
            <a:off x="431687" y="56254"/>
            <a:ext cx="2981607" cy="55807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charset="-122"/>
                <a:ea typeface="微软雅黑" panose="020B0503020204020204" charset="-122"/>
                <a:sym typeface="+mn-ea"/>
              </a:rPr>
              <a:t>测试过程管理</a:t>
            </a:r>
            <a:endParaRPr kumimoji="1" lang="zh-CN" altLang="en-US" sz="2000" b="0" dirty="0">
              <a:solidFill>
                <a:schemeClr val="tx1">
                  <a:lumMod val="65000"/>
                  <a:lumOff val="35000"/>
                </a:schemeClr>
              </a:solidFill>
              <a:latin typeface="微软雅黑" panose="020B0503020204020204" charset="-122"/>
              <a:ea typeface="微软雅黑" panose="020B0503020204020204" charset="-122"/>
            </a:endParaRPr>
          </a:p>
        </p:txBody>
      </p:sp>
      <p:grpSp>
        <p:nvGrpSpPr>
          <p:cNvPr id="12" name="Group 11"/>
          <p:cNvGrpSpPr/>
          <p:nvPr/>
        </p:nvGrpSpPr>
        <p:grpSpPr>
          <a:xfrm>
            <a:off x="7875132" y="1505281"/>
            <a:ext cx="3503434" cy="3503626"/>
            <a:chOff x="6240781" y="1363135"/>
            <a:chExt cx="4963584" cy="4963584"/>
          </a:xfrm>
        </p:grpSpPr>
        <p:grpSp>
          <p:nvGrpSpPr>
            <p:cNvPr id="13" name="Group 12"/>
            <p:cNvGrpSpPr/>
            <p:nvPr userDrawn="1"/>
          </p:nvGrpSpPr>
          <p:grpSpPr>
            <a:xfrm>
              <a:off x="6240781" y="1363135"/>
              <a:ext cx="3255433" cy="2434167"/>
              <a:chOff x="4657725" y="946151"/>
              <a:chExt cx="2441575" cy="1825625"/>
            </a:xfrm>
          </p:grpSpPr>
          <p:sp>
            <p:nvSpPr>
              <p:cNvPr id="27" name="Freeform 26"/>
              <p:cNvSpPr/>
              <p:nvPr/>
            </p:nvSpPr>
            <p:spPr bwMode="auto">
              <a:xfrm>
                <a:off x="5953125" y="2046288"/>
                <a:ext cx="1146175" cy="593725"/>
              </a:xfrm>
              <a:custGeom>
                <a:avLst/>
                <a:gdLst>
                  <a:gd name="T0" fmla="*/ 849 w 904"/>
                  <a:gd name="T1" fmla="*/ 0 h 468"/>
                  <a:gd name="T2" fmla="*/ 873 w 904"/>
                  <a:gd name="T3" fmla="*/ 58 h 468"/>
                  <a:gd name="T4" fmla="*/ 507 w 904"/>
                  <a:gd name="T5" fmla="*/ 436 h 468"/>
                  <a:gd name="T6" fmla="*/ 396 w 904"/>
                  <a:gd name="T7" fmla="*/ 436 h 468"/>
                  <a:gd name="T8" fmla="*/ 30 w 904"/>
                  <a:gd name="T9" fmla="*/ 58 h 468"/>
                  <a:gd name="T10" fmla="*/ 55 w 904"/>
                  <a:gd name="T11" fmla="*/ 0 h 468"/>
                  <a:gd name="T12" fmla="*/ 849 w 90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904" h="468">
                    <a:moveTo>
                      <a:pt x="849" y="0"/>
                    </a:moveTo>
                    <a:cubicBezTo>
                      <a:pt x="893" y="0"/>
                      <a:pt x="904" y="26"/>
                      <a:pt x="873" y="58"/>
                    </a:cubicBezTo>
                    <a:cubicBezTo>
                      <a:pt x="507" y="436"/>
                      <a:pt x="507" y="436"/>
                      <a:pt x="507" y="436"/>
                    </a:cubicBezTo>
                    <a:cubicBezTo>
                      <a:pt x="477" y="468"/>
                      <a:pt x="427" y="468"/>
                      <a:pt x="396" y="436"/>
                    </a:cubicBezTo>
                    <a:cubicBezTo>
                      <a:pt x="30" y="58"/>
                      <a:pt x="30" y="58"/>
                      <a:pt x="30" y="58"/>
                    </a:cubicBezTo>
                    <a:cubicBezTo>
                      <a:pt x="0" y="26"/>
                      <a:pt x="11" y="0"/>
                      <a:pt x="55" y="0"/>
                    </a:cubicBezTo>
                    <a:lnTo>
                      <a:pt x="849" y="0"/>
                    </a:lnTo>
                    <a:close/>
                  </a:path>
                </a:pathLst>
              </a:custGeom>
              <a:solidFill>
                <a:schemeClr val="accent1"/>
              </a:solidFill>
              <a:ln>
                <a:noFill/>
              </a:ln>
            </p:spPr>
            <p:txBody>
              <a:bodyPr vert="horz" wrap="square" lIns="55827" tIns="27914" rIns="55827" bIns="27914" numCol="1" anchor="t" anchorCtr="0" compatLnSpc="1"/>
              <a:lstStyle/>
              <a:p>
                <a:pPr algn="just">
                  <a:lnSpc>
                    <a:spcPct val="120000"/>
                  </a:lnSpc>
                </a:pPr>
                <a:endParaRPr lang="en-US" sz="1600" dirty="0">
                  <a:solidFill>
                    <a:schemeClr val="bg1"/>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28" name="Freeform 27"/>
              <p:cNvSpPr/>
              <p:nvPr/>
            </p:nvSpPr>
            <p:spPr bwMode="auto">
              <a:xfrm>
                <a:off x="4657725" y="946151"/>
                <a:ext cx="2151063" cy="1825625"/>
              </a:xfrm>
              <a:custGeom>
                <a:avLst/>
                <a:gdLst>
                  <a:gd name="T0" fmla="*/ 848 w 1696"/>
                  <a:gd name="T1" fmla="*/ 0 h 1440"/>
                  <a:gd name="T2" fmla="*/ 0 w 1696"/>
                  <a:gd name="T3" fmla="*/ 848 h 1440"/>
                  <a:gd name="T4" fmla="*/ 241 w 1696"/>
                  <a:gd name="T5" fmla="*/ 1440 h 1440"/>
                  <a:gd name="T6" fmla="*/ 718 w 1696"/>
                  <a:gd name="T7" fmla="*/ 1209 h 1440"/>
                  <a:gd name="T8" fmla="*/ 464 w 1696"/>
                  <a:gd name="T9" fmla="*/ 848 h 1440"/>
                  <a:gd name="T10" fmla="*/ 848 w 1696"/>
                  <a:gd name="T11" fmla="*/ 464 h 1440"/>
                  <a:gd name="T12" fmla="*/ 1232 w 1696"/>
                  <a:gd name="T13" fmla="*/ 848 h 1440"/>
                  <a:gd name="T14" fmla="*/ 1213 w 1696"/>
                  <a:gd name="T15" fmla="*/ 966 h 1440"/>
                  <a:gd name="T16" fmla="*/ 1293 w 1696"/>
                  <a:gd name="T17" fmla="*/ 966 h 1440"/>
                  <a:gd name="T18" fmla="*/ 1293 w 1696"/>
                  <a:gd name="T19" fmla="*/ 1062 h 1440"/>
                  <a:gd name="T20" fmla="*/ 1669 w 1696"/>
                  <a:gd name="T21" fmla="*/ 1062 h 1440"/>
                  <a:gd name="T22" fmla="*/ 1696 w 1696"/>
                  <a:gd name="T23" fmla="*/ 848 h 1440"/>
                  <a:gd name="T24" fmla="*/ 848 w 1696"/>
                  <a:gd name="T25" fmla="*/ 0 h 1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96" h="1440">
                    <a:moveTo>
                      <a:pt x="848" y="0"/>
                    </a:moveTo>
                    <a:cubicBezTo>
                      <a:pt x="380" y="0"/>
                      <a:pt x="0" y="380"/>
                      <a:pt x="0" y="848"/>
                    </a:cubicBezTo>
                    <a:cubicBezTo>
                      <a:pt x="0" y="1078"/>
                      <a:pt x="92" y="1287"/>
                      <a:pt x="241" y="1440"/>
                    </a:cubicBezTo>
                    <a:cubicBezTo>
                      <a:pt x="374" y="1315"/>
                      <a:pt x="540" y="1235"/>
                      <a:pt x="718" y="1209"/>
                    </a:cubicBezTo>
                    <a:cubicBezTo>
                      <a:pt x="570" y="1156"/>
                      <a:pt x="464" y="1014"/>
                      <a:pt x="464" y="848"/>
                    </a:cubicBezTo>
                    <a:cubicBezTo>
                      <a:pt x="464" y="636"/>
                      <a:pt x="636" y="464"/>
                      <a:pt x="848" y="464"/>
                    </a:cubicBezTo>
                    <a:cubicBezTo>
                      <a:pt x="1060" y="464"/>
                      <a:pt x="1232" y="636"/>
                      <a:pt x="1232" y="848"/>
                    </a:cubicBezTo>
                    <a:cubicBezTo>
                      <a:pt x="1232" y="889"/>
                      <a:pt x="1225" y="929"/>
                      <a:pt x="1213" y="966"/>
                    </a:cubicBezTo>
                    <a:cubicBezTo>
                      <a:pt x="1293" y="966"/>
                      <a:pt x="1293" y="966"/>
                      <a:pt x="1293" y="966"/>
                    </a:cubicBezTo>
                    <a:cubicBezTo>
                      <a:pt x="1293" y="1062"/>
                      <a:pt x="1293" y="1062"/>
                      <a:pt x="1293" y="1062"/>
                    </a:cubicBezTo>
                    <a:cubicBezTo>
                      <a:pt x="1669" y="1062"/>
                      <a:pt x="1669" y="1062"/>
                      <a:pt x="1669" y="1062"/>
                    </a:cubicBezTo>
                    <a:cubicBezTo>
                      <a:pt x="1687" y="994"/>
                      <a:pt x="1696" y="922"/>
                      <a:pt x="1696" y="848"/>
                    </a:cubicBezTo>
                    <a:cubicBezTo>
                      <a:pt x="1696" y="380"/>
                      <a:pt x="1316" y="0"/>
                      <a:pt x="848" y="0"/>
                    </a:cubicBezTo>
                    <a:close/>
                  </a:path>
                </a:pathLst>
              </a:custGeom>
              <a:solidFill>
                <a:schemeClr val="accent1"/>
              </a:solidFill>
              <a:ln>
                <a:noFill/>
              </a:ln>
            </p:spPr>
            <p:txBody>
              <a:bodyPr vert="horz" wrap="square" lIns="55827" tIns="27914" rIns="55827" bIns="27914" numCol="1" anchor="t" anchorCtr="0" compatLnSpc="1"/>
              <a:lstStyle/>
              <a:p>
                <a:pPr algn="just">
                  <a:lnSpc>
                    <a:spcPct val="120000"/>
                  </a:lnSpc>
                </a:pPr>
                <a:endParaRPr lang="en-US" sz="1600" dirty="0">
                  <a:solidFill>
                    <a:schemeClr val="bg1"/>
                  </a:solidFill>
                  <a:latin typeface="Arial" panose="020B0604020202020204" pitchFamily="34" charset="0"/>
                  <a:ea typeface="微软雅黑" panose="020B0503020204020204" charset="-122"/>
                  <a:cs typeface="+mn-ea"/>
                  <a:sym typeface="Arial" panose="020B0604020202020204" pitchFamily="34" charset="0"/>
                </a:endParaRPr>
              </a:p>
            </p:txBody>
          </p:sp>
        </p:grpSp>
        <p:grpSp>
          <p:nvGrpSpPr>
            <p:cNvPr id="14" name="Group 13"/>
            <p:cNvGrpSpPr/>
            <p:nvPr userDrawn="1"/>
          </p:nvGrpSpPr>
          <p:grpSpPr>
            <a:xfrm>
              <a:off x="6240781" y="3111502"/>
              <a:ext cx="2434167" cy="3215217"/>
              <a:chOff x="4657725" y="2257426"/>
              <a:chExt cx="1825625" cy="2411413"/>
            </a:xfrm>
          </p:grpSpPr>
          <p:sp>
            <p:nvSpPr>
              <p:cNvPr id="25" name="Freeform 24"/>
              <p:cNvSpPr/>
              <p:nvPr/>
            </p:nvSpPr>
            <p:spPr bwMode="auto">
              <a:xfrm>
                <a:off x="5753100" y="2257426"/>
                <a:ext cx="593725" cy="1146175"/>
              </a:xfrm>
              <a:custGeom>
                <a:avLst/>
                <a:gdLst>
                  <a:gd name="T0" fmla="*/ 0 w 468"/>
                  <a:gd name="T1" fmla="*/ 55 h 904"/>
                  <a:gd name="T2" fmla="*/ 57 w 468"/>
                  <a:gd name="T3" fmla="*/ 30 h 904"/>
                  <a:gd name="T4" fmla="*/ 436 w 468"/>
                  <a:gd name="T5" fmla="*/ 397 h 904"/>
                  <a:gd name="T6" fmla="*/ 436 w 468"/>
                  <a:gd name="T7" fmla="*/ 508 h 904"/>
                  <a:gd name="T8" fmla="*/ 57 w 468"/>
                  <a:gd name="T9" fmla="*/ 874 h 904"/>
                  <a:gd name="T10" fmla="*/ 0 w 468"/>
                  <a:gd name="T11" fmla="*/ 849 h 904"/>
                  <a:gd name="T12" fmla="*/ 0 w 468"/>
                  <a:gd name="T13" fmla="*/ 55 h 904"/>
                </a:gdLst>
                <a:ahLst/>
                <a:cxnLst>
                  <a:cxn ang="0">
                    <a:pos x="T0" y="T1"/>
                  </a:cxn>
                  <a:cxn ang="0">
                    <a:pos x="T2" y="T3"/>
                  </a:cxn>
                  <a:cxn ang="0">
                    <a:pos x="T4" y="T5"/>
                  </a:cxn>
                  <a:cxn ang="0">
                    <a:pos x="T6" y="T7"/>
                  </a:cxn>
                  <a:cxn ang="0">
                    <a:pos x="T8" y="T9"/>
                  </a:cxn>
                  <a:cxn ang="0">
                    <a:pos x="T10" y="T11"/>
                  </a:cxn>
                  <a:cxn ang="0">
                    <a:pos x="T12" y="T13"/>
                  </a:cxn>
                </a:cxnLst>
                <a:rect l="0" t="0" r="r" b="b"/>
                <a:pathLst>
                  <a:path w="468" h="904">
                    <a:moveTo>
                      <a:pt x="0" y="55"/>
                    </a:moveTo>
                    <a:cubicBezTo>
                      <a:pt x="0" y="11"/>
                      <a:pt x="26" y="0"/>
                      <a:pt x="57" y="30"/>
                    </a:cubicBezTo>
                    <a:cubicBezTo>
                      <a:pt x="436" y="397"/>
                      <a:pt x="436" y="397"/>
                      <a:pt x="436" y="397"/>
                    </a:cubicBezTo>
                    <a:cubicBezTo>
                      <a:pt x="468" y="427"/>
                      <a:pt x="468" y="477"/>
                      <a:pt x="436" y="508"/>
                    </a:cubicBezTo>
                    <a:cubicBezTo>
                      <a:pt x="57" y="874"/>
                      <a:pt x="57" y="874"/>
                      <a:pt x="57" y="874"/>
                    </a:cubicBezTo>
                    <a:cubicBezTo>
                      <a:pt x="26" y="904"/>
                      <a:pt x="0" y="893"/>
                      <a:pt x="0" y="849"/>
                    </a:cubicBezTo>
                    <a:lnTo>
                      <a:pt x="0" y="55"/>
                    </a:lnTo>
                    <a:close/>
                  </a:path>
                </a:pathLst>
              </a:custGeom>
              <a:solidFill>
                <a:schemeClr val="accent3"/>
              </a:solidFill>
              <a:ln>
                <a:noFill/>
              </a:ln>
            </p:spPr>
            <p:txBody>
              <a:bodyPr vert="horz" wrap="square" lIns="55827" tIns="27914" rIns="55827" bIns="27914" numCol="1" anchor="t" anchorCtr="0" compatLnSpc="1"/>
              <a:lstStyle/>
              <a:p>
                <a:pPr algn="just">
                  <a:lnSpc>
                    <a:spcPct val="120000"/>
                  </a:lnSpc>
                </a:pPr>
                <a:endParaRPr lang="en-US" sz="1600" dirty="0">
                  <a:solidFill>
                    <a:schemeClr val="bg1"/>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26" name="Freeform 25"/>
              <p:cNvSpPr/>
              <p:nvPr/>
            </p:nvSpPr>
            <p:spPr bwMode="auto">
              <a:xfrm>
                <a:off x="4657725" y="2517776"/>
                <a:ext cx="1825625" cy="2151063"/>
              </a:xfrm>
              <a:custGeom>
                <a:avLst/>
                <a:gdLst>
                  <a:gd name="T0" fmla="*/ 1209 w 1440"/>
                  <a:gd name="T1" fmla="*/ 978 h 1696"/>
                  <a:gd name="T2" fmla="*/ 848 w 1440"/>
                  <a:gd name="T3" fmla="*/ 1232 h 1696"/>
                  <a:gd name="T4" fmla="*/ 464 w 1440"/>
                  <a:gd name="T5" fmla="*/ 848 h 1696"/>
                  <a:gd name="T6" fmla="*/ 848 w 1440"/>
                  <a:gd name="T7" fmla="*/ 464 h 1696"/>
                  <a:gd name="T8" fmla="*/ 969 w 1440"/>
                  <a:gd name="T9" fmla="*/ 483 h 1696"/>
                  <a:gd name="T10" fmla="*/ 969 w 1440"/>
                  <a:gd name="T11" fmla="*/ 9 h 1696"/>
                  <a:gd name="T12" fmla="*/ 848 w 1440"/>
                  <a:gd name="T13" fmla="*/ 0 h 1696"/>
                  <a:gd name="T14" fmla="*/ 0 w 1440"/>
                  <a:gd name="T15" fmla="*/ 848 h 1696"/>
                  <a:gd name="T16" fmla="*/ 848 w 1440"/>
                  <a:gd name="T17" fmla="*/ 1696 h 1696"/>
                  <a:gd name="T18" fmla="*/ 1440 w 1440"/>
                  <a:gd name="T19" fmla="*/ 1455 h 1696"/>
                  <a:gd name="T20" fmla="*/ 1209 w 1440"/>
                  <a:gd name="T21" fmla="*/ 978 h 1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0" h="1696">
                    <a:moveTo>
                      <a:pt x="1209" y="978"/>
                    </a:moveTo>
                    <a:cubicBezTo>
                      <a:pt x="1156" y="1126"/>
                      <a:pt x="1014" y="1232"/>
                      <a:pt x="848" y="1232"/>
                    </a:cubicBezTo>
                    <a:cubicBezTo>
                      <a:pt x="636" y="1232"/>
                      <a:pt x="464" y="1060"/>
                      <a:pt x="464" y="848"/>
                    </a:cubicBezTo>
                    <a:cubicBezTo>
                      <a:pt x="464" y="636"/>
                      <a:pt x="636" y="464"/>
                      <a:pt x="848" y="464"/>
                    </a:cubicBezTo>
                    <a:cubicBezTo>
                      <a:pt x="890" y="464"/>
                      <a:pt x="931" y="471"/>
                      <a:pt x="969" y="483"/>
                    </a:cubicBezTo>
                    <a:cubicBezTo>
                      <a:pt x="969" y="9"/>
                      <a:pt x="969" y="9"/>
                      <a:pt x="969" y="9"/>
                    </a:cubicBezTo>
                    <a:cubicBezTo>
                      <a:pt x="929" y="3"/>
                      <a:pt x="889" y="0"/>
                      <a:pt x="848" y="0"/>
                    </a:cubicBezTo>
                    <a:cubicBezTo>
                      <a:pt x="380" y="0"/>
                      <a:pt x="0" y="380"/>
                      <a:pt x="0" y="848"/>
                    </a:cubicBezTo>
                    <a:cubicBezTo>
                      <a:pt x="0" y="1316"/>
                      <a:pt x="380" y="1696"/>
                      <a:pt x="848" y="1696"/>
                    </a:cubicBezTo>
                    <a:cubicBezTo>
                      <a:pt x="1078" y="1696"/>
                      <a:pt x="1287" y="1604"/>
                      <a:pt x="1440" y="1455"/>
                    </a:cubicBezTo>
                    <a:cubicBezTo>
                      <a:pt x="1315" y="1322"/>
                      <a:pt x="1235" y="1156"/>
                      <a:pt x="1209" y="978"/>
                    </a:cubicBezTo>
                    <a:close/>
                  </a:path>
                </a:pathLst>
              </a:custGeom>
              <a:solidFill>
                <a:schemeClr val="accent3"/>
              </a:solidFill>
              <a:ln>
                <a:noFill/>
              </a:ln>
            </p:spPr>
            <p:txBody>
              <a:bodyPr vert="horz" wrap="square" lIns="55827" tIns="27914" rIns="55827" bIns="27914" numCol="1" anchor="t" anchorCtr="0" compatLnSpc="1"/>
              <a:lstStyle/>
              <a:p>
                <a:pPr algn="just">
                  <a:lnSpc>
                    <a:spcPct val="120000"/>
                  </a:lnSpc>
                </a:pPr>
                <a:endParaRPr lang="en-US" sz="1600" dirty="0">
                  <a:solidFill>
                    <a:schemeClr val="bg1"/>
                  </a:solidFill>
                  <a:latin typeface="Arial" panose="020B0604020202020204" pitchFamily="34" charset="0"/>
                  <a:ea typeface="微软雅黑" panose="020B0503020204020204" charset="-122"/>
                  <a:cs typeface="+mn-ea"/>
                  <a:sym typeface="Arial" panose="020B0604020202020204" pitchFamily="34" charset="0"/>
                </a:endParaRPr>
              </a:p>
            </p:txBody>
          </p:sp>
        </p:grpSp>
        <p:grpSp>
          <p:nvGrpSpPr>
            <p:cNvPr id="15" name="Group 14"/>
            <p:cNvGrpSpPr/>
            <p:nvPr userDrawn="1"/>
          </p:nvGrpSpPr>
          <p:grpSpPr>
            <a:xfrm>
              <a:off x="7967980" y="3892551"/>
              <a:ext cx="3236384" cy="2434167"/>
              <a:chOff x="5953125" y="2843213"/>
              <a:chExt cx="2427288" cy="1825625"/>
            </a:xfrm>
          </p:grpSpPr>
          <p:sp>
            <p:nvSpPr>
              <p:cNvPr id="23" name="Freeform 22"/>
              <p:cNvSpPr/>
              <p:nvPr/>
            </p:nvSpPr>
            <p:spPr bwMode="auto">
              <a:xfrm>
                <a:off x="5953125" y="2989263"/>
                <a:ext cx="1146175" cy="593725"/>
              </a:xfrm>
              <a:custGeom>
                <a:avLst/>
                <a:gdLst>
                  <a:gd name="T0" fmla="*/ 55 w 904"/>
                  <a:gd name="T1" fmla="*/ 468 h 468"/>
                  <a:gd name="T2" fmla="*/ 30 w 904"/>
                  <a:gd name="T3" fmla="*/ 411 h 468"/>
                  <a:gd name="T4" fmla="*/ 396 w 904"/>
                  <a:gd name="T5" fmla="*/ 32 h 468"/>
                  <a:gd name="T6" fmla="*/ 507 w 904"/>
                  <a:gd name="T7" fmla="*/ 32 h 468"/>
                  <a:gd name="T8" fmla="*/ 873 w 904"/>
                  <a:gd name="T9" fmla="*/ 411 h 468"/>
                  <a:gd name="T10" fmla="*/ 849 w 904"/>
                  <a:gd name="T11" fmla="*/ 468 h 468"/>
                  <a:gd name="T12" fmla="*/ 55 w 904"/>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904" h="468">
                    <a:moveTo>
                      <a:pt x="55" y="468"/>
                    </a:moveTo>
                    <a:cubicBezTo>
                      <a:pt x="11" y="468"/>
                      <a:pt x="0" y="442"/>
                      <a:pt x="30" y="411"/>
                    </a:cubicBezTo>
                    <a:cubicBezTo>
                      <a:pt x="396" y="32"/>
                      <a:pt x="396" y="32"/>
                      <a:pt x="396" y="32"/>
                    </a:cubicBezTo>
                    <a:cubicBezTo>
                      <a:pt x="427" y="0"/>
                      <a:pt x="477" y="0"/>
                      <a:pt x="507" y="32"/>
                    </a:cubicBezTo>
                    <a:cubicBezTo>
                      <a:pt x="873" y="411"/>
                      <a:pt x="873" y="411"/>
                      <a:pt x="873" y="411"/>
                    </a:cubicBezTo>
                    <a:cubicBezTo>
                      <a:pt x="904" y="442"/>
                      <a:pt x="893" y="468"/>
                      <a:pt x="849" y="468"/>
                    </a:cubicBezTo>
                    <a:lnTo>
                      <a:pt x="55" y="468"/>
                    </a:lnTo>
                    <a:close/>
                  </a:path>
                </a:pathLst>
              </a:custGeom>
              <a:solidFill>
                <a:schemeClr val="accent4"/>
              </a:solidFill>
              <a:ln>
                <a:noFill/>
              </a:ln>
            </p:spPr>
            <p:txBody>
              <a:bodyPr vert="horz" wrap="square" lIns="55827" tIns="27914" rIns="55827" bIns="27914" numCol="1" anchor="t" anchorCtr="0" compatLnSpc="1"/>
              <a:lstStyle/>
              <a:p>
                <a:pPr algn="just">
                  <a:lnSpc>
                    <a:spcPct val="120000"/>
                  </a:lnSpc>
                </a:pPr>
                <a:endParaRPr lang="en-US" sz="1600" dirty="0">
                  <a:solidFill>
                    <a:schemeClr val="bg1"/>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24" name="Freeform 23"/>
              <p:cNvSpPr/>
              <p:nvPr/>
            </p:nvSpPr>
            <p:spPr bwMode="auto">
              <a:xfrm>
                <a:off x="6230938" y="2843213"/>
                <a:ext cx="2149475" cy="1825625"/>
              </a:xfrm>
              <a:custGeom>
                <a:avLst/>
                <a:gdLst>
                  <a:gd name="T0" fmla="*/ 978 w 1696"/>
                  <a:gd name="T1" fmla="*/ 231 h 1440"/>
                  <a:gd name="T2" fmla="*/ 1232 w 1696"/>
                  <a:gd name="T3" fmla="*/ 592 h 1440"/>
                  <a:gd name="T4" fmla="*/ 848 w 1696"/>
                  <a:gd name="T5" fmla="*/ 976 h 1440"/>
                  <a:gd name="T6" fmla="*/ 464 w 1696"/>
                  <a:gd name="T7" fmla="*/ 592 h 1440"/>
                  <a:gd name="T8" fmla="*/ 487 w 1696"/>
                  <a:gd name="T9" fmla="*/ 462 h 1440"/>
                  <a:gd name="T10" fmla="*/ 10 w 1696"/>
                  <a:gd name="T11" fmla="*/ 462 h 1440"/>
                  <a:gd name="T12" fmla="*/ 0 w 1696"/>
                  <a:gd name="T13" fmla="*/ 592 h 1440"/>
                  <a:gd name="T14" fmla="*/ 848 w 1696"/>
                  <a:gd name="T15" fmla="*/ 1440 h 1440"/>
                  <a:gd name="T16" fmla="*/ 1696 w 1696"/>
                  <a:gd name="T17" fmla="*/ 592 h 1440"/>
                  <a:gd name="T18" fmla="*/ 1455 w 1696"/>
                  <a:gd name="T19" fmla="*/ 0 h 1440"/>
                  <a:gd name="T20" fmla="*/ 978 w 1696"/>
                  <a:gd name="T21" fmla="*/ 231 h 1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96" h="1440">
                    <a:moveTo>
                      <a:pt x="978" y="231"/>
                    </a:moveTo>
                    <a:cubicBezTo>
                      <a:pt x="1126" y="284"/>
                      <a:pt x="1232" y="426"/>
                      <a:pt x="1232" y="592"/>
                    </a:cubicBezTo>
                    <a:cubicBezTo>
                      <a:pt x="1232" y="804"/>
                      <a:pt x="1060" y="976"/>
                      <a:pt x="848" y="976"/>
                    </a:cubicBezTo>
                    <a:cubicBezTo>
                      <a:pt x="636" y="976"/>
                      <a:pt x="464" y="804"/>
                      <a:pt x="464" y="592"/>
                    </a:cubicBezTo>
                    <a:cubicBezTo>
                      <a:pt x="464" y="546"/>
                      <a:pt x="472" y="503"/>
                      <a:pt x="487" y="462"/>
                    </a:cubicBezTo>
                    <a:cubicBezTo>
                      <a:pt x="10" y="462"/>
                      <a:pt x="10" y="462"/>
                      <a:pt x="10" y="462"/>
                    </a:cubicBezTo>
                    <a:cubicBezTo>
                      <a:pt x="3" y="504"/>
                      <a:pt x="0" y="548"/>
                      <a:pt x="0" y="592"/>
                    </a:cubicBezTo>
                    <a:cubicBezTo>
                      <a:pt x="0" y="1060"/>
                      <a:pt x="380" y="1440"/>
                      <a:pt x="848" y="1440"/>
                    </a:cubicBezTo>
                    <a:cubicBezTo>
                      <a:pt x="1316" y="1440"/>
                      <a:pt x="1696" y="1060"/>
                      <a:pt x="1696" y="592"/>
                    </a:cubicBezTo>
                    <a:cubicBezTo>
                      <a:pt x="1696" y="362"/>
                      <a:pt x="1604" y="153"/>
                      <a:pt x="1455" y="0"/>
                    </a:cubicBezTo>
                    <a:cubicBezTo>
                      <a:pt x="1322" y="125"/>
                      <a:pt x="1156" y="205"/>
                      <a:pt x="978" y="231"/>
                    </a:cubicBezTo>
                    <a:close/>
                  </a:path>
                </a:pathLst>
              </a:custGeom>
              <a:solidFill>
                <a:schemeClr val="accent4"/>
              </a:solidFill>
              <a:ln>
                <a:noFill/>
              </a:ln>
            </p:spPr>
            <p:txBody>
              <a:bodyPr vert="horz" wrap="square" lIns="55827" tIns="27914" rIns="55827" bIns="27914" numCol="1" anchor="t" anchorCtr="0" compatLnSpc="1"/>
              <a:lstStyle/>
              <a:p>
                <a:pPr algn="just">
                  <a:lnSpc>
                    <a:spcPct val="120000"/>
                  </a:lnSpc>
                </a:pPr>
                <a:endParaRPr lang="en-US" sz="1600" dirty="0">
                  <a:solidFill>
                    <a:schemeClr val="bg1"/>
                  </a:solidFill>
                  <a:latin typeface="Arial" panose="020B0604020202020204" pitchFamily="34" charset="0"/>
                  <a:ea typeface="微软雅黑" panose="020B0503020204020204" charset="-122"/>
                  <a:cs typeface="+mn-ea"/>
                  <a:sym typeface="Arial" panose="020B0604020202020204" pitchFamily="34" charset="0"/>
                </a:endParaRPr>
              </a:p>
            </p:txBody>
          </p:sp>
        </p:grpSp>
        <p:grpSp>
          <p:nvGrpSpPr>
            <p:cNvPr id="16" name="Group 15"/>
            <p:cNvGrpSpPr/>
            <p:nvPr userDrawn="1"/>
          </p:nvGrpSpPr>
          <p:grpSpPr>
            <a:xfrm>
              <a:off x="8770198" y="1363135"/>
              <a:ext cx="2434167" cy="3276600"/>
              <a:chOff x="6554788" y="946151"/>
              <a:chExt cx="1825625" cy="2457450"/>
            </a:xfrm>
          </p:grpSpPr>
          <p:sp>
            <p:nvSpPr>
              <p:cNvPr id="21" name="Freeform 20"/>
              <p:cNvSpPr/>
              <p:nvPr/>
            </p:nvSpPr>
            <p:spPr bwMode="auto">
              <a:xfrm>
                <a:off x="6691313" y="2257426"/>
                <a:ext cx="593725" cy="1146175"/>
              </a:xfrm>
              <a:custGeom>
                <a:avLst/>
                <a:gdLst>
                  <a:gd name="T0" fmla="*/ 468 w 468"/>
                  <a:gd name="T1" fmla="*/ 849 h 904"/>
                  <a:gd name="T2" fmla="*/ 410 w 468"/>
                  <a:gd name="T3" fmla="*/ 874 h 904"/>
                  <a:gd name="T4" fmla="*/ 32 w 468"/>
                  <a:gd name="T5" fmla="*/ 508 h 904"/>
                  <a:gd name="T6" fmla="*/ 32 w 468"/>
                  <a:gd name="T7" fmla="*/ 397 h 904"/>
                  <a:gd name="T8" fmla="*/ 410 w 468"/>
                  <a:gd name="T9" fmla="*/ 30 h 904"/>
                  <a:gd name="T10" fmla="*/ 468 w 468"/>
                  <a:gd name="T11" fmla="*/ 55 h 904"/>
                  <a:gd name="T12" fmla="*/ 468 w 468"/>
                  <a:gd name="T13" fmla="*/ 849 h 904"/>
                </a:gdLst>
                <a:ahLst/>
                <a:cxnLst>
                  <a:cxn ang="0">
                    <a:pos x="T0" y="T1"/>
                  </a:cxn>
                  <a:cxn ang="0">
                    <a:pos x="T2" y="T3"/>
                  </a:cxn>
                  <a:cxn ang="0">
                    <a:pos x="T4" y="T5"/>
                  </a:cxn>
                  <a:cxn ang="0">
                    <a:pos x="T6" y="T7"/>
                  </a:cxn>
                  <a:cxn ang="0">
                    <a:pos x="T8" y="T9"/>
                  </a:cxn>
                  <a:cxn ang="0">
                    <a:pos x="T10" y="T11"/>
                  </a:cxn>
                  <a:cxn ang="0">
                    <a:pos x="T12" y="T13"/>
                  </a:cxn>
                </a:cxnLst>
                <a:rect l="0" t="0" r="r" b="b"/>
                <a:pathLst>
                  <a:path w="468" h="904">
                    <a:moveTo>
                      <a:pt x="468" y="849"/>
                    </a:moveTo>
                    <a:cubicBezTo>
                      <a:pt x="468" y="893"/>
                      <a:pt x="442" y="904"/>
                      <a:pt x="410" y="874"/>
                    </a:cubicBezTo>
                    <a:cubicBezTo>
                      <a:pt x="32" y="508"/>
                      <a:pt x="32" y="508"/>
                      <a:pt x="32" y="508"/>
                    </a:cubicBezTo>
                    <a:cubicBezTo>
                      <a:pt x="0" y="477"/>
                      <a:pt x="0" y="427"/>
                      <a:pt x="32" y="397"/>
                    </a:cubicBezTo>
                    <a:cubicBezTo>
                      <a:pt x="410" y="30"/>
                      <a:pt x="410" y="30"/>
                      <a:pt x="410" y="30"/>
                    </a:cubicBezTo>
                    <a:cubicBezTo>
                      <a:pt x="442" y="0"/>
                      <a:pt x="468" y="11"/>
                      <a:pt x="468" y="55"/>
                    </a:cubicBezTo>
                    <a:lnTo>
                      <a:pt x="468" y="849"/>
                    </a:lnTo>
                    <a:close/>
                  </a:path>
                </a:pathLst>
              </a:custGeom>
              <a:solidFill>
                <a:schemeClr val="accent2"/>
              </a:solidFill>
              <a:ln>
                <a:noFill/>
              </a:ln>
            </p:spPr>
            <p:txBody>
              <a:bodyPr vert="horz" wrap="square" lIns="55827" tIns="27914" rIns="55827" bIns="27914" numCol="1" anchor="t" anchorCtr="0" compatLnSpc="1"/>
              <a:lstStyle/>
              <a:p>
                <a:pPr algn="just">
                  <a:lnSpc>
                    <a:spcPct val="120000"/>
                  </a:lnSpc>
                </a:pPr>
                <a:endParaRPr lang="en-US" sz="1600" dirty="0">
                  <a:solidFill>
                    <a:schemeClr val="bg1"/>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22" name="Freeform 21"/>
              <p:cNvSpPr/>
              <p:nvPr/>
            </p:nvSpPr>
            <p:spPr bwMode="auto">
              <a:xfrm>
                <a:off x="6554788" y="946151"/>
                <a:ext cx="1825625" cy="2151063"/>
              </a:xfrm>
              <a:custGeom>
                <a:avLst/>
                <a:gdLst>
                  <a:gd name="T0" fmla="*/ 592 w 1440"/>
                  <a:gd name="T1" fmla="*/ 0 h 1696"/>
                  <a:gd name="T2" fmla="*/ 0 w 1440"/>
                  <a:gd name="T3" fmla="*/ 241 h 1696"/>
                  <a:gd name="T4" fmla="*/ 231 w 1440"/>
                  <a:gd name="T5" fmla="*/ 718 h 1696"/>
                  <a:gd name="T6" fmla="*/ 592 w 1440"/>
                  <a:gd name="T7" fmla="*/ 464 h 1696"/>
                  <a:gd name="T8" fmla="*/ 976 w 1440"/>
                  <a:gd name="T9" fmla="*/ 848 h 1696"/>
                  <a:gd name="T10" fmla="*/ 592 w 1440"/>
                  <a:gd name="T11" fmla="*/ 1232 h 1696"/>
                  <a:gd name="T12" fmla="*/ 452 w 1440"/>
                  <a:gd name="T13" fmla="*/ 1206 h 1696"/>
                  <a:gd name="T14" fmla="*/ 452 w 1440"/>
                  <a:gd name="T15" fmla="*/ 1300 h 1696"/>
                  <a:gd name="T16" fmla="*/ 389 w 1440"/>
                  <a:gd name="T17" fmla="*/ 1300 h 1696"/>
                  <a:gd name="T18" fmla="*/ 389 w 1440"/>
                  <a:gd name="T19" fmla="*/ 1671 h 1696"/>
                  <a:gd name="T20" fmla="*/ 592 w 1440"/>
                  <a:gd name="T21" fmla="*/ 1696 h 1696"/>
                  <a:gd name="T22" fmla="*/ 1440 w 1440"/>
                  <a:gd name="T23" fmla="*/ 848 h 1696"/>
                  <a:gd name="T24" fmla="*/ 592 w 1440"/>
                  <a:gd name="T25" fmla="*/ 0 h 1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40" h="1696">
                    <a:moveTo>
                      <a:pt x="592" y="0"/>
                    </a:moveTo>
                    <a:cubicBezTo>
                      <a:pt x="362" y="0"/>
                      <a:pt x="153" y="92"/>
                      <a:pt x="0" y="241"/>
                    </a:cubicBezTo>
                    <a:cubicBezTo>
                      <a:pt x="125" y="374"/>
                      <a:pt x="205" y="540"/>
                      <a:pt x="231" y="718"/>
                    </a:cubicBezTo>
                    <a:cubicBezTo>
                      <a:pt x="284" y="570"/>
                      <a:pt x="426" y="464"/>
                      <a:pt x="592" y="464"/>
                    </a:cubicBezTo>
                    <a:cubicBezTo>
                      <a:pt x="804" y="464"/>
                      <a:pt x="976" y="636"/>
                      <a:pt x="976" y="848"/>
                    </a:cubicBezTo>
                    <a:cubicBezTo>
                      <a:pt x="976" y="1060"/>
                      <a:pt x="804" y="1232"/>
                      <a:pt x="592" y="1232"/>
                    </a:cubicBezTo>
                    <a:cubicBezTo>
                      <a:pt x="543" y="1232"/>
                      <a:pt x="495" y="1223"/>
                      <a:pt x="452" y="1206"/>
                    </a:cubicBezTo>
                    <a:cubicBezTo>
                      <a:pt x="452" y="1300"/>
                      <a:pt x="452" y="1300"/>
                      <a:pt x="452" y="1300"/>
                    </a:cubicBezTo>
                    <a:cubicBezTo>
                      <a:pt x="389" y="1300"/>
                      <a:pt x="389" y="1300"/>
                      <a:pt x="389" y="1300"/>
                    </a:cubicBezTo>
                    <a:cubicBezTo>
                      <a:pt x="389" y="1671"/>
                      <a:pt x="389" y="1671"/>
                      <a:pt x="389" y="1671"/>
                    </a:cubicBezTo>
                    <a:cubicBezTo>
                      <a:pt x="454" y="1687"/>
                      <a:pt x="522" y="1696"/>
                      <a:pt x="592" y="1696"/>
                    </a:cubicBezTo>
                    <a:cubicBezTo>
                      <a:pt x="1060" y="1696"/>
                      <a:pt x="1440" y="1316"/>
                      <a:pt x="1440" y="848"/>
                    </a:cubicBezTo>
                    <a:cubicBezTo>
                      <a:pt x="1440" y="380"/>
                      <a:pt x="1060" y="0"/>
                      <a:pt x="592" y="0"/>
                    </a:cubicBezTo>
                    <a:close/>
                  </a:path>
                </a:pathLst>
              </a:custGeom>
              <a:solidFill>
                <a:schemeClr val="accent2"/>
              </a:solidFill>
              <a:ln>
                <a:noFill/>
              </a:ln>
            </p:spPr>
            <p:txBody>
              <a:bodyPr vert="horz" wrap="square" lIns="55827" tIns="27914" rIns="55827" bIns="27914" numCol="1" anchor="t" anchorCtr="0" compatLnSpc="1"/>
              <a:lstStyle/>
              <a:p>
                <a:pPr algn="just">
                  <a:lnSpc>
                    <a:spcPct val="120000"/>
                  </a:lnSpc>
                </a:pPr>
                <a:endParaRPr lang="en-US" sz="1600" dirty="0">
                  <a:solidFill>
                    <a:schemeClr val="bg1"/>
                  </a:solidFill>
                  <a:latin typeface="Arial" panose="020B0604020202020204" pitchFamily="34" charset="0"/>
                  <a:ea typeface="微软雅黑" panose="020B0503020204020204" charset="-122"/>
                  <a:cs typeface="+mn-ea"/>
                  <a:sym typeface="Arial" panose="020B0604020202020204" pitchFamily="34" charset="0"/>
                </a:endParaRPr>
              </a:p>
            </p:txBody>
          </p:sp>
        </p:grpSp>
        <p:sp>
          <p:nvSpPr>
            <p:cNvPr id="17" name="TextBox 16"/>
            <p:cNvSpPr txBox="1"/>
            <p:nvPr userDrawn="1"/>
          </p:nvSpPr>
          <p:spPr>
            <a:xfrm rot="18920653">
              <a:off x="6614389" y="1959675"/>
              <a:ext cx="1084827" cy="451405"/>
            </a:xfrm>
            <a:prstGeom prst="rect">
              <a:avLst/>
            </a:prstGeom>
            <a:noFill/>
          </p:spPr>
          <p:txBody>
            <a:bodyPr wrap="none" rtlCol="0" anchor="ctr">
              <a:prstTxWarp prst="textArchUp">
                <a:avLst/>
              </a:prstTxWarp>
              <a:spAutoFit/>
            </a:bodyPr>
            <a:lstStyle/>
            <a:p>
              <a:pPr algn="just">
                <a:lnSpc>
                  <a:spcPct val="120000"/>
                </a:lnSpc>
              </a:pPr>
              <a:endParaRPr lang="zh-CN" altLang="id-ID" sz="1600" b="1" dirty="0">
                <a:solidFill>
                  <a:schemeClr val="bg1"/>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18" name="TextBox 17"/>
            <p:cNvSpPr txBox="1"/>
            <p:nvPr userDrawn="1"/>
          </p:nvSpPr>
          <p:spPr>
            <a:xfrm rot="2904439">
              <a:off x="9713530" y="2071950"/>
              <a:ext cx="1348425" cy="451405"/>
            </a:xfrm>
            <a:prstGeom prst="rect">
              <a:avLst/>
            </a:prstGeom>
            <a:noFill/>
          </p:spPr>
          <p:txBody>
            <a:bodyPr wrap="none" rtlCol="0" anchor="ctr">
              <a:prstTxWarp prst="textArchUp">
                <a:avLst/>
              </a:prstTxWarp>
              <a:spAutoFit/>
            </a:bodyPr>
            <a:lstStyle/>
            <a:p>
              <a:pPr algn="just">
                <a:lnSpc>
                  <a:spcPct val="120000"/>
                </a:lnSpc>
              </a:pPr>
              <a:endParaRPr lang="zh-CN" altLang="id-ID" sz="1600" b="1" dirty="0">
                <a:solidFill>
                  <a:schemeClr val="bg1"/>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19" name="TextBox 18"/>
            <p:cNvSpPr txBox="1"/>
            <p:nvPr userDrawn="1"/>
          </p:nvSpPr>
          <p:spPr>
            <a:xfrm rot="3328205">
              <a:off x="6381839" y="5171931"/>
              <a:ext cx="1276620" cy="451405"/>
            </a:xfrm>
            <a:prstGeom prst="rect">
              <a:avLst/>
            </a:prstGeom>
            <a:noFill/>
          </p:spPr>
          <p:txBody>
            <a:bodyPr wrap="none" rtlCol="0" anchor="ctr">
              <a:prstTxWarp prst="textArchDown">
                <a:avLst/>
              </a:prstTxWarp>
              <a:spAutoFit/>
            </a:bodyPr>
            <a:lstStyle/>
            <a:p>
              <a:pPr algn="just">
                <a:lnSpc>
                  <a:spcPct val="120000"/>
                </a:lnSpc>
              </a:pPr>
              <a:endParaRPr lang="zh-CN" altLang="en-US" sz="1600" b="1" dirty="0">
                <a:solidFill>
                  <a:schemeClr val="bg1"/>
                </a:solidFill>
                <a:latin typeface="Arial" panose="020B0604020202020204" pitchFamily="34" charset="0"/>
                <a:ea typeface="微软雅黑" panose="020B0503020204020204" charset="-122"/>
                <a:cs typeface="+mn-ea"/>
                <a:sym typeface="Arial" panose="020B0604020202020204" pitchFamily="34" charset="0"/>
              </a:endParaRPr>
            </a:p>
          </p:txBody>
        </p:sp>
      </p:grpSp>
      <p:sp>
        <p:nvSpPr>
          <p:cNvPr id="30" name="Rectangle 28"/>
          <p:cNvSpPr/>
          <p:nvPr/>
        </p:nvSpPr>
        <p:spPr>
          <a:xfrm>
            <a:off x="1501140" y="1494790"/>
            <a:ext cx="5244465" cy="3413760"/>
          </a:xfrm>
          <a:prstGeom prst="rect">
            <a:avLst/>
          </a:prstGeom>
        </p:spPr>
        <p:txBody>
          <a:bodyPr wrap="square" lIns="91391" tIns="45696" rIns="91391" bIns="45696">
            <a:spAutoFit/>
          </a:bodyPr>
          <a:lstStyle/>
          <a:p>
            <a:pPr>
              <a:lnSpc>
                <a:spcPct val="150000"/>
              </a:lnSpc>
            </a:pPr>
            <a:r>
              <a:rPr sz="1600" dirty="0">
                <a:solidFill>
                  <a:schemeClr val="tx1">
                    <a:lumMod val="50000"/>
                    <a:lumOff val="50000"/>
                  </a:schemeClr>
                </a:solidFill>
                <a:latin typeface="微软雅黑" panose="020B0503020204020204" charset="-122"/>
                <a:ea typeface="微软雅黑" panose="020B0503020204020204" charset="-122"/>
                <a:cs typeface="Segoe UI Semilight" panose="020B0402040204020203" pitchFamily="34" charset="0"/>
                <a:sym typeface="Arial" panose="020B0604020202020204" pitchFamily="34" charset="0"/>
              </a:rPr>
              <a:t>“全面测试”也包含两层含义：第一，对软件的所有产品进行全面的测试，包括需求、设计文档、代码、用户文档以及测试进度和测试策略的调整、需求变更等；第二，软件开发及测试人员（有时包括用户）全面地参与到测试工作中，并且对测试过程进行全面跟踪，例如对需求的验证和确认活动并不仅仅是保证软件运行正确，同时还要保证软件满足用户的需求。建立完善的度量和分析机制，通过对测试过程的度量，及时了解测试过程信息，以便调整测试策略等。</a:t>
            </a:r>
            <a:endParaRPr sz="1600" dirty="0">
              <a:solidFill>
                <a:schemeClr val="tx1">
                  <a:lumMod val="50000"/>
                  <a:lumOff val="50000"/>
                </a:schemeClr>
              </a:solidFill>
              <a:latin typeface="微软雅黑" panose="020B0503020204020204" charset="-122"/>
              <a:ea typeface="微软雅黑" panose="020B0503020204020204" charset="-122"/>
              <a:cs typeface="Segoe UI Semilight" panose="020B0402040204020203" pitchFamily="34" charset="0"/>
              <a:sym typeface="Arial" panose="020B0604020202020204" pitchFamily="34" charset="0"/>
            </a:endParaRPr>
          </a:p>
        </p:txBody>
      </p:sp>
      <p:sp>
        <p:nvSpPr>
          <p:cNvPr id="2" name="文本框 1"/>
          <p:cNvSpPr txBox="1"/>
          <p:nvPr/>
        </p:nvSpPr>
        <p:spPr>
          <a:xfrm>
            <a:off x="1501140" y="1029970"/>
            <a:ext cx="5080000" cy="368300"/>
          </a:xfrm>
          <a:prstGeom prst="rect">
            <a:avLst/>
          </a:prstGeom>
          <a:noFill/>
          <a:ln w="9525">
            <a:noFill/>
          </a:ln>
        </p:spPr>
        <p:txBody>
          <a:bodyPr>
            <a:spAutoFit/>
          </a:bodyPr>
          <a:p>
            <a:pPr indent="304800"/>
            <a:r>
              <a:rPr lang="en-US" altLang="zh-CN" b="0">
                <a:ea typeface="宋体" panose="02010600030101010101" pitchFamily="2" charset="-122"/>
              </a:rPr>
              <a:t>2</a:t>
            </a:r>
            <a:r>
              <a:rPr lang="zh-CN" b="0">
                <a:ea typeface="宋体" panose="02010600030101010101" pitchFamily="2" charset="-122"/>
              </a:rPr>
              <a:t>. 全面测试</a:t>
            </a:r>
            <a:endParaRPr lang="zh-CN" altLang="en-US"/>
          </a:p>
        </p:txBody>
      </p:sp>
    </p:spTree>
  </p:cSld>
  <p:clrMapOvr>
    <a:masterClrMapping/>
  </p:clrMapOvr>
  <p:transition advTm="7675">
    <p:plu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strips(downLeft)">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arn(inVertical)">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0" grpId="0"/>
      <p:bldP spid="30"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p:cNvSpPr/>
          <p:nvPr/>
        </p:nvSpPr>
        <p:spPr>
          <a:xfrm>
            <a:off x="-5715" y="127635"/>
            <a:ext cx="367030" cy="388620"/>
          </a:xfrm>
          <a:prstGeom prst="rect">
            <a:avLst/>
          </a:prstGeom>
          <a:gradFill>
            <a:gsLst>
              <a:gs pos="0">
                <a:srgbClr val="012D86"/>
              </a:gs>
              <a:gs pos="100000">
                <a:srgbClr val="0E2557"/>
              </a:gs>
            </a:gsLst>
            <a:lin ang="5400000" scaled="0"/>
          </a:gra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79" name="矩形 78"/>
          <p:cNvSpPr/>
          <p:nvPr/>
        </p:nvSpPr>
        <p:spPr>
          <a:xfrm>
            <a:off x="403860" y="127635"/>
            <a:ext cx="76200" cy="387985"/>
          </a:xfrm>
          <a:prstGeom prst="rect">
            <a:avLst/>
          </a:prstGeom>
          <a:solidFill>
            <a:srgbClr val="0070C0"/>
          </a:solidFill>
          <a:ln w="9525" cap="flat" cmpd="sng" algn="ctr">
            <a:noFill/>
            <a:prstDash val="solid"/>
          </a:ln>
          <a:effectLst/>
        </p:spPr>
        <p:txBody>
          <a:bodyPr rtlCol="0" anchor="ctr"/>
          <a:lstStyle/>
          <a:p>
            <a:pPr marL="0" marR="0" lvl="0" indent="0" algn="ctr" defTabSz="1285240" eaLnBrk="1" fontAlgn="auto" latinLnBrk="0" hangingPunct="1">
              <a:lnSpc>
                <a:spcPct val="100000"/>
              </a:lnSpc>
              <a:spcBef>
                <a:spcPts val="0"/>
              </a:spcBef>
              <a:spcAft>
                <a:spcPts val="0"/>
              </a:spcAft>
              <a:buClrTx/>
              <a:buSzTx/>
              <a:buFontTx/>
              <a:buNone/>
              <a:defRPr/>
            </a:pPr>
            <a:endParaRPr kumimoji="1" lang="zh-CN" altLang="en-US" sz="1600" b="0" i="0" u="none" strike="noStrike" kern="0" cap="none" spc="0" normalizeH="0" baseline="0" noProof="0">
              <a:ln>
                <a:noFill/>
              </a:ln>
              <a:solidFill>
                <a:srgbClr val="397E9E"/>
              </a:solidFill>
              <a:effectLst/>
              <a:uLnTx/>
              <a:uFillTx/>
              <a:latin typeface="Century Gothic" panose="020B0502020202020204"/>
              <a:ea typeface="微软雅黑" panose="020B0503020204020204" charset="-122"/>
            </a:endParaRPr>
          </a:p>
        </p:txBody>
      </p:sp>
      <p:sp>
        <p:nvSpPr>
          <p:cNvPr id="80" name="文本占位符 3"/>
          <p:cNvSpPr txBox="1"/>
          <p:nvPr/>
        </p:nvSpPr>
        <p:spPr>
          <a:xfrm>
            <a:off x="541655" y="43180"/>
            <a:ext cx="2843530" cy="558165"/>
          </a:xfrm>
          <a:prstGeom prst="rect">
            <a:avLst/>
          </a:prstGeom>
        </p:spPr>
        <p:txBody>
          <a:bodyPr anchor="ctr"/>
          <a:lstStyle>
            <a:lvl1pPr marL="0" indent="0" algn="l" defTabSz="963930" rtl="0" eaLnBrk="1" latinLnBrk="0" hangingPunct="1">
              <a:lnSpc>
                <a:spcPct val="90000"/>
              </a:lnSpc>
              <a:spcBef>
                <a:spcPts val="1055"/>
              </a:spcBef>
              <a:buFont typeface="Arial" panose="020B0604020202020204" pitchFamily="34" charset="0"/>
              <a:buNone/>
              <a:defRPr sz="2955" b="1" kern="1200">
                <a:solidFill>
                  <a:schemeClr val="tx1"/>
                </a:solidFill>
                <a:latin typeface="+mn-lt"/>
                <a:ea typeface="+mn-ea"/>
                <a:cs typeface="+mn-cs"/>
              </a:defRPr>
            </a:lvl1pPr>
            <a:lvl2pPr marL="723265" indent="-241300" algn="l" defTabSz="963930" rtl="0" eaLnBrk="1" latinLnBrk="0" hangingPunct="1">
              <a:lnSpc>
                <a:spcPct val="90000"/>
              </a:lnSpc>
              <a:spcBef>
                <a:spcPts val="525"/>
              </a:spcBef>
              <a:buFont typeface="Arial" panose="020B0604020202020204" pitchFamily="34" charset="0"/>
              <a:buChar char="•"/>
              <a:defRPr sz="2530" kern="1200">
                <a:solidFill>
                  <a:schemeClr val="tx1"/>
                </a:solidFill>
                <a:latin typeface="+mn-lt"/>
                <a:ea typeface="+mn-ea"/>
                <a:cs typeface="+mn-cs"/>
              </a:defRPr>
            </a:lvl2pPr>
            <a:lvl3pPr marL="1205230" indent="-241300" algn="l" defTabSz="963930" rtl="0" eaLnBrk="1" latinLnBrk="0" hangingPunct="1">
              <a:lnSpc>
                <a:spcPct val="90000"/>
              </a:lnSpc>
              <a:spcBef>
                <a:spcPts val="525"/>
              </a:spcBef>
              <a:buFont typeface="Arial" panose="020B0604020202020204" pitchFamily="34" charset="0"/>
              <a:buChar char="•"/>
              <a:defRPr sz="2110" kern="1200">
                <a:solidFill>
                  <a:schemeClr val="tx1"/>
                </a:solidFill>
                <a:latin typeface="+mn-lt"/>
                <a:ea typeface="+mn-ea"/>
                <a:cs typeface="+mn-cs"/>
              </a:defRPr>
            </a:lvl3pPr>
            <a:lvl4pPr marL="168783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4pPr>
            <a:lvl5pPr marL="216979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5pPr>
            <a:lvl6pPr marL="26517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6pPr>
            <a:lvl7pPr marL="313436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7pPr>
            <a:lvl8pPr marL="3616325"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8pPr>
            <a:lvl9pPr marL="4098290" indent="-241300" algn="l" defTabSz="963930" rtl="0" eaLnBrk="1" latinLnBrk="0" hangingPunct="1">
              <a:lnSpc>
                <a:spcPct val="90000"/>
              </a:lnSpc>
              <a:spcBef>
                <a:spcPts val="525"/>
              </a:spcBef>
              <a:buFont typeface="Arial" panose="020B0604020202020204" pitchFamily="34" charset="0"/>
              <a:buChar char="•"/>
              <a:defRPr sz="1900" kern="1200">
                <a:solidFill>
                  <a:schemeClr val="tx1"/>
                </a:solidFill>
                <a:latin typeface="+mn-lt"/>
                <a:ea typeface="+mn-ea"/>
                <a:cs typeface="+mn-cs"/>
              </a:defRPr>
            </a:lvl9pPr>
          </a:lstStyle>
          <a:p>
            <a:pPr algn="l">
              <a:lnSpc>
                <a:spcPct val="100000"/>
              </a:lnSpc>
            </a:pPr>
            <a:r>
              <a:rPr kumimoji="1" lang="zh-CN" altLang="en-US" sz="2000" b="0" dirty="0">
                <a:solidFill>
                  <a:schemeClr val="tx1">
                    <a:lumMod val="65000"/>
                    <a:lumOff val="35000"/>
                  </a:schemeClr>
                </a:solidFill>
                <a:latin typeface="微软雅黑" panose="020B0503020204020204" charset="-122"/>
                <a:ea typeface="微软雅黑" panose="020B0503020204020204" charset="-122"/>
                <a:sym typeface="+mn-ea"/>
              </a:rPr>
              <a:t>测试过程管理</a:t>
            </a:r>
            <a:endParaRPr kumimoji="1" lang="zh-CN" altLang="en-US" sz="2000" b="0" dirty="0">
              <a:solidFill>
                <a:schemeClr val="tx1">
                  <a:lumMod val="65000"/>
                  <a:lumOff val="35000"/>
                </a:schemeClr>
              </a:solidFill>
              <a:latin typeface="微软雅黑" panose="020B0503020204020204" charset="-122"/>
              <a:ea typeface="微软雅黑" panose="020B0503020204020204" charset="-122"/>
            </a:endParaRPr>
          </a:p>
        </p:txBody>
      </p:sp>
      <p:sp>
        <p:nvSpPr>
          <p:cNvPr id="34" name="Freeform 16"/>
          <p:cNvSpPr/>
          <p:nvPr/>
        </p:nvSpPr>
        <p:spPr bwMode="auto">
          <a:xfrm rot="11258092">
            <a:off x="9798495" y="2342228"/>
            <a:ext cx="1971287" cy="1748896"/>
          </a:xfrm>
          <a:custGeom>
            <a:avLst/>
            <a:gdLst>
              <a:gd name="T0" fmla="*/ 0 w 859"/>
              <a:gd name="T1" fmla="*/ 486 h 762"/>
              <a:gd name="T2" fmla="*/ 129 w 859"/>
              <a:gd name="T3" fmla="*/ 600 h 762"/>
              <a:gd name="T4" fmla="*/ 703 w 859"/>
              <a:gd name="T5" fmla="*/ 624 h 762"/>
              <a:gd name="T6" fmla="*/ 676 w 859"/>
              <a:gd name="T7" fmla="*/ 115 h 762"/>
              <a:gd name="T8" fmla="*/ 547 w 859"/>
              <a:gd name="T9" fmla="*/ 0 h 762"/>
              <a:gd name="T10" fmla="*/ 0 w 859"/>
              <a:gd name="T11" fmla="*/ 486 h 762"/>
            </a:gdLst>
            <a:ahLst/>
            <a:cxnLst>
              <a:cxn ang="0">
                <a:pos x="T0" y="T1"/>
              </a:cxn>
              <a:cxn ang="0">
                <a:pos x="T2" y="T3"/>
              </a:cxn>
              <a:cxn ang="0">
                <a:pos x="T4" y="T5"/>
              </a:cxn>
              <a:cxn ang="0">
                <a:pos x="T6" y="T7"/>
              </a:cxn>
              <a:cxn ang="0">
                <a:pos x="T8" y="T9"/>
              </a:cxn>
              <a:cxn ang="0">
                <a:pos x="T10" y="T11"/>
              </a:cxn>
            </a:cxnLst>
            <a:rect l="0" t="0" r="r" b="b"/>
            <a:pathLst>
              <a:path w="859" h="762">
                <a:moveTo>
                  <a:pt x="0" y="486"/>
                </a:moveTo>
                <a:cubicBezTo>
                  <a:pt x="2" y="487"/>
                  <a:pt x="127" y="599"/>
                  <a:pt x="129" y="600"/>
                </a:cubicBezTo>
                <a:cubicBezTo>
                  <a:pt x="300" y="752"/>
                  <a:pt x="547" y="762"/>
                  <a:pt x="703" y="624"/>
                </a:cubicBezTo>
                <a:cubicBezTo>
                  <a:pt x="859" y="486"/>
                  <a:pt x="848" y="267"/>
                  <a:pt x="676" y="115"/>
                </a:cubicBezTo>
                <a:cubicBezTo>
                  <a:pt x="675" y="113"/>
                  <a:pt x="549" y="2"/>
                  <a:pt x="547" y="0"/>
                </a:cubicBezTo>
                <a:lnTo>
                  <a:pt x="0" y="486"/>
                </a:lnTo>
                <a:close/>
              </a:path>
            </a:pathLst>
          </a:custGeom>
          <a:solidFill>
            <a:schemeClr val="accent3"/>
          </a:solidFill>
          <a:ln>
            <a:noFill/>
          </a:ln>
          <a:effectLst>
            <a:outerShdw blurRad="254000" dist="190500" dir="720000" algn="ctr" rotWithShape="0">
              <a:srgbClr val="000000">
                <a:alpha val="43000"/>
              </a:srgbClr>
            </a:outerShdw>
          </a:effectLst>
        </p:spPr>
        <p:txBody>
          <a:bodyPr vert="horz" wrap="square" lIns="121899" tIns="60950" rIns="121899" bIns="60950" numCol="1" anchor="t" anchorCtr="0" compatLnSpc="1"/>
          <a:lstStyle/>
          <a:p>
            <a:endParaRPr lang="en-US" altLang="zh-CN" sz="2400">
              <a:solidFill>
                <a:prstClr val="black"/>
              </a:solidFill>
            </a:endParaRPr>
          </a:p>
        </p:txBody>
      </p:sp>
      <p:sp>
        <p:nvSpPr>
          <p:cNvPr id="35" name="Freeform 16"/>
          <p:cNvSpPr/>
          <p:nvPr/>
        </p:nvSpPr>
        <p:spPr bwMode="auto">
          <a:xfrm rot="11258092">
            <a:off x="6193400" y="4833150"/>
            <a:ext cx="1971287" cy="1748896"/>
          </a:xfrm>
          <a:custGeom>
            <a:avLst/>
            <a:gdLst>
              <a:gd name="T0" fmla="*/ 0 w 859"/>
              <a:gd name="T1" fmla="*/ 486 h 762"/>
              <a:gd name="T2" fmla="*/ 129 w 859"/>
              <a:gd name="T3" fmla="*/ 600 h 762"/>
              <a:gd name="T4" fmla="*/ 703 w 859"/>
              <a:gd name="T5" fmla="*/ 624 h 762"/>
              <a:gd name="T6" fmla="*/ 676 w 859"/>
              <a:gd name="T7" fmla="*/ 115 h 762"/>
              <a:gd name="T8" fmla="*/ 547 w 859"/>
              <a:gd name="T9" fmla="*/ 0 h 762"/>
              <a:gd name="T10" fmla="*/ 0 w 859"/>
              <a:gd name="T11" fmla="*/ 486 h 762"/>
            </a:gdLst>
            <a:ahLst/>
            <a:cxnLst>
              <a:cxn ang="0">
                <a:pos x="T0" y="T1"/>
              </a:cxn>
              <a:cxn ang="0">
                <a:pos x="T2" y="T3"/>
              </a:cxn>
              <a:cxn ang="0">
                <a:pos x="T4" y="T5"/>
              </a:cxn>
              <a:cxn ang="0">
                <a:pos x="T6" y="T7"/>
              </a:cxn>
              <a:cxn ang="0">
                <a:pos x="T8" y="T9"/>
              </a:cxn>
              <a:cxn ang="0">
                <a:pos x="T10" y="T11"/>
              </a:cxn>
            </a:cxnLst>
            <a:rect l="0" t="0" r="r" b="b"/>
            <a:pathLst>
              <a:path w="859" h="762">
                <a:moveTo>
                  <a:pt x="0" y="486"/>
                </a:moveTo>
                <a:cubicBezTo>
                  <a:pt x="2" y="487"/>
                  <a:pt x="127" y="599"/>
                  <a:pt x="129" y="600"/>
                </a:cubicBezTo>
                <a:cubicBezTo>
                  <a:pt x="300" y="752"/>
                  <a:pt x="547" y="762"/>
                  <a:pt x="703" y="624"/>
                </a:cubicBezTo>
                <a:cubicBezTo>
                  <a:pt x="859" y="486"/>
                  <a:pt x="848" y="267"/>
                  <a:pt x="676" y="115"/>
                </a:cubicBezTo>
                <a:cubicBezTo>
                  <a:pt x="675" y="113"/>
                  <a:pt x="549" y="2"/>
                  <a:pt x="547" y="0"/>
                </a:cubicBezTo>
                <a:lnTo>
                  <a:pt x="0" y="486"/>
                </a:lnTo>
                <a:close/>
              </a:path>
            </a:pathLst>
          </a:custGeom>
          <a:solidFill>
            <a:schemeClr val="accent4"/>
          </a:solidFill>
          <a:ln>
            <a:noFill/>
          </a:ln>
          <a:effectLst>
            <a:outerShdw blurRad="254000" dist="190500" dir="720000" algn="ctr" rotWithShape="0">
              <a:srgbClr val="000000">
                <a:alpha val="43000"/>
              </a:srgbClr>
            </a:outerShdw>
          </a:effectLst>
        </p:spPr>
        <p:txBody>
          <a:bodyPr vert="horz" wrap="square" lIns="121899" tIns="60950" rIns="121899" bIns="60950" numCol="1" anchor="t" anchorCtr="0" compatLnSpc="1"/>
          <a:lstStyle/>
          <a:p>
            <a:endParaRPr lang="zh-CN" altLang="en-US" sz="2400">
              <a:solidFill>
                <a:prstClr val="black"/>
              </a:solidFill>
            </a:endParaRPr>
          </a:p>
        </p:txBody>
      </p:sp>
      <p:sp>
        <p:nvSpPr>
          <p:cNvPr id="29" name="Freeform 6"/>
          <p:cNvSpPr/>
          <p:nvPr/>
        </p:nvSpPr>
        <p:spPr bwMode="auto">
          <a:xfrm>
            <a:off x="6281593" y="2818849"/>
            <a:ext cx="5902655" cy="4032171"/>
          </a:xfrm>
          <a:custGeom>
            <a:avLst/>
            <a:gdLst>
              <a:gd name="T0" fmla="*/ 0 w 1768"/>
              <a:gd name="T1" fmla="*/ 1568 h 1568"/>
              <a:gd name="T2" fmla="*/ 1768 w 1768"/>
              <a:gd name="T3" fmla="*/ 1568 h 1568"/>
              <a:gd name="T4" fmla="*/ 1768 w 1768"/>
              <a:gd name="T5" fmla="*/ 0 h 1568"/>
              <a:gd name="T6" fmla="*/ 0 w 1768"/>
              <a:gd name="T7" fmla="*/ 1568 h 1568"/>
            </a:gdLst>
            <a:ahLst/>
            <a:cxnLst>
              <a:cxn ang="0">
                <a:pos x="T0" y="T1"/>
              </a:cxn>
              <a:cxn ang="0">
                <a:pos x="T2" y="T3"/>
              </a:cxn>
              <a:cxn ang="0">
                <a:pos x="T4" y="T5"/>
              </a:cxn>
              <a:cxn ang="0">
                <a:pos x="T6" y="T7"/>
              </a:cxn>
            </a:cxnLst>
            <a:rect l="0" t="0" r="r" b="b"/>
            <a:pathLst>
              <a:path w="1768" h="1568">
                <a:moveTo>
                  <a:pt x="0" y="1568"/>
                </a:moveTo>
                <a:lnTo>
                  <a:pt x="1768" y="1568"/>
                </a:lnTo>
                <a:lnTo>
                  <a:pt x="1768" y="0"/>
                </a:lnTo>
                <a:lnTo>
                  <a:pt x="0" y="1568"/>
                </a:lnTo>
                <a:close/>
              </a:path>
            </a:pathLst>
          </a:custGeom>
          <a:solidFill>
            <a:schemeClr val="accent1"/>
          </a:solidFill>
          <a:ln>
            <a:noFill/>
          </a:ln>
        </p:spPr>
        <p:txBody>
          <a:bodyPr vert="horz" wrap="square" lIns="121899" tIns="60950" rIns="121899" bIns="60950" numCol="1" anchor="t" anchorCtr="0" compatLnSpc="1"/>
          <a:lstStyle/>
          <a:p>
            <a:endParaRPr lang="zh-CN" altLang="en-US" sz="2400">
              <a:solidFill>
                <a:prstClr val="black"/>
              </a:solidFill>
            </a:endParaRPr>
          </a:p>
        </p:txBody>
      </p:sp>
      <p:sp>
        <p:nvSpPr>
          <p:cNvPr id="33" name="Freeform 16"/>
          <p:cNvSpPr/>
          <p:nvPr/>
        </p:nvSpPr>
        <p:spPr bwMode="auto">
          <a:xfrm rot="458092">
            <a:off x="8640170" y="4263876"/>
            <a:ext cx="1971287" cy="1748896"/>
          </a:xfrm>
          <a:custGeom>
            <a:avLst/>
            <a:gdLst>
              <a:gd name="T0" fmla="*/ 0 w 859"/>
              <a:gd name="T1" fmla="*/ 486 h 762"/>
              <a:gd name="T2" fmla="*/ 129 w 859"/>
              <a:gd name="T3" fmla="*/ 600 h 762"/>
              <a:gd name="T4" fmla="*/ 703 w 859"/>
              <a:gd name="T5" fmla="*/ 624 h 762"/>
              <a:gd name="T6" fmla="*/ 676 w 859"/>
              <a:gd name="T7" fmla="*/ 115 h 762"/>
              <a:gd name="T8" fmla="*/ 547 w 859"/>
              <a:gd name="T9" fmla="*/ 0 h 762"/>
              <a:gd name="T10" fmla="*/ 0 w 859"/>
              <a:gd name="T11" fmla="*/ 486 h 762"/>
            </a:gdLst>
            <a:ahLst/>
            <a:cxnLst>
              <a:cxn ang="0">
                <a:pos x="T0" y="T1"/>
              </a:cxn>
              <a:cxn ang="0">
                <a:pos x="T2" y="T3"/>
              </a:cxn>
              <a:cxn ang="0">
                <a:pos x="T4" y="T5"/>
              </a:cxn>
              <a:cxn ang="0">
                <a:pos x="T6" y="T7"/>
              </a:cxn>
              <a:cxn ang="0">
                <a:pos x="T8" y="T9"/>
              </a:cxn>
              <a:cxn ang="0">
                <a:pos x="T10" y="T11"/>
              </a:cxn>
            </a:cxnLst>
            <a:rect l="0" t="0" r="r" b="b"/>
            <a:pathLst>
              <a:path w="859" h="762">
                <a:moveTo>
                  <a:pt x="0" y="486"/>
                </a:moveTo>
                <a:cubicBezTo>
                  <a:pt x="2" y="487"/>
                  <a:pt x="127" y="599"/>
                  <a:pt x="129" y="600"/>
                </a:cubicBezTo>
                <a:cubicBezTo>
                  <a:pt x="300" y="752"/>
                  <a:pt x="547" y="762"/>
                  <a:pt x="703" y="624"/>
                </a:cubicBezTo>
                <a:cubicBezTo>
                  <a:pt x="859" y="486"/>
                  <a:pt x="848" y="267"/>
                  <a:pt x="676" y="115"/>
                </a:cubicBezTo>
                <a:cubicBezTo>
                  <a:pt x="675" y="113"/>
                  <a:pt x="549" y="2"/>
                  <a:pt x="547" y="0"/>
                </a:cubicBezTo>
                <a:lnTo>
                  <a:pt x="0" y="486"/>
                </a:lnTo>
                <a:close/>
              </a:path>
            </a:pathLst>
          </a:custGeom>
          <a:solidFill>
            <a:schemeClr val="bg1"/>
          </a:solidFill>
          <a:ln>
            <a:noFill/>
          </a:ln>
          <a:effectLst>
            <a:outerShdw blurRad="254000" dist="190500" dir="720000" algn="ctr" rotWithShape="0">
              <a:srgbClr val="000000">
                <a:alpha val="43000"/>
              </a:srgbClr>
            </a:outerShdw>
          </a:effectLst>
        </p:spPr>
        <p:txBody>
          <a:bodyPr vert="horz" wrap="square" lIns="121899" tIns="60950" rIns="121899" bIns="60950" numCol="1" anchor="t" anchorCtr="0" compatLnSpc="1"/>
          <a:lstStyle/>
          <a:p>
            <a:endParaRPr lang="zh-CN" altLang="en-US" sz="2400">
              <a:solidFill>
                <a:prstClr val="black"/>
              </a:solidFill>
            </a:endParaRPr>
          </a:p>
        </p:txBody>
      </p:sp>
      <p:sp>
        <p:nvSpPr>
          <p:cNvPr id="42" name="TextBox 41"/>
          <p:cNvSpPr txBox="1"/>
          <p:nvPr/>
        </p:nvSpPr>
        <p:spPr>
          <a:xfrm>
            <a:off x="7975389" y="1113633"/>
            <a:ext cx="2514292" cy="1567180"/>
          </a:xfrm>
          <a:prstGeom prst="rect">
            <a:avLst/>
          </a:prstGeom>
        </p:spPr>
        <p:txBody>
          <a:bodyPr wrap="square" lIns="91391" tIns="45696" rIns="91391" bIns="45696">
            <a:spAutoFit/>
          </a:bodyPr>
          <a:lstStyle>
            <a:defPPr>
              <a:defRPr lang="zh-CN"/>
            </a:defPPr>
            <a:lvl1pPr>
              <a:lnSpc>
                <a:spcPct val="150000"/>
              </a:lnSpc>
              <a:defRPr sz="1400">
                <a:solidFill>
                  <a:schemeClr val="tx1">
                    <a:lumMod val="50000"/>
                    <a:lumOff val="50000"/>
                  </a:schemeClr>
                </a:solidFill>
                <a:latin typeface="微软雅黑" panose="020B0503020204020204" charset="-122"/>
                <a:ea typeface="微软雅黑" panose="020B0503020204020204" charset="-122"/>
                <a:cs typeface="Segoe UI Semilight" panose="020B0402040204020203" pitchFamily="34" charset="0"/>
              </a:defRPr>
            </a:lvl1pPr>
          </a:lstStyle>
          <a:p>
            <a:r>
              <a:rPr lang="zh-CN" altLang="en-US" sz="1600" dirty="0">
                <a:latin typeface="+mn-ea"/>
                <a:ea typeface="+mn-ea"/>
                <a:sym typeface="+mn-lt"/>
              </a:rPr>
              <a:t>软件测试和软件开发是紧密结合的，但并不代表测试是依附于开发的一个过程，测试活动是独立的。</a:t>
            </a:r>
            <a:endParaRPr lang="zh-CN" altLang="en-US" sz="1600" dirty="0">
              <a:latin typeface="+mn-ea"/>
              <a:ea typeface="+mn-ea"/>
              <a:sym typeface="+mn-lt"/>
            </a:endParaRPr>
          </a:p>
        </p:txBody>
      </p:sp>
      <p:sp>
        <p:nvSpPr>
          <p:cNvPr id="44" name="TextBox 41"/>
          <p:cNvSpPr txBox="1"/>
          <p:nvPr/>
        </p:nvSpPr>
        <p:spPr>
          <a:xfrm>
            <a:off x="5351808" y="2994276"/>
            <a:ext cx="2514292" cy="2305685"/>
          </a:xfrm>
          <a:prstGeom prst="rect">
            <a:avLst/>
          </a:prstGeom>
        </p:spPr>
        <p:txBody>
          <a:bodyPr wrap="square" lIns="91391" tIns="45696" rIns="91391" bIns="45696">
            <a:spAutoFit/>
          </a:bodyPr>
          <a:lstStyle>
            <a:defPPr>
              <a:defRPr lang="zh-CN"/>
            </a:defPPr>
            <a:lvl1pPr>
              <a:lnSpc>
                <a:spcPct val="150000"/>
              </a:lnSpc>
              <a:defRPr sz="1400">
                <a:solidFill>
                  <a:schemeClr val="tx1">
                    <a:lumMod val="50000"/>
                    <a:lumOff val="50000"/>
                  </a:schemeClr>
                </a:solidFill>
                <a:latin typeface="微软雅黑" panose="020B0503020204020204" charset="-122"/>
                <a:ea typeface="微软雅黑" panose="020B0503020204020204" charset="-122"/>
                <a:cs typeface="Segoe UI Semilight" panose="020B0402040204020203" pitchFamily="34" charset="0"/>
              </a:defRPr>
            </a:lvl1pPr>
          </a:lstStyle>
          <a:p>
            <a:r>
              <a:rPr lang="zh-CN" altLang="en-US" dirty="0">
                <a:sym typeface="+mn-lt"/>
              </a:rPr>
              <a:t>“</a:t>
            </a:r>
            <a:r>
              <a:rPr lang="zh-CN" altLang="en-US" sz="1600" dirty="0">
                <a:latin typeface="+mn-ea"/>
                <a:ea typeface="+mn-ea"/>
                <a:cs typeface="+mn-ea"/>
                <a:sym typeface="+mn-lt"/>
              </a:rPr>
              <a:t>独立的，迭代的测试”着重强调了测试的关键点，也就是说，只要测试条件成熟，测试准备活动完成，测试的执行活动就可以开展。</a:t>
            </a:r>
            <a:endParaRPr lang="zh-CN" altLang="en-US" sz="1600" dirty="0">
              <a:latin typeface="+mn-ea"/>
              <a:ea typeface="+mn-ea"/>
              <a:cs typeface="+mn-ea"/>
              <a:sym typeface="+mn-lt"/>
            </a:endParaRPr>
          </a:p>
        </p:txBody>
      </p:sp>
      <p:sp>
        <p:nvSpPr>
          <p:cNvPr id="27" name="Text Placeholder 32"/>
          <p:cNvSpPr txBox="1"/>
          <p:nvPr/>
        </p:nvSpPr>
        <p:spPr>
          <a:xfrm>
            <a:off x="1072515" y="1891030"/>
            <a:ext cx="3340100" cy="4244975"/>
          </a:xfrm>
          <a:prstGeom prst="rect">
            <a:avLst/>
          </a:prstGeom>
        </p:spPr>
        <p:txBody>
          <a:bodyPr wrap="square" lIns="91391" tIns="45696" rIns="91391" bIns="45696">
            <a:spAutoFit/>
          </a:bodyPr>
          <a:lstStyle>
            <a:defPPr>
              <a:defRPr lang="zh-CN"/>
            </a:defPPr>
            <a:lvl1pPr>
              <a:lnSpc>
                <a:spcPct val="150000"/>
              </a:lnSpc>
              <a:defRPr sz="1400">
                <a:solidFill>
                  <a:schemeClr val="tx1">
                    <a:lumMod val="50000"/>
                    <a:lumOff val="50000"/>
                  </a:schemeClr>
                </a:solidFill>
                <a:latin typeface="微软雅黑" panose="020B0503020204020204" charset="-122"/>
                <a:ea typeface="微软雅黑" panose="020B0503020204020204" charset="-122"/>
                <a:cs typeface="Segoe UI Semilight" panose="020B0402040204020203" pitchFamily="34" charset="0"/>
              </a:defRPr>
            </a:lvl1pPr>
          </a:lstStyle>
          <a:p>
            <a:r>
              <a:rPr sz="1800" dirty="0">
                <a:sym typeface="Arial" panose="020B0604020202020204" pitchFamily="34" charset="0"/>
              </a:rPr>
              <a:t>软件开发瀑布模型只是一种理想状况。为适应不同的需要，人们在软件开发过程中摸索出了如螺旋、迭代等诸多模型，若需求、设计、编码工作量是重叠并反复进行，这时的测试工作也是迭代和反复的。如果不能将测试从开发中抽象出来进行管理，势必使测试管理陷入困境。</a:t>
            </a:r>
            <a:endParaRPr sz="1800" dirty="0">
              <a:sym typeface="Arial" panose="020B0604020202020204" pitchFamily="34" charset="0"/>
            </a:endParaRPr>
          </a:p>
        </p:txBody>
      </p:sp>
      <p:sp>
        <p:nvSpPr>
          <p:cNvPr id="28" name="Text Placeholder 33"/>
          <p:cNvSpPr txBox="1"/>
          <p:nvPr/>
        </p:nvSpPr>
        <p:spPr>
          <a:xfrm>
            <a:off x="1072830" y="1442372"/>
            <a:ext cx="3880565" cy="368935"/>
          </a:xfrm>
          <a:prstGeom prst="rect">
            <a:avLst/>
          </a:prstGeom>
        </p:spPr>
        <p:txBody>
          <a:bodyPr lIns="0" tIns="0" rIns="0" bIns="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a:lnSpc>
                <a:spcPct val="120000"/>
              </a:lnSpc>
              <a:spcBef>
                <a:spcPts val="0"/>
              </a:spcBef>
              <a:buNone/>
            </a:pPr>
            <a:r>
              <a:rPr lang="zh-CN" altLang="en-US" sz="2000" b="1" dirty="0">
                <a:solidFill>
                  <a:schemeClr val="tx1">
                    <a:lumMod val="65000"/>
                    <a:lumOff val="35000"/>
                  </a:schemeClr>
                </a:solidFill>
                <a:latin typeface="Arial" panose="020B0604020202020204" pitchFamily="34" charset="0"/>
                <a:ea typeface="微软雅黑" panose="020B0503020204020204" charset="-122"/>
                <a:cs typeface="+mn-ea"/>
                <a:sym typeface="Arial" panose="020B0604020202020204" pitchFamily="34" charset="0"/>
              </a:rPr>
              <a:t>3. 独立的、迭代的测试</a:t>
            </a:r>
            <a:endParaRPr lang="zh-CN" altLang="en-US" sz="2000" b="1" dirty="0">
              <a:solidFill>
                <a:schemeClr val="tx1">
                  <a:lumMod val="65000"/>
                  <a:lumOff val="35000"/>
                </a:schemeClr>
              </a:solidFill>
              <a:latin typeface="Arial" panose="020B0604020202020204" pitchFamily="34" charset="0"/>
              <a:ea typeface="微软雅黑" panose="020B0503020204020204" charset="-122"/>
              <a:cs typeface="+mn-ea"/>
              <a:sym typeface="Arial" panose="020B0604020202020204" pitchFamily="34" charset="0"/>
            </a:endParaRPr>
          </a:p>
        </p:txBody>
      </p:sp>
    </p:spTree>
  </p:cSld>
  <p:clrMapOvr>
    <a:masterClrMapping/>
  </p:clrMapOvr>
  <p:transition advTm="7675">
    <p:plu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anim calcmode="lin" valueType="num">
                                      <p:cBhvr>
                                        <p:cTn id="8" dur="500" fill="hold"/>
                                        <p:tgtEl>
                                          <p:spTgt spid="34"/>
                                        </p:tgtEl>
                                        <p:attrNameLst>
                                          <p:attrName>ppt_x</p:attrName>
                                        </p:attrNameLst>
                                      </p:cBhvr>
                                      <p:tavLst>
                                        <p:tav tm="0">
                                          <p:val>
                                            <p:strVal val="#ppt_x"/>
                                          </p:val>
                                        </p:tav>
                                        <p:tav tm="100000">
                                          <p:val>
                                            <p:strVal val="#ppt_x"/>
                                          </p:val>
                                        </p:tav>
                                      </p:tavLst>
                                    </p:anim>
                                    <p:anim calcmode="lin" valueType="num">
                                      <p:cBhvr>
                                        <p:cTn id="9" dur="500" fill="hold"/>
                                        <p:tgtEl>
                                          <p:spTgt spid="34"/>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wipe(left)">
                                      <p:cBhvr>
                                        <p:cTn id="13" dur="500"/>
                                        <p:tgtEl>
                                          <p:spTgt spid="33"/>
                                        </p:tgtEl>
                                      </p:cBhvr>
                                    </p:animEffect>
                                  </p:childTnLst>
                                </p:cTn>
                              </p:par>
                            </p:childTnLst>
                          </p:cTn>
                        </p:par>
                        <p:par>
                          <p:cTn id="14" fill="hold">
                            <p:stCondLst>
                              <p:cond delay="1000"/>
                            </p:stCondLst>
                            <p:childTnLst>
                              <p:par>
                                <p:cTn id="15" presetID="42" presetClass="entr" presetSubtype="0" fill="hold" grpId="0" nodeType="after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fade">
                                      <p:cBhvr>
                                        <p:cTn id="17" dur="500"/>
                                        <p:tgtEl>
                                          <p:spTgt spid="35"/>
                                        </p:tgtEl>
                                      </p:cBhvr>
                                    </p:animEffect>
                                    <p:anim calcmode="lin" valueType="num">
                                      <p:cBhvr>
                                        <p:cTn id="18" dur="500" fill="hold"/>
                                        <p:tgtEl>
                                          <p:spTgt spid="35"/>
                                        </p:tgtEl>
                                        <p:attrNameLst>
                                          <p:attrName>ppt_x</p:attrName>
                                        </p:attrNameLst>
                                      </p:cBhvr>
                                      <p:tavLst>
                                        <p:tav tm="0">
                                          <p:val>
                                            <p:strVal val="#ppt_x"/>
                                          </p:val>
                                        </p:tav>
                                        <p:tav tm="100000">
                                          <p:val>
                                            <p:strVal val="#ppt_x"/>
                                          </p:val>
                                        </p:tav>
                                      </p:tavLst>
                                    </p:anim>
                                    <p:anim calcmode="lin" valueType="num">
                                      <p:cBhvr>
                                        <p:cTn id="19" dur="5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8" presetClass="entr" presetSubtype="16" fill="hold" grpId="0"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diamond(in)">
                                      <p:cBhvr>
                                        <p:cTn id="24" dur="2000"/>
                                        <p:tgtEl>
                                          <p:spTgt spid="28"/>
                                        </p:tgtEl>
                                      </p:cBhvr>
                                    </p:animEffect>
                                  </p:childTnLst>
                                </p:cTn>
                              </p:par>
                            </p:childTnLst>
                          </p:cTn>
                        </p:par>
                      </p:childTnLst>
                    </p:cTn>
                  </p:par>
                  <p:par>
                    <p:cTn id="25" fill="hold">
                      <p:stCondLst>
                        <p:cond delay="indefinite"/>
                      </p:stCondLst>
                      <p:childTnLst>
                        <p:par>
                          <p:cTn id="26" fill="hold">
                            <p:stCondLst>
                              <p:cond delay="0"/>
                            </p:stCondLst>
                            <p:childTnLst>
                              <p:par>
                                <p:cTn id="27" presetID="21" presetClass="entr" presetSubtype="1" fill="hold" grpId="0" nodeType="click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wheel(1)">
                                      <p:cBhvr>
                                        <p:cTn id="29" dur="2000"/>
                                        <p:tgtEl>
                                          <p:spTgt spid="27"/>
                                        </p:tgtEl>
                                      </p:cBhvr>
                                    </p:animEffect>
                                  </p:childTnLst>
                                </p:cTn>
                              </p:par>
                            </p:childTnLst>
                          </p:cTn>
                        </p:par>
                      </p:childTnLst>
                    </p:cTn>
                  </p:par>
                  <p:par>
                    <p:cTn id="30" fill="hold">
                      <p:stCondLst>
                        <p:cond delay="indefinite"/>
                      </p:stCondLst>
                      <p:childTnLst>
                        <p:par>
                          <p:cTn id="31" fill="hold">
                            <p:stCondLst>
                              <p:cond delay="0"/>
                            </p:stCondLst>
                            <p:childTnLst>
                              <p:par>
                                <p:cTn id="32" presetID="17" presetClass="entr" presetSubtype="10" fill="hold" grpId="0" nodeType="clickEffect">
                                  <p:stCondLst>
                                    <p:cond delay="0"/>
                                  </p:stCondLst>
                                  <p:childTnLst>
                                    <p:set>
                                      <p:cBhvr>
                                        <p:cTn id="33" dur="1" fill="hold">
                                          <p:stCondLst>
                                            <p:cond delay="0"/>
                                          </p:stCondLst>
                                        </p:cTn>
                                        <p:tgtEl>
                                          <p:spTgt spid="44"/>
                                        </p:tgtEl>
                                        <p:attrNameLst>
                                          <p:attrName>style.visibility</p:attrName>
                                        </p:attrNameLst>
                                      </p:cBhvr>
                                      <p:to>
                                        <p:strVal val="visible"/>
                                      </p:to>
                                    </p:set>
                                    <p:anim calcmode="lin" valueType="num">
                                      <p:cBhvr>
                                        <p:cTn id="34" dur="500" fill="hold"/>
                                        <p:tgtEl>
                                          <p:spTgt spid="44"/>
                                        </p:tgtEl>
                                        <p:attrNameLst>
                                          <p:attrName>ppt_w</p:attrName>
                                        </p:attrNameLst>
                                      </p:cBhvr>
                                      <p:tavLst>
                                        <p:tav tm="0">
                                          <p:val>
                                            <p:fltVal val="0"/>
                                          </p:val>
                                        </p:tav>
                                        <p:tav tm="100000">
                                          <p:val>
                                            <p:strVal val="#ppt_w"/>
                                          </p:val>
                                        </p:tav>
                                      </p:tavLst>
                                    </p:anim>
                                    <p:anim calcmode="lin" valueType="num">
                                      <p:cBhvr>
                                        <p:cTn id="35" dur="500" fill="hold"/>
                                        <p:tgtEl>
                                          <p:spTgt spid="44"/>
                                        </p:tgtEl>
                                        <p:attrNameLst>
                                          <p:attrName>ppt_h</p:attrName>
                                        </p:attrNameLst>
                                      </p:cBhvr>
                                      <p:tavLst>
                                        <p:tav tm="0">
                                          <p:val>
                                            <p:strVal val="#ppt_h"/>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8" presetID="37" presetClass="entr" presetSubtype="0" fill="hold" grpId="0" nodeType="clickEffect">
                                  <p:stCondLst>
                                    <p:cond delay="0"/>
                                  </p:stCondLst>
                                  <p:childTnLst>
                                    <p:set>
                                      <p:cBhvr>
                                        <p:cTn id="39" dur="1" fill="hold">
                                          <p:stCondLst>
                                            <p:cond delay="0"/>
                                          </p:stCondLst>
                                        </p:cTn>
                                        <p:tgtEl>
                                          <p:spTgt spid="42"/>
                                        </p:tgtEl>
                                        <p:attrNameLst>
                                          <p:attrName>style.visibility</p:attrName>
                                        </p:attrNameLst>
                                      </p:cBhvr>
                                      <p:to>
                                        <p:strVal val="visible"/>
                                      </p:to>
                                    </p:set>
                                    <p:animEffect transition="in" filter="fade">
                                      <p:cBhvr>
                                        <p:cTn id="40" dur="1000"/>
                                        <p:tgtEl>
                                          <p:spTgt spid="42"/>
                                        </p:tgtEl>
                                      </p:cBhvr>
                                    </p:animEffect>
                                    <p:anim calcmode="lin" valueType="num">
                                      <p:cBhvr>
                                        <p:cTn id="41" dur="1000" fill="hold"/>
                                        <p:tgtEl>
                                          <p:spTgt spid="42"/>
                                        </p:tgtEl>
                                        <p:attrNameLst>
                                          <p:attrName>ppt_x</p:attrName>
                                        </p:attrNameLst>
                                      </p:cBhvr>
                                      <p:tavLst>
                                        <p:tav tm="0">
                                          <p:val>
                                            <p:strVal val="#ppt_x"/>
                                          </p:val>
                                        </p:tav>
                                        <p:tav tm="100000">
                                          <p:val>
                                            <p:strVal val="#ppt_x"/>
                                          </p:val>
                                        </p:tav>
                                      </p:tavLst>
                                    </p:anim>
                                    <p:anim calcmode="lin" valueType="num">
                                      <p:cBhvr>
                                        <p:cTn id="42" dur="900" decel="100000" fill="hold"/>
                                        <p:tgtEl>
                                          <p:spTgt spid="42"/>
                                        </p:tgtEl>
                                        <p:attrNameLst>
                                          <p:attrName>ppt_y</p:attrName>
                                        </p:attrNameLst>
                                      </p:cBhvr>
                                      <p:tavLst>
                                        <p:tav tm="0">
                                          <p:val>
                                            <p:strVal val="#ppt_y+1"/>
                                          </p:val>
                                        </p:tav>
                                        <p:tav tm="100000">
                                          <p:val>
                                            <p:strVal val="#ppt_y-.03"/>
                                          </p:val>
                                        </p:tav>
                                      </p:tavLst>
                                    </p:anim>
                                    <p:anim calcmode="lin" valueType="num">
                                      <p:cBhvr>
                                        <p:cTn id="43" dur="100" accel="100000" fill="hold">
                                          <p:stCondLst>
                                            <p:cond delay="900"/>
                                          </p:stCondLst>
                                        </p:cTn>
                                        <p:tgtEl>
                                          <p:spTgt spid="42"/>
                                        </p:tgtEl>
                                        <p:attrNameLst>
                                          <p:attrName>ppt_y</p:attrName>
                                        </p:attrNameLst>
                                      </p:cBhvr>
                                      <p:tavLst>
                                        <p:tav tm="0">
                                          <p:val>
                                            <p:strVal val="#ppt_y-.03"/>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9" presetClass="entr" presetSubtype="0" fill="hold" grpId="0" nodeType="clickEffect">
                                  <p:stCondLst>
                                    <p:cond delay="0"/>
                                  </p:stCondLst>
                                  <p:childTnLst>
                                    <p:set>
                                      <p:cBhvr>
                                        <p:cTn id="47" dur="1" fill="hold">
                                          <p:stCondLst>
                                            <p:cond delay="0"/>
                                          </p:stCondLst>
                                        </p:cTn>
                                        <p:tgtEl>
                                          <p:spTgt spid="29"/>
                                        </p:tgtEl>
                                        <p:attrNameLst>
                                          <p:attrName>style.visibility</p:attrName>
                                        </p:attrNameLst>
                                      </p:cBhvr>
                                      <p:to>
                                        <p:strVal val="visible"/>
                                      </p:to>
                                    </p:set>
                                    <p:anim calcmode="lin" valueType="num">
                                      <p:cBhvr>
                                        <p:cTn id="48" dur="1000" fill="hold"/>
                                        <p:tgtEl>
                                          <p:spTgt spid="29"/>
                                        </p:tgtEl>
                                        <p:attrNameLst>
                                          <p:attrName>ppt_x</p:attrName>
                                        </p:attrNameLst>
                                      </p:cBhvr>
                                      <p:tavLst>
                                        <p:tav tm="0">
                                          <p:val>
                                            <p:strVal val="#ppt_x-.2"/>
                                          </p:val>
                                        </p:tav>
                                        <p:tav tm="100000">
                                          <p:val>
                                            <p:strVal val="#ppt_x"/>
                                          </p:val>
                                        </p:tav>
                                      </p:tavLst>
                                    </p:anim>
                                    <p:anim calcmode="lin" valueType="num">
                                      <p:cBhvr>
                                        <p:cTn id="49" dur="1000" fill="hold"/>
                                        <p:tgtEl>
                                          <p:spTgt spid="29"/>
                                        </p:tgtEl>
                                        <p:attrNameLst>
                                          <p:attrName>ppt_y</p:attrName>
                                        </p:attrNameLst>
                                      </p:cBhvr>
                                      <p:tavLst>
                                        <p:tav tm="0">
                                          <p:val>
                                            <p:strVal val="#ppt_y"/>
                                          </p:val>
                                        </p:tav>
                                        <p:tav tm="100000">
                                          <p:val>
                                            <p:strVal val="#ppt_y"/>
                                          </p:val>
                                        </p:tav>
                                      </p:tavLst>
                                    </p:anim>
                                    <p:animEffect transition="in" filter="wipe(right)" prLst="gradientSize: 0.1">
                                      <p:cBhvr>
                                        <p:cTn id="50" dur="1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bldLvl="0" animBg="1"/>
      <p:bldP spid="35" grpId="0" bldLvl="0" animBg="1"/>
      <p:bldP spid="33" grpId="0" bldLvl="0" animBg="1"/>
      <p:bldP spid="28" grpId="0"/>
      <p:bldP spid="28" grpId="1"/>
      <p:bldP spid="27" grpId="0"/>
      <p:bldP spid="27" grpId="1"/>
      <p:bldP spid="44" grpId="0"/>
      <p:bldP spid="44" grpId="1"/>
      <p:bldP spid="42" grpId="0"/>
      <p:bldP spid="42" grpId="1"/>
      <p:bldP spid="29" grpId="0" animBg="1"/>
      <p:bldP spid="29"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9127495" y="3232914"/>
            <a:ext cx="646070" cy="646155"/>
            <a:chOff x="304800" y="673100"/>
            <a:chExt cx="4000500" cy="4000500"/>
          </a:xfrm>
          <a:effectLst>
            <a:outerShdw blurRad="317500" dist="190500" dir="8100000" algn="tr" rotWithShape="0">
              <a:prstClr val="black">
                <a:alpha val="50000"/>
              </a:prstClr>
            </a:outerShdw>
          </a:effectLst>
        </p:grpSpPr>
        <p:sp>
          <p:nvSpPr>
            <p:cNvPr id="3" name="同心圆 2"/>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 name="椭圆 3"/>
            <p:cNvSpPr/>
            <p:nvPr/>
          </p:nvSpPr>
          <p:spPr>
            <a:xfrm>
              <a:off x="392113" y="760413"/>
              <a:ext cx="3825874" cy="38258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TextBox 7"/>
          <p:cNvSpPr>
            <a:spLocks noChangeArrowheads="1"/>
          </p:cNvSpPr>
          <p:nvPr/>
        </p:nvSpPr>
        <p:spPr bwMode="auto">
          <a:xfrm>
            <a:off x="2851693" y="4242250"/>
            <a:ext cx="63046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fontAlgn="auto">
              <a:spcBef>
                <a:spcPts val="0"/>
              </a:spcBef>
              <a:spcAft>
                <a:spcPts val="0"/>
              </a:spcAft>
              <a:defRPr/>
            </a:pPr>
            <a:r>
              <a:rPr lang="en-US" altLang="zh-CN" sz="2000" dirty="0">
                <a:solidFill>
                  <a:srgbClr val="0070C0"/>
                </a:solidFill>
                <a:latin typeface="Swis721 Lt BT" panose="020B0403020202020204" pitchFamily="34" charset="0"/>
                <a:ea typeface="微软雅黑" panose="020B0503020204020204" charset="-122"/>
                <a:cs typeface="LilyUPC" panose="020B0604020202020204" pitchFamily="34" charset="-34"/>
                <a:sym typeface="微软雅黑" panose="020B0503020204020204" charset="-122"/>
              </a:rPr>
              <a:t>BUSENESS ACTIVITY PLANNING</a:t>
            </a:r>
            <a:endParaRPr lang="en-US" altLang="zh-CN" sz="2000" dirty="0">
              <a:solidFill>
                <a:srgbClr val="0070C0"/>
              </a:solidFill>
              <a:latin typeface="Swis721 Lt BT" panose="020B0403020202020204" pitchFamily="34" charset="0"/>
              <a:ea typeface="微软雅黑" panose="020B0503020204020204" charset="-122"/>
              <a:cs typeface="LilyUPC" panose="020B0604020202020204" pitchFamily="34" charset="-34"/>
              <a:sym typeface="微软雅黑" panose="020B0503020204020204" charset="-122"/>
            </a:endParaRPr>
          </a:p>
        </p:txBody>
      </p:sp>
      <p:sp>
        <p:nvSpPr>
          <p:cNvPr id="12" name="椭圆 11"/>
          <p:cNvSpPr/>
          <p:nvPr/>
        </p:nvSpPr>
        <p:spPr>
          <a:xfrm>
            <a:off x="1777166" y="3738466"/>
            <a:ext cx="764747" cy="764847"/>
          </a:xfrm>
          <a:prstGeom prst="ellipse">
            <a:avLst/>
          </a:prstGeom>
          <a:solidFill>
            <a:schemeClr val="accent1"/>
          </a:solidFill>
          <a:ln>
            <a:noFill/>
          </a:ln>
          <a:effectLst>
            <a:outerShdw blurRad="317500" dist="1905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08" tIns="60954" rIns="121908" bIns="60954" rtlCol="0" anchor="ctr"/>
          <a:lstStyle/>
          <a:p>
            <a:pPr algn="ctr"/>
            <a:endParaRPr lang="zh-CN" altLang="en-US"/>
          </a:p>
        </p:txBody>
      </p:sp>
      <p:sp>
        <p:nvSpPr>
          <p:cNvPr id="13" name="椭圆 12"/>
          <p:cNvSpPr/>
          <p:nvPr/>
        </p:nvSpPr>
        <p:spPr>
          <a:xfrm>
            <a:off x="2175591" y="2863893"/>
            <a:ext cx="366322" cy="366369"/>
          </a:xfrm>
          <a:prstGeom prst="ellipse">
            <a:avLst/>
          </a:prstGeom>
          <a:solidFill>
            <a:schemeClr val="accent5"/>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08" tIns="60954" rIns="121908" bIns="60954" rtlCol="0" anchor="ctr"/>
          <a:lstStyle/>
          <a:p>
            <a:pPr algn="ctr"/>
            <a:endParaRPr lang="zh-CN" altLang="en-US"/>
          </a:p>
        </p:txBody>
      </p:sp>
      <p:grpSp>
        <p:nvGrpSpPr>
          <p:cNvPr id="17" name="组合 16"/>
          <p:cNvGrpSpPr/>
          <p:nvPr/>
        </p:nvGrpSpPr>
        <p:grpSpPr>
          <a:xfrm>
            <a:off x="2753159" y="3208741"/>
            <a:ext cx="553704" cy="553776"/>
            <a:chOff x="304800" y="673100"/>
            <a:chExt cx="4000500" cy="4000500"/>
          </a:xfrm>
          <a:effectLst>
            <a:outerShdw blurRad="381000" dist="152400" dir="8100000" algn="tr" rotWithShape="0">
              <a:prstClr val="black">
                <a:alpha val="70000"/>
              </a:prstClr>
            </a:outerShdw>
          </a:effectLst>
        </p:grpSpPr>
        <p:sp>
          <p:nvSpPr>
            <p:cNvPr id="18" name="同心圆 17"/>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9" name="椭圆 18"/>
            <p:cNvSpPr/>
            <p:nvPr/>
          </p:nvSpPr>
          <p:spPr>
            <a:xfrm>
              <a:off x="479425" y="847725"/>
              <a:ext cx="3651250" cy="365125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3" name="椭圆 22"/>
          <p:cNvSpPr/>
          <p:nvPr/>
        </p:nvSpPr>
        <p:spPr>
          <a:xfrm>
            <a:off x="9677152" y="2880648"/>
            <a:ext cx="366322" cy="366369"/>
          </a:xfrm>
          <a:prstGeom prst="ellipse">
            <a:avLst/>
          </a:prstGeom>
          <a:solidFill>
            <a:srgbClr val="00B0F0"/>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08" tIns="60954" rIns="121908" bIns="60954" rtlCol="0" anchor="ctr"/>
          <a:lstStyle/>
          <a:p>
            <a:pPr algn="ctr"/>
            <a:endParaRPr lang="zh-CN" altLang="en-US"/>
          </a:p>
        </p:txBody>
      </p:sp>
      <p:grpSp>
        <p:nvGrpSpPr>
          <p:cNvPr id="24" name="组合 23"/>
          <p:cNvGrpSpPr/>
          <p:nvPr/>
        </p:nvGrpSpPr>
        <p:grpSpPr>
          <a:xfrm>
            <a:off x="9781445" y="4014000"/>
            <a:ext cx="312292" cy="312333"/>
            <a:chOff x="304800" y="673100"/>
            <a:chExt cx="4000500" cy="4000500"/>
          </a:xfrm>
          <a:solidFill>
            <a:schemeClr val="accent5"/>
          </a:solidFill>
          <a:effectLst>
            <a:outerShdw blurRad="317500" dist="190500" dir="8100000" algn="tr" rotWithShape="0">
              <a:prstClr val="black">
                <a:alpha val="50000"/>
              </a:prstClr>
            </a:outerShdw>
          </a:effectLst>
        </p:grpSpPr>
        <p:sp>
          <p:nvSpPr>
            <p:cNvPr id="25" name="同心圆 24"/>
            <p:cNvSpPr/>
            <p:nvPr/>
          </p:nvSpPr>
          <p:spPr>
            <a:xfrm>
              <a:off x="304800" y="673100"/>
              <a:ext cx="4000500" cy="4000500"/>
            </a:xfrm>
            <a:prstGeom prst="donut">
              <a:avLst>
                <a:gd name="adj" fmla="val 487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6" name="椭圆 25"/>
            <p:cNvSpPr/>
            <p:nvPr/>
          </p:nvSpPr>
          <p:spPr>
            <a:xfrm>
              <a:off x="392113" y="760413"/>
              <a:ext cx="3825874" cy="382587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TextBox 7"/>
          <p:cNvSpPr>
            <a:spLocks noChangeArrowheads="1"/>
          </p:cNvSpPr>
          <p:nvPr/>
        </p:nvSpPr>
        <p:spPr bwMode="auto">
          <a:xfrm>
            <a:off x="3554137" y="2489090"/>
            <a:ext cx="4833014" cy="2046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fontAlgn="auto">
              <a:spcBef>
                <a:spcPts val="0"/>
              </a:spcBef>
              <a:spcAft>
                <a:spcPts val="0"/>
              </a:spcAft>
              <a:defRPr/>
            </a:pPr>
            <a:r>
              <a:rPr lang="en-US" altLang="zh-CN" sz="13300" spc="-300" dirty="0">
                <a:solidFill>
                  <a:srgbClr val="0070C0"/>
                </a:solidFill>
                <a:latin typeface="Agency FB" panose="020B0503020202020204" pitchFamily="34" charset="0"/>
                <a:ea typeface="微软雅黑" panose="020B0503020204020204" charset="-122"/>
                <a:cs typeface="LilyUPC" panose="020B0604020202020204" pitchFamily="34" charset="-34"/>
                <a:sym typeface="微软雅黑" panose="020B0503020204020204" charset="-122"/>
              </a:rPr>
              <a:t>THANKS</a:t>
            </a:r>
            <a:endParaRPr lang="en-US" altLang="zh-CN" sz="13300" spc="-300" dirty="0">
              <a:solidFill>
                <a:srgbClr val="0070C0"/>
              </a:solidFill>
              <a:latin typeface="Agency FB" panose="020B0503020202020204" pitchFamily="34" charset="0"/>
              <a:ea typeface="微软雅黑" panose="020B0503020204020204" charset="-122"/>
              <a:cs typeface="LilyUPC" panose="020B0604020202020204" pitchFamily="34" charset="-34"/>
              <a:sym typeface="微软雅黑" panose="020B0503020204020204" charset="-122"/>
            </a:endParaRPr>
          </a:p>
        </p:txBody>
      </p:sp>
      <p:sp>
        <p:nvSpPr>
          <p:cNvPr id="28" name="TextBox 7"/>
          <p:cNvSpPr>
            <a:spLocks noChangeArrowheads="1"/>
          </p:cNvSpPr>
          <p:nvPr/>
        </p:nvSpPr>
        <p:spPr bwMode="auto">
          <a:xfrm>
            <a:off x="4054475" y="2090590"/>
            <a:ext cx="76820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fontAlgn="auto">
              <a:spcBef>
                <a:spcPts val="0"/>
              </a:spcBef>
              <a:spcAft>
                <a:spcPts val="0"/>
              </a:spcAft>
              <a:defRPr/>
            </a:pPr>
            <a:r>
              <a:rPr lang="zh-CN" altLang="en-US" sz="3600" dirty="0">
                <a:solidFill>
                  <a:srgbClr val="0070C0"/>
                </a:solidFill>
                <a:latin typeface="微软雅黑" panose="020B0503020204020204" charset="-122"/>
                <a:ea typeface="微软雅黑" panose="020B0503020204020204" charset="-122"/>
                <a:sym typeface="微软雅黑" panose="020B0503020204020204" charset="-122"/>
              </a:rPr>
              <a:t>感</a:t>
            </a:r>
            <a:endParaRPr lang="zh-CN" altLang="en-US" sz="3600" dirty="0">
              <a:solidFill>
                <a:srgbClr val="0070C0"/>
              </a:solidFill>
              <a:latin typeface="微软雅黑" panose="020B0503020204020204" charset="-122"/>
              <a:ea typeface="微软雅黑" panose="020B0503020204020204" charset="-122"/>
              <a:sym typeface="微软雅黑" panose="020B0503020204020204" charset="-122"/>
            </a:endParaRPr>
          </a:p>
        </p:txBody>
      </p:sp>
      <p:sp>
        <p:nvSpPr>
          <p:cNvPr id="29" name="TextBox 7"/>
          <p:cNvSpPr>
            <a:spLocks noChangeArrowheads="1"/>
          </p:cNvSpPr>
          <p:nvPr/>
        </p:nvSpPr>
        <p:spPr bwMode="auto">
          <a:xfrm>
            <a:off x="5111891" y="2090592"/>
            <a:ext cx="74290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fontAlgn="auto">
              <a:spcBef>
                <a:spcPts val="0"/>
              </a:spcBef>
              <a:spcAft>
                <a:spcPts val="0"/>
              </a:spcAft>
              <a:defRPr/>
            </a:pPr>
            <a:r>
              <a:rPr lang="zh-CN" altLang="en-US" sz="3600" dirty="0">
                <a:solidFill>
                  <a:srgbClr val="0070C0"/>
                </a:solidFill>
                <a:latin typeface="微软雅黑" panose="020B0503020204020204" charset="-122"/>
                <a:ea typeface="微软雅黑" panose="020B0503020204020204" charset="-122"/>
                <a:sym typeface="微软雅黑" panose="020B0503020204020204" charset="-122"/>
              </a:rPr>
              <a:t>谢</a:t>
            </a:r>
            <a:endParaRPr lang="zh-CN" altLang="en-US" sz="3600" dirty="0">
              <a:solidFill>
                <a:srgbClr val="0070C0"/>
              </a:solidFill>
              <a:latin typeface="微软雅黑" panose="020B0503020204020204" charset="-122"/>
              <a:ea typeface="微软雅黑" panose="020B0503020204020204" charset="-122"/>
              <a:sym typeface="微软雅黑" panose="020B0503020204020204" charset="-122"/>
            </a:endParaRPr>
          </a:p>
        </p:txBody>
      </p:sp>
      <p:sp>
        <p:nvSpPr>
          <p:cNvPr id="30" name="TextBox 7"/>
          <p:cNvSpPr>
            <a:spLocks noChangeArrowheads="1"/>
          </p:cNvSpPr>
          <p:nvPr/>
        </p:nvSpPr>
        <p:spPr bwMode="auto">
          <a:xfrm>
            <a:off x="6144006" y="2090592"/>
            <a:ext cx="74290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fontAlgn="auto">
              <a:spcBef>
                <a:spcPts val="0"/>
              </a:spcBef>
              <a:spcAft>
                <a:spcPts val="0"/>
              </a:spcAft>
              <a:defRPr/>
            </a:pPr>
            <a:r>
              <a:rPr lang="zh-CN" altLang="en-US" sz="3600" dirty="0">
                <a:solidFill>
                  <a:srgbClr val="0070C0"/>
                </a:solidFill>
                <a:latin typeface="微软雅黑" panose="020B0503020204020204" charset="-122"/>
                <a:ea typeface="微软雅黑" panose="020B0503020204020204" charset="-122"/>
                <a:sym typeface="微软雅黑" panose="020B0503020204020204" charset="-122"/>
              </a:rPr>
              <a:t>聆</a:t>
            </a:r>
            <a:endParaRPr lang="zh-CN" altLang="en-US" sz="3600" dirty="0">
              <a:solidFill>
                <a:srgbClr val="0070C0"/>
              </a:solidFill>
              <a:latin typeface="微软雅黑" panose="020B0503020204020204" charset="-122"/>
              <a:ea typeface="微软雅黑" panose="020B0503020204020204" charset="-122"/>
              <a:sym typeface="微软雅黑" panose="020B0503020204020204" charset="-122"/>
            </a:endParaRPr>
          </a:p>
        </p:txBody>
      </p:sp>
      <p:sp>
        <p:nvSpPr>
          <p:cNvPr id="31" name="TextBox 7"/>
          <p:cNvSpPr>
            <a:spLocks noChangeArrowheads="1"/>
          </p:cNvSpPr>
          <p:nvPr/>
        </p:nvSpPr>
        <p:spPr bwMode="auto">
          <a:xfrm>
            <a:off x="7176120" y="2090592"/>
            <a:ext cx="74290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fontAlgn="auto">
              <a:spcBef>
                <a:spcPts val="0"/>
              </a:spcBef>
              <a:spcAft>
                <a:spcPts val="0"/>
              </a:spcAft>
              <a:defRPr/>
            </a:pPr>
            <a:r>
              <a:rPr lang="zh-CN" altLang="en-US" sz="3600" dirty="0">
                <a:solidFill>
                  <a:srgbClr val="0070C0"/>
                </a:solidFill>
                <a:latin typeface="微软雅黑" panose="020B0503020204020204" charset="-122"/>
                <a:ea typeface="微软雅黑" panose="020B0503020204020204" charset="-122"/>
                <a:sym typeface="微软雅黑" panose="020B0503020204020204" charset="-122"/>
              </a:rPr>
              <a:t>听</a:t>
            </a:r>
            <a:endParaRPr lang="zh-CN" altLang="en-US" sz="3600" dirty="0">
              <a:solidFill>
                <a:srgbClr val="0070C0"/>
              </a:solidFill>
              <a:latin typeface="微软雅黑" panose="020B0503020204020204" charset="-122"/>
              <a:ea typeface="微软雅黑" panose="020B0503020204020204" charset="-122"/>
              <a:sym typeface="微软雅黑" panose="020B0503020204020204" charset="-122"/>
            </a:endParaRPr>
          </a:p>
        </p:txBody>
      </p:sp>
    </p:spTree>
  </p:cSld>
  <p:clrMapOvr>
    <a:masterClrMapping/>
  </p:clrMapOvr>
  <p:transition advTm="7675">
    <p:plu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53" presetClass="entr" presetSubtype="16" fill="hold" grpId="1" nodeType="withEffect">
                                  <p:stCondLst>
                                    <p:cond delay="0"/>
                                  </p:stCondLst>
                                  <p:childTnLst>
                                    <p:set>
                                      <p:cBhvr>
                                        <p:cTn id="8" dur="1" fill="hold">
                                          <p:stCondLst>
                                            <p:cond delay="0"/>
                                          </p:stCondLst>
                                        </p:cTn>
                                        <p:tgtEl>
                                          <p:spTgt spid="13"/>
                                        </p:tgtEl>
                                        <p:attrNameLst>
                                          <p:attrName>style.visibility</p:attrName>
                                        </p:attrNameLst>
                                      </p:cBhvr>
                                      <p:to>
                                        <p:strVal val="visible"/>
                                      </p:to>
                                    </p:set>
                                    <p:anim calcmode="lin" valueType="num">
                                      <p:cBhvr>
                                        <p:cTn id="9" dur="1000" fill="hold"/>
                                        <p:tgtEl>
                                          <p:spTgt spid="13"/>
                                        </p:tgtEl>
                                        <p:attrNameLst>
                                          <p:attrName>ppt_w</p:attrName>
                                        </p:attrNameLst>
                                      </p:cBhvr>
                                      <p:tavLst>
                                        <p:tav tm="0">
                                          <p:val>
                                            <p:fltVal val="0"/>
                                          </p:val>
                                        </p:tav>
                                        <p:tav tm="100000">
                                          <p:val>
                                            <p:strVal val="#ppt_w"/>
                                          </p:val>
                                        </p:tav>
                                      </p:tavLst>
                                    </p:anim>
                                    <p:anim calcmode="lin" valueType="num">
                                      <p:cBhvr>
                                        <p:cTn id="10" dur="1000" fill="hold"/>
                                        <p:tgtEl>
                                          <p:spTgt spid="13"/>
                                        </p:tgtEl>
                                        <p:attrNameLst>
                                          <p:attrName>ppt_h</p:attrName>
                                        </p:attrNameLst>
                                      </p:cBhvr>
                                      <p:tavLst>
                                        <p:tav tm="0">
                                          <p:val>
                                            <p:fltVal val="0"/>
                                          </p:val>
                                        </p:tav>
                                        <p:tav tm="100000">
                                          <p:val>
                                            <p:strVal val="#ppt_h"/>
                                          </p:val>
                                        </p:tav>
                                      </p:tavLst>
                                    </p:anim>
                                    <p:animEffect transition="in" filter="fade">
                                      <p:cBhvr>
                                        <p:cTn id="11" dur="1000"/>
                                        <p:tgtEl>
                                          <p:spTgt spid="13"/>
                                        </p:tgtEl>
                                      </p:cBhvr>
                                    </p:animEffect>
                                  </p:childTnLst>
                                </p:cTn>
                              </p:par>
                              <p:par>
                                <p:cTn id="12" presetID="64" presetClass="path" presetSubtype="0" fill="hold" grpId="2" nodeType="withEffect">
                                  <p:stCondLst>
                                    <p:cond delay="0"/>
                                  </p:stCondLst>
                                  <p:childTnLst>
                                    <p:animMotion origin="layout" path="M 2.77778E-6 2.422E-6 L 0.39375 -0.33797 " pathEditMode="relative" rAng="0" ptsTypes="AA">
                                      <p:cBhvr>
                                        <p:cTn id="13" dur="1000" spd="-100000" fill="hold"/>
                                        <p:tgtEl>
                                          <p:spTgt spid="13"/>
                                        </p:tgtEl>
                                        <p:attrNameLst>
                                          <p:attrName>ppt_x</p:attrName>
                                          <p:attrName>ppt_y</p:attrName>
                                        </p:attrNameLst>
                                      </p:cBhvr>
                                      <p:rCtr x="19688" y="-16898"/>
                                    </p:animMotion>
                                  </p:childTnLst>
                                </p:cTn>
                              </p:par>
                              <p:par>
                                <p:cTn id="14" presetID="1" presetClass="entr" presetSubtype="0" fill="hold" grpId="0" nodeType="withEffect">
                                  <p:stCondLst>
                                    <p:cond delay="0"/>
                                  </p:stCondLst>
                                  <p:childTnLst>
                                    <p:set>
                                      <p:cBhvr>
                                        <p:cTn id="15" dur="1" fill="hold">
                                          <p:stCondLst>
                                            <p:cond delay="0"/>
                                          </p:stCondLst>
                                        </p:cTn>
                                        <p:tgtEl>
                                          <p:spTgt spid="23"/>
                                        </p:tgtEl>
                                        <p:attrNameLst>
                                          <p:attrName>style.visibility</p:attrName>
                                        </p:attrNameLst>
                                      </p:cBhvr>
                                      <p:to>
                                        <p:strVal val="visible"/>
                                      </p:to>
                                    </p:set>
                                  </p:childTnLst>
                                </p:cTn>
                              </p:par>
                              <p:par>
                                <p:cTn id="16" presetID="53" presetClass="entr" presetSubtype="16" fill="hold" grpId="1" nodeType="withEffect">
                                  <p:stCondLst>
                                    <p:cond delay="0"/>
                                  </p:stCondLst>
                                  <p:childTnLst>
                                    <p:set>
                                      <p:cBhvr>
                                        <p:cTn id="17" dur="1" fill="hold">
                                          <p:stCondLst>
                                            <p:cond delay="0"/>
                                          </p:stCondLst>
                                        </p:cTn>
                                        <p:tgtEl>
                                          <p:spTgt spid="23"/>
                                        </p:tgtEl>
                                        <p:attrNameLst>
                                          <p:attrName>style.visibility</p:attrName>
                                        </p:attrNameLst>
                                      </p:cBhvr>
                                      <p:to>
                                        <p:strVal val="visible"/>
                                      </p:to>
                                    </p:set>
                                    <p:anim calcmode="lin" valueType="num">
                                      <p:cBhvr>
                                        <p:cTn id="18" dur="1000" fill="hold"/>
                                        <p:tgtEl>
                                          <p:spTgt spid="23"/>
                                        </p:tgtEl>
                                        <p:attrNameLst>
                                          <p:attrName>ppt_w</p:attrName>
                                        </p:attrNameLst>
                                      </p:cBhvr>
                                      <p:tavLst>
                                        <p:tav tm="0">
                                          <p:val>
                                            <p:fltVal val="0"/>
                                          </p:val>
                                        </p:tav>
                                        <p:tav tm="100000">
                                          <p:val>
                                            <p:strVal val="#ppt_w"/>
                                          </p:val>
                                        </p:tav>
                                      </p:tavLst>
                                    </p:anim>
                                    <p:anim calcmode="lin" valueType="num">
                                      <p:cBhvr>
                                        <p:cTn id="19" dur="1000" fill="hold"/>
                                        <p:tgtEl>
                                          <p:spTgt spid="23"/>
                                        </p:tgtEl>
                                        <p:attrNameLst>
                                          <p:attrName>ppt_h</p:attrName>
                                        </p:attrNameLst>
                                      </p:cBhvr>
                                      <p:tavLst>
                                        <p:tav tm="0">
                                          <p:val>
                                            <p:fltVal val="0"/>
                                          </p:val>
                                        </p:tav>
                                        <p:tav tm="100000">
                                          <p:val>
                                            <p:strVal val="#ppt_h"/>
                                          </p:val>
                                        </p:tav>
                                      </p:tavLst>
                                    </p:anim>
                                    <p:animEffect transition="in" filter="fade">
                                      <p:cBhvr>
                                        <p:cTn id="20" dur="1000"/>
                                        <p:tgtEl>
                                          <p:spTgt spid="23"/>
                                        </p:tgtEl>
                                      </p:cBhvr>
                                    </p:animEffect>
                                  </p:childTnLst>
                                </p:cTn>
                              </p:par>
                              <p:par>
                                <p:cTn id="21" presetID="64" presetClass="path" presetSubtype="0" fill="hold" grpId="2" nodeType="withEffect">
                                  <p:stCondLst>
                                    <p:cond delay="0"/>
                                  </p:stCondLst>
                                  <p:childTnLst>
                                    <p:animMotion origin="layout" path="M -2.22222E-6 1.18319E-6 L 0.21702 -0.37071 " pathEditMode="relative" rAng="0" ptsTypes="AA">
                                      <p:cBhvr>
                                        <p:cTn id="22" dur="1000" spd="-100000" fill="hold"/>
                                        <p:tgtEl>
                                          <p:spTgt spid="23"/>
                                        </p:tgtEl>
                                        <p:attrNameLst>
                                          <p:attrName>ppt_x</p:attrName>
                                          <p:attrName>ppt_y</p:attrName>
                                        </p:attrNameLst>
                                      </p:cBhvr>
                                      <p:rCtr x="10851" y="-18536"/>
                                    </p:animMotion>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53" presetClass="entr" presetSubtype="16" fill="hold" grpId="1"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p:cTn id="27" dur="1000" fill="hold"/>
                                        <p:tgtEl>
                                          <p:spTgt spid="12"/>
                                        </p:tgtEl>
                                        <p:attrNameLst>
                                          <p:attrName>ppt_w</p:attrName>
                                        </p:attrNameLst>
                                      </p:cBhvr>
                                      <p:tavLst>
                                        <p:tav tm="0">
                                          <p:val>
                                            <p:fltVal val="0"/>
                                          </p:val>
                                        </p:tav>
                                        <p:tav tm="100000">
                                          <p:val>
                                            <p:strVal val="#ppt_w"/>
                                          </p:val>
                                        </p:tav>
                                      </p:tavLst>
                                    </p:anim>
                                    <p:anim calcmode="lin" valueType="num">
                                      <p:cBhvr>
                                        <p:cTn id="28" dur="1000" fill="hold"/>
                                        <p:tgtEl>
                                          <p:spTgt spid="12"/>
                                        </p:tgtEl>
                                        <p:attrNameLst>
                                          <p:attrName>ppt_h</p:attrName>
                                        </p:attrNameLst>
                                      </p:cBhvr>
                                      <p:tavLst>
                                        <p:tav tm="0">
                                          <p:val>
                                            <p:fltVal val="0"/>
                                          </p:val>
                                        </p:tav>
                                        <p:tav tm="100000">
                                          <p:val>
                                            <p:strVal val="#ppt_h"/>
                                          </p:val>
                                        </p:tav>
                                      </p:tavLst>
                                    </p:anim>
                                    <p:animEffect transition="in" filter="fade">
                                      <p:cBhvr>
                                        <p:cTn id="29" dur="1000"/>
                                        <p:tgtEl>
                                          <p:spTgt spid="12"/>
                                        </p:tgtEl>
                                      </p:cBhvr>
                                    </p:animEffect>
                                  </p:childTnLst>
                                </p:cTn>
                              </p:par>
                              <p:par>
                                <p:cTn id="30" presetID="64" presetClass="path" presetSubtype="0" fill="hold" grpId="2" nodeType="withEffect">
                                  <p:stCondLst>
                                    <p:cond delay="0"/>
                                  </p:stCondLst>
                                  <p:childTnLst>
                                    <p:animMotion origin="layout" path="M 0 -2.71605E-6 L 0.12309 0.575 " pathEditMode="relative" rAng="0" ptsTypes="AA">
                                      <p:cBhvr>
                                        <p:cTn id="31" dur="1000" spd="-100000" fill="hold"/>
                                        <p:tgtEl>
                                          <p:spTgt spid="12"/>
                                        </p:tgtEl>
                                        <p:attrNameLst>
                                          <p:attrName>ppt_x</p:attrName>
                                          <p:attrName>ppt_y</p:attrName>
                                        </p:attrNameLst>
                                      </p:cBhvr>
                                      <p:rCtr x="6146" y="28735"/>
                                    </p:animMotion>
                                  </p:childTnLst>
                                </p:cTn>
                              </p:par>
                              <p:par>
                                <p:cTn id="32" presetID="1" presetClass="entr" presetSubtype="0" fill="hold" nodeType="withEffect">
                                  <p:stCondLst>
                                    <p:cond delay="500"/>
                                  </p:stCondLst>
                                  <p:childTnLst>
                                    <p:set>
                                      <p:cBhvr>
                                        <p:cTn id="33" dur="1" fill="hold">
                                          <p:stCondLst>
                                            <p:cond delay="0"/>
                                          </p:stCondLst>
                                        </p:cTn>
                                        <p:tgtEl>
                                          <p:spTgt spid="24"/>
                                        </p:tgtEl>
                                        <p:attrNameLst>
                                          <p:attrName>style.visibility</p:attrName>
                                        </p:attrNameLst>
                                      </p:cBhvr>
                                      <p:to>
                                        <p:strVal val="visible"/>
                                      </p:to>
                                    </p:set>
                                  </p:childTnLst>
                                </p:cTn>
                              </p:par>
                              <p:par>
                                <p:cTn id="34" presetID="53" presetClass="entr" presetSubtype="16" fill="hold" nodeType="withEffect">
                                  <p:stCondLst>
                                    <p:cond delay="500"/>
                                  </p:stCondLst>
                                  <p:childTnLst>
                                    <p:set>
                                      <p:cBhvr>
                                        <p:cTn id="35" dur="1" fill="hold">
                                          <p:stCondLst>
                                            <p:cond delay="0"/>
                                          </p:stCondLst>
                                        </p:cTn>
                                        <p:tgtEl>
                                          <p:spTgt spid="24"/>
                                        </p:tgtEl>
                                        <p:attrNameLst>
                                          <p:attrName>style.visibility</p:attrName>
                                        </p:attrNameLst>
                                      </p:cBhvr>
                                      <p:to>
                                        <p:strVal val="visible"/>
                                      </p:to>
                                    </p:set>
                                    <p:anim calcmode="lin" valueType="num">
                                      <p:cBhvr>
                                        <p:cTn id="36" dur="1000" fill="hold"/>
                                        <p:tgtEl>
                                          <p:spTgt spid="24"/>
                                        </p:tgtEl>
                                        <p:attrNameLst>
                                          <p:attrName>ppt_w</p:attrName>
                                        </p:attrNameLst>
                                      </p:cBhvr>
                                      <p:tavLst>
                                        <p:tav tm="0">
                                          <p:val>
                                            <p:fltVal val="0"/>
                                          </p:val>
                                        </p:tav>
                                        <p:tav tm="100000">
                                          <p:val>
                                            <p:strVal val="#ppt_w"/>
                                          </p:val>
                                        </p:tav>
                                      </p:tavLst>
                                    </p:anim>
                                    <p:anim calcmode="lin" valueType="num">
                                      <p:cBhvr>
                                        <p:cTn id="37" dur="1000" fill="hold"/>
                                        <p:tgtEl>
                                          <p:spTgt spid="24"/>
                                        </p:tgtEl>
                                        <p:attrNameLst>
                                          <p:attrName>ppt_h</p:attrName>
                                        </p:attrNameLst>
                                      </p:cBhvr>
                                      <p:tavLst>
                                        <p:tav tm="0">
                                          <p:val>
                                            <p:fltVal val="0"/>
                                          </p:val>
                                        </p:tav>
                                        <p:tav tm="100000">
                                          <p:val>
                                            <p:strVal val="#ppt_h"/>
                                          </p:val>
                                        </p:tav>
                                      </p:tavLst>
                                    </p:anim>
                                    <p:animEffect transition="in" filter="fade">
                                      <p:cBhvr>
                                        <p:cTn id="38" dur="1000"/>
                                        <p:tgtEl>
                                          <p:spTgt spid="24"/>
                                        </p:tgtEl>
                                      </p:cBhvr>
                                    </p:animEffect>
                                  </p:childTnLst>
                                </p:cTn>
                              </p:par>
                              <p:par>
                                <p:cTn id="39" presetID="64" presetClass="path" presetSubtype="0" fill="hold" nodeType="withEffect">
                                  <p:stCondLst>
                                    <p:cond delay="500"/>
                                  </p:stCondLst>
                                  <p:childTnLst>
                                    <p:animMotion origin="layout" path="M 4.44444E-6 4.32099E-6 L -0.64115 -0.9497 " pathEditMode="relative" rAng="0" ptsTypes="AA">
                                      <p:cBhvr>
                                        <p:cTn id="40" dur="1000" spd="-100000" fill="hold"/>
                                        <p:tgtEl>
                                          <p:spTgt spid="24"/>
                                        </p:tgtEl>
                                        <p:attrNameLst>
                                          <p:attrName>ppt_x</p:attrName>
                                          <p:attrName>ppt_y</p:attrName>
                                        </p:attrNameLst>
                                      </p:cBhvr>
                                      <p:rCtr x="-32066" y="-47500"/>
                                    </p:animMotion>
                                  </p:childTnLst>
                                </p:cTn>
                              </p:par>
                              <p:par>
                                <p:cTn id="41" presetID="1" presetClass="entr" presetSubtype="0" fill="hold" nodeType="withEffect">
                                  <p:stCondLst>
                                    <p:cond delay="500"/>
                                  </p:stCondLst>
                                  <p:childTnLst>
                                    <p:set>
                                      <p:cBhvr>
                                        <p:cTn id="42" dur="1" fill="hold">
                                          <p:stCondLst>
                                            <p:cond delay="0"/>
                                          </p:stCondLst>
                                        </p:cTn>
                                        <p:tgtEl>
                                          <p:spTgt spid="17"/>
                                        </p:tgtEl>
                                        <p:attrNameLst>
                                          <p:attrName>style.visibility</p:attrName>
                                        </p:attrNameLst>
                                      </p:cBhvr>
                                      <p:to>
                                        <p:strVal val="visible"/>
                                      </p:to>
                                    </p:set>
                                  </p:childTnLst>
                                </p:cTn>
                              </p:par>
                              <p:par>
                                <p:cTn id="43" presetID="1" presetClass="entr" presetSubtype="0" fill="hold" nodeType="withEffect">
                                  <p:stCondLst>
                                    <p:cond delay="500"/>
                                  </p:stCondLst>
                                  <p:childTnLst>
                                    <p:set>
                                      <p:cBhvr>
                                        <p:cTn id="44" dur="1" fill="hold">
                                          <p:stCondLst>
                                            <p:cond delay="0"/>
                                          </p:stCondLst>
                                        </p:cTn>
                                        <p:tgtEl>
                                          <p:spTgt spid="2"/>
                                        </p:tgtEl>
                                        <p:attrNameLst>
                                          <p:attrName>style.visibility</p:attrName>
                                        </p:attrNameLst>
                                      </p:cBhvr>
                                      <p:to>
                                        <p:strVal val="visible"/>
                                      </p:to>
                                    </p:set>
                                  </p:childTnLst>
                                </p:cTn>
                              </p:par>
                              <p:par>
                                <p:cTn id="45" presetID="53" presetClass="entr" presetSubtype="16" fill="hold" nodeType="withEffect">
                                  <p:stCondLst>
                                    <p:cond delay="500"/>
                                  </p:stCondLst>
                                  <p:childTnLst>
                                    <p:set>
                                      <p:cBhvr>
                                        <p:cTn id="46" dur="1" fill="hold">
                                          <p:stCondLst>
                                            <p:cond delay="0"/>
                                          </p:stCondLst>
                                        </p:cTn>
                                        <p:tgtEl>
                                          <p:spTgt spid="2"/>
                                        </p:tgtEl>
                                        <p:attrNameLst>
                                          <p:attrName>style.visibility</p:attrName>
                                        </p:attrNameLst>
                                      </p:cBhvr>
                                      <p:to>
                                        <p:strVal val="visible"/>
                                      </p:to>
                                    </p:set>
                                    <p:anim calcmode="lin" valueType="num">
                                      <p:cBhvr>
                                        <p:cTn id="47" dur="1000" fill="hold"/>
                                        <p:tgtEl>
                                          <p:spTgt spid="2"/>
                                        </p:tgtEl>
                                        <p:attrNameLst>
                                          <p:attrName>ppt_w</p:attrName>
                                        </p:attrNameLst>
                                      </p:cBhvr>
                                      <p:tavLst>
                                        <p:tav tm="0">
                                          <p:val>
                                            <p:fltVal val="0"/>
                                          </p:val>
                                        </p:tav>
                                        <p:tav tm="100000">
                                          <p:val>
                                            <p:strVal val="#ppt_w"/>
                                          </p:val>
                                        </p:tav>
                                      </p:tavLst>
                                    </p:anim>
                                    <p:anim calcmode="lin" valueType="num">
                                      <p:cBhvr>
                                        <p:cTn id="48" dur="1000" fill="hold"/>
                                        <p:tgtEl>
                                          <p:spTgt spid="2"/>
                                        </p:tgtEl>
                                        <p:attrNameLst>
                                          <p:attrName>ppt_h</p:attrName>
                                        </p:attrNameLst>
                                      </p:cBhvr>
                                      <p:tavLst>
                                        <p:tav tm="0">
                                          <p:val>
                                            <p:fltVal val="0"/>
                                          </p:val>
                                        </p:tav>
                                        <p:tav tm="100000">
                                          <p:val>
                                            <p:strVal val="#ppt_h"/>
                                          </p:val>
                                        </p:tav>
                                      </p:tavLst>
                                    </p:anim>
                                    <p:animEffect transition="in" filter="fade">
                                      <p:cBhvr>
                                        <p:cTn id="49" dur="1000"/>
                                        <p:tgtEl>
                                          <p:spTgt spid="2"/>
                                        </p:tgtEl>
                                      </p:cBhvr>
                                    </p:animEffect>
                                  </p:childTnLst>
                                </p:cTn>
                              </p:par>
                              <p:par>
                                <p:cTn id="50" presetID="64" presetClass="path" presetSubtype="0" fill="hold" nodeType="withEffect">
                                  <p:stCondLst>
                                    <p:cond delay="500"/>
                                  </p:stCondLst>
                                  <p:childTnLst>
                                    <p:animMotion origin="layout" path="M 1.11111E-6 3.7037E-7 L -0.52465 -0.50957 " pathEditMode="relative" rAng="0" ptsTypes="AA">
                                      <p:cBhvr>
                                        <p:cTn id="51" dur="1000" spd="-100000" fill="hold"/>
                                        <p:tgtEl>
                                          <p:spTgt spid="2"/>
                                        </p:tgtEl>
                                        <p:attrNameLst>
                                          <p:attrName>ppt_x</p:attrName>
                                          <p:attrName>ppt_y</p:attrName>
                                        </p:attrNameLst>
                                      </p:cBhvr>
                                      <p:rCtr x="-26233" y="-25494"/>
                                    </p:animMotion>
                                  </p:childTnLst>
                                </p:cTn>
                              </p:par>
                              <p:par>
                                <p:cTn id="52" presetID="53" presetClass="entr" presetSubtype="16" fill="hold" nodeType="withEffect">
                                  <p:stCondLst>
                                    <p:cond delay="500"/>
                                  </p:stCondLst>
                                  <p:childTnLst>
                                    <p:set>
                                      <p:cBhvr>
                                        <p:cTn id="53" dur="1" fill="hold">
                                          <p:stCondLst>
                                            <p:cond delay="0"/>
                                          </p:stCondLst>
                                        </p:cTn>
                                        <p:tgtEl>
                                          <p:spTgt spid="17"/>
                                        </p:tgtEl>
                                        <p:attrNameLst>
                                          <p:attrName>style.visibility</p:attrName>
                                        </p:attrNameLst>
                                      </p:cBhvr>
                                      <p:to>
                                        <p:strVal val="visible"/>
                                      </p:to>
                                    </p:set>
                                    <p:anim calcmode="lin" valueType="num">
                                      <p:cBhvr>
                                        <p:cTn id="54" dur="1000" fill="hold"/>
                                        <p:tgtEl>
                                          <p:spTgt spid="17"/>
                                        </p:tgtEl>
                                        <p:attrNameLst>
                                          <p:attrName>ppt_w</p:attrName>
                                        </p:attrNameLst>
                                      </p:cBhvr>
                                      <p:tavLst>
                                        <p:tav tm="0">
                                          <p:val>
                                            <p:fltVal val="0"/>
                                          </p:val>
                                        </p:tav>
                                        <p:tav tm="100000">
                                          <p:val>
                                            <p:strVal val="#ppt_w"/>
                                          </p:val>
                                        </p:tav>
                                      </p:tavLst>
                                    </p:anim>
                                    <p:anim calcmode="lin" valueType="num">
                                      <p:cBhvr>
                                        <p:cTn id="55" dur="1000" fill="hold"/>
                                        <p:tgtEl>
                                          <p:spTgt spid="17"/>
                                        </p:tgtEl>
                                        <p:attrNameLst>
                                          <p:attrName>ppt_h</p:attrName>
                                        </p:attrNameLst>
                                      </p:cBhvr>
                                      <p:tavLst>
                                        <p:tav tm="0">
                                          <p:val>
                                            <p:fltVal val="0"/>
                                          </p:val>
                                        </p:tav>
                                        <p:tav tm="100000">
                                          <p:val>
                                            <p:strVal val="#ppt_h"/>
                                          </p:val>
                                        </p:tav>
                                      </p:tavLst>
                                    </p:anim>
                                    <p:animEffect transition="in" filter="fade">
                                      <p:cBhvr>
                                        <p:cTn id="56" dur="1000"/>
                                        <p:tgtEl>
                                          <p:spTgt spid="17"/>
                                        </p:tgtEl>
                                      </p:cBhvr>
                                    </p:animEffect>
                                  </p:childTnLst>
                                </p:cTn>
                              </p:par>
                              <p:par>
                                <p:cTn id="57" presetID="64" presetClass="path" presetSubtype="0" fill="hold" nodeType="withEffect">
                                  <p:stCondLst>
                                    <p:cond delay="500"/>
                                  </p:stCondLst>
                                  <p:childTnLst>
                                    <p:animMotion origin="layout" path="M 2.5E-6 6.17284E-7 L -0.71736 -0.40556 " pathEditMode="relative" rAng="0" ptsTypes="AA">
                                      <p:cBhvr>
                                        <p:cTn id="58" dur="1000" spd="-100000" fill="hold"/>
                                        <p:tgtEl>
                                          <p:spTgt spid="17"/>
                                        </p:tgtEl>
                                        <p:attrNameLst>
                                          <p:attrName>ppt_x</p:attrName>
                                          <p:attrName>ppt_y</p:attrName>
                                        </p:attrNameLst>
                                      </p:cBhvr>
                                      <p:rCtr x="-35868" y="-20278"/>
                                    </p:animMotion>
                                  </p:childTnLst>
                                </p:cTn>
                              </p:par>
                            </p:childTnLst>
                          </p:cTn>
                        </p:par>
                        <p:par>
                          <p:cTn id="59" fill="hold">
                            <p:stCondLst>
                              <p:cond delay="0"/>
                            </p:stCondLst>
                            <p:childTnLst>
                              <p:par>
                                <p:cTn id="60" presetID="38" presetClass="entr" presetSubtype="0" accel="50000" fill="hold" grpId="0" nodeType="afterEffect">
                                  <p:stCondLst>
                                    <p:cond delay="0"/>
                                  </p:stCondLst>
                                  <p:iterate type="lt">
                                    <p:tmPct val="50000"/>
                                  </p:iterate>
                                  <p:childTnLst>
                                    <p:set>
                                      <p:cBhvr>
                                        <p:cTn id="61" dur="1" fill="hold">
                                          <p:stCondLst>
                                            <p:cond delay="0"/>
                                          </p:stCondLst>
                                        </p:cTn>
                                        <p:tgtEl>
                                          <p:spTgt spid="27"/>
                                        </p:tgtEl>
                                        <p:attrNameLst>
                                          <p:attrName>style.visibility</p:attrName>
                                        </p:attrNameLst>
                                      </p:cBhvr>
                                      <p:to>
                                        <p:strVal val="visible"/>
                                      </p:to>
                                    </p:set>
                                    <p:set>
                                      <p:cBhvr>
                                        <p:cTn id="62" dur="114" fill="hold">
                                          <p:stCondLst>
                                            <p:cond delay="0"/>
                                          </p:stCondLst>
                                        </p:cTn>
                                        <p:tgtEl>
                                          <p:spTgt spid="27"/>
                                        </p:tgtEl>
                                        <p:attrNameLst>
                                          <p:attrName>style.rotation</p:attrName>
                                        </p:attrNameLst>
                                      </p:cBhvr>
                                      <p:to>
                                        <p:strVal val="-45.0"/>
                                      </p:to>
                                    </p:set>
                                    <p:anim calcmode="lin" valueType="num">
                                      <p:cBhvr>
                                        <p:cTn id="63" dur="114" fill="hold">
                                          <p:stCondLst>
                                            <p:cond delay="114"/>
                                          </p:stCondLst>
                                        </p:cTn>
                                        <p:tgtEl>
                                          <p:spTgt spid="27"/>
                                        </p:tgtEl>
                                        <p:attrNameLst>
                                          <p:attrName>style.rotation</p:attrName>
                                        </p:attrNameLst>
                                      </p:cBhvr>
                                      <p:tavLst>
                                        <p:tav tm="0">
                                          <p:val>
                                            <p:fltVal val="-45"/>
                                          </p:val>
                                        </p:tav>
                                        <p:tav tm="69900">
                                          <p:val>
                                            <p:fltVal val="45"/>
                                          </p:val>
                                        </p:tav>
                                        <p:tav tm="100000">
                                          <p:val>
                                            <p:fltVal val="0"/>
                                          </p:val>
                                        </p:tav>
                                      </p:tavLst>
                                    </p:anim>
                                    <p:anim calcmode="lin" valueType="num">
                                      <p:cBhvr>
                                        <p:cTn id="64" dur="114" fill="hold">
                                          <p:stCondLst>
                                            <p:cond delay="0"/>
                                          </p:stCondLst>
                                        </p:cTn>
                                        <p:tgtEl>
                                          <p:spTgt spid="27"/>
                                        </p:tgtEl>
                                        <p:attrNameLst>
                                          <p:attrName>ppt_y</p:attrName>
                                        </p:attrNameLst>
                                      </p:cBhvr>
                                      <p:tavLst>
                                        <p:tav tm="0">
                                          <p:val>
                                            <p:strVal val="#ppt_y-1"/>
                                          </p:val>
                                        </p:tav>
                                        <p:tav tm="100000">
                                          <p:val>
                                            <p:strVal val="#ppt_y-(0.354*#ppt_w-0.172*#ppt_h)"/>
                                          </p:val>
                                        </p:tav>
                                      </p:tavLst>
                                    </p:anim>
                                    <p:anim calcmode="lin" valueType="num">
                                      <p:cBhvr>
                                        <p:cTn id="65" dur="39" decel="50000" autoRev="1" fill="hold">
                                          <p:stCondLst>
                                            <p:cond delay="114"/>
                                          </p:stCondLst>
                                        </p:cTn>
                                        <p:tgtEl>
                                          <p:spTgt spid="27"/>
                                        </p:tgtEl>
                                        <p:attrNameLst>
                                          <p:attrName>ppt_y</p:attrName>
                                        </p:attrNameLst>
                                      </p:cBhvr>
                                      <p:tavLst>
                                        <p:tav tm="0">
                                          <p:val>
                                            <p:strVal val="#ppt_y-(0.354*#ppt_w-0.172*#ppt_h)"/>
                                          </p:val>
                                        </p:tav>
                                        <p:tav tm="100000">
                                          <p:val>
                                            <p:strVal val="#ppt_y-(0.354*#ppt_w-0.172*#ppt_h)-#ppt_h/2"/>
                                          </p:val>
                                        </p:tav>
                                      </p:tavLst>
                                    </p:anim>
                                    <p:anim calcmode="lin" valueType="num">
                                      <p:cBhvr>
                                        <p:cTn id="66" dur="34" fill="hold">
                                          <p:stCondLst>
                                            <p:cond delay="216"/>
                                          </p:stCondLst>
                                        </p:cTn>
                                        <p:tgtEl>
                                          <p:spTgt spid="27"/>
                                        </p:tgtEl>
                                        <p:attrNameLst>
                                          <p:attrName>ppt_y</p:attrName>
                                        </p:attrNameLst>
                                      </p:cBhvr>
                                      <p:tavLst>
                                        <p:tav tm="0">
                                          <p:val>
                                            <p:strVal val="#ppt_y-(0.354*#ppt_w-0.172*#ppt_h)"/>
                                          </p:val>
                                        </p:tav>
                                        <p:tav tm="100000">
                                          <p:val>
                                            <p:strVal val="#ppt_y"/>
                                          </p:val>
                                        </p:tav>
                                      </p:tavLst>
                                    </p:anim>
                                  </p:childTnLst>
                                </p:cTn>
                              </p:par>
                            </p:childTnLst>
                          </p:cTn>
                        </p:par>
                        <p:par>
                          <p:cTn id="67" fill="hold">
                            <p:stCondLst>
                              <p:cond delay="2375"/>
                            </p:stCondLst>
                            <p:childTnLst>
                              <p:par>
                                <p:cTn id="68" presetID="2" presetClass="entr" presetSubtype="1" fill="hold" grpId="0" nodeType="afterEffect">
                                  <p:stCondLst>
                                    <p:cond delay="0"/>
                                  </p:stCondLst>
                                  <p:childTnLst>
                                    <p:set>
                                      <p:cBhvr>
                                        <p:cTn id="69" dur="1" fill="hold">
                                          <p:stCondLst>
                                            <p:cond delay="0"/>
                                          </p:stCondLst>
                                        </p:cTn>
                                        <p:tgtEl>
                                          <p:spTgt spid="28"/>
                                        </p:tgtEl>
                                        <p:attrNameLst>
                                          <p:attrName>style.visibility</p:attrName>
                                        </p:attrNameLst>
                                      </p:cBhvr>
                                      <p:to>
                                        <p:strVal val="visible"/>
                                      </p:to>
                                    </p:set>
                                    <p:anim calcmode="lin" valueType="num">
                                      <p:cBhvr additive="base">
                                        <p:cTn id="70" dur="500" fill="hold"/>
                                        <p:tgtEl>
                                          <p:spTgt spid="28"/>
                                        </p:tgtEl>
                                        <p:attrNameLst>
                                          <p:attrName>ppt_x</p:attrName>
                                        </p:attrNameLst>
                                      </p:cBhvr>
                                      <p:tavLst>
                                        <p:tav tm="0">
                                          <p:val>
                                            <p:strVal val="#ppt_x"/>
                                          </p:val>
                                        </p:tav>
                                        <p:tav tm="100000">
                                          <p:val>
                                            <p:strVal val="#ppt_x"/>
                                          </p:val>
                                        </p:tav>
                                      </p:tavLst>
                                    </p:anim>
                                    <p:anim calcmode="lin" valueType="num">
                                      <p:cBhvr additive="base">
                                        <p:cTn id="71" dur="500" fill="hold"/>
                                        <p:tgtEl>
                                          <p:spTgt spid="28"/>
                                        </p:tgtEl>
                                        <p:attrNameLst>
                                          <p:attrName>ppt_y</p:attrName>
                                        </p:attrNameLst>
                                      </p:cBhvr>
                                      <p:tavLst>
                                        <p:tav tm="0">
                                          <p:val>
                                            <p:strVal val="0-#ppt_h/2"/>
                                          </p:val>
                                        </p:tav>
                                        <p:tav tm="100000">
                                          <p:val>
                                            <p:strVal val="#ppt_y"/>
                                          </p:val>
                                        </p:tav>
                                      </p:tavLst>
                                    </p:anim>
                                  </p:childTnLst>
                                </p:cTn>
                              </p:par>
                              <p:par>
                                <p:cTn id="72" presetID="2" presetClass="entr" presetSubtype="1" fill="hold" grpId="0" nodeType="withEffect">
                                  <p:stCondLst>
                                    <p:cond delay="250"/>
                                  </p:stCondLst>
                                  <p:childTnLst>
                                    <p:set>
                                      <p:cBhvr>
                                        <p:cTn id="73" dur="1" fill="hold">
                                          <p:stCondLst>
                                            <p:cond delay="0"/>
                                          </p:stCondLst>
                                        </p:cTn>
                                        <p:tgtEl>
                                          <p:spTgt spid="29"/>
                                        </p:tgtEl>
                                        <p:attrNameLst>
                                          <p:attrName>style.visibility</p:attrName>
                                        </p:attrNameLst>
                                      </p:cBhvr>
                                      <p:to>
                                        <p:strVal val="visible"/>
                                      </p:to>
                                    </p:set>
                                    <p:anim calcmode="lin" valueType="num">
                                      <p:cBhvr additive="base">
                                        <p:cTn id="74" dur="500" fill="hold"/>
                                        <p:tgtEl>
                                          <p:spTgt spid="29"/>
                                        </p:tgtEl>
                                        <p:attrNameLst>
                                          <p:attrName>ppt_x</p:attrName>
                                        </p:attrNameLst>
                                      </p:cBhvr>
                                      <p:tavLst>
                                        <p:tav tm="0">
                                          <p:val>
                                            <p:strVal val="#ppt_x"/>
                                          </p:val>
                                        </p:tav>
                                        <p:tav tm="100000">
                                          <p:val>
                                            <p:strVal val="#ppt_x"/>
                                          </p:val>
                                        </p:tav>
                                      </p:tavLst>
                                    </p:anim>
                                    <p:anim calcmode="lin" valueType="num">
                                      <p:cBhvr additive="base">
                                        <p:cTn id="75" dur="500" fill="hold"/>
                                        <p:tgtEl>
                                          <p:spTgt spid="29"/>
                                        </p:tgtEl>
                                        <p:attrNameLst>
                                          <p:attrName>ppt_y</p:attrName>
                                        </p:attrNameLst>
                                      </p:cBhvr>
                                      <p:tavLst>
                                        <p:tav tm="0">
                                          <p:val>
                                            <p:strVal val="0-#ppt_h/2"/>
                                          </p:val>
                                        </p:tav>
                                        <p:tav tm="100000">
                                          <p:val>
                                            <p:strVal val="#ppt_y"/>
                                          </p:val>
                                        </p:tav>
                                      </p:tavLst>
                                    </p:anim>
                                  </p:childTnLst>
                                </p:cTn>
                              </p:par>
                              <p:par>
                                <p:cTn id="76" presetID="2" presetClass="entr" presetSubtype="1" fill="hold" grpId="0" nodeType="withEffect">
                                  <p:stCondLst>
                                    <p:cond delay="500"/>
                                  </p:stCondLst>
                                  <p:childTnLst>
                                    <p:set>
                                      <p:cBhvr>
                                        <p:cTn id="77" dur="1" fill="hold">
                                          <p:stCondLst>
                                            <p:cond delay="0"/>
                                          </p:stCondLst>
                                        </p:cTn>
                                        <p:tgtEl>
                                          <p:spTgt spid="30"/>
                                        </p:tgtEl>
                                        <p:attrNameLst>
                                          <p:attrName>style.visibility</p:attrName>
                                        </p:attrNameLst>
                                      </p:cBhvr>
                                      <p:to>
                                        <p:strVal val="visible"/>
                                      </p:to>
                                    </p:set>
                                    <p:anim calcmode="lin" valueType="num">
                                      <p:cBhvr additive="base">
                                        <p:cTn id="78" dur="500" fill="hold"/>
                                        <p:tgtEl>
                                          <p:spTgt spid="30"/>
                                        </p:tgtEl>
                                        <p:attrNameLst>
                                          <p:attrName>ppt_x</p:attrName>
                                        </p:attrNameLst>
                                      </p:cBhvr>
                                      <p:tavLst>
                                        <p:tav tm="0">
                                          <p:val>
                                            <p:strVal val="#ppt_x"/>
                                          </p:val>
                                        </p:tav>
                                        <p:tav tm="100000">
                                          <p:val>
                                            <p:strVal val="#ppt_x"/>
                                          </p:val>
                                        </p:tav>
                                      </p:tavLst>
                                    </p:anim>
                                    <p:anim calcmode="lin" valueType="num">
                                      <p:cBhvr additive="base">
                                        <p:cTn id="79" dur="500" fill="hold"/>
                                        <p:tgtEl>
                                          <p:spTgt spid="30"/>
                                        </p:tgtEl>
                                        <p:attrNameLst>
                                          <p:attrName>ppt_y</p:attrName>
                                        </p:attrNameLst>
                                      </p:cBhvr>
                                      <p:tavLst>
                                        <p:tav tm="0">
                                          <p:val>
                                            <p:strVal val="0-#ppt_h/2"/>
                                          </p:val>
                                        </p:tav>
                                        <p:tav tm="100000">
                                          <p:val>
                                            <p:strVal val="#ppt_y"/>
                                          </p:val>
                                        </p:tav>
                                      </p:tavLst>
                                    </p:anim>
                                  </p:childTnLst>
                                </p:cTn>
                              </p:par>
                              <p:par>
                                <p:cTn id="80" presetID="2" presetClass="entr" presetSubtype="1" fill="hold" grpId="0" nodeType="withEffect">
                                  <p:stCondLst>
                                    <p:cond delay="750"/>
                                  </p:stCondLst>
                                  <p:childTnLst>
                                    <p:set>
                                      <p:cBhvr>
                                        <p:cTn id="81" dur="1" fill="hold">
                                          <p:stCondLst>
                                            <p:cond delay="0"/>
                                          </p:stCondLst>
                                        </p:cTn>
                                        <p:tgtEl>
                                          <p:spTgt spid="31"/>
                                        </p:tgtEl>
                                        <p:attrNameLst>
                                          <p:attrName>style.visibility</p:attrName>
                                        </p:attrNameLst>
                                      </p:cBhvr>
                                      <p:to>
                                        <p:strVal val="visible"/>
                                      </p:to>
                                    </p:set>
                                    <p:anim calcmode="lin" valueType="num">
                                      <p:cBhvr additive="base">
                                        <p:cTn id="82" dur="500" fill="hold"/>
                                        <p:tgtEl>
                                          <p:spTgt spid="31"/>
                                        </p:tgtEl>
                                        <p:attrNameLst>
                                          <p:attrName>ppt_x</p:attrName>
                                        </p:attrNameLst>
                                      </p:cBhvr>
                                      <p:tavLst>
                                        <p:tav tm="0">
                                          <p:val>
                                            <p:strVal val="#ppt_x"/>
                                          </p:val>
                                        </p:tav>
                                        <p:tav tm="100000">
                                          <p:val>
                                            <p:strVal val="#ppt_x"/>
                                          </p:val>
                                        </p:tav>
                                      </p:tavLst>
                                    </p:anim>
                                    <p:anim calcmode="lin" valueType="num">
                                      <p:cBhvr additive="base">
                                        <p:cTn id="83" dur="500" fill="hold"/>
                                        <p:tgtEl>
                                          <p:spTgt spid="31"/>
                                        </p:tgtEl>
                                        <p:attrNameLst>
                                          <p:attrName>ppt_y</p:attrName>
                                        </p:attrNameLst>
                                      </p:cBhvr>
                                      <p:tavLst>
                                        <p:tav tm="0">
                                          <p:val>
                                            <p:strVal val="0-#ppt_h/2"/>
                                          </p:val>
                                        </p:tav>
                                        <p:tav tm="100000">
                                          <p:val>
                                            <p:strVal val="#ppt_y"/>
                                          </p:val>
                                        </p:tav>
                                      </p:tavLst>
                                    </p:anim>
                                  </p:childTnLst>
                                </p:cTn>
                              </p:par>
                            </p:childTnLst>
                          </p:cTn>
                        </p:par>
                        <p:par>
                          <p:cTn id="84" fill="hold">
                            <p:stCondLst>
                              <p:cond delay="2875"/>
                            </p:stCondLst>
                            <p:childTnLst>
                              <p:par>
                                <p:cTn id="85" presetID="38" presetClass="entr" presetSubtype="0" accel="50000" fill="hold" grpId="0" nodeType="afterEffect">
                                  <p:stCondLst>
                                    <p:cond delay="0"/>
                                  </p:stCondLst>
                                  <p:iterate type="lt">
                                    <p:tmPct val="50000"/>
                                  </p:iterate>
                                  <p:childTnLst>
                                    <p:set>
                                      <p:cBhvr>
                                        <p:cTn id="86" dur="1" fill="hold">
                                          <p:stCondLst>
                                            <p:cond delay="0"/>
                                          </p:stCondLst>
                                        </p:cTn>
                                        <p:tgtEl>
                                          <p:spTgt spid="10"/>
                                        </p:tgtEl>
                                        <p:attrNameLst>
                                          <p:attrName>style.visibility</p:attrName>
                                        </p:attrNameLst>
                                      </p:cBhvr>
                                      <p:to>
                                        <p:strVal val="visible"/>
                                      </p:to>
                                    </p:set>
                                    <p:set>
                                      <p:cBhvr>
                                        <p:cTn id="87" dur="46" fill="hold">
                                          <p:stCondLst>
                                            <p:cond delay="0"/>
                                          </p:stCondLst>
                                        </p:cTn>
                                        <p:tgtEl>
                                          <p:spTgt spid="10"/>
                                        </p:tgtEl>
                                        <p:attrNameLst>
                                          <p:attrName>style.rotation</p:attrName>
                                        </p:attrNameLst>
                                      </p:cBhvr>
                                      <p:to>
                                        <p:strVal val="-45.0"/>
                                      </p:to>
                                    </p:set>
                                    <p:anim calcmode="lin" valueType="num">
                                      <p:cBhvr>
                                        <p:cTn id="88" dur="46" fill="hold">
                                          <p:stCondLst>
                                            <p:cond delay="46"/>
                                          </p:stCondLst>
                                        </p:cTn>
                                        <p:tgtEl>
                                          <p:spTgt spid="10"/>
                                        </p:tgtEl>
                                        <p:attrNameLst>
                                          <p:attrName>style.rotation</p:attrName>
                                        </p:attrNameLst>
                                      </p:cBhvr>
                                      <p:tavLst>
                                        <p:tav tm="0">
                                          <p:val>
                                            <p:fltVal val="-45"/>
                                          </p:val>
                                        </p:tav>
                                        <p:tav tm="69900">
                                          <p:val>
                                            <p:fltVal val="45"/>
                                          </p:val>
                                        </p:tav>
                                        <p:tav tm="100000">
                                          <p:val>
                                            <p:fltVal val="0"/>
                                          </p:val>
                                        </p:tav>
                                      </p:tavLst>
                                    </p:anim>
                                    <p:anim calcmode="lin" valueType="num">
                                      <p:cBhvr>
                                        <p:cTn id="89" dur="46" fill="hold">
                                          <p:stCondLst>
                                            <p:cond delay="0"/>
                                          </p:stCondLst>
                                        </p:cTn>
                                        <p:tgtEl>
                                          <p:spTgt spid="10"/>
                                        </p:tgtEl>
                                        <p:attrNameLst>
                                          <p:attrName>ppt_y</p:attrName>
                                        </p:attrNameLst>
                                      </p:cBhvr>
                                      <p:tavLst>
                                        <p:tav tm="0">
                                          <p:val>
                                            <p:strVal val="#ppt_y-1"/>
                                          </p:val>
                                        </p:tav>
                                        <p:tav tm="100000">
                                          <p:val>
                                            <p:strVal val="#ppt_y-(0.354*#ppt_w-0.172*#ppt_h)"/>
                                          </p:val>
                                        </p:tav>
                                      </p:tavLst>
                                    </p:anim>
                                    <p:anim calcmode="lin" valueType="num">
                                      <p:cBhvr>
                                        <p:cTn id="90" dur="16" decel="50000" autoRev="1" fill="hold">
                                          <p:stCondLst>
                                            <p:cond delay="46"/>
                                          </p:stCondLst>
                                        </p:cTn>
                                        <p:tgtEl>
                                          <p:spTgt spid="10"/>
                                        </p:tgtEl>
                                        <p:attrNameLst>
                                          <p:attrName>ppt_y</p:attrName>
                                        </p:attrNameLst>
                                      </p:cBhvr>
                                      <p:tavLst>
                                        <p:tav tm="0">
                                          <p:val>
                                            <p:strVal val="#ppt_y-(0.354*#ppt_w-0.172*#ppt_h)"/>
                                          </p:val>
                                        </p:tav>
                                        <p:tav tm="100000">
                                          <p:val>
                                            <p:strVal val="#ppt_y-(0.354*#ppt_w-0.172*#ppt_h)-#ppt_h/2"/>
                                          </p:val>
                                        </p:tav>
                                      </p:tavLst>
                                    </p:anim>
                                    <p:anim calcmode="lin" valueType="num">
                                      <p:cBhvr>
                                        <p:cTn id="91" dur="14" fill="hold">
                                          <p:stCondLst>
                                            <p:cond delay="86"/>
                                          </p:stCondLst>
                                        </p:cTn>
                                        <p:tgtEl>
                                          <p:spTgt spid="10"/>
                                        </p:tgtEl>
                                        <p:attrNameLst>
                                          <p:attrName>ppt_y</p:attrName>
                                        </p:attrNameLst>
                                      </p:cBhvr>
                                      <p:tavLst>
                                        <p:tav tm="0">
                                          <p:val>
                                            <p:strVal val="#ppt_y-(0.354*#ppt_w-0.172*#ppt_h)"/>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bldLvl="0" animBg="1"/>
      <p:bldP spid="12" grpId="1" bldLvl="0" animBg="1"/>
      <p:bldP spid="12" grpId="2" bldLvl="0" animBg="1"/>
      <p:bldP spid="13" grpId="0" bldLvl="0" animBg="1"/>
      <p:bldP spid="13" grpId="1" bldLvl="0" animBg="1"/>
      <p:bldP spid="13" grpId="2" bldLvl="0" animBg="1"/>
      <p:bldP spid="23" grpId="0" bldLvl="0" animBg="1"/>
      <p:bldP spid="23" grpId="1" bldLvl="0" animBg="1"/>
      <p:bldP spid="23" grpId="2" bldLvl="0" animBg="1"/>
      <p:bldP spid="27" grpId="0"/>
      <p:bldP spid="28" grpId="0"/>
      <p:bldP spid="29" grpId="0"/>
      <p:bldP spid="30" grpId="0"/>
      <p:bldP spid="31" grpId="0"/>
    </p:bldLst>
  </p:timing>
</p:sld>
</file>

<file path=ppt/theme/theme1.xml><?xml version="1.0" encoding="utf-8"?>
<a:theme xmlns:a="http://schemas.openxmlformats.org/drawingml/2006/main" name="第一PPT，www.1ppt.com">
  <a:themeElements>
    <a:clrScheme name="Verve">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3039</Words>
  <Application>WPS 演示</Application>
  <PresentationFormat>自定义</PresentationFormat>
  <Paragraphs>196</Paragraphs>
  <Slides>23</Slides>
  <Notes>0</Notes>
  <HiddenSlides>0</HiddenSlides>
  <MMClips>0</MMClips>
  <ScaleCrop>false</ScaleCrop>
  <HeadingPairs>
    <vt:vector size="8" baseType="variant">
      <vt:variant>
        <vt:lpstr>已用的字体</vt:lpstr>
      </vt:variant>
      <vt:variant>
        <vt:i4>22</vt:i4>
      </vt:variant>
      <vt:variant>
        <vt:lpstr>主题</vt:lpstr>
      </vt:variant>
      <vt:variant>
        <vt:i4>1</vt:i4>
      </vt:variant>
      <vt:variant>
        <vt:lpstr>嵌入 OLE 服务器</vt:lpstr>
      </vt:variant>
      <vt:variant>
        <vt:i4>4</vt:i4>
      </vt:variant>
      <vt:variant>
        <vt:lpstr>幻灯片标题</vt:lpstr>
      </vt:variant>
      <vt:variant>
        <vt:i4>23</vt:i4>
      </vt:variant>
    </vt:vector>
  </HeadingPairs>
  <TitlesOfParts>
    <vt:vector size="50" baseType="lpstr">
      <vt:lpstr>Arial</vt:lpstr>
      <vt:lpstr>宋体</vt:lpstr>
      <vt:lpstr>Wingdings</vt:lpstr>
      <vt:lpstr>微软雅黑</vt:lpstr>
      <vt:lpstr>Calibri</vt:lpstr>
      <vt:lpstr>Aller Light</vt:lpstr>
      <vt:lpstr>ui-grid</vt:lpstr>
      <vt:lpstr>Roboto</vt:lpstr>
      <vt:lpstr>Times New Roman</vt:lpstr>
      <vt:lpstr>Impact</vt:lpstr>
      <vt:lpstr>Century Gothic</vt:lpstr>
      <vt:lpstr>Arial Unicode MS</vt:lpstr>
      <vt:lpstr>Calibri Light</vt:lpstr>
      <vt:lpstr>Segoe UI Semilight</vt:lpstr>
      <vt:lpstr>Neris Thin</vt:lpstr>
      <vt:lpstr>Aurebesh</vt:lpstr>
      <vt:lpstr>Swis721 Lt BT</vt:lpstr>
      <vt:lpstr>Yu Gothic UI Semilight</vt:lpstr>
      <vt:lpstr>LilyUPC</vt:lpstr>
      <vt:lpstr>Agency FB</vt:lpstr>
      <vt:lpstr>Microsoft Sans Serif</vt:lpstr>
      <vt:lpstr>Trebuchet MS</vt:lpstr>
      <vt:lpstr>第一PPT，www.1ppt.com</vt:lpstr>
      <vt:lpstr>Visio.Drawing.11</vt:lpstr>
      <vt:lpstr>Visio.Drawing.11</vt:lpstr>
      <vt:lpstr>Visio.Drawing.11</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互联网</dc:title>
  <dc:creator>第一PPT</dc:creator>
  <cp:keywords>www.1ppt.com</cp:keywords>
  <dc:description>www.1ppt.com</dc:description>
  <cp:lastModifiedBy>Administrator</cp:lastModifiedBy>
  <cp:revision>17</cp:revision>
  <dcterms:created xsi:type="dcterms:W3CDTF">2017-05-27T04:45:00Z</dcterms:created>
  <dcterms:modified xsi:type="dcterms:W3CDTF">2025-02-14T02:45:05Z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2052-12.1.0.19770</vt:lpwstr>
  </property>
  <property fmtid="{D5CDD505-2E9C-101B-9397-08002B2CF9AE}" pid="3" name="ICV">
    <vt:lpwstr>2A1CE8F037D843C9A16753E433330201_13</vt:lpwstr>
  </property>
</Properties>
</file>