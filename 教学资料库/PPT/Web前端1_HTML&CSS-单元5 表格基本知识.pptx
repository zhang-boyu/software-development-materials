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361" r:id="rId3"/>
    <p:sldId id="362" r:id="rId4"/>
    <p:sldId id="371" r:id="rId5"/>
    <p:sldId id="363" r:id="rId6"/>
    <p:sldId id="364" r:id="rId7"/>
    <p:sldId id="372" r:id="rId8"/>
    <p:sldId id="373" r:id="rId9"/>
    <p:sldId id="374" r:id="rId10"/>
    <p:sldId id="365" r:id="rId11"/>
    <p:sldId id="366" r:id="rId12"/>
    <p:sldId id="367" r:id="rId13"/>
    <p:sldId id="376" r:id="rId14"/>
    <p:sldId id="368" r:id="rId15"/>
    <p:sldId id="369" r:id="rId16"/>
    <p:sldId id="375" r:id="rId17"/>
    <p:sldId id="370" r:id="rId18"/>
    <p:sldId id="299" r:id="rId1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orient="horz" pos="346">
          <p15:clr>
            <a:srgbClr val="A4A3A4"/>
          </p15:clr>
        </p15:guide>
        <p15:guide id="3" orient="horz" pos="3702">
          <p15:clr>
            <a:srgbClr val="A4A3A4"/>
          </p15:clr>
        </p15:guide>
        <p15:guide id="4" orient="horz" pos="572">
          <p15:clr>
            <a:srgbClr val="A4A3A4"/>
          </p15:clr>
        </p15:guide>
        <p15:guide id="5" pos="2880">
          <p15:clr>
            <a:srgbClr val="A4A3A4"/>
          </p15:clr>
        </p15:guide>
        <p15:guide id="6" pos="272">
          <p15:clr>
            <a:srgbClr val="A4A3A4"/>
          </p15:clr>
        </p15:guide>
        <p15:guide id="7" pos="5488">
          <p15:clr>
            <a:srgbClr val="A4A3A4"/>
          </p15:clr>
        </p15:guide>
        <p15:guide id="8" pos="3833">
          <p15:clr>
            <a:srgbClr val="A4A3A4"/>
          </p15:clr>
        </p15:guide>
        <p15:guide id="9" pos="4180">
          <p15:clr>
            <a:srgbClr val="A4A3A4"/>
          </p15:clr>
        </p15:guide>
        <p15:guide id="10" pos="15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2802F"/>
    <a:srgbClr val="FFFFFF"/>
    <a:srgbClr val="B1D3EC"/>
    <a:srgbClr val="0D0D0D"/>
    <a:srgbClr val="3A383B"/>
    <a:srgbClr val="07ABB5"/>
    <a:srgbClr val="38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/>
    <p:restoredTop sz="94660"/>
  </p:normalViewPr>
  <p:slideViewPr>
    <p:cSldViewPr snapToGrid="0" showGuides="1">
      <p:cViewPr varScale="1">
        <p:scale>
          <a:sx n="60" d="100"/>
          <a:sy n="60" d="100"/>
        </p:scale>
        <p:origin x="1504" y="36"/>
      </p:cViewPr>
      <p:guideLst>
        <p:guide orient="horz" pos="2146"/>
        <p:guide orient="horz" pos="346"/>
        <p:guide orient="horz" pos="3702"/>
        <p:guide orient="horz" pos="572"/>
        <p:guide pos="2880"/>
        <p:guide pos="272"/>
        <p:guide pos="5488"/>
        <p:guide pos="3833"/>
        <p:guide pos="4180"/>
        <p:guide pos="15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6627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83526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9894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24214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02292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40413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19702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06870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38631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90768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53429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96909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60646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83173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9500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4684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751C-E6EA-4D38-9B67-2E7BFD8C4C1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D88907-6C4F-4C89-B6CA-A82B149232D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44355" y="3555036"/>
            <a:ext cx="38186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 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表格基本知识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46"/>
          <p:cNvGrpSpPr>
            <a:grpSpLocks/>
          </p:cNvGrpSpPr>
          <p:nvPr/>
        </p:nvGrpSpPr>
        <p:grpSpPr bwMode="auto">
          <a:xfrm>
            <a:off x="0" y="284163"/>
            <a:ext cx="1692275" cy="530225"/>
            <a:chOff x="0" y="284389"/>
            <a:chExt cx="1692275" cy="529772"/>
          </a:xfrm>
        </p:grpSpPr>
        <p:sp>
          <p:nvSpPr>
            <p:cNvPr id="40" name="矩形 39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8720138" y="6043613"/>
            <a:ext cx="42386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837588" y="1735138"/>
            <a:ext cx="0" cy="3387725"/>
          </a:xfrm>
          <a:prstGeom prst="line">
            <a:avLst/>
          </a:prstGeom>
          <a:ln>
            <a:solidFill>
              <a:srgbClr val="0174A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18"/>
          <p:cNvGrpSpPr>
            <a:grpSpLocks/>
          </p:cNvGrpSpPr>
          <p:nvPr/>
        </p:nvGrpSpPr>
        <p:grpSpPr bwMode="auto">
          <a:xfrm>
            <a:off x="692735" y="2450037"/>
            <a:ext cx="1411944" cy="1407337"/>
            <a:chOff x="1709739" y="2636838"/>
            <a:chExt cx="1590160" cy="1584325"/>
          </a:xfrm>
        </p:grpSpPr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1709739" y="2636838"/>
              <a:ext cx="1468102" cy="1467130"/>
            </a:xfrm>
            <a:custGeom>
              <a:avLst/>
              <a:gdLst>
                <a:gd name="T0" fmla="*/ 2147483646 w 1276"/>
                <a:gd name="T1" fmla="*/ 2147483646 h 1274"/>
                <a:gd name="T2" fmla="*/ 2147483646 w 1276"/>
                <a:gd name="T3" fmla="*/ 2147483646 h 1274"/>
                <a:gd name="T4" fmla="*/ 2147483646 w 1276"/>
                <a:gd name="T5" fmla="*/ 2147483646 h 1274"/>
                <a:gd name="T6" fmla="*/ 2147483646 w 1276"/>
                <a:gd name="T7" fmla="*/ 2147483646 h 1274"/>
                <a:gd name="T8" fmla="*/ 2147483646 w 1276"/>
                <a:gd name="T9" fmla="*/ 2147483646 h 1274"/>
                <a:gd name="T10" fmla="*/ 2147483646 w 1276"/>
                <a:gd name="T11" fmla="*/ 2147483646 h 1274"/>
                <a:gd name="T12" fmla="*/ 2147483646 w 1276"/>
                <a:gd name="T13" fmla="*/ 2147483646 h 1274"/>
                <a:gd name="T14" fmla="*/ 0 w 1276"/>
                <a:gd name="T15" fmla="*/ 2147483646 h 1274"/>
                <a:gd name="T16" fmla="*/ 0 w 1276"/>
                <a:gd name="T17" fmla="*/ 2147483646 h 1274"/>
                <a:gd name="T18" fmla="*/ 2147483646 w 1276"/>
                <a:gd name="T19" fmla="*/ 0 h 1274"/>
                <a:gd name="T20" fmla="*/ 2147483646 w 1276"/>
                <a:gd name="T21" fmla="*/ 0 h 1274"/>
                <a:gd name="T22" fmla="*/ 2147483646 w 1276"/>
                <a:gd name="T23" fmla="*/ 2147483646 h 1274"/>
                <a:gd name="T24" fmla="*/ 2147483646 w 1276"/>
                <a:gd name="T25" fmla="*/ 2147483646 h 1274"/>
                <a:gd name="T26" fmla="*/ 2147483646 w 1276"/>
                <a:gd name="T27" fmla="*/ 2147483646 h 1274"/>
                <a:gd name="T28" fmla="*/ 2147483646 w 1276"/>
                <a:gd name="T29" fmla="*/ 2147483646 h 1274"/>
                <a:gd name="T30" fmla="*/ 2147483646 w 1276"/>
                <a:gd name="T31" fmla="*/ 2147483646 h 1274"/>
                <a:gd name="T32" fmla="*/ 2147483646 w 1276"/>
                <a:gd name="T33" fmla="*/ 2147483646 h 1274"/>
                <a:gd name="T34" fmla="*/ 2147483646 w 1276"/>
                <a:gd name="T35" fmla="*/ 2147483646 h 1274"/>
                <a:gd name="T36" fmla="*/ 2147483646 w 1276"/>
                <a:gd name="T37" fmla="*/ 2147483646 h 1274"/>
                <a:gd name="T38" fmla="*/ 2147483646 w 1276"/>
                <a:gd name="T39" fmla="*/ 2147483646 h 1274"/>
                <a:gd name="T40" fmla="*/ 2147483646 w 1276"/>
                <a:gd name="T41" fmla="*/ 2147483646 h 1274"/>
                <a:gd name="T42" fmla="*/ 2147483646 w 1276"/>
                <a:gd name="T43" fmla="*/ 2147483646 h 1274"/>
                <a:gd name="T44" fmla="*/ 2147483646 w 1276"/>
                <a:gd name="T45" fmla="*/ 2147483646 h 12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76"/>
                <a:gd name="T70" fmla="*/ 0 h 1274"/>
                <a:gd name="T71" fmla="*/ 1276 w 1276"/>
                <a:gd name="T72" fmla="*/ 1274 h 127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76" h="1274">
                  <a:moveTo>
                    <a:pt x="691" y="1168"/>
                  </a:moveTo>
                  <a:cubicBezTo>
                    <a:pt x="681" y="1203"/>
                    <a:pt x="672" y="1235"/>
                    <a:pt x="662" y="1267"/>
                  </a:cubicBezTo>
                  <a:cubicBezTo>
                    <a:pt x="661" y="1270"/>
                    <a:pt x="657" y="1272"/>
                    <a:pt x="654" y="1273"/>
                  </a:cubicBezTo>
                  <a:cubicBezTo>
                    <a:pt x="651" y="1274"/>
                    <a:pt x="647" y="1274"/>
                    <a:pt x="643" y="1274"/>
                  </a:cubicBezTo>
                  <a:cubicBezTo>
                    <a:pt x="486" y="1274"/>
                    <a:pt x="329" y="1273"/>
                    <a:pt x="172" y="1274"/>
                  </a:cubicBezTo>
                  <a:cubicBezTo>
                    <a:pt x="140" y="1274"/>
                    <a:pt x="109" y="1269"/>
                    <a:pt x="81" y="1253"/>
                  </a:cubicBezTo>
                  <a:cubicBezTo>
                    <a:pt x="29" y="1221"/>
                    <a:pt x="1" y="1174"/>
                    <a:pt x="1" y="1113"/>
                  </a:cubicBezTo>
                  <a:cubicBezTo>
                    <a:pt x="0" y="1039"/>
                    <a:pt x="0" y="966"/>
                    <a:pt x="0" y="892"/>
                  </a:cubicBezTo>
                  <a:cubicBezTo>
                    <a:pt x="0" y="651"/>
                    <a:pt x="0" y="411"/>
                    <a:pt x="0" y="170"/>
                  </a:cubicBezTo>
                  <a:cubicBezTo>
                    <a:pt x="0" y="68"/>
                    <a:pt x="68" y="0"/>
                    <a:pt x="170" y="0"/>
                  </a:cubicBezTo>
                  <a:cubicBezTo>
                    <a:pt x="483" y="0"/>
                    <a:pt x="797" y="0"/>
                    <a:pt x="1110" y="0"/>
                  </a:cubicBezTo>
                  <a:cubicBezTo>
                    <a:pt x="1194" y="0"/>
                    <a:pt x="1258" y="51"/>
                    <a:pt x="1273" y="131"/>
                  </a:cubicBezTo>
                  <a:cubicBezTo>
                    <a:pt x="1276" y="143"/>
                    <a:pt x="1276" y="156"/>
                    <a:pt x="1276" y="168"/>
                  </a:cubicBezTo>
                  <a:cubicBezTo>
                    <a:pt x="1276" y="322"/>
                    <a:pt x="1276" y="475"/>
                    <a:pt x="1276" y="629"/>
                  </a:cubicBezTo>
                  <a:cubicBezTo>
                    <a:pt x="1276" y="634"/>
                    <a:pt x="1276" y="638"/>
                    <a:pt x="1275" y="645"/>
                  </a:cubicBezTo>
                  <a:cubicBezTo>
                    <a:pt x="1239" y="640"/>
                    <a:pt x="1205" y="643"/>
                    <a:pt x="1171" y="659"/>
                  </a:cubicBezTo>
                  <a:cubicBezTo>
                    <a:pt x="1171" y="509"/>
                    <a:pt x="1171" y="362"/>
                    <a:pt x="1171" y="214"/>
                  </a:cubicBezTo>
                  <a:cubicBezTo>
                    <a:pt x="816" y="214"/>
                    <a:pt x="462" y="214"/>
                    <a:pt x="106" y="214"/>
                  </a:cubicBezTo>
                  <a:cubicBezTo>
                    <a:pt x="106" y="219"/>
                    <a:pt x="106" y="224"/>
                    <a:pt x="106" y="230"/>
                  </a:cubicBezTo>
                  <a:cubicBezTo>
                    <a:pt x="106" y="521"/>
                    <a:pt x="106" y="812"/>
                    <a:pt x="105" y="1102"/>
                  </a:cubicBezTo>
                  <a:cubicBezTo>
                    <a:pt x="105" y="1141"/>
                    <a:pt x="125" y="1169"/>
                    <a:pt x="171" y="1168"/>
                  </a:cubicBezTo>
                  <a:cubicBezTo>
                    <a:pt x="338" y="1167"/>
                    <a:pt x="504" y="1168"/>
                    <a:pt x="671" y="1168"/>
                  </a:cubicBezTo>
                  <a:cubicBezTo>
                    <a:pt x="677" y="1168"/>
                    <a:pt x="683" y="1168"/>
                    <a:pt x="691" y="1168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"/>
            <p:cNvSpPr>
              <a:spLocks noEditPoints="1"/>
            </p:cNvSpPr>
            <p:nvPr/>
          </p:nvSpPr>
          <p:spPr bwMode="auto">
            <a:xfrm>
              <a:off x="2571440" y="3653665"/>
              <a:ext cx="569443" cy="567498"/>
            </a:xfrm>
            <a:custGeom>
              <a:avLst/>
              <a:gdLst>
                <a:gd name="T0" fmla="*/ 2147483646 w 495"/>
                <a:gd name="T1" fmla="*/ 2147483646 h 493"/>
                <a:gd name="T2" fmla="*/ 2147483646 w 495"/>
                <a:gd name="T3" fmla="*/ 2147483646 h 493"/>
                <a:gd name="T4" fmla="*/ 2147483646 w 495"/>
                <a:gd name="T5" fmla="*/ 2147483646 h 493"/>
                <a:gd name="T6" fmla="*/ 2147483646 w 495"/>
                <a:gd name="T7" fmla="*/ 2147483646 h 493"/>
                <a:gd name="T8" fmla="*/ 2147483646 w 495"/>
                <a:gd name="T9" fmla="*/ 2147483646 h 493"/>
                <a:gd name="T10" fmla="*/ 2147483646 w 495"/>
                <a:gd name="T11" fmla="*/ 2147483646 h 493"/>
                <a:gd name="T12" fmla="*/ 2147483646 w 495"/>
                <a:gd name="T13" fmla="*/ 2147483646 h 493"/>
                <a:gd name="T14" fmla="*/ 2147483646 w 495"/>
                <a:gd name="T15" fmla="*/ 2147483646 h 493"/>
                <a:gd name="T16" fmla="*/ 2147483646 w 495"/>
                <a:gd name="T17" fmla="*/ 2147483646 h 493"/>
                <a:gd name="T18" fmla="*/ 2147483646 w 495"/>
                <a:gd name="T19" fmla="*/ 2147483646 h 493"/>
                <a:gd name="T20" fmla="*/ 2147483646 w 495"/>
                <a:gd name="T21" fmla="*/ 2147483646 h 493"/>
                <a:gd name="T22" fmla="*/ 2147483646 w 495"/>
                <a:gd name="T23" fmla="*/ 2147483646 h 493"/>
                <a:gd name="T24" fmla="*/ 2147483646 w 495"/>
                <a:gd name="T25" fmla="*/ 2147483646 h 493"/>
                <a:gd name="T26" fmla="*/ 2147483646 w 495"/>
                <a:gd name="T27" fmla="*/ 2147483646 h 493"/>
                <a:gd name="T28" fmla="*/ 2147483646 w 495"/>
                <a:gd name="T29" fmla="*/ 2147483646 h 493"/>
                <a:gd name="T30" fmla="*/ 2147483646 w 495"/>
                <a:gd name="T31" fmla="*/ 2147483646 h 493"/>
                <a:gd name="T32" fmla="*/ 2147483646 w 495"/>
                <a:gd name="T33" fmla="*/ 2147483646 h 493"/>
                <a:gd name="T34" fmla="*/ 2147483646 w 495"/>
                <a:gd name="T35" fmla="*/ 2147483646 h 493"/>
                <a:gd name="T36" fmla="*/ 2147483646 w 495"/>
                <a:gd name="T37" fmla="*/ 2147483646 h 493"/>
                <a:gd name="T38" fmla="*/ 2147483646 w 495"/>
                <a:gd name="T39" fmla="*/ 2147483646 h 493"/>
                <a:gd name="T40" fmla="*/ 2147483646 w 495"/>
                <a:gd name="T41" fmla="*/ 2147483646 h 4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95"/>
                <a:gd name="T64" fmla="*/ 0 h 493"/>
                <a:gd name="T65" fmla="*/ 495 w 495"/>
                <a:gd name="T66" fmla="*/ 493 h 4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95" h="493">
                  <a:moveTo>
                    <a:pt x="328" y="1"/>
                  </a:moveTo>
                  <a:cubicBezTo>
                    <a:pt x="384" y="56"/>
                    <a:pt x="439" y="112"/>
                    <a:pt x="495" y="167"/>
                  </a:cubicBezTo>
                  <a:cubicBezTo>
                    <a:pt x="473" y="190"/>
                    <a:pt x="450" y="213"/>
                    <a:pt x="427" y="236"/>
                  </a:cubicBezTo>
                  <a:cubicBezTo>
                    <a:pt x="365" y="298"/>
                    <a:pt x="303" y="360"/>
                    <a:pt x="240" y="421"/>
                  </a:cubicBezTo>
                  <a:cubicBezTo>
                    <a:pt x="233" y="428"/>
                    <a:pt x="225" y="433"/>
                    <a:pt x="216" y="436"/>
                  </a:cubicBezTo>
                  <a:cubicBezTo>
                    <a:pt x="157" y="454"/>
                    <a:pt x="98" y="471"/>
                    <a:pt x="40" y="488"/>
                  </a:cubicBezTo>
                  <a:cubicBezTo>
                    <a:pt x="28" y="492"/>
                    <a:pt x="18" y="493"/>
                    <a:pt x="9" y="484"/>
                  </a:cubicBezTo>
                  <a:cubicBezTo>
                    <a:pt x="0" y="475"/>
                    <a:pt x="3" y="464"/>
                    <a:pt x="6" y="454"/>
                  </a:cubicBezTo>
                  <a:cubicBezTo>
                    <a:pt x="23" y="395"/>
                    <a:pt x="40" y="335"/>
                    <a:pt x="58" y="276"/>
                  </a:cubicBezTo>
                  <a:cubicBezTo>
                    <a:pt x="60" y="270"/>
                    <a:pt x="63" y="264"/>
                    <a:pt x="67" y="259"/>
                  </a:cubicBezTo>
                  <a:cubicBezTo>
                    <a:pt x="154" y="173"/>
                    <a:pt x="240" y="87"/>
                    <a:pt x="327" y="1"/>
                  </a:cubicBezTo>
                  <a:cubicBezTo>
                    <a:pt x="328" y="1"/>
                    <a:pt x="329" y="0"/>
                    <a:pt x="328" y="1"/>
                  </a:cubicBezTo>
                  <a:close/>
                  <a:moveTo>
                    <a:pt x="102" y="292"/>
                  </a:moveTo>
                  <a:cubicBezTo>
                    <a:pt x="91" y="327"/>
                    <a:pt x="81" y="362"/>
                    <a:pt x="72" y="396"/>
                  </a:cubicBezTo>
                  <a:cubicBezTo>
                    <a:pt x="71" y="399"/>
                    <a:pt x="72" y="403"/>
                    <a:pt x="74" y="405"/>
                  </a:cubicBezTo>
                  <a:cubicBezTo>
                    <a:pt x="87" y="423"/>
                    <a:pt x="92" y="425"/>
                    <a:pt x="113" y="418"/>
                  </a:cubicBezTo>
                  <a:cubicBezTo>
                    <a:pt x="125" y="415"/>
                    <a:pt x="136" y="411"/>
                    <a:pt x="148" y="408"/>
                  </a:cubicBezTo>
                  <a:cubicBezTo>
                    <a:pt x="165" y="403"/>
                    <a:pt x="182" y="398"/>
                    <a:pt x="200" y="393"/>
                  </a:cubicBezTo>
                  <a:cubicBezTo>
                    <a:pt x="195" y="365"/>
                    <a:pt x="190" y="341"/>
                    <a:pt x="185" y="316"/>
                  </a:cubicBezTo>
                  <a:cubicBezTo>
                    <a:pt x="185" y="313"/>
                    <a:pt x="181" y="309"/>
                    <a:pt x="178" y="308"/>
                  </a:cubicBezTo>
                  <a:cubicBezTo>
                    <a:pt x="153" y="302"/>
                    <a:pt x="128" y="297"/>
                    <a:pt x="102" y="29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262162" y="3371619"/>
              <a:ext cx="608346" cy="119627"/>
            </a:xfrm>
            <a:custGeom>
              <a:avLst/>
              <a:gdLst>
                <a:gd name="T0" fmla="*/ 0 w 529"/>
                <a:gd name="T1" fmla="*/ 2147483646 h 104"/>
                <a:gd name="T2" fmla="*/ 0 w 529"/>
                <a:gd name="T3" fmla="*/ 0 h 104"/>
                <a:gd name="T4" fmla="*/ 2147483646 w 529"/>
                <a:gd name="T5" fmla="*/ 0 h 104"/>
                <a:gd name="T6" fmla="*/ 2147483646 w 529"/>
                <a:gd name="T7" fmla="*/ 2147483646 h 104"/>
                <a:gd name="T8" fmla="*/ 0 w 529"/>
                <a:gd name="T9" fmla="*/ 214748364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104"/>
                <a:gd name="T17" fmla="*/ 529 w 529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104">
                  <a:moveTo>
                    <a:pt x="0" y="104"/>
                  </a:moveTo>
                  <a:cubicBezTo>
                    <a:pt x="0" y="69"/>
                    <a:pt x="0" y="35"/>
                    <a:pt x="0" y="0"/>
                  </a:cubicBezTo>
                  <a:cubicBezTo>
                    <a:pt x="177" y="0"/>
                    <a:pt x="352" y="0"/>
                    <a:pt x="529" y="0"/>
                  </a:cubicBezTo>
                  <a:cubicBezTo>
                    <a:pt x="529" y="35"/>
                    <a:pt x="529" y="69"/>
                    <a:pt x="529" y="104"/>
                  </a:cubicBezTo>
                  <a:cubicBezTo>
                    <a:pt x="353" y="104"/>
                    <a:pt x="177" y="104"/>
                    <a:pt x="0" y="104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9"/>
            <p:cNvSpPr>
              <a:spLocks/>
            </p:cNvSpPr>
            <p:nvPr/>
          </p:nvSpPr>
          <p:spPr bwMode="auto">
            <a:xfrm>
              <a:off x="2263134" y="3127502"/>
              <a:ext cx="607373" cy="119627"/>
            </a:xfrm>
            <a:custGeom>
              <a:avLst/>
              <a:gdLst>
                <a:gd name="T0" fmla="*/ 2147483646 w 528"/>
                <a:gd name="T1" fmla="*/ 0 h 104"/>
                <a:gd name="T2" fmla="*/ 2147483646 w 528"/>
                <a:gd name="T3" fmla="*/ 2147483646 h 104"/>
                <a:gd name="T4" fmla="*/ 0 w 528"/>
                <a:gd name="T5" fmla="*/ 2147483646 h 104"/>
                <a:gd name="T6" fmla="*/ 0 w 528"/>
                <a:gd name="T7" fmla="*/ 0 h 104"/>
                <a:gd name="T8" fmla="*/ 2147483646 w 528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4"/>
                <a:gd name="T17" fmla="*/ 528 w 528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4">
                  <a:moveTo>
                    <a:pt x="528" y="0"/>
                  </a:moveTo>
                  <a:cubicBezTo>
                    <a:pt x="528" y="35"/>
                    <a:pt x="528" y="69"/>
                    <a:pt x="528" y="104"/>
                  </a:cubicBezTo>
                  <a:cubicBezTo>
                    <a:pt x="352" y="104"/>
                    <a:pt x="177" y="104"/>
                    <a:pt x="0" y="104"/>
                  </a:cubicBezTo>
                  <a:cubicBezTo>
                    <a:pt x="0" y="70"/>
                    <a:pt x="0" y="36"/>
                    <a:pt x="0" y="0"/>
                  </a:cubicBezTo>
                  <a:cubicBezTo>
                    <a:pt x="176" y="0"/>
                    <a:pt x="352" y="0"/>
                    <a:pt x="528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"/>
            <p:cNvSpPr>
              <a:spLocks/>
            </p:cNvSpPr>
            <p:nvPr/>
          </p:nvSpPr>
          <p:spPr bwMode="auto">
            <a:xfrm>
              <a:off x="2263134" y="3615735"/>
              <a:ext cx="549991" cy="120599"/>
            </a:xfrm>
            <a:custGeom>
              <a:avLst/>
              <a:gdLst>
                <a:gd name="T0" fmla="*/ 0 w 478"/>
                <a:gd name="T1" fmla="*/ 0 h 105"/>
                <a:gd name="T2" fmla="*/ 2147483646 w 478"/>
                <a:gd name="T3" fmla="*/ 0 h 105"/>
                <a:gd name="T4" fmla="*/ 2147483646 w 478"/>
                <a:gd name="T5" fmla="*/ 2147483646 h 105"/>
                <a:gd name="T6" fmla="*/ 2147483646 w 478"/>
                <a:gd name="T7" fmla="*/ 2147483646 h 105"/>
                <a:gd name="T8" fmla="*/ 2147483646 w 478"/>
                <a:gd name="T9" fmla="*/ 2147483646 h 105"/>
                <a:gd name="T10" fmla="*/ 2147483646 w 478"/>
                <a:gd name="T11" fmla="*/ 2147483646 h 105"/>
                <a:gd name="T12" fmla="*/ 0 w 478"/>
                <a:gd name="T13" fmla="*/ 2147483646 h 105"/>
                <a:gd name="T14" fmla="*/ 0 w 47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8"/>
                <a:gd name="T25" fmla="*/ 0 h 105"/>
                <a:gd name="T26" fmla="*/ 478 w 47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8" h="105">
                  <a:moveTo>
                    <a:pt x="0" y="0"/>
                  </a:moveTo>
                  <a:cubicBezTo>
                    <a:pt x="159" y="0"/>
                    <a:pt x="318" y="0"/>
                    <a:pt x="478" y="0"/>
                  </a:cubicBezTo>
                  <a:cubicBezTo>
                    <a:pt x="476" y="3"/>
                    <a:pt x="474" y="6"/>
                    <a:pt x="472" y="8"/>
                  </a:cubicBezTo>
                  <a:cubicBezTo>
                    <a:pt x="443" y="38"/>
                    <a:pt x="413" y="68"/>
                    <a:pt x="383" y="97"/>
                  </a:cubicBezTo>
                  <a:cubicBezTo>
                    <a:pt x="379" y="101"/>
                    <a:pt x="372" y="104"/>
                    <a:pt x="366" y="104"/>
                  </a:cubicBezTo>
                  <a:cubicBezTo>
                    <a:pt x="247" y="105"/>
                    <a:pt x="127" y="105"/>
                    <a:pt x="8" y="105"/>
                  </a:cubicBezTo>
                  <a:cubicBezTo>
                    <a:pt x="6" y="105"/>
                    <a:pt x="3" y="104"/>
                    <a:pt x="0" y="104"/>
                  </a:cubicBezTo>
                  <a:cubicBezTo>
                    <a:pt x="0" y="69"/>
                    <a:pt x="0" y="35"/>
                    <a:pt x="0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1"/>
            <p:cNvSpPr>
              <a:spLocks/>
            </p:cNvSpPr>
            <p:nvPr/>
          </p:nvSpPr>
          <p:spPr bwMode="auto">
            <a:xfrm>
              <a:off x="3016880" y="3492218"/>
              <a:ext cx="283019" cy="281074"/>
            </a:xfrm>
            <a:custGeom>
              <a:avLst/>
              <a:gdLst>
                <a:gd name="T0" fmla="*/ 0 w 246"/>
                <a:gd name="T1" fmla="*/ 2147483646 h 244"/>
                <a:gd name="T2" fmla="*/ 2147483646 w 246"/>
                <a:gd name="T3" fmla="*/ 2147483646 h 244"/>
                <a:gd name="T4" fmla="*/ 2147483646 w 246"/>
                <a:gd name="T5" fmla="*/ 2147483646 h 244"/>
                <a:gd name="T6" fmla="*/ 2147483646 w 246"/>
                <a:gd name="T7" fmla="*/ 2147483646 h 244"/>
                <a:gd name="T8" fmla="*/ 2147483646 w 246"/>
                <a:gd name="T9" fmla="*/ 2147483646 h 244"/>
                <a:gd name="T10" fmla="*/ 2147483646 w 246"/>
                <a:gd name="T11" fmla="*/ 2147483646 h 244"/>
                <a:gd name="T12" fmla="*/ 0 w 246"/>
                <a:gd name="T13" fmla="*/ 2147483646 h 2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6"/>
                <a:gd name="T22" fmla="*/ 0 h 244"/>
                <a:gd name="T23" fmla="*/ 246 w 246"/>
                <a:gd name="T24" fmla="*/ 244 h 2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6" h="244">
                  <a:moveTo>
                    <a:pt x="0" y="87"/>
                  </a:moveTo>
                  <a:cubicBezTo>
                    <a:pt x="22" y="64"/>
                    <a:pt x="43" y="41"/>
                    <a:pt x="66" y="20"/>
                  </a:cubicBezTo>
                  <a:cubicBezTo>
                    <a:pt x="87" y="1"/>
                    <a:pt x="118" y="0"/>
                    <a:pt x="139" y="20"/>
                  </a:cubicBezTo>
                  <a:cubicBezTo>
                    <a:pt x="169" y="48"/>
                    <a:pt x="198" y="76"/>
                    <a:pt x="225" y="106"/>
                  </a:cubicBezTo>
                  <a:cubicBezTo>
                    <a:pt x="245" y="127"/>
                    <a:pt x="246" y="158"/>
                    <a:pt x="227" y="178"/>
                  </a:cubicBezTo>
                  <a:cubicBezTo>
                    <a:pt x="205" y="202"/>
                    <a:pt x="181" y="223"/>
                    <a:pt x="159" y="244"/>
                  </a:cubicBezTo>
                  <a:cubicBezTo>
                    <a:pt x="107" y="193"/>
                    <a:pt x="54" y="140"/>
                    <a:pt x="0" y="87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>
              <a:off x="2017073" y="3372591"/>
              <a:ext cx="119627" cy="117682"/>
            </a:xfrm>
            <a:custGeom>
              <a:avLst/>
              <a:gdLst>
                <a:gd name="T0" fmla="*/ 0 w 104"/>
                <a:gd name="T1" fmla="*/ 2147483646 h 102"/>
                <a:gd name="T2" fmla="*/ 0 w 104"/>
                <a:gd name="T3" fmla="*/ 0 h 102"/>
                <a:gd name="T4" fmla="*/ 2147483646 w 104"/>
                <a:gd name="T5" fmla="*/ 0 h 102"/>
                <a:gd name="T6" fmla="*/ 2147483646 w 104"/>
                <a:gd name="T7" fmla="*/ 2147483646 h 102"/>
                <a:gd name="T8" fmla="*/ 0 w 104"/>
                <a:gd name="T9" fmla="*/ 21474836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02"/>
                <a:gd name="T17" fmla="*/ 104 w 104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02">
                  <a:moveTo>
                    <a:pt x="0" y="102"/>
                  </a:moveTo>
                  <a:cubicBezTo>
                    <a:pt x="0" y="68"/>
                    <a:pt x="0" y="34"/>
                    <a:pt x="0" y="0"/>
                  </a:cubicBezTo>
                  <a:cubicBezTo>
                    <a:pt x="35" y="0"/>
                    <a:pt x="69" y="0"/>
                    <a:pt x="104" y="0"/>
                  </a:cubicBezTo>
                  <a:cubicBezTo>
                    <a:pt x="104" y="34"/>
                    <a:pt x="104" y="67"/>
                    <a:pt x="104" y="102"/>
                  </a:cubicBezTo>
                  <a:cubicBezTo>
                    <a:pt x="70" y="102"/>
                    <a:pt x="36" y="102"/>
                    <a:pt x="0" y="10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3"/>
            <p:cNvSpPr>
              <a:spLocks/>
            </p:cNvSpPr>
            <p:nvPr/>
          </p:nvSpPr>
          <p:spPr bwMode="auto">
            <a:xfrm>
              <a:off x="2018045" y="3128475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4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4"/>
                    <a:pt x="103" y="68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2018045" y="3616708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5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3"/>
                    <a:pt x="103" y="67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226545" y="4131938"/>
            <a:ext cx="2235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spc="300" dirty="0">
                <a:solidFill>
                  <a:srgbClr val="0174A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CONTANTS</a:t>
            </a:r>
            <a:endParaRPr lang="zh-HK" altLang="en-US" sz="2400" b="1" spc="300" dirty="0">
              <a:solidFill>
                <a:srgbClr val="0174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127626" y="358507"/>
            <a:ext cx="5048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5-1 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表格的基本属性及使用</a:t>
            </a:r>
            <a:endParaRPr lang="zh-HK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127626" y="897205"/>
            <a:ext cx="457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5-2 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表格的基本操作</a:t>
            </a:r>
            <a:endParaRPr lang="zh-HK" altLang="en-US" sz="24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127626" y="1454135"/>
            <a:ext cx="5048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5-3 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制作细边框表格</a:t>
            </a:r>
            <a:endParaRPr lang="zh-HK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127626" y="1992833"/>
            <a:ext cx="5240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5-4 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表格宽高百分比设置</a:t>
            </a:r>
            <a:endParaRPr lang="zh-HK" altLang="en-US" sz="24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124129" y="2505258"/>
            <a:ext cx="55201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5-5 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表格宽度、列宽度和行高度的设置</a:t>
            </a:r>
            <a:endParaRPr lang="zh-HK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24129" y="3373567"/>
            <a:ext cx="52441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5-6 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CSS3:nth-child()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选择器设置表格隔行变色</a:t>
            </a:r>
            <a:endParaRPr lang="zh-HK" altLang="en-US" sz="24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124129" y="4270745"/>
            <a:ext cx="52441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5-7 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使用伪类选择器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:hover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实现鼠标移上去行变色</a:t>
            </a:r>
            <a:endParaRPr lang="zh-HK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124129" y="5149684"/>
            <a:ext cx="55201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5-8 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使用表格以及其他相关元素制作个人简历</a:t>
            </a:r>
            <a:endParaRPr lang="zh-HK" altLang="en-US" sz="24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124129" y="6011919"/>
            <a:ext cx="5596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5-9 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使用表格制作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</a:t>
            </a:r>
            <a:endParaRPr lang="zh-HK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19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4353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表格的基本属性及使用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4413" y="1977955"/>
            <a:ext cx="82351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网页中的表格使用&lt;table&gt;标签表示，以&lt;table&gt;标记开始，以&lt;/table&gt;标记结束。表格的基本构成最少需要三个元素： &lt;table&gt;、 &lt;tr&gt;、 &lt;td&gt;，其他的一些作为可选辅助存在。</a:t>
            </a:r>
          </a:p>
        </p:txBody>
      </p:sp>
    </p:spTree>
    <p:extLst>
      <p:ext uri="{BB962C8B-B14F-4D97-AF65-F5344CB8AC3E}">
        <p14:creationId xmlns:p14="http://schemas.microsoft.com/office/powerpoint/2010/main" val="7403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4353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表格的基本属性及使用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524271"/>
              </p:ext>
            </p:extLst>
          </p:nvPr>
        </p:nvGraphicFramePr>
        <p:xfrm>
          <a:off x="484964" y="2084609"/>
          <a:ext cx="8318794" cy="41035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0426">
                  <a:extLst>
                    <a:ext uri="{9D8B030D-6E8A-4147-A177-3AD203B41FA5}">
                      <a16:colId xmlns:a16="http://schemas.microsoft.com/office/drawing/2014/main" val="1152365811"/>
                    </a:ext>
                  </a:extLst>
                </a:gridCol>
                <a:gridCol w="5258368">
                  <a:extLst>
                    <a:ext uri="{9D8B030D-6E8A-4147-A177-3AD203B41FA5}">
                      <a16:colId xmlns:a16="http://schemas.microsoft.com/office/drawing/2014/main" val="1054854136"/>
                    </a:ext>
                  </a:extLst>
                </a:gridCol>
              </a:tblGrid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元素名称</a:t>
                      </a:r>
                      <a:endParaRPr lang="zh-CN" sz="2400" kern="100" dirty="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说明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9953685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&lt;table&gt;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表示表格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7370292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&lt;thead&gt;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表示标题行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9273833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&lt;tbody&gt;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表示表格主体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6652851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&lt;tfoot&gt;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表示表脚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9551211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&lt;tr&gt;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表示一行单元格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1212085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&lt;th&gt;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表示标题行单元格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6902938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&lt;td&gt;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表示单元格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1788871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&lt;col&gt;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表示一列</a:t>
                      </a:r>
                      <a:endParaRPr lang="zh-CN" sz="2400" kern="100" dirty="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8563029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&lt;colgroup&gt;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表示一组列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9471310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&lt;caption&gt;</a:t>
                      </a:r>
                      <a:endParaRPr lang="zh-CN" sz="2400" kern="10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方正粗活意简体" panose="03000509000000000000" pitchFamily="65" charset="-122"/>
                          <a:ea typeface="方正粗活意简体" panose="03000509000000000000" pitchFamily="65" charset="-122"/>
                        </a:rPr>
                        <a:t>表示表格标题</a:t>
                      </a:r>
                      <a:endParaRPr lang="zh-CN" sz="2400" kern="100" dirty="0">
                        <a:effectLst/>
                        <a:latin typeface="方正粗活意简体" panose="03000509000000000000" pitchFamily="65" charset="-122"/>
                        <a:ea typeface="方正粗活意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8290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13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045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表格的基本操作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3405" y="2136339"/>
            <a:ext cx="8442251" cy="391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&lt;td&gt;表示表格中的单元格，包括如下属性：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1、colspan：规定单元格可横跨的列数；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2、rowspan：规定单元格可横跨的行数；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3、headers：规定与单元格相关的表头，该属性不会在普通浏览器中产生任何视觉变化，但可以被屏幕阅读器使用。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任务中所表示的列内合并单元格、行内合并单元格以及合并两行两列分别用到了colspan和rowspan属性。</a:t>
            </a:r>
          </a:p>
        </p:txBody>
      </p:sp>
    </p:spTree>
    <p:extLst>
      <p:ext uri="{BB962C8B-B14F-4D97-AF65-F5344CB8AC3E}">
        <p14:creationId xmlns:p14="http://schemas.microsoft.com/office/powerpoint/2010/main" val="287223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66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制作细边框表格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/>
          </p:cNvPr>
          <p:cNvSpPr txBox="1">
            <a:spLocks noChangeAspect="1"/>
          </p:cNvSpPr>
          <p:nvPr/>
        </p:nvSpPr>
        <p:spPr>
          <a:xfrm>
            <a:off x="460375" y="2036879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8">
            <a:extLst/>
          </p:cNvPr>
          <p:cNvSpPr>
            <a:spLocks noChangeArrowheads="1"/>
          </p:cNvSpPr>
          <p:nvPr/>
        </p:nvSpPr>
        <p:spPr bwMode="auto">
          <a:xfrm>
            <a:off x="1261765" y="1944804"/>
            <a:ext cx="74501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table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tr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th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thead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tbody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tfoot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20" name="文本框 19">
            <a:extLst/>
          </p:cNvPr>
          <p:cNvSpPr txBox="1">
            <a:spLocks noChangeAspect="1"/>
          </p:cNvSpPr>
          <p:nvPr/>
        </p:nvSpPr>
        <p:spPr>
          <a:xfrm>
            <a:off x="460375" y="3537547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>
            <a:extLst/>
          </p:cNvPr>
          <p:cNvSpPr txBox="1">
            <a:spLocks noChangeAspect="1"/>
          </p:cNvSpPr>
          <p:nvPr/>
        </p:nvSpPr>
        <p:spPr>
          <a:xfrm>
            <a:off x="460375" y="4780342"/>
            <a:ext cx="720725" cy="64611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3567710"/>
            <a:ext cx="7142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修饰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table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标签制作细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边框。</a:t>
            </a:r>
            <a:endParaRPr lang="zh-HK" altLang="zh-HK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3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4739067"/>
            <a:ext cx="7142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表格显示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数据。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HK" altLang="zh-HK" sz="32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869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66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制作细边框表格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2023583"/>
            <a:ext cx="8371958" cy="2810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1、背景设置式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通过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将表格背景色设置为黑色，将单元格背景设置为白色，并且将单元格之间的距离cell_spaceing设置为大于0的数，从而让边框显示为黑色，cell_spaceing值越大，表格框线越粗。</a:t>
            </a:r>
          </a:p>
        </p:txBody>
      </p:sp>
    </p:spTree>
    <p:extLst>
      <p:ext uri="{BB962C8B-B14F-4D97-AF65-F5344CB8AC3E}">
        <p14:creationId xmlns:p14="http://schemas.microsoft.com/office/powerpoint/2010/main" val="61379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66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制作细边框表格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2253849"/>
            <a:ext cx="8235175" cy="3364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2、边框设置式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通过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直接设置表格的边框来实现细边框表格，为了方便查看，通过不同颜色的线条来显示边框线，table border是表格外一圈边框，td border是单元格边框th border是表头边框。即在设置边框时如果表格外边框只设置上、右边框，单元格只设置下、左边框，保证边框不重复设置即可。</a:t>
            </a:r>
          </a:p>
        </p:txBody>
      </p:sp>
    </p:spTree>
    <p:extLst>
      <p:ext uri="{BB962C8B-B14F-4D97-AF65-F5344CB8AC3E}">
        <p14:creationId xmlns:p14="http://schemas.microsoft.com/office/powerpoint/2010/main" val="25013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66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制作细边框表格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2300582"/>
            <a:ext cx="8235175" cy="2256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3、层叠式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为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表格&lt;td&gt;、&lt;th&gt;标签设置了边框线后，因内边框的线条重复设置，导致内边框线条较粗，影响美观，所以在表格CSS样式中需要设置border-collapse属性。</a:t>
            </a:r>
          </a:p>
        </p:txBody>
      </p:sp>
    </p:spTree>
    <p:extLst>
      <p:ext uri="{BB962C8B-B14F-4D97-AF65-F5344CB8AC3E}">
        <p14:creationId xmlns:p14="http://schemas.microsoft.com/office/powerpoint/2010/main" val="275897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991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表格宽高百分比设置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2004734"/>
            <a:ext cx="83294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浏览器本身是有宽度和高度的，设置html的width:100%;和height:100%;，就可以获取浏览器的宽度和高度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。因此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，在实现任务时需要进行如下操作：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1、设置style.css的html和body样式width:100%，height:100%，margin:0，padding:0。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2、插入四行三列的表格，border=1，合并第一行单元格。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3、设置&lt;table&gt;样式width:100%，height:100%。</a:t>
            </a:r>
          </a:p>
        </p:txBody>
      </p:sp>
    </p:spTree>
    <p:extLst>
      <p:ext uri="{BB962C8B-B14F-4D97-AF65-F5344CB8AC3E}">
        <p14:creationId xmlns:p14="http://schemas.microsoft.com/office/powerpoint/2010/main" val="110613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4899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表格宽度、列宽度和行高度的设置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5-5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6735" y="1950184"/>
            <a:ext cx="839052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1、任务要求表格在网页中居中，一般通过设置表格属性align="center"。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2、表格宽度在css样式中统一设置，本着“结构、表现、行为分离”的原则，一般不直接在table属性中设置。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3、表格共有四列，在表格宽度设置好的情况下，一般不会四列都设置宽度，会留一列让其“自由呼吸”。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4、表格一般都不设置高度，高度根据内容自由伸展。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5、细边框表格可使用任务5-3中的第三种方法进行设置，即使用：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border-collapse: collapse;设置单元格内容居中需要设置text-align: center;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6、任务要求第一、二列的样式相同，此处可使用CSS3:nth-child(n) 选择器匹配属于其父元素的第 n 个子元素，不论元素的类型，其中n 可以是数字、关键词或公式。则任务要求中第一、二列的样式相同就应该使用：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tr td:nth-child(1),tr td:nth-child(2) {……}</a:t>
            </a:r>
          </a:p>
        </p:txBody>
      </p:sp>
    </p:spTree>
    <p:extLst>
      <p:ext uri="{BB962C8B-B14F-4D97-AF65-F5344CB8AC3E}">
        <p14:creationId xmlns:p14="http://schemas.microsoft.com/office/powerpoint/2010/main" val="24559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91560" y="1034001"/>
            <a:ext cx="89461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CSS3:nth-child()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选择器设置表格隔行变色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5-6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8977" y="2077143"/>
            <a:ext cx="8401161" cy="4107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: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nth-child(an+b)这个CSS伪类匹配文档树中在其之前具有an+b-1个兄弟节点的元素，其中n为正值或零值。简单点说就是，这个选择器匹配那些在同系列兄弟节点中的位置与模式an+b匹配的元素。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0n+3或简单的3匹配第三个元素。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1n+0或简单的n匹配每个元素。（兼容性提醒：在Android浏览器4.3以下的版本n和1n的匹配方式不一致。1n和1n+0是一致的，可根据喜好任选其一来使用。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）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242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91560" y="1034001"/>
            <a:ext cx="89461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CSS3:nth-child()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选择器设置表格隔行变色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5-6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8977" y="2084610"/>
            <a:ext cx="840116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n+0或简单的2n匹配位置为2、4、6、8...的元素。你可以使用关键字even（偶数）来替换此表达式。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2n+1匹配位置为1、3、5、7...的元素。你可以使用关键字odd（奇数）来替换此表达式。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3n+4匹配位置为4、7、10、13...的元素。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总之，a和b都必须为整数，并且元素的第一个子元素的下标为1。换言之就是，该伪类匹配所有下标在集合{an+b;n=0,1,2,...}中的子元素。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综上，本任务可使用tr:nth-child(odd)设置奇数行背景色为灰色，字体颜色为白色。即：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tr:nth-child(odd){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   background:#666666;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   color:#ffffff;</a:t>
            </a:r>
          </a:p>
          <a:p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792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336105" y="1034001"/>
            <a:ext cx="83834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使用伪类选择器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:hover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实现鼠标移上去行变色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6104" y="2206278"/>
            <a:ext cx="83834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:hover 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选择器在实现超链接任务时使用过，其实这个伪类选择器用于选择鼠标指针浮动在上面的元素，可用于所有元素。任务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5-7-1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中就需要将这个伪类选择器用于表格的行元素。即：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tr:hover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{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……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}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1618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7638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使用表格以及其他相关元素制作个人简历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5-8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15" y="0"/>
            <a:ext cx="82865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0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48578" y="6043613"/>
            <a:ext cx="59542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7638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使用表格以及其他相关元素制作个人简历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5-8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4963" y="2159813"/>
            <a:ext cx="7797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、制作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13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行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列的细边框表格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、将表格进行合并及嵌套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、插入表格内容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、将内容进行修饰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3887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214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使用表格制作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QQ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邮箱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8273" y="2190330"/>
            <a:ext cx="782891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、制作外层大表格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、制作表头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、制作左侧导航栏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、制作右侧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iframe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页面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5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、制作邮件表格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7464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44355" y="3555036"/>
            <a:ext cx="38186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5 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表格基本知识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</TotalTime>
  <Words>1544</Words>
  <Application>Microsoft Office PowerPoint</Application>
  <PresentationFormat>全屏显示(4:3)</PresentationFormat>
  <Paragraphs>166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方正粗活意简体</vt:lpstr>
      <vt:lpstr>方正水柱简体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TJ</cp:lastModifiedBy>
  <cp:revision>419</cp:revision>
  <dcterms:created xsi:type="dcterms:W3CDTF">2014-11-08T02:42:00Z</dcterms:created>
  <dcterms:modified xsi:type="dcterms:W3CDTF">2018-07-20T05:19:08Z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