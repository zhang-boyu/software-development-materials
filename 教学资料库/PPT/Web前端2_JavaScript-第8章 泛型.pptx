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Lst>
  <p:notesMasterIdLst>
    <p:notesMasterId r:id="rId5"/>
  </p:notesMasterIdLst>
  <p:handoutMasterIdLst>
    <p:handoutMasterId r:id="rId70"/>
  </p:handoutMasterIdLst>
  <p:sldIdLst>
    <p:sldId id="3224" r:id="rId4"/>
    <p:sldId id="3225" r:id="rId6"/>
    <p:sldId id="3226" r:id="rId7"/>
    <p:sldId id="3227" r:id="rId8"/>
    <p:sldId id="3228" r:id="rId9"/>
    <p:sldId id="3229" r:id="rId10"/>
    <p:sldId id="3230" r:id="rId11"/>
    <p:sldId id="3231" r:id="rId12"/>
    <p:sldId id="3232" r:id="rId13"/>
    <p:sldId id="3233" r:id="rId14"/>
    <p:sldId id="3234" r:id="rId15"/>
    <p:sldId id="3235" r:id="rId16"/>
    <p:sldId id="3236" r:id="rId17"/>
    <p:sldId id="3237" r:id="rId18"/>
    <p:sldId id="3238" r:id="rId19"/>
    <p:sldId id="3239" r:id="rId20"/>
    <p:sldId id="3240" r:id="rId21"/>
    <p:sldId id="3241" r:id="rId22"/>
    <p:sldId id="3242" r:id="rId23"/>
    <p:sldId id="3243" r:id="rId24"/>
    <p:sldId id="3244" r:id="rId25"/>
    <p:sldId id="3245" r:id="rId26"/>
    <p:sldId id="3246" r:id="rId27"/>
    <p:sldId id="3247" r:id="rId28"/>
    <p:sldId id="3248" r:id="rId29"/>
    <p:sldId id="3249" r:id="rId30"/>
    <p:sldId id="3250" r:id="rId31"/>
    <p:sldId id="3251" r:id="rId32"/>
    <p:sldId id="3252" r:id="rId33"/>
    <p:sldId id="3253" r:id="rId34"/>
    <p:sldId id="3254" r:id="rId35"/>
    <p:sldId id="3255" r:id="rId36"/>
    <p:sldId id="3256" r:id="rId37"/>
    <p:sldId id="3257" r:id="rId38"/>
    <p:sldId id="3258" r:id="rId39"/>
    <p:sldId id="3259" r:id="rId40"/>
    <p:sldId id="3260" r:id="rId41"/>
    <p:sldId id="3261" r:id="rId42"/>
    <p:sldId id="3262" r:id="rId43"/>
    <p:sldId id="3263" r:id="rId44"/>
    <p:sldId id="3264" r:id="rId45"/>
    <p:sldId id="3265" r:id="rId46"/>
    <p:sldId id="3266" r:id="rId47"/>
    <p:sldId id="3267" r:id="rId48"/>
    <p:sldId id="3268" r:id="rId49"/>
    <p:sldId id="3269" r:id="rId50"/>
    <p:sldId id="3270" r:id="rId51"/>
    <p:sldId id="3271" r:id="rId52"/>
    <p:sldId id="3272" r:id="rId53"/>
    <p:sldId id="3273" r:id="rId54"/>
    <p:sldId id="3274" r:id="rId55"/>
    <p:sldId id="3275" r:id="rId56"/>
    <p:sldId id="3276" r:id="rId57"/>
    <p:sldId id="3277" r:id="rId58"/>
    <p:sldId id="3278" r:id="rId59"/>
    <p:sldId id="3279" r:id="rId60"/>
    <p:sldId id="3280" r:id="rId61"/>
    <p:sldId id="3281" r:id="rId62"/>
    <p:sldId id="3282" r:id="rId63"/>
    <p:sldId id="3283" r:id="rId64"/>
    <p:sldId id="3284" r:id="rId65"/>
    <p:sldId id="3285" r:id="rId66"/>
    <p:sldId id="3286" r:id="rId67"/>
    <p:sldId id="3287" r:id="rId68"/>
    <p:sldId id="3288" r:id="rId69"/>
  </p:sldIdLst>
  <p:sldSz cx="12190095" cy="6859270"/>
  <p:notesSz cx="6858000" cy="9144000"/>
  <p:custDataLst>
    <p:tags r:id="rId75"/>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itcast" initials="i" lastIdx="5"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69B2"/>
    <a:srgbClr val="595959"/>
    <a:srgbClr val="FF0000"/>
    <a:srgbClr val="FFCA08"/>
    <a:srgbClr val="76C0DD"/>
    <a:srgbClr val="FAFAFA"/>
    <a:srgbClr val="F2F2F2"/>
    <a:srgbClr val="006BBC"/>
    <a:srgbClr val="0075CC"/>
    <a:srgbClr val="008D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292" autoAdjust="0"/>
    <p:restoredTop sz="94660" autoAdjust="0"/>
  </p:normalViewPr>
  <p:slideViewPr>
    <p:cSldViewPr>
      <p:cViewPr varScale="1">
        <p:scale>
          <a:sx n="69" d="100"/>
          <a:sy n="69" d="100"/>
        </p:scale>
        <p:origin x="72" y="156"/>
      </p:cViewPr>
      <p:guideLst>
        <p:guide orient="horz" pos="2356"/>
        <p:guide pos="720"/>
        <p:guide pos="6449"/>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6" d="100"/>
          <a:sy n="86" d="100"/>
        </p:scale>
        <p:origin x="-3810" y="-90"/>
      </p:cViewPr>
      <p:guideLst>
        <p:guide orient="horz" pos="3141"/>
        <p:guide pos="2105"/>
      </p:guideLst>
    </p:cSldViewPr>
  </p:notes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5" Type="http://schemas.openxmlformats.org/officeDocument/2006/relationships/tags" Target="tags/tag44.xml"/><Relationship Id="rId74" Type="http://schemas.openxmlformats.org/officeDocument/2006/relationships/commentAuthors" Target="commentAuthors.xml"/><Relationship Id="rId73" Type="http://schemas.openxmlformats.org/officeDocument/2006/relationships/tableStyles" Target="tableStyles.xml"/><Relationship Id="rId72" Type="http://schemas.openxmlformats.org/officeDocument/2006/relationships/viewProps" Target="viewProps.xml"/><Relationship Id="rId71" Type="http://schemas.openxmlformats.org/officeDocument/2006/relationships/presProps" Target="presProps.xml"/><Relationship Id="rId70" Type="http://schemas.openxmlformats.org/officeDocument/2006/relationships/handoutMaster" Target="handoutMasters/handoutMaster1.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777" y="2309308"/>
            <a:ext cx="10850541" cy="899333"/>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endParaRPr lang="zh-CN" altLang="en-US" dirty="0"/>
          </a:p>
        </p:txBody>
      </p:sp>
      <p:sp>
        <p:nvSpPr>
          <p:cNvPr id="3" name="副标题 2"/>
          <p:cNvSpPr>
            <a:spLocks noGrp="1"/>
          </p:cNvSpPr>
          <p:nvPr>
            <p:ph type="subTitle" idx="1" hasCustomPrompt="1"/>
          </p:nvPr>
        </p:nvSpPr>
        <p:spPr>
          <a:xfrm>
            <a:off x="669820" y="3566185"/>
            <a:ext cx="10850454" cy="801518"/>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dirty="0"/>
              <a:t>单击此处编辑副标题</a:t>
            </a:r>
            <a:endParaRPr lang="zh-CN" altLang="en-US" dirty="0"/>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文本占位符 6"/>
          <p:cNvSpPr>
            <a:spLocks noGrp="1"/>
          </p:cNvSpPr>
          <p:nvPr>
            <p:ph type="body" idx="1" hasCustomPrompt="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5" name="标题 4"/>
          <p:cNvSpPr>
            <a:spLocks noGrp="1"/>
          </p:cNvSpPr>
          <p:nvPr>
            <p:ph type="title" hasCustomPrompt="1"/>
          </p:nvPr>
        </p:nvSpPr>
        <p:spPr>
          <a:xfrm>
            <a:off x="839974" y="727845"/>
            <a:ext cx="3931306" cy="1115266"/>
          </a:xfrm>
        </p:spPr>
        <p:txBody>
          <a:bodyPr anchor="ctr" anchorCtr="0"/>
          <a:lstStyle>
            <a:lvl1pPr>
              <a:defRPr sz="3200">
                <a:latin typeface="+mn-ea"/>
                <a:ea typeface="+mn-ea"/>
              </a:defRPr>
            </a:lvl1pPr>
          </a:lstStyle>
          <a:p>
            <a:r>
              <a:rPr lang="zh-CN" altLang="en-US" smtClean="0"/>
              <a:t>单击此处编辑标题</a:t>
            </a:r>
            <a:endParaRPr lang="zh-CN" altLang="en-US"/>
          </a:p>
        </p:txBody>
      </p:sp>
      <p:sp>
        <p:nvSpPr>
          <p:cNvPr id="6" name="内容占位符 5"/>
          <p:cNvSpPr>
            <a:spLocks noGrp="1"/>
          </p:cNvSpPr>
          <p:nvPr>
            <p:ph idx="1" hasCustomPrompt="1"/>
          </p:nvPr>
        </p:nvSpPr>
        <p:spPr>
          <a:xfrm>
            <a:off x="5137617" y="727845"/>
            <a:ext cx="6171235" cy="5404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smtClean="0"/>
              <a:t>单击此处编辑正文</a:t>
            </a:r>
            <a:endParaRPr lang="zh-CN" altLang="en-US"/>
          </a:p>
        </p:txBody>
      </p:sp>
      <p:sp>
        <p:nvSpPr>
          <p:cNvPr id="7" name="文本占位符 6"/>
          <p:cNvSpPr>
            <a:spLocks noGrp="1"/>
          </p:cNvSpPr>
          <p:nvPr>
            <p:ph type="body" sz="half" idx="2" hasCustomPrompt="1"/>
          </p:nvPr>
        </p:nvSpPr>
        <p:spPr>
          <a:xfrm>
            <a:off x="839974" y="2240060"/>
            <a:ext cx="3931306" cy="3892636"/>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5365" indent="0">
              <a:buNone/>
              <a:defRPr sz="1000"/>
            </a:lvl6pPr>
            <a:lvl7pPr marL="2742565" indent="0">
              <a:buNone/>
              <a:defRPr sz="1000"/>
            </a:lvl7pPr>
            <a:lvl8pPr marL="3199765" indent="0">
              <a:buNone/>
              <a:defRPr sz="1000"/>
            </a:lvl8pPr>
            <a:lvl9pPr marL="3656965" indent="0">
              <a:buNone/>
              <a:defRPr sz="1000"/>
            </a:lvl9pPr>
          </a:lstStyle>
          <a:p>
            <a:pPr lvl="0"/>
            <a:r>
              <a:rPr lang="zh-CN" altLang="en-US" smtClean="0"/>
              <a:t>单击此处编辑正文</a:t>
            </a:r>
            <a:endParaRPr lang="zh-CN" altLang="en-US" smtClean="0"/>
          </a:p>
          <a:p>
            <a:pPr lvl="0"/>
            <a:r>
              <a:rPr lang="zh-CN" altLang="en-US" smtClean="0">
                <a:sym typeface="+mn-ea"/>
              </a:rPr>
              <a:t>单击此处编辑正文</a:t>
            </a:r>
            <a:endParaRPr lang="zh-CN" altLang="en-US" smtClean="0"/>
          </a:p>
          <a:p>
            <a:pPr lvl="0"/>
            <a:r>
              <a:rPr lang="zh-CN" altLang="en-US" smtClean="0">
                <a:sym typeface="+mn-ea"/>
              </a:rPr>
              <a:t>单击此处编辑正文</a:t>
            </a:r>
            <a:endParaRPr lang="zh-CN" altLang="en-US" smtClean="0"/>
          </a:p>
          <a:p>
            <a:pPr lvl="0"/>
            <a:r>
              <a:rPr lang="zh-CN" altLang="en-US" smtClean="0">
                <a:sym typeface="+mn-ea"/>
              </a:rPr>
              <a:t>单击此处编辑正文</a:t>
            </a:r>
            <a:endParaRPr lang="zh-CN" altLang="en-US" smtClean="0">
              <a:sym typeface="+mn-ea"/>
            </a:endParaRPr>
          </a:p>
          <a:p>
            <a:pPr lvl="0"/>
            <a:r>
              <a:rPr lang="zh-CN" altLang="en-US" smtClean="0">
                <a:sym typeface="+mn-ea"/>
              </a:rPr>
              <a:t>单击此处编辑正文</a:t>
            </a:r>
            <a:endParaRPr lang="zh-CN" alt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fld>
            <a:endParaRPr lang="zh-CN" altLang="en-US"/>
          </a:p>
        </p:txBody>
      </p:sp>
      <p:sp>
        <p:nvSpPr>
          <p:cNvPr id="9" name="标题 8"/>
          <p:cNvSpPr>
            <a:spLocks noGrp="1"/>
          </p:cNvSpPr>
          <p:nvPr>
            <p:ph type="title" hasCustomPrompt="1"/>
          </p:nvPr>
        </p:nvSpPr>
        <p:spPr>
          <a:xfrm>
            <a:off x="669820" y="5606183"/>
            <a:ext cx="10850454" cy="558268"/>
          </a:xfrm>
        </p:spPr>
        <p:txBody>
          <a:bodyPr/>
          <a:lstStyle>
            <a:lvl1pPr>
              <a:defRPr b="0">
                <a:latin typeface="+mn-ea"/>
                <a:ea typeface="+mn-ea"/>
              </a:defRPr>
            </a:lvl1pPr>
          </a:lstStyle>
          <a:p>
            <a:r>
              <a:rPr lang="zh-CN" altLang="en-US"/>
              <a:t>单击此处编辑正文</a:t>
            </a:r>
            <a:endParaRPr lang="zh-CN" altLang="en-US"/>
          </a:p>
        </p:txBody>
      </p:sp>
      <p:sp>
        <p:nvSpPr>
          <p:cNvPr id="8" name="内容占位符 7"/>
          <p:cNvSpPr>
            <a:spLocks noGrp="1"/>
          </p:cNvSpPr>
          <p:nvPr>
            <p:ph idx="1" hasCustomPrompt="1"/>
          </p:nvPr>
        </p:nvSpPr>
        <p:spPr>
          <a:xfrm>
            <a:off x="669820" y="641469"/>
            <a:ext cx="10850454" cy="4556969"/>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内容占位符 6"/>
          <p:cNvSpPr>
            <a:spLocks noGrp="1"/>
          </p:cNvSpPr>
          <p:nvPr>
            <p:ph idx="1" hasCustomPrompt="1"/>
          </p:nvPr>
        </p:nvSpPr>
        <p:spPr>
          <a:xfrm>
            <a:off x="0" y="0"/>
            <a:ext cx="12194539" cy="686943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内容占位符 1"/>
          <p:cNvSpPr>
            <a:spLocks noGrp="1"/>
          </p:cNvSpPr>
          <p:nvPr>
            <p:ph sz="half" idx="2" hasCustomPrompt="1"/>
          </p:nvPr>
        </p:nvSpPr>
        <p:spPr>
          <a:xfrm>
            <a:off x="467922"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
        <p:nvSpPr>
          <p:cNvPr id="6" name="内容占位符 5"/>
          <p:cNvSpPr>
            <a:spLocks noGrp="1"/>
          </p:cNvSpPr>
          <p:nvPr>
            <p:ph sz="half" idx="13" hasCustomPrompt="1"/>
          </p:nvPr>
        </p:nvSpPr>
        <p:spPr>
          <a:xfrm>
            <a:off x="6286787"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669777" y="623706"/>
            <a:ext cx="10850541" cy="899333"/>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15" y="390618"/>
            <a:ext cx="520428" cy="274702"/>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5" name="TextBox 4"/>
          <p:cNvSpPr txBox="1"/>
          <p:nvPr userDrawn="1"/>
        </p:nvSpPr>
        <p:spPr>
          <a:xfrm>
            <a:off x="305731" y="6526138"/>
            <a:ext cx="2909155" cy="276999"/>
          </a:xfrm>
          <a:prstGeom prst="rect">
            <a:avLst/>
          </a:prstGeom>
          <a:noFill/>
        </p:spPr>
        <p:txBody>
          <a:bodyPr wrap="square" rtlCol="0">
            <a:spAutoFit/>
          </a:bodyPr>
          <a:lstStyle/>
          <a:p>
            <a:r>
              <a:rPr lang="en-US" altLang="zh-CN" sz="1200" b="0" dirty="0" err="1" smtClean="0">
                <a:solidFill>
                  <a:srgbClr val="595959"/>
                </a:solidFill>
                <a:latin typeface="微软雅黑" panose="020B0503020204020204" pitchFamily="34" charset="-122"/>
                <a:ea typeface="微软雅黑" panose="020B0503020204020204" pitchFamily="34" charset="-122"/>
              </a:rPr>
              <a:t>yx.ityxb.com</a:t>
            </a:r>
            <a:endParaRPr lang="zh-CN" altLang="en-US" sz="1200" b="0" dirty="0" smtClean="0">
              <a:solidFill>
                <a:srgbClr val="595959"/>
              </a:solidFill>
              <a:latin typeface="微软雅黑" panose="020B0503020204020204" pitchFamily="34" charset="-122"/>
              <a:ea typeface="微软雅黑" panose="020B0503020204020204" pitchFamily="34" charset="-122"/>
            </a:endParaRPr>
          </a:p>
        </p:txBody>
      </p:sp>
      <p:sp>
        <p:nvSpPr>
          <p:cNvPr id="6" name="矩形 5"/>
          <p:cNvSpPr/>
          <p:nvPr userDrawn="1"/>
        </p:nvSpPr>
        <p:spPr>
          <a:xfrm>
            <a:off x="0" y="6794447"/>
            <a:ext cx="10631710" cy="84639"/>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03518" y="294845"/>
            <a:ext cx="2595061" cy="40505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693670"/>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98623" y="3693670"/>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118890" y="5045086"/>
            <a:ext cx="3952633" cy="61695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2"/>
          <a:srcRect l="114" t="60287" r="-114" b="572"/>
          <a:stretch>
            <a:fillRect/>
          </a:stretch>
        </p:blipFill>
        <p:spPr>
          <a:xfrm>
            <a:off x="2480310" y="2508250"/>
            <a:ext cx="7532370" cy="1657985"/>
          </a:xfrm>
          <a:prstGeom prst="rect">
            <a:avLst/>
          </a:prstGeom>
        </p:spPr>
      </p:pic>
      <p:pic>
        <p:nvPicPr>
          <p:cNvPr id="20" name="图片 1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3_图片与标题">
    <p:spTree>
      <p:nvGrpSpPr>
        <p:cNvPr id="1" name=""/>
        <p:cNvGrpSpPr/>
        <p:nvPr/>
      </p:nvGrpSpPr>
      <p:grpSpPr>
        <a:xfrm>
          <a:off x="0" y="0"/>
          <a:ext cx="0" cy="0"/>
          <a:chOff x="0" y="0"/>
          <a:chExt cx="0" cy="0"/>
        </a:xfrm>
      </p:grpSpPr>
      <p:cxnSp>
        <p:nvCxnSpPr>
          <p:cNvPr id="8" name="直接连接符 7"/>
          <p:cNvCxnSpPr/>
          <p:nvPr userDrawn="1"/>
        </p:nvCxnSpPr>
        <p:spPr>
          <a:xfrm>
            <a:off x="984609" y="1413038"/>
            <a:ext cx="10198209"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6843" y="654565"/>
            <a:ext cx="575974" cy="577219"/>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grpSp>
        <p:nvGrpSpPr>
          <p:cNvPr id="12" name="组合 11"/>
          <p:cNvGrpSpPr/>
          <p:nvPr userDrawn="1"/>
        </p:nvGrpSpPr>
        <p:grpSpPr>
          <a:xfrm>
            <a:off x="8878921" y="655090"/>
            <a:ext cx="575974" cy="576171"/>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grpSp>
        <p:nvGrpSpPr>
          <p:cNvPr id="15" name="组合 14"/>
          <p:cNvGrpSpPr/>
          <p:nvPr userDrawn="1"/>
        </p:nvGrpSpPr>
        <p:grpSpPr>
          <a:xfrm>
            <a:off x="9742882" y="654565"/>
            <a:ext cx="577021" cy="577219"/>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grpSp>
        <p:nvGrpSpPr>
          <p:cNvPr id="18" name="组合 17"/>
          <p:cNvGrpSpPr/>
          <p:nvPr userDrawn="1"/>
        </p:nvGrpSpPr>
        <p:grpSpPr>
          <a:xfrm>
            <a:off x="7151000" y="654565"/>
            <a:ext cx="577021" cy="577219"/>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grpSp>
        <p:nvGrpSpPr>
          <p:cNvPr id="21" name="组合 20"/>
          <p:cNvGrpSpPr/>
          <p:nvPr userDrawn="1"/>
        </p:nvGrpSpPr>
        <p:grpSpPr>
          <a:xfrm>
            <a:off x="8014961" y="654565"/>
            <a:ext cx="577021" cy="577219"/>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5" Type="http://schemas.openxmlformats.org/officeDocument/2006/relationships/theme" Target="../theme/theme2.xml"/><Relationship Id="rId14" Type="http://schemas.openxmlformats.org/officeDocument/2006/relationships/slideLayout" Target="../slideLayouts/slideLayout22.xml"/><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605" y="6351009"/>
            <a:ext cx="2699578" cy="316859"/>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115357" y="6351009"/>
            <a:ext cx="3959381" cy="316859"/>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09254" y="6351009"/>
            <a:ext cx="2699578" cy="316859"/>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9" name="文本占位符 8"/>
          <p:cNvSpPr>
            <a:spLocks noGrp="1"/>
          </p:cNvSpPr>
          <p:nvPr>
            <p:ph type="body" idx="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Lst>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0.xml"/><Relationship Id="rId2" Type="http://schemas.openxmlformats.org/officeDocument/2006/relationships/tags" Target="../tags/tag2.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0.xml"/><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0.xml"/><Relationship Id="rId2" Type="http://schemas.openxmlformats.org/officeDocument/2006/relationships/image" Target="../media/image4.png"/><Relationship Id="rId1" Type="http://schemas.openxmlformats.org/officeDocument/2006/relationships/tags" Target="../tags/tag4.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0.xml"/><Relationship Id="rId2" Type="http://schemas.openxmlformats.org/officeDocument/2006/relationships/tags" Target="../tags/tag6.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0.xml"/><Relationship Id="rId2" Type="http://schemas.openxmlformats.org/officeDocument/2006/relationships/image" Target="../media/image4.png"/><Relationship Id="rId1" Type="http://schemas.openxmlformats.org/officeDocument/2006/relationships/tags" Target="../tags/tag7.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0.xml"/><Relationship Id="rId2" Type="http://schemas.openxmlformats.org/officeDocument/2006/relationships/tags" Target="../tags/tag9.xml"/><Relationship Id="rId1" Type="http://schemas.openxmlformats.org/officeDocument/2006/relationships/tags" Target="../tags/tag8.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0.xml"/><Relationship Id="rId1" Type="http://schemas.openxmlformats.org/officeDocument/2006/relationships/tags" Target="../tags/tag10.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0.xml"/><Relationship Id="rId1" Type="http://schemas.openxmlformats.org/officeDocument/2006/relationships/tags" Target="../tags/tag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0.xml"/><Relationship Id="rId1" Type="http://schemas.openxmlformats.org/officeDocument/2006/relationships/tags" Target="../tags/tag1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0.xml"/><Relationship Id="rId1" Type="http://schemas.openxmlformats.org/officeDocument/2006/relationships/tags" Target="../tags/tag1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0.xml"/><Relationship Id="rId1" Type="http://schemas.openxmlformats.org/officeDocument/2006/relationships/tags" Target="../tags/tag14.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0.xml"/><Relationship Id="rId1" Type="http://schemas.openxmlformats.org/officeDocument/2006/relationships/tags" Target="../tags/tag15.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0.xml"/><Relationship Id="rId2" Type="http://schemas.openxmlformats.org/officeDocument/2006/relationships/image" Target="../media/image5.png"/><Relationship Id="rId1" Type="http://schemas.openxmlformats.org/officeDocument/2006/relationships/tags" Target="../tags/tag16.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0.xml"/><Relationship Id="rId1" Type="http://schemas.openxmlformats.org/officeDocument/2006/relationships/tags" Target="../tags/tag1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0.xml"/><Relationship Id="rId1" Type="http://schemas.openxmlformats.org/officeDocument/2006/relationships/tags" Target="../tags/tag18.xml"/></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0.xml"/><Relationship Id="rId2" Type="http://schemas.openxmlformats.org/officeDocument/2006/relationships/image" Target="../media/image4.png"/><Relationship Id="rId1" Type="http://schemas.openxmlformats.org/officeDocument/2006/relationships/tags" Target="../tags/tag19.xml"/></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10.xml"/><Relationship Id="rId3" Type="http://schemas.openxmlformats.org/officeDocument/2006/relationships/tags" Target="../tags/tag21.xml"/><Relationship Id="rId2" Type="http://schemas.openxmlformats.org/officeDocument/2006/relationships/image" Target="../media/image4.png"/><Relationship Id="rId1" Type="http://schemas.openxmlformats.org/officeDocument/2006/relationships/tags" Target="../tags/tag20.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0.xml"/><Relationship Id="rId1" Type="http://schemas.openxmlformats.org/officeDocument/2006/relationships/image" Target="../media/image6.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0.xml"/><Relationship Id="rId2" Type="http://schemas.openxmlformats.org/officeDocument/2006/relationships/image" Target="../media/image4.png"/><Relationship Id="rId1" Type="http://schemas.openxmlformats.org/officeDocument/2006/relationships/tags" Target="../tags/tag22.xml"/></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10.xml"/><Relationship Id="rId2" Type="http://schemas.openxmlformats.org/officeDocument/2006/relationships/image" Target="../media/image4.png"/><Relationship Id="rId1" Type="http://schemas.openxmlformats.org/officeDocument/2006/relationships/tags" Target="../tags/tag23.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0.xml"/><Relationship Id="rId1" Type="http://schemas.openxmlformats.org/officeDocument/2006/relationships/image" Target="../media/image7.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0.xml"/><Relationship Id="rId1" Type="http://schemas.openxmlformats.org/officeDocument/2006/relationships/tags" Target="../tags/tag24.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0.xml"/><Relationship Id="rId1" Type="http://schemas.openxmlformats.org/officeDocument/2006/relationships/tags" Target="../tags/tag25.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0.xml"/><Relationship Id="rId1" Type="http://schemas.openxmlformats.org/officeDocument/2006/relationships/tags" Target="../tags/tag26.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0.xml"/><Relationship Id="rId1" Type="http://schemas.openxmlformats.org/officeDocument/2006/relationships/tags" Target="../tags/tag27.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0.xml"/><Relationship Id="rId1" Type="http://schemas.openxmlformats.org/officeDocument/2006/relationships/tags" Target="../tags/tag28.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0.xml"/><Relationship Id="rId1" Type="http://schemas.openxmlformats.org/officeDocument/2006/relationships/tags" Target="../tags/tag29.xml"/></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10.xml"/><Relationship Id="rId2" Type="http://schemas.openxmlformats.org/officeDocument/2006/relationships/image" Target="../media/image4.png"/><Relationship Id="rId1" Type="http://schemas.openxmlformats.org/officeDocument/2006/relationships/tags" Target="../tags/tag30.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46.xml"/><Relationship Id="rId3" Type="http://schemas.openxmlformats.org/officeDocument/2006/relationships/slideLayout" Target="../slideLayouts/slideLayout10.xml"/><Relationship Id="rId2" Type="http://schemas.openxmlformats.org/officeDocument/2006/relationships/image" Target="../media/image8.png"/><Relationship Id="rId1" Type="http://schemas.openxmlformats.org/officeDocument/2006/relationships/tags" Target="../tags/tag31.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0.xml"/><Relationship Id="rId1" Type="http://schemas.openxmlformats.org/officeDocument/2006/relationships/tags" Target="../tags/tag3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0.xml"/><Relationship Id="rId1" Type="http://schemas.openxmlformats.org/officeDocument/2006/relationships/tags" Target="../tags/tag33.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0.xml"/><Relationship Id="rId1" Type="http://schemas.openxmlformats.org/officeDocument/2006/relationships/tags" Target="../tags/tag34.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54.xml.rels><?xml version="1.0" encoding="UTF-8" standalone="yes"?>
<Relationships xmlns="http://schemas.openxmlformats.org/package/2006/relationships"><Relationship Id="rId4" Type="http://schemas.openxmlformats.org/officeDocument/2006/relationships/notesSlide" Target="../notesSlides/notesSlide54.xml"/><Relationship Id="rId3" Type="http://schemas.openxmlformats.org/officeDocument/2006/relationships/slideLayout" Target="../slideLayouts/slideLayout10.xml"/><Relationship Id="rId2" Type="http://schemas.openxmlformats.org/officeDocument/2006/relationships/image" Target="../media/image9.png"/><Relationship Id="rId1" Type="http://schemas.openxmlformats.org/officeDocument/2006/relationships/tags" Target="../tags/tag35.xml"/></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55.xml"/><Relationship Id="rId3" Type="http://schemas.openxmlformats.org/officeDocument/2006/relationships/slideLayout" Target="../slideLayouts/slideLayout10.xml"/><Relationship Id="rId2" Type="http://schemas.openxmlformats.org/officeDocument/2006/relationships/tags" Target="../tags/tag36.xml"/><Relationship Id="rId1" Type="http://schemas.openxmlformats.org/officeDocument/2006/relationships/image" Target="../media/image10.png"/></Relationships>
</file>

<file path=ppt/slides/_rels/slide56.xml.rels><?xml version="1.0" encoding="UTF-8" standalone="yes"?>
<Relationships xmlns="http://schemas.openxmlformats.org/package/2006/relationships"><Relationship Id="rId4" Type="http://schemas.openxmlformats.org/officeDocument/2006/relationships/notesSlide" Target="../notesSlides/notesSlide56.xml"/><Relationship Id="rId3" Type="http://schemas.openxmlformats.org/officeDocument/2006/relationships/slideLayout" Target="../slideLayouts/slideLayout10.xml"/><Relationship Id="rId2" Type="http://schemas.openxmlformats.org/officeDocument/2006/relationships/image" Target="../media/image11.png"/><Relationship Id="rId1" Type="http://schemas.openxmlformats.org/officeDocument/2006/relationships/tags" Target="../tags/tag37.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58.xml.rels><?xml version="1.0" encoding="UTF-8" standalone="yes"?>
<Relationships xmlns="http://schemas.openxmlformats.org/package/2006/relationships"><Relationship Id="rId4" Type="http://schemas.openxmlformats.org/officeDocument/2006/relationships/notesSlide" Target="../notesSlides/notesSlide58.xml"/><Relationship Id="rId3" Type="http://schemas.openxmlformats.org/officeDocument/2006/relationships/slideLayout" Target="../slideLayouts/slideLayout10.xml"/><Relationship Id="rId2" Type="http://schemas.openxmlformats.org/officeDocument/2006/relationships/image" Target="../media/image4.png"/><Relationship Id="rId1" Type="http://schemas.openxmlformats.org/officeDocument/2006/relationships/tags" Target="../tags/tag38.xml"/></Relationships>
</file>

<file path=ppt/slides/_rels/slide59.xml.rels><?xml version="1.0" encoding="UTF-8" standalone="yes"?>
<Relationships xmlns="http://schemas.openxmlformats.org/package/2006/relationships"><Relationship Id="rId4" Type="http://schemas.openxmlformats.org/officeDocument/2006/relationships/notesSlide" Target="../notesSlides/notesSlide59.xml"/><Relationship Id="rId3" Type="http://schemas.openxmlformats.org/officeDocument/2006/relationships/slideLayout" Target="../slideLayouts/slideLayout10.xml"/><Relationship Id="rId2" Type="http://schemas.openxmlformats.org/officeDocument/2006/relationships/image" Target="../media/image4.png"/><Relationship Id="rId1" Type="http://schemas.openxmlformats.org/officeDocument/2006/relationships/tags" Target="../tags/tag39.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0.xml"/><Relationship Id="rId1" Type="http://schemas.openxmlformats.org/officeDocument/2006/relationships/tags" Target="../tags/tag40.xml"/></Relationships>
</file>

<file path=ppt/slides/_rels/slide61.xml.rels><?xml version="1.0" encoding="UTF-8" standalone="yes"?>
<Relationships xmlns="http://schemas.openxmlformats.org/package/2006/relationships"><Relationship Id="rId4" Type="http://schemas.openxmlformats.org/officeDocument/2006/relationships/notesSlide" Target="../notesSlides/notesSlide61.xml"/><Relationship Id="rId3" Type="http://schemas.openxmlformats.org/officeDocument/2006/relationships/slideLayout" Target="../slideLayouts/slideLayout10.xml"/><Relationship Id="rId2" Type="http://schemas.openxmlformats.org/officeDocument/2006/relationships/image" Target="../media/image4.png"/><Relationship Id="rId1" Type="http://schemas.openxmlformats.org/officeDocument/2006/relationships/tags" Target="../tags/tag41.xml"/></Relationships>
</file>

<file path=ppt/slides/_rels/slide62.xml.rels><?xml version="1.0" encoding="UTF-8" standalone="yes"?>
<Relationships xmlns="http://schemas.openxmlformats.org/package/2006/relationships"><Relationship Id="rId4" Type="http://schemas.openxmlformats.org/officeDocument/2006/relationships/notesSlide" Target="../notesSlides/notesSlide62.xml"/><Relationship Id="rId3" Type="http://schemas.openxmlformats.org/officeDocument/2006/relationships/slideLayout" Target="../slideLayouts/slideLayout10.xml"/><Relationship Id="rId2" Type="http://schemas.openxmlformats.org/officeDocument/2006/relationships/image" Target="../media/image4.png"/><Relationship Id="rId1" Type="http://schemas.openxmlformats.org/officeDocument/2006/relationships/tags" Target="../tags/tag42.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0.xml"/><Relationship Id="rId1" Type="http://schemas.openxmlformats.org/officeDocument/2006/relationships/tags" Target="../tags/tag4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0.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18"/>
          <p:cNvSpPr txBox="1"/>
          <p:nvPr/>
        </p:nvSpPr>
        <p:spPr>
          <a:xfrm>
            <a:off x="2504662" y="2534497"/>
            <a:ext cx="7406544" cy="783590"/>
          </a:xfrm>
          <a:prstGeom prst="rect">
            <a:avLst/>
          </a:prstGeom>
          <a:noFill/>
        </p:spPr>
        <p:txBody>
          <a:bodyPr wrap="square" rtlCol="0">
            <a:spAutoFit/>
          </a:bodyPr>
          <a:lstStyle/>
          <a:p>
            <a:pPr algn="ctr"/>
            <a:r>
              <a:rPr lang="zh-CN" altLang="en-US" sz="4500" dirty="0" smtClean="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第</a:t>
            </a:r>
            <a:r>
              <a:rPr lang="en-US" altLang="zh-CN" sz="4500" dirty="0" smtClean="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8</a:t>
            </a:r>
            <a:r>
              <a:rPr lang="zh-CN" altLang="en-US" sz="4500" dirty="0" smtClean="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章  泛型</a:t>
            </a:r>
            <a:endParaRPr lang="en-US" sz="4500" dirty="0" smtClean="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endParaRPr>
          </a:p>
        </p:txBody>
      </p:sp>
      <p:sp>
        <p:nvSpPr>
          <p:cNvPr id="4" name="Rectangle 4"/>
          <p:cNvSpPr txBox="1">
            <a:spLocks noChangeArrowheads="1"/>
          </p:cNvSpPr>
          <p:nvPr/>
        </p:nvSpPr>
        <p:spPr>
          <a:xfrm>
            <a:off x="2279207" y="3861435"/>
            <a:ext cx="7920000" cy="430530"/>
          </a:xfrm>
          <a:prstGeom prst="rect">
            <a:avLst/>
          </a:prstGeom>
        </p:spPr>
        <p:txBody>
          <a:bodyPr vert="horz" lIns="121917" tIns="60958" rIns="121917" bIns="60958" rtlCol="0"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Java</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基础入门（第</a:t>
            </a: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3</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版）</a:t>
            </a:r>
            <a:endParaRPr lang="zh-CN" altLang="en-US" sz="2400"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smtClean="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80" name="组合 79"/>
          <p:cNvGrpSpPr/>
          <p:nvPr/>
        </p:nvGrpSpPr>
        <p:grpSpPr>
          <a:xfrm>
            <a:off x="1849264" y="2632634"/>
            <a:ext cx="8568690" cy="688340"/>
            <a:chOff x="978872" y="1800500"/>
            <a:chExt cx="6427354" cy="516136"/>
          </a:xfrm>
        </p:grpSpPr>
        <p:sp>
          <p:nvSpPr>
            <p:cNvPr id="81" name="Pentagon 3"/>
            <p:cNvSpPr/>
            <p:nvPr/>
          </p:nvSpPr>
          <p:spPr bwMode="auto">
            <a:xfrm>
              <a:off x="978872" y="1800500"/>
              <a:ext cx="6427354" cy="516136"/>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掌握</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泛型类</a:t>
              </a:r>
              <a:r>
                <a:rPr lang="zh-CN"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，能够独立定义和使用泛型类</a:t>
              </a:r>
              <a:endParaRPr lang="zh-CN"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2"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rgbClr val="595959"/>
                </a:solidFill>
                <a:latin typeface="微软雅黑" panose="020B0503020204020204" pitchFamily="34" charset="-122"/>
                <a:ea typeface="微软雅黑" panose="020B0503020204020204" pitchFamily="34" charset="-122"/>
                <a:sym typeface="Source Han Sans K Bold" panose="020B0800000000000000" pitchFamily="34" charset="-128"/>
              </a:endParaRPr>
            </a:p>
          </p:txBody>
        </p:sp>
      </p:grpSp>
      <p:grpSp>
        <p:nvGrpSpPr>
          <p:cNvPr id="83" name="组合 82"/>
          <p:cNvGrpSpPr/>
          <p:nvPr/>
        </p:nvGrpSpPr>
        <p:grpSpPr>
          <a:xfrm>
            <a:off x="1849120" y="3608974"/>
            <a:ext cx="8561070" cy="685800"/>
            <a:chOff x="978872" y="2570437"/>
            <a:chExt cx="5437064" cy="514350"/>
          </a:xfrm>
        </p:grpSpPr>
        <p:sp>
          <p:nvSpPr>
            <p:cNvPr id="84"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泛型接口</a:t>
              </a:r>
              <a:r>
                <a:rPr lang="zh-CN" altLang="zh-CN" sz="2000" dirty="0">
                  <a:solidFill>
                    <a:srgbClr val="595959"/>
                  </a:solidFill>
                  <a:latin typeface="微软雅黑" panose="020B0503020204020204" pitchFamily="34" charset="-122"/>
                  <a:ea typeface="微软雅黑" panose="020B0503020204020204" pitchFamily="34" charset="-122"/>
                  <a:cs typeface="+mn-ea"/>
                </a:rPr>
                <a:t>，能够独立定义和使用泛型接口</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85"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rgbClr val="595959"/>
                </a:solidFill>
                <a:latin typeface="微软雅黑" panose="020B0503020204020204" pitchFamily="34" charset="-122"/>
                <a:ea typeface="微软雅黑" panose="020B0503020204020204" pitchFamily="34" charset="-122"/>
                <a:sym typeface="Source Han Sans K Bold" panose="020B0800000000000000" pitchFamily="34" charset="-128"/>
              </a:endParaRPr>
            </a:p>
          </p:txBody>
        </p:sp>
      </p:grpSp>
      <p:grpSp>
        <p:nvGrpSpPr>
          <p:cNvPr id="12" name="组合 11"/>
          <p:cNvGrpSpPr/>
          <p:nvPr/>
        </p:nvGrpSpPr>
        <p:grpSpPr>
          <a:xfrm>
            <a:off x="1843744" y="1702774"/>
            <a:ext cx="8561070" cy="685800"/>
            <a:chOff x="978872" y="2570437"/>
            <a:chExt cx="5437064" cy="514350"/>
          </a:xfrm>
        </p:grpSpPr>
        <p:sp>
          <p:nvSpPr>
            <p:cNvPr id="13"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rPr>
                <a:t>了解</a:t>
              </a:r>
              <a:r>
                <a:rPr lang="zh-CN" altLang="zh-CN" sz="2000" dirty="0">
                  <a:solidFill>
                    <a:srgbClr val="1369B2"/>
                  </a:solidFill>
                  <a:latin typeface="微软雅黑" panose="020B0503020204020204" pitchFamily="34" charset="-122"/>
                  <a:ea typeface="微软雅黑" panose="020B0503020204020204" pitchFamily="34" charset="-122"/>
                  <a:cs typeface="+mn-ea"/>
                </a:rPr>
                <a:t>泛型</a:t>
              </a:r>
              <a:r>
                <a:rPr lang="zh-CN" altLang="zh-CN" sz="2000" dirty="0">
                  <a:solidFill>
                    <a:srgbClr val="595959"/>
                  </a:solidFill>
                  <a:latin typeface="微软雅黑" panose="020B0503020204020204" pitchFamily="34" charset="-122"/>
                  <a:ea typeface="微软雅黑" panose="020B0503020204020204" pitchFamily="34" charset="-122"/>
                  <a:cs typeface="+mn-ea"/>
                </a:rPr>
                <a:t>，能够说出泛型的作用和优点</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4"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rgbClr val="595959"/>
                </a:solidFill>
                <a:latin typeface="微软雅黑" panose="020B0503020204020204" pitchFamily="34" charset="-122"/>
                <a:ea typeface="微软雅黑" panose="020B0503020204020204" pitchFamily="34" charset="-122"/>
                <a:sym typeface="Source Han Sans K Bold" panose="020B0800000000000000" pitchFamily="34" charset="-128"/>
              </a:endParaRPr>
            </a:p>
          </p:txBody>
        </p:sp>
      </p:grpSp>
      <p:grpSp>
        <p:nvGrpSpPr>
          <p:cNvPr id="2" name="组合 1"/>
          <p:cNvGrpSpPr/>
          <p:nvPr/>
        </p:nvGrpSpPr>
        <p:grpSpPr>
          <a:xfrm>
            <a:off x="1859280" y="4570999"/>
            <a:ext cx="8561070" cy="685800"/>
            <a:chOff x="978872" y="2570437"/>
            <a:chExt cx="5437064" cy="514350"/>
          </a:xfrm>
        </p:grpSpPr>
        <p:sp>
          <p:nvSpPr>
            <p:cNvPr id="3"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sz="2000" dirty="0">
                  <a:solidFill>
                    <a:srgbClr val="595959"/>
                  </a:solidFill>
                  <a:latin typeface="微软雅黑" panose="020B0503020204020204" pitchFamily="34" charset="-122"/>
                  <a:ea typeface="微软雅黑" panose="020B0503020204020204" pitchFamily="34" charset="-122"/>
                  <a:cs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泛型方法</a:t>
              </a:r>
              <a:r>
                <a:rPr lang="zh-CN" sz="2000" dirty="0">
                  <a:solidFill>
                    <a:srgbClr val="595959"/>
                  </a:solidFill>
                  <a:latin typeface="微软雅黑" panose="020B0503020204020204" pitchFamily="34" charset="-122"/>
                  <a:ea typeface="微软雅黑" panose="020B0503020204020204" pitchFamily="34" charset="-122"/>
                  <a:cs typeface="+mn-ea"/>
                </a:rPr>
                <a:t>，能够独立定义并使用泛型方法</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4"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rgbClr val="595959"/>
                </a:solidFill>
                <a:latin typeface="微软雅黑" panose="020B0503020204020204" pitchFamily="34" charset="-122"/>
                <a:ea typeface="微软雅黑" panose="020B0503020204020204" pitchFamily="34" charset="-122"/>
                <a:sym typeface="Source Han Sans K Bold" panose="020B0800000000000000" pitchFamily="34" charset="-128"/>
              </a:endParaRPr>
            </a:p>
          </p:txBody>
        </p:sp>
      </p:grpSp>
      <p:grpSp>
        <p:nvGrpSpPr>
          <p:cNvPr id="5" name="组合 4"/>
          <p:cNvGrpSpPr/>
          <p:nvPr/>
        </p:nvGrpSpPr>
        <p:grpSpPr>
          <a:xfrm>
            <a:off x="1842770" y="5487304"/>
            <a:ext cx="8561070" cy="685800"/>
            <a:chOff x="978872" y="2570437"/>
            <a:chExt cx="5437064" cy="514350"/>
          </a:xfrm>
        </p:grpSpPr>
        <p:sp>
          <p:nvSpPr>
            <p:cNvPr id="6"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掌握</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类型通配符</a:t>
              </a:r>
              <a:r>
                <a:rPr 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，能够正确定义类型通配符的上限和下限</a:t>
              </a:r>
              <a:endParaRPr 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rgbClr val="595959"/>
                </a:solidFill>
                <a:latin typeface="微软雅黑" panose="020B0503020204020204" pitchFamily="34" charset="-122"/>
                <a:ea typeface="微软雅黑" panose="020B0503020204020204" pitchFamily="34" charset="-122"/>
                <a:sym typeface="Source Han Sans K Bold" panose="020B0800000000000000" pitchFamily="34" charset="-128"/>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671275" y="573706"/>
            <a:ext cx="3911644" cy="662276"/>
          </a:xfrm>
          <a:prstGeom prst="rect">
            <a:avLst/>
          </a:prstGeom>
        </p:spPr>
        <p:txBody>
          <a:bodyPr lIns="121897" tIns="60948" rIns="121897" bIns="6094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smtClean="0">
                <a:solidFill>
                  <a:srgbClr val="1369B2"/>
                </a:solidFill>
                <a:latin typeface="微软雅黑" panose="020B0503020204020204" pitchFamily="34" charset="-122"/>
                <a:ea typeface="微软雅黑" panose="020B0503020204020204" pitchFamily="34" charset="-122"/>
                <a:cs typeface="+mn-ea"/>
                <a:sym typeface="+mn-lt"/>
              </a:rPr>
              <a:t>章节概述</a:t>
            </a:r>
            <a:r>
              <a:rPr lang="en-US" altLang="zh-CN" b="1" dirty="0" smtClean="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 </a:t>
            </a:r>
            <a:r>
              <a:rPr lang="en-US" altLang="zh-CN" sz="2400" dirty="0" smtClean="0">
                <a:solidFill>
                  <a:srgbClr val="1369B2"/>
                </a:solidFill>
                <a:latin typeface="微软雅黑" panose="020B0503020204020204" pitchFamily="34" charset="-122"/>
                <a:ea typeface="微软雅黑" panose="020B0503020204020204" pitchFamily="34" charset="-122"/>
                <a:cs typeface="+mn-ea"/>
                <a:sym typeface="+mn-lt"/>
              </a:rPr>
              <a:t>Summary</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214461" y="2375868"/>
            <a:ext cx="9770271" cy="289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chor="t">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fontAlgn="auto">
              <a:lnSpc>
                <a:spcPct val="150000"/>
              </a:lnSpc>
            </a:pPr>
            <a:r>
              <a:rPr altLang="zh-CN" sz="2000" dirty="0">
                <a:solidFill>
                  <a:srgbClr val="595959"/>
                </a:solidFill>
                <a:latin typeface="微软雅黑" panose="020B0503020204020204" pitchFamily="34" charset="-122"/>
                <a:ea typeface="微软雅黑" panose="020B0503020204020204" pitchFamily="34" charset="-122"/>
              </a:rPr>
              <a:t>通过之前的学习，读者可以了解到，把一个对象存入集合后，再次取出该对象时，该对象的编译类型就变成了Object类型(尽管其在运行时类型没有改变)。集合设计成这样，提高了它的</a:t>
            </a:r>
            <a:r>
              <a:rPr altLang="zh-CN" sz="2000" dirty="0">
                <a:solidFill>
                  <a:srgbClr val="1369B2"/>
                </a:solidFill>
                <a:latin typeface="微软雅黑" panose="020B0503020204020204" pitchFamily="34" charset="-122"/>
                <a:ea typeface="微软雅黑" panose="020B0503020204020204" pitchFamily="34" charset="-122"/>
              </a:rPr>
              <a:t>通用性</a:t>
            </a:r>
            <a:r>
              <a:rPr altLang="zh-CN" sz="2000" dirty="0">
                <a:solidFill>
                  <a:srgbClr val="595959"/>
                </a:solidFill>
                <a:latin typeface="微软雅黑" panose="020B0503020204020204" pitchFamily="34" charset="-122"/>
                <a:ea typeface="微软雅黑" panose="020B0503020204020204" pitchFamily="34" charset="-122"/>
              </a:rPr>
              <a:t>，但是也带来了一些类型</a:t>
            </a:r>
            <a:r>
              <a:rPr altLang="zh-CN" sz="2000" dirty="0">
                <a:solidFill>
                  <a:srgbClr val="1369B2"/>
                </a:solidFill>
                <a:latin typeface="微软雅黑" panose="020B0503020204020204" pitchFamily="34" charset="-122"/>
                <a:ea typeface="微软雅黑" panose="020B0503020204020204" pitchFamily="34" charset="-122"/>
              </a:rPr>
              <a:t>不安全</a:t>
            </a:r>
            <a:r>
              <a:rPr altLang="zh-CN" sz="2000" dirty="0">
                <a:solidFill>
                  <a:srgbClr val="595959"/>
                </a:solidFill>
                <a:latin typeface="微软雅黑" panose="020B0503020204020204" pitchFamily="34" charset="-122"/>
                <a:ea typeface="微软雅黑" panose="020B0503020204020204" pitchFamily="34" charset="-122"/>
              </a:rPr>
              <a:t>和</a:t>
            </a:r>
            <a:r>
              <a:rPr altLang="zh-CN" sz="2000" dirty="0">
                <a:solidFill>
                  <a:srgbClr val="1369B2"/>
                </a:solidFill>
                <a:latin typeface="微软雅黑" panose="020B0503020204020204" pitchFamily="34" charset="-122"/>
                <a:ea typeface="微软雅黑" panose="020B0503020204020204" pitchFamily="34" charset="-122"/>
              </a:rPr>
              <a:t>繁琐</a:t>
            </a:r>
            <a:r>
              <a:rPr altLang="zh-CN" sz="2000" dirty="0">
                <a:solidFill>
                  <a:srgbClr val="595959"/>
                </a:solidFill>
                <a:latin typeface="微软雅黑" panose="020B0503020204020204" pitchFamily="34" charset="-122"/>
                <a:ea typeface="微软雅黑" panose="020B0503020204020204" pitchFamily="34" charset="-122"/>
              </a:rPr>
              <a:t>的问题，例如，集合可以同时存储任何类型的对象，通常对取出之后的对象都需要</a:t>
            </a:r>
            <a:r>
              <a:rPr altLang="zh-CN" sz="2000" dirty="0">
                <a:solidFill>
                  <a:srgbClr val="1369B2"/>
                </a:solidFill>
                <a:latin typeface="微软雅黑" panose="020B0503020204020204" pitchFamily="34" charset="-122"/>
                <a:ea typeface="微软雅黑" panose="020B0503020204020204" pitchFamily="34" charset="-122"/>
              </a:rPr>
              <a:t>强制类型转换</a:t>
            </a:r>
            <a:r>
              <a:rPr altLang="zh-CN" sz="2000" dirty="0">
                <a:solidFill>
                  <a:srgbClr val="595959"/>
                </a:solidFill>
                <a:latin typeface="微软雅黑" panose="020B0503020204020204" pitchFamily="34" charset="-122"/>
                <a:ea typeface="微软雅黑" panose="020B0503020204020204" pitchFamily="34" charset="-122"/>
              </a:rPr>
              <a:t>，而且如果不知道实际参数类型的情况，也无法进行强制类型转换。为了解决这些问题，从JDK 5版本开始引入了泛型，本章将围绕泛型的相关内容进行讲解</a:t>
            </a:r>
            <a:r>
              <a:rPr lang="zh-CN" sz="2000" dirty="0">
                <a:solidFill>
                  <a:srgbClr val="595959"/>
                </a:solidFill>
                <a:latin typeface="微软雅黑" panose="020B0503020204020204" pitchFamily="34" charset="-122"/>
                <a:ea typeface="微软雅黑" panose="020B0503020204020204" pitchFamily="34" charset="-122"/>
              </a:rPr>
              <a:t>。</a:t>
            </a:r>
            <a:endParaRPr 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45" name="组合 44"/>
          <p:cNvGrpSpPr/>
          <p:nvPr/>
        </p:nvGrpSpPr>
        <p:grpSpPr>
          <a:xfrm>
            <a:off x="3143206" y="1746896"/>
            <a:ext cx="1192190" cy="613062"/>
            <a:chOff x="2215144" y="982844"/>
            <a:chExt cx="1244730" cy="842780"/>
          </a:xfrm>
        </p:grpSpPr>
        <p:sp>
          <p:nvSpPr>
            <p:cNvPr id="46" name="平行四边形 45"/>
            <p:cNvSpPr/>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7" name="文本框 9"/>
            <p:cNvSpPr txBox="1"/>
            <p:nvPr/>
          </p:nvSpPr>
          <p:spPr>
            <a:xfrm>
              <a:off x="2393075" y="1005670"/>
              <a:ext cx="1066799" cy="803893"/>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01</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48" name="组合 47"/>
          <p:cNvGrpSpPr/>
          <p:nvPr/>
        </p:nvGrpSpPr>
        <p:grpSpPr>
          <a:xfrm>
            <a:off x="3143206" y="2602983"/>
            <a:ext cx="1192190" cy="618406"/>
            <a:chOff x="2215144" y="2026500"/>
            <a:chExt cx="1244730" cy="850129"/>
          </a:xfrm>
        </p:grpSpPr>
        <p:sp>
          <p:nvSpPr>
            <p:cNvPr id="49" name="平行四边形 48"/>
            <p:cNvSpPr/>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0" name="文本框 10"/>
            <p:cNvSpPr txBox="1"/>
            <p:nvPr/>
          </p:nvSpPr>
          <p:spPr>
            <a:xfrm>
              <a:off x="2393075" y="2026500"/>
              <a:ext cx="1066799" cy="803896"/>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02</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1" name="组合 50"/>
          <p:cNvGrpSpPr/>
          <p:nvPr/>
        </p:nvGrpSpPr>
        <p:grpSpPr>
          <a:xfrm>
            <a:off x="3143206" y="3465964"/>
            <a:ext cx="1192190" cy="614525"/>
            <a:chOff x="2215144" y="3084852"/>
            <a:chExt cx="1244730" cy="844793"/>
          </a:xfrm>
        </p:grpSpPr>
        <p:sp>
          <p:nvSpPr>
            <p:cNvPr id="52" name="平行四边形 51"/>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3" name="文本框 11"/>
            <p:cNvSpPr txBox="1"/>
            <p:nvPr/>
          </p:nvSpPr>
          <p:spPr>
            <a:xfrm>
              <a:off x="2393075" y="3125750"/>
              <a:ext cx="1066799" cy="803895"/>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03</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60" name="组合 59"/>
          <p:cNvGrpSpPr/>
          <p:nvPr/>
        </p:nvGrpSpPr>
        <p:grpSpPr>
          <a:xfrm>
            <a:off x="4048758" y="1738017"/>
            <a:ext cx="5496560" cy="612775"/>
            <a:chOff x="4315150" y="953426"/>
            <a:chExt cx="4122956" cy="539804"/>
          </a:xfrm>
        </p:grpSpPr>
        <p:sp>
          <p:nvSpPr>
            <p:cNvPr id="61" name="矩形 60"/>
            <p:cNvSpPr/>
            <p:nvPr/>
          </p:nvSpPr>
          <p:spPr>
            <a:xfrm>
              <a:off x="4841196" y="1036090"/>
              <a:ext cx="2827147" cy="331154"/>
            </a:xfrm>
            <a:prstGeom prst="rect">
              <a:avLst/>
            </a:prstGeom>
            <a:ln w="15875">
              <a:noFill/>
            </a:ln>
          </p:spPr>
          <p:txBody>
            <a:bodyPr wrap="square" lIns="68580" tIns="34290" rIns="68580" bIns="34290">
              <a:spAutoFit/>
            </a:bodyPr>
            <a:lstStyle/>
            <a:p>
              <a:r>
                <a:rPr lang="zh-CN" sz="2000" dirty="0">
                  <a:solidFill>
                    <a:srgbClr val="595959"/>
                  </a:solidFill>
                  <a:latin typeface="微软雅黑" panose="020B0503020204020204" pitchFamily="34" charset="-122"/>
                  <a:ea typeface="微软雅黑" panose="020B0503020204020204" pitchFamily="34" charset="-122"/>
                  <a:cs typeface="+mn-ea"/>
                  <a:sym typeface="+mn-lt"/>
                </a:rPr>
                <a:t>泛型基础</a:t>
              </a:r>
              <a:endParaRPr lang="zh-CN"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2" name="平行四边形 61"/>
            <p:cNvSpPr/>
            <p:nvPr/>
          </p:nvSpPr>
          <p:spPr>
            <a:xfrm>
              <a:off x="4315150" y="953426"/>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3" name="组合 62"/>
          <p:cNvGrpSpPr/>
          <p:nvPr/>
        </p:nvGrpSpPr>
        <p:grpSpPr>
          <a:xfrm>
            <a:off x="4048758" y="2586157"/>
            <a:ext cx="5496560" cy="612775"/>
            <a:chOff x="4315150" y="1647579"/>
            <a:chExt cx="4122956" cy="539804"/>
          </a:xfrm>
        </p:grpSpPr>
        <p:sp>
          <p:nvSpPr>
            <p:cNvPr id="64" name="矩形 63"/>
            <p:cNvSpPr/>
            <p:nvPr/>
          </p:nvSpPr>
          <p:spPr>
            <a:xfrm>
              <a:off x="4840998" y="1730368"/>
              <a:ext cx="3238445" cy="331154"/>
            </a:xfrm>
            <a:prstGeom prst="rect">
              <a:avLst/>
            </a:prstGeom>
            <a:ln w="15875">
              <a:noFill/>
            </a:ln>
          </p:spPr>
          <p:txBody>
            <a:bodyPr wrap="square" lIns="68580" tIns="34290" rIns="68580" bIns="34290">
              <a:spAutoFit/>
            </a:bodyPr>
            <a:lstStyle/>
            <a:p>
              <a:r>
                <a:rPr lang="zh-CN" sz="2000" dirty="0">
                  <a:solidFill>
                    <a:srgbClr val="595959"/>
                  </a:solidFill>
                  <a:latin typeface="微软雅黑" panose="020B0503020204020204" pitchFamily="34" charset="-122"/>
                  <a:ea typeface="微软雅黑" panose="020B0503020204020204" pitchFamily="34" charset="-122"/>
                  <a:cs typeface="+mn-ea"/>
                  <a:sym typeface="+mn-lt"/>
                </a:rPr>
                <a:t>泛型类</a:t>
              </a:r>
              <a:endParaRPr lang="zh-CN"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5" name="平行四边形 64"/>
            <p:cNvSpPr/>
            <p:nvPr/>
          </p:nvSpPr>
          <p:spPr>
            <a:xfrm>
              <a:off x="4315150" y="1647579"/>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6" name="组合 65"/>
          <p:cNvGrpSpPr/>
          <p:nvPr/>
        </p:nvGrpSpPr>
        <p:grpSpPr>
          <a:xfrm>
            <a:off x="4048758" y="3444311"/>
            <a:ext cx="5496560" cy="612775"/>
            <a:chOff x="4315150" y="2341731"/>
            <a:chExt cx="4122956" cy="539804"/>
          </a:xfrm>
        </p:grpSpPr>
        <p:sp>
          <p:nvSpPr>
            <p:cNvPr id="67" name="矩形 66"/>
            <p:cNvSpPr/>
            <p:nvPr/>
          </p:nvSpPr>
          <p:spPr>
            <a:xfrm>
              <a:off x="4840998" y="2424520"/>
              <a:ext cx="3437543" cy="331154"/>
            </a:xfrm>
            <a:prstGeom prst="rect">
              <a:avLst/>
            </a:prstGeom>
            <a:ln w="15875">
              <a:noFill/>
            </a:ln>
          </p:spPr>
          <p:txBody>
            <a:bodyPr wrap="square" lIns="68580" tIns="34290" rIns="68580" bIns="34290">
              <a:spAutoFit/>
            </a:bodyPr>
            <a:lstStyle/>
            <a:p>
              <a:r>
                <a:rPr lang="zh-CN"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泛型接口</a:t>
              </a:r>
              <a:endParaRPr lang="zh-CN"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68" name="平行四边形 67"/>
            <p:cNvSpPr/>
            <p:nvPr/>
          </p:nvSpPr>
          <p:spPr>
            <a:xfrm>
              <a:off x="4315150" y="2341731"/>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2" name="组合 1"/>
          <p:cNvGrpSpPr/>
          <p:nvPr/>
        </p:nvGrpSpPr>
        <p:grpSpPr>
          <a:xfrm>
            <a:off x="3143206" y="4333374"/>
            <a:ext cx="1192190" cy="613315"/>
            <a:chOff x="2215144" y="3084852"/>
            <a:chExt cx="1244730" cy="843130"/>
          </a:xfrm>
        </p:grpSpPr>
        <p:sp>
          <p:nvSpPr>
            <p:cNvPr id="3" name="平行四边形 2"/>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 name="文本框 11"/>
            <p:cNvSpPr txBox="1"/>
            <p:nvPr/>
          </p:nvSpPr>
          <p:spPr>
            <a:xfrm>
              <a:off x="2393075" y="3125750"/>
              <a:ext cx="1066799" cy="802232"/>
            </a:xfrm>
            <a:prstGeom prst="rect">
              <a:avLst/>
            </a:prstGeom>
            <a:noFill/>
          </p:spPr>
          <p:txBody>
            <a:bodyPr wrap="square" rtlCol="0">
              <a:spAutoFit/>
            </a:bodyPr>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04</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 name="组合 4"/>
          <p:cNvGrpSpPr/>
          <p:nvPr/>
        </p:nvGrpSpPr>
        <p:grpSpPr>
          <a:xfrm>
            <a:off x="4048758" y="4311721"/>
            <a:ext cx="5496560" cy="612775"/>
            <a:chOff x="4315150" y="2341731"/>
            <a:chExt cx="4122956" cy="539804"/>
          </a:xfrm>
        </p:grpSpPr>
        <p:sp>
          <p:nvSpPr>
            <p:cNvPr id="6" name="矩形 5"/>
            <p:cNvSpPr/>
            <p:nvPr/>
          </p:nvSpPr>
          <p:spPr>
            <a:xfrm>
              <a:off x="4840998" y="2424520"/>
              <a:ext cx="3437543" cy="331154"/>
            </a:xfrm>
            <a:prstGeom prst="rect">
              <a:avLst/>
            </a:prstGeom>
            <a:ln w="15875">
              <a:noFill/>
            </a:ln>
          </p:spPr>
          <p:txBody>
            <a:bodyPr wrap="square" lIns="68580" tIns="34290" rIns="68580" bIns="34290">
              <a:spAutoFit/>
            </a:bodyPr>
            <a:p>
              <a:r>
                <a:rPr lang="zh-CN" altLang="en-US"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泛型方法</a:t>
              </a:r>
              <a:endParaRPr lang="zh-CN"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7" name="平行四边形 6"/>
            <p:cNvSpPr/>
            <p:nvPr/>
          </p:nvSpPr>
          <p:spPr>
            <a:xfrm>
              <a:off x="4315150" y="2341731"/>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8" name="组合 7"/>
          <p:cNvGrpSpPr/>
          <p:nvPr/>
        </p:nvGrpSpPr>
        <p:grpSpPr>
          <a:xfrm>
            <a:off x="3143206" y="5167129"/>
            <a:ext cx="1192190" cy="613315"/>
            <a:chOff x="2215144" y="3084852"/>
            <a:chExt cx="1244730" cy="843130"/>
          </a:xfrm>
        </p:grpSpPr>
        <p:sp>
          <p:nvSpPr>
            <p:cNvPr id="9" name="平行四边形 8"/>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10" name="文本框 11"/>
            <p:cNvSpPr txBox="1"/>
            <p:nvPr/>
          </p:nvSpPr>
          <p:spPr>
            <a:xfrm>
              <a:off x="2393075" y="3125750"/>
              <a:ext cx="1066799" cy="802232"/>
            </a:xfrm>
            <a:prstGeom prst="rect">
              <a:avLst/>
            </a:prstGeom>
            <a:noFill/>
          </p:spPr>
          <p:txBody>
            <a:bodyPr wrap="square" rtlCol="0">
              <a:spAutoFit/>
            </a:bodyPr>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05</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11" name="组合 10"/>
          <p:cNvGrpSpPr/>
          <p:nvPr/>
        </p:nvGrpSpPr>
        <p:grpSpPr>
          <a:xfrm>
            <a:off x="4048758" y="5145476"/>
            <a:ext cx="5496560" cy="612775"/>
            <a:chOff x="4315150" y="2341731"/>
            <a:chExt cx="4122956" cy="539804"/>
          </a:xfrm>
        </p:grpSpPr>
        <p:sp>
          <p:nvSpPr>
            <p:cNvPr id="12" name="矩形 11"/>
            <p:cNvSpPr/>
            <p:nvPr/>
          </p:nvSpPr>
          <p:spPr>
            <a:xfrm>
              <a:off x="4840998" y="2424520"/>
              <a:ext cx="3437543" cy="331154"/>
            </a:xfrm>
            <a:prstGeom prst="rect">
              <a:avLst/>
            </a:prstGeom>
            <a:ln w="15875">
              <a:noFill/>
            </a:ln>
          </p:spPr>
          <p:txBody>
            <a:bodyPr wrap="square" lIns="68580" tIns="34290" rIns="68580" bIns="34290">
              <a:spAutoFit/>
            </a:bodyPr>
            <a:p>
              <a:r>
                <a:rPr lang="zh-CN" altLang="en-US"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类型通配符</a:t>
              </a:r>
              <a:endParaRPr lang="zh-CN"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13" name="平行四边形 12"/>
            <p:cNvSpPr/>
            <p:nvPr/>
          </p:nvSpPr>
          <p:spPr>
            <a:xfrm>
              <a:off x="4315150" y="2341731"/>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5005186" cy="829945"/>
          </a:xfrm>
          <a:prstGeom prst="rect">
            <a:avLst/>
          </a:prstGeom>
          <a:noFill/>
        </p:spPr>
        <p:txBody>
          <a:bodyPr wrap="square" lIns="91443" tIns="45720" rIns="91443" bIns="45720" rtlCol="0">
            <a:spAutoFit/>
          </a:bodyPr>
          <a:lstStyle/>
          <a:p>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泛型基础</a:t>
            </a:r>
            <a:endParaRPr lang="zh-CN" altLang="en-US"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smtClean="0">
                <a:solidFill>
                  <a:srgbClr val="FAFAFA"/>
                </a:solidFill>
                <a:latin typeface="微软雅黑" panose="020B0503020204020204" pitchFamily="34" charset="-122"/>
                <a:ea typeface="微软雅黑" panose="020B0503020204020204" pitchFamily="34" charset="-122"/>
                <a:cs typeface="+mn-ea"/>
                <a:sym typeface="+mn-lt"/>
              </a:rPr>
              <a:t>8.1</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8.1.1  </a:t>
            </a:r>
            <a:r>
              <a:rPr lang="zh-CN" sz="2400" b="1" dirty="0" smtClean="0">
                <a:solidFill>
                  <a:srgbClr val="595959"/>
                </a:solidFill>
                <a:latin typeface="微软雅黑" panose="020B0503020204020204" pitchFamily="34" charset="-122"/>
                <a:ea typeface="微软雅黑" panose="020B0503020204020204" pitchFamily="34" charset="-122"/>
                <a:cs typeface="+mn-ea"/>
                <a:sym typeface="+mn-lt"/>
              </a:rPr>
              <a:t>泛型概述</a:t>
            </a:r>
            <a:endParaRPr lang="zh-CN"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582295"/>
            <a:chOff x="8472" y="5316"/>
            <a:chExt cx="8645" cy="917"/>
          </a:xfrm>
        </p:grpSpPr>
        <p:sp>
          <p:nvSpPr>
            <p:cNvPr id="15" name="TextBox 35"/>
            <p:cNvSpPr txBox="1">
              <a:spLocks noChangeArrowheads="1"/>
            </p:cNvSpPr>
            <p:nvPr/>
          </p:nvSpPr>
          <p:spPr bwMode="auto">
            <a:xfrm>
              <a:off x="9159" y="5316"/>
              <a:ext cx="7958" cy="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了解</a:t>
              </a:r>
              <a:r>
                <a:rPr lang="zh-CN" altLang="en-US" sz="2000" dirty="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泛型概述</a:t>
              </a: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，能够说出什么是泛型</a:t>
              </a:r>
              <a:endPar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8.1.1  </a:t>
            </a:r>
            <a:r>
              <a:rPr lang="zh-CN" sz="2400" b="1" dirty="0" smtClean="0">
                <a:solidFill>
                  <a:srgbClr val="595959"/>
                </a:solidFill>
                <a:latin typeface="微软雅黑" panose="020B0503020204020204" pitchFamily="34" charset="-122"/>
                <a:ea typeface="微软雅黑" panose="020B0503020204020204" pitchFamily="34" charset="-122"/>
                <a:cs typeface="+mn-ea"/>
                <a:sym typeface="+mn-lt"/>
              </a:rPr>
              <a:t>泛型概述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4" name="文本框 18"/>
          <p:cNvSpPr txBox="1"/>
          <p:nvPr>
            <p:custDataLst>
              <p:tags r:id="rId2"/>
            </p:custDataLst>
          </p:nvPr>
        </p:nvSpPr>
        <p:spPr>
          <a:xfrm>
            <a:off x="1496695" y="2634615"/>
            <a:ext cx="9213850" cy="2859405"/>
          </a:xfrm>
          <a:prstGeom prst="rect">
            <a:avLst/>
          </a:prstGeom>
          <a:noFill/>
        </p:spPr>
        <p:txBody>
          <a:bodyPr wrap="square" lIns="89970" tIns="46784" rIns="89970" bIns="46784">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altLang="zh-CN" sz="2000" dirty="0">
                <a:solidFill>
                  <a:srgbClr val="595959"/>
                </a:solidFill>
                <a:latin typeface="微软雅黑" panose="020B0503020204020204" pitchFamily="34" charset="-122"/>
              </a:rPr>
              <a:t>泛型是在JDK 5中引入的一个新特性，其本质是</a:t>
            </a:r>
            <a:r>
              <a:rPr lang="zh-CN" altLang="zh-CN" sz="2000" dirty="0">
                <a:solidFill>
                  <a:srgbClr val="1369B2"/>
                </a:solidFill>
                <a:latin typeface="微软雅黑" panose="020B0503020204020204" pitchFamily="34" charset="-122"/>
              </a:rPr>
              <a:t>参数化类型</a:t>
            </a:r>
            <a:r>
              <a:rPr lang="zh-CN" altLang="zh-CN" sz="2000" dirty="0">
                <a:solidFill>
                  <a:srgbClr val="595959"/>
                </a:solidFill>
                <a:latin typeface="微软雅黑" panose="020B0503020204020204" pitchFamily="34" charset="-122"/>
              </a:rPr>
              <a:t>，也就是将具体的类型形参化，参数化的类型（可以称之为类型形参）在使用或者调用时传入具体的类型（类型实参），类似于调用方法时传入实参才确定方法形参的具体值。</a:t>
            </a:r>
            <a:r>
              <a:rPr lang="zh-CN" altLang="zh-CN" sz="2000" dirty="0">
                <a:solidFill>
                  <a:srgbClr val="1369B2"/>
                </a:solidFill>
                <a:latin typeface="微软雅黑" panose="020B0503020204020204" pitchFamily="34" charset="-122"/>
              </a:rPr>
              <a:t>泛型的声明由一对尖括号和类型形参组成</a:t>
            </a:r>
            <a:r>
              <a:rPr lang="zh-CN" altLang="zh-CN" sz="2000" dirty="0">
                <a:solidFill>
                  <a:srgbClr val="595959"/>
                </a:solidFill>
                <a:latin typeface="微软雅黑" panose="020B0503020204020204" pitchFamily="34" charset="-122"/>
              </a:rPr>
              <a:t>，类型形参定义在尖括号中间，定义类、接口和方法时使用泛型声明，定义出的类、接口和方法分别称为泛型类、泛型接口和泛型方法。</a:t>
            </a:r>
            <a:endParaRPr lang="zh-CN" altLang="zh-CN" sz="2000" dirty="0">
              <a:solidFill>
                <a:srgbClr val="595959"/>
              </a:solidFill>
              <a:latin typeface="微软雅黑" panose="020B0503020204020204" pitchFamily="34" charset="-122"/>
            </a:endParaRPr>
          </a:p>
        </p:txBody>
      </p:sp>
      <p:sp>
        <p:nvSpPr>
          <p:cNvPr id="3" name="文本框 2"/>
          <p:cNvSpPr txBox="1"/>
          <p:nvPr/>
        </p:nvSpPr>
        <p:spPr>
          <a:xfrm>
            <a:off x="1468288" y="1232159"/>
            <a:ext cx="1452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泛型的概念</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9" name="圆角矩形 8"/>
          <p:cNvSpPr/>
          <p:nvPr/>
        </p:nvSpPr>
        <p:spPr>
          <a:xfrm>
            <a:off x="1162685" y="2381885"/>
            <a:ext cx="9864090" cy="336423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2685" y="238188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2600" y="525970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8.1.1  </a:t>
            </a:r>
            <a:r>
              <a:rPr lang="zh-CN" sz="2400" b="1" dirty="0" smtClean="0">
                <a:solidFill>
                  <a:srgbClr val="595959"/>
                </a:solidFill>
                <a:latin typeface="微软雅黑" panose="020B0503020204020204" pitchFamily="34" charset="-122"/>
                <a:ea typeface="微软雅黑" panose="020B0503020204020204" pitchFamily="34" charset="-122"/>
                <a:cs typeface="+mn-ea"/>
                <a:sym typeface="+mn-lt"/>
              </a:rPr>
              <a:t>泛型概述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452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泛型的定义</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1160145" y="2117725"/>
            <a:ext cx="9870440" cy="2861310"/>
          </a:xfrm>
          <a:prstGeom prst="rect">
            <a:avLst/>
          </a:prstGeom>
          <a:noFill/>
        </p:spPr>
        <p:txBody>
          <a:bodyPr wrap="square" rtlCol="0">
            <a:spAutoFit/>
          </a:bodyPr>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使用泛型编程，会在使用或者调用时传入具体的类型时才确定最终的数据类型，所以集合需要存储什么类型的数据，在创建集合时传入对应的类型即可。</a:t>
            </a:r>
            <a:endParaRPr sz="2000" dirty="0">
              <a:solidFill>
                <a:srgbClr val="595959"/>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sz="2000" dirty="0">
                <a:solidFill>
                  <a:srgbClr val="1369B2"/>
                </a:solidFill>
                <a:latin typeface="微软雅黑" panose="020B0503020204020204" pitchFamily="34" charset="-122"/>
                <a:ea typeface="微软雅黑" panose="020B0503020204020204" pitchFamily="34" charset="-122"/>
                <a:cs typeface="+mn-ea"/>
              </a:rPr>
              <a:t>定义泛型时类型形参由一对尖括号（&lt;&gt;）包含在中间，使用或者调用泛型时，需要将类型实参写在尖括号（&lt;&gt;）之间</a:t>
            </a:r>
            <a:r>
              <a:rPr sz="2000" dirty="0">
                <a:solidFill>
                  <a:srgbClr val="595959"/>
                </a:solidFill>
                <a:latin typeface="微软雅黑" panose="020B0503020204020204" pitchFamily="34" charset="-122"/>
                <a:ea typeface="微软雅黑" panose="020B0503020204020204" pitchFamily="34" charset="-122"/>
                <a:cs typeface="+mn-ea"/>
              </a:rPr>
              <a:t>。</a:t>
            </a:r>
            <a:endParaRPr sz="2000" dirty="0">
              <a:solidFill>
                <a:srgbClr val="595959"/>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JDK 5之后的类库中很多重要的类和接口都引入了泛型，例如集合体系中的类和接口。下面分别演示未引入泛型和使用泛型编程的区别，体验泛型具体有什么好处。</a:t>
            </a:r>
            <a:endParaRPr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8.1.1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泛型概述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452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案例一演示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133090" y="1004570"/>
            <a:ext cx="7830185" cy="1014730"/>
          </a:xfrm>
          <a:prstGeom prst="rect">
            <a:avLst/>
          </a:prstGeom>
          <a:noFill/>
        </p:spPr>
        <p:txBody>
          <a:bodyPr wrap="square" rtlCol="0">
            <a:spAutoFit/>
          </a:bodyPr>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未引入泛型之前，如果想要创建一个只保存Integer类型的List集合。具体代码如下所示。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2" name="图片 11"/>
          <p:cNvPicPr>
            <a:picLocks noChangeAspect="1"/>
          </p:cNvPicPr>
          <p:nvPr/>
        </p:nvPicPr>
        <p:blipFill>
          <a:blip r:embed="rId2"/>
          <a:stretch>
            <a:fillRect/>
          </a:stretch>
        </p:blipFill>
        <p:spPr>
          <a:xfrm>
            <a:off x="2235200" y="2019300"/>
            <a:ext cx="7882255" cy="4420870"/>
          </a:xfrm>
          <a:prstGeom prst="rect">
            <a:avLst/>
          </a:prstGeom>
        </p:spPr>
      </p:pic>
      <p:sp>
        <p:nvSpPr>
          <p:cNvPr id="6" name="矩形 5"/>
          <p:cNvSpPr/>
          <p:nvPr/>
        </p:nvSpPr>
        <p:spPr>
          <a:xfrm>
            <a:off x="2431415" y="2019300"/>
            <a:ext cx="7327265" cy="4420870"/>
          </a:xfrm>
          <a:prstGeom prst="rect">
            <a:avLst/>
          </a:prstGeom>
        </p:spPr>
        <p:txBody>
          <a:bodyPr wrap="square">
            <a:spAutoFit/>
          </a:bodyPr>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Example01{</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创建一个只保存Integer类型的List集合</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List intList = new ArrayList();</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intList.add(1);</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intList.add(2);</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//因为失误存放了Integer类型之外的字符串数据</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intList.add("3");</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for (int i = 0; i &lt; intList.size(); i++)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/*因为List里面默认取出的全部Object对象，所以使用之前需要进行</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强</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制类型转换。</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集合内最后一个元素进行转换时候将出现类型转换异常</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Integer num=(Integer)intList.get(i);</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8.1.1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泛型概述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23571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24778" y="1375669"/>
            <a:ext cx="1960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案例一代码分析</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84" name="文本框 18"/>
          <p:cNvSpPr txBox="1"/>
          <p:nvPr>
            <p:custDataLst>
              <p:tags r:id="rId2"/>
            </p:custDataLst>
          </p:nvPr>
        </p:nvSpPr>
        <p:spPr>
          <a:xfrm>
            <a:off x="1512570" y="2794635"/>
            <a:ext cx="9215120" cy="2065020"/>
          </a:xfrm>
          <a:prstGeom prst="rect">
            <a:avLst/>
          </a:prstGeom>
          <a:noFill/>
        </p:spPr>
        <p:txBody>
          <a:bodyPr wrap="square" lIns="89985" tIns="46792" rIns="89985" bIns="46792">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sz="2000" dirty="0">
                <a:solidFill>
                  <a:srgbClr val="595959"/>
                </a:solidFill>
                <a:latin typeface="微软雅黑" panose="020B0503020204020204" pitchFamily="34" charset="-122"/>
              </a:rPr>
              <a:t>在案例一的代码中，第4行代码想创建一个只保存Integer类型的List集合，第5~8行代码往集合中存放数据，由于存放数据时并没有出现编译异常，操作者认为存入的数据类型都符合要求，但是在执行第13行代码时却会出现异常。因为在第</a:t>
            </a:r>
            <a:r>
              <a:rPr lang="en-US" altLang="zh-CN" sz="2000" dirty="0">
                <a:solidFill>
                  <a:srgbClr val="595959"/>
                </a:solidFill>
                <a:latin typeface="微软雅黑" panose="020B0503020204020204" pitchFamily="34" charset="-122"/>
              </a:rPr>
              <a:t>8</a:t>
            </a:r>
            <a:r>
              <a:rPr lang="zh-CN" altLang="en-US" sz="2000" dirty="0">
                <a:solidFill>
                  <a:srgbClr val="595959"/>
                </a:solidFill>
                <a:latin typeface="微软雅黑" panose="020B0503020204020204" pitchFamily="34" charset="-122"/>
              </a:rPr>
              <a:t>行代码中存放了Integer类型之外的字符串数据。接下来使用泛型优化案例一代码。</a:t>
            </a:r>
            <a:endParaRPr lang="zh-CN" altLang="en-US" sz="2000" dirty="0">
              <a:solidFill>
                <a:srgbClr val="595959"/>
              </a:solidFill>
              <a:latin typeface="微软雅黑" panose="020B0503020204020204" pitchFamily="34" charset="-122"/>
            </a:endParaRPr>
          </a:p>
        </p:txBody>
      </p:sp>
      <p:sp>
        <p:nvSpPr>
          <p:cNvPr id="2" name="圆角矩形 1"/>
          <p:cNvSpPr/>
          <p:nvPr/>
        </p:nvSpPr>
        <p:spPr>
          <a:xfrm>
            <a:off x="1153795" y="2556510"/>
            <a:ext cx="9933305" cy="254127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0" name="矩形 93"/>
          <p:cNvSpPr/>
          <p:nvPr/>
        </p:nvSpPr>
        <p:spPr>
          <a:xfrm>
            <a:off x="1153511" y="2556542"/>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1" name="矩形 93"/>
          <p:cNvSpPr/>
          <p:nvPr/>
        </p:nvSpPr>
        <p:spPr>
          <a:xfrm rot="10800000">
            <a:off x="10702647" y="4713676"/>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8.1.1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泛型概述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452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案例二演示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133090" y="1076325"/>
            <a:ext cx="7830185" cy="553085"/>
          </a:xfrm>
          <a:prstGeom prst="rect">
            <a:avLst/>
          </a:prstGeom>
          <a:noFill/>
        </p:spPr>
        <p:txBody>
          <a:bodyPr wrap="square" rtlCol="0">
            <a:spAutoFit/>
          </a:bodyPr>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下面使用泛型优化案例一。具体代码如下所示。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2" name="图片 11"/>
          <p:cNvPicPr>
            <a:picLocks noChangeAspect="1"/>
          </p:cNvPicPr>
          <p:nvPr/>
        </p:nvPicPr>
        <p:blipFill>
          <a:blip r:embed="rId2"/>
          <a:stretch>
            <a:fillRect/>
          </a:stretch>
        </p:blipFill>
        <p:spPr>
          <a:xfrm>
            <a:off x="2381885" y="2019300"/>
            <a:ext cx="7348855" cy="3879215"/>
          </a:xfrm>
          <a:prstGeom prst="rect">
            <a:avLst/>
          </a:prstGeom>
        </p:spPr>
      </p:pic>
      <p:sp>
        <p:nvSpPr>
          <p:cNvPr id="6" name="矩形 5"/>
          <p:cNvSpPr/>
          <p:nvPr/>
        </p:nvSpPr>
        <p:spPr>
          <a:xfrm>
            <a:off x="3219450" y="2019300"/>
            <a:ext cx="5965190" cy="3879215"/>
          </a:xfrm>
          <a:prstGeom prst="rect">
            <a:avLst/>
          </a:prstGeom>
        </p:spPr>
        <p:txBody>
          <a:bodyPr wrap="square">
            <a:spAutoFit/>
          </a:bodyPr>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Example03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创建一个只保存Integer类型的List集合</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List&lt;Integer&gt; intList = new ArrayList&lt;Integer&gt;();</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intList.add(1);</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intList.add(2);</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//下面代码将出现编译时异常</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intList.add("3");</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for (int i = 0; i &lt; intList.size(); i++)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//下面的代码无需强制类型转换</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Integer num=intList.get(i);</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8.1.1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泛型概述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23571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24778" y="1375669"/>
            <a:ext cx="1960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案二例代码分析</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84" name="文本框 18"/>
          <p:cNvSpPr txBox="1"/>
          <p:nvPr>
            <p:custDataLst>
              <p:tags r:id="rId2"/>
            </p:custDataLst>
          </p:nvPr>
        </p:nvSpPr>
        <p:spPr>
          <a:xfrm>
            <a:off x="1487170" y="2650490"/>
            <a:ext cx="9215120" cy="2353945"/>
          </a:xfrm>
          <a:prstGeom prst="rect">
            <a:avLst/>
          </a:prstGeom>
          <a:noFill/>
        </p:spPr>
        <p:txBody>
          <a:bodyPr wrap="square" lIns="89985" tIns="46792" rIns="89985" bIns="46792">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fontAlgn="auto">
              <a:lnSpc>
                <a:spcPct val="150000"/>
              </a:lnSpc>
            </a:pPr>
            <a:r>
              <a:rPr lang="zh-CN" sz="2000" dirty="0">
                <a:solidFill>
                  <a:srgbClr val="595959"/>
                </a:solidFill>
                <a:latin typeface="微软雅黑" panose="020B0503020204020204" pitchFamily="34" charset="-122"/>
              </a:rPr>
              <a:t>在案例二的代码中，</a:t>
            </a:r>
            <a:r>
              <a:rPr sz="2000" dirty="0">
                <a:solidFill>
                  <a:srgbClr val="595959"/>
                </a:solidFill>
                <a:latin typeface="微软雅黑" panose="020B0503020204020204" pitchFamily="34" charset="-122"/>
              </a:rPr>
              <a:t>List&lt;Integer&gt;指定创建的集合intList的类型形参为Integer，也就是创建后的intList集合中只能保存Integer类型的元素；第11行代码不用进行强制类型转换，因为此时intList集合会记住集合内所有元素都是Integer类型。如果需要创建一个只保存String类型的List集合时，只需在创建集合时，使用&lt;String&gt;的类型形参替换&lt;Integer&gt;即可。</a:t>
            </a:r>
            <a:endParaRPr sz="2000" dirty="0">
              <a:solidFill>
                <a:srgbClr val="595959"/>
              </a:solidFill>
              <a:latin typeface="微软雅黑" panose="020B0503020204020204" pitchFamily="34" charset="-122"/>
            </a:endParaRPr>
          </a:p>
        </p:txBody>
      </p:sp>
      <p:sp>
        <p:nvSpPr>
          <p:cNvPr id="2" name="圆角矩形 1"/>
          <p:cNvSpPr/>
          <p:nvPr/>
        </p:nvSpPr>
        <p:spPr>
          <a:xfrm>
            <a:off x="1153795" y="2556510"/>
            <a:ext cx="9933305" cy="254127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0" name="矩形 93"/>
          <p:cNvSpPr/>
          <p:nvPr/>
        </p:nvSpPr>
        <p:spPr>
          <a:xfrm>
            <a:off x="1153511" y="2556542"/>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1" name="矩形 93"/>
          <p:cNvSpPr/>
          <p:nvPr/>
        </p:nvSpPr>
        <p:spPr>
          <a:xfrm rot="10800000">
            <a:off x="10702647" y="4713676"/>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8.1.2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使用泛型的好处</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了解</a:t>
              </a:r>
              <a:r>
                <a:rPr lang="zh-CN" altLang="zh-CN" sz="2000" dirty="0">
                  <a:solidFill>
                    <a:srgbClr val="1369B2"/>
                  </a:solidFill>
                  <a:latin typeface="微软雅黑" panose="020B0503020204020204" pitchFamily="34" charset="-122"/>
                  <a:ea typeface="微软雅黑" panose="020B0503020204020204" pitchFamily="34" charset="-122"/>
                  <a:cs typeface="+mn-ea"/>
                  <a:sym typeface="+mn-ea"/>
                </a:rPr>
                <a:t>使用泛型的好处</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，能够说出使用泛型编程的好处</a:t>
              </a:r>
              <a:endPar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8.1.2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使用泛型的好处</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5596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960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使用泛型的好处</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1160145" y="2117725"/>
            <a:ext cx="9870440" cy="2861310"/>
          </a:xfrm>
          <a:prstGeom prst="rect">
            <a:avLst/>
          </a:prstGeom>
          <a:noFill/>
        </p:spPr>
        <p:txBody>
          <a:bodyPr wrap="square" rtlCol="0">
            <a:spAutoFit/>
          </a:bodyPr>
          <a:p>
            <a:pPr algn="l">
              <a:lnSpc>
                <a:spcPct val="150000"/>
              </a:lnSpc>
              <a:buClrTx/>
              <a:buSzTx/>
              <a:buFontTx/>
              <a:buNone/>
            </a:pPr>
            <a:r>
              <a:rPr sz="2000" dirty="0">
                <a:solidFill>
                  <a:srgbClr val="1369B2"/>
                </a:solidFill>
                <a:latin typeface="微软雅黑" panose="020B0503020204020204" pitchFamily="34" charset="-122"/>
                <a:ea typeface="微软雅黑" panose="020B0503020204020204" pitchFamily="34" charset="-122"/>
                <a:cs typeface="+mn-ea"/>
              </a:rPr>
              <a:t>（1）提高类型的安全性</a:t>
            </a:r>
            <a:endParaRPr sz="2000" dirty="0">
              <a:solidFill>
                <a:srgbClr val="1369B2"/>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使用泛型后，将类型的检查从运行期提前到编译期，编译期的类型检查，可以更早、更容易的找出因为类型限制而导致的类型转换异常，从而提高程序的可靠性。</a:t>
            </a:r>
            <a:endParaRPr sz="2000" dirty="0">
              <a:solidFill>
                <a:srgbClr val="595959"/>
              </a:solidFill>
              <a:latin typeface="微软雅黑" panose="020B0503020204020204" pitchFamily="34" charset="-122"/>
              <a:ea typeface="微软雅黑" panose="020B0503020204020204" pitchFamily="34" charset="-122"/>
              <a:cs typeface="+mn-ea"/>
            </a:endParaRPr>
          </a:p>
          <a:p>
            <a:pPr algn="l">
              <a:lnSpc>
                <a:spcPct val="150000"/>
              </a:lnSpc>
              <a:buClrTx/>
              <a:buSzTx/>
              <a:buFontTx/>
              <a:buNone/>
            </a:pPr>
            <a:r>
              <a:rPr sz="2000" dirty="0">
                <a:solidFill>
                  <a:srgbClr val="1369B2"/>
                </a:solidFill>
                <a:latin typeface="微软雅黑" panose="020B0503020204020204" pitchFamily="34" charset="-122"/>
                <a:ea typeface="微软雅黑" panose="020B0503020204020204" pitchFamily="34" charset="-122"/>
                <a:cs typeface="+mn-ea"/>
              </a:rPr>
              <a:t>（2）消除强制类型转换</a:t>
            </a:r>
            <a:endParaRPr sz="2000" dirty="0">
              <a:solidFill>
                <a:srgbClr val="1369B2"/>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使用泛型后，程序会记住当前的类型形参，从而无需对传入的实参值进行强制类型转换。使得代码更加清晰和筒洁，可读性更高。</a:t>
            </a:r>
            <a:endParaRPr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8.1.2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使用泛型的好处</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5596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960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使用泛型的好处</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1160145" y="2117725"/>
            <a:ext cx="9870440" cy="3784600"/>
          </a:xfrm>
          <a:prstGeom prst="rect">
            <a:avLst/>
          </a:prstGeom>
          <a:noFill/>
        </p:spPr>
        <p:txBody>
          <a:bodyPr wrap="square" rtlCol="0">
            <a:spAutoFit/>
          </a:bodyPr>
          <a:p>
            <a:pPr algn="l">
              <a:lnSpc>
                <a:spcPct val="150000"/>
              </a:lnSpc>
              <a:buClrTx/>
              <a:buSzTx/>
              <a:buNone/>
            </a:pPr>
            <a:r>
              <a:rPr sz="2000" dirty="0">
                <a:solidFill>
                  <a:srgbClr val="1369B2"/>
                </a:solidFill>
                <a:latin typeface="微软雅黑" panose="020B0503020204020204" pitchFamily="34" charset="-122"/>
                <a:ea typeface="微软雅黑" panose="020B0503020204020204" pitchFamily="34" charset="-122"/>
                <a:cs typeface="+mn-ea"/>
              </a:rPr>
              <a:t>（3）提高代码复用性</a:t>
            </a:r>
            <a:endParaRPr sz="2000" dirty="0">
              <a:solidFill>
                <a:srgbClr val="595959"/>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使用泛型后，可以更好的将程序中通用的代码提取出来，在使用时传入不同类型的参数，避免了多次编写相同功能的代码，以提高代码的复用性。</a:t>
            </a:r>
            <a:endParaRPr sz="2000" dirty="0">
              <a:solidFill>
                <a:srgbClr val="595959"/>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sz="2000" dirty="0">
                <a:solidFill>
                  <a:srgbClr val="1369B2"/>
                </a:solidFill>
                <a:latin typeface="微软雅黑" panose="020B0503020204020204" pitchFamily="34" charset="-122"/>
                <a:ea typeface="微软雅黑" panose="020B0503020204020204" pitchFamily="34" charset="-122"/>
                <a:cs typeface="+mn-ea"/>
              </a:rPr>
              <a:t>（4）拥有更高的运行效率</a:t>
            </a:r>
            <a:endParaRPr sz="2000" dirty="0">
              <a:solidFill>
                <a:srgbClr val="1369B2"/>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使用泛型之前，传入的实际参数值作为Object类型传递时，需要进行封箱和拆箱操作，会消耗程序的一定的开销。使用泛型后，类型形参中都需要使用引用数据类型，即传入的实际参数的类型都是对应引用数据类型，避免了封箱和拆箱操作，降低了程序运行的开销，提高了程序运行的效率。</a:t>
            </a:r>
            <a:endParaRPr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7070725" cy="829945"/>
          </a:xfrm>
          <a:prstGeom prst="rect">
            <a:avLst/>
          </a:prstGeom>
          <a:noFill/>
        </p:spPr>
        <p:txBody>
          <a:bodyPr wrap="square" lIns="91443" tIns="45720" rIns="91443" bIns="45720" rtlCol="0">
            <a:spAutoFit/>
          </a:bodyPr>
          <a:lstStyle/>
          <a:p>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泛型类</a:t>
            </a:r>
            <a:endParaRPr lang="zh-CN" altLang="en-US"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smtClean="0">
                <a:solidFill>
                  <a:srgbClr val="FAFAFA"/>
                </a:solidFill>
                <a:latin typeface="微软雅黑" panose="020B0503020204020204" pitchFamily="34" charset="-122"/>
                <a:ea typeface="微软雅黑" panose="020B0503020204020204" pitchFamily="34" charset="-122"/>
                <a:cs typeface="+mn-ea"/>
                <a:sym typeface="+mn-lt"/>
              </a:rPr>
              <a:t>8.2</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泛型类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582295"/>
            <a:chOff x="8472" y="5316"/>
            <a:chExt cx="8645" cy="917"/>
          </a:xfrm>
        </p:grpSpPr>
        <p:sp>
          <p:nvSpPr>
            <p:cNvPr id="15" name="TextBox 35"/>
            <p:cNvSpPr txBox="1">
              <a:spLocks noChangeArrowheads="1"/>
            </p:cNvSpPr>
            <p:nvPr/>
          </p:nvSpPr>
          <p:spPr bwMode="auto">
            <a:xfrm>
              <a:off x="9159" y="5316"/>
              <a:ext cx="7958" cy="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sym typeface="+mn-ea"/>
                </a:rPr>
                <a:t>泛型类</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，能够独立</a:t>
              </a:r>
              <a:r>
                <a:rPr lang="zh-CN" altLang="zh-CN" sz="2000" dirty="0">
                  <a:solidFill>
                    <a:srgbClr val="1369B2"/>
                  </a:solidFill>
                  <a:latin typeface="微软雅黑" panose="020B0503020204020204" pitchFamily="34" charset="-122"/>
                  <a:ea typeface="微软雅黑" panose="020B0503020204020204" pitchFamily="34" charset="-122"/>
                  <a:cs typeface="+mn-ea"/>
                  <a:sym typeface="+mn-ea"/>
                </a:rPr>
                <a:t>定义和使用泛型类</a:t>
              </a:r>
              <a:endParaRPr lang="zh-CN" altLang="zh-CN" sz="2000" dirty="0" smtClean="0">
                <a:solidFill>
                  <a:srgbClr val="1369B2"/>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custDataLst>
              <p:tags r:id="rId1"/>
            </p:custDataLst>
          </p:nvPr>
        </p:nvSpPr>
        <p:spPr>
          <a:xfrm>
            <a:off x="1143635" y="1329055"/>
            <a:ext cx="274955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469014"/>
            <a:ext cx="2214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sym typeface="+mn-ea"/>
              </a:rPr>
              <a:t>泛型类的语法格式</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泛型类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文本框 6"/>
          <p:cNvSpPr txBox="1"/>
          <p:nvPr/>
        </p:nvSpPr>
        <p:spPr>
          <a:xfrm>
            <a:off x="1160145" y="2117725"/>
            <a:ext cx="9870440" cy="1938020"/>
          </a:xfrm>
          <a:prstGeom prst="rect">
            <a:avLst/>
          </a:prstGeom>
          <a:noFill/>
        </p:spPr>
        <p:txBody>
          <a:bodyPr wrap="square" rtlCol="0">
            <a:spAutoFit/>
          </a:bodyPr>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定义类时，在</a:t>
            </a:r>
            <a:r>
              <a:rPr sz="2000" dirty="0">
                <a:solidFill>
                  <a:srgbClr val="1369B2"/>
                </a:solidFill>
                <a:latin typeface="微软雅黑" panose="020B0503020204020204" pitchFamily="34" charset="-122"/>
                <a:ea typeface="微软雅黑" panose="020B0503020204020204" pitchFamily="34" charset="-122"/>
                <a:cs typeface="+mn-ea"/>
              </a:rPr>
              <a:t>类名后加上尖括号包含类型形参</a:t>
            </a:r>
            <a:r>
              <a:rPr sz="2000" dirty="0">
                <a:solidFill>
                  <a:srgbClr val="595959"/>
                </a:solidFill>
                <a:latin typeface="微软雅黑" panose="020B0503020204020204" pitchFamily="34" charset="-122"/>
                <a:ea typeface="微软雅黑" panose="020B0503020204020204" pitchFamily="34" charset="-122"/>
                <a:cs typeface="+mn-ea"/>
              </a:rPr>
              <a:t>，定义的这个类就是</a:t>
            </a:r>
            <a:r>
              <a:rPr sz="2000" dirty="0">
                <a:solidFill>
                  <a:srgbClr val="1369B2"/>
                </a:solidFill>
                <a:latin typeface="微软雅黑" panose="020B0503020204020204" pitchFamily="34" charset="-122"/>
                <a:ea typeface="微软雅黑" panose="020B0503020204020204" pitchFamily="34" charset="-122"/>
                <a:cs typeface="+mn-ea"/>
              </a:rPr>
              <a:t>泛型类</a:t>
            </a:r>
            <a:r>
              <a:rPr sz="2000" dirty="0">
                <a:solidFill>
                  <a:srgbClr val="595959"/>
                </a:solidFill>
                <a:latin typeface="微软雅黑" panose="020B0503020204020204" pitchFamily="34" charset="-122"/>
                <a:ea typeface="微软雅黑" panose="020B0503020204020204" pitchFamily="34" charset="-122"/>
                <a:cs typeface="+mn-ea"/>
              </a:rPr>
              <a:t>。创建泛型类的实例对象时传入不同的类型实参，从而可以动态生成无数个该泛型类的子类。在JDK类包中泛型类的最典型应用就是各种容器类，如ArrayList、HashMap等。定义泛型类的格式具体如下。</a:t>
            </a:r>
            <a:endParaRPr sz="2000" dirty="0">
              <a:solidFill>
                <a:srgbClr val="595959"/>
              </a:solidFill>
              <a:latin typeface="微软雅黑" panose="020B0503020204020204" pitchFamily="34" charset="-122"/>
              <a:ea typeface="微软雅黑" panose="020B0503020204020204" pitchFamily="34" charset="-122"/>
              <a:cs typeface="+mn-ea"/>
            </a:endParaRPr>
          </a:p>
        </p:txBody>
      </p:sp>
      <p:sp>
        <p:nvSpPr>
          <p:cNvPr id="8" name="矩形 7"/>
          <p:cNvSpPr/>
          <p:nvPr/>
        </p:nvSpPr>
        <p:spPr>
          <a:xfrm>
            <a:off x="1940560" y="4286885"/>
            <a:ext cx="8877300" cy="131889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[访问权限] class 类名&lt;类型形参变量1，类型形参变量2，…，类型形参变量n&gt;{</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custDataLst>
              <p:tags r:id="rId1"/>
            </p:custDataLst>
          </p:nvPr>
        </p:nvSpPr>
        <p:spPr>
          <a:xfrm>
            <a:off x="1143635" y="1329055"/>
            <a:ext cx="318960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469014"/>
            <a:ext cx="2722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sym typeface="+mn-ea"/>
              </a:rPr>
              <a:t>泛型类的语法格式分析</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泛型类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文本框 6"/>
          <p:cNvSpPr txBox="1"/>
          <p:nvPr/>
        </p:nvSpPr>
        <p:spPr>
          <a:xfrm>
            <a:off x="1441450" y="2308225"/>
            <a:ext cx="9306560" cy="3784600"/>
          </a:xfrm>
          <a:prstGeom prst="rect">
            <a:avLst/>
          </a:prstGeom>
          <a:noFill/>
        </p:spPr>
        <p:txBody>
          <a:bodyPr wrap="square" rtlCol="0">
            <a:spAutoFit/>
          </a:bodyPr>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上述语法格式中，类名&lt;类型形参变量&gt;是一个整体的数据类型，通常称为泛型类型；类型形参变量，没有特定的意义，可以是任意一个字母，但是为了提高可读性，建议使用有意义的字母。一般情况下使用较多的字母及意义如下所示。</a:t>
            </a:r>
            <a:endParaRPr sz="2000" dirty="0">
              <a:solidFill>
                <a:srgbClr val="595959"/>
              </a:solidFill>
              <a:latin typeface="微软雅黑" panose="020B0503020204020204" pitchFamily="34" charset="-122"/>
              <a:ea typeface="微软雅黑" panose="020B0503020204020204" pitchFamily="34" charset="-122"/>
              <a:cs typeface="+mn-ea"/>
            </a:endParaRPr>
          </a:p>
          <a:p>
            <a:pPr marL="800100" lvl="1" indent="-342900" algn="l">
              <a:lnSpc>
                <a:spcPct val="150000"/>
              </a:lnSpc>
              <a:buClrTx/>
              <a:buSzTx/>
              <a:buFont typeface="Wingdings" panose="05000000000000000000" charset="0"/>
              <a:buChar char="l"/>
            </a:pPr>
            <a:r>
              <a:rPr sz="2000" dirty="0">
                <a:solidFill>
                  <a:srgbClr val="595959"/>
                </a:solidFill>
                <a:latin typeface="微软雅黑" panose="020B0503020204020204" pitchFamily="34" charset="-122"/>
                <a:ea typeface="微软雅黑" panose="020B0503020204020204" pitchFamily="34" charset="-122"/>
                <a:cs typeface="+mn-ea"/>
              </a:rPr>
              <a:t> </a:t>
            </a:r>
            <a:r>
              <a:rPr sz="2000" dirty="0">
                <a:solidFill>
                  <a:srgbClr val="1369B2"/>
                </a:solidFill>
                <a:latin typeface="微软雅黑" panose="020B0503020204020204" pitchFamily="34" charset="-122"/>
                <a:ea typeface="微软雅黑" panose="020B0503020204020204" pitchFamily="34" charset="-122"/>
                <a:cs typeface="+mn-ea"/>
              </a:rPr>
              <a:t>E</a:t>
            </a:r>
            <a:r>
              <a:rPr sz="2000" dirty="0">
                <a:solidFill>
                  <a:srgbClr val="595959"/>
                </a:solidFill>
                <a:latin typeface="微软雅黑" panose="020B0503020204020204" pitchFamily="34" charset="-122"/>
                <a:ea typeface="微软雅黑" panose="020B0503020204020204" pitchFamily="34" charset="-122"/>
                <a:cs typeface="+mn-ea"/>
              </a:rPr>
              <a:t>：表示</a:t>
            </a:r>
            <a:r>
              <a:rPr sz="2000" dirty="0">
                <a:solidFill>
                  <a:srgbClr val="1369B2"/>
                </a:solidFill>
                <a:latin typeface="微软雅黑" panose="020B0503020204020204" pitchFamily="34" charset="-122"/>
                <a:ea typeface="微软雅黑" panose="020B0503020204020204" pitchFamily="34" charset="-122"/>
                <a:cs typeface="+mn-ea"/>
              </a:rPr>
              <a:t>Element</a:t>
            </a:r>
            <a:r>
              <a:rPr sz="2000" dirty="0">
                <a:solidFill>
                  <a:srgbClr val="595959"/>
                </a:solidFill>
                <a:latin typeface="微软雅黑" panose="020B0503020204020204" pitchFamily="34" charset="-122"/>
                <a:ea typeface="微软雅黑" panose="020B0503020204020204" pitchFamily="34" charset="-122"/>
                <a:cs typeface="+mn-ea"/>
              </a:rPr>
              <a:t>（元素），常用在java Collection里使用，如</a:t>
            </a:r>
            <a:r>
              <a:rPr lang="en-US" sz="2000" dirty="0">
                <a:solidFill>
                  <a:srgbClr val="595959"/>
                </a:solidFill>
                <a:latin typeface="微软雅黑" panose="020B0503020204020204" pitchFamily="34" charset="-122"/>
                <a:ea typeface="微软雅黑" panose="020B0503020204020204" pitchFamily="34" charset="-122"/>
                <a:cs typeface="+mn-ea"/>
              </a:rPr>
              <a:t>	</a:t>
            </a:r>
            <a:r>
              <a:rPr sz="2000" dirty="0">
                <a:solidFill>
                  <a:srgbClr val="595959"/>
                </a:solidFill>
                <a:latin typeface="微软雅黑" panose="020B0503020204020204" pitchFamily="34" charset="-122"/>
                <a:ea typeface="微软雅黑" panose="020B0503020204020204" pitchFamily="34" charset="-122"/>
                <a:cs typeface="+mn-ea"/>
              </a:rPr>
              <a:t>List&lt;E&gt;,Iterator&lt;E&gt;,Set&lt;E&gt;。</a:t>
            </a:r>
            <a:endParaRPr sz="2000" dirty="0">
              <a:solidFill>
                <a:srgbClr val="595959"/>
              </a:solidFill>
              <a:latin typeface="微软雅黑" panose="020B0503020204020204" pitchFamily="34" charset="-122"/>
              <a:ea typeface="微软雅黑" panose="020B0503020204020204" pitchFamily="34" charset="-122"/>
              <a:cs typeface="+mn-ea"/>
            </a:endParaRPr>
          </a:p>
          <a:p>
            <a:pPr marL="800100" lvl="1" indent="-342900" algn="l">
              <a:lnSpc>
                <a:spcPct val="150000"/>
              </a:lnSpc>
              <a:buClrTx/>
              <a:buSzTx/>
              <a:buFont typeface="Wingdings" panose="05000000000000000000" charset="0"/>
              <a:buChar char="l"/>
            </a:pPr>
            <a:r>
              <a:rPr sz="2000" dirty="0">
                <a:solidFill>
                  <a:srgbClr val="595959"/>
                </a:solidFill>
                <a:latin typeface="微软雅黑" panose="020B0503020204020204" pitchFamily="34" charset="-122"/>
                <a:ea typeface="微软雅黑" panose="020B0503020204020204" pitchFamily="34" charset="-122"/>
                <a:cs typeface="+mn-ea"/>
              </a:rPr>
              <a:t> </a:t>
            </a:r>
            <a:r>
              <a:rPr sz="2000" dirty="0">
                <a:solidFill>
                  <a:srgbClr val="1369B2"/>
                </a:solidFill>
                <a:latin typeface="微软雅黑" panose="020B0503020204020204" pitchFamily="34" charset="-122"/>
                <a:ea typeface="微软雅黑" panose="020B0503020204020204" pitchFamily="34" charset="-122"/>
                <a:cs typeface="+mn-ea"/>
              </a:rPr>
              <a:t>K，V</a:t>
            </a:r>
            <a:r>
              <a:rPr sz="2000" dirty="0">
                <a:solidFill>
                  <a:srgbClr val="595959"/>
                </a:solidFill>
                <a:latin typeface="微软雅黑" panose="020B0503020204020204" pitchFamily="34" charset="-122"/>
                <a:ea typeface="微软雅黑" panose="020B0503020204020204" pitchFamily="34" charset="-122"/>
                <a:cs typeface="+mn-ea"/>
              </a:rPr>
              <a:t>：表示</a:t>
            </a:r>
            <a:r>
              <a:rPr sz="2000" dirty="0">
                <a:solidFill>
                  <a:srgbClr val="1369B2"/>
                </a:solidFill>
                <a:latin typeface="微软雅黑" panose="020B0503020204020204" pitchFamily="34" charset="-122"/>
                <a:ea typeface="微软雅黑" panose="020B0503020204020204" pitchFamily="34" charset="-122"/>
                <a:cs typeface="+mn-ea"/>
              </a:rPr>
              <a:t>Key，Value</a:t>
            </a:r>
            <a:r>
              <a:rPr sz="2000" dirty="0">
                <a:solidFill>
                  <a:srgbClr val="595959"/>
                </a:solidFill>
                <a:latin typeface="微软雅黑" panose="020B0503020204020204" pitchFamily="34" charset="-122"/>
                <a:ea typeface="微软雅黑" panose="020B0503020204020204" pitchFamily="34" charset="-122"/>
                <a:cs typeface="+mn-ea"/>
              </a:rPr>
              <a:t>（Map的键值对）。</a:t>
            </a:r>
            <a:endParaRPr sz="2000" dirty="0">
              <a:solidFill>
                <a:srgbClr val="595959"/>
              </a:solidFill>
              <a:latin typeface="微软雅黑" panose="020B0503020204020204" pitchFamily="34" charset="-122"/>
              <a:ea typeface="微软雅黑" panose="020B0503020204020204" pitchFamily="34" charset="-122"/>
              <a:cs typeface="+mn-ea"/>
            </a:endParaRPr>
          </a:p>
          <a:p>
            <a:pPr marL="800100" lvl="1" indent="-342900" algn="l">
              <a:lnSpc>
                <a:spcPct val="150000"/>
              </a:lnSpc>
              <a:buClrTx/>
              <a:buSzTx/>
              <a:buFont typeface="Wingdings" panose="05000000000000000000" charset="0"/>
              <a:buChar char="l"/>
            </a:pPr>
            <a:r>
              <a:rPr sz="2000" dirty="0">
                <a:solidFill>
                  <a:srgbClr val="595959"/>
                </a:solidFill>
                <a:latin typeface="微软雅黑" panose="020B0503020204020204" pitchFamily="34" charset="-122"/>
                <a:ea typeface="微软雅黑" panose="020B0503020204020204" pitchFamily="34" charset="-122"/>
                <a:cs typeface="+mn-ea"/>
              </a:rPr>
              <a:t> </a:t>
            </a:r>
            <a:r>
              <a:rPr sz="2000" dirty="0">
                <a:solidFill>
                  <a:srgbClr val="1369B2"/>
                </a:solidFill>
                <a:latin typeface="微软雅黑" panose="020B0503020204020204" pitchFamily="34" charset="-122"/>
                <a:ea typeface="微软雅黑" panose="020B0503020204020204" pitchFamily="34" charset="-122"/>
                <a:cs typeface="+mn-ea"/>
              </a:rPr>
              <a:t>N</a:t>
            </a:r>
            <a:r>
              <a:rPr sz="2000" dirty="0">
                <a:solidFill>
                  <a:srgbClr val="595959"/>
                </a:solidFill>
                <a:latin typeface="微软雅黑" panose="020B0503020204020204" pitchFamily="34" charset="-122"/>
                <a:ea typeface="微软雅黑" panose="020B0503020204020204" pitchFamily="34" charset="-122"/>
                <a:cs typeface="+mn-ea"/>
              </a:rPr>
              <a:t>：表示</a:t>
            </a:r>
            <a:r>
              <a:rPr sz="2000" dirty="0">
                <a:solidFill>
                  <a:srgbClr val="1369B2"/>
                </a:solidFill>
                <a:latin typeface="微软雅黑" panose="020B0503020204020204" pitchFamily="34" charset="-122"/>
                <a:ea typeface="微软雅黑" panose="020B0503020204020204" pitchFamily="34" charset="-122"/>
                <a:cs typeface="+mn-ea"/>
              </a:rPr>
              <a:t>Number</a:t>
            </a:r>
            <a:r>
              <a:rPr sz="2000" dirty="0">
                <a:solidFill>
                  <a:srgbClr val="595959"/>
                </a:solidFill>
                <a:latin typeface="微软雅黑" panose="020B0503020204020204" pitchFamily="34" charset="-122"/>
                <a:ea typeface="微软雅黑" panose="020B0503020204020204" pitchFamily="34" charset="-122"/>
                <a:cs typeface="+mn-ea"/>
              </a:rPr>
              <a:t>（数字）。</a:t>
            </a:r>
            <a:endParaRPr sz="2000" dirty="0">
              <a:solidFill>
                <a:srgbClr val="595959"/>
              </a:solidFill>
              <a:latin typeface="微软雅黑" panose="020B0503020204020204" pitchFamily="34" charset="-122"/>
              <a:ea typeface="微软雅黑" panose="020B0503020204020204" pitchFamily="34" charset="-122"/>
              <a:cs typeface="+mn-ea"/>
            </a:endParaRPr>
          </a:p>
          <a:p>
            <a:pPr marL="800100" lvl="1" indent="-342900" algn="l">
              <a:lnSpc>
                <a:spcPct val="150000"/>
              </a:lnSpc>
              <a:buClrTx/>
              <a:buSzTx/>
              <a:buFont typeface="Wingdings" panose="05000000000000000000" charset="0"/>
              <a:buChar char="l"/>
            </a:pPr>
            <a:r>
              <a:rPr sz="2000" dirty="0">
                <a:solidFill>
                  <a:srgbClr val="595959"/>
                </a:solidFill>
                <a:latin typeface="微软雅黑" panose="020B0503020204020204" pitchFamily="34" charset="-122"/>
                <a:ea typeface="微软雅黑" panose="020B0503020204020204" pitchFamily="34" charset="-122"/>
                <a:cs typeface="+mn-ea"/>
              </a:rPr>
              <a:t> </a:t>
            </a:r>
            <a:r>
              <a:rPr sz="2000" dirty="0">
                <a:solidFill>
                  <a:srgbClr val="1369B2"/>
                </a:solidFill>
                <a:latin typeface="微软雅黑" panose="020B0503020204020204" pitchFamily="34" charset="-122"/>
                <a:ea typeface="微软雅黑" panose="020B0503020204020204" pitchFamily="34" charset="-122"/>
                <a:cs typeface="+mn-ea"/>
              </a:rPr>
              <a:t>T</a:t>
            </a:r>
            <a:r>
              <a:rPr sz="2000" dirty="0">
                <a:solidFill>
                  <a:srgbClr val="595959"/>
                </a:solidFill>
                <a:latin typeface="微软雅黑" panose="020B0503020204020204" pitchFamily="34" charset="-122"/>
                <a:ea typeface="微软雅黑" panose="020B0503020204020204" pitchFamily="34" charset="-122"/>
                <a:cs typeface="+mn-ea"/>
              </a:rPr>
              <a:t>：表示</a:t>
            </a:r>
            <a:r>
              <a:rPr sz="2000" dirty="0">
                <a:solidFill>
                  <a:srgbClr val="1369B2"/>
                </a:solidFill>
                <a:latin typeface="微软雅黑" panose="020B0503020204020204" pitchFamily="34" charset="-122"/>
                <a:ea typeface="微软雅黑" panose="020B0503020204020204" pitchFamily="34" charset="-122"/>
                <a:cs typeface="+mn-ea"/>
              </a:rPr>
              <a:t>Type</a:t>
            </a:r>
            <a:r>
              <a:rPr sz="2000" dirty="0">
                <a:solidFill>
                  <a:srgbClr val="595959"/>
                </a:solidFill>
                <a:latin typeface="微软雅黑" panose="020B0503020204020204" pitchFamily="34" charset="-122"/>
                <a:ea typeface="微软雅黑" panose="020B0503020204020204" pitchFamily="34" charset="-122"/>
                <a:cs typeface="+mn-ea"/>
              </a:rPr>
              <a:t>（类型），如String，Integer等。</a:t>
            </a:r>
            <a:endParaRPr sz="2000" dirty="0">
              <a:solidFill>
                <a:srgbClr val="595959"/>
              </a:solidFill>
              <a:latin typeface="微软雅黑" panose="020B0503020204020204" pitchFamily="34" charset="-122"/>
              <a:ea typeface="微软雅黑" panose="020B0503020204020204" pitchFamily="34" charset="-122"/>
              <a:cs typeface="+mn-ea"/>
            </a:endParaRPr>
          </a:p>
        </p:txBody>
      </p:sp>
      <p:sp>
        <p:nvSpPr>
          <p:cNvPr id="9" name="圆角矩形 8"/>
          <p:cNvSpPr/>
          <p:nvPr/>
        </p:nvSpPr>
        <p:spPr>
          <a:xfrm>
            <a:off x="1163320" y="2211070"/>
            <a:ext cx="9864090" cy="397891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0" name="矩形 93"/>
          <p:cNvSpPr/>
          <p:nvPr/>
        </p:nvSpPr>
        <p:spPr>
          <a:xfrm>
            <a:off x="1163320" y="221107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1" name="矩形 93"/>
          <p:cNvSpPr/>
          <p:nvPr/>
        </p:nvSpPr>
        <p:spPr>
          <a:xfrm rot="10800000">
            <a:off x="10643235" y="570293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custDataLst>
              <p:tags r:id="rId1"/>
            </p:custDataLst>
          </p:nvPr>
        </p:nvSpPr>
        <p:spPr>
          <a:xfrm>
            <a:off x="1143635" y="1329055"/>
            <a:ext cx="318960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469014"/>
            <a:ext cx="246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sym typeface="+mn-ea"/>
              </a:rPr>
              <a:t>泛型类的定义与创建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泛型类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文本框 6"/>
          <p:cNvSpPr txBox="1"/>
          <p:nvPr/>
        </p:nvSpPr>
        <p:spPr>
          <a:xfrm>
            <a:off x="1414145" y="2548255"/>
            <a:ext cx="9544685" cy="2861310"/>
          </a:xfrm>
          <a:prstGeom prst="rect">
            <a:avLst/>
          </a:prstGeom>
          <a:noFill/>
        </p:spPr>
        <p:txBody>
          <a:bodyPr wrap="square" rtlCol="0">
            <a:spAutoFit/>
          </a:bodyPr>
          <a:p>
            <a:pPr algn="l">
              <a:lnSpc>
                <a:spcPct val="150000"/>
              </a:lnSpc>
              <a:buClrTx/>
              <a:buSzTx/>
              <a:buNone/>
            </a:pPr>
            <a:r>
              <a:rPr lang="zh-CN" altLang="en-US" sz="2000" dirty="0" smtClean="0">
                <a:solidFill>
                  <a:srgbClr val="1369B2"/>
                </a:solidFill>
                <a:latin typeface="微软雅黑" panose="020B0503020204020204" pitchFamily="34" charset="-122"/>
                <a:ea typeface="微软雅黑" panose="020B0503020204020204" pitchFamily="34" charset="-122"/>
              </a:rPr>
              <a:t>定义：</a:t>
            </a:r>
            <a:r>
              <a:rPr sz="2000" dirty="0">
                <a:solidFill>
                  <a:srgbClr val="595959"/>
                </a:solidFill>
                <a:latin typeface="微软雅黑" panose="020B0503020204020204" pitchFamily="34" charset="-122"/>
                <a:ea typeface="微软雅黑" panose="020B0503020204020204" pitchFamily="34" charset="-122"/>
                <a:cs typeface="+mn-ea"/>
              </a:rPr>
              <a:t>定义泛型类时，类的构造方法名称还是类的名称，类型形参变量可以用于属性的类型、方法的返回值类型和方法的参数类型。</a:t>
            </a:r>
            <a:endParaRPr sz="2000" dirty="0">
              <a:solidFill>
                <a:srgbClr val="595959"/>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lang="zh-CN" altLang="en-US" sz="2000" dirty="0" smtClean="0">
                <a:solidFill>
                  <a:srgbClr val="1369B2"/>
                </a:solidFill>
                <a:latin typeface="微软雅黑" panose="020B0503020204020204" pitchFamily="34" charset="-122"/>
                <a:ea typeface="微软雅黑" panose="020B0503020204020204" pitchFamily="34" charset="-122"/>
              </a:rPr>
              <a:t>创建：</a:t>
            </a:r>
            <a:r>
              <a:rPr sz="2000" dirty="0">
                <a:solidFill>
                  <a:srgbClr val="595959"/>
                </a:solidFill>
                <a:latin typeface="微软雅黑" panose="020B0503020204020204" pitchFamily="34" charset="-122"/>
                <a:ea typeface="微软雅黑" panose="020B0503020204020204" pitchFamily="34" charset="-122"/>
                <a:cs typeface="+mn-ea"/>
              </a:rPr>
              <a:t>创建泛型类的对象时，不强制要求传入类型实参，如果传入类型实参，类型形参会根据传入的类型实参做相应的限制，此时泛型才会起到本应起到的限制作用。如果不传入类型实参的话，在泛型类中使用类型形参的方法或成员变量定义的类型可以为任何的类型。</a:t>
            </a:r>
            <a:endParaRPr sz="2000" dirty="0">
              <a:solidFill>
                <a:srgbClr val="595959"/>
              </a:solidFill>
              <a:latin typeface="微软雅黑" panose="020B0503020204020204" pitchFamily="34" charset="-122"/>
              <a:ea typeface="微软雅黑" panose="020B0503020204020204" pitchFamily="34" charset="-122"/>
              <a:cs typeface="+mn-ea"/>
            </a:endParaRPr>
          </a:p>
        </p:txBody>
      </p:sp>
      <p:sp>
        <p:nvSpPr>
          <p:cNvPr id="9" name="圆角矩形 8"/>
          <p:cNvSpPr/>
          <p:nvPr/>
        </p:nvSpPr>
        <p:spPr>
          <a:xfrm>
            <a:off x="1163320" y="2375535"/>
            <a:ext cx="9864090" cy="311213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0" name="矩形 93"/>
          <p:cNvSpPr/>
          <p:nvPr/>
        </p:nvSpPr>
        <p:spPr>
          <a:xfrm>
            <a:off x="1163320" y="237553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1" name="矩形 93"/>
          <p:cNvSpPr/>
          <p:nvPr/>
        </p:nvSpPr>
        <p:spPr>
          <a:xfrm rot="10800000">
            <a:off x="10643235" y="500126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泛型类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9" name="Chevron 3"/>
          <p:cNvSpPr/>
          <p:nvPr>
            <p:custDataLst>
              <p:tags r:id="rId1"/>
            </p:custDataLst>
          </p:nvPr>
        </p:nvSpPr>
        <p:spPr>
          <a:xfrm>
            <a:off x="1143635" y="1111250"/>
            <a:ext cx="327914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0" name="文本框 9"/>
          <p:cNvSpPr txBox="1"/>
          <p:nvPr/>
        </p:nvSpPr>
        <p:spPr>
          <a:xfrm>
            <a:off x="1557655" y="1245235"/>
            <a:ext cx="2504440" cy="398780"/>
          </a:xfrm>
          <a:prstGeom prst="rect">
            <a:avLst/>
          </a:prstGeom>
          <a:noFill/>
        </p:spPr>
        <p:txBody>
          <a:bodyPr wrap="square" rtlCol="0">
            <a:spAutoFit/>
          </a:bodyPr>
          <a:p>
            <a:pPr algn="l"/>
            <a:r>
              <a:rPr lang="zh-CN" sz="2000" dirty="0" smtClean="0">
                <a:solidFill>
                  <a:srgbClr val="1369B2"/>
                </a:solidFill>
                <a:latin typeface="微软雅黑" panose="020B0503020204020204" pitchFamily="34" charset="-122"/>
                <a:ea typeface="微软雅黑" panose="020B0503020204020204" pitchFamily="34" charset="-122"/>
                <a:sym typeface="+mn-ea"/>
              </a:rPr>
              <a:t>案例演示泛型的使用</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11" name="文本框 10"/>
          <p:cNvSpPr txBox="1"/>
          <p:nvPr/>
        </p:nvSpPr>
        <p:spPr>
          <a:xfrm>
            <a:off x="1706880" y="2922270"/>
            <a:ext cx="8775700" cy="553085"/>
          </a:xfrm>
          <a:prstGeom prst="rect">
            <a:avLst/>
          </a:prstGeom>
          <a:noFill/>
        </p:spPr>
        <p:txBody>
          <a:bodyPr wrap="square" rtlCol="0">
            <a:spAutoFit/>
          </a:bodyPr>
          <a:p>
            <a:pPr>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下面通过自定义一个泛型类，演示泛型的使用。</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具体步骤如下。</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泛型类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2667000" y="1732280"/>
            <a:ext cx="6433820" cy="4800600"/>
          </a:xfrm>
          <a:prstGeom prst="rect">
            <a:avLst/>
          </a:prstGeom>
        </p:spPr>
      </p:pic>
      <p:sp>
        <p:nvSpPr>
          <p:cNvPr id="6" name="矩形 5"/>
          <p:cNvSpPr/>
          <p:nvPr/>
        </p:nvSpPr>
        <p:spPr>
          <a:xfrm>
            <a:off x="3663950" y="1841500"/>
            <a:ext cx="4692015" cy="4691380"/>
          </a:xfrm>
          <a:prstGeom prst="rect">
            <a:avLst/>
          </a:prstGeom>
        </p:spPr>
        <p:txBody>
          <a:bodyPr wrap="square">
            <a:spAutoFit/>
          </a:bodyPr>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定义泛型类Goods</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class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Goods&lt;T&gt;</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类型形参变量作用于属性的类型</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private T info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类型形参变量作用于构造方法的参数类型</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Goods(T info)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this.info = info;</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类型形参变量作用于方法的参数类型</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void setInfo(T info){</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this.info = info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类型形参变量作用于方法的返回值类型</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T getInfo(){</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return this.info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1143000" y="923925"/>
            <a:ext cx="9877425" cy="922020"/>
          </a:xfrm>
          <a:prstGeom prst="rect">
            <a:avLst/>
          </a:prstGeom>
          <a:noFill/>
        </p:spPr>
        <p:txBody>
          <a:bodyPr wrap="square" rtlCol="0">
            <a:spAutoFit/>
          </a:bodyPr>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步骤一：</a:t>
            </a:r>
            <a:r>
              <a:rPr lang="zh-CN" sz="1800" dirty="0">
                <a:solidFill>
                  <a:srgbClr val="595959"/>
                </a:solidFill>
                <a:latin typeface="微软雅黑" panose="020B0503020204020204" pitchFamily="34" charset="-122"/>
                <a:ea typeface="微软雅黑" panose="020B0503020204020204" pitchFamily="34" charset="-122"/>
                <a:cs typeface="+mn-ea"/>
              </a:rPr>
              <a:t>定义泛型类</a:t>
            </a:r>
            <a:r>
              <a:rPr lang="en-US" altLang="zh-CN" sz="1800" dirty="0">
                <a:solidFill>
                  <a:srgbClr val="595959"/>
                </a:solidFill>
                <a:latin typeface="微软雅黑" panose="020B0503020204020204" pitchFamily="34" charset="-122"/>
                <a:ea typeface="微软雅黑" panose="020B0503020204020204" pitchFamily="34" charset="-122"/>
                <a:cs typeface="+mn-ea"/>
              </a:rPr>
              <a:t>Goods</a:t>
            </a:r>
            <a:r>
              <a:rPr lang="zh-CN" altLang="en-US" sz="1800" dirty="0">
                <a:solidFill>
                  <a:srgbClr val="595959"/>
                </a:solidFill>
                <a:latin typeface="微软雅黑" panose="020B0503020204020204" pitchFamily="34" charset="-122"/>
                <a:ea typeface="微软雅黑" panose="020B0503020204020204" pitchFamily="34" charset="-122"/>
                <a:cs typeface="+mn-ea"/>
              </a:rPr>
              <a:t>，声明私有变量</a:t>
            </a:r>
            <a:r>
              <a:rPr lang="en-US" altLang="zh-CN" sz="1800" dirty="0">
                <a:solidFill>
                  <a:srgbClr val="595959"/>
                </a:solidFill>
                <a:latin typeface="微软雅黑" panose="020B0503020204020204" pitchFamily="34" charset="-122"/>
                <a:ea typeface="微软雅黑" panose="020B0503020204020204" pitchFamily="34" charset="-122"/>
                <a:cs typeface="+mn-ea"/>
              </a:rPr>
              <a:t>info</a:t>
            </a:r>
            <a:r>
              <a:rPr lang="zh-CN" altLang="en-US" sz="1800" dirty="0">
                <a:solidFill>
                  <a:srgbClr val="595959"/>
                </a:solidFill>
                <a:latin typeface="微软雅黑" panose="020B0503020204020204" pitchFamily="34" charset="-122"/>
                <a:ea typeface="微软雅黑" panose="020B0503020204020204" pitchFamily="34" charset="-122"/>
                <a:cs typeface="+mn-ea"/>
              </a:rPr>
              <a:t>，定义构造方法，与</a:t>
            </a:r>
            <a:r>
              <a:rPr lang="en-US" altLang="zh-CN" sz="1800" dirty="0">
                <a:solidFill>
                  <a:srgbClr val="595959"/>
                </a:solidFill>
                <a:latin typeface="微软雅黑" panose="020B0503020204020204" pitchFamily="34" charset="-122"/>
                <a:ea typeface="微软雅黑" panose="020B0503020204020204" pitchFamily="34" charset="-122"/>
                <a:cs typeface="+mn-ea"/>
              </a:rPr>
              <a:t>getter/setter</a:t>
            </a:r>
            <a:r>
              <a:rPr lang="zh-CN" altLang="en-US" sz="1800" dirty="0">
                <a:solidFill>
                  <a:srgbClr val="595959"/>
                </a:solidFill>
                <a:latin typeface="微软雅黑" panose="020B0503020204020204" pitchFamily="34" charset="-122"/>
                <a:ea typeface="微软雅黑" panose="020B0503020204020204" pitchFamily="34" charset="-122"/>
                <a:cs typeface="+mn-ea"/>
              </a:rPr>
              <a:t>方法。</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泛型类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2252980" y="2474595"/>
            <a:ext cx="7791450" cy="2526665"/>
          </a:xfrm>
          <a:prstGeom prst="rect">
            <a:avLst/>
          </a:prstGeom>
        </p:spPr>
      </p:pic>
      <p:sp>
        <p:nvSpPr>
          <p:cNvPr id="6" name="矩形 5"/>
          <p:cNvSpPr/>
          <p:nvPr/>
        </p:nvSpPr>
        <p:spPr>
          <a:xfrm>
            <a:off x="2364740" y="2474595"/>
            <a:ext cx="7460615" cy="2526665"/>
          </a:xfrm>
          <a:prstGeom prst="rect">
            <a:avLst/>
          </a:prstGeom>
        </p:spPr>
        <p:txBody>
          <a:bodyPr wrap="square">
            <a:spAutoFit/>
          </a:bodyPr>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Example04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创建Godds对象</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Goods goods = new Goods&lt;Integer&gt;(666);</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System.out.println(goods.getInfo()+"..."+goods.getInfo().getClass());</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goods.setInfo("热卖商品");</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System.out.println(goods.getInfo()+"..."+goods.getInfo().getClass());</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1262380" y="1405890"/>
            <a:ext cx="9877425" cy="922020"/>
          </a:xfrm>
          <a:prstGeom prst="rect">
            <a:avLst/>
          </a:prstGeom>
          <a:noFill/>
        </p:spPr>
        <p:txBody>
          <a:bodyPr wrap="square" rtlCol="0">
            <a:spAutoFit/>
          </a:bodyPr>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步骤二：</a:t>
            </a:r>
            <a:r>
              <a:rPr lang="zh-CN" sz="1800" dirty="0">
                <a:solidFill>
                  <a:srgbClr val="595959"/>
                </a:solidFill>
                <a:latin typeface="微软雅黑" panose="020B0503020204020204" pitchFamily="34" charset="-122"/>
                <a:ea typeface="微软雅黑" panose="020B0503020204020204" pitchFamily="34" charset="-122"/>
                <a:cs typeface="+mn-ea"/>
              </a:rPr>
              <a:t>定义</a:t>
            </a:r>
            <a:r>
              <a:rPr lang="en-US" altLang="zh-CN" sz="1800" dirty="0">
                <a:solidFill>
                  <a:srgbClr val="595959"/>
                </a:solidFill>
                <a:latin typeface="微软雅黑" panose="020B0503020204020204" pitchFamily="34" charset="-122"/>
                <a:ea typeface="微软雅黑" panose="020B0503020204020204" pitchFamily="34" charset="-122"/>
                <a:cs typeface="+mn-ea"/>
              </a:rPr>
              <a:t>main()</a:t>
            </a:r>
            <a:r>
              <a:rPr lang="zh-CN" altLang="en-US" sz="1800" dirty="0">
                <a:solidFill>
                  <a:srgbClr val="595959"/>
                </a:solidFill>
                <a:latin typeface="微软雅黑" panose="020B0503020204020204" pitchFamily="34" charset="-122"/>
                <a:ea typeface="微软雅黑" panose="020B0503020204020204" pitchFamily="34" charset="-122"/>
                <a:cs typeface="+mn-ea"/>
              </a:rPr>
              <a:t>方法，</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创建Godds对象</a:t>
            </a:r>
            <a:r>
              <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，分别调用setInfo()方法和</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getInfo</a:t>
            </a:r>
            <a:r>
              <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方法</a:t>
            </a:r>
            <a:r>
              <a:rPr sz="1800" dirty="0">
                <a:solidFill>
                  <a:srgbClr val="595959"/>
                </a:solidFill>
                <a:latin typeface="微软雅黑" panose="020B0503020204020204" pitchFamily="34" charset="-122"/>
                <a:ea typeface="微软雅黑" panose="020B0503020204020204" pitchFamily="34" charset="-122"/>
                <a:cs typeface="+mn-ea"/>
                <a:sym typeface="+mn-ea"/>
              </a:rPr>
              <a:t>。</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custDataLst>
              <p:tags r:id="rId1"/>
            </p:custDataLst>
          </p:nvPr>
        </p:nvSpPr>
        <p:spPr>
          <a:xfrm>
            <a:off x="1143635" y="1105535"/>
            <a:ext cx="226822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245494"/>
            <a:ext cx="1706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sym typeface="+mn-ea"/>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泛型类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nvSpPr>
        <p:spPr>
          <a:xfrm>
            <a:off x="3509010" y="1106170"/>
            <a:ext cx="5516880" cy="553085"/>
          </a:xfrm>
          <a:prstGeom prst="rect">
            <a:avLst/>
          </a:prstGeom>
          <a:noFill/>
        </p:spPr>
        <p:txBody>
          <a:bodyPr wrap="none" rtlCol="0">
            <a:spAutoFit/>
          </a:bodyPr>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2147482624"/>
          <p:cNvPicPr>
            <a:picLocks noChangeAspect="1"/>
          </p:cNvPicPr>
          <p:nvPr/>
        </p:nvPicPr>
        <p:blipFill>
          <a:blip r:embed="rId2"/>
          <a:stretch>
            <a:fillRect/>
          </a:stretch>
        </p:blipFill>
        <p:spPr>
          <a:xfrm>
            <a:off x="2779713" y="2349183"/>
            <a:ext cx="6629983" cy="2160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custDataLst>
              <p:tags r:id="rId1"/>
            </p:custDataLst>
          </p:nvPr>
        </p:nvSpPr>
        <p:spPr>
          <a:xfrm>
            <a:off x="1143635" y="1105535"/>
            <a:ext cx="279844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245494"/>
            <a:ext cx="2214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sym typeface="+mn-ea"/>
              </a:rPr>
              <a:t>案例运行结果分析</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408430" y="2747645"/>
            <a:ext cx="9373235" cy="2399665"/>
          </a:xfrm>
          <a:prstGeom prst="rect">
            <a:avLst/>
          </a:prstGeom>
          <a:noFill/>
        </p:spPr>
        <p:txBody>
          <a:bodyPr wrap="square" rtlCol="0">
            <a:spAutoFit/>
          </a:bodyPr>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从上图可以看出，控制台打印了2行信息，分别打印“666...class java.lang.Integer”和“热卖商品...class java.lang.String”，可以得出，执行文件8-4中的第22行代码时，属性info的值为666，类型为Integer；执行文件8-4中的第24行代码时，属性info的值为热卖商品，类型为String。说明</a:t>
            </a:r>
            <a:r>
              <a:rPr lang="zh-CN" altLang="zh-CN" sz="2000" b="1" dirty="0">
                <a:solidFill>
                  <a:srgbClr val="1369B2"/>
                </a:solidFill>
                <a:latin typeface="微软雅黑" panose="020B0503020204020204" pitchFamily="34" charset="-122"/>
                <a:ea typeface="微软雅黑" panose="020B0503020204020204" pitchFamily="34" charset="-122"/>
                <a:cs typeface="+mn-ea"/>
              </a:rPr>
              <a:t>类型形参会根据类型实参进行确定</a:t>
            </a:r>
            <a:r>
              <a:rPr lang="zh-CN"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泛型类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9" name="圆角矩形 8"/>
          <p:cNvSpPr/>
          <p:nvPr/>
        </p:nvSpPr>
        <p:spPr>
          <a:xfrm>
            <a:off x="1163320" y="2375535"/>
            <a:ext cx="9864090" cy="311213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0" name="矩形 93"/>
          <p:cNvSpPr/>
          <p:nvPr/>
        </p:nvSpPr>
        <p:spPr>
          <a:xfrm>
            <a:off x="1163320" y="237553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1" name="矩形 93"/>
          <p:cNvSpPr/>
          <p:nvPr/>
        </p:nvSpPr>
        <p:spPr>
          <a:xfrm rot="10800000">
            <a:off x="10643235" y="500126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5005186" cy="829945"/>
          </a:xfrm>
          <a:prstGeom prst="rect">
            <a:avLst/>
          </a:prstGeom>
          <a:noFill/>
        </p:spPr>
        <p:txBody>
          <a:bodyPr wrap="square" lIns="91443" tIns="45720" rIns="91443" bIns="45720" rtlCol="0">
            <a:spAutoFit/>
          </a:bodyPr>
          <a:lstStyle/>
          <a:p>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泛型接口</a:t>
            </a:r>
            <a:endParaRPr lang="zh-CN" altLang="en-US"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smtClean="0">
                <a:solidFill>
                  <a:srgbClr val="FAFAFA"/>
                </a:solidFill>
                <a:latin typeface="微软雅黑" panose="020B0503020204020204" pitchFamily="34" charset="-122"/>
                <a:ea typeface="微软雅黑" panose="020B0503020204020204" pitchFamily="34" charset="-122"/>
                <a:cs typeface="+mn-ea"/>
                <a:sym typeface="+mn-lt"/>
              </a:rPr>
              <a:t>8.3</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泛型接口</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505585"/>
            <a:chOff x="8472" y="5316"/>
            <a:chExt cx="8645" cy="2371"/>
          </a:xfrm>
        </p:grpSpPr>
        <p:sp>
          <p:nvSpPr>
            <p:cNvPr id="15" name="TextBox 35"/>
            <p:cNvSpPr txBox="1">
              <a:spLocks noChangeArrowheads="1"/>
            </p:cNvSpPr>
            <p:nvPr/>
          </p:nvSpPr>
          <p:spPr bwMode="auto">
            <a:xfrm>
              <a:off x="9159" y="5316"/>
              <a:ext cx="7958" cy="2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altLang="en-US" sz="2000" dirty="0">
                  <a:solidFill>
                    <a:srgbClr val="1369B2"/>
                  </a:solidFill>
                  <a:latin typeface="微软雅黑" panose="020B0503020204020204" pitchFamily="34" charset="-122"/>
                  <a:ea typeface="微软雅黑" panose="020B0503020204020204" pitchFamily="34" charset="-122"/>
                  <a:cs typeface="+mn-ea"/>
                  <a:sym typeface="+mn-ea"/>
                </a:rPr>
                <a:t>泛型接口</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，能够独立</a:t>
              </a:r>
              <a:r>
                <a:rPr lang="zh-CN" altLang="en-US" sz="2000" dirty="0">
                  <a:solidFill>
                    <a:srgbClr val="1369B2"/>
                  </a:solidFill>
                  <a:latin typeface="微软雅黑" panose="020B0503020204020204" pitchFamily="34" charset="-122"/>
                  <a:ea typeface="微软雅黑" panose="020B0503020204020204" pitchFamily="34" charset="-122"/>
                  <a:cs typeface="+mn-ea"/>
                  <a:sym typeface="+mn-ea"/>
                </a:rPr>
                <a:t>定义和使用泛型接口</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，并且能够使用</a:t>
              </a:r>
              <a:r>
                <a:rPr lang="zh-CN" altLang="en-US" sz="2000" dirty="0">
                  <a:solidFill>
                    <a:srgbClr val="1369B2"/>
                  </a:solidFill>
                  <a:latin typeface="微软雅黑" panose="020B0503020204020204" pitchFamily="34" charset="-122"/>
                  <a:ea typeface="微软雅黑" panose="020B0503020204020204" pitchFamily="34" charset="-122"/>
                  <a:cs typeface="+mn-ea"/>
                  <a:sym typeface="+mn-ea"/>
                </a:rPr>
                <a:t>2种方式定义泛型接口的子类</a:t>
              </a:r>
              <a:endParaRPr lang="zh-CN" altLang="en-US" sz="2000" dirty="0">
                <a:solidFill>
                  <a:srgbClr val="1369B2"/>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custDataLst>
              <p:tags r:id="rId1"/>
            </p:custDataLst>
          </p:nvPr>
        </p:nvSpPr>
        <p:spPr>
          <a:xfrm>
            <a:off x="1143635" y="1329055"/>
            <a:ext cx="274955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42558" y="1469014"/>
            <a:ext cx="246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sym typeface="+mn-ea"/>
              </a:rPr>
              <a:t>泛型接口的语法格式</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泛型接口</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文本框 6"/>
          <p:cNvSpPr txBox="1"/>
          <p:nvPr/>
        </p:nvSpPr>
        <p:spPr>
          <a:xfrm>
            <a:off x="1160145" y="2117725"/>
            <a:ext cx="9870440" cy="1476375"/>
          </a:xfrm>
          <a:prstGeom prst="rect">
            <a:avLst/>
          </a:prstGeom>
          <a:noFill/>
        </p:spPr>
        <p:txBody>
          <a:bodyPr wrap="square" rtlCol="0">
            <a:spAutoFit/>
          </a:bodyPr>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定义</a:t>
            </a:r>
            <a:r>
              <a:rPr sz="2000" dirty="0">
                <a:solidFill>
                  <a:srgbClr val="1369B2"/>
                </a:solidFill>
                <a:latin typeface="微软雅黑" panose="020B0503020204020204" pitchFamily="34" charset="-122"/>
                <a:ea typeface="微软雅黑" panose="020B0503020204020204" pitchFamily="34" charset="-122"/>
                <a:cs typeface="+mn-ea"/>
              </a:rPr>
              <a:t>泛型接口</a:t>
            </a:r>
            <a:r>
              <a:rPr sz="2000" dirty="0">
                <a:solidFill>
                  <a:srgbClr val="595959"/>
                </a:solidFill>
                <a:latin typeface="微软雅黑" panose="020B0503020204020204" pitchFamily="34" charset="-122"/>
                <a:ea typeface="微软雅黑" panose="020B0503020204020204" pitchFamily="34" charset="-122"/>
                <a:cs typeface="+mn-ea"/>
              </a:rPr>
              <a:t>和定义泛型类的语法格式类似，在接口名称后面加上尖括号包含类型形参即可。集合相关的接口中很多接口也都是泛型接口，如Collection、List等。定义泛型接口的基本语法格式如下所示</a:t>
            </a:r>
            <a:r>
              <a:rPr lang="zh-CN" sz="2000" dirty="0">
                <a:solidFill>
                  <a:srgbClr val="595959"/>
                </a:solidFill>
                <a:latin typeface="微软雅黑" panose="020B0503020204020204" pitchFamily="34" charset="-122"/>
                <a:ea typeface="微软雅黑" panose="020B0503020204020204" pitchFamily="34" charset="-122"/>
                <a:cs typeface="+mn-ea"/>
              </a:rPr>
              <a:t>：</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8" name="矩形 7"/>
          <p:cNvSpPr/>
          <p:nvPr/>
        </p:nvSpPr>
        <p:spPr>
          <a:xfrm>
            <a:off x="2800985" y="3719195"/>
            <a:ext cx="6058535" cy="71501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[访问权限] </a:t>
            </a:r>
            <a:r>
              <a:rPr lang="zh-CN" altLang="en-US" sz="18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interface </a:t>
            </a: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接口名称</a:t>
            </a:r>
            <a:r>
              <a:rPr lang="zh-CN" altLang="en-US" sz="18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&lt;类型形参变量&gt;</a:t>
            </a: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custDataLst>
              <p:tags r:id="rId1"/>
            </p:custDataLst>
          </p:nvPr>
        </p:nvSpPr>
        <p:spPr>
          <a:xfrm>
            <a:off x="1143635" y="1105535"/>
            <a:ext cx="431673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245494"/>
            <a:ext cx="3634105"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1．使用非泛型类实现泛型接口</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143635" y="2091055"/>
            <a:ext cx="10396855" cy="1476375"/>
          </a:xfrm>
          <a:prstGeom prst="rect">
            <a:avLst/>
          </a:prstGeom>
          <a:noFill/>
        </p:spPr>
        <p:txBody>
          <a:bodyPr wrap="square" rtlCol="0">
            <a:spAutoFit/>
          </a:bodyPr>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当使用</a:t>
            </a:r>
            <a:r>
              <a:rPr sz="2000" dirty="0">
                <a:solidFill>
                  <a:srgbClr val="1369B2"/>
                </a:solidFill>
                <a:latin typeface="微软雅黑" panose="020B0503020204020204" pitchFamily="34" charset="-122"/>
                <a:ea typeface="微软雅黑" panose="020B0503020204020204" pitchFamily="34" charset="-122"/>
                <a:cs typeface="+mn-ea"/>
              </a:rPr>
              <a:t>非泛型类实现接口</a:t>
            </a:r>
            <a:r>
              <a:rPr sz="2000" dirty="0">
                <a:solidFill>
                  <a:srgbClr val="595959"/>
                </a:solidFill>
                <a:latin typeface="微软雅黑" panose="020B0503020204020204" pitchFamily="34" charset="-122"/>
                <a:ea typeface="微软雅黑" panose="020B0503020204020204" pitchFamily="34" charset="-122"/>
                <a:cs typeface="+mn-ea"/>
              </a:rPr>
              <a:t>时，需要明确接口的泛型类型，也就是需要将类型实参传入到接口中。此时实现类重写接口中使用泛型的地方，都需要将类型形参替换成传入的类型实参，这样可以直接使用泛型接口的类型实参</a:t>
            </a:r>
            <a:r>
              <a:rPr 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泛型接口</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 name="文本框 7"/>
          <p:cNvSpPr txBox="1"/>
          <p:nvPr/>
        </p:nvSpPr>
        <p:spPr>
          <a:xfrm>
            <a:off x="1143635" y="3905885"/>
            <a:ext cx="3975735" cy="553085"/>
          </a:xfrm>
          <a:prstGeom prst="rect">
            <a:avLst/>
          </a:prstGeom>
          <a:noFill/>
        </p:spPr>
        <p:txBody>
          <a:bodyPr wrap="square" rtlCol="0">
            <a:spAutoFit/>
          </a:bodyPr>
          <a:p>
            <a:pPr algn="l" fontAlgn="auto">
              <a:lnSpc>
                <a:spcPct val="150000"/>
              </a:lnSpc>
            </a:pPr>
            <a:r>
              <a:rPr lang="zh-CN" altLang="zh-CN" sz="2000" b="1" dirty="0">
                <a:solidFill>
                  <a:srgbClr val="1369B2"/>
                </a:solidFill>
                <a:latin typeface="微软雅黑" panose="020B0503020204020204" pitchFamily="34" charset="-122"/>
                <a:ea typeface="微软雅黑" panose="020B0503020204020204" pitchFamily="34" charset="-122"/>
                <a:cs typeface="+mn-ea"/>
              </a:rPr>
              <a:t>步骤一：</a:t>
            </a:r>
            <a:r>
              <a:rPr lang="zh-CN" altLang="zh-CN" sz="2000" dirty="0">
                <a:solidFill>
                  <a:srgbClr val="595959"/>
                </a:solidFill>
                <a:latin typeface="微软雅黑" panose="020B0503020204020204" pitchFamily="34" charset="-122"/>
                <a:ea typeface="微软雅黑" panose="020B0503020204020204" pitchFamily="34" charset="-122"/>
                <a:cs typeface="+mn-ea"/>
              </a:rPr>
              <a:t>定义一个泛型接口。</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2" name="图片 11"/>
          <p:cNvPicPr>
            <a:picLocks noChangeAspect="1"/>
          </p:cNvPicPr>
          <p:nvPr/>
        </p:nvPicPr>
        <p:blipFill>
          <a:blip r:embed="rId2"/>
          <a:stretch>
            <a:fillRect/>
          </a:stretch>
        </p:blipFill>
        <p:spPr>
          <a:xfrm>
            <a:off x="2140585" y="4602480"/>
            <a:ext cx="7881620" cy="1103630"/>
          </a:xfrm>
          <a:prstGeom prst="rect">
            <a:avLst/>
          </a:prstGeom>
        </p:spPr>
      </p:pic>
      <p:sp>
        <p:nvSpPr>
          <p:cNvPr id="9" name="矩形 8"/>
          <p:cNvSpPr/>
          <p:nvPr/>
        </p:nvSpPr>
        <p:spPr>
          <a:xfrm>
            <a:off x="2752090" y="4693285"/>
            <a:ext cx="6829425" cy="922020"/>
          </a:xfrm>
          <a:prstGeom prst="rect">
            <a:avLst/>
          </a:prstGeom>
        </p:spPr>
        <p:txBody>
          <a:bodyPr wrap="square">
            <a:spAutoFit/>
          </a:bodyPr>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a:t>
            </a:r>
            <a:r>
              <a:rPr lang="en-US" altLang="zh-CN" sz="18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interface Inter&lt;T&gt;</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abstract void </a:t>
            </a:r>
            <a:r>
              <a:rPr lang="en-US" altLang="zh-CN" sz="18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show(T t)</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泛型接口</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文本框 4"/>
          <p:cNvSpPr txBox="1"/>
          <p:nvPr/>
        </p:nvSpPr>
        <p:spPr>
          <a:xfrm>
            <a:off x="1143000" y="1076325"/>
            <a:ext cx="9820275" cy="553085"/>
          </a:xfrm>
          <a:prstGeom prst="rect">
            <a:avLst/>
          </a:prstGeom>
          <a:noFill/>
        </p:spPr>
        <p:txBody>
          <a:bodyPr wrap="square" rtlCol="0">
            <a:spAutoFit/>
          </a:bodyPr>
          <a:p>
            <a:pPr algn="l" fontAlgn="auto">
              <a:lnSpc>
                <a:spcPct val="150000"/>
              </a:lnSpc>
            </a:pPr>
            <a:r>
              <a:rPr lang="zh-CN" altLang="zh-CN" sz="2000" b="1" dirty="0">
                <a:solidFill>
                  <a:srgbClr val="1369B2"/>
                </a:solidFill>
                <a:latin typeface="微软雅黑" panose="020B0503020204020204" pitchFamily="34" charset="-122"/>
                <a:ea typeface="微软雅黑" panose="020B0503020204020204" pitchFamily="34" charset="-122"/>
                <a:cs typeface="+mn-ea"/>
              </a:rPr>
              <a:t>步骤二：</a:t>
            </a:r>
            <a:r>
              <a:rPr lang="zh-CN" altLang="zh-CN" sz="2000" dirty="0">
                <a:solidFill>
                  <a:srgbClr val="595959"/>
                </a:solidFill>
                <a:latin typeface="微软雅黑" panose="020B0503020204020204" pitchFamily="34" charset="-122"/>
                <a:ea typeface="微软雅黑" panose="020B0503020204020204" pitchFamily="34" charset="-122"/>
                <a:cs typeface="+mn-ea"/>
              </a:rPr>
              <a:t>定义泛型接口的实现类，在泛型接口后指定类型实参以明确接口的泛型类型。</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2" name="图片 11"/>
          <p:cNvPicPr>
            <a:picLocks noChangeAspect="1"/>
          </p:cNvPicPr>
          <p:nvPr>
            <p:custDataLst>
              <p:tags r:id="rId1"/>
            </p:custDataLst>
          </p:nvPr>
        </p:nvPicPr>
        <p:blipFill>
          <a:blip r:embed="rId2"/>
          <a:stretch>
            <a:fillRect/>
          </a:stretch>
        </p:blipFill>
        <p:spPr>
          <a:xfrm>
            <a:off x="2068830" y="1875790"/>
            <a:ext cx="7881620" cy="1844675"/>
          </a:xfrm>
          <a:prstGeom prst="rect">
            <a:avLst/>
          </a:prstGeom>
        </p:spPr>
      </p:pic>
      <p:sp>
        <p:nvSpPr>
          <p:cNvPr id="6" name="矩形 5"/>
          <p:cNvSpPr/>
          <p:nvPr/>
        </p:nvSpPr>
        <p:spPr>
          <a:xfrm>
            <a:off x="2680335" y="1966595"/>
            <a:ext cx="6829425" cy="1753235"/>
          </a:xfrm>
          <a:prstGeom prst="rect">
            <a:avLst/>
          </a:prstGeom>
        </p:spPr>
        <p:txBody>
          <a:bodyPr wrap="square">
            <a:spAutoFit/>
          </a:bodyPr>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a:t>
            </a:r>
            <a:r>
              <a:rPr lang="en-US" altLang="zh-CN" sz="18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InterImpl </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implements </a:t>
            </a:r>
            <a:r>
              <a:rPr lang="en-US" altLang="zh-CN" sz="18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Inter&lt;String&gt;</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@Override</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void </a:t>
            </a:r>
            <a:r>
              <a:rPr lang="en-US" altLang="zh-CN" sz="18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show(String s)</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System.out.println(s);</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1143635" y="3948430"/>
            <a:ext cx="10222230" cy="1014730"/>
          </a:xfrm>
          <a:prstGeom prst="rect">
            <a:avLst/>
          </a:prstGeom>
          <a:noFill/>
        </p:spPr>
        <p:txBody>
          <a:bodyPr wrap="square" rtlCol="0">
            <a:spAutoFit/>
          </a:bodyPr>
          <a:p>
            <a:pPr algn="l" fontAlgn="auto">
              <a:lnSpc>
                <a:spcPct val="150000"/>
              </a:lnSpc>
            </a:pPr>
            <a:r>
              <a:rPr lang="zh-CN" altLang="zh-CN" sz="2000" b="1" dirty="0">
                <a:solidFill>
                  <a:srgbClr val="1369B2"/>
                </a:solidFill>
                <a:latin typeface="微软雅黑" panose="020B0503020204020204" pitchFamily="34" charset="-122"/>
                <a:ea typeface="微软雅黑" panose="020B0503020204020204" pitchFamily="34" charset="-122"/>
                <a:cs typeface="+mn-ea"/>
              </a:rPr>
              <a:t>步骤三：</a:t>
            </a:r>
            <a:r>
              <a:rPr lang="zh-CN" altLang="zh-CN" sz="2000" dirty="0">
                <a:solidFill>
                  <a:srgbClr val="595959"/>
                </a:solidFill>
                <a:latin typeface="微软雅黑" panose="020B0503020204020204" pitchFamily="34" charset="-122"/>
                <a:ea typeface="微软雅黑" panose="020B0503020204020204" pitchFamily="34" charset="-122"/>
                <a:cs typeface="+mn-ea"/>
              </a:rPr>
              <a:t>定义测试类，创建Inter对象时，传入的类型实参必须是String类型，否则编译异常。</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7" name="图片 6"/>
          <p:cNvPicPr>
            <a:picLocks noChangeAspect="1"/>
          </p:cNvPicPr>
          <p:nvPr>
            <p:custDataLst>
              <p:tags r:id="rId3"/>
            </p:custDataLst>
          </p:nvPr>
        </p:nvPicPr>
        <p:blipFill>
          <a:blip r:embed="rId2"/>
          <a:stretch>
            <a:fillRect/>
          </a:stretch>
        </p:blipFill>
        <p:spPr>
          <a:xfrm>
            <a:off x="2124075" y="4729480"/>
            <a:ext cx="7881620" cy="1844675"/>
          </a:xfrm>
          <a:prstGeom prst="rect">
            <a:avLst/>
          </a:prstGeom>
        </p:spPr>
      </p:pic>
      <p:sp>
        <p:nvSpPr>
          <p:cNvPr id="8" name="矩形 7"/>
          <p:cNvSpPr/>
          <p:nvPr/>
        </p:nvSpPr>
        <p:spPr>
          <a:xfrm>
            <a:off x="2807335" y="4820285"/>
            <a:ext cx="6829425" cy="1753235"/>
          </a:xfrm>
          <a:prstGeom prst="rect">
            <a:avLst/>
          </a:prstGeom>
        </p:spPr>
        <p:txBody>
          <a:bodyPr wrap="square">
            <a:spAutoFit/>
          </a:bodyPr>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Example05{</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 Inter&lt;String&gt;</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inter = new InterImpl();</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 inter.show("hello");//</a:t>
            </a:r>
            <a:r>
              <a:rPr lang="zh-CN" altLang="en-US" sz="18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传入的参数必须是</a:t>
            </a:r>
            <a:r>
              <a:rPr lang="en-US" altLang="zh-CN" sz="18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String</a:t>
            </a:r>
            <a:r>
              <a:rPr lang="zh-CN" altLang="en-US" sz="18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类型</a:t>
            </a:r>
            <a:endParaRPr lang="en-US" altLang="zh-CN" sz="18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泛型接口</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nvSpPr>
        <p:spPr>
          <a:xfrm>
            <a:off x="1143635" y="1271270"/>
            <a:ext cx="6532880" cy="553085"/>
          </a:xfrm>
          <a:prstGeom prst="rect">
            <a:avLst/>
          </a:prstGeom>
          <a:noFill/>
        </p:spPr>
        <p:txBody>
          <a:bodyPr wrap="none" rtlCol="0">
            <a:spAutoFit/>
          </a:bodyPr>
          <a:p>
            <a:pPr fontAlgn="auto">
              <a:lnSpc>
                <a:spcPct val="150000"/>
              </a:lnSpc>
            </a:pPr>
            <a:r>
              <a:rPr lang="zh-CN" altLang="zh-CN" sz="2000" b="1" dirty="0">
                <a:solidFill>
                  <a:srgbClr val="1369B2"/>
                </a:solidFill>
                <a:latin typeface="微软雅黑" panose="020B0503020204020204" pitchFamily="34" charset="-122"/>
                <a:ea typeface="微软雅黑" panose="020B0503020204020204" pitchFamily="34" charset="-122"/>
                <a:cs typeface="+mn-ea"/>
              </a:rPr>
              <a:t>步骤四：</a:t>
            </a: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1"/>
          <a:stretch>
            <a:fillRect/>
          </a:stretch>
        </p:blipFill>
        <p:spPr>
          <a:xfrm>
            <a:off x="2883535" y="2529840"/>
            <a:ext cx="6423106" cy="1800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custDataLst>
              <p:tags r:id="rId1"/>
            </p:custDataLst>
          </p:nvPr>
        </p:nvSpPr>
        <p:spPr>
          <a:xfrm>
            <a:off x="1143635" y="1105535"/>
            <a:ext cx="431673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245494"/>
            <a:ext cx="3380105"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2．使用泛型类实现泛型接口</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泛型接口</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nvSpPr>
        <p:spPr>
          <a:xfrm>
            <a:off x="1143635" y="2091055"/>
            <a:ext cx="10396855" cy="1014730"/>
          </a:xfrm>
          <a:prstGeom prst="rect">
            <a:avLst/>
          </a:prstGeom>
          <a:noFill/>
        </p:spPr>
        <p:txBody>
          <a:bodyPr wrap="square" rtlCol="0">
            <a:spAutoFit/>
          </a:bodyPr>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当使用</a:t>
            </a:r>
            <a:r>
              <a:rPr sz="2000" dirty="0">
                <a:solidFill>
                  <a:srgbClr val="1369B2"/>
                </a:solidFill>
                <a:latin typeface="微软雅黑" panose="020B0503020204020204" pitchFamily="34" charset="-122"/>
                <a:ea typeface="微软雅黑" panose="020B0503020204020204" pitchFamily="34" charset="-122"/>
                <a:cs typeface="+mn-ea"/>
              </a:rPr>
              <a:t>泛型类实现泛型接口</a:t>
            </a:r>
            <a:r>
              <a:rPr sz="2000" dirty="0">
                <a:solidFill>
                  <a:srgbClr val="595959"/>
                </a:solidFill>
                <a:latin typeface="微软雅黑" panose="020B0503020204020204" pitchFamily="34" charset="-122"/>
                <a:ea typeface="微软雅黑" panose="020B0503020204020204" pitchFamily="34" charset="-122"/>
                <a:cs typeface="+mn-ea"/>
              </a:rPr>
              <a:t>时，需要将泛型的声明加在实现类中，并且泛型类和泛型接口使用的都是同一个类型形参变量，否则会出现编译异常。</a:t>
            </a:r>
            <a:r>
              <a:rPr 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8" name="文本框 7"/>
          <p:cNvSpPr txBox="1"/>
          <p:nvPr/>
        </p:nvSpPr>
        <p:spPr>
          <a:xfrm>
            <a:off x="1143635" y="3403600"/>
            <a:ext cx="8032115" cy="553085"/>
          </a:xfrm>
          <a:prstGeom prst="rect">
            <a:avLst/>
          </a:prstGeom>
          <a:noFill/>
        </p:spPr>
        <p:txBody>
          <a:bodyPr wrap="square" rtlCol="0">
            <a:spAutoFit/>
          </a:bodyPr>
          <a:p>
            <a:pPr algn="l" fontAlgn="auto">
              <a:lnSpc>
                <a:spcPct val="150000"/>
              </a:lnSpc>
            </a:pPr>
            <a:r>
              <a:rPr lang="zh-CN" altLang="zh-CN" sz="2000" b="1" dirty="0">
                <a:solidFill>
                  <a:srgbClr val="1369B2"/>
                </a:solidFill>
                <a:latin typeface="微软雅黑" panose="020B0503020204020204" pitchFamily="34" charset="-122"/>
                <a:ea typeface="微软雅黑" panose="020B0503020204020204" pitchFamily="34" charset="-122"/>
                <a:cs typeface="+mn-ea"/>
                <a:sym typeface="+mn-ea"/>
              </a:rPr>
              <a:t>步骤一：</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定义泛型接口的实现类，使用泛型类实现泛型接口</a:t>
            </a:r>
            <a:r>
              <a:rPr lang="zh-CN"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2" name="图片 11"/>
          <p:cNvPicPr>
            <a:picLocks noChangeAspect="1"/>
          </p:cNvPicPr>
          <p:nvPr/>
        </p:nvPicPr>
        <p:blipFill>
          <a:blip r:embed="rId2"/>
          <a:stretch>
            <a:fillRect/>
          </a:stretch>
        </p:blipFill>
        <p:spPr>
          <a:xfrm>
            <a:off x="2140585" y="4100195"/>
            <a:ext cx="7881620" cy="1962785"/>
          </a:xfrm>
          <a:prstGeom prst="rect">
            <a:avLst/>
          </a:prstGeom>
        </p:spPr>
      </p:pic>
      <p:sp>
        <p:nvSpPr>
          <p:cNvPr id="9" name="矩形 8"/>
          <p:cNvSpPr/>
          <p:nvPr/>
        </p:nvSpPr>
        <p:spPr>
          <a:xfrm>
            <a:off x="3216910" y="4122420"/>
            <a:ext cx="5728970" cy="1918335"/>
          </a:xfrm>
          <a:prstGeom prst="rect">
            <a:avLst/>
          </a:prstGeom>
        </p:spPr>
        <p:txBody>
          <a:bodyPr wrap="square">
            <a:spAutoFit/>
          </a:bodyPr>
          <a:p>
            <a:pPr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a:t>
            </a:r>
            <a:r>
              <a:rPr lang="en-US" altLang="zh-CN" sz="18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InterImpl&lt;T&gt;</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implements</a:t>
            </a:r>
            <a:r>
              <a:rPr lang="en-US" altLang="zh-CN" sz="18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 Inter&lt;T&gt;</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@Override</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void </a:t>
            </a:r>
            <a:r>
              <a:rPr lang="en-US" altLang="zh-CN" sz="18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show(T t</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System.out.println(t);</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泛型接口</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nvSpPr>
        <p:spPr>
          <a:xfrm>
            <a:off x="1143635" y="1580515"/>
            <a:ext cx="10222230" cy="1014730"/>
          </a:xfrm>
          <a:prstGeom prst="rect">
            <a:avLst/>
          </a:prstGeom>
          <a:noFill/>
        </p:spPr>
        <p:txBody>
          <a:bodyPr wrap="square" rtlCol="0">
            <a:spAutoFit/>
          </a:bodyPr>
          <a:p>
            <a:pPr algn="l" fontAlgn="auto">
              <a:lnSpc>
                <a:spcPct val="150000"/>
              </a:lnSpc>
            </a:pPr>
            <a:r>
              <a:rPr lang="zh-CN" altLang="zh-CN" sz="2000" b="1" dirty="0">
                <a:solidFill>
                  <a:srgbClr val="1369B2"/>
                </a:solidFill>
                <a:latin typeface="微软雅黑" panose="020B0503020204020204" pitchFamily="34" charset="-122"/>
                <a:ea typeface="微软雅黑" panose="020B0503020204020204" pitchFamily="34" charset="-122"/>
                <a:cs typeface="+mn-ea"/>
              </a:rPr>
              <a:t>步骤二：</a:t>
            </a:r>
            <a:r>
              <a:rPr lang="zh-CN" altLang="zh-CN" sz="2000" dirty="0">
                <a:solidFill>
                  <a:srgbClr val="595959"/>
                </a:solidFill>
                <a:latin typeface="微软雅黑" panose="020B0503020204020204" pitchFamily="34" charset="-122"/>
                <a:ea typeface="微软雅黑" panose="020B0503020204020204" pitchFamily="34" charset="-122"/>
                <a:cs typeface="+mn-ea"/>
              </a:rPr>
              <a:t>重新定义测试类，创建Inter对象时，传入不同的类型实参，并分别调用show()方法进行输出验证。</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7" name="图片 6"/>
          <p:cNvPicPr>
            <a:picLocks noChangeAspect="1"/>
          </p:cNvPicPr>
          <p:nvPr>
            <p:custDataLst>
              <p:tags r:id="rId1"/>
            </p:custDataLst>
          </p:nvPr>
        </p:nvPicPr>
        <p:blipFill>
          <a:blip r:embed="rId2"/>
          <a:stretch>
            <a:fillRect/>
          </a:stretch>
        </p:blipFill>
        <p:spPr>
          <a:xfrm>
            <a:off x="2124075" y="3007360"/>
            <a:ext cx="7881620" cy="2649220"/>
          </a:xfrm>
          <a:prstGeom prst="rect">
            <a:avLst/>
          </a:prstGeom>
        </p:spPr>
      </p:pic>
      <p:sp>
        <p:nvSpPr>
          <p:cNvPr id="10" name="矩形 9"/>
          <p:cNvSpPr/>
          <p:nvPr/>
        </p:nvSpPr>
        <p:spPr>
          <a:xfrm>
            <a:off x="3425825" y="3068320"/>
            <a:ext cx="5278120" cy="2527935"/>
          </a:xfrm>
          <a:prstGeom prst="rect">
            <a:avLst/>
          </a:prstGeom>
        </p:spPr>
        <p:txBody>
          <a:bodyPr wrap="square">
            <a:spAutoFit/>
          </a:bodyPr>
          <a:p>
            <a:pPr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Example06 {</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 Inter&lt;String&gt; inter = new InterImpl();</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inter.show("hello");</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Inter&lt;Integer&gt; ii = new InterImpl&lt;&gt;();</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ii.show(12);</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泛型接口</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nvSpPr>
        <p:spPr>
          <a:xfrm>
            <a:off x="1143635" y="1234440"/>
            <a:ext cx="6532880" cy="553085"/>
          </a:xfrm>
          <a:prstGeom prst="rect">
            <a:avLst/>
          </a:prstGeom>
          <a:noFill/>
        </p:spPr>
        <p:txBody>
          <a:bodyPr wrap="none" rtlCol="0">
            <a:spAutoFit/>
          </a:bodyPr>
          <a:p>
            <a:pPr fontAlgn="auto">
              <a:lnSpc>
                <a:spcPct val="150000"/>
              </a:lnSpc>
            </a:pPr>
            <a:r>
              <a:rPr lang="zh-CN" altLang="zh-CN" sz="2000" b="1" dirty="0">
                <a:solidFill>
                  <a:srgbClr val="1369B2"/>
                </a:solidFill>
                <a:latin typeface="微软雅黑" panose="020B0503020204020204" pitchFamily="34" charset="-122"/>
                <a:ea typeface="微软雅黑" panose="020B0503020204020204" pitchFamily="34" charset="-122"/>
                <a:cs typeface="+mn-ea"/>
              </a:rPr>
              <a:t>步骤三：</a:t>
            </a: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1"/>
          <a:stretch>
            <a:fillRect/>
          </a:stretch>
        </p:blipFill>
        <p:spPr>
          <a:xfrm>
            <a:off x="3335020" y="2529523"/>
            <a:ext cx="5519112" cy="1800000"/>
          </a:xfrm>
          <a:prstGeom prst="rect">
            <a:avLst/>
          </a:prstGeom>
          <a:noFill/>
          <a:ln w="9525">
            <a:noFill/>
          </a:ln>
        </p:spPr>
      </p:pic>
      <p:sp>
        <p:nvSpPr>
          <p:cNvPr id="7" name="文本框 6"/>
          <p:cNvSpPr txBox="1"/>
          <p:nvPr/>
        </p:nvSpPr>
        <p:spPr>
          <a:xfrm>
            <a:off x="1143635" y="5003165"/>
            <a:ext cx="9679305" cy="1014730"/>
          </a:xfrm>
          <a:prstGeom prst="rect">
            <a:avLst/>
          </a:prstGeom>
          <a:noFill/>
        </p:spPr>
        <p:txBody>
          <a:bodyPr wrap="square" rtlCol="0">
            <a:spAutoFit/>
          </a:bodyPr>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从上图可以看出，分别在控制台打印hello和12，说明和使用非泛型类实现接口相比，</a:t>
            </a:r>
            <a:r>
              <a:rPr lang="zh-CN" altLang="zh-CN" sz="2000" b="1" dirty="0">
                <a:solidFill>
                  <a:srgbClr val="1369B2"/>
                </a:solidFill>
                <a:latin typeface="微软雅黑" panose="020B0503020204020204" pitchFamily="34" charset="-122"/>
                <a:ea typeface="微软雅黑" panose="020B0503020204020204" pitchFamily="34" charset="-122"/>
                <a:cs typeface="+mn-ea"/>
              </a:rPr>
              <a:t>使用泛型类实现接口创建对象时，类型实参可以为任意类型。</a:t>
            </a:r>
            <a:endParaRPr lang="zh-CN" altLang="zh-CN" sz="2000" b="1" dirty="0">
              <a:solidFill>
                <a:srgbClr val="1369B2"/>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5005186" cy="829945"/>
          </a:xfrm>
          <a:prstGeom prst="rect">
            <a:avLst/>
          </a:prstGeom>
          <a:noFill/>
        </p:spPr>
        <p:txBody>
          <a:bodyPr wrap="square" lIns="91443" tIns="45720" rIns="91443" bIns="45720" rtlCol="0">
            <a:spAutoFit/>
          </a:bodyPr>
          <a:lstStyle/>
          <a:p>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泛型方法</a:t>
            </a:r>
            <a:endParaRPr lang="zh-CN" altLang="en-US"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8</a:t>
            </a:r>
            <a:r>
              <a:rPr lang="en-US" altLang="en-GB" sz="6600" b="1" dirty="0" smtClean="0">
                <a:solidFill>
                  <a:srgbClr val="FAFAFA"/>
                </a:solidFill>
                <a:latin typeface="微软雅黑" panose="020B0503020204020204" pitchFamily="34" charset="-122"/>
                <a:ea typeface="微软雅黑" panose="020B0503020204020204" pitchFamily="34" charset="-122"/>
                <a:cs typeface="+mn-ea"/>
                <a:sym typeface="+mn-lt"/>
              </a:rPr>
              <a:t>.4</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8.4.1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泛型方法的概述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了解</a:t>
              </a:r>
              <a:r>
                <a:rPr lang="zh-CN" altLang="en-US" sz="2000" dirty="0">
                  <a:solidFill>
                    <a:srgbClr val="1369B2"/>
                  </a:solidFill>
                  <a:latin typeface="微软雅黑" panose="020B0503020204020204" pitchFamily="34" charset="-122"/>
                  <a:ea typeface="微软雅黑" panose="020B0503020204020204" pitchFamily="34" charset="-122"/>
                  <a:cs typeface="+mn-ea"/>
                  <a:sym typeface="+mn-ea"/>
                </a:rPr>
                <a:t>泛型方法的概述</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，能够说出定义泛型方法的注意事项</a:t>
              </a:r>
              <a:endPar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custDataLst>
              <p:tags r:id="rId1"/>
            </p:custDataLst>
          </p:nvPr>
        </p:nvSpPr>
        <p:spPr>
          <a:xfrm>
            <a:off x="1143635" y="1105535"/>
            <a:ext cx="355346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245494"/>
            <a:ext cx="2976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sym typeface="+mn-ea"/>
              </a:rPr>
              <a:t>定义</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泛型方法的语法格式</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2" name="文本框 1"/>
          <p:cNvSpPr txBox="1"/>
          <p:nvPr/>
        </p:nvSpPr>
        <p:spPr>
          <a:xfrm>
            <a:off x="1144905" y="2333625"/>
            <a:ext cx="9900920" cy="1014730"/>
          </a:xfrm>
          <a:prstGeom prst="rect">
            <a:avLst/>
          </a:prstGeom>
          <a:noFill/>
        </p:spPr>
        <p:txBody>
          <a:bodyPr wrap="square" rtlCol="0">
            <a:spAutoFit/>
          </a:bodyPr>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泛型方法是将类型形参的声明放在</a:t>
            </a:r>
            <a:r>
              <a:rPr sz="2000" dirty="0">
                <a:solidFill>
                  <a:srgbClr val="1369B2"/>
                </a:solidFill>
                <a:latin typeface="微软雅黑" panose="020B0503020204020204" pitchFamily="34" charset="-122"/>
                <a:ea typeface="微软雅黑" panose="020B0503020204020204" pitchFamily="34" charset="-122"/>
                <a:cs typeface="+mn-ea"/>
              </a:rPr>
              <a:t>修饰符</a:t>
            </a:r>
            <a:r>
              <a:rPr sz="2000" dirty="0">
                <a:solidFill>
                  <a:srgbClr val="595959"/>
                </a:solidFill>
                <a:latin typeface="微软雅黑" panose="020B0503020204020204" pitchFamily="34" charset="-122"/>
                <a:ea typeface="微软雅黑" panose="020B0503020204020204" pitchFamily="34" charset="-122"/>
                <a:cs typeface="+mn-ea"/>
              </a:rPr>
              <a:t>和</a:t>
            </a:r>
            <a:r>
              <a:rPr sz="2000" dirty="0">
                <a:solidFill>
                  <a:srgbClr val="1369B2"/>
                </a:solidFill>
                <a:latin typeface="微软雅黑" panose="020B0503020204020204" pitchFamily="34" charset="-122"/>
                <a:ea typeface="微软雅黑" panose="020B0503020204020204" pitchFamily="34" charset="-122"/>
                <a:cs typeface="+mn-ea"/>
              </a:rPr>
              <a:t>返回类型之</a:t>
            </a:r>
            <a:r>
              <a:rPr sz="2000" dirty="0">
                <a:solidFill>
                  <a:srgbClr val="595959"/>
                </a:solidFill>
                <a:latin typeface="微软雅黑" panose="020B0503020204020204" pitchFamily="34" charset="-122"/>
                <a:ea typeface="微软雅黑" panose="020B0503020204020204" pitchFamily="34" charset="-122"/>
                <a:cs typeface="+mn-ea"/>
              </a:rPr>
              <a:t>间的方法。在Java程序中，定义泛型方法常用的格式如下所示：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8.4.1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泛型方法的概述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矩形 5"/>
          <p:cNvSpPr/>
          <p:nvPr/>
        </p:nvSpPr>
        <p:spPr>
          <a:xfrm>
            <a:off x="1367155" y="3763010"/>
            <a:ext cx="9455150" cy="95758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[访问权限修饰符] [static] [final] &lt;类型形参&gt; 返回值类型 方法名 （形式参数列表）{}</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custDataLst>
              <p:tags r:id="rId1"/>
            </p:custDataLst>
          </p:nvPr>
        </p:nvSpPr>
        <p:spPr>
          <a:xfrm>
            <a:off x="1143635" y="1329055"/>
            <a:ext cx="344170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469014"/>
            <a:ext cx="2722880"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rPr>
              <a:t>定义泛型方法注意</a:t>
            </a:r>
            <a:r>
              <a:rPr lang="zh-CN" sz="2000" dirty="0" smtClean="0">
                <a:solidFill>
                  <a:srgbClr val="1369B2"/>
                </a:solidFill>
                <a:latin typeface="微软雅黑" panose="020B0503020204020204" pitchFamily="34" charset="-122"/>
                <a:ea typeface="微软雅黑" panose="020B0503020204020204" pitchFamily="34" charset="-122"/>
              </a:rPr>
              <a:t>事项</a:t>
            </a:r>
            <a:endParaRPr lang="zh-CN"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464945" y="3067050"/>
            <a:ext cx="9259570" cy="1938020"/>
          </a:xfrm>
          <a:prstGeom prst="rect">
            <a:avLst/>
          </a:prstGeom>
          <a:noFill/>
        </p:spPr>
        <p:txBody>
          <a:bodyPr wrap="square" rtlCol="0">
            <a:spAutoFit/>
          </a:bodyPr>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（1）</a:t>
            </a:r>
            <a:r>
              <a:rPr lang="zh-CN" altLang="zh-CN" sz="2000" dirty="0">
                <a:solidFill>
                  <a:srgbClr val="1369B2"/>
                </a:solidFill>
                <a:latin typeface="微软雅黑" panose="020B0503020204020204" pitchFamily="34" charset="-122"/>
                <a:ea typeface="微软雅黑" panose="020B0503020204020204" pitchFamily="34" charset="-122"/>
                <a:cs typeface="+mn-ea"/>
              </a:rPr>
              <a:t>访问权限修饰符</a:t>
            </a:r>
            <a:r>
              <a:rPr lang="zh-CN" altLang="zh-CN" sz="2000" dirty="0">
                <a:solidFill>
                  <a:srgbClr val="595959"/>
                </a:solidFill>
                <a:latin typeface="微软雅黑" panose="020B0503020204020204" pitchFamily="34" charset="-122"/>
                <a:ea typeface="微软雅黑" panose="020B0503020204020204" pitchFamily="34" charset="-122"/>
                <a:cs typeface="+mn-ea"/>
              </a:rPr>
              <a:t>(包括private、public、protected)、static和 final都必须</a:t>
            </a:r>
            <a:r>
              <a:rPr lang="zh-CN" altLang="zh-CN" sz="2000" dirty="0">
                <a:solidFill>
                  <a:srgbClr val="1369B2"/>
                </a:solidFill>
                <a:latin typeface="微软雅黑" panose="020B0503020204020204" pitchFamily="34" charset="-122"/>
                <a:ea typeface="微软雅黑" panose="020B0503020204020204" pitchFamily="34" charset="-122"/>
                <a:cs typeface="+mn-ea"/>
              </a:rPr>
              <a:t>写在类型形参列表的前面</a:t>
            </a:r>
            <a:r>
              <a:rPr lang="zh-CN"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（2）</a:t>
            </a:r>
            <a:r>
              <a:rPr lang="zh-CN" altLang="zh-CN" sz="2000" dirty="0">
                <a:solidFill>
                  <a:srgbClr val="1369B2"/>
                </a:solidFill>
                <a:latin typeface="微软雅黑" panose="020B0503020204020204" pitchFamily="34" charset="-122"/>
                <a:ea typeface="微软雅黑" panose="020B0503020204020204" pitchFamily="34" charset="-122"/>
                <a:cs typeface="+mn-ea"/>
              </a:rPr>
              <a:t>返回值类型</a:t>
            </a:r>
            <a:r>
              <a:rPr lang="zh-CN" altLang="zh-CN" sz="2000" dirty="0">
                <a:solidFill>
                  <a:srgbClr val="595959"/>
                </a:solidFill>
                <a:latin typeface="微软雅黑" panose="020B0503020204020204" pitchFamily="34" charset="-122"/>
                <a:ea typeface="微软雅黑" panose="020B0503020204020204" pitchFamily="34" charset="-122"/>
                <a:cs typeface="+mn-ea"/>
              </a:rPr>
              <a:t>必须</a:t>
            </a:r>
            <a:r>
              <a:rPr lang="zh-CN" altLang="zh-CN" sz="2000" dirty="0">
                <a:solidFill>
                  <a:srgbClr val="1369B2"/>
                </a:solidFill>
                <a:latin typeface="微软雅黑" panose="020B0503020204020204" pitchFamily="34" charset="-122"/>
                <a:ea typeface="微软雅黑" panose="020B0503020204020204" pitchFamily="34" charset="-122"/>
                <a:cs typeface="+mn-ea"/>
              </a:rPr>
              <a:t>写在类型形参列表的后面</a:t>
            </a:r>
            <a:r>
              <a:rPr lang="zh-CN"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（3）泛型方法可以在泛型类中，也可以在普通类中。</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8.4.1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泛型方法的概述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custDataLst>
              <p:tags r:id="rId1"/>
            </p:custDataLst>
          </p:nvPr>
        </p:nvSpPr>
        <p:spPr>
          <a:xfrm>
            <a:off x="1143635" y="1329055"/>
            <a:ext cx="344170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469014"/>
            <a:ext cx="2722880"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rPr>
              <a:t>定义泛型方法注意</a:t>
            </a:r>
            <a:r>
              <a:rPr lang="zh-CN" sz="2000" dirty="0" smtClean="0">
                <a:solidFill>
                  <a:srgbClr val="1369B2"/>
                </a:solidFill>
                <a:latin typeface="微软雅黑" panose="020B0503020204020204" pitchFamily="34" charset="-122"/>
                <a:ea typeface="微软雅黑" panose="020B0503020204020204" pitchFamily="34" charset="-122"/>
              </a:rPr>
              <a:t>事项</a:t>
            </a:r>
            <a:endParaRPr lang="zh-CN"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464945" y="2954655"/>
            <a:ext cx="9259570" cy="2399665"/>
          </a:xfrm>
          <a:prstGeom prst="rect">
            <a:avLst/>
          </a:prstGeom>
          <a:noFill/>
        </p:spPr>
        <p:txBody>
          <a:bodyPr wrap="square" rtlCol="0">
            <a:spAutoFit/>
          </a:bodyPr>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（4）泛型类中的任何方法本质上都是泛型方法，所以在实际使用中很少会在泛型类中再用上面的形式来定义泛型方法。</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（5）</a:t>
            </a:r>
            <a:r>
              <a:rPr lang="zh-CN" altLang="zh-CN" sz="2000" dirty="0">
                <a:solidFill>
                  <a:srgbClr val="1369B2"/>
                </a:solidFill>
                <a:latin typeface="微软雅黑" panose="020B0503020204020204" pitchFamily="34" charset="-122"/>
                <a:ea typeface="微软雅黑" panose="020B0503020204020204" pitchFamily="34" charset="-122"/>
                <a:cs typeface="+mn-ea"/>
              </a:rPr>
              <a:t>类型形参</a:t>
            </a:r>
            <a:r>
              <a:rPr lang="zh-CN" altLang="zh-CN" sz="2000" dirty="0">
                <a:solidFill>
                  <a:srgbClr val="595959"/>
                </a:solidFill>
                <a:latin typeface="微软雅黑" panose="020B0503020204020204" pitchFamily="34" charset="-122"/>
                <a:ea typeface="微软雅黑" panose="020B0503020204020204" pitchFamily="34" charset="-122"/>
                <a:cs typeface="+mn-ea"/>
              </a:rPr>
              <a:t>可以用</a:t>
            </a:r>
            <a:r>
              <a:rPr lang="zh-CN" altLang="zh-CN" sz="2000" dirty="0">
                <a:solidFill>
                  <a:srgbClr val="1369B2"/>
                </a:solidFill>
                <a:latin typeface="微软雅黑" panose="020B0503020204020204" pitchFamily="34" charset="-122"/>
                <a:ea typeface="微软雅黑" panose="020B0503020204020204" pitchFamily="34" charset="-122"/>
                <a:cs typeface="+mn-ea"/>
              </a:rPr>
              <a:t>在方法体中修饰局部变量</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也可以修饰方法的返回值</a:t>
            </a:r>
            <a:r>
              <a:rPr lang="zh-CN"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（6）</a:t>
            </a:r>
            <a:r>
              <a:rPr lang="zh-CN" altLang="zh-CN" sz="2000" dirty="0">
                <a:solidFill>
                  <a:srgbClr val="1369B2"/>
                </a:solidFill>
                <a:latin typeface="微软雅黑" panose="020B0503020204020204" pitchFamily="34" charset="-122"/>
                <a:ea typeface="微软雅黑" panose="020B0503020204020204" pitchFamily="34" charset="-122"/>
                <a:cs typeface="+mn-ea"/>
              </a:rPr>
              <a:t>泛型方法</a:t>
            </a:r>
            <a:r>
              <a:rPr lang="zh-CN" altLang="zh-CN" sz="2000" dirty="0">
                <a:solidFill>
                  <a:srgbClr val="595959"/>
                </a:solidFill>
                <a:latin typeface="微软雅黑" panose="020B0503020204020204" pitchFamily="34" charset="-122"/>
                <a:ea typeface="微软雅黑" panose="020B0503020204020204" pitchFamily="34" charset="-122"/>
                <a:cs typeface="+mn-ea"/>
              </a:rPr>
              <a:t>可以是</a:t>
            </a:r>
            <a:r>
              <a:rPr lang="zh-CN" altLang="zh-CN" sz="2000" dirty="0">
                <a:solidFill>
                  <a:srgbClr val="1369B2"/>
                </a:solidFill>
                <a:latin typeface="微软雅黑" panose="020B0503020204020204" pitchFamily="34" charset="-122"/>
                <a:ea typeface="微软雅黑" panose="020B0503020204020204" pitchFamily="34" charset="-122"/>
                <a:cs typeface="+mn-ea"/>
              </a:rPr>
              <a:t>实例方法</a:t>
            </a:r>
            <a:r>
              <a:rPr lang="zh-CN" altLang="zh-CN" sz="2000" dirty="0">
                <a:solidFill>
                  <a:srgbClr val="595959"/>
                </a:solidFill>
                <a:latin typeface="微软雅黑" panose="020B0503020204020204" pitchFamily="34" charset="-122"/>
                <a:ea typeface="微软雅黑" panose="020B0503020204020204" pitchFamily="34" charset="-122"/>
                <a:cs typeface="+mn-ea"/>
              </a:rPr>
              <a:t>（没有用static修饰，也叫非静态方法）也可以是</a:t>
            </a:r>
            <a:r>
              <a:rPr lang="zh-CN" altLang="zh-CN" sz="2000" dirty="0">
                <a:solidFill>
                  <a:srgbClr val="1369B2"/>
                </a:solidFill>
                <a:latin typeface="微软雅黑" panose="020B0503020204020204" pitchFamily="34" charset="-122"/>
                <a:ea typeface="微软雅黑" panose="020B0503020204020204" pitchFamily="34" charset="-122"/>
                <a:cs typeface="+mn-ea"/>
              </a:rPr>
              <a:t>静态方法</a:t>
            </a:r>
            <a:r>
              <a:rPr lang="zh-CN"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8.4.1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泛型方法的概述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8.4.2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泛型方法的应用</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altLang="en-US" sz="2000" dirty="0">
                  <a:solidFill>
                    <a:srgbClr val="1369B2"/>
                  </a:solidFill>
                  <a:latin typeface="微软雅黑" panose="020B0503020204020204" pitchFamily="34" charset="-122"/>
                  <a:ea typeface="微软雅黑" panose="020B0503020204020204" pitchFamily="34" charset="-122"/>
                  <a:cs typeface="+mn-ea"/>
                  <a:sym typeface="+mn-ea"/>
                </a:rPr>
                <a:t>泛型方法的应用</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，能够独立定义并使用泛型方法</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8.4.2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泛型方法的应用</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4" name="Chevron 3"/>
          <p:cNvSpPr/>
          <p:nvPr>
            <p:custDataLst>
              <p:tags r:id="rId1"/>
            </p:custDataLst>
          </p:nvPr>
        </p:nvSpPr>
        <p:spPr>
          <a:xfrm>
            <a:off x="1143635" y="1105535"/>
            <a:ext cx="355346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5" name="文本框 14"/>
          <p:cNvSpPr txBox="1"/>
          <p:nvPr/>
        </p:nvSpPr>
        <p:spPr>
          <a:xfrm>
            <a:off x="1486068" y="1245494"/>
            <a:ext cx="2976880" cy="398780"/>
          </a:xfrm>
          <a:prstGeom prst="rect">
            <a:avLst/>
          </a:prstGeom>
          <a:noFill/>
        </p:spPr>
        <p:txBody>
          <a:bodyPr wrap="none" rtlCol="0">
            <a:spAutoFit/>
          </a:bodyPr>
          <a:p>
            <a:pPr algn="l"/>
            <a:r>
              <a:rPr lang="zh-CN" altLang="en-US" sz="2000" dirty="0" smtClean="0">
                <a:solidFill>
                  <a:srgbClr val="1369B2"/>
                </a:solidFill>
                <a:latin typeface="微软雅黑" panose="020B0503020204020204" pitchFamily="34" charset="-122"/>
                <a:ea typeface="微软雅黑" panose="020B0503020204020204" pitchFamily="34" charset="-122"/>
                <a:sym typeface="+mn-ea"/>
              </a:rPr>
              <a:t>泛型方法的两种使用方式</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16" name="文本框 15"/>
          <p:cNvSpPr txBox="1"/>
          <p:nvPr/>
        </p:nvSpPr>
        <p:spPr>
          <a:xfrm>
            <a:off x="1144905" y="2333625"/>
            <a:ext cx="1993900" cy="553085"/>
          </a:xfrm>
          <a:prstGeom prst="rect">
            <a:avLst/>
          </a:prstGeom>
          <a:noFill/>
        </p:spPr>
        <p:txBody>
          <a:bodyPr wrap="square" rtlCol="0">
            <a:spAutoFit/>
          </a:bodyPr>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方式一如下：</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7" name="矩形 16"/>
          <p:cNvSpPr/>
          <p:nvPr/>
        </p:nvSpPr>
        <p:spPr>
          <a:xfrm>
            <a:off x="3006090" y="2950845"/>
            <a:ext cx="6178550" cy="95758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对象名|类名.&lt;类型实参&gt;方法名（类型实参列表）;</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 name="文本框 17"/>
          <p:cNvSpPr txBox="1"/>
          <p:nvPr/>
        </p:nvSpPr>
        <p:spPr>
          <a:xfrm>
            <a:off x="1144905" y="4175125"/>
            <a:ext cx="1993900" cy="553085"/>
          </a:xfrm>
          <a:prstGeom prst="rect">
            <a:avLst/>
          </a:prstGeom>
          <a:noFill/>
        </p:spPr>
        <p:txBody>
          <a:bodyPr wrap="square" rtlCol="0">
            <a:spAutoFit/>
          </a:bodyPr>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方式</a:t>
            </a:r>
            <a:r>
              <a:rPr lang="zh-CN" sz="2000" dirty="0">
                <a:solidFill>
                  <a:srgbClr val="595959"/>
                </a:solidFill>
                <a:latin typeface="微软雅黑" panose="020B0503020204020204" pitchFamily="34" charset="-122"/>
                <a:ea typeface="微软雅黑" panose="020B0503020204020204" pitchFamily="34" charset="-122"/>
                <a:cs typeface="+mn-ea"/>
              </a:rPr>
              <a:t>二</a:t>
            </a:r>
            <a:r>
              <a:rPr sz="2000" dirty="0">
                <a:solidFill>
                  <a:srgbClr val="595959"/>
                </a:solidFill>
                <a:latin typeface="微软雅黑" panose="020B0503020204020204" pitchFamily="34" charset="-122"/>
                <a:ea typeface="微软雅黑" panose="020B0503020204020204" pitchFamily="34" charset="-122"/>
                <a:cs typeface="+mn-ea"/>
              </a:rPr>
              <a:t>如下：</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9" name="矩形 18"/>
          <p:cNvSpPr/>
          <p:nvPr/>
        </p:nvSpPr>
        <p:spPr>
          <a:xfrm>
            <a:off x="3005455" y="4728210"/>
            <a:ext cx="6178550" cy="95758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对象名|类名.方法名（类型实参列表）;</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custDataLst>
              <p:tags r:id="rId1"/>
            </p:custDataLst>
          </p:nvPr>
        </p:nvSpPr>
        <p:spPr>
          <a:xfrm>
            <a:off x="1143635" y="1105535"/>
            <a:ext cx="355346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245494"/>
            <a:ext cx="2976880" cy="398780"/>
          </a:xfrm>
          <a:prstGeom prst="rect">
            <a:avLst/>
          </a:prstGeom>
          <a:noFill/>
        </p:spPr>
        <p:txBody>
          <a:bodyPr wrap="none" rtlCol="0">
            <a:spAutoFit/>
          </a:bodyPr>
          <a:lstStyle/>
          <a:p>
            <a:pPr algn="l"/>
            <a:r>
              <a:rPr lang="zh-CN" sz="2000" dirty="0" smtClean="0">
                <a:solidFill>
                  <a:srgbClr val="1369B2"/>
                </a:solidFill>
                <a:latin typeface="微软雅黑" panose="020B0503020204020204" pitchFamily="34" charset="-122"/>
                <a:ea typeface="微软雅黑" panose="020B0503020204020204" pitchFamily="34" charset="-122"/>
                <a:sym typeface="+mn-ea"/>
              </a:rPr>
              <a:t>两种调用泛型方法的差别</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2" name="文本框 1"/>
          <p:cNvSpPr txBox="1"/>
          <p:nvPr/>
        </p:nvSpPr>
        <p:spPr>
          <a:xfrm>
            <a:off x="1236345" y="1998980"/>
            <a:ext cx="9718040" cy="2861310"/>
          </a:xfrm>
          <a:prstGeom prst="rect">
            <a:avLst/>
          </a:prstGeom>
          <a:noFill/>
        </p:spPr>
        <p:txBody>
          <a:bodyPr wrap="square" rtlCol="0">
            <a:spAutoFit/>
          </a:bodyPr>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如果</a:t>
            </a:r>
            <a:r>
              <a:rPr sz="2000" dirty="0">
                <a:solidFill>
                  <a:srgbClr val="1369B2"/>
                </a:solidFill>
                <a:latin typeface="微软雅黑" panose="020B0503020204020204" pitchFamily="34" charset="-122"/>
                <a:ea typeface="微软雅黑" panose="020B0503020204020204" pitchFamily="34" charset="-122"/>
                <a:cs typeface="+mn-ea"/>
              </a:rPr>
              <a:t>泛型方法</a:t>
            </a:r>
            <a:r>
              <a:rPr sz="2000" dirty="0">
                <a:solidFill>
                  <a:srgbClr val="595959"/>
                </a:solidFill>
                <a:latin typeface="微软雅黑" panose="020B0503020204020204" pitchFamily="34" charset="-122"/>
                <a:ea typeface="微软雅黑" panose="020B0503020204020204" pitchFamily="34" charset="-122"/>
                <a:cs typeface="+mn-ea"/>
              </a:rPr>
              <a:t>是</a:t>
            </a:r>
            <a:r>
              <a:rPr sz="2000" dirty="0">
                <a:solidFill>
                  <a:srgbClr val="1369B2"/>
                </a:solidFill>
                <a:latin typeface="微软雅黑" panose="020B0503020204020204" pitchFamily="34" charset="-122"/>
                <a:ea typeface="微软雅黑" panose="020B0503020204020204" pitchFamily="34" charset="-122"/>
                <a:cs typeface="+mn-ea"/>
              </a:rPr>
              <a:t>实例方法</a:t>
            </a:r>
            <a:r>
              <a:rPr sz="2000" dirty="0">
                <a:solidFill>
                  <a:srgbClr val="595959"/>
                </a:solidFill>
                <a:latin typeface="微软雅黑" panose="020B0503020204020204" pitchFamily="34" charset="-122"/>
                <a:ea typeface="微软雅黑" panose="020B0503020204020204" pitchFamily="34" charset="-122"/>
                <a:cs typeface="+mn-ea"/>
              </a:rPr>
              <a:t>，则需要使用对象名进行调用；如果泛型方法是</a:t>
            </a:r>
            <a:r>
              <a:rPr sz="2000" dirty="0">
                <a:solidFill>
                  <a:srgbClr val="1369B2"/>
                </a:solidFill>
                <a:latin typeface="微软雅黑" panose="020B0503020204020204" pitchFamily="34" charset="-122"/>
                <a:ea typeface="微软雅黑" panose="020B0503020204020204" pitchFamily="34" charset="-122"/>
                <a:cs typeface="+mn-ea"/>
              </a:rPr>
              <a:t>静态方法</a:t>
            </a:r>
            <a:r>
              <a:rPr sz="2000" dirty="0">
                <a:solidFill>
                  <a:srgbClr val="595959"/>
                </a:solidFill>
                <a:latin typeface="微软雅黑" panose="020B0503020204020204" pitchFamily="34" charset="-122"/>
                <a:ea typeface="微软雅黑" panose="020B0503020204020204" pitchFamily="34" charset="-122"/>
                <a:cs typeface="+mn-ea"/>
              </a:rPr>
              <a:t>，可以使用类名进行调用。</a:t>
            </a:r>
            <a:endParaRPr sz="2000" dirty="0">
              <a:solidFill>
                <a:srgbClr val="595959"/>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两种调用泛型方法的差别在于，方法名之前是否显式地指定了</a:t>
            </a:r>
            <a:r>
              <a:rPr sz="2000" dirty="0">
                <a:solidFill>
                  <a:srgbClr val="1369B2"/>
                </a:solidFill>
                <a:latin typeface="微软雅黑" panose="020B0503020204020204" pitchFamily="34" charset="-122"/>
                <a:ea typeface="微软雅黑" panose="020B0503020204020204" pitchFamily="34" charset="-122"/>
                <a:cs typeface="+mn-ea"/>
              </a:rPr>
              <a:t>类型实参</a:t>
            </a:r>
            <a:r>
              <a:rPr sz="2000" dirty="0">
                <a:solidFill>
                  <a:srgbClr val="595959"/>
                </a:solidFill>
                <a:latin typeface="微软雅黑" panose="020B0503020204020204" pitchFamily="34" charset="-122"/>
                <a:ea typeface="微软雅黑" panose="020B0503020204020204" pitchFamily="34" charset="-122"/>
                <a:cs typeface="+mn-ea"/>
              </a:rPr>
              <a:t>。调用时是否需要显式地指定了类型实参，要根据泛型方法的声明形式，以及调用时编译器能否从实际参数表中获得足够的类型信息决定，如果编译器能够根据实际参数推断出参数类型，就可以不指定类型实参，反之则需要指定类型实参。</a:t>
            </a:r>
            <a:endParaRPr sz="2000" dirty="0">
              <a:solidFill>
                <a:srgbClr val="595959"/>
              </a:solidFill>
              <a:latin typeface="微软雅黑" panose="020B0503020204020204" pitchFamily="34" charset="-122"/>
              <a:ea typeface="微软雅黑" panose="020B0503020204020204" pitchFamily="34" charset="-122"/>
              <a:cs typeface="+mn-ea"/>
            </a:endParaRPr>
          </a:p>
        </p:txBody>
      </p:sp>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8.4.2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泛型方法的应用</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8.4.2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泛型方法的应用</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143635" y="1111250"/>
            <a:ext cx="435356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414145" y="1245235"/>
            <a:ext cx="3909695" cy="398780"/>
          </a:xfrm>
          <a:prstGeom prst="rect">
            <a:avLst/>
          </a:prstGeom>
          <a:noFill/>
        </p:spPr>
        <p:txBody>
          <a:bodyPr wrap="square" rtlCol="0">
            <a:spAutoFit/>
          </a:bodyPr>
          <a:p>
            <a:pPr algn="l"/>
            <a:r>
              <a:rPr lang="zh-CN" sz="2000" dirty="0" smtClean="0">
                <a:solidFill>
                  <a:srgbClr val="1369B2"/>
                </a:solidFill>
                <a:latin typeface="微软雅黑" panose="020B0503020204020204" pitchFamily="34" charset="-122"/>
                <a:ea typeface="微软雅黑" panose="020B0503020204020204" pitchFamily="34" charset="-122"/>
                <a:sym typeface="+mn-ea"/>
              </a:rPr>
              <a:t>案例演示泛型方法的定义与使用</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1706880" y="2922270"/>
            <a:ext cx="8775700" cy="553085"/>
          </a:xfrm>
          <a:prstGeom prst="rect">
            <a:avLst/>
          </a:prstGeom>
          <a:noFill/>
        </p:spPr>
        <p:txBody>
          <a:bodyPr wrap="square" rtlCol="0">
            <a:spAutoFit/>
          </a:bodyPr>
          <a:p>
            <a:pPr>
              <a:lnSpc>
                <a:spcPct val="150000"/>
              </a:lnSpc>
              <a:buClrTx/>
              <a:buSzTx/>
              <a:buNone/>
            </a:pPr>
            <a:r>
              <a:rPr altLang="zh-CN" sz="2000" dirty="0">
                <a:solidFill>
                  <a:srgbClr val="595959"/>
                </a:solidFill>
                <a:latin typeface="微软雅黑" panose="020B0503020204020204" pitchFamily="34" charset="-122"/>
                <a:ea typeface="微软雅黑" panose="020B0503020204020204" pitchFamily="34" charset="-122"/>
                <a:cs typeface="+mn-ea"/>
                <a:sym typeface="+mn-ea"/>
              </a:rPr>
              <a:t>下面通过一个案例，演示泛型方法的定义与使用</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具体步骤如下。</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8.4.2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泛型方法的应用</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133090" y="1155065"/>
            <a:ext cx="7961630" cy="553085"/>
          </a:xfrm>
          <a:prstGeom prst="rect">
            <a:avLst/>
          </a:prstGeom>
          <a:noFill/>
        </p:spPr>
        <p:txBody>
          <a:bodyPr wrap="square" rtlCol="0">
            <a:spAutoFit/>
          </a:bodyPr>
          <a:p>
            <a:pPr algn="l" fontAlgn="auto">
              <a:lnSpc>
                <a:spcPct val="150000"/>
              </a:lnSpc>
            </a:pPr>
            <a:r>
              <a:rPr altLang="zh-CN" sz="2000" dirty="0">
                <a:solidFill>
                  <a:srgbClr val="595959"/>
                </a:solidFill>
                <a:latin typeface="微软雅黑" panose="020B0503020204020204" pitchFamily="34" charset="-122"/>
                <a:ea typeface="微软雅黑" panose="020B0503020204020204" pitchFamily="34" charset="-122"/>
                <a:cs typeface="+mn-ea"/>
              </a:rPr>
              <a:t>下面通过一个案例，演示泛型方法的定义与使用</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2" name="图片 11"/>
          <p:cNvPicPr>
            <a:picLocks noChangeAspect="1"/>
          </p:cNvPicPr>
          <p:nvPr/>
        </p:nvPicPr>
        <p:blipFill>
          <a:blip r:embed="rId2"/>
          <a:stretch>
            <a:fillRect/>
          </a:stretch>
        </p:blipFill>
        <p:spPr>
          <a:xfrm>
            <a:off x="3119755" y="2927350"/>
            <a:ext cx="5922645" cy="2553335"/>
          </a:xfrm>
          <a:prstGeom prst="rect">
            <a:avLst/>
          </a:prstGeom>
        </p:spPr>
      </p:pic>
      <p:sp>
        <p:nvSpPr>
          <p:cNvPr id="6" name="矩形 5"/>
          <p:cNvSpPr/>
          <p:nvPr/>
        </p:nvSpPr>
        <p:spPr>
          <a:xfrm>
            <a:off x="3641725" y="2927350"/>
            <a:ext cx="4878070" cy="2553335"/>
          </a:xfrm>
          <a:prstGeom prst="rect">
            <a:avLst/>
          </a:prstGeom>
        </p:spPr>
        <p:txBody>
          <a:bodyPr wrap="square">
            <a:spAutoFit/>
          </a:bodyPr>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class Student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 静态泛型方法</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public static &lt;T&gt; void staticMethod(T t)</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System.out.println(t + "..." + t.getClass());</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 普通泛型方法</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public &lt;T&gt; void otherMethod(T t) </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System.out.println(t + "..." + t.getClass());</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1143000" y="2072005"/>
            <a:ext cx="9625965" cy="506730"/>
          </a:xfrm>
          <a:prstGeom prst="rect">
            <a:avLst/>
          </a:prstGeom>
          <a:noFill/>
        </p:spPr>
        <p:txBody>
          <a:bodyPr wrap="square" rtlCol="0">
            <a:spAutoFit/>
          </a:bodyPr>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步骤一：</a:t>
            </a:r>
            <a:r>
              <a:rPr lang="zh-CN" sz="1800" dirty="0">
                <a:solidFill>
                  <a:srgbClr val="595959"/>
                </a:solidFill>
                <a:latin typeface="微软雅黑" panose="020B0503020204020204" pitchFamily="34" charset="-122"/>
                <a:ea typeface="微软雅黑" panose="020B0503020204020204" pitchFamily="34" charset="-122"/>
                <a:cs typeface="+mn-ea"/>
              </a:rPr>
              <a:t>定义</a:t>
            </a:r>
            <a:r>
              <a:rPr lang="en-US" altLang="zh-CN" sz="1800" dirty="0">
                <a:solidFill>
                  <a:srgbClr val="595959"/>
                </a:solidFill>
                <a:latin typeface="微软雅黑" panose="020B0503020204020204" pitchFamily="34" charset="-122"/>
                <a:ea typeface="微软雅黑" panose="020B0503020204020204" pitchFamily="34" charset="-122"/>
                <a:cs typeface="+mn-ea"/>
              </a:rPr>
              <a:t>Student</a:t>
            </a:r>
            <a:r>
              <a:rPr lang="zh-CN" altLang="en-US" sz="1800" dirty="0">
                <a:solidFill>
                  <a:srgbClr val="595959"/>
                </a:solidFill>
                <a:latin typeface="微软雅黑" panose="020B0503020204020204" pitchFamily="34" charset="-122"/>
                <a:ea typeface="微软雅黑" panose="020B0503020204020204" pitchFamily="34" charset="-122"/>
                <a:cs typeface="+mn-ea"/>
              </a:rPr>
              <a:t>类，在类中定义一个静态泛型方法和一个普通泛型方法。</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8.4.2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泛型方法的应用</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2358390" y="2228850"/>
            <a:ext cx="7325995" cy="3415030"/>
          </a:xfrm>
          <a:prstGeom prst="rect">
            <a:avLst/>
          </a:prstGeom>
        </p:spPr>
      </p:pic>
      <p:sp>
        <p:nvSpPr>
          <p:cNvPr id="6" name="矩形 5"/>
          <p:cNvSpPr/>
          <p:nvPr/>
        </p:nvSpPr>
        <p:spPr>
          <a:xfrm>
            <a:off x="2652395" y="2290445"/>
            <a:ext cx="6738620" cy="3291840"/>
          </a:xfrm>
          <a:prstGeom prst="rect">
            <a:avLst/>
          </a:prstGeom>
        </p:spPr>
        <p:txBody>
          <a:bodyPr wrap="square">
            <a:spAutoFit/>
          </a:bodyPr>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Example07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2"/>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使用方式一调用静态的泛型方法</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2"/>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Student.staticMethod("staticMethod");</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lvl="2"/>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使用方式二调用静态的泛型方法</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2" algn="l">
              <a:buClrTx/>
              <a:buSzTx/>
              <a:buFontTx/>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 Student.&lt;String&gt;staticMethod("staticMethod");</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lvl="2"/>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Student stu = new Student();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2"/>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使用方式一调用普通的泛型方法</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2" algn="l">
              <a:buClrTx/>
              <a:buSzTx/>
              <a:buFontTx/>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 stu.otherMethod(666);</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lvl="2"/>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使用方式二调用普通的泛型方法</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2" algn="l">
              <a:buClrTx/>
              <a:buSzTx/>
              <a:buFontTx/>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 stu.&lt;Integer&gt;otherMethod(666);</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lvl="2" algn="l">
              <a:buClrTx/>
              <a:buSzTx/>
              <a:buFontTx/>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1143000" y="1282700"/>
            <a:ext cx="6826250" cy="506730"/>
          </a:xfrm>
          <a:prstGeom prst="rect">
            <a:avLst/>
          </a:prstGeom>
          <a:noFill/>
        </p:spPr>
        <p:txBody>
          <a:bodyPr wrap="square" rtlCol="0">
            <a:spAutoFit/>
          </a:bodyPr>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步骤二：</a:t>
            </a:r>
            <a:r>
              <a:rPr lang="zh-CN" sz="1800" dirty="0">
                <a:solidFill>
                  <a:srgbClr val="595959"/>
                </a:solidFill>
                <a:latin typeface="微软雅黑" panose="020B0503020204020204" pitchFamily="34" charset="-122"/>
                <a:ea typeface="微软雅黑" panose="020B0503020204020204" pitchFamily="34" charset="-122"/>
                <a:cs typeface="+mn-ea"/>
              </a:rPr>
              <a:t>定义</a:t>
            </a:r>
            <a:r>
              <a:rPr lang="en-US" altLang="zh-CN" sz="1800" dirty="0">
                <a:solidFill>
                  <a:srgbClr val="595959"/>
                </a:solidFill>
                <a:latin typeface="微软雅黑" panose="020B0503020204020204" pitchFamily="34" charset="-122"/>
                <a:ea typeface="微软雅黑" panose="020B0503020204020204" pitchFamily="34" charset="-122"/>
                <a:cs typeface="+mn-ea"/>
              </a:rPr>
              <a:t>main()</a:t>
            </a:r>
            <a:r>
              <a:rPr lang="zh-CN" altLang="en-US" sz="1800" dirty="0">
                <a:solidFill>
                  <a:srgbClr val="595959"/>
                </a:solidFill>
                <a:latin typeface="微软雅黑" panose="020B0503020204020204" pitchFamily="34" charset="-122"/>
                <a:ea typeface="微软雅黑" panose="020B0503020204020204" pitchFamily="34" charset="-122"/>
                <a:cs typeface="+mn-ea"/>
              </a:rPr>
              <a:t>方法，调用方法测试结果</a:t>
            </a:r>
            <a:r>
              <a:rPr sz="1800" dirty="0">
                <a:solidFill>
                  <a:srgbClr val="595959"/>
                </a:solidFill>
                <a:latin typeface="微软雅黑" panose="020B0503020204020204" pitchFamily="34" charset="-122"/>
                <a:ea typeface="微软雅黑" panose="020B0503020204020204" pitchFamily="34" charset="-122"/>
                <a:cs typeface="+mn-ea"/>
                <a:sym typeface="+mn-ea"/>
              </a:rPr>
              <a:t>。</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8.4.2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泛型方法的应用</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5107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706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509010" y="1106170"/>
            <a:ext cx="5516880" cy="553085"/>
          </a:xfrm>
          <a:prstGeom prst="rect">
            <a:avLst/>
          </a:prstGeom>
          <a:noFill/>
        </p:spPr>
        <p:txBody>
          <a:bodyPr wrap="none" rtlCol="0">
            <a:spAutoFit/>
          </a:bodyPr>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2"/>
          <a:stretch>
            <a:fillRect/>
          </a:stretch>
        </p:blipFill>
        <p:spPr>
          <a:xfrm>
            <a:off x="3583305" y="2349183"/>
            <a:ext cx="5023612" cy="2160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8.4.2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泛型方法的应用</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Chevron 3"/>
          <p:cNvSpPr/>
          <p:nvPr>
            <p:custDataLst>
              <p:tags r:id="rId1"/>
            </p:custDataLst>
          </p:nvPr>
        </p:nvSpPr>
        <p:spPr>
          <a:xfrm>
            <a:off x="1143635" y="1329055"/>
            <a:ext cx="28117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414313" y="1469014"/>
            <a:ext cx="2214880" cy="398780"/>
          </a:xfrm>
          <a:prstGeom prst="rect">
            <a:avLst/>
          </a:prstGeom>
          <a:noFill/>
        </p:spPr>
        <p:txBody>
          <a:bodyPr wrap="none" rtlCol="0">
            <a:spAutoFit/>
          </a:bodyPr>
          <a:lstStyle/>
          <a:p>
            <a:pPr algn="l"/>
            <a:r>
              <a:rPr lang="zh-CN" sz="2000" dirty="0" smtClean="0">
                <a:solidFill>
                  <a:srgbClr val="1369B2"/>
                </a:solidFill>
                <a:latin typeface="微软雅黑" panose="020B0503020204020204" pitchFamily="34" charset="-122"/>
                <a:ea typeface="微软雅黑" panose="020B0503020204020204" pitchFamily="34" charset="-122"/>
              </a:rPr>
              <a:t>案例运行结果分析</a:t>
            </a:r>
            <a:endParaRPr lang="zh-CN" sz="2000" dirty="0" smtClean="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464945" y="2632710"/>
            <a:ext cx="9259570" cy="2861310"/>
          </a:xfrm>
          <a:prstGeom prst="rect">
            <a:avLst/>
          </a:prstGeom>
          <a:noFill/>
        </p:spPr>
        <p:txBody>
          <a:bodyPr wrap="square" rtlCol="0">
            <a:spAutoFit/>
          </a:bodyPr>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从运行结果图可以得出，案例中第14行代码和第16行代码执行结果一样，第19行代码和第21行代码执行结果一样。说明泛型方法可以在非泛型类中定义，并且在调用泛型方法的时候确定泛型的具体类型 。上述结果中虽然使用方式一和方式二的输出结果一致，但是方式一隐式的传入类型实参，不能直观的查看到调用的方法是泛型方法，不利于代码的阅读和维护，通常建议使用第二种方式调用泛型方法。</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9" name="圆角矩形 8"/>
          <p:cNvSpPr/>
          <p:nvPr/>
        </p:nvSpPr>
        <p:spPr>
          <a:xfrm>
            <a:off x="1163320" y="2316480"/>
            <a:ext cx="9864090" cy="333756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0" name="矩形 93"/>
          <p:cNvSpPr/>
          <p:nvPr/>
        </p:nvSpPr>
        <p:spPr>
          <a:xfrm>
            <a:off x="1163320" y="231648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1" name="矩形 93"/>
          <p:cNvSpPr/>
          <p:nvPr/>
        </p:nvSpPr>
        <p:spPr>
          <a:xfrm rot="10800000">
            <a:off x="10643235" y="516763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5005186" cy="829945"/>
          </a:xfrm>
          <a:prstGeom prst="rect">
            <a:avLst/>
          </a:prstGeom>
          <a:noFill/>
        </p:spPr>
        <p:txBody>
          <a:bodyPr wrap="square" lIns="91443" tIns="45720" rIns="91443" bIns="45720" rtlCol="0">
            <a:spAutoFit/>
          </a:bodyPr>
          <a:lstStyle/>
          <a:p>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类型通配符</a:t>
            </a:r>
            <a:endParaRPr lang="zh-CN" altLang="en-US"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smtClean="0">
                <a:solidFill>
                  <a:srgbClr val="FAFAFA"/>
                </a:solidFill>
                <a:latin typeface="微软雅黑" panose="020B0503020204020204" pitchFamily="34" charset="-122"/>
                <a:ea typeface="微软雅黑" panose="020B0503020204020204" pitchFamily="34" charset="-122"/>
                <a:cs typeface="+mn-ea"/>
                <a:sym typeface="+mn-lt"/>
              </a:rPr>
              <a:t>8.5</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8.5.1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类型通配符的概述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altLang="en-US" sz="2000" dirty="0">
                  <a:solidFill>
                    <a:srgbClr val="1369B2"/>
                  </a:solidFill>
                  <a:latin typeface="微软雅黑" panose="020B0503020204020204" pitchFamily="34" charset="-122"/>
                  <a:ea typeface="微软雅黑" panose="020B0503020204020204" pitchFamily="34" charset="-122"/>
                  <a:cs typeface="+mn-ea"/>
                  <a:sym typeface="+mn-ea"/>
                </a:rPr>
                <a:t>类型通配符概述</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，能够使用类型通配符接收类型实参</a:t>
              </a:r>
              <a:endPar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custDataLst>
              <p:tags r:id="rId1"/>
            </p:custDataLst>
          </p:nvPr>
        </p:nvSpPr>
        <p:spPr>
          <a:xfrm>
            <a:off x="1143635" y="1329055"/>
            <a:ext cx="28117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14313" y="1469014"/>
            <a:ext cx="246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类型通配符表示方式</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8.5.1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类型通配符的概述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nvSpPr>
        <p:spPr>
          <a:xfrm>
            <a:off x="1143635" y="2421255"/>
            <a:ext cx="9195435" cy="553085"/>
          </a:xfrm>
          <a:prstGeom prst="rect">
            <a:avLst/>
          </a:prstGeom>
          <a:noFill/>
        </p:spPr>
        <p:txBody>
          <a:bodyPr wrap="none" rtlCol="0">
            <a:spAutoFit/>
          </a:bodyPr>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类型通配符使用一个</a:t>
            </a:r>
            <a:r>
              <a:rPr lang="zh-CN" altLang="zh-CN" sz="2000" dirty="0">
                <a:solidFill>
                  <a:srgbClr val="1369B2"/>
                </a:solidFill>
                <a:latin typeface="微软雅黑" panose="020B0503020204020204" pitchFamily="34" charset="-122"/>
                <a:ea typeface="微软雅黑" panose="020B0503020204020204" pitchFamily="34" charset="-122"/>
                <a:cs typeface="+mn-ea"/>
              </a:rPr>
              <a:t>问号（?）</a:t>
            </a:r>
            <a:r>
              <a:rPr lang="zh-CN" altLang="zh-CN" sz="2000" dirty="0">
                <a:solidFill>
                  <a:srgbClr val="595959"/>
                </a:solidFill>
                <a:latin typeface="微软雅黑" panose="020B0503020204020204" pitchFamily="34" charset="-122"/>
                <a:ea typeface="微软雅黑" panose="020B0503020204020204" pitchFamily="34" charset="-122"/>
                <a:cs typeface="+mn-ea"/>
              </a:rPr>
              <a:t>表示，类型通配符可以匹配任何类型的类型实参。</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8.5.1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类型通配符的概述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143635" y="1111250"/>
            <a:ext cx="342582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485900" y="1245235"/>
            <a:ext cx="2768600" cy="398780"/>
          </a:xfrm>
          <a:prstGeom prst="rect">
            <a:avLst/>
          </a:prstGeom>
          <a:noFill/>
        </p:spPr>
        <p:txBody>
          <a:bodyPr wrap="square" rtlCol="0">
            <a:spAutoFit/>
          </a:bodyPr>
          <a:p>
            <a:pPr algn="l"/>
            <a:r>
              <a:rPr lang="zh-CN" sz="2000" dirty="0" smtClean="0">
                <a:solidFill>
                  <a:srgbClr val="1369B2"/>
                </a:solidFill>
                <a:latin typeface="微软雅黑" panose="020B0503020204020204" pitchFamily="34" charset="-122"/>
                <a:ea typeface="微软雅黑" panose="020B0503020204020204" pitchFamily="34" charset="-122"/>
                <a:sym typeface="+mn-ea"/>
              </a:rPr>
              <a:t>案例演示通配符的使用</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1706880" y="2922270"/>
            <a:ext cx="8775700" cy="553085"/>
          </a:xfrm>
          <a:prstGeom prst="rect">
            <a:avLst/>
          </a:prstGeom>
          <a:noFill/>
        </p:spPr>
        <p:txBody>
          <a:bodyPr wrap="square" rtlCol="0">
            <a:spAutoFit/>
          </a:bodyPr>
          <a:p>
            <a:pPr>
              <a:lnSpc>
                <a:spcPct val="150000"/>
              </a:lnSpc>
              <a:buClrTx/>
              <a:buSzTx/>
              <a:buNone/>
            </a:pPr>
            <a:r>
              <a:rPr altLang="zh-CN" sz="2000" dirty="0">
                <a:solidFill>
                  <a:srgbClr val="595959"/>
                </a:solidFill>
                <a:latin typeface="微软雅黑" panose="020B0503020204020204" pitchFamily="34" charset="-122"/>
                <a:ea typeface="微软雅黑" panose="020B0503020204020204" pitchFamily="34" charset="-122"/>
                <a:cs typeface="+mn-ea"/>
                <a:sym typeface="+mn-ea"/>
              </a:rPr>
              <a:t>下面使用一个案例演示类型通配符的使用</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具体步骤如下。</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8.5.1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类型通配符的概述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2976245" y="2353310"/>
            <a:ext cx="5694680" cy="3012440"/>
          </a:xfrm>
          <a:prstGeom prst="rect">
            <a:avLst/>
          </a:prstGeom>
        </p:spPr>
      </p:pic>
      <p:sp>
        <p:nvSpPr>
          <p:cNvPr id="6" name="矩形 5"/>
          <p:cNvSpPr/>
          <p:nvPr/>
        </p:nvSpPr>
        <p:spPr>
          <a:xfrm>
            <a:off x="3888740" y="2428875"/>
            <a:ext cx="4241165" cy="2797175"/>
          </a:xfrm>
          <a:prstGeom prst="rect">
            <a:avLst/>
          </a:prstGeom>
        </p:spPr>
        <p:txBody>
          <a:bodyPr wrap="square">
            <a:spAutoFit/>
          </a:bodyPr>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定义泛型类Person</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class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Person&lt;T&gt;</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private T info;</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Person(T info)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2"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this.info = info;</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marL="762000" lvl="1" indent="0" fontAlgn="auto">
              <a:lnSpc>
                <a:spcPct val="110000"/>
              </a:lnSpc>
              <a:buNone/>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marL="762000" lvl="1" indent="0" fontAlgn="auto">
              <a:lnSpc>
                <a:spcPct val="110000"/>
              </a:lnSpc>
              <a:buNone/>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T getInfo()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2"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return info;</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marL="762000" lvl="1" indent="0" fontAlgn="auto">
              <a:lnSpc>
                <a:spcPct val="110000"/>
              </a:lnSpc>
              <a:buNone/>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1143635" y="1347470"/>
            <a:ext cx="9572625" cy="922020"/>
          </a:xfrm>
          <a:prstGeom prst="rect">
            <a:avLst/>
          </a:prstGeom>
          <a:noFill/>
        </p:spPr>
        <p:txBody>
          <a:bodyPr wrap="square" rtlCol="0">
            <a:spAutoFit/>
          </a:bodyPr>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步骤一：</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定义泛型类Person</a:t>
            </a:r>
            <a:r>
              <a:rPr lang="zh-CN" altLang="en-US" sz="1800" dirty="0">
                <a:solidFill>
                  <a:srgbClr val="595959"/>
                </a:solidFill>
                <a:latin typeface="微软雅黑" panose="020B0503020204020204" pitchFamily="34" charset="-122"/>
                <a:ea typeface="微软雅黑" panose="020B0503020204020204" pitchFamily="34" charset="-122"/>
                <a:cs typeface="+mn-ea"/>
              </a:rPr>
              <a:t>，声明私有变量</a:t>
            </a:r>
            <a:r>
              <a:rPr lang="en-US" altLang="zh-CN" sz="1800" dirty="0">
                <a:solidFill>
                  <a:srgbClr val="595959"/>
                </a:solidFill>
                <a:latin typeface="微软雅黑" panose="020B0503020204020204" pitchFamily="34" charset="-122"/>
                <a:ea typeface="微软雅黑" panose="020B0503020204020204" pitchFamily="34" charset="-122"/>
                <a:cs typeface="+mn-ea"/>
              </a:rPr>
              <a:t>info</a:t>
            </a:r>
            <a:r>
              <a:rPr lang="zh-CN" altLang="en-US" sz="1800" dirty="0">
                <a:solidFill>
                  <a:srgbClr val="595959"/>
                </a:solidFill>
                <a:latin typeface="微软雅黑" panose="020B0503020204020204" pitchFamily="34" charset="-122"/>
                <a:ea typeface="微软雅黑" panose="020B0503020204020204" pitchFamily="34" charset="-122"/>
                <a:cs typeface="+mn-ea"/>
              </a:rPr>
              <a:t>，定义有参构造方法和</a:t>
            </a:r>
            <a:r>
              <a:rPr lang="en-US" altLang="zh-CN" sz="1800" dirty="0">
                <a:solidFill>
                  <a:srgbClr val="595959"/>
                </a:solidFill>
                <a:latin typeface="微软雅黑" panose="020B0503020204020204" pitchFamily="34" charset="-122"/>
                <a:ea typeface="微软雅黑" panose="020B0503020204020204" pitchFamily="34" charset="-122"/>
                <a:cs typeface="+mn-ea"/>
              </a:rPr>
              <a:t>getter</a:t>
            </a:r>
            <a:r>
              <a:rPr lang="zh-CN" altLang="en-US" sz="1800" dirty="0">
                <a:solidFill>
                  <a:srgbClr val="595959"/>
                </a:solidFill>
                <a:latin typeface="微软雅黑" panose="020B0503020204020204" pitchFamily="34" charset="-122"/>
                <a:ea typeface="微软雅黑" panose="020B0503020204020204" pitchFamily="34" charset="-122"/>
                <a:cs typeface="+mn-ea"/>
              </a:rPr>
              <a:t>方法</a:t>
            </a:r>
            <a:r>
              <a:rPr sz="1800" dirty="0">
                <a:solidFill>
                  <a:srgbClr val="595959"/>
                </a:solidFill>
                <a:latin typeface="微软雅黑" panose="020B0503020204020204" pitchFamily="34" charset="-122"/>
                <a:ea typeface="微软雅黑" panose="020B0503020204020204" pitchFamily="34" charset="-122"/>
                <a:cs typeface="+mn-ea"/>
                <a:sym typeface="+mn-ea"/>
              </a:rPr>
              <a:t>。</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8.5.1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类型通配符的概述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1902460" y="2353310"/>
            <a:ext cx="8068945" cy="3012440"/>
          </a:xfrm>
          <a:prstGeom prst="rect">
            <a:avLst/>
          </a:prstGeom>
        </p:spPr>
      </p:pic>
      <p:sp>
        <p:nvSpPr>
          <p:cNvPr id="6" name="矩形 5"/>
          <p:cNvSpPr/>
          <p:nvPr/>
        </p:nvSpPr>
        <p:spPr>
          <a:xfrm>
            <a:off x="2172335" y="2461260"/>
            <a:ext cx="7675245" cy="2797175"/>
          </a:xfrm>
          <a:prstGeom prst="rect">
            <a:avLst/>
          </a:prstGeom>
        </p:spPr>
        <p:txBody>
          <a:bodyPr wrap="square">
            <a:spAutoFit/>
          </a:bodyPr>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Example08{</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创建Person对象，传入String类型的类型实参</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 Person&lt;?&gt; person = new Person&lt;String&gt;("M1");</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 person.getInfo()+"..."+person.getInfo().getClass());</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创建Person对象，传入Integer类型的类型实参</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 person=new Person&lt;Integer&gt;(666);</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 person.getInfo()+"..."+person.getInfo().getClass());</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1143000" y="1282700"/>
            <a:ext cx="9692005" cy="922020"/>
          </a:xfrm>
          <a:prstGeom prst="rect">
            <a:avLst/>
          </a:prstGeom>
          <a:noFill/>
        </p:spPr>
        <p:txBody>
          <a:bodyPr wrap="square" rtlCol="0">
            <a:spAutoFit/>
          </a:bodyPr>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步骤二：</a:t>
            </a:r>
            <a:r>
              <a:rPr lang="zh-CN" sz="1800" dirty="0">
                <a:solidFill>
                  <a:srgbClr val="595959"/>
                </a:solidFill>
                <a:latin typeface="微软雅黑" panose="020B0503020204020204" pitchFamily="34" charset="-122"/>
                <a:ea typeface="微软雅黑" panose="020B0503020204020204" pitchFamily="34" charset="-122"/>
                <a:cs typeface="+mn-ea"/>
              </a:rPr>
              <a:t>定义</a:t>
            </a:r>
            <a:r>
              <a:rPr lang="en-US" altLang="zh-CN" sz="1800" dirty="0">
                <a:solidFill>
                  <a:srgbClr val="595959"/>
                </a:solidFill>
                <a:latin typeface="微软雅黑" panose="020B0503020204020204" pitchFamily="34" charset="-122"/>
                <a:ea typeface="微软雅黑" panose="020B0503020204020204" pitchFamily="34" charset="-122"/>
                <a:cs typeface="+mn-ea"/>
              </a:rPr>
              <a:t>main()</a:t>
            </a:r>
            <a:r>
              <a:rPr lang="zh-CN" altLang="en-US" sz="1800" dirty="0">
                <a:solidFill>
                  <a:srgbClr val="595959"/>
                </a:solidFill>
                <a:latin typeface="微软雅黑" panose="020B0503020204020204" pitchFamily="34" charset="-122"/>
                <a:ea typeface="微软雅黑" panose="020B0503020204020204" pitchFamily="34" charset="-122"/>
                <a:cs typeface="+mn-ea"/>
              </a:rPr>
              <a:t>方法，创建</a:t>
            </a:r>
            <a:r>
              <a:rPr lang="en-US" altLang="zh-CN" sz="1800" dirty="0">
                <a:solidFill>
                  <a:srgbClr val="595959"/>
                </a:solidFill>
                <a:latin typeface="微软雅黑" panose="020B0503020204020204" pitchFamily="34" charset="-122"/>
                <a:ea typeface="微软雅黑" panose="020B0503020204020204" pitchFamily="34" charset="-122"/>
                <a:cs typeface="+mn-ea"/>
              </a:rPr>
              <a:t>Person</a:t>
            </a:r>
            <a:r>
              <a:rPr lang="zh-CN" altLang="en-US" sz="1800" dirty="0">
                <a:solidFill>
                  <a:srgbClr val="595959"/>
                </a:solidFill>
                <a:latin typeface="微软雅黑" panose="020B0503020204020204" pitchFamily="34" charset="-122"/>
                <a:ea typeface="微软雅黑" panose="020B0503020204020204" pitchFamily="34" charset="-122"/>
                <a:cs typeface="+mn-ea"/>
              </a:rPr>
              <a:t>对象，分别传入</a:t>
            </a:r>
            <a:r>
              <a:rPr lang="en-US" altLang="zh-CN" sz="1800" dirty="0">
                <a:solidFill>
                  <a:srgbClr val="595959"/>
                </a:solidFill>
                <a:latin typeface="微软雅黑" panose="020B0503020204020204" pitchFamily="34" charset="-122"/>
                <a:ea typeface="微软雅黑" panose="020B0503020204020204" pitchFamily="34" charset="-122"/>
                <a:cs typeface="+mn-ea"/>
              </a:rPr>
              <a:t>String</a:t>
            </a:r>
            <a:r>
              <a:rPr lang="zh-CN" altLang="en-US" sz="1800" dirty="0">
                <a:solidFill>
                  <a:srgbClr val="595959"/>
                </a:solidFill>
                <a:latin typeface="微软雅黑" panose="020B0503020204020204" pitchFamily="34" charset="-122"/>
                <a:ea typeface="微软雅黑" panose="020B0503020204020204" pitchFamily="34" charset="-122"/>
                <a:cs typeface="+mn-ea"/>
              </a:rPr>
              <a:t>类型和</a:t>
            </a:r>
            <a:r>
              <a:rPr lang="en-US" altLang="zh-CN" sz="1800" dirty="0">
                <a:solidFill>
                  <a:srgbClr val="595959"/>
                </a:solidFill>
                <a:latin typeface="微软雅黑" panose="020B0503020204020204" pitchFamily="34" charset="-122"/>
                <a:ea typeface="微软雅黑" panose="020B0503020204020204" pitchFamily="34" charset="-122"/>
                <a:cs typeface="+mn-ea"/>
              </a:rPr>
              <a:t>Integer</a:t>
            </a:r>
            <a:r>
              <a:rPr lang="zh-CN" altLang="en-US" sz="1800" dirty="0">
                <a:solidFill>
                  <a:srgbClr val="595959"/>
                </a:solidFill>
                <a:latin typeface="微软雅黑" panose="020B0503020204020204" pitchFamily="34" charset="-122"/>
                <a:ea typeface="微软雅黑" panose="020B0503020204020204" pitchFamily="34" charset="-122"/>
                <a:cs typeface="+mn-ea"/>
              </a:rPr>
              <a:t>类型的类型实参，进行测试</a:t>
            </a:r>
            <a:r>
              <a:rPr sz="1800" dirty="0">
                <a:solidFill>
                  <a:srgbClr val="595959"/>
                </a:solidFill>
                <a:latin typeface="微软雅黑" panose="020B0503020204020204" pitchFamily="34" charset="-122"/>
                <a:ea typeface="微软雅黑" panose="020B0503020204020204" pitchFamily="34" charset="-122"/>
                <a:cs typeface="+mn-ea"/>
                <a:sym typeface="+mn-ea"/>
              </a:rPr>
              <a:t>。</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8.5.1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类型通配符的概述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5107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540043" y="1232159"/>
            <a:ext cx="1706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509010" y="1177925"/>
            <a:ext cx="5516880" cy="553085"/>
          </a:xfrm>
          <a:prstGeom prst="rect">
            <a:avLst/>
          </a:prstGeom>
          <a:noFill/>
        </p:spPr>
        <p:txBody>
          <a:bodyPr wrap="none" rtlCol="0">
            <a:spAutoFit/>
          </a:bodyPr>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2"/>
          <a:stretch>
            <a:fillRect/>
          </a:stretch>
        </p:blipFill>
        <p:spPr>
          <a:xfrm>
            <a:off x="2759075" y="2349500"/>
            <a:ext cx="6672356" cy="2160000"/>
          </a:xfrm>
          <a:prstGeom prst="rect">
            <a:avLst/>
          </a:prstGeom>
          <a:noFill/>
          <a:ln w="9525">
            <a:noFill/>
          </a:ln>
        </p:spPr>
      </p:pic>
      <p:sp>
        <p:nvSpPr>
          <p:cNvPr id="100" name="文本框 99"/>
          <p:cNvSpPr txBox="1"/>
          <p:nvPr/>
        </p:nvSpPr>
        <p:spPr>
          <a:xfrm>
            <a:off x="1143635" y="5199380"/>
            <a:ext cx="9856470" cy="1014730"/>
          </a:xfrm>
          <a:prstGeom prst="rect">
            <a:avLst/>
          </a:prstGeom>
          <a:noFill/>
          <a:ln w="9525">
            <a:noFill/>
          </a:ln>
        </p:spPr>
        <p:txBody>
          <a:bodyPr wrap="square">
            <a:spAutoFit/>
          </a:bodyPr>
          <a:p>
            <a:pPr indent="0" fontAlgn="auto">
              <a:lnSpc>
                <a:spcPct val="150000"/>
              </a:lnSpc>
            </a:pPr>
            <a:r>
              <a:rPr lang="zh-CN" altLang="zh-CN" sz="2000" b="0" dirty="0">
                <a:solidFill>
                  <a:srgbClr val="595959"/>
                </a:solidFill>
                <a:latin typeface="微软雅黑" panose="020B0503020204020204" pitchFamily="34" charset="-122"/>
                <a:ea typeface="微软雅黑" panose="020B0503020204020204" pitchFamily="34" charset="-122"/>
                <a:cs typeface="+mn-ea"/>
              </a:rPr>
              <a:t>从图可以看出，控制台成功输出了2条信息。说明泛型类Person的对象接收了2种不同的类型实参。</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8.5.1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类型通配符的概述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文本框 4"/>
          <p:cNvSpPr txBox="1"/>
          <p:nvPr/>
        </p:nvSpPr>
        <p:spPr>
          <a:xfrm>
            <a:off x="4479290" y="948690"/>
            <a:ext cx="6490970" cy="1014730"/>
          </a:xfrm>
          <a:prstGeom prst="rect">
            <a:avLst/>
          </a:prstGeom>
          <a:noFill/>
        </p:spPr>
        <p:txBody>
          <a:bodyPr wrap="square" rtlCol="0">
            <a:spAutoFit/>
          </a:bodyPr>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如果创建Person对象时，不使用类型通配符，而是使用指定的类型实参，会出现编译异常，具体如下图所示。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9"/>
          <p:cNvPicPr>
            <a:picLocks noChangeAspect="1"/>
          </p:cNvPicPr>
          <p:nvPr/>
        </p:nvPicPr>
        <p:blipFill>
          <a:blip r:embed="rId1"/>
          <a:stretch>
            <a:fillRect/>
          </a:stretch>
        </p:blipFill>
        <p:spPr>
          <a:xfrm>
            <a:off x="2069465" y="2505075"/>
            <a:ext cx="8051919" cy="3132000"/>
          </a:xfrm>
          <a:prstGeom prst="rect">
            <a:avLst/>
          </a:prstGeom>
          <a:noFill/>
          <a:ln w="9525">
            <a:noFill/>
          </a:ln>
        </p:spPr>
      </p:pic>
      <p:sp>
        <p:nvSpPr>
          <p:cNvPr id="6" name="Chevron 3"/>
          <p:cNvSpPr/>
          <p:nvPr>
            <p:custDataLst>
              <p:tags r:id="rId2"/>
            </p:custDataLst>
          </p:nvPr>
        </p:nvSpPr>
        <p:spPr>
          <a:xfrm>
            <a:off x="1054100" y="1092200"/>
            <a:ext cx="34251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540043" y="1232159"/>
            <a:ext cx="2722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不使用通配符的情况一</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8.5.1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类型通配符的概述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34251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540043" y="1232159"/>
            <a:ext cx="2722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不使用通配符的情况二</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4479290" y="962660"/>
            <a:ext cx="6709410" cy="1014730"/>
          </a:xfrm>
          <a:prstGeom prst="rect">
            <a:avLst/>
          </a:prstGeom>
          <a:noFill/>
        </p:spPr>
        <p:txBody>
          <a:bodyPr wrap="square" rtlCol="0">
            <a:spAutoFit/>
          </a:bodyPr>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使用Object代替类型通配符？接收所有的类型，也会出现编译异常，具体如下图所示。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00" name="文本框 99"/>
          <p:cNvSpPr txBox="1"/>
          <p:nvPr/>
        </p:nvSpPr>
        <p:spPr>
          <a:xfrm>
            <a:off x="1143635" y="5199380"/>
            <a:ext cx="9856470" cy="1014730"/>
          </a:xfrm>
          <a:prstGeom prst="rect">
            <a:avLst/>
          </a:prstGeom>
          <a:noFill/>
          <a:ln w="9525">
            <a:noFill/>
          </a:ln>
        </p:spPr>
        <p:txBody>
          <a:bodyPr wrap="square">
            <a:spAutoFit/>
          </a:bodyPr>
          <a:p>
            <a:pPr indent="0" fontAlgn="auto">
              <a:lnSpc>
                <a:spcPct val="150000"/>
              </a:lnSpc>
            </a:pPr>
            <a:r>
              <a:rPr lang="zh-CN" altLang="zh-CN" sz="2000" b="0" dirty="0">
                <a:solidFill>
                  <a:srgbClr val="595959"/>
                </a:solidFill>
                <a:latin typeface="微软雅黑" panose="020B0503020204020204" pitchFamily="34" charset="-122"/>
                <a:ea typeface="微软雅黑" panose="020B0503020204020204" pitchFamily="34" charset="-122"/>
                <a:cs typeface="+mn-ea"/>
              </a:rPr>
              <a:t>会出现上图所示的编译异常，是因为泛型中，类名和泛型的声明是一个整体类型，Person&lt;Object&gt;并不是Person&lt;String&gt;的父类。</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20"/>
          <p:cNvPicPr>
            <a:picLocks noChangeAspect="1"/>
          </p:cNvPicPr>
          <p:nvPr/>
        </p:nvPicPr>
        <p:blipFill>
          <a:blip r:embed="rId2"/>
          <a:stretch>
            <a:fillRect/>
          </a:stretch>
        </p:blipFill>
        <p:spPr>
          <a:xfrm>
            <a:off x="2513330" y="2043748"/>
            <a:ext cx="7116135" cy="2772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8.5.2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类型通配符的限定</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altLang="en-US" sz="2000" dirty="0">
                  <a:solidFill>
                    <a:srgbClr val="1369B2"/>
                  </a:solidFill>
                  <a:latin typeface="微软雅黑" panose="020B0503020204020204" pitchFamily="34" charset="-122"/>
                  <a:ea typeface="微软雅黑" panose="020B0503020204020204" pitchFamily="34" charset="-122"/>
                  <a:cs typeface="+mn-ea"/>
                  <a:sym typeface="+mn-ea"/>
                </a:rPr>
                <a:t>类型通配符的限定</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，能够正确定义类型通配符的</a:t>
              </a:r>
              <a:r>
                <a:rPr lang="zh-CN" altLang="en-US" sz="2000" dirty="0">
                  <a:solidFill>
                    <a:srgbClr val="1369B2"/>
                  </a:solidFill>
                  <a:latin typeface="微软雅黑" panose="020B0503020204020204" pitchFamily="34" charset="-122"/>
                  <a:ea typeface="微软雅黑" panose="020B0503020204020204" pitchFamily="34" charset="-122"/>
                  <a:cs typeface="+mn-ea"/>
                  <a:sym typeface="+mn-ea"/>
                </a:rPr>
                <a:t>上限和下限</a:t>
              </a:r>
              <a:endParaRPr lang="zh-CN" altLang="en-US" sz="2000" dirty="0">
                <a:solidFill>
                  <a:srgbClr val="1369B2"/>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8.5.2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类型通配符的限定</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105535"/>
            <a:ext cx="365760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245494"/>
            <a:ext cx="3126105"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1．设定类型通配符的上限</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1143635" y="2091055"/>
            <a:ext cx="10396855" cy="1476375"/>
          </a:xfrm>
          <a:prstGeom prst="rect">
            <a:avLst/>
          </a:prstGeom>
          <a:noFill/>
        </p:spPr>
        <p:txBody>
          <a:bodyPr wrap="square" rtlCol="0">
            <a:spAutoFit/>
          </a:bodyPr>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当使用Person&lt;?&gt;时，表示这个泛型Person可以接收所有类型的类型实参。但有时候不想让某个泛型类接收所有类型的类型实参，只想接收</a:t>
            </a:r>
            <a:r>
              <a:rPr sz="2000" dirty="0">
                <a:solidFill>
                  <a:srgbClr val="1369B2"/>
                </a:solidFill>
                <a:latin typeface="微软雅黑" panose="020B0503020204020204" pitchFamily="34" charset="-122"/>
                <a:ea typeface="微软雅黑" panose="020B0503020204020204" pitchFamily="34" charset="-122"/>
                <a:cs typeface="+mn-ea"/>
              </a:rPr>
              <a:t>指定的类型及其子类</a:t>
            </a:r>
            <a:r>
              <a:rPr sz="2000" dirty="0">
                <a:solidFill>
                  <a:srgbClr val="595959"/>
                </a:solidFill>
                <a:latin typeface="微软雅黑" panose="020B0503020204020204" pitchFamily="34" charset="-122"/>
                <a:ea typeface="微软雅黑" panose="020B0503020204020204" pitchFamily="34" charset="-122"/>
                <a:cs typeface="+mn-ea"/>
              </a:rPr>
              <a:t>，这个时候可以为类型通配符设定上限。设定类型通配符的上限的语法格式如下所示</a:t>
            </a:r>
            <a:r>
              <a:rPr lang="zh-CN" sz="2000" dirty="0">
                <a:solidFill>
                  <a:srgbClr val="595959"/>
                </a:solidFill>
                <a:latin typeface="微软雅黑" panose="020B0503020204020204" pitchFamily="34" charset="-122"/>
                <a:ea typeface="微软雅黑" panose="020B0503020204020204" pitchFamily="34" charset="-122"/>
                <a:cs typeface="+mn-ea"/>
              </a:rPr>
              <a:t>：</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6" name="图片 5"/>
          <p:cNvPicPr>
            <a:picLocks noChangeAspect="1"/>
          </p:cNvPicPr>
          <p:nvPr/>
        </p:nvPicPr>
        <p:blipFill>
          <a:blip r:embed="rId2"/>
          <a:stretch>
            <a:fillRect/>
          </a:stretch>
        </p:blipFill>
        <p:spPr>
          <a:xfrm>
            <a:off x="2140585" y="3741420"/>
            <a:ext cx="7881620" cy="1103630"/>
          </a:xfrm>
          <a:prstGeom prst="rect">
            <a:avLst/>
          </a:prstGeom>
        </p:spPr>
      </p:pic>
      <p:sp>
        <p:nvSpPr>
          <p:cNvPr id="9" name="矩形 8"/>
          <p:cNvSpPr/>
          <p:nvPr/>
        </p:nvSpPr>
        <p:spPr>
          <a:xfrm>
            <a:off x="3993515" y="4109085"/>
            <a:ext cx="4175760" cy="368300"/>
          </a:xfrm>
          <a:prstGeom prst="rect">
            <a:avLst/>
          </a:prstGeom>
        </p:spPr>
        <p:txBody>
          <a:bodyPr wrap="square">
            <a:spAutoFit/>
          </a:bodyPr>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&lt;? extends 类 &gt; </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8.5.2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类型通配符的限定</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133090" y="1011555"/>
            <a:ext cx="7961630" cy="1014730"/>
          </a:xfrm>
          <a:prstGeom prst="rect">
            <a:avLst/>
          </a:prstGeom>
          <a:noFill/>
        </p:spPr>
        <p:txBody>
          <a:bodyPr wrap="square" rtlCol="0">
            <a:spAutoFit/>
          </a:bodyPr>
          <a:p>
            <a:pPr algn="l" fontAlgn="auto">
              <a:lnSpc>
                <a:spcPct val="150000"/>
              </a:lnSpc>
            </a:pPr>
            <a:r>
              <a:rPr altLang="zh-CN" sz="2000" dirty="0">
                <a:solidFill>
                  <a:srgbClr val="595959"/>
                </a:solidFill>
                <a:latin typeface="微软雅黑" panose="020B0503020204020204" pitchFamily="34" charset="-122"/>
                <a:ea typeface="微软雅黑" panose="020B0503020204020204" pitchFamily="34" charset="-122"/>
                <a:cs typeface="+mn-ea"/>
              </a:rPr>
              <a:t>下面根据上述语法格式，演示设定类型通配符的</a:t>
            </a:r>
            <a:r>
              <a:rPr lang="zh-CN" sz="2000" dirty="0">
                <a:solidFill>
                  <a:srgbClr val="595959"/>
                </a:solidFill>
                <a:latin typeface="微软雅黑" panose="020B0503020204020204" pitchFamily="34" charset="-122"/>
                <a:ea typeface="微软雅黑" panose="020B0503020204020204" pitchFamily="34" charset="-122"/>
                <a:cs typeface="+mn-ea"/>
              </a:rPr>
              <a:t>下</a:t>
            </a:r>
            <a:r>
              <a:rPr altLang="zh-CN" sz="2000" dirty="0">
                <a:solidFill>
                  <a:srgbClr val="595959"/>
                </a:solidFill>
                <a:latin typeface="微软雅黑" panose="020B0503020204020204" pitchFamily="34" charset="-122"/>
                <a:ea typeface="微软雅黑" panose="020B0503020204020204" pitchFamily="34" charset="-122"/>
                <a:cs typeface="+mn-ea"/>
              </a:rPr>
              <a:t>限的使用</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2" name="图片 11"/>
          <p:cNvPicPr>
            <a:picLocks noChangeAspect="1"/>
          </p:cNvPicPr>
          <p:nvPr/>
        </p:nvPicPr>
        <p:blipFill>
          <a:blip r:embed="rId2"/>
          <a:stretch>
            <a:fillRect/>
          </a:stretch>
        </p:blipFill>
        <p:spPr>
          <a:xfrm>
            <a:off x="1720215" y="2098040"/>
            <a:ext cx="9023350" cy="4246880"/>
          </a:xfrm>
          <a:prstGeom prst="rect">
            <a:avLst/>
          </a:prstGeom>
        </p:spPr>
      </p:pic>
      <p:sp>
        <p:nvSpPr>
          <p:cNvPr id="6" name="矩形 5"/>
          <p:cNvSpPr/>
          <p:nvPr/>
        </p:nvSpPr>
        <p:spPr>
          <a:xfrm>
            <a:off x="1818005" y="2146300"/>
            <a:ext cx="8828405" cy="4150360"/>
          </a:xfrm>
          <a:prstGeom prst="rect">
            <a:avLst/>
          </a:prstGeom>
        </p:spPr>
        <p:txBody>
          <a:bodyPr wrap="square">
            <a:spAutoFit/>
          </a:bodyPr>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Example10{</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设定类型通配符的下限，此时传入的类型实参，必须是Number类型或者Number类型的父类</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static void getElement(</a:t>
            </a:r>
            <a:r>
              <a:rPr lang="en-US" altLang="zh-CN" sz="1600" b="1"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Collection&lt;? super Number&gt; coll</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创建Collection对象，传入Number类型的类型实参</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Collection&lt;Number&gt; list1 = new ArrayList&lt;Number&gt;();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创建Collection对象，传入Object类型的类型实参</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Collection&lt;Object&gt; list2 = new ArrayList&lt;Object&gt;();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创建Collection对象，传入Integer类型的类型实参</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Collection&lt;Integer&gt; list3 = new ArrayList&lt;Integer&gt;();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getElement(list1);</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getElement(list2);</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getElement(list3);</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8.5.2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类型通配符的限定</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Chevron 3"/>
          <p:cNvSpPr/>
          <p:nvPr>
            <p:custDataLst>
              <p:tags r:id="rId1"/>
            </p:custDataLst>
          </p:nvPr>
        </p:nvSpPr>
        <p:spPr>
          <a:xfrm>
            <a:off x="1143635" y="1329055"/>
            <a:ext cx="19773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414313" y="1469014"/>
            <a:ext cx="1706880" cy="398780"/>
          </a:xfrm>
          <a:prstGeom prst="rect">
            <a:avLst/>
          </a:prstGeom>
          <a:noFill/>
        </p:spPr>
        <p:txBody>
          <a:bodyPr wrap="none" rtlCol="0">
            <a:spAutoFit/>
          </a:bodyPr>
          <a:lstStyle/>
          <a:p>
            <a:pPr algn="l"/>
            <a:r>
              <a:rPr lang="zh-CN" sz="2000" dirty="0" smtClean="0">
                <a:solidFill>
                  <a:srgbClr val="1369B2"/>
                </a:solidFill>
                <a:latin typeface="微软雅黑" panose="020B0503020204020204" pitchFamily="34" charset="-122"/>
                <a:ea typeface="微软雅黑" panose="020B0503020204020204" pitchFamily="34" charset="-122"/>
              </a:rPr>
              <a:t>案例代码分析</a:t>
            </a:r>
            <a:endParaRPr lang="zh-CN" sz="2000" dirty="0" smtClean="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465580" y="2566670"/>
            <a:ext cx="9259570" cy="2861310"/>
          </a:xfrm>
          <a:prstGeom prst="rect">
            <a:avLst/>
          </a:prstGeom>
          <a:noFill/>
        </p:spPr>
        <p:txBody>
          <a:bodyPr wrap="square" rtlCol="0">
            <a:spAutoFit/>
          </a:bodyPr>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定义方法getElement(),设定类型通配符的下限为Number，设定后调用该方法时传入的类型实参必须是Number类型或者是Number的父类；</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创建3个Collection对象，分别传入了Number类型、Object类型和Integer类型的类型实参；</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分别将创建的3个Collection对象作为参数调用getElement()方法，由于list3创建时传入的Integer类型不是Number的父类，出现编译异常。</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9" name="圆角矩形 8"/>
          <p:cNvSpPr/>
          <p:nvPr/>
        </p:nvSpPr>
        <p:spPr>
          <a:xfrm>
            <a:off x="1163320" y="2316480"/>
            <a:ext cx="9864090" cy="336105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0" name="矩形 93"/>
          <p:cNvSpPr/>
          <p:nvPr/>
        </p:nvSpPr>
        <p:spPr>
          <a:xfrm>
            <a:off x="1163320" y="231648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1" name="矩形 93"/>
          <p:cNvSpPr/>
          <p:nvPr/>
        </p:nvSpPr>
        <p:spPr>
          <a:xfrm rot="10800000">
            <a:off x="10643235" y="519112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8.5.2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类型通配符的限定</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105535"/>
            <a:ext cx="365760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245494"/>
            <a:ext cx="3126105" cy="398780"/>
          </a:xfrm>
          <a:prstGeom prst="rect">
            <a:avLst/>
          </a:prstGeom>
          <a:noFill/>
        </p:spPr>
        <p:txBody>
          <a:bodyPr wrap="none" rtlCol="0">
            <a:spAutoFit/>
          </a:bodyPr>
          <a:lstStyle/>
          <a:p>
            <a:pPr algn="l"/>
            <a:r>
              <a:rPr lang="en-US" altLang="zh-CN" sz="2000" dirty="0" smtClean="0">
                <a:solidFill>
                  <a:srgbClr val="1369B2"/>
                </a:solidFill>
                <a:latin typeface="微软雅黑" panose="020B0503020204020204" pitchFamily="34" charset="-122"/>
                <a:ea typeface="微软雅黑" panose="020B0503020204020204" pitchFamily="34" charset="-122"/>
              </a:rPr>
              <a:t>2</a:t>
            </a:r>
            <a:r>
              <a:rPr lang="zh-CN" altLang="en-US" sz="2000" dirty="0" smtClean="0">
                <a:solidFill>
                  <a:srgbClr val="1369B2"/>
                </a:solidFill>
                <a:latin typeface="微软雅黑" panose="020B0503020204020204" pitchFamily="34" charset="-122"/>
                <a:ea typeface="微软雅黑" panose="020B0503020204020204" pitchFamily="34" charset="-122"/>
              </a:rPr>
              <a:t>．设定类型通配符的下限</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1143635" y="2091055"/>
            <a:ext cx="10396855" cy="1476375"/>
          </a:xfrm>
          <a:prstGeom prst="rect">
            <a:avLst/>
          </a:prstGeom>
          <a:noFill/>
        </p:spPr>
        <p:txBody>
          <a:bodyPr wrap="square" rtlCol="0">
            <a:spAutoFit/>
          </a:bodyPr>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设定类型通配符时，除了可以设定类型通配符的上限，也可以对类型通配符的下限进行设定。设定类型通配符的下限后，类型实参只能是设定的类型及其父类型，设定的语法格式如下所示</a:t>
            </a:r>
            <a:r>
              <a:rPr lang="zh-CN" sz="2000" dirty="0">
                <a:solidFill>
                  <a:srgbClr val="595959"/>
                </a:solidFill>
                <a:latin typeface="微软雅黑" panose="020B0503020204020204" pitchFamily="34" charset="-122"/>
                <a:ea typeface="微软雅黑" panose="020B0503020204020204" pitchFamily="34" charset="-122"/>
                <a:cs typeface="+mn-ea"/>
              </a:rPr>
              <a:t>：</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6" name="图片 5"/>
          <p:cNvPicPr>
            <a:picLocks noChangeAspect="1"/>
          </p:cNvPicPr>
          <p:nvPr/>
        </p:nvPicPr>
        <p:blipFill>
          <a:blip r:embed="rId2"/>
          <a:stretch>
            <a:fillRect/>
          </a:stretch>
        </p:blipFill>
        <p:spPr>
          <a:xfrm>
            <a:off x="2140585" y="3741420"/>
            <a:ext cx="7881620" cy="1103630"/>
          </a:xfrm>
          <a:prstGeom prst="rect">
            <a:avLst/>
          </a:prstGeom>
        </p:spPr>
      </p:pic>
      <p:sp>
        <p:nvSpPr>
          <p:cNvPr id="9" name="矩形 8"/>
          <p:cNvSpPr/>
          <p:nvPr/>
        </p:nvSpPr>
        <p:spPr>
          <a:xfrm>
            <a:off x="3993515" y="4109085"/>
            <a:ext cx="4175760" cy="368300"/>
          </a:xfrm>
          <a:prstGeom prst="rect">
            <a:avLst/>
          </a:prstGeom>
        </p:spPr>
        <p:txBody>
          <a:bodyPr wrap="square">
            <a:spAutoFit/>
          </a:bodyPr>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&lt;? super 类 &gt; </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8.5.2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类型通配符的限定</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133090" y="1011555"/>
            <a:ext cx="7961630" cy="1014730"/>
          </a:xfrm>
          <a:prstGeom prst="rect">
            <a:avLst/>
          </a:prstGeom>
          <a:noFill/>
        </p:spPr>
        <p:txBody>
          <a:bodyPr wrap="square" rtlCol="0">
            <a:spAutoFit/>
          </a:bodyPr>
          <a:p>
            <a:pPr algn="l" fontAlgn="auto">
              <a:lnSpc>
                <a:spcPct val="150000"/>
              </a:lnSpc>
            </a:pPr>
            <a:r>
              <a:rPr altLang="zh-CN" sz="2000" dirty="0">
                <a:solidFill>
                  <a:srgbClr val="595959"/>
                </a:solidFill>
                <a:latin typeface="微软雅黑" panose="020B0503020204020204" pitchFamily="34" charset="-122"/>
                <a:ea typeface="微软雅黑" panose="020B0503020204020204" pitchFamily="34" charset="-122"/>
                <a:cs typeface="+mn-ea"/>
              </a:rPr>
              <a:t>下面根据上述语法格式，演示设定类型通配符的上限的使用</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2" name="图片 11"/>
          <p:cNvPicPr>
            <a:picLocks noChangeAspect="1"/>
          </p:cNvPicPr>
          <p:nvPr/>
        </p:nvPicPr>
        <p:blipFill>
          <a:blip r:embed="rId2"/>
          <a:stretch>
            <a:fillRect/>
          </a:stretch>
        </p:blipFill>
        <p:spPr>
          <a:xfrm>
            <a:off x="1696720" y="2098040"/>
            <a:ext cx="9159875" cy="4246880"/>
          </a:xfrm>
          <a:prstGeom prst="rect">
            <a:avLst/>
          </a:prstGeom>
        </p:spPr>
      </p:pic>
      <p:sp>
        <p:nvSpPr>
          <p:cNvPr id="6" name="矩形 5"/>
          <p:cNvSpPr/>
          <p:nvPr/>
        </p:nvSpPr>
        <p:spPr>
          <a:xfrm>
            <a:off x="1922780" y="2146300"/>
            <a:ext cx="8813800" cy="4150360"/>
          </a:xfrm>
          <a:prstGeom prst="rect">
            <a:avLst/>
          </a:prstGeom>
        </p:spPr>
        <p:txBody>
          <a:bodyPr wrap="square">
            <a:spAutoFit/>
          </a:bodyPr>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Example09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设定类型通配符的上限，此时传入的类型实参必须是Number类型或者Number类型的子类</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getElement(</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Collection&lt;? extends Number&gt; coll</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创建Collection对象，传入Number类型的类型实参</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Collection&lt;Number&gt; list1 = new ArrayList&lt;Number&gt;();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创建Collection对象，传入Integer类型的类型实参</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Collection&lt;Integer&gt; list2 = new ArrayList&lt;Integer&gt;();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创建Collection对象，传入String类型的类型实参</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Collection&lt;String&gt; list3 = new ArrayList&lt;String&gt;();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getElement(list1);</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getElement(list2);</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getElement(list3);</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8.5.2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类型通配符的限定</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Chevron 3"/>
          <p:cNvSpPr/>
          <p:nvPr>
            <p:custDataLst>
              <p:tags r:id="rId1"/>
            </p:custDataLst>
          </p:nvPr>
        </p:nvSpPr>
        <p:spPr>
          <a:xfrm>
            <a:off x="1143635" y="1329055"/>
            <a:ext cx="19773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414313" y="1469014"/>
            <a:ext cx="1706880" cy="398780"/>
          </a:xfrm>
          <a:prstGeom prst="rect">
            <a:avLst/>
          </a:prstGeom>
          <a:noFill/>
        </p:spPr>
        <p:txBody>
          <a:bodyPr wrap="none" rtlCol="0">
            <a:spAutoFit/>
          </a:bodyPr>
          <a:lstStyle/>
          <a:p>
            <a:pPr algn="l"/>
            <a:r>
              <a:rPr lang="zh-CN" sz="2000" dirty="0" smtClean="0">
                <a:solidFill>
                  <a:srgbClr val="1369B2"/>
                </a:solidFill>
                <a:latin typeface="微软雅黑" panose="020B0503020204020204" pitchFamily="34" charset="-122"/>
                <a:ea typeface="微软雅黑" panose="020B0503020204020204" pitchFamily="34" charset="-122"/>
              </a:rPr>
              <a:t>案例代码分析</a:t>
            </a:r>
            <a:endParaRPr lang="zh-CN" sz="2000" dirty="0" smtClean="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547495" y="2511425"/>
            <a:ext cx="9259570" cy="2861310"/>
          </a:xfrm>
          <a:prstGeom prst="rect">
            <a:avLst/>
          </a:prstGeom>
          <a:noFill/>
        </p:spPr>
        <p:txBody>
          <a:bodyPr wrap="square" rtlCol="0">
            <a:spAutoFit/>
          </a:bodyPr>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定义方法getElement(),设定类型通配符的上限为Number，设定后调用该方法时传入的类型实参必须是Number类型或者是Number的子类；</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创建3个Collection对象，分别传入了Number类型、Integer类型和String类型的类型实参；</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然后分别将创建的3个Collection对象作为参数调用getElement()方法，由于list3创建时传入的String类型不是Number的子类，出现编译异常。</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9" name="圆角矩形 8"/>
          <p:cNvSpPr/>
          <p:nvPr/>
        </p:nvSpPr>
        <p:spPr>
          <a:xfrm>
            <a:off x="1163320" y="2316480"/>
            <a:ext cx="9864090" cy="325120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0" name="矩形 93"/>
          <p:cNvSpPr/>
          <p:nvPr/>
        </p:nvSpPr>
        <p:spPr>
          <a:xfrm>
            <a:off x="1163320" y="231648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1" name="矩形 93"/>
          <p:cNvSpPr/>
          <p:nvPr/>
        </p:nvSpPr>
        <p:spPr>
          <a:xfrm rot="10800000">
            <a:off x="10643235" y="508127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67159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None/>
            </a:pP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本章小结</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198245" y="2573020"/>
            <a:ext cx="9793605"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pPr>
            <a:r>
              <a:rPr lang="zh-CN" sz="2000" dirty="0">
                <a:solidFill>
                  <a:srgbClr val="595959"/>
                </a:solidFill>
                <a:latin typeface="微软雅黑" panose="020B0503020204020204" pitchFamily="34" charset="-122"/>
                <a:ea typeface="微软雅黑" panose="020B0503020204020204" pitchFamily="34" charset="-122"/>
              </a:rPr>
              <a:t>本章主要介绍了泛型的相关知识。首先介绍了</a:t>
            </a:r>
            <a:r>
              <a:rPr lang="zh-CN" sz="2000" dirty="0">
                <a:solidFill>
                  <a:srgbClr val="1369B2"/>
                </a:solidFill>
                <a:latin typeface="微软雅黑" panose="020B0503020204020204" pitchFamily="34" charset="-122"/>
                <a:ea typeface="微软雅黑" panose="020B0503020204020204" pitchFamily="34" charset="-122"/>
              </a:rPr>
              <a:t>泛型的基础知识</a:t>
            </a:r>
            <a:r>
              <a:rPr lang="zh-CN" sz="2000" dirty="0">
                <a:solidFill>
                  <a:srgbClr val="595959"/>
                </a:solidFill>
                <a:latin typeface="微软雅黑" panose="020B0503020204020204" pitchFamily="34" charset="-122"/>
                <a:ea typeface="微软雅黑" panose="020B0503020204020204" pitchFamily="34" charset="-122"/>
              </a:rPr>
              <a:t>，包括了泛型概述、使用泛型的好处；其次介绍了泛型类，接着介绍了</a:t>
            </a:r>
            <a:r>
              <a:rPr lang="zh-CN" sz="2000" dirty="0">
                <a:solidFill>
                  <a:srgbClr val="1369B2"/>
                </a:solidFill>
                <a:latin typeface="微软雅黑" panose="020B0503020204020204" pitchFamily="34" charset="-122"/>
                <a:ea typeface="微软雅黑" panose="020B0503020204020204" pitchFamily="34" charset="-122"/>
              </a:rPr>
              <a:t>泛型接口</a:t>
            </a:r>
            <a:r>
              <a:rPr lang="zh-CN" sz="2000" dirty="0">
                <a:solidFill>
                  <a:srgbClr val="595959"/>
                </a:solidFill>
                <a:latin typeface="微软雅黑" panose="020B0503020204020204" pitchFamily="34" charset="-122"/>
                <a:ea typeface="微软雅黑" panose="020B0503020204020204" pitchFamily="34" charset="-122"/>
              </a:rPr>
              <a:t>；然后介绍了</a:t>
            </a:r>
            <a:r>
              <a:rPr lang="zh-CN" sz="2000" dirty="0">
                <a:solidFill>
                  <a:srgbClr val="1369B2"/>
                </a:solidFill>
                <a:latin typeface="微软雅黑" panose="020B0503020204020204" pitchFamily="34" charset="-122"/>
                <a:ea typeface="微软雅黑" panose="020B0503020204020204" pitchFamily="34" charset="-122"/>
              </a:rPr>
              <a:t>泛型方法</a:t>
            </a:r>
            <a:r>
              <a:rPr lang="zh-CN" sz="2000" dirty="0">
                <a:solidFill>
                  <a:srgbClr val="595959"/>
                </a:solidFill>
                <a:latin typeface="微软雅黑" panose="020B0503020204020204" pitchFamily="34" charset="-122"/>
                <a:ea typeface="微软雅黑" panose="020B0503020204020204" pitchFamily="34" charset="-122"/>
              </a:rPr>
              <a:t>，包括了泛型方法的定义和泛型方法的使用；最后介绍了</a:t>
            </a:r>
            <a:r>
              <a:rPr lang="zh-CN" sz="2000" dirty="0">
                <a:solidFill>
                  <a:srgbClr val="1369B2"/>
                </a:solidFill>
                <a:latin typeface="微软雅黑" panose="020B0503020204020204" pitchFamily="34" charset="-122"/>
                <a:ea typeface="微软雅黑" panose="020B0503020204020204" pitchFamily="34" charset="-122"/>
              </a:rPr>
              <a:t>泛型的类型通配符</a:t>
            </a:r>
            <a:r>
              <a:rPr lang="zh-CN" sz="2000" dirty="0">
                <a:solidFill>
                  <a:srgbClr val="595959"/>
                </a:solidFill>
                <a:latin typeface="微软雅黑" panose="020B0503020204020204" pitchFamily="34" charset="-122"/>
                <a:ea typeface="微软雅黑" panose="020B0503020204020204" pitchFamily="34" charset="-122"/>
              </a:rPr>
              <a:t>，包括类型通配符的概述和类型通配符的限定。通过本章的学习，读者应该对Java中的泛型有一定的了解。</a:t>
            </a:r>
            <a:endParaRPr lang="zh-CN" sz="2000" dirty="0">
              <a:solidFill>
                <a:srgbClr val="595959"/>
              </a:solidFill>
              <a:latin typeface="微软雅黑" panose="020B0503020204020204" pitchFamily="34" charset="-122"/>
              <a:ea typeface="微软雅黑" panose="020B0503020204020204" pitchFamily="34" charset="-122"/>
            </a:endParaRPr>
          </a:p>
        </p:txBody>
      </p:sp>
      <p:sp>
        <p:nvSpPr>
          <p:cNvPr id="27" name="圆角矩形 26"/>
          <p:cNvSpPr/>
          <p:nvPr/>
        </p:nvSpPr>
        <p:spPr>
          <a:xfrm>
            <a:off x="1198245" y="2061210"/>
            <a:ext cx="9794240" cy="3103245"/>
          </a:xfrm>
          <a:prstGeom prst="roundRect">
            <a:avLst>
              <a:gd name="adj" fmla="val 0"/>
            </a:avLst>
          </a:prstGeom>
          <a:noFill/>
          <a:ln w="3175">
            <a:solidFill>
              <a:schemeClr val="tx1">
                <a:lumMod val="75000"/>
                <a:lumOff val="2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sym typeface="+mn-lt"/>
            </a:endParaRPr>
          </a:p>
        </p:txBody>
      </p:sp>
      <p:sp>
        <p:nvSpPr>
          <p:cNvPr id="3" name="椭圆 2"/>
          <p:cNvSpPr/>
          <p:nvPr/>
        </p:nvSpPr>
        <p:spPr>
          <a:xfrm>
            <a:off x="4419710" y="165249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a:t>本</a:t>
            </a:r>
            <a:endParaRPr lang="zh-CN" altLang="en-US" sz="2800" b="1"/>
          </a:p>
        </p:txBody>
      </p:sp>
      <p:sp>
        <p:nvSpPr>
          <p:cNvPr id="9" name="椭圆 8"/>
          <p:cNvSpPr/>
          <p:nvPr/>
        </p:nvSpPr>
        <p:spPr>
          <a:xfrm>
            <a:off x="5138530" y="165249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sym typeface="+mn-ea"/>
              </a:rPr>
              <a:t>章</a:t>
            </a:r>
            <a:endParaRPr lang="zh-CN" altLang="en-US" sz="2800" b="1" dirty="0">
              <a:sym typeface="+mn-ea"/>
            </a:endParaRPr>
          </a:p>
        </p:txBody>
      </p:sp>
      <p:sp>
        <p:nvSpPr>
          <p:cNvPr id="10" name="椭圆 9"/>
          <p:cNvSpPr/>
          <p:nvPr/>
        </p:nvSpPr>
        <p:spPr>
          <a:xfrm>
            <a:off x="5857350" y="165249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sym typeface="+mn-ea"/>
              </a:rPr>
              <a:t>小</a:t>
            </a:r>
            <a:endParaRPr lang="zh-CN" altLang="en-US" sz="2800" b="1" dirty="0">
              <a:sym typeface="+mn-ea"/>
            </a:endParaRPr>
          </a:p>
        </p:txBody>
      </p:sp>
      <p:sp>
        <p:nvSpPr>
          <p:cNvPr id="11" name="椭圆 10"/>
          <p:cNvSpPr/>
          <p:nvPr/>
        </p:nvSpPr>
        <p:spPr>
          <a:xfrm>
            <a:off x="6576170" y="165249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a:sym typeface="+mn-ea"/>
              </a:rPr>
              <a:t>结</a:t>
            </a:r>
            <a:endParaRPr lang="zh-CN" altLang="en-US" sz="2800" b="1">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9.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0.xml><?xml version="1.0" encoding="utf-8"?>
<p:tagLst xmlns:p="http://schemas.openxmlformats.org/presentationml/2006/main">
  <p:tag name="KSO_WM_UNIT_PLACING_PICTURE_USER_VIEWPORT" val="{&quot;height&quot;:2905,&quot;width&quot;:12412}"/>
</p:tagLst>
</file>

<file path=ppt/tags/tag21.xml><?xml version="1.0" encoding="utf-8"?>
<p:tagLst xmlns:p="http://schemas.openxmlformats.org/presentationml/2006/main">
  <p:tag name="KSO_WM_UNIT_PLACING_PICTURE_USER_VIEWPORT" val="{&quot;height&quot;:2905,&quot;width&quot;:12412}"/>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3.xml><?xml version="1.0" encoding="utf-8"?>
<p:tagLst xmlns:p="http://schemas.openxmlformats.org/presentationml/2006/main">
  <p:tag name="KSO_WM_UNIT_PLACING_PICTURE_USER_VIEWPORT" val="{&quot;height&quot;:2905,&quot;width&quot;:12412}"/>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4.xml><?xml version="1.0" encoding="utf-8"?>
<p:tagLst xmlns:p="http://schemas.openxmlformats.org/presentationml/2006/main">
  <p:tag name="ISPRING_RESOURCE_PATHS_HASH_PRESENTER" val="417f8e4a56fc57c2e92e6fdc581ab83ee55365e"/>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11152</Words>
  <Application>WPS 演示</Application>
  <PresentationFormat>自定义</PresentationFormat>
  <Paragraphs>623</Paragraphs>
  <Slides>65</Slides>
  <Notes>125</Notes>
  <HiddenSlides>0</HiddenSlides>
  <MMClips>0</MMClips>
  <ScaleCrop>false</ScaleCrop>
  <HeadingPairs>
    <vt:vector size="6" baseType="variant">
      <vt:variant>
        <vt:lpstr>已用的字体</vt:lpstr>
      </vt:variant>
      <vt:variant>
        <vt:i4>18</vt:i4>
      </vt:variant>
      <vt:variant>
        <vt:lpstr>主题</vt:lpstr>
      </vt:variant>
      <vt:variant>
        <vt:i4>2</vt:i4>
      </vt:variant>
      <vt:variant>
        <vt:lpstr>幻灯片标题</vt:lpstr>
      </vt:variant>
      <vt:variant>
        <vt:i4>65</vt:i4>
      </vt:variant>
    </vt:vector>
  </HeadingPairs>
  <TitlesOfParts>
    <vt:vector size="85" baseType="lpstr">
      <vt:lpstr>Arial</vt:lpstr>
      <vt:lpstr>宋体</vt:lpstr>
      <vt:lpstr>Wingdings</vt:lpstr>
      <vt:lpstr>微软雅黑</vt:lpstr>
      <vt:lpstr>思源黑体 CN Medium</vt:lpstr>
      <vt:lpstr>黑体</vt:lpstr>
      <vt:lpstr>Source Han Sans K Bold</vt:lpstr>
      <vt:lpstr>Calibri</vt:lpstr>
      <vt:lpstr>MS UI Gothic</vt:lpstr>
      <vt:lpstr>U.S. 101</vt:lpstr>
      <vt:lpstr>Segoe Print</vt:lpstr>
      <vt:lpstr>Roboto</vt:lpstr>
      <vt:lpstr>Open Sans Light</vt:lpstr>
      <vt:lpstr>Open Sans</vt:lpstr>
      <vt:lpstr>字魂58号-创中黑</vt:lpstr>
      <vt:lpstr>字魂105号-简雅黑</vt:lpstr>
      <vt:lpstr>Arial Unicode MS</vt:lpstr>
      <vt:lpstr>Wingdings</vt:lpstr>
      <vt:lpstr>webwppDefTheme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蓝白商务述职报告工作总结ppt模板</dc:title>
  <dc:creator>常董</dc:creator>
  <cp:lastModifiedBy>itcast</cp:lastModifiedBy>
  <cp:revision>759</cp:revision>
  <dcterms:created xsi:type="dcterms:W3CDTF">2020-09-03T07:01:00Z</dcterms:created>
  <dcterms:modified xsi:type="dcterms:W3CDTF">2022-01-14T03:43:44Z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2052-11.1.0.11194</vt:lpwstr>
  </property>
  <property fmtid="{D5CDD505-2E9C-101B-9397-08002B2CF9AE}" pid="3" name="ICV">
    <vt:lpwstr>3EF54124C04D4D6E86421ADAF5E2F187</vt:lpwstr>
  </property>
</Properties>
</file>