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135"/>
  </p:notesMasterIdLst>
  <p:handoutMasterIdLst>
    <p:handoutMasterId r:id="rId136"/>
  </p:handoutMasterIdLst>
  <p:sldIdLst>
    <p:sldId id="325" r:id="rId3"/>
    <p:sldId id="511" r:id="rId4"/>
    <p:sldId id="328" r:id="rId5"/>
    <p:sldId id="327" r:id="rId6"/>
    <p:sldId id="309" r:id="rId7"/>
    <p:sldId id="577" r:id="rId8"/>
    <p:sldId id="889" r:id="rId9"/>
    <p:sldId id="630" r:id="rId10"/>
    <p:sldId id="372" r:id="rId11"/>
    <p:sldId id="409" r:id="rId12"/>
    <p:sldId id="854" r:id="rId13"/>
    <p:sldId id="852" r:id="rId14"/>
    <p:sldId id="853" r:id="rId15"/>
    <p:sldId id="513" r:id="rId16"/>
    <p:sldId id="891" r:id="rId17"/>
    <p:sldId id="639" r:id="rId18"/>
    <p:sldId id="410" r:id="rId19"/>
    <p:sldId id="641" r:id="rId20"/>
    <p:sldId id="642" r:id="rId21"/>
    <p:sldId id="773" r:id="rId22"/>
    <p:sldId id="855" r:id="rId23"/>
    <p:sldId id="645" r:id="rId24"/>
    <p:sldId id="644" r:id="rId25"/>
    <p:sldId id="886" r:id="rId26"/>
    <p:sldId id="888" r:id="rId27"/>
    <p:sldId id="646" r:id="rId28"/>
    <p:sldId id="879" r:id="rId29"/>
    <p:sldId id="881" r:id="rId30"/>
    <p:sldId id="882" r:id="rId31"/>
    <p:sldId id="883" r:id="rId32"/>
    <p:sldId id="884" r:id="rId33"/>
    <p:sldId id="613" r:id="rId34"/>
    <p:sldId id="890" r:id="rId35"/>
    <p:sldId id="607" r:id="rId36"/>
    <p:sldId id="658" r:id="rId37"/>
    <p:sldId id="778" r:id="rId38"/>
    <p:sldId id="856" r:id="rId39"/>
    <p:sldId id="887" r:id="rId40"/>
    <p:sldId id="860" r:id="rId41"/>
    <p:sldId id="779" r:id="rId42"/>
    <p:sldId id="862" r:id="rId43"/>
    <p:sldId id="861" r:id="rId44"/>
    <p:sldId id="863" r:id="rId45"/>
    <p:sldId id="864" r:id="rId46"/>
    <p:sldId id="865" r:id="rId47"/>
    <p:sldId id="784" r:id="rId48"/>
    <p:sldId id="785" r:id="rId49"/>
    <p:sldId id="892" r:id="rId50"/>
    <p:sldId id="786" r:id="rId51"/>
    <p:sldId id="788" r:id="rId52"/>
    <p:sldId id="789" r:id="rId53"/>
    <p:sldId id="857" r:id="rId54"/>
    <p:sldId id="790" r:id="rId55"/>
    <p:sldId id="791" r:id="rId56"/>
    <p:sldId id="792" r:id="rId57"/>
    <p:sldId id="866" r:id="rId58"/>
    <p:sldId id="867" r:id="rId59"/>
    <p:sldId id="869" r:id="rId60"/>
    <p:sldId id="868" r:id="rId61"/>
    <p:sldId id="795" r:id="rId62"/>
    <p:sldId id="893" r:id="rId63"/>
    <p:sldId id="870" r:id="rId64"/>
    <p:sldId id="871" r:id="rId65"/>
    <p:sldId id="798" r:id="rId66"/>
    <p:sldId id="872" r:id="rId67"/>
    <p:sldId id="873" r:id="rId68"/>
    <p:sldId id="875" r:id="rId69"/>
    <p:sldId id="874" r:id="rId70"/>
    <p:sldId id="803" r:id="rId71"/>
    <p:sldId id="876" r:id="rId72"/>
    <p:sldId id="805" r:id="rId73"/>
    <p:sldId id="877" r:id="rId74"/>
    <p:sldId id="807" r:id="rId75"/>
    <p:sldId id="808" r:id="rId76"/>
    <p:sldId id="878" r:id="rId77"/>
    <p:sldId id="809" r:id="rId78"/>
    <p:sldId id="810" r:id="rId79"/>
    <p:sldId id="811" r:id="rId80"/>
    <p:sldId id="858" r:id="rId81"/>
    <p:sldId id="812" r:id="rId82"/>
    <p:sldId id="813" r:id="rId83"/>
    <p:sldId id="612" r:id="rId84"/>
    <p:sldId id="600" r:id="rId85"/>
    <p:sldId id="650" r:id="rId86"/>
    <p:sldId id="686" r:id="rId87"/>
    <p:sldId id="894" r:id="rId88"/>
    <p:sldId id="687" r:id="rId89"/>
    <p:sldId id="688" r:id="rId90"/>
    <p:sldId id="674" r:id="rId91"/>
    <p:sldId id="690" r:id="rId92"/>
    <p:sldId id="814" r:id="rId93"/>
    <p:sldId id="815" r:id="rId94"/>
    <p:sldId id="816" r:id="rId95"/>
    <p:sldId id="817" r:id="rId96"/>
    <p:sldId id="819" r:id="rId97"/>
    <p:sldId id="820" r:id="rId98"/>
    <p:sldId id="676" r:id="rId99"/>
    <p:sldId id="694" r:id="rId100"/>
    <p:sldId id="821" r:id="rId101"/>
    <p:sldId id="822" r:id="rId102"/>
    <p:sldId id="823" r:id="rId103"/>
    <p:sldId id="824" r:id="rId104"/>
    <p:sldId id="825" r:id="rId105"/>
    <p:sldId id="826" r:id="rId106"/>
    <p:sldId id="827" r:id="rId107"/>
    <p:sldId id="677" r:id="rId108"/>
    <p:sldId id="828" r:id="rId109"/>
    <p:sldId id="829" r:id="rId110"/>
    <p:sldId id="830" r:id="rId111"/>
    <p:sldId id="831" r:id="rId112"/>
    <p:sldId id="678" r:id="rId113"/>
    <p:sldId id="832" r:id="rId114"/>
    <p:sldId id="833" r:id="rId115"/>
    <p:sldId id="834" r:id="rId116"/>
    <p:sldId id="835" r:id="rId117"/>
    <p:sldId id="836" r:id="rId118"/>
    <p:sldId id="895" r:id="rId119"/>
    <p:sldId id="837" r:id="rId120"/>
    <p:sldId id="838" r:id="rId121"/>
    <p:sldId id="679" r:id="rId122"/>
    <p:sldId id="839" r:id="rId123"/>
    <p:sldId id="841" r:id="rId124"/>
    <p:sldId id="842" r:id="rId125"/>
    <p:sldId id="843" r:id="rId126"/>
    <p:sldId id="844" r:id="rId127"/>
    <p:sldId id="846" r:id="rId128"/>
    <p:sldId id="847" r:id="rId129"/>
    <p:sldId id="848" r:id="rId130"/>
    <p:sldId id="849" r:id="rId131"/>
    <p:sldId id="850" r:id="rId132"/>
    <p:sldId id="851" r:id="rId133"/>
    <p:sldId id="326" r:id="rId134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56">
          <p15:clr>
            <a:srgbClr val="A4A3A4"/>
          </p15:clr>
        </p15:guide>
        <p15:guide id="3" pos="65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朱 杰" initials="朱" lastIdx="17" clrIdx="0">
    <p:extLst>
      <p:ext uri="{19B8F6BF-5375-455C-9EA6-DF929625EA0E}">
        <p15:presenceInfo xmlns:p15="http://schemas.microsoft.com/office/powerpoint/2012/main" userId="a0b21a782a23e53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1369B3"/>
    <a:srgbClr val="595959"/>
    <a:srgbClr val="F2F2F2"/>
    <a:srgbClr val="EBAD13"/>
    <a:srgbClr val="FFFFFF"/>
    <a:srgbClr val="BBBBBB"/>
    <a:srgbClr val="FAFAFA"/>
    <a:srgbClr val="006BBC"/>
    <a:srgbClr val="0075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8" autoAdjust="0"/>
    <p:restoredTop sz="89369" autoAdjust="0"/>
  </p:normalViewPr>
  <p:slideViewPr>
    <p:cSldViewPr>
      <p:cViewPr varScale="1">
        <p:scale>
          <a:sx n="73" d="100"/>
          <a:sy n="73" d="100"/>
        </p:scale>
        <p:origin x="696" y="60"/>
      </p:cViewPr>
      <p:guideLst>
        <p:guide orient="horz" pos="2160"/>
        <p:guide pos="256"/>
        <p:guide pos="65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presProps" Target="presProps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viewProps" Target="view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handoutMaster" Target="handoutMasters/handout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6" Type="http://schemas.openxmlformats.org/officeDocument/2006/relationships/slide" Target="slides/slide1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665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905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796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290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821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85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818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022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495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4732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951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4571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6980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28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344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8273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9746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5186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0130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9255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5688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9567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0331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421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7811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4747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9912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6100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6892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93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459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4111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7238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5786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816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8613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8010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4289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2959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7671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7957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1371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593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60636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59560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8822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43739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2076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10331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08820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39368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35270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42821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93683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909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F652BD-78F8-4263-B0C9-1157D4F9FB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137BB1-9F5B-4D4F-9A56-B2F02308C4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30E425-C7EA-45F0-85AD-6C51CB843B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e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8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037285" y="2637706"/>
            <a:ext cx="10826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4</a:t>
            </a:r>
            <a:r>
              <a:rPr lang="zh-CN" altLang="en-US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跨平台移动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Web</a:t>
            </a:r>
            <a:r>
              <a:rPr lang="zh-CN" altLang="en-US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技术</a:t>
            </a:r>
            <a:endParaRPr lang="en-US" altLang="zh-CN" sz="5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4871070" y="3861842"/>
            <a:ext cx="5184576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《HTML5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移动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开发（第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486694" y="1917626"/>
            <a:ext cx="9721080" cy="688075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了解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什么是响应式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Web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设计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，能够理解响应式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Web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设计实现跨终端的开发技术</a:t>
              </a: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497977" y="2781722"/>
            <a:ext cx="9709797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媒体查询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的使用，能够使用媒体查询实现响应式页面布局</a:t>
              </a: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1509316" y="3645818"/>
            <a:ext cx="9698457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熟悉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栅格系统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的使用，能够实现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简单版栅格系统</a:t>
              </a: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509315" y="4509914"/>
            <a:ext cx="9698457" cy="685960"/>
            <a:chOff x="978872" y="2570437"/>
            <a:chExt cx="5437064" cy="514351"/>
          </a:xfrm>
        </p:grpSpPr>
        <p:sp>
          <p:nvSpPr>
            <p:cNvPr id="29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弹性盒布局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的使用，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能够使用弹性盒布局相关属性完成页面布局</a:t>
              </a:r>
            </a:p>
          </p:txBody>
        </p:sp>
        <p:sp>
          <p:nvSpPr>
            <p:cNvPr id="30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499909" y="5374010"/>
            <a:ext cx="9698458" cy="688077"/>
            <a:chOff x="978872" y="3338787"/>
            <a:chExt cx="5437064" cy="515938"/>
          </a:xfrm>
        </p:grpSpPr>
        <p:sp>
          <p:nvSpPr>
            <p:cNvPr id="32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旅游网移动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Web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项目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的实现，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能够实现旅游网的页面效果</a:t>
              </a:r>
            </a:p>
          </p:txBody>
        </p:sp>
        <p:sp>
          <p:nvSpPr>
            <p:cNvPr id="33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721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5" y="1714674"/>
            <a:ext cx="10151132" cy="2700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用户体验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是网站成功的一个关键因素，如果网站能够在不同的设备上拥有相似的用户体验，将会增强用户对网站的好感。为了实现相似的用户体验，在开发中需要用到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跨平台移动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本章将针对跨平台移动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媒体查询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弹性盒布局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讲解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阶段项目“旅游网”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进行开发实战。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1933199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2853597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3784175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1911020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响应式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Web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设计</a:t>
              </a: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2836771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媒体查询</a:t>
              </a: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3762522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24395"/>
              <a:ext cx="2827146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栅格系统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070870" y="4699302"/>
            <a:ext cx="1192190" cy="613062"/>
            <a:chOff x="2215144" y="982844"/>
            <a:chExt cx="1244730" cy="84278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976422" y="4677123"/>
            <a:ext cx="5142331" cy="613062"/>
            <a:chOff x="4315150" y="953426"/>
            <a:chExt cx="3857250" cy="540057"/>
          </a:xfrm>
        </p:grpSpPr>
        <p:sp>
          <p:nvSpPr>
            <p:cNvPr id="28" name="矩形 27"/>
            <p:cNvSpPr/>
            <p:nvPr/>
          </p:nvSpPr>
          <p:spPr>
            <a:xfrm>
              <a:off x="4841196" y="1036090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弹性盒布局</a:t>
              </a:r>
              <a:endParaRPr lang="zh-CN" altLang="en-GB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85DE4B4-7771-4CB8-8AA5-459B742D0EDA}"/>
              </a:ext>
            </a:extLst>
          </p:cNvPr>
          <p:cNvGrpSpPr/>
          <p:nvPr/>
        </p:nvGrpSpPr>
        <p:grpSpPr>
          <a:xfrm>
            <a:off x="3070870" y="5612966"/>
            <a:ext cx="1192190" cy="613062"/>
            <a:chOff x="2215144" y="982844"/>
            <a:chExt cx="1244730" cy="842780"/>
          </a:xfrm>
        </p:grpSpPr>
        <p:sp>
          <p:nvSpPr>
            <p:cNvPr id="31" name="平行四边形 30">
              <a:extLst>
                <a:ext uri="{FF2B5EF4-FFF2-40B4-BE49-F238E27FC236}">
                  <a16:creationId xmlns:a16="http://schemas.microsoft.com/office/drawing/2014/main" id="{10B15FE3-DD50-450B-9EB1-AC9674056338}"/>
                </a:ext>
              </a:extLst>
            </p:cNvPr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9">
              <a:extLst>
                <a:ext uri="{FF2B5EF4-FFF2-40B4-BE49-F238E27FC236}">
                  <a16:creationId xmlns:a16="http://schemas.microsoft.com/office/drawing/2014/main" id="{0DD6246F-038C-4DC2-99ED-D2368B1A4A53}"/>
                </a:ext>
              </a:extLst>
            </p:cNvPr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45EAE48-3EF0-4876-BBF2-E89CFEFA3790}"/>
              </a:ext>
            </a:extLst>
          </p:cNvPr>
          <p:cNvGrpSpPr/>
          <p:nvPr/>
        </p:nvGrpSpPr>
        <p:grpSpPr>
          <a:xfrm>
            <a:off x="3976422" y="5590787"/>
            <a:ext cx="5142331" cy="613062"/>
            <a:chOff x="4315150" y="953426"/>
            <a:chExt cx="3857250" cy="540057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78EF1597-F52F-4672-8282-8214E99D4685}"/>
                </a:ext>
              </a:extLst>
            </p:cNvPr>
            <p:cNvSpPr/>
            <p:nvPr/>
          </p:nvSpPr>
          <p:spPr>
            <a:xfrm>
              <a:off x="4841196" y="1036090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阶段项目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——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旅游网</a:t>
              </a:r>
              <a:endParaRPr lang="zh-CN" altLang="en-GB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平行四边形 34">
              <a:extLst>
                <a:ext uri="{FF2B5EF4-FFF2-40B4-BE49-F238E27FC236}">
                  <a16:creationId xmlns:a16="http://schemas.microsoft.com/office/drawing/2014/main" id="{0167CA5A-6496-41DF-8191-9486F79E7114}"/>
                </a:ext>
              </a:extLst>
            </p:cNvPr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4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</a:t>
            </a:r>
            <a:r>
              <a:rPr lang="en-US" altLang="zh-CN" sz="4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4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式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02694E-8DE4-4131-8225-39B5D0932716}"/>
              </a:ext>
            </a:extLst>
          </p:cNvPr>
          <p:cNvSpPr txBox="1"/>
          <p:nvPr/>
        </p:nvSpPr>
        <p:spPr>
          <a:xfrm>
            <a:off x="1270670" y="1233767"/>
            <a:ext cx="9433048" cy="3708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为什么学习响应式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设计？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en-US" altLang="zh-CN" sz="105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在传统网站开发中，用户可以在移动浏览器上对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，将自己想要浏览的内容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完全呈现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出来。这样，虽然可以完整地呈现出用户想要浏览的内容，但鉴于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移动设备屏幕大小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的限制，过多的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会使页面看起来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杂乱无章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，这就使得用户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找到自己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en-US" altLang="zh-CN" sz="7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为我们解决了这一问题。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并不是将整个网页缩放给用户，而是经过精心筛选，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有选择性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917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4" y="3576722"/>
            <a:ext cx="5607833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lang="zh-CN" altLang="en-US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响应</a:t>
            </a:r>
            <a:r>
              <a: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式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Web</a:t>
            </a:r>
            <a:r>
              <a: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设计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，能够说出响应式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Web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设计的作用、概念和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理念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设计简介</a:t>
            </a:r>
          </a:p>
        </p:txBody>
      </p:sp>
    </p:spTree>
    <p:extLst>
      <p:ext uri="{BB962C8B-B14F-4D97-AF65-F5344CB8AC3E}">
        <p14:creationId xmlns:p14="http://schemas.microsoft.com/office/powerpoint/2010/main" val="363116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设计简介</a:t>
            </a:r>
          </a:p>
        </p:txBody>
      </p:sp>
      <p:sp>
        <p:nvSpPr>
          <p:cNvPr id="3" name="TextBox 35"/>
          <p:cNvSpPr txBox="1">
            <a:spLocks noChangeArrowheads="1"/>
          </p:cNvSpPr>
          <p:nvPr/>
        </p:nvSpPr>
        <p:spPr bwMode="auto">
          <a:xfrm>
            <a:off x="994466" y="1917626"/>
            <a:ext cx="10441160" cy="2685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Responsive Web Design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）是由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伊桑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马科特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Ethan Marcotte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2010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年提出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使网页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根据用户行为进行相应的调整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，并展示合理的页面效果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一种跨终端的新型网页开发技术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，它可以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让网页根据不同终端设备自动调整内容，达到了“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一套设计，多处适用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”的目的。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TextBox 76"/>
          <p:cNvSpPr txBox="1"/>
          <p:nvPr/>
        </p:nvSpPr>
        <p:spPr>
          <a:xfrm>
            <a:off x="1096664" y="1197546"/>
            <a:ext cx="3270350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响应式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Web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设计简介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98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设计简介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55929E-F70C-4413-8E0B-505DEE4A2AA2}"/>
              </a:ext>
            </a:extLst>
          </p:cNvPr>
          <p:cNvSpPr txBox="1"/>
          <p:nvPr/>
        </p:nvSpPr>
        <p:spPr>
          <a:xfrm>
            <a:off x="1018641" y="952454"/>
            <a:ext cx="94330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以三星电子商城网站为例演示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DB075CD-C177-45A0-B3C9-AE1A16103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437" y="1665899"/>
            <a:ext cx="6981457" cy="44738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4.1.1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设计简介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2A8A9A-6D76-4C29-A2F8-FE89AFB7E78F}"/>
              </a:ext>
            </a:extLst>
          </p:cNvPr>
          <p:cNvSpPr txBox="1"/>
          <p:nvPr/>
        </p:nvSpPr>
        <p:spPr>
          <a:xfrm>
            <a:off x="982638" y="979952"/>
            <a:ext cx="928903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使用鼠标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缩小浏览器的窗口宽度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，查看页面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C8969D-186F-437E-A4C0-426265074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950" y="1686447"/>
            <a:ext cx="3233140" cy="445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1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5429568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响应式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Web</a:t>
            </a:r>
            <a:r>
              <a: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设计相关技术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，能够说出响应式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Web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设计常用的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技术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43DA623A-F92E-4B1A-8E24-D4DF8F48A24D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设计相关技术</a:t>
            </a:r>
          </a:p>
        </p:txBody>
      </p:sp>
    </p:spTree>
    <p:extLst>
      <p:ext uri="{BB962C8B-B14F-4D97-AF65-F5344CB8AC3E}">
        <p14:creationId xmlns:p14="http://schemas.microsoft.com/office/powerpoint/2010/main" val="270978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设计相关技术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87FB38C-14EC-4249-AD6D-1BE42B442567}"/>
              </a:ext>
            </a:extLst>
          </p:cNvPr>
          <p:cNvSpPr txBox="1"/>
          <p:nvPr/>
        </p:nvSpPr>
        <p:spPr>
          <a:xfrm>
            <a:off x="982638" y="1078156"/>
            <a:ext cx="9433048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在网页开发时，如果我们想要让页面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根据设备的屏幕大小进行相应的调整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，那么就需要使用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来实现。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B68837-F049-45FB-B592-3D5CCF22BE13}"/>
              </a:ext>
            </a:extLst>
          </p:cNvPr>
          <p:cNvSpPr txBox="1"/>
          <p:nvPr/>
        </p:nvSpPr>
        <p:spPr>
          <a:xfrm>
            <a:off x="1054646" y="2344520"/>
            <a:ext cx="9289032" cy="2669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设计相关技术：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-342900" defTabSz="457200">
              <a:lnSpc>
                <a:spcPct val="150000"/>
              </a:lnSpc>
              <a:buFont typeface="Wingdings" panose="05000000000000000000" pitchFamily="2" charset="2"/>
              <a:buChar char=""/>
              <a:defRPr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流式布局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Fluid Layout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-342900" defTabSz="457200">
              <a:lnSpc>
                <a:spcPct val="150000"/>
              </a:lnSpc>
              <a:buFont typeface="Wingdings" panose="05000000000000000000" pitchFamily="2" charset="2"/>
              <a:buChar char=""/>
              <a:defRPr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媒体查询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Media Queries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0" indent="-342900" defTabSz="457200">
              <a:lnSpc>
                <a:spcPct val="150000"/>
              </a:lnSpc>
              <a:buFont typeface="Wingdings" panose="05000000000000000000" pitchFamily="2" charset="2"/>
              <a:buChar char=""/>
              <a:defRPr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Grid Systems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0" indent="-342900" defTabSz="457200">
              <a:lnSpc>
                <a:spcPct val="150000"/>
              </a:lnSpc>
              <a:buFont typeface="Wingdings" panose="05000000000000000000" pitchFamily="2" charset="2"/>
              <a:buChar char=""/>
              <a:defRPr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弹性盒布局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Flexible Box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884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4.1.2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响应式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设计相关技术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728C3B-4E55-4F5D-B931-706A5F399DF3}"/>
              </a:ext>
            </a:extLst>
          </p:cNvPr>
          <p:cNvSpPr txBox="1"/>
          <p:nvPr/>
        </p:nvSpPr>
        <p:spPr>
          <a:xfrm>
            <a:off x="1126654" y="1197546"/>
            <a:ext cx="94330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-342900" defTabSz="457200">
              <a:lnSpc>
                <a:spcPct val="150000"/>
              </a:lnSpc>
              <a:buFont typeface="Wingdings" panose="05000000000000000000" pitchFamily="2" charset="2"/>
              <a:buChar char=""/>
              <a:defRPr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流式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根据浏览器的宽度和屏幕的大小自动调整页面效果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实现页面中文档流的控制。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zh-CN" alt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-342900" defTabSz="457200">
              <a:lnSpc>
                <a:spcPct val="150000"/>
              </a:lnSpc>
              <a:buFont typeface="Wingdings" panose="05000000000000000000" pitchFamily="2" charset="2"/>
              <a:buChar char=""/>
              <a:defRPr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媒体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媒体类型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，特征（屏幕宽度，像素比等），可以根据窗口宽度、屏幕比例和设备方向等差异来改变页面的显示方式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-342900" defTabSz="457200">
              <a:lnSpc>
                <a:spcPct val="150000"/>
              </a:lnSpc>
              <a:buFont typeface="Wingdings" panose="05000000000000000000" pitchFamily="2" charset="2"/>
              <a:buChar char=""/>
              <a:defRPr/>
            </a:pPr>
            <a:endParaRPr lang="en-US" altLang="zh-CN" sz="12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-342900" defTabSz="457200">
              <a:lnSpc>
                <a:spcPct val="150000"/>
              </a:lnSpc>
              <a:buFont typeface="Wingdings" panose="05000000000000000000" pitchFamily="2" charset="2"/>
              <a:buChar char=""/>
              <a:defRPr/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依赖于媒体查询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，根据不同的屏幕大小调整布局。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zh-CN" altLang="zh-CN" sz="105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-342900" defTabSz="457200">
              <a:lnSpc>
                <a:spcPct val="150000"/>
              </a:lnSpc>
              <a:buFont typeface="Wingdings" panose="05000000000000000000" pitchFamily="2" charset="2"/>
              <a:buChar char=""/>
              <a:defRPr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弹性盒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提供一种有效的方式对容器中的子元素进行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排列、对齐和分配空白空间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19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媒体查询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</a:t>
            </a:r>
          </a:p>
        </p:txBody>
      </p:sp>
    </p:spTree>
    <p:extLst>
      <p:ext uri="{BB962C8B-B14F-4D97-AF65-F5344CB8AC3E}">
        <p14:creationId xmlns:p14="http://schemas.microsoft.com/office/powerpoint/2010/main" val="126801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zh-CN" altLang="en-US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媒体查询的概念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能够说出媒体查询的作用以及媒体查询的使用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方法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媒体查询的概念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477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5"/>
          <p:cNvSpPr txBox="1">
            <a:spLocks noChangeArrowheads="1"/>
          </p:cNvSpPr>
          <p:nvPr/>
        </p:nvSpPr>
        <p:spPr bwMode="auto">
          <a:xfrm>
            <a:off x="1112458" y="2046671"/>
            <a:ext cx="10441160" cy="2100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媒体查询（也称为媒介查询）的概念：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CSS3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新增的一种语法，用来根据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窗口宽度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屏幕比例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设备方向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等差异来改变页面的显示方式。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媒体查询的作用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：使用媒体查询能够在不改变页面内容的情况下，为特定的输出设备制定显示效果。</a:t>
            </a:r>
          </a:p>
        </p:txBody>
      </p:sp>
      <p:sp>
        <p:nvSpPr>
          <p:cNvPr id="4" name="TextBox 76"/>
          <p:cNvSpPr txBox="1"/>
          <p:nvPr/>
        </p:nvSpPr>
        <p:spPr>
          <a:xfrm>
            <a:off x="1143691" y="1269554"/>
            <a:ext cx="305432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什么是媒体查询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媒体查询的概念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57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媒体查询的概念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C596C41-3530-4783-AC15-5D7E237ECB66}"/>
              </a:ext>
            </a:extLst>
          </p:cNvPr>
          <p:cNvSpPr/>
          <p:nvPr/>
        </p:nvSpPr>
        <p:spPr bwMode="auto">
          <a:xfrm>
            <a:off x="2566814" y="1989634"/>
            <a:ext cx="6120680" cy="13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@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media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mediatype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and|not|only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(media feature)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代码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endParaRPr lang="zh-CN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40B46B00-59A4-4DB3-91DD-824D0051FA00}"/>
              </a:ext>
            </a:extLst>
          </p:cNvPr>
          <p:cNvSpPr txBox="1"/>
          <p:nvPr/>
        </p:nvSpPr>
        <p:spPr>
          <a:xfrm>
            <a:off x="1143691" y="1179043"/>
            <a:ext cx="3655371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媒体查询的基本语法形式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9F4ACBC-9DFB-47C4-A180-45DC7C268CC5}"/>
              </a:ext>
            </a:extLst>
          </p:cNvPr>
          <p:cNvSpPr txBox="1"/>
          <p:nvPr/>
        </p:nvSpPr>
        <p:spPr>
          <a:xfrm>
            <a:off x="1198662" y="3501802"/>
            <a:ext cx="10297144" cy="2346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@media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表示声明媒体查询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mediatype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表示媒体类型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only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逻辑操作符，用于联合构造复杂的媒体查询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media feature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表示媒体特性。如果当前设备符合媒体类型和媒体特性，则大括号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}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代码就会生效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8990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媒体查询的概念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5"/>
          <p:cNvSpPr txBox="1">
            <a:spLocks noChangeArrowheads="1"/>
          </p:cNvSpPr>
          <p:nvPr/>
        </p:nvSpPr>
        <p:spPr bwMode="auto">
          <a:xfrm>
            <a:off x="1054646" y="1845618"/>
            <a:ext cx="10441160" cy="2584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媒体特性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是由“属性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值”组成的，常用的属性有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width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min-width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max-width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9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width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：定义输出设备中页面可见区域的宽度。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min-width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：定义输出设备中页面可见区域的最小宽度。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max-width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：定义输出设备中页面可见区域的最大宽度。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TextBox 76">
            <a:extLst>
              <a:ext uri="{FF2B5EF4-FFF2-40B4-BE49-F238E27FC236}">
                <a16:creationId xmlns:a16="http://schemas.microsoft.com/office/drawing/2014/main" id="{02C2E171-7D28-40D9-8D82-4B1AF73A516E}"/>
              </a:ext>
            </a:extLst>
          </p:cNvPr>
          <p:cNvSpPr txBox="1"/>
          <p:nvPr/>
        </p:nvSpPr>
        <p:spPr>
          <a:xfrm>
            <a:off x="1143691" y="1179043"/>
            <a:ext cx="1639147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媒体特性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65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媒体查询的概念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4125CC-F407-473A-A107-472B0A5E9BCA}"/>
              </a:ext>
            </a:extLst>
          </p:cNvPr>
          <p:cNvSpPr txBox="1"/>
          <p:nvPr/>
        </p:nvSpPr>
        <p:spPr>
          <a:xfrm>
            <a:off x="1142277" y="1949564"/>
            <a:ext cx="900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内联式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@media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&lt;style&gt;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标签中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CF324B-D511-4293-A5F4-800C6F0AC512}"/>
              </a:ext>
            </a:extLst>
          </p:cNvPr>
          <p:cNvSpPr txBox="1"/>
          <p:nvPr/>
        </p:nvSpPr>
        <p:spPr>
          <a:xfrm>
            <a:off x="3394562" y="2451795"/>
            <a:ext cx="4860884" cy="2634183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indent="271145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&lt;style&gt;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indent="271145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@media screen and (min-width:640px){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indent="271145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body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indent="271145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background-color: pink;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indent="271145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indent="271145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indent="271145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&lt;/style&gt;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5BA10A-E7FA-4AA7-80D1-42E5B617DFD5}"/>
              </a:ext>
            </a:extLst>
          </p:cNvPr>
          <p:cNvSpPr txBox="1"/>
          <p:nvPr/>
        </p:nvSpPr>
        <p:spPr>
          <a:xfrm>
            <a:off x="1414686" y="5170180"/>
            <a:ext cx="94330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利用媒体查询实现当页面宽度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大于等于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640px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样式进行修改，将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的背景色改为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pink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（粉红色）。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76">
            <a:extLst>
              <a:ext uri="{FF2B5EF4-FFF2-40B4-BE49-F238E27FC236}">
                <a16:creationId xmlns:a16="http://schemas.microsoft.com/office/drawing/2014/main" id="{6A338D84-E456-4AF8-A7A7-DCFDDA9B0EF9}"/>
              </a:ext>
            </a:extLst>
          </p:cNvPr>
          <p:cNvSpPr txBox="1"/>
          <p:nvPr/>
        </p:nvSpPr>
        <p:spPr>
          <a:xfrm>
            <a:off x="1143691" y="1179043"/>
            <a:ext cx="3295331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媒体查询的使用方法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44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媒体查询的概念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4125CC-F407-473A-A107-472B0A5E9BCA}"/>
              </a:ext>
            </a:extLst>
          </p:cNvPr>
          <p:cNvSpPr txBox="1"/>
          <p:nvPr/>
        </p:nvSpPr>
        <p:spPr>
          <a:xfrm>
            <a:off x="1142277" y="1845618"/>
            <a:ext cx="9813469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外联式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通过单独的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从外部引入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@media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文件中即可。此外，还可以在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&lt;link&gt;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标签中使用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media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属性替代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@media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CF324B-D511-4293-A5F4-800C6F0AC512}"/>
              </a:ext>
            </a:extLst>
          </p:cNvPr>
          <p:cNvSpPr txBox="1"/>
          <p:nvPr/>
        </p:nvSpPr>
        <p:spPr>
          <a:xfrm>
            <a:off x="1497802" y="3097579"/>
            <a:ext cx="9433048" cy="54854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indent="271145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&lt;link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="style.css" media="screen and (min-width:640px)" ref="stylesheet"&gt;</a:t>
            </a:r>
          </a:p>
          <a:p>
            <a:pPr indent="271145" algn="ctr">
              <a:lnSpc>
                <a:spcPct val="150000"/>
              </a:lnSpc>
              <a:defRPr/>
            </a:pPr>
            <a:endParaRPr lang="zh-CN" altLang="zh-CN" sz="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5BA10A-E7FA-4AA7-80D1-42E5B617DFD5}"/>
              </a:ext>
            </a:extLst>
          </p:cNvPr>
          <p:cNvSpPr txBox="1"/>
          <p:nvPr/>
        </p:nvSpPr>
        <p:spPr>
          <a:xfrm>
            <a:off x="1522698" y="3861842"/>
            <a:ext cx="9433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利用媒体查询实现当页面宽度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大于等于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640px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中的样式就会生效。</a:t>
            </a:r>
          </a:p>
        </p:txBody>
      </p:sp>
      <p:sp>
        <p:nvSpPr>
          <p:cNvPr id="9" name="TextBox 76">
            <a:extLst>
              <a:ext uri="{FF2B5EF4-FFF2-40B4-BE49-F238E27FC236}">
                <a16:creationId xmlns:a16="http://schemas.microsoft.com/office/drawing/2014/main" id="{C96F362A-C336-456C-A2CA-B8C07C93422B}"/>
              </a:ext>
            </a:extLst>
          </p:cNvPr>
          <p:cNvSpPr txBox="1"/>
          <p:nvPr/>
        </p:nvSpPr>
        <p:spPr>
          <a:xfrm>
            <a:off x="1143691" y="1179043"/>
            <a:ext cx="3295331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媒体查询的使用方法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38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媒体</a:t>
            </a:r>
            <a:r>
              <a: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查询实现响应式</a:t>
            </a:r>
            <a:r>
              <a:rPr lang="zh-CN" altLang="en-US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布局容器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能够使用媒体查询实现响应式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页面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BF3C9308-1DB6-4CB7-8351-575EE215AEA6}"/>
              </a:ext>
            </a:extLst>
          </p:cNvPr>
          <p:cNvSpPr txBox="1"/>
          <p:nvPr/>
        </p:nvSpPr>
        <p:spPr>
          <a:xfrm>
            <a:off x="1143690" y="333449"/>
            <a:ext cx="5671595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媒体查询实现响应式布局容器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0318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671595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媒体查询实现响应式布局容器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5"/>
          <p:cNvSpPr txBox="1">
            <a:spLocks noChangeArrowheads="1"/>
          </p:cNvSpPr>
          <p:nvPr/>
        </p:nvSpPr>
        <p:spPr bwMode="auto">
          <a:xfrm>
            <a:off x="1119502" y="1341562"/>
            <a:ext cx="9958821" cy="2561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响应式网站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布局容器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来控制页面中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元素的大小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布局变化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布局容器：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父级元素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，它用来配合子级元素实现变化效果。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媒体查询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可以改变不同屏幕下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布局容器的大小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，以及布局容器中的子元素的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排列方式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，从而实现在不同屏幕下使页面布局和样式发生变化。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91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76"/>
          <p:cNvSpPr txBox="1"/>
          <p:nvPr/>
        </p:nvSpPr>
        <p:spPr>
          <a:xfrm>
            <a:off x="1142277" y="1095921"/>
            <a:ext cx="3728793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响应式布局容器宽度划分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媒体查询实现响应式布局容器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7A46A4A-5481-4252-BB6D-BAED54016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678816"/>
              </p:ext>
            </p:extLst>
          </p:nvPr>
        </p:nvGraphicFramePr>
        <p:xfrm>
          <a:off x="1143691" y="1826905"/>
          <a:ext cx="9920067" cy="376312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01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9049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  <a:gridCol w="3709049">
                  <a:extLst>
                    <a:ext uri="{9D8B030D-6E8A-4147-A177-3AD203B41FA5}">
                      <a16:colId xmlns:a16="http://schemas.microsoft.com/office/drawing/2014/main" val="2588385812"/>
                    </a:ext>
                  </a:extLst>
                </a:gridCol>
              </a:tblGrid>
              <a:tr h="61865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设备划分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屏幕宽度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布局容器宽度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47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超小屏幕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&lt;576px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35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小屏幕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≥576px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540px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35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中等屏幕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≥768px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720px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22124"/>
                  </a:ext>
                </a:extLst>
              </a:tr>
              <a:tr h="62935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大屏幕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≥992px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960px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597130"/>
                  </a:ext>
                </a:extLst>
              </a:tr>
              <a:tr h="62935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超大屏幕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≥1200px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1140px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768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96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媒体查询实现响应式布局容器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D5E912E-A4D0-491D-AED2-776C49C05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958" y="1850050"/>
            <a:ext cx="3672408" cy="376638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CE5EA1A-714E-4A53-9284-8DBB8FDE0AB9}"/>
              </a:ext>
            </a:extLst>
          </p:cNvPr>
          <p:cNvSpPr txBox="1"/>
          <p:nvPr/>
        </p:nvSpPr>
        <p:spPr>
          <a:xfrm>
            <a:off x="838622" y="1157476"/>
            <a:ext cx="6552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使用媒体查询实现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响应式布局容器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，效果如图：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790679-0460-498E-B8C3-FBF1618045DF}"/>
              </a:ext>
            </a:extLst>
          </p:cNvPr>
          <p:cNvSpPr txBox="1"/>
          <p:nvPr/>
        </p:nvSpPr>
        <p:spPr>
          <a:xfrm>
            <a:off x="3358902" y="5738482"/>
            <a:ext cx="489654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浏览器窗口宽度小于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576px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时页面效果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96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媒体查询实现响应式布局容器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790679-0460-498E-B8C3-FBF1618045DF}"/>
              </a:ext>
            </a:extLst>
          </p:cNvPr>
          <p:cNvSpPr txBox="1"/>
          <p:nvPr/>
        </p:nvSpPr>
        <p:spPr>
          <a:xfrm>
            <a:off x="3358902" y="5234426"/>
            <a:ext cx="489654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浏览器窗口宽度大于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576px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时页面效果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B2B14EE-9C71-4C29-979F-C36C08132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958" y="1917626"/>
            <a:ext cx="3744416" cy="320861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6710063-F7F5-4062-98E1-2137C79C29EE}"/>
              </a:ext>
            </a:extLst>
          </p:cNvPr>
          <p:cNvSpPr txBox="1"/>
          <p:nvPr/>
        </p:nvSpPr>
        <p:spPr>
          <a:xfrm>
            <a:off x="838622" y="1157476"/>
            <a:ext cx="6552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使用媒体查询实现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响应式布局容器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，效果如图：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07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使用媒体查询实现响应式布局容器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68FA71E-4971-4698-8AF0-070271261C17}"/>
              </a:ext>
            </a:extLst>
          </p:cNvPr>
          <p:cNvSpPr txBox="1"/>
          <p:nvPr/>
        </p:nvSpPr>
        <p:spPr>
          <a:xfrm>
            <a:off x="3059949" y="2127757"/>
            <a:ext cx="4907465" cy="4542397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&lt;style&gt;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body {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padding:0;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margin:0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.container {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height: 50px;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background: #ddd;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 margin: 0 auto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}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&lt;/style&gt;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class="container"&gt;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布局容器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&lt;/div&gt;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8962999-4FA5-4F80-B01C-AECE33BB829E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18" name="圆角矩形 4">
              <a:extLst>
                <a:ext uri="{FF2B5EF4-FFF2-40B4-BE49-F238E27FC236}">
                  <a16:creationId xmlns:a16="http://schemas.microsoft.com/office/drawing/2014/main" id="{A19D45C5-F0BD-48AF-854F-68A96DA027A3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1F20156-81C1-4D0C-9724-BE9DA8D3732D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20" name="1">
            <a:extLst>
              <a:ext uri="{FF2B5EF4-FFF2-40B4-BE49-F238E27FC236}">
                <a16:creationId xmlns:a16="http://schemas.microsoft.com/office/drawing/2014/main" id="{2670AE6F-BCC5-47AF-BB87-CB00E950170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22842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定义布局容器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C:\code\chapter04\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demo01.html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文件，定义布局容器。</a:t>
            </a:r>
          </a:p>
        </p:txBody>
      </p:sp>
    </p:spTree>
    <p:extLst>
      <p:ext uri="{BB962C8B-B14F-4D97-AF65-F5344CB8AC3E}">
        <p14:creationId xmlns:p14="http://schemas.microsoft.com/office/powerpoint/2010/main" val="49046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使用媒体查询实现响应式布局容器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68FA71E-4971-4698-8AF0-070271261C17}"/>
              </a:ext>
            </a:extLst>
          </p:cNvPr>
          <p:cNvSpPr txBox="1"/>
          <p:nvPr/>
        </p:nvSpPr>
        <p:spPr>
          <a:xfrm>
            <a:off x="3059949" y="2565698"/>
            <a:ext cx="5915577" cy="3902222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/*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超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小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屏幕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（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小于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576px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）布局容器的宽度为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100% */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@media screen and (max-width: 575px)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.container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width: 100%;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/*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小屏幕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（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大于等于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576px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）布局容器的宽度为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540px */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@media screen and (min-width: 576px)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.container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width: 540px;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8962999-4FA5-4F80-B01C-AECE33BB829E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18" name="圆角矩形 4">
              <a:extLst>
                <a:ext uri="{FF2B5EF4-FFF2-40B4-BE49-F238E27FC236}">
                  <a16:creationId xmlns:a16="http://schemas.microsoft.com/office/drawing/2014/main" id="{A19D45C5-F0BD-48AF-854F-68A96DA027A3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1F20156-81C1-4D0C-9724-BE9DA8D3732D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20" name="1">
            <a:extLst>
              <a:ext uri="{FF2B5EF4-FFF2-40B4-BE49-F238E27FC236}">
                <a16:creationId xmlns:a16="http://schemas.microsoft.com/office/drawing/2014/main" id="{2670AE6F-BCC5-47AF-BB87-CB00E950170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2284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设置超</a:t>
            </a:r>
            <a:r>
              <a:rPr lang="zh-CN" altLang="en-US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小屏幕、小屏幕下</a:t>
            </a: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布局容器宽度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demo01.html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小屏幕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576px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布局容器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的宽度为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小屏幕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大于等于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576px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布局容器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的宽度为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540px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0382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使用媒体查询实现响应式布局容器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8962999-4FA5-4F80-B01C-AECE33BB829E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18" name="圆角矩形 4">
              <a:extLst>
                <a:ext uri="{FF2B5EF4-FFF2-40B4-BE49-F238E27FC236}">
                  <a16:creationId xmlns:a16="http://schemas.microsoft.com/office/drawing/2014/main" id="{A19D45C5-F0BD-48AF-854F-68A96DA027A3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1F20156-81C1-4D0C-9724-BE9DA8D3732D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03 </a:t>
              </a:r>
            </a:p>
          </p:txBody>
        </p:sp>
      </p:grpSp>
      <p:sp>
        <p:nvSpPr>
          <p:cNvPr id="20" name="1">
            <a:extLst>
              <a:ext uri="{FF2B5EF4-FFF2-40B4-BE49-F238E27FC236}">
                <a16:creationId xmlns:a16="http://schemas.microsoft.com/office/drawing/2014/main" id="{2670AE6F-BCC5-47AF-BB87-CB00E950170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60996" y="981522"/>
            <a:ext cx="872284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在浏览器中访问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demo01.html</a:t>
            </a: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</a:t>
            </a:r>
          </a:p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浏览器窗口宽度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小于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576px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时页面效果。</a:t>
            </a:r>
          </a:p>
          <a:p>
            <a:pPr lvl="0" defTabSz="457200">
              <a:lnSpc>
                <a:spcPct val="150000"/>
              </a:lnSpc>
              <a:defRPr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F8AC009-FCE1-43E8-BA03-C0798AA31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902" y="2205658"/>
            <a:ext cx="3960440" cy="406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2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使用媒体查询实现响应式布局容器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8962999-4FA5-4F80-B01C-AECE33BB829E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18" name="圆角矩形 4">
              <a:extLst>
                <a:ext uri="{FF2B5EF4-FFF2-40B4-BE49-F238E27FC236}">
                  <a16:creationId xmlns:a16="http://schemas.microsoft.com/office/drawing/2014/main" id="{A19D45C5-F0BD-48AF-854F-68A96DA027A3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1F20156-81C1-4D0C-9724-BE9DA8D3732D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04 </a:t>
              </a:r>
            </a:p>
          </p:txBody>
        </p:sp>
      </p:grpSp>
      <p:sp>
        <p:nvSpPr>
          <p:cNvPr id="20" name="1">
            <a:extLst>
              <a:ext uri="{FF2B5EF4-FFF2-40B4-BE49-F238E27FC236}">
                <a16:creationId xmlns:a16="http://schemas.microsoft.com/office/drawing/2014/main" id="{2670AE6F-BCC5-47AF-BB87-CB00E950170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60996" y="981522"/>
            <a:ext cx="8722842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在浏览器中访问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demo01.html</a:t>
            </a: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</a:t>
            </a: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浏览器窗口宽度</a:t>
            </a:r>
            <a:r>
              <a:rPr lang="zh-CN" altLang="en-US" sz="2000" kern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大于</a:t>
            </a:r>
            <a:r>
              <a:rPr lang="en-US" altLang="zh-CN" sz="2000" kern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576px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时页面效果。</a:t>
            </a:r>
          </a:p>
          <a:p>
            <a:pPr defTabSz="457200">
              <a:lnSpc>
                <a:spcPct val="150000"/>
              </a:lnSpc>
              <a:defRPr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23CD1C1-16DC-4447-A17F-EDE0E1B26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917" y="2349674"/>
            <a:ext cx="4117587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22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使用媒体查询实现响应式布局容器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8962999-4FA5-4F80-B01C-AECE33BB829E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18" name="圆角矩形 4">
              <a:extLst>
                <a:ext uri="{FF2B5EF4-FFF2-40B4-BE49-F238E27FC236}">
                  <a16:creationId xmlns:a16="http://schemas.microsoft.com/office/drawing/2014/main" id="{A19D45C5-F0BD-48AF-854F-68A96DA027A3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1F20156-81C1-4D0C-9724-BE9DA8D3732D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05 </a:t>
              </a:r>
            </a:p>
          </p:txBody>
        </p:sp>
      </p:grpSp>
      <p:sp>
        <p:nvSpPr>
          <p:cNvPr id="20" name="1">
            <a:extLst>
              <a:ext uri="{FF2B5EF4-FFF2-40B4-BE49-F238E27FC236}">
                <a16:creationId xmlns:a16="http://schemas.microsoft.com/office/drawing/2014/main" id="{2670AE6F-BCC5-47AF-BB87-CB00E950170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722842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设置中等屏幕下</a:t>
            </a: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布局容器宽度</a:t>
            </a:r>
          </a:p>
          <a:p>
            <a:pPr defTabSz="457200">
              <a:lnSpc>
                <a:spcPct val="150000"/>
              </a:lnSpc>
              <a:defRPr/>
            </a:pP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</a:t>
            </a:r>
            <a:r>
              <a:rPr lang="en-US" altLang="zh-CN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demo01.html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文件，</a:t>
            </a:r>
            <a:r>
              <a:rPr lang="zh-CN" altLang="en-US" sz="2000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</a:t>
            </a:r>
            <a:r>
              <a:rPr lang="zh-CN" altLang="en-US" sz="2000" kern="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中等屏幕</a:t>
            </a:r>
            <a:r>
              <a:rPr lang="zh-CN" altLang="en-US" sz="2000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大于等于</a:t>
            </a:r>
            <a:r>
              <a:rPr lang="en-US" altLang="zh-CN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768px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）下</a:t>
            </a:r>
            <a:r>
              <a:rPr lang="zh-CN" altLang="en-US" sz="2000" kern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布局容器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的宽度为</a:t>
            </a:r>
            <a:r>
              <a:rPr lang="en-US" altLang="zh-CN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720px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  <a:p>
            <a:pPr lvl="0" defTabSz="457200">
              <a:lnSpc>
                <a:spcPct val="150000"/>
              </a:lnSpc>
              <a:defRPr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AA2AC4-FE05-4F9C-8A1E-256C65F40A15}"/>
              </a:ext>
            </a:extLst>
          </p:cNvPr>
          <p:cNvSpPr txBox="1"/>
          <p:nvPr/>
        </p:nvSpPr>
        <p:spPr>
          <a:xfrm>
            <a:off x="3059949" y="2910056"/>
            <a:ext cx="5555537" cy="2308324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/*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中等屏幕（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大于等于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768px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）布局容器宽度为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720px */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@media screen and (min-width: 768px)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.container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width: 720px;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753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使用媒体查询实现响应式布局容器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8962999-4FA5-4F80-B01C-AECE33BB829E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18" name="圆角矩形 4">
              <a:extLst>
                <a:ext uri="{FF2B5EF4-FFF2-40B4-BE49-F238E27FC236}">
                  <a16:creationId xmlns:a16="http://schemas.microsoft.com/office/drawing/2014/main" id="{A19D45C5-F0BD-48AF-854F-68A96DA027A3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1F20156-81C1-4D0C-9724-BE9DA8D3732D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05 </a:t>
              </a:r>
            </a:p>
          </p:txBody>
        </p:sp>
      </p:grpSp>
      <p:sp>
        <p:nvSpPr>
          <p:cNvPr id="20" name="1">
            <a:extLst>
              <a:ext uri="{FF2B5EF4-FFF2-40B4-BE49-F238E27FC236}">
                <a16:creationId xmlns:a16="http://schemas.microsoft.com/office/drawing/2014/main" id="{2670AE6F-BCC5-47AF-BB87-CB00E950170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981522"/>
            <a:ext cx="8334419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b="1" kern="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设置大屏幕、超大屏幕下</a:t>
            </a: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布局容器宽度</a:t>
            </a:r>
          </a:p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大屏幕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大于等于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992px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）下布局容器的宽度为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960px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大屏幕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大于等于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1200px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）下布局容器的宽度为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1140px </a:t>
            </a:r>
            <a:r>
              <a:rPr lang="zh-CN" altLang="en-US" sz="2000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  <a:p>
            <a:pPr lvl="0" defTabSz="457200">
              <a:lnSpc>
                <a:spcPct val="150000"/>
              </a:lnSpc>
              <a:defRPr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404ADC-AAEA-4375-BF2B-BF3DD481110C}"/>
              </a:ext>
            </a:extLst>
          </p:cNvPr>
          <p:cNvSpPr txBox="1"/>
          <p:nvPr/>
        </p:nvSpPr>
        <p:spPr>
          <a:xfrm>
            <a:off x="2998862" y="2565698"/>
            <a:ext cx="5699553" cy="3902222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/*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大屏幕（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大于等于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992px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）布局容器宽度为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960px */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@media screen and (min-width: 992px) {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.container {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width: 960px;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/*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超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大屏幕（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大于等于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1200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）布局容器宽度为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1140px */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@media screen and (min-width: 1200px) {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.container {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width: 1140px;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</a:t>
            </a:r>
          </a:p>
          <a:p>
            <a:pPr lvl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790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栅格系统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</a:t>
            </a:r>
          </a:p>
        </p:txBody>
      </p:sp>
    </p:spTree>
    <p:extLst>
      <p:ext uri="{BB962C8B-B14F-4D97-AF65-F5344CB8AC3E}">
        <p14:creationId xmlns:p14="http://schemas.microsoft.com/office/powerpoint/2010/main" val="70905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系统的概念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能够说出栅格系统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的作用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栅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格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系统的概念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201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栅格系统的概念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A87976E2-2EB9-414A-ABC2-6FEC7347D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2141132"/>
            <a:ext cx="10441160" cy="2584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栅格系统的由来：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最早是应用于印刷媒体上的。在印刷媒体中，一个印刷版面上划分了若干个格子。每个格子的大小都是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平均分配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出来的，通过计算格子的份数来实现页面布局，有了这些格子以后，再进行排版的时候就非常方便了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7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网页中的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栅格系统（又称网格系统）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就是用固定的格子进行网页布局，是一种清晰、工整的设计风格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TextBox 76">
            <a:extLst>
              <a:ext uri="{FF2B5EF4-FFF2-40B4-BE49-F238E27FC236}">
                <a16:creationId xmlns:a16="http://schemas.microsoft.com/office/drawing/2014/main" id="{697B033F-0D2C-4244-8907-59D9E1DF0767}"/>
              </a:ext>
            </a:extLst>
          </p:cNvPr>
          <p:cNvSpPr txBox="1"/>
          <p:nvPr/>
        </p:nvSpPr>
        <p:spPr>
          <a:xfrm>
            <a:off x="1143691" y="1349044"/>
            <a:ext cx="2359227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什么是栅格系统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97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栅格系统的概念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3211F07-BE49-48A4-BB57-38DC253B2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053" y="2046671"/>
            <a:ext cx="2251856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F684C56-1860-4C6A-8797-333575F735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722274"/>
              </p:ext>
            </p:extLst>
          </p:nvPr>
        </p:nvGraphicFramePr>
        <p:xfrm>
          <a:off x="4307037" y="1845618"/>
          <a:ext cx="3576338" cy="403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" name="Visio" r:id="rId3" imgW="3653278" imgH="4229280" progId="Visio.Drawing.11">
                  <p:embed/>
                </p:oleObj>
              </mc:Choice>
              <mc:Fallback>
                <p:oleObj name="Visio" r:id="rId3" imgW="3653278" imgH="422928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7037" y="1845618"/>
                        <a:ext cx="3576338" cy="4039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35">
            <a:extLst>
              <a:ext uri="{FF2B5EF4-FFF2-40B4-BE49-F238E27FC236}">
                <a16:creationId xmlns:a16="http://schemas.microsoft.com/office/drawing/2014/main" id="{A4289DDA-C920-45C2-993F-B0BBDB815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958" y="5734050"/>
            <a:ext cx="494149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栅格系统示意图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76">
            <a:extLst>
              <a:ext uri="{FF2B5EF4-FFF2-40B4-BE49-F238E27FC236}">
                <a16:creationId xmlns:a16="http://schemas.microsoft.com/office/drawing/2014/main" id="{354B7256-1B6B-4867-9B25-5230790DB9A1}"/>
              </a:ext>
            </a:extLst>
          </p:cNvPr>
          <p:cNvSpPr txBox="1"/>
          <p:nvPr/>
        </p:nvSpPr>
        <p:spPr>
          <a:xfrm>
            <a:off x="1143691" y="1125538"/>
            <a:ext cx="243123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栅格系统示意图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88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栅格系统的概念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A87976E2-2EB9-414A-ABC2-6FEC7347D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125538"/>
            <a:ext cx="10441160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栅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格系统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被应用于网页布局中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，随着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响应式设计的流行，栅格系统开始被赋予了新的意义，即一种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响应式设计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的实现方式。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6EA228-E510-40B8-807B-BFCA471F7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987" y="2102174"/>
            <a:ext cx="6773410" cy="2767780"/>
          </a:xfrm>
          <a:prstGeom prst="rect">
            <a:avLst/>
          </a:prstGeom>
        </p:spPr>
      </p:pic>
      <p:sp>
        <p:nvSpPr>
          <p:cNvPr id="7" name="TextBox 35">
            <a:extLst>
              <a:ext uri="{FF2B5EF4-FFF2-40B4-BE49-F238E27FC236}">
                <a16:creationId xmlns:a16="http://schemas.microsoft.com/office/drawing/2014/main" id="{6F715183-06F0-4F3F-8483-0D5CF3D61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4966" y="4699596"/>
            <a:ext cx="494149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响应式栅格系统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82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4" y="3576722"/>
            <a:ext cx="5319801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熟悉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简单版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格系统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能够动手实现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简单版栅格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C7EF5B0E-6800-458B-9950-4F56FDEB11D0}"/>
              </a:ext>
            </a:extLst>
          </p:cNvPr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动手实现简单版栅格系统</a:t>
            </a:r>
          </a:p>
        </p:txBody>
      </p:sp>
    </p:spTree>
    <p:extLst>
      <p:ext uri="{BB962C8B-B14F-4D97-AF65-F5344CB8AC3E}">
        <p14:creationId xmlns:p14="http://schemas.microsoft.com/office/powerpoint/2010/main" val="1634581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C7EF5B0E-6800-458B-9950-4F56FDEB11D0}"/>
              </a:ext>
            </a:extLst>
          </p:cNvPr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动手实现简单版栅格系统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4258203-D1A7-4AA2-89D9-5252313B1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043" y="2421682"/>
            <a:ext cx="4697583" cy="131313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326AE4A-A2F4-42FA-87FA-EFFE7F32E4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205" y="1845354"/>
            <a:ext cx="4103573" cy="338464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4E602A0-8804-410E-B89F-912410704A08}"/>
              </a:ext>
            </a:extLst>
          </p:cNvPr>
          <p:cNvSpPr txBox="1"/>
          <p:nvPr/>
        </p:nvSpPr>
        <p:spPr>
          <a:xfrm>
            <a:off x="910630" y="1157476"/>
            <a:ext cx="47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简单版栅格系统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，效果如图：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extBox 35">
            <a:extLst>
              <a:ext uri="{FF2B5EF4-FFF2-40B4-BE49-F238E27FC236}">
                <a16:creationId xmlns:a16="http://schemas.microsoft.com/office/drawing/2014/main" id="{09FAC0E9-1508-4029-A7CE-51CD00966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8596" y="3645818"/>
            <a:ext cx="494149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列横向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排列页面效果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23FF7D57-0B8A-4A42-B74A-A03E89102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8290" y="5112320"/>
            <a:ext cx="494149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列纵向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排列页面效果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14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动手实现简单版栅格系统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52646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1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22842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设置页面结构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C:\code\chapter04\demo02.html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配置视口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68FA71E-4971-4698-8AF0-070271261C17}"/>
              </a:ext>
            </a:extLst>
          </p:cNvPr>
          <p:cNvSpPr txBox="1"/>
          <p:nvPr/>
        </p:nvSpPr>
        <p:spPr>
          <a:xfrm>
            <a:off x="2494806" y="2294192"/>
            <a:ext cx="7200800" cy="4154984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name="viewport" content="user-scalable=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no,width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=device-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width,initial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-scale=1.0, maximum-scale=1.0"&gt;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简单版栅格系统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&lt;/title&gt;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36195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动手实现简单版栅格系统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01</a:t>
              </a:r>
            </a:p>
          </p:txBody>
        </p:sp>
      </p:grpSp>
      <p:sp>
        <p:nvSpPr>
          <p:cNvPr id="11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22842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设置页面结构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&lt;body&gt;&lt;/body&gt;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之间添加代码，定义行和列基本的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页面结构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68FA71E-4971-4698-8AF0-070271261C17}"/>
              </a:ext>
            </a:extLst>
          </p:cNvPr>
          <p:cNvSpPr txBox="1"/>
          <p:nvPr/>
        </p:nvSpPr>
        <p:spPr>
          <a:xfrm>
            <a:off x="2926854" y="2442503"/>
            <a:ext cx="6336704" cy="300351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&lt;div class="row"&gt;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&lt;div class="col1"&gt;1&lt;/div&gt;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&lt;div class="col1"&gt;2&lt;/div&gt;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&lt;div class="col1"&gt;3&lt;/div&gt;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&lt;div class="col1"&gt;4&lt;/div&gt;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&lt;div class="col1"&gt;5&lt;/div&gt;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&lt;div class="col1"&gt;6&lt;/div&gt;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</p:txBody>
      </p:sp>
    </p:spTree>
    <p:extLst>
      <p:ext uri="{BB962C8B-B14F-4D97-AF65-F5344CB8AC3E}">
        <p14:creationId xmlns:p14="http://schemas.microsoft.com/office/powerpoint/2010/main" val="2962661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动手实现简单版栅格系统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02</a:t>
              </a:r>
            </a:p>
          </p:txBody>
        </p:sp>
      </p:grpSp>
      <p:sp>
        <p:nvSpPr>
          <p:cNvPr id="11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22842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设置排列效果（浏览器窗口大于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576px</a:t>
            </a: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时）</a:t>
            </a:r>
          </a:p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demo02.html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文件，实现栅格系统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6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列横向排列效果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68FA71E-4971-4698-8AF0-070271261C17}"/>
              </a:ext>
            </a:extLst>
          </p:cNvPr>
          <p:cNvSpPr txBox="1"/>
          <p:nvPr/>
        </p:nvSpPr>
        <p:spPr>
          <a:xfrm>
            <a:off x="2062758" y="2414628"/>
            <a:ext cx="8064896" cy="3785652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&lt;style&gt;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.row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width: 80%;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margin: 0 auto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/* CSS3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新增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[attribute^=value]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选择器，用于匹配属性值以指定值开头的每个元素 *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[class^="col"] {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float: left;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background-color: #e0e0e0;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92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动手实现简单版栅格系统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03</a:t>
              </a:r>
            </a:p>
          </p:txBody>
        </p:sp>
      </p:grpSp>
      <p:sp>
        <p:nvSpPr>
          <p:cNvPr id="11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22842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设置排列效果（浏览器窗口大于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576px</a:t>
            </a: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时）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文件，继续编写代码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实现栅格系统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列横向排列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A8704FE-CA2C-4C17-9574-435B05ACF034}"/>
              </a:ext>
            </a:extLst>
          </p:cNvPr>
          <p:cNvSpPr txBox="1"/>
          <p:nvPr/>
        </p:nvSpPr>
        <p:spPr>
          <a:xfrm>
            <a:off x="3358902" y="2493690"/>
            <a:ext cx="4824536" cy="3096344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.col1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width: 16%;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border: 1px solid #fff;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text-align: center;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height: 50px;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line-height: 50px;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29602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动手实现简单版栅格系统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04</a:t>
              </a:r>
            </a:p>
          </p:txBody>
        </p:sp>
      </p:grpSp>
      <p:sp>
        <p:nvSpPr>
          <p:cNvPr id="11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22842" cy="10536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在浏览器中访问</a:t>
            </a:r>
            <a:r>
              <a:rPr lang="en-US" altLang="zh-CN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demo02.html</a:t>
            </a:r>
            <a:r>
              <a:rPr lang="zh-CN" altLang="en-US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</a:t>
            </a:r>
            <a:endParaRPr lang="en-US" altLang="zh-CN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列横向排列页面效果。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15FCB14-0AE4-4ACB-8710-6B90566F7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838" y="2525497"/>
            <a:ext cx="6412024" cy="1792379"/>
          </a:xfrm>
          <a:prstGeom prst="rect">
            <a:avLst/>
          </a:prstGeom>
        </p:spPr>
      </p:pic>
      <p:sp>
        <p:nvSpPr>
          <p:cNvPr id="14" name="TextBox 35">
            <a:extLst>
              <a:ext uri="{FF2B5EF4-FFF2-40B4-BE49-F238E27FC236}">
                <a16:creationId xmlns:a16="http://schemas.microsoft.com/office/drawing/2014/main" id="{5ABABF0B-AE8F-4F49-933D-D974627E7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3997" y="4267548"/>
            <a:ext cx="494149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列横向排列页面效果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656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动手实现简单版栅格系统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05</a:t>
              </a:r>
            </a:p>
          </p:txBody>
        </p:sp>
      </p:grpSp>
      <p:sp>
        <p:nvSpPr>
          <p:cNvPr id="11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22842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设置排列效果（浏览器窗口小于或等于</a:t>
            </a:r>
            <a:r>
              <a:rPr lang="en-US" altLang="zh-CN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576px</a:t>
            </a: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时）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demo02.html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实现栅格系统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纵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向排列效果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A8704FE-CA2C-4C17-9574-435B05ACF034}"/>
              </a:ext>
            </a:extLst>
          </p:cNvPr>
          <p:cNvSpPr txBox="1"/>
          <p:nvPr/>
        </p:nvSpPr>
        <p:spPr>
          <a:xfrm>
            <a:off x="3070870" y="2605103"/>
            <a:ext cx="5472608" cy="2264851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@media screen and (max-width: 576px)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[class^="col"]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float: none;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width: 100%;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621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333449"/>
            <a:ext cx="5527579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动手实现简单版栅格系统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06</a:t>
              </a:r>
            </a:p>
          </p:txBody>
        </p:sp>
      </p:grpSp>
      <p:sp>
        <p:nvSpPr>
          <p:cNvPr id="11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722842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在浏览器中访问</a:t>
            </a:r>
            <a:r>
              <a:rPr lang="en-US" altLang="zh-CN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demo02.html</a:t>
            </a:r>
            <a:r>
              <a:rPr lang="zh-CN" altLang="en-US" sz="24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</a:t>
            </a:r>
            <a:endParaRPr lang="en-US" altLang="zh-CN" sz="24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列纵向排列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页面效果。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428D469-CFFB-4CFA-8AF3-E10370E307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861" y="2493426"/>
            <a:ext cx="4103573" cy="3384640"/>
          </a:xfrm>
          <a:prstGeom prst="rect">
            <a:avLst/>
          </a:prstGeom>
        </p:spPr>
      </p:pic>
      <p:sp>
        <p:nvSpPr>
          <p:cNvPr id="14" name="TextBox 35">
            <a:extLst>
              <a:ext uri="{FF2B5EF4-FFF2-40B4-BE49-F238E27FC236}">
                <a16:creationId xmlns:a16="http://schemas.microsoft.com/office/drawing/2014/main" id="{74C5E3CF-ABFF-4802-A9FB-B06204CBD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8902" y="5851724"/>
            <a:ext cx="494149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列纵向排列页面效果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56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弹性盒布局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</a:t>
            </a:r>
          </a:p>
        </p:txBody>
      </p:sp>
    </p:spTree>
    <p:extLst>
      <p:ext uri="{BB962C8B-B14F-4D97-AF65-F5344CB8AC3E}">
        <p14:creationId xmlns:p14="http://schemas.microsoft.com/office/powerpoint/2010/main" val="248721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弹性盒布局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28DAFD-1436-46A2-9151-071BB6C34AB7}"/>
              </a:ext>
            </a:extLst>
          </p:cNvPr>
          <p:cNvSpPr txBox="1"/>
          <p:nvPr/>
        </p:nvSpPr>
        <p:spPr>
          <a:xfrm>
            <a:off x="1270670" y="1011503"/>
            <a:ext cx="94330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日常生活中，我们经常浏览一些网站，网站中是如何使用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弹性盒布局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的呢？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FE7B74-1152-419C-8918-B50DC5156B3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2" b="60322"/>
          <a:stretch/>
        </p:blipFill>
        <p:spPr>
          <a:xfrm>
            <a:off x="3718942" y="1734214"/>
            <a:ext cx="4206710" cy="371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28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lang="zh-CN" altLang="en-US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弹性</a:t>
            </a:r>
            <a:r>
              <a: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盒</a:t>
            </a:r>
            <a:r>
              <a:rPr lang="zh-CN" altLang="en-US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布局的概念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说出弹性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盒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布局的结构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什么是弹性盒布局</a:t>
            </a:r>
          </a:p>
        </p:txBody>
      </p:sp>
    </p:spTree>
    <p:extLst>
      <p:ext uri="{BB962C8B-B14F-4D97-AF65-F5344CB8AC3E}">
        <p14:creationId xmlns:p14="http://schemas.microsoft.com/office/powerpoint/2010/main" val="39013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什么是弹性盒布局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A87976E2-2EB9-414A-ABC2-6FEC7347D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773610"/>
            <a:ext cx="10441160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到响应式，就不得不提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CSS3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中的弹性盒布局了，它可以轻松地创建响应式网页布局。弹性盒改进了盒子模型，既不使用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浮动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，也不会合并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弹性盒容器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与其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内容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之间的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外边距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，是一种非常灵活的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布局方法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</a:p>
        </p:txBody>
      </p:sp>
      <p:sp>
        <p:nvSpPr>
          <p:cNvPr id="9" name="TextBox 76">
            <a:extLst>
              <a:ext uri="{FF2B5EF4-FFF2-40B4-BE49-F238E27FC236}">
                <a16:creationId xmlns:a16="http://schemas.microsoft.com/office/drawing/2014/main" id="{697B033F-0D2C-4244-8907-59D9E1DF0767}"/>
              </a:ext>
            </a:extLst>
          </p:cNvPr>
          <p:cNvSpPr txBox="1"/>
          <p:nvPr/>
        </p:nvSpPr>
        <p:spPr>
          <a:xfrm>
            <a:off x="1143691" y="1179043"/>
            <a:ext cx="305432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什么是弹性盒布局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923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什么是弹性盒布局</a:t>
            </a:r>
          </a:p>
        </p:txBody>
      </p:sp>
      <p:sp>
        <p:nvSpPr>
          <p:cNvPr id="9" name="TextBox 76">
            <a:extLst>
              <a:ext uri="{FF2B5EF4-FFF2-40B4-BE49-F238E27FC236}">
                <a16:creationId xmlns:a16="http://schemas.microsoft.com/office/drawing/2014/main" id="{697B033F-0D2C-4244-8907-59D9E1DF0767}"/>
              </a:ext>
            </a:extLst>
          </p:cNvPr>
          <p:cNvSpPr txBox="1"/>
          <p:nvPr/>
        </p:nvSpPr>
        <p:spPr>
          <a:xfrm>
            <a:off x="1143691" y="1179043"/>
            <a:ext cx="2287219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弹性盒结构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92F3907-09F9-4BF5-8C5D-81B3C6F166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827111"/>
              </p:ext>
            </p:extLst>
          </p:nvPr>
        </p:nvGraphicFramePr>
        <p:xfrm>
          <a:off x="3021336" y="2997746"/>
          <a:ext cx="5522142" cy="2441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" name="Visio" r:id="rId3" imgW="6630081" imgH="2870846" progId="Visio.Drawing.11">
                  <p:embed/>
                </p:oleObj>
              </mc:Choice>
              <mc:Fallback>
                <p:oleObj name="Visio" r:id="rId3" imgW="6630081" imgH="2870846" progId="Visio.Drawing.11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92F3907-09F9-4BF5-8C5D-81B3C6F166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336" y="2997746"/>
                        <a:ext cx="5522142" cy="24412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35">
            <a:extLst>
              <a:ext uri="{FF2B5EF4-FFF2-40B4-BE49-F238E27FC236}">
                <a16:creationId xmlns:a16="http://schemas.microsoft.com/office/drawing/2014/main" id="{F3B169CD-8E0F-4783-8E12-3D08BA1AB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7441" y="5438969"/>
            <a:ext cx="494149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弹性盒结构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8BB4ACDB-CDE5-412B-95C5-FBF019521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773610"/>
            <a:ext cx="10441160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弹性盒由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容器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轴（包括横轴、纵轴）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构成，并且默认情况下，子元素的排列方向与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横轴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的方向是一致的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2807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什么是弹性盒布局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29A64D6-CC7D-4D39-8751-CDA6A79E6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490544"/>
              </p:ext>
            </p:extLst>
          </p:nvPr>
        </p:nvGraphicFramePr>
        <p:xfrm>
          <a:off x="1266704" y="2552534"/>
          <a:ext cx="9368974" cy="12373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783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210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58838581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59631993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9262621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053760273"/>
                    </a:ext>
                  </a:extLst>
                </a:gridCol>
              </a:tblGrid>
              <a:tr h="61865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iOS Safari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Android Browser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IE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Opera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Chrome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Firefox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65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en-US" altLang="zh-CN" sz="18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7.0+</a:t>
                      </a:r>
                      <a:endParaRPr lang="zh-CN" sz="18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en-US" altLang="zh-CN" sz="18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4.4+</a:t>
                      </a:r>
                      <a:endParaRPr lang="zh-CN" sz="18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en-US" altLang="zh-CN" sz="18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11+</a:t>
                      </a:r>
                      <a:endParaRPr lang="zh-CN" altLang="en-US" sz="18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en-US" altLang="zh-CN" sz="18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12.1+</a:t>
                      </a:r>
                      <a:endParaRPr lang="zh-CN" altLang="en-US" sz="18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en-US" altLang="zh-CN" sz="18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21+</a:t>
                      </a:r>
                      <a:endParaRPr lang="zh-CN" altLang="en-US" sz="18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en-US" altLang="zh-CN" sz="18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22+</a:t>
                      </a:r>
                      <a:endParaRPr lang="zh-CN" altLang="en-US" sz="18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494584"/>
                  </a:ext>
                </a:extLst>
              </a:tr>
            </a:tbl>
          </a:graphicData>
        </a:graphic>
      </p:graphicFrame>
      <p:sp>
        <p:nvSpPr>
          <p:cNvPr id="7" name="TextBox 76">
            <a:extLst>
              <a:ext uri="{FF2B5EF4-FFF2-40B4-BE49-F238E27FC236}">
                <a16:creationId xmlns:a16="http://schemas.microsoft.com/office/drawing/2014/main" id="{DFDBFF40-5851-4E31-A7A1-C1FA693D90D5}"/>
              </a:ext>
            </a:extLst>
          </p:cNvPr>
          <p:cNvSpPr txBox="1"/>
          <p:nvPr/>
        </p:nvSpPr>
        <p:spPr>
          <a:xfrm>
            <a:off x="1143691" y="1179043"/>
            <a:ext cx="4087419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弹性盒布局浏览器支持情况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1EB3CD94-9134-4AA4-A760-AFA35BC24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62" y="1773610"/>
            <a:ext cx="1044116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弹性盒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布局几乎在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主流浏览器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中都得到了支持。</a:t>
            </a:r>
          </a:p>
        </p:txBody>
      </p:sp>
    </p:spTree>
    <p:extLst>
      <p:ext uri="{BB962C8B-B14F-4D97-AF65-F5344CB8AC3E}">
        <p14:creationId xmlns:p14="http://schemas.microsoft.com/office/powerpoint/2010/main" val="2534477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弹性盒属性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，能够使用弹性盒属性实现弹性盒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布局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C3476468-3698-4E12-B6D2-F2B9FC487CF1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</p:spTree>
    <p:extLst>
      <p:ext uri="{BB962C8B-B14F-4D97-AF65-F5344CB8AC3E}">
        <p14:creationId xmlns:p14="http://schemas.microsoft.com/office/powerpoint/2010/main" val="214632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743DC9-50CC-44A6-9915-11C296D02BAC}"/>
              </a:ext>
            </a:extLst>
          </p:cNvPr>
          <p:cNvSpPr txBox="1"/>
          <p:nvPr/>
        </p:nvSpPr>
        <p:spPr>
          <a:xfrm>
            <a:off x="1143691" y="1125538"/>
            <a:ext cx="10280107" cy="839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弹性盒提供了一些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常用的属性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984F05-2927-4939-8830-B5EC1E4E6F6C}"/>
              </a:ext>
            </a:extLst>
          </p:cNvPr>
          <p:cNvSpPr txBox="1"/>
          <p:nvPr/>
        </p:nvSpPr>
        <p:spPr>
          <a:xfrm>
            <a:off x="1635479" y="1629594"/>
            <a:ext cx="914501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display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flex-flow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justify-content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align-items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align-self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order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B0AC0D-844B-4008-AC9F-2E2A91B40184}"/>
              </a:ext>
            </a:extLst>
          </p:cNvPr>
          <p:cNvSpPr txBox="1"/>
          <p:nvPr/>
        </p:nvSpPr>
        <p:spPr>
          <a:xfrm>
            <a:off x="1143691" y="4941962"/>
            <a:ext cx="9505056" cy="1260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使用弹性盒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，首先需要通过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display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属性指定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外部父元素容器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的类型为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弹性盒容器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，然后就可以使用弹性盒相关的属性了。</a:t>
            </a: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667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B2E95B87-6EF3-4CD4-832B-E8560CB4F8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26654" y="981522"/>
            <a:ext cx="8722842" cy="108491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定义弹性盒容器</a:t>
            </a:r>
            <a:endParaRPr lang="en-US" altLang="zh-CN" sz="20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en-US" altLang="zh-CN" sz="500" b="1" kern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C:\code\chapter04\demo03.html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文件，定义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弹性盒容器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FA74E8-B2F6-42B2-8523-7098A625C0A9}"/>
              </a:ext>
            </a:extLst>
          </p:cNvPr>
          <p:cNvSpPr txBox="1"/>
          <p:nvPr/>
        </p:nvSpPr>
        <p:spPr>
          <a:xfrm>
            <a:off x="3533461" y="2205658"/>
            <a:ext cx="4721985" cy="4203843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弹性盒布局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&lt;/title&gt;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class="box"&gt;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&lt;div class="one"&gt;one&lt;/div&gt;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&lt;div class="two"&gt;two&lt;/div&gt;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&lt;div class="three"&gt;three&lt;/div&gt;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53147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B2E95B87-6EF3-4CD4-832B-E8560CB4F8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8662" y="1964449"/>
            <a:ext cx="9721080" cy="96128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display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属性用于指定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元素容器的类型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，其默认值为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inline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，这意味着此元素会被显示为一个内联元素。如果设置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display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flex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，则表示用于指定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弹性盒的容器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TextBox 76">
            <a:extLst>
              <a:ext uri="{FF2B5EF4-FFF2-40B4-BE49-F238E27FC236}">
                <a16:creationId xmlns:a16="http://schemas.microsoft.com/office/drawing/2014/main" id="{FF68A3A1-0289-4148-919A-3C88BF8617F1}"/>
              </a:ext>
            </a:extLst>
          </p:cNvPr>
          <p:cNvSpPr txBox="1"/>
          <p:nvPr/>
        </p:nvSpPr>
        <p:spPr>
          <a:xfrm>
            <a:off x="1270670" y="1281877"/>
            <a:ext cx="2124261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display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属性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70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C322F1-FD96-4318-9C4B-287AFA48DAEA}"/>
              </a:ext>
            </a:extLst>
          </p:cNvPr>
          <p:cNvSpPr txBox="1"/>
          <p:nvPr/>
        </p:nvSpPr>
        <p:spPr>
          <a:xfrm>
            <a:off x="3533461" y="1901280"/>
            <a:ext cx="4721985" cy="4480842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&lt;style&gt;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.box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display: flex;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background-color: #999;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height: 80px;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.box div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background-color: white;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border: 1px solid gray;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margin: 2px;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}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&lt;/style&gt;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273986"/>
            <a:ext cx="8722842" cy="4996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文件，设置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弹性盒父容器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的样式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4178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86064D-CA73-4681-B166-32B35945C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878" y="2349674"/>
            <a:ext cx="5328592" cy="1951020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15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7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273986"/>
            <a:ext cx="8722842" cy="4996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浏览器中访问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文件，页面显示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弹性盒布局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5461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B2E95B87-6EF3-4CD4-832B-E8560CB4F8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8662" y="1977224"/>
            <a:ext cx="9721080" cy="234628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flex-flow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flex-direction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flex-wrap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的简写，用于排列弹性子元素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flex-direction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用于调整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主轴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的方向，可以调整为横向或者纵向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情况下为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横向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，此时横轴为主轴，纵轴为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交叉轴（或称为侧轴）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纵向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，则纵轴为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，横轴为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交叉轴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9" name="TextBox 76">
            <a:extLst>
              <a:ext uri="{FF2B5EF4-FFF2-40B4-BE49-F238E27FC236}">
                <a16:creationId xmlns:a16="http://schemas.microsoft.com/office/drawing/2014/main" id="{E8A234A2-63DE-485B-961E-3699B38423A4}"/>
              </a:ext>
            </a:extLst>
          </p:cNvPr>
          <p:cNvSpPr txBox="1"/>
          <p:nvPr/>
        </p:nvSpPr>
        <p:spPr>
          <a:xfrm>
            <a:off x="1270671" y="1281877"/>
            <a:ext cx="230425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flex-flow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属性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57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B2E95B87-6EF3-4CD4-832B-E8560CB4F8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2321" y="2034782"/>
            <a:ext cx="10015453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flex-direction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取值：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1216D16-E8AC-40C8-9F19-139F6C1F3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379447"/>
              </p:ext>
            </p:extLst>
          </p:nvPr>
        </p:nvGraphicFramePr>
        <p:xfrm>
          <a:off x="1552361" y="2709714"/>
          <a:ext cx="9199988" cy="313377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860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9707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61865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取值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47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row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弹性盒子元素按横轴方向顺序排列（默认值）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35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row-reverse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弹性盒子元素按横轴方向逆序排列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35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column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弹性盒子元素按纵轴方向顺序排列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22124"/>
                  </a:ext>
                </a:extLst>
              </a:tr>
              <a:tr h="62935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column-reverse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弹性盒子元素按纵轴方向逆序排列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597130"/>
                  </a:ext>
                </a:extLst>
              </a:tr>
            </a:tbl>
          </a:graphicData>
        </a:graphic>
      </p:graphicFrame>
      <p:sp>
        <p:nvSpPr>
          <p:cNvPr id="9" name="TextBox 76">
            <a:extLst>
              <a:ext uri="{FF2B5EF4-FFF2-40B4-BE49-F238E27FC236}">
                <a16:creationId xmlns:a16="http://schemas.microsoft.com/office/drawing/2014/main" id="{363E2817-D4CC-4494-B570-65621494BAC7}"/>
              </a:ext>
            </a:extLst>
          </p:cNvPr>
          <p:cNvSpPr txBox="1"/>
          <p:nvPr/>
        </p:nvSpPr>
        <p:spPr>
          <a:xfrm>
            <a:off x="1270671" y="1281877"/>
            <a:ext cx="230425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flex-flow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属性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10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1216D16-E8AC-40C8-9F19-139F6C1F3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130268"/>
              </p:ext>
            </p:extLst>
          </p:nvPr>
        </p:nvGraphicFramePr>
        <p:xfrm>
          <a:off x="1567220" y="2709714"/>
          <a:ext cx="9136498" cy="302433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0274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61865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取值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47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nowrap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弹性盒容器为单行，该情况下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flex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子项可能会溢出容器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6551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wrap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弹性盒容器为多行，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flex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子项溢出的部分会被放置到新行，第一行在上方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wrap-reverse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反转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wrap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排列（换行），第一行显示在下方</a:t>
                      </a:r>
                      <a:endParaRPr lang="zh-CN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22124"/>
                  </a:ext>
                </a:extLst>
              </a:tr>
            </a:tbl>
          </a:graphicData>
        </a:graphic>
      </p:graphicFrame>
      <p:sp>
        <p:nvSpPr>
          <p:cNvPr id="10" name="1">
            <a:extLst>
              <a:ext uri="{FF2B5EF4-FFF2-40B4-BE49-F238E27FC236}">
                <a16:creationId xmlns:a16="http://schemas.microsoft.com/office/drawing/2014/main" id="{7CFD6490-1E5D-4C32-B104-89EEB36818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2321" y="2034782"/>
            <a:ext cx="10015453" cy="4996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flex-wrap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取值：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6">
            <a:extLst>
              <a:ext uri="{FF2B5EF4-FFF2-40B4-BE49-F238E27FC236}">
                <a16:creationId xmlns:a16="http://schemas.microsoft.com/office/drawing/2014/main" id="{5D2F22FC-60BE-47B0-AAD2-A4261E61861F}"/>
              </a:ext>
            </a:extLst>
          </p:cNvPr>
          <p:cNvSpPr txBox="1"/>
          <p:nvPr/>
        </p:nvSpPr>
        <p:spPr>
          <a:xfrm>
            <a:off x="1270671" y="1281877"/>
            <a:ext cx="230425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flex-flow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属性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89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1">
            <a:extLst>
              <a:ext uri="{FF2B5EF4-FFF2-40B4-BE49-F238E27FC236}">
                <a16:creationId xmlns:a16="http://schemas.microsoft.com/office/drawing/2014/main" id="{7CFD6490-1E5D-4C32-B104-89EEB36818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2321" y="2034782"/>
            <a:ext cx="10375493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flex-flow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属性时，其值是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flex-direction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属性的值和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flex-wrap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属性的值的组合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flex-direction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flex-wrap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6">
            <a:extLst>
              <a:ext uri="{FF2B5EF4-FFF2-40B4-BE49-F238E27FC236}">
                <a16:creationId xmlns:a16="http://schemas.microsoft.com/office/drawing/2014/main" id="{5D2F22FC-60BE-47B0-AAD2-A4261E61861F}"/>
              </a:ext>
            </a:extLst>
          </p:cNvPr>
          <p:cNvSpPr txBox="1"/>
          <p:nvPr/>
        </p:nvSpPr>
        <p:spPr>
          <a:xfrm>
            <a:off x="1270671" y="1281877"/>
            <a:ext cx="230425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flex-flow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属性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C322F1-FD96-4318-9C4B-287AFA48DAEA}"/>
              </a:ext>
            </a:extLst>
          </p:cNvPr>
          <p:cNvSpPr txBox="1"/>
          <p:nvPr/>
        </p:nvSpPr>
        <p:spPr>
          <a:xfrm>
            <a:off x="3358902" y="3285778"/>
            <a:ext cx="4721985" cy="2346283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/*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简写形式 *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flex-flow: row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nowrap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/*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分开写 *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flex-direction: row;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flex-wrap: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nowrap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10584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CB8993-D1C1-4B3E-B794-ABE5A4184683}"/>
              </a:ext>
            </a:extLst>
          </p:cNvPr>
          <p:cNvSpPr txBox="1"/>
          <p:nvPr/>
        </p:nvSpPr>
        <p:spPr>
          <a:xfrm>
            <a:off x="3677477" y="2595679"/>
            <a:ext cx="4145921" cy="2346283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.box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display: flex;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background-color: #999;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flex-flow: column;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14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6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406427" cy="96128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div.box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元素的样式，实现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弹性子元素纵向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排列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4593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B44BCA3-ABE4-4EF1-9E36-BB5950F17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876" y="2349673"/>
            <a:ext cx="6371535" cy="1944217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11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201978"/>
            <a:ext cx="8694459" cy="4996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浏览器中访问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，页面效果如下。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510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B2E95B87-6EF3-4CD4-832B-E8560CB4F8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8662" y="1557586"/>
            <a:ext cx="10015453" cy="4589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justify-content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属性能够设置子元素在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主轴方向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的排列方式。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justify-content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取值：</a:t>
            </a:r>
          </a:p>
        </p:txBody>
      </p:sp>
      <p:sp>
        <p:nvSpPr>
          <p:cNvPr id="7" name="TextBox 76">
            <a:extLst>
              <a:ext uri="{FF2B5EF4-FFF2-40B4-BE49-F238E27FC236}">
                <a16:creationId xmlns:a16="http://schemas.microsoft.com/office/drawing/2014/main" id="{FF68A3A1-0289-4148-919A-3C88BF8617F1}"/>
              </a:ext>
            </a:extLst>
          </p:cNvPr>
          <p:cNvSpPr txBox="1"/>
          <p:nvPr/>
        </p:nvSpPr>
        <p:spPr>
          <a:xfrm>
            <a:off x="1270670" y="1053530"/>
            <a:ext cx="3240360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justify-content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属性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1216D16-E8AC-40C8-9F19-139F6C1F3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205046"/>
              </p:ext>
            </p:extLst>
          </p:nvPr>
        </p:nvGraphicFramePr>
        <p:xfrm>
          <a:off x="1421020" y="2133650"/>
          <a:ext cx="9199988" cy="411003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25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4074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取值</a:t>
                      </a:r>
                      <a:endParaRPr lang="zh-CN" sz="18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18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47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flex-start</a:t>
                      </a:r>
                      <a:endParaRPr lang="zh-CN" altLang="en-US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弹性盒子元素将向行起始位置对齐（默认值）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358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flex-end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弹性盒子元素将向行结束位置对齐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79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center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弹性盒子元素将向行中间位置对齐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22124"/>
                  </a:ext>
                </a:extLst>
              </a:tr>
              <a:tr h="914099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space-between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弹性盒子元素会平均地分布在行里，第一个元素的边界与行的起始位置边界对齐，最后一个元素的边界与行结束位置的边距对齐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597130"/>
                  </a:ext>
                </a:extLst>
              </a:tr>
              <a:tr h="963685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space-around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弹性盒子元素会平均地分布在行里，两端保留子元素与子元素之间间距大小的一半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01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177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277D83-4C48-40C4-BA34-474ACDB76D85}"/>
              </a:ext>
            </a:extLst>
          </p:cNvPr>
          <p:cNvSpPr txBox="1"/>
          <p:nvPr/>
        </p:nvSpPr>
        <p:spPr>
          <a:xfrm>
            <a:off x="3533461" y="2421682"/>
            <a:ext cx="4721985" cy="2707472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.box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display: flex;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background-color: #999;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height: 80px;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justify-content: space-between;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50000"/>
              </a:lnSpc>
              <a:defRPr/>
            </a:pPr>
            <a:endParaRPr lang="en-US" altLang="zh-CN" sz="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053530"/>
            <a:ext cx="8694459" cy="96128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div.box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元素的样式，实现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弹性子元素两端对齐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，弹性子元素之间的间隔都相等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995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241B720-E8C2-4C3D-8371-829B36B5A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886" y="2421682"/>
            <a:ext cx="5113342" cy="1872208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11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273986"/>
            <a:ext cx="8694459" cy="4996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浏览器中访问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效果如下。</a:t>
            </a:r>
          </a:p>
        </p:txBody>
      </p:sp>
    </p:spTree>
    <p:extLst>
      <p:ext uri="{BB962C8B-B14F-4D97-AF65-F5344CB8AC3E}">
        <p14:creationId xmlns:p14="http://schemas.microsoft.com/office/powerpoint/2010/main" val="179161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C24162-19BE-4F4F-8316-1E969AFB33E4}"/>
              </a:ext>
            </a:extLst>
          </p:cNvPr>
          <p:cNvSpPr txBox="1"/>
          <p:nvPr/>
        </p:nvSpPr>
        <p:spPr>
          <a:xfrm>
            <a:off x="3533461" y="2090474"/>
            <a:ext cx="4433953" cy="2707472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.box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display: flex;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background-color: #999;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height: 80px;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justify-content: space-around;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50000"/>
              </a:lnSpc>
              <a:defRPr/>
            </a:pPr>
            <a:endParaRPr lang="en-US" altLang="zh-CN" sz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03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197546"/>
            <a:ext cx="8694459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justify-content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的值改为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space-around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286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AA7CA22-91DF-4BEF-A352-62916979AB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71" y="2469980"/>
            <a:ext cx="5768095" cy="2111941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12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04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4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222470"/>
            <a:ext cx="8694459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浏览器中访问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 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9583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B2E95B87-6EF3-4CD4-832B-E8560CB4F8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2321" y="1530726"/>
            <a:ext cx="10015453" cy="4589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align-items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属性用于设置子元素在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交叉轴（十字轴）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上的对齐排列方式。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align-items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取值：</a:t>
            </a:r>
          </a:p>
        </p:txBody>
      </p:sp>
      <p:sp>
        <p:nvSpPr>
          <p:cNvPr id="7" name="TextBox 76">
            <a:extLst>
              <a:ext uri="{FF2B5EF4-FFF2-40B4-BE49-F238E27FC236}">
                <a16:creationId xmlns:a16="http://schemas.microsoft.com/office/drawing/2014/main" id="{FF68A3A1-0289-4148-919A-3C88BF8617F1}"/>
              </a:ext>
            </a:extLst>
          </p:cNvPr>
          <p:cNvSpPr txBox="1"/>
          <p:nvPr/>
        </p:nvSpPr>
        <p:spPr>
          <a:xfrm>
            <a:off x="1270670" y="1023913"/>
            <a:ext cx="266429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align-items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属性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1216D16-E8AC-40C8-9F19-139F6C1F3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089925"/>
              </p:ext>
            </p:extLst>
          </p:nvPr>
        </p:nvGraphicFramePr>
        <p:xfrm>
          <a:off x="1414686" y="2133650"/>
          <a:ext cx="10015453" cy="424561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5293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</a:tblGrid>
              <a:tr h="434908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取值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703060505090304"/>
                        </a:rPr>
                        <a:t>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70306050509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flex-start</a:t>
                      </a:r>
                      <a:endParaRPr lang="zh-CN" altLang="en-US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弹性盒子元素向交叉轴的起始位置对齐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flex-end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弹性盒子元素向交叉轴的结束位置对齐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center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弹性盒子元素向交叉轴的中间位置对齐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22124"/>
                  </a:ext>
                </a:extLst>
              </a:tr>
              <a:tr h="933244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baseline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如果弹性盒子元素的行内轴与交叉轴为同一条，则该值与</a:t>
                      </a:r>
                      <a:r>
                        <a:rPr lang="en-US" alt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'flex-start'</a:t>
                      </a: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等效。其他情况下，该值将参与子元素的第一行文字的基线对齐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597130"/>
                  </a:ext>
                </a:extLst>
              </a:tr>
              <a:tr h="122127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stretch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默认值，将元素拉伸以适合伸缩容器。可用空间在所有元素之间平均分配。如果子元素没有设置高度或者高度为“</a:t>
                      </a:r>
                      <a:r>
                        <a:rPr lang="en-US" alt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auto”</a:t>
                      </a: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，则将会占满整个容器的高度，但同时会遵照“</a:t>
                      </a:r>
                      <a:r>
                        <a:rPr lang="en-US" alt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min/max-width/height”</a:t>
                      </a: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属性的限制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01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60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BBE3FB-AE0E-4F48-9606-159AFD250ABD}"/>
              </a:ext>
            </a:extLst>
          </p:cNvPr>
          <p:cNvSpPr txBox="1"/>
          <p:nvPr/>
        </p:nvSpPr>
        <p:spPr>
          <a:xfrm>
            <a:off x="3605469" y="2317071"/>
            <a:ext cx="4145921" cy="2707472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.box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display: flex;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background-color: #999;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height: 80px;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align-items: center;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50000"/>
              </a:lnSpc>
              <a:defRPr/>
            </a:pPr>
            <a:endParaRPr lang="en-US" altLang="zh-CN" sz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100353"/>
            <a:ext cx="8694459" cy="14229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div.box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元素的样式，实现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弹性子元素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交叉轴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位置对齐。</a:t>
            </a:r>
          </a:p>
          <a:p>
            <a:pPr defTabSz="457200">
              <a:lnSpc>
                <a:spcPct val="150000"/>
              </a:lnSpc>
              <a:defRPr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4733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B3D2BA-8B0D-4D9C-818E-BB2BAE94C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886" y="2408734"/>
            <a:ext cx="5345370" cy="1957164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197546"/>
            <a:ext cx="8694459" cy="4996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浏览器中访问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效果如下。</a:t>
            </a:r>
          </a:p>
        </p:txBody>
      </p:sp>
    </p:spTree>
    <p:extLst>
      <p:ext uri="{BB962C8B-B14F-4D97-AF65-F5344CB8AC3E}">
        <p14:creationId xmlns:p14="http://schemas.microsoft.com/office/powerpoint/2010/main" val="156110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2EA394-0FD4-46E8-B28D-DFCA8B9D43B6}"/>
              </a:ext>
            </a:extLst>
          </p:cNvPr>
          <p:cNvSpPr txBox="1"/>
          <p:nvPr/>
        </p:nvSpPr>
        <p:spPr>
          <a:xfrm>
            <a:off x="3605469" y="2389079"/>
            <a:ext cx="4001905" cy="2677656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.box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display: flex;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background-color: #999;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height: 80px;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align-items: flex-end;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50000"/>
              </a:lnSpc>
              <a:defRPr/>
            </a:pPr>
            <a:endParaRPr lang="en-US" altLang="zh-CN" sz="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03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100353"/>
            <a:ext cx="8694459" cy="96128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align-items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的值设置为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flex-end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，实现弹性盒子元素向交叉轴的结束位置对齐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778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99BC64-4F76-47A8-BB1A-365EDE5611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71" y="2205658"/>
            <a:ext cx="5900007" cy="216024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04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273986"/>
            <a:ext cx="8694459" cy="4996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浏览器中访问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效果如下。</a:t>
            </a:r>
          </a:p>
        </p:txBody>
      </p:sp>
    </p:spTree>
    <p:extLst>
      <p:ext uri="{BB962C8B-B14F-4D97-AF65-F5344CB8AC3E}">
        <p14:creationId xmlns:p14="http://schemas.microsoft.com/office/powerpoint/2010/main" val="451197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B2E95B87-6EF3-4CD4-832B-E8560CB4F8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8662" y="1923865"/>
            <a:ext cx="10015453" cy="14229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align-self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属性能够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覆盖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容器中的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align-items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属性，它允许设置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单独的子元素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的对齐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排列方式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。其取值有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auto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flex-start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flex-end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center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baseline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stretch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，每个值的意义与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align-items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属性的取值类似。</a:t>
            </a:r>
          </a:p>
        </p:txBody>
      </p:sp>
      <p:sp>
        <p:nvSpPr>
          <p:cNvPr id="7" name="TextBox 76">
            <a:extLst>
              <a:ext uri="{FF2B5EF4-FFF2-40B4-BE49-F238E27FC236}">
                <a16:creationId xmlns:a16="http://schemas.microsoft.com/office/drawing/2014/main" id="{FF68A3A1-0289-4148-919A-3C88BF8617F1}"/>
              </a:ext>
            </a:extLst>
          </p:cNvPr>
          <p:cNvSpPr txBox="1"/>
          <p:nvPr/>
        </p:nvSpPr>
        <p:spPr>
          <a:xfrm>
            <a:off x="1270670" y="1214022"/>
            <a:ext cx="2520280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align-self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属性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85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3000AE-4B99-4E44-8B62-8FAB241F248B}"/>
              </a:ext>
            </a:extLst>
          </p:cNvPr>
          <p:cNvSpPr txBox="1"/>
          <p:nvPr/>
        </p:nvSpPr>
        <p:spPr>
          <a:xfrm>
            <a:off x="4295006" y="2349674"/>
            <a:ext cx="4248472" cy="128990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.two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align-self: center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8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100353"/>
            <a:ext cx="8694459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div.box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个弹性子元素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单独设置为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垂直居中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</a:p>
          <a:p>
            <a:pPr defTabSz="457200">
              <a:lnSpc>
                <a:spcPct val="150000"/>
              </a:lnSpc>
              <a:defRPr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716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132C7A-EC76-4C36-9C5F-212F56463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125" y="2421682"/>
            <a:ext cx="5742131" cy="2102435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14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6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201978"/>
            <a:ext cx="8694459" cy="4996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浏览器中访问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43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B2E95B87-6EF3-4CD4-832B-E8560CB4F8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8662" y="1746750"/>
            <a:ext cx="10513168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order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子元素的排列顺序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order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的取值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，且数值越小，排列越靠前。</a:t>
            </a:r>
          </a:p>
        </p:txBody>
      </p:sp>
      <p:sp>
        <p:nvSpPr>
          <p:cNvPr id="7" name="TextBox 76">
            <a:extLst>
              <a:ext uri="{FF2B5EF4-FFF2-40B4-BE49-F238E27FC236}">
                <a16:creationId xmlns:a16="http://schemas.microsoft.com/office/drawing/2014/main" id="{FF68A3A1-0289-4148-919A-3C88BF8617F1}"/>
              </a:ext>
            </a:extLst>
          </p:cNvPr>
          <p:cNvSpPr txBox="1"/>
          <p:nvPr/>
        </p:nvSpPr>
        <p:spPr>
          <a:xfrm>
            <a:off x="1270670" y="1135715"/>
            <a:ext cx="1944216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order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属性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3FFA6E-D523-4DE4-937B-2D1DD1A40C04}"/>
              </a:ext>
            </a:extLst>
          </p:cNvPr>
          <p:cNvSpPr txBox="1"/>
          <p:nvPr/>
        </p:nvSpPr>
        <p:spPr>
          <a:xfrm>
            <a:off x="3430910" y="3645818"/>
            <a:ext cx="2664296" cy="2726516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.one {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order: 3;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.two {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order: 1;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.three {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order: 2;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268111" y="2555477"/>
            <a:ext cx="1747943" cy="773218"/>
            <a:chOff x="961390" y="2294944"/>
            <a:chExt cx="1747943" cy="773218"/>
          </a:xfrm>
        </p:grpSpPr>
        <p:sp>
          <p:nvSpPr>
            <p:cNvPr id="11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4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141792" y="2493690"/>
            <a:ext cx="8694459" cy="96128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div.box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容器中的子元素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two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three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order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值分别设置为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336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EBA829-C3A0-4767-AC39-87AF90568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830" y="2421682"/>
            <a:ext cx="7237220" cy="2208373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201978"/>
            <a:ext cx="8694459" cy="4996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浏览器中访问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323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6B3A3D-7332-47E0-9D5E-C48DD2852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5800" y="2421682"/>
            <a:ext cx="2292493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B2E95B87-6EF3-4CD4-832B-E8560CB4F8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98662" y="1988322"/>
            <a:ext cx="10015453" cy="27238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flex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属性能够设置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子元素的伸缩性。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0" defTabSz="457200">
              <a:lnSpc>
                <a:spcPct val="150000"/>
              </a:lnSpc>
              <a:defRPr/>
            </a:pPr>
            <a:endParaRPr lang="en-US" altLang="zh-CN" sz="9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flex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属性的缩写：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defTabSz="457200">
              <a:lnSpc>
                <a:spcPct val="150000"/>
              </a:lnSpc>
              <a:defRPr/>
            </a:pPr>
            <a:endParaRPr lang="en-US" altLang="zh-CN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4572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flex-grow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（放大比率，默认为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比较常用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4572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flex-shrink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（缩小比率，默认为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可选属性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4572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flex-basis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（宽度，像素值，默认为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可选属性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76">
            <a:extLst>
              <a:ext uri="{FF2B5EF4-FFF2-40B4-BE49-F238E27FC236}">
                <a16:creationId xmlns:a16="http://schemas.microsoft.com/office/drawing/2014/main" id="{FF68A3A1-0289-4148-919A-3C88BF8617F1}"/>
              </a:ext>
            </a:extLst>
          </p:cNvPr>
          <p:cNvSpPr txBox="1"/>
          <p:nvPr/>
        </p:nvSpPr>
        <p:spPr>
          <a:xfrm>
            <a:off x="1270670" y="1310633"/>
            <a:ext cx="2016224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flex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属性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81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DC2583-BC37-4B63-93CC-0A3CBE50DB61}"/>
              </a:ext>
            </a:extLst>
          </p:cNvPr>
          <p:cNvSpPr txBox="1"/>
          <p:nvPr/>
        </p:nvSpPr>
        <p:spPr>
          <a:xfrm>
            <a:off x="3430910" y="2554305"/>
            <a:ext cx="5184576" cy="137954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.one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flex-grow: 1; /*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也可以简写为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flex: 1; */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50000"/>
              </a:lnSpc>
              <a:defRPr/>
            </a:pPr>
            <a:endParaRPr lang="en-US" altLang="zh-CN" sz="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125538"/>
            <a:ext cx="8694459" cy="14229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flex-grow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div.one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元素占满整个盒子的可用空间。</a:t>
            </a:r>
          </a:p>
          <a:p>
            <a:pPr defTabSz="457200">
              <a:lnSpc>
                <a:spcPct val="150000"/>
              </a:lnSpc>
              <a:defRPr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2186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弹性盒常用属性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E5E166-05B9-44F3-A90A-CA560FCCA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657" y="2262603"/>
            <a:ext cx="7059122" cy="2154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2" name="1">
            <a:extLst>
              <a:ext uri="{FF2B5EF4-FFF2-40B4-BE49-F238E27FC236}">
                <a16:creationId xmlns:a16="http://schemas.microsoft.com/office/drawing/2014/main" id="{CA28CF9E-052D-48E1-9D02-46C24BA9950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17371" y="1125538"/>
            <a:ext cx="8694459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浏览器中访问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demo03.html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文件，页面显示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flex-grow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的弹性盒布局。</a:t>
            </a:r>
          </a:p>
          <a:p>
            <a:pPr defTabSz="457200">
              <a:lnSpc>
                <a:spcPct val="150000"/>
              </a:lnSpc>
              <a:defRPr/>
            </a:pP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57200">
              <a:lnSpc>
                <a:spcPct val="150000"/>
              </a:lnSpc>
              <a:defRPr/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137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阶段项目——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旅游网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</a:t>
            </a:r>
          </a:p>
        </p:txBody>
      </p:sp>
    </p:spTree>
    <p:extLst>
      <p:ext uri="{BB962C8B-B14F-4D97-AF65-F5344CB8AC3E}">
        <p14:creationId xmlns:p14="http://schemas.microsoft.com/office/powerpoint/2010/main" val="324828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熟悉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旅游网项目分析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，能够对项目有一个整体的认识。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旅游网项目分析</a:t>
            </a:r>
          </a:p>
        </p:txBody>
      </p:sp>
    </p:spTree>
    <p:extLst>
      <p:ext uri="{BB962C8B-B14F-4D97-AF65-F5344CB8AC3E}">
        <p14:creationId xmlns:p14="http://schemas.microsoft.com/office/powerpoint/2010/main" val="393840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8937977-6347-412F-B0AB-51F081C574C4}"/>
              </a:ext>
            </a:extLst>
          </p:cNvPr>
          <p:cNvSpPr txBox="1"/>
          <p:nvPr/>
        </p:nvSpPr>
        <p:spPr>
          <a:xfrm>
            <a:off x="2782838" y="2210485"/>
            <a:ext cx="81369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旅游网是一个为外出旅行人群提供景点推荐、酒店预订、机票订购、门票订购服务的网站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。接下来将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跨平台移动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实现旅游网首页页面效果。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118">
            <a:extLst>
              <a:ext uri="{FF2B5EF4-FFF2-40B4-BE49-F238E27FC236}">
                <a16:creationId xmlns:a16="http://schemas.microsoft.com/office/drawing/2014/main" id="{E36AEA52-0270-4C9F-A3BD-8930DF13CF69}"/>
              </a:ext>
            </a:extLst>
          </p:cNvPr>
          <p:cNvSpPr>
            <a:spLocks noEditPoints="1"/>
          </p:cNvSpPr>
          <p:nvPr/>
        </p:nvSpPr>
        <p:spPr bwMode="auto">
          <a:xfrm>
            <a:off x="1330243" y="2582277"/>
            <a:ext cx="989701" cy="733744"/>
          </a:xfrm>
          <a:custGeom>
            <a:avLst/>
            <a:gdLst>
              <a:gd name="T0" fmla="*/ 246 w 694"/>
              <a:gd name="T1" fmla="*/ 424 h 516"/>
              <a:gd name="T2" fmla="*/ 271 w 694"/>
              <a:gd name="T3" fmla="*/ 401 h 516"/>
              <a:gd name="T4" fmla="*/ 263 w 694"/>
              <a:gd name="T5" fmla="*/ 416 h 516"/>
              <a:gd name="T6" fmla="*/ 252 w 694"/>
              <a:gd name="T7" fmla="*/ 434 h 516"/>
              <a:gd name="T8" fmla="*/ 256 w 694"/>
              <a:gd name="T9" fmla="*/ 446 h 516"/>
              <a:gd name="T10" fmla="*/ 272 w 694"/>
              <a:gd name="T11" fmla="*/ 451 h 516"/>
              <a:gd name="T12" fmla="*/ 310 w 694"/>
              <a:gd name="T13" fmla="*/ 443 h 516"/>
              <a:gd name="T14" fmla="*/ 334 w 694"/>
              <a:gd name="T15" fmla="*/ 443 h 516"/>
              <a:gd name="T16" fmla="*/ 360 w 694"/>
              <a:gd name="T17" fmla="*/ 441 h 516"/>
              <a:gd name="T18" fmla="*/ 361 w 694"/>
              <a:gd name="T19" fmla="*/ 451 h 516"/>
              <a:gd name="T20" fmla="*/ 363 w 694"/>
              <a:gd name="T21" fmla="*/ 471 h 516"/>
              <a:gd name="T22" fmla="*/ 372 w 694"/>
              <a:gd name="T23" fmla="*/ 478 h 516"/>
              <a:gd name="T24" fmla="*/ 393 w 694"/>
              <a:gd name="T25" fmla="*/ 473 h 516"/>
              <a:gd name="T26" fmla="*/ 420 w 694"/>
              <a:gd name="T27" fmla="*/ 452 h 516"/>
              <a:gd name="T28" fmla="*/ 386 w 694"/>
              <a:gd name="T29" fmla="*/ 447 h 516"/>
              <a:gd name="T30" fmla="*/ 390 w 694"/>
              <a:gd name="T31" fmla="*/ 433 h 516"/>
              <a:gd name="T32" fmla="*/ 385 w 694"/>
              <a:gd name="T33" fmla="*/ 420 h 516"/>
              <a:gd name="T34" fmla="*/ 371 w 694"/>
              <a:gd name="T35" fmla="*/ 416 h 516"/>
              <a:gd name="T36" fmla="*/ 351 w 694"/>
              <a:gd name="T37" fmla="*/ 421 h 516"/>
              <a:gd name="T38" fmla="*/ 334 w 694"/>
              <a:gd name="T39" fmla="*/ 414 h 516"/>
              <a:gd name="T40" fmla="*/ 295 w 694"/>
              <a:gd name="T41" fmla="*/ 424 h 516"/>
              <a:gd name="T42" fmla="*/ 296 w 694"/>
              <a:gd name="T43" fmla="*/ 410 h 516"/>
              <a:gd name="T44" fmla="*/ 295 w 694"/>
              <a:gd name="T45" fmla="*/ 394 h 516"/>
              <a:gd name="T46" fmla="*/ 277 w 694"/>
              <a:gd name="T47" fmla="*/ 391 h 516"/>
              <a:gd name="T48" fmla="*/ 219 w 694"/>
              <a:gd name="T49" fmla="*/ 423 h 516"/>
              <a:gd name="T50" fmla="*/ 488 w 694"/>
              <a:gd name="T51" fmla="*/ 248 h 516"/>
              <a:gd name="T52" fmla="*/ 484 w 694"/>
              <a:gd name="T53" fmla="*/ 335 h 516"/>
              <a:gd name="T54" fmla="*/ 549 w 694"/>
              <a:gd name="T55" fmla="*/ 329 h 516"/>
              <a:gd name="T56" fmla="*/ 582 w 694"/>
              <a:gd name="T57" fmla="*/ 252 h 516"/>
              <a:gd name="T58" fmla="*/ 466 w 694"/>
              <a:gd name="T59" fmla="*/ 427 h 516"/>
              <a:gd name="T60" fmla="*/ 474 w 694"/>
              <a:gd name="T61" fmla="*/ 379 h 516"/>
              <a:gd name="T62" fmla="*/ 487 w 694"/>
              <a:gd name="T63" fmla="*/ 366 h 516"/>
              <a:gd name="T64" fmla="*/ 500 w 694"/>
              <a:gd name="T65" fmla="*/ 379 h 516"/>
              <a:gd name="T66" fmla="*/ 491 w 694"/>
              <a:gd name="T67" fmla="*/ 392 h 516"/>
              <a:gd name="T68" fmla="*/ 528 w 694"/>
              <a:gd name="T69" fmla="*/ 394 h 516"/>
              <a:gd name="T70" fmla="*/ 641 w 694"/>
              <a:gd name="T71" fmla="*/ 77 h 516"/>
              <a:gd name="T72" fmla="*/ 629 w 694"/>
              <a:gd name="T73" fmla="*/ 146 h 516"/>
              <a:gd name="T74" fmla="*/ 608 w 694"/>
              <a:gd name="T75" fmla="*/ 205 h 516"/>
              <a:gd name="T76" fmla="*/ 620 w 694"/>
              <a:gd name="T77" fmla="*/ 220 h 516"/>
              <a:gd name="T78" fmla="*/ 630 w 694"/>
              <a:gd name="T79" fmla="*/ 201 h 516"/>
              <a:gd name="T80" fmla="*/ 678 w 694"/>
              <a:gd name="T81" fmla="*/ 90 h 516"/>
              <a:gd name="T82" fmla="*/ 645 w 694"/>
              <a:gd name="T83" fmla="*/ 43 h 516"/>
              <a:gd name="T84" fmla="*/ 635 w 694"/>
              <a:gd name="T85" fmla="*/ 9 h 516"/>
              <a:gd name="T86" fmla="*/ 613 w 694"/>
              <a:gd name="T87" fmla="*/ 0 h 516"/>
              <a:gd name="T88" fmla="*/ 583 w 694"/>
              <a:gd name="T89" fmla="*/ 18 h 516"/>
              <a:gd name="T90" fmla="*/ 555 w 694"/>
              <a:gd name="T91" fmla="*/ 65 h 516"/>
              <a:gd name="T92" fmla="*/ 501 w 694"/>
              <a:gd name="T93" fmla="*/ 209 h 516"/>
              <a:gd name="T94" fmla="*/ 626 w 694"/>
              <a:gd name="T95" fmla="*/ 130 h 516"/>
              <a:gd name="T96" fmla="*/ 88 w 694"/>
              <a:gd name="T97" fmla="*/ 204 h 516"/>
              <a:gd name="T98" fmla="*/ 88 w 694"/>
              <a:gd name="T99" fmla="*/ 251 h 516"/>
              <a:gd name="T100" fmla="*/ 88 w 694"/>
              <a:gd name="T101" fmla="*/ 251 h 516"/>
              <a:gd name="T102" fmla="*/ 265 w 694"/>
              <a:gd name="T103" fmla="*/ 324 h 516"/>
              <a:gd name="T104" fmla="*/ 494 w 694"/>
              <a:gd name="T105" fmla="*/ 129 h 516"/>
              <a:gd name="T106" fmla="*/ 584 w 694"/>
              <a:gd name="T107" fmla="*/ 482 h 516"/>
              <a:gd name="T108" fmla="*/ 600 w 694"/>
              <a:gd name="T109" fmla="*/ 304 h 516"/>
              <a:gd name="T110" fmla="*/ 617 w 694"/>
              <a:gd name="T111" fmla="*/ 264 h 516"/>
              <a:gd name="T112" fmla="*/ 620 w 694"/>
              <a:gd name="T113" fmla="*/ 516 h 516"/>
              <a:gd name="T114" fmla="*/ 0 w 694"/>
              <a:gd name="T115" fmla="*/ 500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94" h="516">
                <a:moveTo>
                  <a:pt x="204" y="433"/>
                </a:moveTo>
                <a:lnTo>
                  <a:pt x="218" y="451"/>
                </a:lnTo>
                <a:lnTo>
                  <a:pt x="228" y="443"/>
                </a:lnTo>
                <a:lnTo>
                  <a:pt x="246" y="424"/>
                </a:lnTo>
                <a:lnTo>
                  <a:pt x="257" y="413"/>
                </a:lnTo>
                <a:lnTo>
                  <a:pt x="265" y="406"/>
                </a:lnTo>
                <a:lnTo>
                  <a:pt x="269" y="404"/>
                </a:lnTo>
                <a:lnTo>
                  <a:pt x="271" y="401"/>
                </a:lnTo>
                <a:lnTo>
                  <a:pt x="273" y="401"/>
                </a:lnTo>
                <a:lnTo>
                  <a:pt x="273" y="401"/>
                </a:lnTo>
                <a:lnTo>
                  <a:pt x="270" y="407"/>
                </a:lnTo>
                <a:lnTo>
                  <a:pt x="263" y="416"/>
                </a:lnTo>
                <a:lnTo>
                  <a:pt x="259" y="420"/>
                </a:lnTo>
                <a:lnTo>
                  <a:pt x="256" y="425"/>
                </a:lnTo>
                <a:lnTo>
                  <a:pt x="253" y="430"/>
                </a:lnTo>
                <a:lnTo>
                  <a:pt x="252" y="434"/>
                </a:lnTo>
                <a:lnTo>
                  <a:pt x="252" y="438"/>
                </a:lnTo>
                <a:lnTo>
                  <a:pt x="252" y="441"/>
                </a:lnTo>
                <a:lnTo>
                  <a:pt x="255" y="444"/>
                </a:lnTo>
                <a:lnTo>
                  <a:pt x="256" y="446"/>
                </a:lnTo>
                <a:lnTo>
                  <a:pt x="259" y="447"/>
                </a:lnTo>
                <a:lnTo>
                  <a:pt x="263" y="448"/>
                </a:lnTo>
                <a:lnTo>
                  <a:pt x="268" y="450"/>
                </a:lnTo>
                <a:lnTo>
                  <a:pt x="272" y="451"/>
                </a:lnTo>
                <a:lnTo>
                  <a:pt x="283" y="450"/>
                </a:lnTo>
                <a:lnTo>
                  <a:pt x="292" y="448"/>
                </a:lnTo>
                <a:lnTo>
                  <a:pt x="302" y="446"/>
                </a:lnTo>
                <a:lnTo>
                  <a:pt x="310" y="443"/>
                </a:lnTo>
                <a:lnTo>
                  <a:pt x="323" y="439"/>
                </a:lnTo>
                <a:lnTo>
                  <a:pt x="331" y="438"/>
                </a:lnTo>
                <a:lnTo>
                  <a:pt x="332" y="440"/>
                </a:lnTo>
                <a:lnTo>
                  <a:pt x="334" y="443"/>
                </a:lnTo>
                <a:lnTo>
                  <a:pt x="338" y="445"/>
                </a:lnTo>
                <a:lnTo>
                  <a:pt x="341" y="446"/>
                </a:lnTo>
                <a:lnTo>
                  <a:pt x="351" y="445"/>
                </a:lnTo>
                <a:lnTo>
                  <a:pt x="360" y="441"/>
                </a:lnTo>
                <a:lnTo>
                  <a:pt x="364" y="440"/>
                </a:lnTo>
                <a:lnTo>
                  <a:pt x="364" y="443"/>
                </a:lnTo>
                <a:lnTo>
                  <a:pt x="364" y="443"/>
                </a:lnTo>
                <a:lnTo>
                  <a:pt x="361" y="451"/>
                </a:lnTo>
                <a:lnTo>
                  <a:pt x="360" y="457"/>
                </a:lnTo>
                <a:lnTo>
                  <a:pt x="360" y="462"/>
                </a:lnTo>
                <a:lnTo>
                  <a:pt x="361" y="467"/>
                </a:lnTo>
                <a:lnTo>
                  <a:pt x="363" y="471"/>
                </a:lnTo>
                <a:lnTo>
                  <a:pt x="365" y="473"/>
                </a:lnTo>
                <a:lnTo>
                  <a:pt x="367" y="475"/>
                </a:lnTo>
                <a:lnTo>
                  <a:pt x="370" y="477"/>
                </a:lnTo>
                <a:lnTo>
                  <a:pt x="372" y="478"/>
                </a:lnTo>
                <a:lnTo>
                  <a:pt x="376" y="477"/>
                </a:lnTo>
                <a:lnTo>
                  <a:pt x="379" y="477"/>
                </a:lnTo>
                <a:lnTo>
                  <a:pt x="384" y="475"/>
                </a:lnTo>
                <a:lnTo>
                  <a:pt x="393" y="473"/>
                </a:lnTo>
                <a:lnTo>
                  <a:pt x="404" y="473"/>
                </a:lnTo>
                <a:lnTo>
                  <a:pt x="413" y="474"/>
                </a:lnTo>
                <a:lnTo>
                  <a:pt x="417" y="474"/>
                </a:lnTo>
                <a:lnTo>
                  <a:pt x="420" y="452"/>
                </a:lnTo>
                <a:lnTo>
                  <a:pt x="408" y="451"/>
                </a:lnTo>
                <a:lnTo>
                  <a:pt x="385" y="451"/>
                </a:lnTo>
                <a:lnTo>
                  <a:pt x="386" y="450"/>
                </a:lnTo>
                <a:lnTo>
                  <a:pt x="386" y="447"/>
                </a:lnTo>
                <a:lnTo>
                  <a:pt x="386" y="447"/>
                </a:lnTo>
                <a:lnTo>
                  <a:pt x="387" y="443"/>
                </a:lnTo>
                <a:lnTo>
                  <a:pt x="388" y="438"/>
                </a:lnTo>
                <a:lnTo>
                  <a:pt x="390" y="433"/>
                </a:lnTo>
                <a:lnTo>
                  <a:pt x="390" y="428"/>
                </a:lnTo>
                <a:lnTo>
                  <a:pt x="388" y="425"/>
                </a:lnTo>
                <a:lnTo>
                  <a:pt x="387" y="423"/>
                </a:lnTo>
                <a:lnTo>
                  <a:pt x="385" y="420"/>
                </a:lnTo>
                <a:lnTo>
                  <a:pt x="383" y="418"/>
                </a:lnTo>
                <a:lnTo>
                  <a:pt x="380" y="417"/>
                </a:lnTo>
                <a:lnTo>
                  <a:pt x="377" y="416"/>
                </a:lnTo>
                <a:lnTo>
                  <a:pt x="371" y="416"/>
                </a:lnTo>
                <a:lnTo>
                  <a:pt x="365" y="417"/>
                </a:lnTo>
                <a:lnTo>
                  <a:pt x="359" y="418"/>
                </a:lnTo>
                <a:lnTo>
                  <a:pt x="352" y="420"/>
                </a:lnTo>
                <a:lnTo>
                  <a:pt x="351" y="421"/>
                </a:lnTo>
                <a:lnTo>
                  <a:pt x="349" y="421"/>
                </a:lnTo>
                <a:lnTo>
                  <a:pt x="344" y="418"/>
                </a:lnTo>
                <a:lnTo>
                  <a:pt x="339" y="416"/>
                </a:lnTo>
                <a:lnTo>
                  <a:pt x="334" y="414"/>
                </a:lnTo>
                <a:lnTo>
                  <a:pt x="329" y="414"/>
                </a:lnTo>
                <a:lnTo>
                  <a:pt x="316" y="417"/>
                </a:lnTo>
                <a:lnTo>
                  <a:pt x="303" y="420"/>
                </a:lnTo>
                <a:lnTo>
                  <a:pt x="295" y="424"/>
                </a:lnTo>
                <a:lnTo>
                  <a:pt x="285" y="426"/>
                </a:lnTo>
                <a:lnTo>
                  <a:pt x="289" y="421"/>
                </a:lnTo>
                <a:lnTo>
                  <a:pt x="293" y="416"/>
                </a:lnTo>
                <a:lnTo>
                  <a:pt x="296" y="410"/>
                </a:lnTo>
                <a:lnTo>
                  <a:pt x="297" y="403"/>
                </a:lnTo>
                <a:lnTo>
                  <a:pt x="297" y="399"/>
                </a:lnTo>
                <a:lnTo>
                  <a:pt x="296" y="397"/>
                </a:lnTo>
                <a:lnTo>
                  <a:pt x="295" y="394"/>
                </a:lnTo>
                <a:lnTo>
                  <a:pt x="293" y="392"/>
                </a:lnTo>
                <a:lnTo>
                  <a:pt x="289" y="390"/>
                </a:lnTo>
                <a:lnTo>
                  <a:pt x="283" y="390"/>
                </a:lnTo>
                <a:lnTo>
                  <a:pt x="277" y="391"/>
                </a:lnTo>
                <a:lnTo>
                  <a:pt x="269" y="394"/>
                </a:lnTo>
                <a:lnTo>
                  <a:pt x="260" y="398"/>
                </a:lnTo>
                <a:lnTo>
                  <a:pt x="251" y="403"/>
                </a:lnTo>
                <a:lnTo>
                  <a:pt x="219" y="423"/>
                </a:lnTo>
                <a:lnTo>
                  <a:pt x="204" y="433"/>
                </a:lnTo>
                <a:close/>
                <a:moveTo>
                  <a:pt x="582" y="252"/>
                </a:moveTo>
                <a:lnTo>
                  <a:pt x="496" y="221"/>
                </a:lnTo>
                <a:lnTo>
                  <a:pt x="488" y="248"/>
                </a:lnTo>
                <a:lnTo>
                  <a:pt x="481" y="275"/>
                </a:lnTo>
                <a:lnTo>
                  <a:pt x="473" y="302"/>
                </a:lnTo>
                <a:lnTo>
                  <a:pt x="466" y="329"/>
                </a:lnTo>
                <a:lnTo>
                  <a:pt x="484" y="335"/>
                </a:lnTo>
                <a:lnTo>
                  <a:pt x="502" y="342"/>
                </a:lnTo>
                <a:lnTo>
                  <a:pt x="520" y="347"/>
                </a:lnTo>
                <a:lnTo>
                  <a:pt x="538" y="355"/>
                </a:lnTo>
                <a:lnTo>
                  <a:pt x="549" y="329"/>
                </a:lnTo>
                <a:lnTo>
                  <a:pt x="561" y="304"/>
                </a:lnTo>
                <a:lnTo>
                  <a:pt x="572" y="278"/>
                </a:lnTo>
                <a:lnTo>
                  <a:pt x="582" y="252"/>
                </a:lnTo>
                <a:lnTo>
                  <a:pt x="582" y="252"/>
                </a:lnTo>
                <a:close/>
                <a:moveTo>
                  <a:pt x="466" y="339"/>
                </a:moveTo>
                <a:lnTo>
                  <a:pt x="447" y="363"/>
                </a:lnTo>
                <a:lnTo>
                  <a:pt x="458" y="424"/>
                </a:lnTo>
                <a:lnTo>
                  <a:pt x="466" y="427"/>
                </a:lnTo>
                <a:lnTo>
                  <a:pt x="479" y="390"/>
                </a:lnTo>
                <a:lnTo>
                  <a:pt x="476" y="387"/>
                </a:lnTo>
                <a:lnTo>
                  <a:pt x="475" y="384"/>
                </a:lnTo>
                <a:lnTo>
                  <a:pt x="474" y="379"/>
                </a:lnTo>
                <a:lnTo>
                  <a:pt x="475" y="376"/>
                </a:lnTo>
                <a:lnTo>
                  <a:pt x="478" y="371"/>
                </a:lnTo>
                <a:lnTo>
                  <a:pt x="482" y="367"/>
                </a:lnTo>
                <a:lnTo>
                  <a:pt x="487" y="366"/>
                </a:lnTo>
                <a:lnTo>
                  <a:pt x="492" y="367"/>
                </a:lnTo>
                <a:lnTo>
                  <a:pt x="496" y="370"/>
                </a:lnTo>
                <a:lnTo>
                  <a:pt x="499" y="374"/>
                </a:lnTo>
                <a:lnTo>
                  <a:pt x="500" y="379"/>
                </a:lnTo>
                <a:lnTo>
                  <a:pt x="500" y="384"/>
                </a:lnTo>
                <a:lnTo>
                  <a:pt x="498" y="387"/>
                </a:lnTo>
                <a:lnTo>
                  <a:pt x="495" y="391"/>
                </a:lnTo>
                <a:lnTo>
                  <a:pt x="491" y="392"/>
                </a:lnTo>
                <a:lnTo>
                  <a:pt x="487" y="393"/>
                </a:lnTo>
                <a:lnTo>
                  <a:pt x="474" y="430"/>
                </a:lnTo>
                <a:lnTo>
                  <a:pt x="482" y="433"/>
                </a:lnTo>
                <a:lnTo>
                  <a:pt x="528" y="394"/>
                </a:lnTo>
                <a:lnTo>
                  <a:pt x="529" y="363"/>
                </a:lnTo>
                <a:lnTo>
                  <a:pt x="466" y="339"/>
                </a:lnTo>
                <a:close/>
                <a:moveTo>
                  <a:pt x="637" y="93"/>
                </a:moveTo>
                <a:lnTo>
                  <a:pt x="641" y="77"/>
                </a:lnTo>
                <a:lnTo>
                  <a:pt x="644" y="63"/>
                </a:lnTo>
                <a:lnTo>
                  <a:pt x="665" y="72"/>
                </a:lnTo>
                <a:lnTo>
                  <a:pt x="649" y="104"/>
                </a:lnTo>
                <a:lnTo>
                  <a:pt x="629" y="146"/>
                </a:lnTo>
                <a:lnTo>
                  <a:pt x="621" y="167"/>
                </a:lnTo>
                <a:lnTo>
                  <a:pt x="613" y="184"/>
                </a:lnTo>
                <a:lnTo>
                  <a:pt x="609" y="197"/>
                </a:lnTo>
                <a:lnTo>
                  <a:pt x="608" y="205"/>
                </a:lnTo>
                <a:lnTo>
                  <a:pt x="610" y="211"/>
                </a:lnTo>
                <a:lnTo>
                  <a:pt x="614" y="215"/>
                </a:lnTo>
                <a:lnTo>
                  <a:pt x="616" y="218"/>
                </a:lnTo>
                <a:lnTo>
                  <a:pt x="620" y="220"/>
                </a:lnTo>
                <a:lnTo>
                  <a:pt x="626" y="222"/>
                </a:lnTo>
                <a:lnTo>
                  <a:pt x="628" y="222"/>
                </a:lnTo>
                <a:lnTo>
                  <a:pt x="633" y="201"/>
                </a:lnTo>
                <a:lnTo>
                  <a:pt x="630" y="201"/>
                </a:lnTo>
                <a:lnTo>
                  <a:pt x="627" y="200"/>
                </a:lnTo>
                <a:lnTo>
                  <a:pt x="636" y="177"/>
                </a:lnTo>
                <a:lnTo>
                  <a:pt x="657" y="133"/>
                </a:lnTo>
                <a:lnTo>
                  <a:pt x="678" y="90"/>
                </a:lnTo>
                <a:lnTo>
                  <a:pt x="688" y="70"/>
                </a:lnTo>
                <a:lnTo>
                  <a:pt x="694" y="61"/>
                </a:lnTo>
                <a:lnTo>
                  <a:pt x="683" y="56"/>
                </a:lnTo>
                <a:lnTo>
                  <a:pt x="645" y="43"/>
                </a:lnTo>
                <a:lnTo>
                  <a:pt x="644" y="33"/>
                </a:lnTo>
                <a:lnTo>
                  <a:pt x="642" y="24"/>
                </a:lnTo>
                <a:lnTo>
                  <a:pt x="638" y="15"/>
                </a:lnTo>
                <a:lnTo>
                  <a:pt x="635" y="9"/>
                </a:lnTo>
                <a:lnTo>
                  <a:pt x="630" y="5"/>
                </a:lnTo>
                <a:lnTo>
                  <a:pt x="624" y="2"/>
                </a:lnTo>
                <a:lnTo>
                  <a:pt x="618" y="0"/>
                </a:lnTo>
                <a:lnTo>
                  <a:pt x="613" y="0"/>
                </a:lnTo>
                <a:lnTo>
                  <a:pt x="606" y="2"/>
                </a:lnTo>
                <a:lnTo>
                  <a:pt x="599" y="6"/>
                </a:lnTo>
                <a:lnTo>
                  <a:pt x="591" y="11"/>
                </a:lnTo>
                <a:lnTo>
                  <a:pt x="583" y="18"/>
                </a:lnTo>
                <a:lnTo>
                  <a:pt x="576" y="27"/>
                </a:lnTo>
                <a:lnTo>
                  <a:pt x="569" y="38"/>
                </a:lnTo>
                <a:lnTo>
                  <a:pt x="562" y="49"/>
                </a:lnTo>
                <a:lnTo>
                  <a:pt x="555" y="65"/>
                </a:lnTo>
                <a:lnTo>
                  <a:pt x="540" y="101"/>
                </a:lnTo>
                <a:lnTo>
                  <a:pt x="526" y="137"/>
                </a:lnTo>
                <a:lnTo>
                  <a:pt x="513" y="174"/>
                </a:lnTo>
                <a:lnTo>
                  <a:pt x="501" y="209"/>
                </a:lnTo>
                <a:lnTo>
                  <a:pt x="587" y="241"/>
                </a:lnTo>
                <a:lnTo>
                  <a:pt x="601" y="204"/>
                </a:lnTo>
                <a:lnTo>
                  <a:pt x="614" y="168"/>
                </a:lnTo>
                <a:lnTo>
                  <a:pt x="626" y="130"/>
                </a:lnTo>
                <a:lnTo>
                  <a:pt x="637" y="93"/>
                </a:lnTo>
                <a:lnTo>
                  <a:pt x="637" y="93"/>
                </a:lnTo>
                <a:close/>
                <a:moveTo>
                  <a:pt x="88" y="178"/>
                </a:moveTo>
                <a:lnTo>
                  <a:pt x="88" y="204"/>
                </a:lnTo>
                <a:lnTo>
                  <a:pt x="390" y="204"/>
                </a:lnTo>
                <a:lnTo>
                  <a:pt x="390" y="178"/>
                </a:lnTo>
                <a:lnTo>
                  <a:pt x="88" y="178"/>
                </a:lnTo>
                <a:close/>
                <a:moveTo>
                  <a:pt x="88" y="251"/>
                </a:moveTo>
                <a:lnTo>
                  <a:pt x="88" y="277"/>
                </a:lnTo>
                <a:lnTo>
                  <a:pt x="390" y="277"/>
                </a:lnTo>
                <a:lnTo>
                  <a:pt x="390" y="251"/>
                </a:lnTo>
                <a:lnTo>
                  <a:pt x="88" y="251"/>
                </a:lnTo>
                <a:close/>
                <a:moveTo>
                  <a:pt x="88" y="324"/>
                </a:moveTo>
                <a:lnTo>
                  <a:pt x="88" y="350"/>
                </a:lnTo>
                <a:lnTo>
                  <a:pt x="265" y="350"/>
                </a:lnTo>
                <a:lnTo>
                  <a:pt x="265" y="324"/>
                </a:lnTo>
                <a:lnTo>
                  <a:pt x="88" y="324"/>
                </a:lnTo>
                <a:close/>
                <a:moveTo>
                  <a:pt x="18" y="112"/>
                </a:moveTo>
                <a:lnTo>
                  <a:pt x="501" y="112"/>
                </a:lnTo>
                <a:lnTo>
                  <a:pt x="494" y="129"/>
                </a:lnTo>
                <a:lnTo>
                  <a:pt x="487" y="147"/>
                </a:lnTo>
                <a:lnTo>
                  <a:pt x="34" y="147"/>
                </a:lnTo>
                <a:lnTo>
                  <a:pt x="34" y="482"/>
                </a:lnTo>
                <a:lnTo>
                  <a:pt x="584" y="482"/>
                </a:lnTo>
                <a:lnTo>
                  <a:pt x="584" y="340"/>
                </a:lnTo>
                <a:lnTo>
                  <a:pt x="590" y="329"/>
                </a:lnTo>
                <a:lnTo>
                  <a:pt x="595" y="317"/>
                </a:lnTo>
                <a:lnTo>
                  <a:pt x="600" y="304"/>
                </a:lnTo>
                <a:lnTo>
                  <a:pt x="606" y="292"/>
                </a:lnTo>
                <a:lnTo>
                  <a:pt x="606" y="292"/>
                </a:lnTo>
                <a:lnTo>
                  <a:pt x="616" y="266"/>
                </a:lnTo>
                <a:lnTo>
                  <a:pt x="617" y="264"/>
                </a:lnTo>
                <a:lnTo>
                  <a:pt x="618" y="264"/>
                </a:lnTo>
                <a:lnTo>
                  <a:pt x="620" y="264"/>
                </a:lnTo>
                <a:lnTo>
                  <a:pt x="620" y="500"/>
                </a:lnTo>
                <a:lnTo>
                  <a:pt x="620" y="516"/>
                </a:lnTo>
                <a:lnTo>
                  <a:pt x="602" y="516"/>
                </a:lnTo>
                <a:lnTo>
                  <a:pt x="18" y="516"/>
                </a:lnTo>
                <a:lnTo>
                  <a:pt x="0" y="516"/>
                </a:lnTo>
                <a:lnTo>
                  <a:pt x="0" y="500"/>
                </a:lnTo>
                <a:lnTo>
                  <a:pt x="0" y="129"/>
                </a:lnTo>
                <a:lnTo>
                  <a:pt x="0" y="112"/>
                </a:lnTo>
                <a:lnTo>
                  <a:pt x="18" y="1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30B60C-B137-4C27-9BEC-AE3A63FD8273}"/>
              </a:ext>
            </a:extLst>
          </p:cNvPr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旅游网项目分析</a:t>
            </a:r>
          </a:p>
        </p:txBody>
      </p:sp>
    </p:spTree>
    <p:extLst>
      <p:ext uri="{BB962C8B-B14F-4D97-AF65-F5344CB8AC3E}">
        <p14:creationId xmlns:p14="http://schemas.microsoft.com/office/powerpoint/2010/main" val="396809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旅游网项目分析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937977-6347-412F-B0AB-51F081C574C4}"/>
              </a:ext>
            </a:extLst>
          </p:cNvPr>
          <p:cNvSpPr txBox="1"/>
          <p:nvPr/>
        </p:nvSpPr>
        <p:spPr>
          <a:xfrm>
            <a:off x="982638" y="1937382"/>
            <a:ext cx="97930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 latinLnBrk="1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网首页效果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77775BD-4221-4F6E-90F9-52C7044D3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982" y="1224426"/>
            <a:ext cx="4896544" cy="4995632"/>
          </a:xfrm>
          <a:prstGeom prst="rect">
            <a:avLst/>
          </a:prstGeom>
        </p:spPr>
      </p:pic>
      <p:sp>
        <p:nvSpPr>
          <p:cNvPr id="6" name="TextBox 76">
            <a:extLst>
              <a:ext uri="{FF2B5EF4-FFF2-40B4-BE49-F238E27FC236}">
                <a16:creationId xmlns:a16="http://schemas.microsoft.com/office/drawing/2014/main" id="{FF68A3A1-0289-4148-919A-3C88BF8617F1}"/>
              </a:ext>
            </a:extLst>
          </p:cNvPr>
          <p:cNvSpPr txBox="1"/>
          <p:nvPr/>
        </p:nvSpPr>
        <p:spPr>
          <a:xfrm>
            <a:off x="1160809" y="1224426"/>
            <a:ext cx="2448273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首页页面效果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62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旅游网项目分析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937977-6347-412F-B0AB-51F081C574C4}"/>
              </a:ext>
            </a:extLst>
          </p:cNvPr>
          <p:cNvSpPr txBox="1"/>
          <p:nvPr/>
        </p:nvSpPr>
        <p:spPr>
          <a:xfrm>
            <a:off x="982638" y="1937382"/>
            <a:ext cx="97930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 latinLnBrk="1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首页功能模块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76">
            <a:extLst>
              <a:ext uri="{FF2B5EF4-FFF2-40B4-BE49-F238E27FC236}">
                <a16:creationId xmlns:a16="http://schemas.microsoft.com/office/drawing/2014/main" id="{FF68A3A1-0289-4148-919A-3C88BF8617F1}"/>
              </a:ext>
            </a:extLst>
          </p:cNvPr>
          <p:cNvSpPr txBox="1"/>
          <p:nvPr/>
        </p:nvSpPr>
        <p:spPr>
          <a:xfrm>
            <a:off x="1160809" y="1224426"/>
            <a:ext cx="2448273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首页功能模块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998" y="1224426"/>
            <a:ext cx="5055200" cy="479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44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旅游网项目分析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982638" y="1820433"/>
            <a:ext cx="105858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在</a:t>
            </a:r>
            <a:r>
              <a:rPr lang="en-US" altLang="zh-CN" dirty="0" smtClean="0">
                <a:solidFill>
                  <a:srgbClr val="1369B2"/>
                </a:solidFill>
              </a:rPr>
              <a:t>C</a:t>
            </a:r>
            <a:r>
              <a:rPr lang="en-US" altLang="zh-CN" dirty="0">
                <a:solidFill>
                  <a:srgbClr val="1369B2"/>
                </a:solidFill>
              </a:rPr>
              <a:t>:\</a:t>
            </a:r>
            <a:r>
              <a:rPr lang="en-US" altLang="zh-CN" dirty="0" smtClean="0">
                <a:solidFill>
                  <a:srgbClr val="1369B2"/>
                </a:solidFill>
              </a:rPr>
              <a:t>code\chapter04 </a:t>
            </a:r>
            <a:r>
              <a:rPr lang="zh-CN" altLang="en-US" dirty="0" smtClean="0"/>
              <a:t>目录</a:t>
            </a:r>
            <a:r>
              <a:rPr lang="zh-CN" altLang="en-US" dirty="0"/>
              <a:t>下</a:t>
            </a:r>
            <a:r>
              <a:rPr lang="zh-CN" altLang="en-US" dirty="0" smtClean="0"/>
              <a:t>创建 </a:t>
            </a:r>
            <a:r>
              <a:rPr lang="en-US" altLang="zh-CN" dirty="0" smtClean="0">
                <a:solidFill>
                  <a:srgbClr val="1369B2"/>
                </a:solidFill>
              </a:rPr>
              <a:t>travel </a:t>
            </a:r>
            <a:r>
              <a:rPr lang="zh-CN" altLang="en-US" dirty="0" smtClean="0"/>
              <a:t>项目</a:t>
            </a:r>
            <a:r>
              <a:rPr lang="zh-CN" altLang="en-US" dirty="0"/>
              <a:t>，项目</a:t>
            </a:r>
            <a:r>
              <a:rPr lang="zh-CN" altLang="en-US" dirty="0">
                <a:solidFill>
                  <a:srgbClr val="1369B2"/>
                </a:solidFill>
              </a:rPr>
              <a:t>目录结构</a:t>
            </a:r>
            <a:r>
              <a:rPr lang="zh-CN" altLang="en-US" dirty="0"/>
              <a:t>如图：</a:t>
            </a:r>
          </a:p>
        </p:txBody>
      </p:sp>
      <p:pic>
        <p:nvPicPr>
          <p:cNvPr id="1026" name="图片 1">
            <a:extLst>
              <a:ext uri="{FF2B5EF4-FFF2-40B4-BE49-F238E27FC236}">
                <a16:creationId xmlns:a16="http://schemas.microsoft.com/office/drawing/2014/main" id="{6B91E9DB-0FA2-4215-9F5A-895329E65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990" y="2781722"/>
            <a:ext cx="3960441" cy="2650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76">
            <a:extLst>
              <a:ext uri="{FF2B5EF4-FFF2-40B4-BE49-F238E27FC236}">
                <a16:creationId xmlns:a16="http://schemas.microsoft.com/office/drawing/2014/main" id="{FF68A3A1-0289-4148-919A-3C88BF8617F1}"/>
              </a:ext>
            </a:extLst>
          </p:cNvPr>
          <p:cNvSpPr txBox="1"/>
          <p:nvPr/>
        </p:nvSpPr>
        <p:spPr>
          <a:xfrm>
            <a:off x="1160809" y="1224426"/>
            <a:ext cx="2448273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项目目录结构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998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旅游网项目分析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278689-B440-44F4-AFFF-DBE29F740BCA}"/>
              </a:ext>
            </a:extLst>
          </p:cNvPr>
          <p:cNvSpPr txBox="1"/>
          <p:nvPr/>
        </p:nvSpPr>
        <p:spPr>
          <a:xfrm>
            <a:off x="910630" y="924526"/>
            <a:ext cx="10585176" cy="307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下面对旅游网项目目录结构中的各个目录及文件进行说明。</a:t>
            </a:r>
          </a:p>
          <a:p>
            <a:pPr algn="just">
              <a:lnSpc>
                <a:spcPct val="20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travel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项目根目录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，在该目录下包含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，以及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项目入口文件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index.html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     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文件目录，该目录下存放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，用于添加自定义的样式代码。</a:t>
            </a:r>
          </a:p>
          <a:p>
            <a:pPr algn="just">
              <a:lnSpc>
                <a:spcPct val="20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图片文件目录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，该目录下存放项目引用的图片文件。</a:t>
            </a:r>
          </a:p>
        </p:txBody>
      </p:sp>
    </p:spTree>
    <p:extLst>
      <p:ext uri="{BB962C8B-B14F-4D97-AF65-F5344CB8AC3E}">
        <p14:creationId xmlns:p14="http://schemas.microsoft.com/office/powerpoint/2010/main" val="298497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旅游网首页整体布局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能够对旅游网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首页布局有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一个整体的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认识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旅游网首页整体布局</a:t>
            </a:r>
          </a:p>
        </p:txBody>
      </p:sp>
    </p:spTree>
    <p:extLst>
      <p:ext uri="{BB962C8B-B14F-4D97-AF65-F5344CB8AC3E}">
        <p14:creationId xmlns:p14="http://schemas.microsoft.com/office/powerpoint/2010/main" val="267535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982638" y="1219726"/>
            <a:ext cx="99371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旅游网首页的外层容器为</a:t>
            </a:r>
            <a:r>
              <a:rPr lang="en-US" altLang="zh-CN" dirty="0">
                <a:solidFill>
                  <a:srgbClr val="1369B2"/>
                </a:solidFill>
              </a:rPr>
              <a:t>body</a:t>
            </a:r>
            <a:r>
              <a:rPr lang="zh-CN" altLang="en-US" dirty="0"/>
              <a:t>元素，该容器中包含</a:t>
            </a:r>
            <a:r>
              <a:rPr lang="zh-CN" altLang="en-US" dirty="0">
                <a:solidFill>
                  <a:srgbClr val="1369B2"/>
                </a:solidFill>
              </a:rPr>
              <a:t>搜索栏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1369B2"/>
                </a:solidFill>
              </a:rPr>
              <a:t>焦点图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1369B2"/>
                </a:solidFill>
              </a:rPr>
              <a:t>快捷导航栏</a:t>
            </a:r>
            <a:r>
              <a:rPr lang="zh-CN" altLang="en-US" dirty="0"/>
              <a:t>以及</a:t>
            </a:r>
            <a:r>
              <a:rPr lang="zh-CN" altLang="en-US" dirty="0">
                <a:solidFill>
                  <a:srgbClr val="1369B2"/>
                </a:solidFill>
              </a:rPr>
              <a:t>主导航栏</a:t>
            </a:r>
            <a:r>
              <a:rPr lang="en-US" altLang="zh-CN" dirty="0"/>
              <a:t>4</a:t>
            </a:r>
            <a:r>
              <a:rPr lang="zh-CN" altLang="en-US" dirty="0"/>
              <a:t>个功能模块，具体实现细节如下。</a:t>
            </a:r>
          </a:p>
        </p:txBody>
      </p:sp>
      <p:sp>
        <p:nvSpPr>
          <p:cNvPr id="5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旅游网首页整体布局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87A699-0BDE-4E60-BAFF-CCBF8D129DA4}"/>
              </a:ext>
            </a:extLst>
          </p:cNvPr>
          <p:cNvSpPr txBox="1"/>
          <p:nvPr/>
        </p:nvSpPr>
        <p:spPr>
          <a:xfrm>
            <a:off x="1143690" y="2307647"/>
            <a:ext cx="10208100" cy="2346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-342900" algn="just">
              <a:lnSpc>
                <a:spcPct val="150000"/>
              </a:lnSpc>
              <a:buFont typeface="Times New Roman" panose="02020603050405020304" pitchFamily="18" charset="0"/>
              <a:buAutoNum type="arabicPeriod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外层容器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在页面中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垂直居中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显示。</a:t>
            </a:r>
          </a:p>
          <a:p>
            <a:pPr lvl="0" indent="-342900" algn="just">
              <a:lnSpc>
                <a:spcPct val="150000"/>
              </a:lnSpc>
              <a:buFont typeface="Times New Roman" panose="02020603050405020304" pitchFamily="18" charset="0"/>
              <a:buAutoNum type="arabicPeriod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模块，采用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固定定位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将搜索栏定位在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0" indent="-342900" algn="just">
              <a:lnSpc>
                <a:spcPct val="150000"/>
              </a:lnSpc>
              <a:buFont typeface="Times New Roman" panose="02020603050405020304" pitchFamily="18" charset="0"/>
              <a:buAutoNum type="arabicPeriod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焦点图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模块。</a:t>
            </a:r>
          </a:p>
          <a:p>
            <a:pPr lvl="0" indent="-342900" algn="just">
              <a:lnSpc>
                <a:spcPct val="150000"/>
              </a:lnSpc>
              <a:buFont typeface="Times New Roman" panose="02020603050405020304" pitchFamily="18" charset="0"/>
              <a:buAutoNum type="arabicPeriod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&lt;ul&gt;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快捷导航栏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模块，并设置为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弹性盒子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0" indent="-342900" algn="just">
              <a:lnSpc>
                <a:spcPct val="150000"/>
              </a:lnSpc>
              <a:buFont typeface="Times New Roman" panose="02020603050405020304" pitchFamily="18" charset="0"/>
              <a:buAutoNum type="arabicPeriod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&lt;nav&gt;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主导航栏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模块。</a:t>
            </a:r>
          </a:p>
        </p:txBody>
      </p:sp>
    </p:spTree>
    <p:extLst>
      <p:ext uri="{BB962C8B-B14F-4D97-AF65-F5344CB8AC3E}">
        <p14:creationId xmlns:p14="http://schemas.microsoft.com/office/powerpoint/2010/main" val="2695597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049432"/>
            <a:ext cx="80830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创建</a:t>
            </a:r>
            <a:r>
              <a:rPr lang="en-US" altLang="zh-CN" dirty="0" smtClean="0"/>
              <a:t>C:\code\chapter04\travel\index.html</a:t>
            </a:r>
            <a:r>
              <a:rPr lang="zh-CN" altLang="en-US" dirty="0" smtClean="0"/>
              <a:t>，定义主体结构，引入</a:t>
            </a:r>
            <a:r>
              <a:rPr lang="en-US" altLang="zh-CN" dirty="0" smtClean="0">
                <a:solidFill>
                  <a:srgbClr val="1369B2"/>
                </a:solidFill>
              </a:rPr>
              <a:t>normalize.css</a:t>
            </a:r>
            <a:r>
              <a:rPr lang="zh-CN" altLang="en-US" dirty="0" smtClean="0"/>
              <a:t>文件和</a:t>
            </a:r>
            <a:r>
              <a:rPr lang="en-US" altLang="zh-CN" dirty="0" smtClean="0">
                <a:solidFill>
                  <a:srgbClr val="1369B2"/>
                </a:solidFill>
              </a:rPr>
              <a:t>index.css</a:t>
            </a:r>
            <a:r>
              <a:rPr lang="zh-CN" altLang="en-US" dirty="0" smtClean="0"/>
              <a:t>文件。</a:t>
            </a:r>
            <a:endParaRPr lang="en-US" altLang="zh-CN" dirty="0"/>
          </a:p>
        </p:txBody>
      </p:sp>
      <p:sp>
        <p:nvSpPr>
          <p:cNvPr id="5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旅游网首页整体布局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87A699-0BDE-4E60-BAFF-CCBF8D129DA4}"/>
              </a:ext>
            </a:extLst>
          </p:cNvPr>
          <p:cNvSpPr txBox="1"/>
          <p:nvPr/>
        </p:nvSpPr>
        <p:spPr>
          <a:xfrm>
            <a:off x="2062758" y="2061642"/>
            <a:ext cx="8676629" cy="453624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&lt;!DOCTYPE html&gt;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&lt;html&gt;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&lt;head&gt;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charset="UTF-8"&gt;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name="viewport" content="width=device-width, initial-scale=1.0"&gt;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&lt;meta http-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equiv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="X-UA-Compatible" content="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=edge"&gt;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&lt;link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rel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="stylesheet"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/normalize.css"&gt;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&lt;link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rel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="stylesheet"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css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/index.css"&gt;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&lt;title&gt;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旅游网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&lt;/title&gt;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&lt;/head&gt;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&lt;/body&gt;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&lt;/html&gt;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6862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旅游网首页整体布局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87A699-0BDE-4E60-BAFF-CCBF8D129DA4}"/>
              </a:ext>
            </a:extLst>
          </p:cNvPr>
          <p:cNvSpPr txBox="1"/>
          <p:nvPr/>
        </p:nvSpPr>
        <p:spPr>
          <a:xfrm>
            <a:off x="2980745" y="2061642"/>
            <a:ext cx="5292253" cy="448084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&lt;div class="search-index"&gt;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搜索栏模块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class="focus"&gt;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焦点图模块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&lt;ul class="local-nav"&gt;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快捷导航栏模块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&lt;/ul&gt;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&lt;nav&gt;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主导航栏模块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&lt;/nav&gt;</a:t>
            </a:r>
            <a:endParaRPr lang="zh-CN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049432"/>
            <a:ext cx="8083014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index.html</a:t>
            </a:r>
            <a:r>
              <a:rPr lang="zh-CN" altLang="en-US" dirty="0"/>
              <a:t>文件的</a:t>
            </a:r>
            <a:r>
              <a:rPr lang="en-US" altLang="zh-CN" dirty="0"/>
              <a:t>&lt;body&gt;&lt;/body&gt;</a:t>
            </a:r>
            <a:r>
              <a:rPr lang="zh-CN" altLang="en-US" dirty="0"/>
              <a:t>中间，定义</a:t>
            </a:r>
            <a:r>
              <a:rPr lang="zh-CN" altLang="en-US" dirty="0">
                <a:solidFill>
                  <a:srgbClr val="1369B2"/>
                </a:solidFill>
              </a:rPr>
              <a:t>搜索栏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1369B2"/>
                </a:solidFill>
              </a:rPr>
              <a:t>焦点图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1369B2"/>
                </a:solidFill>
              </a:rPr>
              <a:t>快捷导航栏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1369B2"/>
                </a:solidFill>
              </a:rPr>
              <a:t>主导航栏</a:t>
            </a:r>
            <a:r>
              <a:rPr lang="zh-CN" altLang="en-US" dirty="0"/>
              <a:t>模块。</a:t>
            </a:r>
          </a:p>
          <a:p>
            <a:endParaRPr lang="en-US" altLang="zh-CN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482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旅游网首页整体布局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87A699-0BDE-4E60-BAFF-CCBF8D129DA4}"/>
              </a:ext>
            </a:extLst>
          </p:cNvPr>
          <p:cNvSpPr txBox="1"/>
          <p:nvPr/>
        </p:nvSpPr>
        <p:spPr>
          <a:xfrm>
            <a:off x="1918742" y="2205658"/>
            <a:ext cx="9001000" cy="353943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body {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max-width: 540px;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min-width: 320px;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margin: 0 auto;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font: normal 14px/1.5 Tahoma, "Lucida Grande", Verdana, "Microsoft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Yahei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STXihei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,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hei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color: #000;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background: #f2f2f2;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overflow-x: hidden;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-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webkit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-tap-highlight-color: transparent;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049432"/>
            <a:ext cx="80830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>
                <a:solidFill>
                  <a:srgbClr val="1369B2"/>
                </a:solidFill>
              </a:rPr>
              <a:t>index.css</a:t>
            </a:r>
            <a:r>
              <a:rPr lang="zh-CN" altLang="en-US" dirty="0"/>
              <a:t>文件中，实现</a:t>
            </a:r>
            <a:r>
              <a:rPr lang="zh-CN" altLang="en-US" dirty="0">
                <a:solidFill>
                  <a:srgbClr val="1369B2"/>
                </a:solidFill>
              </a:rPr>
              <a:t>搜索栏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1369B2"/>
                </a:solidFill>
              </a:rPr>
              <a:t>焦点图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1369B2"/>
                </a:solidFill>
              </a:rPr>
              <a:t>快捷导航栏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1369B2"/>
                </a:solidFill>
              </a:rPr>
              <a:t>主导航栏</a:t>
            </a:r>
            <a:r>
              <a:rPr lang="zh-CN" altLang="en-US" dirty="0"/>
              <a:t>最外层盒子结构页面样式效果。</a:t>
            </a:r>
          </a:p>
          <a:p>
            <a:endParaRPr lang="zh-CN" altLang="en-US" dirty="0"/>
          </a:p>
          <a:p>
            <a:endParaRPr lang="en-US" altLang="zh-CN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285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旅游网首页整体布局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87A699-0BDE-4E60-BAFF-CCBF8D129DA4}"/>
              </a:ext>
            </a:extLst>
          </p:cNvPr>
          <p:cNvSpPr txBox="1"/>
          <p:nvPr/>
        </p:nvSpPr>
        <p:spPr>
          <a:xfrm>
            <a:off x="1916891" y="2084811"/>
            <a:ext cx="3530243" cy="425347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ul {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list-style: none;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margin: 0;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padding: 0;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div {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box-sizing: border-box;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/*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搜索栏模块 *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.search-index {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display: flex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/* 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固定定位 *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position: fixed;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87A699-0BDE-4E60-BAFF-CCBF8D129DA4}"/>
              </a:ext>
            </a:extLst>
          </p:cNvPr>
          <p:cNvSpPr txBox="1"/>
          <p:nvPr/>
        </p:nvSpPr>
        <p:spPr>
          <a:xfrm>
            <a:off x="5591150" y="2084811"/>
            <a:ext cx="4824536" cy="449969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top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 0;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left: 50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%;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/*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让固定定位的元素居中 *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transform: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translateX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(-50%);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width: 100%;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min-width: 320px;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max-width: 540px;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height: 44px;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/* background-color: pink; */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background-color: #F6F6F6;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border-top: 1px solid #ccc;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border-bottom: 1px solid #ccc;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049432"/>
            <a:ext cx="808301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>
                <a:solidFill>
                  <a:srgbClr val="1369B2"/>
                </a:solidFill>
              </a:rPr>
              <a:t>index.css</a:t>
            </a:r>
            <a:r>
              <a:rPr lang="zh-CN" altLang="en-US" dirty="0"/>
              <a:t>文件中，实现</a:t>
            </a:r>
            <a:r>
              <a:rPr lang="zh-CN" altLang="en-US" dirty="0">
                <a:solidFill>
                  <a:srgbClr val="1369B2"/>
                </a:solidFill>
              </a:rPr>
              <a:t>搜索栏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1369B2"/>
                </a:solidFill>
              </a:rPr>
              <a:t>焦点图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1369B2"/>
                </a:solidFill>
              </a:rPr>
              <a:t>快捷导航栏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1369B2"/>
                </a:solidFill>
              </a:rPr>
              <a:t>主导航栏</a:t>
            </a:r>
            <a:r>
              <a:rPr lang="zh-CN" altLang="en-US" dirty="0"/>
              <a:t>最外层盒子结构页面样式效果。</a:t>
            </a:r>
          </a:p>
          <a:p>
            <a:endParaRPr lang="zh-CN" altLang="en-US" dirty="0" smtClean="0"/>
          </a:p>
          <a:p>
            <a:endParaRPr lang="zh-CN" altLang="en-US" dirty="0"/>
          </a:p>
          <a:p>
            <a:endParaRPr lang="en-US" altLang="zh-CN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10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7997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旅游网首页整体布局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22E45E-9AC3-4708-A8FB-B157356E6905}"/>
              </a:ext>
            </a:extLst>
          </p:cNvPr>
          <p:cNvSpPr txBox="1"/>
          <p:nvPr/>
        </p:nvSpPr>
        <p:spPr>
          <a:xfrm>
            <a:off x="2327920" y="2117304"/>
            <a:ext cx="4016041" cy="448084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/*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焦点图模块 *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.focus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padding-top: 44px;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/*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快捷导航栏模块 *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.local-nav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display: flex;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height: 64px;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margin: 3px 4px;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background-color: #fff;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border-radius: 8px;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049432"/>
            <a:ext cx="8083014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>
                <a:solidFill>
                  <a:srgbClr val="1369B2"/>
                </a:solidFill>
              </a:rPr>
              <a:t>index.css</a:t>
            </a:r>
            <a:r>
              <a:rPr lang="zh-CN" altLang="en-US" dirty="0"/>
              <a:t>文件中，实现</a:t>
            </a:r>
            <a:r>
              <a:rPr lang="zh-CN" altLang="en-US" dirty="0">
                <a:solidFill>
                  <a:srgbClr val="1369B2"/>
                </a:solidFill>
              </a:rPr>
              <a:t>搜索栏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1369B2"/>
                </a:solidFill>
              </a:rPr>
              <a:t>焦点图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1369B2"/>
                </a:solidFill>
              </a:rPr>
              <a:t>快捷导航栏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1369B2"/>
                </a:solidFill>
              </a:rPr>
              <a:t>主导航栏</a:t>
            </a:r>
            <a:r>
              <a:rPr lang="zh-CN" altLang="en-US" dirty="0"/>
              <a:t>最外层盒子结构页面样式效果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10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576392" y="2117304"/>
            <a:ext cx="3623270" cy="226485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/*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主导航栏模块 *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nav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{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overflow: hidden;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border-radius: 8px;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margin: 0 4px 3px;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156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旅游网首页整体布局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4C6707-8860-4135-9787-6140E9F93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870" y="1982048"/>
            <a:ext cx="5688632" cy="331995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zh-CN" altLang="en-US" dirty="0"/>
              <a:t>浏览器中，打开</a:t>
            </a:r>
            <a:r>
              <a:rPr lang="en-US" altLang="zh-CN" dirty="0">
                <a:solidFill>
                  <a:srgbClr val="1369B2"/>
                </a:solidFill>
              </a:rPr>
              <a:t>index.html</a:t>
            </a:r>
            <a:r>
              <a:rPr lang="zh-CN" altLang="en-US" dirty="0"/>
              <a:t>文件，</a:t>
            </a:r>
            <a:r>
              <a:rPr lang="zh-CN" altLang="en-US" dirty="0">
                <a:solidFill>
                  <a:srgbClr val="1369B2"/>
                </a:solidFill>
              </a:rPr>
              <a:t>各个模块</a:t>
            </a:r>
            <a:r>
              <a:rPr lang="zh-CN" altLang="en-US" dirty="0"/>
              <a:t>的外层盒子页面效果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13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03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5233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栏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的实现，能够实现搜索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栏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布局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效果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搜索栏布局</a:t>
            </a:r>
          </a:p>
        </p:txBody>
      </p:sp>
    </p:spTree>
    <p:extLst>
      <p:ext uri="{BB962C8B-B14F-4D97-AF65-F5344CB8AC3E}">
        <p14:creationId xmlns:p14="http://schemas.microsoft.com/office/powerpoint/2010/main" val="412450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搜索栏布局</a:t>
            </a:r>
          </a:p>
        </p:txBody>
      </p:sp>
      <p:sp>
        <p:nvSpPr>
          <p:cNvPr id="11" name="TextBox 76"/>
          <p:cNvSpPr txBox="1"/>
          <p:nvPr/>
        </p:nvSpPr>
        <p:spPr>
          <a:xfrm>
            <a:off x="1142277" y="1161237"/>
            <a:ext cx="221662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搜索栏效果图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1198662" y="1847686"/>
            <a:ext cx="105858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1369B2"/>
                </a:solidFill>
              </a:rPr>
              <a:t>搜索栏</a:t>
            </a:r>
            <a:r>
              <a:rPr lang="zh-CN" altLang="en-US" dirty="0"/>
              <a:t>定位在页面的顶端，用来实现快速搜索功能。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9CF0A63-9C37-4B27-9D47-136CCFD25D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" t="22105" r="2033" b="64803"/>
          <a:stretch/>
        </p:blipFill>
        <p:spPr>
          <a:xfrm>
            <a:off x="1198662" y="2757101"/>
            <a:ext cx="9505055" cy="74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44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搜索栏布局</a:t>
            </a:r>
          </a:p>
        </p:txBody>
      </p:sp>
      <p:sp>
        <p:nvSpPr>
          <p:cNvPr id="11" name="TextBox 76"/>
          <p:cNvSpPr txBox="1"/>
          <p:nvPr/>
        </p:nvSpPr>
        <p:spPr>
          <a:xfrm>
            <a:off x="1142277" y="1167929"/>
            <a:ext cx="221662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结构分析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FCBDD51-7E6C-4303-9374-F268FD435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822" y="1845618"/>
            <a:ext cx="6288273" cy="244724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A7E92A8-E01C-4BF3-800E-04FE9520AA0F}"/>
              </a:ext>
            </a:extLst>
          </p:cNvPr>
          <p:cNvSpPr txBox="1"/>
          <p:nvPr/>
        </p:nvSpPr>
        <p:spPr>
          <a:xfrm>
            <a:off x="1558702" y="4509914"/>
            <a:ext cx="892899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整个搜索栏包含在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父级容器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中，采用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固定定位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，固定在顶端。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左侧搜索内容区使用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定义，采用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相对定位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右侧“我的”使用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&lt;a&gt;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定义。</a:t>
            </a: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2373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搜索栏布局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70C449-9620-449E-AEB1-CF7E5ECA1AAA}"/>
              </a:ext>
            </a:extLst>
          </p:cNvPr>
          <p:cNvSpPr txBox="1"/>
          <p:nvPr/>
        </p:nvSpPr>
        <p:spPr>
          <a:xfrm>
            <a:off x="1994116" y="2348588"/>
            <a:ext cx="8208912" cy="235449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&lt;!--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搜索栏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--&gt;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&lt;div class="search"&gt;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&lt;input type="text" placeholder="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搜索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: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目的地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酒店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景点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航班号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&lt;/div&gt;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&lt;a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class="user"&gt;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我 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index.html</a:t>
            </a:r>
            <a:r>
              <a:rPr lang="zh-CN" altLang="en-US" dirty="0"/>
              <a:t>文件中定义</a:t>
            </a:r>
            <a:r>
              <a:rPr lang="zh-CN" altLang="en-US" dirty="0">
                <a:solidFill>
                  <a:srgbClr val="1369B3"/>
                </a:solidFill>
              </a:rPr>
              <a:t>搜索栏</a:t>
            </a:r>
            <a:r>
              <a:rPr lang="zh-CN" altLang="en-US" dirty="0"/>
              <a:t>结构。</a:t>
            </a:r>
          </a:p>
          <a:p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841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搜索栏布局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70C449-9620-449E-AEB1-CF7E5ECA1AAA}"/>
              </a:ext>
            </a:extLst>
          </p:cNvPr>
          <p:cNvSpPr txBox="1"/>
          <p:nvPr/>
        </p:nvSpPr>
        <p:spPr>
          <a:xfrm>
            <a:off x="3142878" y="1936210"/>
            <a:ext cx="5904656" cy="422231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.search {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position: relative;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height: 26px;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line-height: 24px;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border: 1px solid #ccc;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flex: 1;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font-size: 12px;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color: #666;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margin: 7px 10px;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padding-left: 25px;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border-radius: 5px;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box-shadow: 0 2px 4px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rgba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(0, 0, 0, .2);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index.css</a:t>
            </a:r>
            <a:r>
              <a:rPr lang="zh-CN" altLang="en-US" dirty="0"/>
              <a:t>文件中实现</a:t>
            </a:r>
            <a:r>
              <a:rPr lang="zh-CN" altLang="en-US" dirty="0">
                <a:solidFill>
                  <a:srgbClr val="1369B3"/>
                </a:solidFill>
              </a:rPr>
              <a:t>搜索栏</a:t>
            </a:r>
            <a:r>
              <a:rPr lang="zh-CN" altLang="en-US" dirty="0"/>
              <a:t>页面结构样式。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818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搜索栏布局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70C449-9620-449E-AEB1-CF7E5ECA1AAA}"/>
              </a:ext>
            </a:extLst>
          </p:cNvPr>
          <p:cNvSpPr txBox="1"/>
          <p:nvPr/>
        </p:nvSpPr>
        <p:spPr>
          <a:xfrm>
            <a:off x="2134766" y="2205658"/>
            <a:ext cx="7992888" cy="374217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.search::before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content: "";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position: absolute;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top: 5px;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left: 5px;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width: 15px;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height: 15px;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background: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url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(../images/sprite.png) no-repeat -59px -279px;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background-size: 104px auto;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 smtClean="0"/>
              <a:t>index.css</a:t>
            </a:r>
            <a:r>
              <a:rPr lang="zh-CN" altLang="en-US" dirty="0" smtClean="0"/>
              <a:t>文件中实现</a:t>
            </a:r>
            <a:r>
              <a:rPr lang="zh-CN" altLang="en-US" dirty="0" smtClean="0">
                <a:solidFill>
                  <a:srgbClr val="1369B3"/>
                </a:solidFill>
              </a:rPr>
              <a:t>搜索栏</a:t>
            </a:r>
            <a:r>
              <a:rPr lang="zh-CN" altLang="en-US" dirty="0" smtClean="0"/>
              <a:t>页面结构样式。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12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924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搜索栏布局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70C449-9620-449E-AEB1-CF7E5ECA1AAA}"/>
              </a:ext>
            </a:extLst>
          </p:cNvPr>
          <p:cNvSpPr txBox="1"/>
          <p:nvPr/>
        </p:nvSpPr>
        <p:spPr>
          <a:xfrm>
            <a:off x="1198662" y="2298466"/>
            <a:ext cx="2952328" cy="233294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.user {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width: 44px;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height: 44px;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font-size: 12px;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text-align: center;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color: #2eaae0;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 smtClean="0"/>
              <a:t>index.css</a:t>
            </a:r>
            <a:r>
              <a:rPr lang="zh-CN" altLang="en-US" dirty="0" smtClean="0"/>
              <a:t>文件中实现</a:t>
            </a:r>
            <a:r>
              <a:rPr lang="zh-CN" altLang="en-US" dirty="0" smtClean="0">
                <a:solidFill>
                  <a:srgbClr val="1369B3"/>
                </a:solidFill>
              </a:rPr>
              <a:t>搜索栏</a:t>
            </a:r>
            <a:r>
              <a:rPr lang="zh-CN" altLang="en-US" dirty="0" smtClean="0"/>
              <a:t>页面结构样式。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367015" y="2298466"/>
            <a:ext cx="7087378" cy="29731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.user::before {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content: "";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display: block;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width: 23px;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height: 23px;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background: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url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(../images/sprite.png) no-repeat -59px -194px;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background-size: 104px auto;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margin: 4px auto -2px;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108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搜索栏布局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70C449-9620-449E-AEB1-CF7E5ECA1AAA}"/>
              </a:ext>
            </a:extLst>
          </p:cNvPr>
          <p:cNvSpPr txBox="1"/>
          <p:nvPr/>
        </p:nvSpPr>
        <p:spPr>
          <a:xfrm>
            <a:off x="3358902" y="1922382"/>
            <a:ext cx="4968552" cy="448084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a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text-decoration: none;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color: #222;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input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width: 90%;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background: #f2f2f2;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border: none;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input:focus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outline: none;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 smtClean="0"/>
              <a:t>index.css</a:t>
            </a:r>
            <a:r>
              <a:rPr lang="zh-CN" altLang="en-US" dirty="0" smtClean="0"/>
              <a:t>文件中实现</a:t>
            </a:r>
            <a:r>
              <a:rPr lang="zh-CN" altLang="en-US" dirty="0" smtClean="0">
                <a:solidFill>
                  <a:srgbClr val="1369B3"/>
                </a:solidFill>
              </a:rPr>
              <a:t>搜索栏</a:t>
            </a:r>
            <a:r>
              <a:rPr lang="zh-CN" altLang="en-US" dirty="0" smtClean="0"/>
              <a:t>页面结构样式。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24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搜索栏布局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BF486D-B5D2-4C74-BFD6-9137DAEE9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031" y="2058121"/>
            <a:ext cx="6473612" cy="377807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zh-CN" altLang="en-US" dirty="0"/>
              <a:t>浏览器中打开</a:t>
            </a:r>
            <a:r>
              <a:rPr lang="en-US" altLang="zh-CN" dirty="0"/>
              <a:t>index.html</a:t>
            </a:r>
            <a:r>
              <a:rPr lang="zh-CN" altLang="en-US" dirty="0"/>
              <a:t>文件，页面显示</a:t>
            </a:r>
            <a:r>
              <a:rPr lang="zh-CN" altLang="en-US" dirty="0">
                <a:solidFill>
                  <a:srgbClr val="1369B3"/>
                </a:solidFill>
              </a:rPr>
              <a:t>搜索栏</a:t>
            </a:r>
            <a:r>
              <a:rPr lang="zh-CN" altLang="en-US" dirty="0"/>
              <a:t>效果。</a:t>
            </a:r>
          </a:p>
          <a:p>
            <a:endParaRPr lang="zh-CN" altLang="en-US" dirty="0" smtClean="0"/>
          </a:p>
          <a:p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03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912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焦点图布局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，能够实现焦点图模块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效果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焦点图布局</a:t>
            </a:r>
          </a:p>
        </p:txBody>
      </p:sp>
    </p:spTree>
    <p:extLst>
      <p:ext uri="{BB962C8B-B14F-4D97-AF65-F5344CB8AC3E}">
        <p14:creationId xmlns:p14="http://schemas.microsoft.com/office/powerpoint/2010/main" val="312980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焦点图布局</a:t>
            </a:r>
          </a:p>
        </p:txBody>
      </p:sp>
      <p:sp>
        <p:nvSpPr>
          <p:cNvPr id="11" name="TextBox 76"/>
          <p:cNvSpPr txBox="1"/>
          <p:nvPr/>
        </p:nvSpPr>
        <p:spPr>
          <a:xfrm>
            <a:off x="1142277" y="1095921"/>
            <a:ext cx="221662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焦点图效果图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1197992" y="1668834"/>
            <a:ext cx="10585846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整个焦点图是一张图片，可以进行</a:t>
            </a:r>
            <a:r>
              <a:rPr lang="zh-CN" altLang="en-US" dirty="0">
                <a:solidFill>
                  <a:srgbClr val="1369B2"/>
                </a:solidFill>
              </a:rPr>
              <a:t>等比例缩放</a:t>
            </a:r>
            <a:r>
              <a:rPr lang="zh-CN" altLang="en-US" dirty="0"/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F020F8-9476-41A0-AF28-852C030944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0" t="35573" r="4937" b="32901"/>
          <a:stretch/>
        </p:blipFill>
        <p:spPr>
          <a:xfrm>
            <a:off x="2422798" y="2429536"/>
            <a:ext cx="7738379" cy="157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13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焦点图布局</a:t>
            </a:r>
          </a:p>
        </p:txBody>
      </p:sp>
      <p:sp>
        <p:nvSpPr>
          <p:cNvPr id="11" name="TextBox 76"/>
          <p:cNvSpPr txBox="1"/>
          <p:nvPr/>
        </p:nvSpPr>
        <p:spPr>
          <a:xfrm>
            <a:off x="1142277" y="1095921"/>
            <a:ext cx="221662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结构分析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7E92A8-E01C-4BF3-800E-04FE9520AA0F}"/>
              </a:ext>
            </a:extLst>
          </p:cNvPr>
          <p:cNvSpPr txBox="1"/>
          <p:nvPr/>
        </p:nvSpPr>
        <p:spPr>
          <a:xfrm>
            <a:off x="1846734" y="4077866"/>
            <a:ext cx="8928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整个焦点图包含在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焦点图片使用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定义，设置图片宽度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794A724-249F-4C02-9939-54F7A1784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798" y="1807590"/>
            <a:ext cx="6355766" cy="198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14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焦点图布局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70C449-9620-449E-AEB1-CF7E5ECA1AAA}"/>
              </a:ext>
            </a:extLst>
          </p:cNvPr>
          <p:cNvSpPr txBox="1"/>
          <p:nvPr/>
        </p:nvSpPr>
        <p:spPr>
          <a:xfrm>
            <a:off x="3142878" y="2400721"/>
            <a:ext cx="5184576" cy="54854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src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="images/focus.jpg" alt=""&gt;</a:t>
            </a:r>
          </a:p>
          <a:p>
            <a:pPr lvl="1">
              <a:lnSpc>
                <a:spcPct val="150000"/>
              </a:lnSpc>
              <a:defRPr/>
            </a:pPr>
            <a:endParaRPr lang="zh-CN" altLang="en-US" sz="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2872C1-42C3-490A-A8F7-F3D52649FA98}"/>
              </a:ext>
            </a:extLst>
          </p:cNvPr>
          <p:cNvSpPr txBox="1"/>
          <p:nvPr/>
        </p:nvSpPr>
        <p:spPr>
          <a:xfrm>
            <a:off x="3004662" y="3559545"/>
            <a:ext cx="620196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index.css</a:t>
            </a:r>
            <a:r>
              <a:rPr lang="zh-CN" altLang="en-US" dirty="0"/>
              <a:t>文件中实现</a:t>
            </a:r>
            <a:r>
              <a:rPr lang="zh-CN" altLang="en-US" dirty="0">
                <a:solidFill>
                  <a:srgbClr val="1369B2"/>
                </a:solidFill>
              </a:rPr>
              <a:t>焦点图</a:t>
            </a:r>
            <a:r>
              <a:rPr lang="zh-CN" altLang="en-US" dirty="0" smtClean="0"/>
              <a:t>模块样式</a:t>
            </a:r>
            <a:r>
              <a:rPr lang="zh-CN" altLang="en-US" dirty="0"/>
              <a:t>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A24A312-5A21-4A00-98D4-15FD38E35746}"/>
              </a:ext>
            </a:extLst>
          </p:cNvPr>
          <p:cNvSpPr txBox="1"/>
          <p:nvPr/>
        </p:nvSpPr>
        <p:spPr>
          <a:xfrm>
            <a:off x="3142878" y="4581922"/>
            <a:ext cx="5181191" cy="128990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.focus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img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width: 100%;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index.html</a:t>
            </a:r>
            <a:r>
              <a:rPr lang="zh-CN" altLang="en-US" dirty="0"/>
              <a:t>文件中定义</a:t>
            </a:r>
            <a:r>
              <a:rPr lang="zh-CN" altLang="en-US" dirty="0">
                <a:solidFill>
                  <a:srgbClr val="1369B2"/>
                </a:solidFill>
              </a:rPr>
              <a:t>焦点图</a:t>
            </a:r>
            <a:r>
              <a:rPr lang="zh-CN" altLang="en-US" dirty="0"/>
              <a:t>模块结构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18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3449935"/>
            <a:ext cx="1747943" cy="773218"/>
            <a:chOff x="961390" y="2294944"/>
            <a:chExt cx="1747943" cy="773218"/>
          </a:xfrm>
        </p:grpSpPr>
        <p:sp>
          <p:nvSpPr>
            <p:cNvPr id="21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580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焦点图布局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CED74C-DBFA-447F-BC40-D0A0AA2F32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562" y="2058121"/>
            <a:ext cx="6473612" cy="377807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 smtClean="0"/>
              <a:t>保存文件</a:t>
            </a:r>
            <a:r>
              <a:rPr lang="zh-CN" altLang="zh-CN" dirty="0"/>
              <a:t>，</a:t>
            </a:r>
            <a:r>
              <a:rPr lang="zh-CN" altLang="zh-CN" dirty="0">
                <a:solidFill>
                  <a:srgbClr val="1369B2"/>
                </a:solidFill>
              </a:rPr>
              <a:t>运行结果</a:t>
            </a:r>
            <a:r>
              <a:rPr lang="zh-CN" altLang="zh-CN" dirty="0" smtClean="0"/>
              <a:t>如</a:t>
            </a:r>
            <a:r>
              <a:rPr lang="zh-CN" altLang="en-US" dirty="0" smtClean="0"/>
              <a:t>下</a:t>
            </a:r>
            <a:r>
              <a:rPr lang="zh-CN" altLang="zh-CN" dirty="0" smtClean="0"/>
              <a:t>图</a:t>
            </a:r>
            <a:r>
              <a:rPr lang="zh-CN" altLang="en-US" dirty="0" smtClean="0"/>
              <a:t>所示。</a:t>
            </a:r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13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03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179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快捷导航栏布局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，能够实现快捷导航栏模块效果。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快捷导航栏布局</a:t>
            </a:r>
          </a:p>
        </p:txBody>
      </p:sp>
    </p:spTree>
    <p:extLst>
      <p:ext uri="{BB962C8B-B14F-4D97-AF65-F5344CB8AC3E}">
        <p14:creationId xmlns:p14="http://schemas.microsoft.com/office/powerpoint/2010/main" val="4201349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快捷导航栏布局</a:t>
            </a:r>
          </a:p>
        </p:txBody>
      </p:sp>
      <p:sp>
        <p:nvSpPr>
          <p:cNvPr id="11" name="TextBox 76"/>
          <p:cNvSpPr txBox="1"/>
          <p:nvPr/>
        </p:nvSpPr>
        <p:spPr>
          <a:xfrm>
            <a:off x="1142277" y="1198305"/>
            <a:ext cx="2720681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快捷导航栏效果图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982638" y="1803986"/>
            <a:ext cx="103691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1369B3"/>
                </a:solidFill>
              </a:rPr>
              <a:t>快捷导航栏</a:t>
            </a:r>
            <a:r>
              <a:rPr lang="zh-CN" altLang="en-US" dirty="0"/>
              <a:t>用来实现“景点</a:t>
            </a:r>
            <a:r>
              <a:rPr lang="en-US" altLang="zh-CN" dirty="0"/>
              <a:t>·</a:t>
            </a:r>
            <a:r>
              <a:rPr lang="zh-CN" altLang="en-US" dirty="0"/>
              <a:t>玩乐”“周边游”“美食林”“一日游”和“当地攻略”图标按钮。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C9BE4DA-DCA5-496C-A022-D515DDF6B8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1" t="56177" r="985" b="25283"/>
          <a:stretch/>
        </p:blipFill>
        <p:spPr>
          <a:xfrm>
            <a:off x="1918742" y="2956114"/>
            <a:ext cx="7820346" cy="104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4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快捷导航栏布局</a:t>
            </a:r>
          </a:p>
        </p:txBody>
      </p:sp>
      <p:sp>
        <p:nvSpPr>
          <p:cNvPr id="11" name="TextBox 76"/>
          <p:cNvSpPr txBox="1"/>
          <p:nvPr/>
        </p:nvSpPr>
        <p:spPr>
          <a:xfrm>
            <a:off x="1142277" y="1095921"/>
            <a:ext cx="221662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结构分析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7E92A8-E01C-4BF3-800E-04FE9520AA0F}"/>
              </a:ext>
            </a:extLst>
          </p:cNvPr>
          <p:cNvSpPr txBox="1"/>
          <p:nvPr/>
        </p:nvSpPr>
        <p:spPr>
          <a:xfrm>
            <a:off x="1846733" y="3789834"/>
            <a:ext cx="89289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整个快捷导航栏包含在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父级容器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&lt;ul&gt;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&lt;li&gt;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定义快捷导航栏中的每一项。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为快捷导航栏中的每一项添加超链接。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标签中有两个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&lt;span&gt;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，上面的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&lt;span&gt;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标签用于显示图标，下面的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&lt;span&gt;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标签用于显示文本。</a:t>
            </a: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FB4DA3-8FE9-48E7-8771-11F5803B3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209" y="1765661"/>
            <a:ext cx="5400452" cy="18801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C226BE5-2BD4-4490-A543-1B7DC0099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9342" y="1765660"/>
            <a:ext cx="2807703" cy="188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0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快捷导航栏布局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70C449-9620-449E-AEB1-CF7E5ECA1AAA}"/>
              </a:ext>
            </a:extLst>
          </p:cNvPr>
          <p:cNvSpPr txBox="1"/>
          <p:nvPr/>
        </p:nvSpPr>
        <p:spPr>
          <a:xfrm>
            <a:off x="3070870" y="1947654"/>
            <a:ext cx="6120680" cy="419153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&lt;li&gt;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title="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景点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·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玩乐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 class="local-nav-icon-icon1"&gt;&lt;/span&gt;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景点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·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玩乐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&lt;/a&gt;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&lt;/li&gt;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&lt;li&gt;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title="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周边游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 class="local-nav-icon-icon2"&gt;&lt;/span&gt;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周边游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&lt;/a&gt;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&lt;/li&gt;</a:t>
            </a: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index.html</a:t>
            </a:r>
            <a:r>
              <a:rPr lang="zh-CN" altLang="en-US" dirty="0"/>
              <a:t>文件中定义</a:t>
            </a:r>
            <a:r>
              <a:rPr lang="zh-CN" altLang="en-US" dirty="0">
                <a:solidFill>
                  <a:srgbClr val="1369B3"/>
                </a:solidFill>
              </a:rPr>
              <a:t>快捷导航栏</a:t>
            </a:r>
            <a:r>
              <a:rPr lang="zh-CN" altLang="en-US" dirty="0"/>
              <a:t>模块结构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8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758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快捷导航栏布局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70C449-9620-449E-AEB1-CF7E5ECA1AAA}"/>
              </a:ext>
            </a:extLst>
          </p:cNvPr>
          <p:cNvSpPr txBox="1"/>
          <p:nvPr/>
        </p:nvSpPr>
        <p:spPr>
          <a:xfrm>
            <a:off x="3070870" y="1813572"/>
            <a:ext cx="6048672" cy="45243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&lt;li&gt;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title="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美食林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 class="local-nav-icon-icon3"&gt;&lt;/span&gt;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美食林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&lt;/a&gt;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&lt;/li&gt;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&lt;li&gt;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title="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一日游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 class="local-nav-icon-icon4"&gt;&lt;/span&gt;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一日游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&lt;/a&gt;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&lt;/li&gt;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&lt;li&gt;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 title="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当地攻略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"&gt;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 class="local-nav-icon-icon5"&gt;&lt;/span&gt;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&lt;span&gt;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当地攻略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&lt;/span&gt;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&lt;/a&gt;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&lt;/li&gt;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index.html</a:t>
            </a:r>
            <a:r>
              <a:rPr lang="zh-CN" altLang="en-US" dirty="0"/>
              <a:t>文件中定义</a:t>
            </a:r>
            <a:r>
              <a:rPr lang="zh-CN" altLang="en-US" dirty="0">
                <a:solidFill>
                  <a:srgbClr val="1369B3"/>
                </a:solidFill>
              </a:rPr>
              <a:t>快捷导航栏</a:t>
            </a:r>
            <a:r>
              <a:rPr lang="zh-CN" altLang="en-US" dirty="0"/>
              <a:t>模块结构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112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快捷导航栏布局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02AA7A-C47B-483D-9ACD-1276CC8FD7FE}"/>
              </a:ext>
            </a:extLst>
          </p:cNvPr>
          <p:cNvSpPr txBox="1"/>
          <p:nvPr/>
        </p:nvSpPr>
        <p:spPr>
          <a:xfrm>
            <a:off x="3142878" y="1917626"/>
            <a:ext cx="6048672" cy="374217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.local-nav li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flex: 1;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.local-nav a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display: flex;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flex-direction: column;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/*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交叉轴居中对齐 *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align-items: center;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font-size: 12px;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60902020509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index.css</a:t>
            </a:r>
            <a:r>
              <a:rPr lang="zh-CN" altLang="en-US" dirty="0"/>
              <a:t>文件中实现</a:t>
            </a:r>
            <a:r>
              <a:rPr lang="zh-CN" altLang="en-US" dirty="0">
                <a:solidFill>
                  <a:srgbClr val="1369B3"/>
                </a:solidFill>
              </a:rPr>
              <a:t>快捷导航栏</a:t>
            </a:r>
            <a:r>
              <a:rPr lang="zh-CN" altLang="en-US" dirty="0"/>
              <a:t>模块结构样式。</a:t>
            </a:r>
          </a:p>
          <a:p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8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669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快捷导航栏布局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02AA7A-C47B-483D-9ACD-1276CC8FD7FE}"/>
              </a:ext>
            </a:extLst>
          </p:cNvPr>
          <p:cNvSpPr txBox="1"/>
          <p:nvPr/>
        </p:nvSpPr>
        <p:spPr>
          <a:xfrm>
            <a:off x="3142878" y="2073172"/>
            <a:ext cx="6048672" cy="337284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local-nav li [class^="local-nav-icon"]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width: 32px;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height: 32px;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background-color: pink;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margin-top: 8px;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background: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url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(../images/localnav_bg.png) no-repeat 0 0;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background-size: 32px auto;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index.css</a:t>
            </a:r>
            <a:r>
              <a:rPr lang="zh-CN" altLang="en-US" dirty="0"/>
              <a:t>文件中实现</a:t>
            </a:r>
            <a:r>
              <a:rPr lang="zh-CN" altLang="en-US" dirty="0">
                <a:solidFill>
                  <a:srgbClr val="1369B3"/>
                </a:solidFill>
              </a:rPr>
              <a:t>快捷导航栏</a:t>
            </a:r>
            <a:r>
              <a:rPr lang="zh-CN" altLang="en-US" dirty="0"/>
              <a:t>模块结构样式。</a:t>
            </a:r>
          </a:p>
          <a:p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8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4635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快捷导航栏布局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70C449-9620-449E-AEB1-CF7E5ECA1AAA}"/>
              </a:ext>
            </a:extLst>
          </p:cNvPr>
          <p:cNvSpPr txBox="1"/>
          <p:nvPr/>
        </p:nvSpPr>
        <p:spPr>
          <a:xfrm>
            <a:off x="3214886" y="1836814"/>
            <a:ext cx="6048672" cy="448084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.local-nav li .local-nav-icon-icon2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background-position: 0 -32px;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.local-nav li .local-nav-icon-icon3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background-position: 0 -64px;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.local-nav li .local-nav-icon-icon4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background-position: 0 -96px;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.local-nav li .local-nav-icon-icon5 {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background-position: 0 -128px;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index.css</a:t>
            </a:r>
            <a:r>
              <a:rPr lang="zh-CN" altLang="en-US" dirty="0"/>
              <a:t>文件中实现</a:t>
            </a:r>
            <a:r>
              <a:rPr lang="zh-CN" altLang="en-US" dirty="0">
                <a:solidFill>
                  <a:srgbClr val="1369B3"/>
                </a:solidFill>
              </a:rPr>
              <a:t>快捷导航栏</a:t>
            </a:r>
            <a:r>
              <a:rPr lang="zh-CN" altLang="en-US" dirty="0"/>
              <a:t>模块结构样式。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913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快捷导航栏布局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02B927-98E4-4137-8FC5-D66A21B62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878" y="2061642"/>
            <a:ext cx="5559019" cy="385784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 smtClean="0"/>
              <a:t>保存文件</a:t>
            </a:r>
            <a:r>
              <a:rPr lang="zh-CN" altLang="zh-CN" dirty="0"/>
              <a:t>，</a:t>
            </a:r>
            <a:r>
              <a:rPr lang="zh-CN" altLang="zh-CN" dirty="0">
                <a:solidFill>
                  <a:srgbClr val="1369B3"/>
                </a:solidFill>
              </a:rPr>
              <a:t>运行</a:t>
            </a:r>
            <a:r>
              <a:rPr lang="zh-CN" altLang="zh-CN" dirty="0" smtClean="0">
                <a:solidFill>
                  <a:srgbClr val="1369B3"/>
                </a:solidFill>
              </a:rPr>
              <a:t>结果</a:t>
            </a:r>
            <a:r>
              <a:rPr lang="zh-CN" altLang="zh-CN" dirty="0" smtClean="0"/>
              <a:t>如</a:t>
            </a:r>
            <a:r>
              <a:rPr lang="zh-CN" altLang="en-US" dirty="0" smtClean="0"/>
              <a:t>下</a:t>
            </a:r>
            <a:r>
              <a:rPr lang="zh-CN" altLang="zh-CN" dirty="0"/>
              <a:t>图</a:t>
            </a:r>
            <a:r>
              <a:rPr lang="zh-CN" altLang="en-US" dirty="0"/>
              <a:t>所示。</a:t>
            </a:r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13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03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854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主导航栏布局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，能够实现主导航栏模块效果。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4.5.6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主导航栏布局</a:t>
            </a:r>
          </a:p>
        </p:txBody>
      </p:sp>
    </p:spTree>
    <p:extLst>
      <p:ext uri="{BB962C8B-B14F-4D97-AF65-F5344CB8AC3E}">
        <p14:creationId xmlns:p14="http://schemas.microsoft.com/office/powerpoint/2010/main" val="32395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4.5.6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主导航栏布局</a:t>
            </a:r>
          </a:p>
        </p:txBody>
      </p:sp>
      <p:sp>
        <p:nvSpPr>
          <p:cNvPr id="11" name="TextBox 76"/>
          <p:cNvSpPr txBox="1"/>
          <p:nvPr/>
        </p:nvSpPr>
        <p:spPr>
          <a:xfrm>
            <a:off x="1142277" y="1215070"/>
            <a:ext cx="2360641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主导航栏效果图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1198662" y="1850050"/>
            <a:ext cx="107553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1369B3"/>
                </a:solidFill>
              </a:rPr>
              <a:t>主导航栏</a:t>
            </a:r>
            <a:r>
              <a:rPr lang="zh-CN" altLang="en-US" dirty="0"/>
              <a:t>用来实现</a:t>
            </a:r>
            <a:r>
              <a:rPr lang="zh-CN" altLang="en-US" dirty="0">
                <a:solidFill>
                  <a:srgbClr val="1369B3"/>
                </a:solidFill>
              </a:rPr>
              <a:t>酒店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1369B3"/>
                </a:solidFill>
              </a:rPr>
              <a:t>机票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1369B3"/>
                </a:solidFill>
              </a:rPr>
              <a:t>旅游</a:t>
            </a:r>
            <a:r>
              <a:rPr lang="zh-CN" altLang="en-US" dirty="0"/>
              <a:t>的分类。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10C1C8-7BA6-4B60-B300-8938CA7B0E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" t="48945" r="1207" b="1076"/>
          <a:stretch/>
        </p:blipFill>
        <p:spPr>
          <a:xfrm>
            <a:off x="2782838" y="2709714"/>
            <a:ext cx="5760640" cy="302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84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4.5.6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主导航栏布局</a:t>
            </a:r>
          </a:p>
        </p:txBody>
      </p:sp>
      <p:sp>
        <p:nvSpPr>
          <p:cNvPr id="11" name="TextBox 76"/>
          <p:cNvSpPr txBox="1"/>
          <p:nvPr/>
        </p:nvSpPr>
        <p:spPr>
          <a:xfrm>
            <a:off x="1142277" y="1239937"/>
            <a:ext cx="2216625" cy="461665"/>
          </a:xfrm>
          <a:prstGeom prst="rect">
            <a:avLst/>
          </a:prstGeom>
          <a:solidFill>
            <a:srgbClr val="0070C0"/>
          </a:solidFill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结构分析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18" y="2349674"/>
            <a:ext cx="5195518" cy="295232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206" y="2565698"/>
            <a:ext cx="4856620" cy="211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18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4.5.6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主导航栏布局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714E03-53B9-4535-AFCE-20BF8D9CC563}"/>
              </a:ext>
            </a:extLst>
          </p:cNvPr>
          <p:cNvSpPr txBox="1"/>
          <p:nvPr/>
        </p:nvSpPr>
        <p:spPr>
          <a:xfrm>
            <a:off x="1414686" y="1162120"/>
            <a:ext cx="979308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整个导航栏包含在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父级容器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&lt;nav&gt;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定义主导航栏中的每一项。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主导航栏中的每一项的内部由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div&gt;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标签中有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&lt;a&gt;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标签中有上下排列的两个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标签。</a:t>
            </a: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7092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4.5.6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主导航栏布局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70C449-9620-449E-AEB1-CF7E5ECA1AAA}"/>
              </a:ext>
            </a:extLst>
          </p:cNvPr>
          <p:cNvSpPr txBox="1"/>
          <p:nvPr/>
        </p:nvSpPr>
        <p:spPr>
          <a:xfrm>
            <a:off x="1630710" y="2133650"/>
            <a:ext cx="4392488" cy="422231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&lt;div class="nav-common"&gt;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class="nav-items"&gt;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酒店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class="nav-items"&gt;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海外酒店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特价酒店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class="nav-items"&gt;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团购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民宿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·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客栈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&lt;/div&gt;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3930EF-AD90-48AA-980F-038D376841EE}"/>
              </a:ext>
            </a:extLst>
          </p:cNvPr>
          <p:cNvSpPr txBox="1"/>
          <p:nvPr/>
        </p:nvSpPr>
        <p:spPr>
          <a:xfrm>
            <a:off x="6239222" y="2133650"/>
            <a:ext cx="4392488" cy="422231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&lt;div class="nav-common"&gt;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class="nav-items"&gt;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机票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class="nav-items"&gt;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火车票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特价机票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class="nav-items"&gt;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汽车票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·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船票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专车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·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租车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&lt;/div&gt;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index.html</a:t>
            </a:r>
            <a:r>
              <a:rPr lang="zh-CN" altLang="en-US" dirty="0"/>
              <a:t>文件中定义</a:t>
            </a:r>
            <a:r>
              <a:rPr lang="zh-CN" altLang="en-US" dirty="0">
                <a:solidFill>
                  <a:srgbClr val="1369B3"/>
                </a:solidFill>
              </a:rPr>
              <a:t>主导航栏</a:t>
            </a:r>
            <a:r>
              <a:rPr lang="zh-CN" altLang="en-US" dirty="0"/>
              <a:t>模块结构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028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4.5.6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主导航栏布局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A576E9-FB66-443F-BF64-203D7196086B}"/>
              </a:ext>
            </a:extLst>
          </p:cNvPr>
          <p:cNvSpPr txBox="1"/>
          <p:nvPr/>
        </p:nvSpPr>
        <p:spPr>
          <a:xfrm>
            <a:off x="3214886" y="1989634"/>
            <a:ext cx="5400600" cy="422231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&lt;div class="nav-common"&gt;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class="nav-items"&gt;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旅游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class="nav-items"&gt;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门票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目的地攻略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&lt;div class="nav-items"&gt;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游轮旅行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  &lt;a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href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="#"&gt;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定制旅行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&lt;/a&gt;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&lt;/div&gt;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&lt;/div&gt;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index.html</a:t>
            </a:r>
            <a:r>
              <a:rPr lang="zh-CN" altLang="en-US" dirty="0"/>
              <a:t>文件中定义</a:t>
            </a:r>
            <a:r>
              <a:rPr lang="zh-CN" altLang="en-US" dirty="0">
                <a:solidFill>
                  <a:srgbClr val="1369B3"/>
                </a:solidFill>
              </a:rPr>
              <a:t>主导航栏</a:t>
            </a:r>
            <a:r>
              <a:rPr lang="zh-CN" altLang="en-US" dirty="0"/>
              <a:t>模块结构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8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670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4.5.6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主导航栏布局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A02914-BECF-44E3-8B88-47B34A54D6CC}"/>
              </a:ext>
            </a:extLst>
          </p:cNvPr>
          <p:cNvSpPr txBox="1"/>
          <p:nvPr/>
        </p:nvSpPr>
        <p:spPr>
          <a:xfrm>
            <a:off x="3214886" y="1989634"/>
            <a:ext cx="5400600" cy="427809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nav {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overflow: hidden;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border-radius: 8px;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margin: 0 4px 3px;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.nav-common {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display: flex;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height: 88px;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background-color: pink;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nav-common:nth-child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(2) {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margin: 3px 0;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.nav-items {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flex: 1;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display: flex;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flex-direction: column;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index.css</a:t>
            </a:r>
            <a:r>
              <a:rPr lang="zh-CN" altLang="en-US" dirty="0"/>
              <a:t>文件中，实现</a:t>
            </a:r>
            <a:r>
              <a:rPr lang="zh-CN" altLang="en-US" dirty="0">
                <a:solidFill>
                  <a:srgbClr val="1369B3"/>
                </a:solidFill>
              </a:rPr>
              <a:t>主导航栏</a:t>
            </a:r>
            <a:r>
              <a:rPr lang="zh-CN" altLang="en-US" dirty="0"/>
              <a:t>模块结构样式。</a:t>
            </a:r>
          </a:p>
          <a:p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8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996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4.5.6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主导航栏布局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86B30E-222F-4F27-B1A2-08C4A3360F4A}"/>
              </a:ext>
            </a:extLst>
          </p:cNvPr>
          <p:cNvSpPr txBox="1"/>
          <p:nvPr/>
        </p:nvSpPr>
        <p:spPr>
          <a:xfrm>
            <a:off x="3214886" y="1917626"/>
            <a:ext cx="5400600" cy="45243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.nav-items a {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flex: 1;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text-align: center;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line-height: 44px;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color: #fff;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font-size: 14px;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/*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文字阴影 *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text-shadow: 1px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1px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rgba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(0, 0, 0, .2);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.nav-items a:nth-child(1) {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border-bottom: 1px solid #fff;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nav-items:nth-child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(1) a {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border: 0;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background: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url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(../images/hotel.png) no-repeat bottom center;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background-size: 121px auto;</a:t>
            </a:r>
          </a:p>
          <a:p>
            <a:pPr lvl="1"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index.css</a:t>
            </a:r>
            <a:r>
              <a:rPr lang="zh-CN" altLang="en-US" dirty="0"/>
              <a:t>文件中，实现</a:t>
            </a:r>
            <a:r>
              <a:rPr lang="zh-CN" altLang="en-US" dirty="0">
                <a:solidFill>
                  <a:srgbClr val="1369B3"/>
                </a:solidFill>
              </a:rPr>
              <a:t>主导航栏</a:t>
            </a:r>
            <a:r>
              <a:rPr lang="zh-CN" altLang="en-US" dirty="0"/>
              <a:t>模块结构样式。</a:t>
            </a:r>
          </a:p>
          <a:p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8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223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4.5.6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主导航栏布局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D8BEBE-BEAA-4EEA-BF45-18DD7992DC5E}"/>
              </a:ext>
            </a:extLst>
          </p:cNvPr>
          <p:cNvSpPr txBox="1"/>
          <p:nvPr/>
        </p:nvSpPr>
        <p:spPr>
          <a:xfrm>
            <a:off x="3214886" y="1917626"/>
            <a:ext cx="5400600" cy="440697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 /* -n+2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用于选择前面两个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div.nav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-items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元素 *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/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nav-items:nth-child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(-n+2) {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border-right: 1px solid #fff;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nav-common:nth-child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(1) {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background: linear-gradient(to left, #FA994D, #FA5A55);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nav-common:nth-child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(2) {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background: linear-gradient(to left, #53BCED, #4B90ED);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nav-common:nth-child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(3) {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background: linear-gradient(to left, #6CD559, #34C2A9);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index.css</a:t>
            </a:r>
            <a:r>
              <a:rPr lang="zh-CN" altLang="en-US" dirty="0"/>
              <a:t>文件中，实现</a:t>
            </a:r>
            <a:r>
              <a:rPr lang="zh-CN" altLang="en-US" dirty="0">
                <a:solidFill>
                  <a:srgbClr val="1369B3"/>
                </a:solidFill>
              </a:rPr>
              <a:t>主导航栏</a:t>
            </a:r>
            <a:r>
              <a:rPr lang="zh-CN" altLang="en-US" dirty="0"/>
              <a:t>模块结构样式。</a:t>
            </a:r>
          </a:p>
          <a:p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8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46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4.5.6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主导航栏布局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8FFBCD-6EAF-452B-A2EF-8C6EAE496129}"/>
              </a:ext>
            </a:extLst>
          </p:cNvPr>
          <p:cNvSpPr txBox="1"/>
          <p:nvPr/>
        </p:nvSpPr>
        <p:spPr>
          <a:xfrm>
            <a:off x="3214886" y="1917626"/>
            <a:ext cx="6696744" cy="374217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nav-common:nth-child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(2) 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nav-items:nth-child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(1) a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border: 0;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background: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url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(../images/plane.png) no-repeat bottom center;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background-size: 93px auto;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nav-common:nth-child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(3) .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nav-items:nth-child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(1) a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border: 0;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background: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url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(../images/travel.png) no-repeat bottom center;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  background-size: 93px auto;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60902020509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en-US" altLang="zh-CN" dirty="0"/>
              <a:t>index.css</a:t>
            </a:r>
            <a:r>
              <a:rPr lang="zh-CN" altLang="en-US" dirty="0"/>
              <a:t>文件中，实现</a:t>
            </a:r>
            <a:r>
              <a:rPr lang="zh-CN" altLang="en-US" dirty="0">
                <a:solidFill>
                  <a:srgbClr val="1369B3"/>
                </a:solidFill>
              </a:rPr>
              <a:t>主导航栏</a:t>
            </a:r>
            <a:r>
              <a:rPr lang="zh-CN" altLang="en-US" dirty="0"/>
              <a:t>模块结构样式。</a:t>
            </a:r>
          </a:p>
          <a:p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8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0001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4.5.6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主导航栏布局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621276-373F-41EC-A8FE-E8A7C5CD2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958" y="1910948"/>
            <a:ext cx="3888431" cy="396711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703FD65-B89F-412B-8A06-6737B2815C80}"/>
              </a:ext>
            </a:extLst>
          </p:cNvPr>
          <p:cNvSpPr txBox="1"/>
          <p:nvPr/>
        </p:nvSpPr>
        <p:spPr>
          <a:xfrm>
            <a:off x="2980745" y="1197546"/>
            <a:ext cx="8083014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srgbClr val="1369B3"/>
                </a:solidFill>
              </a:rPr>
              <a:t>保存文件</a:t>
            </a:r>
            <a:r>
              <a:rPr lang="zh-CN" altLang="en-US" dirty="0"/>
              <a:t>，运行结果如图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AD0877-BE85-4FDB-8191-D74DA6F0B4DE}"/>
              </a:ext>
            </a:extLst>
          </p:cNvPr>
          <p:cNvGrpSpPr/>
          <p:nvPr/>
        </p:nvGrpSpPr>
        <p:grpSpPr>
          <a:xfrm>
            <a:off x="1143690" y="1149164"/>
            <a:ext cx="1747943" cy="773218"/>
            <a:chOff x="961390" y="2294944"/>
            <a:chExt cx="1747943" cy="773218"/>
          </a:xfrm>
        </p:grpSpPr>
        <p:sp>
          <p:nvSpPr>
            <p:cNvPr id="8" name="圆角矩形 4">
              <a:extLst>
                <a:ext uri="{FF2B5EF4-FFF2-40B4-BE49-F238E27FC236}">
                  <a16:creationId xmlns:a16="http://schemas.microsoft.com/office/drawing/2014/main" id="{08571030-3555-4DAA-BEF9-AD63CF13402A}"/>
                </a:ext>
              </a:extLst>
            </p:cNvPr>
            <p:cNvSpPr/>
            <p:nvPr/>
          </p:nvSpPr>
          <p:spPr>
            <a:xfrm>
              <a:off x="961390" y="2294944"/>
              <a:ext cx="1747943" cy="77321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6FC0A23-2ED5-470C-95E5-13B0AA7EF54E}"/>
                </a:ext>
              </a:extLst>
            </p:cNvPr>
            <p:cNvSpPr txBox="1"/>
            <p:nvPr/>
          </p:nvSpPr>
          <p:spPr>
            <a:xfrm flipH="1">
              <a:off x="1050502" y="2430683"/>
              <a:ext cx="1624965" cy="523220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STEP  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charset="0"/>
                  <a:ea typeface="微软雅黑" panose="020B0503020204020204" charset="-122"/>
                  <a:sym typeface="Arial" panose="020B0604020202020204" pitchFamily="34" charset="0"/>
                </a:rPr>
                <a:t>03</a:t>
              </a:r>
              <a:endParaRPr lang="en-US" altLang="zh-CN" sz="2800" dirty="0">
                <a:solidFill>
                  <a:schemeClr val="bg1"/>
                </a:solidFill>
                <a:latin typeface="Impact" panose="020B080603090205020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144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646368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</a:p>
        </p:txBody>
      </p:sp>
      <p:sp>
        <p:nvSpPr>
          <p:cNvPr id="4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4221882"/>
            <a:ext cx="1044116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98880" y="2170424"/>
            <a:ext cx="9794240" cy="2771538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6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595500" y="2717628"/>
            <a:ext cx="9001000" cy="2253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设计的概念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媒体查询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栅格系统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弹性盒布局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等内容，还讲解了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旅游网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项目，包括搜索栏页面效果、焦点图页面效果等。通过学习本章内容，希望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能够使用媒体查询和弹性盒布局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相关内容独立完成旅游网项目功能的开发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42023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3905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5787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7669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105663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7714</TotalTime>
  <Words>10282</Words>
  <Application>Microsoft Office PowerPoint</Application>
  <PresentationFormat>自定义</PresentationFormat>
  <Paragraphs>1096</Paragraphs>
  <Slides>132</Slides>
  <Notes>58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132</vt:i4>
      </vt:variant>
    </vt:vector>
  </HeadingPairs>
  <TitlesOfParts>
    <vt:vector size="147" baseType="lpstr">
      <vt:lpstr>Source Han Sans K Bold</vt:lpstr>
      <vt:lpstr>思源黑体 CN Medium</vt:lpstr>
      <vt:lpstr>宋体</vt:lpstr>
      <vt:lpstr>微软雅黑</vt:lpstr>
      <vt:lpstr>字魂105号-简雅黑</vt:lpstr>
      <vt:lpstr>字魂58号-创中黑</vt:lpstr>
      <vt:lpstr>Arial</vt:lpstr>
      <vt:lpstr>Calibri</vt:lpstr>
      <vt:lpstr>Courier New</vt:lpstr>
      <vt:lpstr>Impact</vt:lpstr>
      <vt:lpstr>Times New Roman</vt:lpstr>
      <vt:lpstr>Wingdings</vt:lpstr>
      <vt:lpstr>webwppDefTheme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Windows 用户</cp:lastModifiedBy>
  <cp:revision>2684</cp:revision>
  <dcterms:created xsi:type="dcterms:W3CDTF">2020-11-09T06:56:00Z</dcterms:created>
  <dcterms:modified xsi:type="dcterms:W3CDTF">2026-07-22T13:15:10Z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