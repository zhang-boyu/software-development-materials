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405" r:id="rId4"/>
    <p:sldId id="406" r:id="rId6"/>
    <p:sldId id="407" r:id="rId7"/>
    <p:sldId id="408" r:id="rId8"/>
    <p:sldId id="409" r:id="rId9"/>
    <p:sldId id="410" r:id="rId10"/>
    <p:sldId id="411" r:id="rId11"/>
    <p:sldId id="412" r:id="rId12"/>
    <p:sldId id="413" r:id="rId13"/>
    <p:sldId id="414" r:id="rId14"/>
    <p:sldId id="415" r:id="rId15"/>
    <p:sldId id="381" r:id="rId16"/>
    <p:sldId id="416" r:id="rId17"/>
    <p:sldId id="372" r:id="rId18"/>
    <p:sldId id="345" r:id="rId19"/>
    <p:sldId id="346" r:id="rId20"/>
    <p:sldId id="383" r:id="rId21"/>
    <p:sldId id="382" r:id="rId22"/>
    <p:sldId id="347" r:id="rId23"/>
  </p:sldIdLst>
  <p:sldSz cx="12198350" cy="6858000"/>
  <p:notesSz cx="6858000" cy="9144000"/>
  <p:custDataLst>
    <p:tags r:id="rId27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2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202"/>
        <p:guide pos="38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tags" Target="tags/tag78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sz="1800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1800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1800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1800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3" Type="http://schemas.openxmlformats.org/officeDocument/2006/relationships/notesSlide" Target="../notesSlides/notesSlide8.xml"/><Relationship Id="rId22" Type="http://schemas.openxmlformats.org/officeDocument/2006/relationships/slideLayout" Target="../slideLayouts/slideLayout13.xml"/><Relationship Id="rId21" Type="http://schemas.openxmlformats.org/officeDocument/2006/relationships/tags" Target="../tags/tag39.xml"/><Relationship Id="rId20" Type="http://schemas.openxmlformats.org/officeDocument/2006/relationships/tags" Target="../tags/tag38.xml"/><Relationship Id="rId2" Type="http://schemas.openxmlformats.org/officeDocument/2006/relationships/tags" Target="../tags/tag21.xml"/><Relationship Id="rId19" Type="http://schemas.openxmlformats.org/officeDocument/2006/relationships/tags" Target="../tags/tag37.xml"/><Relationship Id="rId18" Type="http://schemas.openxmlformats.org/officeDocument/2006/relationships/tags" Target="../tags/tag36.xml"/><Relationship Id="rId17" Type="http://schemas.openxmlformats.org/officeDocument/2006/relationships/image" Target="../media/image4.png"/><Relationship Id="rId16" Type="http://schemas.openxmlformats.org/officeDocument/2006/relationships/tags" Target="../tags/tag35.xml"/><Relationship Id="rId15" Type="http://schemas.openxmlformats.org/officeDocument/2006/relationships/tags" Target="../tags/tag34.xml"/><Relationship Id="rId14" Type="http://schemas.openxmlformats.org/officeDocument/2006/relationships/tags" Target="../tags/tag33.xml"/><Relationship Id="rId13" Type="http://schemas.openxmlformats.org/officeDocument/2006/relationships/tags" Target="../tags/tag32.xml"/><Relationship Id="rId12" Type="http://schemas.openxmlformats.org/officeDocument/2006/relationships/tags" Target="../tags/tag31.xml"/><Relationship Id="rId11" Type="http://schemas.openxmlformats.org/officeDocument/2006/relationships/tags" Target="../tags/tag30.xml"/><Relationship Id="rId10" Type="http://schemas.openxmlformats.org/officeDocument/2006/relationships/tags" Target="../tags/tag29.xml"/><Relationship Id="rId1" Type="http://schemas.openxmlformats.org/officeDocument/2006/relationships/tags" Target="../tags/tag20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47.xml"/><Relationship Id="rId1" Type="http://schemas.openxmlformats.org/officeDocument/2006/relationships/tags" Target="../tags/tag46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image" Target="../media/image5.png"/><Relationship Id="rId2" Type="http://schemas.openxmlformats.org/officeDocument/2006/relationships/tags" Target="../tags/tag49.xml"/><Relationship Id="rId1" Type="http://schemas.openxmlformats.org/officeDocument/2006/relationships/tags" Target="../tags/tag48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6" Type="http://schemas.openxmlformats.org/officeDocument/2006/relationships/notesSlide" Target="../notesSlides/notesSlide14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68.xml"/><Relationship Id="rId13" Type="http://schemas.openxmlformats.org/officeDocument/2006/relationships/tags" Target="../tags/tag67.xml"/><Relationship Id="rId12" Type="http://schemas.openxmlformats.org/officeDocument/2006/relationships/tags" Target="../tags/tag66.xml"/><Relationship Id="rId11" Type="http://schemas.openxmlformats.org/officeDocument/2006/relationships/tags" Target="../tags/tag65.xml"/><Relationship Id="rId10" Type="http://schemas.openxmlformats.org/officeDocument/2006/relationships/tags" Target="../tags/tag64.xml"/><Relationship Id="rId1" Type="http://schemas.openxmlformats.org/officeDocument/2006/relationships/tags" Target="../tags/tag5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5045075" y="1403350"/>
            <a:ext cx="662432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程序设计项目教程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94985" y="3500755"/>
            <a:ext cx="5594350" cy="13379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：定义一个一维数组，计算该一维数组中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的最大值。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523230" y="4436745"/>
            <a:ext cx="5594350" cy="13379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2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：定义一个一维数组，在数组的指定位置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插入一个数据。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23230" y="5589270"/>
            <a:ext cx="5594350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3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：定义一个一维数组，用冒泡排序法实现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数组中数据的排序。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  <p:bldP spid="3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2667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..</a:t>
            </a:r>
            <a:endParaRPr lang="en-US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数组的概述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矩形 3"/>
          <p:cNvSpPr>
            <a:spLocks noChangeArrowheads="1"/>
          </p:cNvSpPr>
          <p:nvPr/>
        </p:nvSpPr>
        <p:spPr bwMode="auto">
          <a:xfrm>
            <a:off x="6605588" y="4180523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Java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中数组的基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本特点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6605588" y="4580573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数组的声明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6602413" y="5085398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数组的使用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3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3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4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4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4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 bldLvl="0" autoUpdateAnimBg="0"/>
      <p:bldP spid="3" grpId="0" bldLvl="0" autoUpdateAnimBg="0"/>
      <p:bldP spid="2" grpId="1"/>
      <p:bldP spid="3" grpId="1"/>
      <p:bldP spid="4" grpId="0" bldLvl="0" autoUpdateAnimBg="0"/>
      <p:bldP spid="4" grpId="1"/>
      <p:bldP spid="5" grpId="0" bldLvl="0" autoUpdateAnimBg="0"/>
      <p:bldP spid="5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数组的概述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420620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数组（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Array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）是一种引用数据类型，是用于存储相同类型的数据（称为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元素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）的、固定大小的顺序集合。数组由数组名称、数组元素、元素索引和数据类型组成。数组中的每个元素都有一个索引（也可称为下标），数组元素通过索引进行访问，索引从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 0 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开始逐渐增大。可以用一个统一的数组名和不同的索引来确定数组中唯一的元素。根据数组的维度，可以将其分为一维数组、二维数组和多维数组等。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数组的基本特点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1800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sz="1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420620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）固定长度：数组一旦被创建，其长度就不能改变。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）相同类型：数组中的所有元素必须具有相同的数据类型（基本数据类型或对象类型）。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）索引访问：数组元素通过索引访问，索引从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 0 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开始逐渐增大，最大为数组长度减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 1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数组的基本特点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1800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sz="1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420620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4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）引用数据类型：数组在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Java 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中是引用数据类型，这意味着当开数组时，开发人员实际上在创建一个数组的引用。这个引用指向在堆内存中分配的内存空间，该空间用于存储数组的实际数据。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5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）初始化：在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Java 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中，数组必须先初始化才能使用。这可以通过在声明数组时为其分配空间（并可能填充默认值）或使用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new 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关键字来完成。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数组的声明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1800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en-US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sz="1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420620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3"/>
            </p:custDataLst>
          </p:nvPr>
        </p:nvGraphicFramePr>
        <p:xfrm>
          <a:off x="8763635" y="2420620"/>
          <a:ext cx="3010535" cy="539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0535"/>
              </a:tblGrid>
              <a:tr h="539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//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en-US" altLang="zh-CN" sz="14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静态初始化数组并赋值</a:t>
                      </a:r>
                      <a:endParaRPr lang="en-US" altLang="zh-CN" sz="1400">
                        <a:solidFill>
                          <a:srgbClr val="AA55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int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[] arr = {1, 2, 3, 4, 5}; 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dash"/>
                    </a:lnL>
                    <a:lnR w="12700">
                      <a:solidFill>
                        <a:schemeClr val="tx1"/>
                      </a:solidFill>
                      <a:prstDash val="dash"/>
                    </a:lnR>
                    <a:lnT w="12700">
                      <a:solidFill>
                        <a:schemeClr val="tx1"/>
                      </a:solidFill>
                      <a:prstDash val="dash"/>
                    </a:lnT>
                    <a:lnB w="12700">
                      <a:solidFill>
                        <a:schemeClr val="tx1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8" name="组合 7"/>
          <p:cNvGrpSpPr/>
          <p:nvPr>
            <p:custDataLst>
              <p:tags r:id="rId4"/>
            </p:custDataLst>
          </p:nvPr>
        </p:nvGrpSpPr>
        <p:grpSpPr>
          <a:xfrm>
            <a:off x="354330" y="2326005"/>
            <a:ext cx="7796530" cy="883448"/>
            <a:chOff x="697" y="2566"/>
            <a:chExt cx="10343" cy="1656"/>
          </a:xfrm>
        </p:grpSpPr>
        <p:sp>
          <p:nvSpPr>
            <p:cNvPr id="9" name="圆角矩形 8"/>
            <p:cNvSpPr/>
            <p:nvPr>
              <p:custDataLst>
                <p:tags r:id="rId5"/>
              </p:custDataLst>
            </p:nvPr>
          </p:nvSpPr>
          <p:spPr>
            <a:xfrm>
              <a:off x="2688" y="2566"/>
              <a:ext cx="8352" cy="1417"/>
            </a:xfrm>
            <a:prstGeom prst="roundRect">
              <a:avLst>
                <a:gd name="adj" fmla="val 41848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" name="圆角矩形 9"/>
            <p:cNvSpPr/>
            <p:nvPr>
              <p:custDataLst>
                <p:tags r:id="rId6"/>
              </p:custDataLst>
            </p:nvPr>
          </p:nvSpPr>
          <p:spPr>
            <a:xfrm>
              <a:off x="697" y="2566"/>
              <a:ext cx="3685" cy="1417"/>
            </a:xfrm>
            <a:prstGeom prst="roundRect">
              <a:avLst>
                <a:gd name="adj" fmla="val 15028"/>
              </a:avLst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ctr" anchorCtr="0" compatLnSpc="1">
              <a:norm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sz="2400" b="1">
                  <a:solidFill>
                    <a:schemeClr val="accent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静态初始化</a:t>
              </a:r>
              <a:endParaRPr sz="2400" b="1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7"/>
              </p:custDataLst>
            </p:nvPr>
          </p:nvSpPr>
          <p:spPr>
            <a:xfrm>
              <a:off x="4502" y="2666"/>
              <a:ext cx="6403" cy="15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sz="160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在声明数组的同时直接初始化数组元素。这种方式不需要指定数组的大小，因为编译器会根据提供的元素数量自动确定数组的大小</a:t>
              </a:r>
              <a:endParaRPr sz="1600">
                <a:latin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</p:grpSp>
      <p:grpSp>
        <p:nvGrpSpPr>
          <p:cNvPr id="12" name="组合 11"/>
          <p:cNvGrpSpPr/>
          <p:nvPr>
            <p:custDataLst>
              <p:tags r:id="rId8"/>
            </p:custDataLst>
          </p:nvPr>
        </p:nvGrpSpPr>
        <p:grpSpPr>
          <a:xfrm>
            <a:off x="354330" y="4002405"/>
            <a:ext cx="7796530" cy="883448"/>
            <a:chOff x="697" y="2566"/>
            <a:chExt cx="10343" cy="1656"/>
          </a:xfrm>
        </p:grpSpPr>
        <p:sp>
          <p:nvSpPr>
            <p:cNvPr id="13" name="圆角矩形 12"/>
            <p:cNvSpPr/>
            <p:nvPr>
              <p:custDataLst>
                <p:tags r:id="rId9"/>
              </p:custDataLst>
            </p:nvPr>
          </p:nvSpPr>
          <p:spPr>
            <a:xfrm>
              <a:off x="2688" y="2566"/>
              <a:ext cx="8352" cy="1417"/>
            </a:xfrm>
            <a:prstGeom prst="roundRect">
              <a:avLst>
                <a:gd name="adj" fmla="val 41848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" name="圆角矩形 13"/>
            <p:cNvSpPr/>
            <p:nvPr>
              <p:custDataLst>
                <p:tags r:id="rId10"/>
              </p:custDataLst>
            </p:nvPr>
          </p:nvSpPr>
          <p:spPr>
            <a:xfrm>
              <a:off x="697" y="2566"/>
              <a:ext cx="3685" cy="1417"/>
            </a:xfrm>
            <a:prstGeom prst="roundRect">
              <a:avLst>
                <a:gd name="adj" fmla="val 15028"/>
              </a:avLst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ctr" anchorCtr="0" compatLnSpc="1">
              <a:norm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altLang="zh-CN" sz="2400" b="1" smtClean="0">
                  <a:ln>
                    <a:noFill/>
                  </a:ln>
                  <a:solidFill>
                    <a:schemeClr val="accent3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动态初始化</a:t>
              </a:r>
              <a:endParaRPr altLang="zh-CN" sz="2400" b="1" smtClean="0">
                <a:ln>
                  <a:noFill/>
                </a:ln>
                <a:solidFill>
                  <a:schemeClr val="accent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11"/>
              </p:custDataLst>
            </p:nvPr>
          </p:nvSpPr>
          <p:spPr>
            <a:xfrm>
              <a:off x="4502" y="2666"/>
              <a:ext cx="6403" cy="15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sz="160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先声明数组，然后指定数组的大小，最后再单独为每个元素赋值（可选）。这种方式需要显式地指定数组的大小。</a:t>
              </a:r>
              <a:endParaRPr sz="1600">
                <a:latin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</p:grpSp>
      <p:grpSp>
        <p:nvGrpSpPr>
          <p:cNvPr id="16" name="组合 15"/>
          <p:cNvGrpSpPr/>
          <p:nvPr>
            <p:custDataLst>
              <p:tags r:id="rId12"/>
            </p:custDataLst>
          </p:nvPr>
        </p:nvGrpSpPr>
        <p:grpSpPr>
          <a:xfrm>
            <a:off x="354330" y="5708015"/>
            <a:ext cx="7796530" cy="883448"/>
            <a:chOff x="697" y="2566"/>
            <a:chExt cx="10343" cy="1656"/>
          </a:xfrm>
        </p:grpSpPr>
        <p:sp>
          <p:nvSpPr>
            <p:cNvPr id="17" name="圆角矩形 16"/>
            <p:cNvSpPr/>
            <p:nvPr>
              <p:custDataLst>
                <p:tags r:id="rId13"/>
              </p:custDataLst>
            </p:nvPr>
          </p:nvSpPr>
          <p:spPr>
            <a:xfrm>
              <a:off x="2688" y="2566"/>
              <a:ext cx="8352" cy="1417"/>
            </a:xfrm>
            <a:prstGeom prst="roundRect">
              <a:avLst>
                <a:gd name="adj" fmla="val 41848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" name="圆角矩形 17"/>
            <p:cNvSpPr/>
            <p:nvPr>
              <p:custDataLst>
                <p:tags r:id="rId14"/>
              </p:custDataLst>
            </p:nvPr>
          </p:nvSpPr>
          <p:spPr>
            <a:xfrm>
              <a:off x="697" y="2566"/>
              <a:ext cx="3685" cy="1417"/>
            </a:xfrm>
            <a:prstGeom prst="roundRect">
              <a:avLst>
                <a:gd name="adj" fmla="val 15028"/>
              </a:avLst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ctr" anchorCtr="0" compatLnSpc="1">
              <a:normAutofit fontScale="67500"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zh-CN" altLang="zh-CN" sz="2400" b="1" i="0" u="none" strike="noStrike" cap="none" normalizeH="0" baseline="0" smtClean="0">
                  <a:ln>
                    <a:noFill/>
                  </a:ln>
                  <a:solidFill>
                    <a:schemeClr val="accent3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声明数组</a:t>
              </a:r>
              <a:br>
                <a:rPr kumimoji="0" lang="zh-CN" altLang="zh-CN" sz="2400" b="1" i="0" u="none" strike="noStrike" cap="none" normalizeH="0" baseline="0" smtClean="0">
                  <a:ln>
                    <a:noFill/>
                  </a:ln>
                  <a:solidFill>
                    <a:schemeClr val="accent3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</a:br>
              <a:r>
                <a:rPr kumimoji="0" lang="zh-CN" altLang="zh-CN" sz="2400" b="1" i="0" u="none" strike="noStrike" cap="none" normalizeH="0" baseline="0" smtClean="0">
                  <a:ln>
                    <a:noFill/>
                  </a:ln>
                  <a:solidFill>
                    <a:schemeClr val="accent3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但不立即初始化</a:t>
              </a:r>
              <a:endParaRPr kumimoji="0" lang="zh-CN" altLang="zh-CN" sz="2400" b="1" i="0" u="none" strike="noStrike" cap="none" normalizeH="0" baseline="0" smtClean="0">
                <a:ln>
                  <a:noFill/>
                </a:ln>
                <a:solidFill>
                  <a:schemeClr val="accent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9" name="文本框 18"/>
            <p:cNvSpPr txBox="1"/>
            <p:nvPr>
              <p:custDataLst>
                <p:tags r:id="rId15"/>
              </p:custDataLst>
            </p:nvPr>
          </p:nvSpPr>
          <p:spPr>
            <a:xfrm>
              <a:off x="4502" y="2666"/>
              <a:ext cx="6403" cy="15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sz="160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只声明一个数组而不立即初始化它，你需要在之后的某个时间点使用new关键字来创建数组对象，并将其引用赋值给这个变量。</a:t>
              </a:r>
              <a:endParaRPr sz="1600">
                <a:latin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</p:grpSp>
      <p:pic>
        <p:nvPicPr>
          <p:cNvPr id="20" name="图片 19" descr="右箭头-三个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7755255" y="1985010"/>
            <a:ext cx="1438275" cy="1438275"/>
          </a:xfrm>
          <a:prstGeom prst="rect">
            <a:avLst/>
          </a:prstGeom>
        </p:spPr>
      </p:pic>
      <p:graphicFrame>
        <p:nvGraphicFramePr>
          <p:cNvPr id="21" name="表格 20"/>
          <p:cNvGraphicFramePr/>
          <p:nvPr>
            <p:custDataLst>
              <p:tags r:id="rId18"/>
            </p:custDataLst>
          </p:nvPr>
        </p:nvGraphicFramePr>
        <p:xfrm>
          <a:off x="8748395" y="3173095"/>
          <a:ext cx="3025775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5775"/>
              </a:tblGrid>
              <a:tr h="1214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// 动态初始化数组，大小为5，默认初始化为0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int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[] arr = </a:t>
                      </a:r>
                      <a:r>
                        <a:rPr lang="zh-CN" altLang="en-US" sz="140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new </a:t>
                      </a:r>
                      <a:r>
                        <a:rPr lang="zh-CN" altLang="en-US" sz="14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int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[5]; 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单独为数组元素赋值 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arr[0] = 1;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arr[1] = 2; 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...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dash"/>
                    </a:lnL>
                    <a:lnR w="12700">
                      <a:solidFill>
                        <a:schemeClr val="tx1"/>
                      </a:solidFill>
                      <a:prstDash val="dash"/>
                    </a:lnR>
                    <a:lnT w="12700">
                      <a:solidFill>
                        <a:schemeClr val="tx1"/>
                      </a:solidFill>
                      <a:prstDash val="dash"/>
                    </a:lnT>
                    <a:lnB w="12700">
                      <a:solidFill>
                        <a:schemeClr val="tx1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3" name="表格 22"/>
          <p:cNvGraphicFramePr/>
          <p:nvPr>
            <p:custDataLst>
              <p:tags r:id="rId19"/>
            </p:custDataLst>
          </p:nvPr>
        </p:nvGraphicFramePr>
        <p:xfrm>
          <a:off x="8789035" y="4876800"/>
          <a:ext cx="3014345" cy="1877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4345"/>
              </a:tblGrid>
              <a:tr h="1877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// 声明数组，但未初始化</a:t>
                      </a:r>
                      <a:endParaRPr lang="en-US" altLang="zh-CN" sz="1400">
                        <a:solidFill>
                          <a:srgbClr val="AA55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int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[] arr;  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...</a:t>
                      </a:r>
                      <a:endParaRPr lang="en-US" altLang="zh-CN" sz="1400">
                        <a:solidFill>
                          <a:srgbClr val="AA55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// 在之后的某个时间点初始化数组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arr = </a:t>
                      </a:r>
                      <a:r>
                        <a:rPr lang="zh-CN" altLang="en-US" sz="140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new </a:t>
                      </a:r>
                      <a:r>
                        <a:rPr lang="zh-CN" altLang="en-US" sz="14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int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[5]; 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现在可以为数组元素赋值了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arr[0] = 1; 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...</a:t>
                      </a:r>
                      <a:endParaRPr lang="en-US" altLang="zh-CN" sz="1400">
                        <a:solidFill>
                          <a:srgbClr val="AA55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dash"/>
                    </a:lnL>
                    <a:lnR w="12700">
                      <a:solidFill>
                        <a:schemeClr val="tx1"/>
                      </a:solidFill>
                      <a:prstDash val="dash"/>
                    </a:lnR>
                    <a:lnT w="12700">
                      <a:solidFill>
                        <a:schemeClr val="tx1"/>
                      </a:solidFill>
                      <a:prstDash val="dash"/>
                    </a:lnT>
                    <a:lnB w="12700">
                      <a:solidFill>
                        <a:schemeClr val="tx1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42" name="图片 41" descr="右箭头-三个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7755255" y="3644900"/>
            <a:ext cx="1438275" cy="1438275"/>
          </a:xfrm>
          <a:prstGeom prst="rect">
            <a:avLst/>
          </a:prstGeom>
        </p:spPr>
      </p:pic>
      <p:pic>
        <p:nvPicPr>
          <p:cNvPr id="43" name="图片 42" descr="右箭头-三个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7755255" y="5373370"/>
            <a:ext cx="1438275" cy="14382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数组的声明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1800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en-US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sz="1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780665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）如果在声明数组时进行了静态初始化，那么数组的长度由初始化时提供的元素数量决定。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）动态初始化时，数组的元素的值会被初始化为与其类型相同的默认值（例如，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int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类型的数组元素的值会被初始化为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boolean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类型的数组元素的值会被初始化为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false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）。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Chevron 3"/>
          <p:cNvSpPr/>
          <p:nvPr>
            <p:custDataLst>
              <p:tags r:id="rId3"/>
            </p:custDataLst>
          </p:nvPr>
        </p:nvSpPr>
        <p:spPr>
          <a:xfrm>
            <a:off x="1130935" y="227711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707048" y="242214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注意事项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数组的声明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1800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en-US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sz="1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780665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）数组是一种引用数据类型，因此在使用数组之前，必须确保它已经被初始化（即已经被分配了内存空间）。如果尝试访问未初始化的数组，将会抛出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NullPointerException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但是，对于基本数据类型的数组，如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int[]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，即使未显式初始化，动态初始化也会为其分配内存空间并将其元素的值初始化为默认值，因此不会抛出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NullPointerException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。然而，如果声明了一个数组但没有为其分配内存空间（也没有使用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new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关键字），然后尝试访问它，就会抛出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NullPointerException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Chevron 3"/>
          <p:cNvSpPr/>
          <p:nvPr>
            <p:custDataLst>
              <p:tags r:id="rId3"/>
            </p:custDataLst>
          </p:nvPr>
        </p:nvSpPr>
        <p:spPr>
          <a:xfrm>
            <a:off x="1130935" y="227711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707048" y="242214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注意事项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数组的使用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1800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4</a:t>
              </a:r>
              <a:endParaRPr lang="en-US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sz="1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277110"/>
            <a:ext cx="9742805" cy="150939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数组的使用包括数组的定义、数组元素的访问，下面通过一个案例进行演示，代码如文件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5-1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所示。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8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0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0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专业字体设计服务/WWW.ZTSGC.COM/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555625" y="1592580"/>
          <a:ext cx="6929755" cy="496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9755"/>
              </a:tblGrid>
              <a:tr h="3931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public class </a:t>
                      </a:r>
                      <a:r>
                        <a:rPr lang="zh-CN" altLang="en-US" sz="180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Example01 </a:t>
                      </a: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{</a:t>
                      </a:r>
                      <a:endParaRPr lang="zh-CN" altLang="en-US" sz="18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</a:t>
                      </a:r>
                      <a:r>
                        <a:rPr lang="zh-CN" altLang="en-US" sz="180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public static </a:t>
                      </a:r>
                      <a:r>
                        <a:rPr lang="zh-CN" altLang="en-US" sz="18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void </a:t>
                      </a: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main(</a:t>
                      </a:r>
                      <a:r>
                        <a:rPr lang="zh-CN" altLang="en-US" sz="18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String</a:t>
                      </a: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[] args) {</a:t>
                      </a:r>
                      <a:endParaRPr lang="zh-CN" altLang="en-US" sz="18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int[] arr = </a:t>
                      </a:r>
                      <a:r>
                        <a:rPr lang="zh-CN" altLang="en-US" sz="180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new </a:t>
                      </a:r>
                      <a:r>
                        <a:rPr lang="zh-CN" altLang="en-US" sz="18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int</a:t>
                      </a: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[4]; </a:t>
                      </a:r>
                      <a:r>
                        <a:rPr lang="en-US" altLang="zh-CN" sz="18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//</a:t>
                      </a: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8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创建一个长度为4的整数数组arr</a:t>
                      </a:r>
                      <a:endParaRPr lang="zh-CN" altLang="en-US" sz="18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arr[0] = 1; </a:t>
                      </a:r>
                      <a:r>
                        <a:rPr lang="en-US" altLang="zh-CN" sz="18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将1赋值给数组的第一个元素</a:t>
                      </a:r>
                      <a:endParaRPr lang="zh-CN" altLang="en-US" sz="18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arr[1] = 2; </a:t>
                      </a:r>
                      <a:r>
                        <a:rPr lang="en-US" altLang="zh-CN" sz="18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将2赋值给数组的第二个元素</a:t>
                      </a:r>
                      <a:endParaRPr lang="zh-CN" altLang="en-US" sz="18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arr[2] = 3; </a:t>
                      </a:r>
                      <a:r>
                        <a:rPr lang="en-US" altLang="zh-CN" sz="18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将3赋值给数组的第三个元素</a:t>
                      </a:r>
                      <a:endParaRPr lang="en-US" altLang="zh-CN" sz="1800">
                        <a:solidFill>
                          <a:srgbClr val="AA55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      </a:t>
                      </a: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arr[</a:t>
                      </a:r>
                      <a:r>
                        <a:rPr lang="en-US" altLang="zh-CN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3</a:t>
                      </a: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] = </a:t>
                      </a:r>
                      <a:r>
                        <a:rPr lang="en-US" altLang="zh-CN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4</a:t>
                      </a: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; </a:t>
                      </a:r>
                      <a:r>
                        <a:rPr lang="en-US" altLang="zh-CN" sz="18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// 将4赋值给数组的第三个元素</a:t>
                      </a:r>
                      <a:endParaRPr lang="en-US" altLang="zh-CN" sz="1800">
                        <a:solidFill>
                          <a:srgbClr val="AA55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endParaRPr lang="zh-CN" altLang="en-US" sz="18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en-US" altLang="zh-CN" sz="18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输出数组中第一个元素的值</a:t>
                      </a:r>
                      <a:endParaRPr lang="zh-CN" altLang="en-US" sz="18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System.out.print("arr[0]=" + arr[0]); </a:t>
                      </a:r>
                      <a:endParaRPr lang="zh-CN" altLang="en-US" sz="18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en-US" altLang="zh-CN" sz="18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输出数组中第二个元素的值</a:t>
                      </a:r>
                      <a:endParaRPr lang="en-US" altLang="zh-CN" sz="1800">
                        <a:solidFill>
                          <a:srgbClr val="AA55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System.out.print("arr[1]=" + arr[1]); </a:t>
                      </a:r>
                      <a:endParaRPr lang="zh-CN" altLang="en-US" sz="18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en-US" altLang="zh-CN" sz="18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输出数组中第三个元素的值</a:t>
                      </a:r>
                      <a:endParaRPr lang="en-US" altLang="zh-CN" sz="1800">
                        <a:solidFill>
                          <a:srgbClr val="AA55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System.out.print("arr[2]=" + arr[2]); </a:t>
                      </a:r>
                      <a:endParaRPr lang="zh-CN" altLang="en-US" sz="18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en-US" altLang="zh-CN" sz="18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输出数组中第四个元素的值（未初始化，可能导致错误）</a:t>
                      </a:r>
                      <a:endParaRPr lang="zh-CN" altLang="en-US" sz="18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System.out.print("arr[3]=" + arr[3]); </a:t>
                      </a:r>
                      <a:endParaRPr lang="zh-CN" altLang="en-US" sz="18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}</a:t>
                      </a:r>
                      <a:endParaRPr lang="zh-CN" altLang="en-US" sz="18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}</a:t>
                      </a:r>
                      <a:endParaRPr lang="zh-CN" altLang="en-US" sz="18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dash"/>
                    </a:lnL>
                    <a:lnR w="12700">
                      <a:solidFill>
                        <a:schemeClr val="tx1"/>
                      </a:solidFill>
                      <a:prstDash val="dash"/>
                    </a:lnR>
                    <a:lnT w="12700">
                      <a:solidFill>
                        <a:schemeClr val="tx1"/>
                      </a:solidFill>
                      <a:prstDash val="dash"/>
                    </a:lnT>
                    <a:lnB w="12700">
                      <a:solidFill>
                        <a:schemeClr val="tx1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6" name="直接箭头连接符 5"/>
          <p:cNvCxnSpPr/>
          <p:nvPr/>
        </p:nvCxnSpPr>
        <p:spPr>
          <a:xfrm flipV="1">
            <a:off x="6602095" y="4744085"/>
            <a:ext cx="937260" cy="317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headEnd type="none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>
            <p:custDataLst>
              <p:tags r:id="rId2"/>
            </p:custDataLst>
          </p:nvPr>
        </p:nvSpPr>
        <p:spPr>
          <a:xfrm>
            <a:off x="8259445" y="3861435"/>
            <a:ext cx="3003550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运行结果显示</a:t>
            </a:r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1" name="图片 6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9355" y="4293235"/>
            <a:ext cx="4317365" cy="12369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2" name="文本框 1"/>
          <p:cNvSpPr txBox="1"/>
          <p:nvPr/>
        </p:nvSpPr>
        <p:spPr>
          <a:xfrm>
            <a:off x="1170305" y="692785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数组的使用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01625" y="61658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1800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4</a:t>
              </a:r>
              <a:endParaRPr lang="en-US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冒泡排序法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1800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5</a:t>
              </a:r>
              <a:endParaRPr lang="en-US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sz="1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58545" y="3357245"/>
            <a:ext cx="9742805" cy="150939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）比较相邻元素：从序列的第一个元素开始，依次比较相邻的两个元素。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）交换顺序错误的元素：若前一个元素大于后一个元素（升序排序时），则交换它们的位置。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）重复遍历：每轮遍历后，当前未排序部分的最大元素会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冒泡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到序列末尾。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）终止条件：当某轮遍历未发生任何交换时，说明序列已完全有序，排序结束。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Chevron 3"/>
          <p:cNvSpPr/>
          <p:nvPr>
            <p:custDataLst>
              <p:tags r:id="rId3"/>
            </p:custDataLst>
          </p:nvPr>
        </p:nvSpPr>
        <p:spPr>
          <a:xfrm>
            <a:off x="1130935" y="227711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707048" y="2422149"/>
            <a:ext cx="69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过程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模块一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sym typeface="华康俪金黑W8(P)" pitchFamily="2" charset="-122"/>
              </a:rPr>
              <a:t>基本概念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sym typeface="华康俪金黑W8(P)" pitchFamily="2" charset="-122"/>
            </a:endParaRPr>
          </a:p>
        </p:txBody>
      </p:sp>
      <p:cxnSp>
        <p:nvCxnSpPr>
          <p:cNvPr id="13" name="直接连接符 12"/>
          <p:cNvCxnSpPr/>
          <p:nvPr>
            <p:custDataLst>
              <p:tags r:id="rId1"/>
            </p:custDataLst>
          </p:nvPr>
        </p:nvCxnSpPr>
        <p:spPr>
          <a:xfrm>
            <a:off x="6240780" y="1747520"/>
            <a:ext cx="2540" cy="2689860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椭圆 1"/>
          <p:cNvSpPr/>
          <p:nvPr>
            <p:custDataLst>
              <p:tags r:id="rId2"/>
            </p:custDataLst>
          </p:nvPr>
        </p:nvSpPr>
        <p:spPr>
          <a:xfrm>
            <a:off x="6134100" y="1630045"/>
            <a:ext cx="215900" cy="21590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椭圆 5"/>
          <p:cNvSpPr/>
          <p:nvPr>
            <p:custDataLst>
              <p:tags r:id="rId3"/>
            </p:custDataLst>
          </p:nvPr>
        </p:nvSpPr>
        <p:spPr>
          <a:xfrm>
            <a:off x="6134100" y="2541905"/>
            <a:ext cx="215900" cy="21590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椭圆 9"/>
          <p:cNvSpPr/>
          <p:nvPr>
            <p:custDataLst>
              <p:tags r:id="rId4"/>
            </p:custDataLst>
          </p:nvPr>
        </p:nvSpPr>
        <p:spPr>
          <a:xfrm>
            <a:off x="6134100" y="3453765"/>
            <a:ext cx="215900" cy="21590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5"/>
            </p:custDataLst>
          </p:nvPr>
        </p:nvSpPr>
        <p:spPr>
          <a:xfrm>
            <a:off x="3150235" y="1557655"/>
            <a:ext cx="298386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r"/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基本语法格式</a:t>
            </a:r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" name="文本框 16"/>
          <p:cNvSpPr txBox="1"/>
          <p:nvPr>
            <p:custDataLst>
              <p:tags r:id="rId6"/>
            </p:custDataLst>
          </p:nvPr>
        </p:nvSpPr>
        <p:spPr>
          <a:xfrm>
            <a:off x="6350000" y="2349500"/>
            <a:ext cx="361886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静态初始化</a:t>
            </a:r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8" name="文本框 17"/>
          <p:cNvSpPr txBox="1"/>
          <p:nvPr>
            <p:custDataLst>
              <p:tags r:id="rId7"/>
            </p:custDataLst>
          </p:nvPr>
        </p:nvSpPr>
        <p:spPr>
          <a:xfrm>
            <a:off x="2559685" y="3342640"/>
            <a:ext cx="357441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r"/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动态初始化</a:t>
            </a:r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文本框 18"/>
          <p:cNvSpPr txBox="1"/>
          <p:nvPr>
            <p:custDataLst>
              <p:tags r:id="rId8"/>
            </p:custDataLst>
          </p:nvPr>
        </p:nvSpPr>
        <p:spPr>
          <a:xfrm>
            <a:off x="1935480" y="2061845"/>
            <a:ext cx="419862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r" latinLnBrk="0">
              <a:spcBef>
                <a:spcPts val="600"/>
              </a:spcBef>
            </a:pPr>
            <a:r>
              <a:rPr sz="15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声明一维数组的基本语法格式为“数据类型 [] 数组名”，其中数据类型可以是Java中任意合法的数据类型，数组名代表数组的名称，该名称必须与后续创建的数组对象同名。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0" name="文本框 19"/>
          <p:cNvSpPr txBox="1"/>
          <p:nvPr>
            <p:custDataLst>
              <p:tags r:id="rId9"/>
            </p:custDataLst>
          </p:nvPr>
        </p:nvSpPr>
        <p:spPr>
          <a:xfrm>
            <a:off x="6350000" y="2708910"/>
            <a:ext cx="411543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latinLnBrk="0">
              <a:spcBef>
                <a:spcPts val="600"/>
              </a:spcBef>
            </a:pPr>
            <a:r>
              <a:rPr sz="15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静态初始化是在数组声明时直接对数组元素赋初值，语法格式为“数据类型 [] 数组名 = {初始值列表}”。这种方式适用于已知数组长度和所有元素值的情况，可以简化代码。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10"/>
            </p:custDataLst>
          </p:nvPr>
        </p:nvSpPr>
        <p:spPr>
          <a:xfrm>
            <a:off x="1802130" y="3915410"/>
            <a:ext cx="4331970" cy="1245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r" latinLnBrk="0">
              <a:spcBef>
                <a:spcPts val="0"/>
              </a:spcBef>
            </a:pPr>
            <a:r>
              <a:rPr sz="15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动态初始化是在创建数组对象时，通过new操作符分配内存并设置初始值，语法格式为“数据类型 [] 数组名 = new 数据类型[数组长度]”。这种方式适用于未知数组长度或需要在运行时改变数组长度的情况。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" name="椭圆 2"/>
          <p:cNvSpPr/>
          <p:nvPr>
            <p:custDataLst>
              <p:tags r:id="rId11"/>
            </p:custDataLst>
          </p:nvPr>
        </p:nvSpPr>
        <p:spPr>
          <a:xfrm>
            <a:off x="6134100" y="4365625"/>
            <a:ext cx="215900" cy="21590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2"/>
            </p:custDataLst>
          </p:nvPr>
        </p:nvSpPr>
        <p:spPr>
          <a:xfrm>
            <a:off x="6350000" y="4221480"/>
            <a:ext cx="289306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使用数组字面量</a:t>
            </a:r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文本框 6"/>
          <p:cNvSpPr txBox="1"/>
          <p:nvPr>
            <p:custDataLst>
              <p:tags r:id="rId13"/>
            </p:custDataLst>
          </p:nvPr>
        </p:nvSpPr>
        <p:spPr>
          <a:xfrm>
            <a:off x="6350000" y="4725035"/>
            <a:ext cx="4043680" cy="1245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latinLnBrk="0">
              <a:spcBef>
                <a:spcPts val="600"/>
              </a:spcBef>
            </a:pPr>
            <a:r>
              <a:rPr sz="15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数组字面量是直接在程序中使用数组的方式，不需要显式声明数组。例如，通过“int[] intArray = {1, 2, 3};”来创建和初始化一个整型数组，这种方式适用于较短的数组和快速开发。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5" name="矩形 2"/>
          <p:cNvSpPr>
            <a:spLocks noChangeArrowheads="1"/>
          </p:cNvSpPr>
          <p:nvPr/>
        </p:nvSpPr>
        <p:spPr bwMode="auto">
          <a:xfrm>
            <a:off x="6605905" y="3605530"/>
            <a:ext cx="377571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计算一维数组的最大值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549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任务实现</a:t>
            </a:r>
            <a:endParaRPr lang="en-US" altLang="zh-CN" sz="36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矩形 2"/>
          <p:cNvSpPr>
            <a:spLocks noChangeArrowheads="1"/>
          </p:cNvSpPr>
          <p:nvPr/>
        </p:nvSpPr>
        <p:spPr bwMode="auto">
          <a:xfrm>
            <a:off x="6603365" y="4077335"/>
            <a:ext cx="377571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在数组的指定位置插入一个数据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6603365" y="4549140"/>
            <a:ext cx="4251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用冒泡排序法实现数组中数据的排列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5" dur="10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2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2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5" grpId="0" bldLvl="0" autoUpdateAnimBg="0"/>
      <p:bldP spid="5137" grpId="0" bldLvl="0" autoUpdateAnimBg="0"/>
      <p:bldP spid="5137" grpId="1" bldLvl="0" autoUpdateAnimBg="0"/>
      <p:bldP spid="2" grpId="0" bldLvl="0" autoUpdateAnimBg="0"/>
      <p:bldP spid="3" grpId="0" bldLvl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扩展应用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专业字体设计服务/WWW.ZTSGC.COM/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340360" y="1083945"/>
          <a:ext cx="69297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9755"/>
              </a:tblGrid>
              <a:tr h="5029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public class </a:t>
                      </a:r>
                      <a:r>
                        <a:rPr lang="zh-CN" altLang="en-US" sz="180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Example02 </a:t>
                      </a: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{</a:t>
                      </a:r>
                      <a:endParaRPr lang="zh-CN" altLang="en-US" sz="18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</a:t>
                      </a:r>
                      <a:r>
                        <a:rPr lang="zh-CN" altLang="en-US" sz="180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public static </a:t>
                      </a:r>
                      <a:r>
                        <a:rPr lang="zh-CN" altLang="en-US" sz="18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void </a:t>
                      </a: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main(</a:t>
                      </a:r>
                      <a:r>
                        <a:rPr lang="zh-CN" altLang="en-US" sz="18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String</a:t>
                      </a: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[] args) {</a:t>
                      </a:r>
                      <a:endParaRPr lang="zh-CN" altLang="en-US" sz="18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en-US" altLang="zh-CN" sz="18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//</a:t>
                      </a:r>
                      <a:r>
                        <a:rPr lang="en-US" altLang="zh-CN" sz="18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定义一个int类型的数组，并初始化元素</a:t>
                      </a:r>
                      <a:endParaRPr lang="zh-CN" altLang="en-US" sz="18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zh-CN" altLang="en-US" sz="18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int</a:t>
                      </a: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[] arr = {3, 4, 1, 9, 8, 5};</a:t>
                      </a:r>
                      <a:endParaRPr lang="zh-CN" altLang="en-US" sz="18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en-US" altLang="zh-CN" sz="18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定义一个变量用于记录最大值，初始假设第一个元素为最大值</a:t>
                      </a:r>
                      <a:endParaRPr lang="en-US" altLang="zh-CN" sz="1800">
                        <a:solidFill>
                          <a:srgbClr val="AA55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zh-CN" altLang="en-US" sz="18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int </a:t>
                      </a: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max = arr[0];</a:t>
                      </a:r>
                      <a:endParaRPr lang="zh-CN" altLang="en-US" sz="18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en-US" altLang="zh-CN" sz="18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遍历数组，从第二个元素开始查找最大值</a:t>
                      </a:r>
                      <a:endParaRPr lang="zh-CN" altLang="en-US" sz="18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for (</a:t>
                      </a:r>
                      <a:r>
                        <a:rPr lang="zh-CN" altLang="en-US" sz="18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int </a:t>
                      </a: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 = 1; i &lt; arr.length; i++) {</a:t>
                      </a:r>
                      <a:endParaRPr lang="zh-CN" altLang="en-US" sz="18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</a:t>
                      </a:r>
                      <a:r>
                        <a:rPr lang="en-US" altLang="zh-CN" sz="18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如果当前元素大于max，则更新max</a:t>
                      </a:r>
                      <a:endParaRPr lang="zh-CN" altLang="en-US" sz="18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if (arr[i] &gt; max) {</a:t>
                      </a:r>
                      <a:endParaRPr lang="zh-CN" altLang="en-US" sz="18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    max = arr[i]; </a:t>
                      </a:r>
                      <a:r>
                        <a:rPr lang="en-US" altLang="zh-CN" sz="18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更新最大值</a:t>
                      </a:r>
                      <a:endParaRPr lang="zh-CN" altLang="en-US" sz="18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}</a:t>
                      </a:r>
                      <a:endParaRPr lang="zh-CN" altLang="en-US" sz="18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}</a:t>
                      </a:r>
                      <a:endParaRPr lang="zh-CN" altLang="en-US" sz="18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en-US" altLang="zh-CN" sz="18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输出数组中的最大值</a:t>
                      </a:r>
                      <a:endParaRPr lang="en-US" altLang="zh-CN" sz="1800">
                        <a:solidFill>
                          <a:srgbClr val="AA55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System.out.println("数组arr中的最大值为：" + max);</a:t>
                      </a:r>
                      <a:endParaRPr lang="zh-CN" altLang="en-US" sz="18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}</a:t>
                      </a:r>
                      <a:endParaRPr lang="zh-CN" altLang="en-US" sz="18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}</a:t>
                      </a:r>
                      <a:endParaRPr lang="zh-CN" altLang="en-US" sz="18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dash"/>
                    </a:lnL>
                    <a:lnR w="12700">
                      <a:solidFill>
                        <a:schemeClr val="tx1"/>
                      </a:solidFill>
                      <a:prstDash val="dash"/>
                    </a:lnR>
                    <a:lnT w="12700">
                      <a:solidFill>
                        <a:schemeClr val="tx1"/>
                      </a:solidFill>
                      <a:prstDash val="dash"/>
                    </a:lnT>
                    <a:lnB w="12700">
                      <a:solidFill>
                        <a:schemeClr val="tx1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6" name="直接箭头连接符 5"/>
          <p:cNvCxnSpPr/>
          <p:nvPr/>
        </p:nvCxnSpPr>
        <p:spPr>
          <a:xfrm flipV="1">
            <a:off x="6891020" y="5376545"/>
            <a:ext cx="1155700" cy="317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headEnd type="none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>
            <p:custDataLst>
              <p:tags r:id="rId2"/>
            </p:custDataLst>
          </p:nvPr>
        </p:nvSpPr>
        <p:spPr>
          <a:xfrm>
            <a:off x="8402955" y="4437380"/>
            <a:ext cx="3003550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运行结果显示</a:t>
            </a:r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7543800" y="1701165"/>
            <a:ext cx="680466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b="1">
                <a:solidFill>
                  <a:schemeClr val="accent1">
                    <a:lumMod val="75000"/>
                  </a:schemeClr>
                </a:solidFill>
              </a:rPr>
              <a:t>计算一维数组中的最大值</a:t>
            </a:r>
            <a:endParaRPr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2" name="图片 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6913" y="5084763"/>
            <a:ext cx="2657475" cy="6381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扩展应用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专业字体设计服务/WWW.ZTSGC.COM/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627380" y="725170"/>
          <a:ext cx="5431155" cy="5647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31155"/>
              </a:tblGrid>
              <a:tr h="56470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public class </a:t>
                      </a:r>
                      <a:r>
                        <a:rPr lang="zh-CN" altLang="en-US" sz="110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Example03 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{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</a:t>
                      </a:r>
                      <a:r>
                        <a:rPr lang="zh-CN" altLang="en-US" sz="110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public static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1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void 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main(</a:t>
                      </a:r>
                      <a:r>
                        <a:rPr lang="zh-CN" altLang="en-US" sz="11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String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[] args) {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en-US" altLang="zh-CN" sz="11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//</a:t>
                      </a:r>
                      <a:r>
                        <a:rPr lang="en-US" altLang="zh-CN" sz="11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初始化一个包含五个整数的数组arr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zh-CN" altLang="en-US" sz="11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int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[] arr = {20, 21, 23, 24, 25};</a:t>
                      </a:r>
                      <a:endParaRPr lang="en-US" altLang="zh-CN" sz="1100">
                        <a:solidFill>
                          <a:srgbClr val="AA55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en-US" altLang="zh-CN" sz="11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定义一个要插入的新元素num</a:t>
                      </a:r>
                      <a:endParaRPr lang="en-US" altLang="zh-CN" sz="1100">
                        <a:solidFill>
                          <a:srgbClr val="AA55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zh-CN" altLang="en-US" sz="11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int 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num = 22;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en-US" altLang="zh-CN" sz="11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定义一个比arr数组长度大1的新数组arr2</a:t>
                      </a:r>
                      <a:endParaRPr lang="en-US" altLang="zh-CN" sz="1100">
                        <a:solidFill>
                          <a:srgbClr val="AA55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zh-CN" altLang="en-US" sz="11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int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[] arr2 = </a:t>
                      </a:r>
                      <a:r>
                        <a:rPr lang="zh-CN" altLang="en-US" sz="110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new </a:t>
                      </a:r>
                      <a:r>
                        <a:rPr lang="zh-CN" altLang="en-US" sz="11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int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[arr.length + 1];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en-US" altLang="zh-CN" sz="11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将arr数组的前3个元素复制到arr2数组中</a:t>
                      </a:r>
                      <a:endParaRPr lang="en-US" altLang="zh-CN" sz="1100">
                        <a:solidFill>
                          <a:srgbClr val="AA55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zh-CN" altLang="en-US" sz="110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for 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1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int 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 = 0; i &lt; 3; i++) {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arr2[i] = arr[i]; </a:t>
                      </a:r>
                      <a:r>
                        <a:rPr lang="en-US" altLang="zh-CN" sz="11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将arr中的元素复制到arr2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}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en-US" altLang="zh-CN" sz="11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在arr2的第三个位置插入新元素num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arr2[2] = num; 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en-US" altLang="zh-CN" sz="11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将arr数组的剩余元素复制到arr2中，从索引3开始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zh-CN" altLang="en-US" sz="110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for 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1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int 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 = 3; i &lt; arr2.length; i++) {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arr2[i] = arr[i - 1]; </a:t>
                      </a:r>
                      <a:r>
                        <a:rPr lang="en-US" altLang="zh-CN" sz="11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注意这里的索引调整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}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</a:t>
                      </a:r>
                      <a:r>
                        <a:rPr lang="en-US" altLang="zh-CN" sz="11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// 输出添加新元素前的arr数组</a:t>
                      </a:r>
                      <a:endParaRPr lang="en-US" altLang="zh-CN" sz="1100">
                        <a:solidFill>
                          <a:srgbClr val="AA55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System.out.println("添加新元素前的arr数组：");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en-US" altLang="zh-CN" sz="11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遍历数组arr并输出每个元素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zh-CN" altLang="en-US" sz="110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for 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1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int 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 = 0; i &lt; arr.length; i++) {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System.out.print(arr[i] + ",");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}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System.out.println(""); </a:t>
                      </a:r>
                      <a:r>
                        <a:rPr lang="en-US" altLang="zh-CN" sz="11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换行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en-US" altLang="zh-CN" sz="11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输出添加新元素后的arr2数组</a:t>
                      </a:r>
                      <a:endParaRPr lang="en-US" altLang="zh-CN" sz="1100">
                        <a:solidFill>
                          <a:srgbClr val="AA55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System.out.println("添加新元素后的arr2数组：");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en-US" altLang="zh-CN" sz="11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遍历数组arr2并输出每个元素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for (</a:t>
                      </a:r>
                      <a:r>
                        <a:rPr lang="zh-CN" altLang="en-US" sz="11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int 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 = 0; i &lt; arr2.length; i++) {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System.out.print(arr2[i] + ",");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}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}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}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dash"/>
                    </a:lnL>
                    <a:lnR w="12700">
                      <a:solidFill>
                        <a:schemeClr val="tx1"/>
                      </a:solidFill>
                      <a:prstDash val="dash"/>
                    </a:lnR>
                    <a:lnT w="12700">
                      <a:solidFill>
                        <a:schemeClr val="tx1"/>
                      </a:solidFill>
                      <a:prstDash val="dash"/>
                    </a:lnT>
                    <a:lnB w="12700">
                      <a:solidFill>
                        <a:schemeClr val="tx1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6" name="直接箭头连接符 5"/>
          <p:cNvCxnSpPr/>
          <p:nvPr/>
        </p:nvCxnSpPr>
        <p:spPr>
          <a:xfrm flipV="1">
            <a:off x="4298950" y="5661025"/>
            <a:ext cx="2664460" cy="317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headEnd type="none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>
            <p:custDataLst>
              <p:tags r:id="rId2"/>
            </p:custDataLst>
          </p:nvPr>
        </p:nvSpPr>
        <p:spPr>
          <a:xfrm>
            <a:off x="7466965" y="4437380"/>
            <a:ext cx="2299335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运行结果显示</a:t>
            </a:r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6387465" y="1772920"/>
            <a:ext cx="676084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b="1">
                <a:solidFill>
                  <a:schemeClr val="accent1">
                    <a:lumMod val="75000"/>
                  </a:schemeClr>
                </a:solidFill>
              </a:rPr>
              <a:t>在数组的指定位置插入一个数据</a:t>
            </a:r>
            <a:endParaRPr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3" name="图片 6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3455" y="5071745"/>
            <a:ext cx="2667000" cy="11811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扩展应用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专业字体设计服务/WWW.ZTSGC.COM/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554990" y="758825"/>
          <a:ext cx="5128260" cy="5340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8260"/>
              </a:tblGrid>
              <a:tr h="53403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public class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10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Example04 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{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</a:t>
                      </a:r>
                      <a:r>
                        <a:rPr lang="zh-CN" altLang="en-US" sz="110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public static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1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void 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main(</a:t>
                      </a:r>
                      <a:r>
                        <a:rPr lang="zh-CN" altLang="en-US" sz="11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String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[] args) {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en-US" altLang="zh-CN" sz="11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初始化一个包含五个整数的数组arr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zh-CN" altLang="en-US" sz="11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int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[] arr = {9, 6, 3, 7, 2};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en-US" altLang="zh-CN" sz="11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排序前，先循环打印数组元素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zh-CN" altLang="en-US" sz="110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for 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1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int 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 = 0; i &lt; arr.length; i++) {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System.out.print(arr[i] + " "); </a:t>
                      </a:r>
                      <a:r>
                        <a:rPr lang="en-US" altLang="zh-CN" sz="11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打印数组的每个元素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}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1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// 换行作用</a:t>
                      </a:r>
                      <a:endParaRPr lang="en-US" altLang="zh-CN" sz="1100">
                        <a:solidFill>
                          <a:srgbClr val="AA55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System.out.println();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en-US" altLang="zh-CN" sz="11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---冒泡排序法---</a:t>
                      </a:r>
                      <a:endParaRPr lang="en-US" altLang="zh-CN" sz="1100">
                        <a:solidFill>
                          <a:srgbClr val="AA55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1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// 外层循环定义需要比较的轮数（两数比较，需要比较n-1轮）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zh-CN" altLang="en-US" sz="110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for 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(int i = 1; i &lt; arr.length; i++) {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</a:t>
                      </a:r>
                      <a:r>
                        <a:rPr lang="en-US" altLang="zh-CN" sz="11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内层循环定义第i轮需要比较的两个数字</a:t>
                      </a:r>
                      <a:endParaRPr lang="en-US" altLang="zh-CN" sz="1100">
                        <a:solidFill>
                          <a:srgbClr val="AA55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</a:t>
                      </a:r>
                      <a:r>
                        <a:rPr lang="zh-CN" altLang="en-US" sz="110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for 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(int j = 0; j &lt; arr.length - i; j++) {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   </a:t>
                      </a:r>
                      <a:r>
                        <a:rPr lang="en-US" altLang="zh-CN" sz="11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// 如果当前元素大于下一个元素，则交换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    if 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(arr[j] &gt; arr[j + 1]) {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       </a:t>
                      </a:r>
                      <a:r>
                        <a:rPr lang="en-US" altLang="zh-CN" sz="11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// 交换 arr[j] 和 arr[j + 1]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        </a:t>
                      </a:r>
                      <a:r>
                        <a:rPr lang="zh-CN" altLang="en-US" sz="11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int 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temp = arr[j]; </a:t>
                      </a:r>
                      <a:r>
                        <a:rPr lang="en-US" altLang="zh-CN" sz="11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临时变量存储当前元素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        arr[j] = arr[j + 1]; </a:t>
                      </a:r>
                      <a:r>
                        <a:rPr lang="en-US" altLang="zh-CN" sz="11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将下一个元素赋值给当前元素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        arr[j + 1] = temp; </a:t>
                      </a:r>
                      <a:r>
                        <a:rPr lang="en-US" altLang="zh-CN" sz="11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将临时变量的值赋值给下一个元素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    }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}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}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en-US" altLang="zh-CN" sz="11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排序后，再循环打印数组元素</a:t>
                      </a:r>
                      <a:endParaRPr lang="en-US" altLang="zh-CN" sz="1100">
                        <a:solidFill>
                          <a:srgbClr val="AA55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zh-CN" altLang="en-US" sz="110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for 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1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int 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 = 0; i &lt; arr.length; i++) {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System.out.print(arr[i] + " "); </a:t>
                      </a:r>
                      <a:r>
                        <a:rPr lang="en-US" altLang="zh-CN" sz="11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打印排序后的数组元素</a:t>
                      </a:r>
                      <a:endParaRPr lang="en-US" altLang="zh-CN" sz="1100">
                        <a:solidFill>
                          <a:srgbClr val="AA55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}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}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}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dash"/>
                    </a:lnL>
                    <a:lnR w="12700">
                      <a:solidFill>
                        <a:schemeClr val="tx1"/>
                      </a:solidFill>
                      <a:prstDash val="dash"/>
                    </a:lnR>
                    <a:lnT w="12700">
                      <a:solidFill>
                        <a:schemeClr val="tx1"/>
                      </a:solidFill>
                      <a:prstDash val="dash"/>
                    </a:lnT>
                    <a:lnB w="12700">
                      <a:solidFill>
                        <a:schemeClr val="tx1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6" name="直接箭头连接符 5"/>
          <p:cNvCxnSpPr/>
          <p:nvPr/>
        </p:nvCxnSpPr>
        <p:spPr>
          <a:xfrm>
            <a:off x="5235575" y="5445125"/>
            <a:ext cx="1655445" cy="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headEnd type="none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>
            <p:custDataLst>
              <p:tags r:id="rId2"/>
            </p:custDataLst>
          </p:nvPr>
        </p:nvSpPr>
        <p:spPr>
          <a:xfrm>
            <a:off x="7107555" y="4293235"/>
            <a:ext cx="3003550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运行结果显示</a:t>
            </a:r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6099175" y="1946910"/>
            <a:ext cx="559689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b="1">
                <a:solidFill>
                  <a:schemeClr val="accent1">
                    <a:lumMod val="75000"/>
                  </a:schemeClr>
                </a:solidFill>
              </a:rPr>
              <a:t>用冒泡排序法实现数组中数据的排序</a:t>
            </a:r>
            <a:endParaRPr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4" name="图片 6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5165" y="4868863"/>
            <a:ext cx="2686050" cy="8096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2.xml><?xml version="1.0" encoding="utf-8"?>
<p:tagLst xmlns:p="http://schemas.openxmlformats.org/presentationml/2006/main">
  <p:tag name="TABLE_ENDDRAG_ORIGIN_RECT" val="218*42"/>
  <p:tag name="TABLE_ENDDRAG_RECT" val="652*132*218*42"/>
</p:tagLst>
</file>

<file path=ppt/tags/tag23.xml><?xml version="1.0" encoding="utf-8"?>
<p:tagLst xmlns:p="http://schemas.openxmlformats.org/presentationml/2006/main">
  <p:tag name="KSO_WM_DIAGRAM_VIRTUALLY_FRAME" val="{&quot;height&quot;:424.25,&quot;left&quot;:27.9,&quot;top&quot;:91,&quot;width&quot;:701.65}"/>
</p:tagLst>
</file>

<file path=ppt/tags/tag24.xml><?xml version="1.0" encoding="utf-8"?>
<p:tagLst xmlns:p="http://schemas.openxmlformats.org/presentationml/2006/main">
  <p:tag name="KSO_WM_DIAGRAM_VIRTUALLY_FRAME" val="{&quot;height&quot;:424.25,&quot;left&quot;:27.9,&quot;top&quot;:91,&quot;width&quot;:701.65}"/>
</p:tagLst>
</file>

<file path=ppt/tags/tag25.xml><?xml version="1.0" encoding="utf-8"?>
<p:tagLst xmlns:p="http://schemas.openxmlformats.org/presentationml/2006/main">
  <p:tag name="KSO_WM_DIAGRAM_VIRTUALLY_FRAME" val="{&quot;height&quot;:424.25,&quot;left&quot;:27.9,&quot;top&quot;:91,&quot;width&quot;:701.65}"/>
</p:tagLst>
</file>

<file path=ppt/tags/tag26.xml><?xml version="1.0" encoding="utf-8"?>
<p:tagLst xmlns:p="http://schemas.openxmlformats.org/presentationml/2006/main">
  <p:tag name="KSO_WM_DIAGRAM_VIRTUALLY_FRAME" val="{&quot;height&quot;:424.25,&quot;left&quot;:27.9,&quot;top&quot;:91,&quot;width&quot;:701.65}"/>
</p:tagLst>
</file>

<file path=ppt/tags/tag27.xml><?xml version="1.0" encoding="utf-8"?>
<p:tagLst xmlns:p="http://schemas.openxmlformats.org/presentationml/2006/main">
  <p:tag name="KSO_WM_DIAGRAM_VIRTUALLY_FRAME" val="{&quot;height&quot;:424.25,&quot;left&quot;:27.9,&quot;top&quot;:91,&quot;width&quot;:701.65}"/>
</p:tagLst>
</file>

<file path=ppt/tags/tag28.xml><?xml version="1.0" encoding="utf-8"?>
<p:tagLst xmlns:p="http://schemas.openxmlformats.org/presentationml/2006/main">
  <p:tag name="KSO_WM_DIAGRAM_VIRTUALLY_FRAME" val="{&quot;height&quot;:424.25,&quot;left&quot;:27.9,&quot;top&quot;:91,&quot;width&quot;:701.65}"/>
</p:tagLst>
</file>

<file path=ppt/tags/tag29.xml><?xml version="1.0" encoding="utf-8"?>
<p:tagLst xmlns:p="http://schemas.openxmlformats.org/presentationml/2006/main">
  <p:tag name="KSO_WM_DIAGRAM_VIRTUALLY_FRAME" val="{&quot;height&quot;:424.25,&quot;left&quot;:27.9,&quot;top&quot;:91,&quot;width&quot;:701.65}"/>
</p:tagLst>
</file>

<file path=ppt/tags/tag30.xml><?xml version="1.0" encoding="utf-8"?>
<p:tagLst xmlns:p="http://schemas.openxmlformats.org/presentationml/2006/main">
  <p:tag name="KSO_WM_DIAGRAM_VIRTUALLY_FRAME" val="{&quot;height&quot;:424.25,&quot;left&quot;:27.9,&quot;top&quot;:91,&quot;width&quot;:701.65}"/>
</p:tagLst>
</file>

<file path=ppt/tags/tag31.xml><?xml version="1.0" encoding="utf-8"?>
<p:tagLst xmlns:p="http://schemas.openxmlformats.org/presentationml/2006/main">
  <p:tag name="KSO_WM_DIAGRAM_VIRTUALLY_FRAME" val="{&quot;height&quot;:424.25,&quot;left&quot;:27.9,&quot;top&quot;:91,&quot;width&quot;:640.7}"/>
</p:tagLst>
</file>

<file path=ppt/tags/tag32.xml><?xml version="1.0" encoding="utf-8"?>
<p:tagLst xmlns:p="http://schemas.openxmlformats.org/presentationml/2006/main">
  <p:tag name="KSO_WM_DIAGRAM_VIRTUALLY_FRAME" val="{&quot;height&quot;:424.25,&quot;left&quot;:27.9,&quot;top&quot;:91,&quot;width&quot;:640.7}"/>
</p:tagLst>
</file>

<file path=ppt/tags/tag33.xml><?xml version="1.0" encoding="utf-8"?>
<p:tagLst xmlns:p="http://schemas.openxmlformats.org/presentationml/2006/main">
  <p:tag name="KSO_WM_DIAGRAM_VIRTUALLY_FRAME" val="{&quot;height&quot;:424.25,&quot;left&quot;:27.9,&quot;top&quot;:91,&quot;width&quot;:640.7}"/>
</p:tagLst>
</file>

<file path=ppt/tags/tag34.xml><?xml version="1.0" encoding="utf-8"?>
<p:tagLst xmlns:p="http://schemas.openxmlformats.org/presentationml/2006/main">
  <p:tag name="KSO_WM_DIAGRAM_VIRTUALLY_FRAME" val="{&quot;height&quot;:424.25,&quot;left&quot;:27.9,&quot;top&quot;:91,&quot;width&quot;:640.7}"/>
</p:tagLst>
</file>

<file path=ppt/tags/tag35.xml><?xml version="1.0" encoding="utf-8"?>
<p:tagLst xmlns:p="http://schemas.openxmlformats.org/presentationml/2006/main">
  <p:tag name="KSO_WM_DIAGRAM_VIRTUALLY_FRAME" val="{&quot;height&quot;:424.25,&quot;left&quot;:27.9,&quot;top&quot;:91,&quot;width&quot;:701.65}"/>
</p:tagLst>
</file>

<file path=ppt/tags/tag36.xml><?xml version="1.0" encoding="utf-8"?>
<p:tagLst xmlns:p="http://schemas.openxmlformats.org/presentationml/2006/main">
  <p:tag name="TABLE_ENDDRAG_ORIGIN_RECT" val="218*124"/>
  <p:tag name="TABLE_ENDDRAG_RECT" val="652*218*218*124"/>
</p:tagLst>
</file>

<file path=ppt/tags/tag37.xml><?xml version="1.0" encoding="utf-8"?>
<p:tagLst xmlns:p="http://schemas.openxmlformats.org/presentationml/2006/main">
  <p:tag name="TABLE_ENDDRAG_ORIGIN_RECT" val="217*147"/>
  <p:tag name="TABLE_ENDDRAG_RECT" val="652*355*217*147"/>
</p:tagLst>
</file>

<file path=ppt/tags/tag38.xml><?xml version="1.0" encoding="utf-8"?>
<p:tagLst xmlns:p="http://schemas.openxmlformats.org/presentationml/2006/main">
  <p:tag name="KSO_WM_DIAGRAM_VIRTUALLY_FRAME" val="{&quot;height&quot;:424.25,&quot;left&quot;:27.9,&quot;top&quot;:91,&quot;width&quot;:701.65}"/>
</p:tagLst>
</file>

<file path=ppt/tags/tag39.xml><?xml version="1.0" encoding="utf-8"?>
<p:tagLst xmlns:p="http://schemas.openxmlformats.org/presentationml/2006/main">
  <p:tag name="KSO_WM_DIAGRAM_VIRTUALLY_FRAME" val="{&quot;height&quot;:424.25,&quot;left&quot;:27.9,&quot;top&quot;:91,&quot;width&quot;:701.65}"/>
</p:tagLst>
</file>

<file path=ppt/tags/tag4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157.05,&quot;left&quot;:83,&quot;top&quot;:97.3,&quot;width&quot;:188.1}"/>
</p:tagLst>
</file>

<file path=ppt/tags/tag4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157.05,&quot;left&quot;:83,&quot;top&quot;:97.3,&quot;width&quot;:188.1}"/>
</p:tagLst>
</file>

<file path=ppt/tags/tag4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8.xml><?xml version="1.0" encoding="utf-8"?>
<p:tagLst xmlns:p="http://schemas.openxmlformats.org/presentationml/2006/main">
  <p:tag name="TABLE_ENDDRAG_ORIGIN_RECT" val="545*309"/>
  <p:tag name="TABLE_ENDDRAG_RECT" val="66*80*545*309"/>
</p:tagLst>
</file>

<file path=ppt/tags/tag49.xml><?xml version="1.0" encoding="utf-8"?>
<p:tagLst xmlns:p="http://schemas.openxmlformats.org/presentationml/2006/main">
  <p:tag name="KSO_WM_DIAGRAM_VIRTUALLY_FRAME" val="{&quot;height&quot;:324.1,&quot;left&quot;:45.2,&quot;top&quot;:105.55,&quot;width&quot;:828.75}"/>
</p:tagLst>
</file>

<file path=ppt/tags/tag5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157.05,&quot;left&quot;:83,&quot;top&quot;:97.3,&quot;width&quot;:188.1}"/>
</p:tagLst>
</file>

<file path=ppt/tags/tag55.xml><?xml version="1.0" encoding="utf-8"?>
<p:tagLst xmlns:p="http://schemas.openxmlformats.org/presentationml/2006/main">
  <p:tag name="KSO_WM_DIAGRAM_VIRTUALLY_FRAME" val="{&quot;height&quot;:347.45,&quot;left&quot;:141.9,&quot;top&quot;:122.65,&quot;width&quot;:682.15}"/>
</p:tagLst>
</file>

<file path=ppt/tags/tag56.xml><?xml version="1.0" encoding="utf-8"?>
<p:tagLst xmlns:p="http://schemas.openxmlformats.org/presentationml/2006/main">
  <p:tag name="KSO_WM_DIAGRAM_VIRTUALLY_FRAME" val="{&quot;height&quot;:347.45,&quot;left&quot;:141.9,&quot;top&quot;:122.65,&quot;width&quot;:682.15}"/>
</p:tagLst>
</file>

<file path=ppt/tags/tag57.xml><?xml version="1.0" encoding="utf-8"?>
<p:tagLst xmlns:p="http://schemas.openxmlformats.org/presentationml/2006/main">
  <p:tag name="KSO_WM_DIAGRAM_VIRTUALLY_FRAME" val="{&quot;height&quot;:347.45,&quot;left&quot;:141.9,&quot;top&quot;:122.65,&quot;width&quot;:682.15}"/>
</p:tagLst>
</file>

<file path=ppt/tags/tag58.xml><?xml version="1.0" encoding="utf-8"?>
<p:tagLst xmlns:p="http://schemas.openxmlformats.org/presentationml/2006/main">
  <p:tag name="KSO_WM_DIAGRAM_VIRTUALLY_FRAME" val="{&quot;height&quot;:347.45,&quot;left&quot;:141.9,&quot;top&quot;:122.65,&quot;width&quot;:682.15}"/>
</p:tagLst>
</file>

<file path=ppt/tags/tag59.xml><?xml version="1.0" encoding="utf-8"?>
<p:tagLst xmlns:p="http://schemas.openxmlformats.org/presentationml/2006/main">
  <p:tag name="KSO_WM_DIAGRAM_VIRTUALLY_FRAME" val="{&quot;height&quot;:347.45,&quot;left&quot;:141.9,&quot;top&quot;:122.65,&quot;width&quot;:682.15}"/>
</p:tagLst>
</file>

<file path=ppt/tags/tag60.xml><?xml version="1.0" encoding="utf-8"?>
<p:tagLst xmlns:p="http://schemas.openxmlformats.org/presentationml/2006/main">
  <p:tag name="KSO_WM_DIAGRAM_VIRTUALLY_FRAME" val="{&quot;height&quot;:347.45,&quot;left&quot;:141.9,&quot;top&quot;:122.65,&quot;width&quot;:682.15}"/>
</p:tagLst>
</file>

<file path=ppt/tags/tag61.xml><?xml version="1.0" encoding="utf-8"?>
<p:tagLst xmlns:p="http://schemas.openxmlformats.org/presentationml/2006/main">
  <p:tag name="KSO_WM_DIAGRAM_VIRTUALLY_FRAME" val="{&quot;height&quot;:347.45,&quot;left&quot;:141.9,&quot;top&quot;:122.65,&quot;width&quot;:682.15}"/>
</p:tagLst>
</file>

<file path=ppt/tags/tag62.xml><?xml version="1.0" encoding="utf-8"?>
<p:tagLst xmlns:p="http://schemas.openxmlformats.org/presentationml/2006/main">
  <p:tag name="KSO_WM_DIAGRAM_VIRTUALLY_FRAME" val="{&quot;height&quot;:347.45,&quot;left&quot;:141.9,&quot;top&quot;:122.65,&quot;width&quot;:682.15}"/>
</p:tagLst>
</file>

<file path=ppt/tags/tag63.xml><?xml version="1.0" encoding="utf-8"?>
<p:tagLst xmlns:p="http://schemas.openxmlformats.org/presentationml/2006/main">
  <p:tag name="KSO_WM_DIAGRAM_VIRTUALLY_FRAME" val="{&quot;height&quot;:347.45,&quot;left&quot;:141.9,&quot;top&quot;:122.65,&quot;width&quot;:682.15}"/>
</p:tagLst>
</file>

<file path=ppt/tags/tag64.xml><?xml version="1.0" encoding="utf-8"?>
<p:tagLst xmlns:p="http://schemas.openxmlformats.org/presentationml/2006/main">
  <p:tag name="KSO_WM_DIAGRAM_VIRTUALLY_FRAME" val="{&quot;height&quot;:347.45,&quot;left&quot;:141.9,&quot;top&quot;:122.65,&quot;width&quot;:682.15}"/>
</p:tagLst>
</file>

<file path=ppt/tags/tag65.xml><?xml version="1.0" encoding="utf-8"?>
<p:tagLst xmlns:p="http://schemas.openxmlformats.org/presentationml/2006/main">
  <p:tag name="KSO_WM_DIAGRAM_VIRTUALLY_FRAME" val="{&quot;height&quot;:347.45,&quot;left&quot;:141.9,&quot;top&quot;:122.65,&quot;width&quot;:682.15}"/>
</p:tagLst>
</file>

<file path=ppt/tags/tag66.xml><?xml version="1.0" encoding="utf-8"?>
<p:tagLst xmlns:p="http://schemas.openxmlformats.org/presentationml/2006/main">
  <p:tag name="KSO_WM_DIAGRAM_VIRTUALLY_FRAME" val="{&quot;height&quot;:347.45,&quot;left&quot;:141.9,&quot;top&quot;:122.65,&quot;width&quot;:682.15}"/>
</p:tagLst>
</file>

<file path=ppt/tags/tag67.xml><?xml version="1.0" encoding="utf-8"?>
<p:tagLst xmlns:p="http://schemas.openxmlformats.org/presentationml/2006/main">
  <p:tag name="KSO_WM_DIAGRAM_VIRTUALLY_FRAME" val="{&quot;height&quot;:347.45,&quot;left&quot;:141.9,&quot;top&quot;:122.65,&quot;width&quot;:682.15}"/>
</p:tagLst>
</file>

<file path=ppt/tags/tag68.xml><?xml version="1.0" encoding="utf-8"?>
<p:tagLst xmlns:p="http://schemas.openxmlformats.org/presentationml/2006/main">
  <p:tag name="KSO_WM_SLIDE_ITEM_CNT" val="4"/>
</p:tagLst>
</file>

<file path=ppt/tags/tag69.xml><?xml version="1.0" encoding="utf-8"?>
<p:tagLst xmlns:p="http://schemas.openxmlformats.org/presentationml/2006/main">
  <p:tag name="TABLE_ENDDRAG_ORIGIN_RECT" val="545*309"/>
  <p:tag name="TABLE_ENDDRAG_RECT" val="66*80*545*309"/>
</p:tagLst>
</file>

<file path=ppt/tags/tag70.xml><?xml version="1.0" encoding="utf-8"?>
<p:tagLst xmlns:p="http://schemas.openxmlformats.org/presentationml/2006/main">
  <p:tag name="KSO_WM_DIAGRAM_VIRTUALLY_FRAME" val="{&quot;height&quot;:324.1,&quot;left&quot;:45.2,&quot;top&quot;:105.55,&quot;width&quot;:828.75}"/>
</p:tagLst>
</file>

<file path=ppt/tags/tag71.xml><?xml version="1.0" encoding="utf-8"?>
<p:tagLst xmlns:p="http://schemas.openxmlformats.org/presentationml/2006/main">
  <p:tag name="KSO_WM_DIAGRAM_VIRTUALLY_FRAME" val="{&quot;height&quot;:324.1,&quot;left&quot;:45.2,&quot;top&quot;:105.55,&quot;width&quot;:828.75}"/>
</p:tagLst>
</file>

<file path=ppt/tags/tag72.xml><?xml version="1.0" encoding="utf-8"?>
<p:tagLst xmlns:p="http://schemas.openxmlformats.org/presentationml/2006/main">
  <p:tag name="TABLE_ENDDRAG_ORIGIN_RECT" val="545*444"/>
  <p:tag name="TABLE_ENDDRAG_RECT" val="26*11*545*444"/>
</p:tagLst>
</file>

<file path=ppt/tags/tag73.xml><?xml version="1.0" encoding="utf-8"?>
<p:tagLst xmlns:p="http://schemas.openxmlformats.org/presentationml/2006/main">
  <p:tag name="KSO_WM_DIAGRAM_VIRTUALLY_FRAME" val="{&quot;height&quot;:324.1,&quot;left&quot;:45.2,&quot;top&quot;:105.55,&quot;width&quot;:828.75}"/>
</p:tagLst>
</file>

<file path=ppt/tags/tag74.xml><?xml version="1.0" encoding="utf-8"?>
<p:tagLst xmlns:p="http://schemas.openxmlformats.org/presentationml/2006/main">
  <p:tag name="KSO_WM_DIAGRAM_VIRTUALLY_FRAME" val="{&quot;height&quot;:324.1,&quot;left&quot;:45.2,&quot;top&quot;:105.55,&quot;width&quot;:828.75}"/>
</p:tagLst>
</file>

<file path=ppt/tags/tag75.xml><?xml version="1.0" encoding="utf-8"?>
<p:tagLst xmlns:p="http://schemas.openxmlformats.org/presentationml/2006/main">
  <p:tag name="TABLE_ENDDRAG_ORIGIN_RECT" val="403*420"/>
  <p:tag name="TABLE_ENDDRAG_RECT" val="43*54*403*420"/>
</p:tagLst>
</file>

<file path=ppt/tags/tag76.xml><?xml version="1.0" encoding="utf-8"?>
<p:tagLst xmlns:p="http://schemas.openxmlformats.org/presentationml/2006/main">
  <p:tag name="KSO_WM_DIAGRAM_VIRTUALLY_FRAME" val="{&quot;height&quot;:324.1,&quot;left&quot;:45.2,&quot;top&quot;:105.55,&quot;width&quot;:828.75}"/>
</p:tagLst>
</file>

<file path=ppt/tags/tag77.xml><?xml version="1.0" encoding="utf-8"?>
<p:tagLst xmlns:p="http://schemas.openxmlformats.org/presentationml/2006/main">
  <p:tag name="KSO_WM_DIAGRAM_VIRTUALLY_FRAME" val="{&quot;height&quot;:324.1,&quot;left&quot;:45.2,&quot;top&quot;:105.55,&quot;width&quot;:828.75}"/>
</p:tagLst>
</file>

<file path=ppt/tags/tag78.xml><?xml version="1.0" encoding="utf-8"?>
<p:tagLst xmlns:p="http://schemas.openxmlformats.org/presentationml/2006/main">
  <p:tag name="COMMONDATA" val="eyJoZGlkIjoiZjNjMmJiYWQ1NjYxMzU5Y2Q4YWViZjliZTZhYjA5ODEifQ=="/>
  <p:tag name="commondata" val="eyJoZGlkIjoiNjVkZWMxOGJhY2FhZmUwNmY0MTcyMjU1MWFkZGYzMDc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5401</Words>
  <Application>WPS 演示</Application>
  <PresentationFormat>自定义</PresentationFormat>
  <Paragraphs>334</Paragraphs>
  <Slides>19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46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黑体</vt:lpstr>
      <vt:lpstr>Arial Unicode MS</vt:lpstr>
      <vt:lpstr>等线</vt:lpstr>
      <vt:lpstr>专业字体设计服务/WWW.ZTSGC.COM/</vt:lpstr>
      <vt:lpstr>华康俪金黑W8(P)</vt:lpstr>
      <vt:lpstr>经典繁仿黑</vt:lpstr>
      <vt:lpstr>Wonder Arial</vt:lpstr>
      <vt:lpstr>汉仪中黑繁</vt:lpstr>
      <vt:lpstr>Metrolite 2 Com Roman</vt:lpstr>
      <vt:lpstr>华康俪金黑W8</vt:lpstr>
      <vt:lpstr>Courier New</vt:lpstr>
      <vt:lpstr>楷体</vt:lpstr>
      <vt:lpstr>Times New Roman</vt:lpstr>
      <vt:lpstr>Courier New</vt:lpstr>
      <vt:lpstr>Times New Roman</vt:lpstr>
      <vt:lpstr>Office 主题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丝雨</cp:lastModifiedBy>
  <cp:revision>506</cp:revision>
  <dcterms:created xsi:type="dcterms:W3CDTF">2015-03-26T06:11:00Z</dcterms:created>
  <dcterms:modified xsi:type="dcterms:W3CDTF">2026-01-10T12:43:25Z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66E6EA326170477E9C748D14EEE77480_12</vt:lpwstr>
  </property>
</Properties>
</file>